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handoutMasterIdLst>
    <p:handoutMasterId r:id="rId79"/>
  </p:handoutMasterIdLst>
  <p:sldIdLst>
    <p:sldId id="256" r:id="rId2"/>
    <p:sldId id="565" r:id="rId3"/>
    <p:sldId id="417" r:id="rId4"/>
    <p:sldId id="545" r:id="rId5"/>
    <p:sldId id="544" r:id="rId6"/>
    <p:sldId id="553" r:id="rId7"/>
    <p:sldId id="556" r:id="rId8"/>
    <p:sldId id="558" r:id="rId9"/>
    <p:sldId id="445" r:id="rId10"/>
    <p:sldId id="608" r:id="rId11"/>
    <p:sldId id="451" r:id="rId12"/>
    <p:sldId id="454" r:id="rId13"/>
    <p:sldId id="453" r:id="rId14"/>
    <p:sldId id="532" r:id="rId15"/>
    <p:sldId id="609" r:id="rId16"/>
    <p:sldId id="455" r:id="rId17"/>
    <p:sldId id="610" r:id="rId18"/>
    <p:sldId id="448" r:id="rId19"/>
    <p:sldId id="533" r:id="rId20"/>
    <p:sldId id="612" r:id="rId21"/>
    <p:sldId id="512" r:id="rId22"/>
    <p:sldId id="563" r:id="rId23"/>
    <p:sldId id="614" r:id="rId24"/>
    <p:sldId id="564" r:id="rId25"/>
    <p:sldId id="560" r:id="rId26"/>
    <p:sldId id="561" r:id="rId27"/>
    <p:sldId id="562" r:id="rId28"/>
    <p:sldId id="531" r:id="rId29"/>
    <p:sldId id="550" r:id="rId30"/>
    <p:sldId id="551" r:id="rId31"/>
    <p:sldId id="566" r:id="rId32"/>
    <p:sldId id="554" r:id="rId33"/>
    <p:sldId id="579" r:id="rId34"/>
    <p:sldId id="567" r:id="rId35"/>
    <p:sldId id="547" r:id="rId36"/>
    <p:sldId id="391" r:id="rId37"/>
    <p:sldId id="392" r:id="rId38"/>
    <p:sldId id="615" r:id="rId39"/>
    <p:sldId id="568" r:id="rId40"/>
    <p:sldId id="569" r:id="rId41"/>
    <p:sldId id="578" r:id="rId42"/>
    <p:sldId id="570" r:id="rId43"/>
    <p:sldId id="573" r:id="rId44"/>
    <p:sldId id="574" r:id="rId45"/>
    <p:sldId id="572" r:id="rId46"/>
    <p:sldId id="581" r:id="rId47"/>
    <p:sldId id="584" r:id="rId48"/>
    <p:sldId id="580" r:id="rId49"/>
    <p:sldId id="423" r:id="rId50"/>
    <p:sldId id="607" r:id="rId51"/>
    <p:sldId id="404" r:id="rId52"/>
    <p:sldId id="616" r:id="rId53"/>
    <p:sldId id="407" r:id="rId54"/>
    <p:sldId id="617" r:id="rId55"/>
    <p:sldId id="588" r:id="rId56"/>
    <p:sldId id="589" r:id="rId57"/>
    <p:sldId id="586" r:id="rId58"/>
    <p:sldId id="587" r:id="rId59"/>
    <p:sldId id="585" r:id="rId60"/>
    <p:sldId id="583" r:id="rId61"/>
    <p:sldId id="592" r:id="rId62"/>
    <p:sldId id="611" r:id="rId63"/>
    <p:sldId id="557" r:id="rId64"/>
    <p:sldId id="613" r:id="rId65"/>
    <p:sldId id="601" r:id="rId66"/>
    <p:sldId id="593" r:id="rId67"/>
    <p:sldId id="594" r:id="rId68"/>
    <p:sldId id="595" r:id="rId69"/>
    <p:sldId id="596" r:id="rId70"/>
    <p:sldId id="597" r:id="rId71"/>
    <p:sldId id="598" r:id="rId72"/>
    <p:sldId id="599" r:id="rId73"/>
    <p:sldId id="600" r:id="rId74"/>
    <p:sldId id="606" r:id="rId75"/>
    <p:sldId id="405" r:id="rId76"/>
    <p:sldId id="406" r:id="rId77"/>
  </p:sldIdLst>
  <p:sldSz cx="12192000" cy="6858000"/>
  <p:notesSz cx="7315200" cy="96012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1F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FCA41B-7398-400B-83DC-FDE8722EB923}" v="79" dt="2020-02-09T01:28:39.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85428" autoAdjust="0"/>
  </p:normalViewPr>
  <p:slideViewPr>
    <p:cSldViewPr snapToGrid="0">
      <p:cViewPr varScale="1">
        <p:scale>
          <a:sx n="94" d="100"/>
          <a:sy n="94" d="100"/>
        </p:scale>
        <p:origin x="1410" y="96"/>
      </p:cViewPr>
      <p:guideLst/>
    </p:cSldViewPr>
  </p:slideViewPr>
  <p:outlineViewPr>
    <p:cViewPr>
      <p:scale>
        <a:sx n="33" d="100"/>
        <a:sy n="33" d="100"/>
      </p:scale>
      <p:origin x="0" y="-886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3FCA41B-7398-400B-83DC-FDE8722EB923}"/>
    <pc:docChg chg="modSld">
      <pc:chgData name="Felipe Augusto Pereira de Figueiredo" userId="e1771b70d906f94b" providerId="Windows Live" clId="Web-{B3FCA41B-7398-400B-83DC-FDE8722EB923}" dt="2020-02-09T01:40:38.055" v="257"/>
      <pc:docMkLst>
        <pc:docMk/>
      </pc:docMkLst>
      <pc:sldChg chg="modSp modNotes">
        <pc:chgData name="Felipe Augusto Pereira de Figueiredo" userId="e1771b70d906f94b" providerId="Windows Live" clId="Web-{B3FCA41B-7398-400B-83DC-FDE8722EB923}" dt="2020-02-09T01:26:20.191" v="45"/>
        <pc:sldMkLst>
          <pc:docMk/>
          <pc:sldMk cId="636059476" sldId="259"/>
        </pc:sldMkLst>
        <pc:spChg chg="mod">
          <ac:chgData name="Felipe Augusto Pereira de Figueiredo" userId="e1771b70d906f94b" providerId="Windows Live" clId="Web-{B3FCA41B-7398-400B-83DC-FDE8722EB923}" dt="2020-02-09T01:22:23.081" v="18" actId="1076"/>
          <ac:spMkLst>
            <pc:docMk/>
            <pc:sldMk cId="636059476" sldId="259"/>
            <ac:spMk id="3" creationId="{979D29AC-E01B-406F-AC75-55866B75A7CC}"/>
          </ac:spMkLst>
        </pc:spChg>
      </pc:sldChg>
      <pc:sldChg chg="modNotes">
        <pc:chgData name="Felipe Augusto Pereira de Figueiredo" userId="e1771b70d906f94b" providerId="Windows Live" clId="Web-{B3FCA41B-7398-400B-83DC-FDE8722EB923}" dt="2020-02-09T01:21:46.721" v="16"/>
        <pc:sldMkLst>
          <pc:docMk/>
          <pc:sldMk cId="248504461" sldId="267"/>
        </pc:sldMkLst>
      </pc:sldChg>
      <pc:sldChg chg="modSp modNotes">
        <pc:chgData name="Felipe Augusto Pereira de Figueiredo" userId="e1771b70d906f94b" providerId="Windows Live" clId="Web-{B3FCA41B-7398-400B-83DC-FDE8722EB923}" dt="2020-02-09T01:40:38.055" v="257"/>
        <pc:sldMkLst>
          <pc:docMk/>
          <pc:sldMk cId="2076219387" sldId="277"/>
        </pc:sldMkLst>
        <pc:spChg chg="mod">
          <ac:chgData name="Felipe Augusto Pereira de Figueiredo" userId="e1771b70d906f94b" providerId="Windows Live" clId="Web-{B3FCA41B-7398-400B-83DC-FDE8722EB923}" dt="2020-02-09T01:28:39.664" v="120" actId="14100"/>
          <ac:spMkLst>
            <pc:docMk/>
            <pc:sldMk cId="2076219387" sldId="277"/>
            <ac:spMk id="3" creationId="{5E0262E2-3A0F-4805-BCCB-6745237D1574}"/>
          </ac:spMkLst>
        </pc:spChg>
      </pc:sldChg>
    </pc:docChg>
  </pc:docChgLst>
  <pc:docChgLst>
    <pc:chgData name="Felipe Augusto Pereira de Figueiredo" userId="e1771b70d906f94b" providerId="Windows Live" clId="Web-{1FA475AF-6444-47C2-89B1-9776BABC0E66}"/>
    <pc:docChg chg="modSld">
      <pc:chgData name="Felipe Augusto Pereira de Figueiredo" userId="e1771b70d906f94b" providerId="Windows Live" clId="Web-{1FA475AF-6444-47C2-89B1-9776BABC0E66}" dt="2020-02-09T18:53:52.767" v="85"/>
      <pc:docMkLst>
        <pc:docMk/>
      </pc:docMkLst>
      <pc:sldChg chg="modNotes">
        <pc:chgData name="Felipe Augusto Pereira de Figueiredo" userId="e1771b70d906f94b" providerId="Windows Live" clId="Web-{1FA475AF-6444-47C2-89B1-9776BABC0E66}" dt="2020-02-09T18:53:52.767" v="85"/>
        <pc:sldMkLst>
          <pc:docMk/>
          <pc:sldMk cId="248504461"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2" cy="480722"/>
          </a:xfrm>
          <a:prstGeom prst="rect">
            <a:avLst/>
          </a:prstGeom>
        </p:spPr>
        <p:txBody>
          <a:bodyPr vert="horz" lIns="168634" tIns="84317" rIns="168634" bIns="84317" rtlCol="0"/>
          <a:lstStyle>
            <a:lvl1pPr algn="l">
              <a:defRPr sz="2200"/>
            </a:lvl1pPr>
          </a:lstStyle>
          <a:p>
            <a:endParaRPr lang="nl-BE"/>
          </a:p>
        </p:txBody>
      </p:sp>
      <p:sp>
        <p:nvSpPr>
          <p:cNvPr id="3" name="Date Placeholder 2"/>
          <p:cNvSpPr>
            <a:spLocks noGrp="1"/>
          </p:cNvSpPr>
          <p:nvPr>
            <p:ph type="dt" sz="quarter" idx="1"/>
          </p:nvPr>
        </p:nvSpPr>
        <p:spPr>
          <a:xfrm>
            <a:off x="4143589" y="0"/>
            <a:ext cx="3169922" cy="480722"/>
          </a:xfrm>
          <a:prstGeom prst="rect">
            <a:avLst/>
          </a:prstGeom>
        </p:spPr>
        <p:txBody>
          <a:bodyPr vert="horz" lIns="168634" tIns="84317" rIns="168634" bIns="84317" rtlCol="0"/>
          <a:lstStyle>
            <a:lvl1pPr algn="r">
              <a:defRPr sz="2200"/>
            </a:lvl1pPr>
          </a:lstStyle>
          <a:p>
            <a:fld id="{144F1436-6906-4D93-B7A2-786C327BFA14}" type="datetimeFigureOut">
              <a:rPr lang="nl-BE" smtClean="0"/>
              <a:t>5/10/2026</a:t>
            </a:fld>
            <a:endParaRPr lang="nl-BE"/>
          </a:p>
        </p:txBody>
      </p:sp>
      <p:sp>
        <p:nvSpPr>
          <p:cNvPr id="4" name="Footer Placeholder 3"/>
          <p:cNvSpPr>
            <a:spLocks noGrp="1"/>
          </p:cNvSpPr>
          <p:nvPr>
            <p:ph type="ftr" sz="quarter" idx="2"/>
          </p:nvPr>
        </p:nvSpPr>
        <p:spPr>
          <a:xfrm>
            <a:off x="1" y="9120488"/>
            <a:ext cx="3169922" cy="480718"/>
          </a:xfrm>
          <a:prstGeom prst="rect">
            <a:avLst/>
          </a:prstGeom>
        </p:spPr>
        <p:txBody>
          <a:bodyPr vert="horz" lIns="168634" tIns="84317" rIns="168634" bIns="84317" rtlCol="0" anchor="b"/>
          <a:lstStyle>
            <a:lvl1pPr algn="l">
              <a:defRPr sz="2200"/>
            </a:lvl1pPr>
          </a:lstStyle>
          <a:p>
            <a:endParaRPr lang="nl-BE"/>
          </a:p>
        </p:txBody>
      </p:sp>
      <p:sp>
        <p:nvSpPr>
          <p:cNvPr id="5" name="Slide Number Placeholder 4"/>
          <p:cNvSpPr>
            <a:spLocks noGrp="1"/>
          </p:cNvSpPr>
          <p:nvPr>
            <p:ph type="sldNum" sz="quarter" idx="3"/>
          </p:nvPr>
        </p:nvSpPr>
        <p:spPr>
          <a:xfrm>
            <a:off x="4143589" y="9120488"/>
            <a:ext cx="3169922" cy="480718"/>
          </a:xfrm>
          <a:prstGeom prst="rect">
            <a:avLst/>
          </a:prstGeom>
        </p:spPr>
        <p:txBody>
          <a:bodyPr vert="horz" lIns="168634" tIns="84317" rIns="168634" bIns="84317" rtlCol="0" anchor="b"/>
          <a:lstStyle>
            <a:lvl1pPr algn="r">
              <a:defRPr sz="2200"/>
            </a:lvl1pPr>
          </a:lstStyle>
          <a:p>
            <a:fld id="{F7E56D9B-79AD-444A-AFED-DEC23408F8B4}" type="slidenum">
              <a:rPr lang="nl-BE" smtClean="0"/>
              <a:t>‹nº›</a:t>
            </a:fld>
            <a:endParaRPr lang="nl-BE"/>
          </a:p>
        </p:txBody>
      </p:sp>
    </p:spTree>
    <p:extLst>
      <p:ext uri="{BB962C8B-B14F-4D97-AF65-F5344CB8AC3E}">
        <p14:creationId xmlns:p14="http://schemas.microsoft.com/office/powerpoint/2010/main" val="316353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5" y="1"/>
            <a:ext cx="3169922" cy="1903121"/>
          </a:xfrm>
          <a:prstGeom prst="rect">
            <a:avLst/>
          </a:prstGeom>
        </p:spPr>
        <p:txBody>
          <a:bodyPr vert="horz" lIns="168634" tIns="84317" rIns="168634" bIns="84317" rtlCol="0"/>
          <a:lstStyle>
            <a:lvl1pPr algn="l">
              <a:defRPr sz="2200"/>
            </a:lvl1pPr>
          </a:lstStyle>
          <a:p>
            <a:endParaRPr lang="pt-BR"/>
          </a:p>
        </p:txBody>
      </p:sp>
      <p:sp>
        <p:nvSpPr>
          <p:cNvPr id="3" name="Espaço Reservado para Data 2"/>
          <p:cNvSpPr>
            <a:spLocks noGrp="1"/>
          </p:cNvSpPr>
          <p:nvPr>
            <p:ph type="dt" idx="1"/>
          </p:nvPr>
        </p:nvSpPr>
        <p:spPr>
          <a:xfrm>
            <a:off x="4143592" y="1"/>
            <a:ext cx="3169922" cy="1903121"/>
          </a:xfrm>
          <a:prstGeom prst="rect">
            <a:avLst/>
          </a:prstGeom>
        </p:spPr>
        <p:txBody>
          <a:bodyPr vert="horz" lIns="168634" tIns="84317" rIns="168634" bIns="84317" rtlCol="0"/>
          <a:lstStyle>
            <a:lvl1pPr algn="r">
              <a:defRPr sz="2200"/>
            </a:lvl1pPr>
          </a:lstStyle>
          <a:p>
            <a:fld id="{AA8CD09E-2914-4F47-B6C1-51B2C31814C9}" type="datetimeFigureOut">
              <a:rPr lang="pt-BR" smtClean="0"/>
              <a:t>05/10/2026</a:t>
            </a:fld>
            <a:endParaRPr lang="pt-BR"/>
          </a:p>
        </p:txBody>
      </p:sp>
      <p:sp>
        <p:nvSpPr>
          <p:cNvPr id="4" name="Espaço Reservado para Imagem de Slide 3"/>
          <p:cNvSpPr>
            <a:spLocks noGrp="1" noRot="1" noChangeAspect="1"/>
          </p:cNvSpPr>
          <p:nvPr>
            <p:ph type="sldImg" idx="2"/>
          </p:nvPr>
        </p:nvSpPr>
        <p:spPr>
          <a:xfrm>
            <a:off x="-7721600" y="4740275"/>
            <a:ext cx="22758400" cy="12801600"/>
          </a:xfrm>
          <a:prstGeom prst="rect">
            <a:avLst/>
          </a:prstGeom>
          <a:noFill/>
          <a:ln w="12700">
            <a:solidFill>
              <a:prstClr val="black"/>
            </a:solidFill>
          </a:ln>
        </p:spPr>
        <p:txBody>
          <a:bodyPr vert="horz" lIns="168634" tIns="84317" rIns="168634" bIns="84317" rtlCol="0" anchor="ctr"/>
          <a:lstStyle/>
          <a:p>
            <a:endParaRPr lang="pt-BR"/>
          </a:p>
        </p:txBody>
      </p:sp>
      <p:sp>
        <p:nvSpPr>
          <p:cNvPr id="5" name="Espaço Reservado para Anotações 4"/>
          <p:cNvSpPr>
            <a:spLocks noGrp="1"/>
          </p:cNvSpPr>
          <p:nvPr>
            <p:ph type="body" sz="quarter" idx="3"/>
          </p:nvPr>
        </p:nvSpPr>
        <p:spPr>
          <a:xfrm>
            <a:off x="731522" y="18254135"/>
            <a:ext cx="5852160" cy="14935200"/>
          </a:xfrm>
          <a:prstGeom prst="rect">
            <a:avLst/>
          </a:prstGeom>
        </p:spPr>
        <p:txBody>
          <a:bodyPr vert="horz" lIns="168634" tIns="84317" rIns="168634" bIns="84317"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5" y="36027558"/>
            <a:ext cx="3169922" cy="1903117"/>
          </a:xfrm>
          <a:prstGeom prst="rect">
            <a:avLst/>
          </a:prstGeom>
        </p:spPr>
        <p:txBody>
          <a:bodyPr vert="horz" lIns="168634" tIns="84317" rIns="168634" bIns="84317" rtlCol="0" anchor="b"/>
          <a:lstStyle>
            <a:lvl1pPr algn="l">
              <a:defRPr sz="2200"/>
            </a:lvl1pPr>
          </a:lstStyle>
          <a:p>
            <a:endParaRPr lang="pt-BR"/>
          </a:p>
        </p:txBody>
      </p:sp>
      <p:sp>
        <p:nvSpPr>
          <p:cNvPr id="7" name="Espaço Reservado para Número de Slide 6"/>
          <p:cNvSpPr>
            <a:spLocks noGrp="1"/>
          </p:cNvSpPr>
          <p:nvPr>
            <p:ph type="sldNum" sz="quarter" idx="5"/>
          </p:nvPr>
        </p:nvSpPr>
        <p:spPr>
          <a:xfrm>
            <a:off x="4143592" y="36027558"/>
            <a:ext cx="3169922" cy="1903117"/>
          </a:xfrm>
          <a:prstGeom prst="rect">
            <a:avLst/>
          </a:prstGeom>
        </p:spPr>
        <p:txBody>
          <a:bodyPr vert="horz" lIns="168634" tIns="84317" rIns="168634" bIns="84317" rtlCol="0" anchor="b"/>
          <a:lstStyle>
            <a:lvl1pPr algn="r">
              <a:defRPr sz="2200"/>
            </a:lvl1pPr>
          </a:lstStyle>
          <a:p>
            <a:fld id="{6FC8D850-966F-45A6-8DE7-15B891E7D40D}" type="slidenum">
              <a:rPr lang="pt-BR" smtClean="0"/>
              <a:t>‹nº›</a:t>
            </a:fld>
            <a:endParaRPr lang="pt-BR"/>
          </a:p>
        </p:txBody>
      </p:sp>
    </p:spTree>
    <p:extLst>
      <p:ext uri="{BB962C8B-B14F-4D97-AF65-F5344CB8AC3E}">
        <p14:creationId xmlns:p14="http://schemas.microsoft.com/office/powerpoint/2010/main" val="354181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en.wikipedia.org/wiki/Activation_function#Comparison_of_activation_functions" TargetMode="External"/><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stats.stackexchange.com/questions/126238/what-are-the-advantages-of-relu-over-sigmoid-function-in-deep-neural-networks#:~:text=The%20main%20reason%20why%20ReLu,deep%20network%20with%20sigmoid%20activation." TargetMode="External"/><Relationship Id="rId2" Type="http://schemas.openxmlformats.org/officeDocument/2006/relationships/slide" Target="../slides/slide70.xml"/><Relationship Id="rId1" Type="http://schemas.openxmlformats.org/officeDocument/2006/relationships/notesMaster" Target="../notesMasters/notesMaster1.xml"/><Relationship Id="rId4" Type="http://schemas.openxmlformats.org/officeDocument/2006/relationships/hyperlink" Target="http://www.cs.toronto.edu/~fritz/absps/imagenet.pdf" TargetMode="Externa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a:t>
            </a:fld>
            <a:endParaRPr lang="pt-BR"/>
          </a:p>
        </p:txBody>
      </p:sp>
    </p:spTree>
    <p:extLst>
      <p:ext uri="{BB962C8B-B14F-4D97-AF65-F5344CB8AC3E}">
        <p14:creationId xmlns:p14="http://schemas.microsoft.com/office/powerpoint/2010/main" val="2528997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pt-BR" dirty="0"/>
              <a:t>O neurônio é uma </a:t>
            </a:r>
            <a:r>
              <a:rPr lang="pt-BR" b="1" dirty="0"/>
              <a:t>célula eucarionte altamente especializada</a:t>
            </a:r>
            <a:r>
              <a:rPr lang="pt-BR" dirty="0"/>
              <a:t>.</a:t>
            </a:r>
          </a:p>
          <a:p>
            <a:br>
              <a:rPr lang="pt-BR" dirty="0"/>
            </a:br>
            <a:r>
              <a:rPr lang="pt-BR" dirty="0"/>
              <a:t>Diferente de uma célula da pele ou do fígado, que têm funções de barreira ou metabolismo químico, o neurônio é projetado para a </a:t>
            </a:r>
            <a:r>
              <a:rPr lang="pt-BR" b="1" dirty="0"/>
              <a:t>excitabilidade elétrica</a:t>
            </a:r>
            <a:r>
              <a:rPr lang="pt-BR" dirty="0"/>
              <a:t>.</a:t>
            </a:r>
          </a:p>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9</a:t>
            </a:fld>
            <a:endParaRPr lang="pt-BR"/>
          </a:p>
        </p:txBody>
      </p:sp>
    </p:spTree>
    <p:extLst>
      <p:ext uri="{BB962C8B-B14F-4D97-AF65-F5344CB8AC3E}">
        <p14:creationId xmlns:p14="http://schemas.microsoft.com/office/powerpoint/2010/main" val="1974394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53F4D-6C82-7FCA-23FF-C258F7CE9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0A06A-D0CE-4BAD-3BDF-4B9F8363AD5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058ADF5-5B4F-9FF6-CF6A-9C10F85DC22E}"/>
              </a:ext>
            </a:extLst>
          </p:cNvPr>
          <p:cNvSpPr>
            <a:spLocks noGrp="1"/>
          </p:cNvSpPr>
          <p:nvPr>
            <p:ph type="body" idx="1"/>
          </p:nvPr>
        </p:nvSpPr>
        <p:spPr/>
        <p:txBody>
          <a:bodyPr/>
          <a:lstStyle/>
          <a:p>
            <a:r>
              <a:rPr lang="pt-BR" dirty="0"/>
              <a:t>O neurônio é uma </a:t>
            </a:r>
            <a:r>
              <a:rPr lang="pt-BR" b="1" dirty="0"/>
              <a:t>célula eucarionte altamente especializada</a:t>
            </a:r>
            <a:r>
              <a:rPr lang="pt-BR" dirty="0"/>
              <a:t>.</a:t>
            </a:r>
          </a:p>
          <a:p>
            <a:br>
              <a:rPr lang="pt-BR" dirty="0"/>
            </a:br>
            <a:r>
              <a:rPr lang="pt-BR" dirty="0"/>
              <a:t>Diferente de uma célula da pele ou do fígado, que têm funções de barreira ou metabolismo químico, o neurônio é projetado para a </a:t>
            </a:r>
            <a:r>
              <a:rPr lang="pt-BR" b="1" dirty="0"/>
              <a:t>excitabilidade elétrica</a:t>
            </a:r>
            <a:r>
              <a:rPr lang="pt-BR" dirty="0"/>
              <a:t>.</a:t>
            </a:r>
          </a:p>
          <a:p>
            <a:endParaRPr lang="en-US" dirty="0"/>
          </a:p>
        </p:txBody>
      </p:sp>
      <p:sp>
        <p:nvSpPr>
          <p:cNvPr id="4" name="Slide Number Placeholder 3">
            <a:extLst>
              <a:ext uri="{FF2B5EF4-FFF2-40B4-BE49-F238E27FC236}">
                <a16:creationId xmlns:a16="http://schemas.microsoft.com/office/drawing/2014/main" id="{2C58DB8A-770D-EB46-5B62-C7A647A63B5B}"/>
              </a:ext>
            </a:extLst>
          </p:cNvPr>
          <p:cNvSpPr>
            <a:spLocks noGrp="1"/>
          </p:cNvSpPr>
          <p:nvPr>
            <p:ph type="sldNum" sz="quarter" idx="5"/>
          </p:nvPr>
        </p:nvSpPr>
        <p:spPr/>
        <p:txBody>
          <a:bodyPr/>
          <a:lstStyle/>
          <a:p>
            <a:fld id="{6FC8D850-966F-45A6-8DE7-15B891E7D40D}" type="slidenum">
              <a:rPr lang="pt-BR" smtClean="0"/>
              <a:t>10</a:t>
            </a:fld>
            <a:endParaRPr lang="pt-BR"/>
          </a:p>
        </p:txBody>
      </p:sp>
    </p:spTree>
    <p:extLst>
      <p:ext uri="{BB962C8B-B14F-4D97-AF65-F5344CB8AC3E}">
        <p14:creationId xmlns:p14="http://schemas.microsoft.com/office/powerpoint/2010/main" val="2359256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pt-BR" dirty="0"/>
              <a:t>Existem dois tipos principais de sinapses: a </a:t>
            </a:r>
            <a:r>
              <a:rPr lang="pt-BR" b="1" dirty="0"/>
              <a:t>química</a:t>
            </a:r>
            <a:r>
              <a:rPr lang="pt-BR" dirty="0"/>
              <a:t> (a mais comum no nosso cérebro) e a </a:t>
            </a:r>
            <a:r>
              <a:rPr lang="pt-BR" b="1" dirty="0"/>
              <a:t>elétrica</a:t>
            </a:r>
            <a:r>
              <a:rPr lang="pt-BR" dirty="0"/>
              <a:t>.</a:t>
            </a:r>
          </a:p>
          <a:p>
            <a:endParaRPr lang="pt-BR" b="1" dirty="0"/>
          </a:p>
          <a:p>
            <a:r>
              <a:rPr lang="pt-BR" b="1" dirty="0"/>
              <a:t>Como eles se comunicam?</a:t>
            </a:r>
          </a:p>
          <a:p>
            <a:r>
              <a:rPr lang="pt-BR" dirty="0"/>
              <a:t>A comunicação acontece em dois estágios principais:</a:t>
            </a:r>
          </a:p>
          <a:p>
            <a:r>
              <a:rPr lang="pt-BR" b="1" dirty="0"/>
              <a:t>Condução Elétrica:</a:t>
            </a:r>
            <a:r>
              <a:rPr lang="pt-BR" dirty="0"/>
              <a:t> Dentro do próprio neurônio, a informação viaja como um pulso elétrico chamado </a:t>
            </a:r>
            <a:r>
              <a:rPr lang="pt-BR" b="1" dirty="0"/>
              <a:t>Potencial de Ação</a:t>
            </a:r>
            <a:r>
              <a:rPr lang="pt-BR" dirty="0"/>
              <a:t>.</a:t>
            </a:r>
          </a:p>
          <a:p>
            <a:r>
              <a:rPr lang="pt-BR" b="1" dirty="0"/>
              <a:t>Transmissão Química (Sinapse):</a:t>
            </a:r>
            <a:r>
              <a:rPr lang="pt-BR" dirty="0"/>
              <a:t> Quando o sinal chega ao fim do axônio, ele não "pula" diretamente para a outra célula (pois elas não se encostam). O neurônio libera substâncias químicas chamadas </a:t>
            </a:r>
            <a:r>
              <a:rPr lang="pt-BR" b="1" dirty="0"/>
              <a:t>neurotransmissores</a:t>
            </a:r>
            <a:r>
              <a:rPr lang="pt-BR" dirty="0"/>
              <a:t> (como dopamina ou serotonina) no espaço entre eles, a </a:t>
            </a:r>
            <a:r>
              <a:rPr lang="pt-BR" b="1" dirty="0"/>
              <a:t>fenda sináptica</a:t>
            </a:r>
            <a:r>
              <a:rPr lang="pt-BR" dirty="0"/>
              <a:t>.</a:t>
            </a:r>
          </a:p>
          <a:p>
            <a:endParaRPr lang="pt-BR" dirty="0"/>
          </a:p>
          <a:p>
            <a:r>
              <a:rPr lang="pt-BR" b="1" dirty="0"/>
              <a:t>O "Filtro" do Cérebro</a:t>
            </a:r>
          </a:p>
          <a:p>
            <a:r>
              <a:rPr lang="pt-BR" dirty="0"/>
              <a:t>Essa distinção é fundamental porque o seu cérebro recebe milhões de estímulos por segundo (o toque da roupa na pele, o barulho do ventilador, a luz da sala).</a:t>
            </a:r>
          </a:p>
          <a:p>
            <a:r>
              <a:rPr lang="pt-BR" dirty="0"/>
              <a:t>Para as informações irrelevantes, as sinapses são mantidas </a:t>
            </a:r>
            <a:r>
              <a:rPr lang="pt-BR" b="1" dirty="0"/>
              <a:t>fracas</a:t>
            </a:r>
            <a:r>
              <a:rPr lang="pt-BR" dirty="0"/>
              <a:t> (filtro).</a:t>
            </a:r>
          </a:p>
          <a:p>
            <a:r>
              <a:rPr lang="pt-BR" dirty="0"/>
              <a:t>Para informações vitais ou aprendidas, as sinapses tornam-se </a:t>
            </a:r>
            <a:r>
              <a:rPr lang="pt-BR" b="1" dirty="0"/>
              <a:t>fortes</a:t>
            </a:r>
            <a:r>
              <a:rPr lang="pt-BR" dirty="0"/>
              <a:t> (foco).</a:t>
            </a:r>
          </a:p>
          <a:p>
            <a:endParaRPr lang="pt-BR" dirty="0"/>
          </a:p>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11</a:t>
            </a:fld>
            <a:endParaRPr lang="pt-BR"/>
          </a:p>
        </p:txBody>
      </p:sp>
    </p:spTree>
    <p:extLst>
      <p:ext uri="{BB962C8B-B14F-4D97-AF65-F5344CB8AC3E}">
        <p14:creationId xmlns:p14="http://schemas.microsoft.com/office/powerpoint/2010/main" val="641119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Potencial de ação de neurônio, mostrando: “estímulo insuficiente”, “Limiar”, “Potencial de ação”, “Despolarização”, “</a:t>
            </a:r>
            <a:r>
              <a:rPr lang="pt-BR" dirty="0" err="1"/>
              <a:t>Repolarização</a:t>
            </a:r>
            <a:r>
              <a:rPr lang="pt-BR" dirty="0"/>
              <a:t>”, “Período refratário” e “Repouso”. </a:t>
            </a:r>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12</a:t>
            </a:fld>
            <a:endParaRPr lang="pt-BR"/>
          </a:p>
        </p:txBody>
      </p:sp>
    </p:spTree>
    <p:extLst>
      <p:ext uri="{BB962C8B-B14F-4D97-AF65-F5344CB8AC3E}">
        <p14:creationId xmlns:p14="http://schemas.microsoft.com/office/powerpoint/2010/main" val="25283444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buNone/>
            </a:pPr>
            <a:r>
              <a:rPr lang="pt-BR" dirty="0"/>
              <a:t>Não exatamente. O </a:t>
            </a:r>
            <a:r>
              <a:rPr lang="pt-BR" b="1" dirty="0"/>
              <a:t>neurônio biológico</a:t>
            </a:r>
            <a:r>
              <a:rPr lang="pt-BR" dirty="0"/>
              <a:t> e o </a:t>
            </a:r>
            <a:r>
              <a:rPr lang="pt-BR" b="1" dirty="0"/>
              <a:t>modelo de </a:t>
            </a:r>
            <a:r>
              <a:rPr lang="pt-BR" b="1" dirty="0" err="1"/>
              <a:t>McCulloch-Pitts</a:t>
            </a:r>
            <a:r>
              <a:rPr lang="pt-BR" dirty="0"/>
              <a:t> compartilham algumas inspirações, mas são bem diferentes em complexidade e funcionamento. Vamos comparar os dois:</a:t>
            </a:r>
          </a:p>
          <a:p>
            <a:pPr>
              <a:buNone/>
            </a:pPr>
            <a:r>
              <a:rPr lang="pt-BR" b="1" dirty="0"/>
              <a:t>⚙️ Modelo de </a:t>
            </a:r>
            <a:r>
              <a:rPr lang="pt-BR" b="1" dirty="0" err="1"/>
              <a:t>McCulloch-Pitts</a:t>
            </a:r>
            <a:r>
              <a:rPr lang="pt-BR" b="1" dirty="0"/>
              <a:t> (1943):</a:t>
            </a:r>
          </a:p>
          <a:p>
            <a:pPr>
              <a:buFont typeface="Arial" panose="020B0604020202020204" pitchFamily="34" charset="0"/>
              <a:buChar char="•"/>
            </a:pPr>
            <a:r>
              <a:rPr lang="pt-BR" dirty="0"/>
              <a:t>É um </a:t>
            </a:r>
            <a:r>
              <a:rPr lang="pt-BR" b="1" dirty="0"/>
              <a:t>modelo simplificado</a:t>
            </a:r>
            <a:r>
              <a:rPr lang="pt-BR" dirty="0"/>
              <a:t> de um neurônio, criado para representar o comportamento lógico e binário do cérebro.</a:t>
            </a:r>
          </a:p>
          <a:p>
            <a:pPr>
              <a:buFont typeface="Arial" panose="020B0604020202020204" pitchFamily="34" charset="0"/>
              <a:buChar char="•"/>
            </a:pPr>
            <a:r>
              <a:rPr lang="pt-BR" dirty="0"/>
              <a:t>Possui três partes principais: </a:t>
            </a:r>
          </a:p>
          <a:p>
            <a:pPr marL="742950" lvl="1" indent="-285750">
              <a:buFont typeface="Arial" panose="020B0604020202020204" pitchFamily="34" charset="0"/>
              <a:buChar char="•"/>
            </a:pPr>
            <a:r>
              <a:rPr lang="pt-BR" b="1" dirty="0"/>
              <a:t>Entradas</a:t>
            </a:r>
            <a:r>
              <a:rPr lang="pt-BR" dirty="0"/>
              <a:t>: Simulam os dendritos recebendo sinais.</a:t>
            </a:r>
          </a:p>
          <a:p>
            <a:pPr marL="742950" lvl="1" indent="-285750">
              <a:buFont typeface="Arial" panose="020B0604020202020204" pitchFamily="34" charset="0"/>
              <a:buChar char="•"/>
            </a:pPr>
            <a:r>
              <a:rPr lang="pt-BR" b="1" dirty="0"/>
              <a:t>Pesos</a:t>
            </a:r>
            <a:r>
              <a:rPr lang="pt-BR" dirty="0"/>
              <a:t>: Cada entrada tem um peso associado, representando a importância do sinal.</a:t>
            </a:r>
          </a:p>
          <a:p>
            <a:pPr marL="742950" lvl="1" indent="-285750">
              <a:buFont typeface="Arial" panose="020B0604020202020204" pitchFamily="34" charset="0"/>
              <a:buChar char="•"/>
            </a:pPr>
            <a:r>
              <a:rPr lang="pt-BR" b="1" dirty="0"/>
              <a:t>Função de ativação (limiar):</a:t>
            </a:r>
            <a:r>
              <a:rPr lang="pt-BR" dirty="0"/>
              <a:t> Se a soma ponderada das entradas ultrapassar um valor de limiar, o neurônio "dispara" (saída = 1); caso contrário, não dispara (saída = 0).</a:t>
            </a:r>
          </a:p>
          <a:p>
            <a:pPr>
              <a:buFont typeface="Arial" panose="020B0604020202020204" pitchFamily="34" charset="0"/>
              <a:buChar char="•"/>
            </a:pPr>
            <a:r>
              <a:rPr lang="pt-BR" dirty="0"/>
              <a:t>Ele opera de forma discreta e determinística, focado em </a:t>
            </a:r>
            <a:r>
              <a:rPr lang="pt-BR" b="1" dirty="0"/>
              <a:t>decisões binárias</a:t>
            </a:r>
            <a:r>
              <a:rPr lang="pt-BR" dirty="0"/>
              <a:t> e funções lógicas simples.</a:t>
            </a:r>
          </a:p>
          <a:p>
            <a:pPr>
              <a:buNone/>
            </a:pPr>
            <a:r>
              <a:rPr lang="pt-BR" b="1" dirty="0"/>
              <a:t>🧠 Neurônio Biológico:</a:t>
            </a:r>
          </a:p>
          <a:p>
            <a:pPr>
              <a:buFont typeface="Arial" panose="020B0604020202020204" pitchFamily="34" charset="0"/>
              <a:buChar char="•"/>
            </a:pPr>
            <a:r>
              <a:rPr lang="pt-BR" dirty="0"/>
              <a:t>É </a:t>
            </a:r>
            <a:r>
              <a:rPr lang="pt-BR" b="1" dirty="0"/>
              <a:t>muito mais complexo</a:t>
            </a:r>
            <a:r>
              <a:rPr lang="pt-BR" dirty="0"/>
              <a:t>. Funciona através de sinais elétricos e químicos, e envolve processos que o modelo de </a:t>
            </a:r>
            <a:r>
              <a:rPr lang="pt-BR" dirty="0" err="1"/>
              <a:t>McCulloch-Pitts</a:t>
            </a:r>
            <a:r>
              <a:rPr lang="pt-BR" dirty="0"/>
              <a:t> não consegue capturar completamente: </a:t>
            </a:r>
          </a:p>
          <a:p>
            <a:pPr marL="742950" lvl="1" indent="-285750">
              <a:buFont typeface="Arial" panose="020B0604020202020204" pitchFamily="34" charset="0"/>
              <a:buChar char="•"/>
            </a:pPr>
            <a:r>
              <a:rPr lang="pt-BR" b="1" dirty="0"/>
              <a:t>Potenciais de ação:</a:t>
            </a:r>
            <a:r>
              <a:rPr lang="pt-BR" dirty="0"/>
              <a:t> O disparo do neurônio depende de gradientes iônicos, não apenas de uma soma ponderada.</a:t>
            </a:r>
          </a:p>
          <a:p>
            <a:pPr marL="742950" lvl="1" indent="-285750">
              <a:buFont typeface="Arial" panose="020B0604020202020204" pitchFamily="34" charset="0"/>
              <a:buChar char="•"/>
            </a:pPr>
            <a:r>
              <a:rPr lang="pt-BR" b="1" dirty="0"/>
              <a:t>Sinapses:</a:t>
            </a:r>
            <a:r>
              <a:rPr lang="pt-BR" dirty="0"/>
              <a:t> As conexões entre neurônios não são apenas binárias; envolvem neurotransmissores, sinapses excitatórias e inibitórias.</a:t>
            </a:r>
          </a:p>
          <a:p>
            <a:pPr marL="742950" lvl="1" indent="-285750">
              <a:buFont typeface="Arial" panose="020B0604020202020204" pitchFamily="34" charset="0"/>
              <a:buChar char="•"/>
            </a:pPr>
            <a:r>
              <a:rPr lang="pt-BR" b="1" dirty="0"/>
              <a:t>Plasticidade sináptica:</a:t>
            </a:r>
            <a:r>
              <a:rPr lang="pt-BR" dirty="0"/>
              <a:t> A força das conexões muda ao longo do tempo com a experiência, o que é fundamental para o aprendizado e a memória.</a:t>
            </a:r>
          </a:p>
          <a:p>
            <a:pPr marL="742950" lvl="1" indent="-285750">
              <a:buFont typeface="Arial" panose="020B0604020202020204" pitchFamily="34" charset="0"/>
              <a:buChar char="•"/>
            </a:pPr>
            <a:r>
              <a:rPr lang="pt-BR" b="1" dirty="0"/>
              <a:t>Integração espacial e temporal:</a:t>
            </a:r>
            <a:r>
              <a:rPr lang="pt-BR" dirty="0"/>
              <a:t> Os sinais recebidos são integrados no tempo e no espaço, permitindo respostas mais ricas do que apenas "ligar ou desligar".</a:t>
            </a:r>
          </a:p>
          <a:p>
            <a:pPr>
              <a:buNone/>
            </a:pPr>
            <a:r>
              <a:rPr lang="pt-BR" b="1" dirty="0"/>
              <a:t>🌟 Conclusão:</a:t>
            </a:r>
          </a:p>
          <a:p>
            <a:pPr>
              <a:buNone/>
            </a:pPr>
            <a:r>
              <a:rPr lang="pt-BR" dirty="0"/>
              <a:t>O modelo de </a:t>
            </a:r>
            <a:r>
              <a:rPr lang="pt-BR" dirty="0" err="1"/>
              <a:t>McCulloch-Pitts</a:t>
            </a:r>
            <a:r>
              <a:rPr lang="pt-BR" dirty="0"/>
              <a:t> foi uma </a:t>
            </a:r>
            <a:r>
              <a:rPr lang="pt-BR" b="1" dirty="0"/>
              <a:t>abstração pioneira</a:t>
            </a:r>
            <a:r>
              <a:rPr lang="pt-BR" dirty="0"/>
              <a:t> que inspirou redes neurais artificiais, mas ele é </a:t>
            </a:r>
            <a:r>
              <a:rPr lang="pt-BR" b="1" dirty="0"/>
              <a:t>muito simplificado</a:t>
            </a:r>
            <a:r>
              <a:rPr lang="pt-BR" dirty="0"/>
              <a:t> em comparação com a complexidade dos neurônios biológicos. Hoje, modelos mais avançados, como as redes neurais profundas e os modelos de picos neurais (</a:t>
            </a:r>
            <a:r>
              <a:rPr lang="pt-BR" dirty="0" err="1"/>
              <a:t>Spiking</a:t>
            </a:r>
            <a:r>
              <a:rPr lang="pt-BR" dirty="0"/>
              <a:t> Neural Networks), tentam se aproximar mais do comportamento real dos neurônios.</a:t>
            </a:r>
          </a:p>
          <a:p>
            <a:r>
              <a:rPr lang="pt-BR" dirty="0"/>
              <a:t>Quer que eu aprofunde algum ponto ou compare com outro tipo de modelo? 🚀</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13</a:t>
            </a:fld>
            <a:endParaRPr lang="pt-BR"/>
          </a:p>
        </p:txBody>
      </p:sp>
    </p:spTree>
    <p:extLst>
      <p:ext uri="{BB962C8B-B14F-4D97-AF65-F5344CB8AC3E}">
        <p14:creationId xmlns:p14="http://schemas.microsoft.com/office/powerpoint/2010/main" val="4243563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2987-925B-7129-0A2E-DE3815F4FE5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18A4CBA-9044-26FC-DF73-B80C0CE02D58}"/>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EB12BB6C-7018-B9ED-217E-DDBC0E24DCB9}"/>
              </a:ext>
            </a:extLst>
          </p:cNvPr>
          <p:cNvSpPr>
            <a:spLocks noGrp="1"/>
          </p:cNvSpPr>
          <p:nvPr>
            <p:ph type="body" idx="1"/>
          </p:nvPr>
        </p:nvSpPr>
        <p:spPr/>
        <p:txBody>
          <a:bodyPr/>
          <a:lstStyle/>
          <a:p>
            <a:pPr>
              <a:buNone/>
            </a:pPr>
            <a:r>
              <a:rPr lang="pt-BR" dirty="0"/>
              <a:t>Não exatamente. O </a:t>
            </a:r>
            <a:r>
              <a:rPr lang="pt-BR" b="1" dirty="0"/>
              <a:t>neurônio biológico</a:t>
            </a:r>
            <a:r>
              <a:rPr lang="pt-BR" dirty="0"/>
              <a:t> e o </a:t>
            </a:r>
            <a:r>
              <a:rPr lang="pt-BR" b="1" dirty="0"/>
              <a:t>modelo de </a:t>
            </a:r>
            <a:r>
              <a:rPr lang="pt-BR" b="1" dirty="0" err="1"/>
              <a:t>McCulloch-Pitts</a:t>
            </a:r>
            <a:r>
              <a:rPr lang="pt-BR" dirty="0"/>
              <a:t> compartilham algumas inspirações, mas são bem diferentes em complexidade e funcionamento. Vamos comparar os dois:</a:t>
            </a:r>
          </a:p>
          <a:p>
            <a:pPr>
              <a:buNone/>
            </a:pPr>
            <a:r>
              <a:rPr lang="pt-BR" b="1" dirty="0"/>
              <a:t>⚙️ Modelo de </a:t>
            </a:r>
            <a:r>
              <a:rPr lang="pt-BR" b="1" dirty="0" err="1"/>
              <a:t>McCulloch-Pitts</a:t>
            </a:r>
            <a:r>
              <a:rPr lang="pt-BR" b="1" dirty="0"/>
              <a:t> (1943):</a:t>
            </a:r>
          </a:p>
          <a:p>
            <a:pPr>
              <a:buFont typeface="Arial" panose="020B0604020202020204" pitchFamily="34" charset="0"/>
              <a:buChar char="•"/>
            </a:pPr>
            <a:r>
              <a:rPr lang="pt-BR" dirty="0"/>
              <a:t>É um </a:t>
            </a:r>
            <a:r>
              <a:rPr lang="pt-BR" b="1" dirty="0"/>
              <a:t>modelo simplificado</a:t>
            </a:r>
            <a:r>
              <a:rPr lang="pt-BR" dirty="0"/>
              <a:t> de um neurônio, criado para representar o comportamento lógico e binário do cérebro.</a:t>
            </a:r>
          </a:p>
          <a:p>
            <a:pPr>
              <a:buFont typeface="Arial" panose="020B0604020202020204" pitchFamily="34" charset="0"/>
              <a:buChar char="•"/>
            </a:pPr>
            <a:r>
              <a:rPr lang="pt-BR" dirty="0"/>
              <a:t>Possui três partes principais: </a:t>
            </a:r>
          </a:p>
          <a:p>
            <a:pPr marL="742950" lvl="1" indent="-285750">
              <a:buFont typeface="Arial" panose="020B0604020202020204" pitchFamily="34" charset="0"/>
              <a:buChar char="•"/>
            </a:pPr>
            <a:r>
              <a:rPr lang="pt-BR" b="1" dirty="0"/>
              <a:t>Entradas</a:t>
            </a:r>
            <a:r>
              <a:rPr lang="pt-BR" dirty="0"/>
              <a:t>: Simulam os dendritos recebendo sinais.</a:t>
            </a:r>
          </a:p>
          <a:p>
            <a:pPr marL="742950" lvl="1" indent="-285750">
              <a:buFont typeface="Arial" panose="020B0604020202020204" pitchFamily="34" charset="0"/>
              <a:buChar char="•"/>
            </a:pPr>
            <a:r>
              <a:rPr lang="pt-BR" b="1" dirty="0"/>
              <a:t>Pesos</a:t>
            </a:r>
            <a:r>
              <a:rPr lang="pt-BR" dirty="0"/>
              <a:t>: Cada entrada tem um peso associado, representando a importância do sinal.</a:t>
            </a:r>
          </a:p>
          <a:p>
            <a:pPr marL="742950" lvl="1" indent="-285750">
              <a:buFont typeface="Arial" panose="020B0604020202020204" pitchFamily="34" charset="0"/>
              <a:buChar char="•"/>
            </a:pPr>
            <a:r>
              <a:rPr lang="pt-BR" b="1" dirty="0"/>
              <a:t>Função de ativação (limiar):</a:t>
            </a:r>
            <a:r>
              <a:rPr lang="pt-BR" dirty="0"/>
              <a:t> Se a soma ponderada das entradas ultrapassar um valor de limiar, o neurônio "dispara" (saída = 1); caso contrário, não dispara (saída = 0).</a:t>
            </a:r>
          </a:p>
          <a:p>
            <a:pPr>
              <a:buFont typeface="Arial" panose="020B0604020202020204" pitchFamily="34" charset="0"/>
              <a:buChar char="•"/>
            </a:pPr>
            <a:r>
              <a:rPr lang="pt-BR" dirty="0"/>
              <a:t>Ele opera de forma discreta e determinística, focado em </a:t>
            </a:r>
            <a:r>
              <a:rPr lang="pt-BR" b="1" dirty="0"/>
              <a:t>decisões binárias</a:t>
            </a:r>
            <a:r>
              <a:rPr lang="pt-BR" dirty="0"/>
              <a:t> e funções lógicas simples.</a:t>
            </a:r>
          </a:p>
          <a:p>
            <a:pPr>
              <a:buNone/>
            </a:pPr>
            <a:r>
              <a:rPr lang="pt-BR" b="1" dirty="0"/>
              <a:t>🧠 Neurônio Biológico:</a:t>
            </a:r>
          </a:p>
          <a:p>
            <a:pPr>
              <a:buFont typeface="Arial" panose="020B0604020202020204" pitchFamily="34" charset="0"/>
              <a:buChar char="•"/>
            </a:pPr>
            <a:r>
              <a:rPr lang="pt-BR" dirty="0"/>
              <a:t>É </a:t>
            </a:r>
            <a:r>
              <a:rPr lang="pt-BR" b="1" dirty="0"/>
              <a:t>muito mais complexo</a:t>
            </a:r>
            <a:r>
              <a:rPr lang="pt-BR" dirty="0"/>
              <a:t>. Funciona através de sinais elétricos e químicos, e envolve processos que o modelo de </a:t>
            </a:r>
            <a:r>
              <a:rPr lang="pt-BR" dirty="0" err="1"/>
              <a:t>McCulloch-Pitts</a:t>
            </a:r>
            <a:r>
              <a:rPr lang="pt-BR" dirty="0"/>
              <a:t> não consegue capturar completamente: </a:t>
            </a:r>
          </a:p>
          <a:p>
            <a:pPr marL="742950" lvl="1" indent="-285750">
              <a:buFont typeface="Arial" panose="020B0604020202020204" pitchFamily="34" charset="0"/>
              <a:buChar char="•"/>
            </a:pPr>
            <a:r>
              <a:rPr lang="pt-BR" b="1" dirty="0"/>
              <a:t>Potenciais de ação:</a:t>
            </a:r>
            <a:r>
              <a:rPr lang="pt-BR" dirty="0"/>
              <a:t> O disparo do neurônio depende de gradientes iônicos, não apenas de uma soma ponderada.</a:t>
            </a:r>
          </a:p>
          <a:p>
            <a:pPr marL="742950" lvl="1" indent="-285750">
              <a:buFont typeface="Arial" panose="020B0604020202020204" pitchFamily="34" charset="0"/>
              <a:buChar char="•"/>
            </a:pPr>
            <a:r>
              <a:rPr lang="pt-BR" b="1" dirty="0"/>
              <a:t>Sinapses:</a:t>
            </a:r>
            <a:r>
              <a:rPr lang="pt-BR" dirty="0"/>
              <a:t> As conexões entre neurônios não são apenas binárias; envolvem neurotransmissores, sinapses excitatórias e inibitórias.</a:t>
            </a:r>
          </a:p>
          <a:p>
            <a:pPr marL="742950" lvl="1" indent="-285750">
              <a:buFont typeface="Arial" panose="020B0604020202020204" pitchFamily="34" charset="0"/>
              <a:buChar char="•"/>
            </a:pPr>
            <a:r>
              <a:rPr lang="pt-BR" b="1" dirty="0"/>
              <a:t>Plasticidade sináptica:</a:t>
            </a:r>
            <a:r>
              <a:rPr lang="pt-BR" dirty="0"/>
              <a:t> A força das conexões muda ao longo do tempo com a experiência, o que é fundamental para o aprendizado e a memória.</a:t>
            </a:r>
          </a:p>
          <a:p>
            <a:pPr marL="742950" lvl="1" indent="-285750">
              <a:buFont typeface="Arial" panose="020B0604020202020204" pitchFamily="34" charset="0"/>
              <a:buChar char="•"/>
            </a:pPr>
            <a:r>
              <a:rPr lang="pt-BR" b="1" dirty="0"/>
              <a:t>Integração espacial e temporal:</a:t>
            </a:r>
            <a:r>
              <a:rPr lang="pt-BR" dirty="0"/>
              <a:t> Os sinais recebidos são integrados no tempo e no espaço, permitindo respostas mais ricas do que apenas "ligar ou desligar".</a:t>
            </a:r>
          </a:p>
          <a:p>
            <a:pPr>
              <a:buNone/>
            </a:pPr>
            <a:r>
              <a:rPr lang="pt-BR" b="1" dirty="0"/>
              <a:t>🌟 Conclusão:</a:t>
            </a:r>
          </a:p>
          <a:p>
            <a:pPr>
              <a:buNone/>
            </a:pPr>
            <a:r>
              <a:rPr lang="pt-BR" dirty="0"/>
              <a:t>O modelo de </a:t>
            </a:r>
            <a:r>
              <a:rPr lang="pt-BR" dirty="0" err="1"/>
              <a:t>McCulloch-Pitts</a:t>
            </a:r>
            <a:r>
              <a:rPr lang="pt-BR" dirty="0"/>
              <a:t> foi uma </a:t>
            </a:r>
            <a:r>
              <a:rPr lang="pt-BR" b="1" dirty="0"/>
              <a:t>abstração pioneira</a:t>
            </a:r>
            <a:r>
              <a:rPr lang="pt-BR" dirty="0"/>
              <a:t> que inspirou redes neurais artificiais, mas ele é </a:t>
            </a:r>
            <a:r>
              <a:rPr lang="pt-BR" b="1" dirty="0"/>
              <a:t>muito simplificado</a:t>
            </a:r>
            <a:r>
              <a:rPr lang="pt-BR" dirty="0"/>
              <a:t> em comparação com a complexidade dos neurônios biológicos. Hoje, modelos mais avançados, como as redes neurais profundas e os modelos de picos neurais (</a:t>
            </a:r>
            <a:r>
              <a:rPr lang="pt-BR" dirty="0" err="1"/>
              <a:t>Spiking</a:t>
            </a:r>
            <a:r>
              <a:rPr lang="pt-BR" dirty="0"/>
              <a:t> Neural Networks), tentam se aproximar mais do comportamento real dos neurônios.</a:t>
            </a:r>
          </a:p>
          <a:p>
            <a:r>
              <a:rPr lang="pt-BR" dirty="0"/>
              <a:t>Quer que eu aprofunde algum ponto ou compare com outro tipo de modelo? 🚀</a:t>
            </a:r>
          </a:p>
          <a:p>
            <a:endParaRPr lang="pt-BR" dirty="0"/>
          </a:p>
        </p:txBody>
      </p:sp>
      <p:sp>
        <p:nvSpPr>
          <p:cNvPr id="4" name="Espaço Reservado para Número de Slide 3">
            <a:extLst>
              <a:ext uri="{FF2B5EF4-FFF2-40B4-BE49-F238E27FC236}">
                <a16:creationId xmlns:a16="http://schemas.microsoft.com/office/drawing/2014/main" id="{9E728E3E-66FE-8A4E-22A4-3CEBC0A1FE28}"/>
              </a:ext>
            </a:extLst>
          </p:cNvPr>
          <p:cNvSpPr>
            <a:spLocks noGrp="1"/>
          </p:cNvSpPr>
          <p:nvPr>
            <p:ph type="sldNum" sz="quarter" idx="5"/>
          </p:nvPr>
        </p:nvSpPr>
        <p:spPr/>
        <p:txBody>
          <a:bodyPr/>
          <a:lstStyle/>
          <a:p>
            <a:fld id="{6FC8D850-966F-45A6-8DE7-15B891E7D40D}" type="slidenum">
              <a:rPr lang="pt-BR" smtClean="0"/>
              <a:t>14</a:t>
            </a:fld>
            <a:endParaRPr lang="pt-BR"/>
          </a:p>
        </p:txBody>
      </p:sp>
    </p:spTree>
    <p:extLst>
      <p:ext uri="{BB962C8B-B14F-4D97-AF65-F5344CB8AC3E}">
        <p14:creationId xmlns:p14="http://schemas.microsoft.com/office/powerpoint/2010/main" val="203768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3E06D-D4DF-62F5-AED3-2FF8FE7BAF6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761FFDF-D7C1-0654-ECF9-2DA2D948011D}"/>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789B2351-07CF-627D-5227-558D210CC3B2}"/>
              </a:ext>
            </a:extLst>
          </p:cNvPr>
          <p:cNvSpPr>
            <a:spLocks noGrp="1"/>
          </p:cNvSpPr>
          <p:nvPr>
            <p:ph type="body" idx="1"/>
          </p:nvPr>
        </p:nvSpPr>
        <p:spPr/>
        <p:txBody>
          <a:bodyPr/>
          <a:lstStyle/>
          <a:p>
            <a:pPr>
              <a:buNone/>
            </a:pPr>
            <a:r>
              <a:rPr lang="pt-BR" dirty="0"/>
              <a:t>Não exatamente. O </a:t>
            </a:r>
            <a:r>
              <a:rPr lang="pt-BR" b="1" dirty="0"/>
              <a:t>neurônio biológico</a:t>
            </a:r>
            <a:r>
              <a:rPr lang="pt-BR" dirty="0"/>
              <a:t> e o </a:t>
            </a:r>
            <a:r>
              <a:rPr lang="pt-BR" b="1" dirty="0"/>
              <a:t>modelo de </a:t>
            </a:r>
            <a:r>
              <a:rPr lang="pt-BR" b="1" dirty="0" err="1"/>
              <a:t>McCulloch-Pitts</a:t>
            </a:r>
            <a:r>
              <a:rPr lang="pt-BR" dirty="0"/>
              <a:t> compartilham algumas inspirações, mas são bem diferentes em complexidade e funcionamento. Vamos comparar os dois:</a:t>
            </a:r>
          </a:p>
          <a:p>
            <a:pPr>
              <a:buNone/>
            </a:pPr>
            <a:r>
              <a:rPr lang="pt-BR" b="1" dirty="0"/>
              <a:t>⚙️ Modelo de </a:t>
            </a:r>
            <a:r>
              <a:rPr lang="pt-BR" b="1" dirty="0" err="1"/>
              <a:t>McCulloch-Pitts</a:t>
            </a:r>
            <a:r>
              <a:rPr lang="pt-BR" b="1" dirty="0"/>
              <a:t> (1943):</a:t>
            </a:r>
          </a:p>
          <a:p>
            <a:pPr>
              <a:buFont typeface="Arial" panose="020B0604020202020204" pitchFamily="34" charset="0"/>
              <a:buChar char="•"/>
            </a:pPr>
            <a:r>
              <a:rPr lang="pt-BR" dirty="0"/>
              <a:t>É um </a:t>
            </a:r>
            <a:r>
              <a:rPr lang="pt-BR" b="1" dirty="0"/>
              <a:t>modelo simplificado</a:t>
            </a:r>
            <a:r>
              <a:rPr lang="pt-BR" dirty="0"/>
              <a:t> de um neurônio, criado para representar o comportamento lógico e binário do cérebro.</a:t>
            </a:r>
          </a:p>
          <a:p>
            <a:pPr>
              <a:buFont typeface="Arial" panose="020B0604020202020204" pitchFamily="34" charset="0"/>
              <a:buChar char="•"/>
            </a:pPr>
            <a:r>
              <a:rPr lang="pt-BR" dirty="0"/>
              <a:t>Possui três partes principais: </a:t>
            </a:r>
          </a:p>
          <a:p>
            <a:pPr marL="742950" lvl="1" indent="-285750">
              <a:buFont typeface="Arial" panose="020B0604020202020204" pitchFamily="34" charset="0"/>
              <a:buChar char="•"/>
            </a:pPr>
            <a:r>
              <a:rPr lang="pt-BR" b="1" dirty="0"/>
              <a:t>Entradas</a:t>
            </a:r>
            <a:r>
              <a:rPr lang="pt-BR" dirty="0"/>
              <a:t>: Simulam os dendritos recebendo sinais.</a:t>
            </a:r>
          </a:p>
          <a:p>
            <a:pPr marL="742950" lvl="1" indent="-285750">
              <a:buFont typeface="Arial" panose="020B0604020202020204" pitchFamily="34" charset="0"/>
              <a:buChar char="•"/>
            </a:pPr>
            <a:r>
              <a:rPr lang="pt-BR" b="1" dirty="0"/>
              <a:t>Pesos</a:t>
            </a:r>
            <a:r>
              <a:rPr lang="pt-BR" dirty="0"/>
              <a:t>: Cada entrada tem um peso associado, representando a importância do sinal.</a:t>
            </a:r>
          </a:p>
          <a:p>
            <a:pPr marL="742950" lvl="1" indent="-285750">
              <a:buFont typeface="Arial" panose="020B0604020202020204" pitchFamily="34" charset="0"/>
              <a:buChar char="•"/>
            </a:pPr>
            <a:r>
              <a:rPr lang="pt-BR" b="1" dirty="0"/>
              <a:t>Função de ativação (limiar):</a:t>
            </a:r>
            <a:r>
              <a:rPr lang="pt-BR" dirty="0"/>
              <a:t> Se a soma ponderada das entradas ultrapassar um valor de limiar, o neurônio "dispara" (saída = 1); caso contrário, não dispara (saída = 0).</a:t>
            </a:r>
          </a:p>
          <a:p>
            <a:pPr>
              <a:buFont typeface="Arial" panose="020B0604020202020204" pitchFamily="34" charset="0"/>
              <a:buChar char="•"/>
            </a:pPr>
            <a:r>
              <a:rPr lang="pt-BR" dirty="0"/>
              <a:t>Ele opera de forma discreta e determinística, focado em </a:t>
            </a:r>
            <a:r>
              <a:rPr lang="pt-BR" b="1" dirty="0"/>
              <a:t>decisões binárias</a:t>
            </a:r>
            <a:r>
              <a:rPr lang="pt-BR" dirty="0"/>
              <a:t> e funções lógicas simples.</a:t>
            </a:r>
          </a:p>
          <a:p>
            <a:pPr>
              <a:buNone/>
            </a:pPr>
            <a:r>
              <a:rPr lang="pt-BR" b="1" dirty="0"/>
              <a:t>🧠 Neurônio Biológico:</a:t>
            </a:r>
          </a:p>
          <a:p>
            <a:pPr>
              <a:buFont typeface="Arial" panose="020B0604020202020204" pitchFamily="34" charset="0"/>
              <a:buChar char="•"/>
            </a:pPr>
            <a:r>
              <a:rPr lang="pt-BR" dirty="0"/>
              <a:t>É </a:t>
            </a:r>
            <a:r>
              <a:rPr lang="pt-BR" b="1" dirty="0"/>
              <a:t>muito mais complexo</a:t>
            </a:r>
            <a:r>
              <a:rPr lang="pt-BR" dirty="0"/>
              <a:t>. Funciona através de sinais elétricos e químicos, e envolve processos que o modelo de </a:t>
            </a:r>
            <a:r>
              <a:rPr lang="pt-BR" dirty="0" err="1"/>
              <a:t>McCulloch-Pitts</a:t>
            </a:r>
            <a:r>
              <a:rPr lang="pt-BR" dirty="0"/>
              <a:t> não consegue capturar completamente: </a:t>
            </a:r>
          </a:p>
          <a:p>
            <a:pPr marL="742950" lvl="1" indent="-285750">
              <a:buFont typeface="Arial" panose="020B0604020202020204" pitchFamily="34" charset="0"/>
              <a:buChar char="•"/>
            </a:pPr>
            <a:r>
              <a:rPr lang="pt-BR" b="1" dirty="0"/>
              <a:t>Potenciais de ação:</a:t>
            </a:r>
            <a:r>
              <a:rPr lang="pt-BR" dirty="0"/>
              <a:t> O disparo do neurônio depende de gradientes iônicos, não apenas de uma soma ponderada.</a:t>
            </a:r>
          </a:p>
          <a:p>
            <a:pPr marL="742950" lvl="1" indent="-285750">
              <a:buFont typeface="Arial" panose="020B0604020202020204" pitchFamily="34" charset="0"/>
              <a:buChar char="•"/>
            </a:pPr>
            <a:r>
              <a:rPr lang="pt-BR" b="1" dirty="0"/>
              <a:t>Sinapses:</a:t>
            </a:r>
            <a:r>
              <a:rPr lang="pt-BR" dirty="0"/>
              <a:t> As conexões entre neurônios não são apenas binárias; envolvem neurotransmissores, sinapses excitatórias e inibitórias.</a:t>
            </a:r>
          </a:p>
          <a:p>
            <a:pPr marL="742950" lvl="1" indent="-285750">
              <a:buFont typeface="Arial" panose="020B0604020202020204" pitchFamily="34" charset="0"/>
              <a:buChar char="•"/>
            </a:pPr>
            <a:r>
              <a:rPr lang="pt-BR" b="1" dirty="0"/>
              <a:t>Plasticidade sináptica:</a:t>
            </a:r>
            <a:r>
              <a:rPr lang="pt-BR" dirty="0"/>
              <a:t> A força das conexões muda ao longo do tempo com a experiência, o que é fundamental para o aprendizado e a memória.</a:t>
            </a:r>
          </a:p>
          <a:p>
            <a:pPr marL="742950" lvl="1" indent="-285750">
              <a:buFont typeface="Arial" panose="020B0604020202020204" pitchFamily="34" charset="0"/>
              <a:buChar char="•"/>
            </a:pPr>
            <a:r>
              <a:rPr lang="pt-BR" b="1" dirty="0"/>
              <a:t>Integração espacial e temporal:</a:t>
            </a:r>
            <a:r>
              <a:rPr lang="pt-BR" dirty="0"/>
              <a:t> Os sinais recebidos são integrados no tempo e no espaço, permitindo respostas mais ricas do que apenas "ligar ou desligar".</a:t>
            </a:r>
          </a:p>
          <a:p>
            <a:pPr>
              <a:buNone/>
            </a:pPr>
            <a:r>
              <a:rPr lang="pt-BR" b="1" dirty="0"/>
              <a:t>🌟 Conclusão:</a:t>
            </a:r>
          </a:p>
          <a:p>
            <a:pPr>
              <a:buNone/>
            </a:pPr>
            <a:r>
              <a:rPr lang="pt-BR" dirty="0"/>
              <a:t>O modelo de </a:t>
            </a:r>
            <a:r>
              <a:rPr lang="pt-BR" dirty="0" err="1"/>
              <a:t>McCulloch-Pitts</a:t>
            </a:r>
            <a:r>
              <a:rPr lang="pt-BR" dirty="0"/>
              <a:t> foi uma </a:t>
            </a:r>
            <a:r>
              <a:rPr lang="pt-BR" b="1" dirty="0"/>
              <a:t>abstração pioneira</a:t>
            </a:r>
            <a:r>
              <a:rPr lang="pt-BR" dirty="0"/>
              <a:t> que inspirou redes neurais artificiais, mas ele é </a:t>
            </a:r>
            <a:r>
              <a:rPr lang="pt-BR" b="1" dirty="0"/>
              <a:t>muito simplificado</a:t>
            </a:r>
            <a:r>
              <a:rPr lang="pt-BR" dirty="0"/>
              <a:t> em comparação com a complexidade dos neurônios biológicos. Hoje, modelos mais avançados, como as redes neurais profundas e os modelos de picos neurais (</a:t>
            </a:r>
            <a:r>
              <a:rPr lang="pt-BR" dirty="0" err="1"/>
              <a:t>Spiking</a:t>
            </a:r>
            <a:r>
              <a:rPr lang="pt-BR" dirty="0"/>
              <a:t> Neural Networks), tentam se aproximar mais do comportamento real dos neurônios.</a:t>
            </a:r>
          </a:p>
          <a:p>
            <a:r>
              <a:rPr lang="pt-BR" dirty="0"/>
              <a:t>Quer que eu aprofunde algum ponto ou compare com outro tipo de modelo? 🚀</a:t>
            </a:r>
          </a:p>
          <a:p>
            <a:endParaRPr lang="pt-BR" dirty="0"/>
          </a:p>
        </p:txBody>
      </p:sp>
      <p:sp>
        <p:nvSpPr>
          <p:cNvPr id="4" name="Espaço Reservado para Número de Slide 3">
            <a:extLst>
              <a:ext uri="{FF2B5EF4-FFF2-40B4-BE49-F238E27FC236}">
                <a16:creationId xmlns:a16="http://schemas.microsoft.com/office/drawing/2014/main" id="{FADA0DA6-61DD-F173-41B1-52DE43CB9160}"/>
              </a:ext>
            </a:extLst>
          </p:cNvPr>
          <p:cNvSpPr>
            <a:spLocks noGrp="1"/>
          </p:cNvSpPr>
          <p:nvPr>
            <p:ph type="sldNum" sz="quarter" idx="5"/>
          </p:nvPr>
        </p:nvSpPr>
        <p:spPr/>
        <p:txBody>
          <a:bodyPr/>
          <a:lstStyle/>
          <a:p>
            <a:fld id="{6FC8D850-966F-45A6-8DE7-15B891E7D40D}" type="slidenum">
              <a:rPr lang="pt-BR" smtClean="0"/>
              <a:t>15</a:t>
            </a:fld>
            <a:endParaRPr lang="pt-BR"/>
          </a:p>
        </p:txBody>
      </p:sp>
    </p:spTree>
    <p:extLst>
      <p:ext uri="{BB962C8B-B14F-4D97-AF65-F5344CB8AC3E}">
        <p14:creationId xmlns:p14="http://schemas.microsoft.com/office/powerpoint/2010/main" val="2874638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16</a:t>
            </a:fld>
            <a:endParaRPr lang="pt-BR"/>
          </a:p>
        </p:txBody>
      </p:sp>
    </p:spTree>
    <p:extLst>
      <p:ext uri="{BB962C8B-B14F-4D97-AF65-F5344CB8AC3E}">
        <p14:creationId xmlns:p14="http://schemas.microsoft.com/office/powerpoint/2010/main" val="4263346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695A6-848B-0A56-6ADE-D9EAB9837D1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97F7751-BFAF-01F0-7C95-E12D5204F819}"/>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5A1DA766-2DCA-5FAD-DC9C-AB3157892A1A}"/>
              </a:ext>
            </a:extLst>
          </p:cNvPr>
          <p:cNvSpPr>
            <a:spLocks noGrp="1"/>
          </p:cNvSpPr>
          <p:nvPr>
            <p:ph type="body" idx="1"/>
          </p:nvPr>
        </p:nvSpPr>
        <p:spPr/>
        <p:txBody>
          <a:bodyPr/>
          <a:lstStyle/>
          <a:p>
            <a:pPr lvl="0"/>
            <a:r>
              <a:rPr lang="en-US" b="1" dirty="0"/>
              <a:t>Hopfield (1984):</a:t>
            </a:r>
            <a:r>
              <a:rPr lang="en-US" dirty="0"/>
              <a:t> </a:t>
            </a:r>
            <a:r>
              <a:rPr lang="en-US" dirty="0" err="1"/>
              <a:t>propôs</a:t>
            </a:r>
            <a:r>
              <a:rPr lang="en-US" dirty="0"/>
              <a:t> a </a:t>
            </a:r>
            <a:r>
              <a:rPr lang="en-US" dirty="0" err="1"/>
              <a:t>versão</a:t>
            </a:r>
            <a:r>
              <a:rPr lang="en-US" dirty="0"/>
              <a:t> de </a:t>
            </a:r>
            <a:r>
              <a:rPr lang="en-US" dirty="0" err="1"/>
              <a:t>resposta</a:t>
            </a:r>
            <a:r>
              <a:rPr lang="en-US" dirty="0"/>
              <a:t> </a:t>
            </a:r>
            <a:r>
              <a:rPr lang="en-US" dirty="0" err="1"/>
              <a:t>graduada</a:t>
            </a:r>
            <a:r>
              <a:rPr lang="en-US" dirty="0"/>
              <a:t> (</a:t>
            </a:r>
            <a:r>
              <a:rPr lang="en-US" dirty="0" err="1"/>
              <a:t>contínua</a:t>
            </a:r>
            <a:r>
              <a:rPr lang="en-US" dirty="0"/>
              <a:t>) da rede, com </a:t>
            </a:r>
            <a:r>
              <a:rPr lang="en-US" dirty="0" err="1"/>
              <a:t>neurônios</a:t>
            </a:r>
            <a:r>
              <a:rPr lang="en-US" dirty="0"/>
              <a:t> </a:t>
            </a:r>
            <a:r>
              <a:rPr lang="en-US" dirty="0" err="1"/>
              <a:t>sigmoides</a:t>
            </a:r>
            <a:r>
              <a:rPr lang="en-US" dirty="0"/>
              <a:t>, </a:t>
            </a:r>
            <a:r>
              <a:rPr lang="en-US" dirty="0" err="1"/>
              <a:t>depois</a:t>
            </a:r>
            <a:r>
              <a:rPr lang="en-US" dirty="0"/>
              <a:t> de ter </a:t>
            </a:r>
            <a:r>
              <a:rPr lang="en-US" dirty="0" err="1"/>
              <a:t>usado</a:t>
            </a:r>
            <a:r>
              <a:rPr lang="en-US" dirty="0"/>
              <a:t> </a:t>
            </a:r>
            <a:r>
              <a:rPr lang="en-US" dirty="0" err="1"/>
              <a:t>unidades</a:t>
            </a:r>
            <a:r>
              <a:rPr lang="en-US" dirty="0"/>
              <a:t> </a:t>
            </a:r>
            <a:r>
              <a:rPr lang="en-US" dirty="0" err="1"/>
              <a:t>binárias</a:t>
            </a:r>
            <a:r>
              <a:rPr lang="en-US" dirty="0"/>
              <a:t> </a:t>
            </a:r>
            <a:r>
              <a:rPr lang="en-US" dirty="0" err="1"/>
              <a:t>em</a:t>
            </a:r>
            <a:r>
              <a:rPr lang="en-US" dirty="0"/>
              <a:t> 1982.</a:t>
            </a:r>
          </a:p>
          <a:p>
            <a:pPr lvl="0"/>
            <a:r>
              <a:rPr lang="en-US" b="1" dirty="0"/>
              <a:t>Rumelhart, Hinton e Williams (1986):</a:t>
            </a:r>
            <a:r>
              <a:rPr lang="en-US" dirty="0"/>
              <a:t> </a:t>
            </a:r>
            <a:r>
              <a:rPr lang="en-US" dirty="0" err="1"/>
              <a:t>popularizaram</a:t>
            </a:r>
            <a:r>
              <a:rPr lang="en-US" dirty="0"/>
              <a:t> o backpropagation com a </a:t>
            </a:r>
            <a:r>
              <a:rPr lang="en-US" dirty="0" err="1"/>
              <a:t>função</a:t>
            </a:r>
            <a:r>
              <a:rPr lang="en-US" dirty="0"/>
              <a:t> </a:t>
            </a:r>
            <a:r>
              <a:rPr lang="en-US" dirty="0" err="1"/>
              <a:t>logística</a:t>
            </a:r>
            <a:r>
              <a:rPr lang="en-US" dirty="0"/>
              <a:t>. A </a:t>
            </a:r>
            <a:r>
              <a:rPr lang="en-US" dirty="0" err="1"/>
              <a:t>necessidade</a:t>
            </a:r>
            <a:r>
              <a:rPr lang="en-US" dirty="0"/>
              <a:t> de </a:t>
            </a:r>
            <a:r>
              <a:rPr lang="en-US" dirty="0" err="1"/>
              <a:t>uma</a:t>
            </a:r>
            <a:r>
              <a:rPr lang="en-US" dirty="0"/>
              <a:t> </a:t>
            </a:r>
            <a:r>
              <a:rPr lang="en-US" dirty="0" err="1"/>
              <a:t>função</a:t>
            </a:r>
            <a:r>
              <a:rPr lang="en-US" dirty="0"/>
              <a:t> </a:t>
            </a:r>
            <a:r>
              <a:rPr lang="en-US" b="1" dirty="0"/>
              <a:t>diferenciável</a:t>
            </a:r>
            <a:r>
              <a:rPr lang="en-US" dirty="0"/>
              <a:t> para </a:t>
            </a:r>
            <a:r>
              <a:rPr lang="en-US" dirty="0" err="1"/>
              <a:t>calcular</a:t>
            </a:r>
            <a:r>
              <a:rPr lang="en-US" dirty="0"/>
              <a:t> </a:t>
            </a:r>
            <a:r>
              <a:rPr lang="en-US" dirty="0" err="1"/>
              <a:t>gradientes</a:t>
            </a:r>
            <a:r>
              <a:rPr lang="en-US" dirty="0"/>
              <a:t> </a:t>
            </a:r>
            <a:r>
              <a:rPr lang="en-US" dirty="0" err="1"/>
              <a:t>foi</a:t>
            </a:r>
            <a:r>
              <a:rPr lang="en-US" dirty="0"/>
              <a:t> o principal </a:t>
            </a:r>
            <a:r>
              <a:rPr lang="en-US" dirty="0" err="1"/>
              <a:t>motivo</a:t>
            </a:r>
            <a:r>
              <a:rPr lang="en-US" dirty="0"/>
              <a:t> </a:t>
            </a:r>
            <a:r>
              <a:rPr lang="en-US" dirty="0" err="1"/>
              <a:t>prático</a:t>
            </a:r>
            <a:r>
              <a:rPr lang="en-US" dirty="0"/>
              <a:t> para </a:t>
            </a:r>
            <a:r>
              <a:rPr lang="en-US" dirty="0" err="1"/>
              <a:t>abandonar</a:t>
            </a:r>
            <a:r>
              <a:rPr lang="en-US" dirty="0"/>
              <a:t> o </a:t>
            </a:r>
            <a:r>
              <a:rPr lang="en-US" dirty="0" err="1"/>
              <a:t>degrau</a:t>
            </a:r>
            <a:r>
              <a:rPr lang="en-US" dirty="0"/>
              <a:t>, </a:t>
            </a:r>
            <a:r>
              <a:rPr lang="en-US" dirty="0" err="1"/>
              <a:t>cuja</a:t>
            </a:r>
            <a:r>
              <a:rPr lang="en-US" dirty="0"/>
              <a:t> </a:t>
            </a:r>
            <a:r>
              <a:rPr lang="en-US" dirty="0" err="1"/>
              <a:t>derivada</a:t>
            </a:r>
            <a:r>
              <a:rPr lang="en-US" dirty="0"/>
              <a:t> é zero (</a:t>
            </a:r>
            <a:r>
              <a:rPr lang="en-US" dirty="0" err="1"/>
              <a:t>exceto</a:t>
            </a:r>
            <a:r>
              <a:rPr lang="en-US" dirty="0"/>
              <a:t> no </a:t>
            </a:r>
            <a:r>
              <a:rPr lang="en-US" dirty="0" err="1"/>
              <a:t>ponto</a:t>
            </a:r>
            <a:r>
              <a:rPr lang="en-US" dirty="0"/>
              <a:t> de </a:t>
            </a:r>
            <a:r>
              <a:rPr lang="en-US" dirty="0" err="1"/>
              <a:t>descontinuidade</a:t>
            </a:r>
            <a:r>
              <a:rPr lang="en-US" dirty="0"/>
              <a:t>, </a:t>
            </a:r>
            <a:r>
              <a:rPr lang="en-US" dirty="0" err="1"/>
              <a:t>onde</a:t>
            </a:r>
            <a:r>
              <a:rPr lang="en-US" dirty="0"/>
              <a:t> </a:t>
            </a:r>
            <a:r>
              <a:rPr lang="en-US" dirty="0" err="1"/>
              <a:t>não</a:t>
            </a:r>
            <a:r>
              <a:rPr lang="en-US" dirty="0"/>
              <a:t> </a:t>
            </a:r>
            <a:r>
              <a:rPr lang="en-US" dirty="0" err="1"/>
              <a:t>existe</a:t>
            </a:r>
            <a:r>
              <a:rPr lang="en-US" dirty="0"/>
              <a:t>). </a:t>
            </a:r>
            <a:r>
              <a:rPr lang="en-US" dirty="0" err="1"/>
              <a:t>Werbos</a:t>
            </a:r>
            <a:r>
              <a:rPr lang="en-US" dirty="0"/>
              <a:t> </a:t>
            </a:r>
            <a:r>
              <a:rPr lang="en-US" dirty="0" err="1"/>
              <a:t>já</a:t>
            </a:r>
            <a:r>
              <a:rPr lang="en-US" dirty="0"/>
              <a:t> </a:t>
            </a:r>
            <a:r>
              <a:rPr lang="en-US" dirty="0" err="1"/>
              <a:t>havia</a:t>
            </a:r>
            <a:r>
              <a:rPr lang="en-US" dirty="0"/>
              <a:t> </a:t>
            </a:r>
            <a:r>
              <a:rPr lang="en-US" dirty="0" err="1"/>
              <a:t>descrito</a:t>
            </a:r>
            <a:r>
              <a:rPr lang="en-US" dirty="0"/>
              <a:t> a </a:t>
            </a:r>
            <a:r>
              <a:rPr lang="en-US" dirty="0" err="1"/>
              <a:t>ideia</a:t>
            </a:r>
            <a:r>
              <a:rPr lang="en-US" dirty="0"/>
              <a:t> </a:t>
            </a:r>
            <a:r>
              <a:rPr lang="en-US" dirty="0" err="1"/>
              <a:t>em</a:t>
            </a:r>
            <a:r>
              <a:rPr lang="en-US" dirty="0"/>
              <a:t> 1974.</a:t>
            </a:r>
          </a:p>
          <a:p>
            <a:endParaRPr lang="pt-BR" dirty="0"/>
          </a:p>
        </p:txBody>
      </p:sp>
      <p:sp>
        <p:nvSpPr>
          <p:cNvPr id="4" name="Espaço Reservado para Número de Slide 3">
            <a:extLst>
              <a:ext uri="{FF2B5EF4-FFF2-40B4-BE49-F238E27FC236}">
                <a16:creationId xmlns:a16="http://schemas.microsoft.com/office/drawing/2014/main" id="{D572725B-DFCE-4260-C8C5-6A026057E77C}"/>
              </a:ext>
            </a:extLst>
          </p:cNvPr>
          <p:cNvSpPr>
            <a:spLocks noGrp="1"/>
          </p:cNvSpPr>
          <p:nvPr>
            <p:ph type="sldNum" sz="quarter" idx="5"/>
          </p:nvPr>
        </p:nvSpPr>
        <p:spPr/>
        <p:txBody>
          <a:bodyPr/>
          <a:lstStyle/>
          <a:p>
            <a:fld id="{6FC8D850-966F-45A6-8DE7-15B891E7D40D}" type="slidenum">
              <a:rPr lang="pt-BR" smtClean="0"/>
              <a:t>17</a:t>
            </a:fld>
            <a:endParaRPr lang="pt-BR"/>
          </a:p>
        </p:txBody>
      </p:sp>
    </p:spTree>
    <p:extLst>
      <p:ext uri="{BB962C8B-B14F-4D97-AF65-F5344CB8AC3E}">
        <p14:creationId xmlns:p14="http://schemas.microsoft.com/office/powerpoint/2010/main" val="4530559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effectLst/>
              </a:rPr>
              <a:t>Esses pesos são ajustados durante o processo de treinamento da rede para otimizar o desempenho do modelo.</a:t>
            </a:r>
            <a:endParaRPr lang="pt-BR" b="1" i="0" dirty="0">
              <a:effectLst/>
              <a:latin typeface="Söhne"/>
            </a:endParaRPr>
          </a:p>
          <a:p>
            <a:endParaRPr lang="pt-BR" b="1" i="0" dirty="0">
              <a:effectLst/>
              <a:latin typeface="Söhne"/>
            </a:endParaRPr>
          </a:p>
          <a:p>
            <a:r>
              <a:rPr lang="pt-BR" b="1" i="0" dirty="0">
                <a:effectLst/>
                <a:latin typeface="Söhne"/>
              </a:rPr>
              <a:t>Aprendizado:</a:t>
            </a:r>
            <a:r>
              <a:rPr lang="pt-BR" b="0" i="0" dirty="0">
                <a:solidFill>
                  <a:srgbClr val="374151"/>
                </a:solidFill>
                <a:effectLst/>
                <a:latin typeface="Söhne"/>
              </a:rPr>
              <a:t> As redes neurais artificiais podem aprender com exemplos e ajustar seus pesos sinápticos para melhorar seu desempenho em uma tarefa específica. Essa capacidade de aprendizado é inspirada na plasticidade sináptica observada no cérebro humano, onde as conexões entre neurônios podem se fortalecer ou enfraquecer com base na experiência.</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18</a:t>
            </a:fld>
            <a:endParaRPr lang="pt-BR"/>
          </a:p>
        </p:txBody>
      </p:sp>
    </p:spTree>
    <p:extLst>
      <p:ext uri="{BB962C8B-B14F-4D97-AF65-F5344CB8AC3E}">
        <p14:creationId xmlns:p14="http://schemas.microsoft.com/office/powerpoint/2010/main" val="2075813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316CC-F373-FC26-CD96-03E3208CE4D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82D6386-1C01-82C2-6C5F-524E39D9CAC2}"/>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4DF546FF-D3FA-E080-6508-2ACC6895CA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effectLst/>
              </a:rPr>
              <a:t>Esses pesos são ajustados durante o processo de treinamento da rede para otimizar o desempenho do modelo.</a:t>
            </a:r>
            <a:endParaRPr lang="pt-BR" b="1" i="0" dirty="0">
              <a:effectLst/>
              <a:latin typeface="Söhne"/>
            </a:endParaRPr>
          </a:p>
          <a:p>
            <a:endParaRPr lang="pt-BR" b="1" i="0" dirty="0">
              <a:effectLst/>
              <a:latin typeface="Söhne"/>
            </a:endParaRPr>
          </a:p>
          <a:p>
            <a:r>
              <a:rPr lang="pt-BR" b="1" i="0" dirty="0">
                <a:effectLst/>
                <a:latin typeface="Söhne"/>
              </a:rPr>
              <a:t>Aprendizado:</a:t>
            </a:r>
            <a:r>
              <a:rPr lang="pt-BR" b="0" i="0" dirty="0">
                <a:solidFill>
                  <a:srgbClr val="374151"/>
                </a:solidFill>
                <a:effectLst/>
                <a:latin typeface="Söhne"/>
              </a:rPr>
              <a:t> As redes neurais artificiais podem aprender com exemplos e ajustar seus pesos sinápticos para melhorar seu desempenho em uma tarefa específica. Essa capacidade de aprendizado é inspirada na plasticidade sináptica observada no cérebro humano, onde as conexões entre neurônios podem se fortalecer ou enfraquecer com base na experiência.</a:t>
            </a:r>
            <a:endParaRPr lang="pt-BR" dirty="0"/>
          </a:p>
        </p:txBody>
      </p:sp>
      <p:sp>
        <p:nvSpPr>
          <p:cNvPr id="4" name="Espaço Reservado para Número de Slide 3">
            <a:extLst>
              <a:ext uri="{FF2B5EF4-FFF2-40B4-BE49-F238E27FC236}">
                <a16:creationId xmlns:a16="http://schemas.microsoft.com/office/drawing/2014/main" id="{19F165B9-8714-BAFC-E5BF-A8F2176883FE}"/>
              </a:ext>
            </a:extLst>
          </p:cNvPr>
          <p:cNvSpPr>
            <a:spLocks noGrp="1"/>
          </p:cNvSpPr>
          <p:nvPr>
            <p:ph type="sldNum" sz="quarter" idx="5"/>
          </p:nvPr>
        </p:nvSpPr>
        <p:spPr/>
        <p:txBody>
          <a:bodyPr/>
          <a:lstStyle/>
          <a:p>
            <a:fld id="{6FC8D850-966F-45A6-8DE7-15B891E7D40D}" type="slidenum">
              <a:rPr lang="pt-BR" smtClean="0"/>
              <a:t>19</a:t>
            </a:fld>
            <a:endParaRPr lang="pt-BR"/>
          </a:p>
        </p:txBody>
      </p:sp>
    </p:spTree>
    <p:extLst>
      <p:ext uri="{BB962C8B-B14F-4D97-AF65-F5344CB8AC3E}">
        <p14:creationId xmlns:p14="http://schemas.microsoft.com/office/powerpoint/2010/main" val="34575246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A arquitetura e a topologia de uma rede neural referem-se a aspectos diferentes da sua configuração e estrutura. Aqui está a diferença entre esses dois conceitos:</a:t>
            </a:r>
          </a:p>
          <a:p>
            <a:pPr algn="l">
              <a:buFont typeface="+mj-lt"/>
              <a:buAutoNum type="arabicPeriod"/>
            </a:pPr>
            <a:r>
              <a:rPr lang="pt-BR" b="1" i="0" dirty="0">
                <a:solidFill>
                  <a:srgbClr val="374151"/>
                </a:solidFill>
                <a:effectLst/>
                <a:latin typeface="Söhne"/>
              </a:rPr>
              <a:t>Arquitetura da Rede Neural</a:t>
            </a:r>
            <a:r>
              <a:rPr lang="pt-BR" b="0" i="0" dirty="0">
                <a:solidFill>
                  <a:srgbClr val="374151"/>
                </a:solidFill>
                <a:effectLst/>
                <a:latin typeface="Söhne"/>
              </a:rPr>
              <a:t>: A arquitetura de uma rede neural refere-se à estrutura geral e organização dos componentes da rede. Isso inclui o número de camadas na rede, o número de neurônios em cada camada e a maneira como as camadas estão interconectadas. A arquitetura determina a complexidade e a capacidade de modelagem da rede, bem como o tipo de tarefa que a rede é capaz de executar. Por exemplo, uma arquitetura pode ser composta de várias camadas de neurônios interligadas, como uma rede neural profunda (</a:t>
            </a:r>
            <a:r>
              <a:rPr lang="pt-BR" b="0" i="0" dirty="0" err="1">
                <a:solidFill>
                  <a:srgbClr val="374151"/>
                </a:solidFill>
                <a:effectLst/>
                <a:latin typeface="Söhne"/>
              </a:rPr>
              <a:t>deep</a:t>
            </a:r>
            <a:r>
              <a:rPr lang="pt-BR" b="0" i="0" dirty="0">
                <a:solidFill>
                  <a:srgbClr val="374151"/>
                </a:solidFill>
                <a:effectLst/>
                <a:latin typeface="Söhne"/>
              </a:rPr>
              <a:t> neural network), ou pode ter conexões mais simples em uma arquitetura mais rasa.</a:t>
            </a:r>
          </a:p>
          <a:p>
            <a:pPr algn="l">
              <a:buFont typeface="+mj-lt"/>
              <a:buAutoNum type="arabicPeriod"/>
            </a:pPr>
            <a:r>
              <a:rPr lang="pt-BR" b="1" i="0" dirty="0">
                <a:solidFill>
                  <a:srgbClr val="374151"/>
                </a:solidFill>
                <a:effectLst/>
                <a:latin typeface="Söhne"/>
              </a:rPr>
              <a:t>Topologia da Rede Neural</a:t>
            </a:r>
            <a:r>
              <a:rPr lang="pt-BR" b="0" i="0" dirty="0">
                <a:solidFill>
                  <a:srgbClr val="374151"/>
                </a:solidFill>
                <a:effectLst/>
                <a:latin typeface="Söhne"/>
              </a:rPr>
              <a:t>: A topologia de uma rede neural refere-se ao padrão específico de conexões entre os neurônios em uma rede. Isso inclui quais neurônios estão conectados a quais neurônios em camadas adjacentes. A topologia determina como as informações fluem dentro da rede e quais características ou padrões a rede é capaz de capturar. Por exemplo, uma topologia de conexões densamente interligadas entre neurônios em uma camada e a próxima é comum em redes totalmente conectadas, enquanto uma topologia de conexões locais (cada neurônio se conecta apenas a um subconjunto dos neurônios na camada seguinte) é comum em redes convolucionais.</a:t>
            </a:r>
          </a:p>
          <a:p>
            <a:pPr algn="l"/>
            <a:endParaRPr lang="pt-BR" b="0" i="0" dirty="0">
              <a:solidFill>
                <a:srgbClr val="374151"/>
              </a:solidFill>
              <a:effectLst/>
              <a:latin typeface="Söhne"/>
            </a:endParaRPr>
          </a:p>
          <a:p>
            <a:pPr algn="l"/>
            <a:r>
              <a:rPr lang="pt-BR" b="0" i="0" dirty="0">
                <a:solidFill>
                  <a:srgbClr val="374151"/>
                </a:solidFill>
                <a:effectLst/>
                <a:latin typeface="Söhne"/>
              </a:rPr>
              <a:t>Em resumo, a arquitetura da rede neural se refere à estrutura geral e ao número de camadas e neurônios, enquanto a topologia se refere às conexões específicas entre esses neurônios. Ambos os aspectos são cruciais para o design, treinamento e desempenho de uma rede neural, e escolher a arquitetura e topologia adequadas depende da natureza da tarefa e dos dados que você está lidando.</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21</a:t>
            </a:fld>
            <a:endParaRPr lang="pt-BR"/>
          </a:p>
        </p:txBody>
      </p:sp>
    </p:spTree>
    <p:extLst>
      <p:ext uri="{BB962C8B-B14F-4D97-AF65-F5344CB8AC3E}">
        <p14:creationId xmlns:p14="http://schemas.microsoft.com/office/powerpoint/2010/main" val="32981188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1F29B-270E-E588-11EC-4DA7E79E795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1CCEFA5-3016-C460-BD42-0573275C34E8}"/>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B7C6FDBF-A103-E7A0-047E-3EAA381C208B}"/>
              </a:ext>
            </a:extLst>
          </p:cNvPr>
          <p:cNvSpPr>
            <a:spLocks noGrp="1"/>
          </p:cNvSpPr>
          <p:nvPr>
            <p:ph type="body" idx="1"/>
          </p:nvPr>
        </p:nvSpPr>
        <p:spPr/>
        <p:txBody>
          <a:bodyPr/>
          <a:lstStyle/>
          <a:p>
            <a:r>
              <a:rPr lang="pt-BR" b="1" dirty="0"/>
              <a:t>Por que elas são "Ocultas"?</a:t>
            </a:r>
          </a:p>
          <a:p>
            <a:r>
              <a:rPr lang="pt-BR" dirty="0"/>
              <a:t>Simplesmente porque não vemos o que acontece ali dentro durante o processo. Elas são a "caixa preta" onde os dados são mastigados e transformados em abstrações.</a:t>
            </a:r>
          </a:p>
          <a:p>
            <a:endParaRPr lang="pt-BR" dirty="0"/>
          </a:p>
        </p:txBody>
      </p:sp>
      <p:sp>
        <p:nvSpPr>
          <p:cNvPr id="4" name="Espaço Reservado para Número de Slide 3">
            <a:extLst>
              <a:ext uri="{FF2B5EF4-FFF2-40B4-BE49-F238E27FC236}">
                <a16:creationId xmlns:a16="http://schemas.microsoft.com/office/drawing/2014/main" id="{BB272679-77C5-7D07-DA1E-053F9855A280}"/>
              </a:ext>
            </a:extLst>
          </p:cNvPr>
          <p:cNvSpPr>
            <a:spLocks noGrp="1"/>
          </p:cNvSpPr>
          <p:nvPr>
            <p:ph type="sldNum" sz="quarter" idx="5"/>
          </p:nvPr>
        </p:nvSpPr>
        <p:spPr/>
        <p:txBody>
          <a:bodyPr/>
          <a:lstStyle/>
          <a:p>
            <a:fld id="{6FC8D850-966F-45A6-8DE7-15B891E7D40D}" type="slidenum">
              <a:rPr lang="pt-BR" smtClean="0"/>
              <a:t>22</a:t>
            </a:fld>
            <a:endParaRPr lang="pt-BR"/>
          </a:p>
        </p:txBody>
      </p:sp>
    </p:spTree>
    <p:extLst>
      <p:ext uri="{BB962C8B-B14F-4D97-AF65-F5344CB8AC3E}">
        <p14:creationId xmlns:p14="http://schemas.microsoft.com/office/powerpoint/2010/main" val="3882319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1F29B-270E-E588-11EC-4DA7E79E795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1CCEFA5-3016-C460-BD42-0573275C34E8}"/>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B7C6FDBF-A103-E7A0-047E-3EAA381C208B}"/>
              </a:ext>
            </a:extLst>
          </p:cNvPr>
          <p:cNvSpPr>
            <a:spLocks noGrp="1"/>
          </p:cNvSpPr>
          <p:nvPr>
            <p:ph type="body" idx="1"/>
          </p:nvPr>
        </p:nvSpPr>
        <p:spPr/>
        <p:txBody>
          <a:bodyPr/>
          <a:lstStyle/>
          <a:p>
            <a:r>
              <a:rPr lang="pt-BR" b="1" dirty="0"/>
              <a:t>Por que elas são "Ocultas"?</a:t>
            </a:r>
          </a:p>
          <a:p>
            <a:r>
              <a:rPr lang="pt-BR" dirty="0"/>
              <a:t>Simplesmente porque não vemos o que acontece ali dentro durante o processo. Elas são a "caixa preta" onde os dados são mastigados e transformados em abstrações.</a:t>
            </a:r>
          </a:p>
          <a:p>
            <a:endParaRPr lang="pt-BR" dirty="0"/>
          </a:p>
        </p:txBody>
      </p:sp>
      <p:sp>
        <p:nvSpPr>
          <p:cNvPr id="4" name="Espaço Reservado para Número de Slide 3">
            <a:extLst>
              <a:ext uri="{FF2B5EF4-FFF2-40B4-BE49-F238E27FC236}">
                <a16:creationId xmlns:a16="http://schemas.microsoft.com/office/drawing/2014/main" id="{BB272679-77C5-7D07-DA1E-053F9855A280}"/>
              </a:ext>
            </a:extLst>
          </p:cNvPr>
          <p:cNvSpPr>
            <a:spLocks noGrp="1"/>
          </p:cNvSpPr>
          <p:nvPr>
            <p:ph type="sldNum" sz="quarter" idx="5"/>
          </p:nvPr>
        </p:nvSpPr>
        <p:spPr/>
        <p:txBody>
          <a:bodyPr/>
          <a:lstStyle/>
          <a:p>
            <a:fld id="{6FC8D850-966F-45A6-8DE7-15B891E7D40D}" type="slidenum">
              <a:rPr lang="pt-BR" smtClean="0"/>
              <a:t>23</a:t>
            </a:fld>
            <a:endParaRPr lang="pt-BR"/>
          </a:p>
        </p:txBody>
      </p:sp>
    </p:spTree>
    <p:extLst>
      <p:ext uri="{BB962C8B-B14F-4D97-AF65-F5344CB8AC3E}">
        <p14:creationId xmlns:p14="http://schemas.microsoft.com/office/powerpoint/2010/main" val="982555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As saídas de uma camada alimentam todos os neurônios da próxima camada e assim por diante.</a:t>
            </a:r>
            <a:endParaRPr lang="en-US"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24</a:t>
            </a:fld>
            <a:endParaRPr lang="pt-BR"/>
          </a:p>
        </p:txBody>
      </p:sp>
    </p:spTree>
    <p:extLst>
      <p:ext uri="{BB962C8B-B14F-4D97-AF65-F5344CB8AC3E}">
        <p14:creationId xmlns:p14="http://schemas.microsoft.com/office/powerpoint/2010/main" val="10305535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2B59A-F827-F651-F147-44FBA47E3AA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03CFD26-12FE-3E16-B46A-3D2E234D4F68}"/>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0D25A84F-AE8D-3123-073B-80884B4661FC}"/>
              </a:ext>
            </a:extLst>
          </p:cNvPr>
          <p:cNvSpPr>
            <a:spLocks noGrp="1"/>
          </p:cNvSpPr>
          <p:nvPr>
            <p:ph type="body" idx="1"/>
          </p:nvPr>
        </p:nvSpPr>
        <p:spPr/>
        <p:txBody>
          <a:bodyPr/>
          <a:lstStyle/>
          <a:p>
            <a:pPr algn="l"/>
            <a:r>
              <a:rPr lang="pt-BR" b="0" i="0" dirty="0">
                <a:solidFill>
                  <a:srgbClr val="374151"/>
                </a:solidFill>
                <a:effectLst/>
                <a:latin typeface="Söhne"/>
              </a:rPr>
              <a:t>A arquitetura e a topologia de uma rede neural referem-se a aspectos diferentes da sua configuração e estrutura. Aqui está a diferença entre esses dois conceitos:</a:t>
            </a:r>
          </a:p>
          <a:p>
            <a:pPr algn="l">
              <a:buFont typeface="+mj-lt"/>
              <a:buAutoNum type="arabicPeriod"/>
            </a:pPr>
            <a:r>
              <a:rPr lang="pt-BR" b="1" i="0" dirty="0">
                <a:solidFill>
                  <a:srgbClr val="374151"/>
                </a:solidFill>
                <a:effectLst/>
                <a:latin typeface="Söhne"/>
              </a:rPr>
              <a:t>Arquitetura da Rede Neural</a:t>
            </a:r>
            <a:r>
              <a:rPr lang="pt-BR" b="0" i="0" dirty="0">
                <a:solidFill>
                  <a:srgbClr val="374151"/>
                </a:solidFill>
                <a:effectLst/>
                <a:latin typeface="Söhne"/>
              </a:rPr>
              <a:t>: A arquitetura de uma rede neural refere-se à estrutura geral e organização dos componentes da rede. Isso inclui o número de camadas na rede, o número de neurônios em cada camada e a maneira como as camadas estão interconectadas. A arquitetura determina a complexidade e a capacidade de modelagem da rede, bem como o tipo de tarefa que a rede é capaz de executar. Por exemplo, uma arquitetura pode ser composta de várias camadas de neurônios interligadas, como uma rede neural profunda (</a:t>
            </a:r>
            <a:r>
              <a:rPr lang="pt-BR" b="0" i="0" dirty="0" err="1">
                <a:solidFill>
                  <a:srgbClr val="374151"/>
                </a:solidFill>
                <a:effectLst/>
                <a:latin typeface="Söhne"/>
              </a:rPr>
              <a:t>deep</a:t>
            </a:r>
            <a:r>
              <a:rPr lang="pt-BR" b="0" i="0" dirty="0">
                <a:solidFill>
                  <a:srgbClr val="374151"/>
                </a:solidFill>
                <a:effectLst/>
                <a:latin typeface="Söhne"/>
              </a:rPr>
              <a:t> neural network), ou pode ter conexões mais simples em uma arquitetura mais rasa.</a:t>
            </a:r>
          </a:p>
          <a:p>
            <a:pPr algn="l">
              <a:buFont typeface="+mj-lt"/>
              <a:buAutoNum type="arabicPeriod"/>
            </a:pPr>
            <a:r>
              <a:rPr lang="pt-BR" b="1" i="0" dirty="0">
                <a:solidFill>
                  <a:srgbClr val="374151"/>
                </a:solidFill>
                <a:effectLst/>
                <a:latin typeface="Söhne"/>
              </a:rPr>
              <a:t>Topologia da Rede Neural</a:t>
            </a:r>
            <a:r>
              <a:rPr lang="pt-BR" b="0" i="0" dirty="0">
                <a:solidFill>
                  <a:srgbClr val="374151"/>
                </a:solidFill>
                <a:effectLst/>
                <a:latin typeface="Söhne"/>
              </a:rPr>
              <a:t>: A topologia de uma rede neural refere-se ao padrão específico de conexões entre os neurônios em uma rede. Isso inclui quais neurônios estão conectados a quais neurônios em camadas adjacentes. A topologia determina como as informações fluem dentro da rede e quais características ou padrões a rede é capaz de capturar. Por exemplo, uma topologia de conexões densamente interligadas entre neurônios em uma camada e a próxima é comum em redes totalmente conectadas, enquanto uma topologia de conexões locais (cada neurônio se conecta apenas a um subconjunto dos neurônios na camada seguinte) é comum em redes convolucionais.</a:t>
            </a:r>
          </a:p>
          <a:p>
            <a:pPr algn="l"/>
            <a:endParaRPr lang="pt-BR" b="0" i="0" dirty="0">
              <a:solidFill>
                <a:srgbClr val="374151"/>
              </a:solidFill>
              <a:effectLst/>
              <a:latin typeface="Söhne"/>
            </a:endParaRPr>
          </a:p>
          <a:p>
            <a:pPr algn="l"/>
            <a:r>
              <a:rPr lang="pt-BR" b="0" i="0" dirty="0">
                <a:solidFill>
                  <a:srgbClr val="374151"/>
                </a:solidFill>
                <a:effectLst/>
                <a:latin typeface="Söhne"/>
              </a:rPr>
              <a:t>Em resumo, a arquitetura da rede neural se refere à estrutura geral e ao número de camadas e neurônios, enquanto a topologia se refere às conexões específicas entre esses neurônios. Ambos os aspectos são cruciais para o design, treinamento e desempenho de uma rede neural, e escolher a arquitetura e topologia adequadas depende da natureza da tarefa e dos dados que você está lidando.</a:t>
            </a:r>
          </a:p>
          <a:p>
            <a:endParaRPr lang="pt-BR" dirty="0"/>
          </a:p>
        </p:txBody>
      </p:sp>
      <p:sp>
        <p:nvSpPr>
          <p:cNvPr id="4" name="Espaço Reservado para Número de Slide 3">
            <a:extLst>
              <a:ext uri="{FF2B5EF4-FFF2-40B4-BE49-F238E27FC236}">
                <a16:creationId xmlns:a16="http://schemas.microsoft.com/office/drawing/2014/main" id="{7E1631C1-F5A3-D807-E216-0D61AA847626}"/>
              </a:ext>
            </a:extLst>
          </p:cNvPr>
          <p:cNvSpPr>
            <a:spLocks noGrp="1"/>
          </p:cNvSpPr>
          <p:nvPr>
            <p:ph type="sldNum" sz="quarter" idx="5"/>
          </p:nvPr>
        </p:nvSpPr>
        <p:spPr/>
        <p:txBody>
          <a:bodyPr/>
          <a:lstStyle/>
          <a:p>
            <a:fld id="{6FC8D850-966F-45A6-8DE7-15B891E7D40D}" type="slidenum">
              <a:rPr lang="pt-BR" smtClean="0"/>
              <a:t>25</a:t>
            </a:fld>
            <a:endParaRPr lang="pt-BR"/>
          </a:p>
        </p:txBody>
      </p:sp>
    </p:spTree>
    <p:extLst>
      <p:ext uri="{BB962C8B-B14F-4D97-AF65-F5344CB8AC3E}">
        <p14:creationId xmlns:p14="http://schemas.microsoft.com/office/powerpoint/2010/main" val="19818299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16ABD-C993-4968-3F8C-E6328592323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EEBD2C5-2D2B-F2F6-5952-5DA13BB14433}"/>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D7B34955-EF2E-2AB6-A9D3-848707D9924C}"/>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A5C78BB-67EB-C595-6562-CBFCAE7A0717}"/>
              </a:ext>
            </a:extLst>
          </p:cNvPr>
          <p:cNvSpPr>
            <a:spLocks noGrp="1"/>
          </p:cNvSpPr>
          <p:nvPr>
            <p:ph type="sldNum" sz="quarter" idx="5"/>
          </p:nvPr>
        </p:nvSpPr>
        <p:spPr/>
        <p:txBody>
          <a:bodyPr/>
          <a:lstStyle/>
          <a:p>
            <a:fld id="{6FC8D850-966F-45A6-8DE7-15B891E7D40D}" type="slidenum">
              <a:rPr lang="pt-BR" smtClean="0"/>
              <a:t>28</a:t>
            </a:fld>
            <a:endParaRPr lang="pt-BR"/>
          </a:p>
        </p:txBody>
      </p:sp>
    </p:spTree>
    <p:extLst>
      <p:ext uri="{BB962C8B-B14F-4D97-AF65-F5344CB8AC3E}">
        <p14:creationId xmlns:p14="http://schemas.microsoft.com/office/powerpoint/2010/main" val="2786430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Uma rede neural com funções de ativação não-lineares </a:t>
            </a:r>
            <a:r>
              <a:rPr lang="pt-BR" sz="1200" b="1" i="0" kern="1200" dirty="0">
                <a:solidFill>
                  <a:schemeClr val="tx1"/>
                </a:solidFill>
                <a:effectLst/>
                <a:latin typeface="+mn-lt"/>
                <a:ea typeface="+mn-ea"/>
                <a:cs typeface="+mn-cs"/>
              </a:rPr>
              <a:t>não é forçada a ser não-linear</a:t>
            </a:r>
            <a:r>
              <a:rPr lang="pt-BR" sz="1200" b="0" i="0" kern="1200" dirty="0">
                <a:solidFill>
                  <a:schemeClr val="tx1"/>
                </a:solidFill>
                <a:effectLst/>
                <a:latin typeface="+mn-lt"/>
                <a:ea typeface="+mn-ea"/>
                <a:cs typeface="+mn-cs"/>
              </a:rPr>
              <a:t>. Em vez disso, ela </a:t>
            </a:r>
            <a:r>
              <a:rPr lang="pt-BR" sz="1200" b="1" i="0" kern="1200" dirty="0">
                <a:solidFill>
                  <a:schemeClr val="tx1"/>
                </a:solidFill>
                <a:effectLst/>
                <a:latin typeface="+mn-lt"/>
                <a:ea typeface="+mn-ea"/>
                <a:cs typeface="+mn-cs"/>
              </a:rPr>
              <a:t>tem a capacidade de ser não-linear</a:t>
            </a:r>
            <a:r>
              <a:rPr lang="pt-BR" sz="1200" b="0" i="0" kern="1200" dirty="0">
                <a:solidFill>
                  <a:schemeClr val="tx1"/>
                </a:solidFill>
                <a:effectLst/>
                <a:latin typeface="+mn-lt"/>
                <a:ea typeface="+mn-ea"/>
                <a:cs typeface="+mn-cs"/>
              </a:rPr>
              <a:t> se for necessário para minimizar o erro. Se a função alvo for linear, a rede pode aprender pesos que fazem com que os neurônios operem apenas na </a:t>
            </a:r>
            <a:r>
              <a:rPr lang="pt-BR" sz="1200" b="1" i="0" kern="1200" dirty="0">
                <a:solidFill>
                  <a:schemeClr val="tx1"/>
                </a:solidFill>
                <a:effectLst/>
                <a:latin typeface="+mn-lt"/>
                <a:ea typeface="+mn-ea"/>
                <a:cs typeface="+mn-cs"/>
              </a:rPr>
              <a:t>região linear</a:t>
            </a:r>
            <a:r>
              <a:rPr lang="pt-BR" sz="1200" b="0" i="0" kern="1200" dirty="0">
                <a:solidFill>
                  <a:schemeClr val="tx1"/>
                </a:solidFill>
                <a:effectLst/>
                <a:latin typeface="+mn-lt"/>
                <a:ea typeface="+mn-ea"/>
                <a:cs typeface="+mn-cs"/>
              </a:rPr>
              <a:t> da sua função de ativação.</a:t>
            </a:r>
            <a:endParaRPr lang="pt-BR" sz="1200" b="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b="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1" kern="1200" dirty="0">
                <a:solidFill>
                  <a:schemeClr val="tx1"/>
                </a:solidFill>
                <a:effectLst/>
                <a:latin typeface="+mn-lt"/>
                <a:ea typeface="+mn-ea"/>
                <a:cs typeface="+mn-cs"/>
              </a:rPr>
              <a:t>“Qualquer função contínua no intervalo fechado [a, b] pode ser uniformemente aproximada</a:t>
            </a:r>
            <a:r>
              <a:rPr lang="pt-BR" sz="1200" b="0" i="1" kern="1200" baseline="0" dirty="0">
                <a:solidFill>
                  <a:schemeClr val="tx1"/>
                </a:solidFill>
                <a:effectLst/>
                <a:latin typeface="+mn-lt"/>
                <a:ea typeface="+mn-ea"/>
                <a:cs typeface="+mn-cs"/>
              </a:rPr>
              <a:t> </a:t>
            </a:r>
            <a:r>
              <a:rPr lang="pt-BR" sz="1200" b="0" i="1" kern="1200" dirty="0">
                <a:solidFill>
                  <a:schemeClr val="tx1"/>
                </a:solidFill>
                <a:effectLst/>
                <a:latin typeface="+mn-lt"/>
                <a:ea typeface="+mn-ea"/>
                <a:cs typeface="+mn-cs"/>
              </a:rPr>
              <a:t>tão bem quanto desejado por um polinômio”, </a:t>
            </a:r>
            <a:r>
              <a:rPr lang="pt-BR" sz="1200" b="1" i="1" kern="1200" dirty="0">
                <a:solidFill>
                  <a:schemeClr val="tx1"/>
                </a:solidFill>
                <a:effectLst/>
                <a:latin typeface="+mn-lt"/>
                <a:ea typeface="+mn-ea"/>
                <a:cs typeface="+mn-cs"/>
              </a:rPr>
              <a:t>Teorema da aproximação de </a:t>
            </a:r>
            <a:r>
              <a:rPr lang="pt-BR" sz="1200" b="1" i="1" kern="1200" dirty="0" err="1">
                <a:solidFill>
                  <a:schemeClr val="tx1"/>
                </a:solidFill>
                <a:effectLst/>
                <a:latin typeface="+mn-lt"/>
                <a:ea typeface="+mn-ea"/>
                <a:cs typeface="+mn-cs"/>
              </a:rPr>
              <a:t>Weierstrass</a:t>
            </a:r>
            <a:r>
              <a:rPr lang="pt-BR" sz="1200" b="0" i="0" kern="1200" dirty="0">
                <a:solidFill>
                  <a:schemeClr val="tx1"/>
                </a:solidFill>
                <a:effectLst/>
                <a:latin typeface="+mn-lt"/>
                <a:ea typeface="+mn-ea"/>
                <a:cs typeface="+mn-cs"/>
              </a:rPr>
              <a:t>.</a:t>
            </a:r>
            <a:r>
              <a:rPr lang="pt-BR" dirty="0"/>
              <a:t> </a:t>
            </a:r>
            <a:br>
              <a:rPr lang="pt-BR" dirty="0"/>
            </a:br>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29</a:t>
            </a:fld>
            <a:endParaRPr lang="pt-BR"/>
          </a:p>
        </p:txBody>
      </p:sp>
    </p:spTree>
    <p:extLst>
      <p:ext uri="{BB962C8B-B14F-4D97-AF65-F5344CB8AC3E}">
        <p14:creationId xmlns:p14="http://schemas.microsoft.com/office/powerpoint/2010/main" val="32671344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1" kern="1200" dirty="0">
                <a:solidFill>
                  <a:schemeClr val="tx1"/>
                </a:solidFill>
                <a:effectLst/>
                <a:latin typeface="+mn-lt"/>
                <a:ea typeface="+mn-ea"/>
                <a:cs typeface="+mn-cs"/>
              </a:rPr>
              <a:t>“Qualquer função contínua no intervalo fechado [a, b] pode ser uniformemente aproximada</a:t>
            </a:r>
            <a:r>
              <a:rPr lang="pt-BR" sz="1200" b="0" i="1" kern="1200" baseline="0" dirty="0">
                <a:solidFill>
                  <a:schemeClr val="tx1"/>
                </a:solidFill>
                <a:effectLst/>
                <a:latin typeface="+mn-lt"/>
                <a:ea typeface="+mn-ea"/>
                <a:cs typeface="+mn-cs"/>
              </a:rPr>
              <a:t> </a:t>
            </a:r>
            <a:r>
              <a:rPr lang="pt-BR" sz="1200" b="0" i="1" kern="1200" dirty="0">
                <a:solidFill>
                  <a:schemeClr val="tx1"/>
                </a:solidFill>
                <a:effectLst/>
                <a:latin typeface="+mn-lt"/>
                <a:ea typeface="+mn-ea"/>
                <a:cs typeface="+mn-cs"/>
              </a:rPr>
              <a:t>tão bem quanto desejado por um polinômio”, </a:t>
            </a:r>
            <a:r>
              <a:rPr lang="pt-BR" sz="1200" b="1" i="1" kern="1200" dirty="0">
                <a:solidFill>
                  <a:schemeClr val="tx1"/>
                </a:solidFill>
                <a:effectLst/>
                <a:latin typeface="+mn-lt"/>
                <a:ea typeface="+mn-ea"/>
                <a:cs typeface="+mn-cs"/>
              </a:rPr>
              <a:t>Teorema da aproximação de </a:t>
            </a:r>
            <a:r>
              <a:rPr lang="pt-BR" sz="1200" b="1" i="1" kern="1200" dirty="0" err="1">
                <a:solidFill>
                  <a:schemeClr val="tx1"/>
                </a:solidFill>
                <a:effectLst/>
                <a:latin typeface="+mn-lt"/>
                <a:ea typeface="+mn-ea"/>
                <a:cs typeface="+mn-cs"/>
              </a:rPr>
              <a:t>Weierstrass</a:t>
            </a:r>
            <a:r>
              <a:rPr lang="pt-BR" sz="1200" b="0" i="0" kern="1200" dirty="0">
                <a:solidFill>
                  <a:schemeClr val="tx1"/>
                </a:solidFill>
                <a:effectLst/>
                <a:latin typeface="+mn-lt"/>
                <a:ea typeface="+mn-ea"/>
                <a:cs typeface="+mn-cs"/>
              </a:rPr>
              <a:t>.</a:t>
            </a:r>
            <a:r>
              <a:rPr lang="pt-BR" dirty="0"/>
              <a:t> </a:t>
            </a:r>
            <a:br>
              <a:rPr lang="pt-BR" dirty="0"/>
            </a:br>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30</a:t>
            </a:fld>
            <a:endParaRPr lang="pt-BR"/>
          </a:p>
        </p:txBody>
      </p:sp>
    </p:spTree>
    <p:extLst>
      <p:ext uri="{BB962C8B-B14F-4D97-AF65-F5344CB8AC3E}">
        <p14:creationId xmlns:p14="http://schemas.microsoft.com/office/powerpoint/2010/main" val="7057253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objetivo é encontrar o conjunto de pesos que minimiza a função de perda.</a:t>
            </a:r>
          </a:p>
          <a:p>
            <a:endParaRPr lang="pt-BR"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32</a:t>
            </a:fld>
            <a:endParaRPr lang="pt-BR"/>
          </a:p>
        </p:txBody>
      </p:sp>
    </p:spTree>
    <p:extLst>
      <p:ext uri="{BB962C8B-B14F-4D97-AF65-F5344CB8AC3E}">
        <p14:creationId xmlns:p14="http://schemas.microsoft.com/office/powerpoint/2010/main" val="1037933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O problema é que, em alguns casos, o gradiente será extremamente pequeno, evitando efetivamente que o peso mude de valor. </a:t>
            </a:r>
          </a:p>
          <a:p>
            <a:r>
              <a:rPr lang="pt-BR" dirty="0"/>
              <a:t>Na pior das hipóteses, isso pode impedir completamente o treinamento adicional da rede neural.</a:t>
            </a:r>
          </a:p>
          <a:p>
            <a:r>
              <a:rPr lang="pt-BR" sz="1200" b="0" i="0" kern="1200" dirty="0">
                <a:solidFill>
                  <a:schemeClr val="tx1"/>
                </a:solidFill>
                <a:effectLst/>
                <a:latin typeface="+mn-lt"/>
                <a:ea typeface="+mn-ea"/>
                <a:cs typeface="+mn-cs"/>
              </a:rPr>
              <a:t>Temos aqui uma observação importante: em pelo menos algumas redes neurais profundas, o gradiente tende a diminuir à medida que nos movemos para trás através das camadas ocultas. Isso significa que os neurônios nas camadas anteriores </a:t>
            </a:r>
            <a:r>
              <a:rPr lang="pt-BR" sz="1200" b="0" i="0" kern="1200" dirty="0" err="1">
                <a:solidFill>
                  <a:schemeClr val="tx1"/>
                </a:solidFill>
                <a:effectLst/>
                <a:latin typeface="+mn-lt"/>
                <a:ea typeface="+mn-ea"/>
                <a:cs typeface="+mn-cs"/>
              </a:rPr>
              <a:t>apr</a:t>
            </a:r>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dirty="0"/>
              <a:t>o gradiente é multiplicado várias vezes com o algoritmo da </a:t>
            </a:r>
            <a:r>
              <a:rPr lang="pt-BR" b="1" i="1" dirty="0"/>
              <a:t>retropropagação</a:t>
            </a:r>
            <a:r>
              <a:rPr lang="pt-BR" dirty="0"/>
              <a:t>, o que faz com que o gradiente se torne menor para as camadas inferiores, levando a uma mudança muito pequena ou até mesmo nenhuma mudança nos pesos das camadas </a:t>
            </a:r>
            <a:r>
              <a:rPr lang="pt-BR" dirty="0" err="1"/>
              <a:t>inferiores</a:t>
            </a:r>
            <a:r>
              <a:rPr lang="pt-BR" sz="1200" b="0" i="0" kern="1200" dirty="0" err="1">
                <a:solidFill>
                  <a:schemeClr val="tx1"/>
                </a:solidFill>
                <a:effectLst/>
                <a:latin typeface="+mn-lt"/>
                <a:ea typeface="+mn-ea"/>
                <a:cs typeface="+mn-cs"/>
              </a:rPr>
              <a:t>endem</a:t>
            </a:r>
            <a:r>
              <a:rPr lang="pt-BR" sz="1200" b="0" i="0" kern="1200" dirty="0">
                <a:solidFill>
                  <a:schemeClr val="tx1"/>
                </a:solidFill>
                <a:effectLst/>
                <a:latin typeface="+mn-lt"/>
                <a:ea typeface="+mn-ea"/>
                <a:cs typeface="+mn-cs"/>
              </a:rPr>
              <a:t> muito mais lentamente que os neurônios nas camadas posteriores.</a:t>
            </a:r>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36</a:t>
            </a:fld>
            <a:endParaRPr lang="pt-BR"/>
          </a:p>
        </p:txBody>
      </p:sp>
    </p:spTree>
    <p:extLst>
      <p:ext uri="{BB962C8B-B14F-4D97-AF65-F5344CB8AC3E}">
        <p14:creationId xmlns:p14="http://schemas.microsoft.com/office/powerpoint/2010/main" val="31632166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O problema é que, em alguns casos, o gradiente será extremamente pequeno, evitando efetivamente que o peso mude de valor. </a:t>
            </a:r>
          </a:p>
          <a:p>
            <a:r>
              <a:rPr lang="pt-BR" dirty="0"/>
              <a:t>Na pior das hipóteses, isso pode impedir completamente o treinamento adicional da rede neural.</a:t>
            </a:r>
          </a:p>
          <a:p>
            <a:r>
              <a:rPr lang="pt-BR" sz="1200" b="0" i="0" kern="1200" dirty="0">
                <a:solidFill>
                  <a:schemeClr val="tx1"/>
                </a:solidFill>
                <a:effectLst/>
                <a:latin typeface="+mn-lt"/>
                <a:ea typeface="+mn-ea"/>
                <a:cs typeface="+mn-cs"/>
              </a:rPr>
              <a:t>Temos aqui uma observação importante: em pelo menos algumas redes neurais profundas, o gradiente tende a diminuir à medida que nos movemos para trás através das camadas ocultas. Isso significa que os neurônios nas camadas anteriores </a:t>
            </a:r>
            <a:r>
              <a:rPr lang="pt-BR" sz="1200" b="0" i="0" kern="1200" dirty="0" err="1">
                <a:solidFill>
                  <a:schemeClr val="tx1"/>
                </a:solidFill>
                <a:effectLst/>
                <a:latin typeface="+mn-lt"/>
                <a:ea typeface="+mn-ea"/>
                <a:cs typeface="+mn-cs"/>
              </a:rPr>
              <a:t>apr</a:t>
            </a:r>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dirty="0"/>
              <a:t>o gradiente é multiplicado várias vezes com o algoritmo da </a:t>
            </a:r>
            <a:r>
              <a:rPr lang="pt-BR" b="1" i="1" dirty="0"/>
              <a:t>retropropagação</a:t>
            </a:r>
            <a:r>
              <a:rPr lang="pt-BR" dirty="0"/>
              <a:t>, o que faz com que o gradiente se torne menor para as camadas inferiores, levando a uma mudança muito pequena ou até mesmo nenhuma mudança nos pesos das camadas </a:t>
            </a:r>
            <a:r>
              <a:rPr lang="pt-BR" dirty="0" err="1"/>
              <a:t>inferiores</a:t>
            </a:r>
            <a:r>
              <a:rPr lang="pt-BR" sz="1200" b="0" i="0" kern="1200" dirty="0" err="1">
                <a:solidFill>
                  <a:schemeClr val="tx1"/>
                </a:solidFill>
                <a:effectLst/>
                <a:latin typeface="+mn-lt"/>
                <a:ea typeface="+mn-ea"/>
                <a:cs typeface="+mn-cs"/>
              </a:rPr>
              <a:t>endem</a:t>
            </a:r>
            <a:r>
              <a:rPr lang="pt-BR" sz="1200" b="0" i="0" kern="1200" dirty="0">
                <a:solidFill>
                  <a:schemeClr val="tx1"/>
                </a:solidFill>
                <a:effectLst/>
                <a:latin typeface="+mn-lt"/>
                <a:ea typeface="+mn-ea"/>
                <a:cs typeface="+mn-cs"/>
              </a:rPr>
              <a:t> muito mais lentamente que os neurônios nas camadas posteriores.</a:t>
            </a:r>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37</a:t>
            </a:fld>
            <a:endParaRPr lang="pt-BR"/>
          </a:p>
        </p:txBody>
      </p:sp>
    </p:spTree>
    <p:extLst>
      <p:ext uri="{BB962C8B-B14F-4D97-AF65-F5344CB8AC3E}">
        <p14:creationId xmlns:p14="http://schemas.microsoft.com/office/powerpoint/2010/main" val="5790368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pt-BR" sz="1200" b="1" dirty="0"/>
              <a:t>Laboratório #6:</a:t>
            </a:r>
            <a:r>
              <a:rPr lang="pt-BR" sz="1200" dirty="0"/>
              <a:t> https://mybinder.org/v2/gh/zz4fap/t320_aprendizado_de_maquina/main?filepath=labs%2FLaboratorio6.ipynb</a:t>
            </a:r>
          </a:p>
          <a:p>
            <a:endParaRPr lang="pt-BR" sz="1200" dirty="0"/>
          </a:p>
        </p:txBody>
      </p:sp>
      <p:sp>
        <p:nvSpPr>
          <p:cNvPr id="4" name="Slide Number Placeholder 3"/>
          <p:cNvSpPr>
            <a:spLocks noGrp="1"/>
          </p:cNvSpPr>
          <p:nvPr>
            <p:ph type="sldNum" sz="quarter" idx="10"/>
          </p:nvPr>
        </p:nvSpPr>
        <p:spPr/>
        <p:txBody>
          <a:bodyPr/>
          <a:lstStyle/>
          <a:p>
            <a:fld id="{6FC8D850-966F-45A6-8DE7-15B891E7D40D}" type="slidenum">
              <a:rPr lang="pt-BR" smtClean="0"/>
              <a:t>39</a:t>
            </a:fld>
            <a:endParaRPr lang="pt-BR"/>
          </a:p>
        </p:txBody>
      </p:sp>
    </p:spTree>
    <p:extLst>
      <p:ext uri="{BB962C8B-B14F-4D97-AF65-F5344CB8AC3E}">
        <p14:creationId xmlns:p14="http://schemas.microsoft.com/office/powerpoint/2010/main" val="12983315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44</a:t>
            </a:fld>
            <a:endParaRPr lang="pt-BR"/>
          </a:p>
        </p:txBody>
      </p:sp>
    </p:spTree>
    <p:extLst>
      <p:ext uri="{BB962C8B-B14F-4D97-AF65-F5344CB8AC3E}">
        <p14:creationId xmlns:p14="http://schemas.microsoft.com/office/powerpoint/2010/main" val="40097286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en-US"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45</a:t>
            </a:fld>
            <a:endParaRPr lang="pt-BR"/>
          </a:p>
        </p:txBody>
      </p:sp>
    </p:spTree>
    <p:extLst>
      <p:ext uri="{BB962C8B-B14F-4D97-AF65-F5344CB8AC3E}">
        <p14:creationId xmlns:p14="http://schemas.microsoft.com/office/powerpoint/2010/main" val="41689580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46</a:t>
            </a:fld>
            <a:endParaRPr lang="pt-BR"/>
          </a:p>
        </p:txBody>
      </p:sp>
    </p:spTree>
    <p:extLst>
      <p:ext uri="{BB962C8B-B14F-4D97-AF65-F5344CB8AC3E}">
        <p14:creationId xmlns:p14="http://schemas.microsoft.com/office/powerpoint/2010/main" val="5912624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Yann LeCun</a:t>
            </a:r>
          </a:p>
          <a:p>
            <a:endParaRPr lang="en-US" dirty="0"/>
          </a:p>
          <a:p>
            <a:r>
              <a:rPr lang="en-US" sz="1200" b="0" u="none" strike="noStrike" kern="1200" dirty="0">
                <a:solidFill>
                  <a:schemeClr val="tx1"/>
                </a:solidFill>
                <a:effectLst/>
                <a:latin typeface="+mn-lt"/>
                <a:ea typeface="+mn-ea"/>
                <a:cs typeface="+mn-cs"/>
              </a:rPr>
              <a:t>A </a:t>
            </a:r>
            <a:r>
              <a:rPr lang="en-US" sz="1200" b="0" u="none" strike="noStrike" kern="1200" dirty="0" err="1">
                <a:solidFill>
                  <a:schemeClr val="tx1"/>
                </a:solidFill>
                <a:effectLst/>
                <a:latin typeface="+mn-lt"/>
                <a:ea typeface="+mn-ea"/>
                <a:cs typeface="+mn-cs"/>
              </a:rPr>
              <a:t>transição</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ocorreu</a:t>
            </a:r>
            <a:r>
              <a:rPr lang="en-US" sz="1200" b="0" u="none" strike="noStrike" kern="1200" dirty="0">
                <a:solidFill>
                  <a:schemeClr val="tx1"/>
                </a:solidFill>
                <a:effectLst/>
                <a:latin typeface="+mn-lt"/>
                <a:ea typeface="+mn-ea"/>
                <a:cs typeface="+mn-cs"/>
              </a:rPr>
              <a:t> no </a:t>
            </a:r>
            <a:r>
              <a:rPr lang="en-US" sz="1200" b="0" u="none" strike="noStrike" kern="1200" dirty="0" err="1">
                <a:solidFill>
                  <a:schemeClr val="tx1"/>
                </a:solidFill>
                <a:effectLst/>
                <a:latin typeface="+mn-lt"/>
                <a:ea typeface="+mn-ea"/>
                <a:cs typeface="+mn-cs"/>
              </a:rPr>
              <a:t>início</a:t>
            </a:r>
            <a:r>
              <a:rPr lang="en-US" sz="1200" b="0" u="none" strike="noStrike" kern="1200" dirty="0">
                <a:solidFill>
                  <a:schemeClr val="tx1"/>
                </a:solidFill>
                <a:effectLst/>
                <a:latin typeface="+mn-lt"/>
                <a:ea typeface="+mn-ea"/>
                <a:cs typeface="+mn-cs"/>
              </a:rPr>
              <a:t> da </a:t>
            </a:r>
            <a:r>
              <a:rPr lang="en-US" sz="1200" b="1" u="none" strike="noStrike" kern="1200" dirty="0" err="1">
                <a:solidFill>
                  <a:schemeClr val="tx1"/>
                </a:solidFill>
                <a:effectLst/>
                <a:latin typeface="+mn-lt"/>
                <a:ea typeface="+mn-ea"/>
                <a:cs typeface="+mn-cs"/>
              </a:rPr>
              <a:t>década</a:t>
            </a:r>
            <a:r>
              <a:rPr lang="en-US" sz="1200" b="1" u="none" strike="noStrike" kern="1200" dirty="0">
                <a:solidFill>
                  <a:schemeClr val="tx1"/>
                </a:solidFill>
                <a:effectLst/>
                <a:latin typeface="+mn-lt"/>
                <a:ea typeface="+mn-ea"/>
                <a:cs typeface="+mn-cs"/>
              </a:rPr>
              <a:t> de 2010</a:t>
            </a:r>
            <a:r>
              <a:rPr lang="en-US" dirty="0"/>
              <a:t> com o </a:t>
            </a:r>
            <a:r>
              <a:rPr lang="en-US" dirty="0" err="1"/>
              <a:t>lançamento</a:t>
            </a:r>
            <a:r>
              <a:rPr lang="en-US" dirty="0"/>
              <a:t> de </a:t>
            </a:r>
            <a:r>
              <a:rPr lang="en-US" dirty="0" err="1"/>
              <a:t>bibliotecas</a:t>
            </a:r>
            <a:r>
              <a:rPr lang="en-US" dirty="0"/>
              <a:t> </a:t>
            </a:r>
            <a:r>
              <a:rPr lang="en-US" dirty="0" err="1"/>
              <a:t>como</a:t>
            </a:r>
            <a:r>
              <a:rPr lang="en-US" dirty="0"/>
              <a:t> </a:t>
            </a:r>
            <a:r>
              <a:rPr lang="en-US" sz="1200" b="1" u="none" strike="noStrike" kern="1200" dirty="0">
                <a:solidFill>
                  <a:schemeClr val="tx1"/>
                </a:solidFill>
                <a:effectLst/>
                <a:latin typeface="+mn-lt"/>
                <a:ea typeface="+mn-ea"/>
                <a:cs typeface="+mn-cs"/>
              </a:rPr>
              <a:t>Theano, </a:t>
            </a:r>
            <a:r>
              <a:rPr lang="en-US" dirty="0" err="1"/>
              <a:t>liderado</a:t>
            </a:r>
            <a:r>
              <a:rPr lang="en-US" dirty="0"/>
              <a:t> </a:t>
            </a:r>
            <a:r>
              <a:rPr lang="en-US" dirty="0" err="1"/>
              <a:t>por</a:t>
            </a:r>
            <a:r>
              <a:rPr lang="en-US" dirty="0"/>
              <a:t> Yoshua Bengio,</a:t>
            </a:r>
            <a:r>
              <a:rPr lang="en-US" sz="1200" b="1" u="none" strike="noStrike" kern="1200" dirty="0">
                <a:solidFill>
                  <a:schemeClr val="tx1"/>
                </a:solidFill>
                <a:effectLst/>
                <a:latin typeface="+mn-lt"/>
                <a:ea typeface="+mn-ea"/>
                <a:cs typeface="+mn-cs"/>
              </a:rPr>
              <a:t> (2010)</a:t>
            </a:r>
            <a:r>
              <a:rPr lang="en-US" dirty="0"/>
              <a:t> e </a:t>
            </a:r>
            <a:r>
              <a:rPr lang="en-US" sz="1200" b="1" u="none" strike="noStrike" kern="1200" dirty="0">
                <a:solidFill>
                  <a:schemeClr val="tx1"/>
                </a:solidFill>
                <a:effectLst/>
                <a:latin typeface="+mn-lt"/>
                <a:ea typeface="+mn-ea"/>
                <a:cs typeface="+mn-cs"/>
              </a:rPr>
              <a:t>Caffe (2013)</a:t>
            </a:r>
            <a:r>
              <a:rPr lang="en-US" dirty="0"/>
              <a:t>, </a:t>
            </a:r>
            <a:r>
              <a:rPr lang="en-US" dirty="0" err="1"/>
              <a:t>que</a:t>
            </a:r>
            <a:r>
              <a:rPr lang="en-US" dirty="0"/>
              <a:t> </a:t>
            </a:r>
            <a:r>
              <a:rPr lang="en-US" dirty="0" err="1"/>
              <a:t>introduziram</a:t>
            </a:r>
            <a:r>
              <a:rPr lang="en-US" dirty="0"/>
              <a:t> a </a:t>
            </a:r>
            <a:r>
              <a:rPr lang="en-US" dirty="0" err="1"/>
              <a:t>diferenciação</a:t>
            </a:r>
            <a:r>
              <a:rPr lang="en-US" dirty="0"/>
              <a:t> </a:t>
            </a:r>
            <a:r>
              <a:rPr lang="en-US" dirty="0" err="1"/>
              <a:t>automática</a:t>
            </a:r>
            <a:r>
              <a:rPr lang="en-US" dirty="0"/>
              <a:t> e </a:t>
            </a:r>
            <a:r>
              <a:rPr lang="en-US" dirty="0" err="1"/>
              <a:t>configurações</a:t>
            </a:r>
            <a:r>
              <a:rPr lang="en-US" dirty="0"/>
              <a:t> </a:t>
            </a:r>
            <a:r>
              <a:rPr lang="en-US" dirty="0" err="1"/>
              <a:t>estruturadas</a:t>
            </a:r>
            <a:r>
              <a:rPr lang="en-US" dirty="0"/>
              <a:t>, </a:t>
            </a:r>
            <a:r>
              <a:rPr lang="en-US" dirty="0" err="1"/>
              <a:t>culminando</a:t>
            </a:r>
            <a:r>
              <a:rPr lang="en-US" dirty="0"/>
              <a:t> </a:t>
            </a:r>
            <a:r>
              <a:rPr lang="en-US" dirty="0" err="1"/>
              <a:t>na</a:t>
            </a:r>
            <a:r>
              <a:rPr lang="en-US" dirty="0"/>
              <a:t> </a:t>
            </a:r>
            <a:r>
              <a:rPr lang="en-US" dirty="0" err="1"/>
              <a:t>democratização</a:t>
            </a:r>
            <a:r>
              <a:rPr lang="en-US" dirty="0"/>
              <a:t> </a:t>
            </a:r>
            <a:r>
              <a:rPr lang="en-US" dirty="0" err="1"/>
              <a:t>definitiva</a:t>
            </a:r>
            <a:r>
              <a:rPr lang="en-US" dirty="0"/>
              <a:t> </a:t>
            </a:r>
            <a:r>
              <a:rPr lang="en-US" dirty="0" err="1"/>
              <a:t>em</a:t>
            </a:r>
            <a:r>
              <a:rPr lang="en-US" dirty="0"/>
              <a:t> </a:t>
            </a:r>
            <a:r>
              <a:rPr lang="en-US" sz="1200" b="1" u="none" strike="noStrike" kern="1200" dirty="0">
                <a:solidFill>
                  <a:schemeClr val="tx1"/>
                </a:solidFill>
                <a:effectLst/>
                <a:latin typeface="+mn-lt"/>
                <a:ea typeface="+mn-ea"/>
                <a:cs typeface="+mn-cs"/>
              </a:rPr>
              <a:t>2015</a:t>
            </a:r>
            <a:r>
              <a:rPr lang="en-US" dirty="0"/>
              <a:t> com a </a:t>
            </a:r>
            <a:r>
              <a:rPr lang="en-US" dirty="0" err="1"/>
              <a:t>chegada</a:t>
            </a:r>
            <a:r>
              <a:rPr lang="en-US" dirty="0"/>
              <a:t> do </a:t>
            </a:r>
            <a:r>
              <a:rPr lang="en-US" sz="1200" b="1" u="none" strike="noStrike" kern="1200" dirty="0" err="1">
                <a:solidFill>
                  <a:schemeClr val="tx1"/>
                </a:solidFill>
                <a:effectLst/>
                <a:latin typeface="+mn-lt"/>
                <a:ea typeface="+mn-ea"/>
                <a:cs typeface="+mn-cs"/>
              </a:rPr>
              <a:t>Keras</a:t>
            </a:r>
            <a:r>
              <a:rPr lang="en-US" dirty="0"/>
              <a:t> e do </a:t>
            </a:r>
            <a:r>
              <a:rPr lang="en-US" sz="1200" b="1" u="none" strike="noStrike" kern="1200" dirty="0">
                <a:solidFill>
                  <a:schemeClr val="tx1"/>
                </a:solidFill>
                <a:effectLst/>
                <a:latin typeface="+mn-lt"/>
                <a:ea typeface="+mn-ea"/>
                <a:cs typeface="+mn-cs"/>
              </a:rPr>
              <a:t>TensorFlow</a:t>
            </a:r>
            <a:r>
              <a:rPr lang="en-US" dirty="0"/>
              <a:t>.</a:t>
            </a:r>
          </a:p>
        </p:txBody>
      </p:sp>
      <p:sp>
        <p:nvSpPr>
          <p:cNvPr id="4" name="Slide Number Placeholder 3"/>
          <p:cNvSpPr>
            <a:spLocks noGrp="1"/>
          </p:cNvSpPr>
          <p:nvPr>
            <p:ph type="sldNum" sz="quarter" idx="5"/>
          </p:nvPr>
        </p:nvSpPr>
        <p:spPr/>
        <p:txBody>
          <a:bodyPr/>
          <a:lstStyle/>
          <a:p>
            <a:fld id="{6FC8D850-966F-45A6-8DE7-15B891E7D40D}" type="slidenum">
              <a:rPr lang="pt-BR" smtClean="0"/>
              <a:t>48</a:t>
            </a:fld>
            <a:endParaRPr lang="pt-BR"/>
          </a:p>
        </p:txBody>
      </p:sp>
    </p:spTree>
    <p:extLst>
      <p:ext uri="{BB962C8B-B14F-4D97-AF65-F5344CB8AC3E}">
        <p14:creationId xmlns:p14="http://schemas.microsoft.com/office/powerpoint/2010/main" val="40170606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Referências:</a:t>
            </a:r>
          </a:p>
          <a:p>
            <a:r>
              <a:rPr lang="pt-BR" dirty="0"/>
              <a:t>[1] http://www.offconvex.org/2016/03/22/saddlepoints/</a:t>
            </a:r>
          </a:p>
          <a:p>
            <a:r>
              <a:rPr lang="pt-BR" dirty="0"/>
              <a:t>[2] https://stats.stackexchange.com/questions/278104/how-can-it-be-trapped-in-a-saddle-point</a:t>
            </a:r>
          </a:p>
          <a:p>
            <a:r>
              <a:rPr lang="pt-BR" dirty="0"/>
              <a:t>[3] https://machinelearningmastery.com/why-training-a-neural-network-is-hard/</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49</a:t>
            </a:fld>
            <a:endParaRPr lang="pt-BR"/>
          </a:p>
        </p:txBody>
      </p:sp>
    </p:spTree>
    <p:extLst>
      <p:ext uri="{BB962C8B-B14F-4D97-AF65-F5344CB8AC3E}">
        <p14:creationId xmlns:p14="http://schemas.microsoft.com/office/powerpoint/2010/main" val="17074648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1" dirty="0"/>
              <a:t>Convergência lenta</a:t>
            </a:r>
          </a:p>
          <a:p>
            <a:r>
              <a:rPr lang="pt-BR" dirty="0"/>
              <a:t>Regiões mal condicionadas, ravinas e platôs fazem com que:</a:t>
            </a:r>
          </a:p>
          <a:p>
            <a:r>
              <a:rPr lang="pt-BR" dirty="0"/>
              <a:t>o gradiente aponte em direções pouco úteis</a:t>
            </a:r>
          </a:p>
          <a:p>
            <a:r>
              <a:rPr lang="pt-BR" dirty="0"/>
              <a:t>o passo de atualização oscile</a:t>
            </a:r>
          </a:p>
          <a:p>
            <a:r>
              <a:rPr lang="pt-BR" dirty="0"/>
              <a:t>o treinamento leve muitas épocas</a:t>
            </a:r>
          </a:p>
          <a:p>
            <a:r>
              <a:rPr lang="pt-BR" dirty="0"/>
              <a:t>Isso explica por que redes profundas podem demorar a convergir sem técnicas como normalização, momentum ou Adam.</a:t>
            </a:r>
          </a:p>
          <a:p>
            <a:endParaRPr lang="pt-BR" b="1" dirty="0"/>
          </a:p>
          <a:p>
            <a:r>
              <a:rPr lang="pt-BR" b="1" dirty="0"/>
              <a:t>Instabilidade no treinamento</a:t>
            </a:r>
          </a:p>
          <a:p>
            <a:r>
              <a:rPr lang="pt-BR" dirty="0"/>
              <a:t>Penhascos e gradientes explosivos podem gerar:</a:t>
            </a:r>
          </a:p>
          <a:p>
            <a:r>
              <a:rPr lang="pt-BR" dirty="0"/>
              <a:t>saltos grandes nos pesos</a:t>
            </a:r>
          </a:p>
          <a:p>
            <a:r>
              <a:rPr lang="pt-BR" dirty="0"/>
              <a:t>divergência do erro</a:t>
            </a:r>
          </a:p>
          <a:p>
            <a:r>
              <a:rPr lang="pt-BR" dirty="0" err="1"/>
              <a:t>NaNs</a:t>
            </a:r>
            <a:r>
              <a:rPr lang="pt-BR" dirty="0"/>
              <a:t> ou overflow numérico</a:t>
            </a:r>
          </a:p>
          <a:p>
            <a:r>
              <a:rPr lang="pt-BR" dirty="0"/>
              <a:t>Por isso usam-se:</a:t>
            </a:r>
          </a:p>
          <a:p>
            <a:r>
              <a:rPr lang="pt-BR" dirty="0" err="1"/>
              <a:t>gradient</a:t>
            </a:r>
            <a:r>
              <a:rPr lang="pt-BR" dirty="0"/>
              <a:t> clipping</a:t>
            </a:r>
          </a:p>
          <a:p>
            <a:r>
              <a:rPr lang="pt-BR" dirty="0"/>
              <a:t>normalização</a:t>
            </a:r>
          </a:p>
          <a:p>
            <a:r>
              <a:rPr lang="pt-BR" dirty="0"/>
              <a:t>inicializações cuidadosas</a:t>
            </a:r>
            <a:endParaRPr lang="pt-BR" b="1" dirty="0"/>
          </a:p>
          <a:p>
            <a:endParaRPr lang="pt-BR" b="1" dirty="0"/>
          </a:p>
          <a:p>
            <a:r>
              <a:rPr lang="pt-BR" b="1" dirty="0"/>
              <a:t>Sensibilidade à inicialização</a:t>
            </a:r>
          </a:p>
          <a:p>
            <a:r>
              <a:rPr lang="pt-BR" dirty="0"/>
              <a:t>Devido às múltiplas bacias de atração e simetrias:</a:t>
            </a:r>
          </a:p>
          <a:p>
            <a:r>
              <a:rPr lang="pt-BR" dirty="0"/>
              <a:t>diferentes inicializações levam a soluções diferentes</a:t>
            </a:r>
          </a:p>
          <a:p>
            <a:r>
              <a:rPr lang="pt-BR" dirty="0"/>
              <a:t>o desempenho final pode variar</a:t>
            </a:r>
          </a:p>
          <a:p>
            <a:r>
              <a:rPr lang="pt-BR" dirty="0"/>
              <a:t>a reprodutibilidade diminui</a:t>
            </a:r>
          </a:p>
          <a:p>
            <a:endParaRPr lang="pt-BR" dirty="0"/>
          </a:p>
          <a:p>
            <a:r>
              <a:rPr lang="pt-BR" dirty="0"/>
              <a:t>Não garantimos um ótimo global — em redes neurais profundas isso é impraticável.</a:t>
            </a:r>
            <a:br>
              <a:rPr lang="pt-BR" dirty="0"/>
            </a:br>
            <a:r>
              <a:rPr lang="pt-BR" dirty="0"/>
              <a:t>Em vez disso, buscamos </a:t>
            </a:r>
            <a:r>
              <a:rPr lang="pt-BR" b="1" dirty="0"/>
              <a:t>boas soluções empiricamente estáveis</a:t>
            </a:r>
            <a:r>
              <a:rPr lang="pt-BR" dirty="0"/>
              <a:t> usando um conjunto de estratégias:</a:t>
            </a:r>
          </a:p>
          <a:p>
            <a:r>
              <a:rPr lang="pt-BR" b="1" dirty="0"/>
              <a:t>Inicialização adequada</a:t>
            </a:r>
            <a:r>
              <a:rPr lang="pt-BR" dirty="0"/>
              <a:t> dos pesos</a:t>
            </a:r>
          </a:p>
          <a:p>
            <a:r>
              <a:rPr lang="pt-BR" b="1" dirty="0"/>
              <a:t>Normalizações</a:t>
            </a:r>
            <a:r>
              <a:rPr lang="pt-BR" dirty="0"/>
              <a:t> (ex.: batch/</a:t>
            </a:r>
            <a:r>
              <a:rPr lang="pt-BR" dirty="0" err="1"/>
              <a:t>layer</a:t>
            </a:r>
            <a:r>
              <a:rPr lang="pt-BR" dirty="0"/>
              <a:t> </a:t>
            </a:r>
            <a:r>
              <a:rPr lang="pt-BR" dirty="0" err="1"/>
              <a:t>norm</a:t>
            </a:r>
            <a:r>
              <a:rPr lang="pt-BR" dirty="0"/>
              <a:t>) para suavizar a superfície</a:t>
            </a:r>
          </a:p>
          <a:p>
            <a:r>
              <a:rPr lang="pt-BR" b="1" dirty="0" err="1"/>
              <a:t>Otimizadores</a:t>
            </a:r>
            <a:r>
              <a:rPr lang="pt-BR" b="1" dirty="0"/>
              <a:t> robustos</a:t>
            </a:r>
            <a:r>
              <a:rPr lang="pt-BR" dirty="0"/>
              <a:t> (SGD com momentum, Adam etc.)</a:t>
            </a:r>
          </a:p>
          <a:p>
            <a:r>
              <a:rPr lang="pt-BR" b="1" dirty="0"/>
              <a:t>Ruído estocástico</a:t>
            </a:r>
            <a:r>
              <a:rPr lang="pt-BR" dirty="0"/>
              <a:t> dos </a:t>
            </a:r>
            <a:r>
              <a:rPr lang="pt-BR" dirty="0" err="1"/>
              <a:t>minibatches</a:t>
            </a:r>
            <a:r>
              <a:rPr lang="pt-BR" dirty="0"/>
              <a:t> para escapar de regiões ruins</a:t>
            </a:r>
          </a:p>
          <a:p>
            <a:r>
              <a:rPr lang="pt-BR" b="1" dirty="0"/>
              <a:t>Regularização</a:t>
            </a:r>
            <a:r>
              <a:rPr lang="pt-BR" dirty="0"/>
              <a:t> para favorecer mínimos planos</a:t>
            </a:r>
          </a:p>
          <a:p>
            <a:r>
              <a:rPr lang="pt-BR" b="1" dirty="0"/>
              <a:t>Validação</a:t>
            </a:r>
            <a:r>
              <a:rPr lang="pt-BR" dirty="0"/>
              <a:t> para escolher o melhor modelo treinado</a:t>
            </a:r>
          </a:p>
          <a:p>
            <a:r>
              <a:rPr lang="pt-BR" dirty="0"/>
              <a:t>Em resumo:</a:t>
            </a:r>
            <a:br>
              <a:rPr lang="pt-BR" dirty="0"/>
            </a:br>
            <a:r>
              <a:rPr lang="pt-BR" dirty="0"/>
              <a:t>👉 não garantimos o melhor mínimo, mas usamos técnicas que tornam </a:t>
            </a:r>
            <a:r>
              <a:rPr lang="pt-BR" b="1" dirty="0"/>
              <a:t>muito provável encontrar um mínimo que generaliza bem</a:t>
            </a:r>
            <a:r>
              <a:rPr lang="pt-BR" dirty="0"/>
              <a:t>.</a:t>
            </a:r>
          </a:p>
          <a:p>
            <a:endParaRPr lang="pt-BR"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50</a:t>
            </a:fld>
            <a:endParaRPr lang="pt-BR"/>
          </a:p>
        </p:txBody>
      </p:sp>
    </p:spTree>
    <p:extLst>
      <p:ext uri="{BB962C8B-B14F-4D97-AF65-F5344CB8AC3E}">
        <p14:creationId xmlns:p14="http://schemas.microsoft.com/office/powerpoint/2010/main" val="21751025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en-US" dirty="0" err="1"/>
              <a:t>Existem</a:t>
            </a:r>
            <a:r>
              <a:rPr lang="en-US" dirty="0"/>
              <a:t> </a:t>
            </a:r>
            <a:r>
              <a:rPr lang="en-US" dirty="0" err="1"/>
              <a:t>resultados</a:t>
            </a:r>
            <a:r>
              <a:rPr lang="en-US" dirty="0"/>
              <a:t> </a:t>
            </a:r>
            <a:r>
              <a:rPr lang="en-US" dirty="0" err="1"/>
              <a:t>mostrando</a:t>
            </a:r>
            <a:r>
              <a:rPr lang="en-US" dirty="0"/>
              <a:t> </a:t>
            </a:r>
            <a:r>
              <a:rPr lang="en-US" dirty="0" err="1"/>
              <a:t>que</a:t>
            </a:r>
            <a:r>
              <a:rPr lang="en-US" dirty="0"/>
              <a:t> </a:t>
            </a:r>
            <a:r>
              <a:rPr lang="en-US" dirty="0" err="1"/>
              <a:t>determinadas</a:t>
            </a:r>
            <a:r>
              <a:rPr lang="en-US" dirty="0"/>
              <a:t> CNNs </a:t>
            </a:r>
            <a:r>
              <a:rPr lang="en-US" dirty="0" err="1"/>
              <a:t>suficientemente</a:t>
            </a:r>
            <a:r>
              <a:rPr lang="en-US" dirty="0"/>
              <a:t> </a:t>
            </a:r>
            <a:r>
              <a:rPr lang="en-US" dirty="0" err="1"/>
              <a:t>largas</a:t>
            </a:r>
            <a:r>
              <a:rPr lang="en-US" dirty="0"/>
              <a:t> </a:t>
            </a:r>
            <a:r>
              <a:rPr lang="en-US" dirty="0" err="1"/>
              <a:t>apresentam</a:t>
            </a:r>
            <a:r>
              <a:rPr lang="en-US" dirty="0"/>
              <a:t> </a:t>
            </a:r>
            <a:r>
              <a:rPr lang="en-US" dirty="0" err="1"/>
              <a:t>condições</a:t>
            </a:r>
            <a:r>
              <a:rPr lang="en-US" dirty="0"/>
              <a:t> </a:t>
            </a:r>
            <a:r>
              <a:rPr lang="en-US" dirty="0" err="1"/>
              <a:t>nas</a:t>
            </a:r>
            <a:r>
              <a:rPr lang="en-US" dirty="0"/>
              <a:t> quais </a:t>
            </a:r>
            <a:r>
              <a:rPr lang="en-US" dirty="0" err="1"/>
              <a:t>praticamente</a:t>
            </a:r>
            <a:r>
              <a:rPr lang="en-US" dirty="0"/>
              <a:t> </a:t>
            </a:r>
            <a:r>
              <a:rPr lang="en-US" dirty="0" err="1"/>
              <a:t>todos</a:t>
            </a:r>
            <a:r>
              <a:rPr lang="en-US" dirty="0"/>
              <a:t> </a:t>
            </a:r>
            <a:r>
              <a:rPr lang="en-US" dirty="0" err="1"/>
              <a:t>os</a:t>
            </a:r>
            <a:r>
              <a:rPr lang="en-US" dirty="0"/>
              <a:t> </a:t>
            </a:r>
            <a:r>
              <a:rPr lang="en-US" dirty="0" err="1"/>
              <a:t>pontos</a:t>
            </a:r>
            <a:r>
              <a:rPr lang="en-US" dirty="0"/>
              <a:t> </a:t>
            </a:r>
            <a:r>
              <a:rPr lang="en-US" dirty="0" err="1"/>
              <a:t>críticos</a:t>
            </a:r>
            <a:r>
              <a:rPr lang="en-US" dirty="0"/>
              <a:t> </a:t>
            </a:r>
            <a:r>
              <a:rPr lang="en-US" dirty="0" err="1"/>
              <a:t>relevantes</a:t>
            </a:r>
            <a:r>
              <a:rPr lang="en-US" dirty="0"/>
              <a:t> </a:t>
            </a:r>
            <a:r>
              <a:rPr lang="en-US" dirty="0" err="1"/>
              <a:t>são</a:t>
            </a:r>
            <a:r>
              <a:rPr lang="en-US" dirty="0"/>
              <a:t> </a:t>
            </a:r>
            <a:r>
              <a:rPr lang="en-US" dirty="0" err="1"/>
              <a:t>mínimos</a:t>
            </a:r>
            <a:r>
              <a:rPr lang="en-US" dirty="0"/>
              <a:t> </a:t>
            </a:r>
            <a:r>
              <a:rPr lang="en-US" dirty="0" err="1"/>
              <a:t>globais</a:t>
            </a:r>
            <a:r>
              <a:rPr lang="en-US" dirty="0"/>
              <a:t> com </a:t>
            </a:r>
            <a:r>
              <a:rPr lang="en-US" dirty="0" err="1"/>
              <a:t>erro</a:t>
            </a:r>
            <a:r>
              <a:rPr lang="en-US" dirty="0"/>
              <a:t> de </a:t>
            </a:r>
            <a:r>
              <a:rPr lang="en-US" dirty="0" err="1"/>
              <a:t>treinamento</a:t>
            </a:r>
            <a:r>
              <a:rPr lang="en-US" dirty="0"/>
              <a:t> zero.</a:t>
            </a:r>
          </a:p>
          <a:p>
            <a:endParaRPr lang="en-US" dirty="0"/>
          </a:p>
          <a:p>
            <a:r>
              <a:rPr lang="en-US" dirty="0" err="1"/>
              <a:t>Também</a:t>
            </a:r>
            <a:r>
              <a:rPr lang="en-US" dirty="0"/>
              <a:t> </a:t>
            </a:r>
            <a:r>
              <a:rPr lang="en-US" dirty="0" err="1"/>
              <a:t>existem</a:t>
            </a:r>
            <a:r>
              <a:rPr lang="en-US" dirty="0"/>
              <a:t> </a:t>
            </a:r>
            <a:r>
              <a:rPr lang="en-US" dirty="0" err="1"/>
              <a:t>resultados</a:t>
            </a:r>
            <a:r>
              <a:rPr lang="en-US" dirty="0"/>
              <a:t> </a:t>
            </a:r>
            <a:r>
              <a:rPr lang="en-US" dirty="0" err="1"/>
              <a:t>mostrando</a:t>
            </a:r>
            <a:r>
              <a:rPr lang="en-US" dirty="0"/>
              <a:t> </a:t>
            </a:r>
            <a:r>
              <a:rPr lang="en-US" dirty="0" err="1"/>
              <a:t>que</a:t>
            </a:r>
            <a:r>
              <a:rPr lang="en-US" dirty="0"/>
              <a:t>, sob </a:t>
            </a:r>
            <a:r>
              <a:rPr lang="en-US" dirty="0" err="1"/>
              <a:t>condições</a:t>
            </a:r>
            <a:r>
              <a:rPr lang="en-US" dirty="0"/>
              <a:t> </a:t>
            </a:r>
            <a:r>
              <a:rPr lang="en-US" dirty="0" err="1"/>
              <a:t>específicas</a:t>
            </a:r>
            <a:r>
              <a:rPr lang="en-US" dirty="0"/>
              <a:t> de </a:t>
            </a:r>
            <a:r>
              <a:rPr lang="en-US" dirty="0" err="1"/>
              <a:t>homogeneidade</a:t>
            </a:r>
            <a:r>
              <a:rPr lang="en-US" dirty="0"/>
              <a:t> </a:t>
            </a:r>
            <a:r>
              <a:rPr lang="en-US" dirty="0" err="1"/>
              <a:t>positiva</a:t>
            </a:r>
            <a:r>
              <a:rPr lang="en-US" dirty="0"/>
              <a:t> e </a:t>
            </a:r>
            <a:r>
              <a:rPr lang="en-US" dirty="0" err="1"/>
              <a:t>regularização</a:t>
            </a:r>
            <a:r>
              <a:rPr lang="en-US" dirty="0"/>
              <a:t>, </a:t>
            </a:r>
            <a:r>
              <a:rPr lang="en-US" dirty="0" err="1"/>
              <a:t>mínimos</a:t>
            </a:r>
            <a:r>
              <a:rPr lang="en-US" dirty="0"/>
              <a:t> </a:t>
            </a:r>
            <a:r>
              <a:rPr lang="en-US" dirty="0" err="1"/>
              <a:t>locais</a:t>
            </a:r>
            <a:r>
              <a:rPr lang="en-US" dirty="0"/>
              <a:t> </a:t>
            </a:r>
            <a:r>
              <a:rPr lang="en-US" dirty="0" err="1"/>
              <a:t>podem</a:t>
            </a:r>
            <a:r>
              <a:rPr lang="en-US" dirty="0"/>
              <a:t> ser </a:t>
            </a:r>
            <a:r>
              <a:rPr lang="en-US" dirty="0" err="1"/>
              <a:t>garantidamente</a:t>
            </a:r>
            <a:r>
              <a:rPr lang="en-US" dirty="0"/>
              <a:t> </a:t>
            </a:r>
            <a:r>
              <a:rPr lang="en-US" dirty="0" err="1"/>
              <a:t>globais</a:t>
            </a:r>
            <a:r>
              <a:rPr lang="en-US" dirty="0"/>
              <a:t>.</a:t>
            </a:r>
          </a:p>
          <a:p>
            <a:r>
              <a:rPr lang="en-US" sz="1200" b="1" i="1" kern="1200" dirty="0">
                <a:solidFill>
                  <a:schemeClr val="tx1"/>
                </a:solidFill>
                <a:effectLst/>
                <a:latin typeface="+mn-lt"/>
                <a:ea typeface="+mn-ea"/>
                <a:cs typeface="+mn-cs"/>
              </a:rPr>
              <a:t>Benjamin D. </a:t>
            </a:r>
            <a:r>
              <a:rPr lang="en-US" sz="1200" b="1" i="1" kern="1200" dirty="0" err="1">
                <a:solidFill>
                  <a:schemeClr val="tx1"/>
                </a:solidFill>
                <a:effectLst/>
                <a:latin typeface="+mn-lt"/>
                <a:ea typeface="+mn-ea"/>
                <a:cs typeface="+mn-cs"/>
              </a:rPr>
              <a:t>Haeffele</a:t>
            </a:r>
            <a:r>
              <a:rPr lang="en-US" sz="1200" b="1" i="1" kern="1200" dirty="0">
                <a:solidFill>
                  <a:schemeClr val="tx1"/>
                </a:solidFill>
                <a:effectLst/>
                <a:latin typeface="+mn-lt"/>
                <a:ea typeface="+mn-ea"/>
                <a:cs typeface="+mn-cs"/>
              </a:rPr>
              <a:t>, Rene Vidal</a:t>
            </a:r>
            <a:r>
              <a:rPr lang="en-US" sz="1200" b="0" i="0" kern="1200" dirty="0">
                <a:solidFill>
                  <a:schemeClr val="tx1"/>
                </a:solidFill>
                <a:effectLst/>
                <a:latin typeface="+mn-lt"/>
                <a:ea typeface="+mn-ea"/>
                <a:cs typeface="+mn-cs"/>
              </a:rPr>
              <a:t>; “Global Optimality in Neural Network Training”, Proceedings of the IEEE Conference on Computer Vision and Pattern Recognition (CVPR), 2017, pp. 7331-7339</a:t>
            </a:r>
          </a:p>
          <a:p>
            <a:endParaRPr lang="en-US" dirty="0"/>
          </a:p>
          <a:p>
            <a:endParaRPr lang="en-US" dirty="0"/>
          </a:p>
          <a:p>
            <a:r>
              <a:rPr lang="en-US" dirty="0" err="1"/>
              <a:t>Há</a:t>
            </a:r>
            <a:r>
              <a:rPr lang="en-US" dirty="0"/>
              <a:t> </a:t>
            </a:r>
            <a:r>
              <a:rPr lang="en-US" dirty="0" err="1"/>
              <a:t>vários</a:t>
            </a:r>
            <a:r>
              <a:rPr lang="en-US" dirty="0"/>
              <a:t> </a:t>
            </a:r>
            <a:r>
              <a:rPr lang="en-US" dirty="0" err="1"/>
              <a:t>trabalhos</a:t>
            </a:r>
            <a:r>
              <a:rPr lang="en-US" dirty="0"/>
              <a:t> </a:t>
            </a:r>
            <a:r>
              <a:rPr lang="en-US" dirty="0" err="1"/>
              <a:t>teóricos</a:t>
            </a:r>
            <a:r>
              <a:rPr lang="en-US" dirty="0"/>
              <a:t> posteriores </a:t>
            </a:r>
            <a:r>
              <a:rPr lang="en-US" dirty="0" err="1"/>
              <a:t>reforçando</a:t>
            </a:r>
            <a:r>
              <a:rPr lang="en-US" dirty="0"/>
              <a:t> </a:t>
            </a:r>
            <a:r>
              <a:rPr lang="en-US" dirty="0" err="1"/>
              <a:t>essa</a:t>
            </a:r>
            <a:r>
              <a:rPr lang="en-US" dirty="0"/>
              <a:t> </a:t>
            </a:r>
            <a:r>
              <a:rPr lang="en-US" dirty="0" err="1"/>
              <a:t>ideia</a:t>
            </a:r>
            <a:r>
              <a:rPr lang="en-US" dirty="0"/>
              <a:t>:</a:t>
            </a:r>
          </a:p>
          <a:p>
            <a:r>
              <a:rPr lang="en-US" b="1" dirty="0"/>
              <a:t>“Deep Learning without Poor Local Minima” – Kenji Kawaguchi (NIPS 2016)</a:t>
            </a:r>
            <a:br>
              <a:rPr lang="en-US" dirty="0"/>
            </a:br>
            <a:r>
              <a:rPr lang="en-US" dirty="0" err="1"/>
              <a:t>Mostra</a:t>
            </a:r>
            <a:r>
              <a:rPr lang="en-US" dirty="0"/>
              <a:t> </a:t>
            </a:r>
            <a:r>
              <a:rPr lang="en-US" dirty="0" err="1"/>
              <a:t>que</a:t>
            </a:r>
            <a:r>
              <a:rPr lang="en-US" dirty="0"/>
              <a:t> </a:t>
            </a:r>
            <a:r>
              <a:rPr lang="en-US" dirty="0" err="1"/>
              <a:t>em</a:t>
            </a:r>
            <a:r>
              <a:rPr lang="en-US" dirty="0"/>
              <a:t> </a:t>
            </a:r>
            <a:r>
              <a:rPr lang="en-US" dirty="0" err="1"/>
              <a:t>certos</a:t>
            </a:r>
            <a:r>
              <a:rPr lang="en-US" dirty="0"/>
              <a:t> </a:t>
            </a:r>
            <a:r>
              <a:rPr lang="en-US" dirty="0" err="1"/>
              <a:t>modelos</a:t>
            </a:r>
            <a:r>
              <a:rPr lang="en-US" dirty="0"/>
              <a:t> </a:t>
            </a:r>
            <a:r>
              <a:rPr lang="en-US" b="1" dirty="0" err="1"/>
              <a:t>todos</a:t>
            </a:r>
            <a:r>
              <a:rPr lang="en-US" b="1" dirty="0"/>
              <a:t> </a:t>
            </a:r>
            <a:r>
              <a:rPr lang="en-US" b="1" dirty="0" err="1"/>
              <a:t>os</a:t>
            </a:r>
            <a:r>
              <a:rPr lang="en-US" b="1" dirty="0"/>
              <a:t> </a:t>
            </a:r>
            <a:r>
              <a:rPr lang="en-US" b="1" dirty="0" err="1"/>
              <a:t>mínimos</a:t>
            </a:r>
            <a:r>
              <a:rPr lang="en-US" b="1" dirty="0"/>
              <a:t> </a:t>
            </a:r>
            <a:r>
              <a:rPr lang="en-US" b="1" dirty="0" err="1"/>
              <a:t>locais</a:t>
            </a:r>
            <a:r>
              <a:rPr lang="en-US" b="1" dirty="0"/>
              <a:t> </a:t>
            </a:r>
            <a:r>
              <a:rPr lang="en-US" b="1" dirty="0" err="1"/>
              <a:t>são</a:t>
            </a:r>
            <a:r>
              <a:rPr lang="en-US" b="1" dirty="0"/>
              <a:t> </a:t>
            </a:r>
            <a:r>
              <a:rPr lang="en-US" b="1" dirty="0" err="1"/>
              <a:t>globais</a:t>
            </a:r>
            <a:r>
              <a:rPr lang="en-US" dirty="0"/>
              <a:t>. </a:t>
            </a:r>
          </a:p>
          <a:p>
            <a:r>
              <a:rPr lang="en-US" b="1" dirty="0"/>
              <a:t>“Optimization Landscape and Expressivity of Deep CNNs” – Nguyen &amp; Hein (ICML 2018)</a:t>
            </a:r>
            <a:br>
              <a:rPr lang="en-US" dirty="0"/>
            </a:br>
            <a:r>
              <a:rPr lang="en-US" dirty="0" err="1"/>
              <a:t>Mostra</a:t>
            </a:r>
            <a:r>
              <a:rPr lang="en-US" dirty="0"/>
              <a:t> </a:t>
            </a:r>
            <a:r>
              <a:rPr lang="en-US" dirty="0" err="1"/>
              <a:t>que</a:t>
            </a:r>
            <a:r>
              <a:rPr lang="en-US" dirty="0"/>
              <a:t> redes </a:t>
            </a:r>
            <a:r>
              <a:rPr lang="en-US" dirty="0" err="1"/>
              <a:t>suficientemente</a:t>
            </a:r>
            <a:r>
              <a:rPr lang="en-US" dirty="0"/>
              <a:t> </a:t>
            </a:r>
            <a:r>
              <a:rPr lang="en-US" dirty="0" err="1"/>
              <a:t>largas</a:t>
            </a:r>
            <a:r>
              <a:rPr lang="en-US" dirty="0"/>
              <a:t> </a:t>
            </a:r>
            <a:r>
              <a:rPr lang="en-US" dirty="0" err="1"/>
              <a:t>têm</a:t>
            </a:r>
            <a:r>
              <a:rPr lang="en-US" dirty="0"/>
              <a:t> </a:t>
            </a:r>
            <a:r>
              <a:rPr lang="en-US" b="1" dirty="0" err="1"/>
              <a:t>quase</a:t>
            </a:r>
            <a:r>
              <a:rPr lang="en-US" b="1" dirty="0"/>
              <a:t> </a:t>
            </a:r>
            <a:r>
              <a:rPr lang="en-US" b="1" dirty="0" err="1"/>
              <a:t>nenhum</a:t>
            </a:r>
            <a:r>
              <a:rPr lang="en-US" b="1" dirty="0"/>
              <a:t> </a:t>
            </a:r>
            <a:r>
              <a:rPr lang="en-US" b="1" dirty="0" err="1"/>
              <a:t>mínimo</a:t>
            </a:r>
            <a:r>
              <a:rPr lang="en-US" b="1" dirty="0"/>
              <a:t> local </a:t>
            </a:r>
            <a:r>
              <a:rPr lang="en-US" b="1" dirty="0" err="1"/>
              <a:t>ruim</a:t>
            </a:r>
            <a:r>
              <a:rPr lang="en-US" dirty="0"/>
              <a:t>. </a:t>
            </a:r>
          </a:p>
          <a:p>
            <a:r>
              <a:rPr lang="en-US" b="1" dirty="0"/>
              <a:t>“Gradient Descent Finds Global Minima of Deep Neural Networks” – Du et al. (ICML 2019)</a:t>
            </a:r>
            <a:br>
              <a:rPr lang="en-US" dirty="0"/>
            </a:br>
            <a:r>
              <a:rPr lang="en-US" dirty="0" err="1"/>
              <a:t>Demonstra</a:t>
            </a:r>
            <a:r>
              <a:rPr lang="en-US" dirty="0"/>
              <a:t> </a:t>
            </a:r>
            <a:r>
              <a:rPr lang="en-US" dirty="0" err="1"/>
              <a:t>que</a:t>
            </a:r>
            <a:r>
              <a:rPr lang="en-US" dirty="0"/>
              <a:t> </a:t>
            </a:r>
            <a:r>
              <a:rPr lang="en-US" dirty="0" err="1"/>
              <a:t>gradiente</a:t>
            </a:r>
            <a:r>
              <a:rPr lang="en-US" dirty="0"/>
              <a:t> </a:t>
            </a:r>
            <a:r>
              <a:rPr lang="en-US" dirty="0" err="1"/>
              <a:t>descendente</a:t>
            </a:r>
            <a:r>
              <a:rPr lang="en-US" dirty="0"/>
              <a:t> </a:t>
            </a:r>
            <a:r>
              <a:rPr lang="en-US" dirty="0" err="1"/>
              <a:t>pode</a:t>
            </a:r>
            <a:r>
              <a:rPr lang="en-US" dirty="0"/>
              <a:t> </a:t>
            </a:r>
            <a:r>
              <a:rPr lang="en-US" dirty="0" err="1"/>
              <a:t>alcançar</a:t>
            </a:r>
            <a:r>
              <a:rPr lang="en-US" dirty="0"/>
              <a:t> </a:t>
            </a:r>
            <a:r>
              <a:rPr lang="en-US" b="1" dirty="0" err="1"/>
              <a:t>mínimo</a:t>
            </a:r>
            <a:r>
              <a:rPr lang="en-US" b="1" dirty="0"/>
              <a:t> global </a:t>
            </a:r>
            <a:r>
              <a:rPr lang="en-US" b="1" dirty="0" err="1"/>
              <a:t>em</a:t>
            </a:r>
            <a:r>
              <a:rPr lang="en-US" b="1" dirty="0"/>
              <a:t> redes </a:t>
            </a:r>
            <a:r>
              <a:rPr lang="en-US" b="1" dirty="0" err="1"/>
              <a:t>sobreparametrizadas</a:t>
            </a:r>
            <a:r>
              <a:rPr lang="en-US" dirty="0"/>
              <a:t>.</a:t>
            </a:r>
          </a:p>
          <a:p>
            <a:endParaRPr lang="pt-BR" dirty="0"/>
          </a:p>
          <a:p>
            <a:endParaRPr lang="pt-BR" dirty="0"/>
          </a:p>
          <a:p>
            <a:r>
              <a:rPr lang="pt-BR" dirty="0"/>
              <a:t>Referências:</a:t>
            </a:r>
          </a:p>
          <a:p>
            <a:r>
              <a:rPr lang="pt-BR" dirty="0"/>
              <a:t>[1] http://www.offconvex.org/2016/03/22/saddlepoints/</a:t>
            </a:r>
          </a:p>
          <a:p>
            <a:r>
              <a:rPr lang="pt-BR" dirty="0"/>
              <a:t>[2] https://stats.stackexchange.com/questions/278104/how-can-it-be-trapped-in-a-saddle-point</a:t>
            </a:r>
          </a:p>
          <a:p>
            <a:r>
              <a:rPr lang="pt-BR" dirty="0"/>
              <a:t>[3] https://machinelearningmastery.com/why-training-a-neural-network-is-hard/</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51</a:t>
            </a:fld>
            <a:endParaRPr lang="pt-BR"/>
          </a:p>
        </p:txBody>
      </p:sp>
    </p:spTree>
    <p:extLst>
      <p:ext uri="{BB962C8B-B14F-4D97-AF65-F5344CB8AC3E}">
        <p14:creationId xmlns:p14="http://schemas.microsoft.com/office/powerpoint/2010/main" val="39739107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en-US" b="1" dirty="0" err="1"/>
              <a:t>Não</a:t>
            </a:r>
            <a:r>
              <a:rPr lang="en-US" b="1" dirty="0"/>
              <a:t> </a:t>
            </a:r>
            <a:r>
              <a:rPr lang="en-US" b="1" dirty="0" err="1"/>
              <a:t>confundir</a:t>
            </a:r>
            <a:r>
              <a:rPr lang="en-US" b="1" dirty="0"/>
              <a:t> </a:t>
            </a:r>
            <a:r>
              <a:rPr lang="en-US" b="1" dirty="0" err="1"/>
              <a:t>estabilidade</a:t>
            </a:r>
            <a:r>
              <a:rPr lang="en-US" b="1" dirty="0"/>
              <a:t> com </a:t>
            </a:r>
            <a:r>
              <a:rPr lang="en-US" b="1" dirty="0" err="1"/>
              <a:t>optimalidade</a:t>
            </a:r>
            <a:r>
              <a:rPr lang="en-US" b="1" dirty="0"/>
              <a:t> global</a:t>
            </a:r>
            <a:endParaRPr lang="en-US" dirty="0"/>
          </a:p>
          <a:p>
            <a:pPr lvl="0"/>
            <a:r>
              <a:rPr lang="en-US" dirty="0" err="1"/>
              <a:t>Resultados</a:t>
            </a:r>
            <a:r>
              <a:rPr lang="en-US" dirty="0"/>
              <a:t> </a:t>
            </a:r>
            <a:r>
              <a:rPr lang="en-US" dirty="0" err="1"/>
              <a:t>semelhantes</a:t>
            </a:r>
            <a:r>
              <a:rPr lang="en-US" dirty="0"/>
              <a:t> </a:t>
            </a:r>
            <a:r>
              <a:rPr lang="en-US" dirty="0" err="1"/>
              <a:t>não</a:t>
            </a:r>
            <a:r>
              <a:rPr lang="en-US" dirty="0"/>
              <a:t> </a:t>
            </a:r>
            <a:r>
              <a:rPr lang="en-US" dirty="0" err="1"/>
              <a:t>provam</a:t>
            </a:r>
            <a:r>
              <a:rPr lang="en-US" dirty="0"/>
              <a:t> </a:t>
            </a:r>
            <a:r>
              <a:rPr lang="en-US" dirty="0" err="1"/>
              <a:t>que</a:t>
            </a:r>
            <a:r>
              <a:rPr lang="en-US" dirty="0"/>
              <a:t> o </a:t>
            </a:r>
            <a:r>
              <a:rPr lang="en-US" dirty="0" err="1"/>
              <a:t>mínimo</a:t>
            </a:r>
            <a:r>
              <a:rPr lang="en-US" dirty="0"/>
              <a:t> global </a:t>
            </a:r>
            <a:r>
              <a:rPr lang="en-US" dirty="0" err="1"/>
              <a:t>foi</a:t>
            </a:r>
            <a:r>
              <a:rPr lang="en-US" dirty="0"/>
              <a:t> </a:t>
            </a:r>
            <a:r>
              <a:rPr lang="en-US" dirty="0" err="1"/>
              <a:t>encontrado</a:t>
            </a:r>
            <a:r>
              <a:rPr lang="en-US" dirty="0"/>
              <a:t>.</a:t>
            </a:r>
          </a:p>
          <a:p>
            <a:pPr lvl="0"/>
            <a:r>
              <a:rPr lang="en-US" dirty="0"/>
              <a:t>A </a:t>
            </a:r>
            <a:r>
              <a:rPr lang="en-US" dirty="0" err="1"/>
              <a:t>solução</a:t>
            </a:r>
            <a:r>
              <a:rPr lang="en-US" dirty="0"/>
              <a:t> </a:t>
            </a:r>
            <a:r>
              <a:rPr lang="en-US" dirty="0" err="1"/>
              <a:t>obtida</a:t>
            </a:r>
            <a:r>
              <a:rPr lang="en-US" dirty="0"/>
              <a:t> é, </a:t>
            </a:r>
            <a:r>
              <a:rPr lang="en-US" dirty="0" err="1"/>
              <a:t>inicialmente</a:t>
            </a:r>
            <a:r>
              <a:rPr lang="en-US" dirty="0"/>
              <a:t>, </a:t>
            </a:r>
            <a:r>
              <a:rPr lang="en-US" dirty="0" err="1"/>
              <a:t>apenas</a:t>
            </a:r>
            <a:r>
              <a:rPr lang="en-US" dirty="0"/>
              <a:t> a </a:t>
            </a:r>
            <a:r>
              <a:rPr lang="en-US" b="1" dirty="0" err="1"/>
              <a:t>melhor</a:t>
            </a:r>
            <a:r>
              <a:rPr lang="en-US" b="1" dirty="0"/>
              <a:t> </a:t>
            </a:r>
            <a:r>
              <a:rPr lang="en-US" b="1" dirty="0" err="1"/>
              <a:t>solução</a:t>
            </a:r>
            <a:r>
              <a:rPr lang="en-US" b="1" dirty="0"/>
              <a:t> </a:t>
            </a:r>
            <a:r>
              <a:rPr lang="en-US" b="1" dirty="0" err="1"/>
              <a:t>encontrada</a:t>
            </a:r>
            <a:r>
              <a:rPr lang="en-US" b="1" dirty="0"/>
              <a:t> </a:t>
            </a:r>
            <a:r>
              <a:rPr lang="en-US" b="1" dirty="0" err="1"/>
              <a:t>pelo</a:t>
            </a:r>
            <a:r>
              <a:rPr lang="en-US" b="1" dirty="0"/>
              <a:t> </a:t>
            </a:r>
            <a:r>
              <a:rPr lang="en-US" b="1" dirty="0" err="1"/>
              <a:t>procedimento</a:t>
            </a:r>
            <a:r>
              <a:rPr lang="en-US" b="1" dirty="0"/>
              <a:t> de </a:t>
            </a:r>
            <a:r>
              <a:rPr lang="en-US" b="1" dirty="0" err="1"/>
              <a:t>treinamento</a:t>
            </a:r>
            <a:r>
              <a:rPr lang="en-US" dirty="0"/>
              <a:t>.“</a:t>
            </a:r>
          </a:p>
          <a:p>
            <a:pPr lvl="0"/>
            <a:endParaRPr lang="en-US" dirty="0"/>
          </a:p>
          <a:p>
            <a:r>
              <a:rPr lang="en-US" b="1" dirty="0" err="1"/>
              <a:t>Variabilidade</a:t>
            </a:r>
            <a:r>
              <a:rPr lang="en-US" b="1" dirty="0"/>
              <a:t> entre </a:t>
            </a:r>
            <a:r>
              <a:rPr lang="en-US" b="1" dirty="0" err="1"/>
              <a:t>treinamentos</a:t>
            </a:r>
            <a:r>
              <a:rPr lang="en-US" b="1" dirty="0"/>
              <a:t> </a:t>
            </a:r>
            <a:r>
              <a:rPr lang="en-US" dirty="0" err="1"/>
              <a:t>pode</a:t>
            </a:r>
            <a:r>
              <a:rPr lang="en-US" dirty="0"/>
              <a:t> </a:t>
            </a:r>
            <a:r>
              <a:rPr lang="en-US" dirty="0" err="1"/>
              <a:t>indicar</a:t>
            </a:r>
            <a:r>
              <a:rPr lang="en-US" dirty="0"/>
              <a:t>:</a:t>
            </a:r>
          </a:p>
          <a:p>
            <a:pPr marL="171450" lvl="0" indent="-171450">
              <a:buFont typeface="Arial" panose="020B0604020202020204" pitchFamily="34" charset="0"/>
              <a:buChar char="•"/>
            </a:pPr>
            <a:r>
              <a:rPr lang="en-US" dirty="0" err="1"/>
              <a:t>diferentes</a:t>
            </a:r>
            <a:r>
              <a:rPr lang="en-US" dirty="0"/>
              <a:t> </a:t>
            </a:r>
            <a:r>
              <a:rPr lang="en-US" dirty="0" err="1"/>
              <a:t>bacias</a:t>
            </a:r>
            <a:r>
              <a:rPr lang="en-US" dirty="0"/>
              <a:t>/</a:t>
            </a:r>
            <a:r>
              <a:rPr lang="en-US" dirty="0" err="1"/>
              <a:t>regiões</a:t>
            </a:r>
            <a:r>
              <a:rPr lang="en-US" dirty="0"/>
              <a:t> de </a:t>
            </a:r>
            <a:r>
              <a:rPr lang="en-US" dirty="0" err="1"/>
              <a:t>atração</a:t>
            </a:r>
            <a:r>
              <a:rPr lang="en-US" dirty="0"/>
              <a:t>; </a:t>
            </a:r>
          </a:p>
          <a:p>
            <a:pPr marL="171450" lvl="0" indent="-171450">
              <a:buFont typeface="Arial" panose="020B0604020202020204" pitchFamily="34" charset="0"/>
              <a:buChar char="•"/>
            </a:pPr>
            <a:r>
              <a:rPr lang="en-US" dirty="0" err="1"/>
              <a:t>instabilidade</a:t>
            </a:r>
            <a:r>
              <a:rPr lang="en-US" dirty="0"/>
              <a:t> da </a:t>
            </a:r>
            <a:r>
              <a:rPr lang="en-US" dirty="0" err="1"/>
              <a:t>otimização</a:t>
            </a:r>
            <a:r>
              <a:rPr lang="en-US" dirty="0"/>
              <a:t>; </a:t>
            </a:r>
          </a:p>
          <a:p>
            <a:pPr marL="171450" lvl="0" indent="-171450">
              <a:buFont typeface="Arial" panose="020B0604020202020204" pitchFamily="34" charset="0"/>
              <a:buChar char="•"/>
            </a:pPr>
            <a:r>
              <a:rPr lang="en-US" dirty="0" err="1"/>
              <a:t>sensibilidade</a:t>
            </a:r>
            <a:r>
              <a:rPr lang="en-US" dirty="0"/>
              <a:t> à </a:t>
            </a:r>
            <a:r>
              <a:rPr lang="en-US" dirty="0" err="1"/>
              <a:t>inicialização</a:t>
            </a:r>
            <a:r>
              <a:rPr lang="en-US" dirty="0"/>
              <a:t>; </a:t>
            </a:r>
          </a:p>
          <a:p>
            <a:pPr marL="171450" lvl="0" indent="-171450">
              <a:buFont typeface="Arial" panose="020B0604020202020204" pitchFamily="34" charset="0"/>
              <a:buChar char="•"/>
            </a:pPr>
            <a:r>
              <a:rPr lang="en-US" dirty="0"/>
              <a:t>learning rate </a:t>
            </a:r>
            <a:r>
              <a:rPr lang="en-US" dirty="0" err="1"/>
              <a:t>inadequado</a:t>
            </a:r>
            <a:r>
              <a:rPr lang="en-US" dirty="0"/>
              <a:t>; </a:t>
            </a:r>
          </a:p>
          <a:p>
            <a:pPr marL="171450" lvl="0" indent="-171450">
              <a:buFont typeface="Arial" panose="020B0604020202020204" pitchFamily="34" charset="0"/>
              <a:buChar char="•"/>
            </a:pPr>
            <a:r>
              <a:rPr lang="en-US" dirty="0" err="1"/>
              <a:t>treinamento</a:t>
            </a:r>
            <a:r>
              <a:rPr lang="en-US" dirty="0"/>
              <a:t> </a:t>
            </a:r>
            <a:r>
              <a:rPr lang="en-US" dirty="0" err="1"/>
              <a:t>insuficiente</a:t>
            </a:r>
            <a:r>
              <a:rPr lang="en-US" dirty="0"/>
              <a:t>; </a:t>
            </a:r>
          </a:p>
          <a:p>
            <a:pPr marL="171450" lvl="0" indent="-171450">
              <a:buFont typeface="Arial" panose="020B0604020202020204" pitchFamily="34" charset="0"/>
              <a:buChar char="•"/>
            </a:pPr>
            <a:r>
              <a:rPr lang="en-US" dirty="0" err="1"/>
              <a:t>existência</a:t>
            </a:r>
            <a:r>
              <a:rPr lang="en-US" dirty="0"/>
              <a:t> de </a:t>
            </a:r>
            <a:r>
              <a:rPr lang="en-US" dirty="0" err="1"/>
              <a:t>diferentes</a:t>
            </a:r>
            <a:r>
              <a:rPr lang="en-US" dirty="0"/>
              <a:t> </a:t>
            </a:r>
            <a:r>
              <a:rPr lang="en-US" dirty="0" err="1"/>
              <a:t>soluções</a:t>
            </a:r>
            <a:r>
              <a:rPr lang="en-US" dirty="0"/>
              <a:t> com </a:t>
            </a:r>
            <a:r>
              <a:rPr lang="en-US" dirty="0" err="1"/>
              <a:t>perdas</a:t>
            </a:r>
            <a:r>
              <a:rPr lang="en-US" dirty="0"/>
              <a:t> </a:t>
            </a:r>
            <a:r>
              <a:rPr lang="en-US" dirty="0" err="1"/>
              <a:t>distintas</a:t>
            </a:r>
            <a:r>
              <a:rPr lang="en-US" dirty="0"/>
              <a:t>; </a:t>
            </a:r>
          </a:p>
          <a:p>
            <a:pPr marL="171450" lvl="0" indent="-171450">
              <a:buFont typeface="Arial" panose="020B0604020202020204" pitchFamily="34" charset="0"/>
              <a:buChar char="•"/>
            </a:pPr>
            <a:r>
              <a:rPr lang="en-US" dirty="0" err="1"/>
              <a:t>ou</a:t>
            </a:r>
            <a:r>
              <a:rPr lang="en-US" dirty="0"/>
              <a:t>, </a:t>
            </a:r>
            <a:r>
              <a:rPr lang="en-US" dirty="0" err="1"/>
              <a:t>em</a:t>
            </a:r>
            <a:r>
              <a:rPr lang="en-US" dirty="0"/>
              <a:t> </a:t>
            </a:r>
            <a:r>
              <a:rPr lang="en-US" dirty="0" err="1"/>
              <a:t>alguns</a:t>
            </a:r>
            <a:r>
              <a:rPr lang="en-US" dirty="0"/>
              <a:t> </a:t>
            </a:r>
            <a:r>
              <a:rPr lang="en-US" dirty="0" err="1"/>
              <a:t>casos</a:t>
            </a:r>
            <a:r>
              <a:rPr lang="en-US" dirty="0"/>
              <a:t>, </a:t>
            </a:r>
            <a:r>
              <a:rPr lang="en-US" dirty="0" err="1"/>
              <a:t>diferenças</a:t>
            </a:r>
            <a:r>
              <a:rPr lang="en-US" dirty="0"/>
              <a:t> de </a:t>
            </a:r>
            <a:r>
              <a:rPr lang="en-US" dirty="0" err="1"/>
              <a:t>generalização</a:t>
            </a:r>
            <a:r>
              <a:rPr lang="en-US" dirty="0"/>
              <a:t>.</a:t>
            </a:r>
          </a:p>
          <a:p>
            <a:pPr lvl="0"/>
            <a:endParaRPr lang="en-US" dirty="0"/>
          </a:p>
          <a:p>
            <a:endParaRPr lang="en-US" dirty="0">
              <a:cs typeface="Calibri"/>
            </a:endParaRP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53</a:t>
            </a:fld>
            <a:endParaRPr lang="pt-BR"/>
          </a:p>
        </p:txBody>
      </p:sp>
    </p:spTree>
    <p:extLst>
      <p:ext uri="{BB962C8B-B14F-4D97-AF65-F5344CB8AC3E}">
        <p14:creationId xmlns:p14="http://schemas.microsoft.com/office/powerpoint/2010/main" val="35181840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en-US" b="1" dirty="0" err="1"/>
              <a:t>Não</a:t>
            </a:r>
            <a:r>
              <a:rPr lang="en-US" b="1" dirty="0"/>
              <a:t> </a:t>
            </a:r>
            <a:r>
              <a:rPr lang="en-US" b="1" dirty="0" err="1"/>
              <a:t>confundir</a:t>
            </a:r>
            <a:r>
              <a:rPr lang="en-US" b="1" dirty="0"/>
              <a:t> </a:t>
            </a:r>
            <a:r>
              <a:rPr lang="en-US" b="1" dirty="0" err="1"/>
              <a:t>estabilidade</a:t>
            </a:r>
            <a:r>
              <a:rPr lang="en-US" b="1" dirty="0"/>
              <a:t> com </a:t>
            </a:r>
            <a:r>
              <a:rPr lang="en-US" b="1" dirty="0" err="1"/>
              <a:t>optimalidade</a:t>
            </a:r>
            <a:r>
              <a:rPr lang="en-US" b="1" dirty="0"/>
              <a:t> global</a:t>
            </a:r>
            <a:endParaRPr lang="en-US" dirty="0"/>
          </a:p>
          <a:p>
            <a:pPr lvl="0"/>
            <a:r>
              <a:rPr lang="en-US" dirty="0" err="1"/>
              <a:t>Resultados</a:t>
            </a:r>
            <a:r>
              <a:rPr lang="en-US" dirty="0"/>
              <a:t> </a:t>
            </a:r>
            <a:r>
              <a:rPr lang="en-US" dirty="0" err="1"/>
              <a:t>semelhantes</a:t>
            </a:r>
            <a:r>
              <a:rPr lang="en-US" dirty="0"/>
              <a:t> </a:t>
            </a:r>
            <a:r>
              <a:rPr lang="en-US" dirty="0" err="1"/>
              <a:t>não</a:t>
            </a:r>
            <a:r>
              <a:rPr lang="en-US" dirty="0"/>
              <a:t> </a:t>
            </a:r>
            <a:r>
              <a:rPr lang="en-US" dirty="0" err="1"/>
              <a:t>provam</a:t>
            </a:r>
            <a:r>
              <a:rPr lang="en-US" dirty="0"/>
              <a:t> </a:t>
            </a:r>
            <a:r>
              <a:rPr lang="en-US" dirty="0" err="1"/>
              <a:t>que</a:t>
            </a:r>
            <a:r>
              <a:rPr lang="en-US" dirty="0"/>
              <a:t> o </a:t>
            </a:r>
            <a:r>
              <a:rPr lang="en-US" dirty="0" err="1"/>
              <a:t>mínimo</a:t>
            </a:r>
            <a:r>
              <a:rPr lang="en-US" dirty="0"/>
              <a:t> global </a:t>
            </a:r>
            <a:r>
              <a:rPr lang="en-US" dirty="0" err="1"/>
              <a:t>foi</a:t>
            </a:r>
            <a:r>
              <a:rPr lang="en-US" dirty="0"/>
              <a:t> </a:t>
            </a:r>
            <a:r>
              <a:rPr lang="en-US" dirty="0" err="1"/>
              <a:t>encontrado</a:t>
            </a:r>
            <a:r>
              <a:rPr lang="en-US" dirty="0"/>
              <a:t>.</a:t>
            </a:r>
          </a:p>
          <a:p>
            <a:pPr lvl="0"/>
            <a:r>
              <a:rPr lang="en-US" dirty="0"/>
              <a:t>A </a:t>
            </a:r>
            <a:r>
              <a:rPr lang="en-US" dirty="0" err="1"/>
              <a:t>solução</a:t>
            </a:r>
            <a:r>
              <a:rPr lang="en-US" dirty="0"/>
              <a:t> </a:t>
            </a:r>
            <a:r>
              <a:rPr lang="en-US" dirty="0" err="1"/>
              <a:t>obtida</a:t>
            </a:r>
            <a:r>
              <a:rPr lang="en-US" dirty="0"/>
              <a:t> é, </a:t>
            </a:r>
            <a:r>
              <a:rPr lang="en-US" dirty="0" err="1"/>
              <a:t>inicialmente</a:t>
            </a:r>
            <a:r>
              <a:rPr lang="en-US" dirty="0"/>
              <a:t>, </a:t>
            </a:r>
            <a:r>
              <a:rPr lang="en-US" dirty="0" err="1"/>
              <a:t>apenas</a:t>
            </a:r>
            <a:r>
              <a:rPr lang="en-US" dirty="0"/>
              <a:t> a </a:t>
            </a:r>
            <a:r>
              <a:rPr lang="en-US" b="1" dirty="0" err="1"/>
              <a:t>melhor</a:t>
            </a:r>
            <a:r>
              <a:rPr lang="en-US" b="1" dirty="0"/>
              <a:t> </a:t>
            </a:r>
            <a:r>
              <a:rPr lang="en-US" b="1" dirty="0" err="1"/>
              <a:t>solução</a:t>
            </a:r>
            <a:r>
              <a:rPr lang="en-US" b="1" dirty="0"/>
              <a:t> </a:t>
            </a:r>
            <a:r>
              <a:rPr lang="en-US" b="1" dirty="0" err="1"/>
              <a:t>encontrada</a:t>
            </a:r>
            <a:r>
              <a:rPr lang="en-US" b="1" dirty="0"/>
              <a:t> </a:t>
            </a:r>
            <a:r>
              <a:rPr lang="en-US" b="1" dirty="0" err="1"/>
              <a:t>pelo</a:t>
            </a:r>
            <a:r>
              <a:rPr lang="en-US" b="1" dirty="0"/>
              <a:t> </a:t>
            </a:r>
            <a:r>
              <a:rPr lang="en-US" b="1" dirty="0" err="1"/>
              <a:t>procedimento</a:t>
            </a:r>
            <a:r>
              <a:rPr lang="en-US" b="1" dirty="0"/>
              <a:t> de </a:t>
            </a:r>
            <a:r>
              <a:rPr lang="en-US" b="1" dirty="0" err="1"/>
              <a:t>treinamento</a:t>
            </a:r>
            <a:r>
              <a:rPr lang="en-US" dirty="0"/>
              <a:t>.“</a:t>
            </a:r>
          </a:p>
          <a:p>
            <a:pPr lvl="0"/>
            <a:endParaRPr lang="en-US" dirty="0"/>
          </a:p>
          <a:p>
            <a:r>
              <a:rPr lang="en-US" b="1" dirty="0" err="1"/>
              <a:t>Variabilidade</a:t>
            </a:r>
            <a:r>
              <a:rPr lang="en-US" b="1" dirty="0"/>
              <a:t> entre </a:t>
            </a:r>
            <a:r>
              <a:rPr lang="en-US" b="1" dirty="0" err="1"/>
              <a:t>treinamentos</a:t>
            </a:r>
            <a:r>
              <a:rPr lang="en-US" b="1" dirty="0"/>
              <a:t> </a:t>
            </a:r>
            <a:r>
              <a:rPr lang="en-US" dirty="0" err="1"/>
              <a:t>pode</a:t>
            </a:r>
            <a:r>
              <a:rPr lang="en-US" dirty="0"/>
              <a:t> </a:t>
            </a:r>
            <a:r>
              <a:rPr lang="en-US" dirty="0" err="1"/>
              <a:t>indicar</a:t>
            </a:r>
            <a:r>
              <a:rPr lang="en-US" dirty="0"/>
              <a:t>:</a:t>
            </a:r>
          </a:p>
          <a:p>
            <a:pPr marL="171450" lvl="0" indent="-171450">
              <a:buFont typeface="Arial" panose="020B0604020202020204" pitchFamily="34" charset="0"/>
              <a:buChar char="•"/>
            </a:pPr>
            <a:r>
              <a:rPr lang="en-US" dirty="0" err="1"/>
              <a:t>diferentes</a:t>
            </a:r>
            <a:r>
              <a:rPr lang="en-US" dirty="0"/>
              <a:t> </a:t>
            </a:r>
            <a:r>
              <a:rPr lang="en-US" dirty="0" err="1"/>
              <a:t>bacias</a:t>
            </a:r>
            <a:r>
              <a:rPr lang="en-US" dirty="0"/>
              <a:t>/</a:t>
            </a:r>
            <a:r>
              <a:rPr lang="en-US" dirty="0" err="1"/>
              <a:t>regiões</a:t>
            </a:r>
            <a:r>
              <a:rPr lang="en-US" dirty="0"/>
              <a:t> de </a:t>
            </a:r>
            <a:r>
              <a:rPr lang="en-US" dirty="0" err="1"/>
              <a:t>atração</a:t>
            </a:r>
            <a:r>
              <a:rPr lang="en-US" dirty="0"/>
              <a:t>; </a:t>
            </a:r>
          </a:p>
          <a:p>
            <a:pPr marL="171450" lvl="0" indent="-171450">
              <a:buFont typeface="Arial" panose="020B0604020202020204" pitchFamily="34" charset="0"/>
              <a:buChar char="•"/>
            </a:pPr>
            <a:r>
              <a:rPr lang="en-US" dirty="0" err="1"/>
              <a:t>instabilidade</a:t>
            </a:r>
            <a:r>
              <a:rPr lang="en-US" dirty="0"/>
              <a:t> da </a:t>
            </a:r>
            <a:r>
              <a:rPr lang="en-US" dirty="0" err="1"/>
              <a:t>otimização</a:t>
            </a:r>
            <a:r>
              <a:rPr lang="en-US" dirty="0"/>
              <a:t>; </a:t>
            </a:r>
          </a:p>
          <a:p>
            <a:pPr marL="171450" lvl="0" indent="-171450">
              <a:buFont typeface="Arial" panose="020B0604020202020204" pitchFamily="34" charset="0"/>
              <a:buChar char="•"/>
            </a:pPr>
            <a:r>
              <a:rPr lang="en-US" dirty="0" err="1"/>
              <a:t>sensibilidade</a:t>
            </a:r>
            <a:r>
              <a:rPr lang="en-US" dirty="0"/>
              <a:t> à </a:t>
            </a:r>
            <a:r>
              <a:rPr lang="en-US" dirty="0" err="1"/>
              <a:t>inicialização</a:t>
            </a:r>
            <a:r>
              <a:rPr lang="en-US" dirty="0"/>
              <a:t>; </a:t>
            </a:r>
          </a:p>
          <a:p>
            <a:pPr marL="171450" lvl="0" indent="-171450">
              <a:buFont typeface="Arial" panose="020B0604020202020204" pitchFamily="34" charset="0"/>
              <a:buChar char="•"/>
            </a:pPr>
            <a:r>
              <a:rPr lang="en-US" dirty="0"/>
              <a:t>learning rate </a:t>
            </a:r>
            <a:r>
              <a:rPr lang="en-US" dirty="0" err="1"/>
              <a:t>inadequado</a:t>
            </a:r>
            <a:r>
              <a:rPr lang="en-US" dirty="0"/>
              <a:t>; </a:t>
            </a:r>
          </a:p>
          <a:p>
            <a:pPr marL="171450" lvl="0" indent="-171450">
              <a:buFont typeface="Arial" panose="020B0604020202020204" pitchFamily="34" charset="0"/>
              <a:buChar char="•"/>
            </a:pPr>
            <a:r>
              <a:rPr lang="en-US" dirty="0" err="1"/>
              <a:t>treinamento</a:t>
            </a:r>
            <a:r>
              <a:rPr lang="en-US" dirty="0"/>
              <a:t> </a:t>
            </a:r>
            <a:r>
              <a:rPr lang="en-US" dirty="0" err="1"/>
              <a:t>insuficiente</a:t>
            </a:r>
            <a:r>
              <a:rPr lang="en-US" dirty="0"/>
              <a:t>; </a:t>
            </a:r>
          </a:p>
          <a:p>
            <a:pPr marL="171450" lvl="0" indent="-171450">
              <a:buFont typeface="Arial" panose="020B0604020202020204" pitchFamily="34" charset="0"/>
              <a:buChar char="•"/>
            </a:pPr>
            <a:r>
              <a:rPr lang="en-US" dirty="0" err="1"/>
              <a:t>existência</a:t>
            </a:r>
            <a:r>
              <a:rPr lang="en-US" dirty="0"/>
              <a:t> de </a:t>
            </a:r>
            <a:r>
              <a:rPr lang="en-US" dirty="0" err="1"/>
              <a:t>diferentes</a:t>
            </a:r>
            <a:r>
              <a:rPr lang="en-US" dirty="0"/>
              <a:t> </a:t>
            </a:r>
            <a:r>
              <a:rPr lang="en-US" dirty="0" err="1"/>
              <a:t>soluções</a:t>
            </a:r>
            <a:r>
              <a:rPr lang="en-US" dirty="0"/>
              <a:t> com </a:t>
            </a:r>
            <a:r>
              <a:rPr lang="en-US" dirty="0" err="1"/>
              <a:t>perdas</a:t>
            </a:r>
            <a:r>
              <a:rPr lang="en-US" dirty="0"/>
              <a:t> </a:t>
            </a:r>
            <a:r>
              <a:rPr lang="en-US" dirty="0" err="1"/>
              <a:t>distintas</a:t>
            </a:r>
            <a:r>
              <a:rPr lang="en-US" dirty="0"/>
              <a:t>; </a:t>
            </a:r>
          </a:p>
          <a:p>
            <a:pPr marL="171450" lvl="0" indent="-171450">
              <a:buFont typeface="Arial" panose="020B0604020202020204" pitchFamily="34" charset="0"/>
              <a:buChar char="•"/>
            </a:pPr>
            <a:r>
              <a:rPr lang="en-US" dirty="0" err="1"/>
              <a:t>ou</a:t>
            </a:r>
            <a:r>
              <a:rPr lang="en-US" dirty="0"/>
              <a:t>, </a:t>
            </a:r>
            <a:r>
              <a:rPr lang="en-US" dirty="0" err="1"/>
              <a:t>em</a:t>
            </a:r>
            <a:r>
              <a:rPr lang="en-US" dirty="0"/>
              <a:t> </a:t>
            </a:r>
            <a:r>
              <a:rPr lang="en-US" dirty="0" err="1"/>
              <a:t>alguns</a:t>
            </a:r>
            <a:r>
              <a:rPr lang="en-US" dirty="0"/>
              <a:t> </a:t>
            </a:r>
            <a:r>
              <a:rPr lang="en-US" dirty="0" err="1"/>
              <a:t>casos</a:t>
            </a:r>
            <a:r>
              <a:rPr lang="en-US" dirty="0"/>
              <a:t>, </a:t>
            </a:r>
            <a:r>
              <a:rPr lang="en-US" dirty="0" err="1"/>
              <a:t>diferenças</a:t>
            </a:r>
            <a:r>
              <a:rPr lang="en-US" dirty="0"/>
              <a:t> de </a:t>
            </a:r>
            <a:r>
              <a:rPr lang="en-US" dirty="0" err="1"/>
              <a:t>generalização</a:t>
            </a:r>
            <a:r>
              <a:rPr lang="en-US" dirty="0"/>
              <a:t>.</a:t>
            </a:r>
          </a:p>
          <a:p>
            <a:pPr lvl="0"/>
            <a:endParaRPr lang="en-US" dirty="0"/>
          </a:p>
          <a:p>
            <a:endParaRPr lang="en-US" dirty="0">
              <a:cs typeface="Calibri"/>
            </a:endParaRP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54</a:t>
            </a:fld>
            <a:endParaRPr lang="pt-BR"/>
          </a:p>
        </p:txBody>
      </p:sp>
    </p:spTree>
    <p:extLst>
      <p:ext uri="{BB962C8B-B14F-4D97-AF65-F5344CB8AC3E}">
        <p14:creationId xmlns:p14="http://schemas.microsoft.com/office/powerpoint/2010/main" val="5167691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https://colab.research.google.com/github/zz4fap/c24_inteligencia_artificial/blob/master/notebooks/mlp.ipynb</a:t>
            </a:r>
          </a:p>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55</a:t>
            </a:fld>
            <a:endParaRPr lang="pt-BR"/>
          </a:p>
        </p:txBody>
      </p:sp>
    </p:spTree>
    <p:extLst>
      <p:ext uri="{BB962C8B-B14F-4D97-AF65-F5344CB8AC3E}">
        <p14:creationId xmlns:p14="http://schemas.microsoft.com/office/powerpoint/2010/main" val="22121306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56</a:t>
            </a:fld>
            <a:endParaRPr lang="pt-BR"/>
          </a:p>
        </p:txBody>
      </p:sp>
    </p:spTree>
    <p:extLst>
      <p:ext uri="{BB962C8B-B14F-4D97-AF65-F5344CB8AC3E}">
        <p14:creationId xmlns:p14="http://schemas.microsoft.com/office/powerpoint/2010/main" val="30635587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Existem vários</a:t>
            </a:r>
            <a:r>
              <a:rPr lang="pt-BR" baseline="0" dirty="0"/>
              <a:t> outros tipos de funções de ativação, cada uma com suas vantagens e desvantagens.</a:t>
            </a:r>
          </a:p>
          <a:p>
            <a:r>
              <a:rPr lang="pt-BR" baseline="0" dirty="0"/>
              <a:t>O link abaixo contem uma lista com vários tipos de funções de ativação.</a:t>
            </a:r>
          </a:p>
          <a:p>
            <a:r>
              <a:rPr lang="pt-BR" dirty="0">
                <a:hlinkClick r:id="rId3"/>
              </a:rPr>
              <a:t>https://en.wikipedia.org/wiki/Activation_function#Comparison_of_activation_functions</a:t>
            </a:r>
            <a:endParaRPr lang="pt-BR" dirty="0"/>
          </a:p>
          <a:p>
            <a:endParaRPr lang="pt-BR" dirty="0"/>
          </a:p>
          <a:p>
            <a:r>
              <a:rPr lang="pt-BR" dirty="0"/>
              <a:t>Referências</a:t>
            </a:r>
          </a:p>
          <a:p>
            <a:r>
              <a:rPr lang="pt-BR" dirty="0"/>
              <a:t>[1] https://en.wikipedia.org/wiki/Activation_function</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67</a:t>
            </a:fld>
            <a:endParaRPr lang="pt-BR"/>
          </a:p>
        </p:txBody>
      </p:sp>
    </p:spTree>
    <p:extLst>
      <p:ext uri="{BB962C8B-B14F-4D97-AF65-F5344CB8AC3E}">
        <p14:creationId xmlns:p14="http://schemas.microsoft.com/office/powerpoint/2010/main" val="23588512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lgn="l"/>
            <a:br>
              <a:rPr lang="pt-BR" b="0" i="0" dirty="0">
                <a:solidFill>
                  <a:srgbClr val="374151"/>
                </a:solidFill>
                <a:effectLst/>
                <a:latin typeface="Söhne"/>
              </a:rPr>
            </a:br>
            <a:r>
              <a:rPr lang="pt-BR" b="0" i="0" dirty="0">
                <a:solidFill>
                  <a:srgbClr val="374151"/>
                </a:solidFill>
                <a:effectLst/>
                <a:latin typeface="Söhne"/>
              </a:rPr>
              <a:t>O problema da "</a:t>
            </a:r>
            <a:r>
              <a:rPr lang="pt-BR" b="0" i="0" dirty="0" err="1">
                <a:solidFill>
                  <a:srgbClr val="374151"/>
                </a:solidFill>
                <a:effectLst/>
                <a:latin typeface="Söhne"/>
              </a:rPr>
              <a:t>ReLU</a:t>
            </a:r>
            <a:r>
              <a:rPr lang="pt-BR" b="0" i="0" dirty="0">
                <a:solidFill>
                  <a:srgbClr val="374151"/>
                </a:solidFill>
                <a:effectLst/>
                <a:latin typeface="Söhne"/>
              </a:rPr>
              <a:t> agonizante", conhecido como "</a:t>
            </a:r>
            <a:r>
              <a:rPr lang="pt-BR" b="0" i="0" dirty="0" err="1">
                <a:solidFill>
                  <a:srgbClr val="374151"/>
                </a:solidFill>
                <a:effectLst/>
                <a:latin typeface="Söhne"/>
              </a:rPr>
              <a:t>dying</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problem</a:t>
            </a:r>
            <a:r>
              <a:rPr lang="pt-BR" b="0" i="0" dirty="0">
                <a:solidFill>
                  <a:srgbClr val="374151"/>
                </a:solidFill>
                <a:effectLst/>
                <a:latin typeface="Söhne"/>
              </a:rPr>
              <a:t>" em inglês, é uma desvantagem associada à função de ativação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Rectified</a:t>
            </a:r>
            <a:r>
              <a:rPr lang="pt-BR" b="0" i="0" dirty="0">
                <a:solidFill>
                  <a:srgbClr val="374151"/>
                </a:solidFill>
                <a:effectLst/>
                <a:latin typeface="Söhne"/>
              </a:rPr>
              <a:t> Linear </a:t>
            </a:r>
            <a:r>
              <a:rPr lang="pt-BR" b="0" i="0" dirty="0" err="1">
                <a:solidFill>
                  <a:srgbClr val="374151"/>
                </a:solidFill>
                <a:effectLst/>
                <a:latin typeface="Söhne"/>
              </a:rPr>
              <a:t>Activation</a:t>
            </a:r>
            <a:r>
              <a:rPr lang="pt-BR" b="0" i="0" dirty="0">
                <a:solidFill>
                  <a:srgbClr val="374151"/>
                </a:solidFill>
                <a:effectLst/>
                <a:latin typeface="Söhne"/>
              </a:rPr>
              <a:t>) em redes neurais. Esse problema ocorre quando um grande número de neurônios em uma rede neural ativam para zero durante o treinamento e não conseguem atualizar seus pesos durante a retropropagação.</a:t>
            </a:r>
          </a:p>
          <a:p>
            <a:pPr algn="l"/>
            <a:endParaRPr lang="pt-BR" b="0" i="0" dirty="0">
              <a:solidFill>
                <a:srgbClr val="374151"/>
              </a:solidFill>
              <a:effectLst/>
              <a:latin typeface="Söhne"/>
            </a:endParaRPr>
          </a:p>
          <a:p>
            <a:pPr algn="l"/>
            <a:r>
              <a:rPr lang="pt-BR" b="0" i="0" dirty="0">
                <a:solidFill>
                  <a:srgbClr val="374151"/>
                </a:solidFill>
                <a:effectLst/>
                <a:latin typeface="Söhne"/>
              </a:rPr>
              <a:t>Quando a saída de um neurônio </a:t>
            </a:r>
            <a:r>
              <a:rPr lang="pt-BR" b="0" i="0" dirty="0" err="1">
                <a:solidFill>
                  <a:srgbClr val="374151"/>
                </a:solidFill>
                <a:effectLst/>
                <a:latin typeface="Söhne"/>
              </a:rPr>
              <a:t>ReLU</a:t>
            </a:r>
            <a:r>
              <a:rPr lang="pt-BR" b="0" i="0" dirty="0">
                <a:solidFill>
                  <a:srgbClr val="374151"/>
                </a:solidFill>
                <a:effectLst/>
                <a:latin typeface="Söhne"/>
              </a:rPr>
              <a:t> é sempre zero (ou quase zero) para todos os exemplos do conjunto de dados, isso resulta em uma falta de atualização dos pesos desse neurônio durante o processo de otimização. Como resultado, o neurônio permanece inativo e não contribui para o aprendizado da rede.</a:t>
            </a:r>
          </a:p>
          <a:p>
            <a:pPr algn="l"/>
            <a:endParaRPr lang="pt-BR" b="0" i="0" dirty="0">
              <a:solidFill>
                <a:srgbClr val="374151"/>
              </a:solidFill>
              <a:effectLst/>
              <a:latin typeface="Söhne"/>
            </a:endParaRPr>
          </a:p>
          <a:p>
            <a:pPr algn="l"/>
            <a:r>
              <a:rPr lang="pt-BR" b="0" i="0" dirty="0">
                <a:solidFill>
                  <a:srgbClr val="374151"/>
                </a:solidFill>
                <a:effectLst/>
                <a:latin typeface="Söhne"/>
              </a:rPr>
              <a:t>Isso pode levar a uma redução na capacidade da rede de aprender padrões complexos e representações úteis dos dados. A rede pode não ser capaz de modelar relações importantes nos dados e pode levar a um desempenho </a:t>
            </a:r>
            <a:r>
              <a:rPr lang="pt-BR" b="0" i="0" dirty="0" err="1">
                <a:solidFill>
                  <a:srgbClr val="374151"/>
                </a:solidFill>
                <a:effectLst/>
                <a:latin typeface="Söhne"/>
              </a:rPr>
              <a:t>subótimo</a:t>
            </a:r>
            <a:r>
              <a:rPr lang="pt-BR" b="0" i="0" dirty="0">
                <a:solidFill>
                  <a:srgbClr val="374151"/>
                </a:solidFill>
                <a:effectLst/>
                <a:latin typeface="Söhne"/>
              </a:rPr>
              <a:t>.</a:t>
            </a:r>
          </a:p>
          <a:p>
            <a:pPr algn="l"/>
            <a:endParaRPr lang="pt-BR" b="0" i="0" dirty="0">
              <a:solidFill>
                <a:srgbClr val="374151"/>
              </a:solidFill>
              <a:effectLst/>
              <a:latin typeface="Söhne"/>
            </a:endParaRPr>
          </a:p>
          <a:p>
            <a:pPr algn="l"/>
            <a:r>
              <a:rPr lang="pt-BR" b="0" i="0" dirty="0">
                <a:solidFill>
                  <a:srgbClr val="374151"/>
                </a:solidFill>
                <a:effectLst/>
                <a:latin typeface="Söhne"/>
              </a:rPr>
              <a:t>Para mitigar o problema da </a:t>
            </a:r>
            <a:r>
              <a:rPr lang="pt-BR" b="0" i="0" dirty="0" err="1">
                <a:solidFill>
                  <a:srgbClr val="374151"/>
                </a:solidFill>
                <a:effectLst/>
                <a:latin typeface="Söhne"/>
              </a:rPr>
              <a:t>ReLU</a:t>
            </a:r>
            <a:r>
              <a:rPr lang="pt-BR" b="0" i="0" dirty="0">
                <a:solidFill>
                  <a:srgbClr val="374151"/>
                </a:solidFill>
                <a:effectLst/>
                <a:latin typeface="Söhne"/>
              </a:rPr>
              <a:t> agonizante, variantes da </a:t>
            </a:r>
            <a:r>
              <a:rPr lang="pt-BR" b="0" i="0" dirty="0" err="1">
                <a:solidFill>
                  <a:srgbClr val="374151"/>
                </a:solidFill>
                <a:effectLst/>
                <a:latin typeface="Söhne"/>
              </a:rPr>
              <a:t>ReLU</a:t>
            </a:r>
            <a:r>
              <a:rPr lang="pt-BR" b="0" i="0" dirty="0">
                <a:solidFill>
                  <a:srgbClr val="374151"/>
                </a:solidFill>
                <a:effectLst/>
                <a:latin typeface="Söhne"/>
              </a:rPr>
              <a:t>, como a </a:t>
            </a:r>
            <a:r>
              <a:rPr lang="pt-BR" b="0" i="0" dirty="0" err="1">
                <a:solidFill>
                  <a:srgbClr val="374151"/>
                </a:solidFill>
                <a:effectLst/>
                <a:latin typeface="Söhne"/>
              </a:rPr>
              <a:t>Leaky</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Parametric</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e </a:t>
            </a:r>
            <a:r>
              <a:rPr lang="pt-BR" b="0" i="0" dirty="0" err="1">
                <a:solidFill>
                  <a:srgbClr val="374151"/>
                </a:solidFill>
                <a:effectLst/>
                <a:latin typeface="Söhne"/>
              </a:rPr>
              <a:t>Exponential</a:t>
            </a:r>
            <a:r>
              <a:rPr lang="pt-BR" b="0" i="0" dirty="0">
                <a:solidFill>
                  <a:srgbClr val="374151"/>
                </a:solidFill>
                <a:effectLst/>
                <a:latin typeface="Söhne"/>
              </a:rPr>
              <a:t> Linear </a:t>
            </a:r>
            <a:r>
              <a:rPr lang="pt-BR" b="0" i="0" dirty="0" err="1">
                <a:solidFill>
                  <a:srgbClr val="374151"/>
                </a:solidFill>
                <a:effectLst/>
                <a:latin typeface="Söhne"/>
              </a:rPr>
              <a:t>Units</a:t>
            </a:r>
            <a:r>
              <a:rPr lang="pt-BR" b="0" i="0" dirty="0">
                <a:solidFill>
                  <a:srgbClr val="374151"/>
                </a:solidFill>
                <a:effectLst/>
                <a:latin typeface="Söhne"/>
              </a:rPr>
              <a:t> (ELU), foram propostas. Essas variantes buscam resolver o problema de ativação constante igual a zero, permitindo que os neurônios continuem aprendendo mesmo quando estão desativados para algumas entradas.</a:t>
            </a:r>
          </a:p>
          <a:p>
            <a:pPr algn="l"/>
            <a:endParaRPr lang="pt-BR" b="0" i="0" dirty="0">
              <a:solidFill>
                <a:srgbClr val="374151"/>
              </a:solidFill>
              <a:effectLst/>
              <a:latin typeface="Söhne"/>
            </a:endParaRPr>
          </a:p>
          <a:p>
            <a:pPr algn="l"/>
            <a:r>
              <a:rPr lang="pt-BR" b="0" i="0" dirty="0">
                <a:solidFill>
                  <a:srgbClr val="374151"/>
                </a:solidFill>
                <a:effectLst/>
                <a:latin typeface="Söhne"/>
              </a:rPr>
              <a:t>Em resumo, o problema da </a:t>
            </a:r>
            <a:r>
              <a:rPr lang="pt-BR" b="0" i="0" dirty="0" err="1">
                <a:solidFill>
                  <a:srgbClr val="374151"/>
                </a:solidFill>
                <a:effectLst/>
                <a:latin typeface="Söhne"/>
              </a:rPr>
              <a:t>ReLU</a:t>
            </a:r>
            <a:r>
              <a:rPr lang="pt-BR" b="0" i="0" dirty="0">
                <a:solidFill>
                  <a:srgbClr val="374151"/>
                </a:solidFill>
                <a:effectLst/>
                <a:latin typeface="Söhne"/>
              </a:rPr>
              <a:t> agonizante refere-se à inatividade permanente de neurônios </a:t>
            </a:r>
            <a:r>
              <a:rPr lang="pt-BR" b="0" i="0" dirty="0" err="1">
                <a:solidFill>
                  <a:srgbClr val="374151"/>
                </a:solidFill>
                <a:effectLst/>
                <a:latin typeface="Söhne"/>
              </a:rPr>
              <a:t>ReLU</a:t>
            </a:r>
            <a:r>
              <a:rPr lang="pt-BR" b="0" i="0" dirty="0">
                <a:solidFill>
                  <a:srgbClr val="374151"/>
                </a:solidFill>
                <a:effectLst/>
                <a:latin typeface="Söhne"/>
              </a:rPr>
              <a:t> durante o treinamento, o que pode prejudicar o desempenho da rede neural. Variantes da </a:t>
            </a:r>
            <a:r>
              <a:rPr lang="pt-BR" b="0" i="0" dirty="0" err="1">
                <a:solidFill>
                  <a:srgbClr val="374151"/>
                </a:solidFill>
                <a:effectLst/>
                <a:latin typeface="Söhne"/>
              </a:rPr>
              <a:t>ReLU</a:t>
            </a:r>
            <a:r>
              <a:rPr lang="pt-BR" b="0" i="0" dirty="0">
                <a:solidFill>
                  <a:srgbClr val="374151"/>
                </a:solidFill>
                <a:effectLst/>
                <a:latin typeface="Söhne"/>
              </a:rPr>
              <a:t> foram desenvolvidas para contornar esse problema e permitir uma aprendizagem mais eficaz.</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68</a:t>
            </a:fld>
            <a:endParaRPr lang="pt-BR"/>
          </a:p>
        </p:txBody>
      </p:sp>
    </p:spTree>
    <p:extLst>
      <p:ext uri="{BB962C8B-B14F-4D97-AF65-F5344CB8AC3E}">
        <p14:creationId xmlns:p14="http://schemas.microsoft.com/office/powerpoint/2010/main" val="5947523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lgn="l"/>
            <a:br>
              <a:rPr lang="pt-BR" b="0" i="0" dirty="0">
                <a:solidFill>
                  <a:srgbClr val="374151"/>
                </a:solidFill>
                <a:effectLst/>
                <a:latin typeface="Söhne"/>
              </a:rPr>
            </a:br>
            <a:r>
              <a:rPr lang="pt-BR" b="0" i="0" dirty="0">
                <a:solidFill>
                  <a:srgbClr val="374151"/>
                </a:solidFill>
                <a:effectLst/>
                <a:latin typeface="Söhne"/>
              </a:rPr>
              <a:t>O problema da "</a:t>
            </a:r>
            <a:r>
              <a:rPr lang="pt-BR" b="0" i="0" dirty="0" err="1">
                <a:solidFill>
                  <a:srgbClr val="374151"/>
                </a:solidFill>
                <a:effectLst/>
                <a:latin typeface="Söhne"/>
              </a:rPr>
              <a:t>ReLU</a:t>
            </a:r>
            <a:r>
              <a:rPr lang="pt-BR" b="0" i="0" dirty="0">
                <a:solidFill>
                  <a:srgbClr val="374151"/>
                </a:solidFill>
                <a:effectLst/>
                <a:latin typeface="Söhne"/>
              </a:rPr>
              <a:t> agonizante", conhecido como "</a:t>
            </a:r>
            <a:r>
              <a:rPr lang="pt-BR" b="0" i="0" dirty="0" err="1">
                <a:solidFill>
                  <a:srgbClr val="374151"/>
                </a:solidFill>
                <a:effectLst/>
                <a:latin typeface="Söhne"/>
              </a:rPr>
              <a:t>dying</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problem</a:t>
            </a:r>
            <a:r>
              <a:rPr lang="pt-BR" b="0" i="0" dirty="0">
                <a:solidFill>
                  <a:srgbClr val="374151"/>
                </a:solidFill>
                <a:effectLst/>
                <a:latin typeface="Söhne"/>
              </a:rPr>
              <a:t>" em inglês, é uma desvantagem associada à função de ativação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Rectified</a:t>
            </a:r>
            <a:r>
              <a:rPr lang="pt-BR" b="0" i="0" dirty="0">
                <a:solidFill>
                  <a:srgbClr val="374151"/>
                </a:solidFill>
                <a:effectLst/>
                <a:latin typeface="Söhne"/>
              </a:rPr>
              <a:t> Linear </a:t>
            </a:r>
            <a:r>
              <a:rPr lang="pt-BR" b="0" i="0" dirty="0" err="1">
                <a:solidFill>
                  <a:srgbClr val="374151"/>
                </a:solidFill>
                <a:effectLst/>
                <a:latin typeface="Söhne"/>
              </a:rPr>
              <a:t>Activation</a:t>
            </a:r>
            <a:r>
              <a:rPr lang="pt-BR" b="0" i="0" dirty="0">
                <a:solidFill>
                  <a:srgbClr val="374151"/>
                </a:solidFill>
                <a:effectLst/>
                <a:latin typeface="Söhne"/>
              </a:rPr>
              <a:t>) em redes neurais. Esse problema ocorre quando um grande número de neurônios em uma rede neural ativam para zero durante o treinamento e não conseguem atualizar seus pesos durante a retropropagação.</a:t>
            </a:r>
          </a:p>
          <a:p>
            <a:pPr algn="l"/>
            <a:endParaRPr lang="pt-BR" b="0" i="0" dirty="0">
              <a:solidFill>
                <a:srgbClr val="374151"/>
              </a:solidFill>
              <a:effectLst/>
              <a:latin typeface="Söhne"/>
            </a:endParaRPr>
          </a:p>
          <a:p>
            <a:pPr algn="l"/>
            <a:r>
              <a:rPr lang="pt-BR" b="0" i="0" dirty="0">
                <a:solidFill>
                  <a:srgbClr val="374151"/>
                </a:solidFill>
                <a:effectLst/>
                <a:latin typeface="Söhne"/>
              </a:rPr>
              <a:t>Quando a saída de um neurônio </a:t>
            </a:r>
            <a:r>
              <a:rPr lang="pt-BR" b="0" i="0" dirty="0" err="1">
                <a:solidFill>
                  <a:srgbClr val="374151"/>
                </a:solidFill>
                <a:effectLst/>
                <a:latin typeface="Söhne"/>
              </a:rPr>
              <a:t>ReLU</a:t>
            </a:r>
            <a:r>
              <a:rPr lang="pt-BR" b="0" i="0" dirty="0">
                <a:solidFill>
                  <a:srgbClr val="374151"/>
                </a:solidFill>
                <a:effectLst/>
                <a:latin typeface="Söhne"/>
              </a:rPr>
              <a:t> é sempre zero (ou quase zero) para todos os exemplos do conjunto de dados, isso resulta em uma falta de atualização dos pesos desse neurônio durante o processo de otimização. Como resultado, o neurônio permanece inativo e não contribui para o aprendizado da rede.</a:t>
            </a:r>
          </a:p>
          <a:p>
            <a:pPr algn="l"/>
            <a:endParaRPr lang="pt-BR" b="0" i="0" dirty="0">
              <a:solidFill>
                <a:srgbClr val="374151"/>
              </a:solidFill>
              <a:effectLst/>
              <a:latin typeface="Söhne"/>
            </a:endParaRPr>
          </a:p>
          <a:p>
            <a:pPr algn="l"/>
            <a:r>
              <a:rPr lang="pt-BR" b="0" i="0" dirty="0">
                <a:solidFill>
                  <a:srgbClr val="374151"/>
                </a:solidFill>
                <a:effectLst/>
                <a:latin typeface="Söhne"/>
              </a:rPr>
              <a:t>Isso pode levar a uma redução na capacidade da rede de aprender padrões complexos e representações úteis dos dados. A rede pode não ser capaz de modelar relações importantes nos dados e pode levar a um desempenho </a:t>
            </a:r>
            <a:r>
              <a:rPr lang="pt-BR" b="0" i="0" dirty="0" err="1">
                <a:solidFill>
                  <a:srgbClr val="374151"/>
                </a:solidFill>
                <a:effectLst/>
                <a:latin typeface="Söhne"/>
              </a:rPr>
              <a:t>subótimo</a:t>
            </a:r>
            <a:r>
              <a:rPr lang="pt-BR" b="0" i="0" dirty="0">
                <a:solidFill>
                  <a:srgbClr val="374151"/>
                </a:solidFill>
                <a:effectLst/>
                <a:latin typeface="Söhne"/>
              </a:rPr>
              <a:t>.</a:t>
            </a:r>
          </a:p>
          <a:p>
            <a:pPr algn="l"/>
            <a:endParaRPr lang="pt-BR" b="0" i="0" dirty="0">
              <a:solidFill>
                <a:srgbClr val="374151"/>
              </a:solidFill>
              <a:effectLst/>
              <a:latin typeface="Söhne"/>
            </a:endParaRPr>
          </a:p>
          <a:p>
            <a:pPr algn="l"/>
            <a:r>
              <a:rPr lang="pt-BR" b="0" i="0" dirty="0">
                <a:solidFill>
                  <a:srgbClr val="374151"/>
                </a:solidFill>
                <a:effectLst/>
                <a:latin typeface="Söhne"/>
              </a:rPr>
              <a:t>Para mitigar o problema da </a:t>
            </a:r>
            <a:r>
              <a:rPr lang="pt-BR" b="0" i="0" dirty="0" err="1">
                <a:solidFill>
                  <a:srgbClr val="374151"/>
                </a:solidFill>
                <a:effectLst/>
                <a:latin typeface="Söhne"/>
              </a:rPr>
              <a:t>ReLU</a:t>
            </a:r>
            <a:r>
              <a:rPr lang="pt-BR" b="0" i="0" dirty="0">
                <a:solidFill>
                  <a:srgbClr val="374151"/>
                </a:solidFill>
                <a:effectLst/>
                <a:latin typeface="Söhne"/>
              </a:rPr>
              <a:t> agonizante, variantes da </a:t>
            </a:r>
            <a:r>
              <a:rPr lang="pt-BR" b="0" i="0" dirty="0" err="1">
                <a:solidFill>
                  <a:srgbClr val="374151"/>
                </a:solidFill>
                <a:effectLst/>
                <a:latin typeface="Söhne"/>
              </a:rPr>
              <a:t>ReLU</a:t>
            </a:r>
            <a:r>
              <a:rPr lang="pt-BR" b="0" i="0" dirty="0">
                <a:solidFill>
                  <a:srgbClr val="374151"/>
                </a:solidFill>
                <a:effectLst/>
                <a:latin typeface="Söhne"/>
              </a:rPr>
              <a:t>, como a </a:t>
            </a:r>
            <a:r>
              <a:rPr lang="pt-BR" b="0" i="0" dirty="0" err="1">
                <a:solidFill>
                  <a:srgbClr val="374151"/>
                </a:solidFill>
                <a:effectLst/>
                <a:latin typeface="Söhne"/>
              </a:rPr>
              <a:t>Leaky</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Parametric</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e </a:t>
            </a:r>
            <a:r>
              <a:rPr lang="pt-BR" b="0" i="0" dirty="0" err="1">
                <a:solidFill>
                  <a:srgbClr val="374151"/>
                </a:solidFill>
                <a:effectLst/>
                <a:latin typeface="Söhne"/>
              </a:rPr>
              <a:t>Exponential</a:t>
            </a:r>
            <a:r>
              <a:rPr lang="pt-BR" b="0" i="0" dirty="0">
                <a:solidFill>
                  <a:srgbClr val="374151"/>
                </a:solidFill>
                <a:effectLst/>
                <a:latin typeface="Söhne"/>
              </a:rPr>
              <a:t> Linear </a:t>
            </a:r>
            <a:r>
              <a:rPr lang="pt-BR" b="0" i="0" dirty="0" err="1">
                <a:solidFill>
                  <a:srgbClr val="374151"/>
                </a:solidFill>
                <a:effectLst/>
                <a:latin typeface="Söhne"/>
              </a:rPr>
              <a:t>Units</a:t>
            </a:r>
            <a:r>
              <a:rPr lang="pt-BR" b="0" i="0" dirty="0">
                <a:solidFill>
                  <a:srgbClr val="374151"/>
                </a:solidFill>
                <a:effectLst/>
                <a:latin typeface="Söhne"/>
              </a:rPr>
              <a:t> (ELU), foram propostas. Essas variantes buscam resolver o problema de ativação constante igual a zero, permitindo que os neurônios continuem aprendendo mesmo quando estão desativados para algumas entradas.</a:t>
            </a:r>
          </a:p>
          <a:p>
            <a:pPr algn="l"/>
            <a:endParaRPr lang="pt-BR" b="0" i="0" dirty="0">
              <a:solidFill>
                <a:srgbClr val="374151"/>
              </a:solidFill>
              <a:effectLst/>
              <a:latin typeface="Söhne"/>
            </a:endParaRPr>
          </a:p>
          <a:p>
            <a:pPr algn="l"/>
            <a:r>
              <a:rPr lang="pt-BR" b="0" i="0" dirty="0">
                <a:solidFill>
                  <a:srgbClr val="374151"/>
                </a:solidFill>
                <a:effectLst/>
                <a:latin typeface="Söhne"/>
              </a:rPr>
              <a:t>Em resumo, o problema da </a:t>
            </a:r>
            <a:r>
              <a:rPr lang="pt-BR" b="0" i="0" dirty="0" err="1">
                <a:solidFill>
                  <a:srgbClr val="374151"/>
                </a:solidFill>
                <a:effectLst/>
                <a:latin typeface="Söhne"/>
              </a:rPr>
              <a:t>ReLU</a:t>
            </a:r>
            <a:r>
              <a:rPr lang="pt-BR" b="0" i="0" dirty="0">
                <a:solidFill>
                  <a:srgbClr val="374151"/>
                </a:solidFill>
                <a:effectLst/>
                <a:latin typeface="Söhne"/>
              </a:rPr>
              <a:t> agonizante refere-se à inatividade permanente de neurônios </a:t>
            </a:r>
            <a:r>
              <a:rPr lang="pt-BR" b="0" i="0" dirty="0" err="1">
                <a:solidFill>
                  <a:srgbClr val="374151"/>
                </a:solidFill>
                <a:effectLst/>
                <a:latin typeface="Söhne"/>
              </a:rPr>
              <a:t>ReLU</a:t>
            </a:r>
            <a:r>
              <a:rPr lang="pt-BR" b="0" i="0" dirty="0">
                <a:solidFill>
                  <a:srgbClr val="374151"/>
                </a:solidFill>
                <a:effectLst/>
                <a:latin typeface="Söhne"/>
              </a:rPr>
              <a:t> durante o treinamento, o que pode prejudicar o desempenho da rede neural. Variantes da </a:t>
            </a:r>
            <a:r>
              <a:rPr lang="pt-BR" b="0" i="0" dirty="0" err="1">
                <a:solidFill>
                  <a:srgbClr val="374151"/>
                </a:solidFill>
                <a:effectLst/>
                <a:latin typeface="Söhne"/>
              </a:rPr>
              <a:t>ReLU</a:t>
            </a:r>
            <a:r>
              <a:rPr lang="pt-BR" b="0" i="0" dirty="0">
                <a:solidFill>
                  <a:srgbClr val="374151"/>
                </a:solidFill>
                <a:effectLst/>
                <a:latin typeface="Söhne"/>
              </a:rPr>
              <a:t> foram desenvolvidas para contornar esse problema e permitir uma aprendizagem mais eficaz.</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69</a:t>
            </a:fld>
            <a:endParaRPr lang="pt-BR"/>
          </a:p>
        </p:txBody>
      </p:sp>
    </p:spTree>
    <p:extLst>
      <p:ext uri="{BB962C8B-B14F-4D97-AF65-F5344CB8AC3E}">
        <p14:creationId xmlns:p14="http://schemas.microsoft.com/office/powerpoint/2010/main" val="14542250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Para lidar com o</a:t>
            </a:r>
            <a:r>
              <a:rPr lang="pt-BR" sz="1200" b="0" i="0" kern="1200" baseline="0" dirty="0">
                <a:solidFill>
                  <a:schemeClr val="tx1"/>
                </a:solidFill>
                <a:effectLst/>
                <a:latin typeface="+mn-lt"/>
                <a:ea typeface="+mn-ea"/>
                <a:cs typeface="+mn-cs"/>
              </a:rPr>
              <a:t> problema da derivada igual a zero para valores de ativação negativos</a:t>
            </a:r>
            <a:r>
              <a:rPr lang="pt-BR" sz="1200" b="0" i="0" kern="1200" dirty="0">
                <a:solidFill>
                  <a:schemeClr val="tx1"/>
                </a:solidFill>
                <a:effectLst/>
                <a:latin typeface="+mn-lt"/>
                <a:ea typeface="+mn-ea"/>
                <a:cs typeface="+mn-cs"/>
              </a:rPr>
              <a:t>, algumas variações da função </a:t>
            </a:r>
            <a:r>
              <a:rPr lang="pt-BR" sz="1200" b="0" i="0" kern="1200" dirty="0" err="1">
                <a:solidFill>
                  <a:schemeClr val="tx1"/>
                </a:solidFill>
                <a:effectLst/>
                <a:latin typeface="+mn-lt"/>
                <a:ea typeface="+mn-ea"/>
                <a:cs typeface="+mn-cs"/>
              </a:rPr>
              <a:t>ReLU</a:t>
            </a:r>
            <a:r>
              <a:rPr lang="pt-BR" sz="1200" b="0" i="0" kern="1200" dirty="0">
                <a:solidFill>
                  <a:schemeClr val="tx1"/>
                </a:solidFill>
                <a:effectLst/>
                <a:latin typeface="+mn-lt"/>
                <a:ea typeface="+mn-ea"/>
                <a:cs typeface="+mn-cs"/>
              </a:rPr>
              <a:t> foram propostas, como a </a:t>
            </a:r>
            <a:r>
              <a:rPr lang="pt-BR" sz="1200" b="0" i="0" kern="1200" dirty="0" err="1">
                <a:solidFill>
                  <a:schemeClr val="tx1"/>
                </a:solidFill>
                <a:effectLst/>
                <a:latin typeface="+mn-lt"/>
                <a:ea typeface="+mn-ea"/>
                <a:cs typeface="+mn-cs"/>
              </a:rPr>
              <a:t>Leaky</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ReLU</a:t>
            </a:r>
            <a:r>
              <a:rPr lang="pt-BR" sz="1200" b="0" i="0" kern="1200" dirty="0">
                <a:solidFill>
                  <a:schemeClr val="tx1"/>
                </a:solidFill>
                <a:effectLst/>
                <a:latin typeface="+mn-lt"/>
                <a:ea typeface="+mn-ea"/>
                <a:cs typeface="+mn-cs"/>
              </a:rPr>
              <a:t> e a ELU, que tentam preservar o gradiente para entradas negativas. Além disso, técnicas de normalização de batch, </a:t>
            </a:r>
            <a:r>
              <a:rPr lang="pt-BR" sz="1200" b="0" i="0" kern="1200" dirty="0" err="1">
                <a:solidFill>
                  <a:schemeClr val="tx1"/>
                </a:solidFill>
                <a:effectLst/>
                <a:latin typeface="+mn-lt"/>
                <a:ea typeface="+mn-ea"/>
                <a:cs typeface="+mn-cs"/>
              </a:rPr>
              <a:t>dropout</a:t>
            </a:r>
            <a:r>
              <a:rPr lang="pt-BR" sz="1200" b="0" i="0" kern="1200" dirty="0">
                <a:solidFill>
                  <a:schemeClr val="tx1"/>
                </a:solidFill>
                <a:effectLst/>
                <a:latin typeface="+mn-lt"/>
                <a:ea typeface="+mn-ea"/>
                <a:cs typeface="+mn-cs"/>
              </a:rPr>
              <a:t> e outras técnicas de regularização podem ser usadas para ajudar a mitigar o problema de dissipação do gradiente.</a:t>
            </a:r>
            <a:endParaRPr lang="en-US" dirty="0"/>
          </a:p>
          <a:p>
            <a:endParaRPr lang="en-US" dirty="0"/>
          </a:p>
          <a:p>
            <a:r>
              <a:rPr lang="en-US" dirty="0"/>
              <a:t>What are the advantages of </a:t>
            </a:r>
            <a:r>
              <a:rPr lang="en-US" dirty="0" err="1"/>
              <a:t>ReLU</a:t>
            </a:r>
            <a:r>
              <a:rPr lang="en-US" dirty="0"/>
              <a:t> over sigmoid function in deep neural networks?</a:t>
            </a:r>
            <a:endParaRPr lang="pt-BR" dirty="0"/>
          </a:p>
          <a:p>
            <a:r>
              <a:rPr lang="pt-BR" dirty="0">
                <a:hlinkClick r:id="rId3"/>
              </a:rPr>
              <a:t>https://stats.stackexchange.com/</a:t>
            </a:r>
            <a:r>
              <a:rPr lang="pt-BR" dirty="0" err="1">
                <a:hlinkClick r:id="rId3"/>
              </a:rPr>
              <a:t>questions</a:t>
            </a:r>
            <a:r>
              <a:rPr lang="pt-BR" dirty="0">
                <a:hlinkClick r:id="rId3"/>
              </a:rPr>
              <a:t>/126238/what-are-the-advantages-of-relu-over-sigmoid-function-in-deep-neural-networks#:~:</a:t>
            </a:r>
            <a:r>
              <a:rPr lang="pt-BR" dirty="0" err="1">
                <a:hlinkClick r:id="rId3"/>
              </a:rPr>
              <a:t>text</a:t>
            </a:r>
            <a:r>
              <a:rPr lang="pt-BR" dirty="0">
                <a:hlinkClick r:id="rId3"/>
              </a:rPr>
              <a:t>=The%20main%20reason%20why%20ReLu,deep%20network%20with%20sigmoid%20activation.</a:t>
            </a:r>
            <a:endParaRPr lang="pt-BR" dirty="0"/>
          </a:p>
          <a:p>
            <a:endParaRPr lang="pt-BR" dirty="0"/>
          </a:p>
          <a:p>
            <a:r>
              <a:rPr lang="en-US" sz="1200" b="0" i="0" kern="1200" dirty="0">
                <a:solidFill>
                  <a:schemeClr val="tx1"/>
                </a:solidFill>
                <a:effectLst/>
                <a:latin typeface="+mn-lt"/>
                <a:ea typeface="+mn-ea"/>
                <a:cs typeface="+mn-cs"/>
              </a:rPr>
              <a:t>The problem with the use of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is when the gradient has a value of 0. In such cases, the node is considered as a dead node since the old and new values of the weights remain the same. This situation can be avoided by the use of a leaky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function which prevents the gradient from falling to the zero value.</a:t>
            </a:r>
          </a:p>
          <a:p>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ReLUs</a:t>
            </a:r>
            <a:r>
              <a:rPr lang="en-US" sz="1200" b="0" i="0" kern="1200" dirty="0">
                <a:solidFill>
                  <a:schemeClr val="tx1"/>
                </a:solidFill>
                <a:effectLst/>
                <a:latin typeface="+mn-lt"/>
                <a:ea typeface="+mn-ea"/>
                <a:cs typeface="+mn-cs"/>
              </a:rPr>
              <a:t> have one caveat though: they “die” (output zero) when the input to it is negative. This can, in many cases, completely block backpropagation because the gradients will just be zero after one negative value has been inputted to the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function. This would also be an issue if a large negative bias term / constant term is learned — the weighted sum fed into neurons may end up being negative because the positive weights cannot compensate for the significance of the bias term. Negative weights also come to mind, or negative input (or some combination that gives a negative weighted sum). The dead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will hence output the same value for almost all of your activities — zero. </a:t>
            </a:r>
            <a:r>
              <a:rPr lang="en-US" sz="1200" b="0" i="0" kern="1200" dirty="0" err="1">
                <a:solidFill>
                  <a:schemeClr val="tx1"/>
                </a:solidFill>
                <a:effectLst/>
                <a:latin typeface="+mn-lt"/>
                <a:ea typeface="+mn-ea"/>
                <a:cs typeface="+mn-cs"/>
              </a:rPr>
              <a:t>ReLUs</a:t>
            </a:r>
            <a:r>
              <a:rPr lang="en-US" sz="1200" b="0" i="0" kern="1200" dirty="0">
                <a:solidFill>
                  <a:schemeClr val="tx1"/>
                </a:solidFill>
                <a:effectLst/>
                <a:latin typeface="+mn-lt"/>
                <a:ea typeface="+mn-ea"/>
                <a:cs typeface="+mn-cs"/>
              </a:rPr>
              <a:t> cannot “recover” from this problem because they will not modify the weights in anyway, since not only is the output for any negative input zero, the </a:t>
            </a:r>
            <a:r>
              <a:rPr lang="en-US" sz="1200" b="1" i="0" kern="1200" dirty="0">
                <a:solidFill>
                  <a:schemeClr val="tx1"/>
                </a:solidFill>
                <a:effectLst/>
                <a:latin typeface="+mn-lt"/>
                <a:ea typeface="+mn-ea"/>
                <a:cs typeface="+mn-cs"/>
              </a:rPr>
              <a:t>derivative </a:t>
            </a:r>
            <a:r>
              <a:rPr lang="en-US" sz="1200" b="0" i="0" kern="1200" dirty="0">
                <a:solidFill>
                  <a:schemeClr val="tx1"/>
                </a:solidFill>
                <a:effectLst/>
                <a:latin typeface="+mn-lt"/>
                <a:ea typeface="+mn-ea"/>
                <a:cs typeface="+mn-cs"/>
              </a:rPr>
              <a:t>is too. No updates will be made to modify the (for example) bias term to be a lesser magnitude of negative such that the neural net can escape from corruption of the entire network. It doesn’t happen </a:t>
            </a:r>
            <a:r>
              <a:rPr lang="en-US" sz="1200" b="0" i="1" kern="1200" dirty="0">
                <a:solidFill>
                  <a:schemeClr val="tx1"/>
                </a:solidFill>
                <a:effectLst/>
                <a:latin typeface="+mn-lt"/>
                <a:ea typeface="+mn-ea"/>
                <a:cs typeface="+mn-cs"/>
              </a:rPr>
              <a:t>all </a:t>
            </a:r>
            <a:r>
              <a:rPr lang="en-US" sz="1200" b="0" i="0" kern="1200" dirty="0">
                <a:solidFill>
                  <a:schemeClr val="tx1"/>
                </a:solidFill>
                <a:effectLst/>
                <a:latin typeface="+mn-lt"/>
                <a:ea typeface="+mn-ea"/>
                <a:cs typeface="+mn-cs"/>
              </a:rPr>
              <a:t>that often that the weighted sum ends up negative, though; and we can indeed initialize weights to be only positive and/or normalize input between 0 and 1 if we are concerned about the chance of an issue like this occurring.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References</a:t>
            </a:r>
          </a:p>
          <a:p>
            <a:r>
              <a:rPr lang="en-US" sz="1200" b="0" i="0" kern="1200" dirty="0">
                <a:solidFill>
                  <a:schemeClr val="tx1"/>
                </a:solidFill>
                <a:effectLst/>
                <a:latin typeface="+mn-lt"/>
                <a:ea typeface="+mn-ea"/>
                <a:cs typeface="+mn-cs"/>
              </a:rPr>
              <a:t>[1]</a:t>
            </a:r>
            <a:r>
              <a:rPr lang="en-US" sz="1200" b="0" i="0" kern="1200" baseline="0" dirty="0">
                <a:solidFill>
                  <a:schemeClr val="tx1"/>
                </a:solidFill>
                <a:effectLst/>
                <a:latin typeface="+mn-lt"/>
                <a:ea typeface="+mn-ea"/>
                <a:cs typeface="+mn-cs"/>
              </a:rPr>
              <a:t> https://www.kdnuggets.com/2022/02/vanishing-gradient-problem.html</a:t>
            </a:r>
          </a:p>
          <a:p>
            <a:r>
              <a:rPr lang="en-US" sz="1200" b="0" i="0" kern="1200" baseline="0" dirty="0">
                <a:solidFill>
                  <a:schemeClr val="tx1"/>
                </a:solidFill>
                <a:effectLst/>
                <a:latin typeface="+mn-lt"/>
                <a:ea typeface="+mn-ea"/>
                <a:cs typeface="+mn-cs"/>
              </a:rPr>
              <a:t>[2] https://ayearofai.com/rohan-4-the-vanishing-gradient-problem-ec68f76ffb9b</a:t>
            </a:r>
          </a:p>
          <a:p>
            <a:r>
              <a:rPr lang="en-US" sz="1200" b="0" i="0" kern="1200" baseline="0" dirty="0">
                <a:solidFill>
                  <a:schemeClr val="tx1"/>
                </a:solidFill>
                <a:effectLst/>
                <a:latin typeface="+mn-lt"/>
                <a:ea typeface="+mn-ea"/>
                <a:cs typeface="+mn-cs"/>
              </a:rPr>
              <a:t>[3] https://adventuresinmachinelearning.com/vanishing-gradient-problem-tensorflow/</a:t>
            </a:r>
            <a:endParaRPr lang="pt-BR" dirty="0"/>
          </a:p>
          <a:p>
            <a:endParaRPr lang="pt-BR" dirty="0"/>
          </a:p>
          <a:p>
            <a:pPr fontAlgn="base"/>
            <a:r>
              <a:rPr lang="en-US" sz="1200" b="1" i="0" kern="1200" dirty="0">
                <a:solidFill>
                  <a:schemeClr val="tx1"/>
                </a:solidFill>
                <a:effectLst/>
                <a:latin typeface="+mn-lt"/>
                <a:ea typeface="+mn-ea"/>
                <a:cs typeface="+mn-cs"/>
              </a:rPr>
              <a:t>Advantage: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Sigmoid: not blowing up activation</a:t>
            </a:r>
          </a:p>
          <a:p>
            <a:pPr fontAlgn="base"/>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 not vanishing gradient</a:t>
            </a:r>
          </a:p>
          <a:p>
            <a:pPr fontAlgn="base"/>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 More computationally efficient to compute than Sigmoid like functions since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just needs to pick max(0,</a:t>
            </a:r>
            <a:r>
              <a:rPr lang="en-US" sz="1200" b="0" i="0" u="none" strike="noStrike" kern="1200" dirty="0">
                <a:solidFill>
                  <a:schemeClr val="tx1"/>
                </a:solidFill>
                <a:effectLst/>
                <a:latin typeface="+mn-lt"/>
                <a:ea typeface="+mn-ea"/>
                <a:cs typeface="+mn-cs"/>
              </a:rPr>
              <a:t>xx</a:t>
            </a:r>
            <a:r>
              <a:rPr lang="en-US" sz="1200" b="0" i="0" kern="1200" dirty="0">
                <a:solidFill>
                  <a:schemeClr val="tx1"/>
                </a:solidFill>
                <a:effectLst/>
                <a:latin typeface="+mn-lt"/>
                <a:ea typeface="+mn-ea"/>
                <a:cs typeface="+mn-cs"/>
              </a:rPr>
              <a:t>) and not perform expensive exponential operations as in </a:t>
            </a:r>
            <a:r>
              <a:rPr lang="en-US" sz="1200" b="0" i="0" kern="1200" dirty="0" err="1">
                <a:solidFill>
                  <a:schemeClr val="tx1"/>
                </a:solidFill>
                <a:effectLst/>
                <a:latin typeface="+mn-lt"/>
                <a:ea typeface="+mn-ea"/>
                <a:cs typeface="+mn-cs"/>
              </a:rPr>
              <a:t>Sigmoids</a:t>
            </a:r>
            <a:endParaRPr lang="en-US" sz="1200" b="0" i="0" kern="1200" dirty="0">
              <a:solidFill>
                <a:schemeClr val="tx1"/>
              </a:solidFill>
              <a:effectLst/>
              <a:latin typeface="+mn-lt"/>
              <a:ea typeface="+mn-ea"/>
              <a:cs typeface="+mn-cs"/>
            </a:endParaRPr>
          </a:p>
          <a:p>
            <a:pPr fontAlgn="base"/>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 In practice, networks with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tend to show better convergence performance than sigmoid. (</a:t>
            </a:r>
            <a:r>
              <a:rPr lang="en-US" sz="1200" b="0" i="0" u="sng" kern="1200" dirty="0" err="1">
                <a:solidFill>
                  <a:schemeClr val="tx1"/>
                </a:solidFill>
                <a:effectLst/>
                <a:latin typeface="+mn-lt"/>
                <a:ea typeface="+mn-ea"/>
                <a:cs typeface="+mn-cs"/>
                <a:hlinkClick r:id="rId4"/>
              </a:rPr>
              <a:t>Krizhevsky</a:t>
            </a:r>
            <a:r>
              <a:rPr lang="en-US" sz="1200" b="0" i="0" u="sng" kern="1200" dirty="0">
                <a:solidFill>
                  <a:schemeClr val="tx1"/>
                </a:solidFill>
                <a:effectLst/>
                <a:latin typeface="+mn-lt"/>
                <a:ea typeface="+mn-ea"/>
                <a:cs typeface="+mn-cs"/>
                <a:hlinkClick r:id="rId4"/>
              </a:rPr>
              <a:t> et al.</a:t>
            </a:r>
            <a:r>
              <a:rPr lang="en-US" sz="1200" b="0" i="0" kern="1200" dirty="0">
                <a:solidFill>
                  <a:schemeClr val="tx1"/>
                </a:solidFill>
                <a:effectLst/>
                <a:latin typeface="+mn-lt"/>
                <a:ea typeface="+mn-ea"/>
                <a:cs typeface="+mn-cs"/>
              </a:rPr>
              <a:t>)</a:t>
            </a:r>
          </a:p>
          <a:p>
            <a:pPr fontAlgn="base"/>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Disadvantage:</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Sigmoid: tends to vanish gradient (cause there is a mechanism to reduce the gradient as "</a:t>
            </a:r>
            <a:r>
              <a:rPr lang="en-US" sz="1200" b="0" i="0" u="none" strike="noStrike" kern="1200" dirty="0">
                <a:solidFill>
                  <a:schemeClr val="tx1"/>
                </a:solidFill>
                <a:effectLst/>
                <a:latin typeface="+mn-lt"/>
                <a:ea typeface="+mn-ea"/>
                <a:cs typeface="+mn-cs"/>
              </a:rPr>
              <a:t>aa</a:t>
            </a:r>
            <a:r>
              <a:rPr lang="en-US" sz="1200" b="0" i="0" kern="1200" dirty="0">
                <a:solidFill>
                  <a:schemeClr val="tx1"/>
                </a:solidFill>
                <a:effectLst/>
                <a:latin typeface="+mn-lt"/>
                <a:ea typeface="+mn-ea"/>
                <a:cs typeface="+mn-cs"/>
              </a:rPr>
              <a:t>" increase, where "</a:t>
            </a:r>
            <a:r>
              <a:rPr lang="en-US" sz="1200" b="0" i="0" u="none" strike="noStrike" kern="1200" dirty="0">
                <a:solidFill>
                  <a:schemeClr val="tx1"/>
                </a:solidFill>
                <a:effectLst/>
                <a:latin typeface="+mn-lt"/>
                <a:ea typeface="+mn-ea"/>
                <a:cs typeface="+mn-cs"/>
              </a:rPr>
              <a:t>aa</a:t>
            </a:r>
            <a:r>
              <a:rPr lang="en-US" sz="1200" b="0" i="0" kern="1200" dirty="0">
                <a:solidFill>
                  <a:schemeClr val="tx1"/>
                </a:solidFill>
                <a:effectLst/>
                <a:latin typeface="+mn-lt"/>
                <a:ea typeface="+mn-ea"/>
                <a:cs typeface="+mn-cs"/>
              </a:rPr>
              <a:t>" is the input of a sigmoid function. Gradient of Sigmoid: </a:t>
            </a:r>
            <a:r>
              <a:rPr lang="en-US" sz="1200" b="0" i="0" u="none" strike="noStrike" kern="1200" dirty="0">
                <a:solidFill>
                  <a:schemeClr val="tx1"/>
                </a:solidFill>
                <a:effectLst/>
                <a:latin typeface="+mn-lt"/>
                <a:ea typeface="+mn-ea"/>
                <a:cs typeface="+mn-cs"/>
              </a:rPr>
              <a:t>S′(a)=S(a)(1−S(a))S′(a)=S(a)(1−S(a))</a:t>
            </a:r>
            <a:r>
              <a:rPr lang="en-US" sz="1200" b="0" i="0" kern="1200" dirty="0">
                <a:solidFill>
                  <a:schemeClr val="tx1"/>
                </a:solidFill>
                <a:effectLst/>
                <a:latin typeface="+mn-lt"/>
                <a:ea typeface="+mn-ea"/>
                <a:cs typeface="+mn-cs"/>
              </a:rPr>
              <a:t>. When "</a:t>
            </a:r>
            <a:r>
              <a:rPr lang="en-US" sz="1200" b="0" i="0" u="none" strike="noStrike" kern="1200" dirty="0">
                <a:solidFill>
                  <a:schemeClr val="tx1"/>
                </a:solidFill>
                <a:effectLst/>
                <a:latin typeface="+mn-lt"/>
                <a:ea typeface="+mn-ea"/>
                <a:cs typeface="+mn-cs"/>
              </a:rPr>
              <a:t>aa</a:t>
            </a:r>
            <a:r>
              <a:rPr lang="en-US" sz="1200" b="0" i="0" kern="1200" dirty="0">
                <a:solidFill>
                  <a:schemeClr val="tx1"/>
                </a:solidFill>
                <a:effectLst/>
                <a:latin typeface="+mn-lt"/>
                <a:ea typeface="+mn-ea"/>
                <a:cs typeface="+mn-cs"/>
              </a:rPr>
              <a:t>" grows to infinite large , </a:t>
            </a:r>
            <a:r>
              <a:rPr lang="en-US" sz="1200" b="0" i="0" u="none" strike="noStrike" kern="1200" dirty="0">
                <a:solidFill>
                  <a:schemeClr val="tx1"/>
                </a:solidFill>
                <a:effectLst/>
                <a:latin typeface="+mn-lt"/>
                <a:ea typeface="+mn-ea"/>
                <a:cs typeface="+mn-cs"/>
              </a:rPr>
              <a:t>S′(a)=S(a)(1−S(a))=1×(1−1)=0S′(a)=S(a)(1−S(a))=1×(1−1)=0</a:t>
            </a:r>
            <a:r>
              <a:rPr lang="en-US" sz="1200" b="0" i="0" kern="1200" dirty="0">
                <a:solidFill>
                  <a:schemeClr val="tx1"/>
                </a:solidFill>
                <a:effectLst/>
                <a:latin typeface="+mn-lt"/>
                <a:ea typeface="+mn-ea"/>
                <a:cs typeface="+mn-cs"/>
              </a:rPr>
              <a:t>).</a:t>
            </a:r>
          </a:p>
          <a:p>
            <a:pPr fontAlgn="base"/>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 tend to blow up activation (there is no mechanism to constrain the output of the neuron, as "</a:t>
            </a:r>
            <a:r>
              <a:rPr lang="en-US" sz="1200" b="0" i="0" u="none" strike="noStrike" kern="1200" dirty="0">
                <a:solidFill>
                  <a:schemeClr val="tx1"/>
                </a:solidFill>
                <a:effectLst/>
                <a:latin typeface="+mn-lt"/>
                <a:ea typeface="+mn-ea"/>
                <a:cs typeface="+mn-cs"/>
              </a:rPr>
              <a:t>aa</a:t>
            </a:r>
            <a:r>
              <a:rPr lang="en-US" sz="1200" b="0" i="0" kern="1200" dirty="0">
                <a:solidFill>
                  <a:schemeClr val="tx1"/>
                </a:solidFill>
                <a:effectLst/>
                <a:latin typeface="+mn-lt"/>
                <a:ea typeface="+mn-ea"/>
                <a:cs typeface="+mn-cs"/>
              </a:rPr>
              <a:t>" itself is the output)</a:t>
            </a:r>
          </a:p>
          <a:p>
            <a:pPr fontAlgn="base"/>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 Dying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problem - if too many activations get below zero then most of the units(neurons) in network with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will simply output zero, in other words, die and thereby prohibiting learning.(This can be handled, to some extent, by using Leaky-</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instead.)</a:t>
            </a:r>
          </a:p>
          <a:p>
            <a:pPr fontAlgn="base"/>
            <a:endParaRPr lang="en-US" sz="1200" b="0" i="0" kern="1200" dirty="0">
              <a:solidFill>
                <a:schemeClr val="tx1"/>
              </a:solidFill>
              <a:effectLst/>
              <a:latin typeface="+mn-lt"/>
              <a:ea typeface="+mn-ea"/>
              <a:cs typeface="+mn-cs"/>
            </a:endParaRPr>
          </a:p>
          <a:p>
            <a:pPr fontAlgn="base"/>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Just complementing the other answers:</a:t>
            </a:r>
          </a:p>
          <a:p>
            <a:pPr fontAlgn="base"/>
            <a:r>
              <a:rPr lang="en-US" sz="1200" b="1" i="0" kern="1200" dirty="0">
                <a:solidFill>
                  <a:schemeClr val="tx1"/>
                </a:solidFill>
                <a:effectLst/>
                <a:latin typeface="+mn-lt"/>
                <a:ea typeface="+mn-ea"/>
                <a:cs typeface="+mn-cs"/>
              </a:rPr>
              <a:t>Vanishing Gradients</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other answers are right to point out that the bigger the input (in absolute value) the smaller the gradient of the sigmoid function. But, probably an even more important effect is that the derivative of the sigmoid function is </a:t>
            </a:r>
            <a:r>
              <a:rPr lang="en-US" sz="1200" b="1" i="0" kern="1200" dirty="0">
                <a:solidFill>
                  <a:schemeClr val="tx1"/>
                </a:solidFill>
                <a:effectLst/>
                <a:latin typeface="+mn-lt"/>
                <a:ea typeface="+mn-ea"/>
                <a:cs typeface="+mn-cs"/>
              </a:rPr>
              <a:t>ALWAYS smaller than one</a:t>
            </a:r>
            <a:r>
              <a:rPr lang="en-US" sz="1200" b="0" i="0" kern="1200" dirty="0">
                <a:solidFill>
                  <a:schemeClr val="tx1"/>
                </a:solidFill>
                <a:effectLst/>
                <a:latin typeface="+mn-lt"/>
                <a:ea typeface="+mn-ea"/>
                <a:cs typeface="+mn-cs"/>
              </a:rPr>
              <a:t>. In fact it is at most 0.25!</a:t>
            </a:r>
          </a:p>
          <a:p>
            <a:pPr fontAlgn="base"/>
            <a:r>
              <a:rPr lang="en-US" sz="1200" b="0" i="0" kern="1200" dirty="0">
                <a:solidFill>
                  <a:schemeClr val="tx1"/>
                </a:solidFill>
                <a:effectLst/>
                <a:latin typeface="+mn-lt"/>
                <a:ea typeface="+mn-ea"/>
                <a:cs typeface="+mn-cs"/>
              </a:rPr>
              <a:t>The down side of this is that if you have many layers, you will multiply these gradients, and the product of many smaller than 1 values goes to zero very quickly.</a:t>
            </a:r>
          </a:p>
          <a:p>
            <a:pPr fontAlgn="base"/>
            <a:r>
              <a:rPr lang="en-US" sz="1200" b="0" i="0" kern="1200" dirty="0">
                <a:solidFill>
                  <a:schemeClr val="tx1"/>
                </a:solidFill>
                <a:effectLst/>
                <a:latin typeface="+mn-lt"/>
                <a:ea typeface="+mn-ea"/>
                <a:cs typeface="+mn-cs"/>
              </a:rPr>
              <a:t>Since the state of the art of for Deep Learning has shown that more layers helps a lot, then this disadvantage of the Sigmoid function is a game killer. </a:t>
            </a:r>
            <a:r>
              <a:rPr lang="en-US" sz="1200" b="1" i="0" kern="1200" dirty="0">
                <a:solidFill>
                  <a:schemeClr val="tx1"/>
                </a:solidFill>
                <a:effectLst/>
                <a:latin typeface="+mn-lt"/>
                <a:ea typeface="+mn-ea"/>
                <a:cs typeface="+mn-cs"/>
              </a:rPr>
              <a:t>You just can't do Deep Learning with Sigmoid.</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On the other hand the gradient of the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function is either </a:t>
            </a:r>
            <a:r>
              <a:rPr lang="en-US" sz="1200" b="0" i="0" u="none" strike="noStrike" kern="1200" dirty="0">
                <a:solidFill>
                  <a:schemeClr val="tx1"/>
                </a:solidFill>
                <a:effectLst/>
                <a:latin typeface="+mn-lt"/>
                <a:ea typeface="+mn-ea"/>
                <a:cs typeface="+mn-cs"/>
              </a:rPr>
              <a:t>00</a:t>
            </a:r>
            <a:r>
              <a:rPr lang="en-US" sz="1200" b="0" i="0" kern="1200" dirty="0">
                <a:solidFill>
                  <a:schemeClr val="tx1"/>
                </a:solidFill>
                <a:effectLst/>
                <a:latin typeface="+mn-lt"/>
                <a:ea typeface="+mn-ea"/>
                <a:cs typeface="+mn-cs"/>
              </a:rPr>
              <a:t> for </a:t>
            </a:r>
            <a:r>
              <a:rPr lang="en-US" sz="1200" b="0" i="0" u="none" strike="noStrike" kern="1200" dirty="0">
                <a:solidFill>
                  <a:schemeClr val="tx1"/>
                </a:solidFill>
                <a:effectLst/>
                <a:latin typeface="+mn-lt"/>
                <a:ea typeface="+mn-ea"/>
                <a:cs typeface="+mn-cs"/>
              </a:rPr>
              <a:t>a&lt;0a&lt;0</a:t>
            </a:r>
            <a:r>
              <a:rPr lang="en-US" sz="1200" b="0" i="0" kern="1200" dirty="0">
                <a:solidFill>
                  <a:schemeClr val="tx1"/>
                </a:solidFill>
                <a:effectLst/>
                <a:latin typeface="+mn-lt"/>
                <a:ea typeface="+mn-ea"/>
                <a:cs typeface="+mn-cs"/>
              </a:rPr>
              <a:t> or </a:t>
            </a:r>
            <a:r>
              <a:rPr lang="en-US" sz="1200" b="0" i="0" u="none" strike="noStrike" kern="1200" dirty="0">
                <a:solidFill>
                  <a:schemeClr val="tx1"/>
                </a:solidFill>
                <a:effectLst/>
                <a:latin typeface="+mn-lt"/>
                <a:ea typeface="+mn-ea"/>
                <a:cs typeface="+mn-cs"/>
              </a:rPr>
              <a:t>11</a:t>
            </a:r>
            <a:r>
              <a:rPr lang="en-US" sz="1200" b="0" i="0" kern="1200" dirty="0">
                <a:solidFill>
                  <a:schemeClr val="tx1"/>
                </a:solidFill>
                <a:effectLst/>
                <a:latin typeface="+mn-lt"/>
                <a:ea typeface="+mn-ea"/>
                <a:cs typeface="+mn-cs"/>
              </a:rPr>
              <a:t> for </a:t>
            </a:r>
            <a:r>
              <a:rPr lang="en-US" sz="1200" b="0" i="0" u="none" strike="noStrike" kern="1200" dirty="0">
                <a:solidFill>
                  <a:schemeClr val="tx1"/>
                </a:solidFill>
                <a:effectLst/>
                <a:latin typeface="+mn-lt"/>
                <a:ea typeface="+mn-ea"/>
                <a:cs typeface="+mn-cs"/>
              </a:rPr>
              <a:t>a&gt;0a&gt;0</a:t>
            </a:r>
            <a:r>
              <a:rPr lang="en-US" sz="1200" b="0" i="0" kern="1200" dirty="0">
                <a:solidFill>
                  <a:schemeClr val="tx1"/>
                </a:solidFill>
                <a:effectLst/>
                <a:latin typeface="+mn-lt"/>
                <a:ea typeface="+mn-ea"/>
                <a:cs typeface="+mn-cs"/>
              </a:rPr>
              <a:t>. That means that you can put as many layers as you like, because multiplying the gradients will neither vanish nor explode.</a:t>
            </a:r>
          </a:p>
          <a:p>
            <a:pPr fontAlgn="base"/>
            <a:endParaRPr lang="en-US" sz="1200" b="0" i="0" kern="1200" dirty="0">
              <a:solidFill>
                <a:schemeClr val="tx1"/>
              </a:solidFill>
              <a:effectLst/>
              <a:latin typeface="+mn-lt"/>
              <a:ea typeface="+mn-ea"/>
              <a:cs typeface="+mn-cs"/>
            </a:endParaRPr>
          </a:p>
          <a:p>
            <a:pPr algn="l"/>
            <a:br>
              <a:rPr lang="pt-BR" b="0" i="0" dirty="0">
                <a:solidFill>
                  <a:srgbClr val="374151"/>
                </a:solidFill>
                <a:effectLst/>
                <a:latin typeface="Söhne"/>
              </a:rPr>
            </a:br>
            <a:r>
              <a:rPr lang="pt-BR" b="0" i="0" dirty="0">
                <a:solidFill>
                  <a:srgbClr val="374151"/>
                </a:solidFill>
                <a:effectLst/>
                <a:latin typeface="Söhne"/>
              </a:rPr>
              <a:t>O problema da "</a:t>
            </a:r>
            <a:r>
              <a:rPr lang="pt-BR" b="0" i="0" dirty="0" err="1">
                <a:solidFill>
                  <a:srgbClr val="374151"/>
                </a:solidFill>
                <a:effectLst/>
                <a:latin typeface="Söhne"/>
              </a:rPr>
              <a:t>ReLU</a:t>
            </a:r>
            <a:r>
              <a:rPr lang="pt-BR" b="0" i="0" dirty="0">
                <a:solidFill>
                  <a:srgbClr val="374151"/>
                </a:solidFill>
                <a:effectLst/>
                <a:latin typeface="Söhne"/>
              </a:rPr>
              <a:t> agonizante", conhecido como "</a:t>
            </a:r>
            <a:r>
              <a:rPr lang="pt-BR" b="0" i="0" dirty="0" err="1">
                <a:solidFill>
                  <a:srgbClr val="374151"/>
                </a:solidFill>
                <a:effectLst/>
                <a:latin typeface="Söhne"/>
              </a:rPr>
              <a:t>dying</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problem</a:t>
            </a:r>
            <a:r>
              <a:rPr lang="pt-BR" b="0" i="0" dirty="0">
                <a:solidFill>
                  <a:srgbClr val="374151"/>
                </a:solidFill>
                <a:effectLst/>
                <a:latin typeface="Söhne"/>
              </a:rPr>
              <a:t>" em inglês, é uma desvantagem associada à função de ativação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Rectified</a:t>
            </a:r>
            <a:r>
              <a:rPr lang="pt-BR" b="0" i="0" dirty="0">
                <a:solidFill>
                  <a:srgbClr val="374151"/>
                </a:solidFill>
                <a:effectLst/>
                <a:latin typeface="Söhne"/>
              </a:rPr>
              <a:t> Linear </a:t>
            </a:r>
            <a:r>
              <a:rPr lang="pt-BR" b="0" i="0" dirty="0" err="1">
                <a:solidFill>
                  <a:srgbClr val="374151"/>
                </a:solidFill>
                <a:effectLst/>
                <a:latin typeface="Söhne"/>
              </a:rPr>
              <a:t>Activation</a:t>
            </a:r>
            <a:r>
              <a:rPr lang="pt-BR" b="0" i="0" dirty="0">
                <a:solidFill>
                  <a:srgbClr val="374151"/>
                </a:solidFill>
                <a:effectLst/>
                <a:latin typeface="Söhne"/>
              </a:rPr>
              <a:t>) em redes neurais. Esse problema ocorre quando um grande número de neurônios em uma rede neural ativam para zero durante o treinamento e não conseguem atualizar seus pesos durante a retropropagação.</a:t>
            </a:r>
          </a:p>
          <a:p>
            <a:pPr algn="l"/>
            <a:endParaRPr lang="pt-BR" b="0" i="0" dirty="0">
              <a:solidFill>
                <a:srgbClr val="374151"/>
              </a:solidFill>
              <a:effectLst/>
              <a:latin typeface="Söhne"/>
            </a:endParaRPr>
          </a:p>
          <a:p>
            <a:pPr algn="l"/>
            <a:r>
              <a:rPr lang="pt-BR" b="0" i="0" dirty="0">
                <a:solidFill>
                  <a:srgbClr val="374151"/>
                </a:solidFill>
                <a:effectLst/>
                <a:latin typeface="Söhne"/>
              </a:rPr>
              <a:t>Quando a saída de um neurônio </a:t>
            </a:r>
            <a:r>
              <a:rPr lang="pt-BR" b="0" i="0" dirty="0" err="1">
                <a:solidFill>
                  <a:srgbClr val="374151"/>
                </a:solidFill>
                <a:effectLst/>
                <a:latin typeface="Söhne"/>
              </a:rPr>
              <a:t>ReLU</a:t>
            </a:r>
            <a:r>
              <a:rPr lang="pt-BR" b="0" i="0" dirty="0">
                <a:solidFill>
                  <a:srgbClr val="374151"/>
                </a:solidFill>
                <a:effectLst/>
                <a:latin typeface="Söhne"/>
              </a:rPr>
              <a:t> é sempre zero (ou quase zero) para todos os exemplos do conjunto de dados, isso resulta em uma falta de atualização dos pesos desse neurônio durante o processo de otimização. Como resultado, o neurônio permanece inativo e não contribui para o aprendizado da rede.</a:t>
            </a:r>
          </a:p>
          <a:p>
            <a:pPr algn="l"/>
            <a:endParaRPr lang="pt-BR" b="0" i="0" dirty="0">
              <a:solidFill>
                <a:srgbClr val="374151"/>
              </a:solidFill>
              <a:effectLst/>
              <a:latin typeface="Söhne"/>
            </a:endParaRPr>
          </a:p>
          <a:p>
            <a:pPr algn="l"/>
            <a:r>
              <a:rPr lang="pt-BR" b="0" i="0" dirty="0">
                <a:solidFill>
                  <a:srgbClr val="374151"/>
                </a:solidFill>
                <a:effectLst/>
                <a:latin typeface="Söhne"/>
              </a:rPr>
              <a:t>Isso pode levar a uma redução na capacidade da rede de aprender padrões complexos e representações úteis dos dados. A rede pode não ser capaz de modelar relações importantes nos dados e pode levar a um desempenho </a:t>
            </a:r>
            <a:r>
              <a:rPr lang="pt-BR" b="0" i="0" dirty="0" err="1">
                <a:solidFill>
                  <a:srgbClr val="374151"/>
                </a:solidFill>
                <a:effectLst/>
                <a:latin typeface="Söhne"/>
              </a:rPr>
              <a:t>subótimo</a:t>
            </a:r>
            <a:r>
              <a:rPr lang="pt-BR" b="0" i="0" dirty="0">
                <a:solidFill>
                  <a:srgbClr val="374151"/>
                </a:solidFill>
                <a:effectLst/>
                <a:latin typeface="Söhne"/>
              </a:rPr>
              <a:t>.</a:t>
            </a:r>
          </a:p>
          <a:p>
            <a:pPr algn="l"/>
            <a:endParaRPr lang="pt-BR" b="0" i="0" dirty="0">
              <a:solidFill>
                <a:srgbClr val="374151"/>
              </a:solidFill>
              <a:effectLst/>
              <a:latin typeface="Söhne"/>
            </a:endParaRPr>
          </a:p>
          <a:p>
            <a:pPr algn="l"/>
            <a:r>
              <a:rPr lang="pt-BR" b="0" i="0" dirty="0">
                <a:solidFill>
                  <a:srgbClr val="374151"/>
                </a:solidFill>
                <a:effectLst/>
                <a:latin typeface="Söhne"/>
              </a:rPr>
              <a:t>Para mitigar o problema da </a:t>
            </a:r>
            <a:r>
              <a:rPr lang="pt-BR" b="0" i="0" dirty="0" err="1">
                <a:solidFill>
                  <a:srgbClr val="374151"/>
                </a:solidFill>
                <a:effectLst/>
                <a:latin typeface="Söhne"/>
              </a:rPr>
              <a:t>ReLU</a:t>
            </a:r>
            <a:r>
              <a:rPr lang="pt-BR" b="0" i="0" dirty="0">
                <a:solidFill>
                  <a:srgbClr val="374151"/>
                </a:solidFill>
                <a:effectLst/>
                <a:latin typeface="Söhne"/>
              </a:rPr>
              <a:t> agonizante, variantes da </a:t>
            </a:r>
            <a:r>
              <a:rPr lang="pt-BR" b="0" i="0" dirty="0" err="1">
                <a:solidFill>
                  <a:srgbClr val="374151"/>
                </a:solidFill>
                <a:effectLst/>
                <a:latin typeface="Söhne"/>
              </a:rPr>
              <a:t>ReLU</a:t>
            </a:r>
            <a:r>
              <a:rPr lang="pt-BR" b="0" i="0" dirty="0">
                <a:solidFill>
                  <a:srgbClr val="374151"/>
                </a:solidFill>
                <a:effectLst/>
                <a:latin typeface="Söhne"/>
              </a:rPr>
              <a:t>, como a </a:t>
            </a:r>
            <a:r>
              <a:rPr lang="pt-BR" b="0" i="0" dirty="0" err="1">
                <a:solidFill>
                  <a:srgbClr val="374151"/>
                </a:solidFill>
                <a:effectLst/>
                <a:latin typeface="Söhne"/>
              </a:rPr>
              <a:t>Leaky</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Parametric</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e </a:t>
            </a:r>
            <a:r>
              <a:rPr lang="pt-BR" b="0" i="0" dirty="0" err="1">
                <a:solidFill>
                  <a:srgbClr val="374151"/>
                </a:solidFill>
                <a:effectLst/>
                <a:latin typeface="Söhne"/>
              </a:rPr>
              <a:t>Exponential</a:t>
            </a:r>
            <a:r>
              <a:rPr lang="pt-BR" b="0" i="0" dirty="0">
                <a:solidFill>
                  <a:srgbClr val="374151"/>
                </a:solidFill>
                <a:effectLst/>
                <a:latin typeface="Söhne"/>
              </a:rPr>
              <a:t> Linear </a:t>
            </a:r>
            <a:r>
              <a:rPr lang="pt-BR" b="0" i="0" dirty="0" err="1">
                <a:solidFill>
                  <a:srgbClr val="374151"/>
                </a:solidFill>
                <a:effectLst/>
                <a:latin typeface="Söhne"/>
              </a:rPr>
              <a:t>Units</a:t>
            </a:r>
            <a:r>
              <a:rPr lang="pt-BR" b="0" i="0" dirty="0">
                <a:solidFill>
                  <a:srgbClr val="374151"/>
                </a:solidFill>
                <a:effectLst/>
                <a:latin typeface="Söhne"/>
              </a:rPr>
              <a:t> (ELU), foram propostas. Essas variantes buscam resolver o problema de ativação constante igual a zero, permitindo que os neurônios continuem aprendendo mesmo quando estão desativados para algumas entradas.</a:t>
            </a:r>
          </a:p>
          <a:p>
            <a:pPr algn="l"/>
            <a:endParaRPr lang="pt-BR" b="0" i="0" dirty="0">
              <a:solidFill>
                <a:srgbClr val="374151"/>
              </a:solidFill>
              <a:effectLst/>
              <a:latin typeface="Söhne"/>
            </a:endParaRPr>
          </a:p>
          <a:p>
            <a:pPr algn="l"/>
            <a:r>
              <a:rPr lang="pt-BR" b="0" i="0" dirty="0">
                <a:solidFill>
                  <a:srgbClr val="374151"/>
                </a:solidFill>
                <a:effectLst/>
                <a:latin typeface="Söhne"/>
              </a:rPr>
              <a:t>Em resumo, o problema da </a:t>
            </a:r>
            <a:r>
              <a:rPr lang="pt-BR" b="0" i="0" dirty="0" err="1">
                <a:solidFill>
                  <a:srgbClr val="374151"/>
                </a:solidFill>
                <a:effectLst/>
                <a:latin typeface="Söhne"/>
              </a:rPr>
              <a:t>ReLU</a:t>
            </a:r>
            <a:r>
              <a:rPr lang="pt-BR" b="0" i="0" dirty="0">
                <a:solidFill>
                  <a:srgbClr val="374151"/>
                </a:solidFill>
                <a:effectLst/>
                <a:latin typeface="Söhne"/>
              </a:rPr>
              <a:t> agonizante refere-se à inatividade permanente de neurônios </a:t>
            </a:r>
            <a:r>
              <a:rPr lang="pt-BR" b="0" i="0" dirty="0" err="1">
                <a:solidFill>
                  <a:srgbClr val="374151"/>
                </a:solidFill>
                <a:effectLst/>
                <a:latin typeface="Söhne"/>
              </a:rPr>
              <a:t>ReLU</a:t>
            </a:r>
            <a:r>
              <a:rPr lang="pt-BR" b="0" i="0" dirty="0">
                <a:solidFill>
                  <a:srgbClr val="374151"/>
                </a:solidFill>
                <a:effectLst/>
                <a:latin typeface="Söhne"/>
              </a:rPr>
              <a:t> durante o treinamento, o que pode prejudicar o desempenho da rede neural. Variantes da </a:t>
            </a:r>
            <a:r>
              <a:rPr lang="pt-BR" b="0" i="0" dirty="0" err="1">
                <a:solidFill>
                  <a:srgbClr val="374151"/>
                </a:solidFill>
                <a:effectLst/>
                <a:latin typeface="Söhne"/>
              </a:rPr>
              <a:t>ReLU</a:t>
            </a:r>
            <a:r>
              <a:rPr lang="pt-BR" b="0" i="0" dirty="0">
                <a:solidFill>
                  <a:srgbClr val="374151"/>
                </a:solidFill>
                <a:effectLst/>
                <a:latin typeface="Söhne"/>
              </a:rPr>
              <a:t> foram desenvolvidas para contornar esse problema e permitir uma aprendizagem mais eficaz.</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70</a:t>
            </a:fld>
            <a:endParaRPr lang="pt-BR"/>
          </a:p>
        </p:txBody>
      </p:sp>
    </p:spTree>
    <p:extLst>
      <p:ext uri="{BB962C8B-B14F-4D97-AF65-F5344CB8AC3E}">
        <p14:creationId xmlns:p14="http://schemas.microsoft.com/office/powerpoint/2010/main" val="23061951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A explosão do gradiente (em inglês, "</a:t>
            </a:r>
            <a:r>
              <a:rPr lang="pt-BR" sz="1200" b="0" i="0" kern="1200" dirty="0" err="1">
                <a:solidFill>
                  <a:schemeClr val="tx1"/>
                </a:solidFill>
                <a:effectLst/>
                <a:latin typeface="+mn-lt"/>
                <a:ea typeface="+mn-ea"/>
                <a:cs typeface="+mn-cs"/>
              </a:rPr>
              <a:t>gradient</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explosion</a:t>
            </a:r>
            <a:r>
              <a:rPr lang="pt-BR" sz="1200" b="0" i="0" kern="1200" dirty="0">
                <a:solidFill>
                  <a:schemeClr val="tx1"/>
                </a:solidFill>
                <a:effectLst/>
                <a:latin typeface="+mn-lt"/>
                <a:ea typeface="+mn-ea"/>
                <a:cs typeface="+mn-cs"/>
              </a:rPr>
              <a:t>") é um problema que pode ocorrer durante o treinamento de redes neurais, especificamente durante o processo de retropropagação (backpropagation). Esse problema ocorre quando os gradientes das funções de perda em relação aos pesos da rede neural se tornam muito grandes à medida que são propagados para camadas anteriores da rede durante o treinamento. Consequentemente, os pesos da rede podem sofrer atualizações extremamente grandes, o que leva a instabilidades numéricas e a um treinamento ineficaz ou até mesmo ao colapso do treinamento.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 explosão do gradiente é o oposto do problema do desaparecimento do gradiente, em que os gradientes se tornam muito pequenos à medida que são propagados para camadas anteriores, dificultando o treinamento de camadas profundas.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principais causas da explosão do gradiente incluem:</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1. **Redes Profundas**: Quanto mais profunda for a rede neural, maior a probabilidade de ocorrer a explosão do gradiente, uma vez que os gradientes podem se acumular (aumentar) ao retroceder pelas camadas.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2. **Inicialização de Pesos**: Inicializações inadequadas dos pesos da rede podem contribuir para o problema. Se os pesos iniciais forem muito grandes, os gradientes podem se tornar grandes desde o início do treinamento.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3. **Taxa de Aprendizado**: Taxas de aprendizado muito altas podem agravar o problema, pois as atualizações de peso são mais amplificadas.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Para mitigar a explosão do gradiente, podem ser adotadas as seguintes técnicas: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1. **Clipping de Gradiente**: Uma abordagem comum é aplicar o clipping (limitação) dos gradientes. Isso envolve definir um limite superior para os gradientes durante a retropropagação. Se um gradiente exceder esse limite, ele é reduzido para o limite.</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2. **Normalização em lote (Batch </a:t>
            </a:r>
            <a:r>
              <a:rPr lang="pt-BR" sz="1200" b="0" i="0" kern="1200" dirty="0" err="1">
                <a:solidFill>
                  <a:schemeClr val="tx1"/>
                </a:solidFill>
                <a:effectLst/>
                <a:latin typeface="+mn-lt"/>
                <a:ea typeface="+mn-ea"/>
                <a:cs typeface="+mn-cs"/>
              </a:rPr>
              <a:t>Normalization</a:t>
            </a:r>
            <a:r>
              <a:rPr lang="pt-BR" sz="1200" b="0" i="0" kern="1200" dirty="0">
                <a:solidFill>
                  <a:schemeClr val="tx1"/>
                </a:solidFill>
                <a:effectLst/>
                <a:latin typeface="+mn-lt"/>
                <a:ea typeface="+mn-ea"/>
                <a:cs typeface="+mn-cs"/>
              </a:rPr>
              <a:t>)**: A normalização em lote é uma técnica que normaliza as ativações das camadas intermediárias da rede durante o treinamento. Isso ajuda a manter os gradientes em uma faixa mais controlada.</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3. **Inicialização de Pesos Adequada**: Escolher uma inicialização de peso adequada, como a inicialização He ou a inicialização Xavier, pode reduzir a probabilidade de gradientes explosivos.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4. **Taxa de Aprendizado Adaptativa**: Usar otimizadores com taxas de aprendizado adaptativas, como Adam ou </a:t>
            </a:r>
            <a:r>
              <a:rPr lang="pt-BR" sz="1200" b="0" i="0" kern="1200" dirty="0" err="1">
                <a:solidFill>
                  <a:schemeClr val="tx1"/>
                </a:solidFill>
                <a:effectLst/>
                <a:latin typeface="+mn-lt"/>
                <a:ea typeface="+mn-ea"/>
                <a:cs typeface="+mn-cs"/>
              </a:rPr>
              <a:t>RMSprop</a:t>
            </a:r>
            <a:r>
              <a:rPr lang="pt-BR" sz="1200" b="0" i="0" kern="1200" dirty="0">
                <a:solidFill>
                  <a:schemeClr val="tx1"/>
                </a:solidFill>
                <a:effectLst/>
                <a:latin typeface="+mn-lt"/>
                <a:ea typeface="+mn-ea"/>
                <a:cs typeface="+mn-cs"/>
              </a:rPr>
              <a:t>, pode ajudar a controlar as atualizações de peso, mesmo em cenários de gradientes explosivos.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5. **Reduzir a Profundidade da Rede**: Em alguns casos, pode ser útil reduzir a profundidade da rede neural ou simplificar a arquitetura para mitigar o problema.</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 explosão do gradiente é um problema que pode ocorrer em redes neurais profundas e complexas, mas com as técnicas adequadas de regularização e configuração de hiperparâmetros, é possível controlar esse problema e treinar modelos de forma estável.</a:t>
            </a:r>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71</a:t>
            </a:fld>
            <a:endParaRPr lang="pt-BR"/>
          </a:p>
        </p:txBody>
      </p:sp>
    </p:spTree>
    <p:extLst>
      <p:ext uri="{BB962C8B-B14F-4D97-AF65-F5344CB8AC3E}">
        <p14:creationId xmlns:p14="http://schemas.microsoft.com/office/powerpoint/2010/main" val="16045629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A explosão do gradiente (em inglês, "</a:t>
            </a:r>
            <a:r>
              <a:rPr lang="pt-BR" sz="1200" b="0" i="0" kern="1200" dirty="0" err="1">
                <a:solidFill>
                  <a:schemeClr val="tx1"/>
                </a:solidFill>
                <a:effectLst/>
                <a:latin typeface="+mn-lt"/>
                <a:ea typeface="+mn-ea"/>
                <a:cs typeface="+mn-cs"/>
              </a:rPr>
              <a:t>gradient</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explosion</a:t>
            </a:r>
            <a:r>
              <a:rPr lang="pt-BR" sz="1200" b="0" i="0" kern="1200" dirty="0">
                <a:solidFill>
                  <a:schemeClr val="tx1"/>
                </a:solidFill>
                <a:effectLst/>
                <a:latin typeface="+mn-lt"/>
                <a:ea typeface="+mn-ea"/>
                <a:cs typeface="+mn-cs"/>
              </a:rPr>
              <a:t>") é um problema que pode ocorrer durante o treinamento de redes neurais, especificamente durante o processo de retropropagação (backpropagation). Esse problema ocorre quando os gradientes das funções de perda em relação aos pesos da rede neural se tornam muito grandes à medida que são propagados para camadas anteriores da rede durante o treinamento. Consequentemente, os pesos da rede podem sofrer atualizações extremamente grandes, o que leva a instabilidades numéricas e a um treinamento ineficaz ou até mesmo ao colapso do treinamento.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 explosão do gradiente é o oposto do problema do desaparecimento do gradiente, em que os gradientes se tornam muito pequenos à medida que são propagados para camadas anteriores, dificultando o treinamento de camadas profundas.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principais causas da explosão do gradiente incluem:</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1. **Redes Profundas**: Quanto mais profunda for a rede neural, maior a probabilidade de ocorrer a explosão do gradiente, uma vez que os gradientes podem se acumular (aumentar) ao retroceder pelas camadas.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2. **Inicialização de Pesos**: Inicializações inadequadas dos pesos da rede podem contribuir para o problema. Se os pesos iniciais forem muito grandes, os gradientes podem se tornar grandes desde o início do treinamento.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3. **Taxa de Aprendizado**: Taxas de aprendizado muito altas podem agravar o problema, pois as atualizações de peso são mais amplificadas.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Para mitigar a explosão do gradiente, podem ser adotadas as seguintes técnicas: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1. **Clipping de Gradiente**: Uma abordagem comum é aplicar o clipping (limitação) dos gradientes. Isso envolve definir um limite superior para os gradientes durante a retropropagação. Se um gradiente exceder esse limite, ele é reduzido para o limite.</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2. **Normalização em lote (Batch </a:t>
            </a:r>
            <a:r>
              <a:rPr lang="pt-BR" sz="1200" b="0" i="0" kern="1200" dirty="0" err="1">
                <a:solidFill>
                  <a:schemeClr val="tx1"/>
                </a:solidFill>
                <a:effectLst/>
                <a:latin typeface="+mn-lt"/>
                <a:ea typeface="+mn-ea"/>
                <a:cs typeface="+mn-cs"/>
              </a:rPr>
              <a:t>Normalization</a:t>
            </a:r>
            <a:r>
              <a:rPr lang="pt-BR" sz="1200" b="0" i="0" kern="1200" dirty="0">
                <a:solidFill>
                  <a:schemeClr val="tx1"/>
                </a:solidFill>
                <a:effectLst/>
                <a:latin typeface="+mn-lt"/>
                <a:ea typeface="+mn-ea"/>
                <a:cs typeface="+mn-cs"/>
              </a:rPr>
              <a:t>)**: A normalização em lote é uma técnica que normaliza as ativações das camadas intermediárias da rede durante o treinamento. Isso ajuda a manter os gradientes em uma faixa mais controlada.</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3. **Inicialização de Pesos Adequada**: Escolher uma inicialização de peso adequada, como a inicialização He ou a inicialização Xavier, pode reduzir a probabilidade de gradientes explosivos.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4. **Taxa de Aprendizado Adaptativa**: Usar otimizadores com taxas de aprendizado adaptativas, como Adam ou </a:t>
            </a:r>
            <a:r>
              <a:rPr lang="pt-BR" sz="1200" b="0" i="0" kern="1200" dirty="0" err="1">
                <a:solidFill>
                  <a:schemeClr val="tx1"/>
                </a:solidFill>
                <a:effectLst/>
                <a:latin typeface="+mn-lt"/>
                <a:ea typeface="+mn-ea"/>
                <a:cs typeface="+mn-cs"/>
              </a:rPr>
              <a:t>RMSprop</a:t>
            </a:r>
            <a:r>
              <a:rPr lang="pt-BR" sz="1200" b="0" i="0" kern="1200" dirty="0">
                <a:solidFill>
                  <a:schemeClr val="tx1"/>
                </a:solidFill>
                <a:effectLst/>
                <a:latin typeface="+mn-lt"/>
                <a:ea typeface="+mn-ea"/>
                <a:cs typeface="+mn-cs"/>
              </a:rPr>
              <a:t>, pode ajudar a controlar as atualizações de peso, mesmo em cenários de gradientes explosivos.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5. **Reduzir a Profundidade da Rede**: Em alguns casos, pode ser útil reduzir a profundidade da rede neural ou simplificar a arquitetura para mitigar o problema.</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 explosão do gradiente é um problema que pode ocorrer em redes neurais profundas e complexas, mas com as técnicas adequadas de regularização e configuração de hiperparâmetros, é possível controlar esse problema e treinar modelos de forma estável.</a:t>
            </a:r>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72</a:t>
            </a:fld>
            <a:endParaRPr lang="pt-BR"/>
          </a:p>
        </p:txBody>
      </p:sp>
    </p:spTree>
    <p:extLst>
      <p:ext uri="{BB962C8B-B14F-4D97-AF65-F5344CB8AC3E}">
        <p14:creationId xmlns:p14="http://schemas.microsoft.com/office/powerpoint/2010/main" val="41102414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A normalização de batch (</a:t>
            </a:r>
            <a:r>
              <a:rPr lang="pt-BR" sz="1200" b="1" i="1" kern="1200" dirty="0">
                <a:solidFill>
                  <a:schemeClr val="tx1"/>
                </a:solidFill>
                <a:effectLst/>
                <a:latin typeface="+mn-lt"/>
                <a:ea typeface="+mn-ea"/>
                <a:cs typeface="+mn-cs"/>
              </a:rPr>
              <a:t>batch </a:t>
            </a:r>
            <a:r>
              <a:rPr lang="pt-BR" sz="1200" b="1" i="1" kern="1200" dirty="0" err="1">
                <a:solidFill>
                  <a:schemeClr val="tx1"/>
                </a:solidFill>
                <a:effectLst/>
                <a:latin typeface="+mn-lt"/>
                <a:ea typeface="+mn-ea"/>
                <a:cs typeface="+mn-cs"/>
              </a:rPr>
              <a:t>normalization</a:t>
            </a:r>
            <a:r>
              <a:rPr lang="pt-BR" sz="1200" b="0" i="0" kern="1200" dirty="0">
                <a:solidFill>
                  <a:schemeClr val="tx1"/>
                </a:solidFill>
                <a:effectLst/>
                <a:latin typeface="+mn-lt"/>
                <a:ea typeface="+mn-ea"/>
                <a:cs typeface="+mn-cs"/>
              </a:rPr>
              <a:t>) é uma técnica usada em redes neurais para estabilizar e acelerar o treinamento, reduzindo a </a:t>
            </a:r>
            <a:r>
              <a:rPr lang="pt-BR" sz="1200" b="1" i="0" kern="1200" dirty="0">
                <a:solidFill>
                  <a:schemeClr val="tx1"/>
                </a:solidFill>
                <a:effectLst/>
                <a:latin typeface="+mn-lt"/>
                <a:ea typeface="+mn-ea"/>
                <a:cs typeface="+mn-cs"/>
              </a:rPr>
              <a:t>covariância interna</a:t>
            </a:r>
            <a:r>
              <a:rPr lang="pt-BR" sz="1200" b="0" i="0" kern="1200" dirty="0">
                <a:solidFill>
                  <a:schemeClr val="tx1"/>
                </a:solidFill>
                <a:effectLst/>
                <a:latin typeface="+mn-lt"/>
                <a:ea typeface="+mn-ea"/>
                <a:cs typeface="+mn-cs"/>
              </a:rPr>
              <a:t> (mudanças na distribuição das entradas de cada camada durante o treinamento). Ela opera em </a:t>
            </a:r>
            <a:r>
              <a:rPr lang="pt-BR" sz="1200" b="1" i="0" kern="1200" dirty="0" err="1">
                <a:solidFill>
                  <a:schemeClr val="tx1"/>
                </a:solidFill>
                <a:effectLst/>
                <a:latin typeface="+mn-lt"/>
                <a:ea typeface="+mn-ea"/>
                <a:cs typeface="+mn-cs"/>
              </a:rPr>
              <a:t>minibatches</a:t>
            </a:r>
            <a:r>
              <a:rPr lang="pt-BR" sz="1200" b="0" i="0" kern="1200" dirty="0">
                <a:solidFill>
                  <a:schemeClr val="tx1"/>
                </a:solidFill>
                <a:effectLst/>
                <a:latin typeface="+mn-lt"/>
                <a:ea typeface="+mn-ea"/>
                <a:cs typeface="+mn-cs"/>
              </a:rPr>
              <a:t> (subconjuntos dos dados de treinamento)</a:t>
            </a:r>
            <a:endParaRPr lang="pt-BR" dirty="0"/>
          </a:p>
          <a:p>
            <a:endParaRPr lang="pt-BR" dirty="0"/>
          </a:p>
          <a:p>
            <a:r>
              <a:rPr lang="pt-BR" dirty="0"/>
              <a:t>Referências:</a:t>
            </a:r>
          </a:p>
          <a:p>
            <a:r>
              <a:rPr lang="pt-BR" dirty="0"/>
              <a:t>[1] https://neptune.ai/blog/vanishing-and-exploding-gradients-debugging-monitoring-fixing</a:t>
            </a:r>
          </a:p>
          <a:p>
            <a:r>
              <a:rPr lang="pt-BR" dirty="0"/>
              <a:t>[2] https://programmathically.com/understanding-the-exploding-and-vanishing-gradients-problem/</a:t>
            </a:r>
          </a:p>
          <a:p>
            <a:r>
              <a:rPr lang="pt-BR" dirty="0"/>
              <a:t>[3] https://towardsdatascience.com/batch-normalization-in-3-levels-of-understanding-14c2da90a338</a:t>
            </a:r>
          </a:p>
          <a:p>
            <a:r>
              <a:rPr lang="pt-BR" dirty="0"/>
              <a:t>[4]</a:t>
            </a:r>
            <a:r>
              <a:rPr lang="pt-BR" baseline="0" dirty="0"/>
              <a:t> https://medium.com/analytics-vidhya/how-batch-normalization-and-relu-solve-vanishing-gradients-3f1a8ace1c88</a:t>
            </a:r>
          </a:p>
          <a:p>
            <a:r>
              <a:rPr lang="pt-BR" baseline="0" dirty="0"/>
              <a:t>[5] https://www.quora.com/How-does-Batch-Normalization-battle-the-fact-that-gradients-might-explode-when-training-a-Neural-Network</a:t>
            </a:r>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73</a:t>
            </a:fld>
            <a:endParaRPr lang="pt-BR"/>
          </a:p>
        </p:txBody>
      </p:sp>
    </p:spTree>
    <p:extLst>
      <p:ext uri="{BB962C8B-B14F-4D97-AF65-F5344CB8AC3E}">
        <p14:creationId xmlns:p14="http://schemas.microsoft.com/office/powerpoint/2010/main" val="21692430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en-US" dirty="0">
                    <a:cs typeface="Calibri"/>
                  </a:rPr>
                  <a:t>Referências:</a:t>
                </a:r>
              </a:p>
              <a:p>
                <a:endParaRPr lang="en-US" dirty="0">
                  <a:cs typeface="Calibri"/>
                </a:endParaRPr>
              </a:p>
              <a:p>
                <a:r>
                  <a:rPr lang="en-US" dirty="0">
                    <a:cs typeface="Calibri"/>
                  </a:rPr>
                  <a:t>[1] https://blog.paperspace.com/intro-to-optimization-in-deep-learning-gradient-descent/</a:t>
                </a:r>
              </a:p>
              <a:p>
                <a:endParaRPr lang="en-US" dirty="0">
                  <a:cs typeface="Calibri"/>
                </a:endParaRPr>
              </a:p>
              <a:p>
                <a:endParaRPr lang="en-US" dirty="0">
                  <a:cs typeface="Calibri"/>
                </a:endParaRPr>
              </a:p>
              <a:p>
                <a:r>
                  <a:rPr lang="en-US" dirty="0">
                    <a:cs typeface="Calibri"/>
                  </a:rPr>
                  <a:t>Ponto de </a:t>
                </a:r>
                <a:r>
                  <a:rPr lang="en-US" dirty="0" err="1">
                    <a:cs typeface="Calibri"/>
                  </a:rPr>
                  <a:t>sela</a:t>
                </a:r>
                <a:r>
                  <a:rPr lang="en-US" dirty="0">
                    <a:cs typeface="Calibri"/>
                  </a:rPr>
                  <a:t>: um </a:t>
                </a:r>
                <a:r>
                  <a:rPr lang="en-US" dirty="0" err="1">
                    <a:cs typeface="Calibri"/>
                  </a:rPr>
                  <a:t>ponto</a:t>
                </a:r>
                <a:r>
                  <a:rPr lang="en-US" dirty="0">
                    <a:cs typeface="Calibri"/>
                  </a:rPr>
                  <a:t> que é um </a:t>
                </a:r>
                <a:r>
                  <a:rPr lang="en-US" dirty="0" err="1">
                    <a:cs typeface="Calibri"/>
                  </a:rPr>
                  <a:t>mínimo</a:t>
                </a:r>
                <a:r>
                  <a:rPr lang="en-US" dirty="0">
                    <a:cs typeface="Calibri"/>
                  </a:rPr>
                  <a:t> </a:t>
                </a:r>
                <a:r>
                  <a:rPr lang="en-US" dirty="0" err="1">
                    <a:cs typeface="Calibri"/>
                  </a:rPr>
                  <a:t>ao</a:t>
                </a:r>
                <a:r>
                  <a:rPr lang="en-US" dirty="0">
                    <a:cs typeface="Calibri"/>
                  </a:rPr>
                  <a:t> </a:t>
                </a:r>
                <a:r>
                  <a:rPr lang="en-US" dirty="0" err="1">
                    <a:cs typeface="Calibri"/>
                  </a:rPr>
                  <a:t>longo</a:t>
                </a:r>
                <a:r>
                  <a:rPr lang="en-US" dirty="0">
                    <a:cs typeface="Calibri"/>
                  </a:rPr>
                  <a:t> de um </a:t>
                </a:r>
                <a:r>
                  <a:rPr lang="en-US" dirty="0" err="1">
                    <a:cs typeface="Calibri"/>
                  </a:rPr>
                  <a:t>eixo</a:t>
                </a:r>
                <a:r>
                  <a:rPr lang="en-US" dirty="0">
                    <a:cs typeface="Calibri"/>
                  </a:rPr>
                  <a:t> mas um </a:t>
                </a:r>
                <a:r>
                  <a:rPr lang="en-US" dirty="0" err="1">
                    <a:cs typeface="Calibri"/>
                  </a:rPr>
                  <a:t>máximo</a:t>
                </a:r>
                <a:r>
                  <a:rPr lang="en-US" dirty="0">
                    <a:cs typeface="Calibri"/>
                  </a:rPr>
                  <a:t> </a:t>
                </a:r>
                <a:r>
                  <a:rPr lang="en-US" dirty="0" err="1">
                    <a:cs typeface="Calibri"/>
                  </a:rPr>
                  <a:t>ao</a:t>
                </a:r>
                <a:r>
                  <a:rPr lang="en-US" dirty="0">
                    <a:cs typeface="Calibri"/>
                  </a:rPr>
                  <a:t> </a:t>
                </a:r>
                <a:r>
                  <a:rPr lang="en-US" dirty="0" err="1">
                    <a:cs typeface="Calibri"/>
                  </a:rPr>
                  <a:t>longo</a:t>
                </a:r>
                <a:r>
                  <a:rPr lang="en-US" dirty="0">
                    <a:cs typeface="Calibri"/>
                  </a:rPr>
                  <a:t> de outro </a:t>
                </a:r>
                <a:r>
                  <a:rPr lang="en-US" dirty="0" err="1">
                    <a:cs typeface="Calibri"/>
                  </a:rPr>
                  <a:t>eixo</a:t>
                </a:r>
                <a:r>
                  <a:rPr lang="en-US" dirty="0">
                    <a:cs typeface="Calibri"/>
                  </a:rPr>
                  <a:t>.</a:t>
                </a:r>
              </a:p>
              <a:p>
                <a:endParaRPr lang="en-US" dirty="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que são pontos que, em algumas direções são </a:t>
                </a:r>
                <a:r>
                  <a:rPr lang="pt-BR" b="1" i="1" dirty="0"/>
                  <a:t>atratores</a:t>
                </a:r>
                <a:r>
                  <a:rPr lang="pt-BR" dirty="0"/>
                  <a:t>, mas em outras não. </a:t>
                </a:r>
              </a:p>
              <a:p>
                <a:endParaRPr lang="en-US" dirty="0">
                  <a:cs typeface="Calibri"/>
                </a:endParaRPr>
              </a:p>
              <a:p>
                <a:endParaRPr lang="en-US" dirty="0">
                  <a:cs typeface="Calibri"/>
                </a:endParaRPr>
              </a:p>
              <a:p>
                <a:r>
                  <a:rPr lang="pt-BR" dirty="0"/>
                  <a:t>Para valores adequados do </a:t>
                </a:r>
                <a:r>
                  <a:rPr lang="pt-BR" b="1" dirty="0"/>
                  <a:t>passo de aprendizagem</a:t>
                </a:r>
                <a:r>
                  <a:rPr lang="pt-BR" dirty="0"/>
                  <a:t>,</a:t>
                </a:r>
                <a:r>
                  <a:rPr lang="pt-BR" b="1" dirty="0"/>
                  <a:t> </a:t>
                </a:r>
                <a14:m>
                  <m:oMath xmlns:m="http://schemas.openxmlformats.org/officeDocument/2006/math">
                    <m:r>
                      <a:rPr lang="pt-BR" i="1" smtClean="0">
                        <a:latin typeface="Cambria Math" panose="02040503050406030204" pitchFamily="18" charset="0"/>
                        <a:ea typeface="Cambria Math" panose="02040503050406030204" pitchFamily="18" charset="0"/>
                      </a:rPr>
                      <m:t>𝛼</m:t>
                    </m:r>
                  </m:oMath>
                </a14:m>
                <a:r>
                  <a:rPr lang="pt-BR" dirty="0"/>
                  <a:t>, um </a:t>
                </a:r>
                <a:r>
                  <a:rPr lang="pt-BR" b="1" i="1" dirty="0"/>
                  <a:t>mínimo local</a:t>
                </a:r>
                <a:r>
                  <a:rPr lang="pt-BR" dirty="0"/>
                  <a:t> tende a atrair o vetor de pesos quando este se encontra em sua vizinhança. </a:t>
                </a:r>
              </a:p>
              <a:p>
                <a:r>
                  <a:rPr lang="pt-BR" dirty="0"/>
                  <a:t>De maneira mais rigorosa, podemos dizer que cada mínimo tem sua </a:t>
                </a:r>
                <a:r>
                  <a:rPr lang="pt-BR" b="1" i="1" dirty="0"/>
                  <a:t>bacia de atração</a:t>
                </a:r>
                <a:r>
                  <a:rPr lang="pt-BR" dirty="0"/>
                  <a:t>.</a:t>
                </a:r>
              </a:p>
              <a:p>
                <a:endParaRPr lang="en-US" dirty="0">
                  <a:cs typeface="Calibri"/>
                </a:endParaRPr>
              </a:p>
              <a:p>
                <a:endParaRPr lang="pt-BR" dirty="0"/>
              </a:p>
            </p:txBody>
          </p:sp>
        </mc:Choice>
        <mc:Fallback xmlns="">
          <p:sp>
            <p:nvSpPr>
              <p:cNvPr id="3" name="Espaço Reservado para Anotações 2"/>
              <p:cNvSpPr>
                <a:spLocks noGrp="1"/>
              </p:cNvSpPr>
              <p:nvPr>
                <p:ph type="body" idx="1"/>
              </p:nvPr>
            </p:nvSpPr>
            <p:spPr/>
            <p:txBody>
              <a:bodyPr/>
              <a:lstStyle/>
              <a:p>
                <a:r>
                  <a:rPr lang="en-US" dirty="0">
                    <a:cs typeface="Calibri"/>
                  </a:rPr>
                  <a:t>Referências:</a:t>
                </a:r>
              </a:p>
              <a:p>
                <a:endParaRPr lang="en-US" dirty="0">
                  <a:cs typeface="Calibri"/>
                </a:endParaRPr>
              </a:p>
              <a:p>
                <a:r>
                  <a:rPr lang="en-US" dirty="0">
                    <a:cs typeface="Calibri"/>
                  </a:rPr>
                  <a:t>[1] https://blog.paperspace.com/intro-to-optimization-in-deep-learning-gradient-descent/</a:t>
                </a:r>
              </a:p>
              <a:p>
                <a:endParaRPr lang="en-US" dirty="0">
                  <a:cs typeface="Calibri"/>
                </a:endParaRPr>
              </a:p>
              <a:p>
                <a:endParaRPr lang="en-US" dirty="0">
                  <a:cs typeface="Calibri"/>
                </a:endParaRPr>
              </a:p>
              <a:p>
                <a:r>
                  <a:rPr lang="en-US" dirty="0">
                    <a:cs typeface="Calibri"/>
                  </a:rPr>
                  <a:t>Ponto de </a:t>
                </a:r>
                <a:r>
                  <a:rPr lang="en-US" dirty="0" err="1">
                    <a:cs typeface="Calibri"/>
                  </a:rPr>
                  <a:t>sela</a:t>
                </a:r>
                <a:r>
                  <a:rPr lang="en-US" dirty="0">
                    <a:cs typeface="Calibri"/>
                  </a:rPr>
                  <a:t>: um </a:t>
                </a:r>
                <a:r>
                  <a:rPr lang="en-US" dirty="0" err="1">
                    <a:cs typeface="Calibri"/>
                  </a:rPr>
                  <a:t>ponto</a:t>
                </a:r>
                <a:r>
                  <a:rPr lang="en-US" dirty="0">
                    <a:cs typeface="Calibri"/>
                  </a:rPr>
                  <a:t> que é um </a:t>
                </a:r>
                <a:r>
                  <a:rPr lang="en-US" dirty="0" err="1">
                    <a:cs typeface="Calibri"/>
                  </a:rPr>
                  <a:t>mínimo</a:t>
                </a:r>
                <a:r>
                  <a:rPr lang="en-US" dirty="0">
                    <a:cs typeface="Calibri"/>
                  </a:rPr>
                  <a:t> </a:t>
                </a:r>
                <a:r>
                  <a:rPr lang="en-US" dirty="0" err="1">
                    <a:cs typeface="Calibri"/>
                  </a:rPr>
                  <a:t>ao</a:t>
                </a:r>
                <a:r>
                  <a:rPr lang="en-US" dirty="0">
                    <a:cs typeface="Calibri"/>
                  </a:rPr>
                  <a:t> </a:t>
                </a:r>
                <a:r>
                  <a:rPr lang="en-US" dirty="0" err="1">
                    <a:cs typeface="Calibri"/>
                  </a:rPr>
                  <a:t>longo</a:t>
                </a:r>
                <a:r>
                  <a:rPr lang="en-US" dirty="0">
                    <a:cs typeface="Calibri"/>
                  </a:rPr>
                  <a:t> de um </a:t>
                </a:r>
                <a:r>
                  <a:rPr lang="en-US" dirty="0" err="1">
                    <a:cs typeface="Calibri"/>
                  </a:rPr>
                  <a:t>eixo</a:t>
                </a:r>
                <a:r>
                  <a:rPr lang="en-US" dirty="0">
                    <a:cs typeface="Calibri"/>
                  </a:rPr>
                  <a:t> mas um </a:t>
                </a:r>
                <a:r>
                  <a:rPr lang="en-US" dirty="0" err="1">
                    <a:cs typeface="Calibri"/>
                  </a:rPr>
                  <a:t>máximo</a:t>
                </a:r>
                <a:r>
                  <a:rPr lang="en-US" dirty="0">
                    <a:cs typeface="Calibri"/>
                  </a:rPr>
                  <a:t> </a:t>
                </a:r>
                <a:r>
                  <a:rPr lang="en-US" dirty="0" err="1">
                    <a:cs typeface="Calibri"/>
                  </a:rPr>
                  <a:t>ao</a:t>
                </a:r>
                <a:r>
                  <a:rPr lang="en-US" dirty="0">
                    <a:cs typeface="Calibri"/>
                  </a:rPr>
                  <a:t> </a:t>
                </a:r>
                <a:r>
                  <a:rPr lang="en-US" dirty="0" err="1">
                    <a:cs typeface="Calibri"/>
                  </a:rPr>
                  <a:t>longo</a:t>
                </a:r>
                <a:r>
                  <a:rPr lang="en-US" dirty="0">
                    <a:cs typeface="Calibri"/>
                  </a:rPr>
                  <a:t> de outro </a:t>
                </a:r>
                <a:r>
                  <a:rPr lang="en-US" dirty="0" err="1">
                    <a:cs typeface="Calibri"/>
                  </a:rPr>
                  <a:t>eixo</a:t>
                </a:r>
                <a:r>
                  <a:rPr lang="en-US" dirty="0">
                    <a:cs typeface="Calibri"/>
                  </a:rPr>
                  <a:t>.</a:t>
                </a:r>
              </a:p>
              <a:p>
                <a:endParaRPr lang="en-US" dirty="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que são pontos que, em algumas direções são </a:t>
                </a:r>
                <a:r>
                  <a:rPr lang="pt-BR" b="1" i="1" dirty="0"/>
                  <a:t>atratores</a:t>
                </a:r>
                <a:r>
                  <a:rPr lang="pt-BR" dirty="0"/>
                  <a:t>, mas em outras não. </a:t>
                </a:r>
              </a:p>
              <a:p>
                <a:endParaRPr lang="en-US" dirty="0">
                  <a:cs typeface="Calibri"/>
                </a:endParaRPr>
              </a:p>
              <a:p>
                <a:endParaRPr lang="en-US" dirty="0">
                  <a:cs typeface="Calibri"/>
                </a:endParaRPr>
              </a:p>
              <a:p>
                <a:r>
                  <a:rPr lang="pt-BR" dirty="0"/>
                  <a:t>Para valores adequados do </a:t>
                </a:r>
                <a:r>
                  <a:rPr lang="pt-BR" b="1" dirty="0"/>
                  <a:t>passo de aprendizagem</a:t>
                </a:r>
                <a:r>
                  <a:rPr lang="pt-BR" dirty="0"/>
                  <a:t>,</a:t>
                </a:r>
                <a:r>
                  <a:rPr lang="pt-BR" b="1" dirty="0"/>
                  <a:t> </a:t>
                </a:r>
                <a:r>
                  <a:rPr lang="pt-BR" i="0">
                    <a:latin typeface="Cambria Math" panose="02040503050406030204" pitchFamily="18" charset="0"/>
                    <a:ea typeface="Cambria Math" panose="02040503050406030204" pitchFamily="18" charset="0"/>
                  </a:rPr>
                  <a:t>𝛼</a:t>
                </a:r>
                <a:r>
                  <a:rPr lang="pt-BR" dirty="0"/>
                  <a:t>, um </a:t>
                </a:r>
                <a:r>
                  <a:rPr lang="pt-BR" b="1" i="1" dirty="0"/>
                  <a:t>mínimo local</a:t>
                </a:r>
                <a:r>
                  <a:rPr lang="pt-BR" dirty="0"/>
                  <a:t> tende a atrair o vetor de pesos quando este se encontra em sua vizinhança. </a:t>
                </a:r>
              </a:p>
              <a:p>
                <a:r>
                  <a:rPr lang="pt-BR" dirty="0"/>
                  <a:t>De maneira mais rigorosa, podemos dizer que cada mínimo tem sua </a:t>
                </a:r>
                <a:r>
                  <a:rPr lang="pt-BR" b="1" i="1" dirty="0"/>
                  <a:t>bacia de atração</a:t>
                </a:r>
                <a:r>
                  <a:rPr lang="pt-BR" dirty="0"/>
                  <a:t>.</a:t>
                </a:r>
              </a:p>
              <a:p>
                <a:endParaRPr lang="en-US" dirty="0">
                  <a:cs typeface="Calibri"/>
                </a:endParaRPr>
              </a:p>
              <a:p>
                <a:endParaRPr lang="pt-BR" dirty="0"/>
              </a:p>
            </p:txBody>
          </p:sp>
        </mc:Fallback>
      </mc:AlternateContent>
      <p:sp>
        <p:nvSpPr>
          <p:cNvPr id="4" name="Espaço Reservado para Número de Slide 3"/>
          <p:cNvSpPr>
            <a:spLocks noGrp="1"/>
          </p:cNvSpPr>
          <p:nvPr>
            <p:ph type="sldNum" sz="quarter" idx="5"/>
          </p:nvPr>
        </p:nvSpPr>
        <p:spPr/>
        <p:txBody>
          <a:bodyPr/>
          <a:lstStyle/>
          <a:p>
            <a:fld id="{F430A2A4-8C14-4B1A-AD48-7B6401078BF7}" type="slidenum">
              <a:rPr lang="pt-BR" smtClean="0"/>
              <a:t>75</a:t>
            </a:fld>
            <a:endParaRPr lang="pt-BR"/>
          </a:p>
        </p:txBody>
      </p:sp>
    </p:spTree>
    <p:extLst>
      <p:ext uri="{BB962C8B-B14F-4D97-AF65-F5344CB8AC3E}">
        <p14:creationId xmlns:p14="http://schemas.microsoft.com/office/powerpoint/2010/main" val="10319659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en-US" dirty="0">
                    <a:cs typeface="Calibri"/>
                  </a:rPr>
                  <a:t>Referências:</a:t>
                </a:r>
              </a:p>
              <a:p>
                <a:endParaRPr lang="en-US" dirty="0">
                  <a:cs typeface="Calibri"/>
                </a:endParaRPr>
              </a:p>
              <a:p>
                <a:r>
                  <a:rPr lang="en-US" dirty="0">
                    <a:cs typeface="Calibri"/>
                  </a:rPr>
                  <a:t>[1] https://blog.paperspace.com/intro-to-optimization-in-deep-learning-gradient-descent/</a:t>
                </a:r>
              </a:p>
              <a:p>
                <a:endParaRPr lang="en-US" dirty="0">
                  <a:cs typeface="Calibri"/>
                </a:endParaRPr>
              </a:p>
              <a:p>
                <a:endParaRPr lang="en-US" dirty="0">
                  <a:cs typeface="Calibri"/>
                </a:endParaRPr>
              </a:p>
              <a:p>
                <a:r>
                  <a:rPr lang="en-US" dirty="0">
                    <a:cs typeface="Calibri"/>
                  </a:rPr>
                  <a:t>Ponto de </a:t>
                </a:r>
                <a:r>
                  <a:rPr lang="en-US" dirty="0" err="1">
                    <a:cs typeface="Calibri"/>
                  </a:rPr>
                  <a:t>sela</a:t>
                </a:r>
                <a:r>
                  <a:rPr lang="en-US" dirty="0">
                    <a:cs typeface="Calibri"/>
                  </a:rPr>
                  <a:t>: um </a:t>
                </a:r>
                <a:r>
                  <a:rPr lang="en-US" dirty="0" err="1">
                    <a:cs typeface="Calibri"/>
                  </a:rPr>
                  <a:t>ponto</a:t>
                </a:r>
                <a:r>
                  <a:rPr lang="en-US" dirty="0">
                    <a:cs typeface="Calibri"/>
                  </a:rPr>
                  <a:t> que é um </a:t>
                </a:r>
                <a:r>
                  <a:rPr lang="en-US" dirty="0" err="1">
                    <a:cs typeface="Calibri"/>
                  </a:rPr>
                  <a:t>mínimo</a:t>
                </a:r>
                <a:r>
                  <a:rPr lang="en-US" dirty="0">
                    <a:cs typeface="Calibri"/>
                  </a:rPr>
                  <a:t> </a:t>
                </a:r>
                <a:r>
                  <a:rPr lang="en-US" dirty="0" err="1">
                    <a:cs typeface="Calibri"/>
                  </a:rPr>
                  <a:t>ao</a:t>
                </a:r>
                <a:r>
                  <a:rPr lang="en-US" dirty="0">
                    <a:cs typeface="Calibri"/>
                  </a:rPr>
                  <a:t> </a:t>
                </a:r>
                <a:r>
                  <a:rPr lang="en-US" dirty="0" err="1">
                    <a:cs typeface="Calibri"/>
                  </a:rPr>
                  <a:t>longo</a:t>
                </a:r>
                <a:r>
                  <a:rPr lang="en-US" dirty="0">
                    <a:cs typeface="Calibri"/>
                  </a:rPr>
                  <a:t> de um </a:t>
                </a:r>
                <a:r>
                  <a:rPr lang="en-US" dirty="0" err="1">
                    <a:cs typeface="Calibri"/>
                  </a:rPr>
                  <a:t>eixo</a:t>
                </a:r>
                <a:r>
                  <a:rPr lang="en-US" dirty="0">
                    <a:cs typeface="Calibri"/>
                  </a:rPr>
                  <a:t> mas um </a:t>
                </a:r>
                <a:r>
                  <a:rPr lang="en-US" dirty="0" err="1">
                    <a:cs typeface="Calibri"/>
                  </a:rPr>
                  <a:t>máximo</a:t>
                </a:r>
                <a:r>
                  <a:rPr lang="en-US" dirty="0">
                    <a:cs typeface="Calibri"/>
                  </a:rPr>
                  <a:t> </a:t>
                </a:r>
                <a:r>
                  <a:rPr lang="en-US" dirty="0" err="1">
                    <a:cs typeface="Calibri"/>
                  </a:rPr>
                  <a:t>ao</a:t>
                </a:r>
                <a:r>
                  <a:rPr lang="en-US" dirty="0">
                    <a:cs typeface="Calibri"/>
                  </a:rPr>
                  <a:t> </a:t>
                </a:r>
                <a:r>
                  <a:rPr lang="en-US" dirty="0" err="1">
                    <a:cs typeface="Calibri"/>
                  </a:rPr>
                  <a:t>longo</a:t>
                </a:r>
                <a:r>
                  <a:rPr lang="en-US" dirty="0">
                    <a:cs typeface="Calibri"/>
                  </a:rPr>
                  <a:t> de outro </a:t>
                </a:r>
                <a:r>
                  <a:rPr lang="en-US" dirty="0" err="1">
                    <a:cs typeface="Calibri"/>
                  </a:rPr>
                  <a:t>eixo</a:t>
                </a:r>
                <a:r>
                  <a:rPr lang="en-US" dirty="0">
                    <a:cs typeface="Calibri"/>
                  </a:rPr>
                  <a:t>.</a:t>
                </a:r>
              </a:p>
              <a:p>
                <a:endParaRPr lang="en-US" dirty="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que são pontos que, em algumas direções são </a:t>
                </a:r>
                <a:r>
                  <a:rPr lang="pt-BR" b="1" i="1" dirty="0"/>
                  <a:t>atratores</a:t>
                </a:r>
                <a:r>
                  <a:rPr lang="pt-BR" dirty="0"/>
                  <a:t>, mas em outras não. </a:t>
                </a:r>
              </a:p>
              <a:p>
                <a:endParaRPr lang="en-US" dirty="0">
                  <a:cs typeface="Calibri"/>
                </a:endParaRPr>
              </a:p>
              <a:p>
                <a:endParaRPr lang="en-US" dirty="0">
                  <a:cs typeface="Calibri"/>
                </a:endParaRPr>
              </a:p>
              <a:p>
                <a:r>
                  <a:rPr lang="pt-BR" dirty="0"/>
                  <a:t>Para valores adequados do </a:t>
                </a:r>
                <a:r>
                  <a:rPr lang="pt-BR" b="1" dirty="0"/>
                  <a:t>passo de aprendizagem</a:t>
                </a:r>
                <a:r>
                  <a:rPr lang="pt-BR" dirty="0"/>
                  <a:t>,</a:t>
                </a:r>
                <a:r>
                  <a:rPr lang="pt-BR" b="1" dirty="0"/>
                  <a:t> </a:t>
                </a:r>
                <a14:m>
                  <m:oMath xmlns:m="http://schemas.openxmlformats.org/officeDocument/2006/math">
                    <m:r>
                      <a:rPr lang="pt-BR" i="1" smtClean="0">
                        <a:latin typeface="Cambria Math" panose="02040503050406030204" pitchFamily="18" charset="0"/>
                        <a:ea typeface="Cambria Math" panose="02040503050406030204" pitchFamily="18" charset="0"/>
                      </a:rPr>
                      <m:t>𝛼</m:t>
                    </m:r>
                  </m:oMath>
                </a14:m>
                <a:r>
                  <a:rPr lang="pt-BR" dirty="0"/>
                  <a:t>, um </a:t>
                </a:r>
                <a:r>
                  <a:rPr lang="pt-BR" b="1" i="1" dirty="0"/>
                  <a:t>mínimo local</a:t>
                </a:r>
                <a:r>
                  <a:rPr lang="pt-BR" dirty="0"/>
                  <a:t> tende a atrair o vetor de pesos quando este se encontra em sua vizinhança. </a:t>
                </a:r>
              </a:p>
              <a:p>
                <a:r>
                  <a:rPr lang="pt-BR" dirty="0"/>
                  <a:t>De maneira mais rigorosa, podemos dizer que cada mínimo tem sua </a:t>
                </a:r>
                <a:r>
                  <a:rPr lang="pt-BR" b="1" i="1" dirty="0"/>
                  <a:t>bacia de atração</a:t>
                </a:r>
                <a:r>
                  <a:rPr lang="pt-BR" dirty="0"/>
                  <a:t>.</a:t>
                </a:r>
              </a:p>
              <a:p>
                <a:endParaRPr lang="en-US" dirty="0">
                  <a:cs typeface="Calibri"/>
                </a:endParaRPr>
              </a:p>
              <a:p>
                <a:endParaRPr lang="pt-BR" dirty="0"/>
              </a:p>
            </p:txBody>
          </p:sp>
        </mc:Choice>
        <mc:Fallback xmlns="">
          <p:sp>
            <p:nvSpPr>
              <p:cNvPr id="3" name="Espaço Reservado para Anotações 2"/>
              <p:cNvSpPr>
                <a:spLocks noGrp="1"/>
              </p:cNvSpPr>
              <p:nvPr>
                <p:ph type="body" idx="1"/>
              </p:nvPr>
            </p:nvSpPr>
            <p:spPr/>
            <p:txBody>
              <a:bodyPr/>
              <a:lstStyle/>
              <a:p>
                <a:r>
                  <a:rPr lang="en-US" dirty="0">
                    <a:cs typeface="Calibri"/>
                  </a:rPr>
                  <a:t>Referências:</a:t>
                </a:r>
              </a:p>
              <a:p>
                <a:endParaRPr lang="en-US" dirty="0">
                  <a:cs typeface="Calibri"/>
                </a:endParaRPr>
              </a:p>
              <a:p>
                <a:r>
                  <a:rPr lang="en-US" dirty="0">
                    <a:cs typeface="Calibri"/>
                  </a:rPr>
                  <a:t>[1] https://blog.paperspace.com/intro-to-optimization-in-deep-learning-gradient-descent/</a:t>
                </a:r>
              </a:p>
              <a:p>
                <a:endParaRPr lang="en-US" dirty="0">
                  <a:cs typeface="Calibri"/>
                </a:endParaRPr>
              </a:p>
              <a:p>
                <a:endParaRPr lang="en-US" dirty="0">
                  <a:cs typeface="Calibri"/>
                </a:endParaRPr>
              </a:p>
              <a:p>
                <a:r>
                  <a:rPr lang="en-US" dirty="0">
                    <a:cs typeface="Calibri"/>
                  </a:rPr>
                  <a:t>Ponto de </a:t>
                </a:r>
                <a:r>
                  <a:rPr lang="en-US" dirty="0" err="1">
                    <a:cs typeface="Calibri"/>
                  </a:rPr>
                  <a:t>sela</a:t>
                </a:r>
                <a:r>
                  <a:rPr lang="en-US" dirty="0">
                    <a:cs typeface="Calibri"/>
                  </a:rPr>
                  <a:t>: um </a:t>
                </a:r>
                <a:r>
                  <a:rPr lang="en-US" dirty="0" err="1">
                    <a:cs typeface="Calibri"/>
                  </a:rPr>
                  <a:t>ponto</a:t>
                </a:r>
                <a:r>
                  <a:rPr lang="en-US" dirty="0">
                    <a:cs typeface="Calibri"/>
                  </a:rPr>
                  <a:t> que é um </a:t>
                </a:r>
                <a:r>
                  <a:rPr lang="en-US" dirty="0" err="1">
                    <a:cs typeface="Calibri"/>
                  </a:rPr>
                  <a:t>mínimo</a:t>
                </a:r>
                <a:r>
                  <a:rPr lang="en-US" dirty="0">
                    <a:cs typeface="Calibri"/>
                  </a:rPr>
                  <a:t> </a:t>
                </a:r>
                <a:r>
                  <a:rPr lang="en-US" dirty="0" err="1">
                    <a:cs typeface="Calibri"/>
                  </a:rPr>
                  <a:t>ao</a:t>
                </a:r>
                <a:r>
                  <a:rPr lang="en-US" dirty="0">
                    <a:cs typeface="Calibri"/>
                  </a:rPr>
                  <a:t> </a:t>
                </a:r>
                <a:r>
                  <a:rPr lang="en-US" dirty="0" err="1">
                    <a:cs typeface="Calibri"/>
                  </a:rPr>
                  <a:t>longo</a:t>
                </a:r>
                <a:r>
                  <a:rPr lang="en-US" dirty="0">
                    <a:cs typeface="Calibri"/>
                  </a:rPr>
                  <a:t> de um </a:t>
                </a:r>
                <a:r>
                  <a:rPr lang="en-US" dirty="0" err="1">
                    <a:cs typeface="Calibri"/>
                  </a:rPr>
                  <a:t>eixo</a:t>
                </a:r>
                <a:r>
                  <a:rPr lang="en-US" dirty="0">
                    <a:cs typeface="Calibri"/>
                  </a:rPr>
                  <a:t> mas um </a:t>
                </a:r>
                <a:r>
                  <a:rPr lang="en-US" dirty="0" err="1">
                    <a:cs typeface="Calibri"/>
                  </a:rPr>
                  <a:t>máximo</a:t>
                </a:r>
                <a:r>
                  <a:rPr lang="en-US" dirty="0">
                    <a:cs typeface="Calibri"/>
                  </a:rPr>
                  <a:t> </a:t>
                </a:r>
                <a:r>
                  <a:rPr lang="en-US" dirty="0" err="1">
                    <a:cs typeface="Calibri"/>
                  </a:rPr>
                  <a:t>ao</a:t>
                </a:r>
                <a:r>
                  <a:rPr lang="en-US" dirty="0">
                    <a:cs typeface="Calibri"/>
                  </a:rPr>
                  <a:t> </a:t>
                </a:r>
                <a:r>
                  <a:rPr lang="en-US" dirty="0" err="1">
                    <a:cs typeface="Calibri"/>
                  </a:rPr>
                  <a:t>longo</a:t>
                </a:r>
                <a:r>
                  <a:rPr lang="en-US" dirty="0">
                    <a:cs typeface="Calibri"/>
                  </a:rPr>
                  <a:t> de outro </a:t>
                </a:r>
                <a:r>
                  <a:rPr lang="en-US" dirty="0" err="1">
                    <a:cs typeface="Calibri"/>
                  </a:rPr>
                  <a:t>eixo</a:t>
                </a:r>
                <a:r>
                  <a:rPr lang="en-US" dirty="0">
                    <a:cs typeface="Calibri"/>
                  </a:rPr>
                  <a:t>.</a:t>
                </a:r>
              </a:p>
              <a:p>
                <a:endParaRPr lang="en-US" dirty="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que são pontos que, em algumas direções são </a:t>
                </a:r>
                <a:r>
                  <a:rPr lang="pt-BR" b="1" i="1" dirty="0"/>
                  <a:t>atratores</a:t>
                </a:r>
                <a:r>
                  <a:rPr lang="pt-BR" dirty="0"/>
                  <a:t>, mas em outras não. </a:t>
                </a:r>
              </a:p>
              <a:p>
                <a:endParaRPr lang="en-US" dirty="0">
                  <a:cs typeface="Calibri"/>
                </a:endParaRPr>
              </a:p>
              <a:p>
                <a:endParaRPr lang="en-US" dirty="0">
                  <a:cs typeface="Calibri"/>
                </a:endParaRPr>
              </a:p>
              <a:p>
                <a:r>
                  <a:rPr lang="pt-BR" dirty="0"/>
                  <a:t>Para valores adequados do </a:t>
                </a:r>
                <a:r>
                  <a:rPr lang="pt-BR" b="1" dirty="0"/>
                  <a:t>passo de aprendizagem</a:t>
                </a:r>
                <a:r>
                  <a:rPr lang="pt-BR" dirty="0"/>
                  <a:t>,</a:t>
                </a:r>
                <a:r>
                  <a:rPr lang="pt-BR" b="1" dirty="0"/>
                  <a:t> </a:t>
                </a:r>
                <a:r>
                  <a:rPr lang="pt-BR" i="0">
                    <a:latin typeface="Cambria Math" panose="02040503050406030204" pitchFamily="18" charset="0"/>
                    <a:ea typeface="Cambria Math" panose="02040503050406030204" pitchFamily="18" charset="0"/>
                  </a:rPr>
                  <a:t>𝛼</a:t>
                </a:r>
                <a:r>
                  <a:rPr lang="pt-BR" dirty="0"/>
                  <a:t>, um </a:t>
                </a:r>
                <a:r>
                  <a:rPr lang="pt-BR" b="1" i="1" dirty="0"/>
                  <a:t>mínimo local</a:t>
                </a:r>
                <a:r>
                  <a:rPr lang="pt-BR" dirty="0"/>
                  <a:t> tende a atrair o vetor de pesos quando este se encontra em sua vizinhança. </a:t>
                </a:r>
              </a:p>
              <a:p>
                <a:r>
                  <a:rPr lang="pt-BR" dirty="0"/>
                  <a:t>De maneira mais rigorosa, podemos dizer que cada mínimo tem sua </a:t>
                </a:r>
                <a:r>
                  <a:rPr lang="pt-BR" b="1" i="1" dirty="0"/>
                  <a:t>bacia de atração</a:t>
                </a:r>
                <a:r>
                  <a:rPr lang="pt-BR" dirty="0"/>
                  <a:t>.</a:t>
                </a:r>
              </a:p>
              <a:p>
                <a:endParaRPr lang="en-US" dirty="0">
                  <a:cs typeface="Calibri"/>
                </a:endParaRPr>
              </a:p>
              <a:p>
                <a:endParaRPr lang="pt-BR" dirty="0"/>
              </a:p>
            </p:txBody>
          </p:sp>
        </mc:Fallback>
      </mc:AlternateContent>
      <p:sp>
        <p:nvSpPr>
          <p:cNvPr id="4" name="Espaço Reservado para Número de Slide 3"/>
          <p:cNvSpPr>
            <a:spLocks noGrp="1"/>
          </p:cNvSpPr>
          <p:nvPr>
            <p:ph type="sldNum" sz="quarter" idx="5"/>
          </p:nvPr>
        </p:nvSpPr>
        <p:spPr/>
        <p:txBody>
          <a:bodyPr/>
          <a:lstStyle/>
          <a:p>
            <a:fld id="{F430A2A4-8C14-4B1A-AD48-7B6401078BF7}" type="slidenum">
              <a:rPr lang="pt-BR" smtClean="0"/>
              <a:t>76</a:t>
            </a:fld>
            <a:endParaRPr lang="pt-BR"/>
          </a:p>
        </p:txBody>
      </p:sp>
    </p:spTree>
    <p:extLst>
      <p:ext uri="{BB962C8B-B14F-4D97-AF65-F5344CB8AC3E}">
        <p14:creationId xmlns:p14="http://schemas.microsoft.com/office/powerpoint/2010/main" val="16140012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B9B4FF-B06E-403C-A326-BDC64D8FF9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47BDFCE-746E-45BF-A319-4733D58D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EDE2778-5372-4104-B96D-968184DA8288}"/>
              </a:ext>
            </a:extLst>
          </p:cNvPr>
          <p:cNvSpPr>
            <a:spLocks noGrp="1"/>
          </p:cNvSpPr>
          <p:nvPr>
            <p:ph type="dt" sz="half" idx="10"/>
          </p:nvPr>
        </p:nvSpPr>
        <p:spPr/>
        <p:txBody>
          <a:bodyPr/>
          <a:lstStyle/>
          <a:p>
            <a:fld id="{63289F7E-B80B-496E-81B4-D396C37C9454}" type="datetimeFigureOut">
              <a:rPr lang="pt-BR" smtClean="0"/>
              <a:t>05/10/2026</a:t>
            </a:fld>
            <a:endParaRPr lang="pt-BR"/>
          </a:p>
        </p:txBody>
      </p:sp>
      <p:sp>
        <p:nvSpPr>
          <p:cNvPr id="5" name="Espaço Reservado para Rodapé 4">
            <a:extLst>
              <a:ext uri="{FF2B5EF4-FFF2-40B4-BE49-F238E27FC236}">
                <a16:creationId xmlns:a16="http://schemas.microsoft.com/office/drawing/2014/main" id="{C1DD0F41-C861-4051-988D-3024A37A4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7E5967E-D980-431A-A5DB-3F0C5030A81E}"/>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4975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D44A5-8F21-4626-A01D-48A1C874B1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79E8085-65A9-48AA-951D-71D978BFF4ED}"/>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05BE1AF-51EA-425D-B188-DE7BD675009F}"/>
              </a:ext>
            </a:extLst>
          </p:cNvPr>
          <p:cNvSpPr>
            <a:spLocks noGrp="1"/>
          </p:cNvSpPr>
          <p:nvPr>
            <p:ph type="dt" sz="half" idx="10"/>
          </p:nvPr>
        </p:nvSpPr>
        <p:spPr/>
        <p:txBody>
          <a:bodyPr/>
          <a:lstStyle/>
          <a:p>
            <a:fld id="{63289F7E-B80B-496E-81B4-D396C37C9454}" type="datetimeFigureOut">
              <a:rPr lang="pt-BR" smtClean="0"/>
              <a:t>05/10/2026</a:t>
            </a:fld>
            <a:endParaRPr lang="pt-BR"/>
          </a:p>
        </p:txBody>
      </p:sp>
      <p:sp>
        <p:nvSpPr>
          <p:cNvPr id="5" name="Espaço Reservado para Rodapé 4">
            <a:extLst>
              <a:ext uri="{FF2B5EF4-FFF2-40B4-BE49-F238E27FC236}">
                <a16:creationId xmlns:a16="http://schemas.microsoft.com/office/drawing/2014/main" id="{121BE632-29CF-4CB9-B365-C9EF38F89BE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0CF3DD1-9AEC-4A57-B461-4E4DD86FAC1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8790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AB2FF0-A4D7-4E28-991D-FF26140D598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E2AC45B0-4145-40DB-8E61-105461170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50F1D3FB-740A-4EBA-A309-2CE71D12ECFB}"/>
              </a:ext>
            </a:extLst>
          </p:cNvPr>
          <p:cNvSpPr>
            <a:spLocks noGrp="1"/>
          </p:cNvSpPr>
          <p:nvPr>
            <p:ph type="dt" sz="half" idx="10"/>
          </p:nvPr>
        </p:nvSpPr>
        <p:spPr/>
        <p:txBody>
          <a:bodyPr/>
          <a:lstStyle/>
          <a:p>
            <a:fld id="{63289F7E-B80B-496E-81B4-D396C37C9454}" type="datetimeFigureOut">
              <a:rPr lang="pt-BR" smtClean="0"/>
              <a:t>05/10/2026</a:t>
            </a:fld>
            <a:endParaRPr lang="pt-BR"/>
          </a:p>
        </p:txBody>
      </p:sp>
      <p:sp>
        <p:nvSpPr>
          <p:cNvPr id="5" name="Espaço Reservado para Rodapé 4">
            <a:extLst>
              <a:ext uri="{FF2B5EF4-FFF2-40B4-BE49-F238E27FC236}">
                <a16:creationId xmlns:a16="http://schemas.microsoft.com/office/drawing/2014/main" id="{BDCAB18F-8715-4465-A940-F9C193A2AC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53466C6-8248-429F-8056-FF040BF509EB}"/>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46522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BB9F0-F14B-4A91-B2B7-35BC47FE4D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C1FC1C4-73DA-47A6-8496-B0B457F7D39A}"/>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E92F06A8-A449-4D92-9912-76873E529B3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38070A4-BC2F-4D55-BD8D-DEAF11BB9EE9}"/>
              </a:ext>
            </a:extLst>
          </p:cNvPr>
          <p:cNvSpPr>
            <a:spLocks noGrp="1"/>
          </p:cNvSpPr>
          <p:nvPr>
            <p:ph type="dt" sz="half" idx="10"/>
          </p:nvPr>
        </p:nvSpPr>
        <p:spPr/>
        <p:txBody>
          <a:bodyPr/>
          <a:lstStyle/>
          <a:p>
            <a:fld id="{63289F7E-B80B-496E-81B4-D396C37C9454}" type="datetimeFigureOut">
              <a:rPr lang="pt-BR" smtClean="0"/>
              <a:t>05/10/2026</a:t>
            </a:fld>
            <a:endParaRPr lang="pt-BR"/>
          </a:p>
        </p:txBody>
      </p:sp>
      <p:sp>
        <p:nvSpPr>
          <p:cNvPr id="6" name="Espaço Reservado para Rodapé 5">
            <a:extLst>
              <a:ext uri="{FF2B5EF4-FFF2-40B4-BE49-F238E27FC236}">
                <a16:creationId xmlns:a16="http://schemas.microsoft.com/office/drawing/2014/main" id="{45CC2DB8-844A-465F-BA9A-7734C80C7F4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CC606A8-097B-4040-94E0-CD8C88280D8F}"/>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89854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D66686-0143-4CB6-8C09-BA326F1E7AC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227AB85-F59E-4BCE-B846-4FA0992C2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3373456C-7319-4D0A-827D-D29F6B083F5D}"/>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CD109D0-2E83-4262-8029-A871CEC47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AD706E3A-CFBB-4A6C-A65F-D0360A9E74FE}"/>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172C0E5-5AF0-4805-BB51-443733CD2BD5}"/>
              </a:ext>
            </a:extLst>
          </p:cNvPr>
          <p:cNvSpPr>
            <a:spLocks noGrp="1"/>
          </p:cNvSpPr>
          <p:nvPr>
            <p:ph type="dt" sz="half" idx="10"/>
          </p:nvPr>
        </p:nvSpPr>
        <p:spPr/>
        <p:txBody>
          <a:bodyPr/>
          <a:lstStyle/>
          <a:p>
            <a:fld id="{63289F7E-B80B-496E-81B4-D396C37C9454}" type="datetimeFigureOut">
              <a:rPr lang="pt-BR" smtClean="0"/>
              <a:t>05/10/2026</a:t>
            </a:fld>
            <a:endParaRPr lang="pt-BR"/>
          </a:p>
        </p:txBody>
      </p:sp>
      <p:sp>
        <p:nvSpPr>
          <p:cNvPr id="8" name="Espaço Reservado para Rodapé 7">
            <a:extLst>
              <a:ext uri="{FF2B5EF4-FFF2-40B4-BE49-F238E27FC236}">
                <a16:creationId xmlns:a16="http://schemas.microsoft.com/office/drawing/2014/main" id="{0E801648-156F-497E-99CF-797DF48051E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EEE23D32-80E7-4796-A137-66BF842E4B53}"/>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7224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CE2379-C78F-47E1-8CFC-B846E7AF14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42600A9-7F92-4E22-9D94-E4717252A817}"/>
              </a:ext>
            </a:extLst>
          </p:cNvPr>
          <p:cNvSpPr>
            <a:spLocks noGrp="1"/>
          </p:cNvSpPr>
          <p:nvPr>
            <p:ph type="dt" sz="half" idx="10"/>
          </p:nvPr>
        </p:nvSpPr>
        <p:spPr/>
        <p:txBody>
          <a:bodyPr/>
          <a:lstStyle/>
          <a:p>
            <a:fld id="{63289F7E-B80B-496E-81B4-D396C37C9454}" type="datetimeFigureOut">
              <a:rPr lang="pt-BR" smtClean="0"/>
              <a:t>05/10/2026</a:t>
            </a:fld>
            <a:endParaRPr lang="pt-BR"/>
          </a:p>
        </p:txBody>
      </p:sp>
      <p:sp>
        <p:nvSpPr>
          <p:cNvPr id="4" name="Espaço Reservado para Rodapé 3">
            <a:extLst>
              <a:ext uri="{FF2B5EF4-FFF2-40B4-BE49-F238E27FC236}">
                <a16:creationId xmlns:a16="http://schemas.microsoft.com/office/drawing/2014/main" id="{192E6BED-F546-40CC-A2DF-99CBA853654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6091CC40-A8C4-4063-80EB-CC509962167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24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D19515C-212C-4EAE-84A3-8FF4BC844F1B}"/>
              </a:ext>
            </a:extLst>
          </p:cNvPr>
          <p:cNvSpPr>
            <a:spLocks noGrp="1"/>
          </p:cNvSpPr>
          <p:nvPr>
            <p:ph type="dt" sz="half" idx="10"/>
          </p:nvPr>
        </p:nvSpPr>
        <p:spPr/>
        <p:txBody>
          <a:bodyPr/>
          <a:lstStyle/>
          <a:p>
            <a:fld id="{63289F7E-B80B-496E-81B4-D396C37C9454}" type="datetimeFigureOut">
              <a:rPr lang="pt-BR" smtClean="0"/>
              <a:t>05/10/2026</a:t>
            </a:fld>
            <a:endParaRPr lang="pt-BR"/>
          </a:p>
        </p:txBody>
      </p:sp>
      <p:sp>
        <p:nvSpPr>
          <p:cNvPr id="3" name="Espaço Reservado para Rodapé 2">
            <a:extLst>
              <a:ext uri="{FF2B5EF4-FFF2-40B4-BE49-F238E27FC236}">
                <a16:creationId xmlns:a16="http://schemas.microsoft.com/office/drawing/2014/main" id="{94D3D120-B3E8-4C96-861D-7A4F12F49B3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2E49B68-FA1B-468B-9F17-D5C09243D454}"/>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18123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17BCBE-A897-4319-85EC-D87909C2498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4226F885-0204-4913-868B-4B8B82576F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00F9F784-A858-441B-8AB5-69709814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A4DC363A-5000-472E-8B17-02E7DCB8840A}"/>
              </a:ext>
            </a:extLst>
          </p:cNvPr>
          <p:cNvSpPr>
            <a:spLocks noGrp="1"/>
          </p:cNvSpPr>
          <p:nvPr>
            <p:ph type="dt" sz="half" idx="10"/>
          </p:nvPr>
        </p:nvSpPr>
        <p:spPr/>
        <p:txBody>
          <a:bodyPr/>
          <a:lstStyle/>
          <a:p>
            <a:fld id="{63289F7E-B80B-496E-81B4-D396C37C9454}" type="datetimeFigureOut">
              <a:rPr lang="pt-BR" smtClean="0"/>
              <a:t>05/10/2026</a:t>
            </a:fld>
            <a:endParaRPr lang="pt-BR"/>
          </a:p>
        </p:txBody>
      </p:sp>
      <p:sp>
        <p:nvSpPr>
          <p:cNvPr id="6" name="Espaço Reservado para Rodapé 5">
            <a:extLst>
              <a:ext uri="{FF2B5EF4-FFF2-40B4-BE49-F238E27FC236}">
                <a16:creationId xmlns:a16="http://schemas.microsoft.com/office/drawing/2014/main" id="{5548425D-2C21-4C56-BAD4-662978775C2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63E9726-E64C-42B2-AE8A-8C235A956B4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588610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086A78-3E74-450C-96A6-CA8AC37AF77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5F5B7312-975A-4DBC-9B2F-3652ADA00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AF805F5-1DFF-41C6-944C-7D79FE0D0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02113D81-8665-4516-BD81-C6A1F254EECD}"/>
              </a:ext>
            </a:extLst>
          </p:cNvPr>
          <p:cNvSpPr>
            <a:spLocks noGrp="1"/>
          </p:cNvSpPr>
          <p:nvPr>
            <p:ph type="dt" sz="half" idx="10"/>
          </p:nvPr>
        </p:nvSpPr>
        <p:spPr/>
        <p:txBody>
          <a:bodyPr/>
          <a:lstStyle/>
          <a:p>
            <a:fld id="{63289F7E-B80B-496E-81B4-D396C37C9454}" type="datetimeFigureOut">
              <a:rPr lang="pt-BR" smtClean="0"/>
              <a:t>05/10/2026</a:t>
            </a:fld>
            <a:endParaRPr lang="pt-BR"/>
          </a:p>
        </p:txBody>
      </p:sp>
      <p:sp>
        <p:nvSpPr>
          <p:cNvPr id="6" name="Espaço Reservado para Rodapé 5">
            <a:extLst>
              <a:ext uri="{FF2B5EF4-FFF2-40B4-BE49-F238E27FC236}">
                <a16:creationId xmlns:a16="http://schemas.microsoft.com/office/drawing/2014/main" id="{2B00C88B-FF32-40AA-A187-727D96FD786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04D1A2D-69F7-4B8F-A730-BC26DC340BA6}"/>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03464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36C49F-3E68-4175-81BA-3C3FEE44308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426FA736-3DD3-4D4E-B57B-BBE1D8F7D424}"/>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9E8855C-D8FD-48F6-B14E-861E0DE4D915}"/>
              </a:ext>
            </a:extLst>
          </p:cNvPr>
          <p:cNvSpPr>
            <a:spLocks noGrp="1"/>
          </p:cNvSpPr>
          <p:nvPr>
            <p:ph type="dt" sz="half" idx="10"/>
          </p:nvPr>
        </p:nvSpPr>
        <p:spPr/>
        <p:txBody>
          <a:bodyPr/>
          <a:lstStyle/>
          <a:p>
            <a:fld id="{63289F7E-B80B-496E-81B4-D396C37C9454}" type="datetimeFigureOut">
              <a:rPr lang="pt-BR" smtClean="0"/>
              <a:t>05/10/2026</a:t>
            </a:fld>
            <a:endParaRPr lang="pt-BR"/>
          </a:p>
        </p:txBody>
      </p:sp>
      <p:sp>
        <p:nvSpPr>
          <p:cNvPr id="5" name="Espaço Reservado para Rodapé 4">
            <a:extLst>
              <a:ext uri="{FF2B5EF4-FFF2-40B4-BE49-F238E27FC236}">
                <a16:creationId xmlns:a16="http://schemas.microsoft.com/office/drawing/2014/main" id="{97C0BB88-2F21-42A5-ACFF-83DA47F2D3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CB462B3-1F22-4C05-B4B8-7A279FB7D5E9}"/>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55348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EAB728-701C-4207-A9D5-23FF45C6050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BA8C8CCF-7823-480A-9A19-0F664DD17E3B}"/>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21D5734-7B1F-425D-942F-6EB73344027C}"/>
              </a:ext>
            </a:extLst>
          </p:cNvPr>
          <p:cNvSpPr>
            <a:spLocks noGrp="1"/>
          </p:cNvSpPr>
          <p:nvPr>
            <p:ph type="dt" sz="half" idx="10"/>
          </p:nvPr>
        </p:nvSpPr>
        <p:spPr/>
        <p:txBody>
          <a:bodyPr/>
          <a:lstStyle/>
          <a:p>
            <a:fld id="{63289F7E-B80B-496E-81B4-D396C37C9454}" type="datetimeFigureOut">
              <a:rPr lang="pt-BR" smtClean="0"/>
              <a:t>05/10/2026</a:t>
            </a:fld>
            <a:endParaRPr lang="pt-BR"/>
          </a:p>
        </p:txBody>
      </p:sp>
      <p:sp>
        <p:nvSpPr>
          <p:cNvPr id="5" name="Espaço Reservado para Rodapé 4">
            <a:extLst>
              <a:ext uri="{FF2B5EF4-FFF2-40B4-BE49-F238E27FC236}">
                <a16:creationId xmlns:a16="http://schemas.microsoft.com/office/drawing/2014/main" id="{1E1AAEAC-F08D-45FE-89EC-B1B349A868C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A44493-9911-47B2-87A6-C2141A972BC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1824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69A0273-1966-4A1B-9370-4C1CE503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3B9CF87A-0448-49A7-AB25-EBC1D56A4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EF7B1F2-BB5A-44D0-816D-16AD2C714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89F7E-B80B-496E-81B4-D396C37C9454}" type="datetimeFigureOut">
              <a:rPr lang="pt-BR" smtClean="0"/>
              <a:t>05/10/2026</a:t>
            </a:fld>
            <a:endParaRPr lang="pt-BR"/>
          </a:p>
        </p:txBody>
      </p:sp>
      <p:sp>
        <p:nvSpPr>
          <p:cNvPr id="5" name="Espaço Reservado para Rodapé 4">
            <a:extLst>
              <a:ext uri="{FF2B5EF4-FFF2-40B4-BE49-F238E27FC236}">
                <a16:creationId xmlns:a16="http://schemas.microsoft.com/office/drawing/2014/main" id="{C703F94C-2CC8-4DAA-BC35-14FC3E841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4051336-7048-457A-8B61-D94291D71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E88B7-70CE-4035-AE73-13FA6FB985D4}" type="slidenum">
              <a:rPr lang="pt-BR" smtClean="0"/>
              <a:t>‹nº›</a:t>
            </a:fld>
            <a:endParaRPr lang="pt-BR"/>
          </a:p>
        </p:txBody>
      </p:sp>
    </p:spTree>
    <p:extLst>
      <p:ext uri="{BB962C8B-B14F-4D97-AF65-F5344CB8AC3E}">
        <p14:creationId xmlns:p14="http://schemas.microsoft.com/office/powerpoint/2010/main" val="28362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felipe.figueiredo@Inatel.b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6.jpeg"/><Relationship Id="rId7" Type="http://schemas.openxmlformats.org/officeDocument/2006/relationships/image" Target="../media/image13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0.png"/><Relationship Id="rId11" Type="http://schemas.openxmlformats.org/officeDocument/2006/relationships/image" Target="../media/image17.png"/><Relationship Id="rId5" Type="http://schemas.openxmlformats.org/officeDocument/2006/relationships/image" Target="../media/image110.png"/><Relationship Id="rId10" Type="http://schemas.openxmlformats.org/officeDocument/2006/relationships/image" Target="../media/image160.png"/><Relationship Id="rId4" Type="http://schemas.openxmlformats.org/officeDocument/2006/relationships/image" Target="../media/image100.png"/><Relationship Id="rId9" Type="http://schemas.openxmlformats.org/officeDocument/2006/relationships/image" Target="../media/image150.png"/></Relationships>
</file>

<file path=ppt/slides/_rels/slide10.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6.jpeg"/><Relationship Id="rId7" Type="http://schemas.openxmlformats.org/officeDocument/2006/relationships/image" Target="../media/image13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0.png"/><Relationship Id="rId11" Type="http://schemas.openxmlformats.org/officeDocument/2006/relationships/image" Target="../media/image17.png"/><Relationship Id="rId5" Type="http://schemas.openxmlformats.org/officeDocument/2006/relationships/image" Target="../media/image110.png"/><Relationship Id="rId10" Type="http://schemas.openxmlformats.org/officeDocument/2006/relationships/image" Target="../media/image160.png"/><Relationship Id="rId4" Type="http://schemas.openxmlformats.org/officeDocument/2006/relationships/image" Target="../media/image100.png"/><Relationship Id="rId9" Type="http://schemas.openxmlformats.org/officeDocument/2006/relationships/image" Target="../media/image150.png"/></Relationships>
</file>

<file path=ppt/slides/_rels/slide11.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6.jpeg"/><Relationship Id="rId7" Type="http://schemas.openxmlformats.org/officeDocument/2006/relationships/image" Target="../media/image130.png"/><Relationship Id="rId12"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0.png"/><Relationship Id="rId11" Type="http://schemas.openxmlformats.org/officeDocument/2006/relationships/image" Target="../media/image17.png"/><Relationship Id="rId5" Type="http://schemas.openxmlformats.org/officeDocument/2006/relationships/image" Target="../media/image110.png"/><Relationship Id="rId10" Type="http://schemas.openxmlformats.org/officeDocument/2006/relationships/image" Target="../media/image160.png"/><Relationship Id="rId4" Type="http://schemas.openxmlformats.org/officeDocument/2006/relationships/image" Target="../media/image100.png"/><Relationship Id="rId9" Type="http://schemas.openxmlformats.org/officeDocument/2006/relationships/image" Target="../media/image150.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8" Type="http://schemas.openxmlformats.org/officeDocument/2006/relationships/image" Target="../media/image510.png"/><Relationship Id="rId7" Type="http://schemas.openxmlformats.org/officeDocument/2006/relationships/image" Target="../media/image5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3.png"/><Relationship Id="rId9" Type="http://schemas.openxmlformats.org/officeDocument/2006/relationships/image" Target="../media/image191.png"/></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3.png"/><Relationship Id="rId3" Type="http://schemas.openxmlformats.org/officeDocument/2006/relationships/image" Target="../media/image25.png"/><Relationship Id="rId7" Type="http://schemas.openxmlformats.org/officeDocument/2006/relationships/image" Target="../media/image9.png"/><Relationship Id="rId12"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1.png"/><Relationship Id="rId5" Type="http://schemas.openxmlformats.org/officeDocument/2006/relationships/image" Target="../media/image27.png"/><Relationship Id="rId10" Type="http://schemas.openxmlformats.org/officeDocument/2006/relationships/image" Target="../media/image30.png"/><Relationship Id="rId4" Type="http://schemas.openxmlformats.org/officeDocument/2006/relationships/image" Target="../media/image26.png"/><Relationship Id="rId9" Type="http://schemas.openxmlformats.org/officeDocument/2006/relationships/image" Target="../media/image11.png"/><Relationship Id="rId14" Type="http://schemas.openxmlformats.org/officeDocument/2006/relationships/image" Target="../media/image34.png"/></Relationships>
</file>

<file path=ppt/slides/_rels/slide2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3.png"/><Relationship Id="rId3" Type="http://schemas.openxmlformats.org/officeDocument/2006/relationships/image" Target="../media/image25.png"/><Relationship Id="rId7" Type="http://schemas.openxmlformats.org/officeDocument/2006/relationships/image" Target="../media/image9.png"/><Relationship Id="rId12"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1.png"/><Relationship Id="rId5" Type="http://schemas.openxmlformats.org/officeDocument/2006/relationships/image" Target="../media/image27.png"/><Relationship Id="rId10" Type="http://schemas.openxmlformats.org/officeDocument/2006/relationships/image" Target="../media/image30.png"/><Relationship Id="rId4" Type="http://schemas.openxmlformats.org/officeDocument/2006/relationships/image" Target="../media/image26.png"/><Relationship Id="rId9" Type="http://schemas.openxmlformats.org/officeDocument/2006/relationships/image" Target="../media/image11.png"/><Relationship Id="rId14" Type="http://schemas.openxmlformats.org/officeDocument/2006/relationships/image" Target="../media/image34.png"/></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3.png"/><Relationship Id="rId3" Type="http://schemas.openxmlformats.org/officeDocument/2006/relationships/image" Target="../media/image25.png"/><Relationship Id="rId7" Type="http://schemas.openxmlformats.org/officeDocument/2006/relationships/image" Target="../media/image9.png"/><Relationship Id="rId12"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1.png"/><Relationship Id="rId5" Type="http://schemas.openxmlformats.org/officeDocument/2006/relationships/image" Target="../media/image27.png"/><Relationship Id="rId10" Type="http://schemas.openxmlformats.org/officeDocument/2006/relationships/image" Target="../media/image30.png"/><Relationship Id="rId4" Type="http://schemas.openxmlformats.org/officeDocument/2006/relationships/image" Target="../media/image26.png"/><Relationship Id="rId9" Type="http://schemas.openxmlformats.org/officeDocument/2006/relationships/image" Target="../media/image11.png"/><Relationship Id="rId1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3.png"/><Relationship Id="rId3" Type="http://schemas.openxmlformats.org/officeDocument/2006/relationships/image" Target="../media/image25.png"/><Relationship Id="rId7" Type="http://schemas.openxmlformats.org/officeDocument/2006/relationships/image" Target="../media/image9.png"/><Relationship Id="rId12"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1.png"/><Relationship Id="rId5" Type="http://schemas.openxmlformats.org/officeDocument/2006/relationships/image" Target="../media/image27.png"/><Relationship Id="rId10" Type="http://schemas.openxmlformats.org/officeDocument/2006/relationships/image" Target="../media/image30.png"/><Relationship Id="rId4" Type="http://schemas.openxmlformats.org/officeDocument/2006/relationships/image" Target="../media/image26.png"/><Relationship Id="rId9" Type="http://schemas.openxmlformats.org/officeDocument/2006/relationships/image" Target="../media/image11.png"/><Relationship Id="rId14" Type="http://schemas.openxmlformats.org/officeDocument/2006/relationships/image" Target="../media/image34.png"/></Relationships>
</file>

<file path=ppt/slides/_rels/slide2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34.png"/><Relationship Id="rId3" Type="http://schemas.openxmlformats.org/officeDocument/2006/relationships/image" Target="../media/image26.png"/><Relationship Id="rId7" Type="http://schemas.openxmlformats.org/officeDocument/2006/relationships/image" Target="../media/image29.png"/><Relationship Id="rId12" Type="http://schemas.openxmlformats.org/officeDocument/2006/relationships/image" Target="../media/image33.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32.png"/><Relationship Id="rId5" Type="http://schemas.openxmlformats.org/officeDocument/2006/relationships/image" Target="../media/image28.png"/><Relationship Id="rId10" Type="http://schemas.openxmlformats.org/officeDocument/2006/relationships/image" Target="../media/image31.png"/><Relationship Id="rId4" Type="http://schemas.openxmlformats.org/officeDocument/2006/relationships/image" Target="../media/image27.png"/><Relationship Id="rId9" Type="http://schemas.openxmlformats.org/officeDocument/2006/relationships/image" Target="../media/image30.png"/></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3.png"/><Relationship Id="rId3" Type="http://schemas.openxmlformats.org/officeDocument/2006/relationships/image" Target="../media/image25.png"/><Relationship Id="rId7" Type="http://schemas.openxmlformats.org/officeDocument/2006/relationships/image" Target="../media/image9.png"/><Relationship Id="rId12"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1.png"/><Relationship Id="rId5" Type="http://schemas.openxmlformats.org/officeDocument/2006/relationships/image" Target="../media/image27.png"/><Relationship Id="rId10" Type="http://schemas.openxmlformats.org/officeDocument/2006/relationships/image" Target="../media/image30.png"/><Relationship Id="rId4" Type="http://schemas.openxmlformats.org/officeDocument/2006/relationships/image" Target="../media/image26.png"/><Relationship Id="rId9" Type="http://schemas.openxmlformats.org/officeDocument/2006/relationships/image" Target="../media/image11.png"/><Relationship Id="rId14" Type="http://schemas.openxmlformats.org/officeDocument/2006/relationships/image" Target="../media/image34.png"/></Relationships>
</file>

<file path=ppt/slides/_rels/slide3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34.png"/><Relationship Id="rId3" Type="http://schemas.openxmlformats.org/officeDocument/2006/relationships/image" Target="../media/image26.png"/><Relationship Id="rId7" Type="http://schemas.openxmlformats.org/officeDocument/2006/relationships/image" Target="../media/image29.png"/><Relationship Id="rId12" Type="http://schemas.openxmlformats.org/officeDocument/2006/relationships/image" Target="../media/image33.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32.png"/><Relationship Id="rId5" Type="http://schemas.openxmlformats.org/officeDocument/2006/relationships/image" Target="../media/image28.png"/><Relationship Id="rId10" Type="http://schemas.openxmlformats.org/officeDocument/2006/relationships/image" Target="../media/image31.png"/><Relationship Id="rId4" Type="http://schemas.openxmlformats.org/officeDocument/2006/relationships/image" Target="../media/image27.png"/><Relationship Id="rId9" Type="http://schemas.openxmlformats.org/officeDocument/2006/relationships/image" Target="../media/image30.png"/></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38.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4" Type="http://schemas.openxmlformats.org/officeDocument/2006/relationships/image" Target="../media/image400.png"/><Relationship Id="rId9" Type="http://schemas.openxmlformats.org/officeDocument/2006/relationships/image" Target="../media/image45.png"/><Relationship Id="rId14" Type="http://schemas.openxmlformats.org/officeDocument/2006/relationships/image" Target="../media/image50.png"/></Relationships>
</file>

<file path=ppt/slides/_rels/slide3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18" Type="http://schemas.openxmlformats.org/officeDocument/2006/relationships/image" Target="../media/image40.png"/><Relationship Id="rId3" Type="http://schemas.openxmlformats.org/officeDocument/2006/relationships/image" Target="../media/image39.png"/><Relationship Id="rId7" Type="http://schemas.openxmlformats.org/officeDocument/2006/relationships/image" Target="../media/image80.png"/><Relationship Id="rId12" Type="http://schemas.openxmlformats.org/officeDocument/2006/relationships/image" Target="../media/image61.png"/><Relationship Id="rId17" Type="http://schemas.openxmlformats.org/officeDocument/2006/relationships/image" Target="../media/image56.png"/><Relationship Id="rId2" Type="http://schemas.openxmlformats.org/officeDocument/2006/relationships/notesSlide" Target="../notesSlides/notesSlide24.xml"/><Relationship Id="rId16"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5" Type="http://schemas.openxmlformats.org/officeDocument/2006/relationships/image" Target="../media/image67.png"/><Relationship Id="rId10" Type="http://schemas.openxmlformats.org/officeDocument/2006/relationships/image" Target="../media/image590.png"/><Relationship Id="rId4" Type="http://schemas.openxmlformats.org/officeDocument/2006/relationships/image" Target="../media/image53.png"/><Relationship Id="rId9" Type="http://schemas.openxmlformats.org/officeDocument/2006/relationships/image" Target="../media/image58.png"/><Relationship Id="rId14" Type="http://schemas.openxmlformats.org/officeDocument/2006/relationships/image" Target="../media/image63.png"/></Relationships>
</file>

<file path=ppt/slides/_rels/slide38.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18" Type="http://schemas.openxmlformats.org/officeDocument/2006/relationships/image" Target="../media/image82.png"/><Relationship Id="rId3" Type="http://schemas.openxmlformats.org/officeDocument/2006/relationships/image" Target="../media/image64.png"/><Relationship Id="rId21" Type="http://schemas.openxmlformats.org/officeDocument/2006/relationships/image" Target="../media/image85.png"/><Relationship Id="rId7" Type="http://schemas.openxmlformats.org/officeDocument/2006/relationships/image" Target="../media/image70.png"/><Relationship Id="rId12" Type="http://schemas.openxmlformats.org/officeDocument/2006/relationships/image" Target="../media/image75.png"/><Relationship Id="rId17" Type="http://schemas.openxmlformats.org/officeDocument/2006/relationships/image" Target="../media/image81.png"/><Relationship Id="rId2" Type="http://schemas.openxmlformats.org/officeDocument/2006/relationships/image" Target="../media/image52.png"/><Relationship Id="rId16" Type="http://schemas.openxmlformats.org/officeDocument/2006/relationships/image" Target="../media/image79.png"/><Relationship Id="rId20"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6.png"/><Relationship Id="rId15" Type="http://schemas.openxmlformats.org/officeDocument/2006/relationships/image" Target="../media/image78.png"/><Relationship Id="rId10" Type="http://schemas.openxmlformats.org/officeDocument/2006/relationships/image" Target="../media/image73.png"/><Relationship Id="rId19" Type="http://schemas.openxmlformats.org/officeDocument/2006/relationships/image" Target="../media/image83.png"/><Relationship Id="rId4" Type="http://schemas.openxmlformats.org/officeDocument/2006/relationships/image" Target="../media/image65.png"/><Relationship Id="rId9" Type="http://schemas.openxmlformats.org/officeDocument/2006/relationships/image" Target="../media/image72.png"/><Relationship Id="rId14" Type="http://schemas.openxmlformats.org/officeDocument/2006/relationships/image" Target="../media/image77.png"/></Relationships>
</file>

<file path=ppt/slides/_rels/slide39.xml.rels><?xml version="1.0" encoding="UTF-8" standalone="yes"?>
<Relationships xmlns="http://schemas.openxmlformats.org/package/2006/relationships"><Relationship Id="rId3" Type="http://schemas.openxmlformats.org/officeDocument/2006/relationships/image" Target="../media/image64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4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70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9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colab.research.google.com/github/zz4fap/c24_inteligencia_artificial/blob/master/notebooks/mlp.ipynb"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jpeg"/><Relationship Id="rId4" Type="http://schemas.openxmlformats.org/officeDocument/2006/relationships/image" Target="../media/image95.png"/></Relationships>
</file>

<file path=ppt/slides/_rels/slide56.xml.rels><?xml version="1.0" encoding="UTF-8" standalone="yes"?>
<Relationships xmlns="http://schemas.openxmlformats.org/package/2006/relationships"><Relationship Id="rId3" Type="http://schemas.openxmlformats.org/officeDocument/2006/relationships/hyperlink" Target="https://github.com/zz4fap/c24_inteligencia_artificial/blob/main/listas/Lista%209%20-%20MLP.pdf"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7" Type="http://schemas.openxmlformats.org/officeDocument/2006/relationships/image" Target="../media/image80.png"/><Relationship Id="rId12" Type="http://schemas.openxmlformats.org/officeDocument/2006/relationships/image" Target="../media/image61.png"/><Relationship Id="rId17" Type="http://schemas.openxmlformats.org/officeDocument/2006/relationships/image" Target="../media/image810.png"/><Relationship Id="rId2" Type="http://schemas.openxmlformats.org/officeDocument/2006/relationships/image" Target="../media/image821.png"/><Relationship Id="rId16"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5" Type="http://schemas.openxmlformats.org/officeDocument/2006/relationships/image" Target="../media/image67.png"/><Relationship Id="rId10" Type="http://schemas.openxmlformats.org/officeDocument/2006/relationships/image" Target="../media/image590.png"/><Relationship Id="rId4" Type="http://schemas.openxmlformats.org/officeDocument/2006/relationships/image" Target="../media/image53.png"/><Relationship Id="rId9" Type="http://schemas.openxmlformats.org/officeDocument/2006/relationships/image" Target="../media/image58.png"/><Relationship Id="rId14" Type="http://schemas.openxmlformats.org/officeDocument/2006/relationships/image" Target="../media/image63.png"/></Relationships>
</file>

<file path=ppt/slides/_rels/slide61.xml.rels><?xml version="1.0" encoding="UTF-8" standalone="yes"?>
<Relationships xmlns="http://schemas.openxmlformats.org/package/2006/relationships"><Relationship Id="rId2" Type="http://schemas.openxmlformats.org/officeDocument/2006/relationships/image" Target="../media/image83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image" Target="../media/image841.png"/><Relationship Id="rId1" Type="http://schemas.openxmlformats.org/officeDocument/2006/relationships/slideLayout" Target="../slideLayouts/slideLayout2.xml"/><Relationship Id="rId6" Type="http://schemas.openxmlformats.org/officeDocument/2006/relationships/image" Target="../media/image840.png"/><Relationship Id="rId5" Type="http://schemas.openxmlformats.org/officeDocument/2006/relationships/image" Target="../media/image99.emf"/><Relationship Id="rId4" Type="http://schemas.openxmlformats.org/officeDocument/2006/relationships/image" Target="../media/image820.png"/></Relationships>
</file>

<file path=ppt/slides/_rels/slide63.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image" Target="../media/image861.png"/><Relationship Id="rId1" Type="http://schemas.openxmlformats.org/officeDocument/2006/relationships/slideLayout" Target="../slideLayouts/slideLayout2.xml"/><Relationship Id="rId6" Type="http://schemas.openxmlformats.org/officeDocument/2006/relationships/image" Target="../media/image880.png"/><Relationship Id="rId5" Type="http://schemas.openxmlformats.org/officeDocument/2006/relationships/image" Target="../media/image99.emf"/><Relationship Id="rId4" Type="http://schemas.openxmlformats.org/officeDocument/2006/relationships/image" Target="../media/image870.png"/></Relationships>
</file>

<file path=ppt/slides/_rels/slide64.xml.rels><?xml version="1.0" encoding="UTF-8" standalone="yes"?>
<Relationships xmlns="http://schemas.openxmlformats.org/package/2006/relationships"><Relationship Id="rId2" Type="http://schemas.openxmlformats.org/officeDocument/2006/relationships/image" Target="../media/image89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86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10.png"/><Relationship Id="rId7" Type="http://schemas.openxmlformats.org/officeDocument/2006/relationships/image" Target="../media/image381.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60.png"/><Relationship Id="rId5" Type="http://schemas.openxmlformats.org/officeDocument/2006/relationships/image" Target="../media/image340.png"/><Relationship Id="rId4" Type="http://schemas.openxmlformats.org/officeDocument/2006/relationships/image" Target="../media/image102.emf"/></Relationships>
</file>

<file path=ppt/slides/_rels/slide68.xml.rels><?xml version="1.0" encoding="UTF-8" standalone="yes"?>
<Relationships xmlns="http://schemas.openxmlformats.org/package/2006/relationships"><Relationship Id="rId3" Type="http://schemas.openxmlformats.org/officeDocument/2006/relationships/image" Target="../media/image930.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103.emf"/></Relationships>
</file>

<file path=ppt/slides/_rels/slide69.xml.rels><?xml version="1.0" encoding="UTF-8" standalone="yes"?>
<Relationships xmlns="http://schemas.openxmlformats.org/package/2006/relationships"><Relationship Id="rId8" Type="http://schemas.openxmlformats.org/officeDocument/2006/relationships/image" Target="../media/image103.emf"/><Relationship Id="rId3" Type="http://schemas.openxmlformats.org/officeDocument/2006/relationships/image" Target="../media/image950.png"/><Relationship Id="rId7" Type="http://schemas.openxmlformats.org/officeDocument/2006/relationships/image" Target="../media/image650.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640.png"/><Relationship Id="rId5" Type="http://schemas.openxmlformats.org/officeDocument/2006/relationships/image" Target="../media/image63.png"/><Relationship Id="rId4" Type="http://schemas.openxmlformats.org/officeDocument/2006/relationships/image" Target="../media/image102.emf"/><Relationship Id="rId9" Type="http://schemas.openxmlformats.org/officeDocument/2006/relationships/image" Target="../media/image67.png"/></Relationships>
</file>

<file path=ppt/slides/_rels/slide70.xml.rels><?xml version="1.0" encoding="UTF-8" standalone="yes"?>
<Relationships xmlns="http://schemas.openxmlformats.org/package/2006/relationships"><Relationship Id="rId3" Type="http://schemas.openxmlformats.org/officeDocument/2006/relationships/hyperlink" Target="https://en.wikipedia.org/wiki/Activation_function#Table_of_activation_functions"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104.png"/><Relationship Id="rId4" Type="http://schemas.openxmlformats.org/officeDocument/2006/relationships/image" Target="../media/image96.png"/></Relationships>
</file>

<file path=ppt/slides/_rels/slide7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image" Target="../media/image960.png"/><Relationship Id="rId7" Type="http://schemas.openxmlformats.org/officeDocument/2006/relationships/image" Target="../media/image80.png"/><Relationship Id="rId12" Type="http://schemas.openxmlformats.org/officeDocument/2006/relationships/image" Target="../media/image61.png"/><Relationship Id="rId17" Type="http://schemas.openxmlformats.org/officeDocument/2006/relationships/image" Target="../media/image810.png"/><Relationship Id="rId2" Type="http://schemas.openxmlformats.org/officeDocument/2006/relationships/notesSlide" Target="../notesSlides/notesSlide42.xml"/><Relationship Id="rId16"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5" Type="http://schemas.openxmlformats.org/officeDocument/2006/relationships/image" Target="../media/image67.png"/><Relationship Id="rId10" Type="http://schemas.openxmlformats.org/officeDocument/2006/relationships/image" Target="../media/image590.png"/><Relationship Id="rId4" Type="http://schemas.openxmlformats.org/officeDocument/2006/relationships/image" Target="../media/image53.png"/><Relationship Id="rId9" Type="http://schemas.openxmlformats.org/officeDocument/2006/relationships/image" Target="../media/image58.png"/><Relationship Id="rId14" Type="http://schemas.openxmlformats.org/officeDocument/2006/relationships/image" Target="../media/image63.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430EB894-B7D4-434C-9D1A-A14094D9BEEC}"/>
              </a:ext>
            </a:extLst>
          </p:cNvPr>
          <p:cNvSpPr txBox="1"/>
          <p:nvPr/>
        </p:nvSpPr>
        <p:spPr>
          <a:xfrm>
            <a:off x="7915801" y="5780602"/>
            <a:ext cx="4004345" cy="677108"/>
          </a:xfrm>
          <a:prstGeom prst="rect">
            <a:avLst/>
          </a:prstGeom>
          <a:noFill/>
        </p:spPr>
        <p:txBody>
          <a:bodyPr wrap="square" rtlCol="0">
            <a:spAutoFit/>
          </a:bodyPr>
          <a:lstStyle/>
          <a:p>
            <a:r>
              <a:rPr lang="pt-BR" sz="2000" dirty="0"/>
              <a:t>Felipe A. P. de Figueiredo</a:t>
            </a:r>
          </a:p>
          <a:p>
            <a:r>
              <a:rPr lang="pt-BR" dirty="0">
                <a:hlinkClick r:id="rId3"/>
              </a:rPr>
              <a:t>felipe.figueiredo@Inatel.br</a:t>
            </a:r>
            <a:endParaRPr lang="pt-BR" dirty="0"/>
          </a:p>
        </p:txBody>
      </p:sp>
      <p:pic>
        <p:nvPicPr>
          <p:cNvPr id="1026" name="Picture 2" descr="Logo">
            <a:extLst>
              <a:ext uri="{FF2B5EF4-FFF2-40B4-BE49-F238E27FC236}">
                <a16:creationId xmlns:a16="http://schemas.microsoft.com/office/drawing/2014/main" id="{3F2642E0-4F6A-4196-8F58-E77D36E9A33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8759" b="28872"/>
          <a:stretch/>
        </p:blipFill>
        <p:spPr bwMode="auto">
          <a:xfrm>
            <a:off x="393306" y="5780602"/>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id="{810CE0A2-4102-44A6-A370-175E7896CDCB}"/>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0193" t="8107" r="14530" b="5794"/>
          <a:stretch/>
        </p:blipFill>
        <p:spPr bwMode="auto">
          <a:xfrm>
            <a:off x="4965305" y="3439886"/>
            <a:ext cx="2261389" cy="2237061"/>
          </a:xfrm>
          <a:prstGeom prst="rect">
            <a:avLst/>
          </a:prstGeom>
          <a:noFill/>
          <a:extLst>
            <a:ext uri="{909E8E84-426E-40DD-AFC4-6F175D3DCCD1}">
              <a14:hiddenFill xmlns:a14="http://schemas.microsoft.com/office/drawing/2010/main">
                <a:solidFill>
                  <a:srgbClr val="FFFFFF"/>
                </a:solidFill>
              </a14:hiddenFill>
            </a:ext>
          </a:extLst>
        </p:spPr>
      </p:pic>
      <p:sp>
        <p:nvSpPr>
          <p:cNvPr id="7" name="Título 1">
            <a:extLst>
              <a:ext uri="{FF2B5EF4-FFF2-40B4-BE49-F238E27FC236}">
                <a16:creationId xmlns:a16="http://schemas.microsoft.com/office/drawing/2014/main" id="{32666AC8-2E17-4DB4-B0F5-60C640CCFD2E}"/>
              </a:ext>
            </a:extLst>
          </p:cNvPr>
          <p:cNvSpPr>
            <a:spLocks noGrp="1"/>
          </p:cNvSpPr>
          <p:nvPr>
            <p:ph type="ctrTitle"/>
          </p:nvPr>
        </p:nvSpPr>
        <p:spPr>
          <a:xfrm>
            <a:off x="631767" y="836433"/>
            <a:ext cx="10906298" cy="2690156"/>
          </a:xfrm>
        </p:spPr>
        <p:txBody>
          <a:bodyPr anchor="ctr">
            <a:noAutofit/>
          </a:bodyPr>
          <a:lstStyle/>
          <a:p>
            <a:r>
              <a:rPr lang="pt-BR" sz="6600" dirty="0"/>
              <a:t>C24 – Inteligência Artificial:</a:t>
            </a:r>
            <a:br>
              <a:rPr lang="pt-BR" sz="7200" dirty="0"/>
            </a:br>
            <a:r>
              <a:rPr lang="pt-BR" sz="7200" b="1" i="1" dirty="0"/>
              <a:t>Redes Multilayer Perceptron</a:t>
            </a:r>
          </a:p>
        </p:txBody>
      </p:sp>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EURAL NETWORKS NEURAL NETWORKS EVERYWHERE - Buzz and Woody (Toy Story) Meme  Meme Generator">
            <a:extLst>
              <a:ext uri="{FF2B5EF4-FFF2-40B4-BE49-F238E27FC236}">
                <a16:creationId xmlns:a16="http://schemas.microsoft.com/office/drawing/2014/main" id="{FE5D1447-B6CB-88B3-AD78-E50AD24030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812" y="1809489"/>
            <a:ext cx="6662696" cy="363116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C86F23E-3116-9DE3-82E3-FFC279A1FB0E}"/>
              </a:ext>
            </a:extLst>
          </p:cNvPr>
          <p:cNvSpPr txBox="1"/>
          <p:nvPr/>
        </p:nvSpPr>
        <p:spPr>
          <a:xfrm>
            <a:off x="7130473" y="1270582"/>
            <a:ext cx="4963205" cy="4708981"/>
          </a:xfrm>
          <a:prstGeom prst="rect">
            <a:avLst/>
          </a:prstGeom>
          <a:noFill/>
        </p:spPr>
        <p:txBody>
          <a:bodyPr wrap="square" rtlCol="0">
            <a:spAutoFit/>
          </a:bodyPr>
          <a:lstStyle/>
          <a:p>
            <a:pPr algn="ctr"/>
            <a:r>
              <a:rPr lang="pt-BR" sz="2800" dirty="0"/>
              <a:t>Redes neurais são os modelos de ML mais usados atualmente.</a:t>
            </a:r>
          </a:p>
          <a:p>
            <a:pPr algn="ctr"/>
            <a:endParaRPr lang="pt-BR" sz="2800" dirty="0"/>
          </a:p>
          <a:p>
            <a:pPr algn="ctr"/>
            <a:r>
              <a:rPr lang="pt-BR" sz="2400" dirty="0" err="1"/>
              <a:t>ChatGPT</a:t>
            </a:r>
            <a:endParaRPr lang="pt-BR" sz="2400" dirty="0"/>
          </a:p>
          <a:p>
            <a:pPr algn="ctr"/>
            <a:r>
              <a:rPr lang="pt-BR" sz="2400" dirty="0"/>
              <a:t>Claude</a:t>
            </a:r>
          </a:p>
          <a:p>
            <a:pPr algn="ctr"/>
            <a:r>
              <a:rPr lang="pt-BR" sz="2400" dirty="0" err="1"/>
              <a:t>Gemini</a:t>
            </a:r>
            <a:endParaRPr lang="pt-BR" sz="2400" dirty="0"/>
          </a:p>
          <a:p>
            <a:pPr algn="ctr"/>
            <a:r>
              <a:rPr lang="pt-BR" sz="2400" dirty="0" err="1"/>
              <a:t>FaceID</a:t>
            </a:r>
            <a:endParaRPr lang="pt-BR" sz="2400" dirty="0"/>
          </a:p>
          <a:p>
            <a:pPr algn="ctr"/>
            <a:r>
              <a:rPr lang="pt-BR" sz="2400" dirty="0"/>
              <a:t>Filtros do Instagram</a:t>
            </a:r>
          </a:p>
          <a:p>
            <a:pPr algn="ctr"/>
            <a:r>
              <a:rPr lang="pt-BR" sz="2400" dirty="0"/>
              <a:t>Alexa</a:t>
            </a:r>
          </a:p>
          <a:p>
            <a:pPr algn="ctr"/>
            <a:r>
              <a:rPr lang="pt-BR" sz="2400" dirty="0"/>
              <a:t>Recomendação (Netflix, Spotify)</a:t>
            </a:r>
          </a:p>
          <a:p>
            <a:pPr algn="ctr"/>
            <a:r>
              <a:rPr lang="pt-BR" sz="2400" dirty="0"/>
              <a:t>Google tradutor</a:t>
            </a:r>
          </a:p>
          <a:p>
            <a:pPr algn="ctr"/>
            <a:r>
              <a:rPr lang="pt-BR" sz="2400" dirty="0"/>
              <a:t>Filtros de spam</a:t>
            </a:r>
            <a:endParaRPr lang="en-US" sz="2400" dirty="0"/>
          </a:p>
        </p:txBody>
      </p:sp>
    </p:spTree>
    <p:extLst>
      <p:ext uri="{BB962C8B-B14F-4D97-AF65-F5344CB8AC3E}">
        <p14:creationId xmlns:p14="http://schemas.microsoft.com/office/powerpoint/2010/main" val="1905241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57A53A-C77C-6E81-D773-CB160B726FB2}"/>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a16="http://schemas.microsoft.com/office/drawing/2014/main" id="{15DCC1D6-F396-71DB-3A9E-585DFBF5114F}"/>
              </a:ext>
            </a:extLst>
          </p:cNvPr>
          <p:cNvSpPr>
            <a:spLocks noGrp="1"/>
          </p:cNvSpPr>
          <p:nvPr>
            <p:ph idx="1"/>
          </p:nvPr>
        </p:nvSpPr>
        <p:spPr>
          <a:xfrm>
            <a:off x="6377181" y="2717991"/>
            <a:ext cx="5466476" cy="2376523"/>
          </a:xfrm>
        </p:spPr>
        <p:txBody>
          <a:bodyPr>
            <a:normAutofit/>
          </a:bodyPr>
          <a:lstStyle/>
          <a:p>
            <a:pPr marL="0" indent="0" algn="ctr">
              <a:buNone/>
            </a:pPr>
            <a:r>
              <a:rPr lang="pt-BR" b="1" dirty="0">
                <a:solidFill>
                  <a:srgbClr val="1F1F1F"/>
                </a:solidFill>
                <a:effectLst/>
                <a:latin typeface="Google Sans"/>
              </a:rPr>
              <a:t>Subárea</a:t>
            </a:r>
            <a:r>
              <a:rPr lang="pt-BR" b="0" i="0" dirty="0">
                <a:solidFill>
                  <a:srgbClr val="1F1F1F"/>
                </a:solidFill>
                <a:effectLst/>
                <a:latin typeface="Google Sans"/>
              </a:rPr>
              <a:t> do aprendizado de máquina.</a:t>
            </a:r>
          </a:p>
          <a:p>
            <a:pPr marL="0" indent="0" algn="ctr">
              <a:buNone/>
            </a:pPr>
            <a:endParaRPr lang="pt-BR" dirty="0">
              <a:solidFill>
                <a:srgbClr val="1F1F1F"/>
              </a:solidFill>
              <a:latin typeface="Google Sans"/>
            </a:endParaRPr>
          </a:p>
          <a:p>
            <a:pPr marL="0" indent="0" algn="ctr">
              <a:buNone/>
            </a:pPr>
            <a:r>
              <a:rPr lang="pt-BR" dirty="0">
                <a:solidFill>
                  <a:srgbClr val="1F1F1F"/>
                </a:solidFill>
                <a:latin typeface="Google Sans"/>
              </a:rPr>
              <a:t>Ela e</a:t>
            </a:r>
            <a:r>
              <a:rPr lang="pt-BR" b="0" i="0" dirty="0">
                <a:solidFill>
                  <a:srgbClr val="1F1F1F"/>
                </a:solidFill>
                <a:effectLst/>
                <a:latin typeface="Google Sans"/>
              </a:rPr>
              <a:t>ngloba o aprendizado profundo (</a:t>
            </a:r>
            <a:r>
              <a:rPr lang="pt-BR" b="0" i="1" dirty="0" err="1">
                <a:solidFill>
                  <a:srgbClr val="1F1F1F"/>
                </a:solidFill>
                <a:effectLst/>
                <a:latin typeface="Google Sans"/>
              </a:rPr>
              <a:t>deep</a:t>
            </a:r>
            <a:r>
              <a:rPr lang="pt-BR" b="0" i="1" dirty="0">
                <a:solidFill>
                  <a:srgbClr val="1F1F1F"/>
                </a:solidFill>
                <a:effectLst/>
                <a:latin typeface="Google Sans"/>
              </a:rPr>
              <a:t> learning</a:t>
            </a:r>
            <a:r>
              <a:rPr lang="pt-BR" b="0" i="0" dirty="0">
                <a:solidFill>
                  <a:srgbClr val="1F1F1F"/>
                </a:solidFill>
                <a:effectLst/>
                <a:latin typeface="Google Sans"/>
              </a:rPr>
              <a:t>).</a:t>
            </a:r>
          </a:p>
        </p:txBody>
      </p:sp>
      <p:pic>
        <p:nvPicPr>
          <p:cNvPr id="15" name="Imagem 14">
            <a:extLst>
              <a:ext uri="{FF2B5EF4-FFF2-40B4-BE49-F238E27FC236}">
                <a16:creationId xmlns:a16="http://schemas.microsoft.com/office/drawing/2014/main" id="{503F1CA4-FE10-73FB-D3A2-9E6C9D4597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89044" y="2011781"/>
            <a:ext cx="4293574" cy="4095699"/>
          </a:xfrm>
          <a:prstGeom prst="rect">
            <a:avLst/>
          </a:prstGeom>
        </p:spPr>
      </p:pic>
    </p:spTree>
    <p:extLst>
      <p:ext uri="{BB962C8B-B14F-4D97-AF65-F5344CB8AC3E}">
        <p14:creationId xmlns:p14="http://schemas.microsoft.com/office/powerpoint/2010/main" val="13352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BD0528-8529-0C22-AC3D-15BF8FB43A43}"/>
              </a:ext>
            </a:extLst>
          </p:cNvPr>
          <p:cNvSpPr>
            <a:spLocks noGrp="1"/>
          </p:cNvSpPr>
          <p:nvPr>
            <p:ph idx="1"/>
          </p:nvPr>
        </p:nvSpPr>
        <p:spPr>
          <a:xfrm>
            <a:off x="838200" y="2376941"/>
            <a:ext cx="10515600" cy="2104118"/>
          </a:xfrm>
        </p:spPr>
        <p:txBody>
          <a:bodyPr>
            <a:normAutofit/>
          </a:bodyPr>
          <a:lstStyle/>
          <a:p>
            <a:pPr marL="0" indent="0" algn="ctr">
              <a:buNone/>
            </a:pPr>
            <a:r>
              <a:rPr lang="pt-BR" sz="7200" dirty="0"/>
              <a:t>O que é uma rede neural artificial?</a:t>
            </a:r>
            <a:endParaRPr lang="en-US" sz="7200" dirty="0"/>
          </a:p>
        </p:txBody>
      </p:sp>
    </p:spTree>
    <p:extLst>
      <p:ext uri="{BB962C8B-B14F-4D97-AF65-F5344CB8AC3E}">
        <p14:creationId xmlns:p14="http://schemas.microsoft.com/office/powerpoint/2010/main" val="2924840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oke - be like a neural network - devRant">
            <a:extLst>
              <a:ext uri="{FF2B5EF4-FFF2-40B4-BE49-F238E27FC236}">
                <a16:creationId xmlns:a16="http://schemas.microsoft.com/office/drawing/2014/main" id="{CDA3488B-3B03-BDBD-94CC-1F6A391FA7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544" y="373350"/>
            <a:ext cx="7049181" cy="610517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F6CF095-DF53-87F8-1058-26A106AB9AB8}"/>
              </a:ext>
            </a:extLst>
          </p:cNvPr>
          <p:cNvSpPr txBox="1"/>
          <p:nvPr/>
        </p:nvSpPr>
        <p:spPr>
          <a:xfrm>
            <a:off x="7755425" y="2390875"/>
            <a:ext cx="4243031" cy="3108543"/>
          </a:xfrm>
          <a:prstGeom prst="rect">
            <a:avLst/>
          </a:prstGeom>
          <a:noFill/>
        </p:spPr>
        <p:txBody>
          <a:bodyPr wrap="square" rtlCol="0">
            <a:spAutoFit/>
          </a:bodyPr>
          <a:lstStyle/>
          <a:p>
            <a:pPr algn="ctr"/>
            <a:r>
              <a:rPr lang="pt-BR" sz="2800" dirty="0"/>
              <a:t>Modelo com múltiplas entradas, com uma ou mais camadas, onde cada uma delas contém vários neurônios interconectados que geram uma ou mais saídas.</a:t>
            </a:r>
            <a:endParaRPr lang="en-US" sz="2800" dirty="0"/>
          </a:p>
        </p:txBody>
      </p:sp>
    </p:spTree>
    <p:extLst>
      <p:ext uri="{BB962C8B-B14F-4D97-AF65-F5344CB8AC3E}">
        <p14:creationId xmlns:p14="http://schemas.microsoft.com/office/powerpoint/2010/main" val="4021333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103D5-823E-634E-B2B8-0C681664058A}"/>
              </a:ext>
            </a:extLst>
          </p:cNvPr>
          <p:cNvSpPr>
            <a:spLocks noGrp="1"/>
          </p:cNvSpPr>
          <p:nvPr>
            <p:ph type="title"/>
          </p:nvPr>
        </p:nvSpPr>
        <p:spPr/>
        <p:txBody>
          <a:bodyPr/>
          <a:lstStyle/>
          <a:p>
            <a:r>
              <a:rPr lang="pt-BR" dirty="0"/>
              <a:t>O que é uma rede neural artificial?</a:t>
            </a:r>
            <a:endParaRPr lang="en-US" dirty="0"/>
          </a:p>
        </p:txBody>
      </p:sp>
      <p:sp>
        <p:nvSpPr>
          <p:cNvPr id="3" name="Content Placeholder 2">
            <a:extLst>
              <a:ext uri="{FF2B5EF4-FFF2-40B4-BE49-F238E27FC236}">
                <a16:creationId xmlns:a16="http://schemas.microsoft.com/office/drawing/2014/main" id="{606EEABC-C54D-CD89-568A-09EEED4E6ED1}"/>
              </a:ext>
            </a:extLst>
          </p:cNvPr>
          <p:cNvSpPr>
            <a:spLocks noGrp="1"/>
          </p:cNvSpPr>
          <p:nvPr>
            <p:ph idx="1"/>
          </p:nvPr>
        </p:nvSpPr>
        <p:spPr>
          <a:xfrm>
            <a:off x="5900057" y="1825624"/>
            <a:ext cx="6291943" cy="5032375"/>
          </a:xfrm>
        </p:spPr>
        <p:txBody>
          <a:bodyPr>
            <a:normAutofit/>
          </a:bodyPr>
          <a:lstStyle/>
          <a:p>
            <a:r>
              <a:rPr lang="pt-BR" b="1" dirty="0"/>
              <a:t>Redes neurais artificiais </a:t>
            </a:r>
            <a:r>
              <a:rPr lang="pt-BR" dirty="0"/>
              <a:t>são modelos matemáticos </a:t>
            </a:r>
            <a:r>
              <a:rPr lang="pt-BR" b="1" dirty="0">
                <a:solidFill>
                  <a:schemeClr val="accent2"/>
                </a:solidFill>
              </a:rPr>
              <a:t>inspirados</a:t>
            </a:r>
            <a:r>
              <a:rPr lang="pt-BR" b="1" dirty="0"/>
              <a:t> </a:t>
            </a:r>
            <a:r>
              <a:rPr lang="pt-BR" dirty="0"/>
              <a:t>pelo funcionamento do cérebro dos animais.</a:t>
            </a:r>
          </a:p>
          <a:p>
            <a:r>
              <a:rPr lang="pt-BR" dirty="0"/>
              <a:t>Elas são capazes de realizar </a:t>
            </a:r>
            <a:r>
              <a:rPr lang="pt-BR" b="1" dirty="0">
                <a:solidFill>
                  <a:schemeClr val="accent2"/>
                </a:solidFill>
              </a:rPr>
              <a:t>tarefas de aprendizado de máquina </a:t>
            </a:r>
            <a:r>
              <a:rPr lang="pt-BR" dirty="0"/>
              <a:t>com grande versatilidade e eficácia.</a:t>
            </a:r>
          </a:p>
          <a:p>
            <a:pPr lvl="1">
              <a:buFont typeface="Wingdings" panose="05000000000000000000" pitchFamily="2" charset="2"/>
              <a:buChar char="§"/>
            </a:pPr>
            <a:r>
              <a:rPr lang="pt-BR" dirty="0"/>
              <a:t>regressão,  </a:t>
            </a:r>
          </a:p>
          <a:p>
            <a:pPr lvl="1">
              <a:buFont typeface="Wingdings" panose="05000000000000000000" pitchFamily="2" charset="2"/>
              <a:buChar char="§"/>
            </a:pPr>
            <a:r>
              <a:rPr lang="pt-BR" dirty="0"/>
              <a:t>classificação, </a:t>
            </a:r>
          </a:p>
          <a:p>
            <a:pPr lvl="1">
              <a:buFont typeface="Wingdings" panose="05000000000000000000" pitchFamily="2" charset="2"/>
              <a:buChar char="§"/>
            </a:pPr>
            <a:r>
              <a:rPr lang="pt-BR" dirty="0"/>
              <a:t>clusterização, </a:t>
            </a:r>
          </a:p>
          <a:p>
            <a:pPr lvl="1">
              <a:buFont typeface="Wingdings" panose="05000000000000000000" pitchFamily="2" charset="2"/>
              <a:buChar char="§"/>
            </a:pPr>
            <a:r>
              <a:rPr lang="pt-BR" dirty="0"/>
              <a:t>detecção e segmentação de objetos,</a:t>
            </a:r>
          </a:p>
          <a:p>
            <a:pPr lvl="1">
              <a:buFont typeface="Wingdings" panose="05000000000000000000" pitchFamily="2" charset="2"/>
              <a:buChar char="§"/>
            </a:pPr>
            <a:r>
              <a:rPr lang="pt-BR" dirty="0"/>
              <a:t>rastreio de objetos,</a:t>
            </a:r>
          </a:p>
          <a:p>
            <a:pPr lvl="1">
              <a:buFont typeface="Wingdings" panose="05000000000000000000" pitchFamily="2" charset="2"/>
              <a:buChar char="§"/>
            </a:pPr>
            <a:r>
              <a:rPr lang="pt-BR" dirty="0"/>
              <a:t>etc.</a:t>
            </a:r>
          </a:p>
        </p:txBody>
      </p:sp>
      <p:grpSp>
        <p:nvGrpSpPr>
          <p:cNvPr id="4" name="Group 3">
            <a:extLst>
              <a:ext uri="{FF2B5EF4-FFF2-40B4-BE49-F238E27FC236}">
                <a16:creationId xmlns:a16="http://schemas.microsoft.com/office/drawing/2014/main" id="{C0AB4D3C-14B7-80CE-5421-8D7CEA922137}"/>
              </a:ext>
            </a:extLst>
          </p:cNvPr>
          <p:cNvGrpSpPr/>
          <p:nvPr/>
        </p:nvGrpSpPr>
        <p:grpSpPr>
          <a:xfrm>
            <a:off x="838200" y="1962640"/>
            <a:ext cx="4240583" cy="3792091"/>
            <a:chOff x="294226" y="2506925"/>
            <a:chExt cx="4240583" cy="3792091"/>
          </a:xfrm>
        </p:grpSpPr>
        <p:sp>
          <p:nvSpPr>
            <p:cNvPr id="5" name="Elipse 77">
              <a:extLst>
                <a:ext uri="{FF2B5EF4-FFF2-40B4-BE49-F238E27FC236}">
                  <a16:creationId xmlns:a16="http://schemas.microsoft.com/office/drawing/2014/main" id="{880F268E-D6BC-B9A9-D04C-FFB7FAE1D52F}"/>
                </a:ext>
              </a:extLst>
            </p:cNvPr>
            <p:cNvSpPr/>
            <p:nvPr/>
          </p:nvSpPr>
          <p:spPr>
            <a:xfrm>
              <a:off x="2492828" y="3402579"/>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Elipse 78">
              <a:extLst>
                <a:ext uri="{FF2B5EF4-FFF2-40B4-BE49-F238E27FC236}">
                  <a16:creationId xmlns:a16="http://schemas.microsoft.com/office/drawing/2014/main" id="{E099D061-D8C0-397B-B74F-7922DF9C138C}"/>
                </a:ext>
              </a:extLst>
            </p:cNvPr>
            <p:cNvSpPr/>
            <p:nvPr/>
          </p:nvSpPr>
          <p:spPr>
            <a:xfrm>
              <a:off x="2492827" y="4121036"/>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Elipse 79">
              <a:extLst>
                <a:ext uri="{FF2B5EF4-FFF2-40B4-BE49-F238E27FC236}">
                  <a16:creationId xmlns:a16="http://schemas.microsoft.com/office/drawing/2014/main" id="{67713F78-5992-F462-3942-2B0F82968051}"/>
                </a:ext>
              </a:extLst>
            </p:cNvPr>
            <p:cNvSpPr/>
            <p:nvPr/>
          </p:nvSpPr>
          <p:spPr>
            <a:xfrm>
              <a:off x="2492827" y="4839493"/>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Elipse 81">
              <a:extLst>
                <a:ext uri="{FF2B5EF4-FFF2-40B4-BE49-F238E27FC236}">
                  <a16:creationId xmlns:a16="http://schemas.microsoft.com/office/drawing/2014/main" id="{CF5712BF-CCEE-58DC-834C-71ABD925D026}"/>
                </a:ext>
              </a:extLst>
            </p:cNvPr>
            <p:cNvSpPr/>
            <p:nvPr/>
          </p:nvSpPr>
          <p:spPr>
            <a:xfrm>
              <a:off x="3450770" y="3864817"/>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Elipse 82">
              <a:extLst>
                <a:ext uri="{FF2B5EF4-FFF2-40B4-BE49-F238E27FC236}">
                  <a16:creationId xmlns:a16="http://schemas.microsoft.com/office/drawing/2014/main" id="{13B5ED7F-88F1-BAFE-570D-763353AC7214}"/>
                </a:ext>
              </a:extLst>
            </p:cNvPr>
            <p:cNvSpPr/>
            <p:nvPr/>
          </p:nvSpPr>
          <p:spPr>
            <a:xfrm>
              <a:off x="3450769" y="4583274"/>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Elipse 83">
              <a:extLst>
                <a:ext uri="{FF2B5EF4-FFF2-40B4-BE49-F238E27FC236}">
                  <a16:creationId xmlns:a16="http://schemas.microsoft.com/office/drawing/2014/main" id="{6A1E1912-FB2F-F3FF-CE4D-CE06BAC0FB8F}"/>
                </a:ext>
              </a:extLst>
            </p:cNvPr>
            <p:cNvSpPr/>
            <p:nvPr/>
          </p:nvSpPr>
          <p:spPr>
            <a:xfrm>
              <a:off x="1534884" y="29299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84">
              <a:extLst>
                <a:ext uri="{FF2B5EF4-FFF2-40B4-BE49-F238E27FC236}">
                  <a16:creationId xmlns:a16="http://schemas.microsoft.com/office/drawing/2014/main" id="{FAD85B3B-1BEA-1F97-7DDA-1206B6C595A2}"/>
                </a:ext>
              </a:extLst>
            </p:cNvPr>
            <p:cNvSpPr/>
            <p:nvPr/>
          </p:nvSpPr>
          <p:spPr>
            <a:xfrm>
              <a:off x="1534884" y="36856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85">
              <a:extLst>
                <a:ext uri="{FF2B5EF4-FFF2-40B4-BE49-F238E27FC236}">
                  <a16:creationId xmlns:a16="http://schemas.microsoft.com/office/drawing/2014/main" id="{FED09939-6BEF-30A3-3FB4-12ECC09E29E4}"/>
                </a:ext>
              </a:extLst>
            </p:cNvPr>
            <p:cNvSpPr/>
            <p:nvPr/>
          </p:nvSpPr>
          <p:spPr>
            <a:xfrm>
              <a:off x="1534884" y="44412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3" name="Conector de Seta Reta 86">
              <a:extLst>
                <a:ext uri="{FF2B5EF4-FFF2-40B4-BE49-F238E27FC236}">
                  <a16:creationId xmlns:a16="http://schemas.microsoft.com/office/drawing/2014/main" id="{3BEF4A9C-71E0-4F8F-3BD2-4D47270849E4}"/>
                </a:ext>
              </a:extLst>
            </p:cNvPr>
            <p:cNvCxnSpPr>
              <a:cxnSpLocks/>
              <a:stCxn id="10" idx="6"/>
              <a:endCxn id="5" idx="2"/>
            </p:cNvCxnSpPr>
            <p:nvPr/>
          </p:nvCxnSpPr>
          <p:spPr>
            <a:xfrm>
              <a:off x="2100941" y="3212987"/>
              <a:ext cx="391887" cy="472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de Seta Reta 87">
              <a:extLst>
                <a:ext uri="{FF2B5EF4-FFF2-40B4-BE49-F238E27FC236}">
                  <a16:creationId xmlns:a16="http://schemas.microsoft.com/office/drawing/2014/main" id="{4B946177-8D68-EB3E-34C9-62A12C79F541}"/>
                </a:ext>
              </a:extLst>
            </p:cNvPr>
            <p:cNvCxnSpPr>
              <a:stCxn id="10" idx="6"/>
              <a:endCxn id="6" idx="2"/>
            </p:cNvCxnSpPr>
            <p:nvPr/>
          </p:nvCxnSpPr>
          <p:spPr>
            <a:xfrm>
              <a:off x="2100941" y="3212987"/>
              <a:ext cx="391886" cy="1191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88">
              <a:extLst>
                <a:ext uri="{FF2B5EF4-FFF2-40B4-BE49-F238E27FC236}">
                  <a16:creationId xmlns:a16="http://schemas.microsoft.com/office/drawing/2014/main" id="{47B0CFAF-77A0-AE0B-A81A-FCCBC552CDE4}"/>
                </a:ext>
              </a:extLst>
            </p:cNvPr>
            <p:cNvCxnSpPr>
              <a:stCxn id="10" idx="6"/>
              <a:endCxn id="7" idx="2"/>
            </p:cNvCxnSpPr>
            <p:nvPr/>
          </p:nvCxnSpPr>
          <p:spPr>
            <a:xfrm>
              <a:off x="2100941" y="3212987"/>
              <a:ext cx="391886" cy="1909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90">
              <a:extLst>
                <a:ext uri="{FF2B5EF4-FFF2-40B4-BE49-F238E27FC236}">
                  <a16:creationId xmlns:a16="http://schemas.microsoft.com/office/drawing/2014/main" id="{6639A641-3D08-AD9A-A99C-425A1897E50B}"/>
                </a:ext>
              </a:extLst>
            </p:cNvPr>
            <p:cNvCxnSpPr>
              <a:cxnSpLocks/>
              <a:stCxn id="11" idx="6"/>
              <a:endCxn id="5" idx="2"/>
            </p:cNvCxnSpPr>
            <p:nvPr/>
          </p:nvCxnSpPr>
          <p:spPr>
            <a:xfrm flipV="1">
              <a:off x="2100941" y="3685608"/>
              <a:ext cx="391887" cy="283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91">
              <a:extLst>
                <a:ext uri="{FF2B5EF4-FFF2-40B4-BE49-F238E27FC236}">
                  <a16:creationId xmlns:a16="http://schemas.microsoft.com/office/drawing/2014/main" id="{CFE547F8-35FA-9E2F-522C-521B40CF8FC5}"/>
                </a:ext>
              </a:extLst>
            </p:cNvPr>
            <p:cNvCxnSpPr>
              <a:stCxn id="12" idx="6"/>
              <a:endCxn id="6" idx="2"/>
            </p:cNvCxnSpPr>
            <p:nvPr/>
          </p:nvCxnSpPr>
          <p:spPr>
            <a:xfrm flipV="1">
              <a:off x="2100941" y="4404065"/>
              <a:ext cx="391886" cy="320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92">
              <a:extLst>
                <a:ext uri="{FF2B5EF4-FFF2-40B4-BE49-F238E27FC236}">
                  <a16:creationId xmlns:a16="http://schemas.microsoft.com/office/drawing/2014/main" id="{AF7051E2-C9E8-802A-D353-73FA091E9095}"/>
                </a:ext>
              </a:extLst>
            </p:cNvPr>
            <p:cNvCxnSpPr>
              <a:stCxn id="11" idx="6"/>
              <a:endCxn id="6" idx="2"/>
            </p:cNvCxnSpPr>
            <p:nvPr/>
          </p:nvCxnSpPr>
          <p:spPr>
            <a:xfrm>
              <a:off x="2100941" y="3968637"/>
              <a:ext cx="391886" cy="435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93">
              <a:extLst>
                <a:ext uri="{FF2B5EF4-FFF2-40B4-BE49-F238E27FC236}">
                  <a16:creationId xmlns:a16="http://schemas.microsoft.com/office/drawing/2014/main" id="{41F744E4-9D95-3D3C-DC0A-533A9B702925}"/>
                </a:ext>
              </a:extLst>
            </p:cNvPr>
            <p:cNvCxnSpPr>
              <a:stCxn id="11" idx="6"/>
              <a:endCxn id="7" idx="2"/>
            </p:cNvCxnSpPr>
            <p:nvPr/>
          </p:nvCxnSpPr>
          <p:spPr>
            <a:xfrm>
              <a:off x="2100941" y="3968637"/>
              <a:ext cx="391886" cy="1153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96">
              <a:extLst>
                <a:ext uri="{FF2B5EF4-FFF2-40B4-BE49-F238E27FC236}">
                  <a16:creationId xmlns:a16="http://schemas.microsoft.com/office/drawing/2014/main" id="{8BAC6053-9EA1-03A2-558A-88DA39759DB7}"/>
                </a:ext>
              </a:extLst>
            </p:cNvPr>
            <p:cNvCxnSpPr>
              <a:stCxn id="12" idx="6"/>
              <a:endCxn id="7" idx="2"/>
            </p:cNvCxnSpPr>
            <p:nvPr/>
          </p:nvCxnSpPr>
          <p:spPr>
            <a:xfrm>
              <a:off x="2100941" y="4724287"/>
              <a:ext cx="391886" cy="398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98">
              <a:extLst>
                <a:ext uri="{FF2B5EF4-FFF2-40B4-BE49-F238E27FC236}">
                  <a16:creationId xmlns:a16="http://schemas.microsoft.com/office/drawing/2014/main" id="{3F853BE8-DC89-2563-5D8A-81B95637946A}"/>
                </a:ext>
              </a:extLst>
            </p:cNvPr>
            <p:cNvCxnSpPr>
              <a:stCxn id="5" idx="6"/>
              <a:endCxn id="8" idx="2"/>
            </p:cNvCxnSpPr>
            <p:nvPr/>
          </p:nvCxnSpPr>
          <p:spPr>
            <a:xfrm>
              <a:off x="3058885" y="3685608"/>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99">
              <a:extLst>
                <a:ext uri="{FF2B5EF4-FFF2-40B4-BE49-F238E27FC236}">
                  <a16:creationId xmlns:a16="http://schemas.microsoft.com/office/drawing/2014/main" id="{E081B8ED-0DAA-5AFA-C344-2E0F0F824563}"/>
                </a:ext>
              </a:extLst>
            </p:cNvPr>
            <p:cNvCxnSpPr>
              <a:stCxn id="6" idx="6"/>
              <a:endCxn id="9" idx="2"/>
            </p:cNvCxnSpPr>
            <p:nvPr/>
          </p:nvCxnSpPr>
          <p:spPr>
            <a:xfrm>
              <a:off x="3058884" y="4404065"/>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100">
              <a:extLst>
                <a:ext uri="{FF2B5EF4-FFF2-40B4-BE49-F238E27FC236}">
                  <a16:creationId xmlns:a16="http://schemas.microsoft.com/office/drawing/2014/main" id="{A9641AFE-87D5-B387-E3B3-9D4DB2BF1C03}"/>
                </a:ext>
              </a:extLst>
            </p:cNvPr>
            <p:cNvCxnSpPr>
              <a:stCxn id="7" idx="6"/>
              <a:endCxn id="9" idx="2"/>
            </p:cNvCxnSpPr>
            <p:nvPr/>
          </p:nvCxnSpPr>
          <p:spPr>
            <a:xfrm flipV="1">
              <a:off x="3058884" y="4866303"/>
              <a:ext cx="391885"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102">
              <a:extLst>
                <a:ext uri="{FF2B5EF4-FFF2-40B4-BE49-F238E27FC236}">
                  <a16:creationId xmlns:a16="http://schemas.microsoft.com/office/drawing/2014/main" id="{F32871E1-928B-51EF-54A4-B0CF7EF7B2D4}"/>
                </a:ext>
              </a:extLst>
            </p:cNvPr>
            <p:cNvCxnSpPr>
              <a:cxnSpLocks/>
              <a:stCxn id="5" idx="6"/>
              <a:endCxn id="9" idx="2"/>
            </p:cNvCxnSpPr>
            <p:nvPr/>
          </p:nvCxnSpPr>
          <p:spPr>
            <a:xfrm>
              <a:off x="3058885" y="3685608"/>
              <a:ext cx="391884" cy="1180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103">
              <a:extLst>
                <a:ext uri="{FF2B5EF4-FFF2-40B4-BE49-F238E27FC236}">
                  <a16:creationId xmlns:a16="http://schemas.microsoft.com/office/drawing/2014/main" id="{8A271734-B1F2-D695-20AD-64D1A932C853}"/>
                </a:ext>
              </a:extLst>
            </p:cNvPr>
            <p:cNvCxnSpPr>
              <a:stCxn id="6" idx="6"/>
              <a:endCxn id="8" idx="2"/>
            </p:cNvCxnSpPr>
            <p:nvPr/>
          </p:nvCxnSpPr>
          <p:spPr>
            <a:xfrm flipV="1">
              <a:off x="3058884" y="4147846"/>
              <a:ext cx="391886"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104">
              <a:extLst>
                <a:ext uri="{FF2B5EF4-FFF2-40B4-BE49-F238E27FC236}">
                  <a16:creationId xmlns:a16="http://schemas.microsoft.com/office/drawing/2014/main" id="{5F472265-7B81-A690-1AA9-E509E9086C85}"/>
                </a:ext>
              </a:extLst>
            </p:cNvPr>
            <p:cNvCxnSpPr>
              <a:stCxn id="7" idx="6"/>
              <a:endCxn id="8" idx="2"/>
            </p:cNvCxnSpPr>
            <p:nvPr/>
          </p:nvCxnSpPr>
          <p:spPr>
            <a:xfrm flipV="1">
              <a:off x="3058884" y="4147846"/>
              <a:ext cx="391886" cy="974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CaixaDeTexto 106">
              <a:extLst>
                <a:ext uri="{FF2B5EF4-FFF2-40B4-BE49-F238E27FC236}">
                  <a16:creationId xmlns:a16="http://schemas.microsoft.com/office/drawing/2014/main" id="{F5754FED-4A00-16D2-0C3B-7EA7C7E49A7E}"/>
                </a:ext>
              </a:extLst>
            </p:cNvPr>
            <p:cNvSpPr txBox="1"/>
            <p:nvPr/>
          </p:nvSpPr>
          <p:spPr>
            <a:xfrm>
              <a:off x="3173179" y="3100768"/>
              <a:ext cx="1230086" cy="307777"/>
            </a:xfrm>
            <a:prstGeom prst="rect">
              <a:avLst/>
            </a:prstGeom>
            <a:noFill/>
          </p:spPr>
          <p:txBody>
            <a:bodyPr wrap="square" rtlCol="0">
              <a:spAutoFit/>
            </a:bodyPr>
            <a:lstStyle/>
            <a:p>
              <a:r>
                <a:rPr lang="pt-BR" sz="1400" dirty="0"/>
                <a:t>Neurônio</a:t>
              </a:r>
            </a:p>
          </p:txBody>
        </p:sp>
        <p:sp>
          <p:nvSpPr>
            <p:cNvPr id="28" name="Forma Livre: Forma 107">
              <a:extLst>
                <a:ext uri="{FF2B5EF4-FFF2-40B4-BE49-F238E27FC236}">
                  <a16:creationId xmlns:a16="http://schemas.microsoft.com/office/drawing/2014/main" id="{F975C5F3-BA89-A7A9-E2E4-99BB82BFA982}"/>
                </a:ext>
              </a:extLst>
            </p:cNvPr>
            <p:cNvSpPr/>
            <p:nvPr/>
          </p:nvSpPr>
          <p:spPr>
            <a:xfrm>
              <a:off x="2786734" y="3216700"/>
              <a:ext cx="413657" cy="166042"/>
            </a:xfrm>
            <a:custGeom>
              <a:avLst/>
              <a:gdLst>
                <a:gd name="connsiteX0" fmla="*/ 0 w 413657"/>
                <a:gd name="connsiteY0" fmla="*/ 166042 h 166042"/>
                <a:gd name="connsiteX1" fmla="*/ 76200 w 413657"/>
                <a:gd name="connsiteY1" fmla="*/ 2756 h 166042"/>
                <a:gd name="connsiteX2" fmla="*/ 413657 w 413657"/>
                <a:gd name="connsiteY2" fmla="*/ 78956 h 166042"/>
              </a:gdLst>
              <a:ahLst/>
              <a:cxnLst>
                <a:cxn ang="0">
                  <a:pos x="connsiteX0" y="connsiteY0"/>
                </a:cxn>
                <a:cxn ang="0">
                  <a:pos x="connsiteX1" y="connsiteY1"/>
                </a:cxn>
                <a:cxn ang="0">
                  <a:pos x="connsiteX2" y="connsiteY2"/>
                </a:cxn>
              </a:cxnLst>
              <a:rect l="l" t="t" r="r" b="b"/>
              <a:pathLst>
                <a:path w="413657" h="166042">
                  <a:moveTo>
                    <a:pt x="0" y="166042"/>
                  </a:moveTo>
                  <a:cubicBezTo>
                    <a:pt x="3628" y="91656"/>
                    <a:pt x="7257" y="17270"/>
                    <a:pt x="76200" y="2756"/>
                  </a:cubicBezTo>
                  <a:cubicBezTo>
                    <a:pt x="145143" y="-11758"/>
                    <a:pt x="279400" y="33599"/>
                    <a:pt x="413657" y="7895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9" name="Conector reto 112">
              <a:extLst>
                <a:ext uri="{FF2B5EF4-FFF2-40B4-BE49-F238E27FC236}">
                  <a16:creationId xmlns:a16="http://schemas.microsoft.com/office/drawing/2014/main" id="{E77D26A7-3320-253B-2095-5E911AD3AFB6}"/>
                </a:ext>
              </a:extLst>
            </p:cNvPr>
            <p:cNvCxnSpPr>
              <a:cxnSpLocks/>
              <a:stCxn id="65" idx="6"/>
              <a:endCxn id="11" idx="2"/>
            </p:cNvCxnSpPr>
            <p:nvPr/>
          </p:nvCxnSpPr>
          <p:spPr>
            <a:xfrm>
              <a:off x="944681" y="3219656"/>
              <a:ext cx="590203" cy="7489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Conector de Seta Reta 113">
              <a:extLst>
                <a:ext uri="{FF2B5EF4-FFF2-40B4-BE49-F238E27FC236}">
                  <a16:creationId xmlns:a16="http://schemas.microsoft.com/office/drawing/2014/main" id="{E9A70C6E-00E4-7265-5C01-CB3A806FEDF8}"/>
                </a:ext>
              </a:extLst>
            </p:cNvPr>
            <p:cNvCxnSpPr>
              <a:cxnSpLocks/>
              <a:stCxn id="8" idx="6"/>
              <a:endCxn id="32" idx="1"/>
            </p:cNvCxnSpPr>
            <p:nvPr/>
          </p:nvCxnSpPr>
          <p:spPr>
            <a:xfrm>
              <a:off x="4016827" y="4147846"/>
              <a:ext cx="251280" cy="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ector de Seta Reta 114">
              <a:extLst>
                <a:ext uri="{FF2B5EF4-FFF2-40B4-BE49-F238E27FC236}">
                  <a16:creationId xmlns:a16="http://schemas.microsoft.com/office/drawing/2014/main" id="{05171771-0860-E379-19DB-C2E198F3B4D3}"/>
                </a:ext>
              </a:extLst>
            </p:cNvPr>
            <p:cNvCxnSpPr>
              <a:cxnSpLocks/>
              <a:stCxn id="9" idx="6"/>
            </p:cNvCxnSpPr>
            <p:nvPr/>
          </p:nvCxnSpPr>
          <p:spPr>
            <a:xfrm>
              <a:off x="4016826" y="4866303"/>
              <a:ext cx="272141" cy="5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CaixaDeTexto 5">
                  <a:extLst>
                    <a:ext uri="{FF2B5EF4-FFF2-40B4-BE49-F238E27FC236}">
                      <a16:creationId xmlns:a16="http://schemas.microsoft.com/office/drawing/2014/main" id="{8315C71B-DDD8-ED1A-254A-F2ADB01D279D}"/>
                    </a:ext>
                  </a:extLst>
                </p:cNvPr>
                <p:cNvSpPr txBox="1"/>
                <p:nvPr/>
              </p:nvSpPr>
              <p:spPr>
                <a:xfrm>
                  <a:off x="4268107" y="3963524"/>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1</m:t>
                            </m:r>
                          </m:sub>
                        </m:sSub>
                      </m:oMath>
                    </m:oMathPara>
                  </a14:m>
                  <a:endParaRPr lang="pt-BR" dirty="0"/>
                </a:p>
              </p:txBody>
            </p:sp>
          </mc:Choice>
          <mc:Fallback xmlns="">
            <p:sp>
              <p:nvSpPr>
                <p:cNvPr id="32" name="CaixaDeTexto 5">
                  <a:extLst>
                    <a:ext uri="{FF2B5EF4-FFF2-40B4-BE49-F238E27FC236}">
                      <a16:creationId xmlns:a16="http://schemas.microsoft.com/office/drawing/2014/main" id="{8315C71B-DDD8-ED1A-254A-F2ADB01D279D}"/>
                    </a:ext>
                  </a:extLst>
                </p:cNvPr>
                <p:cNvSpPr txBox="1">
                  <a:spLocks noRot="1" noChangeAspect="1" noMove="1" noResize="1" noEditPoints="1" noAdjustHandles="1" noChangeArrowheads="1" noChangeShapeType="1" noTextEdit="1"/>
                </p:cNvSpPr>
                <p:nvPr/>
              </p:nvSpPr>
              <p:spPr>
                <a:xfrm>
                  <a:off x="4268107" y="3963524"/>
                  <a:ext cx="266702" cy="369332"/>
                </a:xfrm>
                <a:prstGeom prst="rect">
                  <a:avLst/>
                </a:prstGeom>
                <a:blipFill>
                  <a:blip r:embed="rId2"/>
                  <a:stretch>
                    <a:fillRect t="-6667" r="-34091"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CaixaDeTexto 6">
                  <a:extLst>
                    <a:ext uri="{FF2B5EF4-FFF2-40B4-BE49-F238E27FC236}">
                      <a16:creationId xmlns:a16="http://schemas.microsoft.com/office/drawing/2014/main" id="{29A41F87-326E-0B0C-8F94-399961C5D118}"/>
                    </a:ext>
                  </a:extLst>
                </p:cNvPr>
                <p:cNvSpPr txBox="1"/>
                <p:nvPr/>
              </p:nvSpPr>
              <p:spPr>
                <a:xfrm>
                  <a:off x="4268107" y="4681637"/>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2</m:t>
                            </m:r>
                          </m:sub>
                        </m:sSub>
                      </m:oMath>
                    </m:oMathPara>
                  </a14:m>
                  <a:endParaRPr lang="pt-BR" dirty="0"/>
                </a:p>
              </p:txBody>
            </p:sp>
          </mc:Choice>
          <mc:Fallback xmlns="">
            <p:sp>
              <p:nvSpPr>
                <p:cNvPr id="33" name="CaixaDeTexto 6">
                  <a:extLst>
                    <a:ext uri="{FF2B5EF4-FFF2-40B4-BE49-F238E27FC236}">
                      <a16:creationId xmlns:a16="http://schemas.microsoft.com/office/drawing/2014/main" id="{29A41F87-326E-0B0C-8F94-399961C5D118}"/>
                    </a:ext>
                  </a:extLst>
                </p:cNvPr>
                <p:cNvSpPr txBox="1">
                  <a:spLocks noRot="1" noChangeAspect="1" noMove="1" noResize="1" noEditPoints="1" noAdjustHandles="1" noChangeArrowheads="1" noChangeShapeType="1" noTextEdit="1"/>
                </p:cNvSpPr>
                <p:nvPr/>
              </p:nvSpPr>
              <p:spPr>
                <a:xfrm>
                  <a:off x="4268107" y="4681637"/>
                  <a:ext cx="266702" cy="369332"/>
                </a:xfrm>
                <a:prstGeom prst="rect">
                  <a:avLst/>
                </a:prstGeom>
                <a:blipFill>
                  <a:blip r:embed="rId3"/>
                  <a:stretch>
                    <a:fillRect t="-6667" r="-36364" b="-6667"/>
                  </a:stretch>
                </a:blipFill>
              </p:spPr>
              <p:txBody>
                <a:bodyPr/>
                <a:lstStyle/>
                <a:p>
                  <a:r>
                    <a:rPr lang="en-US">
                      <a:noFill/>
                    </a:rPr>
                    <a:t> </a:t>
                  </a:r>
                </a:p>
              </p:txBody>
            </p:sp>
          </mc:Fallback>
        </mc:AlternateContent>
        <p:grpSp>
          <p:nvGrpSpPr>
            <p:cNvPr id="34" name="Group 33">
              <a:extLst>
                <a:ext uri="{FF2B5EF4-FFF2-40B4-BE49-F238E27FC236}">
                  <a16:creationId xmlns:a16="http://schemas.microsoft.com/office/drawing/2014/main" id="{B58C6F3A-E781-5D75-561F-5C43A917AAB6}"/>
                </a:ext>
              </a:extLst>
            </p:cNvPr>
            <p:cNvGrpSpPr/>
            <p:nvPr/>
          </p:nvGrpSpPr>
          <p:grpSpPr>
            <a:xfrm>
              <a:off x="607920" y="3007376"/>
              <a:ext cx="336761" cy="369332"/>
              <a:chOff x="922561" y="2974265"/>
              <a:chExt cx="336761" cy="369332"/>
            </a:xfrm>
          </p:grpSpPr>
          <mc:AlternateContent xmlns:mc="http://schemas.openxmlformats.org/markup-compatibility/2006" xmlns:a14="http://schemas.microsoft.com/office/drawing/2010/main">
            <mc:Choice Requires="a14">
              <p:sp>
                <p:nvSpPr>
                  <p:cNvPr id="64" name="CaixaDeTexto 115">
                    <a:extLst>
                      <a:ext uri="{FF2B5EF4-FFF2-40B4-BE49-F238E27FC236}">
                        <a16:creationId xmlns:a16="http://schemas.microsoft.com/office/drawing/2014/main" id="{EBF19884-3B50-8F9C-93BC-2CC13E64670C}"/>
                      </a:ext>
                    </a:extLst>
                  </p:cNvPr>
                  <p:cNvSpPr txBox="1"/>
                  <p:nvPr/>
                </p:nvSpPr>
                <p:spPr>
                  <a:xfrm>
                    <a:off x="922561" y="2974265"/>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64" name="CaixaDeTexto 115">
                    <a:extLst>
                      <a:ext uri="{FF2B5EF4-FFF2-40B4-BE49-F238E27FC236}">
                        <a16:creationId xmlns:a16="http://schemas.microsoft.com/office/drawing/2014/main" id="{EBF19884-3B50-8F9C-93BC-2CC13E64670C}"/>
                      </a:ext>
                    </a:extLst>
                  </p:cNvPr>
                  <p:cNvSpPr txBox="1">
                    <a:spLocks noRot="1" noChangeAspect="1" noMove="1" noResize="1" noEditPoints="1" noAdjustHandles="1" noChangeArrowheads="1" noChangeShapeType="1" noTextEdit="1"/>
                  </p:cNvSpPr>
                  <p:nvPr/>
                </p:nvSpPr>
                <p:spPr>
                  <a:xfrm>
                    <a:off x="922561" y="2974265"/>
                    <a:ext cx="266702" cy="369332"/>
                  </a:xfrm>
                  <a:prstGeom prst="rect">
                    <a:avLst/>
                  </a:prstGeom>
                  <a:blipFill>
                    <a:blip r:embed="rId4"/>
                    <a:stretch>
                      <a:fillRect r="-34091"/>
                    </a:stretch>
                  </a:blipFill>
                </p:spPr>
                <p:txBody>
                  <a:bodyPr/>
                  <a:lstStyle/>
                  <a:p>
                    <a:r>
                      <a:rPr lang="en-US">
                        <a:noFill/>
                      </a:rPr>
                      <a:t> </a:t>
                    </a:r>
                  </a:p>
                </p:txBody>
              </p:sp>
            </mc:Fallback>
          </mc:AlternateContent>
          <p:sp>
            <p:nvSpPr>
              <p:cNvPr id="65" name="Elipse 3">
                <a:extLst>
                  <a:ext uri="{FF2B5EF4-FFF2-40B4-BE49-F238E27FC236}">
                    <a16:creationId xmlns:a16="http://schemas.microsoft.com/office/drawing/2014/main" id="{069C9B5F-E70F-D9B5-0388-F77C52F5F76C}"/>
                  </a:ext>
                </a:extLst>
              </p:cNvPr>
              <p:cNvSpPr/>
              <p:nvPr/>
            </p:nvSpPr>
            <p:spPr>
              <a:xfrm>
                <a:off x="971322" y="3042545"/>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5" name="Elipse 83">
              <a:extLst>
                <a:ext uri="{FF2B5EF4-FFF2-40B4-BE49-F238E27FC236}">
                  <a16:creationId xmlns:a16="http://schemas.microsoft.com/office/drawing/2014/main" id="{A57642F8-5C22-1A15-B172-85987C5C01ED}"/>
                </a:ext>
              </a:extLst>
            </p:cNvPr>
            <p:cNvSpPr/>
            <p:nvPr/>
          </p:nvSpPr>
          <p:spPr>
            <a:xfrm>
              <a:off x="1529435" y="51969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6" name="Group 35">
              <a:extLst>
                <a:ext uri="{FF2B5EF4-FFF2-40B4-BE49-F238E27FC236}">
                  <a16:creationId xmlns:a16="http://schemas.microsoft.com/office/drawing/2014/main" id="{9C6396B2-5051-5D4F-466F-B85FB36FE935}"/>
                </a:ext>
              </a:extLst>
            </p:cNvPr>
            <p:cNvGrpSpPr/>
            <p:nvPr/>
          </p:nvGrpSpPr>
          <p:grpSpPr>
            <a:xfrm>
              <a:off x="574549" y="5263520"/>
              <a:ext cx="349823" cy="369332"/>
              <a:chOff x="920926" y="4430876"/>
              <a:chExt cx="349823" cy="369332"/>
            </a:xfrm>
          </p:grpSpPr>
          <mc:AlternateContent xmlns:mc="http://schemas.openxmlformats.org/markup-compatibility/2006" xmlns:a14="http://schemas.microsoft.com/office/drawing/2010/main">
            <mc:Choice Requires="a14">
              <p:sp>
                <p:nvSpPr>
                  <p:cNvPr id="62" name="CaixaDeTexto 116">
                    <a:extLst>
                      <a:ext uri="{FF2B5EF4-FFF2-40B4-BE49-F238E27FC236}">
                        <a16:creationId xmlns:a16="http://schemas.microsoft.com/office/drawing/2014/main" id="{34AEB892-F401-42DD-770A-C476E26B6F44}"/>
                      </a:ext>
                    </a:extLst>
                  </p:cNvPr>
                  <p:cNvSpPr txBox="1"/>
                  <p:nvPr/>
                </p:nvSpPr>
                <p:spPr>
                  <a:xfrm>
                    <a:off x="920926" y="4430876"/>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62" name="CaixaDeTexto 116">
                    <a:extLst>
                      <a:ext uri="{FF2B5EF4-FFF2-40B4-BE49-F238E27FC236}">
                        <a16:creationId xmlns:a16="http://schemas.microsoft.com/office/drawing/2014/main" id="{34AEB892-F401-42DD-770A-C476E26B6F44}"/>
                      </a:ext>
                    </a:extLst>
                  </p:cNvPr>
                  <p:cNvSpPr txBox="1">
                    <a:spLocks noRot="1" noChangeAspect="1" noMove="1" noResize="1" noEditPoints="1" noAdjustHandles="1" noChangeArrowheads="1" noChangeShapeType="1" noTextEdit="1"/>
                  </p:cNvSpPr>
                  <p:nvPr/>
                </p:nvSpPr>
                <p:spPr>
                  <a:xfrm>
                    <a:off x="920926" y="4430876"/>
                    <a:ext cx="266702" cy="369332"/>
                  </a:xfrm>
                  <a:prstGeom prst="rect">
                    <a:avLst/>
                  </a:prstGeom>
                  <a:blipFill>
                    <a:blip r:embed="rId5"/>
                    <a:stretch>
                      <a:fillRect r="-36364"/>
                    </a:stretch>
                  </a:blipFill>
                </p:spPr>
                <p:txBody>
                  <a:bodyPr/>
                  <a:lstStyle/>
                  <a:p>
                    <a:r>
                      <a:rPr lang="en-US">
                        <a:noFill/>
                      </a:rPr>
                      <a:t> </a:t>
                    </a:r>
                  </a:p>
                </p:txBody>
              </p:sp>
            </mc:Fallback>
          </mc:AlternateContent>
          <p:sp>
            <p:nvSpPr>
              <p:cNvPr id="63" name="Elipse 4">
                <a:extLst>
                  <a:ext uri="{FF2B5EF4-FFF2-40B4-BE49-F238E27FC236}">
                    <a16:creationId xmlns:a16="http://schemas.microsoft.com/office/drawing/2014/main" id="{54E38790-B43D-A2CA-AAAB-3A650C1A92A9}"/>
                  </a:ext>
                </a:extLst>
              </p:cNvPr>
              <p:cNvSpPr/>
              <p:nvPr/>
            </p:nvSpPr>
            <p:spPr>
              <a:xfrm>
                <a:off x="982749" y="4504166"/>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cxnSp>
          <p:nvCxnSpPr>
            <p:cNvPr id="37" name="Conector reto 112">
              <a:extLst>
                <a:ext uri="{FF2B5EF4-FFF2-40B4-BE49-F238E27FC236}">
                  <a16:creationId xmlns:a16="http://schemas.microsoft.com/office/drawing/2014/main" id="{D314793D-9893-40CF-6D28-8375D4B5BE48}"/>
                </a:ext>
              </a:extLst>
            </p:cNvPr>
            <p:cNvCxnSpPr>
              <a:cxnSpLocks/>
              <a:stCxn id="65" idx="6"/>
              <a:endCxn id="10" idx="2"/>
            </p:cNvCxnSpPr>
            <p:nvPr/>
          </p:nvCxnSpPr>
          <p:spPr>
            <a:xfrm flipV="1">
              <a:off x="944681" y="3212987"/>
              <a:ext cx="590203" cy="6669"/>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Conector reto 112">
              <a:extLst>
                <a:ext uri="{FF2B5EF4-FFF2-40B4-BE49-F238E27FC236}">
                  <a16:creationId xmlns:a16="http://schemas.microsoft.com/office/drawing/2014/main" id="{9105E874-0E05-E4F5-E4B2-A90612F9F219}"/>
                </a:ext>
              </a:extLst>
            </p:cNvPr>
            <p:cNvCxnSpPr>
              <a:cxnSpLocks/>
              <a:stCxn id="65" idx="6"/>
              <a:endCxn id="12" idx="2"/>
            </p:cNvCxnSpPr>
            <p:nvPr/>
          </p:nvCxnSpPr>
          <p:spPr>
            <a:xfrm>
              <a:off x="944681" y="3219656"/>
              <a:ext cx="590203" cy="150463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Conector reto 112">
              <a:extLst>
                <a:ext uri="{FF2B5EF4-FFF2-40B4-BE49-F238E27FC236}">
                  <a16:creationId xmlns:a16="http://schemas.microsoft.com/office/drawing/2014/main" id="{211A8312-997D-6086-BF48-8D6A12ECCE0A}"/>
                </a:ext>
              </a:extLst>
            </p:cNvPr>
            <p:cNvCxnSpPr>
              <a:cxnSpLocks/>
              <a:stCxn id="65" idx="6"/>
              <a:endCxn id="35" idx="2"/>
            </p:cNvCxnSpPr>
            <p:nvPr/>
          </p:nvCxnSpPr>
          <p:spPr>
            <a:xfrm>
              <a:off x="944681" y="3219656"/>
              <a:ext cx="584754" cy="22602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Conector reto 112">
              <a:extLst>
                <a:ext uri="{FF2B5EF4-FFF2-40B4-BE49-F238E27FC236}">
                  <a16:creationId xmlns:a16="http://schemas.microsoft.com/office/drawing/2014/main" id="{3A58BF7B-3279-94C8-FFF6-06C46AB01122}"/>
                </a:ext>
              </a:extLst>
            </p:cNvPr>
            <p:cNvCxnSpPr>
              <a:cxnSpLocks/>
              <a:stCxn id="63" idx="6"/>
              <a:endCxn id="35" idx="2"/>
            </p:cNvCxnSpPr>
            <p:nvPr/>
          </p:nvCxnSpPr>
          <p:spPr>
            <a:xfrm flipV="1">
              <a:off x="924372" y="5479937"/>
              <a:ext cx="605063" cy="8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Conector reto 112">
              <a:extLst>
                <a:ext uri="{FF2B5EF4-FFF2-40B4-BE49-F238E27FC236}">
                  <a16:creationId xmlns:a16="http://schemas.microsoft.com/office/drawing/2014/main" id="{AEB71C20-E18A-505D-67E6-7B45A9C6E66D}"/>
                </a:ext>
              </a:extLst>
            </p:cNvPr>
            <p:cNvCxnSpPr>
              <a:cxnSpLocks/>
              <a:stCxn id="63" idx="6"/>
              <a:endCxn id="12" idx="2"/>
            </p:cNvCxnSpPr>
            <p:nvPr/>
          </p:nvCxnSpPr>
          <p:spPr>
            <a:xfrm flipV="1">
              <a:off x="924372" y="4724287"/>
              <a:ext cx="610512" cy="7565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Conector reto 112">
              <a:extLst>
                <a:ext uri="{FF2B5EF4-FFF2-40B4-BE49-F238E27FC236}">
                  <a16:creationId xmlns:a16="http://schemas.microsoft.com/office/drawing/2014/main" id="{3EF97643-5284-70E1-BD80-0BB8182240E5}"/>
                </a:ext>
              </a:extLst>
            </p:cNvPr>
            <p:cNvCxnSpPr>
              <a:cxnSpLocks/>
              <a:stCxn id="63" idx="6"/>
            </p:cNvCxnSpPr>
            <p:nvPr/>
          </p:nvCxnSpPr>
          <p:spPr>
            <a:xfrm flipV="1">
              <a:off x="924372" y="3968637"/>
              <a:ext cx="610512" cy="15121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Conector reto 112">
              <a:extLst>
                <a:ext uri="{FF2B5EF4-FFF2-40B4-BE49-F238E27FC236}">
                  <a16:creationId xmlns:a16="http://schemas.microsoft.com/office/drawing/2014/main" id="{491A4652-97E5-4107-4DDF-D9E1B0F152AB}"/>
                </a:ext>
              </a:extLst>
            </p:cNvPr>
            <p:cNvCxnSpPr>
              <a:cxnSpLocks/>
              <a:stCxn id="63" idx="6"/>
              <a:endCxn id="10" idx="2"/>
            </p:cNvCxnSpPr>
            <p:nvPr/>
          </p:nvCxnSpPr>
          <p:spPr>
            <a:xfrm flipV="1">
              <a:off x="924372" y="3212987"/>
              <a:ext cx="610512" cy="22678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Conector de Seta Reta 91">
              <a:extLst>
                <a:ext uri="{FF2B5EF4-FFF2-40B4-BE49-F238E27FC236}">
                  <a16:creationId xmlns:a16="http://schemas.microsoft.com/office/drawing/2014/main" id="{C6954959-94F7-8348-1F33-BF93B8246001}"/>
                </a:ext>
              </a:extLst>
            </p:cNvPr>
            <p:cNvCxnSpPr>
              <a:cxnSpLocks/>
              <a:stCxn id="12" idx="6"/>
              <a:endCxn id="5" idx="2"/>
            </p:cNvCxnSpPr>
            <p:nvPr/>
          </p:nvCxnSpPr>
          <p:spPr>
            <a:xfrm flipV="1">
              <a:off x="2100941" y="3685608"/>
              <a:ext cx="391887" cy="1038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ector de Seta Reta 91">
              <a:extLst>
                <a:ext uri="{FF2B5EF4-FFF2-40B4-BE49-F238E27FC236}">
                  <a16:creationId xmlns:a16="http://schemas.microsoft.com/office/drawing/2014/main" id="{CBB7B80E-C1FD-EBBD-9D25-534E89042BD1}"/>
                </a:ext>
              </a:extLst>
            </p:cNvPr>
            <p:cNvCxnSpPr>
              <a:cxnSpLocks/>
              <a:stCxn id="35" idx="6"/>
              <a:endCxn id="5" idx="2"/>
            </p:cNvCxnSpPr>
            <p:nvPr/>
          </p:nvCxnSpPr>
          <p:spPr>
            <a:xfrm flipV="1">
              <a:off x="2095492" y="3685608"/>
              <a:ext cx="397336" cy="1794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ector de Seta Reta 91">
              <a:extLst>
                <a:ext uri="{FF2B5EF4-FFF2-40B4-BE49-F238E27FC236}">
                  <a16:creationId xmlns:a16="http://schemas.microsoft.com/office/drawing/2014/main" id="{84B319D8-A5A6-8A00-9C05-23CB87C49778}"/>
                </a:ext>
              </a:extLst>
            </p:cNvPr>
            <p:cNvCxnSpPr>
              <a:cxnSpLocks/>
              <a:stCxn id="35" idx="6"/>
              <a:endCxn id="6" idx="2"/>
            </p:cNvCxnSpPr>
            <p:nvPr/>
          </p:nvCxnSpPr>
          <p:spPr>
            <a:xfrm flipV="1">
              <a:off x="2095492" y="4404065"/>
              <a:ext cx="397335" cy="1075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ector de Seta Reta 91">
              <a:extLst>
                <a:ext uri="{FF2B5EF4-FFF2-40B4-BE49-F238E27FC236}">
                  <a16:creationId xmlns:a16="http://schemas.microsoft.com/office/drawing/2014/main" id="{1B90B0B0-88DF-9CBC-3CD6-F61A7D24E26F}"/>
                </a:ext>
              </a:extLst>
            </p:cNvPr>
            <p:cNvCxnSpPr>
              <a:cxnSpLocks/>
              <a:stCxn id="35" idx="6"/>
              <a:endCxn id="7" idx="2"/>
            </p:cNvCxnSpPr>
            <p:nvPr/>
          </p:nvCxnSpPr>
          <p:spPr>
            <a:xfrm flipV="1">
              <a:off x="2095492" y="5122522"/>
              <a:ext cx="397335" cy="357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08F09EF-97F6-98E3-172A-204773369AC6}"/>
                    </a:ext>
                  </a:extLst>
                </p:cNvPr>
                <p:cNvSpPr txBox="1"/>
                <p:nvPr/>
              </p:nvSpPr>
              <p:spPr>
                <a:xfrm>
                  <a:off x="956041" y="2865008"/>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48" name="TextBox 47">
                  <a:extLst>
                    <a:ext uri="{FF2B5EF4-FFF2-40B4-BE49-F238E27FC236}">
                      <a16:creationId xmlns:a16="http://schemas.microsoft.com/office/drawing/2014/main" id="{108F09EF-97F6-98E3-172A-204773369AC6}"/>
                    </a:ext>
                  </a:extLst>
                </p:cNvPr>
                <p:cNvSpPr txBox="1">
                  <a:spLocks noRot="1" noChangeAspect="1" noMove="1" noResize="1" noEditPoints="1" noAdjustHandles="1" noChangeArrowheads="1" noChangeShapeType="1" noTextEdit="1"/>
                </p:cNvSpPr>
                <p:nvPr/>
              </p:nvSpPr>
              <p:spPr>
                <a:xfrm>
                  <a:off x="956041" y="2865008"/>
                  <a:ext cx="560538" cy="36131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AC29059A-3453-14B3-FD52-7A9AAE09D717}"/>
                    </a:ext>
                  </a:extLst>
                </p:cNvPr>
                <p:cNvSpPr txBox="1"/>
                <p:nvPr/>
              </p:nvSpPr>
              <p:spPr>
                <a:xfrm rot="3068437">
                  <a:off x="1020572" y="321965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12</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49" name="TextBox 48">
                  <a:extLst>
                    <a:ext uri="{FF2B5EF4-FFF2-40B4-BE49-F238E27FC236}">
                      <a16:creationId xmlns:a16="http://schemas.microsoft.com/office/drawing/2014/main" id="{AC29059A-3453-14B3-FD52-7A9AAE09D717}"/>
                    </a:ext>
                  </a:extLst>
                </p:cNvPr>
                <p:cNvSpPr txBox="1">
                  <a:spLocks noRot="1" noChangeAspect="1" noMove="1" noResize="1" noEditPoints="1" noAdjustHandles="1" noChangeArrowheads="1" noChangeShapeType="1" noTextEdit="1"/>
                </p:cNvSpPr>
                <p:nvPr/>
              </p:nvSpPr>
              <p:spPr>
                <a:xfrm rot="3068437">
                  <a:off x="1020572" y="3219653"/>
                  <a:ext cx="560538" cy="36131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778001A-AA62-E613-11F3-633D012C74EA}"/>
                    </a:ext>
                  </a:extLst>
                </p:cNvPr>
                <p:cNvSpPr txBox="1"/>
                <p:nvPr/>
              </p:nvSpPr>
              <p:spPr>
                <a:xfrm>
                  <a:off x="933548" y="5486606"/>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24</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0" name="TextBox 49">
                  <a:extLst>
                    <a:ext uri="{FF2B5EF4-FFF2-40B4-BE49-F238E27FC236}">
                      <a16:creationId xmlns:a16="http://schemas.microsoft.com/office/drawing/2014/main" id="{3778001A-AA62-E613-11F3-633D012C74EA}"/>
                    </a:ext>
                  </a:extLst>
                </p:cNvPr>
                <p:cNvSpPr txBox="1">
                  <a:spLocks noRot="1" noChangeAspect="1" noMove="1" noResize="1" noEditPoints="1" noAdjustHandles="1" noChangeArrowheads="1" noChangeShapeType="1" noTextEdit="1"/>
                </p:cNvSpPr>
                <p:nvPr/>
              </p:nvSpPr>
              <p:spPr>
                <a:xfrm>
                  <a:off x="933548" y="5486606"/>
                  <a:ext cx="560538" cy="36131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F94CE927-8492-9717-4B9A-B9803E52F878}"/>
                    </a:ext>
                  </a:extLst>
                </p:cNvPr>
                <p:cNvSpPr txBox="1"/>
                <p:nvPr/>
              </p:nvSpPr>
              <p:spPr>
                <a:xfrm rot="17131605">
                  <a:off x="594353" y="4756061"/>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1" name="TextBox 50">
                  <a:extLst>
                    <a:ext uri="{FF2B5EF4-FFF2-40B4-BE49-F238E27FC236}">
                      <a16:creationId xmlns:a16="http://schemas.microsoft.com/office/drawing/2014/main" id="{F94CE927-8492-9717-4B9A-B9803E52F878}"/>
                    </a:ext>
                  </a:extLst>
                </p:cNvPr>
                <p:cNvSpPr txBox="1">
                  <a:spLocks noRot="1" noChangeAspect="1" noMove="1" noResize="1" noEditPoints="1" noAdjustHandles="1" noChangeArrowheads="1" noChangeShapeType="1" noTextEdit="1"/>
                </p:cNvSpPr>
                <p:nvPr/>
              </p:nvSpPr>
              <p:spPr>
                <a:xfrm rot="17131605">
                  <a:off x="594353" y="4756061"/>
                  <a:ext cx="560538" cy="36131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DBFD359F-1205-2EE2-15E9-7E8B34CE4982}"/>
                    </a:ext>
                  </a:extLst>
                </p:cNvPr>
                <p:cNvSpPr txBox="1"/>
                <p:nvPr/>
              </p:nvSpPr>
              <p:spPr>
                <a:xfrm rot="2964551">
                  <a:off x="2132495" y="313219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2" name="TextBox 51">
                  <a:extLst>
                    <a:ext uri="{FF2B5EF4-FFF2-40B4-BE49-F238E27FC236}">
                      <a16:creationId xmlns:a16="http://schemas.microsoft.com/office/drawing/2014/main" id="{DBFD359F-1205-2EE2-15E9-7E8B34CE4982}"/>
                    </a:ext>
                  </a:extLst>
                </p:cNvPr>
                <p:cNvSpPr txBox="1">
                  <a:spLocks noRot="1" noChangeAspect="1" noMove="1" noResize="1" noEditPoints="1" noAdjustHandles="1" noChangeArrowheads="1" noChangeShapeType="1" noTextEdit="1"/>
                </p:cNvSpPr>
                <p:nvPr/>
              </p:nvSpPr>
              <p:spPr>
                <a:xfrm rot="2964551">
                  <a:off x="2132495" y="3132193"/>
                  <a:ext cx="560538" cy="36131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888B6626-4AD0-208D-B630-57B87F1E615C}"/>
                    </a:ext>
                  </a:extLst>
                </p:cNvPr>
                <p:cNvSpPr txBox="1"/>
                <p:nvPr/>
              </p:nvSpPr>
              <p:spPr>
                <a:xfrm rot="19021513">
                  <a:off x="2088094" y="5274650"/>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43</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3" name="TextBox 52">
                  <a:extLst>
                    <a:ext uri="{FF2B5EF4-FFF2-40B4-BE49-F238E27FC236}">
                      <a16:creationId xmlns:a16="http://schemas.microsoft.com/office/drawing/2014/main" id="{888B6626-4AD0-208D-B630-57B87F1E615C}"/>
                    </a:ext>
                  </a:extLst>
                </p:cNvPr>
                <p:cNvSpPr txBox="1">
                  <a:spLocks noRot="1" noChangeAspect="1" noMove="1" noResize="1" noEditPoints="1" noAdjustHandles="1" noChangeArrowheads="1" noChangeShapeType="1" noTextEdit="1"/>
                </p:cNvSpPr>
                <p:nvPr/>
              </p:nvSpPr>
              <p:spPr>
                <a:xfrm rot="19021513">
                  <a:off x="2088094" y="5274650"/>
                  <a:ext cx="560538" cy="36131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ACC60027-CFC5-3E1B-2C05-C3290F8B634D}"/>
                    </a:ext>
                  </a:extLst>
                </p:cNvPr>
                <p:cNvSpPr txBox="1"/>
                <p:nvPr/>
              </p:nvSpPr>
              <p:spPr>
                <a:xfrm rot="2893059">
                  <a:off x="3107452" y="3604952"/>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4" name="TextBox 53">
                  <a:extLst>
                    <a:ext uri="{FF2B5EF4-FFF2-40B4-BE49-F238E27FC236}">
                      <a16:creationId xmlns:a16="http://schemas.microsoft.com/office/drawing/2014/main" id="{ACC60027-CFC5-3E1B-2C05-C3290F8B634D}"/>
                    </a:ext>
                  </a:extLst>
                </p:cNvPr>
                <p:cNvSpPr txBox="1">
                  <a:spLocks noRot="1" noChangeAspect="1" noMove="1" noResize="1" noEditPoints="1" noAdjustHandles="1" noChangeArrowheads="1" noChangeShapeType="1" noTextEdit="1"/>
                </p:cNvSpPr>
                <p:nvPr/>
              </p:nvSpPr>
              <p:spPr>
                <a:xfrm rot="2893059">
                  <a:off x="3107452" y="3604952"/>
                  <a:ext cx="560538" cy="362663"/>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871875A-2A3E-5B73-D74D-5609B9740C51}"/>
                    </a:ext>
                  </a:extLst>
                </p:cNvPr>
                <p:cNvSpPr txBox="1"/>
                <p:nvPr/>
              </p:nvSpPr>
              <p:spPr>
                <a:xfrm rot="19852769">
                  <a:off x="3044859" y="4967999"/>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32</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5" name="TextBox 54">
                  <a:extLst>
                    <a:ext uri="{FF2B5EF4-FFF2-40B4-BE49-F238E27FC236}">
                      <a16:creationId xmlns:a16="http://schemas.microsoft.com/office/drawing/2014/main" id="{8871875A-2A3E-5B73-D74D-5609B9740C51}"/>
                    </a:ext>
                  </a:extLst>
                </p:cNvPr>
                <p:cNvSpPr txBox="1">
                  <a:spLocks noRot="1" noChangeAspect="1" noMove="1" noResize="1" noEditPoints="1" noAdjustHandles="1" noChangeArrowheads="1" noChangeShapeType="1" noTextEdit="1"/>
                </p:cNvSpPr>
                <p:nvPr/>
              </p:nvSpPr>
              <p:spPr>
                <a:xfrm rot="19852769">
                  <a:off x="3044859" y="4967999"/>
                  <a:ext cx="560538" cy="362663"/>
                </a:xfrm>
                <a:prstGeom prst="rect">
                  <a:avLst/>
                </a:prstGeom>
                <a:blipFill>
                  <a:blip r:embed="rId13"/>
                  <a:stretch>
                    <a:fillRect/>
                  </a:stretch>
                </a:blipFill>
              </p:spPr>
              <p:txBody>
                <a:bodyPr/>
                <a:lstStyle/>
                <a:p>
                  <a:r>
                    <a:rPr lang="en-US">
                      <a:noFill/>
                    </a:rPr>
                    <a:t> </a:t>
                  </a:r>
                </a:p>
              </p:txBody>
            </p:sp>
          </mc:Fallback>
        </mc:AlternateContent>
        <p:sp>
          <p:nvSpPr>
            <p:cNvPr id="56" name="CaixaDeTexto 106">
              <a:extLst>
                <a:ext uri="{FF2B5EF4-FFF2-40B4-BE49-F238E27FC236}">
                  <a16:creationId xmlns:a16="http://schemas.microsoft.com/office/drawing/2014/main" id="{A3C84BA2-54EB-805C-7E41-3C5BD2D9E208}"/>
                </a:ext>
              </a:extLst>
            </p:cNvPr>
            <p:cNvSpPr txBox="1"/>
            <p:nvPr/>
          </p:nvSpPr>
          <p:spPr>
            <a:xfrm>
              <a:off x="1300841" y="2506925"/>
              <a:ext cx="1796143" cy="307777"/>
            </a:xfrm>
            <a:prstGeom prst="rect">
              <a:avLst/>
            </a:prstGeom>
            <a:noFill/>
          </p:spPr>
          <p:txBody>
            <a:bodyPr wrap="square" rtlCol="0">
              <a:spAutoFit/>
            </a:bodyPr>
            <a:lstStyle/>
            <a:p>
              <a:r>
                <a:rPr lang="pt-BR" sz="1400" dirty="0"/>
                <a:t>Peso sináptico</a:t>
              </a:r>
            </a:p>
          </p:txBody>
        </p:sp>
        <p:sp>
          <p:nvSpPr>
            <p:cNvPr id="57" name="Freeform: Shape 56">
              <a:extLst>
                <a:ext uri="{FF2B5EF4-FFF2-40B4-BE49-F238E27FC236}">
                  <a16:creationId xmlns:a16="http://schemas.microsoft.com/office/drawing/2014/main" id="{1DFFD252-F7C2-0400-CE79-C7D47DFB3AAB}"/>
                </a:ext>
              </a:extLst>
            </p:cNvPr>
            <p:cNvSpPr/>
            <p:nvPr/>
          </p:nvSpPr>
          <p:spPr>
            <a:xfrm>
              <a:off x="1164771" y="2656114"/>
              <a:ext cx="206829" cy="250372"/>
            </a:xfrm>
            <a:custGeom>
              <a:avLst/>
              <a:gdLst>
                <a:gd name="csX0" fmla="*/ 0 w 206829"/>
                <a:gd name="csY0" fmla="*/ 250372 h 250372"/>
                <a:gd name="csX1" fmla="*/ 54429 w 206829"/>
                <a:gd name="csY1" fmla="*/ 108857 h 250372"/>
                <a:gd name="csX2" fmla="*/ 206829 w 206829"/>
                <a:gd name="csY2" fmla="*/ 0 h 250372"/>
              </a:gdLst>
              <a:ahLst/>
              <a:cxnLst>
                <a:cxn ang="0">
                  <a:pos x="csX0" y="csY0"/>
                </a:cxn>
                <a:cxn ang="0">
                  <a:pos x="csX1" y="csY1"/>
                </a:cxn>
                <a:cxn ang="0">
                  <a:pos x="csX2" y="csY2"/>
                </a:cxn>
              </a:cxnLst>
              <a:rect l="l" t="t" r="r" b="b"/>
              <a:pathLst>
                <a:path w="206829" h="250372">
                  <a:moveTo>
                    <a:pt x="0" y="250372"/>
                  </a:moveTo>
                  <a:cubicBezTo>
                    <a:pt x="9979" y="200479"/>
                    <a:pt x="19958" y="150586"/>
                    <a:pt x="54429" y="108857"/>
                  </a:cubicBezTo>
                  <a:cubicBezTo>
                    <a:pt x="88901" y="67128"/>
                    <a:pt x="147865" y="33564"/>
                    <a:pt x="206829"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CaixaDeTexto 32">
              <a:extLst>
                <a:ext uri="{FF2B5EF4-FFF2-40B4-BE49-F238E27FC236}">
                  <a16:creationId xmlns:a16="http://schemas.microsoft.com/office/drawing/2014/main" id="{8247F555-F9DF-97FB-7B6C-10240EC3DA03}"/>
                </a:ext>
              </a:extLst>
            </p:cNvPr>
            <p:cNvSpPr txBox="1"/>
            <p:nvPr/>
          </p:nvSpPr>
          <p:spPr>
            <a:xfrm>
              <a:off x="294226" y="5713408"/>
              <a:ext cx="868135" cy="461665"/>
            </a:xfrm>
            <a:prstGeom prst="rect">
              <a:avLst/>
            </a:prstGeom>
            <a:noFill/>
          </p:spPr>
          <p:txBody>
            <a:bodyPr wrap="square" rtlCol="0">
              <a:spAutoFit/>
            </a:bodyPr>
            <a:lstStyle/>
            <a:p>
              <a:pPr algn="ctr"/>
              <a:r>
                <a:rPr lang="pt-BR" sz="1200" dirty="0"/>
                <a:t>Camada de entrada</a:t>
              </a:r>
            </a:p>
          </p:txBody>
        </p:sp>
        <p:sp>
          <p:nvSpPr>
            <p:cNvPr id="59" name="CaixaDeTexto 34">
              <a:extLst>
                <a:ext uri="{FF2B5EF4-FFF2-40B4-BE49-F238E27FC236}">
                  <a16:creationId xmlns:a16="http://schemas.microsoft.com/office/drawing/2014/main" id="{E5F53690-6F40-A949-FEDC-4500198D8C6A}"/>
                </a:ext>
              </a:extLst>
            </p:cNvPr>
            <p:cNvSpPr txBox="1"/>
            <p:nvPr/>
          </p:nvSpPr>
          <p:spPr>
            <a:xfrm>
              <a:off x="1357989" y="5837351"/>
              <a:ext cx="868135" cy="461665"/>
            </a:xfrm>
            <a:prstGeom prst="rect">
              <a:avLst/>
            </a:prstGeom>
            <a:noFill/>
          </p:spPr>
          <p:txBody>
            <a:bodyPr wrap="square" rtlCol="0">
              <a:spAutoFit/>
            </a:bodyPr>
            <a:lstStyle/>
            <a:p>
              <a:pPr algn="ctr"/>
              <a:r>
                <a:rPr lang="pt-BR" sz="1200" dirty="0"/>
                <a:t>Camada oculta #1</a:t>
              </a:r>
            </a:p>
          </p:txBody>
        </p:sp>
        <p:sp>
          <p:nvSpPr>
            <p:cNvPr id="60" name="CaixaDeTexto 40">
              <a:extLst>
                <a:ext uri="{FF2B5EF4-FFF2-40B4-BE49-F238E27FC236}">
                  <a16:creationId xmlns:a16="http://schemas.microsoft.com/office/drawing/2014/main" id="{B7F0713D-76DA-6EAC-25DA-B830BA9F088A}"/>
                </a:ext>
              </a:extLst>
            </p:cNvPr>
            <p:cNvSpPr txBox="1"/>
            <p:nvPr/>
          </p:nvSpPr>
          <p:spPr>
            <a:xfrm>
              <a:off x="2352673" y="5450646"/>
              <a:ext cx="868135" cy="461665"/>
            </a:xfrm>
            <a:prstGeom prst="rect">
              <a:avLst/>
            </a:prstGeom>
            <a:noFill/>
          </p:spPr>
          <p:txBody>
            <a:bodyPr wrap="square" rtlCol="0">
              <a:spAutoFit/>
            </a:bodyPr>
            <a:lstStyle/>
            <a:p>
              <a:pPr algn="ctr"/>
              <a:r>
                <a:rPr lang="pt-BR" sz="1200" dirty="0"/>
                <a:t>Camada oculta #2</a:t>
              </a:r>
            </a:p>
          </p:txBody>
        </p:sp>
        <p:sp>
          <p:nvSpPr>
            <p:cNvPr id="61" name="CaixaDeTexto 36">
              <a:extLst>
                <a:ext uri="{FF2B5EF4-FFF2-40B4-BE49-F238E27FC236}">
                  <a16:creationId xmlns:a16="http://schemas.microsoft.com/office/drawing/2014/main" id="{CAABA625-C986-FB7E-6024-B9447A29D89C}"/>
                </a:ext>
              </a:extLst>
            </p:cNvPr>
            <p:cNvSpPr txBox="1"/>
            <p:nvPr/>
          </p:nvSpPr>
          <p:spPr>
            <a:xfrm>
              <a:off x="3314688" y="5239989"/>
              <a:ext cx="868135" cy="461665"/>
            </a:xfrm>
            <a:prstGeom prst="rect">
              <a:avLst/>
            </a:prstGeom>
            <a:noFill/>
          </p:spPr>
          <p:txBody>
            <a:bodyPr wrap="square" rtlCol="0">
              <a:spAutoFit/>
            </a:bodyPr>
            <a:lstStyle/>
            <a:p>
              <a:pPr algn="ctr"/>
              <a:r>
                <a:rPr lang="pt-BR" sz="1200" dirty="0"/>
                <a:t>Camada de saída</a:t>
              </a:r>
            </a:p>
          </p:txBody>
        </p:sp>
      </p:grpSp>
    </p:spTree>
    <p:extLst>
      <p:ext uri="{BB962C8B-B14F-4D97-AF65-F5344CB8AC3E}">
        <p14:creationId xmlns:p14="http://schemas.microsoft.com/office/powerpoint/2010/main" val="279690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2FA15-7C25-45ED-1E3D-0136E8BAED98}"/>
              </a:ext>
            </a:extLst>
          </p:cNvPr>
          <p:cNvSpPr>
            <a:spLocks noGrp="1"/>
          </p:cNvSpPr>
          <p:nvPr>
            <p:ph type="title"/>
          </p:nvPr>
        </p:nvSpPr>
        <p:spPr/>
        <p:txBody>
          <a:bodyPr/>
          <a:lstStyle/>
          <a:p>
            <a:r>
              <a:rPr lang="pt-BR" dirty="0"/>
              <a:t>O que é uma rede neural artificial?</a:t>
            </a:r>
            <a:endParaRPr lang="en-US" dirty="0"/>
          </a:p>
        </p:txBody>
      </p:sp>
      <p:sp>
        <p:nvSpPr>
          <p:cNvPr id="3" name="Content Placeholder 2">
            <a:extLst>
              <a:ext uri="{FF2B5EF4-FFF2-40B4-BE49-F238E27FC236}">
                <a16:creationId xmlns:a16="http://schemas.microsoft.com/office/drawing/2014/main" id="{DED2EFDE-F421-7617-3661-898FEECA74FF}"/>
              </a:ext>
            </a:extLst>
          </p:cNvPr>
          <p:cNvSpPr>
            <a:spLocks noGrp="1"/>
          </p:cNvSpPr>
          <p:nvPr>
            <p:ph idx="1"/>
          </p:nvPr>
        </p:nvSpPr>
        <p:spPr>
          <a:xfrm>
            <a:off x="5660570" y="1825624"/>
            <a:ext cx="6531429" cy="5032375"/>
          </a:xfrm>
        </p:spPr>
        <p:txBody>
          <a:bodyPr>
            <a:normAutofit/>
          </a:bodyPr>
          <a:lstStyle/>
          <a:p>
            <a:r>
              <a:rPr lang="pt-BR" dirty="0" err="1"/>
              <a:t>RNAs</a:t>
            </a:r>
            <a:r>
              <a:rPr lang="pt-BR" dirty="0"/>
              <a:t> são representadas como </a:t>
            </a:r>
          </a:p>
          <a:p>
            <a:pPr lvl="1">
              <a:buFont typeface="Wingdings" panose="05000000000000000000" pitchFamily="2" charset="2"/>
              <a:buChar char="§"/>
            </a:pPr>
            <a:r>
              <a:rPr lang="pt-BR" dirty="0"/>
              <a:t>sistemas de </a:t>
            </a:r>
            <a:r>
              <a:rPr lang="pt-BR" b="1" dirty="0"/>
              <a:t>neurônios (ou nós) interconectados</a:t>
            </a:r>
            <a:r>
              <a:rPr lang="pt-BR" dirty="0"/>
              <a:t>, </a:t>
            </a:r>
          </a:p>
          <a:p>
            <a:pPr lvl="1">
              <a:buFont typeface="Wingdings" panose="05000000000000000000" pitchFamily="2" charset="2"/>
              <a:buChar char="§"/>
            </a:pPr>
            <a:r>
              <a:rPr lang="pt-BR" dirty="0"/>
              <a:t>organizados em </a:t>
            </a:r>
            <a:r>
              <a:rPr lang="pt-BR" b="1" dirty="0"/>
              <a:t>camadas</a:t>
            </a:r>
            <a:r>
              <a:rPr lang="pt-BR" dirty="0"/>
              <a:t>, </a:t>
            </a:r>
          </a:p>
          <a:p>
            <a:pPr lvl="1">
              <a:buFont typeface="Wingdings" panose="05000000000000000000" pitchFamily="2" charset="2"/>
              <a:buChar char="§"/>
            </a:pPr>
            <a:r>
              <a:rPr lang="pt-BR" dirty="0"/>
              <a:t>que </a:t>
            </a:r>
            <a:r>
              <a:rPr lang="pt-BR" b="1" dirty="0"/>
              <a:t>aprendem</a:t>
            </a:r>
            <a:r>
              <a:rPr lang="pt-BR" dirty="0"/>
              <a:t>, a </a:t>
            </a:r>
            <a:r>
              <a:rPr lang="pt-BR" b="1" dirty="0"/>
              <a:t>partir de dados</a:t>
            </a:r>
            <a:r>
              <a:rPr lang="pt-BR" dirty="0"/>
              <a:t>, uma </a:t>
            </a:r>
            <a:r>
              <a:rPr lang="pt-BR" b="1" dirty="0"/>
              <a:t>função que relaciona as entradas às saídas</a:t>
            </a:r>
            <a:r>
              <a:rPr lang="pt-BR" dirty="0"/>
              <a:t>.</a:t>
            </a:r>
          </a:p>
        </p:txBody>
      </p:sp>
      <p:grpSp>
        <p:nvGrpSpPr>
          <p:cNvPr id="4" name="Group 3">
            <a:extLst>
              <a:ext uri="{FF2B5EF4-FFF2-40B4-BE49-F238E27FC236}">
                <a16:creationId xmlns:a16="http://schemas.microsoft.com/office/drawing/2014/main" id="{C4E1DF22-370B-0A9F-E786-A49FA17875E8}"/>
              </a:ext>
            </a:extLst>
          </p:cNvPr>
          <p:cNvGrpSpPr/>
          <p:nvPr/>
        </p:nvGrpSpPr>
        <p:grpSpPr>
          <a:xfrm>
            <a:off x="838200" y="1962640"/>
            <a:ext cx="4240583" cy="3792091"/>
            <a:chOff x="294226" y="2506925"/>
            <a:chExt cx="4240583" cy="3792091"/>
          </a:xfrm>
        </p:grpSpPr>
        <p:sp>
          <p:nvSpPr>
            <p:cNvPr id="5" name="Elipse 77">
              <a:extLst>
                <a:ext uri="{FF2B5EF4-FFF2-40B4-BE49-F238E27FC236}">
                  <a16:creationId xmlns:a16="http://schemas.microsoft.com/office/drawing/2014/main" id="{D8E0F960-AD22-C702-F05A-0D766D763133}"/>
                </a:ext>
              </a:extLst>
            </p:cNvPr>
            <p:cNvSpPr/>
            <p:nvPr/>
          </p:nvSpPr>
          <p:spPr>
            <a:xfrm>
              <a:off x="2492828" y="3402579"/>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Elipse 78">
              <a:extLst>
                <a:ext uri="{FF2B5EF4-FFF2-40B4-BE49-F238E27FC236}">
                  <a16:creationId xmlns:a16="http://schemas.microsoft.com/office/drawing/2014/main" id="{9A795591-C1AD-8253-653F-65C7D961BFC8}"/>
                </a:ext>
              </a:extLst>
            </p:cNvPr>
            <p:cNvSpPr/>
            <p:nvPr/>
          </p:nvSpPr>
          <p:spPr>
            <a:xfrm>
              <a:off x="2492827" y="4121036"/>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Elipse 79">
              <a:extLst>
                <a:ext uri="{FF2B5EF4-FFF2-40B4-BE49-F238E27FC236}">
                  <a16:creationId xmlns:a16="http://schemas.microsoft.com/office/drawing/2014/main" id="{8E969BD5-C4A4-A939-9BCC-B1B144839EA0}"/>
                </a:ext>
              </a:extLst>
            </p:cNvPr>
            <p:cNvSpPr/>
            <p:nvPr/>
          </p:nvSpPr>
          <p:spPr>
            <a:xfrm>
              <a:off x="2492827" y="4839493"/>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Elipse 81">
              <a:extLst>
                <a:ext uri="{FF2B5EF4-FFF2-40B4-BE49-F238E27FC236}">
                  <a16:creationId xmlns:a16="http://schemas.microsoft.com/office/drawing/2014/main" id="{1EAAB3E6-9EE2-C90B-37EB-DF7A6AC09CBF}"/>
                </a:ext>
              </a:extLst>
            </p:cNvPr>
            <p:cNvSpPr/>
            <p:nvPr/>
          </p:nvSpPr>
          <p:spPr>
            <a:xfrm>
              <a:off x="3450770" y="3864817"/>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Elipse 82">
              <a:extLst>
                <a:ext uri="{FF2B5EF4-FFF2-40B4-BE49-F238E27FC236}">
                  <a16:creationId xmlns:a16="http://schemas.microsoft.com/office/drawing/2014/main" id="{3B148B8E-E77A-4CB8-7CA2-7358C873DD3B}"/>
                </a:ext>
              </a:extLst>
            </p:cNvPr>
            <p:cNvSpPr/>
            <p:nvPr/>
          </p:nvSpPr>
          <p:spPr>
            <a:xfrm>
              <a:off x="3450769" y="4583274"/>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Elipse 83">
              <a:extLst>
                <a:ext uri="{FF2B5EF4-FFF2-40B4-BE49-F238E27FC236}">
                  <a16:creationId xmlns:a16="http://schemas.microsoft.com/office/drawing/2014/main" id="{FFA44E6F-2175-34D9-1514-FCAC487E9ED8}"/>
                </a:ext>
              </a:extLst>
            </p:cNvPr>
            <p:cNvSpPr/>
            <p:nvPr/>
          </p:nvSpPr>
          <p:spPr>
            <a:xfrm>
              <a:off x="1534884" y="29299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84">
              <a:extLst>
                <a:ext uri="{FF2B5EF4-FFF2-40B4-BE49-F238E27FC236}">
                  <a16:creationId xmlns:a16="http://schemas.microsoft.com/office/drawing/2014/main" id="{11305C7D-C471-5BAD-0B9F-C8CDEE1BA870}"/>
                </a:ext>
              </a:extLst>
            </p:cNvPr>
            <p:cNvSpPr/>
            <p:nvPr/>
          </p:nvSpPr>
          <p:spPr>
            <a:xfrm>
              <a:off x="1534884" y="36856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85">
              <a:extLst>
                <a:ext uri="{FF2B5EF4-FFF2-40B4-BE49-F238E27FC236}">
                  <a16:creationId xmlns:a16="http://schemas.microsoft.com/office/drawing/2014/main" id="{4F2588AE-F934-273C-BEA4-0D56BAF7674F}"/>
                </a:ext>
              </a:extLst>
            </p:cNvPr>
            <p:cNvSpPr/>
            <p:nvPr/>
          </p:nvSpPr>
          <p:spPr>
            <a:xfrm>
              <a:off x="1534884" y="44412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3" name="Conector de Seta Reta 86">
              <a:extLst>
                <a:ext uri="{FF2B5EF4-FFF2-40B4-BE49-F238E27FC236}">
                  <a16:creationId xmlns:a16="http://schemas.microsoft.com/office/drawing/2014/main" id="{7F1F5ECD-0CE1-EFC7-B158-40316AD462CF}"/>
                </a:ext>
              </a:extLst>
            </p:cNvPr>
            <p:cNvCxnSpPr>
              <a:cxnSpLocks/>
              <a:stCxn id="10" idx="6"/>
              <a:endCxn id="5" idx="2"/>
            </p:cNvCxnSpPr>
            <p:nvPr/>
          </p:nvCxnSpPr>
          <p:spPr>
            <a:xfrm>
              <a:off x="2100941" y="3212987"/>
              <a:ext cx="391887" cy="472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de Seta Reta 87">
              <a:extLst>
                <a:ext uri="{FF2B5EF4-FFF2-40B4-BE49-F238E27FC236}">
                  <a16:creationId xmlns:a16="http://schemas.microsoft.com/office/drawing/2014/main" id="{E186A336-7AFF-0939-D05F-F8C311C3CEFB}"/>
                </a:ext>
              </a:extLst>
            </p:cNvPr>
            <p:cNvCxnSpPr>
              <a:stCxn id="10" idx="6"/>
              <a:endCxn id="6" idx="2"/>
            </p:cNvCxnSpPr>
            <p:nvPr/>
          </p:nvCxnSpPr>
          <p:spPr>
            <a:xfrm>
              <a:off x="2100941" y="3212987"/>
              <a:ext cx="391886" cy="1191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88">
              <a:extLst>
                <a:ext uri="{FF2B5EF4-FFF2-40B4-BE49-F238E27FC236}">
                  <a16:creationId xmlns:a16="http://schemas.microsoft.com/office/drawing/2014/main" id="{B301CA1D-FA45-E51D-5D0B-FE0E342C6C4E}"/>
                </a:ext>
              </a:extLst>
            </p:cNvPr>
            <p:cNvCxnSpPr>
              <a:stCxn id="10" idx="6"/>
              <a:endCxn id="7" idx="2"/>
            </p:cNvCxnSpPr>
            <p:nvPr/>
          </p:nvCxnSpPr>
          <p:spPr>
            <a:xfrm>
              <a:off x="2100941" y="3212987"/>
              <a:ext cx="391886" cy="1909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90">
              <a:extLst>
                <a:ext uri="{FF2B5EF4-FFF2-40B4-BE49-F238E27FC236}">
                  <a16:creationId xmlns:a16="http://schemas.microsoft.com/office/drawing/2014/main" id="{7AD9F372-68A0-B57A-E3F0-AF7E0A1B6E45}"/>
                </a:ext>
              </a:extLst>
            </p:cNvPr>
            <p:cNvCxnSpPr>
              <a:cxnSpLocks/>
              <a:stCxn id="11" idx="6"/>
              <a:endCxn id="5" idx="2"/>
            </p:cNvCxnSpPr>
            <p:nvPr/>
          </p:nvCxnSpPr>
          <p:spPr>
            <a:xfrm flipV="1">
              <a:off x="2100941" y="3685608"/>
              <a:ext cx="391887" cy="283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91">
              <a:extLst>
                <a:ext uri="{FF2B5EF4-FFF2-40B4-BE49-F238E27FC236}">
                  <a16:creationId xmlns:a16="http://schemas.microsoft.com/office/drawing/2014/main" id="{35E0D02E-1776-B7D9-2342-3F61E5FA86BF}"/>
                </a:ext>
              </a:extLst>
            </p:cNvPr>
            <p:cNvCxnSpPr>
              <a:stCxn id="12" idx="6"/>
              <a:endCxn id="6" idx="2"/>
            </p:cNvCxnSpPr>
            <p:nvPr/>
          </p:nvCxnSpPr>
          <p:spPr>
            <a:xfrm flipV="1">
              <a:off x="2100941" y="4404065"/>
              <a:ext cx="391886" cy="320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92">
              <a:extLst>
                <a:ext uri="{FF2B5EF4-FFF2-40B4-BE49-F238E27FC236}">
                  <a16:creationId xmlns:a16="http://schemas.microsoft.com/office/drawing/2014/main" id="{16CC534C-BFDC-FFC5-C99A-DF7135076707}"/>
                </a:ext>
              </a:extLst>
            </p:cNvPr>
            <p:cNvCxnSpPr>
              <a:stCxn id="11" idx="6"/>
              <a:endCxn id="6" idx="2"/>
            </p:cNvCxnSpPr>
            <p:nvPr/>
          </p:nvCxnSpPr>
          <p:spPr>
            <a:xfrm>
              <a:off x="2100941" y="3968637"/>
              <a:ext cx="391886" cy="435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93">
              <a:extLst>
                <a:ext uri="{FF2B5EF4-FFF2-40B4-BE49-F238E27FC236}">
                  <a16:creationId xmlns:a16="http://schemas.microsoft.com/office/drawing/2014/main" id="{EE4D35B3-8416-DE4B-20D1-08E259872841}"/>
                </a:ext>
              </a:extLst>
            </p:cNvPr>
            <p:cNvCxnSpPr>
              <a:stCxn id="11" idx="6"/>
              <a:endCxn id="7" idx="2"/>
            </p:cNvCxnSpPr>
            <p:nvPr/>
          </p:nvCxnSpPr>
          <p:spPr>
            <a:xfrm>
              <a:off x="2100941" y="3968637"/>
              <a:ext cx="391886" cy="1153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96">
              <a:extLst>
                <a:ext uri="{FF2B5EF4-FFF2-40B4-BE49-F238E27FC236}">
                  <a16:creationId xmlns:a16="http://schemas.microsoft.com/office/drawing/2014/main" id="{661B0F89-0764-BC59-0B1D-1E54F1CC91F2}"/>
                </a:ext>
              </a:extLst>
            </p:cNvPr>
            <p:cNvCxnSpPr>
              <a:stCxn id="12" idx="6"/>
              <a:endCxn id="7" idx="2"/>
            </p:cNvCxnSpPr>
            <p:nvPr/>
          </p:nvCxnSpPr>
          <p:spPr>
            <a:xfrm>
              <a:off x="2100941" y="4724287"/>
              <a:ext cx="391886" cy="398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98">
              <a:extLst>
                <a:ext uri="{FF2B5EF4-FFF2-40B4-BE49-F238E27FC236}">
                  <a16:creationId xmlns:a16="http://schemas.microsoft.com/office/drawing/2014/main" id="{3838DD2D-9E3B-3A3B-FE81-417F031EF253}"/>
                </a:ext>
              </a:extLst>
            </p:cNvPr>
            <p:cNvCxnSpPr>
              <a:stCxn id="5" idx="6"/>
              <a:endCxn id="8" idx="2"/>
            </p:cNvCxnSpPr>
            <p:nvPr/>
          </p:nvCxnSpPr>
          <p:spPr>
            <a:xfrm>
              <a:off x="3058885" y="3685608"/>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99">
              <a:extLst>
                <a:ext uri="{FF2B5EF4-FFF2-40B4-BE49-F238E27FC236}">
                  <a16:creationId xmlns:a16="http://schemas.microsoft.com/office/drawing/2014/main" id="{79071569-8F23-D7FF-3CEF-1E252E3EB0C3}"/>
                </a:ext>
              </a:extLst>
            </p:cNvPr>
            <p:cNvCxnSpPr>
              <a:stCxn id="6" idx="6"/>
              <a:endCxn id="9" idx="2"/>
            </p:cNvCxnSpPr>
            <p:nvPr/>
          </p:nvCxnSpPr>
          <p:spPr>
            <a:xfrm>
              <a:off x="3058884" y="4404065"/>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100">
              <a:extLst>
                <a:ext uri="{FF2B5EF4-FFF2-40B4-BE49-F238E27FC236}">
                  <a16:creationId xmlns:a16="http://schemas.microsoft.com/office/drawing/2014/main" id="{067ECB73-A527-9528-3612-F2E4CA8D05A9}"/>
                </a:ext>
              </a:extLst>
            </p:cNvPr>
            <p:cNvCxnSpPr>
              <a:stCxn id="7" idx="6"/>
              <a:endCxn id="9" idx="2"/>
            </p:cNvCxnSpPr>
            <p:nvPr/>
          </p:nvCxnSpPr>
          <p:spPr>
            <a:xfrm flipV="1">
              <a:off x="3058884" y="4866303"/>
              <a:ext cx="391885"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102">
              <a:extLst>
                <a:ext uri="{FF2B5EF4-FFF2-40B4-BE49-F238E27FC236}">
                  <a16:creationId xmlns:a16="http://schemas.microsoft.com/office/drawing/2014/main" id="{89FFDF94-1A16-A494-6D18-41F175614D70}"/>
                </a:ext>
              </a:extLst>
            </p:cNvPr>
            <p:cNvCxnSpPr>
              <a:cxnSpLocks/>
              <a:stCxn id="5" idx="6"/>
              <a:endCxn id="9" idx="2"/>
            </p:cNvCxnSpPr>
            <p:nvPr/>
          </p:nvCxnSpPr>
          <p:spPr>
            <a:xfrm>
              <a:off x="3058885" y="3685608"/>
              <a:ext cx="391884" cy="1180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103">
              <a:extLst>
                <a:ext uri="{FF2B5EF4-FFF2-40B4-BE49-F238E27FC236}">
                  <a16:creationId xmlns:a16="http://schemas.microsoft.com/office/drawing/2014/main" id="{6FA67B61-DE8A-621F-6861-2644C17B329B}"/>
                </a:ext>
              </a:extLst>
            </p:cNvPr>
            <p:cNvCxnSpPr>
              <a:stCxn id="6" idx="6"/>
              <a:endCxn id="8" idx="2"/>
            </p:cNvCxnSpPr>
            <p:nvPr/>
          </p:nvCxnSpPr>
          <p:spPr>
            <a:xfrm flipV="1">
              <a:off x="3058884" y="4147846"/>
              <a:ext cx="391886"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104">
              <a:extLst>
                <a:ext uri="{FF2B5EF4-FFF2-40B4-BE49-F238E27FC236}">
                  <a16:creationId xmlns:a16="http://schemas.microsoft.com/office/drawing/2014/main" id="{FE23F9FB-6FAB-D28E-7116-1B2723147001}"/>
                </a:ext>
              </a:extLst>
            </p:cNvPr>
            <p:cNvCxnSpPr>
              <a:stCxn id="7" idx="6"/>
              <a:endCxn id="8" idx="2"/>
            </p:cNvCxnSpPr>
            <p:nvPr/>
          </p:nvCxnSpPr>
          <p:spPr>
            <a:xfrm flipV="1">
              <a:off x="3058884" y="4147846"/>
              <a:ext cx="391886" cy="974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CaixaDeTexto 106">
              <a:extLst>
                <a:ext uri="{FF2B5EF4-FFF2-40B4-BE49-F238E27FC236}">
                  <a16:creationId xmlns:a16="http://schemas.microsoft.com/office/drawing/2014/main" id="{960F3CF9-A912-C9B4-9D88-EEF3AD439D24}"/>
                </a:ext>
              </a:extLst>
            </p:cNvPr>
            <p:cNvSpPr txBox="1"/>
            <p:nvPr/>
          </p:nvSpPr>
          <p:spPr>
            <a:xfrm>
              <a:off x="3173179" y="3100768"/>
              <a:ext cx="1230086" cy="307777"/>
            </a:xfrm>
            <a:prstGeom prst="rect">
              <a:avLst/>
            </a:prstGeom>
            <a:noFill/>
          </p:spPr>
          <p:txBody>
            <a:bodyPr wrap="square" rtlCol="0">
              <a:spAutoFit/>
            </a:bodyPr>
            <a:lstStyle/>
            <a:p>
              <a:r>
                <a:rPr lang="pt-BR" sz="1400" dirty="0"/>
                <a:t>Neurônio</a:t>
              </a:r>
            </a:p>
          </p:txBody>
        </p:sp>
        <p:sp>
          <p:nvSpPr>
            <p:cNvPr id="28" name="Forma Livre: Forma 107">
              <a:extLst>
                <a:ext uri="{FF2B5EF4-FFF2-40B4-BE49-F238E27FC236}">
                  <a16:creationId xmlns:a16="http://schemas.microsoft.com/office/drawing/2014/main" id="{119B34E0-727E-DA79-7998-5A7B420F61B1}"/>
                </a:ext>
              </a:extLst>
            </p:cNvPr>
            <p:cNvSpPr/>
            <p:nvPr/>
          </p:nvSpPr>
          <p:spPr>
            <a:xfrm>
              <a:off x="2786734" y="3216700"/>
              <a:ext cx="413657" cy="166042"/>
            </a:xfrm>
            <a:custGeom>
              <a:avLst/>
              <a:gdLst>
                <a:gd name="connsiteX0" fmla="*/ 0 w 413657"/>
                <a:gd name="connsiteY0" fmla="*/ 166042 h 166042"/>
                <a:gd name="connsiteX1" fmla="*/ 76200 w 413657"/>
                <a:gd name="connsiteY1" fmla="*/ 2756 h 166042"/>
                <a:gd name="connsiteX2" fmla="*/ 413657 w 413657"/>
                <a:gd name="connsiteY2" fmla="*/ 78956 h 166042"/>
              </a:gdLst>
              <a:ahLst/>
              <a:cxnLst>
                <a:cxn ang="0">
                  <a:pos x="connsiteX0" y="connsiteY0"/>
                </a:cxn>
                <a:cxn ang="0">
                  <a:pos x="connsiteX1" y="connsiteY1"/>
                </a:cxn>
                <a:cxn ang="0">
                  <a:pos x="connsiteX2" y="connsiteY2"/>
                </a:cxn>
              </a:cxnLst>
              <a:rect l="l" t="t" r="r" b="b"/>
              <a:pathLst>
                <a:path w="413657" h="166042">
                  <a:moveTo>
                    <a:pt x="0" y="166042"/>
                  </a:moveTo>
                  <a:cubicBezTo>
                    <a:pt x="3628" y="91656"/>
                    <a:pt x="7257" y="17270"/>
                    <a:pt x="76200" y="2756"/>
                  </a:cubicBezTo>
                  <a:cubicBezTo>
                    <a:pt x="145143" y="-11758"/>
                    <a:pt x="279400" y="33599"/>
                    <a:pt x="413657" y="7895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9" name="Conector reto 112">
              <a:extLst>
                <a:ext uri="{FF2B5EF4-FFF2-40B4-BE49-F238E27FC236}">
                  <a16:creationId xmlns:a16="http://schemas.microsoft.com/office/drawing/2014/main" id="{572062FE-4C60-56CE-7F03-6279B8C2C89E}"/>
                </a:ext>
              </a:extLst>
            </p:cNvPr>
            <p:cNvCxnSpPr>
              <a:cxnSpLocks/>
              <a:stCxn id="65" idx="6"/>
              <a:endCxn id="11" idx="2"/>
            </p:cNvCxnSpPr>
            <p:nvPr/>
          </p:nvCxnSpPr>
          <p:spPr>
            <a:xfrm>
              <a:off x="944681" y="3219656"/>
              <a:ext cx="590203" cy="7489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Conector de Seta Reta 113">
              <a:extLst>
                <a:ext uri="{FF2B5EF4-FFF2-40B4-BE49-F238E27FC236}">
                  <a16:creationId xmlns:a16="http://schemas.microsoft.com/office/drawing/2014/main" id="{71288812-CB99-D44B-C4B2-A52ECE9F50BE}"/>
                </a:ext>
              </a:extLst>
            </p:cNvPr>
            <p:cNvCxnSpPr>
              <a:cxnSpLocks/>
              <a:stCxn id="8" idx="6"/>
              <a:endCxn id="32" idx="1"/>
            </p:cNvCxnSpPr>
            <p:nvPr/>
          </p:nvCxnSpPr>
          <p:spPr>
            <a:xfrm>
              <a:off x="4016827" y="4147846"/>
              <a:ext cx="251280" cy="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ector de Seta Reta 114">
              <a:extLst>
                <a:ext uri="{FF2B5EF4-FFF2-40B4-BE49-F238E27FC236}">
                  <a16:creationId xmlns:a16="http://schemas.microsoft.com/office/drawing/2014/main" id="{27C14E55-8404-8301-D902-C5EDC61BA9A2}"/>
                </a:ext>
              </a:extLst>
            </p:cNvPr>
            <p:cNvCxnSpPr>
              <a:cxnSpLocks/>
              <a:stCxn id="9" idx="6"/>
            </p:cNvCxnSpPr>
            <p:nvPr/>
          </p:nvCxnSpPr>
          <p:spPr>
            <a:xfrm>
              <a:off x="4016826" y="4866303"/>
              <a:ext cx="272141" cy="5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CaixaDeTexto 5">
                  <a:extLst>
                    <a:ext uri="{FF2B5EF4-FFF2-40B4-BE49-F238E27FC236}">
                      <a16:creationId xmlns:a16="http://schemas.microsoft.com/office/drawing/2014/main" id="{0CFF7CED-332D-88AF-C3C0-49C0A7333028}"/>
                    </a:ext>
                  </a:extLst>
                </p:cNvPr>
                <p:cNvSpPr txBox="1"/>
                <p:nvPr/>
              </p:nvSpPr>
              <p:spPr>
                <a:xfrm>
                  <a:off x="4268107" y="3963524"/>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1</m:t>
                            </m:r>
                          </m:sub>
                        </m:sSub>
                      </m:oMath>
                    </m:oMathPara>
                  </a14:m>
                  <a:endParaRPr lang="pt-BR" dirty="0"/>
                </a:p>
              </p:txBody>
            </p:sp>
          </mc:Choice>
          <mc:Fallback xmlns="">
            <p:sp>
              <p:nvSpPr>
                <p:cNvPr id="32" name="CaixaDeTexto 5">
                  <a:extLst>
                    <a:ext uri="{FF2B5EF4-FFF2-40B4-BE49-F238E27FC236}">
                      <a16:creationId xmlns:a16="http://schemas.microsoft.com/office/drawing/2014/main" id="{0CFF7CED-332D-88AF-C3C0-49C0A7333028}"/>
                    </a:ext>
                  </a:extLst>
                </p:cNvPr>
                <p:cNvSpPr txBox="1">
                  <a:spLocks noRot="1" noChangeAspect="1" noMove="1" noResize="1" noEditPoints="1" noAdjustHandles="1" noChangeArrowheads="1" noChangeShapeType="1" noTextEdit="1"/>
                </p:cNvSpPr>
                <p:nvPr/>
              </p:nvSpPr>
              <p:spPr>
                <a:xfrm>
                  <a:off x="4268107" y="3963524"/>
                  <a:ext cx="266702" cy="369332"/>
                </a:xfrm>
                <a:prstGeom prst="rect">
                  <a:avLst/>
                </a:prstGeom>
                <a:blipFill>
                  <a:blip r:embed="rId2"/>
                  <a:stretch>
                    <a:fillRect t="-6667" r="-34091"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CaixaDeTexto 6">
                  <a:extLst>
                    <a:ext uri="{FF2B5EF4-FFF2-40B4-BE49-F238E27FC236}">
                      <a16:creationId xmlns:a16="http://schemas.microsoft.com/office/drawing/2014/main" id="{E0E382A4-7628-058F-3CF6-983FDB847FF6}"/>
                    </a:ext>
                  </a:extLst>
                </p:cNvPr>
                <p:cNvSpPr txBox="1"/>
                <p:nvPr/>
              </p:nvSpPr>
              <p:spPr>
                <a:xfrm>
                  <a:off x="4268107" y="4681637"/>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2</m:t>
                            </m:r>
                          </m:sub>
                        </m:sSub>
                      </m:oMath>
                    </m:oMathPara>
                  </a14:m>
                  <a:endParaRPr lang="pt-BR" dirty="0"/>
                </a:p>
              </p:txBody>
            </p:sp>
          </mc:Choice>
          <mc:Fallback xmlns="">
            <p:sp>
              <p:nvSpPr>
                <p:cNvPr id="33" name="CaixaDeTexto 6">
                  <a:extLst>
                    <a:ext uri="{FF2B5EF4-FFF2-40B4-BE49-F238E27FC236}">
                      <a16:creationId xmlns:a16="http://schemas.microsoft.com/office/drawing/2014/main" id="{E0E382A4-7628-058F-3CF6-983FDB847FF6}"/>
                    </a:ext>
                  </a:extLst>
                </p:cNvPr>
                <p:cNvSpPr txBox="1">
                  <a:spLocks noRot="1" noChangeAspect="1" noMove="1" noResize="1" noEditPoints="1" noAdjustHandles="1" noChangeArrowheads="1" noChangeShapeType="1" noTextEdit="1"/>
                </p:cNvSpPr>
                <p:nvPr/>
              </p:nvSpPr>
              <p:spPr>
                <a:xfrm>
                  <a:off x="4268107" y="4681637"/>
                  <a:ext cx="266702" cy="369332"/>
                </a:xfrm>
                <a:prstGeom prst="rect">
                  <a:avLst/>
                </a:prstGeom>
                <a:blipFill>
                  <a:blip r:embed="rId3"/>
                  <a:stretch>
                    <a:fillRect t="-6667" r="-36364" b="-6667"/>
                  </a:stretch>
                </a:blipFill>
              </p:spPr>
              <p:txBody>
                <a:bodyPr/>
                <a:lstStyle/>
                <a:p>
                  <a:r>
                    <a:rPr lang="en-US">
                      <a:noFill/>
                    </a:rPr>
                    <a:t> </a:t>
                  </a:r>
                </a:p>
              </p:txBody>
            </p:sp>
          </mc:Fallback>
        </mc:AlternateContent>
        <p:grpSp>
          <p:nvGrpSpPr>
            <p:cNvPr id="34" name="Group 33">
              <a:extLst>
                <a:ext uri="{FF2B5EF4-FFF2-40B4-BE49-F238E27FC236}">
                  <a16:creationId xmlns:a16="http://schemas.microsoft.com/office/drawing/2014/main" id="{A802BE9A-407C-B488-93DA-99F72E1F4E3B}"/>
                </a:ext>
              </a:extLst>
            </p:cNvPr>
            <p:cNvGrpSpPr/>
            <p:nvPr/>
          </p:nvGrpSpPr>
          <p:grpSpPr>
            <a:xfrm>
              <a:off x="607920" y="3007376"/>
              <a:ext cx="336761" cy="369332"/>
              <a:chOff x="922561" y="2974265"/>
              <a:chExt cx="336761" cy="369332"/>
            </a:xfrm>
          </p:grpSpPr>
          <mc:AlternateContent xmlns:mc="http://schemas.openxmlformats.org/markup-compatibility/2006" xmlns:a14="http://schemas.microsoft.com/office/drawing/2010/main">
            <mc:Choice Requires="a14">
              <p:sp>
                <p:nvSpPr>
                  <p:cNvPr id="64" name="CaixaDeTexto 115">
                    <a:extLst>
                      <a:ext uri="{FF2B5EF4-FFF2-40B4-BE49-F238E27FC236}">
                        <a16:creationId xmlns:a16="http://schemas.microsoft.com/office/drawing/2014/main" id="{7D96F221-EBD2-8CC5-9379-5B793B77C310}"/>
                      </a:ext>
                    </a:extLst>
                  </p:cNvPr>
                  <p:cNvSpPr txBox="1"/>
                  <p:nvPr/>
                </p:nvSpPr>
                <p:spPr>
                  <a:xfrm>
                    <a:off x="922561" y="2974265"/>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64" name="CaixaDeTexto 115">
                    <a:extLst>
                      <a:ext uri="{FF2B5EF4-FFF2-40B4-BE49-F238E27FC236}">
                        <a16:creationId xmlns:a16="http://schemas.microsoft.com/office/drawing/2014/main" id="{7D96F221-EBD2-8CC5-9379-5B793B77C310}"/>
                      </a:ext>
                    </a:extLst>
                  </p:cNvPr>
                  <p:cNvSpPr txBox="1">
                    <a:spLocks noRot="1" noChangeAspect="1" noMove="1" noResize="1" noEditPoints="1" noAdjustHandles="1" noChangeArrowheads="1" noChangeShapeType="1" noTextEdit="1"/>
                  </p:cNvSpPr>
                  <p:nvPr/>
                </p:nvSpPr>
                <p:spPr>
                  <a:xfrm>
                    <a:off x="922561" y="2974265"/>
                    <a:ext cx="266702" cy="369332"/>
                  </a:xfrm>
                  <a:prstGeom prst="rect">
                    <a:avLst/>
                  </a:prstGeom>
                  <a:blipFill>
                    <a:blip r:embed="rId4"/>
                    <a:stretch>
                      <a:fillRect r="-34091"/>
                    </a:stretch>
                  </a:blipFill>
                </p:spPr>
                <p:txBody>
                  <a:bodyPr/>
                  <a:lstStyle/>
                  <a:p>
                    <a:r>
                      <a:rPr lang="en-US">
                        <a:noFill/>
                      </a:rPr>
                      <a:t> </a:t>
                    </a:r>
                  </a:p>
                </p:txBody>
              </p:sp>
            </mc:Fallback>
          </mc:AlternateContent>
          <p:sp>
            <p:nvSpPr>
              <p:cNvPr id="65" name="Elipse 3">
                <a:extLst>
                  <a:ext uri="{FF2B5EF4-FFF2-40B4-BE49-F238E27FC236}">
                    <a16:creationId xmlns:a16="http://schemas.microsoft.com/office/drawing/2014/main" id="{B2DFB308-3A77-F14D-42FB-FE65677699A1}"/>
                  </a:ext>
                </a:extLst>
              </p:cNvPr>
              <p:cNvSpPr/>
              <p:nvPr/>
            </p:nvSpPr>
            <p:spPr>
              <a:xfrm>
                <a:off x="971322" y="3042545"/>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5" name="Elipse 83">
              <a:extLst>
                <a:ext uri="{FF2B5EF4-FFF2-40B4-BE49-F238E27FC236}">
                  <a16:creationId xmlns:a16="http://schemas.microsoft.com/office/drawing/2014/main" id="{976EEF10-2B6C-D9E3-EE76-6516E2D14BAF}"/>
                </a:ext>
              </a:extLst>
            </p:cNvPr>
            <p:cNvSpPr/>
            <p:nvPr/>
          </p:nvSpPr>
          <p:spPr>
            <a:xfrm>
              <a:off x="1529435" y="51969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6" name="Group 35">
              <a:extLst>
                <a:ext uri="{FF2B5EF4-FFF2-40B4-BE49-F238E27FC236}">
                  <a16:creationId xmlns:a16="http://schemas.microsoft.com/office/drawing/2014/main" id="{392D4756-64AB-7AA5-B67A-505EA325DF63}"/>
                </a:ext>
              </a:extLst>
            </p:cNvPr>
            <p:cNvGrpSpPr/>
            <p:nvPr/>
          </p:nvGrpSpPr>
          <p:grpSpPr>
            <a:xfrm>
              <a:off x="574549" y="5263520"/>
              <a:ext cx="349823" cy="369332"/>
              <a:chOff x="920926" y="4430876"/>
              <a:chExt cx="349823" cy="369332"/>
            </a:xfrm>
          </p:grpSpPr>
          <mc:AlternateContent xmlns:mc="http://schemas.openxmlformats.org/markup-compatibility/2006" xmlns:a14="http://schemas.microsoft.com/office/drawing/2010/main">
            <mc:Choice Requires="a14">
              <p:sp>
                <p:nvSpPr>
                  <p:cNvPr id="62" name="CaixaDeTexto 116">
                    <a:extLst>
                      <a:ext uri="{FF2B5EF4-FFF2-40B4-BE49-F238E27FC236}">
                        <a16:creationId xmlns:a16="http://schemas.microsoft.com/office/drawing/2014/main" id="{DC572DD7-4BDB-3420-5B69-44B7FA019172}"/>
                      </a:ext>
                    </a:extLst>
                  </p:cNvPr>
                  <p:cNvSpPr txBox="1"/>
                  <p:nvPr/>
                </p:nvSpPr>
                <p:spPr>
                  <a:xfrm>
                    <a:off x="920926" y="4430876"/>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62" name="CaixaDeTexto 116">
                    <a:extLst>
                      <a:ext uri="{FF2B5EF4-FFF2-40B4-BE49-F238E27FC236}">
                        <a16:creationId xmlns:a16="http://schemas.microsoft.com/office/drawing/2014/main" id="{DC572DD7-4BDB-3420-5B69-44B7FA019172}"/>
                      </a:ext>
                    </a:extLst>
                  </p:cNvPr>
                  <p:cNvSpPr txBox="1">
                    <a:spLocks noRot="1" noChangeAspect="1" noMove="1" noResize="1" noEditPoints="1" noAdjustHandles="1" noChangeArrowheads="1" noChangeShapeType="1" noTextEdit="1"/>
                  </p:cNvSpPr>
                  <p:nvPr/>
                </p:nvSpPr>
                <p:spPr>
                  <a:xfrm>
                    <a:off x="920926" y="4430876"/>
                    <a:ext cx="266702" cy="369332"/>
                  </a:xfrm>
                  <a:prstGeom prst="rect">
                    <a:avLst/>
                  </a:prstGeom>
                  <a:blipFill>
                    <a:blip r:embed="rId5"/>
                    <a:stretch>
                      <a:fillRect r="-36364"/>
                    </a:stretch>
                  </a:blipFill>
                </p:spPr>
                <p:txBody>
                  <a:bodyPr/>
                  <a:lstStyle/>
                  <a:p>
                    <a:r>
                      <a:rPr lang="en-US">
                        <a:noFill/>
                      </a:rPr>
                      <a:t> </a:t>
                    </a:r>
                  </a:p>
                </p:txBody>
              </p:sp>
            </mc:Fallback>
          </mc:AlternateContent>
          <p:sp>
            <p:nvSpPr>
              <p:cNvPr id="63" name="Elipse 4">
                <a:extLst>
                  <a:ext uri="{FF2B5EF4-FFF2-40B4-BE49-F238E27FC236}">
                    <a16:creationId xmlns:a16="http://schemas.microsoft.com/office/drawing/2014/main" id="{A245A3FE-F64D-71F9-7933-0B01C73F3CD6}"/>
                  </a:ext>
                </a:extLst>
              </p:cNvPr>
              <p:cNvSpPr/>
              <p:nvPr/>
            </p:nvSpPr>
            <p:spPr>
              <a:xfrm>
                <a:off x="982749" y="4504166"/>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cxnSp>
          <p:nvCxnSpPr>
            <p:cNvPr id="37" name="Conector reto 112">
              <a:extLst>
                <a:ext uri="{FF2B5EF4-FFF2-40B4-BE49-F238E27FC236}">
                  <a16:creationId xmlns:a16="http://schemas.microsoft.com/office/drawing/2014/main" id="{E74D8B5A-5B06-0979-0965-14B21DC2D537}"/>
                </a:ext>
              </a:extLst>
            </p:cNvPr>
            <p:cNvCxnSpPr>
              <a:cxnSpLocks/>
              <a:stCxn id="65" idx="6"/>
              <a:endCxn id="10" idx="2"/>
            </p:cNvCxnSpPr>
            <p:nvPr/>
          </p:nvCxnSpPr>
          <p:spPr>
            <a:xfrm flipV="1">
              <a:off x="944681" y="3212987"/>
              <a:ext cx="590203" cy="6669"/>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Conector reto 112">
              <a:extLst>
                <a:ext uri="{FF2B5EF4-FFF2-40B4-BE49-F238E27FC236}">
                  <a16:creationId xmlns:a16="http://schemas.microsoft.com/office/drawing/2014/main" id="{2C6A73B0-074A-798B-9DBB-18DE5EF52575}"/>
                </a:ext>
              </a:extLst>
            </p:cNvPr>
            <p:cNvCxnSpPr>
              <a:cxnSpLocks/>
              <a:stCxn id="65" idx="6"/>
              <a:endCxn id="12" idx="2"/>
            </p:cNvCxnSpPr>
            <p:nvPr/>
          </p:nvCxnSpPr>
          <p:spPr>
            <a:xfrm>
              <a:off x="944681" y="3219656"/>
              <a:ext cx="590203" cy="150463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Conector reto 112">
              <a:extLst>
                <a:ext uri="{FF2B5EF4-FFF2-40B4-BE49-F238E27FC236}">
                  <a16:creationId xmlns:a16="http://schemas.microsoft.com/office/drawing/2014/main" id="{EC427AB5-E4BB-7907-CBA1-58F25EB29FCF}"/>
                </a:ext>
              </a:extLst>
            </p:cNvPr>
            <p:cNvCxnSpPr>
              <a:cxnSpLocks/>
              <a:stCxn id="65" idx="6"/>
              <a:endCxn id="35" idx="2"/>
            </p:cNvCxnSpPr>
            <p:nvPr/>
          </p:nvCxnSpPr>
          <p:spPr>
            <a:xfrm>
              <a:off x="944681" y="3219656"/>
              <a:ext cx="584754" cy="22602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Conector reto 112">
              <a:extLst>
                <a:ext uri="{FF2B5EF4-FFF2-40B4-BE49-F238E27FC236}">
                  <a16:creationId xmlns:a16="http://schemas.microsoft.com/office/drawing/2014/main" id="{243EF931-2725-9FAC-4693-95AD44E2CB98}"/>
                </a:ext>
              </a:extLst>
            </p:cNvPr>
            <p:cNvCxnSpPr>
              <a:cxnSpLocks/>
              <a:stCxn id="63" idx="6"/>
              <a:endCxn id="35" idx="2"/>
            </p:cNvCxnSpPr>
            <p:nvPr/>
          </p:nvCxnSpPr>
          <p:spPr>
            <a:xfrm flipV="1">
              <a:off x="924372" y="5479937"/>
              <a:ext cx="605063" cy="8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Conector reto 112">
              <a:extLst>
                <a:ext uri="{FF2B5EF4-FFF2-40B4-BE49-F238E27FC236}">
                  <a16:creationId xmlns:a16="http://schemas.microsoft.com/office/drawing/2014/main" id="{34BA9903-694A-6A3D-2268-327576C56CF7}"/>
                </a:ext>
              </a:extLst>
            </p:cNvPr>
            <p:cNvCxnSpPr>
              <a:cxnSpLocks/>
              <a:stCxn id="63" idx="6"/>
              <a:endCxn id="12" idx="2"/>
            </p:cNvCxnSpPr>
            <p:nvPr/>
          </p:nvCxnSpPr>
          <p:spPr>
            <a:xfrm flipV="1">
              <a:off x="924372" y="4724287"/>
              <a:ext cx="610512" cy="7565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Conector reto 112">
              <a:extLst>
                <a:ext uri="{FF2B5EF4-FFF2-40B4-BE49-F238E27FC236}">
                  <a16:creationId xmlns:a16="http://schemas.microsoft.com/office/drawing/2014/main" id="{DF6C9A67-9067-5EDC-C226-CAB8E04167BB}"/>
                </a:ext>
              </a:extLst>
            </p:cNvPr>
            <p:cNvCxnSpPr>
              <a:cxnSpLocks/>
              <a:stCxn id="63" idx="6"/>
            </p:cNvCxnSpPr>
            <p:nvPr/>
          </p:nvCxnSpPr>
          <p:spPr>
            <a:xfrm flipV="1">
              <a:off x="924372" y="3968637"/>
              <a:ext cx="610512" cy="15121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Conector reto 112">
              <a:extLst>
                <a:ext uri="{FF2B5EF4-FFF2-40B4-BE49-F238E27FC236}">
                  <a16:creationId xmlns:a16="http://schemas.microsoft.com/office/drawing/2014/main" id="{8F3118AB-FD12-F22D-F865-22E94CCDB92B}"/>
                </a:ext>
              </a:extLst>
            </p:cNvPr>
            <p:cNvCxnSpPr>
              <a:cxnSpLocks/>
              <a:stCxn id="63" idx="6"/>
              <a:endCxn id="10" idx="2"/>
            </p:cNvCxnSpPr>
            <p:nvPr/>
          </p:nvCxnSpPr>
          <p:spPr>
            <a:xfrm flipV="1">
              <a:off x="924372" y="3212987"/>
              <a:ext cx="610512" cy="22678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Conector de Seta Reta 91">
              <a:extLst>
                <a:ext uri="{FF2B5EF4-FFF2-40B4-BE49-F238E27FC236}">
                  <a16:creationId xmlns:a16="http://schemas.microsoft.com/office/drawing/2014/main" id="{9DA96DDF-C909-C9CA-F73B-A1E8CE0091EE}"/>
                </a:ext>
              </a:extLst>
            </p:cNvPr>
            <p:cNvCxnSpPr>
              <a:cxnSpLocks/>
              <a:stCxn id="12" idx="6"/>
              <a:endCxn id="5" idx="2"/>
            </p:cNvCxnSpPr>
            <p:nvPr/>
          </p:nvCxnSpPr>
          <p:spPr>
            <a:xfrm flipV="1">
              <a:off x="2100941" y="3685608"/>
              <a:ext cx="391887" cy="1038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ector de Seta Reta 91">
              <a:extLst>
                <a:ext uri="{FF2B5EF4-FFF2-40B4-BE49-F238E27FC236}">
                  <a16:creationId xmlns:a16="http://schemas.microsoft.com/office/drawing/2014/main" id="{D99F43A6-B307-1E72-0D1B-848D65C28071}"/>
                </a:ext>
              </a:extLst>
            </p:cNvPr>
            <p:cNvCxnSpPr>
              <a:cxnSpLocks/>
              <a:stCxn id="35" idx="6"/>
              <a:endCxn id="5" idx="2"/>
            </p:cNvCxnSpPr>
            <p:nvPr/>
          </p:nvCxnSpPr>
          <p:spPr>
            <a:xfrm flipV="1">
              <a:off x="2095492" y="3685608"/>
              <a:ext cx="397336" cy="1794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ector de Seta Reta 91">
              <a:extLst>
                <a:ext uri="{FF2B5EF4-FFF2-40B4-BE49-F238E27FC236}">
                  <a16:creationId xmlns:a16="http://schemas.microsoft.com/office/drawing/2014/main" id="{390884BC-D4C2-CD93-5152-5C2CEFE58A90}"/>
                </a:ext>
              </a:extLst>
            </p:cNvPr>
            <p:cNvCxnSpPr>
              <a:cxnSpLocks/>
              <a:stCxn id="35" idx="6"/>
              <a:endCxn id="6" idx="2"/>
            </p:cNvCxnSpPr>
            <p:nvPr/>
          </p:nvCxnSpPr>
          <p:spPr>
            <a:xfrm flipV="1">
              <a:off x="2095492" y="4404065"/>
              <a:ext cx="397335" cy="1075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ector de Seta Reta 91">
              <a:extLst>
                <a:ext uri="{FF2B5EF4-FFF2-40B4-BE49-F238E27FC236}">
                  <a16:creationId xmlns:a16="http://schemas.microsoft.com/office/drawing/2014/main" id="{32363744-5718-75E7-9FF5-8F947EDC7226}"/>
                </a:ext>
              </a:extLst>
            </p:cNvPr>
            <p:cNvCxnSpPr>
              <a:cxnSpLocks/>
              <a:stCxn id="35" idx="6"/>
              <a:endCxn id="7" idx="2"/>
            </p:cNvCxnSpPr>
            <p:nvPr/>
          </p:nvCxnSpPr>
          <p:spPr>
            <a:xfrm flipV="1">
              <a:off x="2095492" y="5122522"/>
              <a:ext cx="397335" cy="357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F149F88-8FBC-425B-18B4-A25A063EC087}"/>
                    </a:ext>
                  </a:extLst>
                </p:cNvPr>
                <p:cNvSpPr txBox="1"/>
                <p:nvPr/>
              </p:nvSpPr>
              <p:spPr>
                <a:xfrm>
                  <a:off x="956041" y="2865008"/>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48" name="TextBox 47">
                  <a:extLst>
                    <a:ext uri="{FF2B5EF4-FFF2-40B4-BE49-F238E27FC236}">
                      <a16:creationId xmlns:a16="http://schemas.microsoft.com/office/drawing/2014/main" id="{9F149F88-8FBC-425B-18B4-A25A063EC087}"/>
                    </a:ext>
                  </a:extLst>
                </p:cNvPr>
                <p:cNvSpPr txBox="1">
                  <a:spLocks noRot="1" noChangeAspect="1" noMove="1" noResize="1" noEditPoints="1" noAdjustHandles="1" noChangeArrowheads="1" noChangeShapeType="1" noTextEdit="1"/>
                </p:cNvSpPr>
                <p:nvPr/>
              </p:nvSpPr>
              <p:spPr>
                <a:xfrm>
                  <a:off x="956041" y="2865008"/>
                  <a:ext cx="560538" cy="36131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D247434-3D9E-AAA1-BFBD-7EAF6E834AFA}"/>
                    </a:ext>
                  </a:extLst>
                </p:cNvPr>
                <p:cNvSpPr txBox="1"/>
                <p:nvPr/>
              </p:nvSpPr>
              <p:spPr>
                <a:xfrm rot="3068437">
                  <a:off x="1020572" y="321965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12</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49" name="TextBox 48">
                  <a:extLst>
                    <a:ext uri="{FF2B5EF4-FFF2-40B4-BE49-F238E27FC236}">
                      <a16:creationId xmlns:a16="http://schemas.microsoft.com/office/drawing/2014/main" id="{5D247434-3D9E-AAA1-BFBD-7EAF6E834AFA}"/>
                    </a:ext>
                  </a:extLst>
                </p:cNvPr>
                <p:cNvSpPr txBox="1">
                  <a:spLocks noRot="1" noChangeAspect="1" noMove="1" noResize="1" noEditPoints="1" noAdjustHandles="1" noChangeArrowheads="1" noChangeShapeType="1" noTextEdit="1"/>
                </p:cNvSpPr>
                <p:nvPr/>
              </p:nvSpPr>
              <p:spPr>
                <a:xfrm rot="3068437">
                  <a:off x="1020572" y="3219653"/>
                  <a:ext cx="560538" cy="36131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ADB9C1D5-E44F-F0EC-BBB0-2EF05DA96974}"/>
                    </a:ext>
                  </a:extLst>
                </p:cNvPr>
                <p:cNvSpPr txBox="1"/>
                <p:nvPr/>
              </p:nvSpPr>
              <p:spPr>
                <a:xfrm>
                  <a:off x="933548" y="5486606"/>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24</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0" name="TextBox 49">
                  <a:extLst>
                    <a:ext uri="{FF2B5EF4-FFF2-40B4-BE49-F238E27FC236}">
                      <a16:creationId xmlns:a16="http://schemas.microsoft.com/office/drawing/2014/main" id="{ADB9C1D5-E44F-F0EC-BBB0-2EF05DA96974}"/>
                    </a:ext>
                  </a:extLst>
                </p:cNvPr>
                <p:cNvSpPr txBox="1">
                  <a:spLocks noRot="1" noChangeAspect="1" noMove="1" noResize="1" noEditPoints="1" noAdjustHandles="1" noChangeArrowheads="1" noChangeShapeType="1" noTextEdit="1"/>
                </p:cNvSpPr>
                <p:nvPr/>
              </p:nvSpPr>
              <p:spPr>
                <a:xfrm>
                  <a:off x="933548" y="5486606"/>
                  <a:ext cx="560538" cy="36131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F937DE5-22C6-2E0D-CCD5-B93A651A79F4}"/>
                    </a:ext>
                  </a:extLst>
                </p:cNvPr>
                <p:cNvSpPr txBox="1"/>
                <p:nvPr/>
              </p:nvSpPr>
              <p:spPr>
                <a:xfrm rot="17131605">
                  <a:off x="594353" y="4756061"/>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1" name="TextBox 50">
                  <a:extLst>
                    <a:ext uri="{FF2B5EF4-FFF2-40B4-BE49-F238E27FC236}">
                      <a16:creationId xmlns:a16="http://schemas.microsoft.com/office/drawing/2014/main" id="{0F937DE5-22C6-2E0D-CCD5-B93A651A79F4}"/>
                    </a:ext>
                  </a:extLst>
                </p:cNvPr>
                <p:cNvSpPr txBox="1">
                  <a:spLocks noRot="1" noChangeAspect="1" noMove="1" noResize="1" noEditPoints="1" noAdjustHandles="1" noChangeArrowheads="1" noChangeShapeType="1" noTextEdit="1"/>
                </p:cNvSpPr>
                <p:nvPr/>
              </p:nvSpPr>
              <p:spPr>
                <a:xfrm rot="17131605">
                  <a:off x="594353" y="4756061"/>
                  <a:ext cx="560538" cy="36131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334077E4-2107-C898-7607-4A5331F21951}"/>
                    </a:ext>
                  </a:extLst>
                </p:cNvPr>
                <p:cNvSpPr txBox="1"/>
                <p:nvPr/>
              </p:nvSpPr>
              <p:spPr>
                <a:xfrm rot="2964551">
                  <a:off x="2132495" y="313219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2" name="TextBox 51">
                  <a:extLst>
                    <a:ext uri="{FF2B5EF4-FFF2-40B4-BE49-F238E27FC236}">
                      <a16:creationId xmlns:a16="http://schemas.microsoft.com/office/drawing/2014/main" id="{334077E4-2107-C898-7607-4A5331F21951}"/>
                    </a:ext>
                  </a:extLst>
                </p:cNvPr>
                <p:cNvSpPr txBox="1">
                  <a:spLocks noRot="1" noChangeAspect="1" noMove="1" noResize="1" noEditPoints="1" noAdjustHandles="1" noChangeArrowheads="1" noChangeShapeType="1" noTextEdit="1"/>
                </p:cNvSpPr>
                <p:nvPr/>
              </p:nvSpPr>
              <p:spPr>
                <a:xfrm rot="2964551">
                  <a:off x="2132495" y="3132193"/>
                  <a:ext cx="560538" cy="36131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BCB14226-5DF4-E14E-101B-53FD396577F2}"/>
                    </a:ext>
                  </a:extLst>
                </p:cNvPr>
                <p:cNvSpPr txBox="1"/>
                <p:nvPr/>
              </p:nvSpPr>
              <p:spPr>
                <a:xfrm rot="19021513">
                  <a:off x="2088094" y="5274650"/>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43</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3" name="TextBox 52">
                  <a:extLst>
                    <a:ext uri="{FF2B5EF4-FFF2-40B4-BE49-F238E27FC236}">
                      <a16:creationId xmlns:a16="http://schemas.microsoft.com/office/drawing/2014/main" id="{BCB14226-5DF4-E14E-101B-53FD396577F2}"/>
                    </a:ext>
                  </a:extLst>
                </p:cNvPr>
                <p:cNvSpPr txBox="1">
                  <a:spLocks noRot="1" noChangeAspect="1" noMove="1" noResize="1" noEditPoints="1" noAdjustHandles="1" noChangeArrowheads="1" noChangeShapeType="1" noTextEdit="1"/>
                </p:cNvSpPr>
                <p:nvPr/>
              </p:nvSpPr>
              <p:spPr>
                <a:xfrm rot="19021513">
                  <a:off x="2088094" y="5274650"/>
                  <a:ext cx="560538" cy="36131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99A900C0-456D-4A08-2194-AE28ADA67401}"/>
                    </a:ext>
                  </a:extLst>
                </p:cNvPr>
                <p:cNvSpPr txBox="1"/>
                <p:nvPr/>
              </p:nvSpPr>
              <p:spPr>
                <a:xfrm rot="2893059">
                  <a:off x="3107452" y="3604952"/>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4" name="TextBox 53">
                  <a:extLst>
                    <a:ext uri="{FF2B5EF4-FFF2-40B4-BE49-F238E27FC236}">
                      <a16:creationId xmlns:a16="http://schemas.microsoft.com/office/drawing/2014/main" id="{99A900C0-456D-4A08-2194-AE28ADA67401}"/>
                    </a:ext>
                  </a:extLst>
                </p:cNvPr>
                <p:cNvSpPr txBox="1">
                  <a:spLocks noRot="1" noChangeAspect="1" noMove="1" noResize="1" noEditPoints="1" noAdjustHandles="1" noChangeArrowheads="1" noChangeShapeType="1" noTextEdit="1"/>
                </p:cNvSpPr>
                <p:nvPr/>
              </p:nvSpPr>
              <p:spPr>
                <a:xfrm rot="2893059">
                  <a:off x="3107452" y="3604952"/>
                  <a:ext cx="560538" cy="362663"/>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C11B47C5-4DBA-FF42-97D0-97F5F0F1A4E7}"/>
                    </a:ext>
                  </a:extLst>
                </p:cNvPr>
                <p:cNvSpPr txBox="1"/>
                <p:nvPr/>
              </p:nvSpPr>
              <p:spPr>
                <a:xfrm rot="19852769">
                  <a:off x="3044859" y="4967999"/>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32</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5" name="TextBox 54">
                  <a:extLst>
                    <a:ext uri="{FF2B5EF4-FFF2-40B4-BE49-F238E27FC236}">
                      <a16:creationId xmlns:a16="http://schemas.microsoft.com/office/drawing/2014/main" id="{C11B47C5-4DBA-FF42-97D0-97F5F0F1A4E7}"/>
                    </a:ext>
                  </a:extLst>
                </p:cNvPr>
                <p:cNvSpPr txBox="1">
                  <a:spLocks noRot="1" noChangeAspect="1" noMove="1" noResize="1" noEditPoints="1" noAdjustHandles="1" noChangeArrowheads="1" noChangeShapeType="1" noTextEdit="1"/>
                </p:cNvSpPr>
                <p:nvPr/>
              </p:nvSpPr>
              <p:spPr>
                <a:xfrm rot="19852769">
                  <a:off x="3044859" y="4967999"/>
                  <a:ext cx="560538" cy="362663"/>
                </a:xfrm>
                <a:prstGeom prst="rect">
                  <a:avLst/>
                </a:prstGeom>
                <a:blipFill>
                  <a:blip r:embed="rId13"/>
                  <a:stretch>
                    <a:fillRect/>
                  </a:stretch>
                </a:blipFill>
              </p:spPr>
              <p:txBody>
                <a:bodyPr/>
                <a:lstStyle/>
                <a:p>
                  <a:r>
                    <a:rPr lang="en-US">
                      <a:noFill/>
                    </a:rPr>
                    <a:t> </a:t>
                  </a:r>
                </a:p>
              </p:txBody>
            </p:sp>
          </mc:Fallback>
        </mc:AlternateContent>
        <p:sp>
          <p:nvSpPr>
            <p:cNvPr id="56" name="CaixaDeTexto 106">
              <a:extLst>
                <a:ext uri="{FF2B5EF4-FFF2-40B4-BE49-F238E27FC236}">
                  <a16:creationId xmlns:a16="http://schemas.microsoft.com/office/drawing/2014/main" id="{B0B84C2B-23B5-FBAB-402D-6D0DCB38CBB1}"/>
                </a:ext>
              </a:extLst>
            </p:cNvPr>
            <p:cNvSpPr txBox="1"/>
            <p:nvPr/>
          </p:nvSpPr>
          <p:spPr>
            <a:xfrm>
              <a:off x="1300841" y="2506925"/>
              <a:ext cx="1796143" cy="307777"/>
            </a:xfrm>
            <a:prstGeom prst="rect">
              <a:avLst/>
            </a:prstGeom>
            <a:noFill/>
          </p:spPr>
          <p:txBody>
            <a:bodyPr wrap="square" rtlCol="0">
              <a:spAutoFit/>
            </a:bodyPr>
            <a:lstStyle/>
            <a:p>
              <a:r>
                <a:rPr lang="pt-BR" sz="1400" dirty="0"/>
                <a:t>Peso sináptico</a:t>
              </a:r>
            </a:p>
          </p:txBody>
        </p:sp>
        <p:sp>
          <p:nvSpPr>
            <p:cNvPr id="57" name="Freeform: Shape 56">
              <a:extLst>
                <a:ext uri="{FF2B5EF4-FFF2-40B4-BE49-F238E27FC236}">
                  <a16:creationId xmlns:a16="http://schemas.microsoft.com/office/drawing/2014/main" id="{4A7BC105-4654-4523-D596-31B98F0584C0}"/>
                </a:ext>
              </a:extLst>
            </p:cNvPr>
            <p:cNvSpPr/>
            <p:nvPr/>
          </p:nvSpPr>
          <p:spPr>
            <a:xfrm>
              <a:off x="1164771" y="2656114"/>
              <a:ext cx="206829" cy="250372"/>
            </a:xfrm>
            <a:custGeom>
              <a:avLst/>
              <a:gdLst>
                <a:gd name="csX0" fmla="*/ 0 w 206829"/>
                <a:gd name="csY0" fmla="*/ 250372 h 250372"/>
                <a:gd name="csX1" fmla="*/ 54429 w 206829"/>
                <a:gd name="csY1" fmla="*/ 108857 h 250372"/>
                <a:gd name="csX2" fmla="*/ 206829 w 206829"/>
                <a:gd name="csY2" fmla="*/ 0 h 250372"/>
              </a:gdLst>
              <a:ahLst/>
              <a:cxnLst>
                <a:cxn ang="0">
                  <a:pos x="csX0" y="csY0"/>
                </a:cxn>
                <a:cxn ang="0">
                  <a:pos x="csX1" y="csY1"/>
                </a:cxn>
                <a:cxn ang="0">
                  <a:pos x="csX2" y="csY2"/>
                </a:cxn>
              </a:cxnLst>
              <a:rect l="l" t="t" r="r" b="b"/>
              <a:pathLst>
                <a:path w="206829" h="250372">
                  <a:moveTo>
                    <a:pt x="0" y="250372"/>
                  </a:moveTo>
                  <a:cubicBezTo>
                    <a:pt x="9979" y="200479"/>
                    <a:pt x="19958" y="150586"/>
                    <a:pt x="54429" y="108857"/>
                  </a:cubicBezTo>
                  <a:cubicBezTo>
                    <a:pt x="88901" y="67128"/>
                    <a:pt x="147865" y="33564"/>
                    <a:pt x="206829"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CaixaDeTexto 32">
              <a:extLst>
                <a:ext uri="{FF2B5EF4-FFF2-40B4-BE49-F238E27FC236}">
                  <a16:creationId xmlns:a16="http://schemas.microsoft.com/office/drawing/2014/main" id="{944BD204-44EC-8B0F-CCCC-620B13B7B449}"/>
                </a:ext>
              </a:extLst>
            </p:cNvPr>
            <p:cNvSpPr txBox="1"/>
            <p:nvPr/>
          </p:nvSpPr>
          <p:spPr>
            <a:xfrm>
              <a:off x="294226" y="5713408"/>
              <a:ext cx="868135" cy="461665"/>
            </a:xfrm>
            <a:prstGeom prst="rect">
              <a:avLst/>
            </a:prstGeom>
            <a:noFill/>
          </p:spPr>
          <p:txBody>
            <a:bodyPr wrap="square" rtlCol="0">
              <a:spAutoFit/>
            </a:bodyPr>
            <a:lstStyle/>
            <a:p>
              <a:pPr algn="ctr"/>
              <a:r>
                <a:rPr lang="pt-BR" sz="1200" dirty="0"/>
                <a:t>Camada de entrada</a:t>
              </a:r>
            </a:p>
          </p:txBody>
        </p:sp>
        <p:sp>
          <p:nvSpPr>
            <p:cNvPr id="59" name="CaixaDeTexto 34">
              <a:extLst>
                <a:ext uri="{FF2B5EF4-FFF2-40B4-BE49-F238E27FC236}">
                  <a16:creationId xmlns:a16="http://schemas.microsoft.com/office/drawing/2014/main" id="{9DB4AD3A-5BC7-ECE3-2167-C281106F1AB5}"/>
                </a:ext>
              </a:extLst>
            </p:cNvPr>
            <p:cNvSpPr txBox="1"/>
            <p:nvPr/>
          </p:nvSpPr>
          <p:spPr>
            <a:xfrm>
              <a:off x="1357989" y="5837351"/>
              <a:ext cx="868135" cy="461665"/>
            </a:xfrm>
            <a:prstGeom prst="rect">
              <a:avLst/>
            </a:prstGeom>
            <a:noFill/>
          </p:spPr>
          <p:txBody>
            <a:bodyPr wrap="square" rtlCol="0">
              <a:spAutoFit/>
            </a:bodyPr>
            <a:lstStyle/>
            <a:p>
              <a:pPr algn="ctr"/>
              <a:r>
                <a:rPr lang="pt-BR" sz="1200" dirty="0"/>
                <a:t>Camada oculta #1</a:t>
              </a:r>
            </a:p>
          </p:txBody>
        </p:sp>
        <p:sp>
          <p:nvSpPr>
            <p:cNvPr id="60" name="CaixaDeTexto 40">
              <a:extLst>
                <a:ext uri="{FF2B5EF4-FFF2-40B4-BE49-F238E27FC236}">
                  <a16:creationId xmlns:a16="http://schemas.microsoft.com/office/drawing/2014/main" id="{4CA42873-8E63-69DF-FEC6-B6697318A088}"/>
                </a:ext>
              </a:extLst>
            </p:cNvPr>
            <p:cNvSpPr txBox="1"/>
            <p:nvPr/>
          </p:nvSpPr>
          <p:spPr>
            <a:xfrm>
              <a:off x="2352673" y="5450646"/>
              <a:ext cx="868135" cy="461665"/>
            </a:xfrm>
            <a:prstGeom prst="rect">
              <a:avLst/>
            </a:prstGeom>
            <a:noFill/>
          </p:spPr>
          <p:txBody>
            <a:bodyPr wrap="square" rtlCol="0">
              <a:spAutoFit/>
            </a:bodyPr>
            <a:lstStyle/>
            <a:p>
              <a:pPr algn="ctr"/>
              <a:r>
                <a:rPr lang="pt-BR" sz="1200" dirty="0"/>
                <a:t>Camada oculta #2</a:t>
              </a:r>
            </a:p>
          </p:txBody>
        </p:sp>
        <p:sp>
          <p:nvSpPr>
            <p:cNvPr id="61" name="CaixaDeTexto 36">
              <a:extLst>
                <a:ext uri="{FF2B5EF4-FFF2-40B4-BE49-F238E27FC236}">
                  <a16:creationId xmlns:a16="http://schemas.microsoft.com/office/drawing/2014/main" id="{F796D9AC-0F6B-F0B8-A755-6F3EAD090A52}"/>
                </a:ext>
              </a:extLst>
            </p:cNvPr>
            <p:cNvSpPr txBox="1"/>
            <p:nvPr/>
          </p:nvSpPr>
          <p:spPr>
            <a:xfrm>
              <a:off x="3314688" y="5239989"/>
              <a:ext cx="868135" cy="461665"/>
            </a:xfrm>
            <a:prstGeom prst="rect">
              <a:avLst/>
            </a:prstGeom>
            <a:noFill/>
          </p:spPr>
          <p:txBody>
            <a:bodyPr wrap="square" rtlCol="0">
              <a:spAutoFit/>
            </a:bodyPr>
            <a:lstStyle/>
            <a:p>
              <a:pPr algn="ctr"/>
              <a:r>
                <a:rPr lang="pt-BR" sz="1200" dirty="0"/>
                <a:t>Camada de saída</a:t>
              </a:r>
            </a:p>
          </p:txBody>
        </p:sp>
      </p:grpSp>
    </p:spTree>
    <p:extLst>
      <p:ext uri="{BB962C8B-B14F-4D97-AF65-F5344CB8AC3E}">
        <p14:creationId xmlns:p14="http://schemas.microsoft.com/office/powerpoint/2010/main" val="3305334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543F7-82FB-D48F-6DEF-5CCC7B72A1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B79B23-B649-A1BB-EEED-EB426575944D}"/>
              </a:ext>
            </a:extLst>
          </p:cNvPr>
          <p:cNvSpPr>
            <a:spLocks noGrp="1"/>
          </p:cNvSpPr>
          <p:nvPr>
            <p:ph type="title"/>
          </p:nvPr>
        </p:nvSpPr>
        <p:spPr/>
        <p:txBody>
          <a:bodyPr/>
          <a:lstStyle/>
          <a:p>
            <a:r>
              <a:rPr lang="pt-BR" dirty="0"/>
              <a:t>O que é uma rede neural artificial?</a:t>
            </a:r>
            <a:endParaRPr lang="en-US" dirty="0"/>
          </a:p>
        </p:txBody>
      </p:sp>
      <p:sp>
        <p:nvSpPr>
          <p:cNvPr id="3" name="Content Placeholder 2">
            <a:extLst>
              <a:ext uri="{FF2B5EF4-FFF2-40B4-BE49-F238E27FC236}">
                <a16:creationId xmlns:a16="http://schemas.microsoft.com/office/drawing/2014/main" id="{5F377532-DABD-D714-07CE-A3983505C3A8}"/>
              </a:ext>
            </a:extLst>
          </p:cNvPr>
          <p:cNvSpPr>
            <a:spLocks noGrp="1"/>
          </p:cNvSpPr>
          <p:nvPr>
            <p:ph idx="1"/>
          </p:nvPr>
        </p:nvSpPr>
        <p:spPr>
          <a:xfrm>
            <a:off x="5660571" y="1825624"/>
            <a:ext cx="6422572" cy="5032375"/>
          </a:xfrm>
        </p:spPr>
        <p:txBody>
          <a:bodyPr>
            <a:normAutofit/>
          </a:bodyPr>
          <a:lstStyle/>
          <a:p>
            <a:r>
              <a:rPr lang="pt-BR" dirty="0"/>
              <a:t>Antes de entendermos como funciona uma rede neural, </a:t>
            </a:r>
            <a:r>
              <a:rPr lang="pt-BR" b="1" dirty="0">
                <a:solidFill>
                  <a:schemeClr val="accent2"/>
                </a:solidFill>
              </a:rPr>
              <a:t>precisamos primeiro discutir o principio básico de funcionamento um neurônio biológico </a:t>
            </a:r>
            <a:r>
              <a:rPr lang="pt-BR" dirty="0"/>
              <a:t>e como ele é usado para modelar um</a:t>
            </a:r>
            <a:r>
              <a:rPr lang="pt-BR" b="1" dirty="0"/>
              <a:t> neurônio artificial</a:t>
            </a:r>
            <a:r>
              <a:rPr lang="pt-BR" dirty="0"/>
              <a:t>.</a:t>
            </a:r>
          </a:p>
        </p:txBody>
      </p:sp>
      <p:grpSp>
        <p:nvGrpSpPr>
          <p:cNvPr id="4" name="Group 3">
            <a:extLst>
              <a:ext uri="{FF2B5EF4-FFF2-40B4-BE49-F238E27FC236}">
                <a16:creationId xmlns:a16="http://schemas.microsoft.com/office/drawing/2014/main" id="{A4A654E5-99EE-5C65-B3DB-67A37FF36A5B}"/>
              </a:ext>
            </a:extLst>
          </p:cNvPr>
          <p:cNvGrpSpPr/>
          <p:nvPr/>
        </p:nvGrpSpPr>
        <p:grpSpPr>
          <a:xfrm>
            <a:off x="838200" y="1962640"/>
            <a:ext cx="4240583" cy="3792091"/>
            <a:chOff x="294226" y="2506925"/>
            <a:chExt cx="4240583" cy="3792091"/>
          </a:xfrm>
        </p:grpSpPr>
        <p:sp>
          <p:nvSpPr>
            <p:cNvPr id="5" name="Elipse 77">
              <a:extLst>
                <a:ext uri="{FF2B5EF4-FFF2-40B4-BE49-F238E27FC236}">
                  <a16:creationId xmlns:a16="http://schemas.microsoft.com/office/drawing/2014/main" id="{AEF26509-4671-CD68-962B-5F9CDBE3082A}"/>
                </a:ext>
              </a:extLst>
            </p:cNvPr>
            <p:cNvSpPr/>
            <p:nvPr/>
          </p:nvSpPr>
          <p:spPr>
            <a:xfrm>
              <a:off x="2492828" y="3402579"/>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Elipse 78">
              <a:extLst>
                <a:ext uri="{FF2B5EF4-FFF2-40B4-BE49-F238E27FC236}">
                  <a16:creationId xmlns:a16="http://schemas.microsoft.com/office/drawing/2014/main" id="{B93EA632-8C83-83C6-1717-F34E79D1586F}"/>
                </a:ext>
              </a:extLst>
            </p:cNvPr>
            <p:cNvSpPr/>
            <p:nvPr/>
          </p:nvSpPr>
          <p:spPr>
            <a:xfrm>
              <a:off x="2492827" y="4121036"/>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Elipse 79">
              <a:extLst>
                <a:ext uri="{FF2B5EF4-FFF2-40B4-BE49-F238E27FC236}">
                  <a16:creationId xmlns:a16="http://schemas.microsoft.com/office/drawing/2014/main" id="{AF3E96C3-64A1-665A-E445-346955285463}"/>
                </a:ext>
              </a:extLst>
            </p:cNvPr>
            <p:cNvSpPr/>
            <p:nvPr/>
          </p:nvSpPr>
          <p:spPr>
            <a:xfrm>
              <a:off x="2492827" y="4839493"/>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Elipse 81">
              <a:extLst>
                <a:ext uri="{FF2B5EF4-FFF2-40B4-BE49-F238E27FC236}">
                  <a16:creationId xmlns:a16="http://schemas.microsoft.com/office/drawing/2014/main" id="{87AC3999-8DA5-C671-B1BD-1324E34972EC}"/>
                </a:ext>
              </a:extLst>
            </p:cNvPr>
            <p:cNvSpPr/>
            <p:nvPr/>
          </p:nvSpPr>
          <p:spPr>
            <a:xfrm>
              <a:off x="3450770" y="3864817"/>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Elipse 82">
              <a:extLst>
                <a:ext uri="{FF2B5EF4-FFF2-40B4-BE49-F238E27FC236}">
                  <a16:creationId xmlns:a16="http://schemas.microsoft.com/office/drawing/2014/main" id="{BD9D6F22-B247-3846-B978-31C5501EBB41}"/>
                </a:ext>
              </a:extLst>
            </p:cNvPr>
            <p:cNvSpPr/>
            <p:nvPr/>
          </p:nvSpPr>
          <p:spPr>
            <a:xfrm>
              <a:off x="3450769" y="4583274"/>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Elipse 83">
              <a:extLst>
                <a:ext uri="{FF2B5EF4-FFF2-40B4-BE49-F238E27FC236}">
                  <a16:creationId xmlns:a16="http://schemas.microsoft.com/office/drawing/2014/main" id="{2A1784C7-0521-AD27-C3BB-C825EFC60303}"/>
                </a:ext>
              </a:extLst>
            </p:cNvPr>
            <p:cNvSpPr/>
            <p:nvPr/>
          </p:nvSpPr>
          <p:spPr>
            <a:xfrm>
              <a:off x="1534884" y="29299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84">
              <a:extLst>
                <a:ext uri="{FF2B5EF4-FFF2-40B4-BE49-F238E27FC236}">
                  <a16:creationId xmlns:a16="http://schemas.microsoft.com/office/drawing/2014/main" id="{0BF7434B-7FE0-D093-FD89-51BD00DF8A37}"/>
                </a:ext>
              </a:extLst>
            </p:cNvPr>
            <p:cNvSpPr/>
            <p:nvPr/>
          </p:nvSpPr>
          <p:spPr>
            <a:xfrm>
              <a:off x="1534884" y="36856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85">
              <a:extLst>
                <a:ext uri="{FF2B5EF4-FFF2-40B4-BE49-F238E27FC236}">
                  <a16:creationId xmlns:a16="http://schemas.microsoft.com/office/drawing/2014/main" id="{F5DAA4C4-C758-0FEF-6606-E2BAF9914605}"/>
                </a:ext>
              </a:extLst>
            </p:cNvPr>
            <p:cNvSpPr/>
            <p:nvPr/>
          </p:nvSpPr>
          <p:spPr>
            <a:xfrm>
              <a:off x="1534884" y="44412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3" name="Conector de Seta Reta 86">
              <a:extLst>
                <a:ext uri="{FF2B5EF4-FFF2-40B4-BE49-F238E27FC236}">
                  <a16:creationId xmlns:a16="http://schemas.microsoft.com/office/drawing/2014/main" id="{279C9571-8754-1F58-989C-7C5403034F67}"/>
                </a:ext>
              </a:extLst>
            </p:cNvPr>
            <p:cNvCxnSpPr>
              <a:cxnSpLocks/>
              <a:stCxn id="10" idx="6"/>
              <a:endCxn id="5" idx="2"/>
            </p:cNvCxnSpPr>
            <p:nvPr/>
          </p:nvCxnSpPr>
          <p:spPr>
            <a:xfrm>
              <a:off x="2100941" y="3212987"/>
              <a:ext cx="391887" cy="472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de Seta Reta 87">
              <a:extLst>
                <a:ext uri="{FF2B5EF4-FFF2-40B4-BE49-F238E27FC236}">
                  <a16:creationId xmlns:a16="http://schemas.microsoft.com/office/drawing/2014/main" id="{4760DCFE-9BC2-6C3A-AFCA-A648EAED6FB5}"/>
                </a:ext>
              </a:extLst>
            </p:cNvPr>
            <p:cNvCxnSpPr>
              <a:stCxn id="10" idx="6"/>
              <a:endCxn id="6" idx="2"/>
            </p:cNvCxnSpPr>
            <p:nvPr/>
          </p:nvCxnSpPr>
          <p:spPr>
            <a:xfrm>
              <a:off x="2100941" y="3212987"/>
              <a:ext cx="391886" cy="1191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88">
              <a:extLst>
                <a:ext uri="{FF2B5EF4-FFF2-40B4-BE49-F238E27FC236}">
                  <a16:creationId xmlns:a16="http://schemas.microsoft.com/office/drawing/2014/main" id="{88D177F0-76D0-DE83-078B-0DE5B31D977F}"/>
                </a:ext>
              </a:extLst>
            </p:cNvPr>
            <p:cNvCxnSpPr>
              <a:stCxn id="10" idx="6"/>
              <a:endCxn id="7" idx="2"/>
            </p:cNvCxnSpPr>
            <p:nvPr/>
          </p:nvCxnSpPr>
          <p:spPr>
            <a:xfrm>
              <a:off x="2100941" y="3212987"/>
              <a:ext cx="391886" cy="1909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90">
              <a:extLst>
                <a:ext uri="{FF2B5EF4-FFF2-40B4-BE49-F238E27FC236}">
                  <a16:creationId xmlns:a16="http://schemas.microsoft.com/office/drawing/2014/main" id="{936C89A2-F0D3-D88C-E757-0B5CE83CA8DB}"/>
                </a:ext>
              </a:extLst>
            </p:cNvPr>
            <p:cNvCxnSpPr>
              <a:cxnSpLocks/>
              <a:stCxn id="11" idx="6"/>
              <a:endCxn id="5" idx="2"/>
            </p:cNvCxnSpPr>
            <p:nvPr/>
          </p:nvCxnSpPr>
          <p:spPr>
            <a:xfrm flipV="1">
              <a:off x="2100941" y="3685608"/>
              <a:ext cx="391887" cy="283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91">
              <a:extLst>
                <a:ext uri="{FF2B5EF4-FFF2-40B4-BE49-F238E27FC236}">
                  <a16:creationId xmlns:a16="http://schemas.microsoft.com/office/drawing/2014/main" id="{E9F85594-E3CB-08CD-0F92-EDB0A41B6A19}"/>
                </a:ext>
              </a:extLst>
            </p:cNvPr>
            <p:cNvCxnSpPr>
              <a:stCxn id="12" idx="6"/>
              <a:endCxn id="6" idx="2"/>
            </p:cNvCxnSpPr>
            <p:nvPr/>
          </p:nvCxnSpPr>
          <p:spPr>
            <a:xfrm flipV="1">
              <a:off x="2100941" y="4404065"/>
              <a:ext cx="391886" cy="320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92">
              <a:extLst>
                <a:ext uri="{FF2B5EF4-FFF2-40B4-BE49-F238E27FC236}">
                  <a16:creationId xmlns:a16="http://schemas.microsoft.com/office/drawing/2014/main" id="{E208F0AF-CE8B-469C-4600-F9BC0B39D885}"/>
                </a:ext>
              </a:extLst>
            </p:cNvPr>
            <p:cNvCxnSpPr>
              <a:stCxn id="11" idx="6"/>
              <a:endCxn id="6" idx="2"/>
            </p:cNvCxnSpPr>
            <p:nvPr/>
          </p:nvCxnSpPr>
          <p:spPr>
            <a:xfrm>
              <a:off x="2100941" y="3968637"/>
              <a:ext cx="391886" cy="435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93">
              <a:extLst>
                <a:ext uri="{FF2B5EF4-FFF2-40B4-BE49-F238E27FC236}">
                  <a16:creationId xmlns:a16="http://schemas.microsoft.com/office/drawing/2014/main" id="{3600D062-6C30-FF24-3490-17F2930199DF}"/>
                </a:ext>
              </a:extLst>
            </p:cNvPr>
            <p:cNvCxnSpPr>
              <a:stCxn id="11" idx="6"/>
              <a:endCxn id="7" idx="2"/>
            </p:cNvCxnSpPr>
            <p:nvPr/>
          </p:nvCxnSpPr>
          <p:spPr>
            <a:xfrm>
              <a:off x="2100941" y="3968637"/>
              <a:ext cx="391886" cy="1153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96">
              <a:extLst>
                <a:ext uri="{FF2B5EF4-FFF2-40B4-BE49-F238E27FC236}">
                  <a16:creationId xmlns:a16="http://schemas.microsoft.com/office/drawing/2014/main" id="{4D88A390-53B5-82B6-E78F-05B21D41DDAF}"/>
                </a:ext>
              </a:extLst>
            </p:cNvPr>
            <p:cNvCxnSpPr>
              <a:stCxn id="12" idx="6"/>
              <a:endCxn id="7" idx="2"/>
            </p:cNvCxnSpPr>
            <p:nvPr/>
          </p:nvCxnSpPr>
          <p:spPr>
            <a:xfrm>
              <a:off x="2100941" y="4724287"/>
              <a:ext cx="391886" cy="398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98">
              <a:extLst>
                <a:ext uri="{FF2B5EF4-FFF2-40B4-BE49-F238E27FC236}">
                  <a16:creationId xmlns:a16="http://schemas.microsoft.com/office/drawing/2014/main" id="{0EA478FE-4841-17D1-C216-0BB44D3F4C0C}"/>
                </a:ext>
              </a:extLst>
            </p:cNvPr>
            <p:cNvCxnSpPr>
              <a:stCxn id="5" idx="6"/>
              <a:endCxn id="8" idx="2"/>
            </p:cNvCxnSpPr>
            <p:nvPr/>
          </p:nvCxnSpPr>
          <p:spPr>
            <a:xfrm>
              <a:off x="3058885" y="3685608"/>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99">
              <a:extLst>
                <a:ext uri="{FF2B5EF4-FFF2-40B4-BE49-F238E27FC236}">
                  <a16:creationId xmlns:a16="http://schemas.microsoft.com/office/drawing/2014/main" id="{4B341FE9-58BF-5CB2-1527-77033952523D}"/>
                </a:ext>
              </a:extLst>
            </p:cNvPr>
            <p:cNvCxnSpPr>
              <a:stCxn id="6" idx="6"/>
              <a:endCxn id="9" idx="2"/>
            </p:cNvCxnSpPr>
            <p:nvPr/>
          </p:nvCxnSpPr>
          <p:spPr>
            <a:xfrm>
              <a:off x="3058884" y="4404065"/>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100">
              <a:extLst>
                <a:ext uri="{FF2B5EF4-FFF2-40B4-BE49-F238E27FC236}">
                  <a16:creationId xmlns:a16="http://schemas.microsoft.com/office/drawing/2014/main" id="{1171CA1F-829A-050A-5A87-60795F8186B5}"/>
                </a:ext>
              </a:extLst>
            </p:cNvPr>
            <p:cNvCxnSpPr>
              <a:stCxn id="7" idx="6"/>
              <a:endCxn id="9" idx="2"/>
            </p:cNvCxnSpPr>
            <p:nvPr/>
          </p:nvCxnSpPr>
          <p:spPr>
            <a:xfrm flipV="1">
              <a:off x="3058884" y="4866303"/>
              <a:ext cx="391885"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102">
              <a:extLst>
                <a:ext uri="{FF2B5EF4-FFF2-40B4-BE49-F238E27FC236}">
                  <a16:creationId xmlns:a16="http://schemas.microsoft.com/office/drawing/2014/main" id="{0EE7C7F8-314B-4BD0-74F3-3382C4904B64}"/>
                </a:ext>
              </a:extLst>
            </p:cNvPr>
            <p:cNvCxnSpPr>
              <a:cxnSpLocks/>
              <a:stCxn id="5" idx="6"/>
              <a:endCxn id="9" idx="2"/>
            </p:cNvCxnSpPr>
            <p:nvPr/>
          </p:nvCxnSpPr>
          <p:spPr>
            <a:xfrm>
              <a:off x="3058885" y="3685608"/>
              <a:ext cx="391884" cy="1180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103">
              <a:extLst>
                <a:ext uri="{FF2B5EF4-FFF2-40B4-BE49-F238E27FC236}">
                  <a16:creationId xmlns:a16="http://schemas.microsoft.com/office/drawing/2014/main" id="{9A5094F1-226E-7F4D-EBA0-23BA03E91C8E}"/>
                </a:ext>
              </a:extLst>
            </p:cNvPr>
            <p:cNvCxnSpPr>
              <a:stCxn id="6" idx="6"/>
              <a:endCxn id="8" idx="2"/>
            </p:cNvCxnSpPr>
            <p:nvPr/>
          </p:nvCxnSpPr>
          <p:spPr>
            <a:xfrm flipV="1">
              <a:off x="3058884" y="4147846"/>
              <a:ext cx="391886"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104">
              <a:extLst>
                <a:ext uri="{FF2B5EF4-FFF2-40B4-BE49-F238E27FC236}">
                  <a16:creationId xmlns:a16="http://schemas.microsoft.com/office/drawing/2014/main" id="{A539EF9C-C252-F1DC-70F8-99C43CCAD746}"/>
                </a:ext>
              </a:extLst>
            </p:cNvPr>
            <p:cNvCxnSpPr>
              <a:stCxn id="7" idx="6"/>
              <a:endCxn id="8" idx="2"/>
            </p:cNvCxnSpPr>
            <p:nvPr/>
          </p:nvCxnSpPr>
          <p:spPr>
            <a:xfrm flipV="1">
              <a:off x="3058884" y="4147846"/>
              <a:ext cx="391886" cy="974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CaixaDeTexto 106">
              <a:extLst>
                <a:ext uri="{FF2B5EF4-FFF2-40B4-BE49-F238E27FC236}">
                  <a16:creationId xmlns:a16="http://schemas.microsoft.com/office/drawing/2014/main" id="{B5F86E13-95C3-F837-B350-F0DF18E3BB43}"/>
                </a:ext>
              </a:extLst>
            </p:cNvPr>
            <p:cNvSpPr txBox="1"/>
            <p:nvPr/>
          </p:nvSpPr>
          <p:spPr>
            <a:xfrm>
              <a:off x="3173179" y="3100768"/>
              <a:ext cx="1230086" cy="307777"/>
            </a:xfrm>
            <a:prstGeom prst="rect">
              <a:avLst/>
            </a:prstGeom>
            <a:noFill/>
          </p:spPr>
          <p:txBody>
            <a:bodyPr wrap="square" rtlCol="0">
              <a:spAutoFit/>
            </a:bodyPr>
            <a:lstStyle/>
            <a:p>
              <a:r>
                <a:rPr lang="pt-BR" sz="1400" dirty="0"/>
                <a:t>Neurônio</a:t>
              </a:r>
            </a:p>
          </p:txBody>
        </p:sp>
        <p:sp>
          <p:nvSpPr>
            <p:cNvPr id="28" name="Forma Livre: Forma 107">
              <a:extLst>
                <a:ext uri="{FF2B5EF4-FFF2-40B4-BE49-F238E27FC236}">
                  <a16:creationId xmlns:a16="http://schemas.microsoft.com/office/drawing/2014/main" id="{C4DF701E-A576-D49C-3DC5-D1FF5FCEC71E}"/>
                </a:ext>
              </a:extLst>
            </p:cNvPr>
            <p:cNvSpPr/>
            <p:nvPr/>
          </p:nvSpPr>
          <p:spPr>
            <a:xfrm>
              <a:off x="2786734" y="3216700"/>
              <a:ext cx="413657" cy="166042"/>
            </a:xfrm>
            <a:custGeom>
              <a:avLst/>
              <a:gdLst>
                <a:gd name="connsiteX0" fmla="*/ 0 w 413657"/>
                <a:gd name="connsiteY0" fmla="*/ 166042 h 166042"/>
                <a:gd name="connsiteX1" fmla="*/ 76200 w 413657"/>
                <a:gd name="connsiteY1" fmla="*/ 2756 h 166042"/>
                <a:gd name="connsiteX2" fmla="*/ 413657 w 413657"/>
                <a:gd name="connsiteY2" fmla="*/ 78956 h 166042"/>
              </a:gdLst>
              <a:ahLst/>
              <a:cxnLst>
                <a:cxn ang="0">
                  <a:pos x="connsiteX0" y="connsiteY0"/>
                </a:cxn>
                <a:cxn ang="0">
                  <a:pos x="connsiteX1" y="connsiteY1"/>
                </a:cxn>
                <a:cxn ang="0">
                  <a:pos x="connsiteX2" y="connsiteY2"/>
                </a:cxn>
              </a:cxnLst>
              <a:rect l="l" t="t" r="r" b="b"/>
              <a:pathLst>
                <a:path w="413657" h="166042">
                  <a:moveTo>
                    <a:pt x="0" y="166042"/>
                  </a:moveTo>
                  <a:cubicBezTo>
                    <a:pt x="3628" y="91656"/>
                    <a:pt x="7257" y="17270"/>
                    <a:pt x="76200" y="2756"/>
                  </a:cubicBezTo>
                  <a:cubicBezTo>
                    <a:pt x="145143" y="-11758"/>
                    <a:pt x="279400" y="33599"/>
                    <a:pt x="413657" y="7895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9" name="Conector reto 112">
              <a:extLst>
                <a:ext uri="{FF2B5EF4-FFF2-40B4-BE49-F238E27FC236}">
                  <a16:creationId xmlns:a16="http://schemas.microsoft.com/office/drawing/2014/main" id="{1AD8DBB9-53F0-A7A1-AE8F-38515EF2C94C}"/>
                </a:ext>
              </a:extLst>
            </p:cNvPr>
            <p:cNvCxnSpPr>
              <a:cxnSpLocks/>
              <a:stCxn id="65" idx="6"/>
              <a:endCxn id="11" idx="2"/>
            </p:cNvCxnSpPr>
            <p:nvPr/>
          </p:nvCxnSpPr>
          <p:spPr>
            <a:xfrm>
              <a:off x="944681" y="3219656"/>
              <a:ext cx="590203" cy="7489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Conector de Seta Reta 113">
              <a:extLst>
                <a:ext uri="{FF2B5EF4-FFF2-40B4-BE49-F238E27FC236}">
                  <a16:creationId xmlns:a16="http://schemas.microsoft.com/office/drawing/2014/main" id="{E44144BB-B5D0-FF80-1B1B-26689476F976}"/>
                </a:ext>
              </a:extLst>
            </p:cNvPr>
            <p:cNvCxnSpPr>
              <a:cxnSpLocks/>
              <a:stCxn id="8" idx="6"/>
              <a:endCxn id="32" idx="1"/>
            </p:cNvCxnSpPr>
            <p:nvPr/>
          </p:nvCxnSpPr>
          <p:spPr>
            <a:xfrm>
              <a:off x="4016827" y="4147846"/>
              <a:ext cx="251280" cy="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ector de Seta Reta 114">
              <a:extLst>
                <a:ext uri="{FF2B5EF4-FFF2-40B4-BE49-F238E27FC236}">
                  <a16:creationId xmlns:a16="http://schemas.microsoft.com/office/drawing/2014/main" id="{7F21C1C8-A9EC-1D2D-4A82-31181D217E41}"/>
                </a:ext>
              </a:extLst>
            </p:cNvPr>
            <p:cNvCxnSpPr>
              <a:cxnSpLocks/>
              <a:stCxn id="9" idx="6"/>
            </p:cNvCxnSpPr>
            <p:nvPr/>
          </p:nvCxnSpPr>
          <p:spPr>
            <a:xfrm>
              <a:off x="4016826" y="4866303"/>
              <a:ext cx="272141" cy="5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CaixaDeTexto 5">
                  <a:extLst>
                    <a:ext uri="{FF2B5EF4-FFF2-40B4-BE49-F238E27FC236}">
                      <a16:creationId xmlns:a16="http://schemas.microsoft.com/office/drawing/2014/main" id="{78476B58-B60C-BDA2-ED84-F4274DEF8D44}"/>
                    </a:ext>
                  </a:extLst>
                </p:cNvPr>
                <p:cNvSpPr txBox="1"/>
                <p:nvPr/>
              </p:nvSpPr>
              <p:spPr>
                <a:xfrm>
                  <a:off x="4268107" y="3963524"/>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1</m:t>
                            </m:r>
                          </m:sub>
                        </m:sSub>
                      </m:oMath>
                    </m:oMathPara>
                  </a14:m>
                  <a:endParaRPr lang="pt-BR" dirty="0"/>
                </a:p>
              </p:txBody>
            </p:sp>
          </mc:Choice>
          <mc:Fallback xmlns="">
            <p:sp>
              <p:nvSpPr>
                <p:cNvPr id="32" name="CaixaDeTexto 5">
                  <a:extLst>
                    <a:ext uri="{FF2B5EF4-FFF2-40B4-BE49-F238E27FC236}">
                      <a16:creationId xmlns:a16="http://schemas.microsoft.com/office/drawing/2014/main" id="{78476B58-B60C-BDA2-ED84-F4274DEF8D44}"/>
                    </a:ext>
                  </a:extLst>
                </p:cNvPr>
                <p:cNvSpPr txBox="1">
                  <a:spLocks noRot="1" noChangeAspect="1" noMove="1" noResize="1" noEditPoints="1" noAdjustHandles="1" noChangeArrowheads="1" noChangeShapeType="1" noTextEdit="1"/>
                </p:cNvSpPr>
                <p:nvPr/>
              </p:nvSpPr>
              <p:spPr>
                <a:xfrm>
                  <a:off x="4268107" y="3963524"/>
                  <a:ext cx="266702" cy="369332"/>
                </a:xfrm>
                <a:prstGeom prst="rect">
                  <a:avLst/>
                </a:prstGeom>
                <a:blipFill>
                  <a:blip r:embed="rId2"/>
                  <a:stretch>
                    <a:fillRect t="-6667" r="-34091"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CaixaDeTexto 6">
                  <a:extLst>
                    <a:ext uri="{FF2B5EF4-FFF2-40B4-BE49-F238E27FC236}">
                      <a16:creationId xmlns:a16="http://schemas.microsoft.com/office/drawing/2014/main" id="{6E16AF6B-BDCF-84CC-BA22-AD84BA3647A0}"/>
                    </a:ext>
                  </a:extLst>
                </p:cNvPr>
                <p:cNvSpPr txBox="1"/>
                <p:nvPr/>
              </p:nvSpPr>
              <p:spPr>
                <a:xfrm>
                  <a:off x="4268107" y="4681637"/>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2</m:t>
                            </m:r>
                          </m:sub>
                        </m:sSub>
                      </m:oMath>
                    </m:oMathPara>
                  </a14:m>
                  <a:endParaRPr lang="pt-BR" dirty="0"/>
                </a:p>
              </p:txBody>
            </p:sp>
          </mc:Choice>
          <mc:Fallback xmlns="">
            <p:sp>
              <p:nvSpPr>
                <p:cNvPr id="33" name="CaixaDeTexto 6">
                  <a:extLst>
                    <a:ext uri="{FF2B5EF4-FFF2-40B4-BE49-F238E27FC236}">
                      <a16:creationId xmlns:a16="http://schemas.microsoft.com/office/drawing/2014/main" id="{6E16AF6B-BDCF-84CC-BA22-AD84BA3647A0}"/>
                    </a:ext>
                  </a:extLst>
                </p:cNvPr>
                <p:cNvSpPr txBox="1">
                  <a:spLocks noRot="1" noChangeAspect="1" noMove="1" noResize="1" noEditPoints="1" noAdjustHandles="1" noChangeArrowheads="1" noChangeShapeType="1" noTextEdit="1"/>
                </p:cNvSpPr>
                <p:nvPr/>
              </p:nvSpPr>
              <p:spPr>
                <a:xfrm>
                  <a:off x="4268107" y="4681637"/>
                  <a:ext cx="266702" cy="369332"/>
                </a:xfrm>
                <a:prstGeom prst="rect">
                  <a:avLst/>
                </a:prstGeom>
                <a:blipFill>
                  <a:blip r:embed="rId3"/>
                  <a:stretch>
                    <a:fillRect t="-6667" r="-36364" b="-6667"/>
                  </a:stretch>
                </a:blipFill>
              </p:spPr>
              <p:txBody>
                <a:bodyPr/>
                <a:lstStyle/>
                <a:p>
                  <a:r>
                    <a:rPr lang="en-US">
                      <a:noFill/>
                    </a:rPr>
                    <a:t> </a:t>
                  </a:r>
                </a:p>
              </p:txBody>
            </p:sp>
          </mc:Fallback>
        </mc:AlternateContent>
        <p:grpSp>
          <p:nvGrpSpPr>
            <p:cNvPr id="34" name="Group 33">
              <a:extLst>
                <a:ext uri="{FF2B5EF4-FFF2-40B4-BE49-F238E27FC236}">
                  <a16:creationId xmlns:a16="http://schemas.microsoft.com/office/drawing/2014/main" id="{7637F52C-37AA-6F57-72A4-644BED616672}"/>
                </a:ext>
              </a:extLst>
            </p:cNvPr>
            <p:cNvGrpSpPr/>
            <p:nvPr/>
          </p:nvGrpSpPr>
          <p:grpSpPr>
            <a:xfrm>
              <a:off x="607920" y="3007376"/>
              <a:ext cx="336761" cy="369332"/>
              <a:chOff x="922561" y="2974265"/>
              <a:chExt cx="336761" cy="369332"/>
            </a:xfrm>
          </p:grpSpPr>
          <mc:AlternateContent xmlns:mc="http://schemas.openxmlformats.org/markup-compatibility/2006" xmlns:a14="http://schemas.microsoft.com/office/drawing/2010/main">
            <mc:Choice Requires="a14">
              <p:sp>
                <p:nvSpPr>
                  <p:cNvPr id="64" name="CaixaDeTexto 115">
                    <a:extLst>
                      <a:ext uri="{FF2B5EF4-FFF2-40B4-BE49-F238E27FC236}">
                        <a16:creationId xmlns:a16="http://schemas.microsoft.com/office/drawing/2014/main" id="{5FF37362-48CE-CE17-8FFB-67041B29DDD8}"/>
                      </a:ext>
                    </a:extLst>
                  </p:cNvPr>
                  <p:cNvSpPr txBox="1"/>
                  <p:nvPr/>
                </p:nvSpPr>
                <p:spPr>
                  <a:xfrm>
                    <a:off x="922561" y="2974265"/>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64" name="CaixaDeTexto 115">
                    <a:extLst>
                      <a:ext uri="{FF2B5EF4-FFF2-40B4-BE49-F238E27FC236}">
                        <a16:creationId xmlns:a16="http://schemas.microsoft.com/office/drawing/2014/main" id="{5FF37362-48CE-CE17-8FFB-67041B29DDD8}"/>
                      </a:ext>
                    </a:extLst>
                  </p:cNvPr>
                  <p:cNvSpPr txBox="1">
                    <a:spLocks noRot="1" noChangeAspect="1" noMove="1" noResize="1" noEditPoints="1" noAdjustHandles="1" noChangeArrowheads="1" noChangeShapeType="1" noTextEdit="1"/>
                  </p:cNvSpPr>
                  <p:nvPr/>
                </p:nvSpPr>
                <p:spPr>
                  <a:xfrm>
                    <a:off x="922561" y="2974265"/>
                    <a:ext cx="266702" cy="369332"/>
                  </a:xfrm>
                  <a:prstGeom prst="rect">
                    <a:avLst/>
                  </a:prstGeom>
                  <a:blipFill>
                    <a:blip r:embed="rId4"/>
                    <a:stretch>
                      <a:fillRect r="-34091"/>
                    </a:stretch>
                  </a:blipFill>
                </p:spPr>
                <p:txBody>
                  <a:bodyPr/>
                  <a:lstStyle/>
                  <a:p>
                    <a:r>
                      <a:rPr lang="en-US">
                        <a:noFill/>
                      </a:rPr>
                      <a:t> </a:t>
                    </a:r>
                  </a:p>
                </p:txBody>
              </p:sp>
            </mc:Fallback>
          </mc:AlternateContent>
          <p:sp>
            <p:nvSpPr>
              <p:cNvPr id="65" name="Elipse 3">
                <a:extLst>
                  <a:ext uri="{FF2B5EF4-FFF2-40B4-BE49-F238E27FC236}">
                    <a16:creationId xmlns:a16="http://schemas.microsoft.com/office/drawing/2014/main" id="{DAD1335C-3027-AA64-29BB-8180C897F099}"/>
                  </a:ext>
                </a:extLst>
              </p:cNvPr>
              <p:cNvSpPr/>
              <p:nvPr/>
            </p:nvSpPr>
            <p:spPr>
              <a:xfrm>
                <a:off x="971322" y="3042545"/>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5" name="Elipse 83">
              <a:extLst>
                <a:ext uri="{FF2B5EF4-FFF2-40B4-BE49-F238E27FC236}">
                  <a16:creationId xmlns:a16="http://schemas.microsoft.com/office/drawing/2014/main" id="{B0A426C1-8442-03DA-1C4D-2535088199F9}"/>
                </a:ext>
              </a:extLst>
            </p:cNvPr>
            <p:cNvSpPr/>
            <p:nvPr/>
          </p:nvSpPr>
          <p:spPr>
            <a:xfrm>
              <a:off x="1529435" y="51969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6" name="Group 35">
              <a:extLst>
                <a:ext uri="{FF2B5EF4-FFF2-40B4-BE49-F238E27FC236}">
                  <a16:creationId xmlns:a16="http://schemas.microsoft.com/office/drawing/2014/main" id="{C7D43E34-5AB3-A3C7-7C12-C73C8FC13C80}"/>
                </a:ext>
              </a:extLst>
            </p:cNvPr>
            <p:cNvGrpSpPr/>
            <p:nvPr/>
          </p:nvGrpSpPr>
          <p:grpSpPr>
            <a:xfrm>
              <a:off x="574549" y="5263520"/>
              <a:ext cx="349823" cy="369332"/>
              <a:chOff x="920926" y="4430876"/>
              <a:chExt cx="349823" cy="369332"/>
            </a:xfrm>
          </p:grpSpPr>
          <mc:AlternateContent xmlns:mc="http://schemas.openxmlformats.org/markup-compatibility/2006" xmlns:a14="http://schemas.microsoft.com/office/drawing/2010/main">
            <mc:Choice Requires="a14">
              <p:sp>
                <p:nvSpPr>
                  <p:cNvPr id="62" name="CaixaDeTexto 116">
                    <a:extLst>
                      <a:ext uri="{FF2B5EF4-FFF2-40B4-BE49-F238E27FC236}">
                        <a16:creationId xmlns:a16="http://schemas.microsoft.com/office/drawing/2014/main" id="{52172AB7-13AE-26B9-F75D-02BA6E9743F6}"/>
                      </a:ext>
                    </a:extLst>
                  </p:cNvPr>
                  <p:cNvSpPr txBox="1"/>
                  <p:nvPr/>
                </p:nvSpPr>
                <p:spPr>
                  <a:xfrm>
                    <a:off x="920926" y="4430876"/>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62" name="CaixaDeTexto 116">
                    <a:extLst>
                      <a:ext uri="{FF2B5EF4-FFF2-40B4-BE49-F238E27FC236}">
                        <a16:creationId xmlns:a16="http://schemas.microsoft.com/office/drawing/2014/main" id="{52172AB7-13AE-26B9-F75D-02BA6E9743F6}"/>
                      </a:ext>
                    </a:extLst>
                  </p:cNvPr>
                  <p:cNvSpPr txBox="1">
                    <a:spLocks noRot="1" noChangeAspect="1" noMove="1" noResize="1" noEditPoints="1" noAdjustHandles="1" noChangeArrowheads="1" noChangeShapeType="1" noTextEdit="1"/>
                  </p:cNvSpPr>
                  <p:nvPr/>
                </p:nvSpPr>
                <p:spPr>
                  <a:xfrm>
                    <a:off x="920926" y="4430876"/>
                    <a:ext cx="266702" cy="369332"/>
                  </a:xfrm>
                  <a:prstGeom prst="rect">
                    <a:avLst/>
                  </a:prstGeom>
                  <a:blipFill>
                    <a:blip r:embed="rId5"/>
                    <a:stretch>
                      <a:fillRect r="-36364"/>
                    </a:stretch>
                  </a:blipFill>
                </p:spPr>
                <p:txBody>
                  <a:bodyPr/>
                  <a:lstStyle/>
                  <a:p>
                    <a:r>
                      <a:rPr lang="en-US">
                        <a:noFill/>
                      </a:rPr>
                      <a:t> </a:t>
                    </a:r>
                  </a:p>
                </p:txBody>
              </p:sp>
            </mc:Fallback>
          </mc:AlternateContent>
          <p:sp>
            <p:nvSpPr>
              <p:cNvPr id="63" name="Elipse 4">
                <a:extLst>
                  <a:ext uri="{FF2B5EF4-FFF2-40B4-BE49-F238E27FC236}">
                    <a16:creationId xmlns:a16="http://schemas.microsoft.com/office/drawing/2014/main" id="{4B54F764-5433-0740-646F-4D09D53CD900}"/>
                  </a:ext>
                </a:extLst>
              </p:cNvPr>
              <p:cNvSpPr/>
              <p:nvPr/>
            </p:nvSpPr>
            <p:spPr>
              <a:xfrm>
                <a:off x="982749" y="4504166"/>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cxnSp>
          <p:nvCxnSpPr>
            <p:cNvPr id="37" name="Conector reto 112">
              <a:extLst>
                <a:ext uri="{FF2B5EF4-FFF2-40B4-BE49-F238E27FC236}">
                  <a16:creationId xmlns:a16="http://schemas.microsoft.com/office/drawing/2014/main" id="{26381EF6-EE03-992D-FC90-0DE520C3F7C0}"/>
                </a:ext>
              </a:extLst>
            </p:cNvPr>
            <p:cNvCxnSpPr>
              <a:cxnSpLocks/>
              <a:stCxn id="65" idx="6"/>
              <a:endCxn id="10" idx="2"/>
            </p:cNvCxnSpPr>
            <p:nvPr/>
          </p:nvCxnSpPr>
          <p:spPr>
            <a:xfrm flipV="1">
              <a:off x="944681" y="3212987"/>
              <a:ext cx="590203" cy="6669"/>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Conector reto 112">
              <a:extLst>
                <a:ext uri="{FF2B5EF4-FFF2-40B4-BE49-F238E27FC236}">
                  <a16:creationId xmlns:a16="http://schemas.microsoft.com/office/drawing/2014/main" id="{1486EF2B-FB45-68B7-5818-69F4E32C70AA}"/>
                </a:ext>
              </a:extLst>
            </p:cNvPr>
            <p:cNvCxnSpPr>
              <a:cxnSpLocks/>
              <a:stCxn id="65" idx="6"/>
              <a:endCxn id="12" idx="2"/>
            </p:cNvCxnSpPr>
            <p:nvPr/>
          </p:nvCxnSpPr>
          <p:spPr>
            <a:xfrm>
              <a:off x="944681" y="3219656"/>
              <a:ext cx="590203" cy="150463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Conector reto 112">
              <a:extLst>
                <a:ext uri="{FF2B5EF4-FFF2-40B4-BE49-F238E27FC236}">
                  <a16:creationId xmlns:a16="http://schemas.microsoft.com/office/drawing/2014/main" id="{C950B179-3A23-C1E7-5E29-3EE114FA1798}"/>
                </a:ext>
              </a:extLst>
            </p:cNvPr>
            <p:cNvCxnSpPr>
              <a:cxnSpLocks/>
              <a:stCxn id="65" idx="6"/>
              <a:endCxn id="35" idx="2"/>
            </p:cNvCxnSpPr>
            <p:nvPr/>
          </p:nvCxnSpPr>
          <p:spPr>
            <a:xfrm>
              <a:off x="944681" y="3219656"/>
              <a:ext cx="584754" cy="22602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Conector reto 112">
              <a:extLst>
                <a:ext uri="{FF2B5EF4-FFF2-40B4-BE49-F238E27FC236}">
                  <a16:creationId xmlns:a16="http://schemas.microsoft.com/office/drawing/2014/main" id="{0FDFAF8B-789C-FA8C-29E3-87DE305D3D12}"/>
                </a:ext>
              </a:extLst>
            </p:cNvPr>
            <p:cNvCxnSpPr>
              <a:cxnSpLocks/>
              <a:stCxn id="63" idx="6"/>
              <a:endCxn id="35" idx="2"/>
            </p:cNvCxnSpPr>
            <p:nvPr/>
          </p:nvCxnSpPr>
          <p:spPr>
            <a:xfrm flipV="1">
              <a:off x="924372" y="5479937"/>
              <a:ext cx="605063" cy="8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Conector reto 112">
              <a:extLst>
                <a:ext uri="{FF2B5EF4-FFF2-40B4-BE49-F238E27FC236}">
                  <a16:creationId xmlns:a16="http://schemas.microsoft.com/office/drawing/2014/main" id="{ED881E74-E895-6DB1-4B3F-001978264A0C}"/>
                </a:ext>
              </a:extLst>
            </p:cNvPr>
            <p:cNvCxnSpPr>
              <a:cxnSpLocks/>
              <a:stCxn id="63" idx="6"/>
              <a:endCxn id="12" idx="2"/>
            </p:cNvCxnSpPr>
            <p:nvPr/>
          </p:nvCxnSpPr>
          <p:spPr>
            <a:xfrm flipV="1">
              <a:off x="924372" y="4724287"/>
              <a:ext cx="610512" cy="7565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Conector reto 112">
              <a:extLst>
                <a:ext uri="{FF2B5EF4-FFF2-40B4-BE49-F238E27FC236}">
                  <a16:creationId xmlns:a16="http://schemas.microsoft.com/office/drawing/2014/main" id="{7B3AE951-4415-DD8C-6602-4DA796225A9E}"/>
                </a:ext>
              </a:extLst>
            </p:cNvPr>
            <p:cNvCxnSpPr>
              <a:cxnSpLocks/>
              <a:stCxn id="63" idx="6"/>
            </p:cNvCxnSpPr>
            <p:nvPr/>
          </p:nvCxnSpPr>
          <p:spPr>
            <a:xfrm flipV="1">
              <a:off x="924372" y="3968637"/>
              <a:ext cx="610512" cy="15121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Conector reto 112">
              <a:extLst>
                <a:ext uri="{FF2B5EF4-FFF2-40B4-BE49-F238E27FC236}">
                  <a16:creationId xmlns:a16="http://schemas.microsoft.com/office/drawing/2014/main" id="{6F1830A5-8926-9AAD-3454-60ADDD3CB756}"/>
                </a:ext>
              </a:extLst>
            </p:cNvPr>
            <p:cNvCxnSpPr>
              <a:cxnSpLocks/>
              <a:stCxn id="63" idx="6"/>
              <a:endCxn id="10" idx="2"/>
            </p:cNvCxnSpPr>
            <p:nvPr/>
          </p:nvCxnSpPr>
          <p:spPr>
            <a:xfrm flipV="1">
              <a:off x="924372" y="3212987"/>
              <a:ext cx="610512" cy="22678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Conector de Seta Reta 91">
              <a:extLst>
                <a:ext uri="{FF2B5EF4-FFF2-40B4-BE49-F238E27FC236}">
                  <a16:creationId xmlns:a16="http://schemas.microsoft.com/office/drawing/2014/main" id="{E9AC7681-BC3E-7E5D-6968-2C0331A9FF21}"/>
                </a:ext>
              </a:extLst>
            </p:cNvPr>
            <p:cNvCxnSpPr>
              <a:cxnSpLocks/>
              <a:stCxn id="12" idx="6"/>
              <a:endCxn id="5" idx="2"/>
            </p:cNvCxnSpPr>
            <p:nvPr/>
          </p:nvCxnSpPr>
          <p:spPr>
            <a:xfrm flipV="1">
              <a:off x="2100941" y="3685608"/>
              <a:ext cx="391887" cy="1038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ector de Seta Reta 91">
              <a:extLst>
                <a:ext uri="{FF2B5EF4-FFF2-40B4-BE49-F238E27FC236}">
                  <a16:creationId xmlns:a16="http://schemas.microsoft.com/office/drawing/2014/main" id="{2BAE68F4-D668-97CC-11E3-511EFA07A92E}"/>
                </a:ext>
              </a:extLst>
            </p:cNvPr>
            <p:cNvCxnSpPr>
              <a:cxnSpLocks/>
              <a:stCxn id="35" idx="6"/>
              <a:endCxn id="5" idx="2"/>
            </p:cNvCxnSpPr>
            <p:nvPr/>
          </p:nvCxnSpPr>
          <p:spPr>
            <a:xfrm flipV="1">
              <a:off x="2095492" y="3685608"/>
              <a:ext cx="397336" cy="1794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ector de Seta Reta 91">
              <a:extLst>
                <a:ext uri="{FF2B5EF4-FFF2-40B4-BE49-F238E27FC236}">
                  <a16:creationId xmlns:a16="http://schemas.microsoft.com/office/drawing/2014/main" id="{9972CDD1-F896-5E2C-C8A4-A963155B01EB}"/>
                </a:ext>
              </a:extLst>
            </p:cNvPr>
            <p:cNvCxnSpPr>
              <a:cxnSpLocks/>
              <a:stCxn id="35" idx="6"/>
              <a:endCxn id="6" idx="2"/>
            </p:cNvCxnSpPr>
            <p:nvPr/>
          </p:nvCxnSpPr>
          <p:spPr>
            <a:xfrm flipV="1">
              <a:off x="2095492" y="4404065"/>
              <a:ext cx="397335" cy="1075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ector de Seta Reta 91">
              <a:extLst>
                <a:ext uri="{FF2B5EF4-FFF2-40B4-BE49-F238E27FC236}">
                  <a16:creationId xmlns:a16="http://schemas.microsoft.com/office/drawing/2014/main" id="{23A6988E-30DF-C422-ED06-79CBE5C32EDE}"/>
                </a:ext>
              </a:extLst>
            </p:cNvPr>
            <p:cNvCxnSpPr>
              <a:cxnSpLocks/>
              <a:stCxn id="35" idx="6"/>
              <a:endCxn id="7" idx="2"/>
            </p:cNvCxnSpPr>
            <p:nvPr/>
          </p:nvCxnSpPr>
          <p:spPr>
            <a:xfrm flipV="1">
              <a:off x="2095492" y="5122522"/>
              <a:ext cx="397335" cy="357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9A677CD-9AD5-397F-587F-515CA326181A}"/>
                    </a:ext>
                  </a:extLst>
                </p:cNvPr>
                <p:cNvSpPr txBox="1"/>
                <p:nvPr/>
              </p:nvSpPr>
              <p:spPr>
                <a:xfrm>
                  <a:off x="956041" y="2865008"/>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48" name="TextBox 47">
                  <a:extLst>
                    <a:ext uri="{FF2B5EF4-FFF2-40B4-BE49-F238E27FC236}">
                      <a16:creationId xmlns:a16="http://schemas.microsoft.com/office/drawing/2014/main" id="{69A677CD-9AD5-397F-587F-515CA326181A}"/>
                    </a:ext>
                  </a:extLst>
                </p:cNvPr>
                <p:cNvSpPr txBox="1">
                  <a:spLocks noRot="1" noChangeAspect="1" noMove="1" noResize="1" noEditPoints="1" noAdjustHandles="1" noChangeArrowheads="1" noChangeShapeType="1" noTextEdit="1"/>
                </p:cNvSpPr>
                <p:nvPr/>
              </p:nvSpPr>
              <p:spPr>
                <a:xfrm>
                  <a:off x="956041" y="2865008"/>
                  <a:ext cx="560538" cy="36131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2ED6582B-E94E-941F-2ADE-2830C441ECB2}"/>
                    </a:ext>
                  </a:extLst>
                </p:cNvPr>
                <p:cNvSpPr txBox="1"/>
                <p:nvPr/>
              </p:nvSpPr>
              <p:spPr>
                <a:xfrm rot="3068437">
                  <a:off x="1020572" y="321965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12</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49" name="TextBox 48">
                  <a:extLst>
                    <a:ext uri="{FF2B5EF4-FFF2-40B4-BE49-F238E27FC236}">
                      <a16:creationId xmlns:a16="http://schemas.microsoft.com/office/drawing/2014/main" id="{2ED6582B-E94E-941F-2ADE-2830C441ECB2}"/>
                    </a:ext>
                  </a:extLst>
                </p:cNvPr>
                <p:cNvSpPr txBox="1">
                  <a:spLocks noRot="1" noChangeAspect="1" noMove="1" noResize="1" noEditPoints="1" noAdjustHandles="1" noChangeArrowheads="1" noChangeShapeType="1" noTextEdit="1"/>
                </p:cNvSpPr>
                <p:nvPr/>
              </p:nvSpPr>
              <p:spPr>
                <a:xfrm rot="3068437">
                  <a:off x="1020572" y="3219653"/>
                  <a:ext cx="560538" cy="36131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5512FE1B-01B2-FFDD-036E-2DD3A18526C9}"/>
                    </a:ext>
                  </a:extLst>
                </p:cNvPr>
                <p:cNvSpPr txBox="1"/>
                <p:nvPr/>
              </p:nvSpPr>
              <p:spPr>
                <a:xfrm>
                  <a:off x="933548" y="5486606"/>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24</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0" name="TextBox 49">
                  <a:extLst>
                    <a:ext uri="{FF2B5EF4-FFF2-40B4-BE49-F238E27FC236}">
                      <a16:creationId xmlns:a16="http://schemas.microsoft.com/office/drawing/2014/main" id="{5512FE1B-01B2-FFDD-036E-2DD3A18526C9}"/>
                    </a:ext>
                  </a:extLst>
                </p:cNvPr>
                <p:cNvSpPr txBox="1">
                  <a:spLocks noRot="1" noChangeAspect="1" noMove="1" noResize="1" noEditPoints="1" noAdjustHandles="1" noChangeArrowheads="1" noChangeShapeType="1" noTextEdit="1"/>
                </p:cNvSpPr>
                <p:nvPr/>
              </p:nvSpPr>
              <p:spPr>
                <a:xfrm>
                  <a:off x="933548" y="5486606"/>
                  <a:ext cx="560538" cy="36131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6924F93B-F7EB-6B33-5956-A29BF38C06D1}"/>
                    </a:ext>
                  </a:extLst>
                </p:cNvPr>
                <p:cNvSpPr txBox="1"/>
                <p:nvPr/>
              </p:nvSpPr>
              <p:spPr>
                <a:xfrm rot="17131605">
                  <a:off x="594353" y="4756061"/>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1" name="TextBox 50">
                  <a:extLst>
                    <a:ext uri="{FF2B5EF4-FFF2-40B4-BE49-F238E27FC236}">
                      <a16:creationId xmlns:a16="http://schemas.microsoft.com/office/drawing/2014/main" id="{6924F93B-F7EB-6B33-5956-A29BF38C06D1}"/>
                    </a:ext>
                  </a:extLst>
                </p:cNvPr>
                <p:cNvSpPr txBox="1">
                  <a:spLocks noRot="1" noChangeAspect="1" noMove="1" noResize="1" noEditPoints="1" noAdjustHandles="1" noChangeArrowheads="1" noChangeShapeType="1" noTextEdit="1"/>
                </p:cNvSpPr>
                <p:nvPr/>
              </p:nvSpPr>
              <p:spPr>
                <a:xfrm rot="17131605">
                  <a:off x="594353" y="4756061"/>
                  <a:ext cx="560538" cy="36131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D19DCDDA-DE37-157A-5151-7245EF4E905F}"/>
                    </a:ext>
                  </a:extLst>
                </p:cNvPr>
                <p:cNvSpPr txBox="1"/>
                <p:nvPr/>
              </p:nvSpPr>
              <p:spPr>
                <a:xfrm rot="2964551">
                  <a:off x="2132495" y="313219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2" name="TextBox 51">
                  <a:extLst>
                    <a:ext uri="{FF2B5EF4-FFF2-40B4-BE49-F238E27FC236}">
                      <a16:creationId xmlns:a16="http://schemas.microsoft.com/office/drawing/2014/main" id="{D19DCDDA-DE37-157A-5151-7245EF4E905F}"/>
                    </a:ext>
                  </a:extLst>
                </p:cNvPr>
                <p:cNvSpPr txBox="1">
                  <a:spLocks noRot="1" noChangeAspect="1" noMove="1" noResize="1" noEditPoints="1" noAdjustHandles="1" noChangeArrowheads="1" noChangeShapeType="1" noTextEdit="1"/>
                </p:cNvSpPr>
                <p:nvPr/>
              </p:nvSpPr>
              <p:spPr>
                <a:xfrm rot="2964551">
                  <a:off x="2132495" y="3132193"/>
                  <a:ext cx="560538" cy="36131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67470A42-A8D3-4071-DD67-EF4604324C7E}"/>
                    </a:ext>
                  </a:extLst>
                </p:cNvPr>
                <p:cNvSpPr txBox="1"/>
                <p:nvPr/>
              </p:nvSpPr>
              <p:spPr>
                <a:xfrm rot="19021513">
                  <a:off x="2088094" y="5274650"/>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43</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3" name="TextBox 52">
                  <a:extLst>
                    <a:ext uri="{FF2B5EF4-FFF2-40B4-BE49-F238E27FC236}">
                      <a16:creationId xmlns:a16="http://schemas.microsoft.com/office/drawing/2014/main" id="{67470A42-A8D3-4071-DD67-EF4604324C7E}"/>
                    </a:ext>
                  </a:extLst>
                </p:cNvPr>
                <p:cNvSpPr txBox="1">
                  <a:spLocks noRot="1" noChangeAspect="1" noMove="1" noResize="1" noEditPoints="1" noAdjustHandles="1" noChangeArrowheads="1" noChangeShapeType="1" noTextEdit="1"/>
                </p:cNvSpPr>
                <p:nvPr/>
              </p:nvSpPr>
              <p:spPr>
                <a:xfrm rot="19021513">
                  <a:off x="2088094" y="5274650"/>
                  <a:ext cx="560538" cy="36131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4BE2A8D8-E86D-D878-D2E0-1F4427B06575}"/>
                    </a:ext>
                  </a:extLst>
                </p:cNvPr>
                <p:cNvSpPr txBox="1"/>
                <p:nvPr/>
              </p:nvSpPr>
              <p:spPr>
                <a:xfrm rot="2893059">
                  <a:off x="3107452" y="3604952"/>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4" name="TextBox 53">
                  <a:extLst>
                    <a:ext uri="{FF2B5EF4-FFF2-40B4-BE49-F238E27FC236}">
                      <a16:creationId xmlns:a16="http://schemas.microsoft.com/office/drawing/2014/main" id="{4BE2A8D8-E86D-D878-D2E0-1F4427B06575}"/>
                    </a:ext>
                  </a:extLst>
                </p:cNvPr>
                <p:cNvSpPr txBox="1">
                  <a:spLocks noRot="1" noChangeAspect="1" noMove="1" noResize="1" noEditPoints="1" noAdjustHandles="1" noChangeArrowheads="1" noChangeShapeType="1" noTextEdit="1"/>
                </p:cNvSpPr>
                <p:nvPr/>
              </p:nvSpPr>
              <p:spPr>
                <a:xfrm rot="2893059">
                  <a:off x="3107452" y="3604952"/>
                  <a:ext cx="560538" cy="362663"/>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A1FA57A7-793F-A00E-89AD-3C6D746839B3}"/>
                    </a:ext>
                  </a:extLst>
                </p:cNvPr>
                <p:cNvSpPr txBox="1"/>
                <p:nvPr/>
              </p:nvSpPr>
              <p:spPr>
                <a:xfrm rot="19852769">
                  <a:off x="3044859" y="4967999"/>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32</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5" name="TextBox 54">
                  <a:extLst>
                    <a:ext uri="{FF2B5EF4-FFF2-40B4-BE49-F238E27FC236}">
                      <a16:creationId xmlns:a16="http://schemas.microsoft.com/office/drawing/2014/main" id="{A1FA57A7-793F-A00E-89AD-3C6D746839B3}"/>
                    </a:ext>
                  </a:extLst>
                </p:cNvPr>
                <p:cNvSpPr txBox="1">
                  <a:spLocks noRot="1" noChangeAspect="1" noMove="1" noResize="1" noEditPoints="1" noAdjustHandles="1" noChangeArrowheads="1" noChangeShapeType="1" noTextEdit="1"/>
                </p:cNvSpPr>
                <p:nvPr/>
              </p:nvSpPr>
              <p:spPr>
                <a:xfrm rot="19852769">
                  <a:off x="3044859" y="4967999"/>
                  <a:ext cx="560538" cy="362663"/>
                </a:xfrm>
                <a:prstGeom prst="rect">
                  <a:avLst/>
                </a:prstGeom>
                <a:blipFill>
                  <a:blip r:embed="rId13"/>
                  <a:stretch>
                    <a:fillRect/>
                  </a:stretch>
                </a:blipFill>
              </p:spPr>
              <p:txBody>
                <a:bodyPr/>
                <a:lstStyle/>
                <a:p>
                  <a:r>
                    <a:rPr lang="en-US">
                      <a:noFill/>
                    </a:rPr>
                    <a:t> </a:t>
                  </a:r>
                </a:p>
              </p:txBody>
            </p:sp>
          </mc:Fallback>
        </mc:AlternateContent>
        <p:sp>
          <p:nvSpPr>
            <p:cNvPr id="56" name="CaixaDeTexto 106">
              <a:extLst>
                <a:ext uri="{FF2B5EF4-FFF2-40B4-BE49-F238E27FC236}">
                  <a16:creationId xmlns:a16="http://schemas.microsoft.com/office/drawing/2014/main" id="{41F7D791-881F-6930-43AB-DCD801930EB8}"/>
                </a:ext>
              </a:extLst>
            </p:cNvPr>
            <p:cNvSpPr txBox="1"/>
            <p:nvPr/>
          </p:nvSpPr>
          <p:spPr>
            <a:xfrm>
              <a:off x="1300841" y="2506925"/>
              <a:ext cx="1796143" cy="307777"/>
            </a:xfrm>
            <a:prstGeom prst="rect">
              <a:avLst/>
            </a:prstGeom>
            <a:noFill/>
          </p:spPr>
          <p:txBody>
            <a:bodyPr wrap="square" rtlCol="0">
              <a:spAutoFit/>
            </a:bodyPr>
            <a:lstStyle/>
            <a:p>
              <a:r>
                <a:rPr lang="pt-BR" sz="1400" dirty="0"/>
                <a:t>Peso sináptico</a:t>
              </a:r>
            </a:p>
          </p:txBody>
        </p:sp>
        <p:sp>
          <p:nvSpPr>
            <p:cNvPr id="57" name="Freeform: Shape 56">
              <a:extLst>
                <a:ext uri="{FF2B5EF4-FFF2-40B4-BE49-F238E27FC236}">
                  <a16:creationId xmlns:a16="http://schemas.microsoft.com/office/drawing/2014/main" id="{1CEADAAA-0A40-5BB1-DBB9-51D2ED9EF2DF}"/>
                </a:ext>
              </a:extLst>
            </p:cNvPr>
            <p:cNvSpPr/>
            <p:nvPr/>
          </p:nvSpPr>
          <p:spPr>
            <a:xfrm>
              <a:off x="1164771" y="2656114"/>
              <a:ext cx="206829" cy="250372"/>
            </a:xfrm>
            <a:custGeom>
              <a:avLst/>
              <a:gdLst>
                <a:gd name="csX0" fmla="*/ 0 w 206829"/>
                <a:gd name="csY0" fmla="*/ 250372 h 250372"/>
                <a:gd name="csX1" fmla="*/ 54429 w 206829"/>
                <a:gd name="csY1" fmla="*/ 108857 h 250372"/>
                <a:gd name="csX2" fmla="*/ 206829 w 206829"/>
                <a:gd name="csY2" fmla="*/ 0 h 250372"/>
              </a:gdLst>
              <a:ahLst/>
              <a:cxnLst>
                <a:cxn ang="0">
                  <a:pos x="csX0" y="csY0"/>
                </a:cxn>
                <a:cxn ang="0">
                  <a:pos x="csX1" y="csY1"/>
                </a:cxn>
                <a:cxn ang="0">
                  <a:pos x="csX2" y="csY2"/>
                </a:cxn>
              </a:cxnLst>
              <a:rect l="l" t="t" r="r" b="b"/>
              <a:pathLst>
                <a:path w="206829" h="250372">
                  <a:moveTo>
                    <a:pt x="0" y="250372"/>
                  </a:moveTo>
                  <a:cubicBezTo>
                    <a:pt x="9979" y="200479"/>
                    <a:pt x="19958" y="150586"/>
                    <a:pt x="54429" y="108857"/>
                  </a:cubicBezTo>
                  <a:cubicBezTo>
                    <a:pt x="88901" y="67128"/>
                    <a:pt x="147865" y="33564"/>
                    <a:pt x="206829"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CaixaDeTexto 32">
              <a:extLst>
                <a:ext uri="{FF2B5EF4-FFF2-40B4-BE49-F238E27FC236}">
                  <a16:creationId xmlns:a16="http://schemas.microsoft.com/office/drawing/2014/main" id="{2AF40A14-80D6-D386-5A20-DC8DB81FE9A7}"/>
                </a:ext>
              </a:extLst>
            </p:cNvPr>
            <p:cNvSpPr txBox="1"/>
            <p:nvPr/>
          </p:nvSpPr>
          <p:spPr>
            <a:xfrm>
              <a:off x="294226" y="5713408"/>
              <a:ext cx="868135" cy="461665"/>
            </a:xfrm>
            <a:prstGeom prst="rect">
              <a:avLst/>
            </a:prstGeom>
            <a:noFill/>
          </p:spPr>
          <p:txBody>
            <a:bodyPr wrap="square" rtlCol="0">
              <a:spAutoFit/>
            </a:bodyPr>
            <a:lstStyle/>
            <a:p>
              <a:pPr algn="ctr"/>
              <a:r>
                <a:rPr lang="pt-BR" sz="1200" dirty="0"/>
                <a:t>Camada de entrada</a:t>
              </a:r>
            </a:p>
          </p:txBody>
        </p:sp>
        <p:sp>
          <p:nvSpPr>
            <p:cNvPr id="59" name="CaixaDeTexto 34">
              <a:extLst>
                <a:ext uri="{FF2B5EF4-FFF2-40B4-BE49-F238E27FC236}">
                  <a16:creationId xmlns:a16="http://schemas.microsoft.com/office/drawing/2014/main" id="{557E1C35-82D6-DF3B-71DE-F7A13A885FEF}"/>
                </a:ext>
              </a:extLst>
            </p:cNvPr>
            <p:cNvSpPr txBox="1"/>
            <p:nvPr/>
          </p:nvSpPr>
          <p:spPr>
            <a:xfrm>
              <a:off x="1357989" y="5837351"/>
              <a:ext cx="868135" cy="461665"/>
            </a:xfrm>
            <a:prstGeom prst="rect">
              <a:avLst/>
            </a:prstGeom>
            <a:noFill/>
          </p:spPr>
          <p:txBody>
            <a:bodyPr wrap="square" rtlCol="0">
              <a:spAutoFit/>
            </a:bodyPr>
            <a:lstStyle/>
            <a:p>
              <a:pPr algn="ctr"/>
              <a:r>
                <a:rPr lang="pt-BR" sz="1200" dirty="0"/>
                <a:t>Camada oculta #1</a:t>
              </a:r>
            </a:p>
          </p:txBody>
        </p:sp>
        <p:sp>
          <p:nvSpPr>
            <p:cNvPr id="60" name="CaixaDeTexto 40">
              <a:extLst>
                <a:ext uri="{FF2B5EF4-FFF2-40B4-BE49-F238E27FC236}">
                  <a16:creationId xmlns:a16="http://schemas.microsoft.com/office/drawing/2014/main" id="{28F0ECAF-C620-485D-D00B-FD94DD584A70}"/>
                </a:ext>
              </a:extLst>
            </p:cNvPr>
            <p:cNvSpPr txBox="1"/>
            <p:nvPr/>
          </p:nvSpPr>
          <p:spPr>
            <a:xfrm>
              <a:off x="2352673" y="5450646"/>
              <a:ext cx="868135" cy="461665"/>
            </a:xfrm>
            <a:prstGeom prst="rect">
              <a:avLst/>
            </a:prstGeom>
            <a:noFill/>
          </p:spPr>
          <p:txBody>
            <a:bodyPr wrap="square" rtlCol="0">
              <a:spAutoFit/>
            </a:bodyPr>
            <a:lstStyle/>
            <a:p>
              <a:pPr algn="ctr"/>
              <a:r>
                <a:rPr lang="pt-BR" sz="1200" dirty="0"/>
                <a:t>Camada oculta #2</a:t>
              </a:r>
            </a:p>
          </p:txBody>
        </p:sp>
        <p:sp>
          <p:nvSpPr>
            <p:cNvPr id="61" name="CaixaDeTexto 36">
              <a:extLst>
                <a:ext uri="{FF2B5EF4-FFF2-40B4-BE49-F238E27FC236}">
                  <a16:creationId xmlns:a16="http://schemas.microsoft.com/office/drawing/2014/main" id="{7E86DF34-53B2-4E60-F138-1DC2C75F479B}"/>
                </a:ext>
              </a:extLst>
            </p:cNvPr>
            <p:cNvSpPr txBox="1"/>
            <p:nvPr/>
          </p:nvSpPr>
          <p:spPr>
            <a:xfrm>
              <a:off x="3314688" y="5239989"/>
              <a:ext cx="868135" cy="461665"/>
            </a:xfrm>
            <a:prstGeom prst="rect">
              <a:avLst/>
            </a:prstGeom>
            <a:noFill/>
          </p:spPr>
          <p:txBody>
            <a:bodyPr wrap="square" rtlCol="0">
              <a:spAutoFit/>
            </a:bodyPr>
            <a:lstStyle/>
            <a:p>
              <a:pPr algn="ctr"/>
              <a:r>
                <a:rPr lang="pt-BR" sz="1200" dirty="0"/>
                <a:t>Camada de saída</a:t>
              </a:r>
            </a:p>
          </p:txBody>
        </p:sp>
      </p:grpSp>
    </p:spTree>
    <p:extLst>
      <p:ext uri="{BB962C8B-B14F-4D97-AF65-F5344CB8AC3E}">
        <p14:creationId xmlns:p14="http://schemas.microsoft.com/office/powerpoint/2010/main" val="258199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C7E755-11FB-5503-F077-DF631F5CB834}"/>
              </a:ext>
            </a:extLst>
          </p:cNvPr>
          <p:cNvSpPr>
            <a:spLocks noGrp="1"/>
          </p:cNvSpPr>
          <p:nvPr>
            <p:ph type="title"/>
          </p:nvPr>
        </p:nvSpPr>
        <p:spPr/>
        <p:txBody>
          <a:bodyPr/>
          <a:lstStyle/>
          <a:p>
            <a:r>
              <a:rPr lang="pt-BR" dirty="0"/>
              <a:t>Neurônio biológico</a:t>
            </a:r>
          </a:p>
        </p:txBody>
      </p:sp>
      <p:sp>
        <p:nvSpPr>
          <p:cNvPr id="3" name="Espaço Reservado para Conteúdo 2">
            <a:extLst>
              <a:ext uri="{FF2B5EF4-FFF2-40B4-BE49-F238E27FC236}">
                <a16:creationId xmlns:a16="http://schemas.microsoft.com/office/drawing/2014/main" id="{C151907C-2CEE-D100-622D-830DCF5CE15A}"/>
              </a:ext>
            </a:extLst>
          </p:cNvPr>
          <p:cNvSpPr>
            <a:spLocks noGrp="1"/>
          </p:cNvSpPr>
          <p:nvPr>
            <p:ph idx="1"/>
          </p:nvPr>
        </p:nvSpPr>
        <p:spPr>
          <a:xfrm>
            <a:off x="6196011" y="1825624"/>
            <a:ext cx="5858310" cy="5032375"/>
          </a:xfrm>
        </p:spPr>
        <p:txBody>
          <a:bodyPr>
            <a:normAutofit/>
          </a:bodyPr>
          <a:lstStyle/>
          <a:p>
            <a:r>
              <a:rPr lang="pt-BR" dirty="0"/>
              <a:t>São </a:t>
            </a:r>
            <a:r>
              <a:rPr lang="pt-BR" b="1" dirty="0">
                <a:solidFill>
                  <a:srgbClr val="00B050"/>
                </a:solidFill>
              </a:rPr>
              <a:t>células</a:t>
            </a:r>
            <a:r>
              <a:rPr lang="pt-BR" dirty="0"/>
              <a:t> que possuem </a:t>
            </a:r>
            <a:r>
              <a:rPr lang="pt-BR" b="1" dirty="0">
                <a:solidFill>
                  <a:srgbClr val="7030A0"/>
                </a:solidFill>
              </a:rPr>
              <a:t>mecanismos eletroquímicos</a:t>
            </a:r>
            <a:r>
              <a:rPr lang="pt-BR" b="1" dirty="0"/>
              <a:t> </a:t>
            </a:r>
            <a:r>
              <a:rPr lang="pt-BR" b="0" dirty="0">
                <a:effectLst/>
              </a:rPr>
              <a:t>para realizar a </a:t>
            </a:r>
            <a:r>
              <a:rPr lang="pt-BR" b="1" dirty="0">
                <a:solidFill>
                  <a:srgbClr val="00B050"/>
                </a:solidFill>
                <a:effectLst/>
              </a:rPr>
              <a:t>transmissão de sinais elétricos </a:t>
            </a:r>
            <a:r>
              <a:rPr lang="pt-BR" b="0" dirty="0">
                <a:effectLst/>
              </a:rPr>
              <a:t>(i.e., informações) </a:t>
            </a:r>
            <a:r>
              <a:rPr lang="pt-BR" b="1" dirty="0">
                <a:solidFill>
                  <a:srgbClr val="00B050"/>
                </a:solidFill>
                <a:effectLst/>
              </a:rPr>
              <a:t>ao longo do sistema nervoso</a:t>
            </a:r>
            <a:r>
              <a:rPr lang="pt-BR" dirty="0"/>
              <a:t>. </a:t>
            </a:r>
          </a:p>
          <a:p>
            <a:r>
              <a:rPr lang="pt-BR" dirty="0"/>
              <a:t>Eles têm três partes fundamentais:</a:t>
            </a:r>
            <a:r>
              <a:rPr lang="pt-BR" b="1" dirty="0"/>
              <a:t> </a:t>
            </a:r>
          </a:p>
          <a:p>
            <a:pPr lvl="1">
              <a:buFont typeface="Wingdings" panose="05000000000000000000" pitchFamily="2" charset="2"/>
              <a:buChar char="§"/>
            </a:pPr>
            <a:r>
              <a:rPr lang="pt-BR" dirty="0"/>
              <a:t>os </a:t>
            </a:r>
            <a:r>
              <a:rPr lang="pt-BR" b="1" dirty="0"/>
              <a:t>dendritos</a:t>
            </a:r>
            <a:r>
              <a:rPr lang="pt-BR" dirty="0"/>
              <a:t>,</a:t>
            </a:r>
          </a:p>
          <a:p>
            <a:pPr lvl="1">
              <a:buFont typeface="Wingdings" panose="05000000000000000000" pitchFamily="2" charset="2"/>
              <a:buChar char="§"/>
            </a:pPr>
            <a:r>
              <a:rPr lang="pt-BR" dirty="0"/>
              <a:t>o </a:t>
            </a:r>
            <a:r>
              <a:rPr lang="pt-BR" b="1" dirty="0"/>
              <a:t>corpo celular</a:t>
            </a:r>
            <a:r>
              <a:rPr lang="pt-BR" dirty="0"/>
              <a:t>, também chamado de </a:t>
            </a:r>
            <a:r>
              <a:rPr lang="pt-BR" b="1" dirty="0">
                <a:solidFill>
                  <a:srgbClr val="00B050"/>
                </a:solidFill>
              </a:rPr>
              <a:t>soma</a:t>
            </a:r>
            <a:r>
              <a:rPr lang="pt-BR" dirty="0"/>
              <a:t>,</a:t>
            </a:r>
          </a:p>
          <a:p>
            <a:pPr lvl="1">
              <a:buFont typeface="Wingdings" panose="05000000000000000000" pitchFamily="2" charset="2"/>
              <a:buChar char="§"/>
            </a:pPr>
            <a:r>
              <a:rPr lang="pt-BR" dirty="0"/>
              <a:t>e o </a:t>
            </a:r>
            <a:r>
              <a:rPr lang="pt-BR" b="1" dirty="0"/>
              <a:t>axônio com seus terminais</a:t>
            </a:r>
            <a:r>
              <a:rPr lang="pt-BR" dirty="0"/>
              <a:t>.</a:t>
            </a:r>
          </a:p>
        </p:txBody>
      </p:sp>
      <p:grpSp>
        <p:nvGrpSpPr>
          <p:cNvPr id="15" name="Agrupar 14">
            <a:extLst>
              <a:ext uri="{FF2B5EF4-FFF2-40B4-BE49-F238E27FC236}">
                <a16:creationId xmlns:a16="http://schemas.microsoft.com/office/drawing/2014/main" id="{969B708E-3193-1F66-DEDD-45860CC83E7A}"/>
              </a:ext>
            </a:extLst>
          </p:cNvPr>
          <p:cNvGrpSpPr/>
          <p:nvPr/>
        </p:nvGrpSpPr>
        <p:grpSpPr>
          <a:xfrm>
            <a:off x="137679" y="2146889"/>
            <a:ext cx="5701148" cy="3587746"/>
            <a:chOff x="-71873" y="2058398"/>
            <a:chExt cx="5701148" cy="3587746"/>
          </a:xfrm>
        </p:grpSpPr>
        <p:pic>
          <p:nvPicPr>
            <p:cNvPr id="4" name="Picture 6" descr="Explainer: What is a neuron? | Science News for Students">
              <a:extLst>
                <a:ext uri="{FF2B5EF4-FFF2-40B4-BE49-F238E27FC236}">
                  <a16:creationId xmlns:a16="http://schemas.microsoft.com/office/drawing/2014/main" id="{B71EEF35-963B-11CA-3796-3E1341DE944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333" t="5158" r="3204" b="4941"/>
            <a:stretch/>
          </p:blipFill>
          <p:spPr bwMode="auto">
            <a:xfrm>
              <a:off x="137678" y="2318389"/>
              <a:ext cx="5491597" cy="314892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9D747603-0B59-5C04-4746-FA2F84C8DFD2}"/>
                    </a:ext>
                  </a:extLst>
                </p:cNvPr>
                <p:cNvSpPr txBox="1"/>
                <p:nvPr/>
              </p:nvSpPr>
              <p:spPr>
                <a:xfrm>
                  <a:off x="3024185" y="3177631"/>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1</m:t>
                            </m:r>
                          </m:sub>
                        </m:sSub>
                      </m:oMath>
                    </m:oMathPara>
                  </a14:m>
                  <a:endParaRPr lang="pt-BR" sz="1400" dirty="0"/>
                </a:p>
              </p:txBody>
            </p:sp>
          </mc:Choice>
          <mc:Fallback xmlns="">
            <p:sp>
              <p:nvSpPr>
                <p:cNvPr id="5" name="CaixaDeTexto 4">
                  <a:extLst>
                    <a:ext uri="{FF2B5EF4-FFF2-40B4-BE49-F238E27FC236}">
                      <a16:creationId xmlns:a16="http://schemas.microsoft.com/office/drawing/2014/main" id="{9D747603-0B59-5C04-4746-FA2F84C8DFD2}"/>
                    </a:ext>
                  </a:extLst>
                </p:cNvPr>
                <p:cNvSpPr txBox="1">
                  <a:spLocks noRot="1" noChangeAspect="1" noMove="1" noResize="1" noEditPoints="1" noAdjustHandles="1" noChangeArrowheads="1" noChangeShapeType="1" noTextEdit="1"/>
                </p:cNvSpPr>
                <p:nvPr/>
              </p:nvSpPr>
              <p:spPr>
                <a:xfrm>
                  <a:off x="3024185" y="3177631"/>
                  <a:ext cx="419101" cy="307777"/>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75991B08-99B1-965F-6DD9-2741F01C2027}"/>
                    </a:ext>
                  </a:extLst>
                </p:cNvPr>
                <p:cNvSpPr txBox="1"/>
                <p:nvPr/>
              </p:nvSpPr>
              <p:spPr>
                <a:xfrm>
                  <a:off x="3024185" y="2850339"/>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2</m:t>
                            </m:r>
                          </m:sub>
                        </m:sSub>
                      </m:oMath>
                    </m:oMathPara>
                  </a14:m>
                  <a:endParaRPr lang="pt-BR" sz="1400" dirty="0"/>
                </a:p>
              </p:txBody>
            </p:sp>
          </mc:Choice>
          <mc:Fallback xmlns="">
            <p:sp>
              <p:nvSpPr>
                <p:cNvPr id="6" name="CaixaDeTexto 5">
                  <a:extLst>
                    <a:ext uri="{FF2B5EF4-FFF2-40B4-BE49-F238E27FC236}">
                      <a16:creationId xmlns:a16="http://schemas.microsoft.com/office/drawing/2014/main" id="{75991B08-99B1-965F-6DD9-2741F01C2027}"/>
                    </a:ext>
                  </a:extLst>
                </p:cNvPr>
                <p:cNvSpPr txBox="1">
                  <a:spLocks noRot="1" noChangeAspect="1" noMove="1" noResize="1" noEditPoints="1" noAdjustHandles="1" noChangeArrowheads="1" noChangeShapeType="1" noTextEdit="1"/>
                </p:cNvSpPr>
                <p:nvPr/>
              </p:nvSpPr>
              <p:spPr>
                <a:xfrm>
                  <a:off x="3024185" y="2850339"/>
                  <a:ext cx="419101" cy="30777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488EDE88-85B2-C326-7AA1-70B6691CF7A8}"/>
                    </a:ext>
                  </a:extLst>
                </p:cNvPr>
                <p:cNvSpPr txBox="1"/>
                <p:nvPr/>
              </p:nvSpPr>
              <p:spPr>
                <a:xfrm>
                  <a:off x="3233735" y="2595541"/>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3</m:t>
                            </m:r>
                          </m:sub>
                        </m:sSub>
                      </m:oMath>
                    </m:oMathPara>
                  </a14:m>
                  <a:endParaRPr lang="pt-BR" sz="1400" dirty="0"/>
                </a:p>
              </p:txBody>
            </p:sp>
          </mc:Choice>
          <mc:Fallback xmlns="">
            <p:sp>
              <p:nvSpPr>
                <p:cNvPr id="7" name="CaixaDeTexto 6">
                  <a:extLst>
                    <a:ext uri="{FF2B5EF4-FFF2-40B4-BE49-F238E27FC236}">
                      <a16:creationId xmlns:a16="http://schemas.microsoft.com/office/drawing/2014/main" id="{488EDE88-85B2-C326-7AA1-70B6691CF7A8}"/>
                    </a:ext>
                  </a:extLst>
                </p:cNvPr>
                <p:cNvSpPr txBox="1">
                  <a:spLocks noRot="1" noChangeAspect="1" noMove="1" noResize="1" noEditPoints="1" noAdjustHandles="1" noChangeArrowheads="1" noChangeShapeType="1" noTextEdit="1"/>
                </p:cNvSpPr>
                <p:nvPr/>
              </p:nvSpPr>
              <p:spPr>
                <a:xfrm>
                  <a:off x="3233735" y="2595541"/>
                  <a:ext cx="419101" cy="307777"/>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AC371989-0F76-A1F9-3B40-C00020C4BFD7}"/>
                    </a:ext>
                  </a:extLst>
                </p:cNvPr>
                <p:cNvSpPr txBox="1"/>
                <p:nvPr/>
              </p:nvSpPr>
              <p:spPr>
                <a:xfrm>
                  <a:off x="3529011" y="2139555"/>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4</m:t>
                            </m:r>
                          </m:sub>
                        </m:sSub>
                      </m:oMath>
                    </m:oMathPara>
                  </a14:m>
                  <a:endParaRPr lang="pt-BR" sz="1400" dirty="0"/>
                </a:p>
              </p:txBody>
            </p:sp>
          </mc:Choice>
          <mc:Fallback xmlns="">
            <p:sp>
              <p:nvSpPr>
                <p:cNvPr id="8" name="CaixaDeTexto 7">
                  <a:extLst>
                    <a:ext uri="{FF2B5EF4-FFF2-40B4-BE49-F238E27FC236}">
                      <a16:creationId xmlns:a16="http://schemas.microsoft.com/office/drawing/2014/main" id="{AC371989-0F76-A1F9-3B40-C00020C4BFD7}"/>
                    </a:ext>
                  </a:extLst>
                </p:cNvPr>
                <p:cNvSpPr txBox="1">
                  <a:spLocks noRot="1" noChangeAspect="1" noMove="1" noResize="1" noEditPoints="1" noAdjustHandles="1" noChangeArrowheads="1" noChangeShapeType="1" noTextEdit="1"/>
                </p:cNvSpPr>
                <p:nvPr/>
              </p:nvSpPr>
              <p:spPr>
                <a:xfrm>
                  <a:off x="3529011" y="2139555"/>
                  <a:ext cx="419101" cy="307777"/>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CD9064C4-44F7-CA0A-EF13-03B8F7EBE093}"/>
                    </a:ext>
                  </a:extLst>
                </p:cNvPr>
                <p:cNvSpPr txBox="1"/>
                <p:nvPr/>
              </p:nvSpPr>
              <p:spPr>
                <a:xfrm>
                  <a:off x="4431505" y="2058398"/>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𝑘</m:t>
                            </m:r>
                          </m:sub>
                        </m:sSub>
                      </m:oMath>
                    </m:oMathPara>
                  </a14:m>
                  <a:endParaRPr lang="pt-BR" sz="1400" dirty="0"/>
                </a:p>
              </p:txBody>
            </p:sp>
          </mc:Choice>
          <mc:Fallback xmlns="">
            <p:sp>
              <p:nvSpPr>
                <p:cNvPr id="9" name="CaixaDeTexto 8">
                  <a:extLst>
                    <a:ext uri="{FF2B5EF4-FFF2-40B4-BE49-F238E27FC236}">
                      <a16:creationId xmlns:a16="http://schemas.microsoft.com/office/drawing/2014/main" id="{CD9064C4-44F7-CA0A-EF13-03B8F7EBE093}"/>
                    </a:ext>
                  </a:extLst>
                </p:cNvPr>
                <p:cNvSpPr txBox="1">
                  <a:spLocks noRot="1" noChangeAspect="1" noMove="1" noResize="1" noEditPoints="1" noAdjustHandles="1" noChangeArrowheads="1" noChangeShapeType="1" noTextEdit="1"/>
                </p:cNvSpPr>
                <p:nvPr/>
              </p:nvSpPr>
              <p:spPr>
                <a:xfrm>
                  <a:off x="4431505" y="2058398"/>
                  <a:ext cx="419101" cy="307777"/>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FA801F61-3CAE-EBF3-E882-8568DBBDF348}"/>
                    </a:ext>
                  </a:extLst>
                </p:cNvPr>
                <p:cNvSpPr txBox="1"/>
                <p:nvPr/>
              </p:nvSpPr>
              <p:spPr>
                <a:xfrm>
                  <a:off x="3386136" y="4062609"/>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𝐾</m:t>
                            </m:r>
                          </m:sub>
                        </m:sSub>
                      </m:oMath>
                    </m:oMathPara>
                  </a14:m>
                  <a:endParaRPr lang="pt-BR" sz="1400" dirty="0"/>
                </a:p>
              </p:txBody>
            </p:sp>
          </mc:Choice>
          <mc:Fallback xmlns="">
            <p:sp>
              <p:nvSpPr>
                <p:cNvPr id="10" name="CaixaDeTexto 9">
                  <a:extLst>
                    <a:ext uri="{FF2B5EF4-FFF2-40B4-BE49-F238E27FC236}">
                      <a16:creationId xmlns:a16="http://schemas.microsoft.com/office/drawing/2014/main" id="{FA801F61-3CAE-EBF3-E882-8568DBBDF348}"/>
                    </a:ext>
                  </a:extLst>
                </p:cNvPr>
                <p:cNvSpPr txBox="1">
                  <a:spLocks noRot="1" noChangeAspect="1" noMove="1" noResize="1" noEditPoints="1" noAdjustHandles="1" noChangeArrowheads="1" noChangeShapeType="1" noTextEdit="1"/>
                </p:cNvSpPr>
                <p:nvPr/>
              </p:nvSpPr>
              <p:spPr>
                <a:xfrm>
                  <a:off x="3386136" y="4062609"/>
                  <a:ext cx="419101" cy="307777"/>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69AAFC83-7ECF-F778-6B16-BCB52B9C7818}"/>
                    </a:ext>
                  </a:extLst>
                </p:cNvPr>
                <p:cNvSpPr txBox="1"/>
                <p:nvPr/>
              </p:nvSpPr>
              <p:spPr>
                <a:xfrm>
                  <a:off x="0" y="5265190"/>
                  <a:ext cx="419101" cy="307777"/>
                </a:xfrm>
                <a:prstGeom prst="rect">
                  <a:avLst/>
                </a:prstGeom>
                <a:noFill/>
              </p:spPr>
              <p:txBody>
                <a:bodyPr wrap="square" rtlCol="0">
                  <a:spAutoFit/>
                </a:bodyPr>
                <a:lstStyle/>
                <a:p>
                  <a:pPr algn="ctr"/>
                  <a14:m>
                    <m:oMathPara xmlns:m="http://schemas.openxmlformats.org/officeDocument/2006/math">
                      <m:oMath>
                        <m:r>
                          <a:rPr lang="pt-BR" sz="1400" b="0" i="1" smtClean="0">
                            <a:latin typeface="Cambria Math" panose="02040503050406030204" pitchFamily="18" charset="0"/>
                          </a:rPr>
                          <m:t>𝑦</m:t>
                        </m:r>
                      </m:oMath>
                    </m:oMathPara>
                  </a14:m>
                  <a:endParaRPr lang="pt-BR" sz="1400" dirty="0"/>
                </a:p>
              </p:txBody>
            </p:sp>
          </mc:Choice>
          <mc:Fallback xmlns="">
            <p:sp>
              <p:nvSpPr>
                <p:cNvPr id="11" name="CaixaDeTexto 10">
                  <a:extLst>
                    <a:ext uri="{FF2B5EF4-FFF2-40B4-BE49-F238E27FC236}">
                      <a16:creationId xmlns:a16="http://schemas.microsoft.com/office/drawing/2014/main" id="{69AAFC83-7ECF-F778-6B16-BCB52B9C7818}"/>
                    </a:ext>
                  </a:extLst>
                </p:cNvPr>
                <p:cNvSpPr txBox="1">
                  <a:spLocks noRot="1" noChangeAspect="1" noMove="1" noResize="1" noEditPoints="1" noAdjustHandles="1" noChangeArrowheads="1" noChangeShapeType="1" noTextEdit="1"/>
                </p:cNvSpPr>
                <p:nvPr/>
              </p:nvSpPr>
              <p:spPr>
                <a:xfrm>
                  <a:off x="0" y="5265190"/>
                  <a:ext cx="419101" cy="307777"/>
                </a:xfrm>
                <a:prstGeom prst="rect">
                  <a:avLst/>
                </a:prstGeom>
                <a:blipFill>
                  <a:blip r:embed="rId10"/>
                  <a:stretch>
                    <a:fillRect b="-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2AE25DD5-437F-79AD-7C55-1EF2C6C9B3AA}"/>
                    </a:ext>
                  </a:extLst>
                </p:cNvPr>
                <p:cNvSpPr txBox="1"/>
                <p:nvPr/>
              </p:nvSpPr>
              <p:spPr>
                <a:xfrm>
                  <a:off x="507205" y="5338367"/>
                  <a:ext cx="419101" cy="307777"/>
                </a:xfrm>
                <a:prstGeom prst="rect">
                  <a:avLst/>
                </a:prstGeom>
                <a:noFill/>
              </p:spPr>
              <p:txBody>
                <a:bodyPr wrap="square" rtlCol="0">
                  <a:spAutoFit/>
                </a:bodyPr>
                <a:lstStyle/>
                <a:p>
                  <a:pPr algn="ctr"/>
                  <a14:m>
                    <m:oMathPara xmlns:m="http://schemas.openxmlformats.org/officeDocument/2006/math">
                      <m:oMath>
                        <m:r>
                          <a:rPr lang="pt-BR" sz="1400" b="0" i="1" smtClean="0">
                            <a:latin typeface="Cambria Math" panose="02040503050406030204" pitchFamily="18" charset="0"/>
                          </a:rPr>
                          <m:t>𝑦</m:t>
                        </m:r>
                      </m:oMath>
                    </m:oMathPara>
                  </a14:m>
                  <a:endParaRPr lang="pt-BR" sz="1400" dirty="0"/>
                </a:p>
              </p:txBody>
            </p:sp>
          </mc:Choice>
          <mc:Fallback xmlns="">
            <p:sp>
              <p:nvSpPr>
                <p:cNvPr id="12" name="CaixaDeTexto 11">
                  <a:extLst>
                    <a:ext uri="{FF2B5EF4-FFF2-40B4-BE49-F238E27FC236}">
                      <a16:creationId xmlns:a16="http://schemas.microsoft.com/office/drawing/2014/main" id="{2AE25DD5-437F-79AD-7C55-1EF2C6C9B3AA}"/>
                    </a:ext>
                  </a:extLst>
                </p:cNvPr>
                <p:cNvSpPr txBox="1">
                  <a:spLocks noRot="1" noChangeAspect="1" noMove="1" noResize="1" noEditPoints="1" noAdjustHandles="1" noChangeArrowheads="1" noChangeShapeType="1" noTextEdit="1"/>
                </p:cNvSpPr>
                <p:nvPr/>
              </p:nvSpPr>
              <p:spPr>
                <a:xfrm>
                  <a:off x="507205" y="5338367"/>
                  <a:ext cx="419101" cy="307777"/>
                </a:xfrm>
                <a:prstGeom prst="rect">
                  <a:avLst/>
                </a:prstGeom>
                <a:blipFill>
                  <a:blip r:embed="rId10"/>
                  <a:stretch>
                    <a:fillRect b="-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3C48D98A-1A73-8DBC-2C97-869FA80E74E2}"/>
                    </a:ext>
                  </a:extLst>
                </p:cNvPr>
                <p:cNvSpPr txBox="1"/>
                <p:nvPr/>
              </p:nvSpPr>
              <p:spPr>
                <a:xfrm>
                  <a:off x="214310" y="4273607"/>
                  <a:ext cx="419101" cy="307777"/>
                </a:xfrm>
                <a:prstGeom prst="rect">
                  <a:avLst/>
                </a:prstGeom>
                <a:noFill/>
              </p:spPr>
              <p:txBody>
                <a:bodyPr wrap="square" rtlCol="0">
                  <a:spAutoFit/>
                </a:bodyPr>
                <a:lstStyle/>
                <a:p>
                  <a:pPr algn="ctr"/>
                  <a14:m>
                    <m:oMathPara xmlns:m="http://schemas.openxmlformats.org/officeDocument/2006/math">
                      <m:oMath>
                        <m:r>
                          <a:rPr lang="pt-BR" sz="1400" b="0" i="1" smtClean="0">
                            <a:latin typeface="Cambria Math" panose="02040503050406030204" pitchFamily="18" charset="0"/>
                          </a:rPr>
                          <m:t>𝑦</m:t>
                        </m:r>
                      </m:oMath>
                    </m:oMathPara>
                  </a14:m>
                  <a:endParaRPr lang="pt-BR" sz="1400" dirty="0"/>
                </a:p>
              </p:txBody>
            </p:sp>
          </mc:Choice>
          <mc:Fallback xmlns="">
            <p:sp>
              <p:nvSpPr>
                <p:cNvPr id="13" name="CaixaDeTexto 12">
                  <a:extLst>
                    <a:ext uri="{FF2B5EF4-FFF2-40B4-BE49-F238E27FC236}">
                      <a16:creationId xmlns:a16="http://schemas.microsoft.com/office/drawing/2014/main" id="{3C48D98A-1A73-8DBC-2C97-869FA80E74E2}"/>
                    </a:ext>
                  </a:extLst>
                </p:cNvPr>
                <p:cNvSpPr txBox="1">
                  <a:spLocks noRot="1" noChangeAspect="1" noMove="1" noResize="1" noEditPoints="1" noAdjustHandles="1" noChangeArrowheads="1" noChangeShapeType="1" noTextEdit="1"/>
                </p:cNvSpPr>
                <p:nvPr/>
              </p:nvSpPr>
              <p:spPr>
                <a:xfrm>
                  <a:off x="214310" y="4273607"/>
                  <a:ext cx="419101" cy="307777"/>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C96A6FE7-EBFD-C8E4-DAB3-88CF634D7210}"/>
                    </a:ext>
                  </a:extLst>
                </p:cNvPr>
                <p:cNvSpPr txBox="1"/>
                <p:nvPr/>
              </p:nvSpPr>
              <p:spPr>
                <a:xfrm>
                  <a:off x="-71873" y="4948219"/>
                  <a:ext cx="419101" cy="307777"/>
                </a:xfrm>
                <a:prstGeom prst="rect">
                  <a:avLst/>
                </a:prstGeom>
                <a:noFill/>
              </p:spPr>
              <p:txBody>
                <a:bodyPr wrap="square" rtlCol="0">
                  <a:spAutoFit/>
                </a:bodyPr>
                <a:lstStyle/>
                <a:p>
                  <a:pPr algn="ctr"/>
                  <a14:m>
                    <m:oMathPara xmlns:m="http://schemas.openxmlformats.org/officeDocument/2006/math">
                      <m:oMath>
                        <m:r>
                          <a:rPr lang="pt-BR" sz="1400" b="0" i="1" smtClean="0">
                            <a:latin typeface="Cambria Math" panose="02040503050406030204" pitchFamily="18" charset="0"/>
                          </a:rPr>
                          <m:t>𝑦</m:t>
                        </m:r>
                      </m:oMath>
                    </m:oMathPara>
                  </a14:m>
                  <a:endParaRPr lang="pt-BR" sz="1400" dirty="0"/>
                </a:p>
              </p:txBody>
            </p:sp>
          </mc:Choice>
          <mc:Fallback xmlns="">
            <p:sp>
              <p:nvSpPr>
                <p:cNvPr id="14" name="CaixaDeTexto 13">
                  <a:extLst>
                    <a:ext uri="{FF2B5EF4-FFF2-40B4-BE49-F238E27FC236}">
                      <a16:creationId xmlns:a16="http://schemas.microsoft.com/office/drawing/2014/main" id="{C96A6FE7-EBFD-C8E4-DAB3-88CF634D7210}"/>
                    </a:ext>
                  </a:extLst>
                </p:cNvPr>
                <p:cNvSpPr txBox="1">
                  <a:spLocks noRot="1" noChangeAspect="1" noMove="1" noResize="1" noEditPoints="1" noAdjustHandles="1" noChangeArrowheads="1" noChangeShapeType="1" noTextEdit="1"/>
                </p:cNvSpPr>
                <p:nvPr/>
              </p:nvSpPr>
              <p:spPr>
                <a:xfrm>
                  <a:off x="-71873" y="4948219"/>
                  <a:ext cx="419101" cy="307777"/>
                </a:xfrm>
                <a:prstGeom prst="rect">
                  <a:avLst/>
                </a:prstGeom>
                <a:blipFill>
                  <a:blip r:embed="rId10"/>
                  <a:stretch>
                    <a:fillRect b="-2000"/>
                  </a:stretch>
                </a:blipFill>
              </p:spPr>
              <p:txBody>
                <a:bodyPr/>
                <a:lstStyle/>
                <a:p>
                  <a:r>
                    <a:rPr lang="pt-BR">
                      <a:noFill/>
                    </a:rPr>
                    <a:t> </a:t>
                  </a:r>
                </a:p>
              </p:txBody>
            </p:sp>
          </mc:Fallback>
        </mc:AlternateContent>
      </p:grpSp>
    </p:spTree>
    <p:extLst>
      <p:ext uri="{BB962C8B-B14F-4D97-AF65-F5344CB8AC3E}">
        <p14:creationId xmlns:p14="http://schemas.microsoft.com/office/powerpoint/2010/main" val="1535147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DD0B1-76D5-7A8B-8216-2E8B1EE1E23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BFFA193-3414-FBF2-A56E-F3D2A3820BF8}"/>
              </a:ext>
            </a:extLst>
          </p:cNvPr>
          <p:cNvSpPr>
            <a:spLocks noGrp="1"/>
          </p:cNvSpPr>
          <p:nvPr>
            <p:ph type="title"/>
          </p:nvPr>
        </p:nvSpPr>
        <p:spPr/>
        <p:txBody>
          <a:bodyPr/>
          <a:lstStyle/>
          <a:p>
            <a:r>
              <a:rPr lang="pt-BR" dirty="0"/>
              <a:t>Neurônio biológico</a:t>
            </a:r>
          </a:p>
        </p:txBody>
      </p:sp>
      <p:sp>
        <p:nvSpPr>
          <p:cNvPr id="3" name="Espaço Reservado para Conteúdo 2">
            <a:extLst>
              <a:ext uri="{FF2B5EF4-FFF2-40B4-BE49-F238E27FC236}">
                <a16:creationId xmlns:a16="http://schemas.microsoft.com/office/drawing/2014/main" id="{E3E38018-9693-6B2A-8D4F-68053D3B4C50}"/>
              </a:ext>
            </a:extLst>
          </p:cNvPr>
          <p:cNvSpPr>
            <a:spLocks noGrp="1"/>
          </p:cNvSpPr>
          <p:nvPr>
            <p:ph idx="1"/>
          </p:nvPr>
        </p:nvSpPr>
        <p:spPr>
          <a:xfrm>
            <a:off x="5629274" y="1825624"/>
            <a:ext cx="6562725" cy="5032375"/>
          </a:xfrm>
        </p:spPr>
        <p:txBody>
          <a:bodyPr>
            <a:normAutofit/>
          </a:bodyPr>
          <a:lstStyle/>
          <a:p>
            <a:r>
              <a:rPr lang="pt-BR" dirty="0"/>
              <a:t>Os </a:t>
            </a:r>
            <a:r>
              <a:rPr lang="pt-BR" b="1" dirty="0"/>
              <a:t>dendritos</a:t>
            </a:r>
            <a:r>
              <a:rPr lang="pt-BR" dirty="0"/>
              <a:t> </a:t>
            </a:r>
            <a:r>
              <a:rPr lang="pt-BR" b="1" dirty="0"/>
              <a:t>recebem</a:t>
            </a:r>
            <a:r>
              <a:rPr lang="pt-BR" dirty="0"/>
              <a:t> </a:t>
            </a:r>
            <a:r>
              <a:rPr lang="pt-BR" b="1" dirty="0"/>
              <a:t>estímulos </a:t>
            </a:r>
            <a:r>
              <a:rPr lang="pt-BR" dirty="0"/>
              <a:t>vindos</a:t>
            </a:r>
            <a:r>
              <a:rPr lang="pt-BR" b="1" dirty="0"/>
              <a:t> de outros neurônios </a:t>
            </a:r>
            <a:r>
              <a:rPr lang="pt-BR" dirty="0"/>
              <a:t>e os levam em direção ao </a:t>
            </a:r>
            <a:r>
              <a:rPr lang="pt-BR" b="1" dirty="0"/>
              <a:t>corpo celular</a:t>
            </a:r>
            <a:r>
              <a:rPr lang="pt-BR" dirty="0"/>
              <a:t>.</a:t>
            </a:r>
          </a:p>
          <a:p>
            <a:r>
              <a:rPr lang="pt-BR" dirty="0"/>
              <a:t>O </a:t>
            </a:r>
            <a:r>
              <a:rPr lang="pt-BR" b="1" dirty="0"/>
              <a:t>corpo celular</a:t>
            </a:r>
            <a:r>
              <a:rPr lang="pt-BR" dirty="0"/>
              <a:t> realiza a </a:t>
            </a:r>
            <a:r>
              <a:rPr lang="pt-BR" b="1" dirty="0">
                <a:solidFill>
                  <a:srgbClr val="7030A0"/>
                </a:solidFill>
              </a:rPr>
              <a:t>integração dos estímulos</a:t>
            </a:r>
            <a:r>
              <a:rPr lang="pt-BR" b="1" dirty="0"/>
              <a:t> e gera um impulso</a:t>
            </a:r>
            <a:r>
              <a:rPr lang="pt-BR" dirty="0"/>
              <a:t> caso um </a:t>
            </a:r>
            <a:r>
              <a:rPr lang="pt-BR" b="1" dirty="0">
                <a:solidFill>
                  <a:srgbClr val="00B050"/>
                </a:solidFill>
              </a:rPr>
              <a:t>limiar de ativação </a:t>
            </a:r>
            <a:r>
              <a:rPr lang="pt-BR" b="1" dirty="0">
                <a:solidFill>
                  <a:schemeClr val="accent2"/>
                </a:solidFill>
              </a:rPr>
              <a:t>seja ultrapassado</a:t>
            </a:r>
            <a:r>
              <a:rPr lang="pt-BR" dirty="0"/>
              <a:t>.</a:t>
            </a:r>
          </a:p>
          <a:p>
            <a:r>
              <a:rPr lang="pt-BR" dirty="0"/>
              <a:t>O </a:t>
            </a:r>
            <a:r>
              <a:rPr lang="pt-BR" b="1" dirty="0"/>
              <a:t>axônio</a:t>
            </a:r>
            <a:r>
              <a:rPr lang="pt-BR" dirty="0"/>
              <a:t> envia os </a:t>
            </a:r>
            <a:r>
              <a:rPr lang="pt-BR" b="1" dirty="0"/>
              <a:t>impulsos</a:t>
            </a:r>
            <a:r>
              <a:rPr lang="pt-BR" dirty="0"/>
              <a:t> a outros neurônios através de seus </a:t>
            </a:r>
            <a:r>
              <a:rPr lang="pt-BR" b="1" dirty="0"/>
              <a:t>terminais</a:t>
            </a:r>
            <a:r>
              <a:rPr lang="pt-BR" dirty="0"/>
              <a:t>.</a:t>
            </a:r>
          </a:p>
        </p:txBody>
      </p:sp>
      <p:grpSp>
        <p:nvGrpSpPr>
          <p:cNvPr id="15" name="Agrupar 14">
            <a:extLst>
              <a:ext uri="{FF2B5EF4-FFF2-40B4-BE49-F238E27FC236}">
                <a16:creationId xmlns:a16="http://schemas.microsoft.com/office/drawing/2014/main" id="{B06885AF-BA09-B612-7B3F-5CE1E715686B}"/>
              </a:ext>
            </a:extLst>
          </p:cNvPr>
          <p:cNvGrpSpPr/>
          <p:nvPr/>
        </p:nvGrpSpPr>
        <p:grpSpPr>
          <a:xfrm>
            <a:off x="-71873" y="2058398"/>
            <a:ext cx="5701148" cy="3587746"/>
            <a:chOff x="-71873" y="2058398"/>
            <a:chExt cx="5701148" cy="3587746"/>
          </a:xfrm>
        </p:grpSpPr>
        <p:pic>
          <p:nvPicPr>
            <p:cNvPr id="4" name="Picture 6" descr="Explainer: What is a neuron? | Science News for Students">
              <a:extLst>
                <a:ext uri="{FF2B5EF4-FFF2-40B4-BE49-F238E27FC236}">
                  <a16:creationId xmlns:a16="http://schemas.microsoft.com/office/drawing/2014/main" id="{D3D27B0F-C933-8F86-50A2-A83292BA33E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333" t="5158" r="3204" b="4941"/>
            <a:stretch/>
          </p:blipFill>
          <p:spPr bwMode="auto">
            <a:xfrm>
              <a:off x="137678" y="2318389"/>
              <a:ext cx="5491597" cy="314892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2E2226E9-735A-76E8-2F6A-44CFED44A218}"/>
                    </a:ext>
                  </a:extLst>
                </p:cNvPr>
                <p:cNvSpPr txBox="1"/>
                <p:nvPr/>
              </p:nvSpPr>
              <p:spPr>
                <a:xfrm>
                  <a:off x="3024185" y="3177631"/>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1</m:t>
                            </m:r>
                          </m:sub>
                        </m:sSub>
                      </m:oMath>
                    </m:oMathPara>
                  </a14:m>
                  <a:endParaRPr lang="pt-BR" sz="1400" dirty="0"/>
                </a:p>
              </p:txBody>
            </p:sp>
          </mc:Choice>
          <mc:Fallback xmlns="">
            <p:sp>
              <p:nvSpPr>
                <p:cNvPr id="5" name="CaixaDeTexto 4">
                  <a:extLst>
                    <a:ext uri="{FF2B5EF4-FFF2-40B4-BE49-F238E27FC236}">
                      <a16:creationId xmlns:a16="http://schemas.microsoft.com/office/drawing/2014/main" id="{9D747603-0B59-5C04-4746-FA2F84C8DFD2}"/>
                    </a:ext>
                  </a:extLst>
                </p:cNvPr>
                <p:cNvSpPr txBox="1">
                  <a:spLocks noRot="1" noChangeAspect="1" noMove="1" noResize="1" noEditPoints="1" noAdjustHandles="1" noChangeArrowheads="1" noChangeShapeType="1" noTextEdit="1"/>
                </p:cNvSpPr>
                <p:nvPr/>
              </p:nvSpPr>
              <p:spPr>
                <a:xfrm>
                  <a:off x="3024185" y="3177631"/>
                  <a:ext cx="419101" cy="307777"/>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B2E6D022-B6F2-7924-8357-122354EABF84}"/>
                    </a:ext>
                  </a:extLst>
                </p:cNvPr>
                <p:cNvSpPr txBox="1"/>
                <p:nvPr/>
              </p:nvSpPr>
              <p:spPr>
                <a:xfrm>
                  <a:off x="3024185" y="2850339"/>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2</m:t>
                            </m:r>
                          </m:sub>
                        </m:sSub>
                      </m:oMath>
                    </m:oMathPara>
                  </a14:m>
                  <a:endParaRPr lang="pt-BR" sz="1400" dirty="0"/>
                </a:p>
              </p:txBody>
            </p:sp>
          </mc:Choice>
          <mc:Fallback xmlns="">
            <p:sp>
              <p:nvSpPr>
                <p:cNvPr id="6" name="CaixaDeTexto 5">
                  <a:extLst>
                    <a:ext uri="{FF2B5EF4-FFF2-40B4-BE49-F238E27FC236}">
                      <a16:creationId xmlns:a16="http://schemas.microsoft.com/office/drawing/2014/main" id="{75991B08-99B1-965F-6DD9-2741F01C2027}"/>
                    </a:ext>
                  </a:extLst>
                </p:cNvPr>
                <p:cNvSpPr txBox="1">
                  <a:spLocks noRot="1" noChangeAspect="1" noMove="1" noResize="1" noEditPoints="1" noAdjustHandles="1" noChangeArrowheads="1" noChangeShapeType="1" noTextEdit="1"/>
                </p:cNvSpPr>
                <p:nvPr/>
              </p:nvSpPr>
              <p:spPr>
                <a:xfrm>
                  <a:off x="3024185" y="2850339"/>
                  <a:ext cx="419101" cy="30777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DF894B33-4236-A6DE-FFED-BE1227FB3384}"/>
                    </a:ext>
                  </a:extLst>
                </p:cNvPr>
                <p:cNvSpPr txBox="1"/>
                <p:nvPr/>
              </p:nvSpPr>
              <p:spPr>
                <a:xfrm>
                  <a:off x="3233735" y="2595541"/>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3</m:t>
                            </m:r>
                          </m:sub>
                        </m:sSub>
                      </m:oMath>
                    </m:oMathPara>
                  </a14:m>
                  <a:endParaRPr lang="pt-BR" sz="1400" dirty="0"/>
                </a:p>
              </p:txBody>
            </p:sp>
          </mc:Choice>
          <mc:Fallback xmlns="">
            <p:sp>
              <p:nvSpPr>
                <p:cNvPr id="7" name="CaixaDeTexto 6">
                  <a:extLst>
                    <a:ext uri="{FF2B5EF4-FFF2-40B4-BE49-F238E27FC236}">
                      <a16:creationId xmlns:a16="http://schemas.microsoft.com/office/drawing/2014/main" id="{488EDE88-85B2-C326-7AA1-70B6691CF7A8}"/>
                    </a:ext>
                  </a:extLst>
                </p:cNvPr>
                <p:cNvSpPr txBox="1">
                  <a:spLocks noRot="1" noChangeAspect="1" noMove="1" noResize="1" noEditPoints="1" noAdjustHandles="1" noChangeArrowheads="1" noChangeShapeType="1" noTextEdit="1"/>
                </p:cNvSpPr>
                <p:nvPr/>
              </p:nvSpPr>
              <p:spPr>
                <a:xfrm>
                  <a:off x="3233735" y="2595541"/>
                  <a:ext cx="419101" cy="307777"/>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ED7B8BB6-4ECF-00FC-BE89-05A2AB167FF9}"/>
                    </a:ext>
                  </a:extLst>
                </p:cNvPr>
                <p:cNvSpPr txBox="1"/>
                <p:nvPr/>
              </p:nvSpPr>
              <p:spPr>
                <a:xfrm>
                  <a:off x="3529011" y="2139555"/>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4</m:t>
                            </m:r>
                          </m:sub>
                        </m:sSub>
                      </m:oMath>
                    </m:oMathPara>
                  </a14:m>
                  <a:endParaRPr lang="pt-BR" sz="1400" dirty="0"/>
                </a:p>
              </p:txBody>
            </p:sp>
          </mc:Choice>
          <mc:Fallback xmlns="">
            <p:sp>
              <p:nvSpPr>
                <p:cNvPr id="8" name="CaixaDeTexto 7">
                  <a:extLst>
                    <a:ext uri="{FF2B5EF4-FFF2-40B4-BE49-F238E27FC236}">
                      <a16:creationId xmlns:a16="http://schemas.microsoft.com/office/drawing/2014/main" id="{AC371989-0F76-A1F9-3B40-C00020C4BFD7}"/>
                    </a:ext>
                  </a:extLst>
                </p:cNvPr>
                <p:cNvSpPr txBox="1">
                  <a:spLocks noRot="1" noChangeAspect="1" noMove="1" noResize="1" noEditPoints="1" noAdjustHandles="1" noChangeArrowheads="1" noChangeShapeType="1" noTextEdit="1"/>
                </p:cNvSpPr>
                <p:nvPr/>
              </p:nvSpPr>
              <p:spPr>
                <a:xfrm>
                  <a:off x="3529011" y="2139555"/>
                  <a:ext cx="419101" cy="307777"/>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49F9D227-8D26-59FD-4F22-3C9FB641BB2B}"/>
                    </a:ext>
                  </a:extLst>
                </p:cNvPr>
                <p:cNvSpPr txBox="1"/>
                <p:nvPr/>
              </p:nvSpPr>
              <p:spPr>
                <a:xfrm>
                  <a:off x="4431505" y="2058398"/>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𝑘</m:t>
                            </m:r>
                          </m:sub>
                        </m:sSub>
                      </m:oMath>
                    </m:oMathPara>
                  </a14:m>
                  <a:endParaRPr lang="pt-BR" sz="1400" dirty="0"/>
                </a:p>
              </p:txBody>
            </p:sp>
          </mc:Choice>
          <mc:Fallback xmlns="">
            <p:sp>
              <p:nvSpPr>
                <p:cNvPr id="9" name="CaixaDeTexto 8">
                  <a:extLst>
                    <a:ext uri="{FF2B5EF4-FFF2-40B4-BE49-F238E27FC236}">
                      <a16:creationId xmlns:a16="http://schemas.microsoft.com/office/drawing/2014/main" id="{CD9064C4-44F7-CA0A-EF13-03B8F7EBE093}"/>
                    </a:ext>
                  </a:extLst>
                </p:cNvPr>
                <p:cNvSpPr txBox="1">
                  <a:spLocks noRot="1" noChangeAspect="1" noMove="1" noResize="1" noEditPoints="1" noAdjustHandles="1" noChangeArrowheads="1" noChangeShapeType="1" noTextEdit="1"/>
                </p:cNvSpPr>
                <p:nvPr/>
              </p:nvSpPr>
              <p:spPr>
                <a:xfrm>
                  <a:off x="4431505" y="2058398"/>
                  <a:ext cx="419101" cy="307777"/>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AD9F61F9-826E-F826-B809-AEA021036D53}"/>
                    </a:ext>
                  </a:extLst>
                </p:cNvPr>
                <p:cNvSpPr txBox="1"/>
                <p:nvPr/>
              </p:nvSpPr>
              <p:spPr>
                <a:xfrm>
                  <a:off x="3386136" y="4062609"/>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𝐾</m:t>
                            </m:r>
                          </m:sub>
                        </m:sSub>
                      </m:oMath>
                    </m:oMathPara>
                  </a14:m>
                  <a:endParaRPr lang="pt-BR" sz="1400" dirty="0"/>
                </a:p>
              </p:txBody>
            </p:sp>
          </mc:Choice>
          <mc:Fallback xmlns="">
            <p:sp>
              <p:nvSpPr>
                <p:cNvPr id="10" name="CaixaDeTexto 9">
                  <a:extLst>
                    <a:ext uri="{FF2B5EF4-FFF2-40B4-BE49-F238E27FC236}">
                      <a16:creationId xmlns:a16="http://schemas.microsoft.com/office/drawing/2014/main" id="{FA801F61-3CAE-EBF3-E882-8568DBBDF348}"/>
                    </a:ext>
                  </a:extLst>
                </p:cNvPr>
                <p:cNvSpPr txBox="1">
                  <a:spLocks noRot="1" noChangeAspect="1" noMove="1" noResize="1" noEditPoints="1" noAdjustHandles="1" noChangeArrowheads="1" noChangeShapeType="1" noTextEdit="1"/>
                </p:cNvSpPr>
                <p:nvPr/>
              </p:nvSpPr>
              <p:spPr>
                <a:xfrm>
                  <a:off x="3386136" y="4062609"/>
                  <a:ext cx="419101" cy="307777"/>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2BA2AE87-F254-E293-0168-B4736AAAD24F}"/>
                    </a:ext>
                  </a:extLst>
                </p:cNvPr>
                <p:cNvSpPr txBox="1"/>
                <p:nvPr/>
              </p:nvSpPr>
              <p:spPr>
                <a:xfrm>
                  <a:off x="0" y="5265190"/>
                  <a:ext cx="419101" cy="307777"/>
                </a:xfrm>
                <a:prstGeom prst="rect">
                  <a:avLst/>
                </a:prstGeom>
                <a:noFill/>
              </p:spPr>
              <p:txBody>
                <a:bodyPr wrap="square" rtlCol="0">
                  <a:spAutoFit/>
                </a:bodyPr>
                <a:lstStyle/>
                <a:p>
                  <a:pPr algn="ctr"/>
                  <a14:m>
                    <m:oMathPara xmlns:m="http://schemas.openxmlformats.org/officeDocument/2006/math">
                      <m:oMath>
                        <m:r>
                          <a:rPr lang="pt-BR" sz="1400" b="0" i="1" smtClean="0">
                            <a:latin typeface="Cambria Math" panose="02040503050406030204" pitchFamily="18" charset="0"/>
                          </a:rPr>
                          <m:t>𝑦</m:t>
                        </m:r>
                      </m:oMath>
                    </m:oMathPara>
                  </a14:m>
                  <a:endParaRPr lang="pt-BR" sz="1400" dirty="0"/>
                </a:p>
              </p:txBody>
            </p:sp>
          </mc:Choice>
          <mc:Fallback xmlns="">
            <p:sp>
              <p:nvSpPr>
                <p:cNvPr id="11" name="CaixaDeTexto 10">
                  <a:extLst>
                    <a:ext uri="{FF2B5EF4-FFF2-40B4-BE49-F238E27FC236}">
                      <a16:creationId xmlns:a16="http://schemas.microsoft.com/office/drawing/2014/main" id="{69AAFC83-7ECF-F778-6B16-BCB52B9C7818}"/>
                    </a:ext>
                  </a:extLst>
                </p:cNvPr>
                <p:cNvSpPr txBox="1">
                  <a:spLocks noRot="1" noChangeAspect="1" noMove="1" noResize="1" noEditPoints="1" noAdjustHandles="1" noChangeArrowheads="1" noChangeShapeType="1" noTextEdit="1"/>
                </p:cNvSpPr>
                <p:nvPr/>
              </p:nvSpPr>
              <p:spPr>
                <a:xfrm>
                  <a:off x="0" y="5265190"/>
                  <a:ext cx="419101" cy="307777"/>
                </a:xfrm>
                <a:prstGeom prst="rect">
                  <a:avLst/>
                </a:prstGeom>
                <a:blipFill>
                  <a:blip r:embed="rId10"/>
                  <a:stretch>
                    <a:fillRect b="-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5B4D901E-1539-EA12-5177-EF8F5025BA32}"/>
                    </a:ext>
                  </a:extLst>
                </p:cNvPr>
                <p:cNvSpPr txBox="1"/>
                <p:nvPr/>
              </p:nvSpPr>
              <p:spPr>
                <a:xfrm>
                  <a:off x="507205" y="5338367"/>
                  <a:ext cx="419101" cy="307777"/>
                </a:xfrm>
                <a:prstGeom prst="rect">
                  <a:avLst/>
                </a:prstGeom>
                <a:noFill/>
              </p:spPr>
              <p:txBody>
                <a:bodyPr wrap="square" rtlCol="0">
                  <a:spAutoFit/>
                </a:bodyPr>
                <a:lstStyle/>
                <a:p>
                  <a:pPr algn="ctr"/>
                  <a14:m>
                    <m:oMathPara xmlns:m="http://schemas.openxmlformats.org/officeDocument/2006/math">
                      <m:oMath>
                        <m:r>
                          <a:rPr lang="pt-BR" sz="1400" b="0" i="1" smtClean="0">
                            <a:latin typeface="Cambria Math" panose="02040503050406030204" pitchFamily="18" charset="0"/>
                          </a:rPr>
                          <m:t>𝑦</m:t>
                        </m:r>
                      </m:oMath>
                    </m:oMathPara>
                  </a14:m>
                  <a:endParaRPr lang="pt-BR" sz="1400" dirty="0"/>
                </a:p>
              </p:txBody>
            </p:sp>
          </mc:Choice>
          <mc:Fallback xmlns="">
            <p:sp>
              <p:nvSpPr>
                <p:cNvPr id="12" name="CaixaDeTexto 11">
                  <a:extLst>
                    <a:ext uri="{FF2B5EF4-FFF2-40B4-BE49-F238E27FC236}">
                      <a16:creationId xmlns:a16="http://schemas.microsoft.com/office/drawing/2014/main" id="{2AE25DD5-437F-79AD-7C55-1EF2C6C9B3AA}"/>
                    </a:ext>
                  </a:extLst>
                </p:cNvPr>
                <p:cNvSpPr txBox="1">
                  <a:spLocks noRot="1" noChangeAspect="1" noMove="1" noResize="1" noEditPoints="1" noAdjustHandles="1" noChangeArrowheads="1" noChangeShapeType="1" noTextEdit="1"/>
                </p:cNvSpPr>
                <p:nvPr/>
              </p:nvSpPr>
              <p:spPr>
                <a:xfrm>
                  <a:off x="507205" y="5338367"/>
                  <a:ext cx="419101" cy="307777"/>
                </a:xfrm>
                <a:prstGeom prst="rect">
                  <a:avLst/>
                </a:prstGeom>
                <a:blipFill>
                  <a:blip r:embed="rId10"/>
                  <a:stretch>
                    <a:fillRect b="-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60BADF7A-2F33-2437-DC96-3F87C53B0612}"/>
                    </a:ext>
                  </a:extLst>
                </p:cNvPr>
                <p:cNvSpPr txBox="1"/>
                <p:nvPr/>
              </p:nvSpPr>
              <p:spPr>
                <a:xfrm>
                  <a:off x="214310" y="4273607"/>
                  <a:ext cx="419101" cy="307777"/>
                </a:xfrm>
                <a:prstGeom prst="rect">
                  <a:avLst/>
                </a:prstGeom>
                <a:noFill/>
              </p:spPr>
              <p:txBody>
                <a:bodyPr wrap="square" rtlCol="0">
                  <a:spAutoFit/>
                </a:bodyPr>
                <a:lstStyle/>
                <a:p>
                  <a:pPr algn="ctr"/>
                  <a14:m>
                    <m:oMathPara xmlns:m="http://schemas.openxmlformats.org/officeDocument/2006/math">
                      <m:oMath>
                        <m:r>
                          <a:rPr lang="pt-BR" sz="1400" b="0" i="1" smtClean="0">
                            <a:latin typeface="Cambria Math" panose="02040503050406030204" pitchFamily="18" charset="0"/>
                          </a:rPr>
                          <m:t>𝑦</m:t>
                        </m:r>
                      </m:oMath>
                    </m:oMathPara>
                  </a14:m>
                  <a:endParaRPr lang="pt-BR" sz="1400" dirty="0"/>
                </a:p>
              </p:txBody>
            </p:sp>
          </mc:Choice>
          <mc:Fallback xmlns="">
            <p:sp>
              <p:nvSpPr>
                <p:cNvPr id="13" name="CaixaDeTexto 12">
                  <a:extLst>
                    <a:ext uri="{FF2B5EF4-FFF2-40B4-BE49-F238E27FC236}">
                      <a16:creationId xmlns:a16="http://schemas.microsoft.com/office/drawing/2014/main" id="{3C48D98A-1A73-8DBC-2C97-869FA80E74E2}"/>
                    </a:ext>
                  </a:extLst>
                </p:cNvPr>
                <p:cNvSpPr txBox="1">
                  <a:spLocks noRot="1" noChangeAspect="1" noMove="1" noResize="1" noEditPoints="1" noAdjustHandles="1" noChangeArrowheads="1" noChangeShapeType="1" noTextEdit="1"/>
                </p:cNvSpPr>
                <p:nvPr/>
              </p:nvSpPr>
              <p:spPr>
                <a:xfrm>
                  <a:off x="214310" y="4273607"/>
                  <a:ext cx="419101" cy="307777"/>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3DA66797-1BAF-F764-9644-96F00DECF7EA}"/>
                    </a:ext>
                  </a:extLst>
                </p:cNvPr>
                <p:cNvSpPr txBox="1"/>
                <p:nvPr/>
              </p:nvSpPr>
              <p:spPr>
                <a:xfrm>
                  <a:off x="-71873" y="4948219"/>
                  <a:ext cx="419101" cy="307777"/>
                </a:xfrm>
                <a:prstGeom prst="rect">
                  <a:avLst/>
                </a:prstGeom>
                <a:noFill/>
              </p:spPr>
              <p:txBody>
                <a:bodyPr wrap="square" rtlCol="0">
                  <a:spAutoFit/>
                </a:bodyPr>
                <a:lstStyle/>
                <a:p>
                  <a:pPr algn="ctr"/>
                  <a14:m>
                    <m:oMathPara xmlns:m="http://schemas.openxmlformats.org/officeDocument/2006/math">
                      <m:oMath>
                        <m:r>
                          <a:rPr lang="pt-BR" sz="1400" b="0" i="1" smtClean="0">
                            <a:latin typeface="Cambria Math" panose="02040503050406030204" pitchFamily="18" charset="0"/>
                          </a:rPr>
                          <m:t>𝑦</m:t>
                        </m:r>
                      </m:oMath>
                    </m:oMathPara>
                  </a14:m>
                  <a:endParaRPr lang="pt-BR" sz="1400" dirty="0"/>
                </a:p>
              </p:txBody>
            </p:sp>
          </mc:Choice>
          <mc:Fallback xmlns="">
            <p:sp>
              <p:nvSpPr>
                <p:cNvPr id="14" name="CaixaDeTexto 13">
                  <a:extLst>
                    <a:ext uri="{FF2B5EF4-FFF2-40B4-BE49-F238E27FC236}">
                      <a16:creationId xmlns:a16="http://schemas.microsoft.com/office/drawing/2014/main" id="{C96A6FE7-EBFD-C8E4-DAB3-88CF634D7210}"/>
                    </a:ext>
                  </a:extLst>
                </p:cNvPr>
                <p:cNvSpPr txBox="1">
                  <a:spLocks noRot="1" noChangeAspect="1" noMove="1" noResize="1" noEditPoints="1" noAdjustHandles="1" noChangeArrowheads="1" noChangeShapeType="1" noTextEdit="1"/>
                </p:cNvSpPr>
                <p:nvPr/>
              </p:nvSpPr>
              <p:spPr>
                <a:xfrm>
                  <a:off x="-71873" y="4948219"/>
                  <a:ext cx="419101" cy="307777"/>
                </a:xfrm>
                <a:prstGeom prst="rect">
                  <a:avLst/>
                </a:prstGeom>
                <a:blipFill>
                  <a:blip r:embed="rId10"/>
                  <a:stretch>
                    <a:fillRect b="-2000"/>
                  </a:stretch>
                </a:blipFill>
              </p:spPr>
              <p:txBody>
                <a:bodyPr/>
                <a:lstStyle/>
                <a:p>
                  <a:r>
                    <a:rPr lang="pt-BR">
                      <a:noFill/>
                    </a:rPr>
                    <a:t> </a:t>
                  </a:r>
                </a:p>
              </p:txBody>
            </p:sp>
          </mc:Fallback>
        </mc:AlternateContent>
      </p:grpSp>
    </p:spTree>
    <p:extLst>
      <p:ext uri="{BB962C8B-B14F-4D97-AF65-F5344CB8AC3E}">
        <p14:creationId xmlns:p14="http://schemas.microsoft.com/office/powerpoint/2010/main" val="432700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C7E755-11FB-5503-F077-DF631F5CB834}"/>
              </a:ext>
            </a:extLst>
          </p:cNvPr>
          <p:cNvSpPr>
            <a:spLocks noGrp="1"/>
          </p:cNvSpPr>
          <p:nvPr>
            <p:ph type="title"/>
          </p:nvPr>
        </p:nvSpPr>
        <p:spPr/>
        <p:txBody>
          <a:bodyPr/>
          <a:lstStyle/>
          <a:p>
            <a:r>
              <a:rPr lang="pt-BR" dirty="0"/>
              <a:t>Neurônio biológico</a:t>
            </a:r>
          </a:p>
        </p:txBody>
      </p:sp>
      <p:sp>
        <p:nvSpPr>
          <p:cNvPr id="3" name="Espaço Reservado para Conteúdo 2">
            <a:extLst>
              <a:ext uri="{FF2B5EF4-FFF2-40B4-BE49-F238E27FC236}">
                <a16:creationId xmlns:a16="http://schemas.microsoft.com/office/drawing/2014/main" id="{C151907C-2CEE-D100-622D-830DCF5CE15A}"/>
              </a:ext>
            </a:extLst>
          </p:cNvPr>
          <p:cNvSpPr>
            <a:spLocks noGrp="1"/>
          </p:cNvSpPr>
          <p:nvPr>
            <p:ph idx="1"/>
          </p:nvPr>
        </p:nvSpPr>
        <p:spPr>
          <a:xfrm>
            <a:off x="5500118" y="1825624"/>
            <a:ext cx="6691881" cy="5032375"/>
          </a:xfrm>
        </p:spPr>
        <p:txBody>
          <a:bodyPr>
            <a:normAutofit/>
          </a:bodyPr>
          <a:lstStyle/>
          <a:p>
            <a:r>
              <a:rPr lang="pt-BR" noProof="0" dirty="0"/>
              <a:t>Os neurônios se comunicam uns com os outros através das </a:t>
            </a:r>
            <a:r>
              <a:rPr lang="pt-BR" b="1" noProof="0" dirty="0">
                <a:solidFill>
                  <a:srgbClr val="FF0000"/>
                </a:solidFill>
              </a:rPr>
              <a:t>sinapses</a:t>
            </a:r>
            <a:r>
              <a:rPr lang="pt-BR" noProof="0" dirty="0"/>
              <a:t>.</a:t>
            </a:r>
          </a:p>
          <a:p>
            <a:r>
              <a:rPr lang="pt-BR" b="1" noProof="0" dirty="0"/>
              <a:t>Sinapses</a:t>
            </a:r>
            <a:r>
              <a:rPr lang="pt-BR" noProof="0" dirty="0"/>
              <a:t> são os </a:t>
            </a:r>
            <a:r>
              <a:rPr lang="pt-BR" b="1" noProof="0" dirty="0"/>
              <a:t>pontos de contato </a:t>
            </a:r>
            <a:r>
              <a:rPr lang="pt-BR" noProof="0" dirty="0"/>
              <a:t>entre os </a:t>
            </a:r>
            <a:r>
              <a:rPr lang="pt-BR" b="1" noProof="0" dirty="0" err="1"/>
              <a:t>dentritos</a:t>
            </a:r>
            <a:r>
              <a:rPr lang="pt-BR" noProof="0" dirty="0"/>
              <a:t> de um neurônio e os </a:t>
            </a:r>
            <a:r>
              <a:rPr lang="pt-BR" b="1" noProof="0" dirty="0"/>
              <a:t>terminais do axônio </a:t>
            </a:r>
            <a:r>
              <a:rPr lang="pt-BR" noProof="0" dirty="0"/>
              <a:t>de outros neurônios.</a:t>
            </a:r>
          </a:p>
          <a:p>
            <a:r>
              <a:rPr lang="pt-BR" noProof="0" dirty="0"/>
              <a:t>As sinapses podem ser:</a:t>
            </a:r>
          </a:p>
          <a:p>
            <a:pPr lvl="1">
              <a:buFont typeface="Wingdings" panose="05000000000000000000" pitchFamily="2" charset="2"/>
              <a:buChar char="§"/>
            </a:pPr>
            <a:r>
              <a:rPr lang="pt-BR" b="1" dirty="0"/>
              <a:t>Excitatórias</a:t>
            </a:r>
            <a:r>
              <a:rPr lang="pt-BR" dirty="0"/>
              <a:t>: aumentam a chance de disparo.</a:t>
            </a:r>
          </a:p>
          <a:p>
            <a:pPr lvl="1">
              <a:buFont typeface="Wingdings" panose="05000000000000000000" pitchFamily="2" charset="2"/>
              <a:buChar char="§"/>
            </a:pPr>
            <a:r>
              <a:rPr lang="pt-BR" b="1" dirty="0"/>
              <a:t>Inibitórias</a:t>
            </a:r>
            <a:r>
              <a:rPr lang="pt-BR" dirty="0"/>
              <a:t>: diminuem a chance de disparo.</a:t>
            </a:r>
            <a:endParaRPr lang="pt-BR" b="1" noProof="0" dirty="0"/>
          </a:p>
          <a:p>
            <a:pPr lvl="1">
              <a:buFont typeface="Wingdings" panose="05000000000000000000" pitchFamily="2" charset="2"/>
              <a:buChar char="§"/>
            </a:pPr>
            <a:r>
              <a:rPr lang="pt-BR" b="1" noProof="0" dirty="0"/>
              <a:t>Fortes</a:t>
            </a:r>
            <a:r>
              <a:rPr lang="pt-BR" noProof="0" dirty="0"/>
              <a:t>: a informação de um neurônio é muito importante para o próximo.</a:t>
            </a:r>
          </a:p>
          <a:p>
            <a:pPr lvl="1">
              <a:buFont typeface="Wingdings" panose="05000000000000000000" pitchFamily="2" charset="2"/>
              <a:buChar char="§"/>
            </a:pPr>
            <a:r>
              <a:rPr lang="pt-BR" b="1" noProof="0" dirty="0"/>
              <a:t>Fracas</a:t>
            </a:r>
            <a:r>
              <a:rPr lang="pt-BR" noProof="0" dirty="0"/>
              <a:t>: a informação de um neurônio não é tão importante para o próximo.</a:t>
            </a:r>
          </a:p>
        </p:txBody>
      </p:sp>
      <p:grpSp>
        <p:nvGrpSpPr>
          <p:cNvPr id="4" name="Agrupar 3">
            <a:extLst>
              <a:ext uri="{FF2B5EF4-FFF2-40B4-BE49-F238E27FC236}">
                <a16:creationId xmlns:a16="http://schemas.microsoft.com/office/drawing/2014/main" id="{2D96ECB5-848A-C88C-056F-52DA508E7224}"/>
              </a:ext>
            </a:extLst>
          </p:cNvPr>
          <p:cNvGrpSpPr/>
          <p:nvPr/>
        </p:nvGrpSpPr>
        <p:grpSpPr>
          <a:xfrm>
            <a:off x="363792" y="1836762"/>
            <a:ext cx="4788311" cy="2902483"/>
            <a:chOff x="-71873" y="2058398"/>
            <a:chExt cx="5701148" cy="3587746"/>
          </a:xfrm>
        </p:grpSpPr>
        <p:pic>
          <p:nvPicPr>
            <p:cNvPr id="6" name="Picture 6" descr="Explainer: What is a neuron? | Science News for Students">
              <a:extLst>
                <a:ext uri="{FF2B5EF4-FFF2-40B4-BE49-F238E27FC236}">
                  <a16:creationId xmlns:a16="http://schemas.microsoft.com/office/drawing/2014/main" id="{759A4CA3-01FF-6AF2-87C1-457853CE01F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333" t="5158" r="3204" b="4941"/>
            <a:stretch/>
          </p:blipFill>
          <p:spPr bwMode="auto">
            <a:xfrm>
              <a:off x="137678" y="2318389"/>
              <a:ext cx="5491597" cy="314892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1426AD33-5765-CC42-08C3-2BCF4841ED32}"/>
                    </a:ext>
                  </a:extLst>
                </p:cNvPr>
                <p:cNvSpPr txBox="1"/>
                <p:nvPr/>
              </p:nvSpPr>
              <p:spPr>
                <a:xfrm>
                  <a:off x="3024185" y="3177631"/>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1</m:t>
                            </m:r>
                          </m:sub>
                        </m:sSub>
                      </m:oMath>
                    </m:oMathPara>
                  </a14:m>
                  <a:endParaRPr lang="pt-BR" sz="1400" dirty="0"/>
                </a:p>
              </p:txBody>
            </p:sp>
          </mc:Choice>
          <mc:Fallback xmlns="">
            <p:sp>
              <p:nvSpPr>
                <p:cNvPr id="7" name="CaixaDeTexto 6">
                  <a:extLst>
                    <a:ext uri="{FF2B5EF4-FFF2-40B4-BE49-F238E27FC236}">
                      <a16:creationId xmlns:a16="http://schemas.microsoft.com/office/drawing/2014/main" id="{1426AD33-5765-CC42-08C3-2BCF4841ED32}"/>
                    </a:ext>
                  </a:extLst>
                </p:cNvPr>
                <p:cNvSpPr txBox="1">
                  <a:spLocks noRot="1" noChangeAspect="1" noMove="1" noResize="1" noEditPoints="1" noAdjustHandles="1" noChangeArrowheads="1" noChangeShapeType="1" noTextEdit="1"/>
                </p:cNvSpPr>
                <p:nvPr/>
              </p:nvSpPr>
              <p:spPr>
                <a:xfrm>
                  <a:off x="3024185" y="3177631"/>
                  <a:ext cx="419101" cy="307777"/>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A3EB7877-CD22-CF2C-BF7F-0B3FC8CB3052}"/>
                    </a:ext>
                  </a:extLst>
                </p:cNvPr>
                <p:cNvSpPr txBox="1"/>
                <p:nvPr/>
              </p:nvSpPr>
              <p:spPr>
                <a:xfrm>
                  <a:off x="3024185" y="2850339"/>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2</m:t>
                            </m:r>
                          </m:sub>
                        </m:sSub>
                      </m:oMath>
                    </m:oMathPara>
                  </a14:m>
                  <a:endParaRPr lang="pt-BR" sz="1400" dirty="0"/>
                </a:p>
              </p:txBody>
            </p:sp>
          </mc:Choice>
          <mc:Fallback xmlns="">
            <p:sp>
              <p:nvSpPr>
                <p:cNvPr id="8" name="CaixaDeTexto 7">
                  <a:extLst>
                    <a:ext uri="{FF2B5EF4-FFF2-40B4-BE49-F238E27FC236}">
                      <a16:creationId xmlns:a16="http://schemas.microsoft.com/office/drawing/2014/main" id="{A3EB7877-CD22-CF2C-BF7F-0B3FC8CB3052}"/>
                    </a:ext>
                  </a:extLst>
                </p:cNvPr>
                <p:cNvSpPr txBox="1">
                  <a:spLocks noRot="1" noChangeAspect="1" noMove="1" noResize="1" noEditPoints="1" noAdjustHandles="1" noChangeArrowheads="1" noChangeShapeType="1" noTextEdit="1"/>
                </p:cNvSpPr>
                <p:nvPr/>
              </p:nvSpPr>
              <p:spPr>
                <a:xfrm>
                  <a:off x="3024185" y="2850339"/>
                  <a:ext cx="419101" cy="30777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2804298E-F08E-8578-9080-ECAB4DAD1CDE}"/>
                    </a:ext>
                  </a:extLst>
                </p:cNvPr>
                <p:cNvSpPr txBox="1"/>
                <p:nvPr/>
              </p:nvSpPr>
              <p:spPr>
                <a:xfrm>
                  <a:off x="3233735" y="2595541"/>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3</m:t>
                            </m:r>
                          </m:sub>
                        </m:sSub>
                      </m:oMath>
                    </m:oMathPara>
                  </a14:m>
                  <a:endParaRPr lang="pt-BR" sz="1400" dirty="0"/>
                </a:p>
              </p:txBody>
            </p:sp>
          </mc:Choice>
          <mc:Fallback xmlns="">
            <p:sp>
              <p:nvSpPr>
                <p:cNvPr id="9" name="CaixaDeTexto 8">
                  <a:extLst>
                    <a:ext uri="{FF2B5EF4-FFF2-40B4-BE49-F238E27FC236}">
                      <a16:creationId xmlns:a16="http://schemas.microsoft.com/office/drawing/2014/main" id="{2804298E-F08E-8578-9080-ECAB4DAD1CDE}"/>
                    </a:ext>
                  </a:extLst>
                </p:cNvPr>
                <p:cNvSpPr txBox="1">
                  <a:spLocks noRot="1" noChangeAspect="1" noMove="1" noResize="1" noEditPoints="1" noAdjustHandles="1" noChangeArrowheads="1" noChangeShapeType="1" noTextEdit="1"/>
                </p:cNvSpPr>
                <p:nvPr/>
              </p:nvSpPr>
              <p:spPr>
                <a:xfrm>
                  <a:off x="3233735" y="2595541"/>
                  <a:ext cx="419101" cy="307777"/>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222E6389-02E2-B0D7-830F-E940B5FE6251}"/>
                    </a:ext>
                  </a:extLst>
                </p:cNvPr>
                <p:cNvSpPr txBox="1"/>
                <p:nvPr/>
              </p:nvSpPr>
              <p:spPr>
                <a:xfrm>
                  <a:off x="3529011" y="2139555"/>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4</m:t>
                            </m:r>
                          </m:sub>
                        </m:sSub>
                      </m:oMath>
                    </m:oMathPara>
                  </a14:m>
                  <a:endParaRPr lang="pt-BR" sz="1400" dirty="0"/>
                </a:p>
              </p:txBody>
            </p:sp>
          </mc:Choice>
          <mc:Fallback xmlns="">
            <p:sp>
              <p:nvSpPr>
                <p:cNvPr id="10" name="CaixaDeTexto 9">
                  <a:extLst>
                    <a:ext uri="{FF2B5EF4-FFF2-40B4-BE49-F238E27FC236}">
                      <a16:creationId xmlns:a16="http://schemas.microsoft.com/office/drawing/2014/main" id="{222E6389-02E2-B0D7-830F-E940B5FE6251}"/>
                    </a:ext>
                  </a:extLst>
                </p:cNvPr>
                <p:cNvSpPr txBox="1">
                  <a:spLocks noRot="1" noChangeAspect="1" noMove="1" noResize="1" noEditPoints="1" noAdjustHandles="1" noChangeArrowheads="1" noChangeShapeType="1" noTextEdit="1"/>
                </p:cNvSpPr>
                <p:nvPr/>
              </p:nvSpPr>
              <p:spPr>
                <a:xfrm>
                  <a:off x="3529011" y="2139555"/>
                  <a:ext cx="419101" cy="307777"/>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B42E4CAB-BAEC-70F9-C539-CC7474AF4E6E}"/>
                    </a:ext>
                  </a:extLst>
                </p:cNvPr>
                <p:cNvSpPr txBox="1"/>
                <p:nvPr/>
              </p:nvSpPr>
              <p:spPr>
                <a:xfrm>
                  <a:off x="4431505" y="2058398"/>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𝑘</m:t>
                            </m:r>
                          </m:sub>
                        </m:sSub>
                      </m:oMath>
                    </m:oMathPara>
                  </a14:m>
                  <a:endParaRPr lang="pt-BR" sz="1400" dirty="0"/>
                </a:p>
              </p:txBody>
            </p:sp>
          </mc:Choice>
          <mc:Fallback xmlns="">
            <p:sp>
              <p:nvSpPr>
                <p:cNvPr id="11" name="CaixaDeTexto 10">
                  <a:extLst>
                    <a:ext uri="{FF2B5EF4-FFF2-40B4-BE49-F238E27FC236}">
                      <a16:creationId xmlns:a16="http://schemas.microsoft.com/office/drawing/2014/main" id="{B42E4CAB-BAEC-70F9-C539-CC7474AF4E6E}"/>
                    </a:ext>
                  </a:extLst>
                </p:cNvPr>
                <p:cNvSpPr txBox="1">
                  <a:spLocks noRot="1" noChangeAspect="1" noMove="1" noResize="1" noEditPoints="1" noAdjustHandles="1" noChangeArrowheads="1" noChangeShapeType="1" noTextEdit="1"/>
                </p:cNvSpPr>
                <p:nvPr/>
              </p:nvSpPr>
              <p:spPr>
                <a:xfrm>
                  <a:off x="4431505" y="2058398"/>
                  <a:ext cx="419101" cy="307777"/>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AB8D382C-F476-6225-C2D1-63AD58286DDF}"/>
                    </a:ext>
                  </a:extLst>
                </p:cNvPr>
                <p:cNvSpPr txBox="1"/>
                <p:nvPr/>
              </p:nvSpPr>
              <p:spPr>
                <a:xfrm>
                  <a:off x="3386136" y="4062609"/>
                  <a:ext cx="41910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𝑥</m:t>
                            </m:r>
                          </m:e>
                          <m:sub>
                            <m:r>
                              <a:rPr lang="pt-BR" sz="1400" b="0" i="1" smtClean="0">
                                <a:latin typeface="Cambria Math" panose="02040503050406030204" pitchFamily="18" charset="0"/>
                              </a:rPr>
                              <m:t>𝐾</m:t>
                            </m:r>
                          </m:sub>
                        </m:sSub>
                      </m:oMath>
                    </m:oMathPara>
                  </a14:m>
                  <a:endParaRPr lang="pt-BR" sz="1400" dirty="0"/>
                </a:p>
              </p:txBody>
            </p:sp>
          </mc:Choice>
          <mc:Fallback xmlns="">
            <p:sp>
              <p:nvSpPr>
                <p:cNvPr id="12" name="CaixaDeTexto 11">
                  <a:extLst>
                    <a:ext uri="{FF2B5EF4-FFF2-40B4-BE49-F238E27FC236}">
                      <a16:creationId xmlns:a16="http://schemas.microsoft.com/office/drawing/2014/main" id="{AB8D382C-F476-6225-C2D1-63AD58286DDF}"/>
                    </a:ext>
                  </a:extLst>
                </p:cNvPr>
                <p:cNvSpPr txBox="1">
                  <a:spLocks noRot="1" noChangeAspect="1" noMove="1" noResize="1" noEditPoints="1" noAdjustHandles="1" noChangeArrowheads="1" noChangeShapeType="1" noTextEdit="1"/>
                </p:cNvSpPr>
                <p:nvPr/>
              </p:nvSpPr>
              <p:spPr>
                <a:xfrm>
                  <a:off x="3386136" y="4062609"/>
                  <a:ext cx="419101" cy="307777"/>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1A24BA65-3B24-6F73-B703-EE543DC29EDF}"/>
                    </a:ext>
                  </a:extLst>
                </p:cNvPr>
                <p:cNvSpPr txBox="1"/>
                <p:nvPr/>
              </p:nvSpPr>
              <p:spPr>
                <a:xfrm>
                  <a:off x="0" y="5265190"/>
                  <a:ext cx="419101" cy="307777"/>
                </a:xfrm>
                <a:prstGeom prst="rect">
                  <a:avLst/>
                </a:prstGeom>
                <a:noFill/>
              </p:spPr>
              <p:txBody>
                <a:bodyPr wrap="square" rtlCol="0">
                  <a:spAutoFit/>
                </a:bodyPr>
                <a:lstStyle/>
                <a:p>
                  <a:pPr algn="ctr"/>
                  <a14:m>
                    <m:oMathPara xmlns:m="http://schemas.openxmlformats.org/officeDocument/2006/math">
                      <m:oMath>
                        <m:r>
                          <a:rPr lang="pt-BR" sz="1400" b="0" i="1" smtClean="0">
                            <a:latin typeface="Cambria Math" panose="02040503050406030204" pitchFamily="18" charset="0"/>
                          </a:rPr>
                          <m:t>𝑦</m:t>
                        </m:r>
                      </m:oMath>
                    </m:oMathPara>
                  </a14:m>
                  <a:endParaRPr lang="pt-BR" sz="1400" dirty="0"/>
                </a:p>
              </p:txBody>
            </p:sp>
          </mc:Choice>
          <mc:Fallback xmlns="">
            <p:sp>
              <p:nvSpPr>
                <p:cNvPr id="13" name="CaixaDeTexto 12">
                  <a:extLst>
                    <a:ext uri="{FF2B5EF4-FFF2-40B4-BE49-F238E27FC236}">
                      <a16:creationId xmlns:a16="http://schemas.microsoft.com/office/drawing/2014/main" id="{1A24BA65-3B24-6F73-B703-EE543DC29EDF}"/>
                    </a:ext>
                  </a:extLst>
                </p:cNvPr>
                <p:cNvSpPr txBox="1">
                  <a:spLocks noRot="1" noChangeAspect="1" noMove="1" noResize="1" noEditPoints="1" noAdjustHandles="1" noChangeArrowheads="1" noChangeShapeType="1" noTextEdit="1"/>
                </p:cNvSpPr>
                <p:nvPr/>
              </p:nvSpPr>
              <p:spPr>
                <a:xfrm>
                  <a:off x="0" y="5265190"/>
                  <a:ext cx="419101" cy="307777"/>
                </a:xfrm>
                <a:prstGeom prst="rect">
                  <a:avLst/>
                </a:prstGeom>
                <a:blipFill>
                  <a:blip r:embed="rId10"/>
                  <a:stretch>
                    <a:fillRect b="-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744E9EED-B077-89E6-B9E6-CD6C5BD17DE2}"/>
                    </a:ext>
                  </a:extLst>
                </p:cNvPr>
                <p:cNvSpPr txBox="1"/>
                <p:nvPr/>
              </p:nvSpPr>
              <p:spPr>
                <a:xfrm>
                  <a:off x="507205" y="5338367"/>
                  <a:ext cx="419101" cy="307777"/>
                </a:xfrm>
                <a:prstGeom prst="rect">
                  <a:avLst/>
                </a:prstGeom>
                <a:noFill/>
              </p:spPr>
              <p:txBody>
                <a:bodyPr wrap="square" rtlCol="0">
                  <a:spAutoFit/>
                </a:bodyPr>
                <a:lstStyle/>
                <a:p>
                  <a:pPr algn="ctr"/>
                  <a14:m>
                    <m:oMathPara xmlns:m="http://schemas.openxmlformats.org/officeDocument/2006/math">
                      <m:oMath>
                        <m:r>
                          <a:rPr lang="pt-BR" sz="1400" b="0" i="1" smtClean="0">
                            <a:latin typeface="Cambria Math" panose="02040503050406030204" pitchFamily="18" charset="0"/>
                          </a:rPr>
                          <m:t>𝑦</m:t>
                        </m:r>
                      </m:oMath>
                    </m:oMathPara>
                  </a14:m>
                  <a:endParaRPr lang="pt-BR" sz="1400" dirty="0"/>
                </a:p>
              </p:txBody>
            </p:sp>
          </mc:Choice>
          <mc:Fallback xmlns="">
            <p:sp>
              <p:nvSpPr>
                <p:cNvPr id="14" name="CaixaDeTexto 13">
                  <a:extLst>
                    <a:ext uri="{FF2B5EF4-FFF2-40B4-BE49-F238E27FC236}">
                      <a16:creationId xmlns:a16="http://schemas.microsoft.com/office/drawing/2014/main" id="{744E9EED-B077-89E6-B9E6-CD6C5BD17DE2}"/>
                    </a:ext>
                  </a:extLst>
                </p:cNvPr>
                <p:cNvSpPr txBox="1">
                  <a:spLocks noRot="1" noChangeAspect="1" noMove="1" noResize="1" noEditPoints="1" noAdjustHandles="1" noChangeArrowheads="1" noChangeShapeType="1" noTextEdit="1"/>
                </p:cNvSpPr>
                <p:nvPr/>
              </p:nvSpPr>
              <p:spPr>
                <a:xfrm>
                  <a:off x="507205" y="5338367"/>
                  <a:ext cx="419101" cy="307777"/>
                </a:xfrm>
                <a:prstGeom prst="rect">
                  <a:avLst/>
                </a:prstGeom>
                <a:blipFill>
                  <a:blip r:embed="rId10"/>
                  <a:stretch>
                    <a:fillRect b="-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092CAD5F-0BF8-939D-F4EC-0F88C1A87020}"/>
                    </a:ext>
                  </a:extLst>
                </p:cNvPr>
                <p:cNvSpPr txBox="1"/>
                <p:nvPr/>
              </p:nvSpPr>
              <p:spPr>
                <a:xfrm>
                  <a:off x="214310" y="4273607"/>
                  <a:ext cx="419101" cy="307777"/>
                </a:xfrm>
                <a:prstGeom prst="rect">
                  <a:avLst/>
                </a:prstGeom>
                <a:noFill/>
              </p:spPr>
              <p:txBody>
                <a:bodyPr wrap="square" rtlCol="0">
                  <a:spAutoFit/>
                </a:bodyPr>
                <a:lstStyle/>
                <a:p>
                  <a:pPr algn="ctr"/>
                  <a14:m>
                    <m:oMathPara xmlns:m="http://schemas.openxmlformats.org/officeDocument/2006/math">
                      <m:oMath>
                        <m:r>
                          <a:rPr lang="pt-BR" sz="1400" b="0" i="1" smtClean="0">
                            <a:latin typeface="Cambria Math" panose="02040503050406030204" pitchFamily="18" charset="0"/>
                          </a:rPr>
                          <m:t>𝑦</m:t>
                        </m:r>
                      </m:oMath>
                    </m:oMathPara>
                  </a14:m>
                  <a:endParaRPr lang="pt-BR" sz="1400" dirty="0"/>
                </a:p>
              </p:txBody>
            </p:sp>
          </mc:Choice>
          <mc:Fallback xmlns="">
            <p:sp>
              <p:nvSpPr>
                <p:cNvPr id="15" name="CaixaDeTexto 14">
                  <a:extLst>
                    <a:ext uri="{FF2B5EF4-FFF2-40B4-BE49-F238E27FC236}">
                      <a16:creationId xmlns:a16="http://schemas.microsoft.com/office/drawing/2014/main" id="{092CAD5F-0BF8-939D-F4EC-0F88C1A87020}"/>
                    </a:ext>
                  </a:extLst>
                </p:cNvPr>
                <p:cNvSpPr txBox="1">
                  <a:spLocks noRot="1" noChangeAspect="1" noMove="1" noResize="1" noEditPoints="1" noAdjustHandles="1" noChangeArrowheads="1" noChangeShapeType="1" noTextEdit="1"/>
                </p:cNvSpPr>
                <p:nvPr/>
              </p:nvSpPr>
              <p:spPr>
                <a:xfrm>
                  <a:off x="214310" y="4273607"/>
                  <a:ext cx="419101" cy="307777"/>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0569B0F1-5032-81E0-38FD-0E985591A83A}"/>
                    </a:ext>
                  </a:extLst>
                </p:cNvPr>
                <p:cNvSpPr txBox="1"/>
                <p:nvPr/>
              </p:nvSpPr>
              <p:spPr>
                <a:xfrm>
                  <a:off x="-71873" y="4948219"/>
                  <a:ext cx="419101" cy="307777"/>
                </a:xfrm>
                <a:prstGeom prst="rect">
                  <a:avLst/>
                </a:prstGeom>
                <a:noFill/>
              </p:spPr>
              <p:txBody>
                <a:bodyPr wrap="square" rtlCol="0">
                  <a:spAutoFit/>
                </a:bodyPr>
                <a:lstStyle/>
                <a:p>
                  <a:pPr algn="ctr"/>
                  <a14:m>
                    <m:oMathPara xmlns:m="http://schemas.openxmlformats.org/officeDocument/2006/math">
                      <m:oMath>
                        <m:r>
                          <a:rPr lang="pt-BR" sz="1400" b="0" i="1" smtClean="0">
                            <a:latin typeface="Cambria Math" panose="02040503050406030204" pitchFamily="18" charset="0"/>
                          </a:rPr>
                          <m:t>𝑦</m:t>
                        </m:r>
                      </m:oMath>
                    </m:oMathPara>
                  </a14:m>
                  <a:endParaRPr lang="pt-BR" sz="1400" dirty="0"/>
                </a:p>
              </p:txBody>
            </p:sp>
          </mc:Choice>
          <mc:Fallback xmlns="">
            <p:sp>
              <p:nvSpPr>
                <p:cNvPr id="16" name="CaixaDeTexto 15">
                  <a:extLst>
                    <a:ext uri="{FF2B5EF4-FFF2-40B4-BE49-F238E27FC236}">
                      <a16:creationId xmlns:a16="http://schemas.microsoft.com/office/drawing/2014/main" id="{0569B0F1-5032-81E0-38FD-0E985591A83A}"/>
                    </a:ext>
                  </a:extLst>
                </p:cNvPr>
                <p:cNvSpPr txBox="1">
                  <a:spLocks noRot="1" noChangeAspect="1" noMove="1" noResize="1" noEditPoints="1" noAdjustHandles="1" noChangeArrowheads="1" noChangeShapeType="1" noTextEdit="1"/>
                </p:cNvSpPr>
                <p:nvPr/>
              </p:nvSpPr>
              <p:spPr>
                <a:xfrm>
                  <a:off x="-71873" y="4948219"/>
                  <a:ext cx="419101" cy="307777"/>
                </a:xfrm>
                <a:prstGeom prst="rect">
                  <a:avLst/>
                </a:prstGeom>
                <a:blipFill>
                  <a:blip r:embed="rId10"/>
                  <a:stretch>
                    <a:fillRect b="-2000"/>
                  </a:stretch>
                </a:blipFill>
              </p:spPr>
              <p:txBody>
                <a:bodyPr/>
                <a:lstStyle/>
                <a:p>
                  <a:r>
                    <a:rPr lang="pt-BR">
                      <a:noFill/>
                    </a:rPr>
                    <a:t> </a:t>
                  </a:r>
                </a:p>
              </p:txBody>
            </p:sp>
          </mc:Fallback>
        </mc:AlternateContent>
      </p:grpSp>
      <p:pic>
        <p:nvPicPr>
          <p:cNvPr id="1026" name="Picture 2" descr="Sinapses: Partes, Funções e Tipos de sinapses - Psicoativo ...">
            <a:extLst>
              <a:ext uri="{FF2B5EF4-FFF2-40B4-BE49-F238E27FC236}">
                <a16:creationId xmlns:a16="http://schemas.microsoft.com/office/drawing/2014/main" id="{DAF695C8-FDDC-46FC-779C-6B1769BDD492}"/>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034116" y="4950974"/>
            <a:ext cx="3060008" cy="1820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0228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C7E755-11FB-5503-F077-DF631F5CB834}"/>
              </a:ext>
            </a:extLst>
          </p:cNvPr>
          <p:cNvSpPr>
            <a:spLocks noGrp="1"/>
          </p:cNvSpPr>
          <p:nvPr>
            <p:ph type="title"/>
          </p:nvPr>
        </p:nvSpPr>
        <p:spPr/>
        <p:txBody>
          <a:bodyPr/>
          <a:lstStyle/>
          <a:p>
            <a:r>
              <a:rPr lang="pt-BR" dirty="0"/>
              <a:t>Neurônio biológico</a:t>
            </a:r>
          </a:p>
        </p:txBody>
      </p:sp>
      <p:sp>
        <p:nvSpPr>
          <p:cNvPr id="3" name="Espaço Reservado para Conteúdo 2">
            <a:extLst>
              <a:ext uri="{FF2B5EF4-FFF2-40B4-BE49-F238E27FC236}">
                <a16:creationId xmlns:a16="http://schemas.microsoft.com/office/drawing/2014/main" id="{C151907C-2CEE-D100-622D-830DCF5CE15A}"/>
              </a:ext>
            </a:extLst>
          </p:cNvPr>
          <p:cNvSpPr>
            <a:spLocks noGrp="1"/>
          </p:cNvSpPr>
          <p:nvPr>
            <p:ph idx="1"/>
          </p:nvPr>
        </p:nvSpPr>
        <p:spPr>
          <a:xfrm>
            <a:off x="5629275" y="1825624"/>
            <a:ext cx="6425046" cy="5032375"/>
          </a:xfrm>
        </p:spPr>
        <p:txBody>
          <a:bodyPr>
            <a:normAutofit/>
          </a:bodyPr>
          <a:lstStyle/>
          <a:p>
            <a:r>
              <a:rPr lang="pt-BR" dirty="0"/>
              <a:t>Em termos bem simples, o </a:t>
            </a:r>
            <a:r>
              <a:rPr lang="pt-BR" b="1" dirty="0"/>
              <a:t>neurônio </a:t>
            </a:r>
            <a:r>
              <a:rPr lang="pt-BR" dirty="0"/>
              <a:t>funciona da seguinte forma:</a:t>
            </a:r>
          </a:p>
          <a:p>
            <a:pPr lvl="1">
              <a:buFont typeface="Wingdings" panose="05000000000000000000" pitchFamily="2" charset="2"/>
              <a:buChar char="§"/>
            </a:pPr>
            <a:r>
              <a:rPr lang="pt-BR" dirty="0"/>
              <a:t>Ele </a:t>
            </a:r>
            <a:r>
              <a:rPr lang="pt-BR" b="1" dirty="0"/>
              <a:t>recebe estímulos elétricos</a:t>
            </a:r>
            <a:r>
              <a:rPr lang="pt-BR" dirty="0"/>
              <a:t> através dos dendritos.</a:t>
            </a:r>
          </a:p>
          <a:p>
            <a:pPr lvl="1">
              <a:buFont typeface="Wingdings" panose="05000000000000000000" pitchFamily="2" charset="2"/>
              <a:buChar char="§"/>
            </a:pPr>
            <a:r>
              <a:rPr lang="pt-BR" dirty="0"/>
              <a:t>Esses </a:t>
            </a:r>
            <a:r>
              <a:rPr lang="pt-BR" b="1" dirty="0"/>
              <a:t>estímulos são integrados </a:t>
            </a:r>
            <a:r>
              <a:rPr lang="pt-BR" dirty="0"/>
              <a:t>no corpo celular (soma).</a:t>
            </a:r>
          </a:p>
          <a:p>
            <a:pPr lvl="1">
              <a:buFont typeface="Wingdings" panose="05000000000000000000" pitchFamily="2" charset="2"/>
              <a:buChar char="§"/>
            </a:pPr>
            <a:r>
              <a:rPr lang="pt-BR" dirty="0"/>
              <a:t>Se a </a:t>
            </a:r>
            <a:r>
              <a:rPr lang="pt-BR" b="1" dirty="0"/>
              <a:t>integração dos estímulos </a:t>
            </a:r>
            <a:r>
              <a:rPr lang="pt-BR" dirty="0"/>
              <a:t>exceder um certo </a:t>
            </a:r>
            <a:r>
              <a:rPr lang="pt-BR" b="1" dirty="0"/>
              <a:t>limiar de ativação</a:t>
            </a:r>
            <a:r>
              <a:rPr lang="pt-BR" dirty="0"/>
              <a:t>, o </a:t>
            </a:r>
            <a:r>
              <a:rPr lang="pt-BR" b="1" dirty="0"/>
              <a:t>neurônio</a:t>
            </a:r>
            <a:r>
              <a:rPr lang="pt-BR" dirty="0"/>
              <a:t> gera um </a:t>
            </a:r>
            <a:r>
              <a:rPr lang="pt-BR" b="1" dirty="0"/>
              <a:t>impulso</a:t>
            </a:r>
            <a:r>
              <a:rPr lang="pt-BR" dirty="0"/>
              <a:t> (ou </a:t>
            </a:r>
            <a:r>
              <a:rPr lang="pt-BR" b="1" dirty="0"/>
              <a:t>potencial de ação</a:t>
            </a:r>
            <a:r>
              <a:rPr lang="pt-BR" dirty="0"/>
              <a:t>) que é enviado pelos terminais do axônio a outros neurônios através das </a:t>
            </a:r>
            <a:r>
              <a:rPr lang="pt-BR" b="1" dirty="0"/>
              <a:t>sinapses</a:t>
            </a:r>
            <a:r>
              <a:rPr lang="pt-BR" dirty="0"/>
              <a:t>.</a:t>
            </a:r>
          </a:p>
        </p:txBody>
      </p:sp>
      <p:pic>
        <p:nvPicPr>
          <p:cNvPr id="4" name="Picture 4" descr="4 -Potencial de ação em um membrana celular neuronal. | Download ...">
            <a:extLst>
              <a:ext uri="{FF2B5EF4-FFF2-40B4-BE49-F238E27FC236}">
                <a16:creationId xmlns:a16="http://schemas.microsoft.com/office/drawing/2014/main" id="{8D8030FA-31D6-D143-F6AE-EAED513397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21" t="7550" r="2824"/>
          <a:stretch/>
        </p:blipFill>
        <p:spPr bwMode="auto">
          <a:xfrm>
            <a:off x="602702" y="1970958"/>
            <a:ext cx="4616997" cy="4392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4011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85AE58-CE14-CA98-8E06-900F544BEEF2}"/>
              </a:ext>
            </a:extLst>
          </p:cNvPr>
          <p:cNvSpPr>
            <a:spLocks noGrp="1"/>
          </p:cNvSpPr>
          <p:nvPr>
            <p:ph type="title"/>
          </p:nvPr>
        </p:nvSpPr>
        <p:spPr/>
        <p:txBody>
          <a:bodyPr/>
          <a:lstStyle/>
          <a:p>
            <a:r>
              <a:rPr lang="pt-BR" dirty="0"/>
              <a:t>Neurônio artificial</a:t>
            </a:r>
          </a:p>
        </p:txBody>
      </p:sp>
      <p:sp>
        <p:nvSpPr>
          <p:cNvPr id="3" name="Espaço Reservado para Conteúdo 2">
            <a:extLst>
              <a:ext uri="{FF2B5EF4-FFF2-40B4-BE49-F238E27FC236}">
                <a16:creationId xmlns:a16="http://schemas.microsoft.com/office/drawing/2014/main" id="{7AD301D6-DB59-55AE-6500-3F2B8EBC51E6}"/>
              </a:ext>
            </a:extLst>
          </p:cNvPr>
          <p:cNvSpPr>
            <a:spLocks noGrp="1"/>
          </p:cNvSpPr>
          <p:nvPr>
            <p:ph idx="1"/>
          </p:nvPr>
        </p:nvSpPr>
        <p:spPr>
          <a:xfrm>
            <a:off x="6400800" y="1690688"/>
            <a:ext cx="5676900" cy="5167312"/>
          </a:xfrm>
        </p:spPr>
        <p:txBody>
          <a:bodyPr>
            <a:normAutofit/>
          </a:bodyPr>
          <a:lstStyle/>
          <a:p>
            <a:r>
              <a:rPr lang="pt-BR" dirty="0"/>
              <a:t>Baseado no entendimento do funcionamento do neurônio biológico, a partir de </a:t>
            </a:r>
            <a:r>
              <a:rPr lang="pt-BR" b="1" dirty="0">
                <a:solidFill>
                  <a:schemeClr val="accent2"/>
                </a:solidFill>
              </a:rPr>
              <a:t>meados da década de 40</a:t>
            </a:r>
            <a:r>
              <a:rPr lang="pt-BR" dirty="0"/>
              <a:t>, pesquisadores propuseram o </a:t>
            </a:r>
            <a:r>
              <a:rPr lang="pt-BR" b="1" dirty="0">
                <a:solidFill>
                  <a:schemeClr val="accent2"/>
                </a:solidFill>
              </a:rPr>
              <a:t>modelo matemático ao lado</a:t>
            </a:r>
            <a:r>
              <a:rPr lang="pt-BR" dirty="0"/>
              <a:t>. </a:t>
            </a:r>
          </a:p>
          <a:p>
            <a:pPr lvl="1">
              <a:buFont typeface="Wingdings" panose="05000000000000000000" pitchFamily="2" charset="2"/>
              <a:buChar char="§"/>
            </a:pPr>
            <a:r>
              <a:rPr lang="pt-BR" b="0" dirty="0">
                <a:effectLst/>
              </a:rPr>
              <a:t>É uma </a:t>
            </a:r>
            <a:r>
              <a:rPr lang="pt-BR" b="1" dirty="0">
                <a:solidFill>
                  <a:srgbClr val="7030A0"/>
                </a:solidFill>
                <a:effectLst/>
              </a:rPr>
              <a:t>simplificação e abstração</a:t>
            </a:r>
            <a:r>
              <a:rPr lang="pt-BR" b="1" dirty="0">
                <a:effectLst/>
              </a:rPr>
              <a:t> </a:t>
            </a:r>
            <a:r>
              <a:rPr lang="pt-BR" b="0" dirty="0">
                <a:effectLst/>
              </a:rPr>
              <a:t>do funcionamento do neurônio biológico.</a:t>
            </a:r>
          </a:p>
          <a:p>
            <a:pPr marL="457200" lvl="1" indent="0">
              <a:buNone/>
            </a:pPr>
            <a:endParaRPr lang="pt-BR" dirty="0"/>
          </a:p>
          <a:p>
            <a:pPr marL="0" indent="0" algn="ctr">
              <a:buNone/>
            </a:pPr>
            <a:r>
              <a:rPr lang="pt-BR" b="1" i="0" dirty="0">
                <a:solidFill>
                  <a:schemeClr val="accent5"/>
                </a:solidFill>
                <a:effectLst/>
              </a:rPr>
              <a:t>Qual modelo de ML aprendido anteriormente se assemelha ao neurônio artificial?</a:t>
            </a:r>
          </a:p>
        </p:txBody>
      </p:sp>
      <p:sp>
        <p:nvSpPr>
          <p:cNvPr id="4" name="CaixaDeTexto 3">
            <a:extLst>
              <a:ext uri="{FF2B5EF4-FFF2-40B4-BE49-F238E27FC236}">
                <a16:creationId xmlns:a16="http://schemas.microsoft.com/office/drawing/2014/main" id="{B5A39511-41F6-F4F1-BA3F-9A287C51C073}"/>
              </a:ext>
            </a:extLst>
          </p:cNvPr>
          <p:cNvSpPr txBox="1"/>
          <p:nvPr/>
        </p:nvSpPr>
        <p:spPr>
          <a:xfrm>
            <a:off x="1897404" y="3768396"/>
            <a:ext cx="1495425" cy="523220"/>
          </a:xfrm>
          <a:prstGeom prst="rect">
            <a:avLst/>
          </a:prstGeom>
          <a:noFill/>
        </p:spPr>
        <p:txBody>
          <a:bodyPr wrap="square" rtlCol="0">
            <a:spAutoFit/>
          </a:bodyPr>
          <a:lstStyle/>
          <a:p>
            <a:pPr algn="ctr"/>
            <a:r>
              <a:rPr lang="pt-BR" sz="1400" dirty="0"/>
              <a:t>Soma ponderada dos estímulos</a:t>
            </a:r>
          </a:p>
        </p:txBody>
      </p:sp>
      <p:sp>
        <p:nvSpPr>
          <p:cNvPr id="5" name="CaixaDeTexto 4">
            <a:extLst>
              <a:ext uri="{FF2B5EF4-FFF2-40B4-BE49-F238E27FC236}">
                <a16:creationId xmlns:a16="http://schemas.microsoft.com/office/drawing/2014/main" id="{41ABEAFF-7ECD-135B-8EF6-58A24C4B6265}"/>
              </a:ext>
            </a:extLst>
          </p:cNvPr>
          <p:cNvSpPr txBox="1"/>
          <p:nvPr/>
        </p:nvSpPr>
        <p:spPr>
          <a:xfrm>
            <a:off x="3930451" y="3448468"/>
            <a:ext cx="1102245" cy="523220"/>
          </a:xfrm>
          <a:prstGeom prst="rect">
            <a:avLst/>
          </a:prstGeom>
          <a:noFill/>
        </p:spPr>
        <p:txBody>
          <a:bodyPr wrap="square" rtlCol="0">
            <a:spAutoFit/>
          </a:bodyPr>
          <a:lstStyle/>
          <a:p>
            <a:pPr algn="ctr"/>
            <a:r>
              <a:rPr lang="pt-BR" sz="1400" dirty="0"/>
              <a:t>Função de ativação</a:t>
            </a:r>
          </a:p>
        </p:txBody>
      </p:sp>
      <p:pic>
        <p:nvPicPr>
          <p:cNvPr id="7" name="Imagem 6">
            <a:extLst>
              <a:ext uri="{FF2B5EF4-FFF2-40B4-BE49-F238E27FC236}">
                <a16:creationId xmlns:a16="http://schemas.microsoft.com/office/drawing/2014/main" id="{915A98D5-4C5C-C265-4A66-A4312517AA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602" y="1770467"/>
            <a:ext cx="6043494" cy="4686312"/>
          </a:xfrm>
          <a:prstGeom prst="rect">
            <a:avLst/>
          </a:prstGeom>
        </p:spPr>
      </p:pic>
    </p:spTree>
    <p:extLst>
      <p:ext uri="{BB962C8B-B14F-4D97-AF65-F5344CB8AC3E}">
        <p14:creationId xmlns:p14="http://schemas.microsoft.com/office/powerpoint/2010/main" val="2529416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EAE50-5495-75C5-9691-395BA965FA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09AB997-D8A8-AA26-EB29-95F7B23FC39C}"/>
              </a:ext>
            </a:extLst>
          </p:cNvPr>
          <p:cNvSpPr>
            <a:spLocks noGrp="1"/>
          </p:cNvSpPr>
          <p:nvPr>
            <p:ph type="title"/>
          </p:nvPr>
        </p:nvSpPr>
        <p:spPr/>
        <p:txBody>
          <a:bodyPr/>
          <a:lstStyle/>
          <a:p>
            <a:r>
              <a:rPr lang="pt-BR" dirty="0"/>
              <a:t>Neurônio artificial</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58573E3-61FC-8F02-6F46-01A6D8E3F15D}"/>
                  </a:ext>
                </a:extLst>
              </p:cNvPr>
              <p:cNvSpPr>
                <a:spLocks noGrp="1"/>
              </p:cNvSpPr>
              <p:nvPr>
                <p:ph idx="1"/>
              </p:nvPr>
            </p:nvSpPr>
            <p:spPr>
              <a:xfrm>
                <a:off x="6213764" y="1690688"/>
                <a:ext cx="5889634" cy="5167312"/>
              </a:xfrm>
            </p:spPr>
            <p:txBody>
              <a:bodyPr>
                <a:normAutofit/>
              </a:bodyPr>
              <a:lstStyle/>
              <a:p>
                <a:r>
                  <a:rPr lang="pt-BR" dirty="0"/>
                  <a:t>O neurônio se assemelha ao </a:t>
                </a:r>
                <a:r>
                  <a:rPr lang="pt-BR" b="1" dirty="0">
                    <a:solidFill>
                      <a:schemeClr val="accent2"/>
                    </a:solidFill>
                  </a:rPr>
                  <a:t>regressor logístico</a:t>
                </a:r>
                <a:r>
                  <a:rPr lang="pt-BR" dirty="0"/>
                  <a:t>.</a:t>
                </a:r>
              </a:p>
              <a:p>
                <a:r>
                  <a:rPr lang="pt-BR" dirty="0"/>
                  <a:t>Os </a:t>
                </a:r>
                <a:r>
                  <a:rPr lang="pt-BR" b="1" dirty="0"/>
                  <a:t>estímulos</a:t>
                </a:r>
                <a:r>
                  <a:rPr lang="pt-BR" dirty="0"/>
                  <a:t>, </a:t>
                </a:r>
                <a14:m>
                  <m:oMath xmlns:m="http://schemas.openxmlformats.org/officeDocument/2006/math">
                    <m:sSub>
                      <m:sSubPr>
                        <m:ctrlPr>
                          <a:rPr lang="pt-BR" sz="2400" b="0" i="1" smtClean="0">
                            <a:latin typeface="Cambria Math" panose="02040503050406030204" pitchFamily="18" charset="0"/>
                          </a:rPr>
                        </m:ctrlPr>
                      </m:sSubPr>
                      <m:e>
                        <m:r>
                          <a:rPr lang="pt-BR" sz="2400" b="0" i="1" smtClean="0">
                            <a:latin typeface="Cambria Math" panose="02040503050406030204" pitchFamily="18" charset="0"/>
                          </a:rPr>
                          <m:t>𝑥</m:t>
                        </m:r>
                      </m:e>
                      <m:sub>
                        <m:r>
                          <a:rPr lang="pt-BR" sz="2400" b="0" i="1" smtClean="0">
                            <a:latin typeface="Cambria Math" panose="02040503050406030204" pitchFamily="18" charset="0"/>
                          </a:rPr>
                          <m:t>𝑘</m:t>
                        </m:r>
                      </m:sub>
                    </m:sSub>
                    <m:r>
                      <a:rPr lang="pt-BR" sz="2400" b="0" i="1" smtClean="0">
                        <a:latin typeface="Cambria Math" panose="02040503050406030204" pitchFamily="18" charset="0"/>
                      </a:rPr>
                      <m:t>, </m:t>
                    </m:r>
                    <m:r>
                      <a:rPr lang="pt-BR" sz="2400" b="0" i="1" smtClean="0">
                        <a:latin typeface="Cambria Math" panose="02040503050406030204" pitchFamily="18" charset="0"/>
                      </a:rPr>
                      <m:t>𝑘</m:t>
                    </m:r>
                    <m:r>
                      <a:rPr lang="pt-BR" sz="2400" b="0" i="1" smtClean="0">
                        <a:latin typeface="Cambria Math" panose="02040503050406030204" pitchFamily="18" charset="0"/>
                      </a:rPr>
                      <m:t>=1,…, </m:t>
                    </m:r>
                    <m:r>
                      <a:rPr lang="pt-BR" sz="2400" b="0" i="1" smtClean="0">
                        <a:latin typeface="Cambria Math" panose="02040503050406030204" pitchFamily="18" charset="0"/>
                      </a:rPr>
                      <m:t>𝐾</m:t>
                    </m:r>
                  </m:oMath>
                </a14:m>
                <a:r>
                  <a:rPr lang="pt-BR" dirty="0"/>
                  <a:t>, são </a:t>
                </a:r>
                <a:r>
                  <a:rPr lang="pt-BR" b="1" dirty="0"/>
                  <a:t>multiplicados</a:t>
                </a:r>
                <a:r>
                  <a:rPr lang="pt-BR" dirty="0"/>
                  <a:t> pelos </a:t>
                </a:r>
                <a:r>
                  <a:rPr lang="pt-BR" b="1" dirty="0"/>
                  <a:t>pesos sinápticos</a:t>
                </a:r>
                <a:r>
                  <a:rPr lang="pt-BR" dirty="0"/>
                  <a:t>,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i="1">
                            <a:latin typeface="Cambria Math" panose="02040503050406030204" pitchFamily="18" charset="0"/>
                          </a:rPr>
                          <m:t>𝑘</m:t>
                        </m:r>
                      </m:sub>
                    </m:sSub>
                    <m:r>
                      <a:rPr lang="pt-BR" i="1">
                        <a:latin typeface="Cambria Math" panose="02040503050406030204" pitchFamily="18" charset="0"/>
                      </a:rPr>
                      <m:t>, </m:t>
                    </m:r>
                    <m:r>
                      <a:rPr lang="pt-BR" i="1">
                        <a:latin typeface="Cambria Math" panose="02040503050406030204" pitchFamily="18" charset="0"/>
                      </a:rPr>
                      <m:t>𝑘</m:t>
                    </m:r>
                    <m:r>
                      <a:rPr lang="pt-BR" i="1">
                        <a:latin typeface="Cambria Math" panose="02040503050406030204" pitchFamily="18" charset="0"/>
                      </a:rPr>
                      <m:t>=1,…, </m:t>
                    </m:r>
                    <m:r>
                      <a:rPr lang="pt-BR" i="1">
                        <a:latin typeface="Cambria Math" panose="02040503050406030204" pitchFamily="18" charset="0"/>
                      </a:rPr>
                      <m:t>𝐾</m:t>
                    </m:r>
                  </m:oMath>
                </a14:m>
                <a:r>
                  <a:rPr lang="pt-BR" dirty="0"/>
                  <a:t>, somados ao </a:t>
                </a:r>
                <a:r>
                  <a:rPr lang="pt-BR" b="1" dirty="0"/>
                  <a:t>peso de bias</a:t>
                </a:r>
                <a:r>
                  <a:rPr lang="pt-BR" dirty="0"/>
                  <a:t>, </a:t>
                </a:r>
                <a14:m>
                  <m:oMath xmlns:m="http://schemas.openxmlformats.org/officeDocument/2006/math">
                    <m:r>
                      <a:rPr lang="pt-BR" b="0" i="1" smtClean="0">
                        <a:latin typeface="Cambria Math" panose="02040503050406030204" pitchFamily="18" charset="0"/>
                      </a:rPr>
                      <m:t>𝑏</m:t>
                    </m:r>
                  </m:oMath>
                </a14:m>
                <a:r>
                  <a:rPr lang="pt-BR" dirty="0"/>
                  <a:t>,</a:t>
                </a:r>
                <a:r>
                  <a:rPr lang="pt-BR" b="1" i="1" dirty="0"/>
                  <a:t> </a:t>
                </a:r>
                <a:r>
                  <a:rPr lang="pt-BR" dirty="0"/>
                  <a:t>e o resultado, </a:t>
                </a:r>
                <a14:m>
                  <m:oMath xmlns:m="http://schemas.openxmlformats.org/officeDocument/2006/math">
                    <m:r>
                      <a:rPr lang="pt-BR" b="0" i="1" smtClean="0">
                        <a:latin typeface="Cambria Math" panose="02040503050406030204" pitchFamily="18" charset="0"/>
                      </a:rPr>
                      <m:t>𝑔</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a14:m>
                <a:r>
                  <a:rPr lang="pt-BR" dirty="0"/>
                  <a:t>, é passado através de uma </a:t>
                </a:r>
                <a:r>
                  <a:rPr lang="pt-BR" b="1" dirty="0"/>
                  <a:t>função de ativação</a:t>
                </a:r>
                <a:r>
                  <a:rPr lang="pt-BR" dirty="0"/>
                  <a:t>, </a:t>
                </a:r>
                <a14:m>
                  <m:oMath xmlns:m="http://schemas.openxmlformats.org/officeDocument/2006/math">
                    <m:r>
                      <a:rPr lang="pt-BR" b="0" i="1" smtClean="0">
                        <a:latin typeface="Cambria Math" panose="02040503050406030204" pitchFamily="18" charset="0"/>
                      </a:rPr>
                      <m:t>𝑓</m:t>
                    </m:r>
                    <m:r>
                      <a:rPr lang="pt-BR" b="0" i="1" smtClean="0">
                        <a:latin typeface="Cambria Math" panose="02040503050406030204" pitchFamily="18" charset="0"/>
                      </a:rPr>
                      <m:t>(.)</m:t>
                    </m:r>
                  </m:oMath>
                </a14:m>
                <a:r>
                  <a:rPr lang="pt-BR" dirty="0"/>
                  <a:t>.</a:t>
                </a:r>
              </a:p>
            </p:txBody>
          </p:sp>
        </mc:Choice>
        <mc:Fallback xmlns="">
          <p:sp>
            <p:nvSpPr>
              <p:cNvPr id="3" name="Espaço Reservado para Conteúdo 2">
                <a:extLst>
                  <a:ext uri="{FF2B5EF4-FFF2-40B4-BE49-F238E27FC236}">
                    <a16:creationId xmlns:a16="http://schemas.microsoft.com/office/drawing/2014/main" id="{B58573E3-61FC-8F02-6F46-01A6D8E3F15D}"/>
                  </a:ext>
                </a:extLst>
              </p:cNvPr>
              <p:cNvSpPr>
                <a:spLocks noGrp="1" noRot="1" noChangeAspect="1" noMove="1" noResize="1" noEditPoints="1" noAdjustHandles="1" noChangeArrowheads="1" noChangeShapeType="1" noTextEdit="1"/>
              </p:cNvSpPr>
              <p:nvPr>
                <p:ph idx="1"/>
              </p:nvPr>
            </p:nvSpPr>
            <p:spPr>
              <a:xfrm>
                <a:off x="6213764" y="1690688"/>
                <a:ext cx="5889634" cy="5167312"/>
              </a:xfrm>
              <a:blipFill>
                <a:blip r:embed="rId3"/>
                <a:stretch>
                  <a:fillRect l="-1863" t="-1887" r="-2588"/>
                </a:stretch>
              </a:blipFill>
            </p:spPr>
            <p:txBody>
              <a:bodyPr/>
              <a:lstStyle/>
              <a:p>
                <a:r>
                  <a:rPr lang="en-US">
                    <a:noFill/>
                  </a:rPr>
                  <a:t> </a:t>
                </a:r>
              </a:p>
            </p:txBody>
          </p:sp>
        </mc:Fallback>
      </mc:AlternateContent>
      <p:sp>
        <p:nvSpPr>
          <p:cNvPr id="4" name="CaixaDeTexto 3">
            <a:extLst>
              <a:ext uri="{FF2B5EF4-FFF2-40B4-BE49-F238E27FC236}">
                <a16:creationId xmlns:a16="http://schemas.microsoft.com/office/drawing/2014/main" id="{FD879E17-EEA8-4950-0713-AA317B93A727}"/>
              </a:ext>
            </a:extLst>
          </p:cNvPr>
          <p:cNvSpPr txBox="1"/>
          <p:nvPr/>
        </p:nvSpPr>
        <p:spPr>
          <a:xfrm>
            <a:off x="1897404" y="3768396"/>
            <a:ext cx="1495425" cy="523220"/>
          </a:xfrm>
          <a:prstGeom prst="rect">
            <a:avLst/>
          </a:prstGeom>
          <a:noFill/>
        </p:spPr>
        <p:txBody>
          <a:bodyPr wrap="square" rtlCol="0">
            <a:spAutoFit/>
          </a:bodyPr>
          <a:lstStyle/>
          <a:p>
            <a:pPr algn="ctr"/>
            <a:r>
              <a:rPr lang="pt-BR" sz="1400" dirty="0"/>
              <a:t>Soma ponderada dos estímulos</a:t>
            </a:r>
          </a:p>
        </p:txBody>
      </p:sp>
      <p:sp>
        <p:nvSpPr>
          <p:cNvPr id="5" name="CaixaDeTexto 4">
            <a:extLst>
              <a:ext uri="{FF2B5EF4-FFF2-40B4-BE49-F238E27FC236}">
                <a16:creationId xmlns:a16="http://schemas.microsoft.com/office/drawing/2014/main" id="{F8583CA1-6E5A-CEDB-4A21-283F02260957}"/>
              </a:ext>
            </a:extLst>
          </p:cNvPr>
          <p:cNvSpPr txBox="1"/>
          <p:nvPr/>
        </p:nvSpPr>
        <p:spPr>
          <a:xfrm>
            <a:off x="3930451" y="3448468"/>
            <a:ext cx="1102245" cy="523220"/>
          </a:xfrm>
          <a:prstGeom prst="rect">
            <a:avLst/>
          </a:prstGeom>
          <a:noFill/>
        </p:spPr>
        <p:txBody>
          <a:bodyPr wrap="square" rtlCol="0">
            <a:spAutoFit/>
          </a:bodyPr>
          <a:lstStyle/>
          <a:p>
            <a:pPr algn="ctr"/>
            <a:r>
              <a:rPr lang="pt-BR" sz="1400" dirty="0"/>
              <a:t>Função de ativação</a:t>
            </a:r>
          </a:p>
        </p:txBody>
      </p:sp>
      <p:pic>
        <p:nvPicPr>
          <p:cNvPr id="7" name="Imagem 6">
            <a:extLst>
              <a:ext uri="{FF2B5EF4-FFF2-40B4-BE49-F238E27FC236}">
                <a16:creationId xmlns:a16="http://schemas.microsoft.com/office/drawing/2014/main" id="{BF77C47B-9D4B-7386-4959-F4BDEF86CC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602" y="1770467"/>
            <a:ext cx="6043494" cy="4686312"/>
          </a:xfrm>
          <a:prstGeom prst="rect">
            <a:avLst/>
          </a:prstGeom>
        </p:spPr>
      </p:pic>
    </p:spTree>
    <p:extLst>
      <p:ext uri="{BB962C8B-B14F-4D97-AF65-F5344CB8AC3E}">
        <p14:creationId xmlns:p14="http://schemas.microsoft.com/office/powerpoint/2010/main" val="1353766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E58D1-11D9-351C-CF04-51B9533F4D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70D167-40D0-47EA-7A89-B67F251FEFB1}"/>
              </a:ext>
            </a:extLst>
          </p:cNvPr>
          <p:cNvSpPr>
            <a:spLocks noGrp="1"/>
          </p:cNvSpPr>
          <p:nvPr>
            <p:ph type="title"/>
          </p:nvPr>
        </p:nvSpPr>
        <p:spPr/>
        <p:txBody>
          <a:bodyPr/>
          <a:lstStyle/>
          <a:p>
            <a:r>
              <a:rPr lang="pt-BR" dirty="0"/>
              <a:t>Neurônio artificial</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00D2BC11-4A17-8912-4A6C-7F2D0605D26C}"/>
                  </a:ext>
                </a:extLst>
              </p:cNvPr>
              <p:cNvSpPr>
                <a:spLocks noGrp="1"/>
              </p:cNvSpPr>
              <p:nvPr>
                <p:ph idx="1"/>
              </p:nvPr>
            </p:nvSpPr>
            <p:spPr>
              <a:xfrm>
                <a:off x="6249971" y="1690688"/>
                <a:ext cx="5942029" cy="5167312"/>
              </a:xfrm>
            </p:spPr>
            <p:txBody>
              <a:bodyPr>
                <a:normAutofit/>
              </a:bodyPr>
              <a:lstStyle/>
              <a:p>
                <a:r>
                  <a:rPr lang="pt-BR" dirty="0"/>
                  <a:t>No contexto de redes neurais os estímulos,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𝑘</m:t>
                        </m:r>
                      </m:sub>
                    </m:sSub>
                    <m:r>
                      <a:rPr lang="pt-BR" i="1">
                        <a:latin typeface="Cambria Math" panose="02040503050406030204" pitchFamily="18" charset="0"/>
                      </a:rPr>
                      <m:t>, </m:t>
                    </m:r>
                    <m:r>
                      <a:rPr lang="pt-BR" i="1">
                        <a:latin typeface="Cambria Math" panose="02040503050406030204" pitchFamily="18" charset="0"/>
                      </a:rPr>
                      <m:t>𝑘</m:t>
                    </m:r>
                    <m:r>
                      <a:rPr lang="pt-BR" i="1">
                        <a:latin typeface="Cambria Math" panose="02040503050406030204" pitchFamily="18" charset="0"/>
                      </a:rPr>
                      <m:t>=1,…, </m:t>
                    </m:r>
                    <m:r>
                      <a:rPr lang="pt-BR" i="1">
                        <a:latin typeface="Cambria Math" panose="02040503050406030204" pitchFamily="18" charset="0"/>
                      </a:rPr>
                      <m:t>𝐾</m:t>
                    </m:r>
                  </m:oMath>
                </a14:m>
                <a:r>
                  <a:rPr lang="pt-BR" dirty="0"/>
                  <a:t>, são chamados de </a:t>
                </a:r>
                <a:r>
                  <a:rPr lang="pt-BR" b="1" dirty="0">
                    <a:solidFill>
                      <a:srgbClr val="7030A0"/>
                    </a:solidFill>
                  </a:rPr>
                  <a:t>atributos</a:t>
                </a:r>
                <a:r>
                  <a:rPr lang="pt-BR" dirty="0"/>
                  <a:t>.</a:t>
                </a:r>
              </a:p>
              <a:p>
                <a:r>
                  <a:rPr lang="pt-BR" dirty="0"/>
                  <a:t>O </a:t>
                </a:r>
                <a:r>
                  <a:rPr lang="pt-BR" b="1" dirty="0">
                    <a:solidFill>
                      <a:srgbClr val="00B050"/>
                    </a:solidFill>
                  </a:rPr>
                  <a:t>peso de bias</a:t>
                </a:r>
                <a:r>
                  <a:rPr lang="pt-BR" dirty="0"/>
                  <a:t>, </a:t>
                </a:r>
                <a14:m>
                  <m:oMath xmlns:m="http://schemas.openxmlformats.org/officeDocument/2006/math">
                    <m:r>
                      <a:rPr lang="pt-BR" i="1">
                        <a:latin typeface="Cambria Math" panose="02040503050406030204" pitchFamily="18" charset="0"/>
                      </a:rPr>
                      <m:t>𝑏</m:t>
                    </m:r>
                  </m:oMath>
                </a14:m>
                <a:r>
                  <a:rPr lang="pt-BR" dirty="0"/>
                  <a:t>,</a:t>
                </a:r>
                <a:r>
                  <a:rPr lang="pt-BR" b="1" dirty="0"/>
                  <a:t> </a:t>
                </a:r>
                <a:r>
                  <a:rPr lang="pt-BR" dirty="0"/>
                  <a:t>permite </a:t>
                </a:r>
                <a:r>
                  <a:rPr lang="pt-BR" b="1" dirty="0"/>
                  <a:t>ajustar o limiar de ativação</a:t>
                </a:r>
                <a:r>
                  <a:rPr lang="pt-BR" dirty="0"/>
                  <a:t> (ou ponto de disparo) da função de ativação </a:t>
                </a:r>
                <a:r>
                  <a:rPr lang="pt-BR" b="1" dirty="0"/>
                  <a:t>do neurônio</a:t>
                </a:r>
                <a:r>
                  <a:rPr lang="pt-BR" dirty="0"/>
                  <a:t>.</a:t>
                </a:r>
              </a:p>
              <a:p>
                <a:r>
                  <a:rPr lang="pt-BR" dirty="0"/>
                  <a:t>Os </a:t>
                </a:r>
                <a:r>
                  <a:rPr lang="pt-BR" b="1" dirty="0">
                    <a:solidFill>
                      <a:srgbClr val="00B050"/>
                    </a:solidFill>
                  </a:rPr>
                  <a:t>pesos sinápticos</a:t>
                </a:r>
                <a:r>
                  <a:rPr lang="pt-BR" dirty="0"/>
                  <a:t>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i="1">
                            <a:latin typeface="Cambria Math" panose="02040503050406030204" pitchFamily="18" charset="0"/>
                          </a:rPr>
                          <m:t>𝑘</m:t>
                        </m:r>
                      </m:sub>
                    </m:sSub>
                    <m:r>
                      <a:rPr lang="pt-BR" i="1">
                        <a:latin typeface="Cambria Math" panose="02040503050406030204" pitchFamily="18" charset="0"/>
                      </a:rPr>
                      <m:t> </m:t>
                    </m:r>
                  </m:oMath>
                </a14:m>
                <a:r>
                  <a:rPr lang="pt-BR" dirty="0"/>
                  <a:t>dão a </a:t>
                </a:r>
                <a:r>
                  <a:rPr lang="pt-BR" b="1" dirty="0">
                    <a:solidFill>
                      <a:srgbClr val="7030A0"/>
                    </a:solidFill>
                  </a:rPr>
                  <a:t>força de cada conexão</a:t>
                </a:r>
                <a:r>
                  <a:rPr lang="pt-BR" dirty="0"/>
                  <a:t> e se ela é </a:t>
                </a:r>
                <a:r>
                  <a:rPr lang="pt-BR" b="1" dirty="0">
                    <a:solidFill>
                      <a:schemeClr val="accent2"/>
                    </a:solidFill>
                  </a:rPr>
                  <a:t>excitatória ou inibitória</a:t>
                </a:r>
                <a:r>
                  <a:rPr lang="pt-BR" dirty="0"/>
                  <a:t>.</a:t>
                </a:r>
              </a:p>
              <a:p>
                <a:r>
                  <a:rPr lang="pt-BR" dirty="0"/>
                  <a:t>A média ponderada dos atributos, </a:t>
                </a:r>
                <a14:m>
                  <m:oMath xmlns:m="http://schemas.openxmlformats.org/officeDocument/2006/math">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oMath>
                </a14:m>
                <a:r>
                  <a:rPr lang="pt-BR" dirty="0"/>
                  <a:t>, é chamada de </a:t>
                </a:r>
                <a:r>
                  <a:rPr lang="pt-BR" b="1" dirty="0">
                    <a:solidFill>
                      <a:srgbClr val="00B050"/>
                    </a:solidFill>
                  </a:rPr>
                  <a:t>ativação</a:t>
                </a:r>
                <a:r>
                  <a:rPr lang="pt-BR" dirty="0"/>
                  <a:t>.</a:t>
                </a:r>
              </a:p>
            </p:txBody>
          </p:sp>
        </mc:Choice>
        <mc:Fallback xmlns="">
          <p:sp>
            <p:nvSpPr>
              <p:cNvPr id="3" name="Espaço Reservado para Conteúdo 2">
                <a:extLst>
                  <a:ext uri="{FF2B5EF4-FFF2-40B4-BE49-F238E27FC236}">
                    <a16:creationId xmlns:a16="http://schemas.microsoft.com/office/drawing/2014/main" id="{00D2BC11-4A17-8912-4A6C-7F2D0605D26C}"/>
                  </a:ext>
                </a:extLst>
              </p:cNvPr>
              <p:cNvSpPr>
                <a:spLocks noGrp="1" noRot="1" noChangeAspect="1" noMove="1" noResize="1" noEditPoints="1" noAdjustHandles="1" noChangeArrowheads="1" noChangeShapeType="1" noTextEdit="1"/>
              </p:cNvSpPr>
              <p:nvPr>
                <p:ph idx="1"/>
              </p:nvPr>
            </p:nvSpPr>
            <p:spPr>
              <a:xfrm>
                <a:off x="6249971" y="1690688"/>
                <a:ext cx="5942029" cy="5167312"/>
              </a:xfrm>
              <a:blipFill>
                <a:blip r:embed="rId3"/>
                <a:stretch>
                  <a:fillRect l="-1846" t="-1887" r="-3385" b="-1651"/>
                </a:stretch>
              </a:blipFill>
            </p:spPr>
            <p:txBody>
              <a:bodyPr/>
              <a:lstStyle/>
              <a:p>
                <a:r>
                  <a:rPr lang="en-US">
                    <a:noFill/>
                  </a:rPr>
                  <a:t> </a:t>
                </a:r>
              </a:p>
            </p:txBody>
          </p:sp>
        </mc:Fallback>
      </mc:AlternateContent>
      <p:sp>
        <p:nvSpPr>
          <p:cNvPr id="4" name="CaixaDeTexto 3">
            <a:extLst>
              <a:ext uri="{FF2B5EF4-FFF2-40B4-BE49-F238E27FC236}">
                <a16:creationId xmlns:a16="http://schemas.microsoft.com/office/drawing/2014/main" id="{17377B3E-628A-22E0-9088-A729A7D05D14}"/>
              </a:ext>
            </a:extLst>
          </p:cNvPr>
          <p:cNvSpPr txBox="1"/>
          <p:nvPr/>
        </p:nvSpPr>
        <p:spPr>
          <a:xfrm>
            <a:off x="1897404" y="3768396"/>
            <a:ext cx="1495425" cy="523220"/>
          </a:xfrm>
          <a:prstGeom prst="rect">
            <a:avLst/>
          </a:prstGeom>
          <a:noFill/>
        </p:spPr>
        <p:txBody>
          <a:bodyPr wrap="square" rtlCol="0">
            <a:spAutoFit/>
          </a:bodyPr>
          <a:lstStyle/>
          <a:p>
            <a:pPr algn="ctr"/>
            <a:r>
              <a:rPr lang="pt-BR" sz="1400" dirty="0"/>
              <a:t>Soma ponderada dos estímulos</a:t>
            </a:r>
          </a:p>
        </p:txBody>
      </p:sp>
      <p:sp>
        <p:nvSpPr>
          <p:cNvPr id="5" name="CaixaDeTexto 4">
            <a:extLst>
              <a:ext uri="{FF2B5EF4-FFF2-40B4-BE49-F238E27FC236}">
                <a16:creationId xmlns:a16="http://schemas.microsoft.com/office/drawing/2014/main" id="{64CA71CD-4E19-DB03-124F-334C4208F8B7}"/>
              </a:ext>
            </a:extLst>
          </p:cNvPr>
          <p:cNvSpPr txBox="1"/>
          <p:nvPr/>
        </p:nvSpPr>
        <p:spPr>
          <a:xfrm>
            <a:off x="3930451" y="3448468"/>
            <a:ext cx="1102245" cy="523220"/>
          </a:xfrm>
          <a:prstGeom prst="rect">
            <a:avLst/>
          </a:prstGeom>
          <a:noFill/>
        </p:spPr>
        <p:txBody>
          <a:bodyPr wrap="square" rtlCol="0">
            <a:spAutoFit/>
          </a:bodyPr>
          <a:lstStyle/>
          <a:p>
            <a:pPr algn="ctr"/>
            <a:r>
              <a:rPr lang="pt-BR" sz="1400" dirty="0"/>
              <a:t>Função de ativação</a:t>
            </a:r>
          </a:p>
        </p:txBody>
      </p:sp>
      <p:pic>
        <p:nvPicPr>
          <p:cNvPr id="7" name="Imagem 6">
            <a:extLst>
              <a:ext uri="{FF2B5EF4-FFF2-40B4-BE49-F238E27FC236}">
                <a16:creationId xmlns:a16="http://schemas.microsoft.com/office/drawing/2014/main" id="{4E0E7932-C669-28EE-149A-C621C39B1B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602" y="1770467"/>
            <a:ext cx="6043494" cy="4686312"/>
          </a:xfrm>
          <a:prstGeom prst="rect">
            <a:avLst/>
          </a:prstGeom>
        </p:spPr>
      </p:pic>
    </p:spTree>
    <p:extLst>
      <p:ext uri="{BB962C8B-B14F-4D97-AF65-F5344CB8AC3E}">
        <p14:creationId xmlns:p14="http://schemas.microsoft.com/office/powerpoint/2010/main" val="3013275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85AE58-CE14-CA98-8E06-900F544BEEF2}"/>
              </a:ext>
            </a:extLst>
          </p:cNvPr>
          <p:cNvSpPr>
            <a:spLocks noGrp="1"/>
          </p:cNvSpPr>
          <p:nvPr>
            <p:ph type="title"/>
          </p:nvPr>
        </p:nvSpPr>
        <p:spPr/>
        <p:txBody>
          <a:bodyPr/>
          <a:lstStyle/>
          <a:p>
            <a:r>
              <a:rPr lang="pt-BR" dirty="0"/>
              <a:t>Neurônio artificial</a:t>
            </a:r>
          </a:p>
        </p:txBody>
      </p:sp>
      <p:sp>
        <p:nvSpPr>
          <p:cNvPr id="3" name="Espaço Reservado para Conteúdo 2">
            <a:extLst>
              <a:ext uri="{FF2B5EF4-FFF2-40B4-BE49-F238E27FC236}">
                <a16:creationId xmlns:a16="http://schemas.microsoft.com/office/drawing/2014/main" id="{7AD301D6-DB59-55AE-6500-3F2B8EBC51E6}"/>
              </a:ext>
            </a:extLst>
          </p:cNvPr>
          <p:cNvSpPr>
            <a:spLocks noGrp="1"/>
          </p:cNvSpPr>
          <p:nvPr>
            <p:ph idx="1"/>
          </p:nvPr>
        </p:nvSpPr>
        <p:spPr>
          <a:xfrm>
            <a:off x="5819775" y="1825624"/>
            <a:ext cx="6296025" cy="5032376"/>
          </a:xfrm>
        </p:spPr>
        <p:txBody>
          <a:bodyPr>
            <a:normAutofit/>
          </a:bodyPr>
          <a:lstStyle/>
          <a:p>
            <a:r>
              <a:rPr lang="pt-BR" dirty="0">
                <a:solidFill>
                  <a:schemeClr val="tx1"/>
                </a:solidFill>
              </a:rPr>
              <a:t>No início dos estudos dos neurônios, a </a:t>
            </a:r>
            <a:r>
              <a:rPr lang="pt-BR" b="1" dirty="0">
                <a:solidFill>
                  <a:schemeClr val="tx1"/>
                </a:solidFill>
              </a:rPr>
              <a:t>função de ativação </a:t>
            </a:r>
            <a:r>
              <a:rPr lang="pt-BR" dirty="0">
                <a:solidFill>
                  <a:schemeClr val="tx1"/>
                </a:solidFill>
              </a:rPr>
              <a:t>era do tipo </a:t>
            </a:r>
            <a:r>
              <a:rPr lang="pt-BR" b="1" dirty="0">
                <a:solidFill>
                  <a:schemeClr val="tx1"/>
                </a:solidFill>
              </a:rPr>
              <a:t>tudo-ou</a:t>
            </a:r>
            <a:r>
              <a:rPr lang="pt-BR" b="1" dirty="0"/>
              <a:t>-</a:t>
            </a:r>
            <a:r>
              <a:rPr lang="pt-BR" b="1" dirty="0">
                <a:solidFill>
                  <a:schemeClr val="tx1"/>
                </a:solidFill>
              </a:rPr>
              <a:t>nada</a:t>
            </a:r>
            <a:r>
              <a:rPr lang="pt-BR" dirty="0">
                <a:solidFill>
                  <a:schemeClr val="tx1"/>
                </a:solidFill>
              </a:rPr>
              <a:t>, i.e., ativava ou não.</a:t>
            </a:r>
          </a:p>
          <a:p>
            <a:pPr lvl="1">
              <a:buFont typeface="Wingdings" panose="05000000000000000000" pitchFamily="2" charset="2"/>
              <a:buChar char="§"/>
            </a:pPr>
            <a:r>
              <a:rPr lang="pt-BR" dirty="0"/>
              <a:t>Em outras palavras, era um </a:t>
            </a:r>
            <a:r>
              <a:rPr lang="pt-BR" dirty="0">
                <a:solidFill>
                  <a:schemeClr val="tx1"/>
                </a:solidFill>
              </a:rPr>
              <a:t>degrau unitário</a:t>
            </a:r>
            <a:r>
              <a:rPr lang="pt-BR" dirty="0"/>
              <a:t>.</a:t>
            </a:r>
            <a:endParaRPr lang="pt-BR" dirty="0">
              <a:solidFill>
                <a:schemeClr val="tx1"/>
              </a:solidFill>
            </a:endParaRPr>
          </a:p>
          <a:p>
            <a:r>
              <a:rPr lang="pt-BR" dirty="0">
                <a:solidFill>
                  <a:schemeClr val="tx1"/>
                </a:solidFill>
              </a:rPr>
              <a:t>Entretanto, ela não é mais usada </a:t>
            </a:r>
            <a:r>
              <a:rPr lang="pt-BR" dirty="0"/>
              <a:t>porque sua </a:t>
            </a:r>
            <a:r>
              <a:rPr lang="pt-BR" b="1" dirty="0">
                <a:solidFill>
                  <a:srgbClr val="7030A0"/>
                </a:solidFill>
              </a:rPr>
              <a:t>derivada é zero </a:t>
            </a:r>
            <a:r>
              <a:rPr lang="pt-BR" dirty="0"/>
              <a:t>para valores maiores e menores do que 0 e indeterminada em 0.</a:t>
            </a:r>
          </a:p>
          <a:p>
            <a:r>
              <a:rPr lang="pt-BR" dirty="0"/>
              <a:t>Isso </a:t>
            </a:r>
            <a:r>
              <a:rPr lang="pt-BR" b="1" dirty="0">
                <a:solidFill>
                  <a:srgbClr val="7030A0"/>
                </a:solidFill>
              </a:rPr>
              <a:t>impede o ajuste dos pesos </a:t>
            </a:r>
            <a:r>
              <a:rPr lang="pt-BR" dirty="0"/>
              <a:t>pelo algoritmo de </a:t>
            </a:r>
            <a:r>
              <a:rPr lang="pt-BR" b="1" dirty="0">
                <a:solidFill>
                  <a:srgbClr val="7030A0"/>
                </a:solidFill>
              </a:rPr>
              <a:t>gradiente descendente</a:t>
            </a:r>
            <a:r>
              <a:rPr lang="pt-BR" dirty="0"/>
              <a:t>.</a:t>
            </a:r>
            <a:endParaRPr lang="pt-BR" dirty="0">
              <a:solidFill>
                <a:schemeClr val="tx1"/>
              </a:solidFill>
            </a:endParaRPr>
          </a:p>
        </p:txBody>
      </p:sp>
      <p:sp>
        <p:nvSpPr>
          <p:cNvPr id="7" name="Rectangle 6">
            <a:extLst>
              <a:ext uri="{FF2B5EF4-FFF2-40B4-BE49-F238E27FC236}">
                <a16:creationId xmlns:a16="http://schemas.microsoft.com/office/drawing/2014/main" id="{5EB97E14-ADB4-BA5D-F1FE-546C74193E47}"/>
              </a:ext>
            </a:extLst>
          </p:cNvPr>
          <p:cNvSpPr/>
          <p:nvPr/>
        </p:nvSpPr>
        <p:spPr>
          <a:xfrm>
            <a:off x="2947713" y="3114699"/>
            <a:ext cx="2062156" cy="584775"/>
          </a:xfrm>
          <a:prstGeom prst="rect">
            <a:avLst/>
          </a:prstGeom>
        </p:spPr>
        <p:txBody>
          <a:bodyPr wrap="square">
            <a:spAutoFit/>
          </a:bodyPr>
          <a:lstStyle/>
          <a:p>
            <a:pPr algn="ctr"/>
            <a:r>
              <a:rPr lang="pt-BR" sz="1600" b="1" i="1" dirty="0"/>
              <a:t>função de ativação “tudo-ou-nada”</a:t>
            </a:r>
            <a:endParaRPr lang="pt-BR" sz="1600" dirty="0"/>
          </a:p>
        </p:txBody>
      </p:sp>
      <p:grpSp>
        <p:nvGrpSpPr>
          <p:cNvPr id="4" name="Group 5">
            <a:extLst>
              <a:ext uri="{FF2B5EF4-FFF2-40B4-BE49-F238E27FC236}">
                <a16:creationId xmlns:a16="http://schemas.microsoft.com/office/drawing/2014/main" id="{B5E8039F-CECC-21DA-E60C-3E21A07C8086}"/>
              </a:ext>
            </a:extLst>
          </p:cNvPr>
          <p:cNvGrpSpPr/>
          <p:nvPr/>
        </p:nvGrpSpPr>
        <p:grpSpPr>
          <a:xfrm>
            <a:off x="992380" y="3094415"/>
            <a:ext cx="3142324" cy="1550303"/>
            <a:chOff x="511819" y="4987108"/>
            <a:chExt cx="3142324" cy="1550303"/>
          </a:xfrm>
        </p:grpSpPr>
        <p:cxnSp>
          <p:nvCxnSpPr>
            <p:cNvPr id="5" name="Straight Arrow Connector 6">
              <a:extLst>
                <a:ext uri="{FF2B5EF4-FFF2-40B4-BE49-F238E27FC236}">
                  <a16:creationId xmlns:a16="http://schemas.microsoft.com/office/drawing/2014/main" id="{F447FC66-7200-CC38-B1FE-B168EAF52462}"/>
                </a:ext>
              </a:extLst>
            </p:cNvPr>
            <p:cNvCxnSpPr/>
            <p:nvPr/>
          </p:nvCxnSpPr>
          <p:spPr>
            <a:xfrm flipV="1">
              <a:off x="1038293" y="5156782"/>
              <a:ext cx="0" cy="10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7">
              <a:extLst>
                <a:ext uri="{FF2B5EF4-FFF2-40B4-BE49-F238E27FC236}">
                  <a16:creationId xmlns:a16="http://schemas.microsoft.com/office/drawing/2014/main" id="{9E5C7F2F-679B-3BF7-3F6F-B5B6F18D8BA7}"/>
                </a:ext>
              </a:extLst>
            </p:cNvPr>
            <p:cNvCxnSpPr/>
            <p:nvPr/>
          </p:nvCxnSpPr>
          <p:spPr>
            <a:xfrm>
              <a:off x="511819" y="6236782"/>
              <a:ext cx="252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8">
              <a:extLst>
                <a:ext uri="{FF2B5EF4-FFF2-40B4-BE49-F238E27FC236}">
                  <a16:creationId xmlns:a16="http://schemas.microsoft.com/office/drawing/2014/main" id="{72B02B8A-8607-D866-82E6-DA3A5862E380}"/>
                </a:ext>
              </a:extLst>
            </p:cNvPr>
            <p:cNvCxnSpPr/>
            <p:nvPr/>
          </p:nvCxnSpPr>
          <p:spPr>
            <a:xfrm>
              <a:off x="1039821" y="5761728"/>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9">
                  <a:extLst>
                    <a:ext uri="{FF2B5EF4-FFF2-40B4-BE49-F238E27FC236}">
                      <a16:creationId xmlns:a16="http://schemas.microsoft.com/office/drawing/2014/main" id="{D50670C3-77D5-E1ED-BA30-A572CE5F9E4F}"/>
                    </a:ext>
                  </a:extLst>
                </p:cNvPr>
                <p:cNvSpPr/>
                <p:nvPr/>
              </p:nvSpPr>
              <p:spPr>
                <a:xfrm>
                  <a:off x="876228" y="6229634"/>
                  <a:ext cx="324128" cy="307777"/>
                </a:xfrm>
                <a:prstGeom prst="rect">
                  <a:avLst/>
                </a:prstGeom>
              </p:spPr>
              <p:txBody>
                <a:bodyPr wrap="none">
                  <a:spAutoFit/>
                </a:bodyPr>
                <a:lstStyle/>
                <a:p>
                  <a:pPr/>
                  <a14:m>
                    <m:oMathPara xmlns:m="http://schemas.openxmlformats.org/officeDocument/2006/math">
                      <m:oMath>
                        <m:r>
                          <a:rPr lang="pt-BR" sz="1400" b="0" i="0" smtClean="0">
                            <a:latin typeface="Cambria Math" panose="02040503050406030204" pitchFamily="18" charset="0"/>
                          </a:rPr>
                          <m:t>0</m:t>
                        </m:r>
                      </m:oMath>
                    </m:oMathPara>
                  </a14:m>
                  <a:endParaRPr lang="pt-BR" sz="1400" dirty="0"/>
                </a:p>
              </p:txBody>
            </p:sp>
          </mc:Choice>
          <mc:Fallback xmlns="">
            <p:sp>
              <p:nvSpPr>
                <p:cNvPr id="11" name="Rectangle 10"/>
                <p:cNvSpPr>
                  <a:spLocks noRot="1" noChangeAspect="1" noMove="1" noResize="1" noEditPoints="1" noAdjustHandles="1" noChangeArrowheads="1" noChangeShapeType="1" noTextEdit="1"/>
                </p:cNvSpPr>
                <p:nvPr/>
              </p:nvSpPr>
              <p:spPr>
                <a:xfrm>
                  <a:off x="876228" y="6229634"/>
                  <a:ext cx="324128" cy="307777"/>
                </a:xfrm>
                <a:prstGeom prst="rect">
                  <a:avLst/>
                </a:prstGeom>
                <a:blipFill rotWithShape="0">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Rectangle 10">
                  <a:extLst>
                    <a:ext uri="{FF2B5EF4-FFF2-40B4-BE49-F238E27FC236}">
                      <a16:creationId xmlns:a16="http://schemas.microsoft.com/office/drawing/2014/main" id="{62E842B0-88B7-84E4-AAB8-B9885A4027D7}"/>
                    </a:ext>
                  </a:extLst>
                </p:cNvPr>
                <p:cNvSpPr/>
                <p:nvPr/>
              </p:nvSpPr>
              <p:spPr>
                <a:xfrm>
                  <a:off x="1038292" y="4987108"/>
                  <a:ext cx="1483163" cy="404983"/>
                </a:xfrm>
                <a:prstGeom prst="rect">
                  <a:avLst/>
                </a:prstGeom>
              </p:spPr>
              <p:txBody>
                <a:bodyPr wrap="none">
                  <a:spAutoFit/>
                </a:bodyPr>
                <a:lstStyle/>
                <a:p>
                  <a:pPr/>
                  <a14:m>
                    <m:oMathPara xmlns:m="http://schemas.openxmlformats.org/officeDocument/2006/math">
                      <m:oMath>
                        <m:r>
                          <a:rPr lang="pt-BR" b="0" i="1" smtClean="0">
                            <a:latin typeface="Cambria Math" panose="02040503050406030204" pitchFamily="18" charset="0"/>
                          </a:rPr>
                          <m:t>𝑦</m:t>
                        </m:r>
                        <m:r>
                          <a:rPr lang="pt-BR" b="0" i="1" smtClean="0">
                            <a:latin typeface="Cambria Math" panose="02040503050406030204" pitchFamily="18" charset="0"/>
                          </a:rPr>
                          <m:t>=</m:t>
                        </m:r>
                        <m:r>
                          <a:rPr lang="pt-BR" i="1">
                            <a:latin typeface="Cambria Math" panose="02040503050406030204" pitchFamily="18" charset="0"/>
                          </a:rPr>
                          <m:t>𝑓</m:t>
                        </m:r>
                        <m:d>
                          <m:dPr>
                            <m:ctrlPr>
                              <a:rPr lang="pt-BR" i="1" smtClean="0">
                                <a:latin typeface="Cambria Math" panose="02040503050406030204" pitchFamily="18" charset="0"/>
                              </a:rPr>
                            </m:ctrlPr>
                          </m:dPr>
                          <m:e>
                            <m:r>
                              <a:rPr lang="pt-BR" i="1" smtClean="0">
                                <a:latin typeface="Cambria Math" panose="02040503050406030204" pitchFamily="18" charset="0"/>
                              </a:rPr>
                              <m:t>𝑔</m:t>
                            </m:r>
                            <m:d>
                              <m:dPr>
                                <m:ctrlPr>
                                  <a:rPr lang="pt-BR" b="1" i="1">
                                    <a:latin typeface="Cambria Math" panose="02040503050406030204" pitchFamily="18" charset="0"/>
                                  </a:rPr>
                                </m:ctrlPr>
                              </m:dPr>
                              <m:e>
                                <m:r>
                                  <a:rPr lang="pt-BR" b="1" i="1">
                                    <a:latin typeface="Cambria Math" panose="02040503050406030204" pitchFamily="18" charset="0"/>
                                  </a:rPr>
                                  <m:t>𝒙</m:t>
                                </m:r>
                              </m:e>
                            </m:d>
                          </m:e>
                        </m:d>
                      </m:oMath>
                    </m:oMathPara>
                  </a14:m>
                  <a:endParaRPr lang="pt-BR" dirty="0"/>
                </a:p>
              </p:txBody>
            </p:sp>
          </mc:Choice>
          <mc:Fallback xmlns="">
            <p:sp>
              <p:nvSpPr>
                <p:cNvPr id="10" name="Rectangle 10"/>
                <p:cNvSpPr>
                  <a:spLocks noRot="1" noChangeAspect="1" noMove="1" noResize="1" noEditPoints="1" noAdjustHandles="1" noChangeArrowheads="1" noChangeShapeType="1" noTextEdit="1"/>
                </p:cNvSpPr>
                <p:nvPr/>
              </p:nvSpPr>
              <p:spPr>
                <a:xfrm>
                  <a:off x="1038292" y="4987108"/>
                  <a:ext cx="1483163" cy="404983"/>
                </a:xfrm>
                <a:prstGeom prst="rect">
                  <a:avLst/>
                </a:prstGeom>
                <a:blipFill rotWithShape="0">
                  <a:blip r:embed="rId7"/>
                  <a:stretch>
                    <a:fillRect b="-909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Rectangle 11">
                  <a:extLst>
                    <a:ext uri="{FF2B5EF4-FFF2-40B4-BE49-F238E27FC236}">
                      <a16:creationId xmlns:a16="http://schemas.microsoft.com/office/drawing/2014/main" id="{2778CF86-A376-F86A-405D-DB21B08D6F8F}"/>
                    </a:ext>
                  </a:extLst>
                </p:cNvPr>
                <p:cNvSpPr/>
                <p:nvPr/>
              </p:nvSpPr>
              <p:spPr>
                <a:xfrm>
                  <a:off x="2946898" y="6044968"/>
                  <a:ext cx="707245" cy="369332"/>
                </a:xfrm>
                <a:prstGeom prst="rect">
                  <a:avLst/>
                </a:prstGeom>
              </p:spPr>
              <p:txBody>
                <a:bodyPr wrap="none">
                  <a:spAutoFit/>
                </a:bodyPr>
                <a:lstStyle/>
                <a:p>
                  <a:pPr/>
                  <a14:m>
                    <m:oMathPara xmlns:m="http://schemas.openxmlformats.org/officeDocument/2006/math">
                      <m:oMath>
                        <m:r>
                          <a:rPr lang="pt-BR" i="1">
                            <a:latin typeface="Cambria Math" panose="02040503050406030204" pitchFamily="18" charset="0"/>
                          </a:rPr>
                          <m:t>𝑔</m:t>
                        </m:r>
                        <m:d>
                          <m:dPr>
                            <m:ctrlPr>
                              <a:rPr lang="pt-BR" b="1" i="1">
                                <a:latin typeface="Cambria Math" panose="02040503050406030204" pitchFamily="18" charset="0"/>
                              </a:rPr>
                            </m:ctrlPr>
                          </m:dPr>
                          <m:e>
                            <m:r>
                              <a:rPr lang="pt-BR" b="1" i="1">
                                <a:latin typeface="Cambria Math" panose="02040503050406030204" pitchFamily="18" charset="0"/>
                              </a:rPr>
                              <m:t>𝒙</m:t>
                            </m:r>
                          </m:e>
                        </m:d>
                      </m:oMath>
                    </m:oMathPara>
                  </a14:m>
                  <a:endParaRPr lang="pt-BR" dirty="0"/>
                </a:p>
              </p:txBody>
            </p:sp>
          </mc:Choice>
          <mc:Fallback xmlns="">
            <p:sp>
              <p:nvSpPr>
                <p:cNvPr id="13" name="Rectangle 12"/>
                <p:cNvSpPr>
                  <a:spLocks noRot="1" noChangeAspect="1" noMove="1" noResize="1" noEditPoints="1" noAdjustHandles="1" noChangeArrowheads="1" noChangeShapeType="1" noTextEdit="1"/>
                </p:cNvSpPr>
                <p:nvPr/>
              </p:nvSpPr>
              <p:spPr>
                <a:xfrm>
                  <a:off x="2946898" y="6044968"/>
                  <a:ext cx="707245" cy="369332"/>
                </a:xfrm>
                <a:prstGeom prst="rect">
                  <a:avLst/>
                </a:prstGeom>
                <a:blipFill rotWithShape="0">
                  <a:blip r:embed="rId8"/>
                  <a:stretch>
                    <a:fillRect b="-655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Rectangle 12">
                  <a:extLst>
                    <a:ext uri="{FF2B5EF4-FFF2-40B4-BE49-F238E27FC236}">
                      <a16:creationId xmlns:a16="http://schemas.microsoft.com/office/drawing/2014/main" id="{AA919F89-3BFA-5DAC-6A06-E93B0CC1EC78}"/>
                    </a:ext>
                  </a:extLst>
                </p:cNvPr>
                <p:cNvSpPr/>
                <p:nvPr/>
              </p:nvSpPr>
              <p:spPr>
                <a:xfrm>
                  <a:off x="761832" y="5607839"/>
                  <a:ext cx="324128" cy="307777"/>
                </a:xfrm>
                <a:prstGeom prst="rect">
                  <a:avLst/>
                </a:prstGeom>
              </p:spPr>
              <p:txBody>
                <a:bodyPr wrap="none">
                  <a:spAutoFit/>
                </a:bodyPr>
                <a:lstStyle/>
                <a:p>
                  <a:pPr/>
                  <a14:m>
                    <m:oMathPara xmlns:m="http://schemas.openxmlformats.org/officeDocument/2006/math">
                      <m:oMath>
                        <m:r>
                          <a:rPr lang="pt-BR" sz="1400" b="0" i="1" smtClean="0">
                            <a:latin typeface="Cambria Math" panose="02040503050406030204" pitchFamily="18" charset="0"/>
                          </a:rPr>
                          <m:t>1</m:t>
                        </m:r>
                      </m:oMath>
                    </m:oMathPara>
                  </a14:m>
                  <a:endParaRPr lang="pt-BR" sz="1400" dirty="0"/>
                </a:p>
              </p:txBody>
            </p:sp>
          </mc:Choice>
          <mc:Fallback xmlns="">
            <p:sp>
              <p:nvSpPr>
                <p:cNvPr id="14" name="Rectangle 13"/>
                <p:cNvSpPr>
                  <a:spLocks noRot="1" noChangeAspect="1" noMove="1" noResize="1" noEditPoints="1" noAdjustHandles="1" noChangeArrowheads="1" noChangeShapeType="1" noTextEdit="1"/>
                </p:cNvSpPr>
                <p:nvPr/>
              </p:nvSpPr>
              <p:spPr>
                <a:xfrm>
                  <a:off x="761832" y="5607839"/>
                  <a:ext cx="324128" cy="307777"/>
                </a:xfrm>
                <a:prstGeom prst="rect">
                  <a:avLst/>
                </a:prstGeom>
                <a:blipFill rotWithShape="0">
                  <a:blip r:embed="rId9"/>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1250689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8AFAF-188B-B0ED-1C4B-D8E9424620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08EEDF4-87BE-6524-C339-B311FC44688A}"/>
              </a:ext>
            </a:extLst>
          </p:cNvPr>
          <p:cNvSpPr>
            <a:spLocks noGrp="1"/>
          </p:cNvSpPr>
          <p:nvPr>
            <p:ph type="title"/>
          </p:nvPr>
        </p:nvSpPr>
        <p:spPr/>
        <p:txBody>
          <a:bodyPr/>
          <a:lstStyle/>
          <a:p>
            <a:r>
              <a:rPr lang="pt-BR" dirty="0"/>
              <a:t>Neurônio artificial</a:t>
            </a:r>
          </a:p>
        </p:txBody>
      </p:sp>
      <p:sp>
        <p:nvSpPr>
          <p:cNvPr id="3" name="Espaço Reservado para Conteúdo 2">
            <a:extLst>
              <a:ext uri="{FF2B5EF4-FFF2-40B4-BE49-F238E27FC236}">
                <a16:creationId xmlns:a16="http://schemas.microsoft.com/office/drawing/2014/main" id="{2508FD22-A6D0-DCF8-E036-C334F9415BFF}"/>
              </a:ext>
            </a:extLst>
          </p:cNvPr>
          <p:cNvSpPr>
            <a:spLocks noGrp="1"/>
          </p:cNvSpPr>
          <p:nvPr>
            <p:ph idx="1"/>
          </p:nvPr>
        </p:nvSpPr>
        <p:spPr>
          <a:xfrm>
            <a:off x="6255328" y="1825624"/>
            <a:ext cx="5860472" cy="5032376"/>
          </a:xfrm>
        </p:spPr>
        <p:txBody>
          <a:bodyPr>
            <a:normAutofit/>
          </a:bodyPr>
          <a:lstStyle/>
          <a:p>
            <a:r>
              <a:rPr lang="pt-BR" dirty="0"/>
              <a:t>Assim, c</a:t>
            </a:r>
            <a:r>
              <a:rPr lang="pt-BR" dirty="0">
                <a:solidFill>
                  <a:schemeClr val="tx1"/>
                </a:solidFill>
              </a:rPr>
              <a:t>om o decorrer do tempo, funções de ativação </a:t>
            </a:r>
            <a:r>
              <a:rPr lang="pt-BR" b="1" dirty="0">
                <a:solidFill>
                  <a:schemeClr val="accent2"/>
                </a:solidFill>
              </a:rPr>
              <a:t>contínuas e deriváveis</a:t>
            </a:r>
            <a:r>
              <a:rPr lang="pt-BR" dirty="0">
                <a:solidFill>
                  <a:schemeClr val="tx1"/>
                </a:solidFill>
              </a:rPr>
              <a:t> foram propostas</a:t>
            </a:r>
            <a:r>
              <a:rPr lang="pt-BR" dirty="0"/>
              <a:t>:</a:t>
            </a:r>
          </a:p>
          <a:p>
            <a:pPr lvl="1">
              <a:buFont typeface="Wingdings" panose="05000000000000000000" pitchFamily="2" charset="2"/>
              <a:buChar char="§"/>
            </a:pPr>
            <a:r>
              <a:rPr lang="pt-BR" dirty="0"/>
              <a:t>s</a:t>
            </a:r>
            <a:r>
              <a:rPr lang="pt-BR" dirty="0">
                <a:solidFill>
                  <a:schemeClr val="tx1"/>
                </a:solidFill>
              </a:rPr>
              <a:t>igmoide (ou logística),</a:t>
            </a:r>
          </a:p>
          <a:p>
            <a:pPr lvl="1">
              <a:buFont typeface="Wingdings" panose="05000000000000000000" pitchFamily="2" charset="2"/>
              <a:buChar char="§"/>
            </a:pPr>
            <a:r>
              <a:rPr lang="pt-BR" dirty="0" err="1"/>
              <a:t>softmax</a:t>
            </a:r>
            <a:r>
              <a:rPr lang="pt-BR" dirty="0"/>
              <a:t>,</a:t>
            </a:r>
            <a:r>
              <a:rPr lang="pt-BR" dirty="0">
                <a:solidFill>
                  <a:schemeClr val="tx1"/>
                </a:solidFill>
              </a:rPr>
              <a:t> </a:t>
            </a:r>
          </a:p>
          <a:p>
            <a:pPr lvl="1">
              <a:buFont typeface="Wingdings" panose="05000000000000000000" pitchFamily="2" charset="2"/>
              <a:buChar char="§"/>
            </a:pPr>
            <a:r>
              <a:rPr lang="pt-BR" dirty="0">
                <a:solidFill>
                  <a:schemeClr val="tx1"/>
                </a:solidFill>
              </a:rPr>
              <a:t>tangente hiperbólica, </a:t>
            </a:r>
          </a:p>
          <a:p>
            <a:pPr lvl="1">
              <a:buFont typeface="Wingdings" panose="05000000000000000000" pitchFamily="2" charset="2"/>
              <a:buChar char="§"/>
            </a:pPr>
            <a:r>
              <a:rPr lang="pt-BR" dirty="0">
                <a:solidFill>
                  <a:schemeClr val="tx1"/>
                </a:solidFill>
              </a:rPr>
              <a:t>linear,</a:t>
            </a:r>
            <a:r>
              <a:rPr lang="pt-BR" dirty="0"/>
              <a:t> </a:t>
            </a:r>
          </a:p>
          <a:p>
            <a:pPr lvl="1">
              <a:buFont typeface="Wingdings" panose="05000000000000000000" pitchFamily="2" charset="2"/>
              <a:buChar char="§"/>
            </a:pPr>
            <a:r>
              <a:rPr lang="pt-BR" dirty="0" err="1"/>
              <a:t>relu</a:t>
            </a:r>
            <a:r>
              <a:rPr lang="pt-BR" dirty="0"/>
              <a:t> e suas variantes,</a:t>
            </a:r>
            <a:r>
              <a:rPr lang="pt-BR" dirty="0">
                <a:solidFill>
                  <a:schemeClr val="tx1"/>
                </a:solidFill>
              </a:rPr>
              <a:t> </a:t>
            </a:r>
          </a:p>
          <a:p>
            <a:pPr lvl="1">
              <a:buFont typeface="Wingdings" panose="05000000000000000000" pitchFamily="2" charset="2"/>
              <a:buChar char="§"/>
            </a:pPr>
            <a:r>
              <a:rPr lang="pt-BR" dirty="0">
                <a:solidFill>
                  <a:schemeClr val="tx1"/>
                </a:solidFill>
              </a:rPr>
              <a:t>etc.</a:t>
            </a:r>
          </a:p>
          <a:p>
            <a:r>
              <a:rPr lang="pt-BR" b="1" dirty="0"/>
              <a:t>OBS</a:t>
            </a:r>
            <a:r>
              <a:rPr lang="pt-BR" dirty="0"/>
              <a:t>.: A função “linear” é usada, em geral, apenas na saída de redes neurais para regressão.</a:t>
            </a:r>
            <a:endParaRPr lang="pt-BR" dirty="0">
              <a:solidFill>
                <a:schemeClr val="tx1"/>
              </a:solidFill>
            </a:endParaRPr>
          </a:p>
        </p:txBody>
      </p:sp>
      <p:pic>
        <p:nvPicPr>
          <p:cNvPr id="1028" name="Picture 4" descr="Activation Function - AI Wiki">
            <a:extLst>
              <a:ext uri="{FF2B5EF4-FFF2-40B4-BE49-F238E27FC236}">
                <a16:creationId xmlns:a16="http://schemas.microsoft.com/office/drawing/2014/main" id="{B6AD023D-BBB1-9AF0-9047-4098C2C58D2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24" t="57261" r="54834" b="1205"/>
          <a:stretch/>
        </p:blipFill>
        <p:spPr bwMode="auto">
          <a:xfrm>
            <a:off x="407874" y="2472441"/>
            <a:ext cx="2402932" cy="155109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Activation Function - AI Wiki">
            <a:extLst>
              <a:ext uri="{FF2B5EF4-FFF2-40B4-BE49-F238E27FC236}">
                <a16:creationId xmlns:a16="http://schemas.microsoft.com/office/drawing/2014/main" id="{EF6DC5CF-A0C8-D64D-44FC-58DDB514588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6054" t="57929" r="9225" b="2032"/>
          <a:stretch/>
        </p:blipFill>
        <p:spPr bwMode="auto">
          <a:xfrm>
            <a:off x="3440829" y="4072852"/>
            <a:ext cx="1425500" cy="154800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Activation Function - AI Wiki">
            <a:extLst>
              <a:ext uri="{FF2B5EF4-FFF2-40B4-BE49-F238E27FC236}">
                <a16:creationId xmlns:a16="http://schemas.microsoft.com/office/drawing/2014/main" id="{64B42139-9503-99AF-E0F3-287C1509F7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05" t="4046" r="52375" b="51018"/>
          <a:stretch/>
        </p:blipFill>
        <p:spPr bwMode="auto">
          <a:xfrm>
            <a:off x="3095500" y="2472439"/>
            <a:ext cx="2194923" cy="154800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Activation Function - AI Wiki">
            <a:extLst>
              <a:ext uri="{FF2B5EF4-FFF2-40B4-BE49-F238E27FC236}">
                <a16:creationId xmlns:a16="http://schemas.microsoft.com/office/drawing/2014/main" id="{E7B30C64-028A-1736-014C-4EA49A4A2B0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3394" t="3391" r="3935" b="53689"/>
          <a:stretch/>
        </p:blipFill>
        <p:spPr bwMode="auto">
          <a:xfrm>
            <a:off x="573426" y="4094262"/>
            <a:ext cx="2295436" cy="1548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6091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F7C26D-3BDE-A236-CADC-F1BB9F2DC0B3}"/>
              </a:ext>
            </a:extLst>
          </p:cNvPr>
          <p:cNvSpPr>
            <a:spLocks noGrp="1"/>
          </p:cNvSpPr>
          <p:nvPr>
            <p:ph type="title"/>
          </p:nvPr>
        </p:nvSpPr>
        <p:spPr/>
        <p:txBody>
          <a:bodyPr/>
          <a:lstStyle/>
          <a:p>
            <a:r>
              <a:rPr lang="pt-BR" dirty="0"/>
              <a:t>Neurônio artificial</a:t>
            </a:r>
          </a:p>
        </p:txBody>
      </p:sp>
      <p:sp>
        <p:nvSpPr>
          <p:cNvPr id="3" name="Espaço Reservado para Conteúdo 2">
            <a:extLst>
              <a:ext uri="{FF2B5EF4-FFF2-40B4-BE49-F238E27FC236}">
                <a16:creationId xmlns:a16="http://schemas.microsoft.com/office/drawing/2014/main" id="{651AE336-F194-B92F-7FFD-EAA2F0C65A36}"/>
              </a:ext>
            </a:extLst>
          </p:cNvPr>
          <p:cNvSpPr>
            <a:spLocks noGrp="1"/>
          </p:cNvSpPr>
          <p:nvPr>
            <p:ph idx="1"/>
          </p:nvPr>
        </p:nvSpPr>
        <p:spPr>
          <a:xfrm>
            <a:off x="6096000" y="1825624"/>
            <a:ext cx="6096000" cy="5032375"/>
          </a:xfrm>
        </p:spPr>
        <p:txBody>
          <a:bodyPr>
            <a:normAutofit/>
          </a:bodyPr>
          <a:lstStyle/>
          <a:p>
            <a:r>
              <a:rPr lang="pt-BR" b="0" dirty="0">
                <a:effectLst/>
              </a:rPr>
              <a:t>Em geral, redes </a:t>
            </a:r>
            <a:r>
              <a:rPr lang="pt-BR" dirty="0"/>
              <a:t>neurais artificiais são </a:t>
            </a:r>
            <a:r>
              <a:rPr lang="pt-BR" b="0" dirty="0">
                <a:effectLst/>
              </a:rPr>
              <a:t>modelos de aprendizado supervisionado.</a:t>
            </a:r>
          </a:p>
          <a:p>
            <a:r>
              <a:rPr lang="pt-BR" dirty="0"/>
              <a:t>Portanto, o</a:t>
            </a:r>
            <a:r>
              <a:rPr lang="pt-BR" b="0" dirty="0">
                <a:effectLst/>
              </a:rPr>
              <a:t> </a:t>
            </a:r>
            <a:r>
              <a:rPr lang="pt-BR" b="1" dirty="0">
                <a:solidFill>
                  <a:srgbClr val="00B050"/>
                </a:solidFill>
                <a:effectLst/>
              </a:rPr>
              <a:t>objetivo</a:t>
            </a:r>
            <a:r>
              <a:rPr lang="pt-BR" b="0" dirty="0">
                <a:effectLst/>
              </a:rPr>
              <a:t> do </a:t>
            </a:r>
            <a:r>
              <a:rPr lang="pt-BR" b="1" dirty="0">
                <a:solidFill>
                  <a:schemeClr val="accent2"/>
                </a:solidFill>
                <a:effectLst/>
              </a:rPr>
              <a:t>treinamento</a:t>
            </a:r>
            <a:r>
              <a:rPr lang="pt-BR" b="0" dirty="0">
                <a:effectLst/>
              </a:rPr>
              <a:t> de uma rede neural é </a:t>
            </a:r>
            <a:r>
              <a:rPr lang="pt-BR" b="1" dirty="0">
                <a:solidFill>
                  <a:srgbClr val="00B050"/>
                </a:solidFill>
                <a:effectLst/>
              </a:rPr>
              <a:t>encontrar os valores dos pesos</a:t>
            </a:r>
            <a:r>
              <a:rPr lang="pt-BR" b="1" dirty="0">
                <a:effectLst/>
              </a:rPr>
              <a:t> </a:t>
            </a:r>
            <a:r>
              <a:rPr lang="pt-BR" b="0" dirty="0">
                <a:effectLst/>
              </a:rPr>
              <a:t>(bias e sinápticos) </a:t>
            </a:r>
            <a:r>
              <a:rPr lang="pt-BR" b="1" dirty="0">
                <a:solidFill>
                  <a:srgbClr val="FF0000"/>
                </a:solidFill>
                <a:effectLst/>
              </a:rPr>
              <a:t>de todos os neurônios</a:t>
            </a:r>
            <a:r>
              <a:rPr lang="pt-BR" b="0" dirty="0">
                <a:effectLst/>
              </a:rPr>
              <a:t> que</a:t>
            </a:r>
            <a:r>
              <a:rPr lang="pt-BR" dirty="0"/>
              <a:t> </a:t>
            </a:r>
            <a:r>
              <a:rPr lang="pt-BR" b="1" dirty="0">
                <a:solidFill>
                  <a:srgbClr val="7030A0"/>
                </a:solidFill>
              </a:rPr>
              <a:t>minimizem uma função de erro</a:t>
            </a:r>
            <a:r>
              <a:rPr lang="pt-BR" dirty="0"/>
              <a:t>.</a:t>
            </a:r>
          </a:p>
          <a:p>
            <a:r>
              <a:rPr lang="pt-BR" dirty="0"/>
              <a:t>Por exemplo:</a:t>
            </a:r>
          </a:p>
          <a:p>
            <a:pPr lvl="1">
              <a:buFont typeface="Wingdings" panose="05000000000000000000" pitchFamily="2" charset="2"/>
              <a:buChar char="§"/>
            </a:pPr>
            <a:r>
              <a:rPr lang="pt-BR" dirty="0"/>
              <a:t>Classificação: entropia cruzada</a:t>
            </a:r>
          </a:p>
          <a:p>
            <a:pPr lvl="1">
              <a:buFont typeface="Wingdings" panose="05000000000000000000" pitchFamily="2" charset="2"/>
              <a:buChar char="§"/>
            </a:pPr>
            <a:r>
              <a:rPr lang="pt-BR" dirty="0"/>
              <a:t>Regressão: erro quadrático médio</a:t>
            </a:r>
          </a:p>
        </p:txBody>
      </p:sp>
      <p:pic>
        <p:nvPicPr>
          <p:cNvPr id="5" name="Imagem 4">
            <a:extLst>
              <a:ext uri="{FF2B5EF4-FFF2-40B4-BE49-F238E27FC236}">
                <a16:creationId xmlns:a16="http://schemas.microsoft.com/office/drawing/2014/main" id="{03A2D649-EBB4-ED38-335D-35C407B248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6218" y="1690688"/>
            <a:ext cx="4859866" cy="5161229"/>
          </a:xfrm>
          <a:prstGeom prst="rect">
            <a:avLst/>
          </a:prstGeom>
        </p:spPr>
      </p:pic>
    </p:spTree>
    <p:extLst>
      <p:ext uri="{BB962C8B-B14F-4D97-AF65-F5344CB8AC3E}">
        <p14:creationId xmlns:p14="http://schemas.microsoft.com/office/powerpoint/2010/main" val="3804495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EEDAE-99FD-346C-83DE-1E169FC3A5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C34E9C5-62E3-491F-1941-2013876DF597}"/>
              </a:ext>
            </a:extLst>
          </p:cNvPr>
          <p:cNvSpPr>
            <a:spLocks noGrp="1"/>
          </p:cNvSpPr>
          <p:nvPr>
            <p:ph type="title"/>
          </p:nvPr>
        </p:nvSpPr>
        <p:spPr/>
        <p:txBody>
          <a:bodyPr/>
          <a:lstStyle/>
          <a:p>
            <a:r>
              <a:rPr lang="pt-BR" dirty="0"/>
              <a:t>Neurônio artificial</a:t>
            </a:r>
          </a:p>
        </p:txBody>
      </p:sp>
      <p:sp>
        <p:nvSpPr>
          <p:cNvPr id="3" name="Espaço Reservado para Conteúdo 2">
            <a:extLst>
              <a:ext uri="{FF2B5EF4-FFF2-40B4-BE49-F238E27FC236}">
                <a16:creationId xmlns:a16="http://schemas.microsoft.com/office/drawing/2014/main" id="{D010F0FE-985C-783D-7E8F-1F871A77B3CD}"/>
              </a:ext>
            </a:extLst>
          </p:cNvPr>
          <p:cNvSpPr>
            <a:spLocks noGrp="1"/>
          </p:cNvSpPr>
          <p:nvPr>
            <p:ph idx="1"/>
          </p:nvPr>
        </p:nvSpPr>
        <p:spPr>
          <a:xfrm>
            <a:off x="5953991" y="1825624"/>
            <a:ext cx="6161809" cy="5032375"/>
          </a:xfrm>
        </p:spPr>
        <p:txBody>
          <a:bodyPr>
            <a:normAutofit/>
          </a:bodyPr>
          <a:lstStyle/>
          <a:p>
            <a:r>
              <a:rPr lang="pt-BR" dirty="0"/>
              <a:t>Os pesos são ajustados através de um </a:t>
            </a:r>
            <a:r>
              <a:rPr lang="pt-BR" b="1" dirty="0">
                <a:solidFill>
                  <a:srgbClr val="00B050"/>
                </a:solidFill>
              </a:rPr>
              <a:t>algoritmo de otimização iterativo </a:t>
            </a:r>
            <a:r>
              <a:rPr lang="pt-BR" dirty="0"/>
              <a:t>chamado de </a:t>
            </a:r>
            <a:r>
              <a:rPr lang="pt-BR" b="1" dirty="0">
                <a:solidFill>
                  <a:srgbClr val="00B050"/>
                </a:solidFill>
              </a:rPr>
              <a:t>retropropagação do erro, </a:t>
            </a:r>
            <a:r>
              <a:rPr lang="pt-BR" dirty="0"/>
              <a:t>o qual é baseado no gradiente descendente.</a:t>
            </a:r>
          </a:p>
        </p:txBody>
      </p:sp>
      <p:grpSp>
        <p:nvGrpSpPr>
          <p:cNvPr id="4" name="Group 3">
            <a:extLst>
              <a:ext uri="{FF2B5EF4-FFF2-40B4-BE49-F238E27FC236}">
                <a16:creationId xmlns:a16="http://schemas.microsoft.com/office/drawing/2014/main" id="{5E5B4210-F451-0E46-2DC3-5A853779D86A}"/>
              </a:ext>
            </a:extLst>
          </p:cNvPr>
          <p:cNvGrpSpPr/>
          <p:nvPr/>
        </p:nvGrpSpPr>
        <p:grpSpPr>
          <a:xfrm>
            <a:off x="671945" y="2004203"/>
            <a:ext cx="4240583" cy="3792091"/>
            <a:chOff x="294226" y="2506925"/>
            <a:chExt cx="4240583" cy="3792091"/>
          </a:xfrm>
        </p:grpSpPr>
        <p:sp>
          <p:nvSpPr>
            <p:cNvPr id="6" name="Elipse 77">
              <a:extLst>
                <a:ext uri="{FF2B5EF4-FFF2-40B4-BE49-F238E27FC236}">
                  <a16:creationId xmlns:a16="http://schemas.microsoft.com/office/drawing/2014/main" id="{70938B78-1D25-4E0F-4634-95BF4D6C4913}"/>
                </a:ext>
              </a:extLst>
            </p:cNvPr>
            <p:cNvSpPr/>
            <p:nvPr/>
          </p:nvSpPr>
          <p:spPr>
            <a:xfrm>
              <a:off x="2492828" y="3402579"/>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Elipse 78">
              <a:extLst>
                <a:ext uri="{FF2B5EF4-FFF2-40B4-BE49-F238E27FC236}">
                  <a16:creationId xmlns:a16="http://schemas.microsoft.com/office/drawing/2014/main" id="{D759AC0C-F0D3-1871-2754-69F6D52A6DBF}"/>
                </a:ext>
              </a:extLst>
            </p:cNvPr>
            <p:cNvSpPr/>
            <p:nvPr/>
          </p:nvSpPr>
          <p:spPr>
            <a:xfrm>
              <a:off x="2492827" y="4121036"/>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Elipse 79">
              <a:extLst>
                <a:ext uri="{FF2B5EF4-FFF2-40B4-BE49-F238E27FC236}">
                  <a16:creationId xmlns:a16="http://schemas.microsoft.com/office/drawing/2014/main" id="{2964BE85-A296-DE4E-E51D-89ECA5716917}"/>
                </a:ext>
              </a:extLst>
            </p:cNvPr>
            <p:cNvSpPr/>
            <p:nvPr/>
          </p:nvSpPr>
          <p:spPr>
            <a:xfrm>
              <a:off x="2492827" y="4839493"/>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Elipse 81">
              <a:extLst>
                <a:ext uri="{FF2B5EF4-FFF2-40B4-BE49-F238E27FC236}">
                  <a16:creationId xmlns:a16="http://schemas.microsoft.com/office/drawing/2014/main" id="{8A60846B-F1E1-7A6B-E335-768C1DC1CC8F}"/>
                </a:ext>
              </a:extLst>
            </p:cNvPr>
            <p:cNvSpPr/>
            <p:nvPr/>
          </p:nvSpPr>
          <p:spPr>
            <a:xfrm>
              <a:off x="3450770" y="3864817"/>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Elipse 82">
              <a:extLst>
                <a:ext uri="{FF2B5EF4-FFF2-40B4-BE49-F238E27FC236}">
                  <a16:creationId xmlns:a16="http://schemas.microsoft.com/office/drawing/2014/main" id="{033FA15F-7158-4CB1-E047-83183F66F65A}"/>
                </a:ext>
              </a:extLst>
            </p:cNvPr>
            <p:cNvSpPr/>
            <p:nvPr/>
          </p:nvSpPr>
          <p:spPr>
            <a:xfrm>
              <a:off x="3450769" y="4583274"/>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83">
              <a:extLst>
                <a:ext uri="{FF2B5EF4-FFF2-40B4-BE49-F238E27FC236}">
                  <a16:creationId xmlns:a16="http://schemas.microsoft.com/office/drawing/2014/main" id="{7C336A27-D1BE-7BF4-CB72-0110F569EE18}"/>
                </a:ext>
              </a:extLst>
            </p:cNvPr>
            <p:cNvSpPr/>
            <p:nvPr/>
          </p:nvSpPr>
          <p:spPr>
            <a:xfrm>
              <a:off x="1534884" y="29299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84">
              <a:extLst>
                <a:ext uri="{FF2B5EF4-FFF2-40B4-BE49-F238E27FC236}">
                  <a16:creationId xmlns:a16="http://schemas.microsoft.com/office/drawing/2014/main" id="{18B254A2-D380-C70B-D669-CE16BE48FA8A}"/>
                </a:ext>
              </a:extLst>
            </p:cNvPr>
            <p:cNvSpPr/>
            <p:nvPr/>
          </p:nvSpPr>
          <p:spPr>
            <a:xfrm>
              <a:off x="1534884" y="36856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Elipse 85">
              <a:extLst>
                <a:ext uri="{FF2B5EF4-FFF2-40B4-BE49-F238E27FC236}">
                  <a16:creationId xmlns:a16="http://schemas.microsoft.com/office/drawing/2014/main" id="{AB02A44B-6636-2983-FEB9-7BB13C0EC978}"/>
                </a:ext>
              </a:extLst>
            </p:cNvPr>
            <p:cNvSpPr/>
            <p:nvPr/>
          </p:nvSpPr>
          <p:spPr>
            <a:xfrm>
              <a:off x="1534884" y="44412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4" name="Conector de Seta Reta 86">
              <a:extLst>
                <a:ext uri="{FF2B5EF4-FFF2-40B4-BE49-F238E27FC236}">
                  <a16:creationId xmlns:a16="http://schemas.microsoft.com/office/drawing/2014/main" id="{84468D6E-B7EC-AA41-E5FD-96FC7756BF4F}"/>
                </a:ext>
              </a:extLst>
            </p:cNvPr>
            <p:cNvCxnSpPr>
              <a:cxnSpLocks/>
              <a:stCxn id="11" idx="6"/>
              <a:endCxn id="6" idx="2"/>
            </p:cNvCxnSpPr>
            <p:nvPr/>
          </p:nvCxnSpPr>
          <p:spPr>
            <a:xfrm>
              <a:off x="2100941" y="3212987"/>
              <a:ext cx="391887" cy="472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87">
              <a:extLst>
                <a:ext uri="{FF2B5EF4-FFF2-40B4-BE49-F238E27FC236}">
                  <a16:creationId xmlns:a16="http://schemas.microsoft.com/office/drawing/2014/main" id="{0B50005F-F6A0-320B-6B06-20B5BA23A1A5}"/>
                </a:ext>
              </a:extLst>
            </p:cNvPr>
            <p:cNvCxnSpPr>
              <a:stCxn id="11" idx="6"/>
              <a:endCxn id="7" idx="2"/>
            </p:cNvCxnSpPr>
            <p:nvPr/>
          </p:nvCxnSpPr>
          <p:spPr>
            <a:xfrm>
              <a:off x="2100941" y="3212987"/>
              <a:ext cx="391886" cy="1191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88">
              <a:extLst>
                <a:ext uri="{FF2B5EF4-FFF2-40B4-BE49-F238E27FC236}">
                  <a16:creationId xmlns:a16="http://schemas.microsoft.com/office/drawing/2014/main" id="{A41DE232-8C9D-AA86-059D-0434EB0F9F04}"/>
                </a:ext>
              </a:extLst>
            </p:cNvPr>
            <p:cNvCxnSpPr>
              <a:stCxn id="11" idx="6"/>
              <a:endCxn id="8" idx="2"/>
            </p:cNvCxnSpPr>
            <p:nvPr/>
          </p:nvCxnSpPr>
          <p:spPr>
            <a:xfrm>
              <a:off x="2100941" y="3212987"/>
              <a:ext cx="391886" cy="1909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90">
              <a:extLst>
                <a:ext uri="{FF2B5EF4-FFF2-40B4-BE49-F238E27FC236}">
                  <a16:creationId xmlns:a16="http://schemas.microsoft.com/office/drawing/2014/main" id="{EE2B524E-5D20-41B7-7A32-E87BAE6D1104}"/>
                </a:ext>
              </a:extLst>
            </p:cNvPr>
            <p:cNvCxnSpPr>
              <a:cxnSpLocks/>
              <a:stCxn id="12" idx="6"/>
              <a:endCxn id="6" idx="2"/>
            </p:cNvCxnSpPr>
            <p:nvPr/>
          </p:nvCxnSpPr>
          <p:spPr>
            <a:xfrm flipV="1">
              <a:off x="2100941" y="3685608"/>
              <a:ext cx="391887" cy="283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91">
              <a:extLst>
                <a:ext uri="{FF2B5EF4-FFF2-40B4-BE49-F238E27FC236}">
                  <a16:creationId xmlns:a16="http://schemas.microsoft.com/office/drawing/2014/main" id="{8DBFB752-E2AC-D8D7-8821-677A1FE16DDE}"/>
                </a:ext>
              </a:extLst>
            </p:cNvPr>
            <p:cNvCxnSpPr>
              <a:stCxn id="13" idx="6"/>
              <a:endCxn id="7" idx="2"/>
            </p:cNvCxnSpPr>
            <p:nvPr/>
          </p:nvCxnSpPr>
          <p:spPr>
            <a:xfrm flipV="1">
              <a:off x="2100941" y="4404065"/>
              <a:ext cx="391886" cy="320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92">
              <a:extLst>
                <a:ext uri="{FF2B5EF4-FFF2-40B4-BE49-F238E27FC236}">
                  <a16:creationId xmlns:a16="http://schemas.microsoft.com/office/drawing/2014/main" id="{89D6D24F-AC19-B095-7D38-CF319A6581B1}"/>
                </a:ext>
              </a:extLst>
            </p:cNvPr>
            <p:cNvCxnSpPr>
              <a:stCxn id="12" idx="6"/>
              <a:endCxn id="7" idx="2"/>
            </p:cNvCxnSpPr>
            <p:nvPr/>
          </p:nvCxnSpPr>
          <p:spPr>
            <a:xfrm>
              <a:off x="2100941" y="3968637"/>
              <a:ext cx="391886" cy="435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93">
              <a:extLst>
                <a:ext uri="{FF2B5EF4-FFF2-40B4-BE49-F238E27FC236}">
                  <a16:creationId xmlns:a16="http://schemas.microsoft.com/office/drawing/2014/main" id="{59BE2D41-8045-1E74-F8E3-652BF7044E13}"/>
                </a:ext>
              </a:extLst>
            </p:cNvPr>
            <p:cNvCxnSpPr>
              <a:stCxn id="12" idx="6"/>
              <a:endCxn id="8" idx="2"/>
            </p:cNvCxnSpPr>
            <p:nvPr/>
          </p:nvCxnSpPr>
          <p:spPr>
            <a:xfrm>
              <a:off x="2100941" y="3968637"/>
              <a:ext cx="391886" cy="1153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96">
              <a:extLst>
                <a:ext uri="{FF2B5EF4-FFF2-40B4-BE49-F238E27FC236}">
                  <a16:creationId xmlns:a16="http://schemas.microsoft.com/office/drawing/2014/main" id="{E68E2B60-AFB2-A61C-EB33-9AD710FF25AC}"/>
                </a:ext>
              </a:extLst>
            </p:cNvPr>
            <p:cNvCxnSpPr>
              <a:stCxn id="13" idx="6"/>
              <a:endCxn id="8" idx="2"/>
            </p:cNvCxnSpPr>
            <p:nvPr/>
          </p:nvCxnSpPr>
          <p:spPr>
            <a:xfrm>
              <a:off x="2100941" y="4724287"/>
              <a:ext cx="391886" cy="398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98">
              <a:extLst>
                <a:ext uri="{FF2B5EF4-FFF2-40B4-BE49-F238E27FC236}">
                  <a16:creationId xmlns:a16="http://schemas.microsoft.com/office/drawing/2014/main" id="{2DA4392C-3D3C-2FD9-0579-26F9633E4839}"/>
                </a:ext>
              </a:extLst>
            </p:cNvPr>
            <p:cNvCxnSpPr>
              <a:stCxn id="6" idx="6"/>
              <a:endCxn id="9" idx="2"/>
            </p:cNvCxnSpPr>
            <p:nvPr/>
          </p:nvCxnSpPr>
          <p:spPr>
            <a:xfrm>
              <a:off x="3058885" y="3685608"/>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99">
              <a:extLst>
                <a:ext uri="{FF2B5EF4-FFF2-40B4-BE49-F238E27FC236}">
                  <a16:creationId xmlns:a16="http://schemas.microsoft.com/office/drawing/2014/main" id="{8631E04C-C69E-D569-8733-0B18B71619F3}"/>
                </a:ext>
              </a:extLst>
            </p:cNvPr>
            <p:cNvCxnSpPr>
              <a:stCxn id="7" idx="6"/>
              <a:endCxn id="10" idx="2"/>
            </p:cNvCxnSpPr>
            <p:nvPr/>
          </p:nvCxnSpPr>
          <p:spPr>
            <a:xfrm>
              <a:off x="3058884" y="4404065"/>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100">
              <a:extLst>
                <a:ext uri="{FF2B5EF4-FFF2-40B4-BE49-F238E27FC236}">
                  <a16:creationId xmlns:a16="http://schemas.microsoft.com/office/drawing/2014/main" id="{84F98F55-5EC7-3506-A130-BE0646F624CB}"/>
                </a:ext>
              </a:extLst>
            </p:cNvPr>
            <p:cNvCxnSpPr>
              <a:stCxn id="8" idx="6"/>
              <a:endCxn id="10" idx="2"/>
            </p:cNvCxnSpPr>
            <p:nvPr/>
          </p:nvCxnSpPr>
          <p:spPr>
            <a:xfrm flipV="1">
              <a:off x="3058884" y="4866303"/>
              <a:ext cx="391885"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102">
              <a:extLst>
                <a:ext uri="{FF2B5EF4-FFF2-40B4-BE49-F238E27FC236}">
                  <a16:creationId xmlns:a16="http://schemas.microsoft.com/office/drawing/2014/main" id="{E0CAC1C2-9CB4-18FA-5D0F-4F65CB138644}"/>
                </a:ext>
              </a:extLst>
            </p:cNvPr>
            <p:cNvCxnSpPr>
              <a:cxnSpLocks/>
              <a:stCxn id="6" idx="6"/>
              <a:endCxn id="10" idx="2"/>
            </p:cNvCxnSpPr>
            <p:nvPr/>
          </p:nvCxnSpPr>
          <p:spPr>
            <a:xfrm>
              <a:off x="3058885" y="3685608"/>
              <a:ext cx="391884" cy="1180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103">
              <a:extLst>
                <a:ext uri="{FF2B5EF4-FFF2-40B4-BE49-F238E27FC236}">
                  <a16:creationId xmlns:a16="http://schemas.microsoft.com/office/drawing/2014/main" id="{949E63AC-3290-32BF-9FA1-DBE6B50C7701}"/>
                </a:ext>
              </a:extLst>
            </p:cNvPr>
            <p:cNvCxnSpPr>
              <a:stCxn id="7" idx="6"/>
              <a:endCxn id="9" idx="2"/>
            </p:cNvCxnSpPr>
            <p:nvPr/>
          </p:nvCxnSpPr>
          <p:spPr>
            <a:xfrm flipV="1">
              <a:off x="3058884" y="4147846"/>
              <a:ext cx="391886"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ector de Seta Reta 104">
              <a:extLst>
                <a:ext uri="{FF2B5EF4-FFF2-40B4-BE49-F238E27FC236}">
                  <a16:creationId xmlns:a16="http://schemas.microsoft.com/office/drawing/2014/main" id="{598C46AA-C187-4ECE-8C6D-33457339BDB3}"/>
                </a:ext>
              </a:extLst>
            </p:cNvPr>
            <p:cNvCxnSpPr>
              <a:stCxn id="8" idx="6"/>
              <a:endCxn id="9" idx="2"/>
            </p:cNvCxnSpPr>
            <p:nvPr/>
          </p:nvCxnSpPr>
          <p:spPr>
            <a:xfrm flipV="1">
              <a:off x="3058884" y="4147846"/>
              <a:ext cx="391886" cy="974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CaixaDeTexto 106">
              <a:extLst>
                <a:ext uri="{FF2B5EF4-FFF2-40B4-BE49-F238E27FC236}">
                  <a16:creationId xmlns:a16="http://schemas.microsoft.com/office/drawing/2014/main" id="{F5260134-74BF-B8A6-6615-CEFD5D33C3E2}"/>
                </a:ext>
              </a:extLst>
            </p:cNvPr>
            <p:cNvSpPr txBox="1"/>
            <p:nvPr/>
          </p:nvSpPr>
          <p:spPr>
            <a:xfrm>
              <a:off x="3173179" y="3100768"/>
              <a:ext cx="1230086" cy="307777"/>
            </a:xfrm>
            <a:prstGeom prst="rect">
              <a:avLst/>
            </a:prstGeom>
            <a:noFill/>
          </p:spPr>
          <p:txBody>
            <a:bodyPr wrap="square" rtlCol="0">
              <a:spAutoFit/>
            </a:bodyPr>
            <a:lstStyle/>
            <a:p>
              <a:r>
                <a:rPr lang="pt-BR" sz="1400" dirty="0"/>
                <a:t>Neurônio</a:t>
              </a:r>
            </a:p>
          </p:txBody>
        </p:sp>
        <p:sp>
          <p:nvSpPr>
            <p:cNvPr id="29" name="Forma Livre: Forma 107">
              <a:extLst>
                <a:ext uri="{FF2B5EF4-FFF2-40B4-BE49-F238E27FC236}">
                  <a16:creationId xmlns:a16="http://schemas.microsoft.com/office/drawing/2014/main" id="{6B3776BE-B594-D910-0E3C-E4DD3EFA38C6}"/>
                </a:ext>
              </a:extLst>
            </p:cNvPr>
            <p:cNvSpPr/>
            <p:nvPr/>
          </p:nvSpPr>
          <p:spPr>
            <a:xfrm>
              <a:off x="2786734" y="3216700"/>
              <a:ext cx="413657" cy="166042"/>
            </a:xfrm>
            <a:custGeom>
              <a:avLst/>
              <a:gdLst>
                <a:gd name="connsiteX0" fmla="*/ 0 w 413657"/>
                <a:gd name="connsiteY0" fmla="*/ 166042 h 166042"/>
                <a:gd name="connsiteX1" fmla="*/ 76200 w 413657"/>
                <a:gd name="connsiteY1" fmla="*/ 2756 h 166042"/>
                <a:gd name="connsiteX2" fmla="*/ 413657 w 413657"/>
                <a:gd name="connsiteY2" fmla="*/ 78956 h 166042"/>
              </a:gdLst>
              <a:ahLst/>
              <a:cxnLst>
                <a:cxn ang="0">
                  <a:pos x="connsiteX0" y="connsiteY0"/>
                </a:cxn>
                <a:cxn ang="0">
                  <a:pos x="connsiteX1" y="connsiteY1"/>
                </a:cxn>
                <a:cxn ang="0">
                  <a:pos x="connsiteX2" y="connsiteY2"/>
                </a:cxn>
              </a:cxnLst>
              <a:rect l="l" t="t" r="r" b="b"/>
              <a:pathLst>
                <a:path w="413657" h="166042">
                  <a:moveTo>
                    <a:pt x="0" y="166042"/>
                  </a:moveTo>
                  <a:cubicBezTo>
                    <a:pt x="3628" y="91656"/>
                    <a:pt x="7257" y="17270"/>
                    <a:pt x="76200" y="2756"/>
                  </a:cubicBezTo>
                  <a:cubicBezTo>
                    <a:pt x="145143" y="-11758"/>
                    <a:pt x="279400" y="33599"/>
                    <a:pt x="413657" y="7895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0" name="Conector reto 112">
              <a:extLst>
                <a:ext uri="{FF2B5EF4-FFF2-40B4-BE49-F238E27FC236}">
                  <a16:creationId xmlns:a16="http://schemas.microsoft.com/office/drawing/2014/main" id="{80EA5619-A589-515C-9CC4-AA341DACFCC9}"/>
                </a:ext>
              </a:extLst>
            </p:cNvPr>
            <p:cNvCxnSpPr>
              <a:cxnSpLocks/>
              <a:stCxn id="66" idx="6"/>
              <a:endCxn id="12" idx="2"/>
            </p:cNvCxnSpPr>
            <p:nvPr/>
          </p:nvCxnSpPr>
          <p:spPr>
            <a:xfrm>
              <a:off x="944681" y="3219656"/>
              <a:ext cx="590203" cy="7489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Conector de Seta Reta 113">
              <a:extLst>
                <a:ext uri="{FF2B5EF4-FFF2-40B4-BE49-F238E27FC236}">
                  <a16:creationId xmlns:a16="http://schemas.microsoft.com/office/drawing/2014/main" id="{78EBEC59-8B34-6834-5B3B-73A8BE9E8DB8}"/>
                </a:ext>
              </a:extLst>
            </p:cNvPr>
            <p:cNvCxnSpPr>
              <a:cxnSpLocks/>
              <a:stCxn id="9" idx="6"/>
              <a:endCxn id="33" idx="1"/>
            </p:cNvCxnSpPr>
            <p:nvPr/>
          </p:nvCxnSpPr>
          <p:spPr>
            <a:xfrm>
              <a:off x="4016827" y="4147846"/>
              <a:ext cx="251280" cy="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114">
              <a:extLst>
                <a:ext uri="{FF2B5EF4-FFF2-40B4-BE49-F238E27FC236}">
                  <a16:creationId xmlns:a16="http://schemas.microsoft.com/office/drawing/2014/main" id="{ABB647B5-F523-4899-7A11-9C081D1C181B}"/>
                </a:ext>
              </a:extLst>
            </p:cNvPr>
            <p:cNvCxnSpPr>
              <a:cxnSpLocks/>
              <a:stCxn id="10" idx="6"/>
            </p:cNvCxnSpPr>
            <p:nvPr/>
          </p:nvCxnSpPr>
          <p:spPr>
            <a:xfrm>
              <a:off x="4016826" y="4866303"/>
              <a:ext cx="272141" cy="5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CaixaDeTexto 5">
                  <a:extLst>
                    <a:ext uri="{FF2B5EF4-FFF2-40B4-BE49-F238E27FC236}">
                      <a16:creationId xmlns:a16="http://schemas.microsoft.com/office/drawing/2014/main" id="{5498EC9A-FBA7-EC41-AFC2-BB8F89479AFE}"/>
                    </a:ext>
                  </a:extLst>
                </p:cNvPr>
                <p:cNvSpPr txBox="1"/>
                <p:nvPr/>
              </p:nvSpPr>
              <p:spPr>
                <a:xfrm>
                  <a:off x="4268107" y="3963524"/>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1</m:t>
                            </m:r>
                          </m:sub>
                        </m:sSub>
                      </m:oMath>
                    </m:oMathPara>
                  </a14:m>
                  <a:endParaRPr lang="pt-BR" dirty="0"/>
                </a:p>
              </p:txBody>
            </p:sp>
          </mc:Choice>
          <mc:Fallback xmlns="">
            <p:sp>
              <p:nvSpPr>
                <p:cNvPr id="32" name="CaixaDeTexto 5">
                  <a:extLst>
                    <a:ext uri="{FF2B5EF4-FFF2-40B4-BE49-F238E27FC236}">
                      <a16:creationId xmlns:a16="http://schemas.microsoft.com/office/drawing/2014/main" id="{78476B58-B60C-BDA2-ED84-F4274DEF8D44}"/>
                    </a:ext>
                  </a:extLst>
                </p:cNvPr>
                <p:cNvSpPr txBox="1">
                  <a:spLocks noRot="1" noChangeAspect="1" noMove="1" noResize="1" noEditPoints="1" noAdjustHandles="1" noChangeArrowheads="1" noChangeShapeType="1" noTextEdit="1"/>
                </p:cNvSpPr>
                <p:nvPr/>
              </p:nvSpPr>
              <p:spPr>
                <a:xfrm>
                  <a:off x="4268107" y="3963524"/>
                  <a:ext cx="266702" cy="369332"/>
                </a:xfrm>
                <a:prstGeom prst="rect">
                  <a:avLst/>
                </a:prstGeom>
                <a:blipFill>
                  <a:blip r:embed="rId3"/>
                  <a:stretch>
                    <a:fillRect t="-6667" r="-34091"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CaixaDeTexto 6">
                  <a:extLst>
                    <a:ext uri="{FF2B5EF4-FFF2-40B4-BE49-F238E27FC236}">
                      <a16:creationId xmlns:a16="http://schemas.microsoft.com/office/drawing/2014/main" id="{FCC717E5-0431-4BF4-E93C-1DC663CE328E}"/>
                    </a:ext>
                  </a:extLst>
                </p:cNvPr>
                <p:cNvSpPr txBox="1"/>
                <p:nvPr/>
              </p:nvSpPr>
              <p:spPr>
                <a:xfrm>
                  <a:off x="4268107" y="4681637"/>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2</m:t>
                            </m:r>
                          </m:sub>
                        </m:sSub>
                      </m:oMath>
                    </m:oMathPara>
                  </a14:m>
                  <a:endParaRPr lang="pt-BR" dirty="0"/>
                </a:p>
              </p:txBody>
            </p:sp>
          </mc:Choice>
          <mc:Fallback xmlns="">
            <p:sp>
              <p:nvSpPr>
                <p:cNvPr id="33" name="CaixaDeTexto 6">
                  <a:extLst>
                    <a:ext uri="{FF2B5EF4-FFF2-40B4-BE49-F238E27FC236}">
                      <a16:creationId xmlns:a16="http://schemas.microsoft.com/office/drawing/2014/main" id="{6E16AF6B-BDCF-84CC-BA22-AD84BA3647A0}"/>
                    </a:ext>
                  </a:extLst>
                </p:cNvPr>
                <p:cNvSpPr txBox="1">
                  <a:spLocks noRot="1" noChangeAspect="1" noMove="1" noResize="1" noEditPoints="1" noAdjustHandles="1" noChangeArrowheads="1" noChangeShapeType="1" noTextEdit="1"/>
                </p:cNvSpPr>
                <p:nvPr/>
              </p:nvSpPr>
              <p:spPr>
                <a:xfrm>
                  <a:off x="4268107" y="4681637"/>
                  <a:ext cx="266702" cy="369332"/>
                </a:xfrm>
                <a:prstGeom prst="rect">
                  <a:avLst/>
                </a:prstGeom>
                <a:blipFill>
                  <a:blip r:embed="rId4"/>
                  <a:stretch>
                    <a:fillRect t="-6667" r="-36364" b="-6667"/>
                  </a:stretch>
                </a:blipFill>
              </p:spPr>
              <p:txBody>
                <a:bodyPr/>
                <a:lstStyle/>
                <a:p>
                  <a:r>
                    <a:rPr lang="en-US">
                      <a:noFill/>
                    </a:rPr>
                    <a:t> </a:t>
                  </a:r>
                </a:p>
              </p:txBody>
            </p:sp>
          </mc:Fallback>
        </mc:AlternateContent>
        <p:grpSp>
          <p:nvGrpSpPr>
            <p:cNvPr id="35" name="Group 34">
              <a:extLst>
                <a:ext uri="{FF2B5EF4-FFF2-40B4-BE49-F238E27FC236}">
                  <a16:creationId xmlns:a16="http://schemas.microsoft.com/office/drawing/2014/main" id="{511A2ABD-CAF3-343C-635B-ED9906395AC3}"/>
                </a:ext>
              </a:extLst>
            </p:cNvPr>
            <p:cNvGrpSpPr/>
            <p:nvPr/>
          </p:nvGrpSpPr>
          <p:grpSpPr>
            <a:xfrm>
              <a:off x="607920" y="3007376"/>
              <a:ext cx="336761" cy="369332"/>
              <a:chOff x="922561" y="2974265"/>
              <a:chExt cx="336761" cy="369332"/>
            </a:xfrm>
          </p:grpSpPr>
          <mc:AlternateContent xmlns:mc="http://schemas.openxmlformats.org/markup-compatibility/2006" xmlns:a14="http://schemas.microsoft.com/office/drawing/2010/main">
            <mc:Choice Requires="a14">
              <p:sp>
                <p:nvSpPr>
                  <p:cNvPr id="65" name="CaixaDeTexto 115">
                    <a:extLst>
                      <a:ext uri="{FF2B5EF4-FFF2-40B4-BE49-F238E27FC236}">
                        <a16:creationId xmlns:a16="http://schemas.microsoft.com/office/drawing/2014/main" id="{1808174C-4E25-6E3A-67F6-05ACAB75DC1B}"/>
                      </a:ext>
                    </a:extLst>
                  </p:cNvPr>
                  <p:cNvSpPr txBox="1"/>
                  <p:nvPr/>
                </p:nvSpPr>
                <p:spPr>
                  <a:xfrm>
                    <a:off x="922561" y="2974265"/>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64" name="CaixaDeTexto 115">
                    <a:extLst>
                      <a:ext uri="{FF2B5EF4-FFF2-40B4-BE49-F238E27FC236}">
                        <a16:creationId xmlns:a16="http://schemas.microsoft.com/office/drawing/2014/main" id="{5FF37362-48CE-CE17-8FFB-67041B29DDD8}"/>
                      </a:ext>
                    </a:extLst>
                  </p:cNvPr>
                  <p:cNvSpPr txBox="1">
                    <a:spLocks noRot="1" noChangeAspect="1" noMove="1" noResize="1" noEditPoints="1" noAdjustHandles="1" noChangeArrowheads="1" noChangeShapeType="1" noTextEdit="1"/>
                  </p:cNvSpPr>
                  <p:nvPr/>
                </p:nvSpPr>
                <p:spPr>
                  <a:xfrm>
                    <a:off x="922561" y="2974265"/>
                    <a:ext cx="266702" cy="369332"/>
                  </a:xfrm>
                  <a:prstGeom prst="rect">
                    <a:avLst/>
                  </a:prstGeom>
                  <a:blipFill>
                    <a:blip r:embed="rId5"/>
                    <a:stretch>
                      <a:fillRect r="-34091"/>
                    </a:stretch>
                  </a:blipFill>
                </p:spPr>
                <p:txBody>
                  <a:bodyPr/>
                  <a:lstStyle/>
                  <a:p>
                    <a:r>
                      <a:rPr lang="en-US">
                        <a:noFill/>
                      </a:rPr>
                      <a:t> </a:t>
                    </a:r>
                  </a:p>
                </p:txBody>
              </p:sp>
            </mc:Fallback>
          </mc:AlternateContent>
          <p:sp>
            <p:nvSpPr>
              <p:cNvPr id="66" name="Elipse 3">
                <a:extLst>
                  <a:ext uri="{FF2B5EF4-FFF2-40B4-BE49-F238E27FC236}">
                    <a16:creationId xmlns:a16="http://schemas.microsoft.com/office/drawing/2014/main" id="{E5F1337E-7FE4-CFEA-6D68-0EFF60CF3CCC}"/>
                  </a:ext>
                </a:extLst>
              </p:cNvPr>
              <p:cNvSpPr/>
              <p:nvPr/>
            </p:nvSpPr>
            <p:spPr>
              <a:xfrm>
                <a:off x="971322" y="3042545"/>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6" name="Elipse 83">
              <a:extLst>
                <a:ext uri="{FF2B5EF4-FFF2-40B4-BE49-F238E27FC236}">
                  <a16:creationId xmlns:a16="http://schemas.microsoft.com/office/drawing/2014/main" id="{B8193959-6979-CA45-FCB6-D771C67DC50A}"/>
                </a:ext>
              </a:extLst>
            </p:cNvPr>
            <p:cNvSpPr/>
            <p:nvPr/>
          </p:nvSpPr>
          <p:spPr>
            <a:xfrm>
              <a:off x="1529435" y="51969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7" name="Group 36">
              <a:extLst>
                <a:ext uri="{FF2B5EF4-FFF2-40B4-BE49-F238E27FC236}">
                  <a16:creationId xmlns:a16="http://schemas.microsoft.com/office/drawing/2014/main" id="{2477E4F2-895D-7D20-D7EC-AC5EDA23309A}"/>
                </a:ext>
              </a:extLst>
            </p:cNvPr>
            <p:cNvGrpSpPr/>
            <p:nvPr/>
          </p:nvGrpSpPr>
          <p:grpSpPr>
            <a:xfrm>
              <a:off x="574549" y="5263520"/>
              <a:ext cx="349823" cy="369332"/>
              <a:chOff x="920926" y="4430876"/>
              <a:chExt cx="349823" cy="369332"/>
            </a:xfrm>
          </p:grpSpPr>
          <mc:AlternateContent xmlns:mc="http://schemas.openxmlformats.org/markup-compatibility/2006" xmlns:a14="http://schemas.microsoft.com/office/drawing/2010/main">
            <mc:Choice Requires="a14">
              <p:sp>
                <p:nvSpPr>
                  <p:cNvPr id="63" name="CaixaDeTexto 116">
                    <a:extLst>
                      <a:ext uri="{FF2B5EF4-FFF2-40B4-BE49-F238E27FC236}">
                        <a16:creationId xmlns:a16="http://schemas.microsoft.com/office/drawing/2014/main" id="{CFAC640B-C55B-BAB4-3F58-FE8016DC0883}"/>
                      </a:ext>
                    </a:extLst>
                  </p:cNvPr>
                  <p:cNvSpPr txBox="1"/>
                  <p:nvPr/>
                </p:nvSpPr>
                <p:spPr>
                  <a:xfrm>
                    <a:off x="920926" y="4430876"/>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62" name="CaixaDeTexto 116">
                    <a:extLst>
                      <a:ext uri="{FF2B5EF4-FFF2-40B4-BE49-F238E27FC236}">
                        <a16:creationId xmlns:a16="http://schemas.microsoft.com/office/drawing/2014/main" id="{52172AB7-13AE-26B9-F75D-02BA6E9743F6}"/>
                      </a:ext>
                    </a:extLst>
                  </p:cNvPr>
                  <p:cNvSpPr txBox="1">
                    <a:spLocks noRot="1" noChangeAspect="1" noMove="1" noResize="1" noEditPoints="1" noAdjustHandles="1" noChangeArrowheads="1" noChangeShapeType="1" noTextEdit="1"/>
                  </p:cNvSpPr>
                  <p:nvPr/>
                </p:nvSpPr>
                <p:spPr>
                  <a:xfrm>
                    <a:off x="920926" y="4430876"/>
                    <a:ext cx="266702" cy="369332"/>
                  </a:xfrm>
                  <a:prstGeom prst="rect">
                    <a:avLst/>
                  </a:prstGeom>
                  <a:blipFill>
                    <a:blip r:embed="rId6"/>
                    <a:stretch>
                      <a:fillRect r="-36364"/>
                    </a:stretch>
                  </a:blipFill>
                </p:spPr>
                <p:txBody>
                  <a:bodyPr/>
                  <a:lstStyle/>
                  <a:p>
                    <a:r>
                      <a:rPr lang="en-US">
                        <a:noFill/>
                      </a:rPr>
                      <a:t> </a:t>
                    </a:r>
                  </a:p>
                </p:txBody>
              </p:sp>
            </mc:Fallback>
          </mc:AlternateContent>
          <p:sp>
            <p:nvSpPr>
              <p:cNvPr id="64" name="Elipse 4">
                <a:extLst>
                  <a:ext uri="{FF2B5EF4-FFF2-40B4-BE49-F238E27FC236}">
                    <a16:creationId xmlns:a16="http://schemas.microsoft.com/office/drawing/2014/main" id="{97777CEA-4A77-7857-75FE-350AAD190E65}"/>
                  </a:ext>
                </a:extLst>
              </p:cNvPr>
              <p:cNvSpPr/>
              <p:nvPr/>
            </p:nvSpPr>
            <p:spPr>
              <a:xfrm>
                <a:off x="982749" y="4504166"/>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cxnSp>
          <p:nvCxnSpPr>
            <p:cNvPr id="38" name="Conector reto 112">
              <a:extLst>
                <a:ext uri="{FF2B5EF4-FFF2-40B4-BE49-F238E27FC236}">
                  <a16:creationId xmlns:a16="http://schemas.microsoft.com/office/drawing/2014/main" id="{2919784C-62EB-EA92-7CE0-399832E560E5}"/>
                </a:ext>
              </a:extLst>
            </p:cNvPr>
            <p:cNvCxnSpPr>
              <a:cxnSpLocks/>
              <a:stCxn id="66" idx="6"/>
              <a:endCxn id="11" idx="2"/>
            </p:cNvCxnSpPr>
            <p:nvPr/>
          </p:nvCxnSpPr>
          <p:spPr>
            <a:xfrm flipV="1">
              <a:off x="944681" y="3212987"/>
              <a:ext cx="590203" cy="6669"/>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Conector reto 112">
              <a:extLst>
                <a:ext uri="{FF2B5EF4-FFF2-40B4-BE49-F238E27FC236}">
                  <a16:creationId xmlns:a16="http://schemas.microsoft.com/office/drawing/2014/main" id="{7DF8B70D-638D-3788-5447-B836B97AB716}"/>
                </a:ext>
              </a:extLst>
            </p:cNvPr>
            <p:cNvCxnSpPr>
              <a:cxnSpLocks/>
              <a:stCxn id="66" idx="6"/>
              <a:endCxn id="13" idx="2"/>
            </p:cNvCxnSpPr>
            <p:nvPr/>
          </p:nvCxnSpPr>
          <p:spPr>
            <a:xfrm>
              <a:off x="944681" y="3219656"/>
              <a:ext cx="590203" cy="150463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Conector reto 112">
              <a:extLst>
                <a:ext uri="{FF2B5EF4-FFF2-40B4-BE49-F238E27FC236}">
                  <a16:creationId xmlns:a16="http://schemas.microsoft.com/office/drawing/2014/main" id="{B8FAAD47-5328-FC60-424C-50F349E807D0}"/>
                </a:ext>
              </a:extLst>
            </p:cNvPr>
            <p:cNvCxnSpPr>
              <a:cxnSpLocks/>
              <a:stCxn id="66" idx="6"/>
              <a:endCxn id="36" idx="2"/>
            </p:cNvCxnSpPr>
            <p:nvPr/>
          </p:nvCxnSpPr>
          <p:spPr>
            <a:xfrm>
              <a:off x="944681" y="3219656"/>
              <a:ext cx="584754" cy="22602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Conector reto 112">
              <a:extLst>
                <a:ext uri="{FF2B5EF4-FFF2-40B4-BE49-F238E27FC236}">
                  <a16:creationId xmlns:a16="http://schemas.microsoft.com/office/drawing/2014/main" id="{749B7646-2585-A6C7-731C-96B4A7D36099}"/>
                </a:ext>
              </a:extLst>
            </p:cNvPr>
            <p:cNvCxnSpPr>
              <a:cxnSpLocks/>
              <a:stCxn id="64" idx="6"/>
              <a:endCxn id="36" idx="2"/>
            </p:cNvCxnSpPr>
            <p:nvPr/>
          </p:nvCxnSpPr>
          <p:spPr>
            <a:xfrm flipV="1">
              <a:off x="924372" y="5479937"/>
              <a:ext cx="605063" cy="8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Conector reto 112">
              <a:extLst>
                <a:ext uri="{FF2B5EF4-FFF2-40B4-BE49-F238E27FC236}">
                  <a16:creationId xmlns:a16="http://schemas.microsoft.com/office/drawing/2014/main" id="{90160C70-080F-79BC-25B0-29BE51D99E32}"/>
                </a:ext>
              </a:extLst>
            </p:cNvPr>
            <p:cNvCxnSpPr>
              <a:cxnSpLocks/>
              <a:stCxn id="64" idx="6"/>
              <a:endCxn id="13" idx="2"/>
            </p:cNvCxnSpPr>
            <p:nvPr/>
          </p:nvCxnSpPr>
          <p:spPr>
            <a:xfrm flipV="1">
              <a:off x="924372" y="4724287"/>
              <a:ext cx="610512" cy="7565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Conector reto 112">
              <a:extLst>
                <a:ext uri="{FF2B5EF4-FFF2-40B4-BE49-F238E27FC236}">
                  <a16:creationId xmlns:a16="http://schemas.microsoft.com/office/drawing/2014/main" id="{6AE1AB27-DE3C-B8AB-B39F-B6781152D7C9}"/>
                </a:ext>
              </a:extLst>
            </p:cNvPr>
            <p:cNvCxnSpPr>
              <a:cxnSpLocks/>
              <a:stCxn id="64" idx="6"/>
            </p:cNvCxnSpPr>
            <p:nvPr/>
          </p:nvCxnSpPr>
          <p:spPr>
            <a:xfrm flipV="1">
              <a:off x="924372" y="3968637"/>
              <a:ext cx="610512" cy="15121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Conector reto 112">
              <a:extLst>
                <a:ext uri="{FF2B5EF4-FFF2-40B4-BE49-F238E27FC236}">
                  <a16:creationId xmlns:a16="http://schemas.microsoft.com/office/drawing/2014/main" id="{5FC98075-D65C-BA5A-2093-75138E76A68A}"/>
                </a:ext>
              </a:extLst>
            </p:cNvPr>
            <p:cNvCxnSpPr>
              <a:cxnSpLocks/>
              <a:stCxn id="64" idx="6"/>
              <a:endCxn id="11" idx="2"/>
            </p:cNvCxnSpPr>
            <p:nvPr/>
          </p:nvCxnSpPr>
          <p:spPr>
            <a:xfrm flipV="1">
              <a:off x="924372" y="3212987"/>
              <a:ext cx="610512" cy="22678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Conector de Seta Reta 91">
              <a:extLst>
                <a:ext uri="{FF2B5EF4-FFF2-40B4-BE49-F238E27FC236}">
                  <a16:creationId xmlns:a16="http://schemas.microsoft.com/office/drawing/2014/main" id="{B9D2A461-DBBD-5434-FA71-1E60E8EE8B13}"/>
                </a:ext>
              </a:extLst>
            </p:cNvPr>
            <p:cNvCxnSpPr>
              <a:cxnSpLocks/>
              <a:stCxn id="13" idx="6"/>
              <a:endCxn id="6" idx="2"/>
            </p:cNvCxnSpPr>
            <p:nvPr/>
          </p:nvCxnSpPr>
          <p:spPr>
            <a:xfrm flipV="1">
              <a:off x="2100941" y="3685608"/>
              <a:ext cx="391887" cy="1038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ector de Seta Reta 91">
              <a:extLst>
                <a:ext uri="{FF2B5EF4-FFF2-40B4-BE49-F238E27FC236}">
                  <a16:creationId xmlns:a16="http://schemas.microsoft.com/office/drawing/2014/main" id="{0DB552F6-FD7F-F3BC-9A09-7CB4896E1AE3}"/>
                </a:ext>
              </a:extLst>
            </p:cNvPr>
            <p:cNvCxnSpPr>
              <a:cxnSpLocks/>
              <a:stCxn id="36" idx="6"/>
              <a:endCxn id="6" idx="2"/>
            </p:cNvCxnSpPr>
            <p:nvPr/>
          </p:nvCxnSpPr>
          <p:spPr>
            <a:xfrm flipV="1">
              <a:off x="2095492" y="3685608"/>
              <a:ext cx="397336" cy="1794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ector de Seta Reta 91">
              <a:extLst>
                <a:ext uri="{FF2B5EF4-FFF2-40B4-BE49-F238E27FC236}">
                  <a16:creationId xmlns:a16="http://schemas.microsoft.com/office/drawing/2014/main" id="{8421F91B-4CBA-34A0-3BBC-4E5A1F7D4305}"/>
                </a:ext>
              </a:extLst>
            </p:cNvPr>
            <p:cNvCxnSpPr>
              <a:cxnSpLocks/>
              <a:stCxn id="36" idx="6"/>
              <a:endCxn id="7" idx="2"/>
            </p:cNvCxnSpPr>
            <p:nvPr/>
          </p:nvCxnSpPr>
          <p:spPr>
            <a:xfrm flipV="1">
              <a:off x="2095492" y="4404065"/>
              <a:ext cx="397335" cy="1075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ector de Seta Reta 91">
              <a:extLst>
                <a:ext uri="{FF2B5EF4-FFF2-40B4-BE49-F238E27FC236}">
                  <a16:creationId xmlns:a16="http://schemas.microsoft.com/office/drawing/2014/main" id="{67A81EE7-1BC4-5264-2F83-E58674F1841B}"/>
                </a:ext>
              </a:extLst>
            </p:cNvPr>
            <p:cNvCxnSpPr>
              <a:cxnSpLocks/>
              <a:stCxn id="36" idx="6"/>
              <a:endCxn id="8" idx="2"/>
            </p:cNvCxnSpPr>
            <p:nvPr/>
          </p:nvCxnSpPr>
          <p:spPr>
            <a:xfrm flipV="1">
              <a:off x="2095492" y="5122522"/>
              <a:ext cx="397335" cy="357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1C24F76-1CD9-1815-BA56-8FCD08A712D5}"/>
                    </a:ext>
                  </a:extLst>
                </p:cNvPr>
                <p:cNvSpPr txBox="1"/>
                <p:nvPr/>
              </p:nvSpPr>
              <p:spPr>
                <a:xfrm>
                  <a:off x="956041" y="2865008"/>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48" name="TextBox 47">
                  <a:extLst>
                    <a:ext uri="{FF2B5EF4-FFF2-40B4-BE49-F238E27FC236}">
                      <a16:creationId xmlns:a16="http://schemas.microsoft.com/office/drawing/2014/main" id="{69A677CD-9AD5-397F-587F-515CA326181A}"/>
                    </a:ext>
                  </a:extLst>
                </p:cNvPr>
                <p:cNvSpPr txBox="1">
                  <a:spLocks noRot="1" noChangeAspect="1" noMove="1" noResize="1" noEditPoints="1" noAdjustHandles="1" noChangeArrowheads="1" noChangeShapeType="1" noTextEdit="1"/>
                </p:cNvSpPr>
                <p:nvPr/>
              </p:nvSpPr>
              <p:spPr>
                <a:xfrm>
                  <a:off x="956041" y="2865008"/>
                  <a:ext cx="560538" cy="36131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0CA8ED8-FB00-230C-27A9-1C41F068C503}"/>
                    </a:ext>
                  </a:extLst>
                </p:cNvPr>
                <p:cNvSpPr txBox="1"/>
                <p:nvPr/>
              </p:nvSpPr>
              <p:spPr>
                <a:xfrm rot="3068437">
                  <a:off x="1020572" y="321965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12</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49" name="TextBox 48">
                  <a:extLst>
                    <a:ext uri="{FF2B5EF4-FFF2-40B4-BE49-F238E27FC236}">
                      <a16:creationId xmlns:a16="http://schemas.microsoft.com/office/drawing/2014/main" id="{2ED6582B-E94E-941F-2ADE-2830C441ECB2}"/>
                    </a:ext>
                  </a:extLst>
                </p:cNvPr>
                <p:cNvSpPr txBox="1">
                  <a:spLocks noRot="1" noChangeAspect="1" noMove="1" noResize="1" noEditPoints="1" noAdjustHandles="1" noChangeArrowheads="1" noChangeShapeType="1" noTextEdit="1"/>
                </p:cNvSpPr>
                <p:nvPr/>
              </p:nvSpPr>
              <p:spPr>
                <a:xfrm rot="3068437">
                  <a:off x="1020572" y="3219653"/>
                  <a:ext cx="560538" cy="36131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8D683463-3CCA-F760-0EE9-6F4CF8B8C9F8}"/>
                    </a:ext>
                  </a:extLst>
                </p:cNvPr>
                <p:cNvSpPr txBox="1"/>
                <p:nvPr/>
              </p:nvSpPr>
              <p:spPr>
                <a:xfrm>
                  <a:off x="933548" y="5486606"/>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24</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0" name="TextBox 49">
                  <a:extLst>
                    <a:ext uri="{FF2B5EF4-FFF2-40B4-BE49-F238E27FC236}">
                      <a16:creationId xmlns:a16="http://schemas.microsoft.com/office/drawing/2014/main" id="{5512FE1B-01B2-FFDD-036E-2DD3A18526C9}"/>
                    </a:ext>
                  </a:extLst>
                </p:cNvPr>
                <p:cNvSpPr txBox="1">
                  <a:spLocks noRot="1" noChangeAspect="1" noMove="1" noResize="1" noEditPoints="1" noAdjustHandles="1" noChangeArrowheads="1" noChangeShapeType="1" noTextEdit="1"/>
                </p:cNvSpPr>
                <p:nvPr/>
              </p:nvSpPr>
              <p:spPr>
                <a:xfrm>
                  <a:off x="933548" y="5486606"/>
                  <a:ext cx="560538" cy="36131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A72763A-8635-F0BA-DBF9-82E22F5234F2}"/>
                    </a:ext>
                  </a:extLst>
                </p:cNvPr>
                <p:cNvSpPr txBox="1"/>
                <p:nvPr/>
              </p:nvSpPr>
              <p:spPr>
                <a:xfrm rot="17131605">
                  <a:off x="594353" y="4756061"/>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1" name="TextBox 50">
                  <a:extLst>
                    <a:ext uri="{FF2B5EF4-FFF2-40B4-BE49-F238E27FC236}">
                      <a16:creationId xmlns:a16="http://schemas.microsoft.com/office/drawing/2014/main" id="{6924F93B-F7EB-6B33-5956-A29BF38C06D1}"/>
                    </a:ext>
                  </a:extLst>
                </p:cNvPr>
                <p:cNvSpPr txBox="1">
                  <a:spLocks noRot="1" noChangeAspect="1" noMove="1" noResize="1" noEditPoints="1" noAdjustHandles="1" noChangeArrowheads="1" noChangeShapeType="1" noTextEdit="1"/>
                </p:cNvSpPr>
                <p:nvPr/>
              </p:nvSpPr>
              <p:spPr>
                <a:xfrm rot="17131605">
                  <a:off x="594353" y="4756061"/>
                  <a:ext cx="560538" cy="36131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865C553B-2043-9D1A-6458-D6F3F63692F6}"/>
                    </a:ext>
                  </a:extLst>
                </p:cNvPr>
                <p:cNvSpPr txBox="1"/>
                <p:nvPr/>
              </p:nvSpPr>
              <p:spPr>
                <a:xfrm rot="2964551">
                  <a:off x="2132495" y="313219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2" name="TextBox 51">
                  <a:extLst>
                    <a:ext uri="{FF2B5EF4-FFF2-40B4-BE49-F238E27FC236}">
                      <a16:creationId xmlns:a16="http://schemas.microsoft.com/office/drawing/2014/main" id="{D19DCDDA-DE37-157A-5151-7245EF4E905F}"/>
                    </a:ext>
                  </a:extLst>
                </p:cNvPr>
                <p:cNvSpPr txBox="1">
                  <a:spLocks noRot="1" noChangeAspect="1" noMove="1" noResize="1" noEditPoints="1" noAdjustHandles="1" noChangeArrowheads="1" noChangeShapeType="1" noTextEdit="1"/>
                </p:cNvSpPr>
                <p:nvPr/>
              </p:nvSpPr>
              <p:spPr>
                <a:xfrm rot="2964551">
                  <a:off x="2132495" y="3132193"/>
                  <a:ext cx="560538" cy="36131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33BC27EC-6C37-2011-D498-52F0B89F3949}"/>
                    </a:ext>
                  </a:extLst>
                </p:cNvPr>
                <p:cNvSpPr txBox="1"/>
                <p:nvPr/>
              </p:nvSpPr>
              <p:spPr>
                <a:xfrm rot="19021513">
                  <a:off x="2088094" y="5274650"/>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43</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3" name="TextBox 52">
                  <a:extLst>
                    <a:ext uri="{FF2B5EF4-FFF2-40B4-BE49-F238E27FC236}">
                      <a16:creationId xmlns:a16="http://schemas.microsoft.com/office/drawing/2014/main" id="{67470A42-A8D3-4071-DD67-EF4604324C7E}"/>
                    </a:ext>
                  </a:extLst>
                </p:cNvPr>
                <p:cNvSpPr txBox="1">
                  <a:spLocks noRot="1" noChangeAspect="1" noMove="1" noResize="1" noEditPoints="1" noAdjustHandles="1" noChangeArrowheads="1" noChangeShapeType="1" noTextEdit="1"/>
                </p:cNvSpPr>
                <p:nvPr/>
              </p:nvSpPr>
              <p:spPr>
                <a:xfrm rot="19021513">
                  <a:off x="2088094" y="5274650"/>
                  <a:ext cx="560538" cy="36131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9400BA16-2DDE-1D24-7BB1-AF95052DB002}"/>
                    </a:ext>
                  </a:extLst>
                </p:cNvPr>
                <p:cNvSpPr txBox="1"/>
                <p:nvPr/>
              </p:nvSpPr>
              <p:spPr>
                <a:xfrm rot="2893059">
                  <a:off x="3107452" y="3604952"/>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4" name="TextBox 53">
                  <a:extLst>
                    <a:ext uri="{FF2B5EF4-FFF2-40B4-BE49-F238E27FC236}">
                      <a16:creationId xmlns:a16="http://schemas.microsoft.com/office/drawing/2014/main" id="{4BE2A8D8-E86D-D878-D2E0-1F4427B06575}"/>
                    </a:ext>
                  </a:extLst>
                </p:cNvPr>
                <p:cNvSpPr txBox="1">
                  <a:spLocks noRot="1" noChangeAspect="1" noMove="1" noResize="1" noEditPoints="1" noAdjustHandles="1" noChangeArrowheads="1" noChangeShapeType="1" noTextEdit="1"/>
                </p:cNvSpPr>
                <p:nvPr/>
              </p:nvSpPr>
              <p:spPr>
                <a:xfrm rot="2893059">
                  <a:off x="3107452" y="3604952"/>
                  <a:ext cx="560538" cy="362663"/>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0A2884CC-9B66-9296-2793-2454431EC354}"/>
                    </a:ext>
                  </a:extLst>
                </p:cNvPr>
                <p:cNvSpPr txBox="1"/>
                <p:nvPr/>
              </p:nvSpPr>
              <p:spPr>
                <a:xfrm rot="19852769">
                  <a:off x="3044859" y="4967999"/>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32</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5" name="TextBox 54">
                  <a:extLst>
                    <a:ext uri="{FF2B5EF4-FFF2-40B4-BE49-F238E27FC236}">
                      <a16:creationId xmlns:a16="http://schemas.microsoft.com/office/drawing/2014/main" id="{A1FA57A7-793F-A00E-89AD-3C6D746839B3}"/>
                    </a:ext>
                  </a:extLst>
                </p:cNvPr>
                <p:cNvSpPr txBox="1">
                  <a:spLocks noRot="1" noChangeAspect="1" noMove="1" noResize="1" noEditPoints="1" noAdjustHandles="1" noChangeArrowheads="1" noChangeShapeType="1" noTextEdit="1"/>
                </p:cNvSpPr>
                <p:nvPr/>
              </p:nvSpPr>
              <p:spPr>
                <a:xfrm rot="19852769">
                  <a:off x="3044859" y="4967999"/>
                  <a:ext cx="560538" cy="362663"/>
                </a:xfrm>
                <a:prstGeom prst="rect">
                  <a:avLst/>
                </a:prstGeom>
                <a:blipFill>
                  <a:blip r:embed="rId14"/>
                  <a:stretch>
                    <a:fillRect/>
                  </a:stretch>
                </a:blipFill>
              </p:spPr>
              <p:txBody>
                <a:bodyPr/>
                <a:lstStyle/>
                <a:p>
                  <a:r>
                    <a:rPr lang="en-US">
                      <a:noFill/>
                    </a:rPr>
                    <a:t> </a:t>
                  </a:r>
                </a:p>
              </p:txBody>
            </p:sp>
          </mc:Fallback>
        </mc:AlternateContent>
        <p:sp>
          <p:nvSpPr>
            <p:cNvPr id="57" name="CaixaDeTexto 106">
              <a:extLst>
                <a:ext uri="{FF2B5EF4-FFF2-40B4-BE49-F238E27FC236}">
                  <a16:creationId xmlns:a16="http://schemas.microsoft.com/office/drawing/2014/main" id="{534D633C-C7A8-CFF1-D35A-AFC6B5F396DA}"/>
                </a:ext>
              </a:extLst>
            </p:cNvPr>
            <p:cNvSpPr txBox="1"/>
            <p:nvPr/>
          </p:nvSpPr>
          <p:spPr>
            <a:xfrm>
              <a:off x="1300841" y="2506925"/>
              <a:ext cx="1796143" cy="307777"/>
            </a:xfrm>
            <a:prstGeom prst="rect">
              <a:avLst/>
            </a:prstGeom>
            <a:noFill/>
          </p:spPr>
          <p:txBody>
            <a:bodyPr wrap="square" rtlCol="0">
              <a:spAutoFit/>
            </a:bodyPr>
            <a:lstStyle/>
            <a:p>
              <a:r>
                <a:rPr lang="pt-BR" sz="1400" dirty="0"/>
                <a:t>Peso sináptico</a:t>
              </a:r>
            </a:p>
          </p:txBody>
        </p:sp>
        <p:sp>
          <p:nvSpPr>
            <p:cNvPr id="58" name="Freeform: Shape 57">
              <a:extLst>
                <a:ext uri="{FF2B5EF4-FFF2-40B4-BE49-F238E27FC236}">
                  <a16:creationId xmlns:a16="http://schemas.microsoft.com/office/drawing/2014/main" id="{60F60EC0-0E55-F84E-7684-B27136F98553}"/>
                </a:ext>
              </a:extLst>
            </p:cNvPr>
            <p:cNvSpPr/>
            <p:nvPr/>
          </p:nvSpPr>
          <p:spPr>
            <a:xfrm>
              <a:off x="1164771" y="2656114"/>
              <a:ext cx="206829" cy="250372"/>
            </a:xfrm>
            <a:custGeom>
              <a:avLst/>
              <a:gdLst>
                <a:gd name="csX0" fmla="*/ 0 w 206829"/>
                <a:gd name="csY0" fmla="*/ 250372 h 250372"/>
                <a:gd name="csX1" fmla="*/ 54429 w 206829"/>
                <a:gd name="csY1" fmla="*/ 108857 h 250372"/>
                <a:gd name="csX2" fmla="*/ 206829 w 206829"/>
                <a:gd name="csY2" fmla="*/ 0 h 250372"/>
              </a:gdLst>
              <a:ahLst/>
              <a:cxnLst>
                <a:cxn ang="0">
                  <a:pos x="csX0" y="csY0"/>
                </a:cxn>
                <a:cxn ang="0">
                  <a:pos x="csX1" y="csY1"/>
                </a:cxn>
                <a:cxn ang="0">
                  <a:pos x="csX2" y="csY2"/>
                </a:cxn>
              </a:cxnLst>
              <a:rect l="l" t="t" r="r" b="b"/>
              <a:pathLst>
                <a:path w="206829" h="250372">
                  <a:moveTo>
                    <a:pt x="0" y="250372"/>
                  </a:moveTo>
                  <a:cubicBezTo>
                    <a:pt x="9979" y="200479"/>
                    <a:pt x="19958" y="150586"/>
                    <a:pt x="54429" y="108857"/>
                  </a:cubicBezTo>
                  <a:cubicBezTo>
                    <a:pt x="88901" y="67128"/>
                    <a:pt x="147865" y="33564"/>
                    <a:pt x="206829"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CaixaDeTexto 32">
              <a:extLst>
                <a:ext uri="{FF2B5EF4-FFF2-40B4-BE49-F238E27FC236}">
                  <a16:creationId xmlns:a16="http://schemas.microsoft.com/office/drawing/2014/main" id="{C99ECD34-F555-AC03-845E-D488C8B56CA3}"/>
                </a:ext>
              </a:extLst>
            </p:cNvPr>
            <p:cNvSpPr txBox="1"/>
            <p:nvPr/>
          </p:nvSpPr>
          <p:spPr>
            <a:xfrm>
              <a:off x="294226" y="5713408"/>
              <a:ext cx="868135" cy="461665"/>
            </a:xfrm>
            <a:prstGeom prst="rect">
              <a:avLst/>
            </a:prstGeom>
            <a:noFill/>
          </p:spPr>
          <p:txBody>
            <a:bodyPr wrap="square" rtlCol="0">
              <a:spAutoFit/>
            </a:bodyPr>
            <a:lstStyle/>
            <a:p>
              <a:pPr algn="ctr"/>
              <a:r>
                <a:rPr lang="pt-BR" sz="1200" dirty="0"/>
                <a:t>Camada de entrada</a:t>
              </a:r>
            </a:p>
          </p:txBody>
        </p:sp>
        <p:sp>
          <p:nvSpPr>
            <p:cNvPr id="60" name="CaixaDeTexto 34">
              <a:extLst>
                <a:ext uri="{FF2B5EF4-FFF2-40B4-BE49-F238E27FC236}">
                  <a16:creationId xmlns:a16="http://schemas.microsoft.com/office/drawing/2014/main" id="{91FF672D-E313-8B98-3EA9-38FECDE561D3}"/>
                </a:ext>
              </a:extLst>
            </p:cNvPr>
            <p:cNvSpPr txBox="1"/>
            <p:nvPr/>
          </p:nvSpPr>
          <p:spPr>
            <a:xfrm>
              <a:off x="1357989" y="5837351"/>
              <a:ext cx="868135" cy="461665"/>
            </a:xfrm>
            <a:prstGeom prst="rect">
              <a:avLst/>
            </a:prstGeom>
            <a:noFill/>
          </p:spPr>
          <p:txBody>
            <a:bodyPr wrap="square" rtlCol="0">
              <a:spAutoFit/>
            </a:bodyPr>
            <a:lstStyle/>
            <a:p>
              <a:pPr algn="ctr"/>
              <a:r>
                <a:rPr lang="pt-BR" sz="1200" dirty="0"/>
                <a:t>Camada oculta #1</a:t>
              </a:r>
            </a:p>
          </p:txBody>
        </p:sp>
        <p:sp>
          <p:nvSpPr>
            <p:cNvPr id="61" name="CaixaDeTexto 40">
              <a:extLst>
                <a:ext uri="{FF2B5EF4-FFF2-40B4-BE49-F238E27FC236}">
                  <a16:creationId xmlns:a16="http://schemas.microsoft.com/office/drawing/2014/main" id="{D245666B-93D8-92BC-771F-308658626B95}"/>
                </a:ext>
              </a:extLst>
            </p:cNvPr>
            <p:cNvSpPr txBox="1"/>
            <p:nvPr/>
          </p:nvSpPr>
          <p:spPr>
            <a:xfrm>
              <a:off x="2352673" y="5450646"/>
              <a:ext cx="868135" cy="461665"/>
            </a:xfrm>
            <a:prstGeom prst="rect">
              <a:avLst/>
            </a:prstGeom>
            <a:noFill/>
          </p:spPr>
          <p:txBody>
            <a:bodyPr wrap="square" rtlCol="0">
              <a:spAutoFit/>
            </a:bodyPr>
            <a:lstStyle/>
            <a:p>
              <a:pPr algn="ctr"/>
              <a:r>
                <a:rPr lang="pt-BR" sz="1200" dirty="0"/>
                <a:t>Camada oculta #2</a:t>
              </a:r>
            </a:p>
          </p:txBody>
        </p:sp>
        <p:sp>
          <p:nvSpPr>
            <p:cNvPr id="62" name="CaixaDeTexto 36">
              <a:extLst>
                <a:ext uri="{FF2B5EF4-FFF2-40B4-BE49-F238E27FC236}">
                  <a16:creationId xmlns:a16="http://schemas.microsoft.com/office/drawing/2014/main" id="{291F4B66-DF6A-110C-F1C3-B4E07427EC17}"/>
                </a:ext>
              </a:extLst>
            </p:cNvPr>
            <p:cNvSpPr txBox="1"/>
            <p:nvPr/>
          </p:nvSpPr>
          <p:spPr>
            <a:xfrm>
              <a:off x="3314688" y="5239989"/>
              <a:ext cx="868135" cy="461665"/>
            </a:xfrm>
            <a:prstGeom prst="rect">
              <a:avLst/>
            </a:prstGeom>
            <a:noFill/>
          </p:spPr>
          <p:txBody>
            <a:bodyPr wrap="square" rtlCol="0">
              <a:spAutoFit/>
            </a:bodyPr>
            <a:lstStyle/>
            <a:p>
              <a:pPr algn="ctr"/>
              <a:r>
                <a:rPr lang="pt-BR" sz="1200" dirty="0"/>
                <a:t>Camada de saída</a:t>
              </a:r>
            </a:p>
          </p:txBody>
        </p:sp>
      </p:grpSp>
    </p:spTree>
    <p:extLst>
      <p:ext uri="{BB962C8B-B14F-4D97-AF65-F5344CB8AC3E}">
        <p14:creationId xmlns:p14="http://schemas.microsoft.com/office/powerpoint/2010/main" val="4018664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838200" y="2988220"/>
            <a:ext cx="10515600" cy="1139644"/>
          </a:xfrm>
        </p:spPr>
        <p:txBody>
          <a:bodyPr>
            <a:normAutofit/>
          </a:bodyPr>
          <a:lstStyle/>
          <a:p>
            <a:pPr marL="0" indent="0" algn="ctr">
              <a:buNone/>
            </a:pPr>
            <a:r>
              <a:rPr lang="pt-BR" sz="6600" dirty="0"/>
              <a:t>Redes neurais artificiais</a:t>
            </a:r>
          </a:p>
        </p:txBody>
      </p:sp>
    </p:spTree>
    <p:extLst>
      <p:ext uri="{BB962C8B-B14F-4D97-AF65-F5344CB8AC3E}">
        <p14:creationId xmlns:p14="http://schemas.microsoft.com/office/powerpoint/2010/main" val="2248737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BAB64F-3191-BFA9-4ABC-0E738C8F6463}"/>
              </a:ext>
            </a:extLst>
          </p:cNvPr>
          <p:cNvSpPr>
            <a:spLocks noGrp="1"/>
          </p:cNvSpPr>
          <p:nvPr>
            <p:ph type="title"/>
          </p:nvPr>
        </p:nvSpPr>
        <p:spPr/>
        <p:txBody>
          <a:bodyPr/>
          <a:lstStyle/>
          <a:p>
            <a:r>
              <a:rPr lang="pt-BR" dirty="0"/>
              <a:t>Redes neurais artificiais</a:t>
            </a:r>
            <a:endParaRPr lang="pt-BR" i="1" dirty="0"/>
          </a:p>
        </p:txBody>
      </p:sp>
      <p:sp>
        <p:nvSpPr>
          <p:cNvPr id="3" name="Espaço Reservado para Conteúdo 2">
            <a:extLst>
              <a:ext uri="{FF2B5EF4-FFF2-40B4-BE49-F238E27FC236}">
                <a16:creationId xmlns:a16="http://schemas.microsoft.com/office/drawing/2014/main" id="{B197526B-3494-3513-4D28-7FAEAD8CF9DE}"/>
              </a:ext>
            </a:extLst>
          </p:cNvPr>
          <p:cNvSpPr>
            <a:spLocks noGrp="1"/>
          </p:cNvSpPr>
          <p:nvPr>
            <p:ph idx="1"/>
          </p:nvPr>
        </p:nvSpPr>
        <p:spPr>
          <a:xfrm>
            <a:off x="5715000" y="1825625"/>
            <a:ext cx="6389913" cy="5032375"/>
          </a:xfrm>
        </p:spPr>
        <p:txBody>
          <a:bodyPr>
            <a:normAutofit/>
          </a:bodyPr>
          <a:lstStyle/>
          <a:p>
            <a:r>
              <a:rPr lang="pt-BR" dirty="0"/>
              <a:t>As </a:t>
            </a:r>
            <a:r>
              <a:rPr lang="pt-BR" dirty="0" err="1"/>
              <a:t>RNAs</a:t>
            </a:r>
            <a:r>
              <a:rPr lang="pt-BR" dirty="0"/>
              <a:t> são formadas por uma camada de entrada, zero ou mais camadas intermediárias e uma camada de saída.</a:t>
            </a:r>
          </a:p>
          <a:p>
            <a:r>
              <a:rPr lang="pt-BR" dirty="0"/>
              <a:t>A camada de entrada é o ponto de transferência dos atributos para dentro da rede.</a:t>
            </a:r>
          </a:p>
          <a:p>
            <a:pPr lvl="1">
              <a:buFont typeface="Wingdings" panose="05000000000000000000" pitchFamily="2" charset="2"/>
              <a:buChar char="§"/>
            </a:pPr>
            <a:r>
              <a:rPr lang="pt-BR" dirty="0"/>
              <a:t>Essa camada </a:t>
            </a:r>
            <a:r>
              <a:rPr lang="pt-BR" b="1" dirty="0">
                <a:solidFill>
                  <a:srgbClr val="7030A0"/>
                </a:solidFill>
              </a:rPr>
              <a:t>não tem pesos</a:t>
            </a:r>
            <a:r>
              <a:rPr lang="pt-BR" dirty="0"/>
              <a:t>.</a:t>
            </a:r>
          </a:p>
          <a:p>
            <a:pPr lvl="1">
              <a:buFont typeface="Wingdings" panose="05000000000000000000" pitchFamily="2" charset="2"/>
              <a:buChar char="§"/>
            </a:pPr>
            <a:r>
              <a:rPr lang="pt-BR" dirty="0"/>
              <a:t>Ela pode ser usada para aplicar </a:t>
            </a:r>
            <a:r>
              <a:rPr lang="pt-BR" b="1" dirty="0">
                <a:solidFill>
                  <a:srgbClr val="0070C0"/>
                </a:solidFill>
              </a:rPr>
              <a:t>transformações de dimensão</a:t>
            </a:r>
            <a:r>
              <a:rPr lang="pt-BR" dirty="0"/>
              <a:t> aos dados de entrada.</a:t>
            </a:r>
          </a:p>
          <a:p>
            <a:r>
              <a:rPr lang="pt-BR" dirty="0"/>
              <a:t>Cada camada, exceto a de entrada, possui um ou mais neurônios.</a:t>
            </a:r>
          </a:p>
        </p:txBody>
      </p:sp>
      <p:grpSp>
        <p:nvGrpSpPr>
          <p:cNvPr id="7" name="Group 6">
            <a:extLst>
              <a:ext uri="{FF2B5EF4-FFF2-40B4-BE49-F238E27FC236}">
                <a16:creationId xmlns:a16="http://schemas.microsoft.com/office/drawing/2014/main" id="{268E81E0-E693-CEA7-6590-02DA174B04D4}"/>
              </a:ext>
            </a:extLst>
          </p:cNvPr>
          <p:cNvGrpSpPr/>
          <p:nvPr/>
        </p:nvGrpSpPr>
        <p:grpSpPr>
          <a:xfrm>
            <a:off x="653454" y="2071496"/>
            <a:ext cx="4240583" cy="3792091"/>
            <a:chOff x="294226" y="2506925"/>
            <a:chExt cx="4240583" cy="3792091"/>
          </a:xfrm>
        </p:grpSpPr>
        <p:sp>
          <p:nvSpPr>
            <p:cNvPr id="8" name="Elipse 77">
              <a:extLst>
                <a:ext uri="{FF2B5EF4-FFF2-40B4-BE49-F238E27FC236}">
                  <a16:creationId xmlns:a16="http://schemas.microsoft.com/office/drawing/2014/main" id="{4913B267-6050-9483-B9A0-F16128F630DF}"/>
                </a:ext>
              </a:extLst>
            </p:cNvPr>
            <p:cNvSpPr/>
            <p:nvPr/>
          </p:nvSpPr>
          <p:spPr>
            <a:xfrm>
              <a:off x="2492828" y="3402579"/>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Elipse 78">
              <a:extLst>
                <a:ext uri="{FF2B5EF4-FFF2-40B4-BE49-F238E27FC236}">
                  <a16:creationId xmlns:a16="http://schemas.microsoft.com/office/drawing/2014/main" id="{E1E80EA2-A3E1-7E78-0F15-36539FCBAA55}"/>
                </a:ext>
              </a:extLst>
            </p:cNvPr>
            <p:cNvSpPr/>
            <p:nvPr/>
          </p:nvSpPr>
          <p:spPr>
            <a:xfrm>
              <a:off x="2492827" y="4121036"/>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Elipse 79">
              <a:extLst>
                <a:ext uri="{FF2B5EF4-FFF2-40B4-BE49-F238E27FC236}">
                  <a16:creationId xmlns:a16="http://schemas.microsoft.com/office/drawing/2014/main" id="{CEA44ACF-66BE-9C2D-37A9-D1DE5E7D6996}"/>
                </a:ext>
              </a:extLst>
            </p:cNvPr>
            <p:cNvSpPr/>
            <p:nvPr/>
          </p:nvSpPr>
          <p:spPr>
            <a:xfrm>
              <a:off x="2492827" y="4839493"/>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81">
              <a:extLst>
                <a:ext uri="{FF2B5EF4-FFF2-40B4-BE49-F238E27FC236}">
                  <a16:creationId xmlns:a16="http://schemas.microsoft.com/office/drawing/2014/main" id="{BCAAEFFB-5959-2A18-AB40-428F6566CA84}"/>
                </a:ext>
              </a:extLst>
            </p:cNvPr>
            <p:cNvSpPr/>
            <p:nvPr/>
          </p:nvSpPr>
          <p:spPr>
            <a:xfrm>
              <a:off x="3450770" y="3864817"/>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82">
              <a:extLst>
                <a:ext uri="{FF2B5EF4-FFF2-40B4-BE49-F238E27FC236}">
                  <a16:creationId xmlns:a16="http://schemas.microsoft.com/office/drawing/2014/main" id="{5E65474C-363A-7F72-A29A-4A63B2CD62DF}"/>
                </a:ext>
              </a:extLst>
            </p:cNvPr>
            <p:cNvSpPr/>
            <p:nvPr/>
          </p:nvSpPr>
          <p:spPr>
            <a:xfrm>
              <a:off x="3450769" y="4583274"/>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Elipse 83">
              <a:extLst>
                <a:ext uri="{FF2B5EF4-FFF2-40B4-BE49-F238E27FC236}">
                  <a16:creationId xmlns:a16="http://schemas.microsoft.com/office/drawing/2014/main" id="{C7E2BCD2-A2E8-1E97-22AA-995F1FE81B07}"/>
                </a:ext>
              </a:extLst>
            </p:cNvPr>
            <p:cNvSpPr/>
            <p:nvPr/>
          </p:nvSpPr>
          <p:spPr>
            <a:xfrm>
              <a:off x="1534884" y="29299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Elipse 84">
              <a:extLst>
                <a:ext uri="{FF2B5EF4-FFF2-40B4-BE49-F238E27FC236}">
                  <a16:creationId xmlns:a16="http://schemas.microsoft.com/office/drawing/2014/main" id="{1C279E70-8032-2A55-F760-702CD786B8E8}"/>
                </a:ext>
              </a:extLst>
            </p:cNvPr>
            <p:cNvSpPr/>
            <p:nvPr/>
          </p:nvSpPr>
          <p:spPr>
            <a:xfrm>
              <a:off x="1534884" y="36856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Elipse 85">
              <a:extLst>
                <a:ext uri="{FF2B5EF4-FFF2-40B4-BE49-F238E27FC236}">
                  <a16:creationId xmlns:a16="http://schemas.microsoft.com/office/drawing/2014/main" id="{FA82B0CA-B841-A966-0CA7-B8F2AD454506}"/>
                </a:ext>
              </a:extLst>
            </p:cNvPr>
            <p:cNvSpPr/>
            <p:nvPr/>
          </p:nvSpPr>
          <p:spPr>
            <a:xfrm>
              <a:off x="1534884" y="44412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6" name="Conector de Seta Reta 86">
              <a:extLst>
                <a:ext uri="{FF2B5EF4-FFF2-40B4-BE49-F238E27FC236}">
                  <a16:creationId xmlns:a16="http://schemas.microsoft.com/office/drawing/2014/main" id="{8D8179BE-329F-5957-93A1-A8C75CD31872}"/>
                </a:ext>
              </a:extLst>
            </p:cNvPr>
            <p:cNvCxnSpPr>
              <a:cxnSpLocks/>
              <a:stCxn id="13" idx="6"/>
              <a:endCxn id="8" idx="2"/>
            </p:cNvCxnSpPr>
            <p:nvPr/>
          </p:nvCxnSpPr>
          <p:spPr>
            <a:xfrm>
              <a:off x="2100941" y="3212987"/>
              <a:ext cx="391887" cy="472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87">
              <a:extLst>
                <a:ext uri="{FF2B5EF4-FFF2-40B4-BE49-F238E27FC236}">
                  <a16:creationId xmlns:a16="http://schemas.microsoft.com/office/drawing/2014/main" id="{638631F5-08B3-0D31-E22A-495D88FCB7E2}"/>
                </a:ext>
              </a:extLst>
            </p:cNvPr>
            <p:cNvCxnSpPr>
              <a:stCxn id="13" idx="6"/>
              <a:endCxn id="9" idx="2"/>
            </p:cNvCxnSpPr>
            <p:nvPr/>
          </p:nvCxnSpPr>
          <p:spPr>
            <a:xfrm>
              <a:off x="2100941" y="3212987"/>
              <a:ext cx="391886" cy="1191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88">
              <a:extLst>
                <a:ext uri="{FF2B5EF4-FFF2-40B4-BE49-F238E27FC236}">
                  <a16:creationId xmlns:a16="http://schemas.microsoft.com/office/drawing/2014/main" id="{8A25520D-2B84-C45B-C4D7-D5CA578C4D8A}"/>
                </a:ext>
              </a:extLst>
            </p:cNvPr>
            <p:cNvCxnSpPr>
              <a:stCxn id="13" idx="6"/>
              <a:endCxn id="10" idx="2"/>
            </p:cNvCxnSpPr>
            <p:nvPr/>
          </p:nvCxnSpPr>
          <p:spPr>
            <a:xfrm>
              <a:off x="2100941" y="3212987"/>
              <a:ext cx="391886" cy="1909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90">
              <a:extLst>
                <a:ext uri="{FF2B5EF4-FFF2-40B4-BE49-F238E27FC236}">
                  <a16:creationId xmlns:a16="http://schemas.microsoft.com/office/drawing/2014/main" id="{A80720B1-4C75-70A5-AD44-54B15B3E3608}"/>
                </a:ext>
              </a:extLst>
            </p:cNvPr>
            <p:cNvCxnSpPr>
              <a:cxnSpLocks/>
              <a:stCxn id="14" idx="6"/>
              <a:endCxn id="8" idx="2"/>
            </p:cNvCxnSpPr>
            <p:nvPr/>
          </p:nvCxnSpPr>
          <p:spPr>
            <a:xfrm flipV="1">
              <a:off x="2100941" y="3685608"/>
              <a:ext cx="391887" cy="283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91">
              <a:extLst>
                <a:ext uri="{FF2B5EF4-FFF2-40B4-BE49-F238E27FC236}">
                  <a16:creationId xmlns:a16="http://schemas.microsoft.com/office/drawing/2014/main" id="{FA3AB5EB-9B5B-D5AB-B94A-21ECD4CE784C}"/>
                </a:ext>
              </a:extLst>
            </p:cNvPr>
            <p:cNvCxnSpPr>
              <a:stCxn id="15" idx="6"/>
              <a:endCxn id="9" idx="2"/>
            </p:cNvCxnSpPr>
            <p:nvPr/>
          </p:nvCxnSpPr>
          <p:spPr>
            <a:xfrm flipV="1">
              <a:off x="2100941" y="4404065"/>
              <a:ext cx="391886" cy="320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92">
              <a:extLst>
                <a:ext uri="{FF2B5EF4-FFF2-40B4-BE49-F238E27FC236}">
                  <a16:creationId xmlns:a16="http://schemas.microsoft.com/office/drawing/2014/main" id="{F15DB20F-7DD6-0EAA-31F9-6739729987A5}"/>
                </a:ext>
              </a:extLst>
            </p:cNvPr>
            <p:cNvCxnSpPr>
              <a:stCxn id="14" idx="6"/>
              <a:endCxn id="9" idx="2"/>
            </p:cNvCxnSpPr>
            <p:nvPr/>
          </p:nvCxnSpPr>
          <p:spPr>
            <a:xfrm>
              <a:off x="2100941" y="3968637"/>
              <a:ext cx="391886" cy="435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93">
              <a:extLst>
                <a:ext uri="{FF2B5EF4-FFF2-40B4-BE49-F238E27FC236}">
                  <a16:creationId xmlns:a16="http://schemas.microsoft.com/office/drawing/2014/main" id="{26E0C910-EEA6-511E-2043-18232C39EAE7}"/>
                </a:ext>
              </a:extLst>
            </p:cNvPr>
            <p:cNvCxnSpPr>
              <a:stCxn id="14" idx="6"/>
              <a:endCxn id="10" idx="2"/>
            </p:cNvCxnSpPr>
            <p:nvPr/>
          </p:nvCxnSpPr>
          <p:spPr>
            <a:xfrm>
              <a:off x="2100941" y="3968637"/>
              <a:ext cx="391886" cy="1153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96">
              <a:extLst>
                <a:ext uri="{FF2B5EF4-FFF2-40B4-BE49-F238E27FC236}">
                  <a16:creationId xmlns:a16="http://schemas.microsoft.com/office/drawing/2014/main" id="{B3AE634C-D59B-15E5-235B-E86CD5B087BC}"/>
                </a:ext>
              </a:extLst>
            </p:cNvPr>
            <p:cNvCxnSpPr>
              <a:stCxn id="15" idx="6"/>
              <a:endCxn id="10" idx="2"/>
            </p:cNvCxnSpPr>
            <p:nvPr/>
          </p:nvCxnSpPr>
          <p:spPr>
            <a:xfrm>
              <a:off x="2100941" y="4724287"/>
              <a:ext cx="391886" cy="398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98">
              <a:extLst>
                <a:ext uri="{FF2B5EF4-FFF2-40B4-BE49-F238E27FC236}">
                  <a16:creationId xmlns:a16="http://schemas.microsoft.com/office/drawing/2014/main" id="{7C3C9EB2-354D-B233-8BD0-58DE3CC85822}"/>
                </a:ext>
              </a:extLst>
            </p:cNvPr>
            <p:cNvCxnSpPr>
              <a:stCxn id="8" idx="6"/>
              <a:endCxn id="11" idx="2"/>
            </p:cNvCxnSpPr>
            <p:nvPr/>
          </p:nvCxnSpPr>
          <p:spPr>
            <a:xfrm>
              <a:off x="3058885" y="3685608"/>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99">
              <a:extLst>
                <a:ext uri="{FF2B5EF4-FFF2-40B4-BE49-F238E27FC236}">
                  <a16:creationId xmlns:a16="http://schemas.microsoft.com/office/drawing/2014/main" id="{1C349E9C-9537-CDD0-6BC0-53345D2F14C1}"/>
                </a:ext>
              </a:extLst>
            </p:cNvPr>
            <p:cNvCxnSpPr>
              <a:stCxn id="9" idx="6"/>
              <a:endCxn id="12" idx="2"/>
            </p:cNvCxnSpPr>
            <p:nvPr/>
          </p:nvCxnSpPr>
          <p:spPr>
            <a:xfrm>
              <a:off x="3058884" y="4404065"/>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100">
              <a:extLst>
                <a:ext uri="{FF2B5EF4-FFF2-40B4-BE49-F238E27FC236}">
                  <a16:creationId xmlns:a16="http://schemas.microsoft.com/office/drawing/2014/main" id="{D1E58A34-EFB1-7E34-2AFB-98D7AB0D2ADF}"/>
                </a:ext>
              </a:extLst>
            </p:cNvPr>
            <p:cNvCxnSpPr>
              <a:stCxn id="10" idx="6"/>
              <a:endCxn id="12" idx="2"/>
            </p:cNvCxnSpPr>
            <p:nvPr/>
          </p:nvCxnSpPr>
          <p:spPr>
            <a:xfrm flipV="1">
              <a:off x="3058884" y="4866303"/>
              <a:ext cx="391885"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ector de Seta Reta 102">
              <a:extLst>
                <a:ext uri="{FF2B5EF4-FFF2-40B4-BE49-F238E27FC236}">
                  <a16:creationId xmlns:a16="http://schemas.microsoft.com/office/drawing/2014/main" id="{61A73F29-0288-DA04-179B-8EE2FD3F8B57}"/>
                </a:ext>
              </a:extLst>
            </p:cNvPr>
            <p:cNvCxnSpPr>
              <a:cxnSpLocks/>
              <a:stCxn id="8" idx="6"/>
              <a:endCxn id="12" idx="2"/>
            </p:cNvCxnSpPr>
            <p:nvPr/>
          </p:nvCxnSpPr>
          <p:spPr>
            <a:xfrm>
              <a:off x="3058885" y="3685608"/>
              <a:ext cx="391884" cy="1180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ector de Seta Reta 103">
              <a:extLst>
                <a:ext uri="{FF2B5EF4-FFF2-40B4-BE49-F238E27FC236}">
                  <a16:creationId xmlns:a16="http://schemas.microsoft.com/office/drawing/2014/main" id="{7F4AD621-E33D-F090-8DC9-0E45B53CDFAA}"/>
                </a:ext>
              </a:extLst>
            </p:cNvPr>
            <p:cNvCxnSpPr>
              <a:stCxn id="9" idx="6"/>
              <a:endCxn id="11" idx="2"/>
            </p:cNvCxnSpPr>
            <p:nvPr/>
          </p:nvCxnSpPr>
          <p:spPr>
            <a:xfrm flipV="1">
              <a:off x="3058884" y="4147846"/>
              <a:ext cx="391886"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ector de Seta Reta 104">
              <a:extLst>
                <a:ext uri="{FF2B5EF4-FFF2-40B4-BE49-F238E27FC236}">
                  <a16:creationId xmlns:a16="http://schemas.microsoft.com/office/drawing/2014/main" id="{AE5541F0-C9AD-514A-7C2A-30555F17C949}"/>
                </a:ext>
              </a:extLst>
            </p:cNvPr>
            <p:cNvCxnSpPr>
              <a:stCxn id="10" idx="6"/>
              <a:endCxn id="11" idx="2"/>
            </p:cNvCxnSpPr>
            <p:nvPr/>
          </p:nvCxnSpPr>
          <p:spPr>
            <a:xfrm flipV="1">
              <a:off x="3058884" y="4147846"/>
              <a:ext cx="391886" cy="974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CaixaDeTexto 106">
              <a:extLst>
                <a:ext uri="{FF2B5EF4-FFF2-40B4-BE49-F238E27FC236}">
                  <a16:creationId xmlns:a16="http://schemas.microsoft.com/office/drawing/2014/main" id="{C941780B-8649-5B58-8F0C-AB979497059D}"/>
                </a:ext>
              </a:extLst>
            </p:cNvPr>
            <p:cNvSpPr txBox="1"/>
            <p:nvPr/>
          </p:nvSpPr>
          <p:spPr>
            <a:xfrm>
              <a:off x="3173179" y="3100768"/>
              <a:ext cx="1230086" cy="307777"/>
            </a:xfrm>
            <a:prstGeom prst="rect">
              <a:avLst/>
            </a:prstGeom>
            <a:noFill/>
          </p:spPr>
          <p:txBody>
            <a:bodyPr wrap="square" rtlCol="0">
              <a:spAutoFit/>
            </a:bodyPr>
            <a:lstStyle/>
            <a:p>
              <a:r>
                <a:rPr lang="pt-BR" sz="1400" dirty="0"/>
                <a:t>Neurônio</a:t>
              </a:r>
            </a:p>
          </p:txBody>
        </p:sp>
        <p:sp>
          <p:nvSpPr>
            <p:cNvPr id="31" name="Forma Livre: Forma 107">
              <a:extLst>
                <a:ext uri="{FF2B5EF4-FFF2-40B4-BE49-F238E27FC236}">
                  <a16:creationId xmlns:a16="http://schemas.microsoft.com/office/drawing/2014/main" id="{3976D140-68D3-A193-0A58-95400E9DFBA9}"/>
                </a:ext>
              </a:extLst>
            </p:cNvPr>
            <p:cNvSpPr/>
            <p:nvPr/>
          </p:nvSpPr>
          <p:spPr>
            <a:xfrm>
              <a:off x="2786734" y="3216700"/>
              <a:ext cx="413657" cy="166042"/>
            </a:xfrm>
            <a:custGeom>
              <a:avLst/>
              <a:gdLst>
                <a:gd name="connsiteX0" fmla="*/ 0 w 413657"/>
                <a:gd name="connsiteY0" fmla="*/ 166042 h 166042"/>
                <a:gd name="connsiteX1" fmla="*/ 76200 w 413657"/>
                <a:gd name="connsiteY1" fmla="*/ 2756 h 166042"/>
                <a:gd name="connsiteX2" fmla="*/ 413657 w 413657"/>
                <a:gd name="connsiteY2" fmla="*/ 78956 h 166042"/>
              </a:gdLst>
              <a:ahLst/>
              <a:cxnLst>
                <a:cxn ang="0">
                  <a:pos x="connsiteX0" y="connsiteY0"/>
                </a:cxn>
                <a:cxn ang="0">
                  <a:pos x="connsiteX1" y="connsiteY1"/>
                </a:cxn>
                <a:cxn ang="0">
                  <a:pos x="connsiteX2" y="connsiteY2"/>
                </a:cxn>
              </a:cxnLst>
              <a:rect l="l" t="t" r="r" b="b"/>
              <a:pathLst>
                <a:path w="413657" h="166042">
                  <a:moveTo>
                    <a:pt x="0" y="166042"/>
                  </a:moveTo>
                  <a:cubicBezTo>
                    <a:pt x="3628" y="91656"/>
                    <a:pt x="7257" y="17270"/>
                    <a:pt x="76200" y="2756"/>
                  </a:cubicBezTo>
                  <a:cubicBezTo>
                    <a:pt x="145143" y="-11758"/>
                    <a:pt x="279400" y="33599"/>
                    <a:pt x="413657" y="7895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2" name="Conector reto 112">
              <a:extLst>
                <a:ext uri="{FF2B5EF4-FFF2-40B4-BE49-F238E27FC236}">
                  <a16:creationId xmlns:a16="http://schemas.microsoft.com/office/drawing/2014/main" id="{8C145B3E-B4E5-E47E-E574-B5358263E835}"/>
                </a:ext>
              </a:extLst>
            </p:cNvPr>
            <p:cNvCxnSpPr>
              <a:cxnSpLocks/>
              <a:stCxn id="68" idx="6"/>
              <a:endCxn id="14" idx="2"/>
            </p:cNvCxnSpPr>
            <p:nvPr/>
          </p:nvCxnSpPr>
          <p:spPr>
            <a:xfrm>
              <a:off x="944681" y="3219656"/>
              <a:ext cx="590203" cy="7489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Conector de Seta Reta 113">
              <a:extLst>
                <a:ext uri="{FF2B5EF4-FFF2-40B4-BE49-F238E27FC236}">
                  <a16:creationId xmlns:a16="http://schemas.microsoft.com/office/drawing/2014/main" id="{531606E9-A38E-43BE-8A0F-D867813FB40B}"/>
                </a:ext>
              </a:extLst>
            </p:cNvPr>
            <p:cNvCxnSpPr>
              <a:cxnSpLocks/>
              <a:stCxn id="11" idx="6"/>
              <a:endCxn id="35" idx="1"/>
            </p:cNvCxnSpPr>
            <p:nvPr/>
          </p:nvCxnSpPr>
          <p:spPr>
            <a:xfrm>
              <a:off x="4016827" y="4147846"/>
              <a:ext cx="251280" cy="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ector de Seta Reta 114">
              <a:extLst>
                <a:ext uri="{FF2B5EF4-FFF2-40B4-BE49-F238E27FC236}">
                  <a16:creationId xmlns:a16="http://schemas.microsoft.com/office/drawing/2014/main" id="{044980C5-4696-0BFE-15E4-D3DAC6945938}"/>
                </a:ext>
              </a:extLst>
            </p:cNvPr>
            <p:cNvCxnSpPr>
              <a:cxnSpLocks/>
              <a:stCxn id="12" idx="6"/>
            </p:cNvCxnSpPr>
            <p:nvPr/>
          </p:nvCxnSpPr>
          <p:spPr>
            <a:xfrm>
              <a:off x="4016826" y="4866303"/>
              <a:ext cx="272141" cy="5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CaixaDeTexto 5">
                  <a:extLst>
                    <a:ext uri="{FF2B5EF4-FFF2-40B4-BE49-F238E27FC236}">
                      <a16:creationId xmlns:a16="http://schemas.microsoft.com/office/drawing/2014/main" id="{5BF4BAC6-5B30-8982-DEF6-11E565F21518}"/>
                    </a:ext>
                  </a:extLst>
                </p:cNvPr>
                <p:cNvSpPr txBox="1"/>
                <p:nvPr/>
              </p:nvSpPr>
              <p:spPr>
                <a:xfrm>
                  <a:off x="4268107" y="3963524"/>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1</m:t>
                            </m:r>
                          </m:sub>
                        </m:sSub>
                      </m:oMath>
                    </m:oMathPara>
                  </a14:m>
                  <a:endParaRPr lang="pt-BR" dirty="0"/>
                </a:p>
              </p:txBody>
            </p:sp>
          </mc:Choice>
          <mc:Fallback xmlns="">
            <p:sp>
              <p:nvSpPr>
                <p:cNvPr id="35" name="CaixaDeTexto 5">
                  <a:extLst>
                    <a:ext uri="{FF2B5EF4-FFF2-40B4-BE49-F238E27FC236}">
                      <a16:creationId xmlns:a16="http://schemas.microsoft.com/office/drawing/2014/main" id="{5BF4BAC6-5B30-8982-DEF6-11E565F21518}"/>
                    </a:ext>
                  </a:extLst>
                </p:cNvPr>
                <p:cNvSpPr txBox="1">
                  <a:spLocks noRot="1" noChangeAspect="1" noMove="1" noResize="1" noEditPoints="1" noAdjustHandles="1" noChangeArrowheads="1" noChangeShapeType="1" noTextEdit="1"/>
                </p:cNvSpPr>
                <p:nvPr/>
              </p:nvSpPr>
              <p:spPr>
                <a:xfrm>
                  <a:off x="4268107" y="3963524"/>
                  <a:ext cx="266702" cy="369332"/>
                </a:xfrm>
                <a:prstGeom prst="rect">
                  <a:avLst/>
                </a:prstGeom>
                <a:blipFill>
                  <a:blip r:embed="rId3"/>
                  <a:stretch>
                    <a:fillRect t="-6667" r="-34091"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CaixaDeTexto 6">
                  <a:extLst>
                    <a:ext uri="{FF2B5EF4-FFF2-40B4-BE49-F238E27FC236}">
                      <a16:creationId xmlns:a16="http://schemas.microsoft.com/office/drawing/2014/main" id="{DB651297-4C7C-DA3F-1E81-E6E14740CC83}"/>
                    </a:ext>
                  </a:extLst>
                </p:cNvPr>
                <p:cNvSpPr txBox="1"/>
                <p:nvPr/>
              </p:nvSpPr>
              <p:spPr>
                <a:xfrm>
                  <a:off x="4268107" y="4681637"/>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2</m:t>
                            </m:r>
                          </m:sub>
                        </m:sSub>
                      </m:oMath>
                    </m:oMathPara>
                  </a14:m>
                  <a:endParaRPr lang="pt-BR" dirty="0"/>
                </a:p>
              </p:txBody>
            </p:sp>
          </mc:Choice>
          <mc:Fallback xmlns="">
            <p:sp>
              <p:nvSpPr>
                <p:cNvPr id="36" name="CaixaDeTexto 6">
                  <a:extLst>
                    <a:ext uri="{FF2B5EF4-FFF2-40B4-BE49-F238E27FC236}">
                      <a16:creationId xmlns:a16="http://schemas.microsoft.com/office/drawing/2014/main" id="{DB651297-4C7C-DA3F-1E81-E6E14740CC83}"/>
                    </a:ext>
                  </a:extLst>
                </p:cNvPr>
                <p:cNvSpPr txBox="1">
                  <a:spLocks noRot="1" noChangeAspect="1" noMove="1" noResize="1" noEditPoints="1" noAdjustHandles="1" noChangeArrowheads="1" noChangeShapeType="1" noTextEdit="1"/>
                </p:cNvSpPr>
                <p:nvPr/>
              </p:nvSpPr>
              <p:spPr>
                <a:xfrm>
                  <a:off x="4268107" y="4681637"/>
                  <a:ext cx="266702" cy="369332"/>
                </a:xfrm>
                <a:prstGeom prst="rect">
                  <a:avLst/>
                </a:prstGeom>
                <a:blipFill>
                  <a:blip r:embed="rId4"/>
                  <a:stretch>
                    <a:fillRect t="-6667" r="-36364" b="-6667"/>
                  </a:stretch>
                </a:blipFill>
              </p:spPr>
              <p:txBody>
                <a:bodyPr/>
                <a:lstStyle/>
                <a:p>
                  <a:r>
                    <a:rPr lang="en-US">
                      <a:noFill/>
                    </a:rPr>
                    <a:t> </a:t>
                  </a:r>
                </a:p>
              </p:txBody>
            </p:sp>
          </mc:Fallback>
        </mc:AlternateContent>
        <p:grpSp>
          <p:nvGrpSpPr>
            <p:cNvPr id="37" name="Group 36">
              <a:extLst>
                <a:ext uri="{FF2B5EF4-FFF2-40B4-BE49-F238E27FC236}">
                  <a16:creationId xmlns:a16="http://schemas.microsoft.com/office/drawing/2014/main" id="{7A6FCCEB-A816-DCEF-CAB4-13DB45B216C3}"/>
                </a:ext>
              </a:extLst>
            </p:cNvPr>
            <p:cNvGrpSpPr/>
            <p:nvPr/>
          </p:nvGrpSpPr>
          <p:grpSpPr>
            <a:xfrm>
              <a:off x="607920" y="3007376"/>
              <a:ext cx="336761" cy="369332"/>
              <a:chOff x="922561" y="2974265"/>
              <a:chExt cx="336761" cy="369332"/>
            </a:xfrm>
          </p:grpSpPr>
          <mc:AlternateContent xmlns:mc="http://schemas.openxmlformats.org/markup-compatibility/2006" xmlns:a14="http://schemas.microsoft.com/office/drawing/2010/main">
            <mc:Choice Requires="a14">
              <p:sp>
                <p:nvSpPr>
                  <p:cNvPr id="67" name="CaixaDeTexto 115">
                    <a:extLst>
                      <a:ext uri="{FF2B5EF4-FFF2-40B4-BE49-F238E27FC236}">
                        <a16:creationId xmlns:a16="http://schemas.microsoft.com/office/drawing/2014/main" id="{D4437CE8-DFFA-858D-8D4F-A6EF1964C006}"/>
                      </a:ext>
                    </a:extLst>
                  </p:cNvPr>
                  <p:cNvSpPr txBox="1"/>
                  <p:nvPr/>
                </p:nvSpPr>
                <p:spPr>
                  <a:xfrm>
                    <a:off x="922561" y="2974265"/>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67" name="CaixaDeTexto 115">
                    <a:extLst>
                      <a:ext uri="{FF2B5EF4-FFF2-40B4-BE49-F238E27FC236}">
                        <a16:creationId xmlns:a16="http://schemas.microsoft.com/office/drawing/2014/main" id="{D4437CE8-DFFA-858D-8D4F-A6EF1964C006}"/>
                      </a:ext>
                    </a:extLst>
                  </p:cNvPr>
                  <p:cNvSpPr txBox="1">
                    <a:spLocks noRot="1" noChangeAspect="1" noMove="1" noResize="1" noEditPoints="1" noAdjustHandles="1" noChangeArrowheads="1" noChangeShapeType="1" noTextEdit="1"/>
                  </p:cNvSpPr>
                  <p:nvPr/>
                </p:nvSpPr>
                <p:spPr>
                  <a:xfrm>
                    <a:off x="922561" y="2974265"/>
                    <a:ext cx="266702" cy="369332"/>
                  </a:xfrm>
                  <a:prstGeom prst="rect">
                    <a:avLst/>
                  </a:prstGeom>
                  <a:blipFill>
                    <a:blip r:embed="rId5"/>
                    <a:stretch>
                      <a:fillRect r="-37209"/>
                    </a:stretch>
                  </a:blipFill>
                </p:spPr>
                <p:txBody>
                  <a:bodyPr/>
                  <a:lstStyle/>
                  <a:p>
                    <a:r>
                      <a:rPr lang="en-US">
                        <a:noFill/>
                      </a:rPr>
                      <a:t> </a:t>
                    </a:r>
                  </a:p>
                </p:txBody>
              </p:sp>
            </mc:Fallback>
          </mc:AlternateContent>
          <p:sp>
            <p:nvSpPr>
              <p:cNvPr id="68" name="Elipse 3">
                <a:extLst>
                  <a:ext uri="{FF2B5EF4-FFF2-40B4-BE49-F238E27FC236}">
                    <a16:creationId xmlns:a16="http://schemas.microsoft.com/office/drawing/2014/main" id="{A27AF8C6-BCF8-9295-BB44-CB4F03235002}"/>
                  </a:ext>
                </a:extLst>
              </p:cNvPr>
              <p:cNvSpPr/>
              <p:nvPr/>
            </p:nvSpPr>
            <p:spPr>
              <a:xfrm>
                <a:off x="971322" y="3042545"/>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8" name="Elipse 83">
              <a:extLst>
                <a:ext uri="{FF2B5EF4-FFF2-40B4-BE49-F238E27FC236}">
                  <a16:creationId xmlns:a16="http://schemas.microsoft.com/office/drawing/2014/main" id="{4ABA95CD-793C-1304-110E-B8D14A37820A}"/>
                </a:ext>
              </a:extLst>
            </p:cNvPr>
            <p:cNvSpPr/>
            <p:nvPr/>
          </p:nvSpPr>
          <p:spPr>
            <a:xfrm>
              <a:off x="1529435" y="51969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9" name="Group 38">
              <a:extLst>
                <a:ext uri="{FF2B5EF4-FFF2-40B4-BE49-F238E27FC236}">
                  <a16:creationId xmlns:a16="http://schemas.microsoft.com/office/drawing/2014/main" id="{42BB30E8-15CA-CB8E-1E18-80E39D0FF05A}"/>
                </a:ext>
              </a:extLst>
            </p:cNvPr>
            <p:cNvGrpSpPr/>
            <p:nvPr/>
          </p:nvGrpSpPr>
          <p:grpSpPr>
            <a:xfrm>
              <a:off x="574549" y="5263520"/>
              <a:ext cx="349823" cy="369332"/>
              <a:chOff x="920926" y="4430876"/>
              <a:chExt cx="349823" cy="369332"/>
            </a:xfrm>
          </p:grpSpPr>
          <mc:AlternateContent xmlns:mc="http://schemas.openxmlformats.org/markup-compatibility/2006" xmlns:a14="http://schemas.microsoft.com/office/drawing/2010/main">
            <mc:Choice Requires="a14">
              <p:sp>
                <p:nvSpPr>
                  <p:cNvPr id="65" name="CaixaDeTexto 116">
                    <a:extLst>
                      <a:ext uri="{FF2B5EF4-FFF2-40B4-BE49-F238E27FC236}">
                        <a16:creationId xmlns:a16="http://schemas.microsoft.com/office/drawing/2014/main" id="{1582D9CE-10BA-59C1-1253-74166853DDA8}"/>
                      </a:ext>
                    </a:extLst>
                  </p:cNvPr>
                  <p:cNvSpPr txBox="1"/>
                  <p:nvPr/>
                </p:nvSpPr>
                <p:spPr>
                  <a:xfrm>
                    <a:off x="920926" y="4430876"/>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65" name="CaixaDeTexto 116">
                    <a:extLst>
                      <a:ext uri="{FF2B5EF4-FFF2-40B4-BE49-F238E27FC236}">
                        <a16:creationId xmlns:a16="http://schemas.microsoft.com/office/drawing/2014/main" id="{1582D9CE-10BA-59C1-1253-74166853DDA8}"/>
                      </a:ext>
                    </a:extLst>
                  </p:cNvPr>
                  <p:cNvSpPr txBox="1">
                    <a:spLocks noRot="1" noChangeAspect="1" noMove="1" noResize="1" noEditPoints="1" noAdjustHandles="1" noChangeArrowheads="1" noChangeShapeType="1" noTextEdit="1"/>
                  </p:cNvSpPr>
                  <p:nvPr/>
                </p:nvSpPr>
                <p:spPr>
                  <a:xfrm>
                    <a:off x="920926" y="4430876"/>
                    <a:ext cx="266702" cy="369332"/>
                  </a:xfrm>
                  <a:prstGeom prst="rect">
                    <a:avLst/>
                  </a:prstGeom>
                  <a:blipFill>
                    <a:blip r:embed="rId6"/>
                    <a:stretch>
                      <a:fillRect r="-36364"/>
                    </a:stretch>
                  </a:blipFill>
                </p:spPr>
                <p:txBody>
                  <a:bodyPr/>
                  <a:lstStyle/>
                  <a:p>
                    <a:r>
                      <a:rPr lang="en-US">
                        <a:noFill/>
                      </a:rPr>
                      <a:t> </a:t>
                    </a:r>
                  </a:p>
                </p:txBody>
              </p:sp>
            </mc:Fallback>
          </mc:AlternateContent>
          <p:sp>
            <p:nvSpPr>
              <p:cNvPr id="66" name="Elipse 4">
                <a:extLst>
                  <a:ext uri="{FF2B5EF4-FFF2-40B4-BE49-F238E27FC236}">
                    <a16:creationId xmlns:a16="http://schemas.microsoft.com/office/drawing/2014/main" id="{304E59F4-47D0-492C-6B42-0AE38FB6B45B}"/>
                  </a:ext>
                </a:extLst>
              </p:cNvPr>
              <p:cNvSpPr/>
              <p:nvPr/>
            </p:nvSpPr>
            <p:spPr>
              <a:xfrm>
                <a:off x="982749" y="4504166"/>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cxnSp>
          <p:nvCxnSpPr>
            <p:cNvPr id="40" name="Conector reto 112">
              <a:extLst>
                <a:ext uri="{FF2B5EF4-FFF2-40B4-BE49-F238E27FC236}">
                  <a16:creationId xmlns:a16="http://schemas.microsoft.com/office/drawing/2014/main" id="{ADBB0925-BFA7-1872-AFF5-A250BFAC4636}"/>
                </a:ext>
              </a:extLst>
            </p:cNvPr>
            <p:cNvCxnSpPr>
              <a:cxnSpLocks/>
              <a:stCxn id="68" idx="6"/>
              <a:endCxn id="13" idx="2"/>
            </p:cNvCxnSpPr>
            <p:nvPr/>
          </p:nvCxnSpPr>
          <p:spPr>
            <a:xfrm flipV="1">
              <a:off x="944681" y="3212987"/>
              <a:ext cx="590203" cy="6669"/>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Conector reto 112">
              <a:extLst>
                <a:ext uri="{FF2B5EF4-FFF2-40B4-BE49-F238E27FC236}">
                  <a16:creationId xmlns:a16="http://schemas.microsoft.com/office/drawing/2014/main" id="{8A98A6CC-109B-097F-2B49-BF12D9DDF6AF}"/>
                </a:ext>
              </a:extLst>
            </p:cNvPr>
            <p:cNvCxnSpPr>
              <a:cxnSpLocks/>
              <a:stCxn id="68" idx="6"/>
              <a:endCxn id="15" idx="2"/>
            </p:cNvCxnSpPr>
            <p:nvPr/>
          </p:nvCxnSpPr>
          <p:spPr>
            <a:xfrm>
              <a:off x="944681" y="3219656"/>
              <a:ext cx="590203" cy="150463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Conector reto 112">
              <a:extLst>
                <a:ext uri="{FF2B5EF4-FFF2-40B4-BE49-F238E27FC236}">
                  <a16:creationId xmlns:a16="http://schemas.microsoft.com/office/drawing/2014/main" id="{E55103CE-1C51-05E1-B6AD-B581B58011C7}"/>
                </a:ext>
              </a:extLst>
            </p:cNvPr>
            <p:cNvCxnSpPr>
              <a:cxnSpLocks/>
              <a:stCxn id="68" idx="6"/>
              <a:endCxn id="38" idx="2"/>
            </p:cNvCxnSpPr>
            <p:nvPr/>
          </p:nvCxnSpPr>
          <p:spPr>
            <a:xfrm>
              <a:off x="944681" y="3219656"/>
              <a:ext cx="584754" cy="22602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Conector reto 112">
              <a:extLst>
                <a:ext uri="{FF2B5EF4-FFF2-40B4-BE49-F238E27FC236}">
                  <a16:creationId xmlns:a16="http://schemas.microsoft.com/office/drawing/2014/main" id="{84FD13DA-AB61-77AE-E277-8598BF2246DA}"/>
                </a:ext>
              </a:extLst>
            </p:cNvPr>
            <p:cNvCxnSpPr>
              <a:cxnSpLocks/>
              <a:stCxn id="66" idx="6"/>
              <a:endCxn id="38" idx="2"/>
            </p:cNvCxnSpPr>
            <p:nvPr/>
          </p:nvCxnSpPr>
          <p:spPr>
            <a:xfrm flipV="1">
              <a:off x="924372" y="5479937"/>
              <a:ext cx="605063" cy="8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Conector reto 112">
              <a:extLst>
                <a:ext uri="{FF2B5EF4-FFF2-40B4-BE49-F238E27FC236}">
                  <a16:creationId xmlns:a16="http://schemas.microsoft.com/office/drawing/2014/main" id="{24582E6E-5EBF-09C8-D5EA-09A40873BE2A}"/>
                </a:ext>
              </a:extLst>
            </p:cNvPr>
            <p:cNvCxnSpPr>
              <a:cxnSpLocks/>
              <a:stCxn id="66" idx="6"/>
              <a:endCxn id="15" idx="2"/>
            </p:cNvCxnSpPr>
            <p:nvPr/>
          </p:nvCxnSpPr>
          <p:spPr>
            <a:xfrm flipV="1">
              <a:off x="924372" y="4724287"/>
              <a:ext cx="610512" cy="7565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Conector reto 112">
              <a:extLst>
                <a:ext uri="{FF2B5EF4-FFF2-40B4-BE49-F238E27FC236}">
                  <a16:creationId xmlns:a16="http://schemas.microsoft.com/office/drawing/2014/main" id="{2EAD221C-7709-92E6-526E-1E516CF8DD44}"/>
                </a:ext>
              </a:extLst>
            </p:cNvPr>
            <p:cNvCxnSpPr>
              <a:cxnSpLocks/>
              <a:stCxn id="66" idx="6"/>
            </p:cNvCxnSpPr>
            <p:nvPr/>
          </p:nvCxnSpPr>
          <p:spPr>
            <a:xfrm flipV="1">
              <a:off x="924372" y="3968637"/>
              <a:ext cx="610512" cy="15121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Conector reto 112">
              <a:extLst>
                <a:ext uri="{FF2B5EF4-FFF2-40B4-BE49-F238E27FC236}">
                  <a16:creationId xmlns:a16="http://schemas.microsoft.com/office/drawing/2014/main" id="{66B83675-C748-4189-43FE-2DFE76E38C53}"/>
                </a:ext>
              </a:extLst>
            </p:cNvPr>
            <p:cNvCxnSpPr>
              <a:cxnSpLocks/>
              <a:stCxn id="66" idx="6"/>
              <a:endCxn id="13" idx="2"/>
            </p:cNvCxnSpPr>
            <p:nvPr/>
          </p:nvCxnSpPr>
          <p:spPr>
            <a:xfrm flipV="1">
              <a:off x="924372" y="3212987"/>
              <a:ext cx="610512" cy="22678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Conector de Seta Reta 91">
              <a:extLst>
                <a:ext uri="{FF2B5EF4-FFF2-40B4-BE49-F238E27FC236}">
                  <a16:creationId xmlns:a16="http://schemas.microsoft.com/office/drawing/2014/main" id="{72259D74-2023-93C3-847E-8C2BCC2098EA}"/>
                </a:ext>
              </a:extLst>
            </p:cNvPr>
            <p:cNvCxnSpPr>
              <a:cxnSpLocks/>
              <a:stCxn id="15" idx="6"/>
              <a:endCxn id="8" idx="2"/>
            </p:cNvCxnSpPr>
            <p:nvPr/>
          </p:nvCxnSpPr>
          <p:spPr>
            <a:xfrm flipV="1">
              <a:off x="2100941" y="3685608"/>
              <a:ext cx="391887" cy="1038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ector de Seta Reta 91">
              <a:extLst>
                <a:ext uri="{FF2B5EF4-FFF2-40B4-BE49-F238E27FC236}">
                  <a16:creationId xmlns:a16="http://schemas.microsoft.com/office/drawing/2014/main" id="{29744E34-AA8E-A716-91B2-456FE6AF32D3}"/>
                </a:ext>
              </a:extLst>
            </p:cNvPr>
            <p:cNvCxnSpPr>
              <a:cxnSpLocks/>
              <a:stCxn id="38" idx="6"/>
              <a:endCxn id="8" idx="2"/>
            </p:cNvCxnSpPr>
            <p:nvPr/>
          </p:nvCxnSpPr>
          <p:spPr>
            <a:xfrm flipV="1">
              <a:off x="2095492" y="3685608"/>
              <a:ext cx="397336" cy="1794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ector de Seta Reta 91">
              <a:extLst>
                <a:ext uri="{FF2B5EF4-FFF2-40B4-BE49-F238E27FC236}">
                  <a16:creationId xmlns:a16="http://schemas.microsoft.com/office/drawing/2014/main" id="{341A688F-3427-D132-AE4A-43AAD9494370}"/>
                </a:ext>
              </a:extLst>
            </p:cNvPr>
            <p:cNvCxnSpPr>
              <a:cxnSpLocks/>
              <a:stCxn id="38" idx="6"/>
              <a:endCxn id="9" idx="2"/>
            </p:cNvCxnSpPr>
            <p:nvPr/>
          </p:nvCxnSpPr>
          <p:spPr>
            <a:xfrm flipV="1">
              <a:off x="2095492" y="4404065"/>
              <a:ext cx="397335" cy="1075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Conector de Seta Reta 91">
              <a:extLst>
                <a:ext uri="{FF2B5EF4-FFF2-40B4-BE49-F238E27FC236}">
                  <a16:creationId xmlns:a16="http://schemas.microsoft.com/office/drawing/2014/main" id="{BCDF6F3A-D0B0-47A2-E663-521FBF0AF90A}"/>
                </a:ext>
              </a:extLst>
            </p:cNvPr>
            <p:cNvCxnSpPr>
              <a:cxnSpLocks/>
              <a:stCxn id="38" idx="6"/>
              <a:endCxn id="10" idx="2"/>
            </p:cNvCxnSpPr>
            <p:nvPr/>
          </p:nvCxnSpPr>
          <p:spPr>
            <a:xfrm flipV="1">
              <a:off x="2095492" y="5122522"/>
              <a:ext cx="397335" cy="357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D9E220C-6676-EB86-600D-81FBF6F8DCE7}"/>
                    </a:ext>
                  </a:extLst>
                </p:cNvPr>
                <p:cNvSpPr txBox="1"/>
                <p:nvPr/>
              </p:nvSpPr>
              <p:spPr>
                <a:xfrm>
                  <a:off x="956041" y="2865008"/>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1" name="TextBox 50">
                  <a:extLst>
                    <a:ext uri="{FF2B5EF4-FFF2-40B4-BE49-F238E27FC236}">
                      <a16:creationId xmlns:a16="http://schemas.microsoft.com/office/drawing/2014/main" id="{CD9E220C-6676-EB86-600D-81FBF6F8DCE7}"/>
                    </a:ext>
                  </a:extLst>
                </p:cNvPr>
                <p:cNvSpPr txBox="1">
                  <a:spLocks noRot="1" noChangeAspect="1" noMove="1" noResize="1" noEditPoints="1" noAdjustHandles="1" noChangeArrowheads="1" noChangeShapeType="1" noTextEdit="1"/>
                </p:cNvSpPr>
                <p:nvPr/>
              </p:nvSpPr>
              <p:spPr>
                <a:xfrm>
                  <a:off x="956041" y="2865008"/>
                  <a:ext cx="560538" cy="36131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344C04FC-FA2F-198E-E6DD-B813F3D367BE}"/>
                    </a:ext>
                  </a:extLst>
                </p:cNvPr>
                <p:cNvSpPr txBox="1"/>
                <p:nvPr/>
              </p:nvSpPr>
              <p:spPr>
                <a:xfrm rot="3068437">
                  <a:off x="1020572" y="321965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12</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2" name="TextBox 51">
                  <a:extLst>
                    <a:ext uri="{FF2B5EF4-FFF2-40B4-BE49-F238E27FC236}">
                      <a16:creationId xmlns:a16="http://schemas.microsoft.com/office/drawing/2014/main" id="{344C04FC-FA2F-198E-E6DD-B813F3D367BE}"/>
                    </a:ext>
                  </a:extLst>
                </p:cNvPr>
                <p:cNvSpPr txBox="1">
                  <a:spLocks noRot="1" noChangeAspect="1" noMove="1" noResize="1" noEditPoints="1" noAdjustHandles="1" noChangeArrowheads="1" noChangeShapeType="1" noTextEdit="1"/>
                </p:cNvSpPr>
                <p:nvPr/>
              </p:nvSpPr>
              <p:spPr>
                <a:xfrm rot="3068437">
                  <a:off x="1020572" y="3219653"/>
                  <a:ext cx="560538" cy="36131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87BA32F7-A5BA-EE7E-B5FE-2D8BF8913E31}"/>
                    </a:ext>
                  </a:extLst>
                </p:cNvPr>
                <p:cNvSpPr txBox="1"/>
                <p:nvPr/>
              </p:nvSpPr>
              <p:spPr>
                <a:xfrm>
                  <a:off x="933548" y="5486606"/>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24</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3" name="TextBox 52">
                  <a:extLst>
                    <a:ext uri="{FF2B5EF4-FFF2-40B4-BE49-F238E27FC236}">
                      <a16:creationId xmlns:a16="http://schemas.microsoft.com/office/drawing/2014/main" id="{87BA32F7-A5BA-EE7E-B5FE-2D8BF8913E31}"/>
                    </a:ext>
                  </a:extLst>
                </p:cNvPr>
                <p:cNvSpPr txBox="1">
                  <a:spLocks noRot="1" noChangeAspect="1" noMove="1" noResize="1" noEditPoints="1" noAdjustHandles="1" noChangeArrowheads="1" noChangeShapeType="1" noTextEdit="1"/>
                </p:cNvSpPr>
                <p:nvPr/>
              </p:nvSpPr>
              <p:spPr>
                <a:xfrm>
                  <a:off x="933548" y="5486606"/>
                  <a:ext cx="560538" cy="36131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A194D3F-9F78-2E7F-8BAB-6728E6572799}"/>
                    </a:ext>
                  </a:extLst>
                </p:cNvPr>
                <p:cNvSpPr txBox="1"/>
                <p:nvPr/>
              </p:nvSpPr>
              <p:spPr>
                <a:xfrm rot="17131605">
                  <a:off x="594353" y="4756061"/>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4" name="TextBox 53">
                  <a:extLst>
                    <a:ext uri="{FF2B5EF4-FFF2-40B4-BE49-F238E27FC236}">
                      <a16:creationId xmlns:a16="http://schemas.microsoft.com/office/drawing/2014/main" id="{0A194D3F-9F78-2E7F-8BAB-6728E6572799}"/>
                    </a:ext>
                  </a:extLst>
                </p:cNvPr>
                <p:cNvSpPr txBox="1">
                  <a:spLocks noRot="1" noChangeAspect="1" noMove="1" noResize="1" noEditPoints="1" noAdjustHandles="1" noChangeArrowheads="1" noChangeShapeType="1" noTextEdit="1"/>
                </p:cNvSpPr>
                <p:nvPr/>
              </p:nvSpPr>
              <p:spPr>
                <a:xfrm rot="17131605">
                  <a:off x="594353" y="4756061"/>
                  <a:ext cx="560538" cy="36131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74A0733-D851-B866-C820-7D16386CCFAB}"/>
                    </a:ext>
                  </a:extLst>
                </p:cNvPr>
                <p:cNvSpPr txBox="1"/>
                <p:nvPr/>
              </p:nvSpPr>
              <p:spPr>
                <a:xfrm rot="2964551">
                  <a:off x="2132495" y="313219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5" name="TextBox 54">
                  <a:extLst>
                    <a:ext uri="{FF2B5EF4-FFF2-40B4-BE49-F238E27FC236}">
                      <a16:creationId xmlns:a16="http://schemas.microsoft.com/office/drawing/2014/main" id="{874A0733-D851-B866-C820-7D16386CCFAB}"/>
                    </a:ext>
                  </a:extLst>
                </p:cNvPr>
                <p:cNvSpPr txBox="1">
                  <a:spLocks noRot="1" noChangeAspect="1" noMove="1" noResize="1" noEditPoints="1" noAdjustHandles="1" noChangeArrowheads="1" noChangeShapeType="1" noTextEdit="1"/>
                </p:cNvSpPr>
                <p:nvPr/>
              </p:nvSpPr>
              <p:spPr>
                <a:xfrm rot="2964551">
                  <a:off x="2132495" y="3132193"/>
                  <a:ext cx="560538" cy="36131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5598530-7CA3-296E-6802-5F7972A4D41D}"/>
                    </a:ext>
                  </a:extLst>
                </p:cNvPr>
                <p:cNvSpPr txBox="1"/>
                <p:nvPr/>
              </p:nvSpPr>
              <p:spPr>
                <a:xfrm rot="19021513">
                  <a:off x="2088094" y="5274650"/>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43</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6" name="TextBox 55">
                  <a:extLst>
                    <a:ext uri="{FF2B5EF4-FFF2-40B4-BE49-F238E27FC236}">
                      <a16:creationId xmlns:a16="http://schemas.microsoft.com/office/drawing/2014/main" id="{F5598530-7CA3-296E-6802-5F7972A4D41D}"/>
                    </a:ext>
                  </a:extLst>
                </p:cNvPr>
                <p:cNvSpPr txBox="1">
                  <a:spLocks noRot="1" noChangeAspect="1" noMove="1" noResize="1" noEditPoints="1" noAdjustHandles="1" noChangeArrowheads="1" noChangeShapeType="1" noTextEdit="1"/>
                </p:cNvSpPr>
                <p:nvPr/>
              </p:nvSpPr>
              <p:spPr>
                <a:xfrm rot="19021513">
                  <a:off x="2088094" y="5274650"/>
                  <a:ext cx="560538" cy="36131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37F7E51F-CA99-BF55-661C-21C05E150FA0}"/>
                    </a:ext>
                  </a:extLst>
                </p:cNvPr>
                <p:cNvSpPr txBox="1"/>
                <p:nvPr/>
              </p:nvSpPr>
              <p:spPr>
                <a:xfrm rot="2893059">
                  <a:off x="3107452" y="3604952"/>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7" name="TextBox 56">
                  <a:extLst>
                    <a:ext uri="{FF2B5EF4-FFF2-40B4-BE49-F238E27FC236}">
                      <a16:creationId xmlns:a16="http://schemas.microsoft.com/office/drawing/2014/main" id="{37F7E51F-CA99-BF55-661C-21C05E150FA0}"/>
                    </a:ext>
                  </a:extLst>
                </p:cNvPr>
                <p:cNvSpPr txBox="1">
                  <a:spLocks noRot="1" noChangeAspect="1" noMove="1" noResize="1" noEditPoints="1" noAdjustHandles="1" noChangeArrowheads="1" noChangeShapeType="1" noTextEdit="1"/>
                </p:cNvSpPr>
                <p:nvPr/>
              </p:nvSpPr>
              <p:spPr>
                <a:xfrm rot="2893059">
                  <a:off x="3107452" y="3604952"/>
                  <a:ext cx="560538" cy="362663"/>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7D0B822D-128A-4AA5-2D23-7762D236EF4F}"/>
                    </a:ext>
                  </a:extLst>
                </p:cNvPr>
                <p:cNvSpPr txBox="1"/>
                <p:nvPr/>
              </p:nvSpPr>
              <p:spPr>
                <a:xfrm rot="19852769">
                  <a:off x="3044859" y="4967999"/>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32</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8" name="TextBox 57">
                  <a:extLst>
                    <a:ext uri="{FF2B5EF4-FFF2-40B4-BE49-F238E27FC236}">
                      <a16:creationId xmlns:a16="http://schemas.microsoft.com/office/drawing/2014/main" id="{7D0B822D-128A-4AA5-2D23-7762D236EF4F}"/>
                    </a:ext>
                  </a:extLst>
                </p:cNvPr>
                <p:cNvSpPr txBox="1">
                  <a:spLocks noRot="1" noChangeAspect="1" noMove="1" noResize="1" noEditPoints="1" noAdjustHandles="1" noChangeArrowheads="1" noChangeShapeType="1" noTextEdit="1"/>
                </p:cNvSpPr>
                <p:nvPr/>
              </p:nvSpPr>
              <p:spPr>
                <a:xfrm rot="19852769">
                  <a:off x="3044859" y="4967999"/>
                  <a:ext cx="560538" cy="362663"/>
                </a:xfrm>
                <a:prstGeom prst="rect">
                  <a:avLst/>
                </a:prstGeom>
                <a:blipFill>
                  <a:blip r:embed="rId14"/>
                  <a:stretch>
                    <a:fillRect/>
                  </a:stretch>
                </a:blipFill>
              </p:spPr>
              <p:txBody>
                <a:bodyPr/>
                <a:lstStyle/>
                <a:p>
                  <a:r>
                    <a:rPr lang="en-US">
                      <a:noFill/>
                    </a:rPr>
                    <a:t> </a:t>
                  </a:r>
                </a:p>
              </p:txBody>
            </p:sp>
          </mc:Fallback>
        </mc:AlternateContent>
        <p:sp>
          <p:nvSpPr>
            <p:cNvPr id="59" name="CaixaDeTexto 106">
              <a:extLst>
                <a:ext uri="{FF2B5EF4-FFF2-40B4-BE49-F238E27FC236}">
                  <a16:creationId xmlns:a16="http://schemas.microsoft.com/office/drawing/2014/main" id="{4BDB3906-0247-F853-A5CA-CFB665FE16A8}"/>
                </a:ext>
              </a:extLst>
            </p:cNvPr>
            <p:cNvSpPr txBox="1"/>
            <p:nvPr/>
          </p:nvSpPr>
          <p:spPr>
            <a:xfrm>
              <a:off x="1300841" y="2506925"/>
              <a:ext cx="1796143" cy="307777"/>
            </a:xfrm>
            <a:prstGeom prst="rect">
              <a:avLst/>
            </a:prstGeom>
            <a:noFill/>
          </p:spPr>
          <p:txBody>
            <a:bodyPr wrap="square" rtlCol="0">
              <a:spAutoFit/>
            </a:bodyPr>
            <a:lstStyle/>
            <a:p>
              <a:r>
                <a:rPr lang="pt-BR" sz="1400" dirty="0"/>
                <a:t>Peso sináptico</a:t>
              </a:r>
            </a:p>
          </p:txBody>
        </p:sp>
        <p:sp>
          <p:nvSpPr>
            <p:cNvPr id="60" name="Freeform: Shape 59">
              <a:extLst>
                <a:ext uri="{FF2B5EF4-FFF2-40B4-BE49-F238E27FC236}">
                  <a16:creationId xmlns:a16="http://schemas.microsoft.com/office/drawing/2014/main" id="{29DACD3F-037A-8453-AE8C-6B6BD53E55FD}"/>
                </a:ext>
              </a:extLst>
            </p:cNvPr>
            <p:cNvSpPr/>
            <p:nvPr/>
          </p:nvSpPr>
          <p:spPr>
            <a:xfrm>
              <a:off x="1164771" y="2656114"/>
              <a:ext cx="206829" cy="250372"/>
            </a:xfrm>
            <a:custGeom>
              <a:avLst/>
              <a:gdLst>
                <a:gd name="csX0" fmla="*/ 0 w 206829"/>
                <a:gd name="csY0" fmla="*/ 250372 h 250372"/>
                <a:gd name="csX1" fmla="*/ 54429 w 206829"/>
                <a:gd name="csY1" fmla="*/ 108857 h 250372"/>
                <a:gd name="csX2" fmla="*/ 206829 w 206829"/>
                <a:gd name="csY2" fmla="*/ 0 h 250372"/>
              </a:gdLst>
              <a:ahLst/>
              <a:cxnLst>
                <a:cxn ang="0">
                  <a:pos x="csX0" y="csY0"/>
                </a:cxn>
                <a:cxn ang="0">
                  <a:pos x="csX1" y="csY1"/>
                </a:cxn>
                <a:cxn ang="0">
                  <a:pos x="csX2" y="csY2"/>
                </a:cxn>
              </a:cxnLst>
              <a:rect l="l" t="t" r="r" b="b"/>
              <a:pathLst>
                <a:path w="206829" h="250372">
                  <a:moveTo>
                    <a:pt x="0" y="250372"/>
                  </a:moveTo>
                  <a:cubicBezTo>
                    <a:pt x="9979" y="200479"/>
                    <a:pt x="19958" y="150586"/>
                    <a:pt x="54429" y="108857"/>
                  </a:cubicBezTo>
                  <a:cubicBezTo>
                    <a:pt x="88901" y="67128"/>
                    <a:pt x="147865" y="33564"/>
                    <a:pt x="206829"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CaixaDeTexto 32">
              <a:extLst>
                <a:ext uri="{FF2B5EF4-FFF2-40B4-BE49-F238E27FC236}">
                  <a16:creationId xmlns:a16="http://schemas.microsoft.com/office/drawing/2014/main" id="{0A340395-4B71-742C-27D0-665C74AB2230}"/>
                </a:ext>
              </a:extLst>
            </p:cNvPr>
            <p:cNvSpPr txBox="1"/>
            <p:nvPr/>
          </p:nvSpPr>
          <p:spPr>
            <a:xfrm>
              <a:off x="294226" y="5713408"/>
              <a:ext cx="868135" cy="461665"/>
            </a:xfrm>
            <a:prstGeom prst="rect">
              <a:avLst/>
            </a:prstGeom>
            <a:noFill/>
          </p:spPr>
          <p:txBody>
            <a:bodyPr wrap="square" rtlCol="0">
              <a:spAutoFit/>
            </a:bodyPr>
            <a:lstStyle/>
            <a:p>
              <a:pPr algn="ctr"/>
              <a:r>
                <a:rPr lang="pt-BR" sz="1200" dirty="0"/>
                <a:t>Camada de entrada</a:t>
              </a:r>
            </a:p>
          </p:txBody>
        </p:sp>
        <p:sp>
          <p:nvSpPr>
            <p:cNvPr id="62" name="CaixaDeTexto 34">
              <a:extLst>
                <a:ext uri="{FF2B5EF4-FFF2-40B4-BE49-F238E27FC236}">
                  <a16:creationId xmlns:a16="http://schemas.microsoft.com/office/drawing/2014/main" id="{0B6E1495-BD00-3032-78F8-AF1EE1570D27}"/>
                </a:ext>
              </a:extLst>
            </p:cNvPr>
            <p:cNvSpPr txBox="1"/>
            <p:nvPr/>
          </p:nvSpPr>
          <p:spPr>
            <a:xfrm>
              <a:off x="1357989" y="5837351"/>
              <a:ext cx="868135" cy="461665"/>
            </a:xfrm>
            <a:prstGeom prst="rect">
              <a:avLst/>
            </a:prstGeom>
            <a:noFill/>
          </p:spPr>
          <p:txBody>
            <a:bodyPr wrap="square" rtlCol="0">
              <a:spAutoFit/>
            </a:bodyPr>
            <a:lstStyle/>
            <a:p>
              <a:pPr algn="ctr"/>
              <a:r>
                <a:rPr lang="pt-BR" sz="1200" dirty="0"/>
                <a:t>Camada oculta #1</a:t>
              </a:r>
            </a:p>
          </p:txBody>
        </p:sp>
        <p:sp>
          <p:nvSpPr>
            <p:cNvPr id="63" name="CaixaDeTexto 40">
              <a:extLst>
                <a:ext uri="{FF2B5EF4-FFF2-40B4-BE49-F238E27FC236}">
                  <a16:creationId xmlns:a16="http://schemas.microsoft.com/office/drawing/2014/main" id="{849F91F2-651A-1DE7-8475-81EE4FF01DE4}"/>
                </a:ext>
              </a:extLst>
            </p:cNvPr>
            <p:cNvSpPr txBox="1"/>
            <p:nvPr/>
          </p:nvSpPr>
          <p:spPr>
            <a:xfrm>
              <a:off x="2352673" y="5450646"/>
              <a:ext cx="868135" cy="461665"/>
            </a:xfrm>
            <a:prstGeom prst="rect">
              <a:avLst/>
            </a:prstGeom>
            <a:noFill/>
          </p:spPr>
          <p:txBody>
            <a:bodyPr wrap="square" rtlCol="0">
              <a:spAutoFit/>
            </a:bodyPr>
            <a:lstStyle/>
            <a:p>
              <a:pPr algn="ctr"/>
              <a:r>
                <a:rPr lang="pt-BR" sz="1200" dirty="0"/>
                <a:t>Camada oculta #2</a:t>
              </a:r>
            </a:p>
          </p:txBody>
        </p:sp>
        <p:sp>
          <p:nvSpPr>
            <p:cNvPr id="64" name="CaixaDeTexto 36">
              <a:extLst>
                <a:ext uri="{FF2B5EF4-FFF2-40B4-BE49-F238E27FC236}">
                  <a16:creationId xmlns:a16="http://schemas.microsoft.com/office/drawing/2014/main" id="{E284BE66-95A9-CA78-0F39-5853C74DF11C}"/>
                </a:ext>
              </a:extLst>
            </p:cNvPr>
            <p:cNvSpPr txBox="1"/>
            <p:nvPr/>
          </p:nvSpPr>
          <p:spPr>
            <a:xfrm>
              <a:off x="3314688" y="5239989"/>
              <a:ext cx="868135" cy="461665"/>
            </a:xfrm>
            <a:prstGeom prst="rect">
              <a:avLst/>
            </a:prstGeom>
            <a:noFill/>
          </p:spPr>
          <p:txBody>
            <a:bodyPr wrap="square" rtlCol="0">
              <a:spAutoFit/>
            </a:bodyPr>
            <a:lstStyle/>
            <a:p>
              <a:pPr algn="ctr"/>
              <a:r>
                <a:rPr lang="pt-BR" sz="1200" dirty="0"/>
                <a:t>Camada de saída</a:t>
              </a:r>
            </a:p>
          </p:txBody>
        </p:sp>
      </p:grpSp>
    </p:spTree>
    <p:extLst>
      <p:ext uri="{BB962C8B-B14F-4D97-AF65-F5344CB8AC3E}">
        <p14:creationId xmlns:p14="http://schemas.microsoft.com/office/powerpoint/2010/main" val="28174549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63291-5187-4AD0-557A-BBF4FF2325D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9713AF0-DF7F-AFF7-FD2C-075A9C9C819E}"/>
              </a:ext>
            </a:extLst>
          </p:cNvPr>
          <p:cNvSpPr>
            <a:spLocks noGrp="1"/>
          </p:cNvSpPr>
          <p:nvPr>
            <p:ph type="title"/>
          </p:nvPr>
        </p:nvSpPr>
        <p:spPr/>
        <p:txBody>
          <a:bodyPr/>
          <a:lstStyle/>
          <a:p>
            <a:r>
              <a:rPr lang="pt-BR" dirty="0"/>
              <a:t>Redes neurais artificiais</a:t>
            </a:r>
            <a:endParaRPr lang="pt-BR" i="1" dirty="0"/>
          </a:p>
        </p:txBody>
      </p:sp>
      <p:sp>
        <p:nvSpPr>
          <p:cNvPr id="3" name="Espaço Reservado para Conteúdo 2">
            <a:extLst>
              <a:ext uri="{FF2B5EF4-FFF2-40B4-BE49-F238E27FC236}">
                <a16:creationId xmlns:a16="http://schemas.microsoft.com/office/drawing/2014/main" id="{7942C362-2B1D-8B61-38ED-253B029C4E7F}"/>
              </a:ext>
            </a:extLst>
          </p:cNvPr>
          <p:cNvSpPr>
            <a:spLocks noGrp="1"/>
          </p:cNvSpPr>
          <p:nvPr>
            <p:ph idx="1"/>
          </p:nvPr>
        </p:nvSpPr>
        <p:spPr>
          <a:xfrm>
            <a:off x="5545394" y="1825625"/>
            <a:ext cx="6646605" cy="5032375"/>
          </a:xfrm>
        </p:spPr>
        <p:txBody>
          <a:bodyPr>
            <a:normAutofit/>
          </a:bodyPr>
          <a:lstStyle/>
          <a:p>
            <a:r>
              <a:rPr lang="pt-BR" dirty="0"/>
              <a:t>As camadas intermediárias são também chamadas de </a:t>
            </a:r>
            <a:r>
              <a:rPr lang="pt-BR" b="1" dirty="0">
                <a:solidFill>
                  <a:srgbClr val="7030A0"/>
                </a:solidFill>
              </a:rPr>
              <a:t>ocultas</a:t>
            </a:r>
            <a:r>
              <a:rPr lang="pt-BR" dirty="0"/>
              <a:t> ou </a:t>
            </a:r>
            <a:r>
              <a:rPr lang="pt-BR" b="1" dirty="0">
                <a:solidFill>
                  <a:srgbClr val="7030A0"/>
                </a:solidFill>
              </a:rPr>
              <a:t>escondidas</a:t>
            </a:r>
            <a:r>
              <a:rPr lang="pt-BR" dirty="0"/>
              <a:t>.</a:t>
            </a:r>
          </a:p>
          <a:p>
            <a:r>
              <a:rPr lang="pt-BR" dirty="0"/>
              <a:t>As camadas ocultas </a:t>
            </a:r>
            <a:r>
              <a:rPr lang="pt-BR" b="1" dirty="0">
                <a:solidFill>
                  <a:schemeClr val="accent5"/>
                </a:solidFill>
              </a:rPr>
              <a:t>transformam progressivamente</a:t>
            </a:r>
            <a:r>
              <a:rPr lang="pt-BR" dirty="0"/>
              <a:t> os </a:t>
            </a:r>
            <a:r>
              <a:rPr lang="pt-BR" b="1" dirty="0">
                <a:solidFill>
                  <a:schemeClr val="accent2"/>
                </a:solidFill>
              </a:rPr>
              <a:t>dados de entrada em </a:t>
            </a:r>
            <a:r>
              <a:rPr lang="pt-BR" b="1" dirty="0">
                <a:solidFill>
                  <a:srgbClr val="00B050"/>
                </a:solidFill>
              </a:rPr>
              <a:t>representações internas </a:t>
            </a:r>
            <a:r>
              <a:rPr lang="pt-BR" b="1" dirty="0">
                <a:solidFill>
                  <a:schemeClr val="accent2"/>
                </a:solidFill>
              </a:rPr>
              <a:t>que sejam </a:t>
            </a:r>
            <a:r>
              <a:rPr lang="pt-BR" b="1" dirty="0">
                <a:solidFill>
                  <a:srgbClr val="7030A0"/>
                </a:solidFill>
              </a:rPr>
              <a:t>úteis</a:t>
            </a:r>
            <a:r>
              <a:rPr lang="pt-BR" b="1" dirty="0">
                <a:solidFill>
                  <a:schemeClr val="accent2"/>
                </a:solidFill>
              </a:rPr>
              <a:t> para produzir a saída desejada</a:t>
            </a:r>
            <a:r>
              <a:rPr lang="pt-BR" dirty="0"/>
              <a:t>.</a:t>
            </a:r>
          </a:p>
        </p:txBody>
      </p:sp>
      <p:grpSp>
        <p:nvGrpSpPr>
          <p:cNvPr id="79" name="Group 6">
            <a:extLst>
              <a:ext uri="{FF2B5EF4-FFF2-40B4-BE49-F238E27FC236}">
                <a16:creationId xmlns:a16="http://schemas.microsoft.com/office/drawing/2014/main" id="{6B09627C-CE08-2478-8D23-3B4588E066AC}"/>
              </a:ext>
            </a:extLst>
          </p:cNvPr>
          <p:cNvGrpSpPr/>
          <p:nvPr/>
        </p:nvGrpSpPr>
        <p:grpSpPr>
          <a:xfrm>
            <a:off x="653454" y="2071496"/>
            <a:ext cx="4240583" cy="3792091"/>
            <a:chOff x="294226" y="2506925"/>
            <a:chExt cx="4240583" cy="3792091"/>
          </a:xfrm>
        </p:grpSpPr>
        <p:sp>
          <p:nvSpPr>
            <p:cNvPr id="80" name="Elipse 77">
              <a:extLst>
                <a:ext uri="{FF2B5EF4-FFF2-40B4-BE49-F238E27FC236}">
                  <a16:creationId xmlns:a16="http://schemas.microsoft.com/office/drawing/2014/main" id="{F5F1809D-2841-E5CA-EEDA-8F996F9FD6FA}"/>
                </a:ext>
              </a:extLst>
            </p:cNvPr>
            <p:cNvSpPr/>
            <p:nvPr/>
          </p:nvSpPr>
          <p:spPr>
            <a:xfrm>
              <a:off x="2492828" y="3402579"/>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1" name="Elipse 78">
              <a:extLst>
                <a:ext uri="{FF2B5EF4-FFF2-40B4-BE49-F238E27FC236}">
                  <a16:creationId xmlns:a16="http://schemas.microsoft.com/office/drawing/2014/main" id="{2E081C33-D4D8-6EB1-CD8C-A25537206201}"/>
                </a:ext>
              </a:extLst>
            </p:cNvPr>
            <p:cNvSpPr/>
            <p:nvPr/>
          </p:nvSpPr>
          <p:spPr>
            <a:xfrm>
              <a:off x="2492827" y="4121036"/>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2" name="Elipse 79">
              <a:extLst>
                <a:ext uri="{FF2B5EF4-FFF2-40B4-BE49-F238E27FC236}">
                  <a16:creationId xmlns:a16="http://schemas.microsoft.com/office/drawing/2014/main" id="{D382CEEE-C3D4-07FB-45D6-EFCAC3C9227D}"/>
                </a:ext>
              </a:extLst>
            </p:cNvPr>
            <p:cNvSpPr/>
            <p:nvPr/>
          </p:nvSpPr>
          <p:spPr>
            <a:xfrm>
              <a:off x="2492827" y="4839493"/>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3" name="Elipse 81">
              <a:extLst>
                <a:ext uri="{FF2B5EF4-FFF2-40B4-BE49-F238E27FC236}">
                  <a16:creationId xmlns:a16="http://schemas.microsoft.com/office/drawing/2014/main" id="{DC0C73A4-958C-C348-D218-FD95DBF65685}"/>
                </a:ext>
              </a:extLst>
            </p:cNvPr>
            <p:cNvSpPr/>
            <p:nvPr/>
          </p:nvSpPr>
          <p:spPr>
            <a:xfrm>
              <a:off x="3450770" y="3864817"/>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4" name="Elipse 82">
              <a:extLst>
                <a:ext uri="{FF2B5EF4-FFF2-40B4-BE49-F238E27FC236}">
                  <a16:creationId xmlns:a16="http://schemas.microsoft.com/office/drawing/2014/main" id="{55901D57-70DE-4725-3D03-FAB575F7348F}"/>
                </a:ext>
              </a:extLst>
            </p:cNvPr>
            <p:cNvSpPr/>
            <p:nvPr/>
          </p:nvSpPr>
          <p:spPr>
            <a:xfrm>
              <a:off x="3450769" y="4583274"/>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5" name="Elipse 83">
              <a:extLst>
                <a:ext uri="{FF2B5EF4-FFF2-40B4-BE49-F238E27FC236}">
                  <a16:creationId xmlns:a16="http://schemas.microsoft.com/office/drawing/2014/main" id="{07C898B5-EC5E-64BD-843C-12EC5C9EA388}"/>
                </a:ext>
              </a:extLst>
            </p:cNvPr>
            <p:cNvSpPr/>
            <p:nvPr/>
          </p:nvSpPr>
          <p:spPr>
            <a:xfrm>
              <a:off x="1534884" y="29299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6" name="Elipse 84">
              <a:extLst>
                <a:ext uri="{FF2B5EF4-FFF2-40B4-BE49-F238E27FC236}">
                  <a16:creationId xmlns:a16="http://schemas.microsoft.com/office/drawing/2014/main" id="{73EF8050-689A-F56D-39DC-19A8F7B3F314}"/>
                </a:ext>
              </a:extLst>
            </p:cNvPr>
            <p:cNvSpPr/>
            <p:nvPr/>
          </p:nvSpPr>
          <p:spPr>
            <a:xfrm>
              <a:off x="1534884" y="36856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7" name="Elipse 85">
              <a:extLst>
                <a:ext uri="{FF2B5EF4-FFF2-40B4-BE49-F238E27FC236}">
                  <a16:creationId xmlns:a16="http://schemas.microsoft.com/office/drawing/2014/main" id="{52EE33EA-ED9A-141A-28FB-9AEDDFFCD9BA}"/>
                </a:ext>
              </a:extLst>
            </p:cNvPr>
            <p:cNvSpPr/>
            <p:nvPr/>
          </p:nvSpPr>
          <p:spPr>
            <a:xfrm>
              <a:off x="1534884" y="44412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88" name="Conector de Seta Reta 86">
              <a:extLst>
                <a:ext uri="{FF2B5EF4-FFF2-40B4-BE49-F238E27FC236}">
                  <a16:creationId xmlns:a16="http://schemas.microsoft.com/office/drawing/2014/main" id="{C80C3ECA-7703-EA9E-2FA6-B601F3950B7C}"/>
                </a:ext>
              </a:extLst>
            </p:cNvPr>
            <p:cNvCxnSpPr>
              <a:cxnSpLocks/>
              <a:stCxn id="85" idx="6"/>
              <a:endCxn id="80" idx="2"/>
            </p:cNvCxnSpPr>
            <p:nvPr/>
          </p:nvCxnSpPr>
          <p:spPr>
            <a:xfrm>
              <a:off x="2100941" y="3212987"/>
              <a:ext cx="391887" cy="472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Conector de Seta Reta 87">
              <a:extLst>
                <a:ext uri="{FF2B5EF4-FFF2-40B4-BE49-F238E27FC236}">
                  <a16:creationId xmlns:a16="http://schemas.microsoft.com/office/drawing/2014/main" id="{0121DEA3-80D1-546A-A967-4D8E7A23AFFE}"/>
                </a:ext>
              </a:extLst>
            </p:cNvPr>
            <p:cNvCxnSpPr>
              <a:stCxn id="85" idx="6"/>
              <a:endCxn id="81" idx="2"/>
            </p:cNvCxnSpPr>
            <p:nvPr/>
          </p:nvCxnSpPr>
          <p:spPr>
            <a:xfrm>
              <a:off x="2100941" y="3212987"/>
              <a:ext cx="391886" cy="1191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Conector de Seta Reta 88">
              <a:extLst>
                <a:ext uri="{FF2B5EF4-FFF2-40B4-BE49-F238E27FC236}">
                  <a16:creationId xmlns:a16="http://schemas.microsoft.com/office/drawing/2014/main" id="{AA463781-F1A3-95A0-7035-EEB88CD7629C}"/>
                </a:ext>
              </a:extLst>
            </p:cNvPr>
            <p:cNvCxnSpPr>
              <a:stCxn id="85" idx="6"/>
              <a:endCxn id="82" idx="2"/>
            </p:cNvCxnSpPr>
            <p:nvPr/>
          </p:nvCxnSpPr>
          <p:spPr>
            <a:xfrm>
              <a:off x="2100941" y="3212987"/>
              <a:ext cx="391886" cy="1909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Conector de Seta Reta 90">
              <a:extLst>
                <a:ext uri="{FF2B5EF4-FFF2-40B4-BE49-F238E27FC236}">
                  <a16:creationId xmlns:a16="http://schemas.microsoft.com/office/drawing/2014/main" id="{16EC8692-F71A-1CAE-4F2E-7166B2FB25A4}"/>
                </a:ext>
              </a:extLst>
            </p:cNvPr>
            <p:cNvCxnSpPr>
              <a:cxnSpLocks/>
              <a:stCxn id="86" idx="6"/>
              <a:endCxn id="80" idx="2"/>
            </p:cNvCxnSpPr>
            <p:nvPr/>
          </p:nvCxnSpPr>
          <p:spPr>
            <a:xfrm flipV="1">
              <a:off x="2100941" y="3685608"/>
              <a:ext cx="391887" cy="283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Conector de Seta Reta 91">
              <a:extLst>
                <a:ext uri="{FF2B5EF4-FFF2-40B4-BE49-F238E27FC236}">
                  <a16:creationId xmlns:a16="http://schemas.microsoft.com/office/drawing/2014/main" id="{5F4C4EE0-A523-C167-CEC0-D8C11A7841F0}"/>
                </a:ext>
              </a:extLst>
            </p:cNvPr>
            <p:cNvCxnSpPr>
              <a:stCxn id="87" idx="6"/>
              <a:endCxn id="81" idx="2"/>
            </p:cNvCxnSpPr>
            <p:nvPr/>
          </p:nvCxnSpPr>
          <p:spPr>
            <a:xfrm flipV="1">
              <a:off x="2100941" y="4404065"/>
              <a:ext cx="391886" cy="320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ector de Seta Reta 92">
              <a:extLst>
                <a:ext uri="{FF2B5EF4-FFF2-40B4-BE49-F238E27FC236}">
                  <a16:creationId xmlns:a16="http://schemas.microsoft.com/office/drawing/2014/main" id="{0FCF106F-E873-2EC3-6488-BE7ACB6C9376}"/>
                </a:ext>
              </a:extLst>
            </p:cNvPr>
            <p:cNvCxnSpPr>
              <a:stCxn id="86" idx="6"/>
              <a:endCxn id="81" idx="2"/>
            </p:cNvCxnSpPr>
            <p:nvPr/>
          </p:nvCxnSpPr>
          <p:spPr>
            <a:xfrm>
              <a:off x="2100941" y="3968637"/>
              <a:ext cx="391886" cy="435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Conector de Seta Reta 93">
              <a:extLst>
                <a:ext uri="{FF2B5EF4-FFF2-40B4-BE49-F238E27FC236}">
                  <a16:creationId xmlns:a16="http://schemas.microsoft.com/office/drawing/2014/main" id="{2BEB790B-A599-815D-2CC8-C968853533C8}"/>
                </a:ext>
              </a:extLst>
            </p:cNvPr>
            <p:cNvCxnSpPr>
              <a:stCxn id="86" idx="6"/>
              <a:endCxn id="82" idx="2"/>
            </p:cNvCxnSpPr>
            <p:nvPr/>
          </p:nvCxnSpPr>
          <p:spPr>
            <a:xfrm>
              <a:off x="2100941" y="3968637"/>
              <a:ext cx="391886" cy="1153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ector de Seta Reta 96">
              <a:extLst>
                <a:ext uri="{FF2B5EF4-FFF2-40B4-BE49-F238E27FC236}">
                  <a16:creationId xmlns:a16="http://schemas.microsoft.com/office/drawing/2014/main" id="{4B118A1C-5EEE-42C1-6604-B621705EFD48}"/>
                </a:ext>
              </a:extLst>
            </p:cNvPr>
            <p:cNvCxnSpPr>
              <a:stCxn id="87" idx="6"/>
              <a:endCxn id="82" idx="2"/>
            </p:cNvCxnSpPr>
            <p:nvPr/>
          </p:nvCxnSpPr>
          <p:spPr>
            <a:xfrm>
              <a:off x="2100941" y="4724287"/>
              <a:ext cx="391886" cy="398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ector de Seta Reta 98">
              <a:extLst>
                <a:ext uri="{FF2B5EF4-FFF2-40B4-BE49-F238E27FC236}">
                  <a16:creationId xmlns:a16="http://schemas.microsoft.com/office/drawing/2014/main" id="{14AFF8CC-AC9F-2724-1E5A-810703AB52BA}"/>
                </a:ext>
              </a:extLst>
            </p:cNvPr>
            <p:cNvCxnSpPr>
              <a:stCxn id="80" idx="6"/>
              <a:endCxn id="83" idx="2"/>
            </p:cNvCxnSpPr>
            <p:nvPr/>
          </p:nvCxnSpPr>
          <p:spPr>
            <a:xfrm>
              <a:off x="3058885" y="3685608"/>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Conector de Seta Reta 99">
              <a:extLst>
                <a:ext uri="{FF2B5EF4-FFF2-40B4-BE49-F238E27FC236}">
                  <a16:creationId xmlns:a16="http://schemas.microsoft.com/office/drawing/2014/main" id="{722A8CBB-E96B-2043-D81B-DEF683B448BD}"/>
                </a:ext>
              </a:extLst>
            </p:cNvPr>
            <p:cNvCxnSpPr>
              <a:stCxn id="81" idx="6"/>
              <a:endCxn id="84" idx="2"/>
            </p:cNvCxnSpPr>
            <p:nvPr/>
          </p:nvCxnSpPr>
          <p:spPr>
            <a:xfrm>
              <a:off x="3058884" y="4404065"/>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Conector de Seta Reta 100">
              <a:extLst>
                <a:ext uri="{FF2B5EF4-FFF2-40B4-BE49-F238E27FC236}">
                  <a16:creationId xmlns:a16="http://schemas.microsoft.com/office/drawing/2014/main" id="{4638BD3F-20CA-7859-4DC1-F740B12B483B}"/>
                </a:ext>
              </a:extLst>
            </p:cNvPr>
            <p:cNvCxnSpPr>
              <a:stCxn id="82" idx="6"/>
              <a:endCxn id="84" idx="2"/>
            </p:cNvCxnSpPr>
            <p:nvPr/>
          </p:nvCxnSpPr>
          <p:spPr>
            <a:xfrm flipV="1">
              <a:off x="3058884" y="4866303"/>
              <a:ext cx="391885"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Conector de Seta Reta 102">
              <a:extLst>
                <a:ext uri="{FF2B5EF4-FFF2-40B4-BE49-F238E27FC236}">
                  <a16:creationId xmlns:a16="http://schemas.microsoft.com/office/drawing/2014/main" id="{6AA11E5C-AB54-CB2F-FE8F-FD2AF31F00DB}"/>
                </a:ext>
              </a:extLst>
            </p:cNvPr>
            <p:cNvCxnSpPr>
              <a:cxnSpLocks/>
              <a:stCxn id="80" idx="6"/>
              <a:endCxn id="84" idx="2"/>
            </p:cNvCxnSpPr>
            <p:nvPr/>
          </p:nvCxnSpPr>
          <p:spPr>
            <a:xfrm>
              <a:off x="3058885" y="3685608"/>
              <a:ext cx="391884" cy="1180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Conector de Seta Reta 103">
              <a:extLst>
                <a:ext uri="{FF2B5EF4-FFF2-40B4-BE49-F238E27FC236}">
                  <a16:creationId xmlns:a16="http://schemas.microsoft.com/office/drawing/2014/main" id="{A464DA56-0662-5E09-FA2E-331EB8345D19}"/>
                </a:ext>
              </a:extLst>
            </p:cNvPr>
            <p:cNvCxnSpPr>
              <a:stCxn id="81" idx="6"/>
              <a:endCxn id="83" idx="2"/>
            </p:cNvCxnSpPr>
            <p:nvPr/>
          </p:nvCxnSpPr>
          <p:spPr>
            <a:xfrm flipV="1">
              <a:off x="3058884" y="4147846"/>
              <a:ext cx="391886"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Conector de Seta Reta 104">
              <a:extLst>
                <a:ext uri="{FF2B5EF4-FFF2-40B4-BE49-F238E27FC236}">
                  <a16:creationId xmlns:a16="http://schemas.microsoft.com/office/drawing/2014/main" id="{9E679653-00C7-27F4-D4EA-FBF2473CACAF}"/>
                </a:ext>
              </a:extLst>
            </p:cNvPr>
            <p:cNvCxnSpPr>
              <a:stCxn id="82" idx="6"/>
              <a:endCxn id="83" idx="2"/>
            </p:cNvCxnSpPr>
            <p:nvPr/>
          </p:nvCxnSpPr>
          <p:spPr>
            <a:xfrm flipV="1">
              <a:off x="3058884" y="4147846"/>
              <a:ext cx="391886" cy="974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CaixaDeTexto 106">
              <a:extLst>
                <a:ext uri="{FF2B5EF4-FFF2-40B4-BE49-F238E27FC236}">
                  <a16:creationId xmlns:a16="http://schemas.microsoft.com/office/drawing/2014/main" id="{764E6DB6-CBA7-2EEF-79AA-24DF3E27D4A1}"/>
                </a:ext>
              </a:extLst>
            </p:cNvPr>
            <p:cNvSpPr txBox="1"/>
            <p:nvPr/>
          </p:nvSpPr>
          <p:spPr>
            <a:xfrm>
              <a:off x="3173179" y="3100768"/>
              <a:ext cx="1230086" cy="307777"/>
            </a:xfrm>
            <a:prstGeom prst="rect">
              <a:avLst/>
            </a:prstGeom>
            <a:noFill/>
          </p:spPr>
          <p:txBody>
            <a:bodyPr wrap="square" rtlCol="0">
              <a:spAutoFit/>
            </a:bodyPr>
            <a:lstStyle/>
            <a:p>
              <a:r>
                <a:rPr lang="pt-BR" sz="1400" dirty="0"/>
                <a:t>Neurônio</a:t>
              </a:r>
            </a:p>
          </p:txBody>
        </p:sp>
        <p:sp>
          <p:nvSpPr>
            <p:cNvPr id="103" name="Forma Livre: Forma 107">
              <a:extLst>
                <a:ext uri="{FF2B5EF4-FFF2-40B4-BE49-F238E27FC236}">
                  <a16:creationId xmlns:a16="http://schemas.microsoft.com/office/drawing/2014/main" id="{DD1E9FEF-720A-AB86-75BF-150C750000C5}"/>
                </a:ext>
              </a:extLst>
            </p:cNvPr>
            <p:cNvSpPr/>
            <p:nvPr/>
          </p:nvSpPr>
          <p:spPr>
            <a:xfrm>
              <a:off x="2786734" y="3216700"/>
              <a:ext cx="413657" cy="166042"/>
            </a:xfrm>
            <a:custGeom>
              <a:avLst/>
              <a:gdLst>
                <a:gd name="connsiteX0" fmla="*/ 0 w 413657"/>
                <a:gd name="connsiteY0" fmla="*/ 166042 h 166042"/>
                <a:gd name="connsiteX1" fmla="*/ 76200 w 413657"/>
                <a:gd name="connsiteY1" fmla="*/ 2756 h 166042"/>
                <a:gd name="connsiteX2" fmla="*/ 413657 w 413657"/>
                <a:gd name="connsiteY2" fmla="*/ 78956 h 166042"/>
              </a:gdLst>
              <a:ahLst/>
              <a:cxnLst>
                <a:cxn ang="0">
                  <a:pos x="connsiteX0" y="connsiteY0"/>
                </a:cxn>
                <a:cxn ang="0">
                  <a:pos x="connsiteX1" y="connsiteY1"/>
                </a:cxn>
                <a:cxn ang="0">
                  <a:pos x="connsiteX2" y="connsiteY2"/>
                </a:cxn>
              </a:cxnLst>
              <a:rect l="l" t="t" r="r" b="b"/>
              <a:pathLst>
                <a:path w="413657" h="166042">
                  <a:moveTo>
                    <a:pt x="0" y="166042"/>
                  </a:moveTo>
                  <a:cubicBezTo>
                    <a:pt x="3628" y="91656"/>
                    <a:pt x="7257" y="17270"/>
                    <a:pt x="76200" y="2756"/>
                  </a:cubicBezTo>
                  <a:cubicBezTo>
                    <a:pt x="145143" y="-11758"/>
                    <a:pt x="279400" y="33599"/>
                    <a:pt x="413657" y="7895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4" name="Conector reto 112">
              <a:extLst>
                <a:ext uri="{FF2B5EF4-FFF2-40B4-BE49-F238E27FC236}">
                  <a16:creationId xmlns:a16="http://schemas.microsoft.com/office/drawing/2014/main" id="{BD741CC3-12D0-AC90-3AB8-3EDC87740418}"/>
                </a:ext>
              </a:extLst>
            </p:cNvPr>
            <p:cNvCxnSpPr>
              <a:cxnSpLocks/>
              <a:stCxn id="140" idx="6"/>
              <a:endCxn id="86" idx="2"/>
            </p:cNvCxnSpPr>
            <p:nvPr/>
          </p:nvCxnSpPr>
          <p:spPr>
            <a:xfrm>
              <a:off x="944681" y="3219656"/>
              <a:ext cx="590203" cy="7489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5" name="Conector de Seta Reta 113">
              <a:extLst>
                <a:ext uri="{FF2B5EF4-FFF2-40B4-BE49-F238E27FC236}">
                  <a16:creationId xmlns:a16="http://schemas.microsoft.com/office/drawing/2014/main" id="{D9E7D66D-CCDF-CBE1-7285-BF0DEAEA5826}"/>
                </a:ext>
              </a:extLst>
            </p:cNvPr>
            <p:cNvCxnSpPr>
              <a:cxnSpLocks/>
              <a:stCxn id="83" idx="6"/>
              <a:endCxn id="107" idx="1"/>
            </p:cNvCxnSpPr>
            <p:nvPr/>
          </p:nvCxnSpPr>
          <p:spPr>
            <a:xfrm>
              <a:off x="4016827" y="4147846"/>
              <a:ext cx="251280" cy="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Conector de Seta Reta 114">
              <a:extLst>
                <a:ext uri="{FF2B5EF4-FFF2-40B4-BE49-F238E27FC236}">
                  <a16:creationId xmlns:a16="http://schemas.microsoft.com/office/drawing/2014/main" id="{43D75E58-76B7-39F6-EBAD-9332B0D528A1}"/>
                </a:ext>
              </a:extLst>
            </p:cNvPr>
            <p:cNvCxnSpPr>
              <a:cxnSpLocks/>
              <a:stCxn id="84" idx="6"/>
            </p:cNvCxnSpPr>
            <p:nvPr/>
          </p:nvCxnSpPr>
          <p:spPr>
            <a:xfrm>
              <a:off x="4016826" y="4866303"/>
              <a:ext cx="272141" cy="5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 name="CaixaDeTexto 5">
                  <a:extLst>
                    <a:ext uri="{FF2B5EF4-FFF2-40B4-BE49-F238E27FC236}">
                      <a16:creationId xmlns:a16="http://schemas.microsoft.com/office/drawing/2014/main" id="{7A17DA4B-6676-AEAC-180C-86E108D36FE9}"/>
                    </a:ext>
                  </a:extLst>
                </p:cNvPr>
                <p:cNvSpPr txBox="1"/>
                <p:nvPr/>
              </p:nvSpPr>
              <p:spPr>
                <a:xfrm>
                  <a:off x="4268107" y="3963524"/>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1</m:t>
                            </m:r>
                          </m:sub>
                        </m:sSub>
                      </m:oMath>
                    </m:oMathPara>
                  </a14:m>
                  <a:endParaRPr lang="pt-BR" dirty="0"/>
                </a:p>
              </p:txBody>
            </p:sp>
          </mc:Choice>
          <mc:Fallback xmlns="">
            <p:sp>
              <p:nvSpPr>
                <p:cNvPr id="35" name="CaixaDeTexto 5">
                  <a:extLst>
                    <a:ext uri="{FF2B5EF4-FFF2-40B4-BE49-F238E27FC236}">
                      <a16:creationId xmlns:a16="http://schemas.microsoft.com/office/drawing/2014/main" id="{7A17DA4B-6676-AEAC-180C-86E108D36FE9}"/>
                    </a:ext>
                  </a:extLst>
                </p:cNvPr>
                <p:cNvSpPr txBox="1">
                  <a:spLocks noRot="1" noChangeAspect="1" noMove="1" noResize="1" noEditPoints="1" noAdjustHandles="1" noChangeArrowheads="1" noChangeShapeType="1" noTextEdit="1"/>
                </p:cNvSpPr>
                <p:nvPr/>
              </p:nvSpPr>
              <p:spPr>
                <a:xfrm>
                  <a:off x="4268107" y="3963524"/>
                  <a:ext cx="266702" cy="369332"/>
                </a:xfrm>
                <a:prstGeom prst="rect">
                  <a:avLst/>
                </a:prstGeom>
                <a:blipFill>
                  <a:blip r:embed="rId3"/>
                  <a:stretch>
                    <a:fillRect t="-6667" r="-34091"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CaixaDeTexto 6">
                  <a:extLst>
                    <a:ext uri="{FF2B5EF4-FFF2-40B4-BE49-F238E27FC236}">
                      <a16:creationId xmlns:a16="http://schemas.microsoft.com/office/drawing/2014/main" id="{E6891195-705B-62D0-B92F-FFEF4CD6B810}"/>
                    </a:ext>
                  </a:extLst>
                </p:cNvPr>
                <p:cNvSpPr txBox="1"/>
                <p:nvPr/>
              </p:nvSpPr>
              <p:spPr>
                <a:xfrm>
                  <a:off x="4268107" y="4681637"/>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2</m:t>
                            </m:r>
                          </m:sub>
                        </m:sSub>
                      </m:oMath>
                    </m:oMathPara>
                  </a14:m>
                  <a:endParaRPr lang="pt-BR" dirty="0"/>
                </a:p>
              </p:txBody>
            </p:sp>
          </mc:Choice>
          <mc:Fallback xmlns="">
            <p:sp>
              <p:nvSpPr>
                <p:cNvPr id="36" name="CaixaDeTexto 6">
                  <a:extLst>
                    <a:ext uri="{FF2B5EF4-FFF2-40B4-BE49-F238E27FC236}">
                      <a16:creationId xmlns:a16="http://schemas.microsoft.com/office/drawing/2014/main" id="{E6891195-705B-62D0-B92F-FFEF4CD6B810}"/>
                    </a:ext>
                  </a:extLst>
                </p:cNvPr>
                <p:cNvSpPr txBox="1">
                  <a:spLocks noRot="1" noChangeAspect="1" noMove="1" noResize="1" noEditPoints="1" noAdjustHandles="1" noChangeArrowheads="1" noChangeShapeType="1" noTextEdit="1"/>
                </p:cNvSpPr>
                <p:nvPr/>
              </p:nvSpPr>
              <p:spPr>
                <a:xfrm>
                  <a:off x="4268107" y="4681637"/>
                  <a:ext cx="266702" cy="369332"/>
                </a:xfrm>
                <a:prstGeom prst="rect">
                  <a:avLst/>
                </a:prstGeom>
                <a:blipFill>
                  <a:blip r:embed="rId4"/>
                  <a:stretch>
                    <a:fillRect t="-6667" r="-36364" b="-6667"/>
                  </a:stretch>
                </a:blipFill>
              </p:spPr>
              <p:txBody>
                <a:bodyPr/>
                <a:lstStyle/>
                <a:p>
                  <a:r>
                    <a:rPr lang="en-US">
                      <a:noFill/>
                    </a:rPr>
                    <a:t> </a:t>
                  </a:r>
                </a:p>
              </p:txBody>
            </p:sp>
          </mc:Fallback>
        </mc:AlternateContent>
        <p:grpSp>
          <p:nvGrpSpPr>
            <p:cNvPr id="109" name="Group 36">
              <a:extLst>
                <a:ext uri="{FF2B5EF4-FFF2-40B4-BE49-F238E27FC236}">
                  <a16:creationId xmlns:a16="http://schemas.microsoft.com/office/drawing/2014/main" id="{A3EBE98D-567A-D327-162A-AB4974C1F0FD}"/>
                </a:ext>
              </a:extLst>
            </p:cNvPr>
            <p:cNvGrpSpPr/>
            <p:nvPr/>
          </p:nvGrpSpPr>
          <p:grpSpPr>
            <a:xfrm>
              <a:off x="607920" y="3007376"/>
              <a:ext cx="336761" cy="369332"/>
              <a:chOff x="922561" y="2974265"/>
              <a:chExt cx="336761" cy="369332"/>
            </a:xfrm>
          </p:grpSpPr>
          <mc:AlternateContent xmlns:mc="http://schemas.openxmlformats.org/markup-compatibility/2006" xmlns:a14="http://schemas.microsoft.com/office/drawing/2010/main">
            <mc:Choice Requires="a14">
              <p:sp>
                <p:nvSpPr>
                  <p:cNvPr id="139" name="CaixaDeTexto 115">
                    <a:extLst>
                      <a:ext uri="{FF2B5EF4-FFF2-40B4-BE49-F238E27FC236}">
                        <a16:creationId xmlns:a16="http://schemas.microsoft.com/office/drawing/2014/main" id="{34E17EFC-1E6C-E9DC-3EF8-F0EDD2321CAE}"/>
                      </a:ext>
                    </a:extLst>
                  </p:cNvPr>
                  <p:cNvSpPr txBox="1"/>
                  <p:nvPr/>
                </p:nvSpPr>
                <p:spPr>
                  <a:xfrm>
                    <a:off x="922561" y="2974265"/>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67" name="CaixaDeTexto 115">
                    <a:extLst>
                      <a:ext uri="{FF2B5EF4-FFF2-40B4-BE49-F238E27FC236}">
                        <a16:creationId xmlns:a16="http://schemas.microsoft.com/office/drawing/2014/main" id="{34E17EFC-1E6C-E9DC-3EF8-F0EDD2321CAE}"/>
                      </a:ext>
                    </a:extLst>
                  </p:cNvPr>
                  <p:cNvSpPr txBox="1">
                    <a:spLocks noRot="1" noChangeAspect="1" noMove="1" noResize="1" noEditPoints="1" noAdjustHandles="1" noChangeArrowheads="1" noChangeShapeType="1" noTextEdit="1"/>
                  </p:cNvSpPr>
                  <p:nvPr/>
                </p:nvSpPr>
                <p:spPr>
                  <a:xfrm>
                    <a:off x="922561" y="2974265"/>
                    <a:ext cx="266702" cy="369332"/>
                  </a:xfrm>
                  <a:prstGeom prst="rect">
                    <a:avLst/>
                  </a:prstGeom>
                  <a:blipFill>
                    <a:blip r:embed="rId5"/>
                    <a:stretch>
                      <a:fillRect r="-37209"/>
                    </a:stretch>
                  </a:blipFill>
                </p:spPr>
                <p:txBody>
                  <a:bodyPr/>
                  <a:lstStyle/>
                  <a:p>
                    <a:r>
                      <a:rPr lang="en-US">
                        <a:noFill/>
                      </a:rPr>
                      <a:t> </a:t>
                    </a:r>
                  </a:p>
                </p:txBody>
              </p:sp>
            </mc:Fallback>
          </mc:AlternateContent>
          <p:sp>
            <p:nvSpPr>
              <p:cNvPr id="140" name="Elipse 3">
                <a:extLst>
                  <a:ext uri="{FF2B5EF4-FFF2-40B4-BE49-F238E27FC236}">
                    <a16:creationId xmlns:a16="http://schemas.microsoft.com/office/drawing/2014/main" id="{5564EC9B-0785-9139-A99C-ADFABB14EEAA}"/>
                  </a:ext>
                </a:extLst>
              </p:cNvPr>
              <p:cNvSpPr/>
              <p:nvPr/>
            </p:nvSpPr>
            <p:spPr>
              <a:xfrm>
                <a:off x="971322" y="3042545"/>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10" name="Elipse 83">
              <a:extLst>
                <a:ext uri="{FF2B5EF4-FFF2-40B4-BE49-F238E27FC236}">
                  <a16:creationId xmlns:a16="http://schemas.microsoft.com/office/drawing/2014/main" id="{08E738CE-27F0-721E-0249-85DB03155688}"/>
                </a:ext>
              </a:extLst>
            </p:cNvPr>
            <p:cNvSpPr/>
            <p:nvPr/>
          </p:nvSpPr>
          <p:spPr>
            <a:xfrm>
              <a:off x="1529435" y="51969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111" name="Group 38">
              <a:extLst>
                <a:ext uri="{FF2B5EF4-FFF2-40B4-BE49-F238E27FC236}">
                  <a16:creationId xmlns:a16="http://schemas.microsoft.com/office/drawing/2014/main" id="{135830C3-E6FA-8E6B-B989-1D2F34C8196B}"/>
                </a:ext>
              </a:extLst>
            </p:cNvPr>
            <p:cNvGrpSpPr/>
            <p:nvPr/>
          </p:nvGrpSpPr>
          <p:grpSpPr>
            <a:xfrm>
              <a:off x="574549" y="5263520"/>
              <a:ext cx="349823" cy="369332"/>
              <a:chOff x="920926" y="4430876"/>
              <a:chExt cx="349823" cy="369332"/>
            </a:xfrm>
          </p:grpSpPr>
          <mc:AlternateContent xmlns:mc="http://schemas.openxmlformats.org/markup-compatibility/2006" xmlns:a14="http://schemas.microsoft.com/office/drawing/2010/main">
            <mc:Choice Requires="a14">
              <p:sp>
                <p:nvSpPr>
                  <p:cNvPr id="137" name="CaixaDeTexto 116">
                    <a:extLst>
                      <a:ext uri="{FF2B5EF4-FFF2-40B4-BE49-F238E27FC236}">
                        <a16:creationId xmlns:a16="http://schemas.microsoft.com/office/drawing/2014/main" id="{D45E09C3-0D9C-EB0F-E96E-599562D5693B}"/>
                      </a:ext>
                    </a:extLst>
                  </p:cNvPr>
                  <p:cNvSpPr txBox="1"/>
                  <p:nvPr/>
                </p:nvSpPr>
                <p:spPr>
                  <a:xfrm>
                    <a:off x="920926" y="4430876"/>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65" name="CaixaDeTexto 116">
                    <a:extLst>
                      <a:ext uri="{FF2B5EF4-FFF2-40B4-BE49-F238E27FC236}">
                        <a16:creationId xmlns:a16="http://schemas.microsoft.com/office/drawing/2014/main" id="{D45E09C3-0D9C-EB0F-E96E-599562D5693B}"/>
                      </a:ext>
                    </a:extLst>
                  </p:cNvPr>
                  <p:cNvSpPr txBox="1">
                    <a:spLocks noRot="1" noChangeAspect="1" noMove="1" noResize="1" noEditPoints="1" noAdjustHandles="1" noChangeArrowheads="1" noChangeShapeType="1" noTextEdit="1"/>
                  </p:cNvSpPr>
                  <p:nvPr/>
                </p:nvSpPr>
                <p:spPr>
                  <a:xfrm>
                    <a:off x="920926" y="4430876"/>
                    <a:ext cx="266702" cy="369332"/>
                  </a:xfrm>
                  <a:prstGeom prst="rect">
                    <a:avLst/>
                  </a:prstGeom>
                  <a:blipFill>
                    <a:blip r:embed="rId6"/>
                    <a:stretch>
                      <a:fillRect r="-36364"/>
                    </a:stretch>
                  </a:blipFill>
                </p:spPr>
                <p:txBody>
                  <a:bodyPr/>
                  <a:lstStyle/>
                  <a:p>
                    <a:r>
                      <a:rPr lang="en-US">
                        <a:noFill/>
                      </a:rPr>
                      <a:t> </a:t>
                    </a:r>
                  </a:p>
                </p:txBody>
              </p:sp>
            </mc:Fallback>
          </mc:AlternateContent>
          <p:sp>
            <p:nvSpPr>
              <p:cNvPr id="138" name="Elipse 4">
                <a:extLst>
                  <a:ext uri="{FF2B5EF4-FFF2-40B4-BE49-F238E27FC236}">
                    <a16:creationId xmlns:a16="http://schemas.microsoft.com/office/drawing/2014/main" id="{71301108-A60B-B5A1-DEAE-C5FBB5750EF0}"/>
                  </a:ext>
                </a:extLst>
              </p:cNvPr>
              <p:cNvSpPr/>
              <p:nvPr/>
            </p:nvSpPr>
            <p:spPr>
              <a:xfrm>
                <a:off x="982749" y="4504166"/>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cxnSp>
          <p:nvCxnSpPr>
            <p:cNvPr id="112" name="Conector reto 112">
              <a:extLst>
                <a:ext uri="{FF2B5EF4-FFF2-40B4-BE49-F238E27FC236}">
                  <a16:creationId xmlns:a16="http://schemas.microsoft.com/office/drawing/2014/main" id="{0544D7E7-4A93-384A-FE1D-EFB06E41452B}"/>
                </a:ext>
              </a:extLst>
            </p:cNvPr>
            <p:cNvCxnSpPr>
              <a:cxnSpLocks/>
              <a:stCxn id="140" idx="6"/>
              <a:endCxn id="85" idx="2"/>
            </p:cNvCxnSpPr>
            <p:nvPr/>
          </p:nvCxnSpPr>
          <p:spPr>
            <a:xfrm flipV="1">
              <a:off x="944681" y="3212987"/>
              <a:ext cx="590203" cy="6669"/>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3" name="Conector reto 112">
              <a:extLst>
                <a:ext uri="{FF2B5EF4-FFF2-40B4-BE49-F238E27FC236}">
                  <a16:creationId xmlns:a16="http://schemas.microsoft.com/office/drawing/2014/main" id="{E7829942-9F7A-456C-06E1-0FDA22EEA3ED}"/>
                </a:ext>
              </a:extLst>
            </p:cNvPr>
            <p:cNvCxnSpPr>
              <a:cxnSpLocks/>
              <a:stCxn id="140" idx="6"/>
              <a:endCxn id="87" idx="2"/>
            </p:cNvCxnSpPr>
            <p:nvPr/>
          </p:nvCxnSpPr>
          <p:spPr>
            <a:xfrm>
              <a:off x="944681" y="3219656"/>
              <a:ext cx="590203" cy="150463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Conector reto 112">
              <a:extLst>
                <a:ext uri="{FF2B5EF4-FFF2-40B4-BE49-F238E27FC236}">
                  <a16:creationId xmlns:a16="http://schemas.microsoft.com/office/drawing/2014/main" id="{A7EC2237-770A-1305-3024-6201BF73D4FC}"/>
                </a:ext>
              </a:extLst>
            </p:cNvPr>
            <p:cNvCxnSpPr>
              <a:cxnSpLocks/>
              <a:stCxn id="140" idx="6"/>
              <a:endCxn id="110" idx="2"/>
            </p:cNvCxnSpPr>
            <p:nvPr/>
          </p:nvCxnSpPr>
          <p:spPr>
            <a:xfrm>
              <a:off x="944681" y="3219656"/>
              <a:ext cx="584754" cy="22602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5" name="Conector reto 112">
              <a:extLst>
                <a:ext uri="{FF2B5EF4-FFF2-40B4-BE49-F238E27FC236}">
                  <a16:creationId xmlns:a16="http://schemas.microsoft.com/office/drawing/2014/main" id="{BBA0EB4A-F0B0-A468-81E9-098010FF982F}"/>
                </a:ext>
              </a:extLst>
            </p:cNvPr>
            <p:cNvCxnSpPr>
              <a:cxnSpLocks/>
              <a:stCxn id="138" idx="6"/>
              <a:endCxn id="110" idx="2"/>
            </p:cNvCxnSpPr>
            <p:nvPr/>
          </p:nvCxnSpPr>
          <p:spPr>
            <a:xfrm flipV="1">
              <a:off x="924372" y="5479937"/>
              <a:ext cx="605063" cy="8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6" name="Conector reto 112">
              <a:extLst>
                <a:ext uri="{FF2B5EF4-FFF2-40B4-BE49-F238E27FC236}">
                  <a16:creationId xmlns:a16="http://schemas.microsoft.com/office/drawing/2014/main" id="{04DADC82-8ACE-215F-1880-5E9CD709B3E3}"/>
                </a:ext>
              </a:extLst>
            </p:cNvPr>
            <p:cNvCxnSpPr>
              <a:cxnSpLocks/>
              <a:stCxn id="138" idx="6"/>
              <a:endCxn id="87" idx="2"/>
            </p:cNvCxnSpPr>
            <p:nvPr/>
          </p:nvCxnSpPr>
          <p:spPr>
            <a:xfrm flipV="1">
              <a:off x="924372" y="4724287"/>
              <a:ext cx="610512" cy="7565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7" name="Conector reto 112">
              <a:extLst>
                <a:ext uri="{FF2B5EF4-FFF2-40B4-BE49-F238E27FC236}">
                  <a16:creationId xmlns:a16="http://schemas.microsoft.com/office/drawing/2014/main" id="{30037EE4-118A-F493-8A4D-BEE627965FCF}"/>
                </a:ext>
              </a:extLst>
            </p:cNvPr>
            <p:cNvCxnSpPr>
              <a:cxnSpLocks/>
              <a:stCxn id="138" idx="6"/>
            </p:cNvCxnSpPr>
            <p:nvPr/>
          </p:nvCxnSpPr>
          <p:spPr>
            <a:xfrm flipV="1">
              <a:off x="924372" y="3968637"/>
              <a:ext cx="610512" cy="15121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Conector reto 112">
              <a:extLst>
                <a:ext uri="{FF2B5EF4-FFF2-40B4-BE49-F238E27FC236}">
                  <a16:creationId xmlns:a16="http://schemas.microsoft.com/office/drawing/2014/main" id="{E732B412-A9DC-6EB3-AFB4-60B2CA5371DE}"/>
                </a:ext>
              </a:extLst>
            </p:cNvPr>
            <p:cNvCxnSpPr>
              <a:cxnSpLocks/>
              <a:stCxn id="138" idx="6"/>
              <a:endCxn id="85" idx="2"/>
            </p:cNvCxnSpPr>
            <p:nvPr/>
          </p:nvCxnSpPr>
          <p:spPr>
            <a:xfrm flipV="1">
              <a:off x="924372" y="3212987"/>
              <a:ext cx="610512" cy="22678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9" name="Conector de Seta Reta 91">
              <a:extLst>
                <a:ext uri="{FF2B5EF4-FFF2-40B4-BE49-F238E27FC236}">
                  <a16:creationId xmlns:a16="http://schemas.microsoft.com/office/drawing/2014/main" id="{5353916E-3C7D-382C-B435-CE4998378741}"/>
                </a:ext>
              </a:extLst>
            </p:cNvPr>
            <p:cNvCxnSpPr>
              <a:cxnSpLocks/>
              <a:stCxn id="87" idx="6"/>
              <a:endCxn id="80" idx="2"/>
            </p:cNvCxnSpPr>
            <p:nvPr/>
          </p:nvCxnSpPr>
          <p:spPr>
            <a:xfrm flipV="1">
              <a:off x="2100941" y="3685608"/>
              <a:ext cx="391887" cy="1038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Conector de Seta Reta 91">
              <a:extLst>
                <a:ext uri="{FF2B5EF4-FFF2-40B4-BE49-F238E27FC236}">
                  <a16:creationId xmlns:a16="http://schemas.microsoft.com/office/drawing/2014/main" id="{8A04DE0D-CB52-9B8F-F044-F8EBA1903333}"/>
                </a:ext>
              </a:extLst>
            </p:cNvPr>
            <p:cNvCxnSpPr>
              <a:cxnSpLocks/>
              <a:stCxn id="110" idx="6"/>
              <a:endCxn id="80" idx="2"/>
            </p:cNvCxnSpPr>
            <p:nvPr/>
          </p:nvCxnSpPr>
          <p:spPr>
            <a:xfrm flipV="1">
              <a:off x="2095492" y="3685608"/>
              <a:ext cx="397336" cy="1794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Conector de Seta Reta 91">
              <a:extLst>
                <a:ext uri="{FF2B5EF4-FFF2-40B4-BE49-F238E27FC236}">
                  <a16:creationId xmlns:a16="http://schemas.microsoft.com/office/drawing/2014/main" id="{D7CDE263-B479-1BEE-EBDC-1E9D0936FDD6}"/>
                </a:ext>
              </a:extLst>
            </p:cNvPr>
            <p:cNvCxnSpPr>
              <a:cxnSpLocks/>
              <a:stCxn id="110" idx="6"/>
              <a:endCxn id="81" idx="2"/>
            </p:cNvCxnSpPr>
            <p:nvPr/>
          </p:nvCxnSpPr>
          <p:spPr>
            <a:xfrm flipV="1">
              <a:off x="2095492" y="4404065"/>
              <a:ext cx="397335" cy="1075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Conector de Seta Reta 91">
              <a:extLst>
                <a:ext uri="{FF2B5EF4-FFF2-40B4-BE49-F238E27FC236}">
                  <a16:creationId xmlns:a16="http://schemas.microsoft.com/office/drawing/2014/main" id="{8EEF35CA-096F-4E2A-14E6-F202F64CEDB4}"/>
                </a:ext>
              </a:extLst>
            </p:cNvPr>
            <p:cNvCxnSpPr>
              <a:cxnSpLocks/>
              <a:stCxn id="110" idx="6"/>
              <a:endCxn id="82" idx="2"/>
            </p:cNvCxnSpPr>
            <p:nvPr/>
          </p:nvCxnSpPr>
          <p:spPr>
            <a:xfrm flipV="1">
              <a:off x="2095492" y="5122522"/>
              <a:ext cx="397335" cy="357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3" name="TextBox 50">
                  <a:extLst>
                    <a:ext uri="{FF2B5EF4-FFF2-40B4-BE49-F238E27FC236}">
                      <a16:creationId xmlns:a16="http://schemas.microsoft.com/office/drawing/2014/main" id="{779066A9-0258-815A-A0AE-E0019C2A8D31}"/>
                    </a:ext>
                  </a:extLst>
                </p:cNvPr>
                <p:cNvSpPr txBox="1"/>
                <p:nvPr/>
              </p:nvSpPr>
              <p:spPr>
                <a:xfrm>
                  <a:off x="956041" y="2865008"/>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1" name="TextBox 50">
                  <a:extLst>
                    <a:ext uri="{FF2B5EF4-FFF2-40B4-BE49-F238E27FC236}">
                      <a16:creationId xmlns:a16="http://schemas.microsoft.com/office/drawing/2014/main" id="{779066A9-0258-815A-A0AE-E0019C2A8D31}"/>
                    </a:ext>
                  </a:extLst>
                </p:cNvPr>
                <p:cNvSpPr txBox="1">
                  <a:spLocks noRot="1" noChangeAspect="1" noMove="1" noResize="1" noEditPoints="1" noAdjustHandles="1" noChangeArrowheads="1" noChangeShapeType="1" noTextEdit="1"/>
                </p:cNvSpPr>
                <p:nvPr/>
              </p:nvSpPr>
              <p:spPr>
                <a:xfrm>
                  <a:off x="956041" y="2865008"/>
                  <a:ext cx="560538" cy="36131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51">
                  <a:extLst>
                    <a:ext uri="{FF2B5EF4-FFF2-40B4-BE49-F238E27FC236}">
                      <a16:creationId xmlns:a16="http://schemas.microsoft.com/office/drawing/2014/main" id="{6526DE0D-6B24-FBCC-62D0-4C5B3CAED736}"/>
                    </a:ext>
                  </a:extLst>
                </p:cNvPr>
                <p:cNvSpPr txBox="1"/>
                <p:nvPr/>
              </p:nvSpPr>
              <p:spPr>
                <a:xfrm rot="3068437">
                  <a:off x="1020572" y="321965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12</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2" name="TextBox 51">
                  <a:extLst>
                    <a:ext uri="{FF2B5EF4-FFF2-40B4-BE49-F238E27FC236}">
                      <a16:creationId xmlns:a16="http://schemas.microsoft.com/office/drawing/2014/main" id="{6526DE0D-6B24-FBCC-62D0-4C5B3CAED736}"/>
                    </a:ext>
                  </a:extLst>
                </p:cNvPr>
                <p:cNvSpPr txBox="1">
                  <a:spLocks noRot="1" noChangeAspect="1" noMove="1" noResize="1" noEditPoints="1" noAdjustHandles="1" noChangeArrowheads="1" noChangeShapeType="1" noTextEdit="1"/>
                </p:cNvSpPr>
                <p:nvPr/>
              </p:nvSpPr>
              <p:spPr>
                <a:xfrm rot="3068437">
                  <a:off x="1020572" y="3219653"/>
                  <a:ext cx="560538" cy="36131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52">
                  <a:extLst>
                    <a:ext uri="{FF2B5EF4-FFF2-40B4-BE49-F238E27FC236}">
                      <a16:creationId xmlns:a16="http://schemas.microsoft.com/office/drawing/2014/main" id="{827751F1-7CDF-48E5-8639-DB5D7B0E0172}"/>
                    </a:ext>
                  </a:extLst>
                </p:cNvPr>
                <p:cNvSpPr txBox="1"/>
                <p:nvPr/>
              </p:nvSpPr>
              <p:spPr>
                <a:xfrm>
                  <a:off x="933548" y="5486606"/>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24</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3" name="TextBox 52">
                  <a:extLst>
                    <a:ext uri="{FF2B5EF4-FFF2-40B4-BE49-F238E27FC236}">
                      <a16:creationId xmlns:a16="http://schemas.microsoft.com/office/drawing/2014/main" id="{827751F1-7CDF-48E5-8639-DB5D7B0E0172}"/>
                    </a:ext>
                  </a:extLst>
                </p:cNvPr>
                <p:cNvSpPr txBox="1">
                  <a:spLocks noRot="1" noChangeAspect="1" noMove="1" noResize="1" noEditPoints="1" noAdjustHandles="1" noChangeArrowheads="1" noChangeShapeType="1" noTextEdit="1"/>
                </p:cNvSpPr>
                <p:nvPr/>
              </p:nvSpPr>
              <p:spPr>
                <a:xfrm>
                  <a:off x="933548" y="5486606"/>
                  <a:ext cx="560538" cy="36131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53">
                  <a:extLst>
                    <a:ext uri="{FF2B5EF4-FFF2-40B4-BE49-F238E27FC236}">
                      <a16:creationId xmlns:a16="http://schemas.microsoft.com/office/drawing/2014/main" id="{70DB8FD4-B455-A51F-928D-B4EA8F8FADDE}"/>
                    </a:ext>
                  </a:extLst>
                </p:cNvPr>
                <p:cNvSpPr txBox="1"/>
                <p:nvPr/>
              </p:nvSpPr>
              <p:spPr>
                <a:xfrm rot="17131605">
                  <a:off x="594353" y="4756061"/>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4" name="TextBox 53">
                  <a:extLst>
                    <a:ext uri="{FF2B5EF4-FFF2-40B4-BE49-F238E27FC236}">
                      <a16:creationId xmlns:a16="http://schemas.microsoft.com/office/drawing/2014/main" id="{70DB8FD4-B455-A51F-928D-B4EA8F8FADDE}"/>
                    </a:ext>
                  </a:extLst>
                </p:cNvPr>
                <p:cNvSpPr txBox="1">
                  <a:spLocks noRot="1" noChangeAspect="1" noMove="1" noResize="1" noEditPoints="1" noAdjustHandles="1" noChangeArrowheads="1" noChangeShapeType="1" noTextEdit="1"/>
                </p:cNvSpPr>
                <p:nvPr/>
              </p:nvSpPr>
              <p:spPr>
                <a:xfrm rot="17131605">
                  <a:off x="594353" y="4756061"/>
                  <a:ext cx="560538" cy="36131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54">
                  <a:extLst>
                    <a:ext uri="{FF2B5EF4-FFF2-40B4-BE49-F238E27FC236}">
                      <a16:creationId xmlns:a16="http://schemas.microsoft.com/office/drawing/2014/main" id="{4A3568B0-96EF-778B-A434-0929E90F7E9B}"/>
                    </a:ext>
                  </a:extLst>
                </p:cNvPr>
                <p:cNvSpPr txBox="1"/>
                <p:nvPr/>
              </p:nvSpPr>
              <p:spPr>
                <a:xfrm rot="2964551">
                  <a:off x="2132495" y="313219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5" name="TextBox 54">
                  <a:extLst>
                    <a:ext uri="{FF2B5EF4-FFF2-40B4-BE49-F238E27FC236}">
                      <a16:creationId xmlns:a16="http://schemas.microsoft.com/office/drawing/2014/main" id="{4A3568B0-96EF-778B-A434-0929E90F7E9B}"/>
                    </a:ext>
                  </a:extLst>
                </p:cNvPr>
                <p:cNvSpPr txBox="1">
                  <a:spLocks noRot="1" noChangeAspect="1" noMove="1" noResize="1" noEditPoints="1" noAdjustHandles="1" noChangeArrowheads="1" noChangeShapeType="1" noTextEdit="1"/>
                </p:cNvSpPr>
                <p:nvPr/>
              </p:nvSpPr>
              <p:spPr>
                <a:xfrm rot="2964551">
                  <a:off x="2132495" y="3132193"/>
                  <a:ext cx="560538" cy="36131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55">
                  <a:extLst>
                    <a:ext uri="{FF2B5EF4-FFF2-40B4-BE49-F238E27FC236}">
                      <a16:creationId xmlns:a16="http://schemas.microsoft.com/office/drawing/2014/main" id="{57567919-B196-0B24-CD82-93E0B7C1BBD7}"/>
                    </a:ext>
                  </a:extLst>
                </p:cNvPr>
                <p:cNvSpPr txBox="1"/>
                <p:nvPr/>
              </p:nvSpPr>
              <p:spPr>
                <a:xfrm rot="19021513">
                  <a:off x="2088094" y="5274650"/>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43</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6" name="TextBox 55">
                  <a:extLst>
                    <a:ext uri="{FF2B5EF4-FFF2-40B4-BE49-F238E27FC236}">
                      <a16:creationId xmlns:a16="http://schemas.microsoft.com/office/drawing/2014/main" id="{57567919-B196-0B24-CD82-93E0B7C1BBD7}"/>
                    </a:ext>
                  </a:extLst>
                </p:cNvPr>
                <p:cNvSpPr txBox="1">
                  <a:spLocks noRot="1" noChangeAspect="1" noMove="1" noResize="1" noEditPoints="1" noAdjustHandles="1" noChangeArrowheads="1" noChangeShapeType="1" noTextEdit="1"/>
                </p:cNvSpPr>
                <p:nvPr/>
              </p:nvSpPr>
              <p:spPr>
                <a:xfrm rot="19021513">
                  <a:off x="2088094" y="5274650"/>
                  <a:ext cx="560538" cy="36131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9" name="TextBox 56">
                  <a:extLst>
                    <a:ext uri="{FF2B5EF4-FFF2-40B4-BE49-F238E27FC236}">
                      <a16:creationId xmlns:a16="http://schemas.microsoft.com/office/drawing/2014/main" id="{BF6ADB11-0E9B-ADD4-FD7D-EEEE76EEF107}"/>
                    </a:ext>
                  </a:extLst>
                </p:cNvPr>
                <p:cNvSpPr txBox="1"/>
                <p:nvPr/>
              </p:nvSpPr>
              <p:spPr>
                <a:xfrm rot="2893059">
                  <a:off x="3107452" y="3604952"/>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7" name="TextBox 56">
                  <a:extLst>
                    <a:ext uri="{FF2B5EF4-FFF2-40B4-BE49-F238E27FC236}">
                      <a16:creationId xmlns:a16="http://schemas.microsoft.com/office/drawing/2014/main" id="{BF6ADB11-0E9B-ADD4-FD7D-EEEE76EEF107}"/>
                    </a:ext>
                  </a:extLst>
                </p:cNvPr>
                <p:cNvSpPr txBox="1">
                  <a:spLocks noRot="1" noChangeAspect="1" noMove="1" noResize="1" noEditPoints="1" noAdjustHandles="1" noChangeArrowheads="1" noChangeShapeType="1" noTextEdit="1"/>
                </p:cNvSpPr>
                <p:nvPr/>
              </p:nvSpPr>
              <p:spPr>
                <a:xfrm rot="2893059">
                  <a:off x="3107452" y="3604952"/>
                  <a:ext cx="560538" cy="362663"/>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0" name="TextBox 57">
                  <a:extLst>
                    <a:ext uri="{FF2B5EF4-FFF2-40B4-BE49-F238E27FC236}">
                      <a16:creationId xmlns:a16="http://schemas.microsoft.com/office/drawing/2014/main" id="{85B3A9EC-E88D-6D5E-A620-7E60AC42AC29}"/>
                    </a:ext>
                  </a:extLst>
                </p:cNvPr>
                <p:cNvSpPr txBox="1"/>
                <p:nvPr/>
              </p:nvSpPr>
              <p:spPr>
                <a:xfrm rot="19852769">
                  <a:off x="3044859" y="4967999"/>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32</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8" name="TextBox 57">
                  <a:extLst>
                    <a:ext uri="{FF2B5EF4-FFF2-40B4-BE49-F238E27FC236}">
                      <a16:creationId xmlns:a16="http://schemas.microsoft.com/office/drawing/2014/main" id="{85B3A9EC-E88D-6D5E-A620-7E60AC42AC29}"/>
                    </a:ext>
                  </a:extLst>
                </p:cNvPr>
                <p:cNvSpPr txBox="1">
                  <a:spLocks noRot="1" noChangeAspect="1" noMove="1" noResize="1" noEditPoints="1" noAdjustHandles="1" noChangeArrowheads="1" noChangeShapeType="1" noTextEdit="1"/>
                </p:cNvSpPr>
                <p:nvPr/>
              </p:nvSpPr>
              <p:spPr>
                <a:xfrm rot="19852769">
                  <a:off x="3044859" y="4967999"/>
                  <a:ext cx="560538" cy="362663"/>
                </a:xfrm>
                <a:prstGeom prst="rect">
                  <a:avLst/>
                </a:prstGeom>
                <a:blipFill>
                  <a:blip r:embed="rId14"/>
                  <a:stretch>
                    <a:fillRect/>
                  </a:stretch>
                </a:blipFill>
              </p:spPr>
              <p:txBody>
                <a:bodyPr/>
                <a:lstStyle/>
                <a:p>
                  <a:r>
                    <a:rPr lang="en-US">
                      <a:noFill/>
                    </a:rPr>
                    <a:t> </a:t>
                  </a:r>
                </a:p>
              </p:txBody>
            </p:sp>
          </mc:Fallback>
        </mc:AlternateContent>
        <p:sp>
          <p:nvSpPr>
            <p:cNvPr id="131" name="CaixaDeTexto 106">
              <a:extLst>
                <a:ext uri="{FF2B5EF4-FFF2-40B4-BE49-F238E27FC236}">
                  <a16:creationId xmlns:a16="http://schemas.microsoft.com/office/drawing/2014/main" id="{97457574-0476-8F51-2E38-000A84393BB5}"/>
                </a:ext>
              </a:extLst>
            </p:cNvPr>
            <p:cNvSpPr txBox="1"/>
            <p:nvPr/>
          </p:nvSpPr>
          <p:spPr>
            <a:xfrm>
              <a:off x="1300841" y="2506925"/>
              <a:ext cx="1796143" cy="307777"/>
            </a:xfrm>
            <a:prstGeom prst="rect">
              <a:avLst/>
            </a:prstGeom>
            <a:noFill/>
          </p:spPr>
          <p:txBody>
            <a:bodyPr wrap="square" rtlCol="0">
              <a:spAutoFit/>
            </a:bodyPr>
            <a:lstStyle/>
            <a:p>
              <a:r>
                <a:rPr lang="pt-BR" sz="1400" dirty="0"/>
                <a:t>Peso sináptico</a:t>
              </a:r>
            </a:p>
          </p:txBody>
        </p:sp>
        <p:sp>
          <p:nvSpPr>
            <p:cNvPr id="132" name="Freeform: Shape 59">
              <a:extLst>
                <a:ext uri="{FF2B5EF4-FFF2-40B4-BE49-F238E27FC236}">
                  <a16:creationId xmlns:a16="http://schemas.microsoft.com/office/drawing/2014/main" id="{914BB7D8-BDC1-980A-A3C5-2414B32FFC25}"/>
                </a:ext>
              </a:extLst>
            </p:cNvPr>
            <p:cNvSpPr/>
            <p:nvPr/>
          </p:nvSpPr>
          <p:spPr>
            <a:xfrm>
              <a:off x="1164771" y="2656114"/>
              <a:ext cx="206829" cy="250372"/>
            </a:xfrm>
            <a:custGeom>
              <a:avLst/>
              <a:gdLst>
                <a:gd name="csX0" fmla="*/ 0 w 206829"/>
                <a:gd name="csY0" fmla="*/ 250372 h 250372"/>
                <a:gd name="csX1" fmla="*/ 54429 w 206829"/>
                <a:gd name="csY1" fmla="*/ 108857 h 250372"/>
                <a:gd name="csX2" fmla="*/ 206829 w 206829"/>
                <a:gd name="csY2" fmla="*/ 0 h 250372"/>
              </a:gdLst>
              <a:ahLst/>
              <a:cxnLst>
                <a:cxn ang="0">
                  <a:pos x="csX0" y="csY0"/>
                </a:cxn>
                <a:cxn ang="0">
                  <a:pos x="csX1" y="csY1"/>
                </a:cxn>
                <a:cxn ang="0">
                  <a:pos x="csX2" y="csY2"/>
                </a:cxn>
              </a:cxnLst>
              <a:rect l="l" t="t" r="r" b="b"/>
              <a:pathLst>
                <a:path w="206829" h="250372">
                  <a:moveTo>
                    <a:pt x="0" y="250372"/>
                  </a:moveTo>
                  <a:cubicBezTo>
                    <a:pt x="9979" y="200479"/>
                    <a:pt x="19958" y="150586"/>
                    <a:pt x="54429" y="108857"/>
                  </a:cubicBezTo>
                  <a:cubicBezTo>
                    <a:pt x="88901" y="67128"/>
                    <a:pt x="147865" y="33564"/>
                    <a:pt x="206829"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CaixaDeTexto 32">
              <a:extLst>
                <a:ext uri="{FF2B5EF4-FFF2-40B4-BE49-F238E27FC236}">
                  <a16:creationId xmlns:a16="http://schemas.microsoft.com/office/drawing/2014/main" id="{CCF73238-5C8F-EF65-3EE9-5987486D9DD1}"/>
                </a:ext>
              </a:extLst>
            </p:cNvPr>
            <p:cNvSpPr txBox="1"/>
            <p:nvPr/>
          </p:nvSpPr>
          <p:spPr>
            <a:xfrm>
              <a:off x="294226" y="5713408"/>
              <a:ext cx="868135" cy="461665"/>
            </a:xfrm>
            <a:prstGeom prst="rect">
              <a:avLst/>
            </a:prstGeom>
            <a:noFill/>
          </p:spPr>
          <p:txBody>
            <a:bodyPr wrap="square" rtlCol="0">
              <a:spAutoFit/>
            </a:bodyPr>
            <a:lstStyle/>
            <a:p>
              <a:pPr algn="ctr"/>
              <a:r>
                <a:rPr lang="pt-BR" sz="1200" dirty="0"/>
                <a:t>Camada de entrada</a:t>
              </a:r>
            </a:p>
          </p:txBody>
        </p:sp>
        <p:sp>
          <p:nvSpPr>
            <p:cNvPr id="134" name="CaixaDeTexto 34">
              <a:extLst>
                <a:ext uri="{FF2B5EF4-FFF2-40B4-BE49-F238E27FC236}">
                  <a16:creationId xmlns:a16="http://schemas.microsoft.com/office/drawing/2014/main" id="{1447EAE3-BBCA-353C-85B0-8168ED864A04}"/>
                </a:ext>
              </a:extLst>
            </p:cNvPr>
            <p:cNvSpPr txBox="1"/>
            <p:nvPr/>
          </p:nvSpPr>
          <p:spPr>
            <a:xfrm>
              <a:off x="1357989" y="5837351"/>
              <a:ext cx="868135" cy="461665"/>
            </a:xfrm>
            <a:prstGeom prst="rect">
              <a:avLst/>
            </a:prstGeom>
            <a:noFill/>
          </p:spPr>
          <p:txBody>
            <a:bodyPr wrap="square" rtlCol="0">
              <a:spAutoFit/>
            </a:bodyPr>
            <a:lstStyle/>
            <a:p>
              <a:pPr algn="ctr"/>
              <a:r>
                <a:rPr lang="pt-BR" sz="1200" dirty="0"/>
                <a:t>Camada oculta #1</a:t>
              </a:r>
            </a:p>
          </p:txBody>
        </p:sp>
        <p:sp>
          <p:nvSpPr>
            <p:cNvPr id="135" name="CaixaDeTexto 40">
              <a:extLst>
                <a:ext uri="{FF2B5EF4-FFF2-40B4-BE49-F238E27FC236}">
                  <a16:creationId xmlns:a16="http://schemas.microsoft.com/office/drawing/2014/main" id="{443237A2-7B33-55AE-AA4A-0E673846D76C}"/>
                </a:ext>
              </a:extLst>
            </p:cNvPr>
            <p:cNvSpPr txBox="1"/>
            <p:nvPr/>
          </p:nvSpPr>
          <p:spPr>
            <a:xfrm>
              <a:off x="2352673" y="5450646"/>
              <a:ext cx="868135" cy="461665"/>
            </a:xfrm>
            <a:prstGeom prst="rect">
              <a:avLst/>
            </a:prstGeom>
            <a:noFill/>
          </p:spPr>
          <p:txBody>
            <a:bodyPr wrap="square" rtlCol="0">
              <a:spAutoFit/>
            </a:bodyPr>
            <a:lstStyle/>
            <a:p>
              <a:pPr algn="ctr"/>
              <a:r>
                <a:rPr lang="pt-BR" sz="1200" dirty="0"/>
                <a:t>Camada oculta #2</a:t>
              </a:r>
            </a:p>
          </p:txBody>
        </p:sp>
        <p:sp>
          <p:nvSpPr>
            <p:cNvPr id="136" name="CaixaDeTexto 36">
              <a:extLst>
                <a:ext uri="{FF2B5EF4-FFF2-40B4-BE49-F238E27FC236}">
                  <a16:creationId xmlns:a16="http://schemas.microsoft.com/office/drawing/2014/main" id="{C7DBA98F-A5F5-21D6-7C7D-6FD9F5CCFFA2}"/>
                </a:ext>
              </a:extLst>
            </p:cNvPr>
            <p:cNvSpPr txBox="1"/>
            <p:nvPr/>
          </p:nvSpPr>
          <p:spPr>
            <a:xfrm>
              <a:off x="3314688" y="5239989"/>
              <a:ext cx="868135" cy="461665"/>
            </a:xfrm>
            <a:prstGeom prst="rect">
              <a:avLst/>
            </a:prstGeom>
            <a:noFill/>
          </p:spPr>
          <p:txBody>
            <a:bodyPr wrap="square" rtlCol="0">
              <a:spAutoFit/>
            </a:bodyPr>
            <a:lstStyle/>
            <a:p>
              <a:pPr algn="ctr"/>
              <a:r>
                <a:rPr lang="pt-BR" sz="1200" dirty="0"/>
                <a:t>Camada de saída</a:t>
              </a:r>
            </a:p>
          </p:txBody>
        </p:sp>
      </p:grpSp>
    </p:spTree>
    <p:extLst>
      <p:ext uri="{BB962C8B-B14F-4D97-AF65-F5344CB8AC3E}">
        <p14:creationId xmlns:p14="http://schemas.microsoft.com/office/powerpoint/2010/main" val="3985238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63291-5187-4AD0-557A-BBF4FF2325D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9713AF0-DF7F-AFF7-FD2C-075A9C9C819E}"/>
              </a:ext>
            </a:extLst>
          </p:cNvPr>
          <p:cNvSpPr>
            <a:spLocks noGrp="1"/>
          </p:cNvSpPr>
          <p:nvPr>
            <p:ph type="title"/>
          </p:nvPr>
        </p:nvSpPr>
        <p:spPr/>
        <p:txBody>
          <a:bodyPr/>
          <a:lstStyle/>
          <a:p>
            <a:r>
              <a:rPr lang="pt-BR" dirty="0"/>
              <a:t>Redes neurais artificiais</a:t>
            </a:r>
            <a:endParaRPr lang="pt-BR" i="1" dirty="0"/>
          </a:p>
        </p:txBody>
      </p:sp>
      <p:sp>
        <p:nvSpPr>
          <p:cNvPr id="3" name="Espaço Reservado para Conteúdo 2">
            <a:extLst>
              <a:ext uri="{FF2B5EF4-FFF2-40B4-BE49-F238E27FC236}">
                <a16:creationId xmlns:a16="http://schemas.microsoft.com/office/drawing/2014/main" id="{7942C362-2B1D-8B61-38ED-253B029C4E7F}"/>
              </a:ext>
            </a:extLst>
          </p:cNvPr>
          <p:cNvSpPr>
            <a:spLocks noGrp="1"/>
          </p:cNvSpPr>
          <p:nvPr>
            <p:ph idx="1"/>
          </p:nvPr>
        </p:nvSpPr>
        <p:spPr>
          <a:xfrm>
            <a:off x="5715000" y="1825625"/>
            <a:ext cx="6476999" cy="5032375"/>
          </a:xfrm>
        </p:spPr>
        <p:txBody>
          <a:bodyPr>
            <a:normAutofit/>
          </a:bodyPr>
          <a:lstStyle/>
          <a:p>
            <a:r>
              <a:rPr lang="pt-BR" dirty="0"/>
              <a:t>A ideia é que as </a:t>
            </a:r>
            <a:r>
              <a:rPr lang="pt-BR" b="1" dirty="0">
                <a:solidFill>
                  <a:srgbClr val="00B050"/>
                </a:solidFill>
              </a:rPr>
              <a:t>representações</a:t>
            </a:r>
            <a:r>
              <a:rPr lang="pt-BR" dirty="0"/>
              <a:t> sejam construídas </a:t>
            </a:r>
            <a:r>
              <a:rPr lang="pt-BR" b="1" dirty="0">
                <a:solidFill>
                  <a:srgbClr val="7030A0"/>
                </a:solidFill>
              </a:rPr>
              <a:t>hierarquicamente</a:t>
            </a:r>
            <a:r>
              <a:rPr lang="pt-BR" dirty="0"/>
              <a:t>: </a:t>
            </a:r>
          </a:p>
          <a:p>
            <a:pPr lvl="1">
              <a:buFont typeface="Wingdings" panose="05000000000000000000" pitchFamily="2" charset="2"/>
              <a:buChar char="§"/>
            </a:pPr>
            <a:r>
              <a:rPr lang="pt-BR" dirty="0"/>
              <a:t>camadas iniciais detectam padrões mais básicos, </a:t>
            </a:r>
          </a:p>
          <a:p>
            <a:pPr lvl="1">
              <a:buFont typeface="Wingdings" panose="05000000000000000000" pitchFamily="2" charset="2"/>
              <a:buChar char="§"/>
            </a:pPr>
            <a:r>
              <a:rPr lang="pt-BR" dirty="0"/>
              <a:t>enquanto camadas posteriores combinam esses padrões em estruturas progressivamente mais complexas.</a:t>
            </a:r>
          </a:p>
          <a:p>
            <a:r>
              <a:rPr lang="pt-BR" dirty="0"/>
              <a:t>O primeiro tipo de rede neural proposto foi o </a:t>
            </a:r>
            <a:r>
              <a:rPr lang="pt-BR" b="1" dirty="0">
                <a:solidFill>
                  <a:srgbClr val="00B050"/>
                </a:solidFill>
              </a:rPr>
              <a:t>perceptron de múltiplas camadas</a:t>
            </a:r>
            <a:r>
              <a:rPr lang="pt-BR" dirty="0"/>
              <a:t> (do inglês, </a:t>
            </a:r>
            <a:r>
              <a:rPr lang="pt-BR" i="1" dirty="0"/>
              <a:t>Multilayer Perceptron</a:t>
            </a:r>
            <a:r>
              <a:rPr lang="pt-BR" dirty="0"/>
              <a:t> - MLP).</a:t>
            </a:r>
          </a:p>
          <a:p>
            <a:pPr lvl="1">
              <a:buFont typeface="Wingdings" panose="05000000000000000000" pitchFamily="2" charset="2"/>
              <a:buChar char="§"/>
            </a:pPr>
            <a:r>
              <a:rPr lang="pt-BR" dirty="0"/>
              <a:t>Rede proposta em 1958 por </a:t>
            </a:r>
            <a:r>
              <a:rPr lang="en-US" dirty="0"/>
              <a:t>Frank Rosenblatt.</a:t>
            </a:r>
            <a:endParaRPr lang="pt-BR" dirty="0"/>
          </a:p>
        </p:txBody>
      </p:sp>
      <p:grpSp>
        <p:nvGrpSpPr>
          <p:cNvPr id="69" name="Grupo 68"/>
          <p:cNvGrpSpPr/>
          <p:nvPr/>
        </p:nvGrpSpPr>
        <p:grpSpPr>
          <a:xfrm>
            <a:off x="604596" y="1825625"/>
            <a:ext cx="5108836" cy="4524192"/>
            <a:chOff x="653454" y="2071496"/>
            <a:chExt cx="5108836" cy="4524192"/>
          </a:xfrm>
        </p:grpSpPr>
        <p:grpSp>
          <p:nvGrpSpPr>
            <p:cNvPr id="70" name="Group 6">
              <a:extLst>
                <a:ext uri="{FF2B5EF4-FFF2-40B4-BE49-F238E27FC236}">
                  <a16:creationId xmlns:a16="http://schemas.microsoft.com/office/drawing/2014/main" id="{6B09627C-CE08-2478-8D23-3B4588E066AC}"/>
                </a:ext>
              </a:extLst>
            </p:cNvPr>
            <p:cNvGrpSpPr/>
            <p:nvPr/>
          </p:nvGrpSpPr>
          <p:grpSpPr>
            <a:xfrm>
              <a:off x="653454" y="2071496"/>
              <a:ext cx="4240583" cy="3792091"/>
              <a:chOff x="294226" y="2506925"/>
              <a:chExt cx="4240583" cy="3792091"/>
            </a:xfrm>
          </p:grpSpPr>
          <p:sp>
            <p:nvSpPr>
              <p:cNvPr id="80" name="Elipse 77">
                <a:extLst>
                  <a:ext uri="{FF2B5EF4-FFF2-40B4-BE49-F238E27FC236}">
                    <a16:creationId xmlns:a16="http://schemas.microsoft.com/office/drawing/2014/main" id="{F5F1809D-2841-E5CA-EEDA-8F996F9FD6FA}"/>
                  </a:ext>
                </a:extLst>
              </p:cNvPr>
              <p:cNvSpPr/>
              <p:nvPr/>
            </p:nvSpPr>
            <p:spPr>
              <a:xfrm>
                <a:off x="2492828" y="3402579"/>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1" name="Elipse 78">
                <a:extLst>
                  <a:ext uri="{FF2B5EF4-FFF2-40B4-BE49-F238E27FC236}">
                    <a16:creationId xmlns:a16="http://schemas.microsoft.com/office/drawing/2014/main" id="{2E081C33-D4D8-6EB1-CD8C-A25537206201}"/>
                  </a:ext>
                </a:extLst>
              </p:cNvPr>
              <p:cNvSpPr/>
              <p:nvPr/>
            </p:nvSpPr>
            <p:spPr>
              <a:xfrm>
                <a:off x="2492827" y="4121036"/>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2" name="Elipse 79">
                <a:extLst>
                  <a:ext uri="{FF2B5EF4-FFF2-40B4-BE49-F238E27FC236}">
                    <a16:creationId xmlns:a16="http://schemas.microsoft.com/office/drawing/2014/main" id="{D382CEEE-C3D4-07FB-45D6-EFCAC3C9227D}"/>
                  </a:ext>
                </a:extLst>
              </p:cNvPr>
              <p:cNvSpPr/>
              <p:nvPr/>
            </p:nvSpPr>
            <p:spPr>
              <a:xfrm>
                <a:off x="2492827" y="4839493"/>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3" name="Elipse 81">
                <a:extLst>
                  <a:ext uri="{FF2B5EF4-FFF2-40B4-BE49-F238E27FC236}">
                    <a16:creationId xmlns:a16="http://schemas.microsoft.com/office/drawing/2014/main" id="{DC0C73A4-958C-C348-D218-FD95DBF65685}"/>
                  </a:ext>
                </a:extLst>
              </p:cNvPr>
              <p:cNvSpPr/>
              <p:nvPr/>
            </p:nvSpPr>
            <p:spPr>
              <a:xfrm>
                <a:off x="3450770" y="3864817"/>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4" name="Elipse 82">
                <a:extLst>
                  <a:ext uri="{FF2B5EF4-FFF2-40B4-BE49-F238E27FC236}">
                    <a16:creationId xmlns:a16="http://schemas.microsoft.com/office/drawing/2014/main" id="{55901D57-70DE-4725-3D03-FAB575F7348F}"/>
                  </a:ext>
                </a:extLst>
              </p:cNvPr>
              <p:cNvSpPr/>
              <p:nvPr/>
            </p:nvSpPr>
            <p:spPr>
              <a:xfrm>
                <a:off x="3450769" y="4583274"/>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5" name="Elipse 83">
                <a:extLst>
                  <a:ext uri="{FF2B5EF4-FFF2-40B4-BE49-F238E27FC236}">
                    <a16:creationId xmlns:a16="http://schemas.microsoft.com/office/drawing/2014/main" id="{07C898B5-EC5E-64BD-843C-12EC5C9EA388}"/>
                  </a:ext>
                </a:extLst>
              </p:cNvPr>
              <p:cNvSpPr/>
              <p:nvPr/>
            </p:nvSpPr>
            <p:spPr>
              <a:xfrm>
                <a:off x="1534884" y="29299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6" name="Elipse 84">
                <a:extLst>
                  <a:ext uri="{FF2B5EF4-FFF2-40B4-BE49-F238E27FC236}">
                    <a16:creationId xmlns:a16="http://schemas.microsoft.com/office/drawing/2014/main" id="{73EF8050-689A-F56D-39DC-19A8F7B3F314}"/>
                  </a:ext>
                </a:extLst>
              </p:cNvPr>
              <p:cNvSpPr/>
              <p:nvPr/>
            </p:nvSpPr>
            <p:spPr>
              <a:xfrm>
                <a:off x="1534884" y="36856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7" name="Elipse 85">
                <a:extLst>
                  <a:ext uri="{FF2B5EF4-FFF2-40B4-BE49-F238E27FC236}">
                    <a16:creationId xmlns:a16="http://schemas.microsoft.com/office/drawing/2014/main" id="{52EE33EA-ED9A-141A-28FB-9AEDDFFCD9BA}"/>
                  </a:ext>
                </a:extLst>
              </p:cNvPr>
              <p:cNvSpPr/>
              <p:nvPr/>
            </p:nvSpPr>
            <p:spPr>
              <a:xfrm>
                <a:off x="1534884" y="44412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88" name="Conector de Seta Reta 86">
                <a:extLst>
                  <a:ext uri="{FF2B5EF4-FFF2-40B4-BE49-F238E27FC236}">
                    <a16:creationId xmlns:a16="http://schemas.microsoft.com/office/drawing/2014/main" id="{C80C3ECA-7703-EA9E-2FA6-B601F3950B7C}"/>
                  </a:ext>
                </a:extLst>
              </p:cNvPr>
              <p:cNvCxnSpPr>
                <a:cxnSpLocks/>
                <a:stCxn id="85" idx="6"/>
                <a:endCxn id="80" idx="2"/>
              </p:cNvCxnSpPr>
              <p:nvPr/>
            </p:nvCxnSpPr>
            <p:spPr>
              <a:xfrm>
                <a:off x="2100941" y="3212987"/>
                <a:ext cx="391887" cy="472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Conector de Seta Reta 87">
                <a:extLst>
                  <a:ext uri="{FF2B5EF4-FFF2-40B4-BE49-F238E27FC236}">
                    <a16:creationId xmlns:a16="http://schemas.microsoft.com/office/drawing/2014/main" id="{0121DEA3-80D1-546A-A967-4D8E7A23AFFE}"/>
                  </a:ext>
                </a:extLst>
              </p:cNvPr>
              <p:cNvCxnSpPr>
                <a:stCxn id="85" idx="6"/>
                <a:endCxn id="81" idx="2"/>
              </p:cNvCxnSpPr>
              <p:nvPr/>
            </p:nvCxnSpPr>
            <p:spPr>
              <a:xfrm>
                <a:off x="2100941" y="3212987"/>
                <a:ext cx="391886" cy="1191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Conector de Seta Reta 88">
                <a:extLst>
                  <a:ext uri="{FF2B5EF4-FFF2-40B4-BE49-F238E27FC236}">
                    <a16:creationId xmlns:a16="http://schemas.microsoft.com/office/drawing/2014/main" id="{AA463781-F1A3-95A0-7035-EEB88CD7629C}"/>
                  </a:ext>
                </a:extLst>
              </p:cNvPr>
              <p:cNvCxnSpPr>
                <a:stCxn id="85" idx="6"/>
                <a:endCxn id="82" idx="2"/>
              </p:cNvCxnSpPr>
              <p:nvPr/>
            </p:nvCxnSpPr>
            <p:spPr>
              <a:xfrm>
                <a:off x="2100941" y="3212987"/>
                <a:ext cx="391886" cy="1909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Conector de Seta Reta 90">
                <a:extLst>
                  <a:ext uri="{FF2B5EF4-FFF2-40B4-BE49-F238E27FC236}">
                    <a16:creationId xmlns:a16="http://schemas.microsoft.com/office/drawing/2014/main" id="{16EC8692-F71A-1CAE-4F2E-7166B2FB25A4}"/>
                  </a:ext>
                </a:extLst>
              </p:cNvPr>
              <p:cNvCxnSpPr>
                <a:cxnSpLocks/>
                <a:stCxn id="86" idx="6"/>
                <a:endCxn id="80" idx="2"/>
              </p:cNvCxnSpPr>
              <p:nvPr/>
            </p:nvCxnSpPr>
            <p:spPr>
              <a:xfrm flipV="1">
                <a:off x="2100941" y="3685608"/>
                <a:ext cx="391887" cy="283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Conector de Seta Reta 91">
                <a:extLst>
                  <a:ext uri="{FF2B5EF4-FFF2-40B4-BE49-F238E27FC236}">
                    <a16:creationId xmlns:a16="http://schemas.microsoft.com/office/drawing/2014/main" id="{5F4C4EE0-A523-C167-CEC0-D8C11A7841F0}"/>
                  </a:ext>
                </a:extLst>
              </p:cNvPr>
              <p:cNvCxnSpPr>
                <a:stCxn id="87" idx="6"/>
                <a:endCxn id="81" idx="2"/>
              </p:cNvCxnSpPr>
              <p:nvPr/>
            </p:nvCxnSpPr>
            <p:spPr>
              <a:xfrm flipV="1">
                <a:off x="2100941" y="4404065"/>
                <a:ext cx="391886" cy="320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ector de Seta Reta 92">
                <a:extLst>
                  <a:ext uri="{FF2B5EF4-FFF2-40B4-BE49-F238E27FC236}">
                    <a16:creationId xmlns:a16="http://schemas.microsoft.com/office/drawing/2014/main" id="{0FCF106F-E873-2EC3-6488-BE7ACB6C9376}"/>
                  </a:ext>
                </a:extLst>
              </p:cNvPr>
              <p:cNvCxnSpPr>
                <a:stCxn id="86" idx="6"/>
                <a:endCxn id="81" idx="2"/>
              </p:cNvCxnSpPr>
              <p:nvPr/>
            </p:nvCxnSpPr>
            <p:spPr>
              <a:xfrm>
                <a:off x="2100941" y="3968637"/>
                <a:ext cx="391886" cy="435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Conector de Seta Reta 93">
                <a:extLst>
                  <a:ext uri="{FF2B5EF4-FFF2-40B4-BE49-F238E27FC236}">
                    <a16:creationId xmlns:a16="http://schemas.microsoft.com/office/drawing/2014/main" id="{2BEB790B-A599-815D-2CC8-C968853533C8}"/>
                  </a:ext>
                </a:extLst>
              </p:cNvPr>
              <p:cNvCxnSpPr>
                <a:stCxn id="86" idx="6"/>
                <a:endCxn id="82" idx="2"/>
              </p:cNvCxnSpPr>
              <p:nvPr/>
            </p:nvCxnSpPr>
            <p:spPr>
              <a:xfrm>
                <a:off x="2100941" y="3968637"/>
                <a:ext cx="391886" cy="1153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ector de Seta Reta 96">
                <a:extLst>
                  <a:ext uri="{FF2B5EF4-FFF2-40B4-BE49-F238E27FC236}">
                    <a16:creationId xmlns:a16="http://schemas.microsoft.com/office/drawing/2014/main" id="{4B118A1C-5EEE-42C1-6604-B621705EFD48}"/>
                  </a:ext>
                </a:extLst>
              </p:cNvPr>
              <p:cNvCxnSpPr>
                <a:stCxn id="87" idx="6"/>
                <a:endCxn id="82" idx="2"/>
              </p:cNvCxnSpPr>
              <p:nvPr/>
            </p:nvCxnSpPr>
            <p:spPr>
              <a:xfrm>
                <a:off x="2100941" y="4724287"/>
                <a:ext cx="391886" cy="398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ector de Seta Reta 98">
                <a:extLst>
                  <a:ext uri="{FF2B5EF4-FFF2-40B4-BE49-F238E27FC236}">
                    <a16:creationId xmlns:a16="http://schemas.microsoft.com/office/drawing/2014/main" id="{14AFF8CC-AC9F-2724-1E5A-810703AB52BA}"/>
                  </a:ext>
                </a:extLst>
              </p:cNvPr>
              <p:cNvCxnSpPr>
                <a:stCxn id="80" idx="6"/>
                <a:endCxn id="83" idx="2"/>
              </p:cNvCxnSpPr>
              <p:nvPr/>
            </p:nvCxnSpPr>
            <p:spPr>
              <a:xfrm>
                <a:off x="3058885" y="3685608"/>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Conector de Seta Reta 99">
                <a:extLst>
                  <a:ext uri="{FF2B5EF4-FFF2-40B4-BE49-F238E27FC236}">
                    <a16:creationId xmlns:a16="http://schemas.microsoft.com/office/drawing/2014/main" id="{722A8CBB-E96B-2043-D81B-DEF683B448BD}"/>
                  </a:ext>
                </a:extLst>
              </p:cNvPr>
              <p:cNvCxnSpPr>
                <a:stCxn id="81" idx="6"/>
                <a:endCxn id="84" idx="2"/>
              </p:cNvCxnSpPr>
              <p:nvPr/>
            </p:nvCxnSpPr>
            <p:spPr>
              <a:xfrm>
                <a:off x="3058884" y="4404065"/>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Conector de Seta Reta 100">
                <a:extLst>
                  <a:ext uri="{FF2B5EF4-FFF2-40B4-BE49-F238E27FC236}">
                    <a16:creationId xmlns:a16="http://schemas.microsoft.com/office/drawing/2014/main" id="{4638BD3F-20CA-7859-4DC1-F740B12B483B}"/>
                  </a:ext>
                </a:extLst>
              </p:cNvPr>
              <p:cNvCxnSpPr>
                <a:stCxn id="82" idx="6"/>
                <a:endCxn id="84" idx="2"/>
              </p:cNvCxnSpPr>
              <p:nvPr/>
            </p:nvCxnSpPr>
            <p:spPr>
              <a:xfrm flipV="1">
                <a:off x="3058884" y="4866303"/>
                <a:ext cx="391885"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Conector de Seta Reta 102">
                <a:extLst>
                  <a:ext uri="{FF2B5EF4-FFF2-40B4-BE49-F238E27FC236}">
                    <a16:creationId xmlns:a16="http://schemas.microsoft.com/office/drawing/2014/main" id="{6AA11E5C-AB54-CB2F-FE8F-FD2AF31F00DB}"/>
                  </a:ext>
                </a:extLst>
              </p:cNvPr>
              <p:cNvCxnSpPr>
                <a:cxnSpLocks/>
                <a:stCxn id="80" idx="6"/>
                <a:endCxn id="84" idx="2"/>
              </p:cNvCxnSpPr>
              <p:nvPr/>
            </p:nvCxnSpPr>
            <p:spPr>
              <a:xfrm>
                <a:off x="3058885" y="3685608"/>
                <a:ext cx="391884" cy="1180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Conector de Seta Reta 103">
                <a:extLst>
                  <a:ext uri="{FF2B5EF4-FFF2-40B4-BE49-F238E27FC236}">
                    <a16:creationId xmlns:a16="http://schemas.microsoft.com/office/drawing/2014/main" id="{A464DA56-0662-5E09-FA2E-331EB8345D19}"/>
                  </a:ext>
                </a:extLst>
              </p:cNvPr>
              <p:cNvCxnSpPr>
                <a:stCxn id="81" idx="6"/>
                <a:endCxn id="83" idx="2"/>
              </p:cNvCxnSpPr>
              <p:nvPr/>
            </p:nvCxnSpPr>
            <p:spPr>
              <a:xfrm flipV="1">
                <a:off x="3058884" y="4147846"/>
                <a:ext cx="391886"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Conector de Seta Reta 104">
                <a:extLst>
                  <a:ext uri="{FF2B5EF4-FFF2-40B4-BE49-F238E27FC236}">
                    <a16:creationId xmlns:a16="http://schemas.microsoft.com/office/drawing/2014/main" id="{9E679653-00C7-27F4-D4EA-FBF2473CACAF}"/>
                  </a:ext>
                </a:extLst>
              </p:cNvPr>
              <p:cNvCxnSpPr>
                <a:stCxn id="82" idx="6"/>
                <a:endCxn id="83" idx="2"/>
              </p:cNvCxnSpPr>
              <p:nvPr/>
            </p:nvCxnSpPr>
            <p:spPr>
              <a:xfrm flipV="1">
                <a:off x="3058884" y="4147846"/>
                <a:ext cx="391886" cy="974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CaixaDeTexto 106">
                <a:extLst>
                  <a:ext uri="{FF2B5EF4-FFF2-40B4-BE49-F238E27FC236}">
                    <a16:creationId xmlns:a16="http://schemas.microsoft.com/office/drawing/2014/main" id="{764E6DB6-CBA7-2EEF-79AA-24DF3E27D4A1}"/>
                  </a:ext>
                </a:extLst>
              </p:cNvPr>
              <p:cNvSpPr txBox="1"/>
              <p:nvPr/>
            </p:nvSpPr>
            <p:spPr>
              <a:xfrm>
                <a:off x="3173179" y="3100768"/>
                <a:ext cx="1230086" cy="307777"/>
              </a:xfrm>
              <a:prstGeom prst="rect">
                <a:avLst/>
              </a:prstGeom>
              <a:noFill/>
            </p:spPr>
            <p:txBody>
              <a:bodyPr wrap="square" rtlCol="0">
                <a:spAutoFit/>
              </a:bodyPr>
              <a:lstStyle/>
              <a:p>
                <a:r>
                  <a:rPr lang="pt-BR" sz="1400" dirty="0"/>
                  <a:t>Neurônio</a:t>
                </a:r>
              </a:p>
            </p:txBody>
          </p:sp>
          <p:sp>
            <p:nvSpPr>
              <p:cNvPr id="103" name="Forma Livre: Forma 107">
                <a:extLst>
                  <a:ext uri="{FF2B5EF4-FFF2-40B4-BE49-F238E27FC236}">
                    <a16:creationId xmlns:a16="http://schemas.microsoft.com/office/drawing/2014/main" id="{DD1E9FEF-720A-AB86-75BF-150C750000C5}"/>
                  </a:ext>
                </a:extLst>
              </p:cNvPr>
              <p:cNvSpPr/>
              <p:nvPr/>
            </p:nvSpPr>
            <p:spPr>
              <a:xfrm>
                <a:off x="2786734" y="3216700"/>
                <a:ext cx="413657" cy="166042"/>
              </a:xfrm>
              <a:custGeom>
                <a:avLst/>
                <a:gdLst>
                  <a:gd name="connsiteX0" fmla="*/ 0 w 413657"/>
                  <a:gd name="connsiteY0" fmla="*/ 166042 h 166042"/>
                  <a:gd name="connsiteX1" fmla="*/ 76200 w 413657"/>
                  <a:gd name="connsiteY1" fmla="*/ 2756 h 166042"/>
                  <a:gd name="connsiteX2" fmla="*/ 413657 w 413657"/>
                  <a:gd name="connsiteY2" fmla="*/ 78956 h 166042"/>
                </a:gdLst>
                <a:ahLst/>
                <a:cxnLst>
                  <a:cxn ang="0">
                    <a:pos x="connsiteX0" y="connsiteY0"/>
                  </a:cxn>
                  <a:cxn ang="0">
                    <a:pos x="connsiteX1" y="connsiteY1"/>
                  </a:cxn>
                  <a:cxn ang="0">
                    <a:pos x="connsiteX2" y="connsiteY2"/>
                  </a:cxn>
                </a:cxnLst>
                <a:rect l="l" t="t" r="r" b="b"/>
                <a:pathLst>
                  <a:path w="413657" h="166042">
                    <a:moveTo>
                      <a:pt x="0" y="166042"/>
                    </a:moveTo>
                    <a:cubicBezTo>
                      <a:pt x="3628" y="91656"/>
                      <a:pt x="7257" y="17270"/>
                      <a:pt x="76200" y="2756"/>
                    </a:cubicBezTo>
                    <a:cubicBezTo>
                      <a:pt x="145143" y="-11758"/>
                      <a:pt x="279400" y="33599"/>
                      <a:pt x="413657" y="7895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4" name="Conector reto 112">
                <a:extLst>
                  <a:ext uri="{FF2B5EF4-FFF2-40B4-BE49-F238E27FC236}">
                    <a16:creationId xmlns:a16="http://schemas.microsoft.com/office/drawing/2014/main" id="{BD741CC3-12D0-AC90-3AB8-3EDC87740418}"/>
                  </a:ext>
                </a:extLst>
              </p:cNvPr>
              <p:cNvCxnSpPr>
                <a:cxnSpLocks/>
                <a:stCxn id="140" idx="6"/>
                <a:endCxn id="86" idx="2"/>
              </p:cNvCxnSpPr>
              <p:nvPr/>
            </p:nvCxnSpPr>
            <p:spPr>
              <a:xfrm>
                <a:off x="944681" y="3219656"/>
                <a:ext cx="590203" cy="7489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5" name="Conector de Seta Reta 113">
                <a:extLst>
                  <a:ext uri="{FF2B5EF4-FFF2-40B4-BE49-F238E27FC236}">
                    <a16:creationId xmlns:a16="http://schemas.microsoft.com/office/drawing/2014/main" id="{D9E7D66D-CCDF-CBE1-7285-BF0DEAEA5826}"/>
                  </a:ext>
                </a:extLst>
              </p:cNvPr>
              <p:cNvCxnSpPr>
                <a:cxnSpLocks/>
                <a:stCxn id="83" idx="6"/>
                <a:endCxn id="107" idx="1"/>
              </p:cNvCxnSpPr>
              <p:nvPr/>
            </p:nvCxnSpPr>
            <p:spPr>
              <a:xfrm>
                <a:off x="4016827" y="4147846"/>
                <a:ext cx="251280" cy="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Conector de Seta Reta 114">
                <a:extLst>
                  <a:ext uri="{FF2B5EF4-FFF2-40B4-BE49-F238E27FC236}">
                    <a16:creationId xmlns:a16="http://schemas.microsoft.com/office/drawing/2014/main" id="{43D75E58-76B7-39F6-EBAD-9332B0D528A1}"/>
                  </a:ext>
                </a:extLst>
              </p:cNvPr>
              <p:cNvCxnSpPr>
                <a:cxnSpLocks/>
                <a:stCxn id="84" idx="6"/>
              </p:cNvCxnSpPr>
              <p:nvPr/>
            </p:nvCxnSpPr>
            <p:spPr>
              <a:xfrm>
                <a:off x="4016826" y="4866303"/>
                <a:ext cx="272141" cy="5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 name="CaixaDeTexto 5">
                    <a:extLst>
                      <a:ext uri="{FF2B5EF4-FFF2-40B4-BE49-F238E27FC236}">
                        <a16:creationId xmlns:a16="http://schemas.microsoft.com/office/drawing/2014/main" id="{7A17DA4B-6676-AEAC-180C-86E108D36FE9}"/>
                      </a:ext>
                    </a:extLst>
                  </p:cNvPr>
                  <p:cNvSpPr txBox="1"/>
                  <p:nvPr/>
                </p:nvSpPr>
                <p:spPr>
                  <a:xfrm>
                    <a:off x="4268107" y="3963524"/>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1</m:t>
                              </m:r>
                            </m:sub>
                          </m:sSub>
                        </m:oMath>
                      </m:oMathPara>
                    </a14:m>
                    <a:endParaRPr lang="pt-BR" dirty="0"/>
                  </a:p>
                </p:txBody>
              </p:sp>
            </mc:Choice>
            <mc:Fallback xmlns="">
              <p:sp>
                <p:nvSpPr>
                  <p:cNvPr id="35" name="CaixaDeTexto 5">
                    <a:extLst>
                      <a:ext uri="{FF2B5EF4-FFF2-40B4-BE49-F238E27FC236}">
                        <a16:creationId xmlns:a16="http://schemas.microsoft.com/office/drawing/2014/main" id="{7A17DA4B-6676-AEAC-180C-86E108D36FE9}"/>
                      </a:ext>
                    </a:extLst>
                  </p:cNvPr>
                  <p:cNvSpPr txBox="1">
                    <a:spLocks noRot="1" noChangeAspect="1" noMove="1" noResize="1" noEditPoints="1" noAdjustHandles="1" noChangeArrowheads="1" noChangeShapeType="1" noTextEdit="1"/>
                  </p:cNvSpPr>
                  <p:nvPr/>
                </p:nvSpPr>
                <p:spPr>
                  <a:xfrm>
                    <a:off x="4268107" y="3963524"/>
                    <a:ext cx="266702" cy="369332"/>
                  </a:xfrm>
                  <a:prstGeom prst="rect">
                    <a:avLst/>
                  </a:prstGeom>
                  <a:blipFill>
                    <a:blip r:embed="rId3"/>
                    <a:stretch>
                      <a:fillRect t="-6667" r="-34091"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CaixaDeTexto 6">
                    <a:extLst>
                      <a:ext uri="{FF2B5EF4-FFF2-40B4-BE49-F238E27FC236}">
                        <a16:creationId xmlns:a16="http://schemas.microsoft.com/office/drawing/2014/main" id="{E6891195-705B-62D0-B92F-FFEF4CD6B810}"/>
                      </a:ext>
                    </a:extLst>
                  </p:cNvPr>
                  <p:cNvSpPr txBox="1"/>
                  <p:nvPr/>
                </p:nvSpPr>
                <p:spPr>
                  <a:xfrm>
                    <a:off x="4268107" y="4681637"/>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2</m:t>
                              </m:r>
                            </m:sub>
                          </m:sSub>
                        </m:oMath>
                      </m:oMathPara>
                    </a14:m>
                    <a:endParaRPr lang="pt-BR" dirty="0"/>
                  </a:p>
                </p:txBody>
              </p:sp>
            </mc:Choice>
            <mc:Fallback xmlns="">
              <p:sp>
                <p:nvSpPr>
                  <p:cNvPr id="36" name="CaixaDeTexto 6">
                    <a:extLst>
                      <a:ext uri="{FF2B5EF4-FFF2-40B4-BE49-F238E27FC236}">
                        <a16:creationId xmlns:a16="http://schemas.microsoft.com/office/drawing/2014/main" id="{E6891195-705B-62D0-B92F-FFEF4CD6B810}"/>
                      </a:ext>
                    </a:extLst>
                  </p:cNvPr>
                  <p:cNvSpPr txBox="1">
                    <a:spLocks noRot="1" noChangeAspect="1" noMove="1" noResize="1" noEditPoints="1" noAdjustHandles="1" noChangeArrowheads="1" noChangeShapeType="1" noTextEdit="1"/>
                  </p:cNvSpPr>
                  <p:nvPr/>
                </p:nvSpPr>
                <p:spPr>
                  <a:xfrm>
                    <a:off x="4268107" y="4681637"/>
                    <a:ext cx="266702" cy="369332"/>
                  </a:xfrm>
                  <a:prstGeom prst="rect">
                    <a:avLst/>
                  </a:prstGeom>
                  <a:blipFill>
                    <a:blip r:embed="rId4"/>
                    <a:stretch>
                      <a:fillRect t="-6667" r="-36364" b="-6667"/>
                    </a:stretch>
                  </a:blipFill>
                </p:spPr>
                <p:txBody>
                  <a:bodyPr/>
                  <a:lstStyle/>
                  <a:p>
                    <a:r>
                      <a:rPr lang="en-US">
                        <a:noFill/>
                      </a:rPr>
                      <a:t> </a:t>
                    </a:r>
                  </a:p>
                </p:txBody>
              </p:sp>
            </mc:Fallback>
          </mc:AlternateContent>
          <p:grpSp>
            <p:nvGrpSpPr>
              <p:cNvPr id="109" name="Group 36">
                <a:extLst>
                  <a:ext uri="{FF2B5EF4-FFF2-40B4-BE49-F238E27FC236}">
                    <a16:creationId xmlns:a16="http://schemas.microsoft.com/office/drawing/2014/main" id="{A3EBE98D-567A-D327-162A-AB4974C1F0FD}"/>
                  </a:ext>
                </a:extLst>
              </p:cNvPr>
              <p:cNvGrpSpPr/>
              <p:nvPr/>
            </p:nvGrpSpPr>
            <p:grpSpPr>
              <a:xfrm>
                <a:off x="607920" y="3007376"/>
                <a:ext cx="336761" cy="369332"/>
                <a:chOff x="922561" y="2974265"/>
                <a:chExt cx="336761" cy="369332"/>
              </a:xfrm>
            </p:grpSpPr>
            <mc:AlternateContent xmlns:mc="http://schemas.openxmlformats.org/markup-compatibility/2006" xmlns:a14="http://schemas.microsoft.com/office/drawing/2010/main">
              <mc:Choice Requires="a14">
                <p:sp>
                  <p:nvSpPr>
                    <p:cNvPr id="139" name="CaixaDeTexto 115">
                      <a:extLst>
                        <a:ext uri="{FF2B5EF4-FFF2-40B4-BE49-F238E27FC236}">
                          <a16:creationId xmlns:a16="http://schemas.microsoft.com/office/drawing/2014/main" id="{34E17EFC-1E6C-E9DC-3EF8-F0EDD2321CAE}"/>
                        </a:ext>
                      </a:extLst>
                    </p:cNvPr>
                    <p:cNvSpPr txBox="1"/>
                    <p:nvPr/>
                  </p:nvSpPr>
                  <p:spPr>
                    <a:xfrm>
                      <a:off x="922561" y="2974265"/>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67" name="CaixaDeTexto 115">
                      <a:extLst>
                        <a:ext uri="{FF2B5EF4-FFF2-40B4-BE49-F238E27FC236}">
                          <a16:creationId xmlns:a16="http://schemas.microsoft.com/office/drawing/2014/main" id="{34E17EFC-1E6C-E9DC-3EF8-F0EDD2321CAE}"/>
                        </a:ext>
                      </a:extLst>
                    </p:cNvPr>
                    <p:cNvSpPr txBox="1">
                      <a:spLocks noRot="1" noChangeAspect="1" noMove="1" noResize="1" noEditPoints="1" noAdjustHandles="1" noChangeArrowheads="1" noChangeShapeType="1" noTextEdit="1"/>
                    </p:cNvSpPr>
                    <p:nvPr/>
                  </p:nvSpPr>
                  <p:spPr>
                    <a:xfrm>
                      <a:off x="922561" y="2974265"/>
                      <a:ext cx="266702" cy="369332"/>
                    </a:xfrm>
                    <a:prstGeom prst="rect">
                      <a:avLst/>
                    </a:prstGeom>
                    <a:blipFill>
                      <a:blip r:embed="rId5"/>
                      <a:stretch>
                        <a:fillRect r="-37209"/>
                      </a:stretch>
                    </a:blipFill>
                  </p:spPr>
                  <p:txBody>
                    <a:bodyPr/>
                    <a:lstStyle/>
                    <a:p>
                      <a:r>
                        <a:rPr lang="en-US">
                          <a:noFill/>
                        </a:rPr>
                        <a:t> </a:t>
                      </a:r>
                    </a:p>
                  </p:txBody>
                </p:sp>
              </mc:Fallback>
            </mc:AlternateContent>
            <p:sp>
              <p:nvSpPr>
                <p:cNvPr id="140" name="Elipse 3">
                  <a:extLst>
                    <a:ext uri="{FF2B5EF4-FFF2-40B4-BE49-F238E27FC236}">
                      <a16:creationId xmlns:a16="http://schemas.microsoft.com/office/drawing/2014/main" id="{5564EC9B-0785-9139-A99C-ADFABB14EEAA}"/>
                    </a:ext>
                  </a:extLst>
                </p:cNvPr>
                <p:cNvSpPr/>
                <p:nvPr/>
              </p:nvSpPr>
              <p:spPr>
                <a:xfrm>
                  <a:off x="971322" y="3042545"/>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10" name="Elipse 83">
                <a:extLst>
                  <a:ext uri="{FF2B5EF4-FFF2-40B4-BE49-F238E27FC236}">
                    <a16:creationId xmlns:a16="http://schemas.microsoft.com/office/drawing/2014/main" id="{08E738CE-27F0-721E-0249-85DB03155688}"/>
                  </a:ext>
                </a:extLst>
              </p:cNvPr>
              <p:cNvSpPr/>
              <p:nvPr/>
            </p:nvSpPr>
            <p:spPr>
              <a:xfrm>
                <a:off x="1529435" y="51969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111" name="Group 38">
                <a:extLst>
                  <a:ext uri="{FF2B5EF4-FFF2-40B4-BE49-F238E27FC236}">
                    <a16:creationId xmlns:a16="http://schemas.microsoft.com/office/drawing/2014/main" id="{135830C3-E6FA-8E6B-B989-1D2F34C8196B}"/>
                  </a:ext>
                </a:extLst>
              </p:cNvPr>
              <p:cNvGrpSpPr/>
              <p:nvPr/>
            </p:nvGrpSpPr>
            <p:grpSpPr>
              <a:xfrm>
                <a:off x="574549" y="5263520"/>
                <a:ext cx="349823" cy="369332"/>
                <a:chOff x="920926" y="4430876"/>
                <a:chExt cx="349823" cy="369332"/>
              </a:xfrm>
            </p:grpSpPr>
            <mc:AlternateContent xmlns:mc="http://schemas.openxmlformats.org/markup-compatibility/2006" xmlns:a14="http://schemas.microsoft.com/office/drawing/2010/main">
              <mc:Choice Requires="a14">
                <p:sp>
                  <p:nvSpPr>
                    <p:cNvPr id="137" name="CaixaDeTexto 116">
                      <a:extLst>
                        <a:ext uri="{FF2B5EF4-FFF2-40B4-BE49-F238E27FC236}">
                          <a16:creationId xmlns:a16="http://schemas.microsoft.com/office/drawing/2014/main" id="{D45E09C3-0D9C-EB0F-E96E-599562D5693B}"/>
                        </a:ext>
                      </a:extLst>
                    </p:cNvPr>
                    <p:cNvSpPr txBox="1"/>
                    <p:nvPr/>
                  </p:nvSpPr>
                  <p:spPr>
                    <a:xfrm>
                      <a:off x="920926" y="4430876"/>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65" name="CaixaDeTexto 116">
                      <a:extLst>
                        <a:ext uri="{FF2B5EF4-FFF2-40B4-BE49-F238E27FC236}">
                          <a16:creationId xmlns:a16="http://schemas.microsoft.com/office/drawing/2014/main" id="{D45E09C3-0D9C-EB0F-E96E-599562D5693B}"/>
                        </a:ext>
                      </a:extLst>
                    </p:cNvPr>
                    <p:cNvSpPr txBox="1">
                      <a:spLocks noRot="1" noChangeAspect="1" noMove="1" noResize="1" noEditPoints="1" noAdjustHandles="1" noChangeArrowheads="1" noChangeShapeType="1" noTextEdit="1"/>
                    </p:cNvSpPr>
                    <p:nvPr/>
                  </p:nvSpPr>
                  <p:spPr>
                    <a:xfrm>
                      <a:off x="920926" y="4430876"/>
                      <a:ext cx="266702" cy="369332"/>
                    </a:xfrm>
                    <a:prstGeom prst="rect">
                      <a:avLst/>
                    </a:prstGeom>
                    <a:blipFill>
                      <a:blip r:embed="rId6"/>
                      <a:stretch>
                        <a:fillRect r="-36364"/>
                      </a:stretch>
                    </a:blipFill>
                  </p:spPr>
                  <p:txBody>
                    <a:bodyPr/>
                    <a:lstStyle/>
                    <a:p>
                      <a:r>
                        <a:rPr lang="en-US">
                          <a:noFill/>
                        </a:rPr>
                        <a:t> </a:t>
                      </a:r>
                    </a:p>
                  </p:txBody>
                </p:sp>
              </mc:Fallback>
            </mc:AlternateContent>
            <p:sp>
              <p:nvSpPr>
                <p:cNvPr id="138" name="Elipse 4">
                  <a:extLst>
                    <a:ext uri="{FF2B5EF4-FFF2-40B4-BE49-F238E27FC236}">
                      <a16:creationId xmlns:a16="http://schemas.microsoft.com/office/drawing/2014/main" id="{71301108-A60B-B5A1-DEAE-C5FBB5750EF0}"/>
                    </a:ext>
                  </a:extLst>
                </p:cNvPr>
                <p:cNvSpPr/>
                <p:nvPr/>
              </p:nvSpPr>
              <p:spPr>
                <a:xfrm>
                  <a:off x="982749" y="4504166"/>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cxnSp>
            <p:nvCxnSpPr>
              <p:cNvPr id="112" name="Conector reto 112">
                <a:extLst>
                  <a:ext uri="{FF2B5EF4-FFF2-40B4-BE49-F238E27FC236}">
                    <a16:creationId xmlns:a16="http://schemas.microsoft.com/office/drawing/2014/main" id="{0544D7E7-4A93-384A-FE1D-EFB06E41452B}"/>
                  </a:ext>
                </a:extLst>
              </p:cNvPr>
              <p:cNvCxnSpPr>
                <a:cxnSpLocks/>
                <a:stCxn id="140" idx="6"/>
                <a:endCxn id="85" idx="2"/>
              </p:cNvCxnSpPr>
              <p:nvPr/>
            </p:nvCxnSpPr>
            <p:spPr>
              <a:xfrm flipV="1">
                <a:off x="944681" y="3212987"/>
                <a:ext cx="590203" cy="6669"/>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3" name="Conector reto 112">
                <a:extLst>
                  <a:ext uri="{FF2B5EF4-FFF2-40B4-BE49-F238E27FC236}">
                    <a16:creationId xmlns:a16="http://schemas.microsoft.com/office/drawing/2014/main" id="{E7829942-9F7A-456C-06E1-0FDA22EEA3ED}"/>
                  </a:ext>
                </a:extLst>
              </p:cNvPr>
              <p:cNvCxnSpPr>
                <a:cxnSpLocks/>
                <a:stCxn id="140" idx="6"/>
                <a:endCxn id="87" idx="2"/>
              </p:cNvCxnSpPr>
              <p:nvPr/>
            </p:nvCxnSpPr>
            <p:spPr>
              <a:xfrm>
                <a:off x="944681" y="3219656"/>
                <a:ext cx="590203" cy="150463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Conector reto 112">
                <a:extLst>
                  <a:ext uri="{FF2B5EF4-FFF2-40B4-BE49-F238E27FC236}">
                    <a16:creationId xmlns:a16="http://schemas.microsoft.com/office/drawing/2014/main" id="{A7EC2237-770A-1305-3024-6201BF73D4FC}"/>
                  </a:ext>
                </a:extLst>
              </p:cNvPr>
              <p:cNvCxnSpPr>
                <a:cxnSpLocks/>
                <a:stCxn id="140" idx="6"/>
                <a:endCxn id="110" idx="2"/>
              </p:cNvCxnSpPr>
              <p:nvPr/>
            </p:nvCxnSpPr>
            <p:spPr>
              <a:xfrm>
                <a:off x="944681" y="3219656"/>
                <a:ext cx="584754" cy="22602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5" name="Conector reto 112">
                <a:extLst>
                  <a:ext uri="{FF2B5EF4-FFF2-40B4-BE49-F238E27FC236}">
                    <a16:creationId xmlns:a16="http://schemas.microsoft.com/office/drawing/2014/main" id="{BBA0EB4A-F0B0-A468-81E9-098010FF982F}"/>
                  </a:ext>
                </a:extLst>
              </p:cNvPr>
              <p:cNvCxnSpPr>
                <a:cxnSpLocks/>
                <a:stCxn id="138" idx="6"/>
                <a:endCxn id="110" idx="2"/>
              </p:cNvCxnSpPr>
              <p:nvPr/>
            </p:nvCxnSpPr>
            <p:spPr>
              <a:xfrm flipV="1">
                <a:off x="924372" y="5479937"/>
                <a:ext cx="605063" cy="8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6" name="Conector reto 112">
                <a:extLst>
                  <a:ext uri="{FF2B5EF4-FFF2-40B4-BE49-F238E27FC236}">
                    <a16:creationId xmlns:a16="http://schemas.microsoft.com/office/drawing/2014/main" id="{04DADC82-8ACE-215F-1880-5E9CD709B3E3}"/>
                  </a:ext>
                </a:extLst>
              </p:cNvPr>
              <p:cNvCxnSpPr>
                <a:cxnSpLocks/>
                <a:stCxn id="138" idx="6"/>
                <a:endCxn id="87" idx="2"/>
              </p:cNvCxnSpPr>
              <p:nvPr/>
            </p:nvCxnSpPr>
            <p:spPr>
              <a:xfrm flipV="1">
                <a:off x="924372" y="4724287"/>
                <a:ext cx="610512" cy="7565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7" name="Conector reto 112">
                <a:extLst>
                  <a:ext uri="{FF2B5EF4-FFF2-40B4-BE49-F238E27FC236}">
                    <a16:creationId xmlns:a16="http://schemas.microsoft.com/office/drawing/2014/main" id="{30037EE4-118A-F493-8A4D-BEE627965FCF}"/>
                  </a:ext>
                </a:extLst>
              </p:cNvPr>
              <p:cNvCxnSpPr>
                <a:cxnSpLocks/>
                <a:stCxn id="138" idx="6"/>
              </p:cNvCxnSpPr>
              <p:nvPr/>
            </p:nvCxnSpPr>
            <p:spPr>
              <a:xfrm flipV="1">
                <a:off x="924372" y="3968637"/>
                <a:ext cx="610512" cy="15121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Conector reto 112">
                <a:extLst>
                  <a:ext uri="{FF2B5EF4-FFF2-40B4-BE49-F238E27FC236}">
                    <a16:creationId xmlns:a16="http://schemas.microsoft.com/office/drawing/2014/main" id="{E732B412-A9DC-6EB3-AFB4-60B2CA5371DE}"/>
                  </a:ext>
                </a:extLst>
              </p:cNvPr>
              <p:cNvCxnSpPr>
                <a:cxnSpLocks/>
                <a:stCxn id="138" idx="6"/>
                <a:endCxn id="85" idx="2"/>
              </p:cNvCxnSpPr>
              <p:nvPr/>
            </p:nvCxnSpPr>
            <p:spPr>
              <a:xfrm flipV="1">
                <a:off x="924372" y="3212987"/>
                <a:ext cx="610512" cy="22678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9" name="Conector de Seta Reta 91">
                <a:extLst>
                  <a:ext uri="{FF2B5EF4-FFF2-40B4-BE49-F238E27FC236}">
                    <a16:creationId xmlns:a16="http://schemas.microsoft.com/office/drawing/2014/main" id="{5353916E-3C7D-382C-B435-CE4998378741}"/>
                  </a:ext>
                </a:extLst>
              </p:cNvPr>
              <p:cNvCxnSpPr>
                <a:cxnSpLocks/>
                <a:stCxn id="87" idx="6"/>
                <a:endCxn id="80" idx="2"/>
              </p:cNvCxnSpPr>
              <p:nvPr/>
            </p:nvCxnSpPr>
            <p:spPr>
              <a:xfrm flipV="1">
                <a:off x="2100941" y="3685608"/>
                <a:ext cx="391887" cy="1038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Conector de Seta Reta 91">
                <a:extLst>
                  <a:ext uri="{FF2B5EF4-FFF2-40B4-BE49-F238E27FC236}">
                    <a16:creationId xmlns:a16="http://schemas.microsoft.com/office/drawing/2014/main" id="{8A04DE0D-CB52-9B8F-F044-F8EBA1903333}"/>
                  </a:ext>
                </a:extLst>
              </p:cNvPr>
              <p:cNvCxnSpPr>
                <a:cxnSpLocks/>
                <a:stCxn id="110" idx="6"/>
                <a:endCxn id="80" idx="2"/>
              </p:cNvCxnSpPr>
              <p:nvPr/>
            </p:nvCxnSpPr>
            <p:spPr>
              <a:xfrm flipV="1">
                <a:off x="2095492" y="3685608"/>
                <a:ext cx="397336" cy="1794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Conector de Seta Reta 91">
                <a:extLst>
                  <a:ext uri="{FF2B5EF4-FFF2-40B4-BE49-F238E27FC236}">
                    <a16:creationId xmlns:a16="http://schemas.microsoft.com/office/drawing/2014/main" id="{D7CDE263-B479-1BEE-EBDC-1E9D0936FDD6}"/>
                  </a:ext>
                </a:extLst>
              </p:cNvPr>
              <p:cNvCxnSpPr>
                <a:cxnSpLocks/>
                <a:stCxn id="110" idx="6"/>
                <a:endCxn id="81" idx="2"/>
              </p:cNvCxnSpPr>
              <p:nvPr/>
            </p:nvCxnSpPr>
            <p:spPr>
              <a:xfrm flipV="1">
                <a:off x="2095492" y="4404065"/>
                <a:ext cx="397335" cy="1075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Conector de Seta Reta 91">
                <a:extLst>
                  <a:ext uri="{FF2B5EF4-FFF2-40B4-BE49-F238E27FC236}">
                    <a16:creationId xmlns:a16="http://schemas.microsoft.com/office/drawing/2014/main" id="{8EEF35CA-096F-4E2A-14E6-F202F64CEDB4}"/>
                  </a:ext>
                </a:extLst>
              </p:cNvPr>
              <p:cNvCxnSpPr>
                <a:cxnSpLocks/>
                <a:stCxn id="110" idx="6"/>
                <a:endCxn id="82" idx="2"/>
              </p:cNvCxnSpPr>
              <p:nvPr/>
            </p:nvCxnSpPr>
            <p:spPr>
              <a:xfrm flipV="1">
                <a:off x="2095492" y="5122522"/>
                <a:ext cx="397335" cy="357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3" name="TextBox 50">
                    <a:extLst>
                      <a:ext uri="{FF2B5EF4-FFF2-40B4-BE49-F238E27FC236}">
                        <a16:creationId xmlns:a16="http://schemas.microsoft.com/office/drawing/2014/main" id="{779066A9-0258-815A-A0AE-E0019C2A8D31}"/>
                      </a:ext>
                    </a:extLst>
                  </p:cNvPr>
                  <p:cNvSpPr txBox="1"/>
                  <p:nvPr/>
                </p:nvSpPr>
                <p:spPr>
                  <a:xfrm>
                    <a:off x="956041" y="2865008"/>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1" name="TextBox 50">
                    <a:extLst>
                      <a:ext uri="{FF2B5EF4-FFF2-40B4-BE49-F238E27FC236}">
                        <a16:creationId xmlns:a16="http://schemas.microsoft.com/office/drawing/2014/main" id="{779066A9-0258-815A-A0AE-E0019C2A8D31}"/>
                      </a:ext>
                    </a:extLst>
                  </p:cNvPr>
                  <p:cNvSpPr txBox="1">
                    <a:spLocks noRot="1" noChangeAspect="1" noMove="1" noResize="1" noEditPoints="1" noAdjustHandles="1" noChangeArrowheads="1" noChangeShapeType="1" noTextEdit="1"/>
                  </p:cNvSpPr>
                  <p:nvPr/>
                </p:nvSpPr>
                <p:spPr>
                  <a:xfrm>
                    <a:off x="956041" y="2865008"/>
                    <a:ext cx="560538" cy="36131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51">
                    <a:extLst>
                      <a:ext uri="{FF2B5EF4-FFF2-40B4-BE49-F238E27FC236}">
                        <a16:creationId xmlns:a16="http://schemas.microsoft.com/office/drawing/2014/main" id="{6526DE0D-6B24-FBCC-62D0-4C5B3CAED736}"/>
                      </a:ext>
                    </a:extLst>
                  </p:cNvPr>
                  <p:cNvSpPr txBox="1"/>
                  <p:nvPr/>
                </p:nvSpPr>
                <p:spPr>
                  <a:xfrm rot="3068437">
                    <a:off x="1020572" y="321965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12</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2" name="TextBox 51">
                    <a:extLst>
                      <a:ext uri="{FF2B5EF4-FFF2-40B4-BE49-F238E27FC236}">
                        <a16:creationId xmlns:a16="http://schemas.microsoft.com/office/drawing/2014/main" id="{6526DE0D-6B24-FBCC-62D0-4C5B3CAED736}"/>
                      </a:ext>
                    </a:extLst>
                  </p:cNvPr>
                  <p:cNvSpPr txBox="1">
                    <a:spLocks noRot="1" noChangeAspect="1" noMove="1" noResize="1" noEditPoints="1" noAdjustHandles="1" noChangeArrowheads="1" noChangeShapeType="1" noTextEdit="1"/>
                  </p:cNvSpPr>
                  <p:nvPr/>
                </p:nvSpPr>
                <p:spPr>
                  <a:xfrm rot="3068437">
                    <a:off x="1020572" y="3219653"/>
                    <a:ext cx="560538" cy="36131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52">
                    <a:extLst>
                      <a:ext uri="{FF2B5EF4-FFF2-40B4-BE49-F238E27FC236}">
                        <a16:creationId xmlns:a16="http://schemas.microsoft.com/office/drawing/2014/main" id="{827751F1-7CDF-48E5-8639-DB5D7B0E0172}"/>
                      </a:ext>
                    </a:extLst>
                  </p:cNvPr>
                  <p:cNvSpPr txBox="1"/>
                  <p:nvPr/>
                </p:nvSpPr>
                <p:spPr>
                  <a:xfrm>
                    <a:off x="933548" y="5486606"/>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24</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3" name="TextBox 52">
                    <a:extLst>
                      <a:ext uri="{FF2B5EF4-FFF2-40B4-BE49-F238E27FC236}">
                        <a16:creationId xmlns:a16="http://schemas.microsoft.com/office/drawing/2014/main" id="{827751F1-7CDF-48E5-8639-DB5D7B0E0172}"/>
                      </a:ext>
                    </a:extLst>
                  </p:cNvPr>
                  <p:cNvSpPr txBox="1">
                    <a:spLocks noRot="1" noChangeAspect="1" noMove="1" noResize="1" noEditPoints="1" noAdjustHandles="1" noChangeArrowheads="1" noChangeShapeType="1" noTextEdit="1"/>
                  </p:cNvSpPr>
                  <p:nvPr/>
                </p:nvSpPr>
                <p:spPr>
                  <a:xfrm>
                    <a:off x="933548" y="5486606"/>
                    <a:ext cx="560538" cy="36131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53">
                    <a:extLst>
                      <a:ext uri="{FF2B5EF4-FFF2-40B4-BE49-F238E27FC236}">
                        <a16:creationId xmlns:a16="http://schemas.microsoft.com/office/drawing/2014/main" id="{70DB8FD4-B455-A51F-928D-B4EA8F8FADDE}"/>
                      </a:ext>
                    </a:extLst>
                  </p:cNvPr>
                  <p:cNvSpPr txBox="1"/>
                  <p:nvPr/>
                </p:nvSpPr>
                <p:spPr>
                  <a:xfrm rot="17131605">
                    <a:off x="594353" y="4756061"/>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4" name="TextBox 53">
                    <a:extLst>
                      <a:ext uri="{FF2B5EF4-FFF2-40B4-BE49-F238E27FC236}">
                        <a16:creationId xmlns:a16="http://schemas.microsoft.com/office/drawing/2014/main" id="{70DB8FD4-B455-A51F-928D-B4EA8F8FADDE}"/>
                      </a:ext>
                    </a:extLst>
                  </p:cNvPr>
                  <p:cNvSpPr txBox="1">
                    <a:spLocks noRot="1" noChangeAspect="1" noMove="1" noResize="1" noEditPoints="1" noAdjustHandles="1" noChangeArrowheads="1" noChangeShapeType="1" noTextEdit="1"/>
                  </p:cNvSpPr>
                  <p:nvPr/>
                </p:nvSpPr>
                <p:spPr>
                  <a:xfrm rot="17131605">
                    <a:off x="594353" y="4756061"/>
                    <a:ext cx="560538" cy="36131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54">
                    <a:extLst>
                      <a:ext uri="{FF2B5EF4-FFF2-40B4-BE49-F238E27FC236}">
                        <a16:creationId xmlns:a16="http://schemas.microsoft.com/office/drawing/2014/main" id="{4A3568B0-96EF-778B-A434-0929E90F7E9B}"/>
                      </a:ext>
                    </a:extLst>
                  </p:cNvPr>
                  <p:cNvSpPr txBox="1"/>
                  <p:nvPr/>
                </p:nvSpPr>
                <p:spPr>
                  <a:xfrm rot="2964551">
                    <a:off x="2132495" y="313219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5" name="TextBox 54">
                    <a:extLst>
                      <a:ext uri="{FF2B5EF4-FFF2-40B4-BE49-F238E27FC236}">
                        <a16:creationId xmlns:a16="http://schemas.microsoft.com/office/drawing/2014/main" id="{4A3568B0-96EF-778B-A434-0929E90F7E9B}"/>
                      </a:ext>
                    </a:extLst>
                  </p:cNvPr>
                  <p:cNvSpPr txBox="1">
                    <a:spLocks noRot="1" noChangeAspect="1" noMove="1" noResize="1" noEditPoints="1" noAdjustHandles="1" noChangeArrowheads="1" noChangeShapeType="1" noTextEdit="1"/>
                  </p:cNvSpPr>
                  <p:nvPr/>
                </p:nvSpPr>
                <p:spPr>
                  <a:xfrm rot="2964551">
                    <a:off x="2132495" y="3132193"/>
                    <a:ext cx="560538" cy="36131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55">
                    <a:extLst>
                      <a:ext uri="{FF2B5EF4-FFF2-40B4-BE49-F238E27FC236}">
                        <a16:creationId xmlns:a16="http://schemas.microsoft.com/office/drawing/2014/main" id="{57567919-B196-0B24-CD82-93E0B7C1BBD7}"/>
                      </a:ext>
                    </a:extLst>
                  </p:cNvPr>
                  <p:cNvSpPr txBox="1"/>
                  <p:nvPr/>
                </p:nvSpPr>
                <p:spPr>
                  <a:xfrm rot="19021513">
                    <a:off x="2088094" y="5274650"/>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43</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6" name="TextBox 55">
                    <a:extLst>
                      <a:ext uri="{FF2B5EF4-FFF2-40B4-BE49-F238E27FC236}">
                        <a16:creationId xmlns:a16="http://schemas.microsoft.com/office/drawing/2014/main" id="{57567919-B196-0B24-CD82-93E0B7C1BBD7}"/>
                      </a:ext>
                    </a:extLst>
                  </p:cNvPr>
                  <p:cNvSpPr txBox="1">
                    <a:spLocks noRot="1" noChangeAspect="1" noMove="1" noResize="1" noEditPoints="1" noAdjustHandles="1" noChangeArrowheads="1" noChangeShapeType="1" noTextEdit="1"/>
                  </p:cNvSpPr>
                  <p:nvPr/>
                </p:nvSpPr>
                <p:spPr>
                  <a:xfrm rot="19021513">
                    <a:off x="2088094" y="5274650"/>
                    <a:ext cx="560538" cy="36131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9" name="TextBox 56">
                    <a:extLst>
                      <a:ext uri="{FF2B5EF4-FFF2-40B4-BE49-F238E27FC236}">
                        <a16:creationId xmlns:a16="http://schemas.microsoft.com/office/drawing/2014/main" id="{BF6ADB11-0E9B-ADD4-FD7D-EEEE76EEF107}"/>
                      </a:ext>
                    </a:extLst>
                  </p:cNvPr>
                  <p:cNvSpPr txBox="1"/>
                  <p:nvPr/>
                </p:nvSpPr>
                <p:spPr>
                  <a:xfrm rot="2893059">
                    <a:off x="3107452" y="3604952"/>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7" name="TextBox 56">
                    <a:extLst>
                      <a:ext uri="{FF2B5EF4-FFF2-40B4-BE49-F238E27FC236}">
                        <a16:creationId xmlns:a16="http://schemas.microsoft.com/office/drawing/2014/main" id="{BF6ADB11-0E9B-ADD4-FD7D-EEEE76EEF107}"/>
                      </a:ext>
                    </a:extLst>
                  </p:cNvPr>
                  <p:cNvSpPr txBox="1">
                    <a:spLocks noRot="1" noChangeAspect="1" noMove="1" noResize="1" noEditPoints="1" noAdjustHandles="1" noChangeArrowheads="1" noChangeShapeType="1" noTextEdit="1"/>
                  </p:cNvSpPr>
                  <p:nvPr/>
                </p:nvSpPr>
                <p:spPr>
                  <a:xfrm rot="2893059">
                    <a:off x="3107452" y="3604952"/>
                    <a:ext cx="560538" cy="362663"/>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0" name="TextBox 57">
                    <a:extLst>
                      <a:ext uri="{FF2B5EF4-FFF2-40B4-BE49-F238E27FC236}">
                        <a16:creationId xmlns:a16="http://schemas.microsoft.com/office/drawing/2014/main" id="{85B3A9EC-E88D-6D5E-A620-7E60AC42AC29}"/>
                      </a:ext>
                    </a:extLst>
                  </p:cNvPr>
                  <p:cNvSpPr txBox="1"/>
                  <p:nvPr/>
                </p:nvSpPr>
                <p:spPr>
                  <a:xfrm rot="19852769">
                    <a:off x="3044859" y="4967999"/>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32</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8" name="TextBox 57">
                    <a:extLst>
                      <a:ext uri="{FF2B5EF4-FFF2-40B4-BE49-F238E27FC236}">
                        <a16:creationId xmlns:a16="http://schemas.microsoft.com/office/drawing/2014/main" id="{85B3A9EC-E88D-6D5E-A620-7E60AC42AC29}"/>
                      </a:ext>
                    </a:extLst>
                  </p:cNvPr>
                  <p:cNvSpPr txBox="1">
                    <a:spLocks noRot="1" noChangeAspect="1" noMove="1" noResize="1" noEditPoints="1" noAdjustHandles="1" noChangeArrowheads="1" noChangeShapeType="1" noTextEdit="1"/>
                  </p:cNvSpPr>
                  <p:nvPr/>
                </p:nvSpPr>
                <p:spPr>
                  <a:xfrm rot="19852769">
                    <a:off x="3044859" y="4967999"/>
                    <a:ext cx="560538" cy="362663"/>
                  </a:xfrm>
                  <a:prstGeom prst="rect">
                    <a:avLst/>
                  </a:prstGeom>
                  <a:blipFill>
                    <a:blip r:embed="rId14"/>
                    <a:stretch>
                      <a:fillRect/>
                    </a:stretch>
                  </a:blipFill>
                </p:spPr>
                <p:txBody>
                  <a:bodyPr/>
                  <a:lstStyle/>
                  <a:p>
                    <a:r>
                      <a:rPr lang="en-US">
                        <a:noFill/>
                      </a:rPr>
                      <a:t> </a:t>
                    </a:r>
                  </a:p>
                </p:txBody>
              </p:sp>
            </mc:Fallback>
          </mc:AlternateContent>
          <p:sp>
            <p:nvSpPr>
              <p:cNvPr id="131" name="CaixaDeTexto 106">
                <a:extLst>
                  <a:ext uri="{FF2B5EF4-FFF2-40B4-BE49-F238E27FC236}">
                    <a16:creationId xmlns:a16="http://schemas.microsoft.com/office/drawing/2014/main" id="{97457574-0476-8F51-2E38-000A84393BB5}"/>
                  </a:ext>
                </a:extLst>
              </p:cNvPr>
              <p:cNvSpPr txBox="1"/>
              <p:nvPr/>
            </p:nvSpPr>
            <p:spPr>
              <a:xfrm>
                <a:off x="1300841" y="2506925"/>
                <a:ext cx="1796143" cy="307777"/>
              </a:xfrm>
              <a:prstGeom prst="rect">
                <a:avLst/>
              </a:prstGeom>
              <a:noFill/>
            </p:spPr>
            <p:txBody>
              <a:bodyPr wrap="square" rtlCol="0">
                <a:spAutoFit/>
              </a:bodyPr>
              <a:lstStyle/>
              <a:p>
                <a:r>
                  <a:rPr lang="pt-BR" sz="1400" dirty="0"/>
                  <a:t>Peso sináptico</a:t>
                </a:r>
              </a:p>
            </p:txBody>
          </p:sp>
          <p:sp>
            <p:nvSpPr>
              <p:cNvPr id="132" name="Freeform: Shape 59">
                <a:extLst>
                  <a:ext uri="{FF2B5EF4-FFF2-40B4-BE49-F238E27FC236}">
                    <a16:creationId xmlns:a16="http://schemas.microsoft.com/office/drawing/2014/main" id="{914BB7D8-BDC1-980A-A3C5-2414B32FFC25}"/>
                  </a:ext>
                </a:extLst>
              </p:cNvPr>
              <p:cNvSpPr/>
              <p:nvPr/>
            </p:nvSpPr>
            <p:spPr>
              <a:xfrm>
                <a:off x="1164771" y="2656114"/>
                <a:ext cx="206829" cy="250372"/>
              </a:xfrm>
              <a:custGeom>
                <a:avLst/>
                <a:gdLst>
                  <a:gd name="csX0" fmla="*/ 0 w 206829"/>
                  <a:gd name="csY0" fmla="*/ 250372 h 250372"/>
                  <a:gd name="csX1" fmla="*/ 54429 w 206829"/>
                  <a:gd name="csY1" fmla="*/ 108857 h 250372"/>
                  <a:gd name="csX2" fmla="*/ 206829 w 206829"/>
                  <a:gd name="csY2" fmla="*/ 0 h 250372"/>
                </a:gdLst>
                <a:ahLst/>
                <a:cxnLst>
                  <a:cxn ang="0">
                    <a:pos x="csX0" y="csY0"/>
                  </a:cxn>
                  <a:cxn ang="0">
                    <a:pos x="csX1" y="csY1"/>
                  </a:cxn>
                  <a:cxn ang="0">
                    <a:pos x="csX2" y="csY2"/>
                  </a:cxn>
                </a:cxnLst>
                <a:rect l="l" t="t" r="r" b="b"/>
                <a:pathLst>
                  <a:path w="206829" h="250372">
                    <a:moveTo>
                      <a:pt x="0" y="250372"/>
                    </a:moveTo>
                    <a:cubicBezTo>
                      <a:pt x="9979" y="200479"/>
                      <a:pt x="19958" y="150586"/>
                      <a:pt x="54429" y="108857"/>
                    </a:cubicBezTo>
                    <a:cubicBezTo>
                      <a:pt x="88901" y="67128"/>
                      <a:pt x="147865" y="33564"/>
                      <a:pt x="206829"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CaixaDeTexto 32">
                <a:extLst>
                  <a:ext uri="{FF2B5EF4-FFF2-40B4-BE49-F238E27FC236}">
                    <a16:creationId xmlns:a16="http://schemas.microsoft.com/office/drawing/2014/main" id="{CCF73238-5C8F-EF65-3EE9-5987486D9DD1}"/>
                  </a:ext>
                </a:extLst>
              </p:cNvPr>
              <p:cNvSpPr txBox="1"/>
              <p:nvPr/>
            </p:nvSpPr>
            <p:spPr>
              <a:xfrm>
                <a:off x="294226" y="5713408"/>
                <a:ext cx="868135" cy="461665"/>
              </a:xfrm>
              <a:prstGeom prst="rect">
                <a:avLst/>
              </a:prstGeom>
              <a:noFill/>
            </p:spPr>
            <p:txBody>
              <a:bodyPr wrap="square" rtlCol="0">
                <a:spAutoFit/>
              </a:bodyPr>
              <a:lstStyle/>
              <a:p>
                <a:pPr algn="ctr"/>
                <a:r>
                  <a:rPr lang="pt-BR" sz="1200" dirty="0"/>
                  <a:t>Camada de entrada</a:t>
                </a:r>
              </a:p>
            </p:txBody>
          </p:sp>
          <p:sp>
            <p:nvSpPr>
              <p:cNvPr id="134" name="CaixaDeTexto 34">
                <a:extLst>
                  <a:ext uri="{FF2B5EF4-FFF2-40B4-BE49-F238E27FC236}">
                    <a16:creationId xmlns:a16="http://schemas.microsoft.com/office/drawing/2014/main" id="{1447EAE3-BBCA-353C-85B0-8168ED864A04}"/>
                  </a:ext>
                </a:extLst>
              </p:cNvPr>
              <p:cNvSpPr txBox="1"/>
              <p:nvPr/>
            </p:nvSpPr>
            <p:spPr>
              <a:xfrm>
                <a:off x="1357989" y="5837351"/>
                <a:ext cx="868135" cy="461665"/>
              </a:xfrm>
              <a:prstGeom prst="rect">
                <a:avLst/>
              </a:prstGeom>
              <a:noFill/>
            </p:spPr>
            <p:txBody>
              <a:bodyPr wrap="square" rtlCol="0">
                <a:spAutoFit/>
              </a:bodyPr>
              <a:lstStyle/>
              <a:p>
                <a:pPr algn="ctr"/>
                <a:r>
                  <a:rPr lang="pt-BR" sz="1200" dirty="0"/>
                  <a:t>Camada oculta #1</a:t>
                </a:r>
              </a:p>
            </p:txBody>
          </p:sp>
          <p:sp>
            <p:nvSpPr>
              <p:cNvPr id="135" name="CaixaDeTexto 40">
                <a:extLst>
                  <a:ext uri="{FF2B5EF4-FFF2-40B4-BE49-F238E27FC236}">
                    <a16:creationId xmlns:a16="http://schemas.microsoft.com/office/drawing/2014/main" id="{443237A2-7B33-55AE-AA4A-0E673846D76C}"/>
                  </a:ext>
                </a:extLst>
              </p:cNvPr>
              <p:cNvSpPr txBox="1"/>
              <p:nvPr/>
            </p:nvSpPr>
            <p:spPr>
              <a:xfrm>
                <a:off x="2352673" y="5450646"/>
                <a:ext cx="868135" cy="461665"/>
              </a:xfrm>
              <a:prstGeom prst="rect">
                <a:avLst/>
              </a:prstGeom>
              <a:noFill/>
            </p:spPr>
            <p:txBody>
              <a:bodyPr wrap="square" rtlCol="0">
                <a:spAutoFit/>
              </a:bodyPr>
              <a:lstStyle/>
              <a:p>
                <a:pPr algn="ctr"/>
                <a:r>
                  <a:rPr lang="pt-BR" sz="1200" dirty="0"/>
                  <a:t>Camada oculta #2</a:t>
                </a:r>
              </a:p>
            </p:txBody>
          </p:sp>
          <p:sp>
            <p:nvSpPr>
              <p:cNvPr id="136" name="CaixaDeTexto 36">
                <a:extLst>
                  <a:ext uri="{FF2B5EF4-FFF2-40B4-BE49-F238E27FC236}">
                    <a16:creationId xmlns:a16="http://schemas.microsoft.com/office/drawing/2014/main" id="{C7DBA98F-A5F5-21D6-7C7D-6FD9F5CCFFA2}"/>
                  </a:ext>
                </a:extLst>
              </p:cNvPr>
              <p:cNvSpPr txBox="1"/>
              <p:nvPr/>
            </p:nvSpPr>
            <p:spPr>
              <a:xfrm>
                <a:off x="3314688" y="5239989"/>
                <a:ext cx="868135" cy="461665"/>
              </a:xfrm>
              <a:prstGeom prst="rect">
                <a:avLst/>
              </a:prstGeom>
              <a:noFill/>
            </p:spPr>
            <p:txBody>
              <a:bodyPr wrap="square" rtlCol="0">
                <a:spAutoFit/>
              </a:bodyPr>
              <a:lstStyle/>
              <a:p>
                <a:pPr algn="ctr"/>
                <a:r>
                  <a:rPr lang="pt-BR" sz="1200" dirty="0"/>
                  <a:t>Camada de saída</a:t>
                </a:r>
              </a:p>
            </p:txBody>
          </p:sp>
        </p:grpSp>
        <p:sp>
          <p:nvSpPr>
            <p:cNvPr id="71" name="Retângulo 70"/>
            <p:cNvSpPr/>
            <p:nvPr/>
          </p:nvSpPr>
          <p:spPr>
            <a:xfrm>
              <a:off x="854768" y="6172599"/>
              <a:ext cx="635174" cy="307777"/>
            </a:xfrm>
            <a:prstGeom prst="rect">
              <a:avLst/>
            </a:prstGeom>
          </p:spPr>
          <p:txBody>
            <a:bodyPr wrap="none">
              <a:spAutoFit/>
            </a:bodyPr>
            <a:lstStyle/>
            <a:p>
              <a:r>
                <a:rPr lang="pt-BR" sz="1400" dirty="0"/>
                <a:t>Pixels </a:t>
              </a:r>
            </a:p>
          </p:txBody>
        </p:sp>
        <p:sp>
          <p:nvSpPr>
            <p:cNvPr id="72" name="Retângulo 71"/>
            <p:cNvSpPr/>
            <p:nvPr/>
          </p:nvSpPr>
          <p:spPr>
            <a:xfrm>
              <a:off x="1573159" y="6172599"/>
              <a:ext cx="1051832" cy="307777"/>
            </a:xfrm>
            <a:prstGeom prst="rect">
              <a:avLst/>
            </a:prstGeom>
          </p:spPr>
          <p:txBody>
            <a:bodyPr wrap="square">
              <a:spAutoFit/>
            </a:bodyPr>
            <a:lstStyle/>
            <a:p>
              <a:pPr algn="ctr"/>
              <a:r>
                <a:rPr lang="pt-BR" sz="1400" dirty="0"/>
                <a:t>Bordas</a:t>
              </a:r>
            </a:p>
          </p:txBody>
        </p:sp>
        <p:sp>
          <p:nvSpPr>
            <p:cNvPr id="73" name="Retângulo 72"/>
            <p:cNvSpPr/>
            <p:nvPr/>
          </p:nvSpPr>
          <p:spPr>
            <a:xfrm>
              <a:off x="2436280" y="6180190"/>
              <a:ext cx="1112849" cy="307777"/>
            </a:xfrm>
            <a:prstGeom prst="rect">
              <a:avLst/>
            </a:prstGeom>
          </p:spPr>
          <p:txBody>
            <a:bodyPr wrap="square">
              <a:spAutoFit/>
            </a:bodyPr>
            <a:lstStyle/>
            <a:p>
              <a:pPr algn="ctr"/>
              <a:r>
                <a:rPr lang="pt-BR" sz="1400" dirty="0"/>
                <a:t>formas</a:t>
              </a:r>
            </a:p>
          </p:txBody>
        </p:sp>
        <p:sp>
          <p:nvSpPr>
            <p:cNvPr id="74" name="Retângulo 73"/>
            <p:cNvSpPr/>
            <p:nvPr/>
          </p:nvSpPr>
          <p:spPr>
            <a:xfrm>
              <a:off x="3447970" y="6072468"/>
              <a:ext cx="1026598" cy="523220"/>
            </a:xfrm>
            <a:prstGeom prst="rect">
              <a:avLst/>
            </a:prstGeom>
          </p:spPr>
          <p:txBody>
            <a:bodyPr wrap="square">
              <a:spAutoFit/>
            </a:bodyPr>
            <a:lstStyle/>
            <a:p>
              <a:pPr algn="ctr"/>
              <a:r>
                <a:rPr lang="pt-BR" sz="1400" dirty="0"/>
                <a:t>partes de objetos</a:t>
              </a:r>
            </a:p>
          </p:txBody>
        </p:sp>
        <p:sp>
          <p:nvSpPr>
            <p:cNvPr id="75" name="Retângulo 74"/>
            <p:cNvSpPr/>
            <p:nvPr/>
          </p:nvSpPr>
          <p:spPr>
            <a:xfrm>
              <a:off x="4549907" y="6175005"/>
              <a:ext cx="1212383" cy="307777"/>
            </a:xfrm>
            <a:prstGeom prst="rect">
              <a:avLst/>
            </a:prstGeom>
          </p:spPr>
          <p:txBody>
            <a:bodyPr wrap="none">
              <a:spAutoFit/>
            </a:bodyPr>
            <a:lstStyle/>
            <a:p>
              <a:r>
                <a:rPr lang="pt-BR" sz="1400" dirty="0"/>
                <a:t>objeto: "gato"</a:t>
              </a:r>
            </a:p>
          </p:txBody>
        </p:sp>
        <p:cxnSp>
          <p:nvCxnSpPr>
            <p:cNvPr id="76" name="Conector de seta reta 75"/>
            <p:cNvCxnSpPr/>
            <p:nvPr/>
          </p:nvCxnSpPr>
          <p:spPr>
            <a:xfrm>
              <a:off x="1463901" y="6325912"/>
              <a:ext cx="25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Conector de seta reta 76"/>
            <p:cNvCxnSpPr/>
            <p:nvPr/>
          </p:nvCxnSpPr>
          <p:spPr>
            <a:xfrm>
              <a:off x="2418704" y="6337273"/>
              <a:ext cx="25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Conector de seta reta 77"/>
            <p:cNvCxnSpPr/>
            <p:nvPr/>
          </p:nvCxnSpPr>
          <p:spPr>
            <a:xfrm>
              <a:off x="3308568" y="6339767"/>
              <a:ext cx="25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Conector de seta reta 78"/>
            <p:cNvCxnSpPr/>
            <p:nvPr/>
          </p:nvCxnSpPr>
          <p:spPr>
            <a:xfrm>
              <a:off x="4340537" y="6325912"/>
              <a:ext cx="25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0604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upo 2"/>
          <p:cNvGrpSpPr/>
          <p:nvPr/>
        </p:nvGrpSpPr>
        <p:grpSpPr>
          <a:xfrm>
            <a:off x="1087343" y="440872"/>
            <a:ext cx="5976256" cy="5976256"/>
            <a:chOff x="3107872" y="440872"/>
            <a:chExt cx="5976256" cy="5976256"/>
          </a:xfrm>
        </p:grpSpPr>
        <p:pic>
          <p:nvPicPr>
            <p:cNvPr id="5" name="Picture 4">
              <a:extLst>
                <a:ext uri="{FF2B5EF4-FFF2-40B4-BE49-F238E27FC236}">
                  <a16:creationId xmlns:a16="http://schemas.microsoft.com/office/drawing/2014/main" id="{E0538820-64CD-65AF-6306-AEB3879A20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7872" y="440872"/>
              <a:ext cx="5976256" cy="5976256"/>
            </a:xfrm>
            <a:prstGeom prst="rect">
              <a:avLst/>
            </a:prstGeom>
          </p:spPr>
        </p:pic>
        <p:sp>
          <p:nvSpPr>
            <p:cNvPr id="6" name="TextBox 5">
              <a:extLst>
                <a:ext uri="{FF2B5EF4-FFF2-40B4-BE49-F238E27FC236}">
                  <a16:creationId xmlns:a16="http://schemas.microsoft.com/office/drawing/2014/main" id="{9D886CFA-C0D2-3102-EA0D-5092AEF6A37B}"/>
                </a:ext>
              </a:extLst>
            </p:cNvPr>
            <p:cNvSpPr txBox="1"/>
            <p:nvPr/>
          </p:nvSpPr>
          <p:spPr>
            <a:xfrm>
              <a:off x="4321627" y="4495800"/>
              <a:ext cx="1774373" cy="923330"/>
            </a:xfrm>
            <a:prstGeom prst="rect">
              <a:avLst/>
            </a:prstGeom>
            <a:noFill/>
          </p:spPr>
          <p:txBody>
            <a:bodyPr wrap="square" rtlCol="0">
              <a:spAutoFit/>
            </a:bodyPr>
            <a:lstStyle/>
            <a:p>
              <a:pPr algn="ctr"/>
              <a:r>
                <a:rPr lang="pt-BR" b="1" dirty="0">
                  <a:solidFill>
                    <a:srgbClr val="7030A0"/>
                  </a:solidFill>
                  <a:highlight>
                    <a:srgbClr val="00FFFF"/>
                  </a:highlight>
                </a:rPr>
                <a:t>Saídas da camada anterior da rede neural</a:t>
              </a:r>
              <a:endParaRPr lang="en-US" b="1" dirty="0">
                <a:solidFill>
                  <a:srgbClr val="7030A0"/>
                </a:solidFill>
                <a:highlight>
                  <a:srgbClr val="00FFFF"/>
                </a:highlight>
              </a:endParaRPr>
            </a:p>
          </p:txBody>
        </p:sp>
        <p:sp>
          <p:nvSpPr>
            <p:cNvPr id="8" name="TextBox 7">
              <a:extLst>
                <a:ext uri="{FF2B5EF4-FFF2-40B4-BE49-F238E27FC236}">
                  <a16:creationId xmlns:a16="http://schemas.microsoft.com/office/drawing/2014/main" id="{DCA7CE31-31A2-E045-C746-E9DAD42E9A0F}"/>
                </a:ext>
              </a:extLst>
            </p:cNvPr>
            <p:cNvSpPr txBox="1"/>
            <p:nvPr/>
          </p:nvSpPr>
          <p:spPr>
            <a:xfrm>
              <a:off x="3886027" y="1640734"/>
              <a:ext cx="2057573" cy="646331"/>
            </a:xfrm>
            <a:prstGeom prst="rect">
              <a:avLst/>
            </a:prstGeom>
            <a:noFill/>
          </p:spPr>
          <p:txBody>
            <a:bodyPr wrap="square" rtlCol="0">
              <a:spAutoFit/>
            </a:bodyPr>
            <a:lstStyle/>
            <a:p>
              <a:pPr algn="ctr"/>
              <a:r>
                <a:rPr lang="pt-BR" b="1" dirty="0">
                  <a:solidFill>
                    <a:srgbClr val="7030A0"/>
                  </a:solidFill>
                  <a:highlight>
                    <a:srgbClr val="00FFFF"/>
                  </a:highlight>
                </a:rPr>
                <a:t>Neurônios de uma camada oculta</a:t>
              </a:r>
              <a:endParaRPr lang="en-US" b="1" dirty="0">
                <a:solidFill>
                  <a:srgbClr val="7030A0"/>
                </a:solidFill>
                <a:highlight>
                  <a:srgbClr val="00FFFF"/>
                </a:highlight>
              </a:endParaRPr>
            </a:p>
          </p:txBody>
        </p:sp>
        <p:sp>
          <p:nvSpPr>
            <p:cNvPr id="9" name="TextBox 8">
              <a:extLst>
                <a:ext uri="{FF2B5EF4-FFF2-40B4-BE49-F238E27FC236}">
                  <a16:creationId xmlns:a16="http://schemas.microsoft.com/office/drawing/2014/main" id="{C384550B-383A-873F-97FE-B77AC94B99AB}"/>
                </a:ext>
              </a:extLst>
            </p:cNvPr>
            <p:cNvSpPr txBox="1"/>
            <p:nvPr/>
          </p:nvSpPr>
          <p:spPr>
            <a:xfrm>
              <a:off x="6433460" y="555171"/>
              <a:ext cx="1981197" cy="923330"/>
            </a:xfrm>
            <a:prstGeom prst="rect">
              <a:avLst/>
            </a:prstGeom>
            <a:noFill/>
          </p:spPr>
          <p:txBody>
            <a:bodyPr wrap="square" rtlCol="0">
              <a:spAutoFit/>
            </a:bodyPr>
            <a:lstStyle/>
            <a:p>
              <a:pPr algn="ctr"/>
              <a:r>
                <a:rPr lang="pt-BR" b="1" dirty="0">
                  <a:solidFill>
                    <a:srgbClr val="7030A0"/>
                  </a:solidFill>
                  <a:highlight>
                    <a:srgbClr val="00FFFF"/>
                  </a:highlight>
                </a:rPr>
                <a:t>Entradas da próxima camada da rede neural</a:t>
              </a:r>
              <a:endParaRPr lang="en-US" b="1" dirty="0">
                <a:solidFill>
                  <a:srgbClr val="7030A0"/>
                </a:solidFill>
                <a:highlight>
                  <a:srgbClr val="00FFFF"/>
                </a:highlight>
              </a:endParaRPr>
            </a:p>
          </p:txBody>
        </p:sp>
      </p:grpSp>
      <p:sp>
        <p:nvSpPr>
          <p:cNvPr id="2" name="Retângulo 1"/>
          <p:cNvSpPr/>
          <p:nvPr/>
        </p:nvSpPr>
        <p:spPr>
          <a:xfrm>
            <a:off x="7214587" y="2408375"/>
            <a:ext cx="4638200" cy="2800767"/>
          </a:xfrm>
          <a:prstGeom prst="rect">
            <a:avLst/>
          </a:prstGeom>
        </p:spPr>
        <p:txBody>
          <a:bodyPr wrap="square">
            <a:spAutoFit/>
          </a:bodyPr>
          <a:lstStyle/>
          <a:p>
            <a:pPr algn="ctr"/>
            <a:r>
              <a:rPr lang="pt-BR" sz="4400" dirty="0" err="1"/>
              <a:t>MLPs</a:t>
            </a:r>
            <a:r>
              <a:rPr lang="pt-BR" sz="4400" dirty="0"/>
              <a:t> são redes densamente conectadas e de alimentação direta</a:t>
            </a:r>
          </a:p>
        </p:txBody>
      </p:sp>
    </p:spTree>
    <p:extLst>
      <p:ext uri="{BB962C8B-B14F-4D97-AF65-F5344CB8AC3E}">
        <p14:creationId xmlns:p14="http://schemas.microsoft.com/office/powerpoint/2010/main" val="899408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9AF09-2D36-1C96-F8B0-431B4FD8CFC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DEF320-0216-8F92-2370-F2CBE063FAC0}"/>
              </a:ext>
            </a:extLst>
          </p:cNvPr>
          <p:cNvSpPr>
            <a:spLocks noGrp="1"/>
          </p:cNvSpPr>
          <p:nvPr>
            <p:ph type="title"/>
          </p:nvPr>
        </p:nvSpPr>
        <p:spPr/>
        <p:txBody>
          <a:bodyPr/>
          <a:lstStyle/>
          <a:p>
            <a:r>
              <a:rPr lang="pt-BR" dirty="0"/>
              <a:t>Redes neurais artificiais</a:t>
            </a:r>
            <a:endParaRPr lang="pt-BR" i="1" dirty="0"/>
          </a:p>
        </p:txBody>
      </p:sp>
      <p:sp>
        <p:nvSpPr>
          <p:cNvPr id="3" name="Espaço Reservado para Conteúdo 2">
            <a:extLst>
              <a:ext uri="{FF2B5EF4-FFF2-40B4-BE49-F238E27FC236}">
                <a16:creationId xmlns:a16="http://schemas.microsoft.com/office/drawing/2014/main" id="{E7EAF4C3-D39B-6291-6EFB-AD306FF6F971}"/>
              </a:ext>
            </a:extLst>
          </p:cNvPr>
          <p:cNvSpPr>
            <a:spLocks noGrp="1"/>
          </p:cNvSpPr>
          <p:nvPr>
            <p:ph idx="1"/>
          </p:nvPr>
        </p:nvSpPr>
        <p:spPr>
          <a:xfrm>
            <a:off x="5613250" y="1825625"/>
            <a:ext cx="6578749" cy="5032375"/>
          </a:xfrm>
        </p:spPr>
        <p:txBody>
          <a:bodyPr>
            <a:normAutofit/>
          </a:bodyPr>
          <a:lstStyle/>
          <a:p>
            <a:r>
              <a:rPr lang="pt-BR" dirty="0"/>
              <a:t>As </a:t>
            </a:r>
            <a:r>
              <a:rPr lang="pt-BR" dirty="0" err="1"/>
              <a:t>MLPs</a:t>
            </a:r>
            <a:r>
              <a:rPr lang="pt-BR" dirty="0"/>
              <a:t> também são chamadas de </a:t>
            </a:r>
            <a:r>
              <a:rPr lang="pt-BR" b="1" dirty="0">
                <a:solidFill>
                  <a:srgbClr val="00B050"/>
                </a:solidFill>
              </a:rPr>
              <a:t>redes densamente conectadas e </a:t>
            </a:r>
            <a:r>
              <a:rPr lang="pt-BR" b="1" dirty="0">
                <a:solidFill>
                  <a:srgbClr val="0070C0"/>
                </a:solidFill>
              </a:rPr>
              <a:t>de alimentação direta</a:t>
            </a:r>
            <a:r>
              <a:rPr lang="pt-BR" b="1" dirty="0">
                <a:solidFill>
                  <a:srgbClr val="00B050"/>
                </a:solidFill>
              </a:rPr>
              <a:t> </a:t>
            </a:r>
            <a:r>
              <a:rPr lang="pt-BR" dirty="0"/>
              <a:t>(do inglês, </a:t>
            </a:r>
            <a:r>
              <a:rPr lang="pt-BR" i="1" dirty="0" err="1"/>
              <a:t>Dense</a:t>
            </a:r>
            <a:r>
              <a:rPr lang="pt-BR" i="1" dirty="0"/>
              <a:t> Neural Networks</a:t>
            </a:r>
            <a:r>
              <a:rPr lang="pt-BR" dirty="0"/>
              <a:t> - </a:t>
            </a:r>
            <a:r>
              <a:rPr lang="pt-BR" dirty="0" err="1"/>
              <a:t>DNNs</a:t>
            </a:r>
            <a:r>
              <a:rPr lang="pt-BR" dirty="0"/>
              <a:t>).</a:t>
            </a:r>
          </a:p>
          <a:p>
            <a:pPr lvl="1">
              <a:buFont typeface="Wingdings" panose="05000000000000000000" pitchFamily="2" charset="2"/>
              <a:buChar char="§"/>
            </a:pPr>
            <a:r>
              <a:rPr lang="pt-BR" dirty="0"/>
              <a:t>Cada uma das saídas de uma camada </a:t>
            </a:r>
            <a:r>
              <a:rPr lang="pt-BR" b="1" dirty="0">
                <a:solidFill>
                  <a:srgbClr val="7030A0"/>
                </a:solidFill>
              </a:rPr>
              <a:t>se conecta a todos os nós</a:t>
            </a:r>
            <a:r>
              <a:rPr lang="pt-BR" dirty="0"/>
              <a:t> da camada seguinte através de pesos sinápticos.</a:t>
            </a:r>
          </a:p>
          <a:p>
            <a:pPr lvl="1">
              <a:buFont typeface="Wingdings" panose="05000000000000000000" pitchFamily="2" charset="2"/>
              <a:buChar char="§"/>
            </a:pPr>
            <a:r>
              <a:rPr lang="pt-BR" dirty="0"/>
              <a:t>Os </a:t>
            </a:r>
            <a:r>
              <a:rPr lang="pt-BR" b="1" dirty="0">
                <a:solidFill>
                  <a:srgbClr val="7030A0"/>
                </a:solidFill>
              </a:rPr>
              <a:t>dados fluem através da rede em uma única direção</a:t>
            </a:r>
            <a:r>
              <a:rPr lang="pt-BR" dirty="0"/>
              <a:t>, da camada de entrada para a camada de saída, </a:t>
            </a:r>
            <a:r>
              <a:rPr lang="pt-BR" b="1" dirty="0">
                <a:solidFill>
                  <a:srgbClr val="0070C0"/>
                </a:solidFill>
              </a:rPr>
              <a:t>sem realimentação</a:t>
            </a:r>
            <a:r>
              <a:rPr lang="pt-BR" dirty="0"/>
              <a:t>.</a:t>
            </a:r>
          </a:p>
        </p:txBody>
      </p:sp>
      <p:grpSp>
        <p:nvGrpSpPr>
          <p:cNvPr id="4" name="Group 3">
            <a:extLst>
              <a:ext uri="{FF2B5EF4-FFF2-40B4-BE49-F238E27FC236}">
                <a16:creationId xmlns:a16="http://schemas.microsoft.com/office/drawing/2014/main" id="{D924ED20-DB0B-B274-ED07-B46D83830178}"/>
              </a:ext>
            </a:extLst>
          </p:cNvPr>
          <p:cNvGrpSpPr/>
          <p:nvPr/>
        </p:nvGrpSpPr>
        <p:grpSpPr>
          <a:xfrm>
            <a:off x="653454" y="2071496"/>
            <a:ext cx="4240583" cy="3792091"/>
            <a:chOff x="294226" y="2506925"/>
            <a:chExt cx="4240583" cy="3792091"/>
          </a:xfrm>
        </p:grpSpPr>
        <p:sp>
          <p:nvSpPr>
            <p:cNvPr id="5" name="Elipse 77">
              <a:extLst>
                <a:ext uri="{FF2B5EF4-FFF2-40B4-BE49-F238E27FC236}">
                  <a16:creationId xmlns:a16="http://schemas.microsoft.com/office/drawing/2014/main" id="{29948293-D84F-2EEA-726F-6E2D0DC63AC9}"/>
                </a:ext>
              </a:extLst>
            </p:cNvPr>
            <p:cNvSpPr/>
            <p:nvPr/>
          </p:nvSpPr>
          <p:spPr>
            <a:xfrm>
              <a:off x="2492828" y="3402579"/>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Elipse 78">
              <a:extLst>
                <a:ext uri="{FF2B5EF4-FFF2-40B4-BE49-F238E27FC236}">
                  <a16:creationId xmlns:a16="http://schemas.microsoft.com/office/drawing/2014/main" id="{2F884F2B-D676-BE90-F55A-AE2E4A1EB93E}"/>
                </a:ext>
              </a:extLst>
            </p:cNvPr>
            <p:cNvSpPr/>
            <p:nvPr/>
          </p:nvSpPr>
          <p:spPr>
            <a:xfrm>
              <a:off x="2492827" y="4121036"/>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9" name="Elipse 79">
              <a:extLst>
                <a:ext uri="{FF2B5EF4-FFF2-40B4-BE49-F238E27FC236}">
                  <a16:creationId xmlns:a16="http://schemas.microsoft.com/office/drawing/2014/main" id="{B14FBD0A-FD76-660B-B239-715AA790B8C2}"/>
                </a:ext>
              </a:extLst>
            </p:cNvPr>
            <p:cNvSpPr/>
            <p:nvPr/>
          </p:nvSpPr>
          <p:spPr>
            <a:xfrm>
              <a:off x="2492827" y="4839493"/>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0" name="Elipse 81">
              <a:extLst>
                <a:ext uri="{FF2B5EF4-FFF2-40B4-BE49-F238E27FC236}">
                  <a16:creationId xmlns:a16="http://schemas.microsoft.com/office/drawing/2014/main" id="{06D55CDC-7A7A-6C7C-5081-BFBD4A87BCD5}"/>
                </a:ext>
              </a:extLst>
            </p:cNvPr>
            <p:cNvSpPr/>
            <p:nvPr/>
          </p:nvSpPr>
          <p:spPr>
            <a:xfrm>
              <a:off x="3450770" y="3864817"/>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1" name="Elipse 82">
              <a:extLst>
                <a:ext uri="{FF2B5EF4-FFF2-40B4-BE49-F238E27FC236}">
                  <a16:creationId xmlns:a16="http://schemas.microsoft.com/office/drawing/2014/main" id="{F35A5214-8555-DC80-A79A-F480CA0BC45E}"/>
                </a:ext>
              </a:extLst>
            </p:cNvPr>
            <p:cNvSpPr/>
            <p:nvPr/>
          </p:nvSpPr>
          <p:spPr>
            <a:xfrm>
              <a:off x="3450769" y="4583274"/>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2" name="Elipse 83">
              <a:extLst>
                <a:ext uri="{FF2B5EF4-FFF2-40B4-BE49-F238E27FC236}">
                  <a16:creationId xmlns:a16="http://schemas.microsoft.com/office/drawing/2014/main" id="{FBB24D42-87E9-834C-F859-0D3ECB27FA6E}"/>
                </a:ext>
              </a:extLst>
            </p:cNvPr>
            <p:cNvSpPr/>
            <p:nvPr/>
          </p:nvSpPr>
          <p:spPr>
            <a:xfrm>
              <a:off x="1534884" y="29299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3" name="Elipse 84">
              <a:extLst>
                <a:ext uri="{FF2B5EF4-FFF2-40B4-BE49-F238E27FC236}">
                  <a16:creationId xmlns:a16="http://schemas.microsoft.com/office/drawing/2014/main" id="{10B7C2A0-948F-EA7C-F037-18B4BDC907C3}"/>
                </a:ext>
              </a:extLst>
            </p:cNvPr>
            <p:cNvSpPr/>
            <p:nvPr/>
          </p:nvSpPr>
          <p:spPr>
            <a:xfrm>
              <a:off x="1534884" y="36856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4" name="Elipse 85">
              <a:extLst>
                <a:ext uri="{FF2B5EF4-FFF2-40B4-BE49-F238E27FC236}">
                  <a16:creationId xmlns:a16="http://schemas.microsoft.com/office/drawing/2014/main" id="{28CE139E-ED6D-C9B8-5A46-3EDBED04F987}"/>
                </a:ext>
              </a:extLst>
            </p:cNvPr>
            <p:cNvSpPr/>
            <p:nvPr/>
          </p:nvSpPr>
          <p:spPr>
            <a:xfrm>
              <a:off x="1534884" y="44412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5" name="Conector de Seta Reta 86">
              <a:extLst>
                <a:ext uri="{FF2B5EF4-FFF2-40B4-BE49-F238E27FC236}">
                  <a16:creationId xmlns:a16="http://schemas.microsoft.com/office/drawing/2014/main" id="{92D91658-C06E-945B-93C9-F40A6754DFCE}"/>
                </a:ext>
              </a:extLst>
            </p:cNvPr>
            <p:cNvCxnSpPr>
              <a:cxnSpLocks/>
              <a:stCxn id="72" idx="6"/>
              <a:endCxn id="5" idx="2"/>
            </p:cNvCxnSpPr>
            <p:nvPr/>
          </p:nvCxnSpPr>
          <p:spPr>
            <a:xfrm>
              <a:off x="2100941" y="3212987"/>
              <a:ext cx="391887" cy="472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ector de Seta Reta 87">
              <a:extLst>
                <a:ext uri="{FF2B5EF4-FFF2-40B4-BE49-F238E27FC236}">
                  <a16:creationId xmlns:a16="http://schemas.microsoft.com/office/drawing/2014/main" id="{8BF8ADC7-9AB4-84BF-58B6-F32F694D6D0F}"/>
                </a:ext>
              </a:extLst>
            </p:cNvPr>
            <p:cNvCxnSpPr>
              <a:stCxn id="72" idx="6"/>
              <a:endCxn id="6" idx="2"/>
            </p:cNvCxnSpPr>
            <p:nvPr/>
          </p:nvCxnSpPr>
          <p:spPr>
            <a:xfrm>
              <a:off x="2100941" y="3212987"/>
              <a:ext cx="391886" cy="1191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Conector de Seta Reta 88">
              <a:extLst>
                <a:ext uri="{FF2B5EF4-FFF2-40B4-BE49-F238E27FC236}">
                  <a16:creationId xmlns:a16="http://schemas.microsoft.com/office/drawing/2014/main" id="{7C3C37D3-91EA-E597-8145-3E0EDDB8F60C}"/>
                </a:ext>
              </a:extLst>
            </p:cNvPr>
            <p:cNvCxnSpPr>
              <a:stCxn id="72" idx="6"/>
              <a:endCxn id="69" idx="2"/>
            </p:cNvCxnSpPr>
            <p:nvPr/>
          </p:nvCxnSpPr>
          <p:spPr>
            <a:xfrm>
              <a:off x="2100941" y="3212987"/>
              <a:ext cx="391886" cy="1909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Conector de Seta Reta 90">
              <a:extLst>
                <a:ext uri="{FF2B5EF4-FFF2-40B4-BE49-F238E27FC236}">
                  <a16:creationId xmlns:a16="http://schemas.microsoft.com/office/drawing/2014/main" id="{8C99D29D-DF0E-D6CE-8E07-2C192DE2D207}"/>
                </a:ext>
              </a:extLst>
            </p:cNvPr>
            <p:cNvCxnSpPr>
              <a:cxnSpLocks/>
              <a:stCxn id="73" idx="6"/>
              <a:endCxn id="5" idx="2"/>
            </p:cNvCxnSpPr>
            <p:nvPr/>
          </p:nvCxnSpPr>
          <p:spPr>
            <a:xfrm flipV="1">
              <a:off x="2100941" y="3685608"/>
              <a:ext cx="391887" cy="283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Conector de Seta Reta 91">
              <a:extLst>
                <a:ext uri="{FF2B5EF4-FFF2-40B4-BE49-F238E27FC236}">
                  <a16:creationId xmlns:a16="http://schemas.microsoft.com/office/drawing/2014/main" id="{F96EA774-239F-1834-0663-92FB36C61AD2}"/>
                </a:ext>
              </a:extLst>
            </p:cNvPr>
            <p:cNvCxnSpPr>
              <a:stCxn id="74" idx="6"/>
              <a:endCxn id="6" idx="2"/>
            </p:cNvCxnSpPr>
            <p:nvPr/>
          </p:nvCxnSpPr>
          <p:spPr>
            <a:xfrm flipV="1">
              <a:off x="2100941" y="4404065"/>
              <a:ext cx="391886" cy="320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Conector de Seta Reta 92">
              <a:extLst>
                <a:ext uri="{FF2B5EF4-FFF2-40B4-BE49-F238E27FC236}">
                  <a16:creationId xmlns:a16="http://schemas.microsoft.com/office/drawing/2014/main" id="{2C46ADD9-5CE2-264A-3F1B-85302074545E}"/>
                </a:ext>
              </a:extLst>
            </p:cNvPr>
            <p:cNvCxnSpPr>
              <a:stCxn id="73" idx="6"/>
              <a:endCxn id="6" idx="2"/>
            </p:cNvCxnSpPr>
            <p:nvPr/>
          </p:nvCxnSpPr>
          <p:spPr>
            <a:xfrm>
              <a:off x="2100941" y="3968637"/>
              <a:ext cx="391886" cy="435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Conector de Seta Reta 93">
              <a:extLst>
                <a:ext uri="{FF2B5EF4-FFF2-40B4-BE49-F238E27FC236}">
                  <a16:creationId xmlns:a16="http://schemas.microsoft.com/office/drawing/2014/main" id="{FF6F99C4-65EB-D71D-708E-22F5AEE1169A}"/>
                </a:ext>
              </a:extLst>
            </p:cNvPr>
            <p:cNvCxnSpPr>
              <a:stCxn id="73" idx="6"/>
              <a:endCxn id="69" idx="2"/>
            </p:cNvCxnSpPr>
            <p:nvPr/>
          </p:nvCxnSpPr>
          <p:spPr>
            <a:xfrm>
              <a:off x="2100941" y="3968637"/>
              <a:ext cx="391886" cy="1153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Conector de Seta Reta 96">
              <a:extLst>
                <a:ext uri="{FF2B5EF4-FFF2-40B4-BE49-F238E27FC236}">
                  <a16:creationId xmlns:a16="http://schemas.microsoft.com/office/drawing/2014/main" id="{987B39F3-CDB7-E9A6-7B95-D31E70170B3E}"/>
                </a:ext>
              </a:extLst>
            </p:cNvPr>
            <p:cNvCxnSpPr>
              <a:stCxn id="74" idx="6"/>
              <a:endCxn id="69" idx="2"/>
            </p:cNvCxnSpPr>
            <p:nvPr/>
          </p:nvCxnSpPr>
          <p:spPr>
            <a:xfrm>
              <a:off x="2100941" y="4724287"/>
              <a:ext cx="391886" cy="398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Conector de Seta Reta 98">
              <a:extLst>
                <a:ext uri="{FF2B5EF4-FFF2-40B4-BE49-F238E27FC236}">
                  <a16:creationId xmlns:a16="http://schemas.microsoft.com/office/drawing/2014/main" id="{4B18193A-6A5C-66DF-5BFE-94EFCE1991CE}"/>
                </a:ext>
              </a:extLst>
            </p:cNvPr>
            <p:cNvCxnSpPr>
              <a:stCxn id="5" idx="6"/>
              <a:endCxn id="70" idx="2"/>
            </p:cNvCxnSpPr>
            <p:nvPr/>
          </p:nvCxnSpPr>
          <p:spPr>
            <a:xfrm>
              <a:off x="3058885" y="3685608"/>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Conector de Seta Reta 99">
              <a:extLst>
                <a:ext uri="{FF2B5EF4-FFF2-40B4-BE49-F238E27FC236}">
                  <a16:creationId xmlns:a16="http://schemas.microsoft.com/office/drawing/2014/main" id="{22D12D0A-B338-6C33-AD76-99297BA89D75}"/>
                </a:ext>
              </a:extLst>
            </p:cNvPr>
            <p:cNvCxnSpPr>
              <a:stCxn id="6" idx="6"/>
              <a:endCxn id="71" idx="2"/>
            </p:cNvCxnSpPr>
            <p:nvPr/>
          </p:nvCxnSpPr>
          <p:spPr>
            <a:xfrm>
              <a:off x="3058884" y="4404065"/>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Conector de Seta Reta 100">
              <a:extLst>
                <a:ext uri="{FF2B5EF4-FFF2-40B4-BE49-F238E27FC236}">
                  <a16:creationId xmlns:a16="http://schemas.microsoft.com/office/drawing/2014/main" id="{024A7AC3-1750-DE11-B8BD-6F33398E5538}"/>
                </a:ext>
              </a:extLst>
            </p:cNvPr>
            <p:cNvCxnSpPr>
              <a:stCxn id="69" idx="6"/>
              <a:endCxn id="71" idx="2"/>
            </p:cNvCxnSpPr>
            <p:nvPr/>
          </p:nvCxnSpPr>
          <p:spPr>
            <a:xfrm flipV="1">
              <a:off x="3058884" y="4866303"/>
              <a:ext cx="391885"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Conector de Seta Reta 102">
              <a:extLst>
                <a:ext uri="{FF2B5EF4-FFF2-40B4-BE49-F238E27FC236}">
                  <a16:creationId xmlns:a16="http://schemas.microsoft.com/office/drawing/2014/main" id="{98E2E661-5627-796C-27AE-57FC373176FD}"/>
                </a:ext>
              </a:extLst>
            </p:cNvPr>
            <p:cNvCxnSpPr>
              <a:cxnSpLocks/>
              <a:stCxn id="5" idx="6"/>
              <a:endCxn id="71" idx="2"/>
            </p:cNvCxnSpPr>
            <p:nvPr/>
          </p:nvCxnSpPr>
          <p:spPr>
            <a:xfrm>
              <a:off x="3058885" y="3685608"/>
              <a:ext cx="391884" cy="1180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Conector de Seta Reta 103">
              <a:extLst>
                <a:ext uri="{FF2B5EF4-FFF2-40B4-BE49-F238E27FC236}">
                  <a16:creationId xmlns:a16="http://schemas.microsoft.com/office/drawing/2014/main" id="{3958AEFF-A6B3-8BA9-1E1B-456F88797EEE}"/>
                </a:ext>
              </a:extLst>
            </p:cNvPr>
            <p:cNvCxnSpPr>
              <a:stCxn id="6" idx="6"/>
              <a:endCxn id="70" idx="2"/>
            </p:cNvCxnSpPr>
            <p:nvPr/>
          </p:nvCxnSpPr>
          <p:spPr>
            <a:xfrm flipV="1">
              <a:off x="3058884" y="4147846"/>
              <a:ext cx="391886"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Conector de Seta Reta 104">
              <a:extLst>
                <a:ext uri="{FF2B5EF4-FFF2-40B4-BE49-F238E27FC236}">
                  <a16:creationId xmlns:a16="http://schemas.microsoft.com/office/drawing/2014/main" id="{F62ED6E5-B26E-12EE-0859-CB7F858AC4E6}"/>
                </a:ext>
              </a:extLst>
            </p:cNvPr>
            <p:cNvCxnSpPr>
              <a:stCxn id="69" idx="6"/>
              <a:endCxn id="70" idx="2"/>
            </p:cNvCxnSpPr>
            <p:nvPr/>
          </p:nvCxnSpPr>
          <p:spPr>
            <a:xfrm flipV="1">
              <a:off x="3058884" y="4147846"/>
              <a:ext cx="391886" cy="974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CaixaDeTexto 106">
              <a:extLst>
                <a:ext uri="{FF2B5EF4-FFF2-40B4-BE49-F238E27FC236}">
                  <a16:creationId xmlns:a16="http://schemas.microsoft.com/office/drawing/2014/main" id="{00F05F67-8F3F-A953-F291-CE95FAC0320E}"/>
                </a:ext>
              </a:extLst>
            </p:cNvPr>
            <p:cNvSpPr txBox="1"/>
            <p:nvPr/>
          </p:nvSpPr>
          <p:spPr>
            <a:xfrm>
              <a:off x="3173179" y="3100768"/>
              <a:ext cx="1230086" cy="307777"/>
            </a:xfrm>
            <a:prstGeom prst="rect">
              <a:avLst/>
            </a:prstGeom>
            <a:noFill/>
          </p:spPr>
          <p:txBody>
            <a:bodyPr wrap="square" rtlCol="0">
              <a:spAutoFit/>
            </a:bodyPr>
            <a:lstStyle/>
            <a:p>
              <a:r>
                <a:rPr lang="pt-BR" sz="1400" dirty="0"/>
                <a:t>Neurônio</a:t>
              </a:r>
            </a:p>
          </p:txBody>
        </p:sp>
        <p:sp>
          <p:nvSpPr>
            <p:cNvPr id="90" name="Forma Livre: Forma 107">
              <a:extLst>
                <a:ext uri="{FF2B5EF4-FFF2-40B4-BE49-F238E27FC236}">
                  <a16:creationId xmlns:a16="http://schemas.microsoft.com/office/drawing/2014/main" id="{712F7096-5996-19BB-2D9E-7DC0B82B8E5F}"/>
                </a:ext>
              </a:extLst>
            </p:cNvPr>
            <p:cNvSpPr/>
            <p:nvPr/>
          </p:nvSpPr>
          <p:spPr>
            <a:xfrm>
              <a:off x="2786734" y="3216700"/>
              <a:ext cx="413657" cy="166042"/>
            </a:xfrm>
            <a:custGeom>
              <a:avLst/>
              <a:gdLst>
                <a:gd name="connsiteX0" fmla="*/ 0 w 413657"/>
                <a:gd name="connsiteY0" fmla="*/ 166042 h 166042"/>
                <a:gd name="connsiteX1" fmla="*/ 76200 w 413657"/>
                <a:gd name="connsiteY1" fmla="*/ 2756 h 166042"/>
                <a:gd name="connsiteX2" fmla="*/ 413657 w 413657"/>
                <a:gd name="connsiteY2" fmla="*/ 78956 h 166042"/>
              </a:gdLst>
              <a:ahLst/>
              <a:cxnLst>
                <a:cxn ang="0">
                  <a:pos x="connsiteX0" y="connsiteY0"/>
                </a:cxn>
                <a:cxn ang="0">
                  <a:pos x="connsiteX1" y="connsiteY1"/>
                </a:cxn>
                <a:cxn ang="0">
                  <a:pos x="connsiteX2" y="connsiteY2"/>
                </a:cxn>
              </a:cxnLst>
              <a:rect l="l" t="t" r="r" b="b"/>
              <a:pathLst>
                <a:path w="413657" h="166042">
                  <a:moveTo>
                    <a:pt x="0" y="166042"/>
                  </a:moveTo>
                  <a:cubicBezTo>
                    <a:pt x="3628" y="91656"/>
                    <a:pt x="7257" y="17270"/>
                    <a:pt x="76200" y="2756"/>
                  </a:cubicBezTo>
                  <a:cubicBezTo>
                    <a:pt x="145143" y="-11758"/>
                    <a:pt x="279400" y="33599"/>
                    <a:pt x="413657" y="7895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91" name="Conector reto 112">
              <a:extLst>
                <a:ext uri="{FF2B5EF4-FFF2-40B4-BE49-F238E27FC236}">
                  <a16:creationId xmlns:a16="http://schemas.microsoft.com/office/drawing/2014/main" id="{ADFEE403-5C40-93EB-58F6-232F55E47F45}"/>
                </a:ext>
              </a:extLst>
            </p:cNvPr>
            <p:cNvCxnSpPr>
              <a:cxnSpLocks/>
              <a:stCxn id="127" idx="6"/>
              <a:endCxn id="73" idx="2"/>
            </p:cNvCxnSpPr>
            <p:nvPr/>
          </p:nvCxnSpPr>
          <p:spPr>
            <a:xfrm>
              <a:off x="944681" y="3219656"/>
              <a:ext cx="590203" cy="7489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Conector de Seta Reta 113">
              <a:extLst>
                <a:ext uri="{FF2B5EF4-FFF2-40B4-BE49-F238E27FC236}">
                  <a16:creationId xmlns:a16="http://schemas.microsoft.com/office/drawing/2014/main" id="{D682A7AD-C53E-6B36-9846-0ACF902AB3D8}"/>
                </a:ext>
              </a:extLst>
            </p:cNvPr>
            <p:cNvCxnSpPr>
              <a:cxnSpLocks/>
              <a:stCxn id="70" idx="6"/>
              <a:endCxn id="94" idx="1"/>
            </p:cNvCxnSpPr>
            <p:nvPr/>
          </p:nvCxnSpPr>
          <p:spPr>
            <a:xfrm>
              <a:off x="4016827" y="4147846"/>
              <a:ext cx="251280" cy="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ector de Seta Reta 114">
              <a:extLst>
                <a:ext uri="{FF2B5EF4-FFF2-40B4-BE49-F238E27FC236}">
                  <a16:creationId xmlns:a16="http://schemas.microsoft.com/office/drawing/2014/main" id="{0B09B6F2-9B8C-124B-EE2A-EBD1004DDA67}"/>
                </a:ext>
              </a:extLst>
            </p:cNvPr>
            <p:cNvCxnSpPr>
              <a:cxnSpLocks/>
              <a:stCxn id="71" idx="6"/>
            </p:cNvCxnSpPr>
            <p:nvPr/>
          </p:nvCxnSpPr>
          <p:spPr>
            <a:xfrm>
              <a:off x="4016826" y="4866303"/>
              <a:ext cx="272141" cy="5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4" name="CaixaDeTexto 5">
                  <a:extLst>
                    <a:ext uri="{FF2B5EF4-FFF2-40B4-BE49-F238E27FC236}">
                      <a16:creationId xmlns:a16="http://schemas.microsoft.com/office/drawing/2014/main" id="{6287D2CB-DA65-2DEA-359C-E4FB0935D7B1}"/>
                    </a:ext>
                  </a:extLst>
                </p:cNvPr>
                <p:cNvSpPr txBox="1"/>
                <p:nvPr/>
              </p:nvSpPr>
              <p:spPr>
                <a:xfrm>
                  <a:off x="4268107" y="3963524"/>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1</m:t>
                            </m:r>
                          </m:sub>
                        </m:sSub>
                      </m:oMath>
                    </m:oMathPara>
                  </a14:m>
                  <a:endParaRPr lang="pt-BR" dirty="0"/>
                </a:p>
              </p:txBody>
            </p:sp>
          </mc:Choice>
          <mc:Fallback xmlns="">
            <p:sp>
              <p:nvSpPr>
                <p:cNvPr id="94" name="CaixaDeTexto 5">
                  <a:extLst>
                    <a:ext uri="{FF2B5EF4-FFF2-40B4-BE49-F238E27FC236}">
                      <a16:creationId xmlns:a16="http://schemas.microsoft.com/office/drawing/2014/main" id="{6287D2CB-DA65-2DEA-359C-E4FB0935D7B1}"/>
                    </a:ext>
                  </a:extLst>
                </p:cNvPr>
                <p:cNvSpPr txBox="1">
                  <a:spLocks noRot="1" noChangeAspect="1" noMove="1" noResize="1" noEditPoints="1" noAdjustHandles="1" noChangeArrowheads="1" noChangeShapeType="1" noTextEdit="1"/>
                </p:cNvSpPr>
                <p:nvPr/>
              </p:nvSpPr>
              <p:spPr>
                <a:xfrm>
                  <a:off x="4268107" y="3963524"/>
                  <a:ext cx="266702" cy="369332"/>
                </a:xfrm>
                <a:prstGeom prst="rect">
                  <a:avLst/>
                </a:prstGeom>
                <a:blipFill>
                  <a:blip r:embed="rId3"/>
                  <a:stretch>
                    <a:fillRect t="-6667" r="-34091"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CaixaDeTexto 6">
                  <a:extLst>
                    <a:ext uri="{FF2B5EF4-FFF2-40B4-BE49-F238E27FC236}">
                      <a16:creationId xmlns:a16="http://schemas.microsoft.com/office/drawing/2014/main" id="{A3231782-8414-5002-E314-41DD851D3A4E}"/>
                    </a:ext>
                  </a:extLst>
                </p:cNvPr>
                <p:cNvSpPr txBox="1"/>
                <p:nvPr/>
              </p:nvSpPr>
              <p:spPr>
                <a:xfrm>
                  <a:off x="4268107" y="4681637"/>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2</m:t>
                            </m:r>
                          </m:sub>
                        </m:sSub>
                      </m:oMath>
                    </m:oMathPara>
                  </a14:m>
                  <a:endParaRPr lang="pt-BR" dirty="0"/>
                </a:p>
              </p:txBody>
            </p:sp>
          </mc:Choice>
          <mc:Fallback xmlns="">
            <p:sp>
              <p:nvSpPr>
                <p:cNvPr id="95" name="CaixaDeTexto 6">
                  <a:extLst>
                    <a:ext uri="{FF2B5EF4-FFF2-40B4-BE49-F238E27FC236}">
                      <a16:creationId xmlns:a16="http://schemas.microsoft.com/office/drawing/2014/main" id="{A3231782-8414-5002-E314-41DD851D3A4E}"/>
                    </a:ext>
                  </a:extLst>
                </p:cNvPr>
                <p:cNvSpPr txBox="1">
                  <a:spLocks noRot="1" noChangeAspect="1" noMove="1" noResize="1" noEditPoints="1" noAdjustHandles="1" noChangeArrowheads="1" noChangeShapeType="1" noTextEdit="1"/>
                </p:cNvSpPr>
                <p:nvPr/>
              </p:nvSpPr>
              <p:spPr>
                <a:xfrm>
                  <a:off x="4268107" y="4681637"/>
                  <a:ext cx="266702" cy="369332"/>
                </a:xfrm>
                <a:prstGeom prst="rect">
                  <a:avLst/>
                </a:prstGeom>
                <a:blipFill>
                  <a:blip r:embed="rId4"/>
                  <a:stretch>
                    <a:fillRect t="-6667" r="-36364" b="-6667"/>
                  </a:stretch>
                </a:blipFill>
              </p:spPr>
              <p:txBody>
                <a:bodyPr/>
                <a:lstStyle/>
                <a:p>
                  <a:r>
                    <a:rPr lang="en-US">
                      <a:noFill/>
                    </a:rPr>
                    <a:t> </a:t>
                  </a:r>
                </a:p>
              </p:txBody>
            </p:sp>
          </mc:Fallback>
        </mc:AlternateContent>
        <p:grpSp>
          <p:nvGrpSpPr>
            <p:cNvPr id="96" name="Group 95">
              <a:extLst>
                <a:ext uri="{FF2B5EF4-FFF2-40B4-BE49-F238E27FC236}">
                  <a16:creationId xmlns:a16="http://schemas.microsoft.com/office/drawing/2014/main" id="{2BA9E097-F984-A14E-6970-260F32726E82}"/>
                </a:ext>
              </a:extLst>
            </p:cNvPr>
            <p:cNvGrpSpPr/>
            <p:nvPr/>
          </p:nvGrpSpPr>
          <p:grpSpPr>
            <a:xfrm>
              <a:off x="607920" y="3007376"/>
              <a:ext cx="336761" cy="369332"/>
              <a:chOff x="922561" y="2974265"/>
              <a:chExt cx="336761" cy="369332"/>
            </a:xfrm>
          </p:grpSpPr>
          <mc:AlternateContent xmlns:mc="http://schemas.openxmlformats.org/markup-compatibility/2006" xmlns:a14="http://schemas.microsoft.com/office/drawing/2010/main">
            <mc:Choice Requires="a14">
              <p:sp>
                <p:nvSpPr>
                  <p:cNvPr id="126" name="CaixaDeTexto 115">
                    <a:extLst>
                      <a:ext uri="{FF2B5EF4-FFF2-40B4-BE49-F238E27FC236}">
                        <a16:creationId xmlns:a16="http://schemas.microsoft.com/office/drawing/2014/main" id="{D2809C79-1170-E3F5-06A4-2BD22C1E9BCC}"/>
                      </a:ext>
                    </a:extLst>
                  </p:cNvPr>
                  <p:cNvSpPr txBox="1"/>
                  <p:nvPr/>
                </p:nvSpPr>
                <p:spPr>
                  <a:xfrm>
                    <a:off x="922561" y="2974265"/>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126" name="CaixaDeTexto 115">
                    <a:extLst>
                      <a:ext uri="{FF2B5EF4-FFF2-40B4-BE49-F238E27FC236}">
                        <a16:creationId xmlns:a16="http://schemas.microsoft.com/office/drawing/2014/main" id="{D2809C79-1170-E3F5-06A4-2BD22C1E9BCC}"/>
                      </a:ext>
                    </a:extLst>
                  </p:cNvPr>
                  <p:cNvSpPr txBox="1">
                    <a:spLocks noRot="1" noChangeAspect="1" noMove="1" noResize="1" noEditPoints="1" noAdjustHandles="1" noChangeArrowheads="1" noChangeShapeType="1" noTextEdit="1"/>
                  </p:cNvSpPr>
                  <p:nvPr/>
                </p:nvSpPr>
                <p:spPr>
                  <a:xfrm>
                    <a:off x="922561" y="2974265"/>
                    <a:ext cx="266702" cy="369332"/>
                  </a:xfrm>
                  <a:prstGeom prst="rect">
                    <a:avLst/>
                  </a:prstGeom>
                  <a:blipFill>
                    <a:blip r:embed="rId5"/>
                    <a:stretch>
                      <a:fillRect r="-37209"/>
                    </a:stretch>
                  </a:blipFill>
                </p:spPr>
                <p:txBody>
                  <a:bodyPr/>
                  <a:lstStyle/>
                  <a:p>
                    <a:r>
                      <a:rPr lang="en-US">
                        <a:noFill/>
                      </a:rPr>
                      <a:t> </a:t>
                    </a:r>
                  </a:p>
                </p:txBody>
              </p:sp>
            </mc:Fallback>
          </mc:AlternateContent>
          <p:sp>
            <p:nvSpPr>
              <p:cNvPr id="127" name="Elipse 3">
                <a:extLst>
                  <a:ext uri="{FF2B5EF4-FFF2-40B4-BE49-F238E27FC236}">
                    <a16:creationId xmlns:a16="http://schemas.microsoft.com/office/drawing/2014/main" id="{DA555B05-15A9-7FC3-6752-F287C2EE7C9C}"/>
                  </a:ext>
                </a:extLst>
              </p:cNvPr>
              <p:cNvSpPr/>
              <p:nvPr/>
            </p:nvSpPr>
            <p:spPr>
              <a:xfrm>
                <a:off x="971322" y="3042545"/>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97" name="Elipse 83">
              <a:extLst>
                <a:ext uri="{FF2B5EF4-FFF2-40B4-BE49-F238E27FC236}">
                  <a16:creationId xmlns:a16="http://schemas.microsoft.com/office/drawing/2014/main" id="{69072751-CBC4-5501-9942-9D51B0542D0E}"/>
                </a:ext>
              </a:extLst>
            </p:cNvPr>
            <p:cNvSpPr/>
            <p:nvPr/>
          </p:nvSpPr>
          <p:spPr>
            <a:xfrm>
              <a:off x="1529435" y="51969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98" name="Group 97">
              <a:extLst>
                <a:ext uri="{FF2B5EF4-FFF2-40B4-BE49-F238E27FC236}">
                  <a16:creationId xmlns:a16="http://schemas.microsoft.com/office/drawing/2014/main" id="{1B1AC199-2E59-15CF-9FCC-7E96C524DE74}"/>
                </a:ext>
              </a:extLst>
            </p:cNvPr>
            <p:cNvGrpSpPr/>
            <p:nvPr/>
          </p:nvGrpSpPr>
          <p:grpSpPr>
            <a:xfrm>
              <a:off x="574549" y="5263520"/>
              <a:ext cx="349823" cy="369332"/>
              <a:chOff x="920926" y="4430876"/>
              <a:chExt cx="349823" cy="369332"/>
            </a:xfrm>
          </p:grpSpPr>
          <mc:AlternateContent xmlns:mc="http://schemas.openxmlformats.org/markup-compatibility/2006" xmlns:a14="http://schemas.microsoft.com/office/drawing/2010/main">
            <mc:Choice Requires="a14">
              <p:sp>
                <p:nvSpPr>
                  <p:cNvPr id="124" name="CaixaDeTexto 116">
                    <a:extLst>
                      <a:ext uri="{FF2B5EF4-FFF2-40B4-BE49-F238E27FC236}">
                        <a16:creationId xmlns:a16="http://schemas.microsoft.com/office/drawing/2014/main" id="{82AA9A43-B2CC-6208-F7C8-D6369344189D}"/>
                      </a:ext>
                    </a:extLst>
                  </p:cNvPr>
                  <p:cNvSpPr txBox="1"/>
                  <p:nvPr/>
                </p:nvSpPr>
                <p:spPr>
                  <a:xfrm>
                    <a:off x="920926" y="4430876"/>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124" name="CaixaDeTexto 116">
                    <a:extLst>
                      <a:ext uri="{FF2B5EF4-FFF2-40B4-BE49-F238E27FC236}">
                        <a16:creationId xmlns:a16="http://schemas.microsoft.com/office/drawing/2014/main" id="{82AA9A43-B2CC-6208-F7C8-D6369344189D}"/>
                      </a:ext>
                    </a:extLst>
                  </p:cNvPr>
                  <p:cNvSpPr txBox="1">
                    <a:spLocks noRot="1" noChangeAspect="1" noMove="1" noResize="1" noEditPoints="1" noAdjustHandles="1" noChangeArrowheads="1" noChangeShapeType="1" noTextEdit="1"/>
                  </p:cNvSpPr>
                  <p:nvPr/>
                </p:nvSpPr>
                <p:spPr>
                  <a:xfrm>
                    <a:off x="920926" y="4430876"/>
                    <a:ext cx="266702" cy="369332"/>
                  </a:xfrm>
                  <a:prstGeom prst="rect">
                    <a:avLst/>
                  </a:prstGeom>
                  <a:blipFill>
                    <a:blip r:embed="rId6"/>
                    <a:stretch>
                      <a:fillRect r="-36364"/>
                    </a:stretch>
                  </a:blipFill>
                </p:spPr>
                <p:txBody>
                  <a:bodyPr/>
                  <a:lstStyle/>
                  <a:p>
                    <a:r>
                      <a:rPr lang="en-US">
                        <a:noFill/>
                      </a:rPr>
                      <a:t> </a:t>
                    </a:r>
                  </a:p>
                </p:txBody>
              </p:sp>
            </mc:Fallback>
          </mc:AlternateContent>
          <p:sp>
            <p:nvSpPr>
              <p:cNvPr id="125" name="Elipse 4">
                <a:extLst>
                  <a:ext uri="{FF2B5EF4-FFF2-40B4-BE49-F238E27FC236}">
                    <a16:creationId xmlns:a16="http://schemas.microsoft.com/office/drawing/2014/main" id="{BBC7C3EF-33A0-D76D-C593-1DE7F3E77AAB}"/>
                  </a:ext>
                </a:extLst>
              </p:cNvPr>
              <p:cNvSpPr/>
              <p:nvPr/>
            </p:nvSpPr>
            <p:spPr>
              <a:xfrm>
                <a:off x="982749" y="4504166"/>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cxnSp>
          <p:nvCxnSpPr>
            <p:cNvPr id="99" name="Conector reto 112">
              <a:extLst>
                <a:ext uri="{FF2B5EF4-FFF2-40B4-BE49-F238E27FC236}">
                  <a16:creationId xmlns:a16="http://schemas.microsoft.com/office/drawing/2014/main" id="{989C1505-30AF-BECA-AF0B-0FBD106E9512}"/>
                </a:ext>
              </a:extLst>
            </p:cNvPr>
            <p:cNvCxnSpPr>
              <a:cxnSpLocks/>
              <a:stCxn id="127" idx="6"/>
              <a:endCxn id="72" idx="2"/>
            </p:cNvCxnSpPr>
            <p:nvPr/>
          </p:nvCxnSpPr>
          <p:spPr>
            <a:xfrm flipV="1">
              <a:off x="944681" y="3212987"/>
              <a:ext cx="590203" cy="6669"/>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0" name="Conector reto 112">
              <a:extLst>
                <a:ext uri="{FF2B5EF4-FFF2-40B4-BE49-F238E27FC236}">
                  <a16:creationId xmlns:a16="http://schemas.microsoft.com/office/drawing/2014/main" id="{740F23A5-4904-E5DA-2B07-CCA94675F536}"/>
                </a:ext>
              </a:extLst>
            </p:cNvPr>
            <p:cNvCxnSpPr>
              <a:cxnSpLocks/>
              <a:stCxn id="127" idx="6"/>
              <a:endCxn id="74" idx="2"/>
            </p:cNvCxnSpPr>
            <p:nvPr/>
          </p:nvCxnSpPr>
          <p:spPr>
            <a:xfrm>
              <a:off x="944681" y="3219656"/>
              <a:ext cx="590203" cy="150463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1" name="Conector reto 112">
              <a:extLst>
                <a:ext uri="{FF2B5EF4-FFF2-40B4-BE49-F238E27FC236}">
                  <a16:creationId xmlns:a16="http://schemas.microsoft.com/office/drawing/2014/main" id="{6BA72260-AC5F-EE29-C681-E0FE56E2FAE2}"/>
                </a:ext>
              </a:extLst>
            </p:cNvPr>
            <p:cNvCxnSpPr>
              <a:cxnSpLocks/>
              <a:stCxn id="127" idx="6"/>
              <a:endCxn id="97" idx="2"/>
            </p:cNvCxnSpPr>
            <p:nvPr/>
          </p:nvCxnSpPr>
          <p:spPr>
            <a:xfrm>
              <a:off x="944681" y="3219656"/>
              <a:ext cx="584754" cy="22602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2" name="Conector reto 112">
              <a:extLst>
                <a:ext uri="{FF2B5EF4-FFF2-40B4-BE49-F238E27FC236}">
                  <a16:creationId xmlns:a16="http://schemas.microsoft.com/office/drawing/2014/main" id="{70AD6C34-D213-4768-DFE5-30E3FD8A9274}"/>
                </a:ext>
              </a:extLst>
            </p:cNvPr>
            <p:cNvCxnSpPr>
              <a:cxnSpLocks/>
              <a:stCxn id="125" idx="6"/>
              <a:endCxn id="97" idx="2"/>
            </p:cNvCxnSpPr>
            <p:nvPr/>
          </p:nvCxnSpPr>
          <p:spPr>
            <a:xfrm flipV="1">
              <a:off x="924372" y="5479937"/>
              <a:ext cx="605063" cy="8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3" name="Conector reto 112">
              <a:extLst>
                <a:ext uri="{FF2B5EF4-FFF2-40B4-BE49-F238E27FC236}">
                  <a16:creationId xmlns:a16="http://schemas.microsoft.com/office/drawing/2014/main" id="{F9BEE6A4-F692-495A-9CFD-BD469082B688}"/>
                </a:ext>
              </a:extLst>
            </p:cNvPr>
            <p:cNvCxnSpPr>
              <a:cxnSpLocks/>
              <a:stCxn id="125" idx="6"/>
              <a:endCxn id="74" idx="2"/>
            </p:cNvCxnSpPr>
            <p:nvPr/>
          </p:nvCxnSpPr>
          <p:spPr>
            <a:xfrm flipV="1">
              <a:off x="924372" y="4724287"/>
              <a:ext cx="610512" cy="7565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4" name="Conector reto 112">
              <a:extLst>
                <a:ext uri="{FF2B5EF4-FFF2-40B4-BE49-F238E27FC236}">
                  <a16:creationId xmlns:a16="http://schemas.microsoft.com/office/drawing/2014/main" id="{9A6C4F21-2765-25CA-70F3-5C375B929F64}"/>
                </a:ext>
              </a:extLst>
            </p:cNvPr>
            <p:cNvCxnSpPr>
              <a:cxnSpLocks/>
              <a:stCxn id="125" idx="6"/>
            </p:cNvCxnSpPr>
            <p:nvPr/>
          </p:nvCxnSpPr>
          <p:spPr>
            <a:xfrm flipV="1">
              <a:off x="924372" y="3968637"/>
              <a:ext cx="610512" cy="15121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5" name="Conector reto 112">
              <a:extLst>
                <a:ext uri="{FF2B5EF4-FFF2-40B4-BE49-F238E27FC236}">
                  <a16:creationId xmlns:a16="http://schemas.microsoft.com/office/drawing/2014/main" id="{63798466-C789-1F7A-82E3-69D78349231B}"/>
                </a:ext>
              </a:extLst>
            </p:cNvPr>
            <p:cNvCxnSpPr>
              <a:cxnSpLocks/>
              <a:stCxn id="125" idx="6"/>
              <a:endCxn id="72" idx="2"/>
            </p:cNvCxnSpPr>
            <p:nvPr/>
          </p:nvCxnSpPr>
          <p:spPr>
            <a:xfrm flipV="1">
              <a:off x="924372" y="3212987"/>
              <a:ext cx="610512" cy="22678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6" name="Conector de Seta Reta 91">
              <a:extLst>
                <a:ext uri="{FF2B5EF4-FFF2-40B4-BE49-F238E27FC236}">
                  <a16:creationId xmlns:a16="http://schemas.microsoft.com/office/drawing/2014/main" id="{1DD9C884-DFA4-9AE4-8A09-D33FEA35CBD5}"/>
                </a:ext>
              </a:extLst>
            </p:cNvPr>
            <p:cNvCxnSpPr>
              <a:cxnSpLocks/>
              <a:stCxn id="74" idx="6"/>
              <a:endCxn id="5" idx="2"/>
            </p:cNvCxnSpPr>
            <p:nvPr/>
          </p:nvCxnSpPr>
          <p:spPr>
            <a:xfrm flipV="1">
              <a:off x="2100941" y="3685608"/>
              <a:ext cx="391887" cy="1038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Conector de Seta Reta 91">
              <a:extLst>
                <a:ext uri="{FF2B5EF4-FFF2-40B4-BE49-F238E27FC236}">
                  <a16:creationId xmlns:a16="http://schemas.microsoft.com/office/drawing/2014/main" id="{3B070BFC-E028-B134-DC7F-72BC97501822}"/>
                </a:ext>
              </a:extLst>
            </p:cNvPr>
            <p:cNvCxnSpPr>
              <a:cxnSpLocks/>
              <a:stCxn id="97" idx="6"/>
              <a:endCxn id="5" idx="2"/>
            </p:cNvCxnSpPr>
            <p:nvPr/>
          </p:nvCxnSpPr>
          <p:spPr>
            <a:xfrm flipV="1">
              <a:off x="2095492" y="3685608"/>
              <a:ext cx="397336" cy="1794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Conector de Seta Reta 91">
              <a:extLst>
                <a:ext uri="{FF2B5EF4-FFF2-40B4-BE49-F238E27FC236}">
                  <a16:creationId xmlns:a16="http://schemas.microsoft.com/office/drawing/2014/main" id="{3AA6D75A-2CDC-FAAC-A292-8231A1686310}"/>
                </a:ext>
              </a:extLst>
            </p:cNvPr>
            <p:cNvCxnSpPr>
              <a:cxnSpLocks/>
              <a:stCxn id="97" idx="6"/>
              <a:endCxn id="6" idx="2"/>
            </p:cNvCxnSpPr>
            <p:nvPr/>
          </p:nvCxnSpPr>
          <p:spPr>
            <a:xfrm flipV="1">
              <a:off x="2095492" y="4404065"/>
              <a:ext cx="397335" cy="1075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Conector de Seta Reta 91">
              <a:extLst>
                <a:ext uri="{FF2B5EF4-FFF2-40B4-BE49-F238E27FC236}">
                  <a16:creationId xmlns:a16="http://schemas.microsoft.com/office/drawing/2014/main" id="{453602BD-9660-20EB-A247-23CA601C0301}"/>
                </a:ext>
              </a:extLst>
            </p:cNvPr>
            <p:cNvCxnSpPr>
              <a:cxnSpLocks/>
              <a:stCxn id="97" idx="6"/>
              <a:endCxn id="69" idx="2"/>
            </p:cNvCxnSpPr>
            <p:nvPr/>
          </p:nvCxnSpPr>
          <p:spPr>
            <a:xfrm flipV="1">
              <a:off x="2095492" y="5122522"/>
              <a:ext cx="397335" cy="357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FAC5516A-DA74-40CF-A911-19265B8C59B1}"/>
                    </a:ext>
                  </a:extLst>
                </p:cNvPr>
                <p:cNvSpPr txBox="1"/>
                <p:nvPr/>
              </p:nvSpPr>
              <p:spPr>
                <a:xfrm>
                  <a:off x="956041" y="2865008"/>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110" name="TextBox 109">
                  <a:extLst>
                    <a:ext uri="{FF2B5EF4-FFF2-40B4-BE49-F238E27FC236}">
                      <a16:creationId xmlns:a16="http://schemas.microsoft.com/office/drawing/2014/main" id="{FAC5516A-DA74-40CF-A911-19265B8C59B1}"/>
                    </a:ext>
                  </a:extLst>
                </p:cNvPr>
                <p:cNvSpPr txBox="1">
                  <a:spLocks noRot="1" noChangeAspect="1" noMove="1" noResize="1" noEditPoints="1" noAdjustHandles="1" noChangeArrowheads="1" noChangeShapeType="1" noTextEdit="1"/>
                </p:cNvSpPr>
                <p:nvPr/>
              </p:nvSpPr>
              <p:spPr>
                <a:xfrm>
                  <a:off x="956041" y="2865008"/>
                  <a:ext cx="560538" cy="36131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48D4C541-9D72-795F-CB94-23277A8FECD2}"/>
                    </a:ext>
                  </a:extLst>
                </p:cNvPr>
                <p:cNvSpPr txBox="1"/>
                <p:nvPr/>
              </p:nvSpPr>
              <p:spPr>
                <a:xfrm rot="3068437">
                  <a:off x="1020572" y="321965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12</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111" name="TextBox 110">
                  <a:extLst>
                    <a:ext uri="{FF2B5EF4-FFF2-40B4-BE49-F238E27FC236}">
                      <a16:creationId xmlns:a16="http://schemas.microsoft.com/office/drawing/2014/main" id="{48D4C541-9D72-795F-CB94-23277A8FECD2}"/>
                    </a:ext>
                  </a:extLst>
                </p:cNvPr>
                <p:cNvSpPr txBox="1">
                  <a:spLocks noRot="1" noChangeAspect="1" noMove="1" noResize="1" noEditPoints="1" noAdjustHandles="1" noChangeArrowheads="1" noChangeShapeType="1" noTextEdit="1"/>
                </p:cNvSpPr>
                <p:nvPr/>
              </p:nvSpPr>
              <p:spPr>
                <a:xfrm rot="3068437">
                  <a:off x="1020572" y="3219653"/>
                  <a:ext cx="560538" cy="36131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3CBCDA0F-DBF1-356B-A17E-AF1E068960C0}"/>
                    </a:ext>
                  </a:extLst>
                </p:cNvPr>
                <p:cNvSpPr txBox="1"/>
                <p:nvPr/>
              </p:nvSpPr>
              <p:spPr>
                <a:xfrm>
                  <a:off x="933548" y="5486606"/>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24</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112" name="TextBox 111">
                  <a:extLst>
                    <a:ext uri="{FF2B5EF4-FFF2-40B4-BE49-F238E27FC236}">
                      <a16:creationId xmlns:a16="http://schemas.microsoft.com/office/drawing/2014/main" id="{3CBCDA0F-DBF1-356B-A17E-AF1E068960C0}"/>
                    </a:ext>
                  </a:extLst>
                </p:cNvPr>
                <p:cNvSpPr txBox="1">
                  <a:spLocks noRot="1" noChangeAspect="1" noMove="1" noResize="1" noEditPoints="1" noAdjustHandles="1" noChangeArrowheads="1" noChangeShapeType="1" noTextEdit="1"/>
                </p:cNvSpPr>
                <p:nvPr/>
              </p:nvSpPr>
              <p:spPr>
                <a:xfrm>
                  <a:off x="933548" y="5486606"/>
                  <a:ext cx="560538" cy="36131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A4B96C09-A67F-D5B8-2B2A-C3913BD454EC}"/>
                    </a:ext>
                  </a:extLst>
                </p:cNvPr>
                <p:cNvSpPr txBox="1"/>
                <p:nvPr/>
              </p:nvSpPr>
              <p:spPr>
                <a:xfrm rot="17131605">
                  <a:off x="594353" y="4756061"/>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113" name="TextBox 112">
                  <a:extLst>
                    <a:ext uri="{FF2B5EF4-FFF2-40B4-BE49-F238E27FC236}">
                      <a16:creationId xmlns:a16="http://schemas.microsoft.com/office/drawing/2014/main" id="{A4B96C09-A67F-D5B8-2B2A-C3913BD454EC}"/>
                    </a:ext>
                  </a:extLst>
                </p:cNvPr>
                <p:cNvSpPr txBox="1">
                  <a:spLocks noRot="1" noChangeAspect="1" noMove="1" noResize="1" noEditPoints="1" noAdjustHandles="1" noChangeArrowheads="1" noChangeShapeType="1" noTextEdit="1"/>
                </p:cNvSpPr>
                <p:nvPr/>
              </p:nvSpPr>
              <p:spPr>
                <a:xfrm rot="17131605">
                  <a:off x="594353" y="4756061"/>
                  <a:ext cx="560538" cy="36131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32FE2C6B-6196-155D-55D5-F7C80E410C0D}"/>
                    </a:ext>
                  </a:extLst>
                </p:cNvPr>
                <p:cNvSpPr txBox="1"/>
                <p:nvPr/>
              </p:nvSpPr>
              <p:spPr>
                <a:xfrm rot="2964551">
                  <a:off x="2132495" y="313219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114" name="TextBox 113">
                  <a:extLst>
                    <a:ext uri="{FF2B5EF4-FFF2-40B4-BE49-F238E27FC236}">
                      <a16:creationId xmlns:a16="http://schemas.microsoft.com/office/drawing/2014/main" id="{32FE2C6B-6196-155D-55D5-F7C80E410C0D}"/>
                    </a:ext>
                  </a:extLst>
                </p:cNvPr>
                <p:cNvSpPr txBox="1">
                  <a:spLocks noRot="1" noChangeAspect="1" noMove="1" noResize="1" noEditPoints="1" noAdjustHandles="1" noChangeArrowheads="1" noChangeShapeType="1" noTextEdit="1"/>
                </p:cNvSpPr>
                <p:nvPr/>
              </p:nvSpPr>
              <p:spPr>
                <a:xfrm rot="2964551">
                  <a:off x="2132495" y="3132193"/>
                  <a:ext cx="560538" cy="36131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E7FD8A71-5F2A-46F7-3118-42F9FA3D7118}"/>
                    </a:ext>
                  </a:extLst>
                </p:cNvPr>
                <p:cNvSpPr txBox="1"/>
                <p:nvPr/>
              </p:nvSpPr>
              <p:spPr>
                <a:xfrm rot="19021513">
                  <a:off x="2088094" y="5274650"/>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43</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115" name="TextBox 114">
                  <a:extLst>
                    <a:ext uri="{FF2B5EF4-FFF2-40B4-BE49-F238E27FC236}">
                      <a16:creationId xmlns:a16="http://schemas.microsoft.com/office/drawing/2014/main" id="{E7FD8A71-5F2A-46F7-3118-42F9FA3D7118}"/>
                    </a:ext>
                  </a:extLst>
                </p:cNvPr>
                <p:cNvSpPr txBox="1">
                  <a:spLocks noRot="1" noChangeAspect="1" noMove="1" noResize="1" noEditPoints="1" noAdjustHandles="1" noChangeArrowheads="1" noChangeShapeType="1" noTextEdit="1"/>
                </p:cNvSpPr>
                <p:nvPr/>
              </p:nvSpPr>
              <p:spPr>
                <a:xfrm rot="19021513">
                  <a:off x="2088094" y="5274650"/>
                  <a:ext cx="560538" cy="36131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269F0A4C-62EE-1281-778E-B8F08205C9F7}"/>
                    </a:ext>
                  </a:extLst>
                </p:cNvPr>
                <p:cNvSpPr txBox="1"/>
                <p:nvPr/>
              </p:nvSpPr>
              <p:spPr>
                <a:xfrm rot="2893059">
                  <a:off x="3107452" y="3604952"/>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116" name="TextBox 115">
                  <a:extLst>
                    <a:ext uri="{FF2B5EF4-FFF2-40B4-BE49-F238E27FC236}">
                      <a16:creationId xmlns:a16="http://schemas.microsoft.com/office/drawing/2014/main" id="{269F0A4C-62EE-1281-778E-B8F08205C9F7}"/>
                    </a:ext>
                  </a:extLst>
                </p:cNvPr>
                <p:cNvSpPr txBox="1">
                  <a:spLocks noRot="1" noChangeAspect="1" noMove="1" noResize="1" noEditPoints="1" noAdjustHandles="1" noChangeArrowheads="1" noChangeShapeType="1" noTextEdit="1"/>
                </p:cNvSpPr>
                <p:nvPr/>
              </p:nvSpPr>
              <p:spPr>
                <a:xfrm rot="2893059">
                  <a:off x="3107452" y="3604952"/>
                  <a:ext cx="560538" cy="362663"/>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ABD41E61-E70F-49B2-21A9-6372CA765C30}"/>
                    </a:ext>
                  </a:extLst>
                </p:cNvPr>
                <p:cNvSpPr txBox="1"/>
                <p:nvPr/>
              </p:nvSpPr>
              <p:spPr>
                <a:xfrm rot="19852769">
                  <a:off x="3044859" y="4967999"/>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32</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117" name="TextBox 116">
                  <a:extLst>
                    <a:ext uri="{FF2B5EF4-FFF2-40B4-BE49-F238E27FC236}">
                      <a16:creationId xmlns:a16="http://schemas.microsoft.com/office/drawing/2014/main" id="{ABD41E61-E70F-49B2-21A9-6372CA765C30}"/>
                    </a:ext>
                  </a:extLst>
                </p:cNvPr>
                <p:cNvSpPr txBox="1">
                  <a:spLocks noRot="1" noChangeAspect="1" noMove="1" noResize="1" noEditPoints="1" noAdjustHandles="1" noChangeArrowheads="1" noChangeShapeType="1" noTextEdit="1"/>
                </p:cNvSpPr>
                <p:nvPr/>
              </p:nvSpPr>
              <p:spPr>
                <a:xfrm rot="19852769">
                  <a:off x="3044859" y="4967999"/>
                  <a:ext cx="560538" cy="362663"/>
                </a:xfrm>
                <a:prstGeom prst="rect">
                  <a:avLst/>
                </a:prstGeom>
                <a:blipFill>
                  <a:blip r:embed="rId14"/>
                  <a:stretch>
                    <a:fillRect/>
                  </a:stretch>
                </a:blipFill>
              </p:spPr>
              <p:txBody>
                <a:bodyPr/>
                <a:lstStyle/>
                <a:p>
                  <a:r>
                    <a:rPr lang="en-US">
                      <a:noFill/>
                    </a:rPr>
                    <a:t> </a:t>
                  </a:r>
                </a:p>
              </p:txBody>
            </p:sp>
          </mc:Fallback>
        </mc:AlternateContent>
        <p:sp>
          <p:nvSpPr>
            <p:cNvPr id="118" name="CaixaDeTexto 106">
              <a:extLst>
                <a:ext uri="{FF2B5EF4-FFF2-40B4-BE49-F238E27FC236}">
                  <a16:creationId xmlns:a16="http://schemas.microsoft.com/office/drawing/2014/main" id="{BE4D4CE3-50A5-240B-97CB-F0497581F4BB}"/>
                </a:ext>
              </a:extLst>
            </p:cNvPr>
            <p:cNvSpPr txBox="1"/>
            <p:nvPr/>
          </p:nvSpPr>
          <p:spPr>
            <a:xfrm>
              <a:off x="1300841" y="2506925"/>
              <a:ext cx="1796143" cy="307777"/>
            </a:xfrm>
            <a:prstGeom prst="rect">
              <a:avLst/>
            </a:prstGeom>
            <a:noFill/>
          </p:spPr>
          <p:txBody>
            <a:bodyPr wrap="square" rtlCol="0">
              <a:spAutoFit/>
            </a:bodyPr>
            <a:lstStyle/>
            <a:p>
              <a:r>
                <a:rPr lang="pt-BR" sz="1400" dirty="0"/>
                <a:t>Peso sináptico</a:t>
              </a:r>
            </a:p>
          </p:txBody>
        </p:sp>
        <p:sp>
          <p:nvSpPr>
            <p:cNvPr id="119" name="Freeform: Shape 118">
              <a:extLst>
                <a:ext uri="{FF2B5EF4-FFF2-40B4-BE49-F238E27FC236}">
                  <a16:creationId xmlns:a16="http://schemas.microsoft.com/office/drawing/2014/main" id="{70B79FE9-E403-013D-4A80-A5518AF0229F}"/>
                </a:ext>
              </a:extLst>
            </p:cNvPr>
            <p:cNvSpPr/>
            <p:nvPr/>
          </p:nvSpPr>
          <p:spPr>
            <a:xfrm>
              <a:off x="1164771" y="2656114"/>
              <a:ext cx="206829" cy="250372"/>
            </a:xfrm>
            <a:custGeom>
              <a:avLst/>
              <a:gdLst>
                <a:gd name="csX0" fmla="*/ 0 w 206829"/>
                <a:gd name="csY0" fmla="*/ 250372 h 250372"/>
                <a:gd name="csX1" fmla="*/ 54429 w 206829"/>
                <a:gd name="csY1" fmla="*/ 108857 h 250372"/>
                <a:gd name="csX2" fmla="*/ 206829 w 206829"/>
                <a:gd name="csY2" fmla="*/ 0 h 250372"/>
              </a:gdLst>
              <a:ahLst/>
              <a:cxnLst>
                <a:cxn ang="0">
                  <a:pos x="csX0" y="csY0"/>
                </a:cxn>
                <a:cxn ang="0">
                  <a:pos x="csX1" y="csY1"/>
                </a:cxn>
                <a:cxn ang="0">
                  <a:pos x="csX2" y="csY2"/>
                </a:cxn>
              </a:cxnLst>
              <a:rect l="l" t="t" r="r" b="b"/>
              <a:pathLst>
                <a:path w="206829" h="250372">
                  <a:moveTo>
                    <a:pt x="0" y="250372"/>
                  </a:moveTo>
                  <a:cubicBezTo>
                    <a:pt x="9979" y="200479"/>
                    <a:pt x="19958" y="150586"/>
                    <a:pt x="54429" y="108857"/>
                  </a:cubicBezTo>
                  <a:cubicBezTo>
                    <a:pt x="88901" y="67128"/>
                    <a:pt x="147865" y="33564"/>
                    <a:pt x="206829"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CaixaDeTexto 32">
              <a:extLst>
                <a:ext uri="{FF2B5EF4-FFF2-40B4-BE49-F238E27FC236}">
                  <a16:creationId xmlns:a16="http://schemas.microsoft.com/office/drawing/2014/main" id="{72A729F0-7FED-9107-CC61-88DE3E750614}"/>
                </a:ext>
              </a:extLst>
            </p:cNvPr>
            <p:cNvSpPr txBox="1"/>
            <p:nvPr/>
          </p:nvSpPr>
          <p:spPr>
            <a:xfrm>
              <a:off x="294226" y="5713408"/>
              <a:ext cx="868135" cy="461665"/>
            </a:xfrm>
            <a:prstGeom prst="rect">
              <a:avLst/>
            </a:prstGeom>
            <a:noFill/>
          </p:spPr>
          <p:txBody>
            <a:bodyPr wrap="square" rtlCol="0">
              <a:spAutoFit/>
            </a:bodyPr>
            <a:lstStyle/>
            <a:p>
              <a:pPr algn="ctr"/>
              <a:r>
                <a:rPr lang="pt-BR" sz="1200" dirty="0"/>
                <a:t>Camada de entrada</a:t>
              </a:r>
            </a:p>
          </p:txBody>
        </p:sp>
        <p:sp>
          <p:nvSpPr>
            <p:cNvPr id="121" name="CaixaDeTexto 34">
              <a:extLst>
                <a:ext uri="{FF2B5EF4-FFF2-40B4-BE49-F238E27FC236}">
                  <a16:creationId xmlns:a16="http://schemas.microsoft.com/office/drawing/2014/main" id="{DCDB1514-4AD7-C34B-1816-E426573EBD50}"/>
                </a:ext>
              </a:extLst>
            </p:cNvPr>
            <p:cNvSpPr txBox="1"/>
            <p:nvPr/>
          </p:nvSpPr>
          <p:spPr>
            <a:xfrm>
              <a:off x="1357989" y="5837351"/>
              <a:ext cx="868135" cy="461665"/>
            </a:xfrm>
            <a:prstGeom prst="rect">
              <a:avLst/>
            </a:prstGeom>
            <a:noFill/>
          </p:spPr>
          <p:txBody>
            <a:bodyPr wrap="square" rtlCol="0">
              <a:spAutoFit/>
            </a:bodyPr>
            <a:lstStyle/>
            <a:p>
              <a:pPr algn="ctr"/>
              <a:r>
                <a:rPr lang="pt-BR" sz="1200" dirty="0"/>
                <a:t>Camada oculta #1</a:t>
              </a:r>
            </a:p>
          </p:txBody>
        </p:sp>
        <p:sp>
          <p:nvSpPr>
            <p:cNvPr id="122" name="CaixaDeTexto 40">
              <a:extLst>
                <a:ext uri="{FF2B5EF4-FFF2-40B4-BE49-F238E27FC236}">
                  <a16:creationId xmlns:a16="http://schemas.microsoft.com/office/drawing/2014/main" id="{83E13EDE-D08E-67D9-387D-E598215599B9}"/>
                </a:ext>
              </a:extLst>
            </p:cNvPr>
            <p:cNvSpPr txBox="1"/>
            <p:nvPr/>
          </p:nvSpPr>
          <p:spPr>
            <a:xfrm>
              <a:off x="2352673" y="5450646"/>
              <a:ext cx="868135" cy="461665"/>
            </a:xfrm>
            <a:prstGeom prst="rect">
              <a:avLst/>
            </a:prstGeom>
            <a:noFill/>
          </p:spPr>
          <p:txBody>
            <a:bodyPr wrap="square" rtlCol="0">
              <a:spAutoFit/>
            </a:bodyPr>
            <a:lstStyle/>
            <a:p>
              <a:pPr algn="ctr"/>
              <a:r>
                <a:rPr lang="pt-BR" sz="1200" dirty="0"/>
                <a:t>Camada oculta #2</a:t>
              </a:r>
            </a:p>
          </p:txBody>
        </p:sp>
        <p:sp>
          <p:nvSpPr>
            <p:cNvPr id="123" name="CaixaDeTexto 36">
              <a:extLst>
                <a:ext uri="{FF2B5EF4-FFF2-40B4-BE49-F238E27FC236}">
                  <a16:creationId xmlns:a16="http://schemas.microsoft.com/office/drawing/2014/main" id="{AE8766D2-ABFD-A499-E290-A290248C1988}"/>
                </a:ext>
              </a:extLst>
            </p:cNvPr>
            <p:cNvSpPr txBox="1"/>
            <p:nvPr/>
          </p:nvSpPr>
          <p:spPr>
            <a:xfrm>
              <a:off x="3314688" y="5239989"/>
              <a:ext cx="868135" cy="461665"/>
            </a:xfrm>
            <a:prstGeom prst="rect">
              <a:avLst/>
            </a:prstGeom>
            <a:noFill/>
          </p:spPr>
          <p:txBody>
            <a:bodyPr wrap="square" rtlCol="0">
              <a:spAutoFit/>
            </a:bodyPr>
            <a:lstStyle/>
            <a:p>
              <a:pPr algn="ctr"/>
              <a:r>
                <a:rPr lang="pt-BR" sz="1200" dirty="0"/>
                <a:t>Camada de saída</a:t>
              </a:r>
            </a:p>
          </p:txBody>
        </p:sp>
      </p:grpSp>
      <p:sp>
        <p:nvSpPr>
          <p:cNvPr id="128" name="Seta: para a Direita 24">
            <a:extLst>
              <a:ext uri="{FF2B5EF4-FFF2-40B4-BE49-F238E27FC236}">
                <a16:creationId xmlns:a16="http://schemas.microsoft.com/office/drawing/2014/main" id="{60AD9611-06AA-6099-BF9E-448A996631E0}"/>
              </a:ext>
            </a:extLst>
          </p:cNvPr>
          <p:cNvSpPr/>
          <p:nvPr/>
        </p:nvSpPr>
        <p:spPr>
          <a:xfrm>
            <a:off x="933777" y="5913848"/>
            <a:ext cx="3820886" cy="470018"/>
          </a:xfrm>
          <a:prstGeom prst="rightArrow">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622364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AE79E-FE8C-20C6-3943-DBD770F84E5C}"/>
              </a:ext>
            </a:extLst>
          </p:cNvPr>
          <p:cNvSpPr>
            <a:spLocks noGrp="1"/>
          </p:cNvSpPr>
          <p:nvPr>
            <p:ph type="title"/>
          </p:nvPr>
        </p:nvSpPr>
        <p:spPr/>
        <p:txBody>
          <a:bodyPr/>
          <a:lstStyle/>
          <a:p>
            <a:r>
              <a:rPr lang="pt-BR" dirty="0"/>
              <a:t>Redes neurais artificiais</a:t>
            </a:r>
            <a:endParaRPr lang="en-US" dirty="0"/>
          </a:p>
        </p:txBody>
      </p:sp>
      <p:sp>
        <p:nvSpPr>
          <p:cNvPr id="3" name="Content Placeholder 2">
            <a:extLst>
              <a:ext uri="{FF2B5EF4-FFF2-40B4-BE49-F238E27FC236}">
                <a16:creationId xmlns:a16="http://schemas.microsoft.com/office/drawing/2014/main" id="{77D0909E-29B2-B53D-BDF3-AC009A018977}"/>
              </a:ext>
            </a:extLst>
          </p:cNvPr>
          <p:cNvSpPr>
            <a:spLocks noGrp="1"/>
          </p:cNvSpPr>
          <p:nvPr>
            <p:ph idx="1"/>
          </p:nvPr>
        </p:nvSpPr>
        <p:spPr>
          <a:xfrm>
            <a:off x="6096001" y="1825624"/>
            <a:ext cx="6009408" cy="5032375"/>
          </a:xfrm>
        </p:spPr>
        <p:txBody>
          <a:bodyPr/>
          <a:lstStyle/>
          <a:p>
            <a:r>
              <a:rPr lang="pt-BR" dirty="0"/>
              <a:t>As </a:t>
            </a:r>
            <a:r>
              <a:rPr lang="pt-BR" b="1" dirty="0">
                <a:solidFill>
                  <a:srgbClr val="7030A0"/>
                </a:solidFill>
              </a:rPr>
              <a:t>propriedades de uma rede neural </a:t>
            </a:r>
            <a:r>
              <a:rPr lang="pt-BR" dirty="0"/>
              <a:t>são determinadas por sua </a:t>
            </a:r>
            <a:r>
              <a:rPr lang="pt-BR" b="1" dirty="0">
                <a:solidFill>
                  <a:schemeClr val="accent2"/>
                </a:solidFill>
              </a:rPr>
              <a:t>arquitetura</a:t>
            </a:r>
            <a:r>
              <a:rPr lang="pt-BR" dirty="0"/>
              <a:t>.</a:t>
            </a:r>
          </a:p>
          <a:p>
            <a:pPr lvl="1">
              <a:buFont typeface="Wingdings" panose="05000000000000000000" pitchFamily="2" charset="2"/>
              <a:buChar char="§"/>
            </a:pPr>
            <a:r>
              <a:rPr lang="pt-BR" dirty="0"/>
              <a:t>Ela define o que a rede é </a:t>
            </a:r>
            <a:r>
              <a:rPr lang="pt-BR" b="1" dirty="0">
                <a:solidFill>
                  <a:srgbClr val="00B050"/>
                </a:solidFill>
              </a:rPr>
              <a:t>capaz de aprender</a:t>
            </a:r>
            <a:r>
              <a:rPr lang="pt-BR" dirty="0"/>
              <a:t> e </a:t>
            </a:r>
            <a:r>
              <a:rPr lang="pt-BR" b="1" dirty="0">
                <a:solidFill>
                  <a:srgbClr val="00B050"/>
                </a:solidFill>
              </a:rPr>
              <a:t>quão bem ela fará isso</a:t>
            </a:r>
            <a:r>
              <a:rPr lang="pt-BR" dirty="0"/>
              <a:t>.</a:t>
            </a:r>
          </a:p>
          <a:p>
            <a:r>
              <a:rPr lang="pt-BR" dirty="0"/>
              <a:t>A arquitetura é definida pela</a:t>
            </a:r>
          </a:p>
          <a:p>
            <a:pPr lvl="1">
              <a:buFont typeface="Wingdings" panose="05000000000000000000" pitchFamily="2" charset="2"/>
              <a:buChar char="§"/>
            </a:pPr>
            <a:r>
              <a:rPr lang="pt-BR" dirty="0"/>
              <a:t>forma como os neurônios estão conectados (forma direta ou recursiva),</a:t>
            </a:r>
          </a:p>
          <a:p>
            <a:pPr lvl="1">
              <a:buFont typeface="Wingdings" panose="05000000000000000000" pitchFamily="2" charset="2"/>
              <a:buChar char="§"/>
            </a:pPr>
            <a:r>
              <a:rPr lang="pt-BR" dirty="0"/>
              <a:t>quantidade neurônios por camada,</a:t>
            </a:r>
          </a:p>
          <a:p>
            <a:pPr lvl="1">
              <a:buFont typeface="Wingdings" panose="05000000000000000000" pitchFamily="2" charset="2"/>
              <a:buChar char="§"/>
            </a:pPr>
            <a:r>
              <a:rPr lang="pt-BR" dirty="0"/>
              <a:t>quantidade de camadas escondidas, </a:t>
            </a:r>
          </a:p>
          <a:p>
            <a:pPr lvl="1">
              <a:buFont typeface="Wingdings" panose="05000000000000000000" pitchFamily="2" charset="2"/>
              <a:buChar char="§"/>
            </a:pPr>
            <a:r>
              <a:rPr lang="pt-BR" dirty="0"/>
              <a:t>funções de ativação, </a:t>
            </a:r>
          </a:p>
          <a:p>
            <a:pPr lvl="1">
              <a:buFont typeface="Wingdings" panose="05000000000000000000" pitchFamily="2" charset="2"/>
              <a:buChar char="§"/>
            </a:pPr>
            <a:r>
              <a:rPr lang="pt-BR" dirty="0"/>
              <a:t>etc.</a:t>
            </a:r>
          </a:p>
        </p:txBody>
      </p:sp>
      <p:grpSp>
        <p:nvGrpSpPr>
          <p:cNvPr id="4" name="Group 3">
            <a:extLst>
              <a:ext uri="{FF2B5EF4-FFF2-40B4-BE49-F238E27FC236}">
                <a16:creationId xmlns:a16="http://schemas.microsoft.com/office/drawing/2014/main" id="{10B1DF2E-6992-839D-A155-C6C3D55D2C96}"/>
              </a:ext>
            </a:extLst>
          </p:cNvPr>
          <p:cNvGrpSpPr/>
          <p:nvPr/>
        </p:nvGrpSpPr>
        <p:grpSpPr>
          <a:xfrm>
            <a:off x="653454" y="2071496"/>
            <a:ext cx="4240583" cy="3792091"/>
            <a:chOff x="294226" y="2506925"/>
            <a:chExt cx="4240583" cy="3792091"/>
          </a:xfrm>
        </p:grpSpPr>
        <p:sp>
          <p:nvSpPr>
            <p:cNvPr id="5" name="Elipse 77">
              <a:extLst>
                <a:ext uri="{FF2B5EF4-FFF2-40B4-BE49-F238E27FC236}">
                  <a16:creationId xmlns:a16="http://schemas.microsoft.com/office/drawing/2014/main" id="{27993ADC-5FC2-911F-7BD0-E0A0F1F00C9C}"/>
                </a:ext>
              </a:extLst>
            </p:cNvPr>
            <p:cNvSpPr/>
            <p:nvPr/>
          </p:nvSpPr>
          <p:spPr>
            <a:xfrm>
              <a:off x="2492828" y="3402579"/>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Elipse 78">
              <a:extLst>
                <a:ext uri="{FF2B5EF4-FFF2-40B4-BE49-F238E27FC236}">
                  <a16:creationId xmlns:a16="http://schemas.microsoft.com/office/drawing/2014/main" id="{441D3988-2595-1604-789B-DA99844EF8BC}"/>
                </a:ext>
              </a:extLst>
            </p:cNvPr>
            <p:cNvSpPr/>
            <p:nvPr/>
          </p:nvSpPr>
          <p:spPr>
            <a:xfrm>
              <a:off x="2492827" y="4121036"/>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Elipse 79">
              <a:extLst>
                <a:ext uri="{FF2B5EF4-FFF2-40B4-BE49-F238E27FC236}">
                  <a16:creationId xmlns:a16="http://schemas.microsoft.com/office/drawing/2014/main" id="{090E1FDB-0FAD-9376-7A0C-6EDB75C352F2}"/>
                </a:ext>
              </a:extLst>
            </p:cNvPr>
            <p:cNvSpPr/>
            <p:nvPr/>
          </p:nvSpPr>
          <p:spPr>
            <a:xfrm>
              <a:off x="2492827" y="4839493"/>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Elipse 81">
              <a:extLst>
                <a:ext uri="{FF2B5EF4-FFF2-40B4-BE49-F238E27FC236}">
                  <a16:creationId xmlns:a16="http://schemas.microsoft.com/office/drawing/2014/main" id="{5A58E2B9-3B0F-2548-67C9-AA99FB0C7EAD}"/>
                </a:ext>
              </a:extLst>
            </p:cNvPr>
            <p:cNvSpPr/>
            <p:nvPr/>
          </p:nvSpPr>
          <p:spPr>
            <a:xfrm>
              <a:off x="3450770" y="3864817"/>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Elipse 82">
              <a:extLst>
                <a:ext uri="{FF2B5EF4-FFF2-40B4-BE49-F238E27FC236}">
                  <a16:creationId xmlns:a16="http://schemas.microsoft.com/office/drawing/2014/main" id="{2DE9B73C-F7A3-A6F0-9FFB-DE76E6892164}"/>
                </a:ext>
              </a:extLst>
            </p:cNvPr>
            <p:cNvSpPr/>
            <p:nvPr/>
          </p:nvSpPr>
          <p:spPr>
            <a:xfrm>
              <a:off x="3450769" y="4583274"/>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Elipse 83">
              <a:extLst>
                <a:ext uri="{FF2B5EF4-FFF2-40B4-BE49-F238E27FC236}">
                  <a16:creationId xmlns:a16="http://schemas.microsoft.com/office/drawing/2014/main" id="{1966FEC9-82F9-D384-8AE6-BC0081C099C0}"/>
                </a:ext>
              </a:extLst>
            </p:cNvPr>
            <p:cNvSpPr/>
            <p:nvPr/>
          </p:nvSpPr>
          <p:spPr>
            <a:xfrm>
              <a:off x="1534884" y="29299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84">
              <a:extLst>
                <a:ext uri="{FF2B5EF4-FFF2-40B4-BE49-F238E27FC236}">
                  <a16:creationId xmlns:a16="http://schemas.microsoft.com/office/drawing/2014/main" id="{9E77B041-441B-DF39-D012-4B3A17932443}"/>
                </a:ext>
              </a:extLst>
            </p:cNvPr>
            <p:cNvSpPr/>
            <p:nvPr/>
          </p:nvSpPr>
          <p:spPr>
            <a:xfrm>
              <a:off x="1534884" y="36856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85">
              <a:extLst>
                <a:ext uri="{FF2B5EF4-FFF2-40B4-BE49-F238E27FC236}">
                  <a16:creationId xmlns:a16="http://schemas.microsoft.com/office/drawing/2014/main" id="{3EC1BF5F-BC77-CABE-FD96-66871C93FC70}"/>
                </a:ext>
              </a:extLst>
            </p:cNvPr>
            <p:cNvSpPr/>
            <p:nvPr/>
          </p:nvSpPr>
          <p:spPr>
            <a:xfrm>
              <a:off x="1534884" y="44412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3" name="Conector de Seta Reta 86">
              <a:extLst>
                <a:ext uri="{FF2B5EF4-FFF2-40B4-BE49-F238E27FC236}">
                  <a16:creationId xmlns:a16="http://schemas.microsoft.com/office/drawing/2014/main" id="{84E3475D-7843-2D4F-9156-C2F2F5C93769}"/>
                </a:ext>
              </a:extLst>
            </p:cNvPr>
            <p:cNvCxnSpPr>
              <a:cxnSpLocks/>
              <a:stCxn id="10" idx="6"/>
              <a:endCxn id="5" idx="2"/>
            </p:cNvCxnSpPr>
            <p:nvPr/>
          </p:nvCxnSpPr>
          <p:spPr>
            <a:xfrm>
              <a:off x="2100941" y="3212987"/>
              <a:ext cx="391887" cy="472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de Seta Reta 87">
              <a:extLst>
                <a:ext uri="{FF2B5EF4-FFF2-40B4-BE49-F238E27FC236}">
                  <a16:creationId xmlns:a16="http://schemas.microsoft.com/office/drawing/2014/main" id="{0631D3B3-0ED4-7875-A51E-18CBBDB2DEB7}"/>
                </a:ext>
              </a:extLst>
            </p:cNvPr>
            <p:cNvCxnSpPr>
              <a:stCxn id="10" idx="6"/>
              <a:endCxn id="6" idx="2"/>
            </p:cNvCxnSpPr>
            <p:nvPr/>
          </p:nvCxnSpPr>
          <p:spPr>
            <a:xfrm>
              <a:off x="2100941" y="3212987"/>
              <a:ext cx="391886" cy="1191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88">
              <a:extLst>
                <a:ext uri="{FF2B5EF4-FFF2-40B4-BE49-F238E27FC236}">
                  <a16:creationId xmlns:a16="http://schemas.microsoft.com/office/drawing/2014/main" id="{EF4BA50C-426B-B11B-F35B-B1172588E4BC}"/>
                </a:ext>
              </a:extLst>
            </p:cNvPr>
            <p:cNvCxnSpPr>
              <a:stCxn id="10" idx="6"/>
              <a:endCxn id="7" idx="2"/>
            </p:cNvCxnSpPr>
            <p:nvPr/>
          </p:nvCxnSpPr>
          <p:spPr>
            <a:xfrm>
              <a:off x="2100941" y="3212987"/>
              <a:ext cx="391886" cy="1909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90">
              <a:extLst>
                <a:ext uri="{FF2B5EF4-FFF2-40B4-BE49-F238E27FC236}">
                  <a16:creationId xmlns:a16="http://schemas.microsoft.com/office/drawing/2014/main" id="{457AF030-45F7-1FF0-24A0-AE3FBED8DBAC}"/>
                </a:ext>
              </a:extLst>
            </p:cNvPr>
            <p:cNvCxnSpPr>
              <a:cxnSpLocks/>
              <a:stCxn id="11" idx="6"/>
              <a:endCxn id="5" idx="2"/>
            </p:cNvCxnSpPr>
            <p:nvPr/>
          </p:nvCxnSpPr>
          <p:spPr>
            <a:xfrm flipV="1">
              <a:off x="2100941" y="3685608"/>
              <a:ext cx="391887" cy="283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91">
              <a:extLst>
                <a:ext uri="{FF2B5EF4-FFF2-40B4-BE49-F238E27FC236}">
                  <a16:creationId xmlns:a16="http://schemas.microsoft.com/office/drawing/2014/main" id="{F130EB38-05C3-3C8A-6404-CE74A7C44F07}"/>
                </a:ext>
              </a:extLst>
            </p:cNvPr>
            <p:cNvCxnSpPr>
              <a:stCxn id="12" idx="6"/>
              <a:endCxn id="6" idx="2"/>
            </p:cNvCxnSpPr>
            <p:nvPr/>
          </p:nvCxnSpPr>
          <p:spPr>
            <a:xfrm flipV="1">
              <a:off x="2100941" y="4404065"/>
              <a:ext cx="391886" cy="320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92">
              <a:extLst>
                <a:ext uri="{FF2B5EF4-FFF2-40B4-BE49-F238E27FC236}">
                  <a16:creationId xmlns:a16="http://schemas.microsoft.com/office/drawing/2014/main" id="{90302E91-CBA4-6674-38A0-EDE1D8EB1C8B}"/>
                </a:ext>
              </a:extLst>
            </p:cNvPr>
            <p:cNvCxnSpPr>
              <a:stCxn id="11" idx="6"/>
              <a:endCxn id="6" idx="2"/>
            </p:cNvCxnSpPr>
            <p:nvPr/>
          </p:nvCxnSpPr>
          <p:spPr>
            <a:xfrm>
              <a:off x="2100941" y="3968637"/>
              <a:ext cx="391886" cy="435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93">
              <a:extLst>
                <a:ext uri="{FF2B5EF4-FFF2-40B4-BE49-F238E27FC236}">
                  <a16:creationId xmlns:a16="http://schemas.microsoft.com/office/drawing/2014/main" id="{753CD5BC-2B57-AFC3-63C9-CD2D303D9EDF}"/>
                </a:ext>
              </a:extLst>
            </p:cNvPr>
            <p:cNvCxnSpPr>
              <a:stCxn id="11" idx="6"/>
              <a:endCxn id="7" idx="2"/>
            </p:cNvCxnSpPr>
            <p:nvPr/>
          </p:nvCxnSpPr>
          <p:spPr>
            <a:xfrm>
              <a:off x="2100941" y="3968637"/>
              <a:ext cx="391886" cy="1153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96">
              <a:extLst>
                <a:ext uri="{FF2B5EF4-FFF2-40B4-BE49-F238E27FC236}">
                  <a16:creationId xmlns:a16="http://schemas.microsoft.com/office/drawing/2014/main" id="{1A45C7C9-CF98-F959-ACA9-259792951FAB}"/>
                </a:ext>
              </a:extLst>
            </p:cNvPr>
            <p:cNvCxnSpPr>
              <a:stCxn id="12" idx="6"/>
              <a:endCxn id="7" idx="2"/>
            </p:cNvCxnSpPr>
            <p:nvPr/>
          </p:nvCxnSpPr>
          <p:spPr>
            <a:xfrm>
              <a:off x="2100941" y="4724287"/>
              <a:ext cx="391886" cy="398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98">
              <a:extLst>
                <a:ext uri="{FF2B5EF4-FFF2-40B4-BE49-F238E27FC236}">
                  <a16:creationId xmlns:a16="http://schemas.microsoft.com/office/drawing/2014/main" id="{51C8C603-FF3A-C1E0-E8B9-B44CF2563C32}"/>
                </a:ext>
              </a:extLst>
            </p:cNvPr>
            <p:cNvCxnSpPr>
              <a:stCxn id="5" idx="6"/>
              <a:endCxn id="8" idx="2"/>
            </p:cNvCxnSpPr>
            <p:nvPr/>
          </p:nvCxnSpPr>
          <p:spPr>
            <a:xfrm>
              <a:off x="3058885" y="3685608"/>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99">
              <a:extLst>
                <a:ext uri="{FF2B5EF4-FFF2-40B4-BE49-F238E27FC236}">
                  <a16:creationId xmlns:a16="http://schemas.microsoft.com/office/drawing/2014/main" id="{D93DAA12-A48C-4148-4E9B-A3AC320FE703}"/>
                </a:ext>
              </a:extLst>
            </p:cNvPr>
            <p:cNvCxnSpPr>
              <a:stCxn id="6" idx="6"/>
              <a:endCxn id="9" idx="2"/>
            </p:cNvCxnSpPr>
            <p:nvPr/>
          </p:nvCxnSpPr>
          <p:spPr>
            <a:xfrm>
              <a:off x="3058884" y="4404065"/>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100">
              <a:extLst>
                <a:ext uri="{FF2B5EF4-FFF2-40B4-BE49-F238E27FC236}">
                  <a16:creationId xmlns:a16="http://schemas.microsoft.com/office/drawing/2014/main" id="{EE3BAF11-6FB4-CFD7-95D2-1112AEE80E9C}"/>
                </a:ext>
              </a:extLst>
            </p:cNvPr>
            <p:cNvCxnSpPr>
              <a:stCxn id="7" idx="6"/>
              <a:endCxn id="9" idx="2"/>
            </p:cNvCxnSpPr>
            <p:nvPr/>
          </p:nvCxnSpPr>
          <p:spPr>
            <a:xfrm flipV="1">
              <a:off x="3058884" y="4866303"/>
              <a:ext cx="391885"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102">
              <a:extLst>
                <a:ext uri="{FF2B5EF4-FFF2-40B4-BE49-F238E27FC236}">
                  <a16:creationId xmlns:a16="http://schemas.microsoft.com/office/drawing/2014/main" id="{D7F3C011-433A-710C-E086-3D64246A5184}"/>
                </a:ext>
              </a:extLst>
            </p:cNvPr>
            <p:cNvCxnSpPr>
              <a:cxnSpLocks/>
              <a:stCxn id="5" idx="6"/>
              <a:endCxn id="9" idx="2"/>
            </p:cNvCxnSpPr>
            <p:nvPr/>
          </p:nvCxnSpPr>
          <p:spPr>
            <a:xfrm>
              <a:off x="3058885" y="3685608"/>
              <a:ext cx="391884" cy="1180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103">
              <a:extLst>
                <a:ext uri="{FF2B5EF4-FFF2-40B4-BE49-F238E27FC236}">
                  <a16:creationId xmlns:a16="http://schemas.microsoft.com/office/drawing/2014/main" id="{482C9DA7-E763-D411-2DD8-8687964CC2A6}"/>
                </a:ext>
              </a:extLst>
            </p:cNvPr>
            <p:cNvCxnSpPr>
              <a:stCxn id="6" idx="6"/>
              <a:endCxn id="8" idx="2"/>
            </p:cNvCxnSpPr>
            <p:nvPr/>
          </p:nvCxnSpPr>
          <p:spPr>
            <a:xfrm flipV="1">
              <a:off x="3058884" y="4147846"/>
              <a:ext cx="391886"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104">
              <a:extLst>
                <a:ext uri="{FF2B5EF4-FFF2-40B4-BE49-F238E27FC236}">
                  <a16:creationId xmlns:a16="http://schemas.microsoft.com/office/drawing/2014/main" id="{0BF62E02-5687-CE42-60BF-26EEAAF2B567}"/>
                </a:ext>
              </a:extLst>
            </p:cNvPr>
            <p:cNvCxnSpPr>
              <a:stCxn id="7" idx="6"/>
              <a:endCxn id="8" idx="2"/>
            </p:cNvCxnSpPr>
            <p:nvPr/>
          </p:nvCxnSpPr>
          <p:spPr>
            <a:xfrm flipV="1">
              <a:off x="3058884" y="4147846"/>
              <a:ext cx="391886" cy="974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CaixaDeTexto 106">
              <a:extLst>
                <a:ext uri="{FF2B5EF4-FFF2-40B4-BE49-F238E27FC236}">
                  <a16:creationId xmlns:a16="http://schemas.microsoft.com/office/drawing/2014/main" id="{F5D901F7-7C9F-6A25-7E81-58C5F48DC9C2}"/>
                </a:ext>
              </a:extLst>
            </p:cNvPr>
            <p:cNvSpPr txBox="1"/>
            <p:nvPr/>
          </p:nvSpPr>
          <p:spPr>
            <a:xfrm>
              <a:off x="3173179" y="3100768"/>
              <a:ext cx="1230086" cy="307777"/>
            </a:xfrm>
            <a:prstGeom prst="rect">
              <a:avLst/>
            </a:prstGeom>
            <a:noFill/>
          </p:spPr>
          <p:txBody>
            <a:bodyPr wrap="square" rtlCol="0">
              <a:spAutoFit/>
            </a:bodyPr>
            <a:lstStyle/>
            <a:p>
              <a:r>
                <a:rPr lang="pt-BR" sz="1400" dirty="0"/>
                <a:t>Neurônio</a:t>
              </a:r>
            </a:p>
          </p:txBody>
        </p:sp>
        <p:sp>
          <p:nvSpPr>
            <p:cNvPr id="28" name="Forma Livre: Forma 107">
              <a:extLst>
                <a:ext uri="{FF2B5EF4-FFF2-40B4-BE49-F238E27FC236}">
                  <a16:creationId xmlns:a16="http://schemas.microsoft.com/office/drawing/2014/main" id="{FED54D05-148E-7665-5ACA-9D9F8BED0F73}"/>
                </a:ext>
              </a:extLst>
            </p:cNvPr>
            <p:cNvSpPr/>
            <p:nvPr/>
          </p:nvSpPr>
          <p:spPr>
            <a:xfrm>
              <a:off x="2786734" y="3216700"/>
              <a:ext cx="413657" cy="166042"/>
            </a:xfrm>
            <a:custGeom>
              <a:avLst/>
              <a:gdLst>
                <a:gd name="connsiteX0" fmla="*/ 0 w 413657"/>
                <a:gd name="connsiteY0" fmla="*/ 166042 h 166042"/>
                <a:gd name="connsiteX1" fmla="*/ 76200 w 413657"/>
                <a:gd name="connsiteY1" fmla="*/ 2756 h 166042"/>
                <a:gd name="connsiteX2" fmla="*/ 413657 w 413657"/>
                <a:gd name="connsiteY2" fmla="*/ 78956 h 166042"/>
              </a:gdLst>
              <a:ahLst/>
              <a:cxnLst>
                <a:cxn ang="0">
                  <a:pos x="connsiteX0" y="connsiteY0"/>
                </a:cxn>
                <a:cxn ang="0">
                  <a:pos x="connsiteX1" y="connsiteY1"/>
                </a:cxn>
                <a:cxn ang="0">
                  <a:pos x="connsiteX2" y="connsiteY2"/>
                </a:cxn>
              </a:cxnLst>
              <a:rect l="l" t="t" r="r" b="b"/>
              <a:pathLst>
                <a:path w="413657" h="166042">
                  <a:moveTo>
                    <a:pt x="0" y="166042"/>
                  </a:moveTo>
                  <a:cubicBezTo>
                    <a:pt x="3628" y="91656"/>
                    <a:pt x="7257" y="17270"/>
                    <a:pt x="76200" y="2756"/>
                  </a:cubicBezTo>
                  <a:cubicBezTo>
                    <a:pt x="145143" y="-11758"/>
                    <a:pt x="279400" y="33599"/>
                    <a:pt x="413657" y="7895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9" name="Conector reto 112">
              <a:extLst>
                <a:ext uri="{FF2B5EF4-FFF2-40B4-BE49-F238E27FC236}">
                  <a16:creationId xmlns:a16="http://schemas.microsoft.com/office/drawing/2014/main" id="{E52E7B48-839B-93FA-9880-EA11D740F7AE}"/>
                </a:ext>
              </a:extLst>
            </p:cNvPr>
            <p:cNvCxnSpPr>
              <a:cxnSpLocks/>
              <a:stCxn id="65" idx="6"/>
              <a:endCxn id="11" idx="2"/>
            </p:cNvCxnSpPr>
            <p:nvPr/>
          </p:nvCxnSpPr>
          <p:spPr>
            <a:xfrm>
              <a:off x="944681" y="3219656"/>
              <a:ext cx="590203" cy="7489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Conector de Seta Reta 113">
              <a:extLst>
                <a:ext uri="{FF2B5EF4-FFF2-40B4-BE49-F238E27FC236}">
                  <a16:creationId xmlns:a16="http://schemas.microsoft.com/office/drawing/2014/main" id="{10A4CFB3-DF90-7A49-7F59-F334BD622F8B}"/>
                </a:ext>
              </a:extLst>
            </p:cNvPr>
            <p:cNvCxnSpPr>
              <a:cxnSpLocks/>
              <a:stCxn id="8" idx="6"/>
              <a:endCxn id="32" idx="1"/>
            </p:cNvCxnSpPr>
            <p:nvPr/>
          </p:nvCxnSpPr>
          <p:spPr>
            <a:xfrm>
              <a:off x="4016827" y="4147846"/>
              <a:ext cx="251280" cy="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ector de Seta Reta 114">
              <a:extLst>
                <a:ext uri="{FF2B5EF4-FFF2-40B4-BE49-F238E27FC236}">
                  <a16:creationId xmlns:a16="http://schemas.microsoft.com/office/drawing/2014/main" id="{A481FB3F-6E1F-D6D9-2D22-BDA32E0309B7}"/>
                </a:ext>
              </a:extLst>
            </p:cNvPr>
            <p:cNvCxnSpPr>
              <a:cxnSpLocks/>
              <a:stCxn id="9" idx="6"/>
            </p:cNvCxnSpPr>
            <p:nvPr/>
          </p:nvCxnSpPr>
          <p:spPr>
            <a:xfrm>
              <a:off x="4016826" y="4866303"/>
              <a:ext cx="272141" cy="5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CaixaDeTexto 5">
                  <a:extLst>
                    <a:ext uri="{FF2B5EF4-FFF2-40B4-BE49-F238E27FC236}">
                      <a16:creationId xmlns:a16="http://schemas.microsoft.com/office/drawing/2014/main" id="{8BB4EDCD-2C4A-8C54-E9A8-B46EB1B4A54F}"/>
                    </a:ext>
                  </a:extLst>
                </p:cNvPr>
                <p:cNvSpPr txBox="1"/>
                <p:nvPr/>
              </p:nvSpPr>
              <p:spPr>
                <a:xfrm>
                  <a:off x="4268107" y="3963524"/>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1</m:t>
                            </m:r>
                          </m:sub>
                        </m:sSub>
                      </m:oMath>
                    </m:oMathPara>
                  </a14:m>
                  <a:endParaRPr lang="pt-BR" dirty="0"/>
                </a:p>
              </p:txBody>
            </p:sp>
          </mc:Choice>
          <mc:Fallback xmlns="">
            <p:sp>
              <p:nvSpPr>
                <p:cNvPr id="32" name="CaixaDeTexto 5">
                  <a:extLst>
                    <a:ext uri="{FF2B5EF4-FFF2-40B4-BE49-F238E27FC236}">
                      <a16:creationId xmlns:a16="http://schemas.microsoft.com/office/drawing/2014/main" id="{8BB4EDCD-2C4A-8C54-E9A8-B46EB1B4A54F}"/>
                    </a:ext>
                  </a:extLst>
                </p:cNvPr>
                <p:cNvSpPr txBox="1">
                  <a:spLocks noRot="1" noChangeAspect="1" noMove="1" noResize="1" noEditPoints="1" noAdjustHandles="1" noChangeArrowheads="1" noChangeShapeType="1" noTextEdit="1"/>
                </p:cNvSpPr>
                <p:nvPr/>
              </p:nvSpPr>
              <p:spPr>
                <a:xfrm>
                  <a:off x="4268107" y="3963524"/>
                  <a:ext cx="266702" cy="369332"/>
                </a:xfrm>
                <a:prstGeom prst="rect">
                  <a:avLst/>
                </a:prstGeom>
                <a:blipFill>
                  <a:blip r:embed="rId2"/>
                  <a:stretch>
                    <a:fillRect t="-6667" r="-34091"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CaixaDeTexto 6">
                  <a:extLst>
                    <a:ext uri="{FF2B5EF4-FFF2-40B4-BE49-F238E27FC236}">
                      <a16:creationId xmlns:a16="http://schemas.microsoft.com/office/drawing/2014/main" id="{E94CAAA8-84F9-FF01-A0C8-7E08AAC2B06B}"/>
                    </a:ext>
                  </a:extLst>
                </p:cNvPr>
                <p:cNvSpPr txBox="1"/>
                <p:nvPr/>
              </p:nvSpPr>
              <p:spPr>
                <a:xfrm>
                  <a:off x="4268107" y="4681637"/>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2</m:t>
                            </m:r>
                          </m:sub>
                        </m:sSub>
                      </m:oMath>
                    </m:oMathPara>
                  </a14:m>
                  <a:endParaRPr lang="pt-BR" dirty="0"/>
                </a:p>
              </p:txBody>
            </p:sp>
          </mc:Choice>
          <mc:Fallback xmlns="">
            <p:sp>
              <p:nvSpPr>
                <p:cNvPr id="33" name="CaixaDeTexto 6">
                  <a:extLst>
                    <a:ext uri="{FF2B5EF4-FFF2-40B4-BE49-F238E27FC236}">
                      <a16:creationId xmlns:a16="http://schemas.microsoft.com/office/drawing/2014/main" id="{E94CAAA8-84F9-FF01-A0C8-7E08AAC2B06B}"/>
                    </a:ext>
                  </a:extLst>
                </p:cNvPr>
                <p:cNvSpPr txBox="1">
                  <a:spLocks noRot="1" noChangeAspect="1" noMove="1" noResize="1" noEditPoints="1" noAdjustHandles="1" noChangeArrowheads="1" noChangeShapeType="1" noTextEdit="1"/>
                </p:cNvSpPr>
                <p:nvPr/>
              </p:nvSpPr>
              <p:spPr>
                <a:xfrm>
                  <a:off x="4268107" y="4681637"/>
                  <a:ext cx="266702" cy="369332"/>
                </a:xfrm>
                <a:prstGeom prst="rect">
                  <a:avLst/>
                </a:prstGeom>
                <a:blipFill>
                  <a:blip r:embed="rId3"/>
                  <a:stretch>
                    <a:fillRect t="-6667" r="-36364" b="-6667"/>
                  </a:stretch>
                </a:blipFill>
              </p:spPr>
              <p:txBody>
                <a:bodyPr/>
                <a:lstStyle/>
                <a:p>
                  <a:r>
                    <a:rPr lang="en-US">
                      <a:noFill/>
                    </a:rPr>
                    <a:t> </a:t>
                  </a:r>
                </a:p>
              </p:txBody>
            </p:sp>
          </mc:Fallback>
        </mc:AlternateContent>
        <p:grpSp>
          <p:nvGrpSpPr>
            <p:cNvPr id="34" name="Group 33">
              <a:extLst>
                <a:ext uri="{FF2B5EF4-FFF2-40B4-BE49-F238E27FC236}">
                  <a16:creationId xmlns:a16="http://schemas.microsoft.com/office/drawing/2014/main" id="{4F36CF61-8A3D-263A-5D0D-FC1316751E18}"/>
                </a:ext>
              </a:extLst>
            </p:cNvPr>
            <p:cNvGrpSpPr/>
            <p:nvPr/>
          </p:nvGrpSpPr>
          <p:grpSpPr>
            <a:xfrm>
              <a:off x="607920" y="3007376"/>
              <a:ext cx="336761" cy="369332"/>
              <a:chOff x="922561" y="2974265"/>
              <a:chExt cx="336761" cy="369332"/>
            </a:xfrm>
          </p:grpSpPr>
          <mc:AlternateContent xmlns:mc="http://schemas.openxmlformats.org/markup-compatibility/2006" xmlns:a14="http://schemas.microsoft.com/office/drawing/2010/main">
            <mc:Choice Requires="a14">
              <p:sp>
                <p:nvSpPr>
                  <p:cNvPr id="64" name="CaixaDeTexto 115">
                    <a:extLst>
                      <a:ext uri="{FF2B5EF4-FFF2-40B4-BE49-F238E27FC236}">
                        <a16:creationId xmlns:a16="http://schemas.microsoft.com/office/drawing/2014/main" id="{243F9310-22ED-977F-2643-BBF4A43DD0F1}"/>
                      </a:ext>
                    </a:extLst>
                  </p:cNvPr>
                  <p:cNvSpPr txBox="1"/>
                  <p:nvPr/>
                </p:nvSpPr>
                <p:spPr>
                  <a:xfrm>
                    <a:off x="922561" y="2974265"/>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64" name="CaixaDeTexto 115">
                    <a:extLst>
                      <a:ext uri="{FF2B5EF4-FFF2-40B4-BE49-F238E27FC236}">
                        <a16:creationId xmlns:a16="http://schemas.microsoft.com/office/drawing/2014/main" id="{243F9310-22ED-977F-2643-BBF4A43DD0F1}"/>
                      </a:ext>
                    </a:extLst>
                  </p:cNvPr>
                  <p:cNvSpPr txBox="1">
                    <a:spLocks noRot="1" noChangeAspect="1" noMove="1" noResize="1" noEditPoints="1" noAdjustHandles="1" noChangeArrowheads="1" noChangeShapeType="1" noTextEdit="1"/>
                  </p:cNvSpPr>
                  <p:nvPr/>
                </p:nvSpPr>
                <p:spPr>
                  <a:xfrm>
                    <a:off x="922561" y="2974265"/>
                    <a:ext cx="266702" cy="369332"/>
                  </a:xfrm>
                  <a:prstGeom prst="rect">
                    <a:avLst/>
                  </a:prstGeom>
                  <a:blipFill>
                    <a:blip r:embed="rId4"/>
                    <a:stretch>
                      <a:fillRect r="-37209"/>
                    </a:stretch>
                  </a:blipFill>
                </p:spPr>
                <p:txBody>
                  <a:bodyPr/>
                  <a:lstStyle/>
                  <a:p>
                    <a:r>
                      <a:rPr lang="en-US">
                        <a:noFill/>
                      </a:rPr>
                      <a:t> </a:t>
                    </a:r>
                  </a:p>
                </p:txBody>
              </p:sp>
            </mc:Fallback>
          </mc:AlternateContent>
          <p:sp>
            <p:nvSpPr>
              <p:cNvPr id="65" name="Elipse 3">
                <a:extLst>
                  <a:ext uri="{FF2B5EF4-FFF2-40B4-BE49-F238E27FC236}">
                    <a16:creationId xmlns:a16="http://schemas.microsoft.com/office/drawing/2014/main" id="{7385B95F-8DDB-AE6F-5FB2-8D49F3BA9A71}"/>
                  </a:ext>
                </a:extLst>
              </p:cNvPr>
              <p:cNvSpPr/>
              <p:nvPr/>
            </p:nvSpPr>
            <p:spPr>
              <a:xfrm>
                <a:off x="971322" y="3042545"/>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5" name="Elipse 83">
              <a:extLst>
                <a:ext uri="{FF2B5EF4-FFF2-40B4-BE49-F238E27FC236}">
                  <a16:creationId xmlns:a16="http://schemas.microsoft.com/office/drawing/2014/main" id="{97BCAF4C-B3AE-0E96-89E5-A80F48A81EA7}"/>
                </a:ext>
              </a:extLst>
            </p:cNvPr>
            <p:cNvSpPr/>
            <p:nvPr/>
          </p:nvSpPr>
          <p:spPr>
            <a:xfrm>
              <a:off x="1529435" y="51969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6" name="Group 35">
              <a:extLst>
                <a:ext uri="{FF2B5EF4-FFF2-40B4-BE49-F238E27FC236}">
                  <a16:creationId xmlns:a16="http://schemas.microsoft.com/office/drawing/2014/main" id="{90ED44EB-0C02-0E1D-1AFD-C70B01E57A23}"/>
                </a:ext>
              </a:extLst>
            </p:cNvPr>
            <p:cNvGrpSpPr/>
            <p:nvPr/>
          </p:nvGrpSpPr>
          <p:grpSpPr>
            <a:xfrm>
              <a:off x="574549" y="5263520"/>
              <a:ext cx="349823" cy="369332"/>
              <a:chOff x="920926" y="4430876"/>
              <a:chExt cx="349823" cy="369332"/>
            </a:xfrm>
          </p:grpSpPr>
          <mc:AlternateContent xmlns:mc="http://schemas.openxmlformats.org/markup-compatibility/2006" xmlns:a14="http://schemas.microsoft.com/office/drawing/2010/main">
            <mc:Choice Requires="a14">
              <p:sp>
                <p:nvSpPr>
                  <p:cNvPr id="62" name="CaixaDeTexto 116">
                    <a:extLst>
                      <a:ext uri="{FF2B5EF4-FFF2-40B4-BE49-F238E27FC236}">
                        <a16:creationId xmlns:a16="http://schemas.microsoft.com/office/drawing/2014/main" id="{19A33E77-BA6B-210C-C610-B4D9D744677B}"/>
                      </a:ext>
                    </a:extLst>
                  </p:cNvPr>
                  <p:cNvSpPr txBox="1"/>
                  <p:nvPr/>
                </p:nvSpPr>
                <p:spPr>
                  <a:xfrm>
                    <a:off x="920926" y="4430876"/>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62" name="CaixaDeTexto 116">
                    <a:extLst>
                      <a:ext uri="{FF2B5EF4-FFF2-40B4-BE49-F238E27FC236}">
                        <a16:creationId xmlns:a16="http://schemas.microsoft.com/office/drawing/2014/main" id="{19A33E77-BA6B-210C-C610-B4D9D744677B}"/>
                      </a:ext>
                    </a:extLst>
                  </p:cNvPr>
                  <p:cNvSpPr txBox="1">
                    <a:spLocks noRot="1" noChangeAspect="1" noMove="1" noResize="1" noEditPoints="1" noAdjustHandles="1" noChangeArrowheads="1" noChangeShapeType="1" noTextEdit="1"/>
                  </p:cNvSpPr>
                  <p:nvPr/>
                </p:nvSpPr>
                <p:spPr>
                  <a:xfrm>
                    <a:off x="920926" y="4430876"/>
                    <a:ext cx="266702" cy="369332"/>
                  </a:xfrm>
                  <a:prstGeom prst="rect">
                    <a:avLst/>
                  </a:prstGeom>
                  <a:blipFill>
                    <a:blip r:embed="rId5"/>
                    <a:stretch>
                      <a:fillRect r="-36364"/>
                    </a:stretch>
                  </a:blipFill>
                </p:spPr>
                <p:txBody>
                  <a:bodyPr/>
                  <a:lstStyle/>
                  <a:p>
                    <a:r>
                      <a:rPr lang="en-US">
                        <a:noFill/>
                      </a:rPr>
                      <a:t> </a:t>
                    </a:r>
                  </a:p>
                </p:txBody>
              </p:sp>
            </mc:Fallback>
          </mc:AlternateContent>
          <p:sp>
            <p:nvSpPr>
              <p:cNvPr id="63" name="Elipse 4">
                <a:extLst>
                  <a:ext uri="{FF2B5EF4-FFF2-40B4-BE49-F238E27FC236}">
                    <a16:creationId xmlns:a16="http://schemas.microsoft.com/office/drawing/2014/main" id="{412DB648-5C4F-890A-C9F3-0429048C9AC6}"/>
                  </a:ext>
                </a:extLst>
              </p:cNvPr>
              <p:cNvSpPr/>
              <p:nvPr/>
            </p:nvSpPr>
            <p:spPr>
              <a:xfrm>
                <a:off x="982749" y="4504166"/>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cxnSp>
          <p:nvCxnSpPr>
            <p:cNvPr id="37" name="Conector reto 112">
              <a:extLst>
                <a:ext uri="{FF2B5EF4-FFF2-40B4-BE49-F238E27FC236}">
                  <a16:creationId xmlns:a16="http://schemas.microsoft.com/office/drawing/2014/main" id="{07EEC5BD-824B-66B4-1D2A-823AF2CA44E5}"/>
                </a:ext>
              </a:extLst>
            </p:cNvPr>
            <p:cNvCxnSpPr>
              <a:cxnSpLocks/>
              <a:stCxn id="65" idx="6"/>
              <a:endCxn id="10" idx="2"/>
            </p:cNvCxnSpPr>
            <p:nvPr/>
          </p:nvCxnSpPr>
          <p:spPr>
            <a:xfrm flipV="1">
              <a:off x="944681" y="3212987"/>
              <a:ext cx="590203" cy="6669"/>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Conector reto 112">
              <a:extLst>
                <a:ext uri="{FF2B5EF4-FFF2-40B4-BE49-F238E27FC236}">
                  <a16:creationId xmlns:a16="http://schemas.microsoft.com/office/drawing/2014/main" id="{F47B6D0D-12E8-472D-E266-48CF9886B9D6}"/>
                </a:ext>
              </a:extLst>
            </p:cNvPr>
            <p:cNvCxnSpPr>
              <a:cxnSpLocks/>
              <a:stCxn id="65" idx="6"/>
              <a:endCxn id="12" idx="2"/>
            </p:cNvCxnSpPr>
            <p:nvPr/>
          </p:nvCxnSpPr>
          <p:spPr>
            <a:xfrm>
              <a:off x="944681" y="3219656"/>
              <a:ext cx="590203" cy="150463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Conector reto 112">
              <a:extLst>
                <a:ext uri="{FF2B5EF4-FFF2-40B4-BE49-F238E27FC236}">
                  <a16:creationId xmlns:a16="http://schemas.microsoft.com/office/drawing/2014/main" id="{A14196EA-BDCD-73C9-1D1B-596503E73351}"/>
                </a:ext>
              </a:extLst>
            </p:cNvPr>
            <p:cNvCxnSpPr>
              <a:cxnSpLocks/>
              <a:stCxn id="65" idx="6"/>
              <a:endCxn id="35" idx="2"/>
            </p:cNvCxnSpPr>
            <p:nvPr/>
          </p:nvCxnSpPr>
          <p:spPr>
            <a:xfrm>
              <a:off x="944681" y="3219656"/>
              <a:ext cx="584754" cy="22602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Conector reto 112">
              <a:extLst>
                <a:ext uri="{FF2B5EF4-FFF2-40B4-BE49-F238E27FC236}">
                  <a16:creationId xmlns:a16="http://schemas.microsoft.com/office/drawing/2014/main" id="{59E70192-9300-7A69-89BC-34EB05FD32D3}"/>
                </a:ext>
              </a:extLst>
            </p:cNvPr>
            <p:cNvCxnSpPr>
              <a:cxnSpLocks/>
              <a:stCxn id="63" idx="6"/>
              <a:endCxn id="35" idx="2"/>
            </p:cNvCxnSpPr>
            <p:nvPr/>
          </p:nvCxnSpPr>
          <p:spPr>
            <a:xfrm flipV="1">
              <a:off x="924372" y="5479937"/>
              <a:ext cx="605063" cy="8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Conector reto 112">
              <a:extLst>
                <a:ext uri="{FF2B5EF4-FFF2-40B4-BE49-F238E27FC236}">
                  <a16:creationId xmlns:a16="http://schemas.microsoft.com/office/drawing/2014/main" id="{025E12B7-8C55-7105-D8D9-492D3A49E944}"/>
                </a:ext>
              </a:extLst>
            </p:cNvPr>
            <p:cNvCxnSpPr>
              <a:cxnSpLocks/>
              <a:stCxn id="63" idx="6"/>
              <a:endCxn id="12" idx="2"/>
            </p:cNvCxnSpPr>
            <p:nvPr/>
          </p:nvCxnSpPr>
          <p:spPr>
            <a:xfrm flipV="1">
              <a:off x="924372" y="4724287"/>
              <a:ext cx="610512" cy="7565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Conector reto 112">
              <a:extLst>
                <a:ext uri="{FF2B5EF4-FFF2-40B4-BE49-F238E27FC236}">
                  <a16:creationId xmlns:a16="http://schemas.microsoft.com/office/drawing/2014/main" id="{DCDD9103-9C3E-CCEC-3F4F-0EA0038FE1D7}"/>
                </a:ext>
              </a:extLst>
            </p:cNvPr>
            <p:cNvCxnSpPr>
              <a:cxnSpLocks/>
              <a:stCxn id="63" idx="6"/>
            </p:cNvCxnSpPr>
            <p:nvPr/>
          </p:nvCxnSpPr>
          <p:spPr>
            <a:xfrm flipV="1">
              <a:off x="924372" y="3968637"/>
              <a:ext cx="610512" cy="15121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Conector reto 112">
              <a:extLst>
                <a:ext uri="{FF2B5EF4-FFF2-40B4-BE49-F238E27FC236}">
                  <a16:creationId xmlns:a16="http://schemas.microsoft.com/office/drawing/2014/main" id="{06A0A113-79F8-6118-1112-AB2CA14F62AA}"/>
                </a:ext>
              </a:extLst>
            </p:cNvPr>
            <p:cNvCxnSpPr>
              <a:cxnSpLocks/>
              <a:stCxn id="63" idx="6"/>
              <a:endCxn id="10" idx="2"/>
            </p:cNvCxnSpPr>
            <p:nvPr/>
          </p:nvCxnSpPr>
          <p:spPr>
            <a:xfrm flipV="1">
              <a:off x="924372" y="3212987"/>
              <a:ext cx="610512" cy="22678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Conector de Seta Reta 91">
              <a:extLst>
                <a:ext uri="{FF2B5EF4-FFF2-40B4-BE49-F238E27FC236}">
                  <a16:creationId xmlns:a16="http://schemas.microsoft.com/office/drawing/2014/main" id="{D1579316-4048-F3C8-EC0C-AA7072416BF5}"/>
                </a:ext>
              </a:extLst>
            </p:cNvPr>
            <p:cNvCxnSpPr>
              <a:cxnSpLocks/>
              <a:stCxn id="12" idx="6"/>
              <a:endCxn id="5" idx="2"/>
            </p:cNvCxnSpPr>
            <p:nvPr/>
          </p:nvCxnSpPr>
          <p:spPr>
            <a:xfrm flipV="1">
              <a:off x="2100941" y="3685608"/>
              <a:ext cx="391887" cy="1038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ector de Seta Reta 91">
              <a:extLst>
                <a:ext uri="{FF2B5EF4-FFF2-40B4-BE49-F238E27FC236}">
                  <a16:creationId xmlns:a16="http://schemas.microsoft.com/office/drawing/2014/main" id="{2F6596EE-3707-8911-3737-4C9819E56CDB}"/>
                </a:ext>
              </a:extLst>
            </p:cNvPr>
            <p:cNvCxnSpPr>
              <a:cxnSpLocks/>
              <a:stCxn id="35" idx="6"/>
              <a:endCxn id="5" idx="2"/>
            </p:cNvCxnSpPr>
            <p:nvPr/>
          </p:nvCxnSpPr>
          <p:spPr>
            <a:xfrm flipV="1">
              <a:off x="2095492" y="3685608"/>
              <a:ext cx="397336" cy="1794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ector de Seta Reta 91">
              <a:extLst>
                <a:ext uri="{FF2B5EF4-FFF2-40B4-BE49-F238E27FC236}">
                  <a16:creationId xmlns:a16="http://schemas.microsoft.com/office/drawing/2014/main" id="{6D865890-CFAA-90BC-084B-962FEF34313D}"/>
                </a:ext>
              </a:extLst>
            </p:cNvPr>
            <p:cNvCxnSpPr>
              <a:cxnSpLocks/>
              <a:stCxn id="35" idx="6"/>
              <a:endCxn id="6" idx="2"/>
            </p:cNvCxnSpPr>
            <p:nvPr/>
          </p:nvCxnSpPr>
          <p:spPr>
            <a:xfrm flipV="1">
              <a:off x="2095492" y="4404065"/>
              <a:ext cx="397335" cy="1075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ector de Seta Reta 91">
              <a:extLst>
                <a:ext uri="{FF2B5EF4-FFF2-40B4-BE49-F238E27FC236}">
                  <a16:creationId xmlns:a16="http://schemas.microsoft.com/office/drawing/2014/main" id="{64465E6E-E5CA-677B-F28F-61ED51C39090}"/>
                </a:ext>
              </a:extLst>
            </p:cNvPr>
            <p:cNvCxnSpPr>
              <a:cxnSpLocks/>
              <a:stCxn id="35" idx="6"/>
              <a:endCxn id="7" idx="2"/>
            </p:cNvCxnSpPr>
            <p:nvPr/>
          </p:nvCxnSpPr>
          <p:spPr>
            <a:xfrm flipV="1">
              <a:off x="2095492" y="5122522"/>
              <a:ext cx="397335" cy="357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724182A-BC9E-A2F6-A1B4-BB8ECF80D91A}"/>
                    </a:ext>
                  </a:extLst>
                </p:cNvPr>
                <p:cNvSpPr txBox="1"/>
                <p:nvPr/>
              </p:nvSpPr>
              <p:spPr>
                <a:xfrm>
                  <a:off x="956041" y="2865008"/>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48" name="TextBox 47">
                  <a:extLst>
                    <a:ext uri="{FF2B5EF4-FFF2-40B4-BE49-F238E27FC236}">
                      <a16:creationId xmlns:a16="http://schemas.microsoft.com/office/drawing/2014/main" id="{2724182A-BC9E-A2F6-A1B4-BB8ECF80D91A}"/>
                    </a:ext>
                  </a:extLst>
                </p:cNvPr>
                <p:cNvSpPr txBox="1">
                  <a:spLocks noRot="1" noChangeAspect="1" noMove="1" noResize="1" noEditPoints="1" noAdjustHandles="1" noChangeArrowheads="1" noChangeShapeType="1" noTextEdit="1"/>
                </p:cNvSpPr>
                <p:nvPr/>
              </p:nvSpPr>
              <p:spPr>
                <a:xfrm>
                  <a:off x="956041" y="2865008"/>
                  <a:ext cx="560538" cy="36131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1044A7A0-B009-4EE4-6E6D-D1E1FDC070C8}"/>
                    </a:ext>
                  </a:extLst>
                </p:cNvPr>
                <p:cNvSpPr txBox="1"/>
                <p:nvPr/>
              </p:nvSpPr>
              <p:spPr>
                <a:xfrm rot="3068437">
                  <a:off x="1020572" y="321965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12</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49" name="TextBox 48">
                  <a:extLst>
                    <a:ext uri="{FF2B5EF4-FFF2-40B4-BE49-F238E27FC236}">
                      <a16:creationId xmlns:a16="http://schemas.microsoft.com/office/drawing/2014/main" id="{1044A7A0-B009-4EE4-6E6D-D1E1FDC070C8}"/>
                    </a:ext>
                  </a:extLst>
                </p:cNvPr>
                <p:cNvSpPr txBox="1">
                  <a:spLocks noRot="1" noChangeAspect="1" noMove="1" noResize="1" noEditPoints="1" noAdjustHandles="1" noChangeArrowheads="1" noChangeShapeType="1" noTextEdit="1"/>
                </p:cNvSpPr>
                <p:nvPr/>
              </p:nvSpPr>
              <p:spPr>
                <a:xfrm rot="3068437">
                  <a:off x="1020572" y="3219653"/>
                  <a:ext cx="560538" cy="36131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D77670F4-8D16-A250-1A78-91768C9E1CB2}"/>
                    </a:ext>
                  </a:extLst>
                </p:cNvPr>
                <p:cNvSpPr txBox="1"/>
                <p:nvPr/>
              </p:nvSpPr>
              <p:spPr>
                <a:xfrm>
                  <a:off x="933548" y="5486606"/>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24</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0" name="TextBox 49">
                  <a:extLst>
                    <a:ext uri="{FF2B5EF4-FFF2-40B4-BE49-F238E27FC236}">
                      <a16:creationId xmlns:a16="http://schemas.microsoft.com/office/drawing/2014/main" id="{D77670F4-8D16-A250-1A78-91768C9E1CB2}"/>
                    </a:ext>
                  </a:extLst>
                </p:cNvPr>
                <p:cNvSpPr txBox="1">
                  <a:spLocks noRot="1" noChangeAspect="1" noMove="1" noResize="1" noEditPoints="1" noAdjustHandles="1" noChangeArrowheads="1" noChangeShapeType="1" noTextEdit="1"/>
                </p:cNvSpPr>
                <p:nvPr/>
              </p:nvSpPr>
              <p:spPr>
                <a:xfrm>
                  <a:off x="933548" y="5486606"/>
                  <a:ext cx="560538" cy="36131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182E9E64-9A9C-42E8-A902-4940352E22B5}"/>
                    </a:ext>
                  </a:extLst>
                </p:cNvPr>
                <p:cNvSpPr txBox="1"/>
                <p:nvPr/>
              </p:nvSpPr>
              <p:spPr>
                <a:xfrm rot="17131605">
                  <a:off x="594353" y="4756061"/>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1" name="TextBox 50">
                  <a:extLst>
                    <a:ext uri="{FF2B5EF4-FFF2-40B4-BE49-F238E27FC236}">
                      <a16:creationId xmlns:a16="http://schemas.microsoft.com/office/drawing/2014/main" id="{182E9E64-9A9C-42E8-A902-4940352E22B5}"/>
                    </a:ext>
                  </a:extLst>
                </p:cNvPr>
                <p:cNvSpPr txBox="1">
                  <a:spLocks noRot="1" noChangeAspect="1" noMove="1" noResize="1" noEditPoints="1" noAdjustHandles="1" noChangeArrowheads="1" noChangeShapeType="1" noTextEdit="1"/>
                </p:cNvSpPr>
                <p:nvPr/>
              </p:nvSpPr>
              <p:spPr>
                <a:xfrm rot="17131605">
                  <a:off x="594353" y="4756061"/>
                  <a:ext cx="560538" cy="36131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ABD2E40-CB4C-C4AA-C6C7-DA1F416625B3}"/>
                    </a:ext>
                  </a:extLst>
                </p:cNvPr>
                <p:cNvSpPr txBox="1"/>
                <p:nvPr/>
              </p:nvSpPr>
              <p:spPr>
                <a:xfrm rot="2964551">
                  <a:off x="2132495" y="313219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2" name="TextBox 51">
                  <a:extLst>
                    <a:ext uri="{FF2B5EF4-FFF2-40B4-BE49-F238E27FC236}">
                      <a16:creationId xmlns:a16="http://schemas.microsoft.com/office/drawing/2014/main" id="{5ABD2E40-CB4C-C4AA-C6C7-DA1F416625B3}"/>
                    </a:ext>
                  </a:extLst>
                </p:cNvPr>
                <p:cNvSpPr txBox="1">
                  <a:spLocks noRot="1" noChangeAspect="1" noMove="1" noResize="1" noEditPoints="1" noAdjustHandles="1" noChangeArrowheads="1" noChangeShapeType="1" noTextEdit="1"/>
                </p:cNvSpPr>
                <p:nvPr/>
              </p:nvSpPr>
              <p:spPr>
                <a:xfrm rot="2964551">
                  <a:off x="2132495" y="3132193"/>
                  <a:ext cx="560538" cy="36131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60C46355-8CAB-59C9-2C26-87970CB944B2}"/>
                    </a:ext>
                  </a:extLst>
                </p:cNvPr>
                <p:cNvSpPr txBox="1"/>
                <p:nvPr/>
              </p:nvSpPr>
              <p:spPr>
                <a:xfrm rot="19021513">
                  <a:off x="2088094" y="5274650"/>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43</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3" name="TextBox 52">
                  <a:extLst>
                    <a:ext uri="{FF2B5EF4-FFF2-40B4-BE49-F238E27FC236}">
                      <a16:creationId xmlns:a16="http://schemas.microsoft.com/office/drawing/2014/main" id="{60C46355-8CAB-59C9-2C26-87970CB944B2}"/>
                    </a:ext>
                  </a:extLst>
                </p:cNvPr>
                <p:cNvSpPr txBox="1">
                  <a:spLocks noRot="1" noChangeAspect="1" noMove="1" noResize="1" noEditPoints="1" noAdjustHandles="1" noChangeArrowheads="1" noChangeShapeType="1" noTextEdit="1"/>
                </p:cNvSpPr>
                <p:nvPr/>
              </p:nvSpPr>
              <p:spPr>
                <a:xfrm rot="19021513">
                  <a:off x="2088094" y="5274650"/>
                  <a:ext cx="560538" cy="36131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B47F4BE6-50BF-7915-09C6-1C68FD6CF4D3}"/>
                    </a:ext>
                  </a:extLst>
                </p:cNvPr>
                <p:cNvSpPr txBox="1"/>
                <p:nvPr/>
              </p:nvSpPr>
              <p:spPr>
                <a:xfrm rot="2893059">
                  <a:off x="3107452" y="3604952"/>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4" name="TextBox 53">
                  <a:extLst>
                    <a:ext uri="{FF2B5EF4-FFF2-40B4-BE49-F238E27FC236}">
                      <a16:creationId xmlns:a16="http://schemas.microsoft.com/office/drawing/2014/main" id="{B47F4BE6-50BF-7915-09C6-1C68FD6CF4D3}"/>
                    </a:ext>
                  </a:extLst>
                </p:cNvPr>
                <p:cNvSpPr txBox="1">
                  <a:spLocks noRot="1" noChangeAspect="1" noMove="1" noResize="1" noEditPoints="1" noAdjustHandles="1" noChangeArrowheads="1" noChangeShapeType="1" noTextEdit="1"/>
                </p:cNvSpPr>
                <p:nvPr/>
              </p:nvSpPr>
              <p:spPr>
                <a:xfrm rot="2893059">
                  <a:off x="3107452" y="3604952"/>
                  <a:ext cx="560538" cy="362663"/>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521D5993-1351-F7B8-7BB5-8B95030655D6}"/>
                    </a:ext>
                  </a:extLst>
                </p:cNvPr>
                <p:cNvSpPr txBox="1"/>
                <p:nvPr/>
              </p:nvSpPr>
              <p:spPr>
                <a:xfrm rot="19852769">
                  <a:off x="3044859" y="4967999"/>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32</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5" name="TextBox 54">
                  <a:extLst>
                    <a:ext uri="{FF2B5EF4-FFF2-40B4-BE49-F238E27FC236}">
                      <a16:creationId xmlns:a16="http://schemas.microsoft.com/office/drawing/2014/main" id="{521D5993-1351-F7B8-7BB5-8B95030655D6}"/>
                    </a:ext>
                  </a:extLst>
                </p:cNvPr>
                <p:cNvSpPr txBox="1">
                  <a:spLocks noRot="1" noChangeAspect="1" noMove="1" noResize="1" noEditPoints="1" noAdjustHandles="1" noChangeArrowheads="1" noChangeShapeType="1" noTextEdit="1"/>
                </p:cNvSpPr>
                <p:nvPr/>
              </p:nvSpPr>
              <p:spPr>
                <a:xfrm rot="19852769">
                  <a:off x="3044859" y="4967999"/>
                  <a:ext cx="560538" cy="362663"/>
                </a:xfrm>
                <a:prstGeom prst="rect">
                  <a:avLst/>
                </a:prstGeom>
                <a:blipFill>
                  <a:blip r:embed="rId13"/>
                  <a:stretch>
                    <a:fillRect/>
                  </a:stretch>
                </a:blipFill>
              </p:spPr>
              <p:txBody>
                <a:bodyPr/>
                <a:lstStyle/>
                <a:p>
                  <a:r>
                    <a:rPr lang="en-US">
                      <a:noFill/>
                    </a:rPr>
                    <a:t> </a:t>
                  </a:r>
                </a:p>
              </p:txBody>
            </p:sp>
          </mc:Fallback>
        </mc:AlternateContent>
        <p:sp>
          <p:nvSpPr>
            <p:cNvPr id="56" name="CaixaDeTexto 106">
              <a:extLst>
                <a:ext uri="{FF2B5EF4-FFF2-40B4-BE49-F238E27FC236}">
                  <a16:creationId xmlns:a16="http://schemas.microsoft.com/office/drawing/2014/main" id="{79BE2A79-091B-B8FA-D892-BBEF09F5E7B3}"/>
                </a:ext>
              </a:extLst>
            </p:cNvPr>
            <p:cNvSpPr txBox="1"/>
            <p:nvPr/>
          </p:nvSpPr>
          <p:spPr>
            <a:xfrm>
              <a:off x="1300841" y="2506925"/>
              <a:ext cx="1796143" cy="307777"/>
            </a:xfrm>
            <a:prstGeom prst="rect">
              <a:avLst/>
            </a:prstGeom>
            <a:noFill/>
          </p:spPr>
          <p:txBody>
            <a:bodyPr wrap="square" rtlCol="0">
              <a:spAutoFit/>
            </a:bodyPr>
            <a:lstStyle/>
            <a:p>
              <a:r>
                <a:rPr lang="pt-BR" sz="1400" dirty="0"/>
                <a:t>Peso sináptico</a:t>
              </a:r>
            </a:p>
          </p:txBody>
        </p:sp>
        <p:sp>
          <p:nvSpPr>
            <p:cNvPr id="57" name="Freeform: Shape 56">
              <a:extLst>
                <a:ext uri="{FF2B5EF4-FFF2-40B4-BE49-F238E27FC236}">
                  <a16:creationId xmlns:a16="http://schemas.microsoft.com/office/drawing/2014/main" id="{47EEB8F0-84DB-53BB-291C-95F0745E2932}"/>
                </a:ext>
              </a:extLst>
            </p:cNvPr>
            <p:cNvSpPr/>
            <p:nvPr/>
          </p:nvSpPr>
          <p:spPr>
            <a:xfrm>
              <a:off x="1164771" y="2656114"/>
              <a:ext cx="206829" cy="250372"/>
            </a:xfrm>
            <a:custGeom>
              <a:avLst/>
              <a:gdLst>
                <a:gd name="csX0" fmla="*/ 0 w 206829"/>
                <a:gd name="csY0" fmla="*/ 250372 h 250372"/>
                <a:gd name="csX1" fmla="*/ 54429 w 206829"/>
                <a:gd name="csY1" fmla="*/ 108857 h 250372"/>
                <a:gd name="csX2" fmla="*/ 206829 w 206829"/>
                <a:gd name="csY2" fmla="*/ 0 h 250372"/>
              </a:gdLst>
              <a:ahLst/>
              <a:cxnLst>
                <a:cxn ang="0">
                  <a:pos x="csX0" y="csY0"/>
                </a:cxn>
                <a:cxn ang="0">
                  <a:pos x="csX1" y="csY1"/>
                </a:cxn>
                <a:cxn ang="0">
                  <a:pos x="csX2" y="csY2"/>
                </a:cxn>
              </a:cxnLst>
              <a:rect l="l" t="t" r="r" b="b"/>
              <a:pathLst>
                <a:path w="206829" h="250372">
                  <a:moveTo>
                    <a:pt x="0" y="250372"/>
                  </a:moveTo>
                  <a:cubicBezTo>
                    <a:pt x="9979" y="200479"/>
                    <a:pt x="19958" y="150586"/>
                    <a:pt x="54429" y="108857"/>
                  </a:cubicBezTo>
                  <a:cubicBezTo>
                    <a:pt x="88901" y="67128"/>
                    <a:pt x="147865" y="33564"/>
                    <a:pt x="206829"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CaixaDeTexto 32">
              <a:extLst>
                <a:ext uri="{FF2B5EF4-FFF2-40B4-BE49-F238E27FC236}">
                  <a16:creationId xmlns:a16="http://schemas.microsoft.com/office/drawing/2014/main" id="{A6150A8B-A2F2-9F5C-95D3-0537E8600189}"/>
                </a:ext>
              </a:extLst>
            </p:cNvPr>
            <p:cNvSpPr txBox="1"/>
            <p:nvPr/>
          </p:nvSpPr>
          <p:spPr>
            <a:xfrm>
              <a:off x="294226" y="5713408"/>
              <a:ext cx="868135" cy="461665"/>
            </a:xfrm>
            <a:prstGeom prst="rect">
              <a:avLst/>
            </a:prstGeom>
            <a:noFill/>
          </p:spPr>
          <p:txBody>
            <a:bodyPr wrap="square" rtlCol="0">
              <a:spAutoFit/>
            </a:bodyPr>
            <a:lstStyle/>
            <a:p>
              <a:pPr algn="ctr"/>
              <a:r>
                <a:rPr lang="pt-BR" sz="1200" dirty="0"/>
                <a:t>Camada de entrada</a:t>
              </a:r>
            </a:p>
          </p:txBody>
        </p:sp>
        <p:sp>
          <p:nvSpPr>
            <p:cNvPr id="59" name="CaixaDeTexto 34">
              <a:extLst>
                <a:ext uri="{FF2B5EF4-FFF2-40B4-BE49-F238E27FC236}">
                  <a16:creationId xmlns:a16="http://schemas.microsoft.com/office/drawing/2014/main" id="{580B713B-F312-052C-F64A-122A3147D8B2}"/>
                </a:ext>
              </a:extLst>
            </p:cNvPr>
            <p:cNvSpPr txBox="1"/>
            <p:nvPr/>
          </p:nvSpPr>
          <p:spPr>
            <a:xfrm>
              <a:off x="1357989" y="5837351"/>
              <a:ext cx="868135" cy="461665"/>
            </a:xfrm>
            <a:prstGeom prst="rect">
              <a:avLst/>
            </a:prstGeom>
            <a:noFill/>
          </p:spPr>
          <p:txBody>
            <a:bodyPr wrap="square" rtlCol="0">
              <a:spAutoFit/>
            </a:bodyPr>
            <a:lstStyle/>
            <a:p>
              <a:pPr algn="ctr"/>
              <a:r>
                <a:rPr lang="pt-BR" sz="1200" dirty="0"/>
                <a:t>Camada oculta #1</a:t>
              </a:r>
            </a:p>
          </p:txBody>
        </p:sp>
        <p:sp>
          <p:nvSpPr>
            <p:cNvPr id="60" name="CaixaDeTexto 40">
              <a:extLst>
                <a:ext uri="{FF2B5EF4-FFF2-40B4-BE49-F238E27FC236}">
                  <a16:creationId xmlns:a16="http://schemas.microsoft.com/office/drawing/2014/main" id="{9E235BB0-6DD5-2E76-29C6-772FB05DF080}"/>
                </a:ext>
              </a:extLst>
            </p:cNvPr>
            <p:cNvSpPr txBox="1"/>
            <p:nvPr/>
          </p:nvSpPr>
          <p:spPr>
            <a:xfrm>
              <a:off x="2352673" y="5450646"/>
              <a:ext cx="868135" cy="461665"/>
            </a:xfrm>
            <a:prstGeom prst="rect">
              <a:avLst/>
            </a:prstGeom>
            <a:noFill/>
          </p:spPr>
          <p:txBody>
            <a:bodyPr wrap="square" rtlCol="0">
              <a:spAutoFit/>
            </a:bodyPr>
            <a:lstStyle/>
            <a:p>
              <a:pPr algn="ctr"/>
              <a:r>
                <a:rPr lang="pt-BR" sz="1200" dirty="0"/>
                <a:t>Camada oculta #2</a:t>
              </a:r>
            </a:p>
          </p:txBody>
        </p:sp>
        <p:sp>
          <p:nvSpPr>
            <p:cNvPr id="61" name="CaixaDeTexto 36">
              <a:extLst>
                <a:ext uri="{FF2B5EF4-FFF2-40B4-BE49-F238E27FC236}">
                  <a16:creationId xmlns:a16="http://schemas.microsoft.com/office/drawing/2014/main" id="{DD19FB58-139E-D1C8-CF86-4EBF2C513AD8}"/>
                </a:ext>
              </a:extLst>
            </p:cNvPr>
            <p:cNvSpPr txBox="1"/>
            <p:nvPr/>
          </p:nvSpPr>
          <p:spPr>
            <a:xfrm>
              <a:off x="3314688" y="5239989"/>
              <a:ext cx="868135" cy="461665"/>
            </a:xfrm>
            <a:prstGeom prst="rect">
              <a:avLst/>
            </a:prstGeom>
            <a:noFill/>
          </p:spPr>
          <p:txBody>
            <a:bodyPr wrap="square" rtlCol="0">
              <a:spAutoFit/>
            </a:bodyPr>
            <a:lstStyle/>
            <a:p>
              <a:pPr algn="ctr"/>
              <a:r>
                <a:rPr lang="pt-BR" sz="1200" dirty="0"/>
                <a:t>Camada de saída</a:t>
              </a:r>
            </a:p>
          </p:txBody>
        </p:sp>
      </p:grpSp>
      <p:sp>
        <p:nvSpPr>
          <p:cNvPr id="66" name="Seta: para a Direita 24">
            <a:extLst>
              <a:ext uri="{FF2B5EF4-FFF2-40B4-BE49-F238E27FC236}">
                <a16:creationId xmlns:a16="http://schemas.microsoft.com/office/drawing/2014/main" id="{CBDA1BC7-1D4F-453C-3389-CB905C7F7735}"/>
              </a:ext>
            </a:extLst>
          </p:cNvPr>
          <p:cNvSpPr/>
          <p:nvPr/>
        </p:nvSpPr>
        <p:spPr>
          <a:xfrm>
            <a:off x="933777" y="5913848"/>
            <a:ext cx="3820886" cy="470018"/>
          </a:xfrm>
          <a:prstGeom prst="rightArrow">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803575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52993-1566-04A8-953E-C431CFC2F3F2}"/>
              </a:ext>
            </a:extLst>
          </p:cNvPr>
          <p:cNvSpPr>
            <a:spLocks noGrp="1"/>
          </p:cNvSpPr>
          <p:nvPr>
            <p:ph type="title"/>
          </p:nvPr>
        </p:nvSpPr>
        <p:spPr/>
        <p:txBody>
          <a:bodyPr/>
          <a:lstStyle/>
          <a:p>
            <a:r>
              <a:rPr lang="pt-BR" dirty="0"/>
              <a:t>Redes neurais artificiais</a:t>
            </a:r>
            <a:endParaRPr lang="en-US" dirty="0"/>
          </a:p>
        </p:txBody>
      </p:sp>
      <p:sp>
        <p:nvSpPr>
          <p:cNvPr id="3" name="Content Placeholder 2">
            <a:extLst>
              <a:ext uri="{FF2B5EF4-FFF2-40B4-BE49-F238E27FC236}">
                <a16:creationId xmlns:a16="http://schemas.microsoft.com/office/drawing/2014/main" id="{874EAA9B-6003-D045-CC88-4188882B271A}"/>
              </a:ext>
            </a:extLst>
          </p:cNvPr>
          <p:cNvSpPr>
            <a:spLocks noGrp="1"/>
          </p:cNvSpPr>
          <p:nvPr>
            <p:ph idx="1"/>
          </p:nvPr>
        </p:nvSpPr>
        <p:spPr>
          <a:xfrm>
            <a:off x="838198" y="1825625"/>
            <a:ext cx="11353801" cy="4351338"/>
          </a:xfrm>
        </p:spPr>
        <p:txBody>
          <a:bodyPr/>
          <a:lstStyle/>
          <a:p>
            <a:r>
              <a:rPr lang="pt-BR" dirty="0"/>
              <a:t>As </a:t>
            </a:r>
            <a:r>
              <a:rPr lang="pt-BR" dirty="0" err="1"/>
              <a:t>RNAs</a:t>
            </a:r>
            <a:r>
              <a:rPr lang="pt-BR" dirty="0"/>
              <a:t> são o coração do </a:t>
            </a:r>
            <a:r>
              <a:rPr lang="pt-BR" b="1" i="1" dirty="0" err="1"/>
              <a:t>deep</a:t>
            </a:r>
            <a:r>
              <a:rPr lang="pt-BR" b="1" i="1" dirty="0"/>
              <a:t> learning </a:t>
            </a:r>
            <a:r>
              <a:rPr lang="pt-BR" b="1" dirty="0"/>
              <a:t>ou aprendizado profundo</a:t>
            </a:r>
            <a:r>
              <a:rPr lang="pt-BR" dirty="0"/>
              <a:t>.</a:t>
            </a:r>
          </a:p>
          <a:p>
            <a:r>
              <a:rPr lang="pt-BR" dirty="0"/>
              <a:t>O termo "</a:t>
            </a:r>
            <a:r>
              <a:rPr lang="pt-BR" b="1" dirty="0">
                <a:solidFill>
                  <a:srgbClr val="00B050"/>
                </a:solidFill>
              </a:rPr>
              <a:t>profundo</a:t>
            </a:r>
            <a:r>
              <a:rPr lang="pt-BR" dirty="0"/>
              <a:t>" vem fato destas redes </a:t>
            </a:r>
            <a:r>
              <a:rPr lang="pt-BR" b="1" dirty="0">
                <a:solidFill>
                  <a:srgbClr val="7030A0"/>
                </a:solidFill>
              </a:rPr>
              <a:t>poderem possuir muitas camadas ocultas</a:t>
            </a:r>
            <a:r>
              <a:rPr lang="pt-BR" dirty="0"/>
              <a:t>.</a:t>
            </a:r>
          </a:p>
          <a:p>
            <a:r>
              <a:rPr lang="pt-BR" dirty="0"/>
              <a:t>Em geral, quanto mais profunda, maior é a </a:t>
            </a:r>
            <a:r>
              <a:rPr lang="pt-BR" b="1" dirty="0">
                <a:solidFill>
                  <a:schemeClr val="accent2"/>
                </a:solidFill>
              </a:rPr>
              <a:t>capacidade de aprendizado</a:t>
            </a:r>
            <a:r>
              <a:rPr lang="pt-BR" dirty="0"/>
              <a:t> de uma rede neural, porém, maior será sua </a:t>
            </a:r>
            <a:r>
              <a:rPr lang="pt-BR" b="1" dirty="0">
                <a:solidFill>
                  <a:srgbClr val="7030A0"/>
                </a:solidFill>
              </a:rPr>
              <a:t>complexidade computacional</a:t>
            </a:r>
            <a:r>
              <a:rPr lang="pt-BR" dirty="0"/>
              <a:t>.</a:t>
            </a:r>
          </a:p>
        </p:txBody>
      </p:sp>
      <p:grpSp>
        <p:nvGrpSpPr>
          <p:cNvPr id="8" name="Group 7">
            <a:extLst>
              <a:ext uri="{FF2B5EF4-FFF2-40B4-BE49-F238E27FC236}">
                <a16:creationId xmlns:a16="http://schemas.microsoft.com/office/drawing/2014/main" id="{AA23EAEA-060A-1C22-3020-27BBBAF3E612}"/>
              </a:ext>
            </a:extLst>
          </p:cNvPr>
          <p:cNvGrpSpPr/>
          <p:nvPr/>
        </p:nvGrpSpPr>
        <p:grpSpPr>
          <a:xfrm>
            <a:off x="2403988" y="4090650"/>
            <a:ext cx="7052205" cy="2767350"/>
            <a:chOff x="4678169" y="3716345"/>
            <a:chExt cx="7310321" cy="2832256"/>
          </a:xfrm>
        </p:grpSpPr>
        <p:pic>
          <p:nvPicPr>
            <p:cNvPr id="9" name="Picture 4" descr="Future prospects of deep learning in medicine | LaptrinhX">
              <a:extLst>
                <a:ext uri="{FF2B5EF4-FFF2-40B4-BE49-F238E27FC236}">
                  <a16:creationId xmlns:a16="http://schemas.microsoft.com/office/drawing/2014/main" id="{FD27238F-87B0-A3D4-5393-308D26A524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2960"/>
            <a:stretch/>
          </p:blipFill>
          <p:spPr bwMode="auto">
            <a:xfrm>
              <a:off x="4678169" y="4081375"/>
              <a:ext cx="7310321" cy="2467226"/>
            </a:xfrm>
            <a:prstGeom prst="rect">
              <a:avLst/>
            </a:prstGeom>
            <a:noFill/>
            <a:extLst>
              <a:ext uri="{909E8E84-426E-40DD-AFC4-6F175D3DCCD1}">
                <a14:hiddenFill xmlns:a14="http://schemas.microsoft.com/office/drawing/2010/main">
                  <a:solidFill>
                    <a:srgbClr val="FFFFFF"/>
                  </a:solidFill>
                </a14:hiddenFill>
              </a:ext>
            </a:extLst>
          </p:spPr>
        </p:pic>
        <p:sp>
          <p:nvSpPr>
            <p:cNvPr id="10" name="CaixaDeTexto 3">
              <a:extLst>
                <a:ext uri="{FF2B5EF4-FFF2-40B4-BE49-F238E27FC236}">
                  <a16:creationId xmlns:a16="http://schemas.microsoft.com/office/drawing/2014/main" id="{C3183ADD-4F13-EA91-59EF-913D3D70EFB7}"/>
                </a:ext>
              </a:extLst>
            </p:cNvPr>
            <p:cNvSpPr txBox="1"/>
            <p:nvPr/>
          </p:nvSpPr>
          <p:spPr>
            <a:xfrm>
              <a:off x="4678169" y="3738623"/>
              <a:ext cx="2463411" cy="369332"/>
            </a:xfrm>
            <a:prstGeom prst="rect">
              <a:avLst/>
            </a:prstGeom>
            <a:noFill/>
          </p:spPr>
          <p:txBody>
            <a:bodyPr wrap="square" rtlCol="0">
              <a:spAutoFit/>
            </a:bodyPr>
            <a:lstStyle/>
            <a:p>
              <a:pPr algn="ctr"/>
              <a:r>
                <a:rPr lang="pt-BR" dirty="0"/>
                <a:t>Rede neural rasa</a:t>
              </a:r>
            </a:p>
          </p:txBody>
        </p:sp>
        <p:sp>
          <p:nvSpPr>
            <p:cNvPr id="11" name="CaixaDeTexto 4">
              <a:extLst>
                <a:ext uri="{FF2B5EF4-FFF2-40B4-BE49-F238E27FC236}">
                  <a16:creationId xmlns:a16="http://schemas.microsoft.com/office/drawing/2014/main" id="{D7F72C6D-BE68-A00C-48BF-9108F2276E2D}"/>
                </a:ext>
              </a:extLst>
            </p:cNvPr>
            <p:cNvSpPr txBox="1"/>
            <p:nvPr/>
          </p:nvSpPr>
          <p:spPr>
            <a:xfrm>
              <a:off x="7978405" y="3716345"/>
              <a:ext cx="3964552" cy="369332"/>
            </a:xfrm>
            <a:prstGeom prst="rect">
              <a:avLst/>
            </a:prstGeom>
            <a:noFill/>
          </p:spPr>
          <p:txBody>
            <a:bodyPr wrap="square" rtlCol="0">
              <a:spAutoFit/>
            </a:bodyPr>
            <a:lstStyle/>
            <a:p>
              <a:pPr algn="ctr"/>
              <a:r>
                <a:rPr lang="pt-BR" dirty="0"/>
                <a:t>Rede neural profunda</a:t>
              </a:r>
            </a:p>
          </p:txBody>
        </p:sp>
      </p:grpSp>
    </p:spTree>
    <p:extLst>
      <p:ext uri="{BB962C8B-B14F-4D97-AF65-F5344CB8AC3E}">
        <p14:creationId xmlns:p14="http://schemas.microsoft.com/office/powerpoint/2010/main" val="18390991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029A7-1B92-0743-D94F-551F53CCA28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F732CC-2FD4-6168-5020-66AD57A4B289}"/>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a16="http://schemas.microsoft.com/office/drawing/2014/main" id="{C653729B-FBD8-B36F-5207-9E37720CD997}"/>
              </a:ext>
            </a:extLst>
          </p:cNvPr>
          <p:cNvSpPr>
            <a:spLocks noGrp="1"/>
          </p:cNvSpPr>
          <p:nvPr>
            <p:ph idx="1"/>
          </p:nvPr>
        </p:nvSpPr>
        <p:spPr>
          <a:xfrm>
            <a:off x="838200" y="1825625"/>
            <a:ext cx="11205754" cy="2410686"/>
          </a:xfrm>
        </p:spPr>
        <p:txBody>
          <a:bodyPr>
            <a:normAutofit/>
          </a:bodyPr>
          <a:lstStyle/>
          <a:p>
            <a:r>
              <a:rPr lang="pt-BR" dirty="0"/>
              <a:t>Geralmente, quando elas têm </a:t>
            </a:r>
            <a:r>
              <a:rPr lang="pt-BR" b="1" dirty="0">
                <a:solidFill>
                  <a:schemeClr val="accent2"/>
                </a:solidFill>
              </a:rPr>
              <a:t>duas ou mais camadas ocultas</a:t>
            </a:r>
            <a:r>
              <a:rPr lang="pt-BR" dirty="0"/>
              <a:t>, elas podem ser chamadas de </a:t>
            </a:r>
            <a:r>
              <a:rPr lang="pt-BR" b="1" dirty="0"/>
              <a:t>redes neurais profundas</a:t>
            </a:r>
            <a:r>
              <a:rPr lang="pt-BR" dirty="0"/>
              <a:t> (</a:t>
            </a:r>
            <a:r>
              <a:rPr lang="pt-BR" i="1" dirty="0" err="1"/>
              <a:t>Deep</a:t>
            </a:r>
            <a:r>
              <a:rPr lang="pt-BR" i="1" dirty="0"/>
              <a:t> Neural Networks </a:t>
            </a:r>
            <a:r>
              <a:rPr lang="pt-BR" dirty="0"/>
              <a:t>- </a:t>
            </a:r>
            <a:r>
              <a:rPr lang="pt-BR" dirty="0" err="1"/>
              <a:t>DNNs</a:t>
            </a:r>
            <a:r>
              <a:rPr lang="pt-BR" dirty="0"/>
              <a:t>).</a:t>
            </a:r>
            <a:endParaRPr lang="pt-BR" dirty="0">
              <a:solidFill>
                <a:srgbClr val="1F1F1F"/>
              </a:solidFill>
              <a:latin typeface="Google Sans"/>
            </a:endParaRPr>
          </a:p>
          <a:p>
            <a:r>
              <a:rPr lang="pt-BR" dirty="0"/>
              <a:t>Por poderem ter uma grande capacidade de aprendizado, elas precisam de uma </a:t>
            </a:r>
            <a:r>
              <a:rPr lang="pt-BR" b="1" dirty="0">
                <a:solidFill>
                  <a:srgbClr val="7030A0"/>
                </a:solidFill>
              </a:rPr>
              <a:t>grande quantidade de dados para aprender uma solução geral e não se sobreajustarem</a:t>
            </a:r>
            <a:r>
              <a:rPr lang="pt-BR" dirty="0"/>
              <a:t>.</a:t>
            </a:r>
          </a:p>
        </p:txBody>
      </p:sp>
      <p:grpSp>
        <p:nvGrpSpPr>
          <p:cNvPr id="8" name="Group 7">
            <a:extLst>
              <a:ext uri="{FF2B5EF4-FFF2-40B4-BE49-F238E27FC236}">
                <a16:creationId xmlns:a16="http://schemas.microsoft.com/office/drawing/2014/main" id="{AA23EAEA-060A-1C22-3020-27BBBAF3E612}"/>
              </a:ext>
            </a:extLst>
          </p:cNvPr>
          <p:cNvGrpSpPr/>
          <p:nvPr/>
        </p:nvGrpSpPr>
        <p:grpSpPr>
          <a:xfrm>
            <a:off x="2403988" y="4090650"/>
            <a:ext cx="7052205" cy="2767350"/>
            <a:chOff x="4678169" y="3716345"/>
            <a:chExt cx="7310321" cy="2832256"/>
          </a:xfrm>
        </p:grpSpPr>
        <p:pic>
          <p:nvPicPr>
            <p:cNvPr id="9" name="Picture 4" descr="Future prospects of deep learning in medicine | LaptrinhX">
              <a:extLst>
                <a:ext uri="{FF2B5EF4-FFF2-40B4-BE49-F238E27FC236}">
                  <a16:creationId xmlns:a16="http://schemas.microsoft.com/office/drawing/2014/main" id="{FD27238F-87B0-A3D4-5393-308D26A524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60"/>
            <a:stretch/>
          </p:blipFill>
          <p:spPr bwMode="auto">
            <a:xfrm>
              <a:off x="4678169" y="4081375"/>
              <a:ext cx="7310321" cy="2467226"/>
            </a:xfrm>
            <a:prstGeom prst="rect">
              <a:avLst/>
            </a:prstGeom>
            <a:noFill/>
            <a:extLst>
              <a:ext uri="{909E8E84-426E-40DD-AFC4-6F175D3DCCD1}">
                <a14:hiddenFill xmlns:a14="http://schemas.microsoft.com/office/drawing/2010/main">
                  <a:solidFill>
                    <a:srgbClr val="FFFFFF"/>
                  </a:solidFill>
                </a14:hiddenFill>
              </a:ext>
            </a:extLst>
          </p:spPr>
        </p:pic>
        <p:sp>
          <p:nvSpPr>
            <p:cNvPr id="10" name="CaixaDeTexto 3">
              <a:extLst>
                <a:ext uri="{FF2B5EF4-FFF2-40B4-BE49-F238E27FC236}">
                  <a16:creationId xmlns:a16="http://schemas.microsoft.com/office/drawing/2014/main" id="{C3183ADD-4F13-EA91-59EF-913D3D70EFB7}"/>
                </a:ext>
              </a:extLst>
            </p:cNvPr>
            <p:cNvSpPr txBox="1"/>
            <p:nvPr/>
          </p:nvSpPr>
          <p:spPr>
            <a:xfrm>
              <a:off x="4678169" y="3738623"/>
              <a:ext cx="2463411" cy="369332"/>
            </a:xfrm>
            <a:prstGeom prst="rect">
              <a:avLst/>
            </a:prstGeom>
            <a:noFill/>
          </p:spPr>
          <p:txBody>
            <a:bodyPr wrap="square" rtlCol="0">
              <a:spAutoFit/>
            </a:bodyPr>
            <a:lstStyle/>
            <a:p>
              <a:pPr algn="ctr"/>
              <a:r>
                <a:rPr lang="pt-BR" dirty="0"/>
                <a:t>Rede neural rasa</a:t>
              </a:r>
            </a:p>
          </p:txBody>
        </p:sp>
        <p:sp>
          <p:nvSpPr>
            <p:cNvPr id="11" name="CaixaDeTexto 4">
              <a:extLst>
                <a:ext uri="{FF2B5EF4-FFF2-40B4-BE49-F238E27FC236}">
                  <a16:creationId xmlns:a16="http://schemas.microsoft.com/office/drawing/2014/main" id="{D7F72C6D-BE68-A00C-48BF-9108F2276E2D}"/>
                </a:ext>
              </a:extLst>
            </p:cNvPr>
            <p:cNvSpPr txBox="1"/>
            <p:nvPr/>
          </p:nvSpPr>
          <p:spPr>
            <a:xfrm>
              <a:off x="7978405" y="3716345"/>
              <a:ext cx="3964552" cy="369332"/>
            </a:xfrm>
            <a:prstGeom prst="rect">
              <a:avLst/>
            </a:prstGeom>
            <a:noFill/>
          </p:spPr>
          <p:txBody>
            <a:bodyPr wrap="square" rtlCol="0">
              <a:spAutoFit/>
            </a:bodyPr>
            <a:lstStyle/>
            <a:p>
              <a:pPr algn="ctr"/>
              <a:r>
                <a:rPr lang="pt-BR" dirty="0"/>
                <a:t>Rede neural profunda</a:t>
              </a:r>
            </a:p>
          </p:txBody>
        </p:sp>
      </p:grpSp>
    </p:spTree>
    <p:extLst>
      <p:ext uri="{BB962C8B-B14F-4D97-AF65-F5344CB8AC3E}">
        <p14:creationId xmlns:p14="http://schemas.microsoft.com/office/powerpoint/2010/main" val="19567071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95084B-BF98-A7F2-E47B-18549FAB6D51}"/>
              </a:ext>
            </a:extLst>
          </p:cNvPr>
          <p:cNvSpPr>
            <a:spLocks noGrp="1"/>
          </p:cNvSpPr>
          <p:nvPr>
            <p:ph type="title"/>
          </p:nvPr>
        </p:nvSpPr>
        <p:spPr/>
        <p:txBody>
          <a:bodyPr/>
          <a:lstStyle/>
          <a:p>
            <a:r>
              <a:rPr lang="pt-BR" dirty="0"/>
              <a:t>Aproximação de funções</a:t>
            </a:r>
          </a:p>
        </p:txBody>
      </p:sp>
      <p:sp>
        <p:nvSpPr>
          <p:cNvPr id="3" name="Espaço Reservado para Conteúdo 2">
            <a:extLst>
              <a:ext uri="{FF2B5EF4-FFF2-40B4-BE49-F238E27FC236}">
                <a16:creationId xmlns:a16="http://schemas.microsoft.com/office/drawing/2014/main" id="{FE65592C-B0D6-412A-1B41-23EDA4B75A92}"/>
              </a:ext>
            </a:extLst>
          </p:cNvPr>
          <p:cNvSpPr>
            <a:spLocks noGrp="1"/>
          </p:cNvSpPr>
          <p:nvPr>
            <p:ph idx="1"/>
          </p:nvPr>
        </p:nvSpPr>
        <p:spPr>
          <a:xfrm>
            <a:off x="838199" y="1825624"/>
            <a:ext cx="11194473" cy="5032375"/>
          </a:xfrm>
        </p:spPr>
        <p:txBody>
          <a:bodyPr>
            <a:normAutofit/>
          </a:bodyPr>
          <a:lstStyle/>
          <a:p>
            <a:r>
              <a:rPr lang="pt-BR" b="0" dirty="0">
                <a:effectLst/>
              </a:rPr>
              <a:t>As redes neurais têm a </a:t>
            </a:r>
            <a:r>
              <a:rPr lang="pt-BR" b="1" dirty="0">
                <a:solidFill>
                  <a:srgbClr val="00B050"/>
                </a:solidFill>
                <a:effectLst/>
              </a:rPr>
              <a:t>capacidade de aproximar funções altamente não-lineares (e lineares também)</a:t>
            </a:r>
            <a:r>
              <a:rPr lang="pt-BR" b="0" dirty="0">
                <a:effectLst/>
              </a:rPr>
              <a:t>.</a:t>
            </a:r>
          </a:p>
          <a:p>
            <a:r>
              <a:rPr lang="pt-BR" dirty="0"/>
              <a:t>E</a:t>
            </a:r>
            <a:r>
              <a:rPr lang="pt-BR" b="0" dirty="0">
                <a:effectLst/>
              </a:rPr>
              <a:t>ssa capacidade </a:t>
            </a:r>
            <a:r>
              <a:rPr lang="pt-BR" b="1" dirty="0">
                <a:solidFill>
                  <a:srgbClr val="00B050"/>
                </a:solidFill>
                <a:effectLst/>
              </a:rPr>
              <a:t>depende da sua arquitetura</a:t>
            </a:r>
            <a:r>
              <a:rPr lang="pt-BR" b="0" dirty="0">
                <a:effectLst/>
              </a:rPr>
              <a:t>.</a:t>
            </a:r>
          </a:p>
          <a:p>
            <a:pPr lvl="1">
              <a:buFont typeface="Wingdings" panose="05000000000000000000" pitchFamily="2" charset="2"/>
              <a:buChar char="§"/>
            </a:pPr>
            <a:r>
              <a:rPr lang="pt-BR" b="0" dirty="0">
                <a:effectLst/>
              </a:rPr>
              <a:t>A </a:t>
            </a:r>
            <a:r>
              <a:rPr lang="pt-BR" b="1" dirty="0">
                <a:solidFill>
                  <a:srgbClr val="7030A0"/>
                </a:solidFill>
                <a:effectLst/>
              </a:rPr>
              <a:t>quantidade de pesos </a:t>
            </a:r>
            <a:r>
              <a:rPr lang="pt-BR" b="0" dirty="0">
                <a:effectLst/>
              </a:rPr>
              <a:t>de uma rede está associada aos seus </a:t>
            </a:r>
            <a:r>
              <a:rPr lang="pt-BR" b="1" dirty="0">
                <a:solidFill>
                  <a:srgbClr val="7030A0"/>
                </a:solidFill>
                <a:effectLst/>
              </a:rPr>
              <a:t>graus de liberdade</a:t>
            </a:r>
            <a:r>
              <a:rPr lang="pt-BR" b="0" dirty="0">
                <a:effectLst/>
              </a:rPr>
              <a:t>, ou seja, à </a:t>
            </a:r>
            <a:r>
              <a:rPr lang="pt-BR" b="1" dirty="0">
                <a:solidFill>
                  <a:srgbClr val="7030A0"/>
                </a:solidFill>
                <a:effectLst/>
              </a:rPr>
              <a:t>capacidade da rede de aproximar diferentes tipos de funções</a:t>
            </a:r>
            <a:r>
              <a:rPr lang="pt-BR" b="0" dirty="0">
                <a:effectLst/>
              </a:rPr>
              <a:t>.</a:t>
            </a:r>
          </a:p>
          <a:p>
            <a:pPr lvl="1">
              <a:buFont typeface="Wingdings" panose="05000000000000000000" pitchFamily="2" charset="2"/>
              <a:buChar char="§"/>
            </a:pPr>
            <a:r>
              <a:rPr lang="pt-BR" dirty="0"/>
              <a:t>Quanto maior a rede, mais pesos e, consequentemente, maior é sua capacidade de aprendizado.</a:t>
            </a:r>
          </a:p>
          <a:p>
            <a:r>
              <a:rPr lang="pt-BR" dirty="0"/>
              <a:t>Portanto, assim como polinômios, que podem </a:t>
            </a:r>
            <a:r>
              <a:rPr lang="pt-BR" b="1" dirty="0">
                <a:solidFill>
                  <a:srgbClr val="0070C0"/>
                </a:solidFill>
              </a:rPr>
              <a:t>aproximar qualquer tipo de função</a:t>
            </a:r>
            <a:r>
              <a:rPr lang="pt-BR" dirty="0">
                <a:solidFill>
                  <a:srgbClr val="0070C0"/>
                </a:solidFill>
              </a:rPr>
              <a:t> </a:t>
            </a:r>
            <a:r>
              <a:rPr lang="pt-BR" dirty="0"/>
              <a:t>(linear ou não linear) devido a seus </a:t>
            </a:r>
            <a:r>
              <a:rPr lang="pt-BR" b="1" dirty="0">
                <a:solidFill>
                  <a:srgbClr val="0070C0"/>
                </a:solidFill>
              </a:rPr>
              <a:t>graus de liberdade</a:t>
            </a:r>
            <a:r>
              <a:rPr lang="pt-BR" dirty="0"/>
              <a:t>, as </a:t>
            </a:r>
            <a:r>
              <a:rPr lang="pt-BR" b="1" dirty="0">
                <a:solidFill>
                  <a:srgbClr val="0070C0"/>
                </a:solidFill>
              </a:rPr>
              <a:t>redes neurais podem fazer o mesmo</a:t>
            </a:r>
            <a:r>
              <a:rPr lang="pt-BR" dirty="0"/>
              <a:t>, bastando apenas que </a:t>
            </a:r>
            <a:r>
              <a:rPr lang="pt-BR" b="1" dirty="0">
                <a:solidFill>
                  <a:srgbClr val="0070C0"/>
                </a:solidFill>
              </a:rPr>
              <a:t>encontremos sua complexidade ideal</a:t>
            </a:r>
            <a:r>
              <a:rPr lang="pt-BR" dirty="0"/>
              <a:t>, ou seja, sua </a:t>
            </a:r>
            <a:r>
              <a:rPr lang="pt-BR" b="1" dirty="0">
                <a:solidFill>
                  <a:schemeClr val="accent2"/>
                </a:solidFill>
              </a:rPr>
              <a:t>arquitetura ideal</a:t>
            </a:r>
            <a:r>
              <a:rPr lang="pt-BR" dirty="0"/>
              <a:t>.</a:t>
            </a:r>
          </a:p>
        </p:txBody>
      </p:sp>
    </p:spTree>
    <p:extLst>
      <p:ext uri="{BB962C8B-B14F-4D97-AF65-F5344CB8AC3E}">
        <p14:creationId xmlns:p14="http://schemas.microsoft.com/office/powerpoint/2010/main" val="2307883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95084B-BF98-A7F2-E47B-18549FAB6D51}"/>
              </a:ext>
            </a:extLst>
          </p:cNvPr>
          <p:cNvSpPr>
            <a:spLocks noGrp="1"/>
          </p:cNvSpPr>
          <p:nvPr>
            <p:ph type="title"/>
          </p:nvPr>
        </p:nvSpPr>
        <p:spPr/>
        <p:txBody>
          <a:bodyPr/>
          <a:lstStyle/>
          <a:p>
            <a:r>
              <a:rPr lang="pt-BR" dirty="0"/>
              <a:t>Aproximação universal de funções</a:t>
            </a:r>
          </a:p>
        </p:txBody>
      </p:sp>
      <p:sp>
        <p:nvSpPr>
          <p:cNvPr id="3" name="Espaço Reservado para Conteúdo 2">
            <a:extLst>
              <a:ext uri="{FF2B5EF4-FFF2-40B4-BE49-F238E27FC236}">
                <a16:creationId xmlns:a16="http://schemas.microsoft.com/office/drawing/2014/main" id="{FE65592C-B0D6-412A-1B41-23EDA4B75A92}"/>
              </a:ext>
            </a:extLst>
          </p:cNvPr>
          <p:cNvSpPr>
            <a:spLocks noGrp="1"/>
          </p:cNvSpPr>
          <p:nvPr>
            <p:ph idx="1"/>
          </p:nvPr>
        </p:nvSpPr>
        <p:spPr>
          <a:xfrm>
            <a:off x="838199" y="1825624"/>
            <a:ext cx="11235813" cy="5032375"/>
          </a:xfrm>
        </p:spPr>
        <p:txBody>
          <a:bodyPr>
            <a:normAutofit/>
          </a:bodyPr>
          <a:lstStyle/>
          <a:p>
            <a:r>
              <a:rPr lang="pt-BR" dirty="0"/>
              <a:t>Por exemplo, uma rede neural com </a:t>
            </a:r>
            <a:r>
              <a:rPr lang="pt-BR" b="1" dirty="0">
                <a:solidFill>
                  <a:schemeClr val="accent2"/>
                </a:solidFill>
              </a:rPr>
              <a:t>uma</a:t>
            </a:r>
            <a:r>
              <a:rPr lang="pt-BR" b="1" dirty="0">
                <a:solidFill>
                  <a:srgbClr val="00B050"/>
                </a:solidFill>
              </a:rPr>
              <a:t> camada oculta</a:t>
            </a:r>
            <a:r>
              <a:rPr lang="pt-BR" b="1" dirty="0"/>
              <a:t> </a:t>
            </a:r>
            <a:r>
              <a:rPr lang="pt-BR" b="0" dirty="0">
                <a:effectLst/>
              </a:rPr>
              <a:t>com um número </a:t>
            </a:r>
            <a:r>
              <a:rPr lang="pt-BR" b="1" dirty="0">
                <a:solidFill>
                  <a:srgbClr val="00B050"/>
                </a:solidFill>
                <a:effectLst/>
              </a:rPr>
              <a:t>suficiente de nós</a:t>
            </a:r>
            <a:r>
              <a:rPr lang="pt-BR" dirty="0">
                <a:effectLst/>
              </a:rPr>
              <a:t> pode </a:t>
            </a:r>
            <a:r>
              <a:rPr lang="pt-BR" b="1" dirty="0">
                <a:solidFill>
                  <a:srgbClr val="7030A0"/>
                </a:solidFill>
              </a:rPr>
              <a:t>aproximar</a:t>
            </a:r>
            <a:r>
              <a:rPr lang="pt-BR" dirty="0"/>
              <a:t> praticamente qualquer </a:t>
            </a:r>
            <a:r>
              <a:rPr lang="pt-BR" b="1" dirty="0">
                <a:solidFill>
                  <a:srgbClr val="7030A0"/>
                </a:solidFill>
              </a:rPr>
              <a:t>função contínua</a:t>
            </a:r>
            <a:r>
              <a:rPr lang="pt-BR" dirty="0"/>
              <a:t>.</a:t>
            </a:r>
          </a:p>
          <a:p>
            <a:r>
              <a:rPr lang="pt-BR" dirty="0"/>
              <a:t>Com </a:t>
            </a:r>
            <a:r>
              <a:rPr lang="pt-BR" b="1" dirty="0">
                <a:solidFill>
                  <a:srgbClr val="00B050"/>
                </a:solidFill>
              </a:rPr>
              <a:t>duas camadas ocultas</a:t>
            </a:r>
            <a:r>
              <a:rPr lang="pt-BR" dirty="0"/>
              <a:t>, até </a:t>
            </a:r>
            <a:r>
              <a:rPr lang="pt-BR" b="1" dirty="0">
                <a:solidFill>
                  <a:srgbClr val="00B0F0"/>
                </a:solidFill>
              </a:rPr>
              <a:t>funções descontínuas</a:t>
            </a:r>
            <a:r>
              <a:rPr lang="pt-BR" b="1" dirty="0">
                <a:solidFill>
                  <a:srgbClr val="00B050"/>
                </a:solidFill>
              </a:rPr>
              <a:t> </a:t>
            </a:r>
            <a:r>
              <a:rPr lang="pt-BR" dirty="0"/>
              <a:t>podem ser </a:t>
            </a:r>
            <a:r>
              <a:rPr lang="pt-BR" b="1" dirty="0">
                <a:solidFill>
                  <a:srgbClr val="00B050"/>
                </a:solidFill>
              </a:rPr>
              <a:t>aproximadas</a:t>
            </a:r>
            <a:r>
              <a:rPr lang="pt-BR" dirty="0"/>
              <a:t>.</a:t>
            </a:r>
          </a:p>
          <a:p>
            <a:r>
              <a:rPr lang="pt-BR" dirty="0"/>
              <a:t>Portanto, dizemos que as redes neurais possuem </a:t>
            </a:r>
            <a:r>
              <a:rPr lang="pt-BR" b="1" dirty="0">
                <a:solidFill>
                  <a:srgbClr val="002060"/>
                </a:solidFill>
              </a:rPr>
              <a:t>capacidade de aproximação universal </a:t>
            </a:r>
            <a:r>
              <a:rPr lang="pt-BR" dirty="0"/>
              <a:t>de funções.</a:t>
            </a:r>
          </a:p>
          <a:p>
            <a:r>
              <a:rPr lang="pt-BR" dirty="0"/>
              <a:t>Desta forma, as redes neurais podem resolver </a:t>
            </a:r>
            <a:r>
              <a:rPr lang="pt-BR" b="1" dirty="0">
                <a:solidFill>
                  <a:srgbClr val="7030A0"/>
                </a:solidFill>
              </a:rPr>
              <a:t>problemas de regressão e de classificação</a:t>
            </a:r>
            <a:r>
              <a:rPr lang="pt-BR" dirty="0"/>
              <a:t> e uma grande gama de outros problemas.</a:t>
            </a:r>
          </a:p>
          <a:p>
            <a:r>
              <a:rPr lang="pt-BR" dirty="0"/>
              <a:t>O desafio é encontrar a arquitetura e os pesos ideais para a aproximação.</a:t>
            </a:r>
          </a:p>
          <a:p>
            <a:pPr lvl="1">
              <a:buFont typeface="Wingdings" panose="05000000000000000000" pitchFamily="2" charset="2"/>
              <a:buChar char="§"/>
            </a:pPr>
            <a:r>
              <a:rPr lang="pt-BR" dirty="0"/>
              <a:t>Podemos usar </a:t>
            </a:r>
            <a:r>
              <a:rPr lang="pt-BR" b="1" dirty="0">
                <a:solidFill>
                  <a:schemeClr val="accent2"/>
                </a:solidFill>
              </a:rPr>
              <a:t>validação cruzada </a:t>
            </a:r>
            <a:r>
              <a:rPr lang="pt-BR" dirty="0"/>
              <a:t>e uma versão do </a:t>
            </a:r>
            <a:r>
              <a:rPr lang="pt-BR" b="1" dirty="0">
                <a:solidFill>
                  <a:schemeClr val="accent2"/>
                </a:solidFill>
              </a:rPr>
              <a:t>gradiente descendente</a:t>
            </a:r>
            <a:r>
              <a:rPr lang="pt-BR" dirty="0"/>
              <a:t>.</a:t>
            </a:r>
          </a:p>
        </p:txBody>
      </p:sp>
    </p:spTree>
    <p:extLst>
      <p:ext uri="{BB962C8B-B14F-4D97-AF65-F5344CB8AC3E}">
        <p14:creationId xmlns:p14="http://schemas.microsoft.com/office/powerpoint/2010/main" val="15185964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CFE763-46F7-B2C7-F28A-B6F82A2923BE}"/>
              </a:ext>
            </a:extLst>
          </p:cNvPr>
          <p:cNvSpPr>
            <a:spLocks noGrp="1"/>
          </p:cNvSpPr>
          <p:nvPr>
            <p:ph idx="1"/>
          </p:nvPr>
        </p:nvSpPr>
        <p:spPr>
          <a:xfrm>
            <a:off x="838200" y="2385193"/>
            <a:ext cx="10515600" cy="2087614"/>
          </a:xfrm>
        </p:spPr>
        <p:txBody>
          <a:bodyPr>
            <a:normAutofit/>
          </a:bodyPr>
          <a:lstStyle/>
          <a:p>
            <a:pPr marL="0" indent="0" algn="ctr">
              <a:buNone/>
            </a:pPr>
            <a:r>
              <a:rPr lang="pt-BR" sz="6600" dirty="0"/>
              <a:t>Como as redes neurais aprendem?</a:t>
            </a:r>
            <a:endParaRPr lang="en-US" sz="6600" dirty="0"/>
          </a:p>
        </p:txBody>
      </p:sp>
    </p:spTree>
    <p:extLst>
      <p:ext uri="{BB962C8B-B14F-4D97-AF65-F5344CB8AC3E}">
        <p14:creationId xmlns:p14="http://schemas.microsoft.com/office/powerpoint/2010/main" val="6432786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2042E-E154-9255-670A-2165DE0B18C0}"/>
              </a:ext>
            </a:extLst>
          </p:cNvPr>
          <p:cNvSpPr>
            <a:spLocks noGrp="1"/>
          </p:cNvSpPr>
          <p:nvPr>
            <p:ph type="title"/>
          </p:nvPr>
        </p:nvSpPr>
        <p:spPr/>
        <p:txBody>
          <a:bodyPr/>
          <a:lstStyle/>
          <a:p>
            <a:r>
              <a:rPr lang="pt-BR" i="1" dirty="0"/>
              <a:t>Backpropagation</a:t>
            </a:r>
            <a:endParaRPr lang="en-US" dirty="0"/>
          </a:p>
        </p:txBody>
      </p:sp>
      <p:sp>
        <p:nvSpPr>
          <p:cNvPr id="3" name="Content Placeholder 2">
            <a:extLst>
              <a:ext uri="{FF2B5EF4-FFF2-40B4-BE49-F238E27FC236}">
                <a16:creationId xmlns:a16="http://schemas.microsoft.com/office/drawing/2014/main" id="{6059FE4F-F9B9-0CCC-8671-00C9AC9804E4}"/>
              </a:ext>
            </a:extLst>
          </p:cNvPr>
          <p:cNvSpPr>
            <a:spLocks noGrp="1"/>
          </p:cNvSpPr>
          <p:nvPr>
            <p:ph idx="1"/>
          </p:nvPr>
        </p:nvSpPr>
        <p:spPr>
          <a:xfrm>
            <a:off x="5584723" y="1825624"/>
            <a:ext cx="6500440" cy="5032375"/>
          </a:xfrm>
        </p:spPr>
        <p:txBody>
          <a:bodyPr>
            <a:normAutofit/>
          </a:bodyPr>
          <a:lstStyle/>
          <a:p>
            <a:r>
              <a:rPr lang="pt-BR" dirty="0"/>
              <a:t>As redes aprendem ajustando os pesos sinápticos e de </a:t>
            </a:r>
            <a:r>
              <a:rPr lang="pt-BR" i="1" dirty="0"/>
              <a:t>bias</a:t>
            </a:r>
            <a:r>
              <a:rPr lang="pt-BR" dirty="0"/>
              <a:t> para reduzir o erro.</a:t>
            </a:r>
          </a:p>
          <a:p>
            <a:r>
              <a:rPr lang="pt-BR" dirty="0"/>
              <a:t>Isso é feito através de um algoritmo, baseado no gradiente descendente, chamado de (</a:t>
            </a:r>
            <a:r>
              <a:rPr lang="pt-BR" i="1" dirty="0"/>
              <a:t>error</a:t>
            </a:r>
            <a:r>
              <a:rPr lang="pt-BR" dirty="0"/>
              <a:t>) </a:t>
            </a:r>
            <a:r>
              <a:rPr lang="pt-BR" i="1" dirty="0"/>
              <a:t>backpropagation</a:t>
            </a:r>
            <a:r>
              <a:rPr lang="pt-BR" dirty="0"/>
              <a:t>.</a:t>
            </a:r>
          </a:p>
          <a:p>
            <a:r>
              <a:rPr lang="pt-BR" dirty="0"/>
              <a:t>O </a:t>
            </a:r>
            <a:r>
              <a:rPr lang="pt-BR" b="1" dirty="0">
                <a:solidFill>
                  <a:schemeClr val="accent2"/>
                </a:solidFill>
              </a:rPr>
              <a:t>objetivo</a:t>
            </a:r>
            <a:r>
              <a:rPr lang="pt-BR" dirty="0"/>
              <a:t> do </a:t>
            </a:r>
            <a:r>
              <a:rPr lang="pt-BR" i="1" dirty="0"/>
              <a:t>backpropagation</a:t>
            </a:r>
            <a:r>
              <a:rPr lang="pt-BR" dirty="0"/>
              <a:t> é calcular o </a:t>
            </a:r>
            <a:r>
              <a:rPr lang="pt-BR" b="1" dirty="0">
                <a:solidFill>
                  <a:schemeClr val="accent2"/>
                </a:solidFill>
              </a:rPr>
              <a:t>quanto cada peso da rede contribui para o erro</a:t>
            </a:r>
            <a:r>
              <a:rPr lang="pt-BR" dirty="0"/>
              <a:t> e </a:t>
            </a:r>
            <a:r>
              <a:rPr lang="pt-BR" b="1" dirty="0">
                <a:solidFill>
                  <a:srgbClr val="7030A0"/>
                </a:solidFill>
              </a:rPr>
              <a:t>ajustá-lo de forma a minimizar o erro</a:t>
            </a:r>
            <a:r>
              <a:rPr lang="pt-BR" dirty="0"/>
              <a:t>.</a:t>
            </a:r>
          </a:p>
        </p:txBody>
      </p:sp>
      <p:grpSp>
        <p:nvGrpSpPr>
          <p:cNvPr id="5" name="Group 3">
            <a:extLst>
              <a:ext uri="{FF2B5EF4-FFF2-40B4-BE49-F238E27FC236}">
                <a16:creationId xmlns:a16="http://schemas.microsoft.com/office/drawing/2014/main" id="{E4B8B95F-75F4-85B9-BF20-3CA051275703}"/>
              </a:ext>
            </a:extLst>
          </p:cNvPr>
          <p:cNvGrpSpPr/>
          <p:nvPr/>
        </p:nvGrpSpPr>
        <p:grpSpPr>
          <a:xfrm>
            <a:off x="653454" y="2071496"/>
            <a:ext cx="4240583" cy="3792091"/>
            <a:chOff x="294226" y="2506925"/>
            <a:chExt cx="4240583" cy="3792091"/>
          </a:xfrm>
        </p:grpSpPr>
        <p:sp>
          <p:nvSpPr>
            <p:cNvPr id="6" name="Elipse 77">
              <a:extLst>
                <a:ext uri="{FF2B5EF4-FFF2-40B4-BE49-F238E27FC236}">
                  <a16:creationId xmlns:a16="http://schemas.microsoft.com/office/drawing/2014/main" id="{A5D2977C-9197-6FF3-FEF9-0305FD791CC7}"/>
                </a:ext>
              </a:extLst>
            </p:cNvPr>
            <p:cNvSpPr/>
            <p:nvPr/>
          </p:nvSpPr>
          <p:spPr>
            <a:xfrm>
              <a:off x="2492828" y="3402579"/>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Elipse 78">
              <a:extLst>
                <a:ext uri="{FF2B5EF4-FFF2-40B4-BE49-F238E27FC236}">
                  <a16:creationId xmlns:a16="http://schemas.microsoft.com/office/drawing/2014/main" id="{34CCAD66-BC6E-B920-FD02-5677F8B5AF12}"/>
                </a:ext>
              </a:extLst>
            </p:cNvPr>
            <p:cNvSpPr/>
            <p:nvPr/>
          </p:nvSpPr>
          <p:spPr>
            <a:xfrm>
              <a:off x="2492827" y="4121036"/>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Elipse 79">
              <a:extLst>
                <a:ext uri="{FF2B5EF4-FFF2-40B4-BE49-F238E27FC236}">
                  <a16:creationId xmlns:a16="http://schemas.microsoft.com/office/drawing/2014/main" id="{2F62AB26-F9B5-FC3F-9258-BCB1F92E0BAC}"/>
                </a:ext>
              </a:extLst>
            </p:cNvPr>
            <p:cNvSpPr/>
            <p:nvPr/>
          </p:nvSpPr>
          <p:spPr>
            <a:xfrm>
              <a:off x="2492827" y="4839493"/>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Elipse 81">
              <a:extLst>
                <a:ext uri="{FF2B5EF4-FFF2-40B4-BE49-F238E27FC236}">
                  <a16:creationId xmlns:a16="http://schemas.microsoft.com/office/drawing/2014/main" id="{7B8F927D-45BE-1F13-5DAA-F8CF3100689D}"/>
                </a:ext>
              </a:extLst>
            </p:cNvPr>
            <p:cNvSpPr/>
            <p:nvPr/>
          </p:nvSpPr>
          <p:spPr>
            <a:xfrm>
              <a:off x="3450770" y="3864817"/>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Elipse 82">
              <a:extLst>
                <a:ext uri="{FF2B5EF4-FFF2-40B4-BE49-F238E27FC236}">
                  <a16:creationId xmlns:a16="http://schemas.microsoft.com/office/drawing/2014/main" id="{3B074B7F-5370-F3EF-4621-F6F3E62ED99C}"/>
                </a:ext>
              </a:extLst>
            </p:cNvPr>
            <p:cNvSpPr/>
            <p:nvPr/>
          </p:nvSpPr>
          <p:spPr>
            <a:xfrm>
              <a:off x="3450769" y="4583274"/>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83">
              <a:extLst>
                <a:ext uri="{FF2B5EF4-FFF2-40B4-BE49-F238E27FC236}">
                  <a16:creationId xmlns:a16="http://schemas.microsoft.com/office/drawing/2014/main" id="{D3F47B41-15CC-F4B9-6A4B-8C8C49C9EF6F}"/>
                </a:ext>
              </a:extLst>
            </p:cNvPr>
            <p:cNvSpPr/>
            <p:nvPr/>
          </p:nvSpPr>
          <p:spPr>
            <a:xfrm>
              <a:off x="1534884" y="29299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84">
              <a:extLst>
                <a:ext uri="{FF2B5EF4-FFF2-40B4-BE49-F238E27FC236}">
                  <a16:creationId xmlns:a16="http://schemas.microsoft.com/office/drawing/2014/main" id="{13B86950-508B-0DC5-C4E3-4B777CEF8A40}"/>
                </a:ext>
              </a:extLst>
            </p:cNvPr>
            <p:cNvSpPr/>
            <p:nvPr/>
          </p:nvSpPr>
          <p:spPr>
            <a:xfrm>
              <a:off x="1534884" y="36856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Elipse 85">
              <a:extLst>
                <a:ext uri="{FF2B5EF4-FFF2-40B4-BE49-F238E27FC236}">
                  <a16:creationId xmlns:a16="http://schemas.microsoft.com/office/drawing/2014/main" id="{5585EE18-8031-E41F-F17E-C89D7178FF9C}"/>
                </a:ext>
              </a:extLst>
            </p:cNvPr>
            <p:cNvSpPr/>
            <p:nvPr/>
          </p:nvSpPr>
          <p:spPr>
            <a:xfrm>
              <a:off x="1534884" y="44412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4" name="Conector de Seta Reta 86">
              <a:extLst>
                <a:ext uri="{FF2B5EF4-FFF2-40B4-BE49-F238E27FC236}">
                  <a16:creationId xmlns:a16="http://schemas.microsoft.com/office/drawing/2014/main" id="{CFBE4D4A-C91E-ABE2-9F75-CA11A6E53D1E}"/>
                </a:ext>
              </a:extLst>
            </p:cNvPr>
            <p:cNvCxnSpPr>
              <a:cxnSpLocks/>
              <a:stCxn id="11" idx="6"/>
              <a:endCxn id="6" idx="2"/>
            </p:cNvCxnSpPr>
            <p:nvPr/>
          </p:nvCxnSpPr>
          <p:spPr>
            <a:xfrm>
              <a:off x="2100941" y="3212987"/>
              <a:ext cx="391887" cy="472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87">
              <a:extLst>
                <a:ext uri="{FF2B5EF4-FFF2-40B4-BE49-F238E27FC236}">
                  <a16:creationId xmlns:a16="http://schemas.microsoft.com/office/drawing/2014/main" id="{FFBD4CFA-DD51-AD2B-9AB3-D393B7033E6A}"/>
                </a:ext>
              </a:extLst>
            </p:cNvPr>
            <p:cNvCxnSpPr>
              <a:stCxn id="11" idx="6"/>
              <a:endCxn id="7" idx="2"/>
            </p:cNvCxnSpPr>
            <p:nvPr/>
          </p:nvCxnSpPr>
          <p:spPr>
            <a:xfrm>
              <a:off x="2100941" y="3212987"/>
              <a:ext cx="391886" cy="1191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88">
              <a:extLst>
                <a:ext uri="{FF2B5EF4-FFF2-40B4-BE49-F238E27FC236}">
                  <a16:creationId xmlns:a16="http://schemas.microsoft.com/office/drawing/2014/main" id="{7B3B1F9B-FB34-20E2-6C2F-E6778FBEFC13}"/>
                </a:ext>
              </a:extLst>
            </p:cNvPr>
            <p:cNvCxnSpPr>
              <a:stCxn id="11" idx="6"/>
              <a:endCxn id="8" idx="2"/>
            </p:cNvCxnSpPr>
            <p:nvPr/>
          </p:nvCxnSpPr>
          <p:spPr>
            <a:xfrm>
              <a:off x="2100941" y="3212987"/>
              <a:ext cx="391886" cy="1909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90">
              <a:extLst>
                <a:ext uri="{FF2B5EF4-FFF2-40B4-BE49-F238E27FC236}">
                  <a16:creationId xmlns:a16="http://schemas.microsoft.com/office/drawing/2014/main" id="{1B08B2CA-492E-E5CF-C2C1-1E74FD2916CC}"/>
                </a:ext>
              </a:extLst>
            </p:cNvPr>
            <p:cNvCxnSpPr>
              <a:cxnSpLocks/>
              <a:stCxn id="12" idx="6"/>
              <a:endCxn id="6" idx="2"/>
            </p:cNvCxnSpPr>
            <p:nvPr/>
          </p:nvCxnSpPr>
          <p:spPr>
            <a:xfrm flipV="1">
              <a:off x="2100941" y="3685608"/>
              <a:ext cx="391887" cy="283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91">
              <a:extLst>
                <a:ext uri="{FF2B5EF4-FFF2-40B4-BE49-F238E27FC236}">
                  <a16:creationId xmlns:a16="http://schemas.microsoft.com/office/drawing/2014/main" id="{E5AC5EC2-6770-F3BD-8167-4BCF680CC002}"/>
                </a:ext>
              </a:extLst>
            </p:cNvPr>
            <p:cNvCxnSpPr>
              <a:stCxn id="13" idx="6"/>
              <a:endCxn id="7" idx="2"/>
            </p:cNvCxnSpPr>
            <p:nvPr/>
          </p:nvCxnSpPr>
          <p:spPr>
            <a:xfrm flipV="1">
              <a:off x="2100941" y="4404065"/>
              <a:ext cx="391886" cy="320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92">
              <a:extLst>
                <a:ext uri="{FF2B5EF4-FFF2-40B4-BE49-F238E27FC236}">
                  <a16:creationId xmlns:a16="http://schemas.microsoft.com/office/drawing/2014/main" id="{DAACE556-8D1A-E325-69AC-7243DE9224E0}"/>
                </a:ext>
              </a:extLst>
            </p:cNvPr>
            <p:cNvCxnSpPr>
              <a:stCxn id="12" idx="6"/>
              <a:endCxn id="7" idx="2"/>
            </p:cNvCxnSpPr>
            <p:nvPr/>
          </p:nvCxnSpPr>
          <p:spPr>
            <a:xfrm>
              <a:off x="2100941" y="3968637"/>
              <a:ext cx="391886" cy="435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93">
              <a:extLst>
                <a:ext uri="{FF2B5EF4-FFF2-40B4-BE49-F238E27FC236}">
                  <a16:creationId xmlns:a16="http://schemas.microsoft.com/office/drawing/2014/main" id="{FEAB7B47-B252-37ED-4BB4-925E0090D236}"/>
                </a:ext>
              </a:extLst>
            </p:cNvPr>
            <p:cNvCxnSpPr>
              <a:stCxn id="12" idx="6"/>
              <a:endCxn id="8" idx="2"/>
            </p:cNvCxnSpPr>
            <p:nvPr/>
          </p:nvCxnSpPr>
          <p:spPr>
            <a:xfrm>
              <a:off x="2100941" y="3968637"/>
              <a:ext cx="391886" cy="1153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96">
              <a:extLst>
                <a:ext uri="{FF2B5EF4-FFF2-40B4-BE49-F238E27FC236}">
                  <a16:creationId xmlns:a16="http://schemas.microsoft.com/office/drawing/2014/main" id="{4BEEF4F5-9EBF-E836-27C5-A404EEA32BC3}"/>
                </a:ext>
              </a:extLst>
            </p:cNvPr>
            <p:cNvCxnSpPr>
              <a:stCxn id="13" idx="6"/>
              <a:endCxn id="8" idx="2"/>
            </p:cNvCxnSpPr>
            <p:nvPr/>
          </p:nvCxnSpPr>
          <p:spPr>
            <a:xfrm>
              <a:off x="2100941" y="4724287"/>
              <a:ext cx="391886" cy="398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98">
              <a:extLst>
                <a:ext uri="{FF2B5EF4-FFF2-40B4-BE49-F238E27FC236}">
                  <a16:creationId xmlns:a16="http://schemas.microsoft.com/office/drawing/2014/main" id="{2DED781D-F0B3-1B51-DC3A-2F3657E5D853}"/>
                </a:ext>
              </a:extLst>
            </p:cNvPr>
            <p:cNvCxnSpPr>
              <a:stCxn id="6" idx="6"/>
              <a:endCxn id="9" idx="2"/>
            </p:cNvCxnSpPr>
            <p:nvPr/>
          </p:nvCxnSpPr>
          <p:spPr>
            <a:xfrm>
              <a:off x="3058885" y="3685608"/>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99">
              <a:extLst>
                <a:ext uri="{FF2B5EF4-FFF2-40B4-BE49-F238E27FC236}">
                  <a16:creationId xmlns:a16="http://schemas.microsoft.com/office/drawing/2014/main" id="{F016CD6A-5190-232E-4726-48CFA85D01C3}"/>
                </a:ext>
              </a:extLst>
            </p:cNvPr>
            <p:cNvCxnSpPr>
              <a:stCxn id="7" idx="6"/>
              <a:endCxn id="10" idx="2"/>
            </p:cNvCxnSpPr>
            <p:nvPr/>
          </p:nvCxnSpPr>
          <p:spPr>
            <a:xfrm>
              <a:off x="3058884" y="4404065"/>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100">
              <a:extLst>
                <a:ext uri="{FF2B5EF4-FFF2-40B4-BE49-F238E27FC236}">
                  <a16:creationId xmlns:a16="http://schemas.microsoft.com/office/drawing/2014/main" id="{7DF3DF95-37CC-2617-C4EF-E3F06F40B0C1}"/>
                </a:ext>
              </a:extLst>
            </p:cNvPr>
            <p:cNvCxnSpPr>
              <a:stCxn id="8" idx="6"/>
              <a:endCxn id="10" idx="2"/>
            </p:cNvCxnSpPr>
            <p:nvPr/>
          </p:nvCxnSpPr>
          <p:spPr>
            <a:xfrm flipV="1">
              <a:off x="3058884" y="4866303"/>
              <a:ext cx="391885"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102">
              <a:extLst>
                <a:ext uri="{FF2B5EF4-FFF2-40B4-BE49-F238E27FC236}">
                  <a16:creationId xmlns:a16="http://schemas.microsoft.com/office/drawing/2014/main" id="{41A8B8B1-CFFE-FEC2-DD6C-1F5768B802F4}"/>
                </a:ext>
              </a:extLst>
            </p:cNvPr>
            <p:cNvCxnSpPr>
              <a:cxnSpLocks/>
              <a:stCxn id="6" idx="6"/>
              <a:endCxn id="10" idx="2"/>
            </p:cNvCxnSpPr>
            <p:nvPr/>
          </p:nvCxnSpPr>
          <p:spPr>
            <a:xfrm>
              <a:off x="3058885" y="3685608"/>
              <a:ext cx="391884" cy="1180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103">
              <a:extLst>
                <a:ext uri="{FF2B5EF4-FFF2-40B4-BE49-F238E27FC236}">
                  <a16:creationId xmlns:a16="http://schemas.microsoft.com/office/drawing/2014/main" id="{3F2E8D09-773D-B2D2-31AA-12E8938F32EC}"/>
                </a:ext>
              </a:extLst>
            </p:cNvPr>
            <p:cNvCxnSpPr>
              <a:stCxn id="7" idx="6"/>
              <a:endCxn id="9" idx="2"/>
            </p:cNvCxnSpPr>
            <p:nvPr/>
          </p:nvCxnSpPr>
          <p:spPr>
            <a:xfrm flipV="1">
              <a:off x="3058884" y="4147846"/>
              <a:ext cx="391886"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ector de Seta Reta 104">
              <a:extLst>
                <a:ext uri="{FF2B5EF4-FFF2-40B4-BE49-F238E27FC236}">
                  <a16:creationId xmlns:a16="http://schemas.microsoft.com/office/drawing/2014/main" id="{DFDF1E8D-DD7A-7619-CF8F-67261F61CFE3}"/>
                </a:ext>
              </a:extLst>
            </p:cNvPr>
            <p:cNvCxnSpPr>
              <a:stCxn id="8" idx="6"/>
              <a:endCxn id="9" idx="2"/>
            </p:cNvCxnSpPr>
            <p:nvPr/>
          </p:nvCxnSpPr>
          <p:spPr>
            <a:xfrm flipV="1">
              <a:off x="3058884" y="4147846"/>
              <a:ext cx="391886" cy="974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CaixaDeTexto 106">
              <a:extLst>
                <a:ext uri="{FF2B5EF4-FFF2-40B4-BE49-F238E27FC236}">
                  <a16:creationId xmlns:a16="http://schemas.microsoft.com/office/drawing/2014/main" id="{742B2AFB-527E-49B7-D83C-6CE5B7AF43AB}"/>
                </a:ext>
              </a:extLst>
            </p:cNvPr>
            <p:cNvSpPr txBox="1"/>
            <p:nvPr/>
          </p:nvSpPr>
          <p:spPr>
            <a:xfrm>
              <a:off x="3173179" y="3100768"/>
              <a:ext cx="1230086" cy="307777"/>
            </a:xfrm>
            <a:prstGeom prst="rect">
              <a:avLst/>
            </a:prstGeom>
            <a:noFill/>
          </p:spPr>
          <p:txBody>
            <a:bodyPr wrap="square" rtlCol="0">
              <a:spAutoFit/>
            </a:bodyPr>
            <a:lstStyle/>
            <a:p>
              <a:r>
                <a:rPr lang="pt-BR" sz="1400" dirty="0"/>
                <a:t>Neurônio</a:t>
              </a:r>
            </a:p>
          </p:txBody>
        </p:sp>
        <p:sp>
          <p:nvSpPr>
            <p:cNvPr id="29" name="Forma Livre: Forma 107">
              <a:extLst>
                <a:ext uri="{FF2B5EF4-FFF2-40B4-BE49-F238E27FC236}">
                  <a16:creationId xmlns:a16="http://schemas.microsoft.com/office/drawing/2014/main" id="{2A75358B-3F57-BF48-B1E9-E762E79056C4}"/>
                </a:ext>
              </a:extLst>
            </p:cNvPr>
            <p:cNvSpPr/>
            <p:nvPr/>
          </p:nvSpPr>
          <p:spPr>
            <a:xfrm>
              <a:off x="2786734" y="3216700"/>
              <a:ext cx="413657" cy="166042"/>
            </a:xfrm>
            <a:custGeom>
              <a:avLst/>
              <a:gdLst>
                <a:gd name="connsiteX0" fmla="*/ 0 w 413657"/>
                <a:gd name="connsiteY0" fmla="*/ 166042 h 166042"/>
                <a:gd name="connsiteX1" fmla="*/ 76200 w 413657"/>
                <a:gd name="connsiteY1" fmla="*/ 2756 h 166042"/>
                <a:gd name="connsiteX2" fmla="*/ 413657 w 413657"/>
                <a:gd name="connsiteY2" fmla="*/ 78956 h 166042"/>
              </a:gdLst>
              <a:ahLst/>
              <a:cxnLst>
                <a:cxn ang="0">
                  <a:pos x="connsiteX0" y="connsiteY0"/>
                </a:cxn>
                <a:cxn ang="0">
                  <a:pos x="connsiteX1" y="connsiteY1"/>
                </a:cxn>
                <a:cxn ang="0">
                  <a:pos x="connsiteX2" y="connsiteY2"/>
                </a:cxn>
              </a:cxnLst>
              <a:rect l="l" t="t" r="r" b="b"/>
              <a:pathLst>
                <a:path w="413657" h="166042">
                  <a:moveTo>
                    <a:pt x="0" y="166042"/>
                  </a:moveTo>
                  <a:cubicBezTo>
                    <a:pt x="3628" y="91656"/>
                    <a:pt x="7257" y="17270"/>
                    <a:pt x="76200" y="2756"/>
                  </a:cubicBezTo>
                  <a:cubicBezTo>
                    <a:pt x="145143" y="-11758"/>
                    <a:pt x="279400" y="33599"/>
                    <a:pt x="413657" y="7895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0" name="Conector reto 112">
              <a:extLst>
                <a:ext uri="{FF2B5EF4-FFF2-40B4-BE49-F238E27FC236}">
                  <a16:creationId xmlns:a16="http://schemas.microsoft.com/office/drawing/2014/main" id="{182A6403-31DB-905C-C85C-3F6417F09BCC}"/>
                </a:ext>
              </a:extLst>
            </p:cNvPr>
            <p:cNvCxnSpPr>
              <a:cxnSpLocks/>
              <a:stCxn id="66" idx="6"/>
              <a:endCxn id="12" idx="2"/>
            </p:cNvCxnSpPr>
            <p:nvPr/>
          </p:nvCxnSpPr>
          <p:spPr>
            <a:xfrm>
              <a:off x="944681" y="3219656"/>
              <a:ext cx="590203" cy="7489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Conector de Seta Reta 113">
              <a:extLst>
                <a:ext uri="{FF2B5EF4-FFF2-40B4-BE49-F238E27FC236}">
                  <a16:creationId xmlns:a16="http://schemas.microsoft.com/office/drawing/2014/main" id="{D6C47937-6908-EF68-C86E-F08C1429EF1C}"/>
                </a:ext>
              </a:extLst>
            </p:cNvPr>
            <p:cNvCxnSpPr>
              <a:cxnSpLocks/>
              <a:stCxn id="9" idx="6"/>
              <a:endCxn id="33" idx="1"/>
            </p:cNvCxnSpPr>
            <p:nvPr/>
          </p:nvCxnSpPr>
          <p:spPr>
            <a:xfrm>
              <a:off x="4016827" y="4147846"/>
              <a:ext cx="251280" cy="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114">
              <a:extLst>
                <a:ext uri="{FF2B5EF4-FFF2-40B4-BE49-F238E27FC236}">
                  <a16:creationId xmlns:a16="http://schemas.microsoft.com/office/drawing/2014/main" id="{6C5C74B5-BD84-369B-BC90-6AD4A658135F}"/>
                </a:ext>
              </a:extLst>
            </p:cNvPr>
            <p:cNvCxnSpPr>
              <a:cxnSpLocks/>
              <a:stCxn id="10" idx="6"/>
            </p:cNvCxnSpPr>
            <p:nvPr/>
          </p:nvCxnSpPr>
          <p:spPr>
            <a:xfrm>
              <a:off x="4016826" y="4866303"/>
              <a:ext cx="272141" cy="5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CaixaDeTexto 5">
                  <a:extLst>
                    <a:ext uri="{FF2B5EF4-FFF2-40B4-BE49-F238E27FC236}">
                      <a16:creationId xmlns:a16="http://schemas.microsoft.com/office/drawing/2014/main" id="{4B4175E5-5B44-74A7-3DE4-99152D99162A}"/>
                    </a:ext>
                  </a:extLst>
                </p:cNvPr>
                <p:cNvSpPr txBox="1"/>
                <p:nvPr/>
              </p:nvSpPr>
              <p:spPr>
                <a:xfrm>
                  <a:off x="4268107" y="3963524"/>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1</m:t>
                            </m:r>
                          </m:sub>
                        </m:sSub>
                      </m:oMath>
                    </m:oMathPara>
                  </a14:m>
                  <a:endParaRPr lang="pt-BR" dirty="0"/>
                </a:p>
              </p:txBody>
            </p:sp>
          </mc:Choice>
          <mc:Fallback xmlns="">
            <p:sp>
              <p:nvSpPr>
                <p:cNvPr id="32" name="CaixaDeTexto 5">
                  <a:extLst>
                    <a:ext uri="{FF2B5EF4-FFF2-40B4-BE49-F238E27FC236}">
                      <a16:creationId xmlns:a16="http://schemas.microsoft.com/office/drawing/2014/main" id="{8BB4EDCD-2C4A-8C54-E9A8-B46EB1B4A54F}"/>
                    </a:ext>
                  </a:extLst>
                </p:cNvPr>
                <p:cNvSpPr txBox="1">
                  <a:spLocks noRot="1" noChangeAspect="1" noMove="1" noResize="1" noEditPoints="1" noAdjustHandles="1" noChangeArrowheads="1" noChangeShapeType="1" noTextEdit="1"/>
                </p:cNvSpPr>
                <p:nvPr/>
              </p:nvSpPr>
              <p:spPr>
                <a:xfrm>
                  <a:off x="4268107" y="3963524"/>
                  <a:ext cx="266702" cy="369332"/>
                </a:xfrm>
                <a:prstGeom prst="rect">
                  <a:avLst/>
                </a:prstGeom>
                <a:blipFill>
                  <a:blip r:embed="rId3"/>
                  <a:stretch>
                    <a:fillRect t="-6667" r="-34091"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CaixaDeTexto 6">
                  <a:extLst>
                    <a:ext uri="{FF2B5EF4-FFF2-40B4-BE49-F238E27FC236}">
                      <a16:creationId xmlns:a16="http://schemas.microsoft.com/office/drawing/2014/main" id="{DEF7A672-56A9-6D75-5475-C64BDBCA96FB}"/>
                    </a:ext>
                  </a:extLst>
                </p:cNvPr>
                <p:cNvSpPr txBox="1"/>
                <p:nvPr/>
              </p:nvSpPr>
              <p:spPr>
                <a:xfrm>
                  <a:off x="4268107" y="4681637"/>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2</m:t>
                            </m:r>
                          </m:sub>
                        </m:sSub>
                      </m:oMath>
                    </m:oMathPara>
                  </a14:m>
                  <a:endParaRPr lang="pt-BR" dirty="0"/>
                </a:p>
              </p:txBody>
            </p:sp>
          </mc:Choice>
          <mc:Fallback xmlns="">
            <p:sp>
              <p:nvSpPr>
                <p:cNvPr id="33" name="CaixaDeTexto 6">
                  <a:extLst>
                    <a:ext uri="{FF2B5EF4-FFF2-40B4-BE49-F238E27FC236}">
                      <a16:creationId xmlns:a16="http://schemas.microsoft.com/office/drawing/2014/main" id="{E94CAAA8-84F9-FF01-A0C8-7E08AAC2B06B}"/>
                    </a:ext>
                  </a:extLst>
                </p:cNvPr>
                <p:cNvSpPr txBox="1">
                  <a:spLocks noRot="1" noChangeAspect="1" noMove="1" noResize="1" noEditPoints="1" noAdjustHandles="1" noChangeArrowheads="1" noChangeShapeType="1" noTextEdit="1"/>
                </p:cNvSpPr>
                <p:nvPr/>
              </p:nvSpPr>
              <p:spPr>
                <a:xfrm>
                  <a:off x="4268107" y="4681637"/>
                  <a:ext cx="266702" cy="369332"/>
                </a:xfrm>
                <a:prstGeom prst="rect">
                  <a:avLst/>
                </a:prstGeom>
                <a:blipFill>
                  <a:blip r:embed="rId4"/>
                  <a:stretch>
                    <a:fillRect t="-6667" r="-36364" b="-6667"/>
                  </a:stretch>
                </a:blipFill>
              </p:spPr>
              <p:txBody>
                <a:bodyPr/>
                <a:lstStyle/>
                <a:p>
                  <a:r>
                    <a:rPr lang="en-US">
                      <a:noFill/>
                    </a:rPr>
                    <a:t> </a:t>
                  </a:r>
                </a:p>
              </p:txBody>
            </p:sp>
          </mc:Fallback>
        </mc:AlternateContent>
        <p:grpSp>
          <p:nvGrpSpPr>
            <p:cNvPr id="35" name="Group 33">
              <a:extLst>
                <a:ext uri="{FF2B5EF4-FFF2-40B4-BE49-F238E27FC236}">
                  <a16:creationId xmlns:a16="http://schemas.microsoft.com/office/drawing/2014/main" id="{7040E706-55D1-EB92-0A9F-0D5E91A79D26}"/>
                </a:ext>
              </a:extLst>
            </p:cNvPr>
            <p:cNvGrpSpPr/>
            <p:nvPr/>
          </p:nvGrpSpPr>
          <p:grpSpPr>
            <a:xfrm>
              <a:off x="607920" y="3007376"/>
              <a:ext cx="336761" cy="369332"/>
              <a:chOff x="922561" y="2974265"/>
              <a:chExt cx="336761" cy="369332"/>
            </a:xfrm>
          </p:grpSpPr>
          <mc:AlternateContent xmlns:mc="http://schemas.openxmlformats.org/markup-compatibility/2006" xmlns:a14="http://schemas.microsoft.com/office/drawing/2010/main">
            <mc:Choice Requires="a14">
              <p:sp>
                <p:nvSpPr>
                  <p:cNvPr id="65" name="CaixaDeTexto 115">
                    <a:extLst>
                      <a:ext uri="{FF2B5EF4-FFF2-40B4-BE49-F238E27FC236}">
                        <a16:creationId xmlns:a16="http://schemas.microsoft.com/office/drawing/2014/main" id="{4616F2EA-0B09-3804-C221-F4580538EBDF}"/>
                      </a:ext>
                    </a:extLst>
                  </p:cNvPr>
                  <p:cNvSpPr txBox="1"/>
                  <p:nvPr/>
                </p:nvSpPr>
                <p:spPr>
                  <a:xfrm>
                    <a:off x="922561" y="2974265"/>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64" name="CaixaDeTexto 115">
                    <a:extLst>
                      <a:ext uri="{FF2B5EF4-FFF2-40B4-BE49-F238E27FC236}">
                        <a16:creationId xmlns:a16="http://schemas.microsoft.com/office/drawing/2014/main" id="{243F9310-22ED-977F-2643-BBF4A43DD0F1}"/>
                      </a:ext>
                    </a:extLst>
                  </p:cNvPr>
                  <p:cNvSpPr txBox="1">
                    <a:spLocks noRot="1" noChangeAspect="1" noMove="1" noResize="1" noEditPoints="1" noAdjustHandles="1" noChangeArrowheads="1" noChangeShapeType="1" noTextEdit="1"/>
                  </p:cNvSpPr>
                  <p:nvPr/>
                </p:nvSpPr>
                <p:spPr>
                  <a:xfrm>
                    <a:off x="922561" y="2974265"/>
                    <a:ext cx="266702" cy="369332"/>
                  </a:xfrm>
                  <a:prstGeom prst="rect">
                    <a:avLst/>
                  </a:prstGeom>
                  <a:blipFill>
                    <a:blip r:embed="rId5"/>
                    <a:stretch>
                      <a:fillRect r="-37209"/>
                    </a:stretch>
                  </a:blipFill>
                </p:spPr>
                <p:txBody>
                  <a:bodyPr/>
                  <a:lstStyle/>
                  <a:p>
                    <a:r>
                      <a:rPr lang="en-US">
                        <a:noFill/>
                      </a:rPr>
                      <a:t> </a:t>
                    </a:r>
                  </a:p>
                </p:txBody>
              </p:sp>
            </mc:Fallback>
          </mc:AlternateContent>
          <p:sp>
            <p:nvSpPr>
              <p:cNvPr id="66" name="Elipse 3">
                <a:extLst>
                  <a:ext uri="{FF2B5EF4-FFF2-40B4-BE49-F238E27FC236}">
                    <a16:creationId xmlns:a16="http://schemas.microsoft.com/office/drawing/2014/main" id="{59E02FFA-A32C-C2EC-E337-3695D4CBC028}"/>
                  </a:ext>
                </a:extLst>
              </p:cNvPr>
              <p:cNvSpPr/>
              <p:nvPr/>
            </p:nvSpPr>
            <p:spPr>
              <a:xfrm>
                <a:off x="971322" y="3042545"/>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6" name="Elipse 83">
              <a:extLst>
                <a:ext uri="{FF2B5EF4-FFF2-40B4-BE49-F238E27FC236}">
                  <a16:creationId xmlns:a16="http://schemas.microsoft.com/office/drawing/2014/main" id="{41E2954C-E410-1590-CEB1-C7B65E21A7A8}"/>
                </a:ext>
              </a:extLst>
            </p:cNvPr>
            <p:cNvSpPr/>
            <p:nvPr/>
          </p:nvSpPr>
          <p:spPr>
            <a:xfrm>
              <a:off x="1529435" y="51969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7" name="Group 35">
              <a:extLst>
                <a:ext uri="{FF2B5EF4-FFF2-40B4-BE49-F238E27FC236}">
                  <a16:creationId xmlns:a16="http://schemas.microsoft.com/office/drawing/2014/main" id="{C092391A-FC21-67F7-E467-4119158550DF}"/>
                </a:ext>
              </a:extLst>
            </p:cNvPr>
            <p:cNvGrpSpPr/>
            <p:nvPr/>
          </p:nvGrpSpPr>
          <p:grpSpPr>
            <a:xfrm>
              <a:off x="574549" y="5263520"/>
              <a:ext cx="349823" cy="369332"/>
              <a:chOff x="920926" y="4430876"/>
              <a:chExt cx="349823" cy="369332"/>
            </a:xfrm>
          </p:grpSpPr>
          <mc:AlternateContent xmlns:mc="http://schemas.openxmlformats.org/markup-compatibility/2006" xmlns:a14="http://schemas.microsoft.com/office/drawing/2010/main">
            <mc:Choice Requires="a14">
              <p:sp>
                <p:nvSpPr>
                  <p:cNvPr id="63" name="CaixaDeTexto 116">
                    <a:extLst>
                      <a:ext uri="{FF2B5EF4-FFF2-40B4-BE49-F238E27FC236}">
                        <a16:creationId xmlns:a16="http://schemas.microsoft.com/office/drawing/2014/main" id="{804B266B-AFD3-A6ED-0707-40E7EEDE1318}"/>
                      </a:ext>
                    </a:extLst>
                  </p:cNvPr>
                  <p:cNvSpPr txBox="1"/>
                  <p:nvPr/>
                </p:nvSpPr>
                <p:spPr>
                  <a:xfrm>
                    <a:off x="920926" y="4430876"/>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62" name="CaixaDeTexto 116">
                    <a:extLst>
                      <a:ext uri="{FF2B5EF4-FFF2-40B4-BE49-F238E27FC236}">
                        <a16:creationId xmlns:a16="http://schemas.microsoft.com/office/drawing/2014/main" id="{19A33E77-BA6B-210C-C610-B4D9D744677B}"/>
                      </a:ext>
                    </a:extLst>
                  </p:cNvPr>
                  <p:cNvSpPr txBox="1">
                    <a:spLocks noRot="1" noChangeAspect="1" noMove="1" noResize="1" noEditPoints="1" noAdjustHandles="1" noChangeArrowheads="1" noChangeShapeType="1" noTextEdit="1"/>
                  </p:cNvSpPr>
                  <p:nvPr/>
                </p:nvSpPr>
                <p:spPr>
                  <a:xfrm>
                    <a:off x="920926" y="4430876"/>
                    <a:ext cx="266702" cy="369332"/>
                  </a:xfrm>
                  <a:prstGeom prst="rect">
                    <a:avLst/>
                  </a:prstGeom>
                  <a:blipFill>
                    <a:blip r:embed="rId6"/>
                    <a:stretch>
                      <a:fillRect r="-36364"/>
                    </a:stretch>
                  </a:blipFill>
                </p:spPr>
                <p:txBody>
                  <a:bodyPr/>
                  <a:lstStyle/>
                  <a:p>
                    <a:r>
                      <a:rPr lang="en-US">
                        <a:noFill/>
                      </a:rPr>
                      <a:t> </a:t>
                    </a:r>
                  </a:p>
                </p:txBody>
              </p:sp>
            </mc:Fallback>
          </mc:AlternateContent>
          <p:sp>
            <p:nvSpPr>
              <p:cNvPr id="64" name="Elipse 4">
                <a:extLst>
                  <a:ext uri="{FF2B5EF4-FFF2-40B4-BE49-F238E27FC236}">
                    <a16:creationId xmlns:a16="http://schemas.microsoft.com/office/drawing/2014/main" id="{954EB106-4FC8-1251-EB77-C6C99D4D5ABB}"/>
                  </a:ext>
                </a:extLst>
              </p:cNvPr>
              <p:cNvSpPr/>
              <p:nvPr/>
            </p:nvSpPr>
            <p:spPr>
              <a:xfrm>
                <a:off x="982749" y="4504166"/>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cxnSp>
          <p:nvCxnSpPr>
            <p:cNvPr id="38" name="Conector reto 112">
              <a:extLst>
                <a:ext uri="{FF2B5EF4-FFF2-40B4-BE49-F238E27FC236}">
                  <a16:creationId xmlns:a16="http://schemas.microsoft.com/office/drawing/2014/main" id="{460AFE64-4E5C-F510-8C2B-291B42E29749}"/>
                </a:ext>
              </a:extLst>
            </p:cNvPr>
            <p:cNvCxnSpPr>
              <a:cxnSpLocks/>
              <a:stCxn id="66" idx="6"/>
              <a:endCxn id="11" idx="2"/>
            </p:cNvCxnSpPr>
            <p:nvPr/>
          </p:nvCxnSpPr>
          <p:spPr>
            <a:xfrm flipV="1">
              <a:off x="944681" y="3212987"/>
              <a:ext cx="590203" cy="6669"/>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Conector reto 112">
              <a:extLst>
                <a:ext uri="{FF2B5EF4-FFF2-40B4-BE49-F238E27FC236}">
                  <a16:creationId xmlns:a16="http://schemas.microsoft.com/office/drawing/2014/main" id="{2DAE464F-A111-2825-5ED8-99E61339FC55}"/>
                </a:ext>
              </a:extLst>
            </p:cNvPr>
            <p:cNvCxnSpPr>
              <a:cxnSpLocks/>
              <a:stCxn id="66" idx="6"/>
              <a:endCxn id="13" idx="2"/>
            </p:cNvCxnSpPr>
            <p:nvPr/>
          </p:nvCxnSpPr>
          <p:spPr>
            <a:xfrm>
              <a:off x="944681" y="3219656"/>
              <a:ext cx="590203" cy="150463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Conector reto 112">
              <a:extLst>
                <a:ext uri="{FF2B5EF4-FFF2-40B4-BE49-F238E27FC236}">
                  <a16:creationId xmlns:a16="http://schemas.microsoft.com/office/drawing/2014/main" id="{CC2D34F4-CA98-69A6-AF58-213CD140699F}"/>
                </a:ext>
              </a:extLst>
            </p:cNvPr>
            <p:cNvCxnSpPr>
              <a:cxnSpLocks/>
              <a:stCxn id="66" idx="6"/>
              <a:endCxn id="36" idx="2"/>
            </p:cNvCxnSpPr>
            <p:nvPr/>
          </p:nvCxnSpPr>
          <p:spPr>
            <a:xfrm>
              <a:off x="944681" y="3219656"/>
              <a:ext cx="584754" cy="22602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Conector reto 112">
              <a:extLst>
                <a:ext uri="{FF2B5EF4-FFF2-40B4-BE49-F238E27FC236}">
                  <a16:creationId xmlns:a16="http://schemas.microsoft.com/office/drawing/2014/main" id="{3AA8D449-01AE-0402-5027-72D2C11E9795}"/>
                </a:ext>
              </a:extLst>
            </p:cNvPr>
            <p:cNvCxnSpPr>
              <a:cxnSpLocks/>
              <a:stCxn id="64" idx="6"/>
              <a:endCxn id="36" idx="2"/>
            </p:cNvCxnSpPr>
            <p:nvPr/>
          </p:nvCxnSpPr>
          <p:spPr>
            <a:xfrm flipV="1">
              <a:off x="924372" y="5479937"/>
              <a:ext cx="605063" cy="8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Conector reto 112">
              <a:extLst>
                <a:ext uri="{FF2B5EF4-FFF2-40B4-BE49-F238E27FC236}">
                  <a16:creationId xmlns:a16="http://schemas.microsoft.com/office/drawing/2014/main" id="{040AF124-9616-BBA9-1BC5-5EA94DFD2BE6}"/>
                </a:ext>
              </a:extLst>
            </p:cNvPr>
            <p:cNvCxnSpPr>
              <a:cxnSpLocks/>
              <a:stCxn id="64" idx="6"/>
              <a:endCxn id="13" idx="2"/>
            </p:cNvCxnSpPr>
            <p:nvPr/>
          </p:nvCxnSpPr>
          <p:spPr>
            <a:xfrm flipV="1">
              <a:off x="924372" y="4724287"/>
              <a:ext cx="610512" cy="7565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Conector reto 112">
              <a:extLst>
                <a:ext uri="{FF2B5EF4-FFF2-40B4-BE49-F238E27FC236}">
                  <a16:creationId xmlns:a16="http://schemas.microsoft.com/office/drawing/2014/main" id="{80D7A17D-2D64-93AF-3E91-D95AEBD9DED8}"/>
                </a:ext>
              </a:extLst>
            </p:cNvPr>
            <p:cNvCxnSpPr>
              <a:cxnSpLocks/>
              <a:stCxn id="64" idx="6"/>
            </p:cNvCxnSpPr>
            <p:nvPr/>
          </p:nvCxnSpPr>
          <p:spPr>
            <a:xfrm flipV="1">
              <a:off x="924372" y="3968637"/>
              <a:ext cx="610512" cy="15121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Conector reto 112">
              <a:extLst>
                <a:ext uri="{FF2B5EF4-FFF2-40B4-BE49-F238E27FC236}">
                  <a16:creationId xmlns:a16="http://schemas.microsoft.com/office/drawing/2014/main" id="{F5BE57D6-A12B-70F9-DB4B-91E55704BF8F}"/>
                </a:ext>
              </a:extLst>
            </p:cNvPr>
            <p:cNvCxnSpPr>
              <a:cxnSpLocks/>
              <a:stCxn id="64" idx="6"/>
              <a:endCxn id="11" idx="2"/>
            </p:cNvCxnSpPr>
            <p:nvPr/>
          </p:nvCxnSpPr>
          <p:spPr>
            <a:xfrm flipV="1">
              <a:off x="924372" y="3212987"/>
              <a:ext cx="610512" cy="22678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Conector de Seta Reta 91">
              <a:extLst>
                <a:ext uri="{FF2B5EF4-FFF2-40B4-BE49-F238E27FC236}">
                  <a16:creationId xmlns:a16="http://schemas.microsoft.com/office/drawing/2014/main" id="{237FAE4C-A04C-79A1-E79F-98F5B631B10A}"/>
                </a:ext>
              </a:extLst>
            </p:cNvPr>
            <p:cNvCxnSpPr>
              <a:cxnSpLocks/>
              <a:stCxn id="13" idx="6"/>
              <a:endCxn id="6" idx="2"/>
            </p:cNvCxnSpPr>
            <p:nvPr/>
          </p:nvCxnSpPr>
          <p:spPr>
            <a:xfrm flipV="1">
              <a:off x="2100941" y="3685608"/>
              <a:ext cx="391887" cy="1038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ector de Seta Reta 91">
              <a:extLst>
                <a:ext uri="{FF2B5EF4-FFF2-40B4-BE49-F238E27FC236}">
                  <a16:creationId xmlns:a16="http://schemas.microsoft.com/office/drawing/2014/main" id="{83430D9D-9BFC-122D-EED9-FB711583F1D7}"/>
                </a:ext>
              </a:extLst>
            </p:cNvPr>
            <p:cNvCxnSpPr>
              <a:cxnSpLocks/>
              <a:stCxn id="36" idx="6"/>
              <a:endCxn id="6" idx="2"/>
            </p:cNvCxnSpPr>
            <p:nvPr/>
          </p:nvCxnSpPr>
          <p:spPr>
            <a:xfrm flipV="1">
              <a:off x="2095492" y="3685608"/>
              <a:ext cx="397336" cy="1794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ector de Seta Reta 91">
              <a:extLst>
                <a:ext uri="{FF2B5EF4-FFF2-40B4-BE49-F238E27FC236}">
                  <a16:creationId xmlns:a16="http://schemas.microsoft.com/office/drawing/2014/main" id="{14363AB3-D780-450E-032E-1998E8869A32}"/>
                </a:ext>
              </a:extLst>
            </p:cNvPr>
            <p:cNvCxnSpPr>
              <a:cxnSpLocks/>
              <a:stCxn id="36" idx="6"/>
              <a:endCxn id="7" idx="2"/>
            </p:cNvCxnSpPr>
            <p:nvPr/>
          </p:nvCxnSpPr>
          <p:spPr>
            <a:xfrm flipV="1">
              <a:off x="2095492" y="4404065"/>
              <a:ext cx="397335" cy="1075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ector de Seta Reta 91">
              <a:extLst>
                <a:ext uri="{FF2B5EF4-FFF2-40B4-BE49-F238E27FC236}">
                  <a16:creationId xmlns:a16="http://schemas.microsoft.com/office/drawing/2014/main" id="{631D6CF7-7637-753A-0D83-C4C4B41AA991}"/>
                </a:ext>
              </a:extLst>
            </p:cNvPr>
            <p:cNvCxnSpPr>
              <a:cxnSpLocks/>
              <a:stCxn id="36" idx="6"/>
              <a:endCxn id="8" idx="2"/>
            </p:cNvCxnSpPr>
            <p:nvPr/>
          </p:nvCxnSpPr>
          <p:spPr>
            <a:xfrm flipV="1">
              <a:off x="2095492" y="5122522"/>
              <a:ext cx="397335" cy="357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7">
                  <a:extLst>
                    <a:ext uri="{FF2B5EF4-FFF2-40B4-BE49-F238E27FC236}">
                      <a16:creationId xmlns:a16="http://schemas.microsoft.com/office/drawing/2014/main" id="{A14E3873-3AF6-B2B5-3BEF-FC40BE31893C}"/>
                    </a:ext>
                  </a:extLst>
                </p:cNvPr>
                <p:cNvSpPr txBox="1"/>
                <p:nvPr/>
              </p:nvSpPr>
              <p:spPr>
                <a:xfrm>
                  <a:off x="956041" y="2865008"/>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48" name="TextBox 47">
                  <a:extLst>
                    <a:ext uri="{FF2B5EF4-FFF2-40B4-BE49-F238E27FC236}">
                      <a16:creationId xmlns:a16="http://schemas.microsoft.com/office/drawing/2014/main" id="{2724182A-BC9E-A2F6-A1B4-BB8ECF80D91A}"/>
                    </a:ext>
                  </a:extLst>
                </p:cNvPr>
                <p:cNvSpPr txBox="1">
                  <a:spLocks noRot="1" noChangeAspect="1" noMove="1" noResize="1" noEditPoints="1" noAdjustHandles="1" noChangeArrowheads="1" noChangeShapeType="1" noTextEdit="1"/>
                </p:cNvSpPr>
                <p:nvPr/>
              </p:nvSpPr>
              <p:spPr>
                <a:xfrm>
                  <a:off x="956041" y="2865008"/>
                  <a:ext cx="560538" cy="36131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8">
                  <a:extLst>
                    <a:ext uri="{FF2B5EF4-FFF2-40B4-BE49-F238E27FC236}">
                      <a16:creationId xmlns:a16="http://schemas.microsoft.com/office/drawing/2014/main" id="{5C4D0F34-DEEA-0A3E-A7A5-40D42A01E9B0}"/>
                    </a:ext>
                  </a:extLst>
                </p:cNvPr>
                <p:cNvSpPr txBox="1"/>
                <p:nvPr/>
              </p:nvSpPr>
              <p:spPr>
                <a:xfrm rot="3068437">
                  <a:off x="1020572" y="321965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12</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49" name="TextBox 48">
                  <a:extLst>
                    <a:ext uri="{FF2B5EF4-FFF2-40B4-BE49-F238E27FC236}">
                      <a16:creationId xmlns:a16="http://schemas.microsoft.com/office/drawing/2014/main" id="{1044A7A0-B009-4EE4-6E6D-D1E1FDC070C8}"/>
                    </a:ext>
                  </a:extLst>
                </p:cNvPr>
                <p:cNvSpPr txBox="1">
                  <a:spLocks noRot="1" noChangeAspect="1" noMove="1" noResize="1" noEditPoints="1" noAdjustHandles="1" noChangeArrowheads="1" noChangeShapeType="1" noTextEdit="1"/>
                </p:cNvSpPr>
                <p:nvPr/>
              </p:nvSpPr>
              <p:spPr>
                <a:xfrm rot="3068437">
                  <a:off x="1020572" y="3219653"/>
                  <a:ext cx="560538" cy="36131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49">
                  <a:extLst>
                    <a:ext uri="{FF2B5EF4-FFF2-40B4-BE49-F238E27FC236}">
                      <a16:creationId xmlns:a16="http://schemas.microsoft.com/office/drawing/2014/main" id="{A993F1F7-1388-8F29-0706-696821EB87B3}"/>
                    </a:ext>
                  </a:extLst>
                </p:cNvPr>
                <p:cNvSpPr txBox="1"/>
                <p:nvPr/>
              </p:nvSpPr>
              <p:spPr>
                <a:xfrm>
                  <a:off x="933548" y="5486606"/>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24</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0" name="TextBox 49">
                  <a:extLst>
                    <a:ext uri="{FF2B5EF4-FFF2-40B4-BE49-F238E27FC236}">
                      <a16:creationId xmlns:a16="http://schemas.microsoft.com/office/drawing/2014/main" id="{D77670F4-8D16-A250-1A78-91768C9E1CB2}"/>
                    </a:ext>
                  </a:extLst>
                </p:cNvPr>
                <p:cNvSpPr txBox="1">
                  <a:spLocks noRot="1" noChangeAspect="1" noMove="1" noResize="1" noEditPoints="1" noAdjustHandles="1" noChangeArrowheads="1" noChangeShapeType="1" noTextEdit="1"/>
                </p:cNvSpPr>
                <p:nvPr/>
              </p:nvSpPr>
              <p:spPr>
                <a:xfrm>
                  <a:off x="933548" y="5486606"/>
                  <a:ext cx="560538" cy="36131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0">
                  <a:extLst>
                    <a:ext uri="{FF2B5EF4-FFF2-40B4-BE49-F238E27FC236}">
                      <a16:creationId xmlns:a16="http://schemas.microsoft.com/office/drawing/2014/main" id="{A1C38678-F044-012B-3968-84A86A57A30D}"/>
                    </a:ext>
                  </a:extLst>
                </p:cNvPr>
                <p:cNvSpPr txBox="1"/>
                <p:nvPr/>
              </p:nvSpPr>
              <p:spPr>
                <a:xfrm rot="17131605">
                  <a:off x="594353" y="4756061"/>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1" name="TextBox 50">
                  <a:extLst>
                    <a:ext uri="{FF2B5EF4-FFF2-40B4-BE49-F238E27FC236}">
                      <a16:creationId xmlns:a16="http://schemas.microsoft.com/office/drawing/2014/main" id="{182E9E64-9A9C-42E8-A902-4940352E22B5}"/>
                    </a:ext>
                  </a:extLst>
                </p:cNvPr>
                <p:cNvSpPr txBox="1">
                  <a:spLocks noRot="1" noChangeAspect="1" noMove="1" noResize="1" noEditPoints="1" noAdjustHandles="1" noChangeArrowheads="1" noChangeShapeType="1" noTextEdit="1"/>
                </p:cNvSpPr>
                <p:nvPr/>
              </p:nvSpPr>
              <p:spPr>
                <a:xfrm rot="17131605">
                  <a:off x="594353" y="4756061"/>
                  <a:ext cx="560538" cy="36131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1">
                  <a:extLst>
                    <a:ext uri="{FF2B5EF4-FFF2-40B4-BE49-F238E27FC236}">
                      <a16:creationId xmlns:a16="http://schemas.microsoft.com/office/drawing/2014/main" id="{3158C44F-FEB2-1C11-EE63-92270AA2F239}"/>
                    </a:ext>
                  </a:extLst>
                </p:cNvPr>
                <p:cNvSpPr txBox="1"/>
                <p:nvPr/>
              </p:nvSpPr>
              <p:spPr>
                <a:xfrm rot="2964551">
                  <a:off x="2132495" y="313219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2" name="TextBox 51">
                  <a:extLst>
                    <a:ext uri="{FF2B5EF4-FFF2-40B4-BE49-F238E27FC236}">
                      <a16:creationId xmlns:a16="http://schemas.microsoft.com/office/drawing/2014/main" id="{5ABD2E40-CB4C-C4AA-C6C7-DA1F416625B3}"/>
                    </a:ext>
                  </a:extLst>
                </p:cNvPr>
                <p:cNvSpPr txBox="1">
                  <a:spLocks noRot="1" noChangeAspect="1" noMove="1" noResize="1" noEditPoints="1" noAdjustHandles="1" noChangeArrowheads="1" noChangeShapeType="1" noTextEdit="1"/>
                </p:cNvSpPr>
                <p:nvPr/>
              </p:nvSpPr>
              <p:spPr>
                <a:xfrm rot="2964551">
                  <a:off x="2132495" y="3132193"/>
                  <a:ext cx="560538" cy="36131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2">
                  <a:extLst>
                    <a:ext uri="{FF2B5EF4-FFF2-40B4-BE49-F238E27FC236}">
                      <a16:creationId xmlns:a16="http://schemas.microsoft.com/office/drawing/2014/main" id="{964AB797-735C-1CA2-78E8-0D85FE65AD3F}"/>
                    </a:ext>
                  </a:extLst>
                </p:cNvPr>
                <p:cNvSpPr txBox="1"/>
                <p:nvPr/>
              </p:nvSpPr>
              <p:spPr>
                <a:xfrm rot="19021513">
                  <a:off x="2088094" y="5274650"/>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43</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3" name="TextBox 52">
                  <a:extLst>
                    <a:ext uri="{FF2B5EF4-FFF2-40B4-BE49-F238E27FC236}">
                      <a16:creationId xmlns:a16="http://schemas.microsoft.com/office/drawing/2014/main" id="{60C46355-8CAB-59C9-2C26-87970CB944B2}"/>
                    </a:ext>
                  </a:extLst>
                </p:cNvPr>
                <p:cNvSpPr txBox="1">
                  <a:spLocks noRot="1" noChangeAspect="1" noMove="1" noResize="1" noEditPoints="1" noAdjustHandles="1" noChangeArrowheads="1" noChangeShapeType="1" noTextEdit="1"/>
                </p:cNvSpPr>
                <p:nvPr/>
              </p:nvSpPr>
              <p:spPr>
                <a:xfrm rot="19021513">
                  <a:off x="2088094" y="5274650"/>
                  <a:ext cx="560538" cy="36131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3">
                  <a:extLst>
                    <a:ext uri="{FF2B5EF4-FFF2-40B4-BE49-F238E27FC236}">
                      <a16:creationId xmlns:a16="http://schemas.microsoft.com/office/drawing/2014/main" id="{555FBF73-6623-FE46-C1EF-9B973DC84648}"/>
                    </a:ext>
                  </a:extLst>
                </p:cNvPr>
                <p:cNvSpPr txBox="1"/>
                <p:nvPr/>
              </p:nvSpPr>
              <p:spPr>
                <a:xfrm rot="2893059">
                  <a:off x="3107452" y="3604952"/>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4" name="TextBox 53">
                  <a:extLst>
                    <a:ext uri="{FF2B5EF4-FFF2-40B4-BE49-F238E27FC236}">
                      <a16:creationId xmlns:a16="http://schemas.microsoft.com/office/drawing/2014/main" id="{B47F4BE6-50BF-7915-09C6-1C68FD6CF4D3}"/>
                    </a:ext>
                  </a:extLst>
                </p:cNvPr>
                <p:cNvSpPr txBox="1">
                  <a:spLocks noRot="1" noChangeAspect="1" noMove="1" noResize="1" noEditPoints="1" noAdjustHandles="1" noChangeArrowheads="1" noChangeShapeType="1" noTextEdit="1"/>
                </p:cNvSpPr>
                <p:nvPr/>
              </p:nvSpPr>
              <p:spPr>
                <a:xfrm rot="2893059">
                  <a:off x="3107452" y="3604952"/>
                  <a:ext cx="560538" cy="362663"/>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4">
                  <a:extLst>
                    <a:ext uri="{FF2B5EF4-FFF2-40B4-BE49-F238E27FC236}">
                      <a16:creationId xmlns:a16="http://schemas.microsoft.com/office/drawing/2014/main" id="{9ED074C8-495A-2F94-2C22-60B10AE4B803}"/>
                    </a:ext>
                  </a:extLst>
                </p:cNvPr>
                <p:cNvSpPr txBox="1"/>
                <p:nvPr/>
              </p:nvSpPr>
              <p:spPr>
                <a:xfrm rot="19852769">
                  <a:off x="3044859" y="4967999"/>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32</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5" name="TextBox 54">
                  <a:extLst>
                    <a:ext uri="{FF2B5EF4-FFF2-40B4-BE49-F238E27FC236}">
                      <a16:creationId xmlns:a16="http://schemas.microsoft.com/office/drawing/2014/main" id="{521D5993-1351-F7B8-7BB5-8B95030655D6}"/>
                    </a:ext>
                  </a:extLst>
                </p:cNvPr>
                <p:cNvSpPr txBox="1">
                  <a:spLocks noRot="1" noChangeAspect="1" noMove="1" noResize="1" noEditPoints="1" noAdjustHandles="1" noChangeArrowheads="1" noChangeShapeType="1" noTextEdit="1"/>
                </p:cNvSpPr>
                <p:nvPr/>
              </p:nvSpPr>
              <p:spPr>
                <a:xfrm rot="19852769">
                  <a:off x="3044859" y="4967999"/>
                  <a:ext cx="560538" cy="362663"/>
                </a:xfrm>
                <a:prstGeom prst="rect">
                  <a:avLst/>
                </a:prstGeom>
                <a:blipFill>
                  <a:blip r:embed="rId14"/>
                  <a:stretch>
                    <a:fillRect/>
                  </a:stretch>
                </a:blipFill>
              </p:spPr>
              <p:txBody>
                <a:bodyPr/>
                <a:lstStyle/>
                <a:p>
                  <a:r>
                    <a:rPr lang="en-US">
                      <a:noFill/>
                    </a:rPr>
                    <a:t> </a:t>
                  </a:r>
                </a:p>
              </p:txBody>
            </p:sp>
          </mc:Fallback>
        </mc:AlternateContent>
        <p:sp>
          <p:nvSpPr>
            <p:cNvPr id="57" name="CaixaDeTexto 106">
              <a:extLst>
                <a:ext uri="{FF2B5EF4-FFF2-40B4-BE49-F238E27FC236}">
                  <a16:creationId xmlns:a16="http://schemas.microsoft.com/office/drawing/2014/main" id="{2FB89822-0519-CF86-9B8F-3431E624D98A}"/>
                </a:ext>
              </a:extLst>
            </p:cNvPr>
            <p:cNvSpPr txBox="1"/>
            <p:nvPr/>
          </p:nvSpPr>
          <p:spPr>
            <a:xfrm>
              <a:off x="1300841" y="2506925"/>
              <a:ext cx="1796143" cy="307777"/>
            </a:xfrm>
            <a:prstGeom prst="rect">
              <a:avLst/>
            </a:prstGeom>
            <a:noFill/>
          </p:spPr>
          <p:txBody>
            <a:bodyPr wrap="square" rtlCol="0">
              <a:spAutoFit/>
            </a:bodyPr>
            <a:lstStyle/>
            <a:p>
              <a:r>
                <a:rPr lang="pt-BR" sz="1400" dirty="0"/>
                <a:t>Peso sináptico</a:t>
              </a:r>
            </a:p>
          </p:txBody>
        </p:sp>
        <p:sp>
          <p:nvSpPr>
            <p:cNvPr id="58" name="Freeform: Shape 56">
              <a:extLst>
                <a:ext uri="{FF2B5EF4-FFF2-40B4-BE49-F238E27FC236}">
                  <a16:creationId xmlns:a16="http://schemas.microsoft.com/office/drawing/2014/main" id="{337E208E-BD12-0383-95FF-EADCBCB885B5}"/>
                </a:ext>
              </a:extLst>
            </p:cNvPr>
            <p:cNvSpPr/>
            <p:nvPr/>
          </p:nvSpPr>
          <p:spPr>
            <a:xfrm>
              <a:off x="1164771" y="2656114"/>
              <a:ext cx="206829" cy="250372"/>
            </a:xfrm>
            <a:custGeom>
              <a:avLst/>
              <a:gdLst>
                <a:gd name="csX0" fmla="*/ 0 w 206829"/>
                <a:gd name="csY0" fmla="*/ 250372 h 250372"/>
                <a:gd name="csX1" fmla="*/ 54429 w 206829"/>
                <a:gd name="csY1" fmla="*/ 108857 h 250372"/>
                <a:gd name="csX2" fmla="*/ 206829 w 206829"/>
                <a:gd name="csY2" fmla="*/ 0 h 250372"/>
              </a:gdLst>
              <a:ahLst/>
              <a:cxnLst>
                <a:cxn ang="0">
                  <a:pos x="csX0" y="csY0"/>
                </a:cxn>
                <a:cxn ang="0">
                  <a:pos x="csX1" y="csY1"/>
                </a:cxn>
                <a:cxn ang="0">
                  <a:pos x="csX2" y="csY2"/>
                </a:cxn>
              </a:cxnLst>
              <a:rect l="l" t="t" r="r" b="b"/>
              <a:pathLst>
                <a:path w="206829" h="250372">
                  <a:moveTo>
                    <a:pt x="0" y="250372"/>
                  </a:moveTo>
                  <a:cubicBezTo>
                    <a:pt x="9979" y="200479"/>
                    <a:pt x="19958" y="150586"/>
                    <a:pt x="54429" y="108857"/>
                  </a:cubicBezTo>
                  <a:cubicBezTo>
                    <a:pt x="88901" y="67128"/>
                    <a:pt x="147865" y="33564"/>
                    <a:pt x="206829"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CaixaDeTexto 32">
              <a:extLst>
                <a:ext uri="{FF2B5EF4-FFF2-40B4-BE49-F238E27FC236}">
                  <a16:creationId xmlns:a16="http://schemas.microsoft.com/office/drawing/2014/main" id="{04892B26-2B27-BAE3-2EF6-2C6433562A15}"/>
                </a:ext>
              </a:extLst>
            </p:cNvPr>
            <p:cNvSpPr txBox="1"/>
            <p:nvPr/>
          </p:nvSpPr>
          <p:spPr>
            <a:xfrm>
              <a:off x="294226" y="5713408"/>
              <a:ext cx="868135" cy="461665"/>
            </a:xfrm>
            <a:prstGeom prst="rect">
              <a:avLst/>
            </a:prstGeom>
            <a:noFill/>
          </p:spPr>
          <p:txBody>
            <a:bodyPr wrap="square" rtlCol="0">
              <a:spAutoFit/>
            </a:bodyPr>
            <a:lstStyle/>
            <a:p>
              <a:pPr algn="ctr"/>
              <a:r>
                <a:rPr lang="pt-BR" sz="1200" dirty="0"/>
                <a:t>Camada de entrada</a:t>
              </a:r>
            </a:p>
          </p:txBody>
        </p:sp>
        <p:sp>
          <p:nvSpPr>
            <p:cNvPr id="60" name="CaixaDeTexto 34">
              <a:extLst>
                <a:ext uri="{FF2B5EF4-FFF2-40B4-BE49-F238E27FC236}">
                  <a16:creationId xmlns:a16="http://schemas.microsoft.com/office/drawing/2014/main" id="{46B37539-583C-7EB4-44FE-03FBE7F32EE1}"/>
                </a:ext>
              </a:extLst>
            </p:cNvPr>
            <p:cNvSpPr txBox="1"/>
            <p:nvPr/>
          </p:nvSpPr>
          <p:spPr>
            <a:xfrm>
              <a:off x="1357989" y="5837351"/>
              <a:ext cx="868135" cy="461665"/>
            </a:xfrm>
            <a:prstGeom prst="rect">
              <a:avLst/>
            </a:prstGeom>
            <a:noFill/>
          </p:spPr>
          <p:txBody>
            <a:bodyPr wrap="square" rtlCol="0">
              <a:spAutoFit/>
            </a:bodyPr>
            <a:lstStyle/>
            <a:p>
              <a:pPr algn="ctr"/>
              <a:r>
                <a:rPr lang="pt-BR" sz="1200" dirty="0"/>
                <a:t>Camada oculta #1</a:t>
              </a:r>
            </a:p>
          </p:txBody>
        </p:sp>
        <p:sp>
          <p:nvSpPr>
            <p:cNvPr id="61" name="CaixaDeTexto 40">
              <a:extLst>
                <a:ext uri="{FF2B5EF4-FFF2-40B4-BE49-F238E27FC236}">
                  <a16:creationId xmlns:a16="http://schemas.microsoft.com/office/drawing/2014/main" id="{E60CE0A3-6F43-317B-17C2-4EB92543864F}"/>
                </a:ext>
              </a:extLst>
            </p:cNvPr>
            <p:cNvSpPr txBox="1"/>
            <p:nvPr/>
          </p:nvSpPr>
          <p:spPr>
            <a:xfrm>
              <a:off x="2352673" y="5450646"/>
              <a:ext cx="868135" cy="461665"/>
            </a:xfrm>
            <a:prstGeom prst="rect">
              <a:avLst/>
            </a:prstGeom>
            <a:noFill/>
          </p:spPr>
          <p:txBody>
            <a:bodyPr wrap="square" rtlCol="0">
              <a:spAutoFit/>
            </a:bodyPr>
            <a:lstStyle/>
            <a:p>
              <a:pPr algn="ctr"/>
              <a:r>
                <a:rPr lang="pt-BR" sz="1200" dirty="0"/>
                <a:t>Camada oculta #2</a:t>
              </a:r>
            </a:p>
          </p:txBody>
        </p:sp>
        <p:sp>
          <p:nvSpPr>
            <p:cNvPr id="62" name="CaixaDeTexto 36">
              <a:extLst>
                <a:ext uri="{FF2B5EF4-FFF2-40B4-BE49-F238E27FC236}">
                  <a16:creationId xmlns:a16="http://schemas.microsoft.com/office/drawing/2014/main" id="{B057D2F4-F863-65AC-DA90-E0F2C5AAE5B5}"/>
                </a:ext>
              </a:extLst>
            </p:cNvPr>
            <p:cNvSpPr txBox="1"/>
            <p:nvPr/>
          </p:nvSpPr>
          <p:spPr>
            <a:xfrm>
              <a:off x="3314688" y="5239989"/>
              <a:ext cx="868135" cy="461665"/>
            </a:xfrm>
            <a:prstGeom prst="rect">
              <a:avLst/>
            </a:prstGeom>
            <a:noFill/>
          </p:spPr>
          <p:txBody>
            <a:bodyPr wrap="square" rtlCol="0">
              <a:spAutoFit/>
            </a:bodyPr>
            <a:lstStyle/>
            <a:p>
              <a:pPr algn="ctr"/>
              <a:r>
                <a:rPr lang="pt-BR" sz="1200" dirty="0"/>
                <a:t>Camada de saída</a:t>
              </a:r>
            </a:p>
          </p:txBody>
        </p:sp>
      </p:grpSp>
    </p:spTree>
    <p:extLst>
      <p:ext uri="{BB962C8B-B14F-4D97-AF65-F5344CB8AC3E}">
        <p14:creationId xmlns:p14="http://schemas.microsoft.com/office/powerpoint/2010/main" val="41066466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6532776" y="2565010"/>
            <a:ext cx="4854804" cy="2440623"/>
          </a:xfrm>
        </p:spPr>
        <p:txBody>
          <a:bodyPr>
            <a:noAutofit/>
          </a:bodyPr>
          <a:lstStyle/>
          <a:p>
            <a:pPr marL="0" indent="0" algn="ctr">
              <a:buNone/>
            </a:pPr>
            <a:r>
              <a:rPr lang="pt-BR" sz="4000" dirty="0"/>
              <a:t>O algoritmo de </a:t>
            </a:r>
            <a:r>
              <a:rPr lang="pt-BR" sz="4000" i="1" dirty="0"/>
              <a:t>error</a:t>
            </a:r>
            <a:r>
              <a:rPr lang="pt-BR" sz="4000" dirty="0"/>
              <a:t> </a:t>
            </a:r>
            <a:r>
              <a:rPr lang="pt-BR" sz="4000" i="1" dirty="0"/>
              <a:t>backpropagation</a:t>
            </a:r>
            <a:r>
              <a:rPr lang="pt-BR" sz="4000" dirty="0"/>
              <a:t> é baseado na </a:t>
            </a:r>
            <a:r>
              <a:rPr lang="pt-BR" sz="4000" b="1" dirty="0">
                <a:solidFill>
                  <a:schemeClr val="accent2"/>
                </a:solidFill>
              </a:rPr>
              <a:t>regra da cadeia</a:t>
            </a:r>
            <a:r>
              <a:rPr lang="pt-BR" sz="4000" dirty="0">
                <a:solidFill>
                  <a:schemeClr val="accent2"/>
                </a:solidFill>
              </a:rPr>
              <a:t>.</a:t>
            </a:r>
          </a:p>
        </p:txBody>
      </p:sp>
      <p:pic>
        <p:nvPicPr>
          <p:cNvPr id="1026" name="Picture 2" descr="Backpropagation is not the Chain Rule; Read why in this easy-to-understand  Deep Learning and backpropagation introduction! (+books recommended) | by  Mariano Crosetti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016" y="259842"/>
            <a:ext cx="4762500" cy="6343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4377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E91DE-DA68-EEA0-9A58-B10C592E02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775A6-6732-2632-18D8-0617A7FBF913}"/>
              </a:ext>
            </a:extLst>
          </p:cNvPr>
          <p:cNvSpPr>
            <a:spLocks noGrp="1"/>
          </p:cNvSpPr>
          <p:nvPr>
            <p:ph type="title"/>
          </p:nvPr>
        </p:nvSpPr>
        <p:spPr/>
        <p:txBody>
          <a:bodyPr/>
          <a:lstStyle/>
          <a:p>
            <a:r>
              <a:rPr lang="pt-BR" i="1" dirty="0"/>
              <a:t>Backpropagation</a:t>
            </a:r>
            <a:endParaRPr lang="en-US" dirty="0"/>
          </a:p>
        </p:txBody>
      </p:sp>
      <p:sp>
        <p:nvSpPr>
          <p:cNvPr id="3" name="Content Placeholder 2">
            <a:extLst>
              <a:ext uri="{FF2B5EF4-FFF2-40B4-BE49-F238E27FC236}">
                <a16:creationId xmlns:a16="http://schemas.microsoft.com/office/drawing/2014/main" id="{5D7CC740-332C-5F7B-FF5E-6165FD0B3C85}"/>
              </a:ext>
            </a:extLst>
          </p:cNvPr>
          <p:cNvSpPr>
            <a:spLocks noGrp="1"/>
          </p:cNvSpPr>
          <p:nvPr>
            <p:ph idx="1"/>
          </p:nvPr>
        </p:nvSpPr>
        <p:spPr>
          <a:xfrm>
            <a:off x="5545394" y="1825624"/>
            <a:ext cx="6646606" cy="5032375"/>
          </a:xfrm>
        </p:spPr>
        <p:txBody>
          <a:bodyPr>
            <a:normAutofit/>
          </a:bodyPr>
          <a:lstStyle/>
          <a:p>
            <a:r>
              <a:rPr lang="pt-BR" dirty="0"/>
              <a:t>O algoritmo faz três coisas principais:</a:t>
            </a:r>
          </a:p>
          <a:p>
            <a:pPr lvl="1">
              <a:buFont typeface="Wingdings" panose="05000000000000000000" pitchFamily="2" charset="2"/>
              <a:buChar char="§"/>
            </a:pPr>
            <a:r>
              <a:rPr lang="pt-BR" dirty="0"/>
              <a:t>Apresenta os exemplos à rede e ela faz predições com os pesos atuais.</a:t>
            </a:r>
          </a:p>
          <a:p>
            <a:pPr lvl="2">
              <a:buFont typeface="Courier New" panose="02070309020205020404" pitchFamily="49" charset="0"/>
              <a:buChar char="o"/>
            </a:pPr>
            <a:r>
              <a:rPr lang="pt-BR" dirty="0"/>
              <a:t>Etapa chamada de direta (</a:t>
            </a:r>
            <a:r>
              <a:rPr lang="pt-BR" i="1" dirty="0" err="1"/>
              <a:t>forward</a:t>
            </a:r>
            <a:r>
              <a:rPr lang="pt-BR" dirty="0"/>
              <a:t>).</a:t>
            </a:r>
          </a:p>
          <a:p>
            <a:pPr lvl="1">
              <a:buFont typeface="Wingdings" panose="05000000000000000000" pitchFamily="2" charset="2"/>
              <a:buChar char="§"/>
            </a:pPr>
            <a:r>
              <a:rPr lang="pt-BR" dirty="0"/>
              <a:t>Calcula o erro entre a saída da rede e os rótulos.</a:t>
            </a:r>
          </a:p>
          <a:p>
            <a:pPr lvl="1">
              <a:buFont typeface="Wingdings" panose="05000000000000000000" pitchFamily="2" charset="2"/>
              <a:buChar char="§"/>
            </a:pPr>
            <a:r>
              <a:rPr lang="pt-BR" b="1" dirty="0">
                <a:solidFill>
                  <a:srgbClr val="00B050"/>
                </a:solidFill>
              </a:rPr>
              <a:t>Propaga o erro para trás</a:t>
            </a:r>
            <a:r>
              <a:rPr lang="pt-BR" dirty="0"/>
              <a:t> através das camadas da rede para atualizar os pesos usando o gradiente descendente.</a:t>
            </a:r>
          </a:p>
          <a:p>
            <a:pPr lvl="2">
              <a:buFont typeface="Courier New" panose="02070309020205020404" pitchFamily="49" charset="0"/>
              <a:buChar char="o"/>
            </a:pPr>
            <a:r>
              <a:rPr lang="pt-BR" dirty="0"/>
              <a:t>Etapa chamada de retropropagação do erro (</a:t>
            </a:r>
            <a:r>
              <a:rPr lang="pt-BR" i="1" dirty="0"/>
              <a:t>error</a:t>
            </a:r>
            <a:r>
              <a:rPr lang="pt-BR" dirty="0"/>
              <a:t> </a:t>
            </a:r>
            <a:r>
              <a:rPr lang="en-US" i="1" dirty="0"/>
              <a:t>backpropagation</a:t>
            </a:r>
            <a:r>
              <a:rPr lang="en-US" dirty="0"/>
              <a:t>).</a:t>
            </a:r>
          </a:p>
          <a:p>
            <a:pPr lvl="2">
              <a:buFont typeface="Courier New" panose="02070309020205020404" pitchFamily="49" charset="0"/>
              <a:buChar char="o"/>
            </a:pPr>
            <a:r>
              <a:rPr lang="pt-BR" dirty="0"/>
              <a:t>As </a:t>
            </a:r>
            <a:r>
              <a:rPr lang="pt-BR" b="1" dirty="0">
                <a:solidFill>
                  <a:schemeClr val="accent2"/>
                </a:solidFill>
              </a:rPr>
              <a:t>derivadas parciais do erro em relação aos pesos (gradientes) </a:t>
            </a:r>
            <a:r>
              <a:rPr lang="pt-BR" dirty="0"/>
              <a:t>são calculadas usando-se a </a:t>
            </a:r>
            <a:r>
              <a:rPr lang="pt-BR" b="1" dirty="0">
                <a:solidFill>
                  <a:srgbClr val="7030A0"/>
                </a:solidFill>
              </a:rPr>
              <a:t>regra da cadeia</a:t>
            </a:r>
            <a:r>
              <a:rPr lang="pt-BR" dirty="0"/>
              <a:t>.</a:t>
            </a:r>
          </a:p>
        </p:txBody>
      </p:sp>
      <p:grpSp>
        <p:nvGrpSpPr>
          <p:cNvPr id="5" name="Group 3">
            <a:extLst>
              <a:ext uri="{FF2B5EF4-FFF2-40B4-BE49-F238E27FC236}">
                <a16:creationId xmlns:a16="http://schemas.microsoft.com/office/drawing/2014/main" id="{FF634148-131E-AD74-69EE-DB385D6912DF}"/>
              </a:ext>
            </a:extLst>
          </p:cNvPr>
          <p:cNvGrpSpPr/>
          <p:nvPr/>
        </p:nvGrpSpPr>
        <p:grpSpPr>
          <a:xfrm>
            <a:off x="653454" y="2071496"/>
            <a:ext cx="4240583" cy="3792091"/>
            <a:chOff x="294226" y="2506925"/>
            <a:chExt cx="4240583" cy="3792091"/>
          </a:xfrm>
        </p:grpSpPr>
        <p:sp>
          <p:nvSpPr>
            <p:cNvPr id="6" name="Elipse 77">
              <a:extLst>
                <a:ext uri="{FF2B5EF4-FFF2-40B4-BE49-F238E27FC236}">
                  <a16:creationId xmlns:a16="http://schemas.microsoft.com/office/drawing/2014/main" id="{6E6719AD-4F7E-AD74-2622-29CF0F31BB94}"/>
                </a:ext>
              </a:extLst>
            </p:cNvPr>
            <p:cNvSpPr/>
            <p:nvPr/>
          </p:nvSpPr>
          <p:spPr>
            <a:xfrm>
              <a:off x="2492828" y="3402579"/>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Elipse 78">
              <a:extLst>
                <a:ext uri="{FF2B5EF4-FFF2-40B4-BE49-F238E27FC236}">
                  <a16:creationId xmlns:a16="http://schemas.microsoft.com/office/drawing/2014/main" id="{DC987079-F169-557E-BA2E-FB0171F3C9F7}"/>
                </a:ext>
              </a:extLst>
            </p:cNvPr>
            <p:cNvSpPr/>
            <p:nvPr/>
          </p:nvSpPr>
          <p:spPr>
            <a:xfrm>
              <a:off x="2492827" y="4121036"/>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Elipse 79">
              <a:extLst>
                <a:ext uri="{FF2B5EF4-FFF2-40B4-BE49-F238E27FC236}">
                  <a16:creationId xmlns:a16="http://schemas.microsoft.com/office/drawing/2014/main" id="{DE7882DA-4AC7-40FA-C740-6B91C10E11CB}"/>
                </a:ext>
              </a:extLst>
            </p:cNvPr>
            <p:cNvSpPr/>
            <p:nvPr/>
          </p:nvSpPr>
          <p:spPr>
            <a:xfrm>
              <a:off x="2492827" y="4839493"/>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Elipse 81">
              <a:extLst>
                <a:ext uri="{FF2B5EF4-FFF2-40B4-BE49-F238E27FC236}">
                  <a16:creationId xmlns:a16="http://schemas.microsoft.com/office/drawing/2014/main" id="{9DC5C365-CA9F-03EB-6750-0BC3DF8F2F76}"/>
                </a:ext>
              </a:extLst>
            </p:cNvPr>
            <p:cNvSpPr/>
            <p:nvPr/>
          </p:nvSpPr>
          <p:spPr>
            <a:xfrm>
              <a:off x="3450770" y="3864817"/>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Elipse 82">
              <a:extLst>
                <a:ext uri="{FF2B5EF4-FFF2-40B4-BE49-F238E27FC236}">
                  <a16:creationId xmlns:a16="http://schemas.microsoft.com/office/drawing/2014/main" id="{F1FC713F-6518-DC92-F72A-3B666B4069F0}"/>
                </a:ext>
              </a:extLst>
            </p:cNvPr>
            <p:cNvSpPr/>
            <p:nvPr/>
          </p:nvSpPr>
          <p:spPr>
            <a:xfrm>
              <a:off x="3450769" y="4583274"/>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83">
              <a:extLst>
                <a:ext uri="{FF2B5EF4-FFF2-40B4-BE49-F238E27FC236}">
                  <a16:creationId xmlns:a16="http://schemas.microsoft.com/office/drawing/2014/main" id="{D77DACB0-05A1-2715-750D-9A5BCDA00C7C}"/>
                </a:ext>
              </a:extLst>
            </p:cNvPr>
            <p:cNvSpPr/>
            <p:nvPr/>
          </p:nvSpPr>
          <p:spPr>
            <a:xfrm>
              <a:off x="1534884" y="29299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84">
              <a:extLst>
                <a:ext uri="{FF2B5EF4-FFF2-40B4-BE49-F238E27FC236}">
                  <a16:creationId xmlns:a16="http://schemas.microsoft.com/office/drawing/2014/main" id="{18E0BD8E-80B0-3893-9384-9BDAF19421B6}"/>
                </a:ext>
              </a:extLst>
            </p:cNvPr>
            <p:cNvSpPr/>
            <p:nvPr/>
          </p:nvSpPr>
          <p:spPr>
            <a:xfrm>
              <a:off x="1534884" y="36856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Elipse 85">
              <a:extLst>
                <a:ext uri="{FF2B5EF4-FFF2-40B4-BE49-F238E27FC236}">
                  <a16:creationId xmlns:a16="http://schemas.microsoft.com/office/drawing/2014/main" id="{8CF35641-DB22-E3F4-EA3E-1E2DE63D1461}"/>
                </a:ext>
              </a:extLst>
            </p:cNvPr>
            <p:cNvSpPr/>
            <p:nvPr/>
          </p:nvSpPr>
          <p:spPr>
            <a:xfrm>
              <a:off x="1534884" y="444125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4" name="Conector de Seta Reta 86">
              <a:extLst>
                <a:ext uri="{FF2B5EF4-FFF2-40B4-BE49-F238E27FC236}">
                  <a16:creationId xmlns:a16="http://schemas.microsoft.com/office/drawing/2014/main" id="{57DE86BA-97B6-779F-AEB1-8A6E30C1C7EF}"/>
                </a:ext>
              </a:extLst>
            </p:cNvPr>
            <p:cNvCxnSpPr>
              <a:cxnSpLocks/>
              <a:stCxn id="11" idx="6"/>
              <a:endCxn id="6" idx="2"/>
            </p:cNvCxnSpPr>
            <p:nvPr/>
          </p:nvCxnSpPr>
          <p:spPr>
            <a:xfrm>
              <a:off x="2100941" y="3212987"/>
              <a:ext cx="391887" cy="472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87">
              <a:extLst>
                <a:ext uri="{FF2B5EF4-FFF2-40B4-BE49-F238E27FC236}">
                  <a16:creationId xmlns:a16="http://schemas.microsoft.com/office/drawing/2014/main" id="{1ACC1833-C817-C068-94CE-D5E1AB8904A5}"/>
                </a:ext>
              </a:extLst>
            </p:cNvPr>
            <p:cNvCxnSpPr>
              <a:stCxn id="11" idx="6"/>
              <a:endCxn id="7" idx="2"/>
            </p:cNvCxnSpPr>
            <p:nvPr/>
          </p:nvCxnSpPr>
          <p:spPr>
            <a:xfrm>
              <a:off x="2100941" y="3212987"/>
              <a:ext cx="391886" cy="1191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88">
              <a:extLst>
                <a:ext uri="{FF2B5EF4-FFF2-40B4-BE49-F238E27FC236}">
                  <a16:creationId xmlns:a16="http://schemas.microsoft.com/office/drawing/2014/main" id="{44FF8987-5E0D-22ED-420E-153A88241AFD}"/>
                </a:ext>
              </a:extLst>
            </p:cNvPr>
            <p:cNvCxnSpPr>
              <a:stCxn id="11" idx="6"/>
              <a:endCxn id="8" idx="2"/>
            </p:cNvCxnSpPr>
            <p:nvPr/>
          </p:nvCxnSpPr>
          <p:spPr>
            <a:xfrm>
              <a:off x="2100941" y="3212987"/>
              <a:ext cx="391886" cy="1909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90">
              <a:extLst>
                <a:ext uri="{FF2B5EF4-FFF2-40B4-BE49-F238E27FC236}">
                  <a16:creationId xmlns:a16="http://schemas.microsoft.com/office/drawing/2014/main" id="{DB945994-6367-B873-0CEE-1CFB8712F553}"/>
                </a:ext>
              </a:extLst>
            </p:cNvPr>
            <p:cNvCxnSpPr>
              <a:cxnSpLocks/>
              <a:stCxn id="12" idx="6"/>
              <a:endCxn id="6" idx="2"/>
            </p:cNvCxnSpPr>
            <p:nvPr/>
          </p:nvCxnSpPr>
          <p:spPr>
            <a:xfrm flipV="1">
              <a:off x="2100941" y="3685608"/>
              <a:ext cx="391887" cy="283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91">
              <a:extLst>
                <a:ext uri="{FF2B5EF4-FFF2-40B4-BE49-F238E27FC236}">
                  <a16:creationId xmlns:a16="http://schemas.microsoft.com/office/drawing/2014/main" id="{032A5094-7761-6D54-7194-BFE2BDF0F173}"/>
                </a:ext>
              </a:extLst>
            </p:cNvPr>
            <p:cNvCxnSpPr>
              <a:stCxn id="13" idx="6"/>
              <a:endCxn id="7" idx="2"/>
            </p:cNvCxnSpPr>
            <p:nvPr/>
          </p:nvCxnSpPr>
          <p:spPr>
            <a:xfrm flipV="1">
              <a:off x="2100941" y="4404065"/>
              <a:ext cx="391886" cy="320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92">
              <a:extLst>
                <a:ext uri="{FF2B5EF4-FFF2-40B4-BE49-F238E27FC236}">
                  <a16:creationId xmlns:a16="http://schemas.microsoft.com/office/drawing/2014/main" id="{DCD661F3-7659-C795-3803-BB8BA38C4A8A}"/>
                </a:ext>
              </a:extLst>
            </p:cNvPr>
            <p:cNvCxnSpPr>
              <a:stCxn id="12" idx="6"/>
              <a:endCxn id="7" idx="2"/>
            </p:cNvCxnSpPr>
            <p:nvPr/>
          </p:nvCxnSpPr>
          <p:spPr>
            <a:xfrm>
              <a:off x="2100941" y="3968637"/>
              <a:ext cx="391886" cy="435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93">
              <a:extLst>
                <a:ext uri="{FF2B5EF4-FFF2-40B4-BE49-F238E27FC236}">
                  <a16:creationId xmlns:a16="http://schemas.microsoft.com/office/drawing/2014/main" id="{282466CE-D01C-30B3-E3E4-F42E03037B4D}"/>
                </a:ext>
              </a:extLst>
            </p:cNvPr>
            <p:cNvCxnSpPr>
              <a:stCxn id="12" idx="6"/>
              <a:endCxn id="8" idx="2"/>
            </p:cNvCxnSpPr>
            <p:nvPr/>
          </p:nvCxnSpPr>
          <p:spPr>
            <a:xfrm>
              <a:off x="2100941" y="3968637"/>
              <a:ext cx="391886" cy="1153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96">
              <a:extLst>
                <a:ext uri="{FF2B5EF4-FFF2-40B4-BE49-F238E27FC236}">
                  <a16:creationId xmlns:a16="http://schemas.microsoft.com/office/drawing/2014/main" id="{2F3FADE4-13F4-8F19-2F87-87B575296F14}"/>
                </a:ext>
              </a:extLst>
            </p:cNvPr>
            <p:cNvCxnSpPr>
              <a:stCxn id="13" idx="6"/>
              <a:endCxn id="8" idx="2"/>
            </p:cNvCxnSpPr>
            <p:nvPr/>
          </p:nvCxnSpPr>
          <p:spPr>
            <a:xfrm>
              <a:off x="2100941" y="4724287"/>
              <a:ext cx="391886" cy="398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98">
              <a:extLst>
                <a:ext uri="{FF2B5EF4-FFF2-40B4-BE49-F238E27FC236}">
                  <a16:creationId xmlns:a16="http://schemas.microsoft.com/office/drawing/2014/main" id="{518CF0EB-5D20-01A8-1F6B-60E3B525ED06}"/>
                </a:ext>
              </a:extLst>
            </p:cNvPr>
            <p:cNvCxnSpPr>
              <a:stCxn id="6" idx="6"/>
              <a:endCxn id="9" idx="2"/>
            </p:cNvCxnSpPr>
            <p:nvPr/>
          </p:nvCxnSpPr>
          <p:spPr>
            <a:xfrm>
              <a:off x="3058885" y="3685608"/>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99">
              <a:extLst>
                <a:ext uri="{FF2B5EF4-FFF2-40B4-BE49-F238E27FC236}">
                  <a16:creationId xmlns:a16="http://schemas.microsoft.com/office/drawing/2014/main" id="{7ABCF542-C05A-E0A8-9684-C5579583EBC5}"/>
                </a:ext>
              </a:extLst>
            </p:cNvPr>
            <p:cNvCxnSpPr>
              <a:stCxn id="7" idx="6"/>
              <a:endCxn id="10" idx="2"/>
            </p:cNvCxnSpPr>
            <p:nvPr/>
          </p:nvCxnSpPr>
          <p:spPr>
            <a:xfrm>
              <a:off x="3058884" y="4404065"/>
              <a:ext cx="391885" cy="46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100">
              <a:extLst>
                <a:ext uri="{FF2B5EF4-FFF2-40B4-BE49-F238E27FC236}">
                  <a16:creationId xmlns:a16="http://schemas.microsoft.com/office/drawing/2014/main" id="{4D440B07-F9A9-B326-0B96-616C95C0929C}"/>
                </a:ext>
              </a:extLst>
            </p:cNvPr>
            <p:cNvCxnSpPr>
              <a:stCxn id="8" idx="6"/>
              <a:endCxn id="10" idx="2"/>
            </p:cNvCxnSpPr>
            <p:nvPr/>
          </p:nvCxnSpPr>
          <p:spPr>
            <a:xfrm flipV="1">
              <a:off x="3058884" y="4866303"/>
              <a:ext cx="391885"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102">
              <a:extLst>
                <a:ext uri="{FF2B5EF4-FFF2-40B4-BE49-F238E27FC236}">
                  <a16:creationId xmlns:a16="http://schemas.microsoft.com/office/drawing/2014/main" id="{88F957FF-6F9C-B293-B133-64428E481D11}"/>
                </a:ext>
              </a:extLst>
            </p:cNvPr>
            <p:cNvCxnSpPr>
              <a:cxnSpLocks/>
              <a:stCxn id="6" idx="6"/>
              <a:endCxn id="10" idx="2"/>
            </p:cNvCxnSpPr>
            <p:nvPr/>
          </p:nvCxnSpPr>
          <p:spPr>
            <a:xfrm>
              <a:off x="3058885" y="3685608"/>
              <a:ext cx="391884" cy="1180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103">
              <a:extLst>
                <a:ext uri="{FF2B5EF4-FFF2-40B4-BE49-F238E27FC236}">
                  <a16:creationId xmlns:a16="http://schemas.microsoft.com/office/drawing/2014/main" id="{768FB5CE-A01B-49BD-E306-6F2D1E2E6B4E}"/>
                </a:ext>
              </a:extLst>
            </p:cNvPr>
            <p:cNvCxnSpPr>
              <a:stCxn id="7" idx="6"/>
              <a:endCxn id="9" idx="2"/>
            </p:cNvCxnSpPr>
            <p:nvPr/>
          </p:nvCxnSpPr>
          <p:spPr>
            <a:xfrm flipV="1">
              <a:off x="3058884" y="4147846"/>
              <a:ext cx="391886" cy="25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ector de Seta Reta 104">
              <a:extLst>
                <a:ext uri="{FF2B5EF4-FFF2-40B4-BE49-F238E27FC236}">
                  <a16:creationId xmlns:a16="http://schemas.microsoft.com/office/drawing/2014/main" id="{79A72F69-24D6-33C1-A71A-1007CC1D708D}"/>
                </a:ext>
              </a:extLst>
            </p:cNvPr>
            <p:cNvCxnSpPr>
              <a:stCxn id="8" idx="6"/>
              <a:endCxn id="9" idx="2"/>
            </p:cNvCxnSpPr>
            <p:nvPr/>
          </p:nvCxnSpPr>
          <p:spPr>
            <a:xfrm flipV="1">
              <a:off x="3058884" y="4147846"/>
              <a:ext cx="391886" cy="974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CaixaDeTexto 106">
              <a:extLst>
                <a:ext uri="{FF2B5EF4-FFF2-40B4-BE49-F238E27FC236}">
                  <a16:creationId xmlns:a16="http://schemas.microsoft.com/office/drawing/2014/main" id="{5D1B08F4-8791-67A7-6773-BF44C2186478}"/>
                </a:ext>
              </a:extLst>
            </p:cNvPr>
            <p:cNvSpPr txBox="1"/>
            <p:nvPr/>
          </p:nvSpPr>
          <p:spPr>
            <a:xfrm>
              <a:off x="3173179" y="3100768"/>
              <a:ext cx="1230086" cy="307777"/>
            </a:xfrm>
            <a:prstGeom prst="rect">
              <a:avLst/>
            </a:prstGeom>
            <a:noFill/>
          </p:spPr>
          <p:txBody>
            <a:bodyPr wrap="square" rtlCol="0">
              <a:spAutoFit/>
            </a:bodyPr>
            <a:lstStyle/>
            <a:p>
              <a:r>
                <a:rPr lang="pt-BR" sz="1400" dirty="0"/>
                <a:t>Neurônio</a:t>
              </a:r>
            </a:p>
          </p:txBody>
        </p:sp>
        <p:sp>
          <p:nvSpPr>
            <p:cNvPr id="29" name="Forma Livre: Forma 107">
              <a:extLst>
                <a:ext uri="{FF2B5EF4-FFF2-40B4-BE49-F238E27FC236}">
                  <a16:creationId xmlns:a16="http://schemas.microsoft.com/office/drawing/2014/main" id="{4E621269-7C5B-B747-9F04-AD9B9D5253EA}"/>
                </a:ext>
              </a:extLst>
            </p:cNvPr>
            <p:cNvSpPr/>
            <p:nvPr/>
          </p:nvSpPr>
          <p:spPr>
            <a:xfrm>
              <a:off x="2786734" y="3216700"/>
              <a:ext cx="413657" cy="166042"/>
            </a:xfrm>
            <a:custGeom>
              <a:avLst/>
              <a:gdLst>
                <a:gd name="connsiteX0" fmla="*/ 0 w 413657"/>
                <a:gd name="connsiteY0" fmla="*/ 166042 h 166042"/>
                <a:gd name="connsiteX1" fmla="*/ 76200 w 413657"/>
                <a:gd name="connsiteY1" fmla="*/ 2756 h 166042"/>
                <a:gd name="connsiteX2" fmla="*/ 413657 w 413657"/>
                <a:gd name="connsiteY2" fmla="*/ 78956 h 166042"/>
              </a:gdLst>
              <a:ahLst/>
              <a:cxnLst>
                <a:cxn ang="0">
                  <a:pos x="connsiteX0" y="connsiteY0"/>
                </a:cxn>
                <a:cxn ang="0">
                  <a:pos x="connsiteX1" y="connsiteY1"/>
                </a:cxn>
                <a:cxn ang="0">
                  <a:pos x="connsiteX2" y="connsiteY2"/>
                </a:cxn>
              </a:cxnLst>
              <a:rect l="l" t="t" r="r" b="b"/>
              <a:pathLst>
                <a:path w="413657" h="166042">
                  <a:moveTo>
                    <a:pt x="0" y="166042"/>
                  </a:moveTo>
                  <a:cubicBezTo>
                    <a:pt x="3628" y="91656"/>
                    <a:pt x="7257" y="17270"/>
                    <a:pt x="76200" y="2756"/>
                  </a:cubicBezTo>
                  <a:cubicBezTo>
                    <a:pt x="145143" y="-11758"/>
                    <a:pt x="279400" y="33599"/>
                    <a:pt x="413657" y="7895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0" name="Conector reto 112">
              <a:extLst>
                <a:ext uri="{FF2B5EF4-FFF2-40B4-BE49-F238E27FC236}">
                  <a16:creationId xmlns:a16="http://schemas.microsoft.com/office/drawing/2014/main" id="{65C81D34-1A11-B74C-3BAB-02FA21C3C0D7}"/>
                </a:ext>
              </a:extLst>
            </p:cNvPr>
            <p:cNvCxnSpPr>
              <a:cxnSpLocks/>
              <a:stCxn id="66" idx="6"/>
              <a:endCxn id="12" idx="2"/>
            </p:cNvCxnSpPr>
            <p:nvPr/>
          </p:nvCxnSpPr>
          <p:spPr>
            <a:xfrm>
              <a:off x="944681" y="3219656"/>
              <a:ext cx="590203" cy="7489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Conector de Seta Reta 113">
              <a:extLst>
                <a:ext uri="{FF2B5EF4-FFF2-40B4-BE49-F238E27FC236}">
                  <a16:creationId xmlns:a16="http://schemas.microsoft.com/office/drawing/2014/main" id="{126E7253-ED76-049B-CFB7-8FC0A4B667D3}"/>
                </a:ext>
              </a:extLst>
            </p:cNvPr>
            <p:cNvCxnSpPr>
              <a:cxnSpLocks/>
              <a:stCxn id="9" idx="6"/>
              <a:endCxn id="33" idx="1"/>
            </p:cNvCxnSpPr>
            <p:nvPr/>
          </p:nvCxnSpPr>
          <p:spPr>
            <a:xfrm>
              <a:off x="4016827" y="4147846"/>
              <a:ext cx="251280" cy="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114">
              <a:extLst>
                <a:ext uri="{FF2B5EF4-FFF2-40B4-BE49-F238E27FC236}">
                  <a16:creationId xmlns:a16="http://schemas.microsoft.com/office/drawing/2014/main" id="{C7380110-3B2C-F302-E8D2-8DCB67211A7D}"/>
                </a:ext>
              </a:extLst>
            </p:cNvPr>
            <p:cNvCxnSpPr>
              <a:cxnSpLocks/>
              <a:stCxn id="10" idx="6"/>
            </p:cNvCxnSpPr>
            <p:nvPr/>
          </p:nvCxnSpPr>
          <p:spPr>
            <a:xfrm>
              <a:off x="4016826" y="4866303"/>
              <a:ext cx="272141" cy="5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CaixaDeTexto 5">
                  <a:extLst>
                    <a:ext uri="{FF2B5EF4-FFF2-40B4-BE49-F238E27FC236}">
                      <a16:creationId xmlns:a16="http://schemas.microsoft.com/office/drawing/2014/main" id="{745199CC-F48E-FEC3-8881-C99472B0922F}"/>
                    </a:ext>
                  </a:extLst>
                </p:cNvPr>
                <p:cNvSpPr txBox="1"/>
                <p:nvPr/>
              </p:nvSpPr>
              <p:spPr>
                <a:xfrm>
                  <a:off x="4268107" y="3963524"/>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1</m:t>
                            </m:r>
                          </m:sub>
                        </m:sSub>
                      </m:oMath>
                    </m:oMathPara>
                  </a14:m>
                  <a:endParaRPr lang="pt-BR" dirty="0"/>
                </a:p>
              </p:txBody>
            </p:sp>
          </mc:Choice>
          <mc:Fallback xmlns="">
            <p:sp>
              <p:nvSpPr>
                <p:cNvPr id="32" name="CaixaDeTexto 5">
                  <a:extLst>
                    <a:ext uri="{FF2B5EF4-FFF2-40B4-BE49-F238E27FC236}">
                      <a16:creationId xmlns:a16="http://schemas.microsoft.com/office/drawing/2014/main" id="{8BB4EDCD-2C4A-8C54-E9A8-B46EB1B4A54F}"/>
                    </a:ext>
                  </a:extLst>
                </p:cNvPr>
                <p:cNvSpPr txBox="1">
                  <a:spLocks noRot="1" noChangeAspect="1" noMove="1" noResize="1" noEditPoints="1" noAdjustHandles="1" noChangeArrowheads="1" noChangeShapeType="1" noTextEdit="1"/>
                </p:cNvSpPr>
                <p:nvPr/>
              </p:nvSpPr>
              <p:spPr>
                <a:xfrm>
                  <a:off x="4268107" y="3963524"/>
                  <a:ext cx="266702" cy="369332"/>
                </a:xfrm>
                <a:prstGeom prst="rect">
                  <a:avLst/>
                </a:prstGeom>
                <a:blipFill>
                  <a:blip r:embed="rId2"/>
                  <a:stretch>
                    <a:fillRect t="-6667" r="-34091"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CaixaDeTexto 6">
                  <a:extLst>
                    <a:ext uri="{FF2B5EF4-FFF2-40B4-BE49-F238E27FC236}">
                      <a16:creationId xmlns:a16="http://schemas.microsoft.com/office/drawing/2014/main" id="{28E63C63-C579-50F7-D45F-2A2B01A73CAB}"/>
                    </a:ext>
                  </a:extLst>
                </p:cNvPr>
                <p:cNvSpPr txBox="1"/>
                <p:nvPr/>
              </p:nvSpPr>
              <p:spPr>
                <a:xfrm>
                  <a:off x="4268107" y="4681637"/>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2</m:t>
                            </m:r>
                          </m:sub>
                        </m:sSub>
                      </m:oMath>
                    </m:oMathPara>
                  </a14:m>
                  <a:endParaRPr lang="pt-BR" dirty="0"/>
                </a:p>
              </p:txBody>
            </p:sp>
          </mc:Choice>
          <mc:Fallback xmlns="">
            <p:sp>
              <p:nvSpPr>
                <p:cNvPr id="33" name="CaixaDeTexto 6">
                  <a:extLst>
                    <a:ext uri="{FF2B5EF4-FFF2-40B4-BE49-F238E27FC236}">
                      <a16:creationId xmlns:a16="http://schemas.microsoft.com/office/drawing/2014/main" id="{E94CAAA8-84F9-FF01-A0C8-7E08AAC2B06B}"/>
                    </a:ext>
                  </a:extLst>
                </p:cNvPr>
                <p:cNvSpPr txBox="1">
                  <a:spLocks noRot="1" noChangeAspect="1" noMove="1" noResize="1" noEditPoints="1" noAdjustHandles="1" noChangeArrowheads="1" noChangeShapeType="1" noTextEdit="1"/>
                </p:cNvSpPr>
                <p:nvPr/>
              </p:nvSpPr>
              <p:spPr>
                <a:xfrm>
                  <a:off x="4268107" y="4681637"/>
                  <a:ext cx="266702" cy="369332"/>
                </a:xfrm>
                <a:prstGeom prst="rect">
                  <a:avLst/>
                </a:prstGeom>
                <a:blipFill>
                  <a:blip r:embed="rId3"/>
                  <a:stretch>
                    <a:fillRect t="-6667" r="-36364" b="-6667"/>
                  </a:stretch>
                </a:blipFill>
              </p:spPr>
              <p:txBody>
                <a:bodyPr/>
                <a:lstStyle/>
                <a:p>
                  <a:r>
                    <a:rPr lang="en-US">
                      <a:noFill/>
                    </a:rPr>
                    <a:t> </a:t>
                  </a:r>
                </a:p>
              </p:txBody>
            </p:sp>
          </mc:Fallback>
        </mc:AlternateContent>
        <p:grpSp>
          <p:nvGrpSpPr>
            <p:cNvPr id="35" name="Group 33">
              <a:extLst>
                <a:ext uri="{FF2B5EF4-FFF2-40B4-BE49-F238E27FC236}">
                  <a16:creationId xmlns:a16="http://schemas.microsoft.com/office/drawing/2014/main" id="{4B0662A5-5DED-3223-4132-AA6A658A827B}"/>
                </a:ext>
              </a:extLst>
            </p:cNvPr>
            <p:cNvGrpSpPr/>
            <p:nvPr/>
          </p:nvGrpSpPr>
          <p:grpSpPr>
            <a:xfrm>
              <a:off x="607920" y="3007376"/>
              <a:ext cx="336761" cy="369332"/>
              <a:chOff x="922561" y="2974265"/>
              <a:chExt cx="336761" cy="369332"/>
            </a:xfrm>
          </p:grpSpPr>
          <mc:AlternateContent xmlns:mc="http://schemas.openxmlformats.org/markup-compatibility/2006" xmlns:a14="http://schemas.microsoft.com/office/drawing/2010/main">
            <mc:Choice Requires="a14">
              <p:sp>
                <p:nvSpPr>
                  <p:cNvPr id="65" name="CaixaDeTexto 115">
                    <a:extLst>
                      <a:ext uri="{FF2B5EF4-FFF2-40B4-BE49-F238E27FC236}">
                        <a16:creationId xmlns:a16="http://schemas.microsoft.com/office/drawing/2014/main" id="{0E32B930-9D34-5A10-2A65-BD78E1E1605B}"/>
                      </a:ext>
                    </a:extLst>
                  </p:cNvPr>
                  <p:cNvSpPr txBox="1"/>
                  <p:nvPr/>
                </p:nvSpPr>
                <p:spPr>
                  <a:xfrm>
                    <a:off x="922561" y="2974265"/>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64" name="CaixaDeTexto 115">
                    <a:extLst>
                      <a:ext uri="{FF2B5EF4-FFF2-40B4-BE49-F238E27FC236}">
                        <a16:creationId xmlns:a16="http://schemas.microsoft.com/office/drawing/2014/main" id="{243F9310-22ED-977F-2643-BBF4A43DD0F1}"/>
                      </a:ext>
                    </a:extLst>
                  </p:cNvPr>
                  <p:cNvSpPr txBox="1">
                    <a:spLocks noRot="1" noChangeAspect="1" noMove="1" noResize="1" noEditPoints="1" noAdjustHandles="1" noChangeArrowheads="1" noChangeShapeType="1" noTextEdit="1"/>
                  </p:cNvSpPr>
                  <p:nvPr/>
                </p:nvSpPr>
                <p:spPr>
                  <a:xfrm>
                    <a:off x="922561" y="2974265"/>
                    <a:ext cx="266702" cy="369332"/>
                  </a:xfrm>
                  <a:prstGeom prst="rect">
                    <a:avLst/>
                  </a:prstGeom>
                  <a:blipFill>
                    <a:blip r:embed="rId4"/>
                    <a:stretch>
                      <a:fillRect r="-37209"/>
                    </a:stretch>
                  </a:blipFill>
                </p:spPr>
                <p:txBody>
                  <a:bodyPr/>
                  <a:lstStyle/>
                  <a:p>
                    <a:r>
                      <a:rPr lang="en-US">
                        <a:noFill/>
                      </a:rPr>
                      <a:t> </a:t>
                    </a:r>
                  </a:p>
                </p:txBody>
              </p:sp>
            </mc:Fallback>
          </mc:AlternateContent>
          <p:sp>
            <p:nvSpPr>
              <p:cNvPr id="66" name="Elipse 3">
                <a:extLst>
                  <a:ext uri="{FF2B5EF4-FFF2-40B4-BE49-F238E27FC236}">
                    <a16:creationId xmlns:a16="http://schemas.microsoft.com/office/drawing/2014/main" id="{01337A5A-72EE-1059-4FBA-8C9A6A955F63}"/>
                  </a:ext>
                </a:extLst>
              </p:cNvPr>
              <p:cNvSpPr/>
              <p:nvPr/>
            </p:nvSpPr>
            <p:spPr>
              <a:xfrm>
                <a:off x="971322" y="3042545"/>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6" name="Elipse 83">
              <a:extLst>
                <a:ext uri="{FF2B5EF4-FFF2-40B4-BE49-F238E27FC236}">
                  <a16:creationId xmlns:a16="http://schemas.microsoft.com/office/drawing/2014/main" id="{27182ACC-5B07-274C-5B31-4A7D0FE0A146}"/>
                </a:ext>
              </a:extLst>
            </p:cNvPr>
            <p:cNvSpPr/>
            <p:nvPr/>
          </p:nvSpPr>
          <p:spPr>
            <a:xfrm>
              <a:off x="1529435" y="5196908"/>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7" name="Group 35">
              <a:extLst>
                <a:ext uri="{FF2B5EF4-FFF2-40B4-BE49-F238E27FC236}">
                  <a16:creationId xmlns:a16="http://schemas.microsoft.com/office/drawing/2014/main" id="{55FCBDFF-1016-7533-0AB2-8D98AF57DA85}"/>
                </a:ext>
              </a:extLst>
            </p:cNvPr>
            <p:cNvGrpSpPr/>
            <p:nvPr/>
          </p:nvGrpSpPr>
          <p:grpSpPr>
            <a:xfrm>
              <a:off x="574549" y="5263520"/>
              <a:ext cx="349823" cy="369332"/>
              <a:chOff x="920926" y="4430876"/>
              <a:chExt cx="349823" cy="369332"/>
            </a:xfrm>
          </p:grpSpPr>
          <mc:AlternateContent xmlns:mc="http://schemas.openxmlformats.org/markup-compatibility/2006" xmlns:a14="http://schemas.microsoft.com/office/drawing/2010/main">
            <mc:Choice Requires="a14">
              <p:sp>
                <p:nvSpPr>
                  <p:cNvPr id="63" name="CaixaDeTexto 116">
                    <a:extLst>
                      <a:ext uri="{FF2B5EF4-FFF2-40B4-BE49-F238E27FC236}">
                        <a16:creationId xmlns:a16="http://schemas.microsoft.com/office/drawing/2014/main" id="{87925EF6-8551-5EE8-49E6-09C0D5FD5E81}"/>
                      </a:ext>
                    </a:extLst>
                  </p:cNvPr>
                  <p:cNvSpPr txBox="1"/>
                  <p:nvPr/>
                </p:nvSpPr>
                <p:spPr>
                  <a:xfrm>
                    <a:off x="920926" y="4430876"/>
                    <a:ext cx="266702"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62" name="CaixaDeTexto 116">
                    <a:extLst>
                      <a:ext uri="{FF2B5EF4-FFF2-40B4-BE49-F238E27FC236}">
                        <a16:creationId xmlns:a16="http://schemas.microsoft.com/office/drawing/2014/main" id="{19A33E77-BA6B-210C-C610-B4D9D744677B}"/>
                      </a:ext>
                    </a:extLst>
                  </p:cNvPr>
                  <p:cNvSpPr txBox="1">
                    <a:spLocks noRot="1" noChangeAspect="1" noMove="1" noResize="1" noEditPoints="1" noAdjustHandles="1" noChangeArrowheads="1" noChangeShapeType="1" noTextEdit="1"/>
                  </p:cNvSpPr>
                  <p:nvPr/>
                </p:nvSpPr>
                <p:spPr>
                  <a:xfrm>
                    <a:off x="920926" y="4430876"/>
                    <a:ext cx="266702" cy="369332"/>
                  </a:xfrm>
                  <a:prstGeom prst="rect">
                    <a:avLst/>
                  </a:prstGeom>
                  <a:blipFill>
                    <a:blip r:embed="rId5"/>
                    <a:stretch>
                      <a:fillRect r="-36364"/>
                    </a:stretch>
                  </a:blipFill>
                </p:spPr>
                <p:txBody>
                  <a:bodyPr/>
                  <a:lstStyle/>
                  <a:p>
                    <a:r>
                      <a:rPr lang="en-US">
                        <a:noFill/>
                      </a:rPr>
                      <a:t> </a:t>
                    </a:r>
                  </a:p>
                </p:txBody>
              </p:sp>
            </mc:Fallback>
          </mc:AlternateContent>
          <p:sp>
            <p:nvSpPr>
              <p:cNvPr id="64" name="Elipse 4">
                <a:extLst>
                  <a:ext uri="{FF2B5EF4-FFF2-40B4-BE49-F238E27FC236}">
                    <a16:creationId xmlns:a16="http://schemas.microsoft.com/office/drawing/2014/main" id="{E9AAE255-046D-93F7-7625-6B1BD8BD8790}"/>
                  </a:ext>
                </a:extLst>
              </p:cNvPr>
              <p:cNvSpPr/>
              <p:nvPr/>
            </p:nvSpPr>
            <p:spPr>
              <a:xfrm>
                <a:off x="982749" y="4504166"/>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cxnSp>
          <p:nvCxnSpPr>
            <p:cNvPr id="38" name="Conector reto 112">
              <a:extLst>
                <a:ext uri="{FF2B5EF4-FFF2-40B4-BE49-F238E27FC236}">
                  <a16:creationId xmlns:a16="http://schemas.microsoft.com/office/drawing/2014/main" id="{070D07BB-4F99-25A9-DF12-4B8401ED9D30}"/>
                </a:ext>
              </a:extLst>
            </p:cNvPr>
            <p:cNvCxnSpPr>
              <a:cxnSpLocks/>
              <a:stCxn id="66" idx="6"/>
              <a:endCxn id="11" idx="2"/>
            </p:cNvCxnSpPr>
            <p:nvPr/>
          </p:nvCxnSpPr>
          <p:spPr>
            <a:xfrm flipV="1">
              <a:off x="944681" y="3212987"/>
              <a:ext cx="590203" cy="6669"/>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Conector reto 112">
              <a:extLst>
                <a:ext uri="{FF2B5EF4-FFF2-40B4-BE49-F238E27FC236}">
                  <a16:creationId xmlns:a16="http://schemas.microsoft.com/office/drawing/2014/main" id="{8FB0FAA4-B741-F933-FD71-653102F88FF4}"/>
                </a:ext>
              </a:extLst>
            </p:cNvPr>
            <p:cNvCxnSpPr>
              <a:cxnSpLocks/>
              <a:stCxn id="66" idx="6"/>
              <a:endCxn id="13" idx="2"/>
            </p:cNvCxnSpPr>
            <p:nvPr/>
          </p:nvCxnSpPr>
          <p:spPr>
            <a:xfrm>
              <a:off x="944681" y="3219656"/>
              <a:ext cx="590203" cy="150463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Conector reto 112">
              <a:extLst>
                <a:ext uri="{FF2B5EF4-FFF2-40B4-BE49-F238E27FC236}">
                  <a16:creationId xmlns:a16="http://schemas.microsoft.com/office/drawing/2014/main" id="{E5F9B485-FB2A-FFA4-67FA-15FB31CFC57E}"/>
                </a:ext>
              </a:extLst>
            </p:cNvPr>
            <p:cNvCxnSpPr>
              <a:cxnSpLocks/>
              <a:stCxn id="66" idx="6"/>
              <a:endCxn id="36" idx="2"/>
            </p:cNvCxnSpPr>
            <p:nvPr/>
          </p:nvCxnSpPr>
          <p:spPr>
            <a:xfrm>
              <a:off x="944681" y="3219656"/>
              <a:ext cx="584754" cy="2260281"/>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Conector reto 112">
              <a:extLst>
                <a:ext uri="{FF2B5EF4-FFF2-40B4-BE49-F238E27FC236}">
                  <a16:creationId xmlns:a16="http://schemas.microsoft.com/office/drawing/2014/main" id="{0F2E5358-9129-DFCA-8A00-20CBB18CA9AF}"/>
                </a:ext>
              </a:extLst>
            </p:cNvPr>
            <p:cNvCxnSpPr>
              <a:cxnSpLocks/>
              <a:stCxn id="64" idx="6"/>
              <a:endCxn id="36" idx="2"/>
            </p:cNvCxnSpPr>
            <p:nvPr/>
          </p:nvCxnSpPr>
          <p:spPr>
            <a:xfrm flipV="1">
              <a:off x="924372" y="5479937"/>
              <a:ext cx="605063" cy="8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Conector reto 112">
              <a:extLst>
                <a:ext uri="{FF2B5EF4-FFF2-40B4-BE49-F238E27FC236}">
                  <a16:creationId xmlns:a16="http://schemas.microsoft.com/office/drawing/2014/main" id="{179C17A1-FE0E-C491-2F8E-717B2ED26C65}"/>
                </a:ext>
              </a:extLst>
            </p:cNvPr>
            <p:cNvCxnSpPr>
              <a:cxnSpLocks/>
              <a:stCxn id="64" idx="6"/>
              <a:endCxn id="13" idx="2"/>
            </p:cNvCxnSpPr>
            <p:nvPr/>
          </p:nvCxnSpPr>
          <p:spPr>
            <a:xfrm flipV="1">
              <a:off x="924372" y="4724287"/>
              <a:ext cx="610512" cy="7565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Conector reto 112">
              <a:extLst>
                <a:ext uri="{FF2B5EF4-FFF2-40B4-BE49-F238E27FC236}">
                  <a16:creationId xmlns:a16="http://schemas.microsoft.com/office/drawing/2014/main" id="{1322C110-3B56-1201-B9AC-19D5F911842E}"/>
                </a:ext>
              </a:extLst>
            </p:cNvPr>
            <p:cNvCxnSpPr>
              <a:cxnSpLocks/>
              <a:stCxn id="64" idx="6"/>
            </p:cNvCxnSpPr>
            <p:nvPr/>
          </p:nvCxnSpPr>
          <p:spPr>
            <a:xfrm flipV="1">
              <a:off x="924372" y="3968637"/>
              <a:ext cx="610512" cy="151217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Conector reto 112">
              <a:extLst>
                <a:ext uri="{FF2B5EF4-FFF2-40B4-BE49-F238E27FC236}">
                  <a16:creationId xmlns:a16="http://schemas.microsoft.com/office/drawing/2014/main" id="{BF6C127B-329F-235E-F6EB-CF8D4DFF73AB}"/>
                </a:ext>
              </a:extLst>
            </p:cNvPr>
            <p:cNvCxnSpPr>
              <a:cxnSpLocks/>
              <a:stCxn id="64" idx="6"/>
              <a:endCxn id="11" idx="2"/>
            </p:cNvCxnSpPr>
            <p:nvPr/>
          </p:nvCxnSpPr>
          <p:spPr>
            <a:xfrm flipV="1">
              <a:off x="924372" y="3212987"/>
              <a:ext cx="610512" cy="2267823"/>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Conector de Seta Reta 91">
              <a:extLst>
                <a:ext uri="{FF2B5EF4-FFF2-40B4-BE49-F238E27FC236}">
                  <a16:creationId xmlns:a16="http://schemas.microsoft.com/office/drawing/2014/main" id="{D779149C-29F4-82DB-357B-8D075288D4D1}"/>
                </a:ext>
              </a:extLst>
            </p:cNvPr>
            <p:cNvCxnSpPr>
              <a:cxnSpLocks/>
              <a:stCxn id="13" idx="6"/>
              <a:endCxn id="6" idx="2"/>
            </p:cNvCxnSpPr>
            <p:nvPr/>
          </p:nvCxnSpPr>
          <p:spPr>
            <a:xfrm flipV="1">
              <a:off x="2100941" y="3685608"/>
              <a:ext cx="391887" cy="1038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ector de Seta Reta 91">
              <a:extLst>
                <a:ext uri="{FF2B5EF4-FFF2-40B4-BE49-F238E27FC236}">
                  <a16:creationId xmlns:a16="http://schemas.microsoft.com/office/drawing/2014/main" id="{9ED2BCC4-D867-EA4E-7977-E42A630FD702}"/>
                </a:ext>
              </a:extLst>
            </p:cNvPr>
            <p:cNvCxnSpPr>
              <a:cxnSpLocks/>
              <a:stCxn id="36" idx="6"/>
              <a:endCxn id="6" idx="2"/>
            </p:cNvCxnSpPr>
            <p:nvPr/>
          </p:nvCxnSpPr>
          <p:spPr>
            <a:xfrm flipV="1">
              <a:off x="2095492" y="3685608"/>
              <a:ext cx="397336" cy="1794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ector de Seta Reta 91">
              <a:extLst>
                <a:ext uri="{FF2B5EF4-FFF2-40B4-BE49-F238E27FC236}">
                  <a16:creationId xmlns:a16="http://schemas.microsoft.com/office/drawing/2014/main" id="{4DB015B8-C6E1-3D93-9413-D6F7492D65EC}"/>
                </a:ext>
              </a:extLst>
            </p:cNvPr>
            <p:cNvCxnSpPr>
              <a:cxnSpLocks/>
              <a:stCxn id="36" idx="6"/>
              <a:endCxn id="7" idx="2"/>
            </p:cNvCxnSpPr>
            <p:nvPr/>
          </p:nvCxnSpPr>
          <p:spPr>
            <a:xfrm flipV="1">
              <a:off x="2095492" y="4404065"/>
              <a:ext cx="397335" cy="1075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ector de Seta Reta 91">
              <a:extLst>
                <a:ext uri="{FF2B5EF4-FFF2-40B4-BE49-F238E27FC236}">
                  <a16:creationId xmlns:a16="http://schemas.microsoft.com/office/drawing/2014/main" id="{CC2BEDA7-B6EF-D098-2E40-734E8C1C0A29}"/>
                </a:ext>
              </a:extLst>
            </p:cNvPr>
            <p:cNvCxnSpPr>
              <a:cxnSpLocks/>
              <a:stCxn id="36" idx="6"/>
              <a:endCxn id="8" idx="2"/>
            </p:cNvCxnSpPr>
            <p:nvPr/>
          </p:nvCxnSpPr>
          <p:spPr>
            <a:xfrm flipV="1">
              <a:off x="2095492" y="5122522"/>
              <a:ext cx="397335" cy="357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7">
                  <a:extLst>
                    <a:ext uri="{FF2B5EF4-FFF2-40B4-BE49-F238E27FC236}">
                      <a16:creationId xmlns:a16="http://schemas.microsoft.com/office/drawing/2014/main" id="{94A05F8E-2D3C-093D-D6BA-2A20EEAA2C22}"/>
                    </a:ext>
                  </a:extLst>
                </p:cNvPr>
                <p:cNvSpPr txBox="1"/>
                <p:nvPr/>
              </p:nvSpPr>
              <p:spPr>
                <a:xfrm>
                  <a:off x="956041" y="2865008"/>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48" name="TextBox 47">
                  <a:extLst>
                    <a:ext uri="{FF2B5EF4-FFF2-40B4-BE49-F238E27FC236}">
                      <a16:creationId xmlns:a16="http://schemas.microsoft.com/office/drawing/2014/main" id="{2724182A-BC9E-A2F6-A1B4-BB8ECF80D91A}"/>
                    </a:ext>
                  </a:extLst>
                </p:cNvPr>
                <p:cNvSpPr txBox="1">
                  <a:spLocks noRot="1" noChangeAspect="1" noMove="1" noResize="1" noEditPoints="1" noAdjustHandles="1" noChangeArrowheads="1" noChangeShapeType="1" noTextEdit="1"/>
                </p:cNvSpPr>
                <p:nvPr/>
              </p:nvSpPr>
              <p:spPr>
                <a:xfrm>
                  <a:off x="956041" y="2865008"/>
                  <a:ext cx="560538" cy="36131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8">
                  <a:extLst>
                    <a:ext uri="{FF2B5EF4-FFF2-40B4-BE49-F238E27FC236}">
                      <a16:creationId xmlns:a16="http://schemas.microsoft.com/office/drawing/2014/main" id="{2EEF52BD-8C4C-4E25-5761-305AE2A9E5CF}"/>
                    </a:ext>
                  </a:extLst>
                </p:cNvPr>
                <p:cNvSpPr txBox="1"/>
                <p:nvPr/>
              </p:nvSpPr>
              <p:spPr>
                <a:xfrm rot="3068437">
                  <a:off x="1020572" y="321965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12</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49" name="TextBox 48">
                  <a:extLst>
                    <a:ext uri="{FF2B5EF4-FFF2-40B4-BE49-F238E27FC236}">
                      <a16:creationId xmlns:a16="http://schemas.microsoft.com/office/drawing/2014/main" id="{1044A7A0-B009-4EE4-6E6D-D1E1FDC070C8}"/>
                    </a:ext>
                  </a:extLst>
                </p:cNvPr>
                <p:cNvSpPr txBox="1">
                  <a:spLocks noRot="1" noChangeAspect="1" noMove="1" noResize="1" noEditPoints="1" noAdjustHandles="1" noChangeArrowheads="1" noChangeShapeType="1" noTextEdit="1"/>
                </p:cNvSpPr>
                <p:nvPr/>
              </p:nvSpPr>
              <p:spPr>
                <a:xfrm rot="3068437">
                  <a:off x="1020572" y="3219653"/>
                  <a:ext cx="560538" cy="36131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49">
                  <a:extLst>
                    <a:ext uri="{FF2B5EF4-FFF2-40B4-BE49-F238E27FC236}">
                      <a16:creationId xmlns:a16="http://schemas.microsoft.com/office/drawing/2014/main" id="{F2B3764F-292D-4C73-59F6-271F4B3B3FCF}"/>
                    </a:ext>
                  </a:extLst>
                </p:cNvPr>
                <p:cNvSpPr txBox="1"/>
                <p:nvPr/>
              </p:nvSpPr>
              <p:spPr>
                <a:xfrm>
                  <a:off x="933548" y="5486606"/>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24</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0" name="TextBox 49">
                  <a:extLst>
                    <a:ext uri="{FF2B5EF4-FFF2-40B4-BE49-F238E27FC236}">
                      <a16:creationId xmlns:a16="http://schemas.microsoft.com/office/drawing/2014/main" id="{D77670F4-8D16-A250-1A78-91768C9E1CB2}"/>
                    </a:ext>
                  </a:extLst>
                </p:cNvPr>
                <p:cNvSpPr txBox="1">
                  <a:spLocks noRot="1" noChangeAspect="1" noMove="1" noResize="1" noEditPoints="1" noAdjustHandles="1" noChangeArrowheads="1" noChangeShapeType="1" noTextEdit="1"/>
                </p:cNvSpPr>
                <p:nvPr/>
              </p:nvSpPr>
              <p:spPr>
                <a:xfrm>
                  <a:off x="933548" y="5486606"/>
                  <a:ext cx="560538" cy="36131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0">
                  <a:extLst>
                    <a:ext uri="{FF2B5EF4-FFF2-40B4-BE49-F238E27FC236}">
                      <a16:creationId xmlns:a16="http://schemas.microsoft.com/office/drawing/2014/main" id="{E432C528-7FA6-2BE5-3B69-D13BDBF93D37}"/>
                    </a:ext>
                  </a:extLst>
                </p:cNvPr>
                <p:cNvSpPr txBox="1"/>
                <p:nvPr/>
              </p:nvSpPr>
              <p:spPr>
                <a:xfrm rot="17131605">
                  <a:off x="594353" y="4756061"/>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21</m:t>
                            </m:r>
                          </m:sub>
                          <m:sup>
                            <m:r>
                              <a:rPr lang="pt-BR" sz="1400" b="0" i="1" smtClean="0">
                                <a:latin typeface="Cambria Math" panose="02040503050406030204" pitchFamily="18" charset="0"/>
                              </a:rPr>
                              <m:t>(1)</m:t>
                            </m:r>
                          </m:sup>
                        </m:sSubSup>
                      </m:oMath>
                    </m:oMathPara>
                  </a14:m>
                  <a:endParaRPr lang="en-US" sz="1400" dirty="0"/>
                </a:p>
              </p:txBody>
            </p:sp>
          </mc:Choice>
          <mc:Fallback xmlns="">
            <p:sp>
              <p:nvSpPr>
                <p:cNvPr id="51" name="TextBox 50">
                  <a:extLst>
                    <a:ext uri="{FF2B5EF4-FFF2-40B4-BE49-F238E27FC236}">
                      <a16:creationId xmlns:a16="http://schemas.microsoft.com/office/drawing/2014/main" id="{182E9E64-9A9C-42E8-A902-4940352E22B5}"/>
                    </a:ext>
                  </a:extLst>
                </p:cNvPr>
                <p:cNvSpPr txBox="1">
                  <a:spLocks noRot="1" noChangeAspect="1" noMove="1" noResize="1" noEditPoints="1" noAdjustHandles="1" noChangeArrowheads="1" noChangeShapeType="1" noTextEdit="1"/>
                </p:cNvSpPr>
                <p:nvPr/>
              </p:nvSpPr>
              <p:spPr>
                <a:xfrm rot="17131605">
                  <a:off x="594353" y="4756061"/>
                  <a:ext cx="560538" cy="36131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1">
                  <a:extLst>
                    <a:ext uri="{FF2B5EF4-FFF2-40B4-BE49-F238E27FC236}">
                      <a16:creationId xmlns:a16="http://schemas.microsoft.com/office/drawing/2014/main" id="{5CCF6C3B-FA35-C12A-A80E-859FA884B3DC}"/>
                    </a:ext>
                  </a:extLst>
                </p:cNvPr>
                <p:cNvSpPr txBox="1"/>
                <p:nvPr/>
              </p:nvSpPr>
              <p:spPr>
                <a:xfrm rot="2964551">
                  <a:off x="2132495" y="3132193"/>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2" name="TextBox 51">
                  <a:extLst>
                    <a:ext uri="{FF2B5EF4-FFF2-40B4-BE49-F238E27FC236}">
                      <a16:creationId xmlns:a16="http://schemas.microsoft.com/office/drawing/2014/main" id="{5ABD2E40-CB4C-C4AA-C6C7-DA1F416625B3}"/>
                    </a:ext>
                  </a:extLst>
                </p:cNvPr>
                <p:cNvSpPr txBox="1">
                  <a:spLocks noRot="1" noChangeAspect="1" noMove="1" noResize="1" noEditPoints="1" noAdjustHandles="1" noChangeArrowheads="1" noChangeShapeType="1" noTextEdit="1"/>
                </p:cNvSpPr>
                <p:nvPr/>
              </p:nvSpPr>
              <p:spPr>
                <a:xfrm rot="2964551">
                  <a:off x="2132495" y="3132193"/>
                  <a:ext cx="560538" cy="36131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2">
                  <a:extLst>
                    <a:ext uri="{FF2B5EF4-FFF2-40B4-BE49-F238E27FC236}">
                      <a16:creationId xmlns:a16="http://schemas.microsoft.com/office/drawing/2014/main" id="{B48A1C05-E9AB-5F17-EDA4-D254BA36C18E}"/>
                    </a:ext>
                  </a:extLst>
                </p:cNvPr>
                <p:cNvSpPr txBox="1"/>
                <p:nvPr/>
              </p:nvSpPr>
              <p:spPr>
                <a:xfrm rot="19021513">
                  <a:off x="2088094" y="5274650"/>
                  <a:ext cx="560538" cy="361317"/>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43</m:t>
                            </m:r>
                          </m:sub>
                          <m:sup>
                            <m:r>
                              <a:rPr lang="pt-BR" sz="1400" b="0" i="1" smtClean="0">
                                <a:latin typeface="Cambria Math" panose="02040503050406030204" pitchFamily="18" charset="0"/>
                              </a:rPr>
                              <m:t>(2)</m:t>
                            </m:r>
                          </m:sup>
                        </m:sSubSup>
                      </m:oMath>
                    </m:oMathPara>
                  </a14:m>
                  <a:endParaRPr lang="en-US" sz="1400" dirty="0"/>
                </a:p>
              </p:txBody>
            </p:sp>
          </mc:Choice>
          <mc:Fallback xmlns="">
            <p:sp>
              <p:nvSpPr>
                <p:cNvPr id="53" name="TextBox 52">
                  <a:extLst>
                    <a:ext uri="{FF2B5EF4-FFF2-40B4-BE49-F238E27FC236}">
                      <a16:creationId xmlns:a16="http://schemas.microsoft.com/office/drawing/2014/main" id="{60C46355-8CAB-59C9-2C26-87970CB944B2}"/>
                    </a:ext>
                  </a:extLst>
                </p:cNvPr>
                <p:cNvSpPr txBox="1">
                  <a:spLocks noRot="1" noChangeAspect="1" noMove="1" noResize="1" noEditPoints="1" noAdjustHandles="1" noChangeArrowheads="1" noChangeShapeType="1" noTextEdit="1"/>
                </p:cNvSpPr>
                <p:nvPr/>
              </p:nvSpPr>
              <p:spPr>
                <a:xfrm rot="19021513">
                  <a:off x="2088094" y="5274650"/>
                  <a:ext cx="560538" cy="36131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3">
                  <a:extLst>
                    <a:ext uri="{FF2B5EF4-FFF2-40B4-BE49-F238E27FC236}">
                      <a16:creationId xmlns:a16="http://schemas.microsoft.com/office/drawing/2014/main" id="{3FCE0594-A7FF-5C24-DBED-E95573D9C565}"/>
                    </a:ext>
                  </a:extLst>
                </p:cNvPr>
                <p:cNvSpPr txBox="1"/>
                <p:nvPr/>
              </p:nvSpPr>
              <p:spPr>
                <a:xfrm rot="2893059">
                  <a:off x="3107452" y="3604952"/>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11</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4" name="TextBox 53">
                  <a:extLst>
                    <a:ext uri="{FF2B5EF4-FFF2-40B4-BE49-F238E27FC236}">
                      <a16:creationId xmlns:a16="http://schemas.microsoft.com/office/drawing/2014/main" id="{B47F4BE6-50BF-7915-09C6-1C68FD6CF4D3}"/>
                    </a:ext>
                  </a:extLst>
                </p:cNvPr>
                <p:cNvSpPr txBox="1">
                  <a:spLocks noRot="1" noChangeAspect="1" noMove="1" noResize="1" noEditPoints="1" noAdjustHandles="1" noChangeArrowheads="1" noChangeShapeType="1" noTextEdit="1"/>
                </p:cNvSpPr>
                <p:nvPr/>
              </p:nvSpPr>
              <p:spPr>
                <a:xfrm rot="2893059">
                  <a:off x="3107452" y="3604952"/>
                  <a:ext cx="560538" cy="362663"/>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4">
                  <a:extLst>
                    <a:ext uri="{FF2B5EF4-FFF2-40B4-BE49-F238E27FC236}">
                      <a16:creationId xmlns:a16="http://schemas.microsoft.com/office/drawing/2014/main" id="{AFDB757D-A881-3CF3-5765-1BD034DC6659}"/>
                    </a:ext>
                  </a:extLst>
                </p:cNvPr>
                <p:cNvSpPr txBox="1"/>
                <p:nvPr/>
              </p:nvSpPr>
              <p:spPr>
                <a:xfrm rot="19852769">
                  <a:off x="3044859" y="4967999"/>
                  <a:ext cx="560538" cy="362663"/>
                </a:xfrm>
                <a:prstGeom prst="rect">
                  <a:avLst/>
                </a:prstGeom>
                <a:noFill/>
              </p:spPr>
              <p:txBody>
                <a:bodyPr wrap="none" rtlCol="0">
                  <a:spAutoFit/>
                </a:bodyPr>
                <a:lstStyle/>
                <a:p>
                  <a:pPr/>
                  <a14:m>
                    <m:oMathPara xmlns:m="http://schemas.openxmlformats.org/officeDocument/2006/math">
                      <m:o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𝑤</m:t>
                            </m:r>
                          </m:e>
                          <m:sub>
                            <m:r>
                              <a:rPr lang="pt-BR" sz="1400" b="0" i="1" smtClean="0">
                                <a:latin typeface="Cambria Math" panose="02040503050406030204" pitchFamily="18" charset="0"/>
                              </a:rPr>
                              <m:t>32</m:t>
                            </m:r>
                          </m:sub>
                          <m:sup>
                            <m:r>
                              <a:rPr lang="pt-BR" sz="1400" b="0" i="1" smtClean="0">
                                <a:latin typeface="Cambria Math" panose="02040503050406030204" pitchFamily="18" charset="0"/>
                              </a:rPr>
                              <m:t>(3)</m:t>
                            </m:r>
                          </m:sup>
                        </m:sSubSup>
                      </m:oMath>
                    </m:oMathPara>
                  </a14:m>
                  <a:endParaRPr lang="en-US" sz="1400" dirty="0"/>
                </a:p>
              </p:txBody>
            </p:sp>
          </mc:Choice>
          <mc:Fallback xmlns="">
            <p:sp>
              <p:nvSpPr>
                <p:cNvPr id="55" name="TextBox 54">
                  <a:extLst>
                    <a:ext uri="{FF2B5EF4-FFF2-40B4-BE49-F238E27FC236}">
                      <a16:creationId xmlns:a16="http://schemas.microsoft.com/office/drawing/2014/main" id="{521D5993-1351-F7B8-7BB5-8B95030655D6}"/>
                    </a:ext>
                  </a:extLst>
                </p:cNvPr>
                <p:cNvSpPr txBox="1">
                  <a:spLocks noRot="1" noChangeAspect="1" noMove="1" noResize="1" noEditPoints="1" noAdjustHandles="1" noChangeArrowheads="1" noChangeShapeType="1" noTextEdit="1"/>
                </p:cNvSpPr>
                <p:nvPr/>
              </p:nvSpPr>
              <p:spPr>
                <a:xfrm rot="19852769">
                  <a:off x="3044859" y="4967999"/>
                  <a:ext cx="560538" cy="362663"/>
                </a:xfrm>
                <a:prstGeom prst="rect">
                  <a:avLst/>
                </a:prstGeom>
                <a:blipFill>
                  <a:blip r:embed="rId13"/>
                  <a:stretch>
                    <a:fillRect/>
                  </a:stretch>
                </a:blipFill>
              </p:spPr>
              <p:txBody>
                <a:bodyPr/>
                <a:lstStyle/>
                <a:p>
                  <a:r>
                    <a:rPr lang="en-US">
                      <a:noFill/>
                    </a:rPr>
                    <a:t> </a:t>
                  </a:r>
                </a:p>
              </p:txBody>
            </p:sp>
          </mc:Fallback>
        </mc:AlternateContent>
        <p:sp>
          <p:nvSpPr>
            <p:cNvPr id="57" name="CaixaDeTexto 106">
              <a:extLst>
                <a:ext uri="{FF2B5EF4-FFF2-40B4-BE49-F238E27FC236}">
                  <a16:creationId xmlns:a16="http://schemas.microsoft.com/office/drawing/2014/main" id="{25419A2C-7C18-820C-2D6F-633F46F6DD23}"/>
                </a:ext>
              </a:extLst>
            </p:cNvPr>
            <p:cNvSpPr txBox="1"/>
            <p:nvPr/>
          </p:nvSpPr>
          <p:spPr>
            <a:xfrm>
              <a:off x="1300841" y="2506925"/>
              <a:ext cx="1796143" cy="307777"/>
            </a:xfrm>
            <a:prstGeom prst="rect">
              <a:avLst/>
            </a:prstGeom>
            <a:noFill/>
          </p:spPr>
          <p:txBody>
            <a:bodyPr wrap="square" rtlCol="0">
              <a:spAutoFit/>
            </a:bodyPr>
            <a:lstStyle/>
            <a:p>
              <a:r>
                <a:rPr lang="pt-BR" sz="1400" dirty="0"/>
                <a:t>Peso sináptico</a:t>
              </a:r>
            </a:p>
          </p:txBody>
        </p:sp>
        <p:sp>
          <p:nvSpPr>
            <p:cNvPr id="58" name="Freeform: Shape 56">
              <a:extLst>
                <a:ext uri="{FF2B5EF4-FFF2-40B4-BE49-F238E27FC236}">
                  <a16:creationId xmlns:a16="http://schemas.microsoft.com/office/drawing/2014/main" id="{94C9168B-9914-0A3D-D43E-6EAB201103E4}"/>
                </a:ext>
              </a:extLst>
            </p:cNvPr>
            <p:cNvSpPr/>
            <p:nvPr/>
          </p:nvSpPr>
          <p:spPr>
            <a:xfrm>
              <a:off x="1164771" y="2656114"/>
              <a:ext cx="206829" cy="250372"/>
            </a:xfrm>
            <a:custGeom>
              <a:avLst/>
              <a:gdLst>
                <a:gd name="csX0" fmla="*/ 0 w 206829"/>
                <a:gd name="csY0" fmla="*/ 250372 h 250372"/>
                <a:gd name="csX1" fmla="*/ 54429 w 206829"/>
                <a:gd name="csY1" fmla="*/ 108857 h 250372"/>
                <a:gd name="csX2" fmla="*/ 206829 w 206829"/>
                <a:gd name="csY2" fmla="*/ 0 h 250372"/>
              </a:gdLst>
              <a:ahLst/>
              <a:cxnLst>
                <a:cxn ang="0">
                  <a:pos x="csX0" y="csY0"/>
                </a:cxn>
                <a:cxn ang="0">
                  <a:pos x="csX1" y="csY1"/>
                </a:cxn>
                <a:cxn ang="0">
                  <a:pos x="csX2" y="csY2"/>
                </a:cxn>
              </a:cxnLst>
              <a:rect l="l" t="t" r="r" b="b"/>
              <a:pathLst>
                <a:path w="206829" h="250372">
                  <a:moveTo>
                    <a:pt x="0" y="250372"/>
                  </a:moveTo>
                  <a:cubicBezTo>
                    <a:pt x="9979" y="200479"/>
                    <a:pt x="19958" y="150586"/>
                    <a:pt x="54429" y="108857"/>
                  </a:cubicBezTo>
                  <a:cubicBezTo>
                    <a:pt x="88901" y="67128"/>
                    <a:pt x="147865" y="33564"/>
                    <a:pt x="206829"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CaixaDeTexto 32">
              <a:extLst>
                <a:ext uri="{FF2B5EF4-FFF2-40B4-BE49-F238E27FC236}">
                  <a16:creationId xmlns:a16="http://schemas.microsoft.com/office/drawing/2014/main" id="{FA3DDBEA-C3F2-47AA-509A-840A31CCB550}"/>
                </a:ext>
              </a:extLst>
            </p:cNvPr>
            <p:cNvSpPr txBox="1"/>
            <p:nvPr/>
          </p:nvSpPr>
          <p:spPr>
            <a:xfrm>
              <a:off x="294226" y="5713408"/>
              <a:ext cx="868135" cy="461665"/>
            </a:xfrm>
            <a:prstGeom prst="rect">
              <a:avLst/>
            </a:prstGeom>
            <a:noFill/>
          </p:spPr>
          <p:txBody>
            <a:bodyPr wrap="square" rtlCol="0">
              <a:spAutoFit/>
            </a:bodyPr>
            <a:lstStyle/>
            <a:p>
              <a:pPr algn="ctr"/>
              <a:r>
                <a:rPr lang="pt-BR" sz="1200" dirty="0"/>
                <a:t>Camada de entrada</a:t>
              </a:r>
            </a:p>
          </p:txBody>
        </p:sp>
        <p:sp>
          <p:nvSpPr>
            <p:cNvPr id="60" name="CaixaDeTexto 34">
              <a:extLst>
                <a:ext uri="{FF2B5EF4-FFF2-40B4-BE49-F238E27FC236}">
                  <a16:creationId xmlns:a16="http://schemas.microsoft.com/office/drawing/2014/main" id="{0C734AAD-5D8C-7EAE-C078-9AC6BCE46389}"/>
                </a:ext>
              </a:extLst>
            </p:cNvPr>
            <p:cNvSpPr txBox="1"/>
            <p:nvPr/>
          </p:nvSpPr>
          <p:spPr>
            <a:xfrm>
              <a:off x="1357989" y="5837351"/>
              <a:ext cx="868135" cy="461665"/>
            </a:xfrm>
            <a:prstGeom prst="rect">
              <a:avLst/>
            </a:prstGeom>
            <a:noFill/>
          </p:spPr>
          <p:txBody>
            <a:bodyPr wrap="square" rtlCol="0">
              <a:spAutoFit/>
            </a:bodyPr>
            <a:lstStyle/>
            <a:p>
              <a:pPr algn="ctr"/>
              <a:r>
                <a:rPr lang="pt-BR" sz="1200" dirty="0"/>
                <a:t>Camada oculta #1</a:t>
              </a:r>
            </a:p>
          </p:txBody>
        </p:sp>
        <p:sp>
          <p:nvSpPr>
            <p:cNvPr id="61" name="CaixaDeTexto 40">
              <a:extLst>
                <a:ext uri="{FF2B5EF4-FFF2-40B4-BE49-F238E27FC236}">
                  <a16:creationId xmlns:a16="http://schemas.microsoft.com/office/drawing/2014/main" id="{A681107B-D401-A01B-DDAE-07EB22B295D2}"/>
                </a:ext>
              </a:extLst>
            </p:cNvPr>
            <p:cNvSpPr txBox="1"/>
            <p:nvPr/>
          </p:nvSpPr>
          <p:spPr>
            <a:xfrm>
              <a:off x="2352673" y="5450646"/>
              <a:ext cx="868135" cy="461665"/>
            </a:xfrm>
            <a:prstGeom prst="rect">
              <a:avLst/>
            </a:prstGeom>
            <a:noFill/>
          </p:spPr>
          <p:txBody>
            <a:bodyPr wrap="square" rtlCol="0">
              <a:spAutoFit/>
            </a:bodyPr>
            <a:lstStyle/>
            <a:p>
              <a:pPr algn="ctr"/>
              <a:r>
                <a:rPr lang="pt-BR" sz="1200" dirty="0"/>
                <a:t>Camada oculta #2</a:t>
              </a:r>
            </a:p>
          </p:txBody>
        </p:sp>
        <p:sp>
          <p:nvSpPr>
            <p:cNvPr id="62" name="CaixaDeTexto 36">
              <a:extLst>
                <a:ext uri="{FF2B5EF4-FFF2-40B4-BE49-F238E27FC236}">
                  <a16:creationId xmlns:a16="http://schemas.microsoft.com/office/drawing/2014/main" id="{9F34BDE3-CF61-A47E-2254-CFEAD27284A2}"/>
                </a:ext>
              </a:extLst>
            </p:cNvPr>
            <p:cNvSpPr txBox="1"/>
            <p:nvPr/>
          </p:nvSpPr>
          <p:spPr>
            <a:xfrm>
              <a:off x="3314688" y="5239989"/>
              <a:ext cx="868135" cy="461665"/>
            </a:xfrm>
            <a:prstGeom prst="rect">
              <a:avLst/>
            </a:prstGeom>
            <a:noFill/>
          </p:spPr>
          <p:txBody>
            <a:bodyPr wrap="square" rtlCol="0">
              <a:spAutoFit/>
            </a:bodyPr>
            <a:lstStyle/>
            <a:p>
              <a:pPr algn="ctr"/>
              <a:r>
                <a:rPr lang="pt-BR" sz="1200" dirty="0"/>
                <a:t>Camada de saída</a:t>
              </a:r>
            </a:p>
          </p:txBody>
        </p:sp>
      </p:grpSp>
    </p:spTree>
    <p:extLst>
      <p:ext uri="{BB962C8B-B14F-4D97-AF65-F5344CB8AC3E}">
        <p14:creationId xmlns:p14="http://schemas.microsoft.com/office/powerpoint/2010/main" val="22828300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CD25A-051E-2532-A1B8-176C742EECEB}"/>
              </a:ext>
            </a:extLst>
          </p:cNvPr>
          <p:cNvSpPr>
            <a:spLocks noGrp="1"/>
          </p:cNvSpPr>
          <p:nvPr>
            <p:ph type="title"/>
          </p:nvPr>
        </p:nvSpPr>
        <p:spPr/>
        <p:txBody>
          <a:bodyPr/>
          <a:lstStyle/>
          <a:p>
            <a:r>
              <a:rPr lang="pt-BR" i="1" dirty="0"/>
              <a:t>Backpropagation</a:t>
            </a:r>
            <a:endParaRPr lang="en-US" dirty="0"/>
          </a:p>
        </p:txBody>
      </p:sp>
      <p:sp>
        <p:nvSpPr>
          <p:cNvPr id="3" name="Content Placeholder 2">
            <a:extLst>
              <a:ext uri="{FF2B5EF4-FFF2-40B4-BE49-F238E27FC236}">
                <a16:creationId xmlns:a16="http://schemas.microsoft.com/office/drawing/2014/main" id="{F2837435-CAA9-AE41-D90E-E6FA914481A4}"/>
              </a:ext>
            </a:extLst>
          </p:cNvPr>
          <p:cNvSpPr>
            <a:spLocks noGrp="1"/>
          </p:cNvSpPr>
          <p:nvPr>
            <p:ph idx="1"/>
          </p:nvPr>
        </p:nvSpPr>
        <p:spPr>
          <a:xfrm>
            <a:off x="838201" y="1825625"/>
            <a:ext cx="11157154" cy="4351338"/>
          </a:xfrm>
        </p:spPr>
        <p:txBody>
          <a:bodyPr/>
          <a:lstStyle/>
          <a:p>
            <a:r>
              <a:rPr lang="pt-BR" b="1" dirty="0"/>
              <a:t>Em resumo</a:t>
            </a:r>
            <a:r>
              <a:rPr lang="pt-BR" dirty="0"/>
              <a:t>: a rede prediz → mede o erro → corrige os pesos.</a:t>
            </a:r>
          </a:p>
          <a:p>
            <a:pPr marL="0" indent="0">
              <a:buNone/>
            </a:pPr>
            <a:r>
              <a:rPr lang="pt-BR" dirty="0"/>
              <a:t>                               </a:t>
            </a:r>
            <a:r>
              <a:rPr lang="pt-BR" i="1" dirty="0" err="1"/>
              <a:t>forward</a:t>
            </a:r>
            <a:r>
              <a:rPr lang="pt-BR" dirty="0"/>
              <a:t>                                            </a:t>
            </a:r>
            <a:r>
              <a:rPr lang="pt-BR" i="1" dirty="0" err="1"/>
              <a:t>backward</a:t>
            </a:r>
            <a:endParaRPr lang="pt-BR" i="1" dirty="0"/>
          </a:p>
          <a:p>
            <a:r>
              <a:rPr lang="pt-BR" dirty="0"/>
              <a:t>O </a:t>
            </a:r>
            <a:r>
              <a:rPr lang="pt-BR" i="1" dirty="0"/>
              <a:t>backpropagation</a:t>
            </a:r>
            <a:r>
              <a:rPr lang="pt-BR" dirty="0"/>
              <a:t> responde à pergunta:</a:t>
            </a:r>
          </a:p>
          <a:p>
            <a:pPr marL="0" indent="0" algn="ctr">
              <a:buNone/>
            </a:pPr>
            <a:r>
              <a:rPr lang="pt-BR" b="1" dirty="0"/>
              <a:t>“O quanto os pesos precisam mudar para que a rede produza uma saída mais correta a cada iteração?”</a:t>
            </a:r>
            <a:endParaRPr lang="pt-BR" dirty="0"/>
          </a:p>
          <a:p>
            <a:endParaRPr lang="en-US" dirty="0"/>
          </a:p>
        </p:txBody>
      </p:sp>
      <p:pic>
        <p:nvPicPr>
          <p:cNvPr id="8" name="Picture 7">
            <a:extLst>
              <a:ext uri="{FF2B5EF4-FFF2-40B4-BE49-F238E27FC236}">
                <a16:creationId xmlns:a16="http://schemas.microsoft.com/office/drawing/2014/main" id="{CB13E6A6-6D4A-0E94-E375-65268C2150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91664" y="4114800"/>
            <a:ext cx="2743200" cy="2743200"/>
          </a:xfrm>
          <a:prstGeom prst="rect">
            <a:avLst/>
          </a:prstGeom>
        </p:spPr>
      </p:pic>
    </p:spTree>
    <p:extLst>
      <p:ext uri="{BB962C8B-B14F-4D97-AF65-F5344CB8AC3E}">
        <p14:creationId xmlns:p14="http://schemas.microsoft.com/office/powerpoint/2010/main" val="30509025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6B8548-4E40-D933-E8DC-9078F53FEE65}"/>
              </a:ext>
            </a:extLst>
          </p:cNvPr>
          <p:cNvSpPr>
            <a:spLocks noGrp="1"/>
          </p:cNvSpPr>
          <p:nvPr>
            <p:ph type="title"/>
          </p:nvPr>
        </p:nvSpPr>
        <p:spPr/>
        <p:txBody>
          <a:bodyPr/>
          <a:lstStyle/>
          <a:p>
            <a:r>
              <a:rPr lang="pt-BR" dirty="0"/>
              <a:t>Regra da cadeia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5BF615BC-2786-CA1F-664E-992832AC0C08}"/>
                  </a:ext>
                </a:extLst>
              </p:cNvPr>
              <p:cNvSpPr>
                <a:spLocks noGrp="1"/>
              </p:cNvSpPr>
              <p:nvPr>
                <p:ph idx="1"/>
              </p:nvPr>
            </p:nvSpPr>
            <p:spPr>
              <a:xfrm>
                <a:off x="838199" y="1825625"/>
                <a:ext cx="11353801" cy="5032375"/>
              </a:xfrm>
            </p:spPr>
            <p:txBody>
              <a:bodyPr>
                <a:normAutofit lnSpcReduction="10000"/>
              </a:bodyPr>
              <a:lstStyle/>
              <a:p>
                <a:r>
                  <a:rPr lang="pt-BR" noProof="0" dirty="0"/>
                  <a:t>Para </a:t>
                </a:r>
                <a:r>
                  <a:rPr lang="pt-BR" b="1" noProof="0" dirty="0">
                    <a:solidFill>
                      <a:srgbClr val="00B050"/>
                    </a:solidFill>
                  </a:rPr>
                  <a:t>atualizar o peso de um nó de uma camada qualquer</a:t>
                </a:r>
                <a:r>
                  <a:rPr lang="pt-BR" noProof="0" dirty="0"/>
                  <a:t>, a </a:t>
                </a:r>
                <a:r>
                  <a:rPr lang="pt-BR" b="1" noProof="0" dirty="0"/>
                  <a:t>retropropagação </a:t>
                </a:r>
                <a:r>
                  <a:rPr lang="pt-BR" noProof="0" dirty="0"/>
                  <a:t>calcula a derivada parcial do erro em relação àquele peso usando a </a:t>
                </a:r>
                <a:r>
                  <a:rPr lang="pt-BR" b="1" noProof="0" dirty="0">
                    <a:solidFill>
                      <a:srgbClr val="7030A0"/>
                    </a:solidFill>
                  </a:rPr>
                  <a:t>regra da cadeia</a:t>
                </a:r>
                <a:r>
                  <a:rPr lang="pt-BR" noProof="0" dirty="0"/>
                  <a:t>.</a:t>
                </a:r>
              </a:p>
              <a:p>
                <a:r>
                  <a:rPr lang="pt-BR" noProof="0" dirty="0"/>
                  <a:t>Vejamos o exemplo abaixo com 3 nós, 3 pesos, </a:t>
                </a:r>
                <a14:m>
                  <m:oMath xmlns:m="http://schemas.openxmlformats.org/officeDocument/2006/math">
                    <m:sSub>
                      <m:sSubPr>
                        <m:ctrlPr>
                          <a:rPr lang="pt-BR" i="1" noProof="0">
                            <a:latin typeface="Cambria Math" panose="02040503050406030204" pitchFamily="18" charset="0"/>
                          </a:rPr>
                        </m:ctrlPr>
                      </m:sSubPr>
                      <m:e>
                        <m:r>
                          <a:rPr lang="pt-BR" i="1" noProof="0">
                            <a:latin typeface="Cambria Math" panose="02040503050406030204" pitchFamily="18" charset="0"/>
                          </a:rPr>
                          <m:t>𝑤</m:t>
                        </m:r>
                      </m:e>
                      <m:sub>
                        <m:r>
                          <a:rPr lang="pt-BR" b="0" i="1" noProof="0" smtClean="0">
                            <a:latin typeface="Cambria Math" panose="02040503050406030204" pitchFamily="18" charset="0"/>
                          </a:rPr>
                          <m:t>1</m:t>
                        </m:r>
                      </m:sub>
                    </m:sSub>
                  </m:oMath>
                </a14:m>
                <a:r>
                  <a:rPr lang="pt-BR" noProof="0" dirty="0"/>
                  <a:t>, </a:t>
                </a:r>
                <a14:m>
                  <m:oMath xmlns:m="http://schemas.openxmlformats.org/officeDocument/2006/math">
                    <m:sSub>
                      <m:sSubPr>
                        <m:ctrlPr>
                          <a:rPr lang="pt-BR" i="1" noProof="0">
                            <a:latin typeface="Cambria Math" panose="02040503050406030204" pitchFamily="18" charset="0"/>
                          </a:rPr>
                        </m:ctrlPr>
                      </m:sSubPr>
                      <m:e>
                        <m:r>
                          <a:rPr lang="pt-BR" i="1" noProof="0">
                            <a:latin typeface="Cambria Math" panose="02040503050406030204" pitchFamily="18" charset="0"/>
                          </a:rPr>
                          <m:t>𝑤</m:t>
                        </m:r>
                      </m:e>
                      <m:sub>
                        <m:r>
                          <a:rPr lang="pt-BR" b="0" i="1" noProof="0" smtClean="0">
                            <a:latin typeface="Cambria Math" panose="02040503050406030204" pitchFamily="18" charset="0"/>
                          </a:rPr>
                          <m:t>3</m:t>
                        </m:r>
                      </m:sub>
                    </m:sSub>
                  </m:oMath>
                </a14:m>
                <a:r>
                  <a:rPr lang="pt-BR" noProof="0" dirty="0"/>
                  <a:t> e </a:t>
                </a:r>
                <a14:m>
                  <m:oMath xmlns:m="http://schemas.openxmlformats.org/officeDocument/2006/math">
                    <m:sSub>
                      <m:sSubPr>
                        <m:ctrlPr>
                          <a:rPr lang="pt-BR" i="1" noProof="0">
                            <a:latin typeface="Cambria Math" panose="02040503050406030204" pitchFamily="18" charset="0"/>
                          </a:rPr>
                        </m:ctrlPr>
                      </m:sSubPr>
                      <m:e>
                        <m:r>
                          <a:rPr lang="pt-BR" i="1" noProof="0">
                            <a:latin typeface="Cambria Math" panose="02040503050406030204" pitchFamily="18" charset="0"/>
                          </a:rPr>
                          <m:t>𝑤</m:t>
                        </m:r>
                      </m:e>
                      <m:sub>
                        <m:r>
                          <a:rPr lang="pt-BR" b="0" i="1" noProof="0" smtClean="0">
                            <a:latin typeface="Cambria Math" panose="02040503050406030204" pitchFamily="18" charset="0"/>
                          </a:rPr>
                          <m:t>3</m:t>
                        </m:r>
                      </m:sub>
                    </m:sSub>
                  </m:oMath>
                </a14:m>
                <a:r>
                  <a:rPr lang="pt-BR" noProof="0" dirty="0"/>
                  <a:t>, 3 funções de ativação, </a:t>
                </a:r>
                <a14:m>
                  <m:oMath xmlns:m="http://schemas.openxmlformats.org/officeDocument/2006/math">
                    <m:r>
                      <a:rPr lang="pt-BR" i="1" noProof="0">
                        <a:latin typeface="Cambria Math" panose="02040503050406030204" pitchFamily="18" charset="0"/>
                      </a:rPr>
                      <m:t>𝑓</m:t>
                    </m:r>
                    <m:d>
                      <m:dPr>
                        <m:ctrlPr>
                          <a:rPr lang="pt-BR" i="1" noProof="0">
                            <a:latin typeface="Cambria Math" panose="02040503050406030204" pitchFamily="18" charset="0"/>
                          </a:rPr>
                        </m:ctrlPr>
                      </m:dPr>
                      <m:e>
                        <m:r>
                          <a:rPr lang="pt-BR" i="1" noProof="0">
                            <a:latin typeface="Cambria Math" panose="02040503050406030204" pitchFamily="18" charset="0"/>
                          </a:rPr>
                          <m:t>.</m:t>
                        </m:r>
                      </m:e>
                    </m:d>
                    <m:r>
                      <a:rPr lang="pt-BR" i="1" noProof="0">
                        <a:latin typeface="Cambria Math" panose="02040503050406030204" pitchFamily="18" charset="0"/>
                      </a:rPr>
                      <m:t>, </m:t>
                    </m:r>
                    <m:r>
                      <a:rPr lang="pt-BR" i="1" noProof="0">
                        <a:latin typeface="Cambria Math" panose="02040503050406030204" pitchFamily="18" charset="0"/>
                      </a:rPr>
                      <m:t>𝑔</m:t>
                    </m:r>
                    <m:d>
                      <m:dPr>
                        <m:ctrlPr>
                          <a:rPr lang="pt-BR" i="1" noProof="0">
                            <a:latin typeface="Cambria Math" panose="02040503050406030204" pitchFamily="18" charset="0"/>
                          </a:rPr>
                        </m:ctrlPr>
                      </m:dPr>
                      <m:e>
                        <m:r>
                          <a:rPr lang="pt-BR" i="1" noProof="0">
                            <a:latin typeface="Cambria Math" panose="02040503050406030204" pitchFamily="18" charset="0"/>
                          </a:rPr>
                          <m:t>.</m:t>
                        </m:r>
                      </m:e>
                    </m:d>
                  </m:oMath>
                </a14:m>
                <a:r>
                  <a:rPr lang="pt-BR" noProof="0" dirty="0"/>
                  <a:t> e </a:t>
                </a:r>
                <a14:m>
                  <m:oMath xmlns:m="http://schemas.openxmlformats.org/officeDocument/2006/math">
                    <m:r>
                      <a:rPr lang="pt-BR" i="1" noProof="0">
                        <a:latin typeface="Cambria Math" panose="02040503050406030204" pitchFamily="18" charset="0"/>
                      </a:rPr>
                      <m:t>ℎ</m:t>
                    </m:r>
                    <m:r>
                      <a:rPr lang="pt-BR" i="1" noProof="0">
                        <a:latin typeface="Cambria Math" panose="02040503050406030204" pitchFamily="18" charset="0"/>
                      </a:rPr>
                      <m:t>(.)</m:t>
                    </m:r>
                  </m:oMath>
                </a14:m>
                <a:r>
                  <a:rPr lang="pt-BR" noProof="0" dirty="0"/>
                  <a:t>, uma entrada </a:t>
                </a:r>
                <a14:m>
                  <m:oMath xmlns:m="http://schemas.openxmlformats.org/officeDocument/2006/math">
                    <m:r>
                      <a:rPr lang="pt-BR" b="0" i="1" noProof="0" smtClean="0">
                        <a:latin typeface="Cambria Math" panose="02040503050406030204" pitchFamily="18" charset="0"/>
                      </a:rPr>
                      <m:t>𝑥</m:t>
                    </m:r>
                  </m:oMath>
                </a14:m>
                <a:r>
                  <a:rPr lang="pt-BR" noProof="0" dirty="0"/>
                  <a:t>, uma saída </a:t>
                </a:r>
                <a14:m>
                  <m:oMath xmlns:m="http://schemas.openxmlformats.org/officeDocument/2006/math">
                    <m:acc>
                      <m:accPr>
                        <m:chr m:val="̂"/>
                        <m:ctrlPr>
                          <a:rPr lang="pt-BR" b="0" i="1" noProof="0" smtClean="0">
                            <a:latin typeface="Cambria Math" panose="02040503050406030204" pitchFamily="18" charset="0"/>
                          </a:rPr>
                        </m:ctrlPr>
                      </m:accPr>
                      <m:e>
                        <m:r>
                          <a:rPr lang="pt-BR" b="0" i="1" noProof="0" smtClean="0">
                            <a:latin typeface="Cambria Math" panose="02040503050406030204" pitchFamily="18" charset="0"/>
                          </a:rPr>
                          <m:t>𝑦</m:t>
                        </m:r>
                      </m:e>
                    </m:acc>
                  </m:oMath>
                </a14:m>
                <a:r>
                  <a:rPr lang="pt-BR" noProof="0" dirty="0"/>
                  <a:t> e um rótulo </a:t>
                </a:r>
                <a14:m>
                  <m:oMath xmlns:m="http://schemas.openxmlformats.org/officeDocument/2006/math">
                    <m:r>
                      <a:rPr lang="pt-BR" i="1" noProof="0">
                        <a:latin typeface="Cambria Math" panose="02040503050406030204" pitchFamily="18" charset="0"/>
                        <a:ea typeface="Cambria Math" panose="02040503050406030204" pitchFamily="18" charset="0"/>
                      </a:rPr>
                      <m:t>𝑦</m:t>
                    </m:r>
                    <m:r>
                      <a:rPr lang="pt-BR" b="0" i="0" noProof="0" smtClean="0">
                        <a:latin typeface="Cambria Math" panose="02040503050406030204" pitchFamily="18" charset="0"/>
                        <a:ea typeface="Cambria Math" panose="02040503050406030204" pitchFamily="18" charset="0"/>
                      </a:rPr>
                      <m:t>.</m:t>
                    </m:r>
                  </m:oMath>
                </a14:m>
                <a:endParaRPr lang="pt-BR" sz="900" noProof="0" dirty="0"/>
              </a:p>
              <a:p>
                <a:endParaRPr lang="pt-BR" noProof="0" dirty="0"/>
              </a:p>
              <a:p>
                <a:pPr marL="0" indent="0">
                  <a:buNone/>
                </a:pPr>
                <a:endParaRPr lang="pt-BR" noProof="0" dirty="0"/>
              </a:p>
              <a:p>
                <a:r>
                  <a:rPr lang="pt-BR" noProof="0" dirty="0"/>
                  <a:t>Para facilitar a análise, vamos definir as entradas dos nós como</a:t>
                </a:r>
              </a:p>
              <a:p>
                <a:pPr marL="0" indent="0">
                  <a:buNone/>
                </a:pPr>
                <a14:m>
                  <m:oMathPara xmlns:m="http://schemas.openxmlformats.org/officeDocument/2006/math">
                    <m:oMath>
                      <m:sSub>
                        <m:sSubPr>
                          <m:ctrlPr>
                            <a:rPr lang="pt-BR" i="1" noProof="0">
                              <a:latin typeface="Cambria Math" panose="02040503050406030204" pitchFamily="18" charset="0"/>
                            </a:rPr>
                          </m:ctrlPr>
                        </m:sSubPr>
                        <m:e>
                          <m:r>
                            <a:rPr lang="pt-BR" i="1" noProof="0">
                              <a:latin typeface="Cambria Math" panose="02040503050406030204" pitchFamily="18" charset="0"/>
                            </a:rPr>
                            <m:t>𝑢</m:t>
                          </m:r>
                        </m:e>
                        <m:sub>
                          <m:r>
                            <a:rPr lang="pt-BR" i="1" noProof="0">
                              <a:latin typeface="Cambria Math" panose="02040503050406030204" pitchFamily="18" charset="0"/>
                            </a:rPr>
                            <m:t>1</m:t>
                          </m:r>
                        </m:sub>
                      </m:sSub>
                      <m:r>
                        <a:rPr lang="pt-BR" i="1" noProof="0">
                          <a:latin typeface="Cambria Math" panose="02040503050406030204" pitchFamily="18" charset="0"/>
                        </a:rPr>
                        <m:t>=</m:t>
                      </m:r>
                      <m:sSub>
                        <m:sSubPr>
                          <m:ctrlPr>
                            <a:rPr lang="pt-BR" i="1" noProof="0">
                              <a:latin typeface="Cambria Math" panose="02040503050406030204" pitchFamily="18" charset="0"/>
                            </a:rPr>
                          </m:ctrlPr>
                        </m:sSubPr>
                        <m:e>
                          <m:r>
                            <a:rPr lang="pt-BR" i="1" noProof="0">
                              <a:latin typeface="Cambria Math" panose="02040503050406030204" pitchFamily="18" charset="0"/>
                            </a:rPr>
                            <m:t>𝑤</m:t>
                          </m:r>
                        </m:e>
                        <m:sub>
                          <m:r>
                            <a:rPr lang="pt-BR" i="1" noProof="0">
                              <a:latin typeface="Cambria Math" panose="02040503050406030204" pitchFamily="18" charset="0"/>
                            </a:rPr>
                            <m:t>1</m:t>
                          </m:r>
                        </m:sub>
                      </m:sSub>
                      <m:r>
                        <a:rPr lang="pt-BR" b="0" i="1" noProof="0" smtClean="0">
                          <a:latin typeface="Cambria Math" panose="02040503050406030204" pitchFamily="18" charset="0"/>
                        </a:rPr>
                        <m:t>𝑥</m:t>
                      </m:r>
                      <m:r>
                        <a:rPr lang="pt-BR" i="1" noProof="0">
                          <a:latin typeface="Cambria Math" panose="02040503050406030204" pitchFamily="18" charset="0"/>
                        </a:rPr>
                        <m:t>,</m:t>
                      </m:r>
                    </m:oMath>
                  </m:oMathPara>
                </a14:m>
                <a:endParaRPr lang="pt-BR" i="1" noProof="0" dirty="0">
                  <a:latin typeface="Cambria Math" panose="02040503050406030204" pitchFamily="18" charset="0"/>
                </a:endParaRPr>
              </a:p>
              <a:p>
                <a:pPr marL="0" indent="0">
                  <a:buNone/>
                </a:pPr>
                <a14:m>
                  <m:oMathPara xmlns:m="http://schemas.openxmlformats.org/officeDocument/2006/math">
                    <m:oMath>
                      <m:sSub>
                        <m:sSubPr>
                          <m:ctrlPr>
                            <a:rPr lang="pt-BR" i="1" noProof="0">
                              <a:latin typeface="Cambria Math" panose="02040503050406030204" pitchFamily="18" charset="0"/>
                            </a:rPr>
                          </m:ctrlPr>
                        </m:sSubPr>
                        <m:e>
                          <m:r>
                            <a:rPr lang="pt-BR" i="1" noProof="0">
                              <a:latin typeface="Cambria Math" panose="02040503050406030204" pitchFamily="18" charset="0"/>
                            </a:rPr>
                            <m:t>𝑢</m:t>
                          </m:r>
                        </m:e>
                        <m:sub>
                          <m:r>
                            <a:rPr lang="pt-BR" b="0" i="1" noProof="0" smtClean="0">
                              <a:latin typeface="Cambria Math" panose="02040503050406030204" pitchFamily="18" charset="0"/>
                            </a:rPr>
                            <m:t>2</m:t>
                          </m:r>
                        </m:sub>
                      </m:sSub>
                      <m:r>
                        <a:rPr lang="pt-BR" b="0" i="1" noProof="0" smtClean="0">
                          <a:latin typeface="Cambria Math" panose="02040503050406030204" pitchFamily="18" charset="0"/>
                        </a:rPr>
                        <m:t>=</m:t>
                      </m:r>
                      <m:sSub>
                        <m:sSubPr>
                          <m:ctrlPr>
                            <a:rPr lang="pt-BR" i="1" noProof="0">
                              <a:latin typeface="Cambria Math" panose="02040503050406030204" pitchFamily="18" charset="0"/>
                            </a:rPr>
                          </m:ctrlPr>
                        </m:sSubPr>
                        <m:e>
                          <m:r>
                            <a:rPr lang="pt-BR" i="1" noProof="0">
                              <a:latin typeface="Cambria Math" panose="02040503050406030204" pitchFamily="18" charset="0"/>
                            </a:rPr>
                            <m:t>𝑤</m:t>
                          </m:r>
                        </m:e>
                        <m:sub>
                          <m:r>
                            <a:rPr lang="pt-BR" b="0" i="1" noProof="0" smtClean="0">
                              <a:latin typeface="Cambria Math" panose="02040503050406030204" pitchFamily="18" charset="0"/>
                            </a:rPr>
                            <m:t>2</m:t>
                          </m:r>
                        </m:sub>
                      </m:sSub>
                      <m:r>
                        <a:rPr lang="pt-BR" i="1" noProof="0">
                          <a:latin typeface="Cambria Math" panose="02040503050406030204" pitchFamily="18" charset="0"/>
                        </a:rPr>
                        <m:t>ℎ</m:t>
                      </m:r>
                      <m:d>
                        <m:dPr>
                          <m:ctrlPr>
                            <a:rPr lang="pt-BR" i="1" noProof="0">
                              <a:latin typeface="Cambria Math" panose="02040503050406030204" pitchFamily="18" charset="0"/>
                            </a:rPr>
                          </m:ctrlPr>
                        </m:dPr>
                        <m:e>
                          <m:sSub>
                            <m:sSubPr>
                              <m:ctrlPr>
                                <a:rPr lang="pt-BR" i="1" noProof="0">
                                  <a:latin typeface="Cambria Math" panose="02040503050406030204" pitchFamily="18" charset="0"/>
                                </a:rPr>
                              </m:ctrlPr>
                            </m:sSubPr>
                            <m:e>
                              <m:r>
                                <a:rPr lang="pt-BR" i="1" noProof="0">
                                  <a:latin typeface="Cambria Math" panose="02040503050406030204" pitchFamily="18" charset="0"/>
                                </a:rPr>
                                <m:t>𝑤</m:t>
                              </m:r>
                            </m:e>
                            <m:sub>
                              <m:r>
                                <a:rPr lang="pt-BR" b="0" i="1" noProof="0" smtClean="0">
                                  <a:latin typeface="Cambria Math" panose="02040503050406030204" pitchFamily="18" charset="0"/>
                                </a:rPr>
                                <m:t>1</m:t>
                              </m:r>
                            </m:sub>
                          </m:sSub>
                          <m:r>
                            <a:rPr lang="pt-BR" i="1" noProof="0">
                              <a:latin typeface="Cambria Math" panose="02040503050406030204" pitchFamily="18" charset="0"/>
                            </a:rPr>
                            <m:t>𝑥</m:t>
                          </m:r>
                        </m:e>
                      </m:d>
                      <m:r>
                        <a:rPr lang="pt-BR" b="0" i="1" noProof="0" smtClean="0">
                          <a:latin typeface="Cambria Math" panose="02040503050406030204" pitchFamily="18" charset="0"/>
                        </a:rPr>
                        <m:t>=</m:t>
                      </m:r>
                      <m:sSub>
                        <m:sSubPr>
                          <m:ctrlPr>
                            <a:rPr lang="pt-BR" i="1" noProof="0">
                              <a:latin typeface="Cambria Math" panose="02040503050406030204" pitchFamily="18" charset="0"/>
                            </a:rPr>
                          </m:ctrlPr>
                        </m:sSubPr>
                        <m:e>
                          <m:r>
                            <a:rPr lang="pt-BR" i="1" noProof="0">
                              <a:latin typeface="Cambria Math" panose="02040503050406030204" pitchFamily="18" charset="0"/>
                            </a:rPr>
                            <m:t>𝑤</m:t>
                          </m:r>
                        </m:e>
                        <m:sub>
                          <m:r>
                            <a:rPr lang="pt-BR" i="1" noProof="0">
                              <a:latin typeface="Cambria Math" panose="02040503050406030204" pitchFamily="18" charset="0"/>
                            </a:rPr>
                            <m:t>2</m:t>
                          </m:r>
                        </m:sub>
                      </m:sSub>
                      <m:r>
                        <a:rPr lang="pt-BR" i="1" noProof="0">
                          <a:latin typeface="Cambria Math" panose="02040503050406030204" pitchFamily="18" charset="0"/>
                        </a:rPr>
                        <m:t>ℎ</m:t>
                      </m:r>
                      <m:d>
                        <m:dPr>
                          <m:ctrlPr>
                            <a:rPr lang="pt-BR" i="1" noProof="0">
                              <a:latin typeface="Cambria Math" panose="02040503050406030204" pitchFamily="18" charset="0"/>
                            </a:rPr>
                          </m:ctrlPr>
                        </m:dPr>
                        <m:e>
                          <m:sSub>
                            <m:sSubPr>
                              <m:ctrlPr>
                                <a:rPr lang="pt-BR" i="1" noProof="0">
                                  <a:latin typeface="Cambria Math" panose="02040503050406030204" pitchFamily="18" charset="0"/>
                                </a:rPr>
                              </m:ctrlPr>
                            </m:sSubPr>
                            <m:e>
                              <m:r>
                                <a:rPr lang="pt-BR" i="1" noProof="0">
                                  <a:latin typeface="Cambria Math" panose="02040503050406030204" pitchFamily="18" charset="0"/>
                                </a:rPr>
                                <m:t>𝑢</m:t>
                              </m:r>
                            </m:e>
                            <m:sub>
                              <m:r>
                                <a:rPr lang="pt-BR" i="1" noProof="0">
                                  <a:latin typeface="Cambria Math" panose="02040503050406030204" pitchFamily="18" charset="0"/>
                                </a:rPr>
                                <m:t>1</m:t>
                              </m:r>
                            </m:sub>
                          </m:sSub>
                        </m:e>
                      </m:d>
                      <m:r>
                        <a:rPr lang="pt-BR" b="0" i="1" noProof="0" smtClean="0">
                          <a:latin typeface="Cambria Math" panose="02040503050406030204" pitchFamily="18" charset="0"/>
                        </a:rPr>
                        <m:t>,</m:t>
                      </m:r>
                    </m:oMath>
                  </m:oMathPara>
                </a14:m>
                <a:endParaRPr lang="pt-BR" noProof="0" dirty="0"/>
              </a:p>
              <a:p>
                <a:pPr marL="0" indent="0">
                  <a:buNone/>
                </a:pPr>
                <a14:m>
                  <m:oMathPara xmlns:m="http://schemas.openxmlformats.org/officeDocument/2006/math">
                    <m:oMath>
                      <m:sSub>
                        <m:sSubPr>
                          <m:ctrlPr>
                            <a:rPr lang="pt-BR" i="1" noProof="0">
                              <a:latin typeface="Cambria Math" panose="02040503050406030204" pitchFamily="18" charset="0"/>
                            </a:rPr>
                          </m:ctrlPr>
                        </m:sSubPr>
                        <m:e>
                          <m:r>
                            <a:rPr lang="pt-BR" i="1" noProof="0">
                              <a:latin typeface="Cambria Math" panose="02040503050406030204" pitchFamily="18" charset="0"/>
                            </a:rPr>
                            <m:t>𝑢</m:t>
                          </m:r>
                        </m:e>
                        <m:sub>
                          <m:r>
                            <a:rPr lang="pt-BR" b="0" i="1" noProof="0" smtClean="0">
                              <a:latin typeface="Cambria Math" panose="02040503050406030204" pitchFamily="18" charset="0"/>
                            </a:rPr>
                            <m:t>3</m:t>
                          </m:r>
                        </m:sub>
                      </m:sSub>
                      <m:r>
                        <a:rPr lang="pt-BR" b="0" i="1" noProof="0" smtClean="0">
                          <a:latin typeface="Cambria Math" panose="02040503050406030204" pitchFamily="18" charset="0"/>
                        </a:rPr>
                        <m:t>=</m:t>
                      </m:r>
                      <m:sSub>
                        <m:sSubPr>
                          <m:ctrlPr>
                            <a:rPr lang="pt-BR" i="1" noProof="0">
                              <a:latin typeface="Cambria Math" panose="02040503050406030204" pitchFamily="18" charset="0"/>
                            </a:rPr>
                          </m:ctrlPr>
                        </m:sSubPr>
                        <m:e>
                          <m:r>
                            <a:rPr lang="pt-BR" i="1" noProof="0">
                              <a:latin typeface="Cambria Math" panose="02040503050406030204" pitchFamily="18" charset="0"/>
                            </a:rPr>
                            <m:t>𝑤</m:t>
                          </m:r>
                        </m:e>
                        <m:sub>
                          <m:r>
                            <a:rPr lang="pt-BR" b="0" i="1" noProof="0" smtClean="0">
                              <a:latin typeface="Cambria Math" panose="02040503050406030204" pitchFamily="18" charset="0"/>
                            </a:rPr>
                            <m:t>3</m:t>
                          </m:r>
                        </m:sub>
                      </m:sSub>
                      <m:r>
                        <a:rPr lang="pt-BR" i="1" noProof="0">
                          <a:latin typeface="Cambria Math" panose="02040503050406030204" pitchFamily="18" charset="0"/>
                        </a:rPr>
                        <m:t>𝑔</m:t>
                      </m:r>
                      <m:d>
                        <m:dPr>
                          <m:ctrlPr>
                            <a:rPr lang="pt-BR" i="1" noProof="0">
                              <a:latin typeface="Cambria Math" panose="02040503050406030204" pitchFamily="18" charset="0"/>
                            </a:rPr>
                          </m:ctrlPr>
                        </m:dPr>
                        <m:e>
                          <m:sSub>
                            <m:sSubPr>
                              <m:ctrlPr>
                                <a:rPr lang="pt-BR" i="1" noProof="0">
                                  <a:latin typeface="Cambria Math" panose="02040503050406030204" pitchFamily="18" charset="0"/>
                                </a:rPr>
                              </m:ctrlPr>
                            </m:sSubPr>
                            <m:e>
                              <m:r>
                                <a:rPr lang="pt-BR" i="1" noProof="0">
                                  <a:latin typeface="Cambria Math" panose="02040503050406030204" pitchFamily="18" charset="0"/>
                                </a:rPr>
                                <m:t>𝑤</m:t>
                              </m:r>
                            </m:e>
                            <m:sub>
                              <m:r>
                                <a:rPr lang="pt-BR" b="0" i="1" noProof="0" smtClean="0">
                                  <a:latin typeface="Cambria Math" panose="02040503050406030204" pitchFamily="18" charset="0"/>
                                </a:rPr>
                                <m:t>2</m:t>
                              </m:r>
                            </m:sub>
                          </m:sSub>
                          <m:r>
                            <a:rPr lang="pt-BR" i="1" noProof="0">
                              <a:latin typeface="Cambria Math" panose="02040503050406030204" pitchFamily="18" charset="0"/>
                            </a:rPr>
                            <m:t>ℎ</m:t>
                          </m:r>
                          <m:d>
                            <m:dPr>
                              <m:ctrlPr>
                                <a:rPr lang="pt-BR" i="1" noProof="0">
                                  <a:latin typeface="Cambria Math" panose="02040503050406030204" pitchFamily="18" charset="0"/>
                                </a:rPr>
                              </m:ctrlPr>
                            </m:dPr>
                            <m:e>
                              <m:sSub>
                                <m:sSubPr>
                                  <m:ctrlPr>
                                    <a:rPr lang="pt-BR" i="1" noProof="0">
                                      <a:latin typeface="Cambria Math" panose="02040503050406030204" pitchFamily="18" charset="0"/>
                                    </a:rPr>
                                  </m:ctrlPr>
                                </m:sSubPr>
                                <m:e>
                                  <m:r>
                                    <a:rPr lang="pt-BR" i="1" noProof="0">
                                      <a:latin typeface="Cambria Math" panose="02040503050406030204" pitchFamily="18" charset="0"/>
                                    </a:rPr>
                                    <m:t>𝑤</m:t>
                                  </m:r>
                                </m:e>
                                <m:sub>
                                  <m:r>
                                    <a:rPr lang="pt-BR" b="0" i="1" noProof="0" smtClean="0">
                                      <a:latin typeface="Cambria Math" panose="02040503050406030204" pitchFamily="18" charset="0"/>
                                    </a:rPr>
                                    <m:t>1</m:t>
                                  </m:r>
                                </m:sub>
                              </m:sSub>
                              <m:r>
                                <a:rPr lang="pt-BR" i="1" noProof="0">
                                  <a:latin typeface="Cambria Math" panose="02040503050406030204" pitchFamily="18" charset="0"/>
                                </a:rPr>
                                <m:t>𝑥</m:t>
                              </m:r>
                            </m:e>
                          </m:d>
                        </m:e>
                      </m:d>
                      <m:r>
                        <a:rPr lang="pt-BR" b="0" i="1" noProof="0" smtClean="0">
                          <a:latin typeface="Cambria Math" panose="02040503050406030204" pitchFamily="18" charset="0"/>
                        </a:rPr>
                        <m:t>=</m:t>
                      </m:r>
                      <m:sSub>
                        <m:sSubPr>
                          <m:ctrlPr>
                            <a:rPr lang="pt-BR" i="1" noProof="0">
                              <a:latin typeface="Cambria Math" panose="02040503050406030204" pitchFamily="18" charset="0"/>
                            </a:rPr>
                          </m:ctrlPr>
                        </m:sSubPr>
                        <m:e>
                          <m:r>
                            <a:rPr lang="pt-BR" i="1" noProof="0">
                              <a:latin typeface="Cambria Math" panose="02040503050406030204" pitchFamily="18" charset="0"/>
                            </a:rPr>
                            <m:t>𝑤</m:t>
                          </m:r>
                        </m:e>
                        <m:sub>
                          <m:r>
                            <a:rPr lang="pt-BR" b="0" i="1" noProof="0" smtClean="0">
                              <a:latin typeface="Cambria Math" panose="02040503050406030204" pitchFamily="18" charset="0"/>
                            </a:rPr>
                            <m:t>3</m:t>
                          </m:r>
                        </m:sub>
                      </m:sSub>
                      <m:r>
                        <a:rPr lang="pt-BR" i="1" noProof="0">
                          <a:latin typeface="Cambria Math" panose="02040503050406030204" pitchFamily="18" charset="0"/>
                        </a:rPr>
                        <m:t>𝑔</m:t>
                      </m:r>
                      <m:d>
                        <m:dPr>
                          <m:ctrlPr>
                            <a:rPr lang="pt-BR" i="1" noProof="0">
                              <a:latin typeface="Cambria Math" panose="02040503050406030204" pitchFamily="18" charset="0"/>
                            </a:rPr>
                          </m:ctrlPr>
                        </m:dPr>
                        <m:e>
                          <m:sSub>
                            <m:sSubPr>
                              <m:ctrlPr>
                                <a:rPr lang="pt-BR" i="1" noProof="0">
                                  <a:latin typeface="Cambria Math" panose="02040503050406030204" pitchFamily="18" charset="0"/>
                                </a:rPr>
                              </m:ctrlPr>
                            </m:sSubPr>
                            <m:e>
                              <m:r>
                                <a:rPr lang="pt-BR" i="1" noProof="0">
                                  <a:latin typeface="Cambria Math" panose="02040503050406030204" pitchFamily="18" charset="0"/>
                                </a:rPr>
                                <m:t>𝑢</m:t>
                              </m:r>
                            </m:e>
                            <m:sub>
                              <m:r>
                                <a:rPr lang="pt-BR" b="0" i="1" noProof="0" smtClean="0">
                                  <a:latin typeface="Cambria Math" panose="02040503050406030204" pitchFamily="18" charset="0"/>
                                </a:rPr>
                                <m:t>2</m:t>
                              </m:r>
                            </m:sub>
                          </m:sSub>
                        </m:e>
                      </m:d>
                      <m:r>
                        <a:rPr lang="pt-BR" b="0" i="0" noProof="0" smtClean="0">
                          <a:latin typeface="Cambria Math" panose="02040503050406030204" pitchFamily="18" charset="0"/>
                        </a:rPr>
                        <m:t>.</m:t>
                      </m:r>
                    </m:oMath>
                  </m:oMathPara>
                </a14:m>
                <a:endParaRPr lang="pt-BR" noProof="0" dirty="0"/>
              </a:p>
              <a:p>
                <a:r>
                  <a:rPr lang="pt-BR" noProof="0" dirty="0"/>
                  <a:t>Essas variáveis são chamadas de </a:t>
                </a:r>
                <a:r>
                  <a:rPr lang="pt-BR" b="1" noProof="0" dirty="0">
                    <a:solidFill>
                      <a:schemeClr val="accent2"/>
                    </a:solidFill>
                  </a:rPr>
                  <a:t>ativações</a:t>
                </a:r>
                <a:r>
                  <a:rPr lang="pt-BR" noProof="0" dirty="0"/>
                  <a:t>.</a:t>
                </a:r>
              </a:p>
              <a:p>
                <a:pPr marL="0" indent="0">
                  <a:buNone/>
                </a:pPr>
                <a:endParaRPr lang="pt-BR" noProof="0" dirty="0"/>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5BF615BC-2786-CA1F-664E-992832AC0C08}"/>
                  </a:ext>
                </a:extLst>
              </p:cNvPr>
              <p:cNvSpPr>
                <a:spLocks noGrp="1" noRot="1" noChangeAspect="1" noMove="1" noResize="1" noEditPoints="1" noAdjustHandles="1" noChangeArrowheads="1" noChangeShapeType="1" noTextEdit="1"/>
              </p:cNvSpPr>
              <p:nvPr>
                <p:ph idx="1"/>
              </p:nvPr>
            </p:nvSpPr>
            <p:spPr>
              <a:xfrm>
                <a:off x="838199" y="1825625"/>
                <a:ext cx="11353801" cy="5032375"/>
              </a:xfrm>
              <a:blipFill rotWithShape="0">
                <a:blip r:embed="rId3"/>
                <a:stretch>
                  <a:fillRect l="-913" t="-2663" r="-537" b="-290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Retângulo 12">
                <a:extLst>
                  <a:ext uri="{FF2B5EF4-FFF2-40B4-BE49-F238E27FC236}">
                    <a16:creationId xmlns:a16="http://schemas.microsoft.com/office/drawing/2014/main" id="{9B36616D-E944-80BF-04DE-C825CF6150D1}"/>
                  </a:ext>
                </a:extLst>
              </p:cNvPr>
              <p:cNvSpPr/>
              <p:nvPr/>
            </p:nvSpPr>
            <p:spPr>
              <a:xfrm>
                <a:off x="2465618" y="4785958"/>
                <a:ext cx="1237117" cy="369332"/>
              </a:xfrm>
              <a:prstGeom prst="rect">
                <a:avLst/>
              </a:prstGeom>
            </p:spPr>
            <p:txBody>
              <a:bodyPr wrap="square">
                <a:spAutoFit/>
              </a:bodyPr>
              <a:lstStyle/>
              <a:p>
                <a:pPr algn="ctr"/>
                <a14:m>
                  <m:oMathPara xmlns:m="http://schemas.openxmlformats.org/officeDocument/2006/math">
                    <m:oMathParaPr>
                      <m:jc m:val="center"/>
                    </m:oMathParaPr>
                    <m:oMath>
                      <m:r>
                        <a:rPr lang="pt-BR" i="1" smtClean="0">
                          <a:latin typeface="Cambria Math" panose="02040503050406030204" pitchFamily="18" charset="0"/>
                        </a:rPr>
                        <m:t> </m:t>
                      </m:r>
                    </m:oMath>
                  </m:oMathPara>
                </a14:m>
                <a:endParaRPr lang="en-US" dirty="0"/>
              </a:p>
            </p:txBody>
          </p:sp>
        </mc:Choice>
        <mc:Fallback xmlns="">
          <p:sp>
            <p:nvSpPr>
              <p:cNvPr id="15" name="Retângulo 12">
                <a:extLst>
                  <a:ext uri="{FF2B5EF4-FFF2-40B4-BE49-F238E27FC236}">
                    <a16:creationId xmlns:a16="http://schemas.microsoft.com/office/drawing/2014/main" id="{9B36616D-E944-80BF-04DE-C825CF6150D1}"/>
                  </a:ext>
                </a:extLst>
              </p:cNvPr>
              <p:cNvSpPr>
                <a:spLocks noRot="1" noChangeAspect="1" noMove="1" noResize="1" noEditPoints="1" noAdjustHandles="1" noChangeArrowheads="1" noChangeShapeType="1" noTextEdit="1"/>
              </p:cNvSpPr>
              <p:nvPr/>
            </p:nvSpPr>
            <p:spPr>
              <a:xfrm>
                <a:off x="2465618" y="4785958"/>
                <a:ext cx="1237117" cy="369332"/>
              </a:xfrm>
              <a:prstGeom prst="rect">
                <a:avLst/>
              </a:prstGeom>
              <a:blipFill>
                <a:blip r:embed="rId4"/>
                <a:stretch>
                  <a:fillRect/>
                </a:stretch>
              </a:blipFill>
            </p:spPr>
            <p:txBody>
              <a:bodyPr/>
              <a:lstStyle/>
              <a:p>
                <a:r>
                  <a:rPr lang="en-US">
                    <a:noFill/>
                  </a:rPr>
                  <a:t> </a:t>
                </a:r>
              </a:p>
            </p:txBody>
          </p:sp>
        </mc:Fallback>
      </mc:AlternateContent>
      <p:grpSp>
        <p:nvGrpSpPr>
          <p:cNvPr id="36" name="Group 35">
            <a:extLst>
              <a:ext uri="{FF2B5EF4-FFF2-40B4-BE49-F238E27FC236}">
                <a16:creationId xmlns:a16="http://schemas.microsoft.com/office/drawing/2014/main" id="{15EECB81-4888-BE43-D57A-7E0AC3433AAA}"/>
              </a:ext>
            </a:extLst>
          </p:cNvPr>
          <p:cNvGrpSpPr/>
          <p:nvPr/>
        </p:nvGrpSpPr>
        <p:grpSpPr>
          <a:xfrm>
            <a:off x="2824117" y="3859500"/>
            <a:ext cx="6543765" cy="685593"/>
            <a:chOff x="2824117" y="4105306"/>
            <a:chExt cx="6543765" cy="685593"/>
          </a:xfrm>
        </p:grpSpPr>
        <mc:AlternateContent xmlns:mc="http://schemas.openxmlformats.org/markup-compatibility/2006" xmlns:a14="http://schemas.microsoft.com/office/drawing/2010/main">
          <mc:Choice Requires="a14">
            <p:sp>
              <p:nvSpPr>
                <p:cNvPr id="7" name="Elipse 4">
                  <a:extLst>
                    <a:ext uri="{FF2B5EF4-FFF2-40B4-BE49-F238E27FC236}">
                      <a16:creationId xmlns:a16="http://schemas.microsoft.com/office/drawing/2014/main" id="{633D9C31-DFA6-3082-DD70-2794AB92394E}"/>
                    </a:ext>
                  </a:extLst>
                </p:cNvPr>
                <p:cNvSpPr/>
                <p:nvPr/>
              </p:nvSpPr>
              <p:spPr>
                <a:xfrm>
                  <a:off x="3630508" y="419197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ℎ</m:t>
                        </m:r>
                        <m:r>
                          <a:rPr lang="pt-BR" b="0" i="1" smtClean="0">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7" name="Elipse 4">
                  <a:extLst>
                    <a:ext uri="{FF2B5EF4-FFF2-40B4-BE49-F238E27FC236}">
                      <a16:creationId xmlns:a16="http://schemas.microsoft.com/office/drawing/2014/main" id="{633D9C31-DFA6-3082-DD70-2794AB92394E}"/>
                    </a:ext>
                  </a:extLst>
                </p:cNvPr>
                <p:cNvSpPr>
                  <a:spLocks noRot="1" noChangeAspect="1" noMove="1" noResize="1" noEditPoints="1" noAdjustHandles="1" noChangeArrowheads="1" noChangeShapeType="1" noTextEdit="1"/>
                </p:cNvSpPr>
                <p:nvPr/>
              </p:nvSpPr>
              <p:spPr>
                <a:xfrm>
                  <a:off x="3630508" y="4191970"/>
                  <a:ext cx="576000" cy="576000"/>
                </a:xfrm>
                <a:prstGeom prst="ellipse">
                  <a:avLst/>
                </a:prstGeom>
                <a:blipFill>
                  <a:blip r:embed="rId5"/>
                  <a:stretch>
                    <a:fillRect r="-4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Elipse 5">
                  <a:extLst>
                    <a:ext uri="{FF2B5EF4-FFF2-40B4-BE49-F238E27FC236}">
                      <a16:creationId xmlns:a16="http://schemas.microsoft.com/office/drawing/2014/main" id="{F5BA69D4-07C9-A369-D2AF-6B93C40D70CD}"/>
                    </a:ext>
                  </a:extLst>
                </p:cNvPr>
                <p:cNvSpPr/>
                <p:nvPr/>
              </p:nvSpPr>
              <p:spPr>
                <a:xfrm>
                  <a:off x="5434880" y="419197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𝑔</m:t>
                        </m:r>
                        <m:r>
                          <a:rPr lang="pt-BR" i="1">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8" name="Elipse 5">
                  <a:extLst>
                    <a:ext uri="{FF2B5EF4-FFF2-40B4-BE49-F238E27FC236}">
                      <a16:creationId xmlns:a16="http://schemas.microsoft.com/office/drawing/2014/main" id="{F5BA69D4-07C9-A369-D2AF-6B93C40D70CD}"/>
                    </a:ext>
                  </a:extLst>
                </p:cNvPr>
                <p:cNvSpPr>
                  <a:spLocks noRot="1" noChangeAspect="1" noMove="1" noResize="1" noEditPoints="1" noAdjustHandles="1" noChangeArrowheads="1" noChangeShapeType="1" noTextEdit="1"/>
                </p:cNvSpPr>
                <p:nvPr/>
              </p:nvSpPr>
              <p:spPr>
                <a:xfrm>
                  <a:off x="5434880" y="4191970"/>
                  <a:ext cx="576000" cy="576000"/>
                </a:xfrm>
                <a:prstGeom prst="ellipse">
                  <a:avLst/>
                </a:prstGeom>
                <a:blipFill>
                  <a:blip r:embed="rId6"/>
                  <a:stretch>
                    <a:fillRect l="-1042" r="-52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Elipse 6">
                  <a:extLst>
                    <a:ext uri="{FF2B5EF4-FFF2-40B4-BE49-F238E27FC236}">
                      <a16:creationId xmlns:a16="http://schemas.microsoft.com/office/drawing/2014/main" id="{D327F739-FF71-EB11-0FD1-6CFEA4FD3BFC}"/>
                    </a:ext>
                  </a:extLst>
                </p:cNvPr>
                <p:cNvSpPr/>
                <p:nvPr/>
              </p:nvSpPr>
              <p:spPr>
                <a:xfrm>
                  <a:off x="7238332" y="419197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𝑓</m:t>
                        </m:r>
                        <m:r>
                          <a:rPr lang="pt-BR" i="1">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9" name="Elipse 6">
                  <a:extLst>
                    <a:ext uri="{FF2B5EF4-FFF2-40B4-BE49-F238E27FC236}">
                      <a16:creationId xmlns:a16="http://schemas.microsoft.com/office/drawing/2014/main" id="{D327F739-FF71-EB11-0FD1-6CFEA4FD3BFC}"/>
                    </a:ext>
                  </a:extLst>
                </p:cNvPr>
                <p:cNvSpPr>
                  <a:spLocks noRot="1" noChangeAspect="1" noMove="1" noResize="1" noEditPoints="1" noAdjustHandles="1" noChangeArrowheads="1" noChangeShapeType="1" noTextEdit="1"/>
                </p:cNvSpPr>
                <p:nvPr/>
              </p:nvSpPr>
              <p:spPr>
                <a:xfrm>
                  <a:off x="7238332" y="4191970"/>
                  <a:ext cx="576000" cy="576000"/>
                </a:xfrm>
                <a:prstGeom prst="ellipse">
                  <a:avLst/>
                </a:prstGeom>
                <a:blipFill>
                  <a:blip r:embed="rId7"/>
                  <a:stretch>
                    <a:fillRect l="-3093" r="-4124"/>
                  </a:stretch>
                </a:blipFill>
              </p:spPr>
              <p:txBody>
                <a:bodyPr/>
                <a:lstStyle/>
                <a:p>
                  <a:r>
                    <a:rPr lang="en-US">
                      <a:noFill/>
                    </a:rPr>
                    <a:t> </a:t>
                  </a:r>
                </a:p>
              </p:txBody>
            </p:sp>
          </mc:Fallback>
        </mc:AlternateContent>
        <p:cxnSp>
          <p:nvCxnSpPr>
            <p:cNvPr id="10" name="Conector de Seta Reta 7">
              <a:extLst>
                <a:ext uri="{FF2B5EF4-FFF2-40B4-BE49-F238E27FC236}">
                  <a16:creationId xmlns:a16="http://schemas.microsoft.com/office/drawing/2014/main" id="{3EB6652E-D7A4-3D53-0846-F1BCA7D3B54C}"/>
                </a:ext>
              </a:extLst>
            </p:cNvPr>
            <p:cNvCxnSpPr>
              <a:cxnSpLocks/>
            </p:cNvCxnSpPr>
            <p:nvPr/>
          </p:nvCxnSpPr>
          <p:spPr>
            <a:xfrm>
              <a:off x="4206507" y="4479970"/>
              <a:ext cx="12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de Seta Reta 12">
              <a:extLst>
                <a:ext uri="{FF2B5EF4-FFF2-40B4-BE49-F238E27FC236}">
                  <a16:creationId xmlns:a16="http://schemas.microsoft.com/office/drawing/2014/main" id="{F3DFC699-3B19-0FEE-C53B-3464E77AFC53}"/>
                </a:ext>
              </a:extLst>
            </p:cNvPr>
            <p:cNvCxnSpPr/>
            <p:nvPr/>
          </p:nvCxnSpPr>
          <p:spPr>
            <a:xfrm>
              <a:off x="7814332" y="4479970"/>
              <a:ext cx="36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tângulo 10">
                  <a:extLst>
                    <a:ext uri="{FF2B5EF4-FFF2-40B4-BE49-F238E27FC236}">
                      <a16:creationId xmlns:a16="http://schemas.microsoft.com/office/drawing/2014/main" id="{41E9C926-F8C0-AD63-B23E-0F7B0A223C05}"/>
                    </a:ext>
                  </a:extLst>
                </p:cNvPr>
                <p:cNvSpPr/>
                <p:nvPr/>
              </p:nvSpPr>
              <p:spPr>
                <a:xfrm>
                  <a:off x="8077721" y="4260973"/>
                  <a:ext cx="1290161" cy="369332"/>
                </a:xfrm>
                <a:prstGeom prst="rect">
                  <a:avLst/>
                </a:prstGeom>
              </p:spPr>
              <p:txBody>
                <a:bodyPr wrap="none">
                  <a:spAutoFit/>
                </a:bodyPr>
                <a:lstStyle/>
                <a:p>
                  <a:pPr algn="ctr"/>
                  <a14:m>
                    <m:oMathPara xmlns:m="http://schemas.openxmlformats.org/officeDocument/2006/math">
                      <m:oMathParaPr>
                        <m:jc m:val="center"/>
                      </m:oMathParaPr>
                      <m:oMath>
                        <m:r>
                          <a:rPr lang="pt-BR" i="1" smtClean="0">
                            <a:latin typeface="Cambria Math" panose="02040503050406030204" pitchFamily="18" charset="0"/>
                          </a:rPr>
                          <m:t> </m:t>
                        </m:r>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r>
                          <a:rPr lang="pt-BR" b="0" i="1" smtClean="0">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3</m:t>
                            </m:r>
                          </m:sub>
                        </m:sSub>
                        <m:r>
                          <a:rPr lang="pt-BR" i="1">
                            <a:latin typeface="Cambria Math" panose="02040503050406030204" pitchFamily="18" charset="0"/>
                          </a:rPr>
                          <m:t>)</m:t>
                        </m:r>
                      </m:oMath>
                    </m:oMathPara>
                  </a14:m>
                  <a:endParaRPr lang="en-US" dirty="0"/>
                </a:p>
              </p:txBody>
            </p:sp>
          </mc:Choice>
          <mc:Fallback xmlns="">
            <p:sp>
              <p:nvSpPr>
                <p:cNvPr id="13" name="Retângulo 10">
                  <a:extLst>
                    <a:ext uri="{FF2B5EF4-FFF2-40B4-BE49-F238E27FC236}">
                      <a16:creationId xmlns:a16="http://schemas.microsoft.com/office/drawing/2014/main" id="{41E9C926-F8C0-AD63-B23E-0F7B0A223C05}"/>
                    </a:ext>
                  </a:extLst>
                </p:cNvPr>
                <p:cNvSpPr>
                  <a:spLocks noRot="1" noChangeAspect="1" noMove="1" noResize="1" noEditPoints="1" noAdjustHandles="1" noChangeArrowheads="1" noChangeShapeType="1" noTextEdit="1"/>
                </p:cNvSpPr>
                <p:nvPr/>
              </p:nvSpPr>
              <p:spPr>
                <a:xfrm>
                  <a:off x="8077721" y="4260973"/>
                  <a:ext cx="1290161" cy="369332"/>
                </a:xfrm>
                <a:prstGeom prst="rect">
                  <a:avLst/>
                </a:prstGeom>
                <a:blipFill>
                  <a:blip r:embed="rId8"/>
                  <a:stretch>
                    <a:fillRect t="-6667"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tângulo 13">
                  <a:extLst>
                    <a:ext uri="{FF2B5EF4-FFF2-40B4-BE49-F238E27FC236}">
                      <a16:creationId xmlns:a16="http://schemas.microsoft.com/office/drawing/2014/main" id="{1330C992-F346-CC20-7943-524305990CF2}"/>
                    </a:ext>
                  </a:extLst>
                </p:cNvPr>
                <p:cNvSpPr/>
                <p:nvPr/>
              </p:nvSpPr>
              <p:spPr>
                <a:xfrm>
                  <a:off x="2824117" y="4278202"/>
                  <a:ext cx="419282" cy="369332"/>
                </a:xfrm>
                <a:prstGeom prst="rect">
                  <a:avLst/>
                </a:prstGeom>
              </p:spPr>
              <p:txBody>
                <a:bodyPr wrap="none">
                  <a:spAutoFit/>
                </a:bodyPr>
                <a:lstStyle/>
                <a:p>
                  <a:pPr algn="ctr"/>
                  <a14:m>
                    <m:oMathPara xmlns:m="http://schemas.openxmlformats.org/officeDocument/2006/math">
                      <m:oMathParaPr>
                        <m:jc m:val="center"/>
                      </m:oMathParaPr>
                      <m:oMath>
                        <m:r>
                          <a:rPr lang="pt-BR" i="1" smtClean="0">
                            <a:latin typeface="Cambria Math" panose="02040503050406030204" pitchFamily="18" charset="0"/>
                          </a:rPr>
                          <m:t> </m:t>
                        </m:r>
                        <m:r>
                          <a:rPr lang="pt-BR" b="0" i="1" smtClean="0">
                            <a:latin typeface="Cambria Math" panose="02040503050406030204" pitchFamily="18" charset="0"/>
                          </a:rPr>
                          <m:t>𝑥</m:t>
                        </m:r>
                      </m:oMath>
                    </m:oMathPara>
                  </a14:m>
                  <a:endParaRPr lang="en-US" dirty="0"/>
                </a:p>
              </p:txBody>
            </p:sp>
          </mc:Choice>
          <mc:Fallback xmlns="">
            <p:sp>
              <p:nvSpPr>
                <p:cNvPr id="16" name="Retângulo 13">
                  <a:extLst>
                    <a:ext uri="{FF2B5EF4-FFF2-40B4-BE49-F238E27FC236}">
                      <a16:creationId xmlns:a16="http://schemas.microsoft.com/office/drawing/2014/main" id="{1330C992-F346-CC20-7943-524305990CF2}"/>
                    </a:ext>
                  </a:extLst>
                </p:cNvPr>
                <p:cNvSpPr>
                  <a:spLocks noRot="1" noChangeAspect="1" noMove="1" noResize="1" noEditPoints="1" noAdjustHandles="1" noChangeArrowheads="1" noChangeShapeType="1" noTextEdit="1"/>
                </p:cNvSpPr>
                <p:nvPr/>
              </p:nvSpPr>
              <p:spPr>
                <a:xfrm>
                  <a:off x="2824117" y="4278202"/>
                  <a:ext cx="419282" cy="369332"/>
                </a:xfrm>
                <a:prstGeom prst="rect">
                  <a:avLst/>
                </a:prstGeom>
                <a:blipFill>
                  <a:blip r:embed="rId9"/>
                  <a:stretch>
                    <a:fillRect/>
                  </a:stretch>
                </a:blipFill>
              </p:spPr>
              <p:txBody>
                <a:bodyPr/>
                <a:lstStyle/>
                <a:p>
                  <a:r>
                    <a:rPr lang="en-US">
                      <a:noFill/>
                    </a:rPr>
                    <a:t> </a:t>
                  </a:r>
                </a:p>
              </p:txBody>
            </p:sp>
          </mc:Fallback>
        </mc:AlternateContent>
        <p:cxnSp>
          <p:nvCxnSpPr>
            <p:cNvPr id="17" name="Conector de Seta Reta 17">
              <a:extLst>
                <a:ext uri="{FF2B5EF4-FFF2-40B4-BE49-F238E27FC236}">
                  <a16:creationId xmlns:a16="http://schemas.microsoft.com/office/drawing/2014/main" id="{312E89C0-1C24-ACB0-845A-4621F2D3BD18}"/>
                </a:ext>
              </a:extLst>
            </p:cNvPr>
            <p:cNvCxnSpPr/>
            <p:nvPr/>
          </p:nvCxnSpPr>
          <p:spPr>
            <a:xfrm>
              <a:off x="3123024" y="4485279"/>
              <a:ext cx="50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F421B8B-79CA-D541-EEB0-3F7DF7B31E52}"/>
                    </a:ext>
                  </a:extLst>
                </p:cNvPr>
                <p:cNvSpPr txBox="1"/>
                <p:nvPr/>
              </p:nvSpPr>
              <p:spPr>
                <a:xfrm>
                  <a:off x="3118652" y="4120741"/>
                  <a:ext cx="507482"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1</m:t>
                            </m:r>
                          </m:sub>
                        </m:sSub>
                      </m:oMath>
                    </m:oMathPara>
                  </a14:m>
                  <a:endParaRPr lang="en-US" dirty="0"/>
                </a:p>
              </p:txBody>
            </p:sp>
          </mc:Choice>
          <mc:Fallback xmlns="">
            <p:sp>
              <p:nvSpPr>
                <p:cNvPr id="22" name="TextBox 21">
                  <a:extLst>
                    <a:ext uri="{FF2B5EF4-FFF2-40B4-BE49-F238E27FC236}">
                      <a16:creationId xmlns:a16="http://schemas.microsoft.com/office/drawing/2014/main" id="{FF421B8B-79CA-D541-EEB0-3F7DF7B31E52}"/>
                    </a:ext>
                  </a:extLst>
                </p:cNvPr>
                <p:cNvSpPr txBox="1">
                  <a:spLocks noRot="1" noChangeAspect="1" noMove="1" noResize="1" noEditPoints="1" noAdjustHandles="1" noChangeArrowheads="1" noChangeShapeType="1" noTextEdit="1"/>
                </p:cNvSpPr>
                <p:nvPr/>
              </p:nvSpPr>
              <p:spPr>
                <a:xfrm>
                  <a:off x="3118652" y="4120741"/>
                  <a:ext cx="507482"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FEA34E7-938B-9A3F-73F6-346EE9769A37}"/>
                    </a:ext>
                  </a:extLst>
                </p:cNvPr>
                <p:cNvSpPr txBox="1"/>
                <p:nvPr/>
              </p:nvSpPr>
              <p:spPr>
                <a:xfrm>
                  <a:off x="4202134" y="4105306"/>
                  <a:ext cx="1232743"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2</m:t>
                            </m:r>
                          </m:sub>
                        </m:sSub>
                      </m:oMath>
                    </m:oMathPara>
                  </a14:m>
                  <a:endParaRPr lang="en-US" dirty="0"/>
                </a:p>
              </p:txBody>
            </p:sp>
          </mc:Choice>
          <mc:Fallback xmlns="">
            <p:sp>
              <p:nvSpPr>
                <p:cNvPr id="23" name="TextBox 22">
                  <a:extLst>
                    <a:ext uri="{FF2B5EF4-FFF2-40B4-BE49-F238E27FC236}">
                      <a16:creationId xmlns:a16="http://schemas.microsoft.com/office/drawing/2014/main" id="{0FEA34E7-938B-9A3F-73F6-346EE9769A37}"/>
                    </a:ext>
                  </a:extLst>
                </p:cNvPr>
                <p:cNvSpPr txBox="1">
                  <a:spLocks noRot="1" noChangeAspect="1" noMove="1" noResize="1" noEditPoints="1" noAdjustHandles="1" noChangeArrowheads="1" noChangeShapeType="1" noTextEdit="1"/>
                </p:cNvSpPr>
                <p:nvPr/>
              </p:nvSpPr>
              <p:spPr>
                <a:xfrm>
                  <a:off x="4202134" y="4105306"/>
                  <a:ext cx="1232743"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BE36F37-8A2C-6242-BF23-F377A09A83A0}"/>
                    </a:ext>
                  </a:extLst>
                </p:cNvPr>
                <p:cNvSpPr txBox="1"/>
                <p:nvPr/>
              </p:nvSpPr>
              <p:spPr>
                <a:xfrm>
                  <a:off x="6015253" y="4105306"/>
                  <a:ext cx="1232743"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3</m:t>
                            </m:r>
                          </m:sub>
                        </m:sSub>
                      </m:oMath>
                    </m:oMathPara>
                  </a14:m>
                  <a:endParaRPr lang="en-US" dirty="0"/>
                </a:p>
              </p:txBody>
            </p:sp>
          </mc:Choice>
          <mc:Fallback xmlns="">
            <p:sp>
              <p:nvSpPr>
                <p:cNvPr id="24" name="TextBox 23">
                  <a:extLst>
                    <a:ext uri="{FF2B5EF4-FFF2-40B4-BE49-F238E27FC236}">
                      <a16:creationId xmlns:a16="http://schemas.microsoft.com/office/drawing/2014/main" id="{7BE36F37-8A2C-6242-BF23-F377A09A83A0}"/>
                    </a:ext>
                  </a:extLst>
                </p:cNvPr>
                <p:cNvSpPr txBox="1">
                  <a:spLocks noRot="1" noChangeAspect="1" noMove="1" noResize="1" noEditPoints="1" noAdjustHandles="1" noChangeArrowheads="1" noChangeShapeType="1" noTextEdit="1"/>
                </p:cNvSpPr>
                <p:nvPr/>
              </p:nvSpPr>
              <p:spPr>
                <a:xfrm>
                  <a:off x="6015253" y="4105306"/>
                  <a:ext cx="1232743"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760C9FE-D9DE-D5B0-9045-04D52F8CD414}"/>
                    </a:ext>
                  </a:extLst>
                </p:cNvPr>
                <p:cNvSpPr txBox="1"/>
                <p:nvPr/>
              </p:nvSpPr>
              <p:spPr>
                <a:xfrm>
                  <a:off x="5054301" y="4416626"/>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2</m:t>
                            </m:r>
                          </m:sub>
                        </m:sSub>
                      </m:oMath>
                    </m:oMathPara>
                  </a14:m>
                  <a:endParaRPr lang="en-US" dirty="0"/>
                </a:p>
              </p:txBody>
            </p:sp>
          </mc:Choice>
          <mc:Fallback xmlns="">
            <p:sp>
              <p:nvSpPr>
                <p:cNvPr id="31" name="TextBox 30">
                  <a:extLst>
                    <a:ext uri="{FF2B5EF4-FFF2-40B4-BE49-F238E27FC236}">
                      <a16:creationId xmlns:a16="http://schemas.microsoft.com/office/drawing/2014/main" id="{E760C9FE-D9DE-D5B0-9045-04D52F8CD414}"/>
                    </a:ext>
                  </a:extLst>
                </p:cNvPr>
                <p:cNvSpPr txBox="1">
                  <a:spLocks noRot="1" noChangeAspect="1" noMove="1" noResize="1" noEditPoints="1" noAdjustHandles="1" noChangeArrowheads="1" noChangeShapeType="1" noTextEdit="1"/>
                </p:cNvSpPr>
                <p:nvPr/>
              </p:nvSpPr>
              <p:spPr>
                <a:xfrm>
                  <a:off x="5054301" y="4416626"/>
                  <a:ext cx="535857" cy="369332"/>
                </a:xfrm>
                <a:prstGeom prst="rect">
                  <a:avLst/>
                </a:prstGeom>
                <a:blipFill>
                  <a:blip r:embed="rId13"/>
                  <a:stretch>
                    <a:fillRect/>
                  </a:stretch>
                </a:blipFill>
              </p:spPr>
              <p:txBody>
                <a:bodyPr/>
                <a:lstStyle/>
                <a:p>
                  <a:r>
                    <a:rPr lang="en-US">
                      <a:noFill/>
                    </a:rPr>
                    <a:t> </a:t>
                  </a:r>
                </a:p>
              </p:txBody>
            </p:sp>
          </mc:Fallback>
        </mc:AlternateContent>
        <p:cxnSp>
          <p:nvCxnSpPr>
            <p:cNvPr id="32" name="Conector de Seta Reta 7">
              <a:extLst>
                <a:ext uri="{FF2B5EF4-FFF2-40B4-BE49-F238E27FC236}">
                  <a16:creationId xmlns:a16="http://schemas.microsoft.com/office/drawing/2014/main" id="{82B2D064-F37C-9C64-51DF-13B09FB79146}"/>
                </a:ext>
              </a:extLst>
            </p:cNvPr>
            <p:cNvCxnSpPr>
              <a:cxnSpLocks/>
            </p:cNvCxnSpPr>
            <p:nvPr/>
          </p:nvCxnSpPr>
          <p:spPr>
            <a:xfrm>
              <a:off x="6017226" y="4474638"/>
              <a:ext cx="12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22EA230-25F4-2AAD-DC8A-A42A708F2C4C}"/>
                    </a:ext>
                  </a:extLst>
                </p:cNvPr>
                <p:cNvSpPr txBox="1"/>
                <p:nvPr/>
              </p:nvSpPr>
              <p:spPr>
                <a:xfrm>
                  <a:off x="6846951" y="4406794"/>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3</m:t>
                            </m:r>
                          </m:sub>
                        </m:sSub>
                      </m:oMath>
                    </m:oMathPara>
                  </a14:m>
                  <a:endParaRPr lang="en-US" dirty="0"/>
                </a:p>
              </p:txBody>
            </p:sp>
          </mc:Choice>
          <mc:Fallback xmlns="">
            <p:sp>
              <p:nvSpPr>
                <p:cNvPr id="33" name="TextBox 32">
                  <a:extLst>
                    <a:ext uri="{FF2B5EF4-FFF2-40B4-BE49-F238E27FC236}">
                      <a16:creationId xmlns:a16="http://schemas.microsoft.com/office/drawing/2014/main" id="{C22EA230-25F4-2AAD-DC8A-A42A708F2C4C}"/>
                    </a:ext>
                  </a:extLst>
                </p:cNvPr>
                <p:cNvSpPr txBox="1">
                  <a:spLocks noRot="1" noChangeAspect="1" noMove="1" noResize="1" noEditPoints="1" noAdjustHandles="1" noChangeArrowheads="1" noChangeShapeType="1" noTextEdit="1"/>
                </p:cNvSpPr>
                <p:nvPr/>
              </p:nvSpPr>
              <p:spPr>
                <a:xfrm>
                  <a:off x="6846951" y="4406794"/>
                  <a:ext cx="535857"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EB8D773-FD39-350F-AD63-7E27AC57E1E5}"/>
                    </a:ext>
                  </a:extLst>
                </p:cNvPr>
                <p:cNvSpPr txBox="1"/>
                <p:nvPr/>
              </p:nvSpPr>
              <p:spPr>
                <a:xfrm>
                  <a:off x="3241274" y="4421567"/>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1</m:t>
                            </m:r>
                          </m:sub>
                        </m:sSub>
                      </m:oMath>
                    </m:oMathPara>
                  </a14:m>
                  <a:endParaRPr lang="en-US" dirty="0"/>
                </a:p>
              </p:txBody>
            </p:sp>
          </mc:Choice>
          <mc:Fallback xmlns="">
            <p:sp>
              <p:nvSpPr>
                <p:cNvPr id="35" name="TextBox 34">
                  <a:extLst>
                    <a:ext uri="{FF2B5EF4-FFF2-40B4-BE49-F238E27FC236}">
                      <a16:creationId xmlns:a16="http://schemas.microsoft.com/office/drawing/2014/main" id="{BEB8D773-FD39-350F-AD63-7E27AC57E1E5}"/>
                    </a:ext>
                  </a:extLst>
                </p:cNvPr>
                <p:cNvSpPr txBox="1">
                  <a:spLocks noRot="1" noChangeAspect="1" noMove="1" noResize="1" noEditPoints="1" noAdjustHandles="1" noChangeArrowheads="1" noChangeShapeType="1" noTextEdit="1"/>
                </p:cNvSpPr>
                <p:nvPr/>
              </p:nvSpPr>
              <p:spPr>
                <a:xfrm>
                  <a:off x="3241274" y="4421567"/>
                  <a:ext cx="535857" cy="369332"/>
                </a:xfrm>
                <a:prstGeom prst="rect">
                  <a:avLst/>
                </a:prstGeom>
                <a:blipFill>
                  <a:blip r:embed="rId15"/>
                  <a:stretch>
                    <a:fillRect/>
                  </a:stretch>
                </a:blipFill>
              </p:spPr>
              <p:txBody>
                <a:bodyPr/>
                <a:lstStyle/>
                <a:p>
                  <a:r>
                    <a:rPr lang="en-US">
                      <a:noFill/>
                    </a:rPr>
                    <a:t> </a:t>
                  </a:r>
                </a:p>
              </p:txBody>
            </p:sp>
          </mc:Fallback>
        </mc:AlternateContent>
      </p:grpSp>
      <p:sp>
        <p:nvSpPr>
          <p:cNvPr id="4" name="CaixaDeTexto 3">
            <a:extLst>
              <a:ext uri="{FF2B5EF4-FFF2-40B4-BE49-F238E27FC236}">
                <a16:creationId xmlns:a16="http://schemas.microsoft.com/office/drawing/2014/main" id="{D61FA2EF-965D-BF9A-E066-D1A3DC248C20}"/>
              </a:ext>
            </a:extLst>
          </p:cNvPr>
          <p:cNvSpPr txBox="1"/>
          <p:nvPr/>
        </p:nvSpPr>
        <p:spPr>
          <a:xfrm>
            <a:off x="9480082" y="3791656"/>
            <a:ext cx="2246641" cy="369332"/>
          </a:xfrm>
          <a:prstGeom prst="rect">
            <a:avLst/>
          </a:prstGeom>
          <a:noFill/>
        </p:spPr>
        <p:txBody>
          <a:bodyPr wrap="none" rtlCol="0">
            <a:spAutoFit/>
          </a:bodyPr>
          <a:lstStyle/>
          <a:p>
            <a:r>
              <a:rPr lang="pt-BR" b="1" dirty="0">
                <a:solidFill>
                  <a:srgbClr val="00B0F0"/>
                </a:solidFill>
              </a:rPr>
              <a:t>Rede com 3 camadas.</a:t>
            </a:r>
            <a:endParaRPr lang="en-US" b="1" dirty="0">
              <a:solidFill>
                <a:srgbClr val="00B0F0"/>
              </a:solidFill>
            </a:endParaRPr>
          </a:p>
        </p:txBody>
      </p:sp>
    </p:spTree>
    <p:extLst>
      <p:ext uri="{BB962C8B-B14F-4D97-AF65-F5344CB8AC3E}">
        <p14:creationId xmlns:p14="http://schemas.microsoft.com/office/powerpoint/2010/main" val="3087939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2DF1B7-8386-676F-A207-485C7F06D32E}"/>
              </a:ext>
            </a:extLst>
          </p:cNvPr>
          <p:cNvSpPr>
            <a:spLocks noGrp="1"/>
          </p:cNvSpPr>
          <p:nvPr>
            <p:ph type="title"/>
          </p:nvPr>
        </p:nvSpPr>
        <p:spPr/>
        <p:txBody>
          <a:bodyPr/>
          <a:lstStyle/>
          <a:p>
            <a:r>
              <a:rPr lang="pt-BR" dirty="0"/>
              <a:t>Regra da cadeia</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322D5A62-CE6E-1AA5-57FE-1C7135D815BD}"/>
                  </a:ext>
                </a:extLst>
              </p:cNvPr>
              <p:cNvSpPr>
                <a:spLocks noGrp="1"/>
              </p:cNvSpPr>
              <p:nvPr>
                <p:ph idx="1"/>
              </p:nvPr>
            </p:nvSpPr>
            <p:spPr>
              <a:xfrm>
                <a:off x="838199" y="2752928"/>
                <a:ext cx="11353801" cy="4105071"/>
              </a:xfrm>
            </p:spPr>
            <p:txBody>
              <a:bodyPr>
                <a:normAutofit lnSpcReduction="10000"/>
              </a:bodyPr>
              <a:lstStyle/>
              <a:p>
                <a:r>
                  <a:rPr lang="pt-BR" dirty="0"/>
                  <a:t>Qual é a derivada do erro </a:t>
                </a:r>
                <a14:m>
                  <m:oMath xmlns:m="http://schemas.openxmlformats.org/officeDocument/2006/math">
                    <m:sSup>
                      <m:sSupPr>
                        <m:ctrlPr>
                          <a:rPr lang="pt-BR" i="1">
                            <a:latin typeface="Cambria Math" panose="02040503050406030204" pitchFamily="18" charset="0"/>
                          </a:rPr>
                        </m:ctrlPr>
                      </m:sSupPr>
                      <m:e>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𝑦</m:t>
                            </m:r>
                            <m:r>
                              <a:rPr lang="pt-BR" i="1">
                                <a:latin typeface="Cambria Math" panose="02040503050406030204" pitchFamily="18" charset="0"/>
                                <a:ea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e>
                        </m:d>
                      </m:e>
                      <m:sup>
                        <m:r>
                          <a:rPr lang="pt-BR" i="1">
                            <a:latin typeface="Cambria Math" panose="02040503050406030204" pitchFamily="18" charset="0"/>
                          </a:rPr>
                          <m:t>2</m:t>
                        </m:r>
                        <m:r>
                          <a:rPr lang="pt-BR" b="0" i="1" smtClean="0">
                            <a:latin typeface="Cambria Math" panose="02040503050406030204" pitchFamily="18" charset="0"/>
                          </a:rPr>
                          <m:t>∗</m:t>
                        </m:r>
                      </m:sup>
                    </m:sSup>
                  </m:oMath>
                </a14:m>
                <a:r>
                  <a:rPr lang="pt-BR" dirty="0"/>
                  <a:t> em relação à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b="0" i="1" smtClean="0">
                            <a:latin typeface="Cambria Math" panose="02040503050406030204" pitchFamily="18" charset="0"/>
                          </a:rPr>
                          <m:t>1</m:t>
                        </m:r>
                      </m:sub>
                    </m:sSub>
                  </m:oMath>
                </a14:m>
                <a:r>
                  <a:rPr lang="pt-BR" dirty="0"/>
                  <a:t>?</a:t>
                </a:r>
              </a:p>
              <a:p>
                <a:pPr marL="0" indent="0">
                  <a:buNone/>
                </a:pPr>
                <a:endParaRPr lang="pt-BR" sz="100" dirty="0"/>
              </a:p>
              <a:p>
                <a:pPr marL="0" indent="0">
                  <a:buNone/>
                </a:pPr>
                <a14:m>
                  <m:oMathPara xmlns:m="http://schemas.openxmlformats.org/officeDocument/2006/math">
                    <m:oMath>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b="0" i="1" smtClean="0">
                                  <a:latin typeface="Cambria Math" panose="02040503050406030204" pitchFamily="18" charset="0"/>
                                </a:rPr>
                                <m:t>1</m:t>
                              </m:r>
                            </m:sub>
                          </m:sSub>
                          <m:r>
                            <m:rPr>
                              <m:nor/>
                            </m:rPr>
                            <a:rPr lang="en-US" i="0" dirty="0"/>
                            <m:t> </m:t>
                          </m:r>
                        </m:den>
                      </m:f>
                      <m:r>
                        <a:rPr lang="pt-BR" i="1">
                          <a:latin typeface="Cambria Math" panose="02040503050406030204" pitchFamily="18" charset="0"/>
                        </a:rPr>
                        <m:t>=</m:t>
                      </m:r>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p>
                            <m:sSupPr>
                              <m:ctrlPr>
                                <a:rPr lang="pt-BR" i="1">
                                  <a:latin typeface="Cambria Math" panose="02040503050406030204" pitchFamily="18" charset="0"/>
                                  <a:ea typeface="Cambria Math" panose="02040503050406030204" pitchFamily="18" charset="0"/>
                                </a:rPr>
                              </m:ctrlPr>
                            </m:sSupPr>
                            <m:e>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𝑦</m:t>
                                  </m:r>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3</m:t>
                                      </m:r>
                                    </m:sub>
                                  </m:sSub>
                                  <m:r>
                                    <a:rPr lang="pt-BR" i="1">
                                      <a:latin typeface="Cambria Math" panose="02040503050406030204" pitchFamily="18" charset="0"/>
                                    </a:rPr>
                                    <m:t>)</m:t>
                                  </m:r>
                                </m:e>
                              </m:d>
                            </m:e>
                            <m:sup>
                              <m:r>
                                <a:rPr lang="pt-BR" i="1">
                                  <a:latin typeface="Cambria Math" panose="02040503050406030204" pitchFamily="18" charset="0"/>
                                </a:rPr>
                                <m:t>2</m:t>
                              </m:r>
                            </m:sup>
                          </m:sSup>
                        </m:num>
                        <m:den>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3</m:t>
                              </m:r>
                            </m:sub>
                          </m:sSub>
                          <m:r>
                            <a:rPr lang="pt-BR" i="1">
                              <a:latin typeface="Cambria Math" panose="02040503050406030204" pitchFamily="18" charset="0"/>
                            </a:rPr>
                            <m:t>)</m:t>
                          </m:r>
                        </m:den>
                      </m:f>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3</m:t>
                              </m:r>
                            </m:sub>
                          </m:sSub>
                          <m:r>
                            <a:rPr lang="pt-BR" i="1">
                              <a:latin typeface="Cambria Math" panose="02040503050406030204" pitchFamily="18" charset="0"/>
                            </a:rPr>
                            <m:t>)</m:t>
                          </m:r>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3</m:t>
                              </m:r>
                            </m:sub>
                          </m:sSub>
                        </m:den>
                      </m:f>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3</m:t>
                              </m:r>
                            </m:sub>
                          </m:sSub>
                        </m:num>
                        <m:den>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𝑔</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2</m:t>
                                  </m:r>
                                </m:sub>
                              </m:sSub>
                            </m:e>
                          </m:d>
                        </m:den>
                      </m:f>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𝑔</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2</m:t>
                                  </m:r>
                                </m:sub>
                              </m:sSub>
                            </m:e>
                          </m:d>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2</m:t>
                              </m:r>
                            </m:sub>
                          </m:sSub>
                        </m:den>
                      </m:f>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2</m:t>
                              </m:r>
                            </m:sub>
                          </m:sSub>
                        </m:num>
                        <m:den>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ℎ</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1</m:t>
                                  </m:r>
                                </m:sub>
                              </m:sSub>
                            </m:e>
                          </m:d>
                        </m:den>
                      </m:f>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ℎ</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1</m:t>
                                  </m:r>
                                </m:sub>
                              </m:sSub>
                            </m:e>
                          </m:d>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1</m:t>
                              </m:r>
                            </m:sub>
                          </m:sSub>
                        </m:den>
                      </m:f>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1</m:t>
                              </m:r>
                            </m:sub>
                          </m:sSub>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b="0" i="1" smtClean="0">
                                  <a:latin typeface="Cambria Math" panose="02040503050406030204" pitchFamily="18" charset="0"/>
                                </a:rPr>
                                <m:t>1</m:t>
                              </m:r>
                            </m:sub>
                          </m:sSub>
                        </m:den>
                      </m:f>
                      <m:r>
                        <a:rPr lang="pt-BR" i="1">
                          <a:latin typeface="Cambria Math" panose="02040503050406030204" pitchFamily="18" charset="0"/>
                          <a:ea typeface="Cambria Math" panose="02040503050406030204" pitchFamily="18" charset="0"/>
                        </a:rPr>
                        <m:t>.</m:t>
                      </m:r>
                    </m:oMath>
                  </m:oMathPara>
                </a14:m>
                <a:endParaRPr lang="pt-BR" dirty="0"/>
              </a:p>
              <a:p>
                <a:r>
                  <a:rPr lang="pt-BR" dirty="0"/>
                  <a:t>Calculando as derivadas, exceto as das funções de ativação, temos</a:t>
                </a:r>
              </a:p>
              <a:p>
                <a:pPr marL="0" indent="0">
                  <a:buNone/>
                </a:pPr>
                <a14:m>
                  <m:oMathPara xmlns:m="http://schemas.openxmlformats.org/officeDocument/2006/math">
                    <m:oMath>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m:rPr>
                              <m:nor/>
                            </m:rPr>
                            <a:rPr lang="en-US" i="0" dirty="0"/>
                            <m:t> </m:t>
                          </m:r>
                        </m:den>
                      </m:f>
                      <m:r>
                        <a:rPr lang="pt-BR" i="1">
                          <a:latin typeface="Cambria Math" panose="02040503050406030204" pitchFamily="18" charset="0"/>
                        </a:rPr>
                        <m:t>=−2</m:t>
                      </m:r>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𝑦</m:t>
                          </m:r>
                          <m:r>
                            <a:rPr lang="pt-BR" i="1">
                              <a:latin typeface="Cambria Math" panose="02040503050406030204" pitchFamily="18" charset="0"/>
                              <a:ea typeface="Cambria Math" panose="02040503050406030204" pitchFamily="18" charset="0"/>
                            </a:rPr>
                            <m:t>−</m:t>
                          </m:r>
                          <m:limLow>
                            <m:limLowPr>
                              <m:ctrlPr>
                                <a:rPr lang="pt-BR" i="1">
                                  <a:latin typeface="Cambria Math" panose="02040503050406030204" pitchFamily="18" charset="0"/>
                                </a:rPr>
                              </m:ctrlPr>
                            </m:limLowPr>
                            <m:e>
                              <m:groupChr>
                                <m:groupChrPr>
                                  <m:chr m:val="⏟"/>
                                  <m:pos m:val="bot"/>
                                  <m:vertJc m:val="top"/>
                                  <m:ctrlPr>
                                    <a:rPr lang="pt-BR" i="1">
                                      <a:latin typeface="Cambria Math" panose="02040503050406030204" pitchFamily="18" charset="0"/>
                                    </a:rPr>
                                  </m:ctrlPr>
                                </m:groupChrPr>
                                <m:e>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r>
                                    <a:rPr lang="pt-BR" i="1">
                                      <a:latin typeface="Cambria Math" panose="02040503050406030204" pitchFamily="18" charset="0"/>
                                    </a:rPr>
                                    <m:t>)</m:t>
                                  </m:r>
                                </m:e>
                              </m:groupChr>
                            </m:e>
                            <m:lim>
                              <m:acc>
                                <m:accPr>
                                  <m:chr m:val="̂"/>
                                  <m:ctrlPr>
                                    <a:rPr lang="pt-BR" i="1">
                                      <a:latin typeface="Cambria Math" panose="02040503050406030204" pitchFamily="18" charset="0"/>
                                    </a:rPr>
                                  </m:ctrlPr>
                                </m:accPr>
                                <m:e>
                                  <m:r>
                                    <a:rPr lang="pt-BR" i="1">
                                      <a:latin typeface="Cambria Math" panose="02040503050406030204" pitchFamily="18" charset="0"/>
                                    </a:rPr>
                                    <m:t>𝑦</m:t>
                                  </m:r>
                                </m:e>
                              </m:acc>
                            </m:lim>
                          </m:limLow>
                        </m:e>
                      </m:d>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r>
                            <a:rPr lang="pt-BR" i="1">
                              <a:latin typeface="Cambria Math" panose="02040503050406030204" pitchFamily="18" charset="0"/>
                            </a:rPr>
                            <m:t>)</m:t>
                          </m:r>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den>
                      </m:f>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3</m:t>
                          </m:r>
                        </m:sub>
                      </m:sSub>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𝑔</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2</m:t>
                                  </m:r>
                                </m:sub>
                              </m:sSub>
                            </m:e>
                          </m:d>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2</m:t>
                              </m:r>
                            </m:sub>
                          </m:sSub>
                        </m:den>
                      </m:f>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ℎ</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1</m:t>
                                  </m:r>
                                </m:sub>
                              </m:sSub>
                            </m:e>
                          </m:d>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1</m:t>
                              </m:r>
                            </m:sub>
                          </m:sSub>
                        </m:den>
                      </m:f>
                      <m:r>
                        <a:rPr lang="pt-BR" b="0" i="1" smtClean="0">
                          <a:latin typeface="Cambria Math" panose="02040503050406030204" pitchFamily="18" charset="0"/>
                        </a:rPr>
                        <m:t>𝑥</m:t>
                      </m:r>
                      <m:r>
                        <a:rPr lang="pt-BR" i="1">
                          <a:latin typeface="Cambria Math" panose="02040503050406030204" pitchFamily="18" charset="0"/>
                          <a:ea typeface="Cambria Math" panose="02040503050406030204" pitchFamily="18" charset="0"/>
                        </a:rPr>
                        <m:t>.</m:t>
                      </m:r>
                    </m:oMath>
                  </m:oMathPara>
                </a14:m>
                <a:endParaRPr lang="pt-BR" dirty="0"/>
              </a:p>
              <a:p>
                <a:r>
                  <a:rPr lang="pt-BR" b="1" dirty="0"/>
                  <a:t>Exemplos</a:t>
                </a:r>
                <a:r>
                  <a:rPr lang="pt-BR" dirty="0"/>
                  <a:t>: derivadas das funções de ativação logística e </a:t>
                </a:r>
                <a:r>
                  <a:rPr lang="pt-BR" dirty="0" err="1"/>
                  <a:t>tanh</a:t>
                </a:r>
                <a:endParaRPr lang="pt-BR" dirty="0"/>
              </a:p>
              <a:p>
                <a:pPr lvl="1">
                  <a:buFont typeface="Wingdings" panose="05000000000000000000" pitchFamily="2" charset="2"/>
                  <a:buChar char="§"/>
                </a:pPr>
                <a:r>
                  <a:rPr lang="pt-BR" dirty="0"/>
                  <a:t>Logística:</a:t>
                </a:r>
                <a14:m>
                  <m:oMath xmlns:m="http://schemas.openxmlformats.org/officeDocument/2006/math">
                    <m:r>
                      <a:rPr lang="pt-BR" b="0" i="0" smtClean="0">
                        <a:latin typeface="Cambria Math" panose="02040503050406030204" pitchFamily="18" charset="0"/>
                      </a:rPr>
                      <m:t> </m:t>
                    </m:r>
                    <m:r>
                      <a:rPr lang="pt-BR" b="0" i="1" smtClean="0">
                        <a:latin typeface="Cambria Math" panose="02040503050406030204" pitchFamily="18" charset="0"/>
                      </a:rPr>
                      <m:t>𝑓</m:t>
                    </m:r>
                    <m:d>
                      <m:dPr>
                        <m:ctrlPr>
                          <a:rPr lang="pt-BR" b="0" i="1" smtClean="0">
                            <a:latin typeface="Cambria Math" panose="02040503050406030204" pitchFamily="18" charset="0"/>
                          </a:rPr>
                        </m:ctrlPr>
                      </m:dPr>
                      <m:e>
                        <m:r>
                          <a:rPr lang="pt-BR" b="0" i="1" smtClean="0">
                            <a:latin typeface="Cambria Math" panose="02040503050406030204" pitchFamily="18" charset="0"/>
                          </a:rPr>
                          <m:t>𝑥</m:t>
                        </m:r>
                      </m:e>
                    </m:d>
                    <m:d>
                      <m:dPr>
                        <m:ctrlPr>
                          <a:rPr lang="pt-BR" b="0" i="1" smtClean="0">
                            <a:latin typeface="Cambria Math" panose="02040503050406030204" pitchFamily="18" charset="0"/>
                          </a:rPr>
                        </m:ctrlPr>
                      </m:dPr>
                      <m:e>
                        <m:r>
                          <a:rPr lang="pt-BR" b="0" i="1" smtClean="0">
                            <a:latin typeface="Cambria Math" panose="02040503050406030204" pitchFamily="18" charset="0"/>
                          </a:rPr>
                          <m:t>1−</m:t>
                        </m:r>
                        <m:r>
                          <a:rPr lang="pt-BR" b="0" i="1" smtClean="0">
                            <a:latin typeface="Cambria Math" panose="02040503050406030204" pitchFamily="18" charset="0"/>
                          </a:rPr>
                          <m:t>𝑓</m:t>
                        </m:r>
                        <m:d>
                          <m:dPr>
                            <m:ctrlPr>
                              <a:rPr lang="pt-BR" b="0" i="1" smtClean="0">
                                <a:latin typeface="Cambria Math" panose="02040503050406030204" pitchFamily="18" charset="0"/>
                              </a:rPr>
                            </m:ctrlPr>
                          </m:dPr>
                          <m:e>
                            <m:r>
                              <a:rPr lang="pt-BR" b="0" i="1" smtClean="0">
                                <a:latin typeface="Cambria Math" panose="02040503050406030204" pitchFamily="18" charset="0"/>
                              </a:rPr>
                              <m:t>𝑥</m:t>
                            </m:r>
                          </m:e>
                        </m:d>
                      </m:e>
                    </m:d>
                    <m:r>
                      <a:rPr lang="pt-BR" b="0" i="1" smtClean="0">
                        <a:latin typeface="Cambria Math" panose="02040503050406030204" pitchFamily="18" charset="0"/>
                        <a:ea typeface="Cambria Math" panose="02040503050406030204" pitchFamily="18" charset="0"/>
                      </a:rPr>
                      <m:t>∈[0, 0.25]</m:t>
                    </m:r>
                  </m:oMath>
                </a14:m>
                <a:endParaRPr lang="pt-BR" dirty="0"/>
              </a:p>
              <a:p>
                <a:pPr lvl="1">
                  <a:buFont typeface="Wingdings" panose="05000000000000000000" pitchFamily="2" charset="2"/>
                  <a:buChar char="§"/>
                </a:pPr>
                <a:r>
                  <a:rPr lang="pt-BR" dirty="0" err="1"/>
                  <a:t>Tanh</a:t>
                </a:r>
                <a:r>
                  <a:rPr lang="pt-BR" dirty="0"/>
                  <a:t>: </a:t>
                </a:r>
                <a14:m>
                  <m:oMath xmlns:m="http://schemas.openxmlformats.org/officeDocument/2006/math">
                    <m:r>
                      <a:rPr lang="pt-BR" b="0" i="1" smtClean="0">
                        <a:latin typeface="Cambria Math" panose="02040503050406030204" pitchFamily="18" charset="0"/>
                      </a:rPr>
                      <m:t>1−</m:t>
                    </m:r>
                    <m:sSup>
                      <m:sSupPr>
                        <m:ctrlPr>
                          <a:rPr lang="pt-BR" b="0" i="0" smtClean="0">
                            <a:latin typeface="Cambria Math" panose="02040503050406030204" pitchFamily="18" charset="0"/>
                          </a:rPr>
                        </m:ctrlPr>
                      </m:sSupPr>
                      <m:e>
                        <m:r>
                          <m:rPr>
                            <m:sty m:val="p"/>
                          </m:rPr>
                          <a:rPr lang="pt-BR" b="0" i="0" smtClean="0">
                            <a:latin typeface="Cambria Math" panose="02040503050406030204" pitchFamily="18" charset="0"/>
                          </a:rPr>
                          <m:t>tanh</m:t>
                        </m:r>
                      </m:e>
                      <m:sup>
                        <m:r>
                          <a:rPr lang="pt-BR" b="0" i="1" smtClean="0">
                            <a:latin typeface="Cambria Math" panose="02040503050406030204" pitchFamily="18" charset="0"/>
                          </a:rPr>
                          <m:t>2</m:t>
                        </m:r>
                      </m:sup>
                    </m:sSup>
                    <m:r>
                      <a:rPr lang="pt-BR" b="0" i="1" smtClean="0">
                        <a:latin typeface="Cambria Math" panose="02040503050406030204" pitchFamily="18" charset="0"/>
                      </a:rPr>
                      <m:t>(</m:t>
                    </m:r>
                    <m:r>
                      <a:rPr lang="pt-BR" b="0" i="1" smtClean="0">
                        <a:latin typeface="Cambria Math" panose="02040503050406030204" pitchFamily="18" charset="0"/>
                      </a:rPr>
                      <m:t>𝑥</m:t>
                    </m:r>
                    <m:r>
                      <a:rPr lang="pt-BR" b="0" i="1" smtClean="0">
                        <a:latin typeface="Cambria Math" panose="02040503050406030204" pitchFamily="18" charset="0"/>
                      </a:rPr>
                      <m:t>)∈[0, 1]</m:t>
                    </m:r>
                  </m:oMath>
                </a14:m>
                <a:r>
                  <a:rPr lang="pt-BR" dirty="0"/>
                  <a:t> (</a:t>
                </a:r>
                <a:r>
                  <a:rPr lang="pt-BR" b="1" dirty="0"/>
                  <a:t>OBS.</a:t>
                </a:r>
                <a:r>
                  <a:rPr lang="pt-BR" dirty="0"/>
                  <a:t>: 1 apenas quando </a:t>
                </a:r>
                <a14:m>
                  <m:oMath xmlns:m="http://schemas.openxmlformats.org/officeDocument/2006/math">
                    <m:r>
                      <a:rPr lang="pt-BR" i="1">
                        <a:latin typeface="Cambria Math" panose="02040503050406030204" pitchFamily="18" charset="0"/>
                      </a:rPr>
                      <m:t>𝑥</m:t>
                    </m:r>
                    <m:r>
                      <a:rPr lang="pt-BR" b="0" i="1" smtClean="0">
                        <a:latin typeface="Cambria Math" panose="02040503050406030204" pitchFamily="18" charset="0"/>
                      </a:rPr>
                      <m:t>=0</m:t>
                    </m:r>
                  </m:oMath>
                </a14:m>
                <a:r>
                  <a:rPr lang="pt-BR" dirty="0"/>
                  <a:t>)</a:t>
                </a:r>
              </a:p>
            </p:txBody>
          </p:sp>
        </mc:Choice>
        <mc:Fallback>
          <p:sp>
            <p:nvSpPr>
              <p:cNvPr id="3" name="Espaço Reservado para Conteúdo 2">
                <a:extLst>
                  <a:ext uri="{FF2B5EF4-FFF2-40B4-BE49-F238E27FC236}">
                    <a16:creationId xmlns:a16="http://schemas.microsoft.com/office/drawing/2014/main" id="{322D5A62-CE6E-1AA5-57FE-1C7135D815BD}"/>
                  </a:ext>
                </a:extLst>
              </p:cNvPr>
              <p:cNvSpPr>
                <a:spLocks noGrp="1" noRot="1" noChangeAspect="1" noMove="1" noResize="1" noEditPoints="1" noAdjustHandles="1" noChangeArrowheads="1" noChangeShapeType="1" noTextEdit="1"/>
              </p:cNvSpPr>
              <p:nvPr>
                <p:ph idx="1"/>
              </p:nvPr>
            </p:nvSpPr>
            <p:spPr>
              <a:xfrm>
                <a:off x="838199" y="2752928"/>
                <a:ext cx="11353801" cy="4105071"/>
              </a:xfrm>
              <a:blipFill>
                <a:blip r:embed="rId3"/>
                <a:stretch>
                  <a:fillRect l="-913" t="-3418" b="-2526"/>
                </a:stretch>
              </a:blipFill>
            </p:spPr>
            <p:txBody>
              <a:bodyPr/>
              <a:lstStyle/>
              <a:p>
                <a:r>
                  <a:rPr lang="en-US">
                    <a:noFill/>
                  </a:rPr>
                  <a:t> </a:t>
                </a:r>
              </a:p>
            </p:txBody>
          </p:sp>
        </mc:Fallback>
      </mc:AlternateContent>
      <p:grpSp>
        <p:nvGrpSpPr>
          <p:cNvPr id="56" name="Grupo 55"/>
          <p:cNvGrpSpPr/>
          <p:nvPr/>
        </p:nvGrpSpPr>
        <p:grpSpPr>
          <a:xfrm>
            <a:off x="3021324" y="1690688"/>
            <a:ext cx="6149352" cy="708828"/>
            <a:chOff x="2824117" y="1825624"/>
            <a:chExt cx="6149352" cy="708828"/>
          </a:xfrm>
        </p:grpSpPr>
        <p:grpSp>
          <p:nvGrpSpPr>
            <p:cNvPr id="57" name="Group 19">
              <a:extLst>
                <a:ext uri="{FF2B5EF4-FFF2-40B4-BE49-F238E27FC236}">
                  <a16:creationId xmlns:a16="http://schemas.microsoft.com/office/drawing/2014/main" id="{AD7588CC-1303-51DE-62D0-1AF556C3EEE7}"/>
                </a:ext>
              </a:extLst>
            </p:cNvPr>
            <p:cNvGrpSpPr/>
            <p:nvPr/>
          </p:nvGrpSpPr>
          <p:grpSpPr>
            <a:xfrm>
              <a:off x="2824117" y="1825624"/>
              <a:ext cx="6149352" cy="699336"/>
              <a:chOff x="2824117" y="1825624"/>
              <a:chExt cx="6149352" cy="699336"/>
            </a:xfrm>
          </p:grpSpPr>
          <p:grpSp>
            <p:nvGrpSpPr>
              <p:cNvPr id="59" name="Group 20">
                <a:extLst>
                  <a:ext uri="{FF2B5EF4-FFF2-40B4-BE49-F238E27FC236}">
                    <a16:creationId xmlns:a16="http://schemas.microsoft.com/office/drawing/2014/main" id="{94DC601F-B063-C4F5-51D8-BA7138B87EB1}"/>
                  </a:ext>
                </a:extLst>
              </p:cNvPr>
              <p:cNvGrpSpPr/>
              <p:nvPr/>
            </p:nvGrpSpPr>
            <p:grpSpPr>
              <a:xfrm>
                <a:off x="2824117" y="1825624"/>
                <a:ext cx="6149352" cy="685593"/>
                <a:chOff x="2824117" y="4105306"/>
                <a:chExt cx="6149352" cy="685593"/>
              </a:xfrm>
            </p:grpSpPr>
            <mc:AlternateContent xmlns:mc="http://schemas.openxmlformats.org/markup-compatibility/2006" xmlns:a14="http://schemas.microsoft.com/office/drawing/2010/main">
              <mc:Choice Requires="a14">
                <p:sp>
                  <p:nvSpPr>
                    <p:cNvPr id="62" name="Elipse 4">
                      <a:extLst>
                        <a:ext uri="{FF2B5EF4-FFF2-40B4-BE49-F238E27FC236}">
                          <a16:creationId xmlns:a16="http://schemas.microsoft.com/office/drawing/2014/main" id="{44E00579-6C74-B23A-F63E-E89D51876AF6}"/>
                        </a:ext>
                      </a:extLst>
                    </p:cNvPr>
                    <p:cNvSpPr/>
                    <p:nvPr/>
                  </p:nvSpPr>
                  <p:spPr>
                    <a:xfrm>
                      <a:off x="3630508" y="419197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ℎ</m:t>
                            </m:r>
                            <m:r>
                              <a:rPr lang="pt-BR" b="0" i="1" smtClean="0">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20" name="Elipse 4">
                      <a:extLst>
                        <a:ext uri="{FF2B5EF4-FFF2-40B4-BE49-F238E27FC236}">
                          <a16:creationId xmlns:a16="http://schemas.microsoft.com/office/drawing/2014/main" id="{0DF451FF-252E-0ED6-AFC8-BBBDC99EE7D3}"/>
                        </a:ext>
                      </a:extLst>
                    </p:cNvPr>
                    <p:cNvSpPr>
                      <a:spLocks noRot="1" noChangeAspect="1" noMove="1" noResize="1" noEditPoints="1" noAdjustHandles="1" noChangeArrowheads="1" noChangeShapeType="1" noTextEdit="1"/>
                    </p:cNvSpPr>
                    <p:nvPr/>
                  </p:nvSpPr>
                  <p:spPr>
                    <a:xfrm>
                      <a:off x="3630508" y="4191970"/>
                      <a:ext cx="576000" cy="576000"/>
                    </a:xfrm>
                    <a:prstGeom prst="ellipse">
                      <a:avLst/>
                    </a:prstGeom>
                    <a:blipFill>
                      <a:blip r:embed="rId4"/>
                      <a:stretch>
                        <a:fillRect r="-4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Elipse 5">
                      <a:extLst>
                        <a:ext uri="{FF2B5EF4-FFF2-40B4-BE49-F238E27FC236}">
                          <a16:creationId xmlns:a16="http://schemas.microsoft.com/office/drawing/2014/main" id="{7C0D906B-C0B2-67AF-DBED-D4BB581AFA91}"/>
                        </a:ext>
                      </a:extLst>
                    </p:cNvPr>
                    <p:cNvSpPr/>
                    <p:nvPr/>
                  </p:nvSpPr>
                  <p:spPr>
                    <a:xfrm>
                      <a:off x="5434880" y="419197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𝑔</m:t>
                            </m:r>
                            <m:r>
                              <a:rPr lang="pt-BR" i="1">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21" name="Elipse 5">
                      <a:extLst>
                        <a:ext uri="{FF2B5EF4-FFF2-40B4-BE49-F238E27FC236}">
                          <a16:creationId xmlns:a16="http://schemas.microsoft.com/office/drawing/2014/main" id="{3CBB6E6D-DAB2-09E5-DD33-36B8D4A45190}"/>
                        </a:ext>
                      </a:extLst>
                    </p:cNvPr>
                    <p:cNvSpPr>
                      <a:spLocks noRot="1" noChangeAspect="1" noMove="1" noResize="1" noEditPoints="1" noAdjustHandles="1" noChangeArrowheads="1" noChangeShapeType="1" noTextEdit="1"/>
                    </p:cNvSpPr>
                    <p:nvPr/>
                  </p:nvSpPr>
                  <p:spPr>
                    <a:xfrm>
                      <a:off x="5434880" y="4191970"/>
                      <a:ext cx="576000" cy="576000"/>
                    </a:xfrm>
                    <a:prstGeom prst="ellipse">
                      <a:avLst/>
                    </a:prstGeom>
                    <a:blipFill>
                      <a:blip r:embed="rId5"/>
                      <a:stretch>
                        <a:fillRect l="-1042" r="-52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Elipse 6">
                      <a:extLst>
                        <a:ext uri="{FF2B5EF4-FFF2-40B4-BE49-F238E27FC236}">
                          <a16:creationId xmlns:a16="http://schemas.microsoft.com/office/drawing/2014/main" id="{A6F1878F-253D-49AE-8CA1-10EE70E06C6D}"/>
                        </a:ext>
                      </a:extLst>
                    </p:cNvPr>
                    <p:cNvSpPr/>
                    <p:nvPr/>
                  </p:nvSpPr>
                  <p:spPr>
                    <a:xfrm>
                      <a:off x="7238332" y="419197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𝑓</m:t>
                            </m:r>
                            <m:r>
                              <a:rPr lang="pt-BR" i="1">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22" name="Elipse 6">
                      <a:extLst>
                        <a:ext uri="{FF2B5EF4-FFF2-40B4-BE49-F238E27FC236}">
                          <a16:creationId xmlns:a16="http://schemas.microsoft.com/office/drawing/2014/main" id="{9EA08535-4021-80BA-226E-967C0A9D9A70}"/>
                        </a:ext>
                      </a:extLst>
                    </p:cNvPr>
                    <p:cNvSpPr>
                      <a:spLocks noRot="1" noChangeAspect="1" noMove="1" noResize="1" noEditPoints="1" noAdjustHandles="1" noChangeArrowheads="1" noChangeShapeType="1" noTextEdit="1"/>
                    </p:cNvSpPr>
                    <p:nvPr/>
                  </p:nvSpPr>
                  <p:spPr>
                    <a:xfrm>
                      <a:off x="7238332" y="4191970"/>
                      <a:ext cx="576000" cy="576000"/>
                    </a:xfrm>
                    <a:prstGeom prst="ellipse">
                      <a:avLst/>
                    </a:prstGeom>
                    <a:blipFill>
                      <a:blip r:embed="rId6"/>
                      <a:stretch>
                        <a:fillRect l="-3093" r="-4124"/>
                      </a:stretch>
                    </a:blipFill>
                  </p:spPr>
                  <p:txBody>
                    <a:bodyPr/>
                    <a:lstStyle/>
                    <a:p>
                      <a:r>
                        <a:rPr lang="en-US">
                          <a:noFill/>
                        </a:rPr>
                        <a:t> </a:t>
                      </a:r>
                    </a:p>
                  </p:txBody>
                </p:sp>
              </mc:Fallback>
            </mc:AlternateContent>
            <p:cxnSp>
              <p:nvCxnSpPr>
                <p:cNvPr id="65" name="Conector de Seta Reta 7">
                  <a:extLst>
                    <a:ext uri="{FF2B5EF4-FFF2-40B4-BE49-F238E27FC236}">
                      <a16:creationId xmlns:a16="http://schemas.microsoft.com/office/drawing/2014/main" id="{5B8E2EF2-D5E5-E9CD-6B17-18F6CF51BD39}"/>
                    </a:ext>
                  </a:extLst>
                </p:cNvPr>
                <p:cNvCxnSpPr>
                  <a:cxnSpLocks/>
                </p:cNvCxnSpPr>
                <p:nvPr/>
              </p:nvCxnSpPr>
              <p:spPr>
                <a:xfrm>
                  <a:off x="4206507" y="4479970"/>
                  <a:ext cx="12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ector de Seta Reta 12">
                  <a:extLst>
                    <a:ext uri="{FF2B5EF4-FFF2-40B4-BE49-F238E27FC236}">
                      <a16:creationId xmlns:a16="http://schemas.microsoft.com/office/drawing/2014/main" id="{81611D8F-AB3D-DE64-1DD8-92F3A6BBCA02}"/>
                    </a:ext>
                  </a:extLst>
                </p:cNvPr>
                <p:cNvCxnSpPr/>
                <p:nvPr/>
              </p:nvCxnSpPr>
              <p:spPr>
                <a:xfrm>
                  <a:off x="7814332" y="4479970"/>
                  <a:ext cx="828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Retângulo 10">
                      <a:extLst>
                        <a:ext uri="{FF2B5EF4-FFF2-40B4-BE49-F238E27FC236}">
                          <a16:creationId xmlns:a16="http://schemas.microsoft.com/office/drawing/2014/main" id="{5414173F-A671-4B2D-FD3D-2E2285ED3FD6}"/>
                        </a:ext>
                      </a:extLst>
                    </p:cNvPr>
                    <p:cNvSpPr/>
                    <p:nvPr/>
                  </p:nvSpPr>
                  <p:spPr>
                    <a:xfrm>
                      <a:off x="8550789" y="4270805"/>
                      <a:ext cx="422680" cy="369332"/>
                    </a:xfrm>
                    <a:prstGeom prst="rect">
                      <a:avLst/>
                    </a:prstGeom>
                  </p:spPr>
                  <p:txBody>
                    <a:bodyPr wrap="none">
                      <a:spAutoFit/>
                    </a:bodyPr>
                    <a:lstStyle/>
                    <a:p>
                      <a:pPr algn="ctr"/>
                      <a14:m>
                        <m:oMathPara xmlns:m="http://schemas.openxmlformats.org/officeDocument/2006/math">
                          <m:oMathParaPr>
                            <m:jc m:val="center"/>
                          </m:oMathParaPr>
                          <m:oMath>
                            <m:r>
                              <a:rPr lang="pt-BR" i="1" smtClean="0">
                                <a:latin typeface="Cambria Math" panose="02040503050406030204" pitchFamily="18" charset="0"/>
                              </a:rPr>
                              <m:t> </m:t>
                            </m:r>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oMath>
                        </m:oMathPara>
                      </a14:m>
                      <a:endParaRPr lang="en-US" dirty="0"/>
                    </a:p>
                  </p:txBody>
                </p:sp>
              </mc:Choice>
              <mc:Fallback xmlns="">
                <p:sp>
                  <p:nvSpPr>
                    <p:cNvPr id="29" name="Retângulo 10">
                      <a:extLst>
                        <a:ext uri="{FF2B5EF4-FFF2-40B4-BE49-F238E27FC236}">
                          <a16:creationId xmlns:a16="http://schemas.microsoft.com/office/drawing/2014/main" id="{5414173F-A671-4B2D-FD3D-2E2285ED3FD6}"/>
                        </a:ext>
                      </a:extLst>
                    </p:cNvPr>
                    <p:cNvSpPr>
                      <a:spLocks noRot="1" noChangeAspect="1" noMove="1" noResize="1" noEditPoints="1" noAdjustHandles="1" noChangeArrowheads="1" noChangeShapeType="1" noTextEdit="1"/>
                    </p:cNvSpPr>
                    <p:nvPr/>
                  </p:nvSpPr>
                  <p:spPr>
                    <a:xfrm>
                      <a:off x="8550789" y="4270805"/>
                      <a:ext cx="422680" cy="369332"/>
                    </a:xfrm>
                    <a:prstGeom prst="rect">
                      <a:avLst/>
                    </a:prstGeom>
                    <a:blipFill>
                      <a:blip r:embed="rId7"/>
                      <a:stretch>
                        <a:fillRect t="-6667" r="-20290"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tângulo 13">
                      <a:extLst>
                        <a:ext uri="{FF2B5EF4-FFF2-40B4-BE49-F238E27FC236}">
                          <a16:creationId xmlns:a16="http://schemas.microsoft.com/office/drawing/2014/main" id="{234BC2D3-CEF8-D79F-BFAF-6A5B2900CF25}"/>
                        </a:ext>
                      </a:extLst>
                    </p:cNvPr>
                    <p:cNvSpPr/>
                    <p:nvPr/>
                  </p:nvSpPr>
                  <p:spPr>
                    <a:xfrm>
                      <a:off x="2824117" y="4278202"/>
                      <a:ext cx="419282" cy="369332"/>
                    </a:xfrm>
                    <a:prstGeom prst="rect">
                      <a:avLst/>
                    </a:prstGeom>
                  </p:spPr>
                  <p:txBody>
                    <a:bodyPr wrap="none">
                      <a:spAutoFit/>
                    </a:bodyPr>
                    <a:lstStyle/>
                    <a:p>
                      <a:pPr algn="ctr"/>
                      <a14:m>
                        <m:oMathPara xmlns:m="http://schemas.openxmlformats.org/officeDocument/2006/math">
                          <m:oMathParaPr>
                            <m:jc m:val="center"/>
                          </m:oMathParaPr>
                          <m:oMath>
                            <m:r>
                              <a:rPr lang="pt-BR" i="1" smtClean="0">
                                <a:latin typeface="Cambria Math" panose="02040503050406030204" pitchFamily="18" charset="0"/>
                              </a:rPr>
                              <m:t> </m:t>
                            </m:r>
                            <m:r>
                              <a:rPr lang="pt-BR" b="0" i="1" smtClean="0">
                                <a:latin typeface="Cambria Math" panose="02040503050406030204" pitchFamily="18" charset="0"/>
                              </a:rPr>
                              <m:t>𝑥</m:t>
                            </m:r>
                          </m:oMath>
                        </m:oMathPara>
                      </a14:m>
                      <a:endParaRPr lang="en-US" dirty="0"/>
                    </a:p>
                  </p:txBody>
                </p:sp>
              </mc:Choice>
              <mc:Fallback xmlns="">
                <p:sp>
                  <p:nvSpPr>
                    <p:cNvPr id="26" name="Retângulo 13">
                      <a:extLst>
                        <a:ext uri="{FF2B5EF4-FFF2-40B4-BE49-F238E27FC236}">
                          <a16:creationId xmlns:a16="http://schemas.microsoft.com/office/drawing/2014/main" id="{6439ADC2-D04E-55B5-F201-6C2D55A65394}"/>
                        </a:ext>
                      </a:extLst>
                    </p:cNvPr>
                    <p:cNvSpPr>
                      <a:spLocks noRot="1" noChangeAspect="1" noMove="1" noResize="1" noEditPoints="1" noAdjustHandles="1" noChangeArrowheads="1" noChangeShapeType="1" noTextEdit="1"/>
                    </p:cNvSpPr>
                    <p:nvPr/>
                  </p:nvSpPr>
                  <p:spPr>
                    <a:xfrm>
                      <a:off x="2824117" y="4278202"/>
                      <a:ext cx="419282" cy="369332"/>
                    </a:xfrm>
                    <a:prstGeom prst="rect">
                      <a:avLst/>
                    </a:prstGeom>
                    <a:blipFill>
                      <a:blip r:embed="rId8"/>
                      <a:stretch>
                        <a:fillRect/>
                      </a:stretch>
                    </a:blipFill>
                  </p:spPr>
                  <p:txBody>
                    <a:bodyPr/>
                    <a:lstStyle/>
                    <a:p>
                      <a:r>
                        <a:rPr lang="en-US">
                          <a:noFill/>
                        </a:rPr>
                        <a:t> </a:t>
                      </a:r>
                    </a:p>
                  </p:txBody>
                </p:sp>
              </mc:Fallback>
            </mc:AlternateContent>
            <p:cxnSp>
              <p:nvCxnSpPr>
                <p:cNvPr id="69" name="Conector de Seta Reta 17">
                  <a:extLst>
                    <a:ext uri="{FF2B5EF4-FFF2-40B4-BE49-F238E27FC236}">
                      <a16:creationId xmlns:a16="http://schemas.microsoft.com/office/drawing/2014/main" id="{124DEF9F-3265-6F80-9682-008E1B0733EA}"/>
                    </a:ext>
                  </a:extLst>
                </p:cNvPr>
                <p:cNvCxnSpPr/>
                <p:nvPr/>
              </p:nvCxnSpPr>
              <p:spPr>
                <a:xfrm>
                  <a:off x="3123024" y="4485279"/>
                  <a:ext cx="50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TextBox 31">
                      <a:extLst>
                        <a:ext uri="{FF2B5EF4-FFF2-40B4-BE49-F238E27FC236}">
                          <a16:creationId xmlns:a16="http://schemas.microsoft.com/office/drawing/2014/main" id="{D07344CA-4CF3-F76E-C52F-1EB1FD8D5072}"/>
                        </a:ext>
                      </a:extLst>
                    </p:cNvPr>
                    <p:cNvSpPr txBox="1"/>
                    <p:nvPr/>
                  </p:nvSpPr>
                  <p:spPr>
                    <a:xfrm>
                      <a:off x="3118652" y="4120741"/>
                      <a:ext cx="507482"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1</m:t>
                                </m:r>
                              </m:sub>
                            </m:sSub>
                          </m:oMath>
                        </m:oMathPara>
                      </a14:m>
                      <a:endParaRPr lang="en-US" dirty="0"/>
                    </a:p>
                  </p:txBody>
                </p:sp>
              </mc:Choice>
              <mc:Fallback xmlns="">
                <p:sp>
                  <p:nvSpPr>
                    <p:cNvPr id="28" name="TextBox 27">
                      <a:extLst>
                        <a:ext uri="{FF2B5EF4-FFF2-40B4-BE49-F238E27FC236}">
                          <a16:creationId xmlns:a16="http://schemas.microsoft.com/office/drawing/2014/main" id="{B08B6112-66C0-EF5E-D40C-CB0F43BD4903}"/>
                        </a:ext>
                      </a:extLst>
                    </p:cNvPr>
                    <p:cNvSpPr txBox="1">
                      <a:spLocks noRot="1" noChangeAspect="1" noMove="1" noResize="1" noEditPoints="1" noAdjustHandles="1" noChangeArrowheads="1" noChangeShapeType="1" noTextEdit="1"/>
                    </p:cNvSpPr>
                    <p:nvPr/>
                  </p:nvSpPr>
                  <p:spPr>
                    <a:xfrm>
                      <a:off x="3118652" y="4120741"/>
                      <a:ext cx="50748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32">
                      <a:extLst>
                        <a:ext uri="{FF2B5EF4-FFF2-40B4-BE49-F238E27FC236}">
                          <a16:creationId xmlns:a16="http://schemas.microsoft.com/office/drawing/2014/main" id="{77977DB8-2115-D769-DDDB-8EB37CAA7C17}"/>
                        </a:ext>
                      </a:extLst>
                    </p:cNvPr>
                    <p:cNvSpPr txBox="1"/>
                    <p:nvPr/>
                  </p:nvSpPr>
                  <p:spPr>
                    <a:xfrm>
                      <a:off x="4202134" y="4105306"/>
                      <a:ext cx="1232743"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2</m:t>
                                </m:r>
                              </m:sub>
                            </m:sSub>
                          </m:oMath>
                        </m:oMathPara>
                      </a14:m>
                      <a:endParaRPr lang="en-US" dirty="0"/>
                    </a:p>
                  </p:txBody>
                </p:sp>
              </mc:Choice>
              <mc:Fallback xmlns="">
                <p:sp>
                  <p:nvSpPr>
                    <p:cNvPr id="29" name="TextBox 28">
                      <a:extLst>
                        <a:ext uri="{FF2B5EF4-FFF2-40B4-BE49-F238E27FC236}">
                          <a16:creationId xmlns:a16="http://schemas.microsoft.com/office/drawing/2014/main" id="{2229581D-0CB8-B97B-99EC-3870B0C571E7}"/>
                        </a:ext>
                      </a:extLst>
                    </p:cNvPr>
                    <p:cNvSpPr txBox="1">
                      <a:spLocks noRot="1" noChangeAspect="1" noMove="1" noResize="1" noEditPoints="1" noAdjustHandles="1" noChangeArrowheads="1" noChangeShapeType="1" noTextEdit="1"/>
                    </p:cNvSpPr>
                    <p:nvPr/>
                  </p:nvSpPr>
                  <p:spPr>
                    <a:xfrm>
                      <a:off x="4202134" y="4105306"/>
                      <a:ext cx="1232743"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33">
                      <a:extLst>
                        <a:ext uri="{FF2B5EF4-FFF2-40B4-BE49-F238E27FC236}">
                          <a16:creationId xmlns:a16="http://schemas.microsoft.com/office/drawing/2014/main" id="{151E2F26-305A-D7EF-7773-451EF33945B3}"/>
                        </a:ext>
                      </a:extLst>
                    </p:cNvPr>
                    <p:cNvSpPr txBox="1"/>
                    <p:nvPr/>
                  </p:nvSpPr>
                  <p:spPr>
                    <a:xfrm>
                      <a:off x="6015253" y="4105306"/>
                      <a:ext cx="1232743"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3</m:t>
                                </m:r>
                              </m:sub>
                            </m:sSub>
                          </m:oMath>
                        </m:oMathPara>
                      </a14:m>
                      <a:endParaRPr lang="en-US" dirty="0"/>
                    </a:p>
                  </p:txBody>
                </p:sp>
              </mc:Choice>
              <mc:Fallback xmlns="">
                <p:sp>
                  <p:nvSpPr>
                    <p:cNvPr id="30" name="TextBox 29">
                      <a:extLst>
                        <a:ext uri="{FF2B5EF4-FFF2-40B4-BE49-F238E27FC236}">
                          <a16:creationId xmlns:a16="http://schemas.microsoft.com/office/drawing/2014/main" id="{C59B8D0D-C168-0DEF-7032-780D8BD52DB8}"/>
                        </a:ext>
                      </a:extLst>
                    </p:cNvPr>
                    <p:cNvSpPr txBox="1">
                      <a:spLocks noRot="1" noChangeAspect="1" noMove="1" noResize="1" noEditPoints="1" noAdjustHandles="1" noChangeArrowheads="1" noChangeShapeType="1" noTextEdit="1"/>
                    </p:cNvSpPr>
                    <p:nvPr/>
                  </p:nvSpPr>
                  <p:spPr>
                    <a:xfrm>
                      <a:off x="6015253" y="4105306"/>
                      <a:ext cx="1232743"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34">
                      <a:extLst>
                        <a:ext uri="{FF2B5EF4-FFF2-40B4-BE49-F238E27FC236}">
                          <a16:creationId xmlns:a16="http://schemas.microsoft.com/office/drawing/2014/main" id="{895A3944-17AC-8AFF-27B7-B036DB071237}"/>
                        </a:ext>
                      </a:extLst>
                    </p:cNvPr>
                    <p:cNvSpPr txBox="1"/>
                    <p:nvPr/>
                  </p:nvSpPr>
                  <p:spPr>
                    <a:xfrm>
                      <a:off x="5044469" y="4406794"/>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2</m:t>
                                </m:r>
                              </m:sub>
                            </m:sSub>
                          </m:oMath>
                        </m:oMathPara>
                      </a14:m>
                      <a:endParaRPr lang="en-US" dirty="0"/>
                    </a:p>
                  </p:txBody>
                </p:sp>
              </mc:Choice>
              <mc:Fallback xmlns="">
                <p:sp>
                  <p:nvSpPr>
                    <p:cNvPr id="31" name="TextBox 30">
                      <a:extLst>
                        <a:ext uri="{FF2B5EF4-FFF2-40B4-BE49-F238E27FC236}">
                          <a16:creationId xmlns:a16="http://schemas.microsoft.com/office/drawing/2014/main" id="{413608BC-509F-47CF-C8C7-736D8D70B38D}"/>
                        </a:ext>
                      </a:extLst>
                    </p:cNvPr>
                    <p:cNvSpPr txBox="1">
                      <a:spLocks noRot="1" noChangeAspect="1" noMove="1" noResize="1" noEditPoints="1" noAdjustHandles="1" noChangeArrowheads="1" noChangeShapeType="1" noTextEdit="1"/>
                    </p:cNvSpPr>
                    <p:nvPr/>
                  </p:nvSpPr>
                  <p:spPr>
                    <a:xfrm>
                      <a:off x="5044469" y="4406794"/>
                      <a:ext cx="535857" cy="369332"/>
                    </a:xfrm>
                    <a:prstGeom prst="rect">
                      <a:avLst/>
                    </a:prstGeom>
                    <a:blipFill>
                      <a:blip r:embed="rId12"/>
                      <a:stretch>
                        <a:fillRect/>
                      </a:stretch>
                    </a:blipFill>
                  </p:spPr>
                  <p:txBody>
                    <a:bodyPr/>
                    <a:lstStyle/>
                    <a:p>
                      <a:r>
                        <a:rPr lang="en-US">
                          <a:noFill/>
                        </a:rPr>
                        <a:t> </a:t>
                      </a:r>
                    </a:p>
                  </p:txBody>
                </p:sp>
              </mc:Fallback>
            </mc:AlternateContent>
            <p:cxnSp>
              <p:nvCxnSpPr>
                <p:cNvPr id="74" name="Conector de Seta Reta 7">
                  <a:extLst>
                    <a:ext uri="{FF2B5EF4-FFF2-40B4-BE49-F238E27FC236}">
                      <a16:creationId xmlns:a16="http://schemas.microsoft.com/office/drawing/2014/main" id="{19C750B5-77EE-EC1E-44AC-504BB1D08D59}"/>
                    </a:ext>
                  </a:extLst>
                </p:cNvPr>
                <p:cNvCxnSpPr>
                  <a:cxnSpLocks/>
                </p:cNvCxnSpPr>
                <p:nvPr/>
              </p:nvCxnSpPr>
              <p:spPr>
                <a:xfrm>
                  <a:off x="6017226" y="4474638"/>
                  <a:ext cx="12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TextBox 36">
                      <a:extLst>
                        <a:ext uri="{FF2B5EF4-FFF2-40B4-BE49-F238E27FC236}">
                          <a16:creationId xmlns:a16="http://schemas.microsoft.com/office/drawing/2014/main" id="{F458501C-3728-E11F-68FF-8A2A80B4B659}"/>
                        </a:ext>
                      </a:extLst>
                    </p:cNvPr>
                    <p:cNvSpPr txBox="1"/>
                    <p:nvPr/>
                  </p:nvSpPr>
                  <p:spPr>
                    <a:xfrm>
                      <a:off x="6846951" y="4406794"/>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3</m:t>
                                </m:r>
                              </m:sub>
                            </m:sSub>
                          </m:oMath>
                        </m:oMathPara>
                      </a14:m>
                      <a:endParaRPr lang="en-US" dirty="0"/>
                    </a:p>
                  </p:txBody>
                </p:sp>
              </mc:Choice>
              <mc:Fallback xmlns="">
                <p:sp>
                  <p:nvSpPr>
                    <p:cNvPr id="33" name="TextBox 32">
                      <a:extLst>
                        <a:ext uri="{FF2B5EF4-FFF2-40B4-BE49-F238E27FC236}">
                          <a16:creationId xmlns:a16="http://schemas.microsoft.com/office/drawing/2014/main" id="{DBCA4DDE-7466-5839-23BD-BF84059D5A8F}"/>
                        </a:ext>
                      </a:extLst>
                    </p:cNvPr>
                    <p:cNvSpPr txBox="1">
                      <a:spLocks noRot="1" noChangeAspect="1" noMove="1" noResize="1" noEditPoints="1" noAdjustHandles="1" noChangeArrowheads="1" noChangeShapeType="1" noTextEdit="1"/>
                    </p:cNvSpPr>
                    <p:nvPr/>
                  </p:nvSpPr>
                  <p:spPr>
                    <a:xfrm>
                      <a:off x="6846951" y="4406794"/>
                      <a:ext cx="535857"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37">
                      <a:extLst>
                        <a:ext uri="{FF2B5EF4-FFF2-40B4-BE49-F238E27FC236}">
                          <a16:creationId xmlns:a16="http://schemas.microsoft.com/office/drawing/2014/main" id="{17D991CB-FE1B-C01C-956B-179D0B09683C}"/>
                        </a:ext>
                      </a:extLst>
                    </p:cNvPr>
                    <p:cNvSpPr txBox="1"/>
                    <p:nvPr/>
                  </p:nvSpPr>
                  <p:spPr>
                    <a:xfrm>
                      <a:off x="3241274" y="4421567"/>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1</m:t>
                                </m:r>
                              </m:sub>
                            </m:sSub>
                          </m:oMath>
                        </m:oMathPara>
                      </a14:m>
                      <a:endParaRPr lang="en-US" dirty="0"/>
                    </a:p>
                  </p:txBody>
                </p:sp>
              </mc:Choice>
              <mc:Fallback xmlns="">
                <p:sp>
                  <p:nvSpPr>
                    <p:cNvPr id="34" name="TextBox 33">
                      <a:extLst>
                        <a:ext uri="{FF2B5EF4-FFF2-40B4-BE49-F238E27FC236}">
                          <a16:creationId xmlns:a16="http://schemas.microsoft.com/office/drawing/2014/main" id="{D806064B-863B-8125-E188-56029193EBC2}"/>
                        </a:ext>
                      </a:extLst>
                    </p:cNvPr>
                    <p:cNvSpPr txBox="1">
                      <a:spLocks noRot="1" noChangeAspect="1" noMove="1" noResize="1" noEditPoints="1" noAdjustHandles="1" noChangeArrowheads="1" noChangeShapeType="1" noTextEdit="1"/>
                    </p:cNvSpPr>
                    <p:nvPr/>
                  </p:nvSpPr>
                  <p:spPr>
                    <a:xfrm>
                      <a:off x="3241274" y="4421567"/>
                      <a:ext cx="535857" cy="369332"/>
                    </a:xfrm>
                    <a:prstGeom prst="rect">
                      <a:avLst/>
                    </a:prstGeom>
                    <a:blipFill>
                      <a:blip r:embed="rId1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0" name="TextBox 21">
                    <a:extLst>
                      <a:ext uri="{FF2B5EF4-FFF2-40B4-BE49-F238E27FC236}">
                        <a16:creationId xmlns:a16="http://schemas.microsoft.com/office/drawing/2014/main" id="{16965A18-8FDE-9799-696D-152C5F865FD1}"/>
                      </a:ext>
                    </a:extLst>
                  </p:cNvPr>
                  <p:cNvSpPr txBox="1"/>
                  <p:nvPr/>
                </p:nvSpPr>
                <p:spPr>
                  <a:xfrm>
                    <a:off x="4084589" y="2155628"/>
                    <a:ext cx="825194" cy="369332"/>
                  </a:xfrm>
                  <a:prstGeom prst="rect">
                    <a:avLst/>
                  </a:prstGeom>
                  <a:noFill/>
                </p:spPr>
                <p:txBody>
                  <a:bodyPr wrap="square">
                    <a:spAutoFit/>
                  </a:bodyPr>
                  <a:lstStyle/>
                  <a:p>
                    <a:pPr/>
                    <a14:m>
                      <m:oMathPara xmlns:m="http://schemas.openxmlformats.org/officeDocument/2006/math">
                        <m:oMath>
                          <m:r>
                            <a:rPr lang="pt-BR" i="1" smtClean="0">
                              <a:latin typeface="Cambria Math" panose="02040503050406030204" pitchFamily="18" charset="0"/>
                            </a:rPr>
                            <m:t>ℎ</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1</m:t>
                                  </m:r>
                                </m:sub>
                              </m:sSub>
                            </m:e>
                          </m:d>
                        </m:oMath>
                      </m:oMathPara>
                    </a14:m>
                    <a:endParaRPr lang="en-US" dirty="0"/>
                  </a:p>
                </p:txBody>
              </p:sp>
            </mc:Choice>
            <mc:Fallback xmlns="">
              <p:sp>
                <p:nvSpPr>
                  <p:cNvPr id="22" name="TextBox 21">
                    <a:extLst>
                      <a:ext uri="{FF2B5EF4-FFF2-40B4-BE49-F238E27FC236}">
                        <a16:creationId xmlns:a16="http://schemas.microsoft.com/office/drawing/2014/main" id="{16965A18-8FDE-9799-696D-152C5F865FD1}"/>
                      </a:ext>
                    </a:extLst>
                  </p:cNvPr>
                  <p:cNvSpPr txBox="1">
                    <a:spLocks noRot="1" noChangeAspect="1" noMove="1" noResize="1" noEditPoints="1" noAdjustHandles="1" noChangeArrowheads="1" noChangeShapeType="1" noTextEdit="1"/>
                  </p:cNvSpPr>
                  <p:nvPr/>
                </p:nvSpPr>
                <p:spPr>
                  <a:xfrm>
                    <a:off x="4084589" y="2155628"/>
                    <a:ext cx="825194"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22">
                    <a:extLst>
                      <a:ext uri="{FF2B5EF4-FFF2-40B4-BE49-F238E27FC236}">
                        <a16:creationId xmlns:a16="http://schemas.microsoft.com/office/drawing/2014/main" id="{929BD083-D41D-6E8B-203F-3D4ABF6E2D08}"/>
                      </a:ext>
                    </a:extLst>
                  </p:cNvPr>
                  <p:cNvSpPr txBox="1"/>
                  <p:nvPr/>
                </p:nvSpPr>
                <p:spPr>
                  <a:xfrm>
                    <a:off x="5920384" y="2136461"/>
                    <a:ext cx="757084" cy="369332"/>
                  </a:xfrm>
                  <a:prstGeom prst="rect">
                    <a:avLst/>
                  </a:prstGeom>
                  <a:noFill/>
                </p:spPr>
                <p:txBody>
                  <a:bodyPr wrap="square">
                    <a:spAutoFit/>
                  </a:bodyPr>
                  <a:lstStyle/>
                  <a:p>
                    <a:pPr/>
                    <a14:m>
                      <m:oMathPara xmlns:m="http://schemas.openxmlformats.org/officeDocument/2006/math">
                        <m:oMath>
                          <m:r>
                            <a:rPr lang="pt-BR" i="1" smtClean="0">
                              <a:latin typeface="Cambria Math" panose="02040503050406030204" pitchFamily="18" charset="0"/>
                            </a:rPr>
                            <m:t>𝑔</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2</m:t>
                                  </m:r>
                                </m:sub>
                              </m:sSub>
                            </m:e>
                          </m:d>
                        </m:oMath>
                      </m:oMathPara>
                    </a14:m>
                    <a:endParaRPr lang="en-US" dirty="0"/>
                  </a:p>
                </p:txBody>
              </p:sp>
            </mc:Choice>
            <mc:Fallback xmlns="">
              <p:sp>
                <p:nvSpPr>
                  <p:cNvPr id="23" name="TextBox 22">
                    <a:extLst>
                      <a:ext uri="{FF2B5EF4-FFF2-40B4-BE49-F238E27FC236}">
                        <a16:creationId xmlns:a16="http://schemas.microsoft.com/office/drawing/2014/main" id="{929BD083-D41D-6E8B-203F-3D4ABF6E2D08}"/>
                      </a:ext>
                    </a:extLst>
                  </p:cNvPr>
                  <p:cNvSpPr txBox="1">
                    <a:spLocks noRot="1" noChangeAspect="1" noMove="1" noResize="1" noEditPoints="1" noAdjustHandles="1" noChangeArrowheads="1" noChangeShapeType="1" noTextEdit="1"/>
                  </p:cNvSpPr>
                  <p:nvPr/>
                </p:nvSpPr>
                <p:spPr>
                  <a:xfrm>
                    <a:off x="5920384" y="2136461"/>
                    <a:ext cx="757084" cy="369332"/>
                  </a:xfrm>
                  <a:prstGeom prst="rect">
                    <a:avLst/>
                  </a:prstGeom>
                  <a:blipFill>
                    <a:blip r:embed="rId16"/>
                    <a:stretch>
                      <a:fillRect b="-655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8" name="TextBox 39">
                  <a:extLst>
                    <a:ext uri="{FF2B5EF4-FFF2-40B4-BE49-F238E27FC236}">
                      <a16:creationId xmlns:a16="http://schemas.microsoft.com/office/drawing/2014/main" id="{2CFDFBD5-FA4D-91D9-109D-B66617353EEC}"/>
                    </a:ext>
                  </a:extLst>
                </p:cNvPr>
                <p:cNvSpPr txBox="1"/>
                <p:nvPr/>
              </p:nvSpPr>
              <p:spPr>
                <a:xfrm>
                  <a:off x="7739853" y="2165120"/>
                  <a:ext cx="632539" cy="369332"/>
                </a:xfrm>
                <a:prstGeom prst="rect">
                  <a:avLst/>
                </a:prstGeom>
                <a:noFill/>
              </p:spPr>
              <p:txBody>
                <a:bodyPr wrap="square">
                  <a:spAutoFit/>
                </a:bodyPr>
                <a:lstStyle/>
                <a:p>
                  <a:pPr/>
                  <a14:m>
                    <m:oMathPara xmlns:m="http://schemas.openxmlformats.org/officeDocument/2006/math">
                      <m:oMath>
                        <m:r>
                          <a:rPr lang="pt-BR" i="1" smtClean="0">
                            <a:latin typeface="Cambria Math" panose="02040503050406030204" pitchFamily="18" charset="0"/>
                          </a:rPr>
                          <m:t>𝑓</m:t>
                        </m:r>
                        <m:r>
                          <a:rPr lang="pt-BR"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3</m:t>
                            </m:r>
                          </m:sub>
                        </m:sSub>
                        <m:r>
                          <a:rPr lang="pt-BR" i="1">
                            <a:latin typeface="Cambria Math" panose="02040503050406030204" pitchFamily="18" charset="0"/>
                          </a:rPr>
                          <m:t>)</m:t>
                        </m:r>
                      </m:oMath>
                    </m:oMathPara>
                  </a14:m>
                  <a:endParaRPr lang="en-US" dirty="0"/>
                </a:p>
              </p:txBody>
            </p:sp>
          </mc:Choice>
          <mc:Fallback xmlns="">
            <p:sp>
              <p:nvSpPr>
                <p:cNvPr id="58" name="TextBox 39">
                  <a:extLst>
                    <a:ext uri="{FF2B5EF4-FFF2-40B4-BE49-F238E27FC236}">
                      <a16:creationId xmlns:a16="http://schemas.microsoft.com/office/drawing/2014/main" xmlns:a14="http://schemas.microsoft.com/office/drawing/2010/main" xmlns="" id="{2CFDFBD5-FA4D-91D9-109D-B66617353EEC}"/>
                    </a:ext>
                  </a:extLst>
                </p:cNvPr>
                <p:cNvSpPr txBox="1">
                  <a:spLocks noRot="1" noChangeAspect="1" noMove="1" noResize="1" noEditPoints="1" noAdjustHandles="1" noChangeArrowheads="1" noChangeShapeType="1" noTextEdit="1"/>
                </p:cNvSpPr>
                <p:nvPr/>
              </p:nvSpPr>
              <p:spPr>
                <a:xfrm>
                  <a:off x="7739853" y="2165120"/>
                  <a:ext cx="632539" cy="369332"/>
                </a:xfrm>
                <a:prstGeom prst="rect">
                  <a:avLst/>
                </a:prstGeom>
                <a:blipFill rotWithShape="0">
                  <a:blip r:embed="rId17"/>
                  <a:stretch>
                    <a:fillRect l="-2913" r="-22330" b="-13115"/>
                  </a:stretch>
                </a:blipFill>
              </p:spPr>
              <p:txBody>
                <a:bodyPr/>
                <a:lstStyle/>
                <a:p>
                  <a:r>
                    <a:rPr lang="pt-BR">
                      <a:noFill/>
                    </a:rPr>
                    <a:t> </a:t>
                  </a:r>
                </a:p>
              </p:txBody>
            </p:sp>
          </mc:Fallback>
        </mc:AlternateContent>
      </p:grpSp>
      <mc:AlternateContent xmlns:mc="http://schemas.openxmlformats.org/markup-compatibility/2006">
        <mc:Choice xmlns:a14="http://schemas.microsoft.com/office/drawing/2010/main" Requires="a14">
          <p:sp>
            <p:nvSpPr>
              <p:cNvPr id="5" name="CaixaDeTexto 4">
                <a:extLst>
                  <a:ext uri="{FF2B5EF4-FFF2-40B4-BE49-F238E27FC236}">
                    <a16:creationId xmlns:a16="http://schemas.microsoft.com/office/drawing/2014/main" id="{D546424F-D5CC-72B1-6C68-B4AC1D5EF236}"/>
                  </a:ext>
                </a:extLst>
              </p:cNvPr>
              <p:cNvSpPr txBox="1"/>
              <p:nvPr/>
            </p:nvSpPr>
            <p:spPr>
              <a:xfrm>
                <a:off x="9170676" y="6543046"/>
                <a:ext cx="3021323" cy="302840"/>
              </a:xfrm>
              <a:prstGeom prst="rect">
                <a:avLst/>
              </a:prstGeom>
              <a:noFill/>
            </p:spPr>
            <p:txBody>
              <a:bodyPr wrap="square">
                <a:spAutoFit/>
              </a:bodyPr>
              <a:lstStyle/>
              <a:p>
                <a14:m>
                  <m:oMath xmlns:m="http://schemas.openxmlformats.org/officeDocument/2006/math">
                    <m:r>
                      <a:rPr lang="pt-BR" sz="1400" b="1" i="1" noProof="0" smtClean="0">
                        <a:latin typeface="Cambria Math" panose="02040503050406030204" pitchFamily="18" charset="0"/>
                      </a:rPr>
                      <m:t>∗</m:t>
                    </m:r>
                  </m:oMath>
                </a14:m>
                <a:r>
                  <a:rPr lang="pt-BR" sz="1050" noProof="0" dirty="0"/>
                  <a:t> Vamos considerar o erro de apenas uma amostra.</a:t>
                </a:r>
              </a:p>
            </p:txBody>
          </p:sp>
        </mc:Choice>
        <mc:Fallback>
          <p:sp>
            <p:nvSpPr>
              <p:cNvPr id="5" name="CaixaDeTexto 4">
                <a:extLst>
                  <a:ext uri="{FF2B5EF4-FFF2-40B4-BE49-F238E27FC236}">
                    <a16:creationId xmlns:a16="http://schemas.microsoft.com/office/drawing/2014/main" id="{D546424F-D5CC-72B1-6C68-B4AC1D5EF236}"/>
                  </a:ext>
                </a:extLst>
              </p:cNvPr>
              <p:cNvSpPr txBox="1">
                <a:spLocks noRot="1" noChangeAspect="1" noMove="1" noResize="1" noEditPoints="1" noAdjustHandles="1" noChangeArrowheads="1" noChangeShapeType="1" noTextEdit="1"/>
              </p:cNvSpPr>
              <p:nvPr/>
            </p:nvSpPr>
            <p:spPr>
              <a:xfrm>
                <a:off x="9170676" y="6543046"/>
                <a:ext cx="3021323" cy="302840"/>
              </a:xfrm>
              <a:prstGeom prst="rect">
                <a:avLst/>
              </a:prstGeom>
              <a:blipFill>
                <a:blip r:embed="rId18"/>
                <a:stretch>
                  <a:fillRect b="-10000"/>
                </a:stretch>
              </a:blipFill>
            </p:spPr>
            <p:txBody>
              <a:bodyPr/>
              <a:lstStyle/>
              <a:p>
                <a:r>
                  <a:rPr lang="en-US">
                    <a:noFill/>
                  </a:rPr>
                  <a:t> </a:t>
                </a:r>
              </a:p>
            </p:txBody>
          </p:sp>
        </mc:Fallback>
      </mc:AlternateContent>
    </p:spTree>
    <p:extLst>
      <p:ext uri="{BB962C8B-B14F-4D97-AF65-F5344CB8AC3E}">
        <p14:creationId xmlns:p14="http://schemas.microsoft.com/office/powerpoint/2010/main" val="9245302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Dissipação e explosão do gradiente</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838200" y="2352469"/>
                <a:ext cx="11353800" cy="4505532"/>
              </a:xfrm>
            </p:spPr>
            <p:txBody>
              <a:bodyPr>
                <a:normAutofit lnSpcReduction="10000"/>
              </a:bodyPr>
              <a:lstStyle/>
              <a:p>
                <a:r>
                  <a:rPr lang="pt-BR" dirty="0"/>
                  <a:t>Imaginem uma rede profunda com </a:t>
                </a:r>
                <a14:m>
                  <m:oMath xmlns:m="http://schemas.openxmlformats.org/officeDocument/2006/math">
                    <m:r>
                      <a:rPr lang="pt-BR" b="0" i="1" smtClean="0">
                        <a:latin typeface="Cambria Math" panose="02040503050406030204" pitchFamily="18" charset="0"/>
                      </a:rPr>
                      <m:t>𝑀</m:t>
                    </m:r>
                  </m:oMath>
                </a14:m>
                <a:r>
                  <a:rPr lang="pt-BR" dirty="0"/>
                  <a:t> camadas. A derivada com relação a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oMath>
                </a14:m>
                <a:r>
                  <a:rPr lang="pt-BR" dirty="0"/>
                  <a:t> é</a:t>
                </a:r>
              </a:p>
              <a:p>
                <a:pPr marL="0" indent="0">
                  <a:buNone/>
                </a:pPr>
                <a14:m>
                  <m:oMathPara xmlns:m="http://schemas.openxmlformats.org/officeDocument/2006/math">
                    <m:oMath>
                      <m:f>
                        <m:fPr>
                          <m:ctrlPr>
                            <a:rPr lang="pt-BR" sz="2600" i="1">
                              <a:latin typeface="Cambria Math" panose="02040503050406030204" pitchFamily="18" charset="0"/>
                              <a:ea typeface="Cambria Math" panose="02040503050406030204" pitchFamily="18" charset="0"/>
                            </a:rPr>
                          </m:ctrlPr>
                        </m:fPr>
                        <m:num>
                          <m:r>
                            <a:rPr lang="pt-BR" sz="2600" i="1">
                              <a:latin typeface="Cambria Math" panose="02040503050406030204" pitchFamily="18" charset="0"/>
                              <a:ea typeface="Cambria Math" panose="02040503050406030204" pitchFamily="18" charset="0"/>
                            </a:rPr>
                            <m:t>𝜕</m:t>
                          </m:r>
                          <m:sSub>
                            <m:sSubPr>
                              <m:ctrlPr>
                                <a:rPr lang="pt-BR" sz="2600" i="1">
                                  <a:latin typeface="Cambria Math" panose="02040503050406030204" pitchFamily="18" charset="0"/>
                                </a:rPr>
                              </m:ctrlPr>
                            </m:sSubPr>
                            <m:e>
                              <m:r>
                                <a:rPr lang="pt-BR" sz="2600" i="1">
                                  <a:latin typeface="Cambria Math" panose="02040503050406030204" pitchFamily="18" charset="0"/>
                                </a:rPr>
                                <m:t>𝐽</m:t>
                              </m:r>
                            </m:e>
                            <m:sub>
                              <m:r>
                                <a:rPr lang="pt-BR" sz="2600" i="1">
                                  <a:latin typeface="Cambria Math" panose="02040503050406030204" pitchFamily="18" charset="0"/>
                                </a:rPr>
                                <m:t>𝑒</m:t>
                              </m:r>
                            </m:sub>
                          </m:sSub>
                        </m:num>
                        <m:den>
                          <m:r>
                            <a:rPr lang="pt-BR" sz="2600" i="1">
                              <a:latin typeface="Cambria Math" panose="02040503050406030204" pitchFamily="18" charset="0"/>
                              <a:ea typeface="Cambria Math" panose="02040503050406030204" pitchFamily="18" charset="0"/>
                            </a:rPr>
                            <m:t>𝜕</m:t>
                          </m:r>
                          <m:sSub>
                            <m:sSubPr>
                              <m:ctrlPr>
                                <a:rPr lang="pt-BR" sz="2600" i="1">
                                  <a:latin typeface="Cambria Math" panose="02040503050406030204" pitchFamily="18" charset="0"/>
                                </a:rPr>
                              </m:ctrlPr>
                            </m:sSubPr>
                            <m:e>
                              <m:r>
                                <a:rPr lang="pt-BR" sz="2600" i="1">
                                  <a:latin typeface="Cambria Math" panose="02040503050406030204" pitchFamily="18" charset="0"/>
                                </a:rPr>
                                <m:t>𝑤</m:t>
                              </m:r>
                            </m:e>
                            <m:sub>
                              <m:r>
                                <a:rPr lang="pt-BR" sz="2600" i="1">
                                  <a:latin typeface="Cambria Math" panose="02040503050406030204" pitchFamily="18" charset="0"/>
                                </a:rPr>
                                <m:t>1</m:t>
                              </m:r>
                            </m:sub>
                          </m:sSub>
                          <m:r>
                            <m:rPr>
                              <m:nor/>
                            </m:rPr>
                            <a:rPr lang="en-US" sz="2600" i="0" dirty="0"/>
                            <m:t> </m:t>
                          </m:r>
                        </m:den>
                      </m:f>
                      <m:r>
                        <a:rPr lang="pt-BR" sz="2600" i="1">
                          <a:latin typeface="Cambria Math" panose="02040503050406030204" pitchFamily="18" charset="0"/>
                        </a:rPr>
                        <m:t>=−2</m:t>
                      </m:r>
                      <m:d>
                        <m:dPr>
                          <m:ctrlPr>
                            <a:rPr lang="pt-BR" sz="2600" i="1">
                              <a:latin typeface="Cambria Math" panose="02040503050406030204" pitchFamily="18" charset="0"/>
                              <a:ea typeface="Cambria Math" panose="02040503050406030204" pitchFamily="18" charset="0"/>
                            </a:rPr>
                          </m:ctrlPr>
                        </m:dPr>
                        <m:e>
                          <m:r>
                            <a:rPr lang="pt-BR" sz="2600" i="1">
                              <a:latin typeface="Cambria Math" panose="02040503050406030204" pitchFamily="18" charset="0"/>
                              <a:ea typeface="Cambria Math" panose="02040503050406030204" pitchFamily="18" charset="0"/>
                            </a:rPr>
                            <m:t>𝑦</m:t>
                          </m:r>
                          <m:r>
                            <a:rPr lang="pt-BR" sz="2600" i="1">
                              <a:latin typeface="Cambria Math" panose="02040503050406030204" pitchFamily="18" charset="0"/>
                              <a:ea typeface="Cambria Math" panose="02040503050406030204" pitchFamily="18" charset="0"/>
                            </a:rPr>
                            <m:t>−</m:t>
                          </m:r>
                          <m:limLow>
                            <m:limLowPr>
                              <m:ctrlPr>
                                <a:rPr lang="pt-BR" sz="2600" i="1">
                                  <a:latin typeface="Cambria Math" panose="02040503050406030204" pitchFamily="18" charset="0"/>
                                </a:rPr>
                              </m:ctrlPr>
                            </m:limLowPr>
                            <m:e>
                              <m:groupChr>
                                <m:groupChrPr>
                                  <m:chr m:val="⏟"/>
                                  <m:pos m:val="bot"/>
                                  <m:vertJc m:val="top"/>
                                  <m:ctrlPr>
                                    <a:rPr lang="pt-BR" sz="2600" i="1">
                                      <a:latin typeface="Cambria Math" panose="02040503050406030204" pitchFamily="18" charset="0"/>
                                    </a:rPr>
                                  </m:ctrlPr>
                                </m:groupChrPr>
                                <m:e>
                                  <m:r>
                                    <a:rPr lang="pt-BR" sz="2600" i="1">
                                      <a:latin typeface="Cambria Math" panose="02040503050406030204" pitchFamily="18" charset="0"/>
                                    </a:rPr>
                                    <m:t>𝑓</m:t>
                                  </m:r>
                                  <m:d>
                                    <m:dPr>
                                      <m:ctrlPr>
                                        <a:rPr lang="pt-BR" sz="2600" i="1">
                                          <a:latin typeface="Cambria Math" panose="02040503050406030204" pitchFamily="18" charset="0"/>
                                        </a:rPr>
                                      </m:ctrlPr>
                                    </m:dPr>
                                    <m:e>
                                      <m:sSub>
                                        <m:sSubPr>
                                          <m:ctrlPr>
                                            <a:rPr lang="pt-BR" sz="2600" i="1">
                                              <a:latin typeface="Cambria Math" panose="02040503050406030204" pitchFamily="18" charset="0"/>
                                            </a:rPr>
                                          </m:ctrlPr>
                                        </m:sSubPr>
                                        <m:e>
                                          <m:r>
                                            <a:rPr lang="pt-BR" sz="2600" i="1">
                                              <a:latin typeface="Cambria Math" panose="02040503050406030204" pitchFamily="18" charset="0"/>
                                            </a:rPr>
                                            <m:t>𝑢</m:t>
                                          </m:r>
                                        </m:e>
                                        <m:sub>
                                          <m:r>
                                            <a:rPr lang="pt-BR" sz="2600" b="0" i="1" smtClean="0">
                                              <a:latin typeface="Cambria Math" panose="02040503050406030204" pitchFamily="18" charset="0"/>
                                            </a:rPr>
                                            <m:t>𝑀</m:t>
                                          </m:r>
                                        </m:sub>
                                      </m:sSub>
                                    </m:e>
                                  </m:d>
                                </m:e>
                              </m:groupChr>
                            </m:e>
                            <m:lim>
                              <m:acc>
                                <m:accPr>
                                  <m:chr m:val="̂"/>
                                  <m:ctrlPr>
                                    <a:rPr lang="pt-BR" sz="2600" i="1">
                                      <a:latin typeface="Cambria Math" panose="02040503050406030204" pitchFamily="18" charset="0"/>
                                    </a:rPr>
                                  </m:ctrlPr>
                                </m:accPr>
                                <m:e>
                                  <m:r>
                                    <a:rPr lang="pt-BR" sz="2600" i="1">
                                      <a:latin typeface="Cambria Math" panose="02040503050406030204" pitchFamily="18" charset="0"/>
                                    </a:rPr>
                                    <m:t>𝑦</m:t>
                                  </m:r>
                                </m:e>
                              </m:acc>
                            </m:lim>
                          </m:limLow>
                        </m:e>
                      </m:d>
                      <m:f>
                        <m:fPr>
                          <m:ctrlPr>
                            <a:rPr lang="pt-BR" sz="2600" i="1">
                              <a:latin typeface="Cambria Math" panose="02040503050406030204" pitchFamily="18" charset="0"/>
                              <a:ea typeface="Cambria Math" panose="02040503050406030204" pitchFamily="18" charset="0"/>
                            </a:rPr>
                          </m:ctrlPr>
                        </m:fPr>
                        <m:num>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rPr>
                            <m:t>𝑓</m:t>
                          </m:r>
                          <m:d>
                            <m:dPr>
                              <m:ctrlPr>
                                <a:rPr lang="pt-BR" sz="2600" i="1">
                                  <a:latin typeface="Cambria Math" panose="02040503050406030204" pitchFamily="18" charset="0"/>
                                </a:rPr>
                              </m:ctrlPr>
                            </m:dPr>
                            <m:e>
                              <m:sSub>
                                <m:sSubPr>
                                  <m:ctrlPr>
                                    <a:rPr lang="pt-BR" sz="2600" i="1">
                                      <a:latin typeface="Cambria Math" panose="02040503050406030204" pitchFamily="18" charset="0"/>
                                    </a:rPr>
                                  </m:ctrlPr>
                                </m:sSubPr>
                                <m:e>
                                  <m:r>
                                    <a:rPr lang="pt-BR" sz="2600" i="1">
                                      <a:latin typeface="Cambria Math" panose="02040503050406030204" pitchFamily="18" charset="0"/>
                                    </a:rPr>
                                    <m:t>𝑢</m:t>
                                  </m:r>
                                </m:e>
                                <m:sub>
                                  <m:r>
                                    <a:rPr lang="pt-BR" sz="2600" b="0" i="1" smtClean="0">
                                      <a:latin typeface="Cambria Math" panose="02040503050406030204" pitchFamily="18" charset="0"/>
                                    </a:rPr>
                                    <m:t>𝑀</m:t>
                                  </m:r>
                                </m:sub>
                              </m:sSub>
                            </m:e>
                          </m:d>
                        </m:num>
                        <m:den>
                          <m:r>
                            <a:rPr lang="pt-BR" sz="2600" i="1">
                              <a:latin typeface="Cambria Math" panose="02040503050406030204" pitchFamily="18" charset="0"/>
                              <a:ea typeface="Cambria Math" panose="02040503050406030204" pitchFamily="18" charset="0"/>
                            </a:rPr>
                            <m:t>𝜕</m:t>
                          </m:r>
                          <m:sSub>
                            <m:sSubPr>
                              <m:ctrlPr>
                                <a:rPr lang="pt-BR" sz="2600" i="1">
                                  <a:latin typeface="Cambria Math" panose="02040503050406030204" pitchFamily="18" charset="0"/>
                                </a:rPr>
                              </m:ctrlPr>
                            </m:sSubPr>
                            <m:e>
                              <m:r>
                                <a:rPr lang="pt-BR" sz="2600" i="1">
                                  <a:latin typeface="Cambria Math" panose="02040503050406030204" pitchFamily="18" charset="0"/>
                                </a:rPr>
                                <m:t>𝑢</m:t>
                              </m:r>
                            </m:e>
                            <m:sub>
                              <m:r>
                                <a:rPr lang="pt-BR" sz="2600" b="0" i="1" smtClean="0">
                                  <a:latin typeface="Cambria Math" panose="02040503050406030204" pitchFamily="18" charset="0"/>
                                </a:rPr>
                                <m:t>𝑀</m:t>
                              </m:r>
                            </m:sub>
                          </m:sSub>
                        </m:den>
                      </m:f>
                      <m:sSub>
                        <m:sSubPr>
                          <m:ctrlPr>
                            <a:rPr lang="pt-BR" sz="2600" i="1">
                              <a:latin typeface="Cambria Math" panose="02040503050406030204" pitchFamily="18" charset="0"/>
                            </a:rPr>
                          </m:ctrlPr>
                        </m:sSubPr>
                        <m:e>
                          <m:r>
                            <a:rPr lang="pt-BR" sz="2600" i="1">
                              <a:latin typeface="Cambria Math" panose="02040503050406030204" pitchFamily="18" charset="0"/>
                            </a:rPr>
                            <m:t>𝑤</m:t>
                          </m:r>
                        </m:e>
                        <m:sub>
                          <m:r>
                            <a:rPr lang="pt-BR" sz="2600" b="0" i="1" smtClean="0">
                              <a:latin typeface="Cambria Math" panose="02040503050406030204" pitchFamily="18" charset="0"/>
                            </a:rPr>
                            <m:t>𝑀</m:t>
                          </m:r>
                        </m:sub>
                      </m:sSub>
                      <m:r>
                        <a:rPr lang="pt-BR" sz="2600" i="1" smtClean="0">
                          <a:latin typeface="Cambria Math" panose="02040503050406030204" pitchFamily="18" charset="0"/>
                          <a:ea typeface="Cambria Math" panose="02040503050406030204" pitchFamily="18" charset="0"/>
                        </a:rPr>
                        <m:t>⋯</m:t>
                      </m:r>
                      <m:f>
                        <m:fPr>
                          <m:ctrlPr>
                            <a:rPr lang="pt-BR" sz="2600" i="1">
                              <a:latin typeface="Cambria Math" panose="02040503050406030204" pitchFamily="18" charset="0"/>
                              <a:ea typeface="Cambria Math" panose="02040503050406030204" pitchFamily="18" charset="0"/>
                            </a:rPr>
                          </m:ctrlPr>
                        </m:fPr>
                        <m:num>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rPr>
                            <m:t>𝑓</m:t>
                          </m:r>
                          <m:d>
                            <m:dPr>
                              <m:ctrlPr>
                                <a:rPr lang="pt-BR" sz="2600" i="1">
                                  <a:latin typeface="Cambria Math" panose="02040503050406030204" pitchFamily="18" charset="0"/>
                                </a:rPr>
                              </m:ctrlPr>
                            </m:dPr>
                            <m:e>
                              <m:sSub>
                                <m:sSubPr>
                                  <m:ctrlPr>
                                    <a:rPr lang="pt-BR" sz="2600" i="1">
                                      <a:latin typeface="Cambria Math" panose="02040503050406030204" pitchFamily="18" charset="0"/>
                                    </a:rPr>
                                  </m:ctrlPr>
                                </m:sSubPr>
                                <m:e>
                                  <m:r>
                                    <a:rPr lang="pt-BR" sz="2600" i="1">
                                      <a:latin typeface="Cambria Math" panose="02040503050406030204" pitchFamily="18" charset="0"/>
                                    </a:rPr>
                                    <m:t>𝑢</m:t>
                                  </m:r>
                                </m:e>
                                <m:sub>
                                  <m:r>
                                    <a:rPr lang="pt-BR" sz="2600" b="0" i="1" smtClean="0">
                                      <a:latin typeface="Cambria Math" panose="02040503050406030204" pitchFamily="18" charset="0"/>
                                    </a:rPr>
                                    <m:t>3</m:t>
                                  </m:r>
                                </m:sub>
                              </m:sSub>
                            </m:e>
                          </m:d>
                        </m:num>
                        <m:den>
                          <m:r>
                            <a:rPr lang="pt-BR" sz="2600" i="1">
                              <a:latin typeface="Cambria Math" panose="02040503050406030204" pitchFamily="18" charset="0"/>
                              <a:ea typeface="Cambria Math" panose="02040503050406030204" pitchFamily="18" charset="0"/>
                            </a:rPr>
                            <m:t>𝜕</m:t>
                          </m:r>
                          <m:sSub>
                            <m:sSubPr>
                              <m:ctrlPr>
                                <a:rPr lang="pt-BR" sz="2600" i="1">
                                  <a:latin typeface="Cambria Math" panose="02040503050406030204" pitchFamily="18" charset="0"/>
                                </a:rPr>
                              </m:ctrlPr>
                            </m:sSubPr>
                            <m:e>
                              <m:r>
                                <a:rPr lang="pt-BR" sz="2600" i="1">
                                  <a:latin typeface="Cambria Math" panose="02040503050406030204" pitchFamily="18" charset="0"/>
                                </a:rPr>
                                <m:t>𝑢</m:t>
                              </m:r>
                            </m:e>
                            <m:sub>
                              <m:r>
                                <a:rPr lang="pt-BR" sz="2600" b="0" i="1" smtClean="0">
                                  <a:latin typeface="Cambria Math" panose="02040503050406030204" pitchFamily="18" charset="0"/>
                                </a:rPr>
                                <m:t>3</m:t>
                              </m:r>
                            </m:sub>
                          </m:sSub>
                        </m:den>
                      </m:f>
                      <m:sSub>
                        <m:sSubPr>
                          <m:ctrlPr>
                            <a:rPr lang="pt-BR" sz="2600" i="1">
                              <a:latin typeface="Cambria Math" panose="02040503050406030204" pitchFamily="18" charset="0"/>
                            </a:rPr>
                          </m:ctrlPr>
                        </m:sSubPr>
                        <m:e>
                          <m:r>
                            <a:rPr lang="pt-BR" sz="2600" i="1">
                              <a:latin typeface="Cambria Math" panose="02040503050406030204" pitchFamily="18" charset="0"/>
                            </a:rPr>
                            <m:t>𝑤</m:t>
                          </m:r>
                        </m:e>
                        <m:sub>
                          <m:r>
                            <a:rPr lang="pt-BR" sz="2600" i="1">
                              <a:latin typeface="Cambria Math" panose="02040503050406030204" pitchFamily="18" charset="0"/>
                            </a:rPr>
                            <m:t>3</m:t>
                          </m:r>
                        </m:sub>
                      </m:sSub>
                      <m:f>
                        <m:fPr>
                          <m:ctrlPr>
                            <a:rPr lang="pt-BR" sz="2600" i="1">
                              <a:latin typeface="Cambria Math" panose="02040503050406030204" pitchFamily="18" charset="0"/>
                              <a:ea typeface="Cambria Math" panose="02040503050406030204" pitchFamily="18" charset="0"/>
                            </a:rPr>
                          </m:ctrlPr>
                        </m:fPr>
                        <m:num>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rPr>
                            <m:t>𝑔</m:t>
                          </m:r>
                          <m:d>
                            <m:dPr>
                              <m:ctrlPr>
                                <a:rPr lang="pt-BR" sz="2600" i="1">
                                  <a:latin typeface="Cambria Math" panose="02040503050406030204" pitchFamily="18" charset="0"/>
                                </a:rPr>
                              </m:ctrlPr>
                            </m:dPr>
                            <m:e>
                              <m:sSub>
                                <m:sSubPr>
                                  <m:ctrlPr>
                                    <a:rPr lang="pt-BR" sz="2600" i="1">
                                      <a:latin typeface="Cambria Math" panose="02040503050406030204" pitchFamily="18" charset="0"/>
                                    </a:rPr>
                                  </m:ctrlPr>
                                </m:sSubPr>
                                <m:e>
                                  <m:r>
                                    <a:rPr lang="pt-BR" sz="2600" i="1">
                                      <a:latin typeface="Cambria Math" panose="02040503050406030204" pitchFamily="18" charset="0"/>
                                    </a:rPr>
                                    <m:t>𝑢</m:t>
                                  </m:r>
                                </m:e>
                                <m:sub>
                                  <m:r>
                                    <a:rPr lang="pt-BR" sz="2600" i="1">
                                      <a:latin typeface="Cambria Math" panose="02040503050406030204" pitchFamily="18" charset="0"/>
                                    </a:rPr>
                                    <m:t>2</m:t>
                                  </m:r>
                                </m:sub>
                              </m:sSub>
                            </m:e>
                          </m:d>
                        </m:num>
                        <m:den>
                          <m:r>
                            <a:rPr lang="pt-BR" sz="2600" i="1">
                              <a:latin typeface="Cambria Math" panose="02040503050406030204" pitchFamily="18" charset="0"/>
                              <a:ea typeface="Cambria Math" panose="02040503050406030204" pitchFamily="18" charset="0"/>
                            </a:rPr>
                            <m:t>𝜕</m:t>
                          </m:r>
                          <m:sSub>
                            <m:sSubPr>
                              <m:ctrlPr>
                                <a:rPr lang="pt-BR" sz="2600" i="1">
                                  <a:latin typeface="Cambria Math" panose="02040503050406030204" pitchFamily="18" charset="0"/>
                                </a:rPr>
                              </m:ctrlPr>
                            </m:sSubPr>
                            <m:e>
                              <m:r>
                                <a:rPr lang="pt-BR" sz="2600" i="1">
                                  <a:latin typeface="Cambria Math" panose="02040503050406030204" pitchFamily="18" charset="0"/>
                                </a:rPr>
                                <m:t>𝑢</m:t>
                              </m:r>
                            </m:e>
                            <m:sub>
                              <m:r>
                                <a:rPr lang="pt-BR" sz="2600" i="1">
                                  <a:latin typeface="Cambria Math" panose="02040503050406030204" pitchFamily="18" charset="0"/>
                                </a:rPr>
                                <m:t>2</m:t>
                              </m:r>
                            </m:sub>
                          </m:sSub>
                        </m:den>
                      </m:f>
                      <m:sSub>
                        <m:sSubPr>
                          <m:ctrlPr>
                            <a:rPr lang="pt-BR" sz="2600" i="1">
                              <a:latin typeface="Cambria Math" panose="02040503050406030204" pitchFamily="18" charset="0"/>
                            </a:rPr>
                          </m:ctrlPr>
                        </m:sSubPr>
                        <m:e>
                          <m:r>
                            <a:rPr lang="pt-BR" sz="2600" i="1">
                              <a:latin typeface="Cambria Math" panose="02040503050406030204" pitchFamily="18" charset="0"/>
                            </a:rPr>
                            <m:t>𝑤</m:t>
                          </m:r>
                        </m:e>
                        <m:sub>
                          <m:r>
                            <a:rPr lang="pt-BR" sz="2600" i="1">
                              <a:latin typeface="Cambria Math" panose="02040503050406030204" pitchFamily="18" charset="0"/>
                            </a:rPr>
                            <m:t>2</m:t>
                          </m:r>
                        </m:sub>
                      </m:sSub>
                      <m:f>
                        <m:fPr>
                          <m:ctrlPr>
                            <a:rPr lang="pt-BR" sz="2600" i="1">
                              <a:latin typeface="Cambria Math" panose="02040503050406030204" pitchFamily="18" charset="0"/>
                              <a:ea typeface="Cambria Math" panose="02040503050406030204" pitchFamily="18" charset="0"/>
                            </a:rPr>
                          </m:ctrlPr>
                        </m:fPr>
                        <m:num>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rPr>
                            <m:t>ℎ</m:t>
                          </m:r>
                          <m:d>
                            <m:dPr>
                              <m:ctrlPr>
                                <a:rPr lang="pt-BR" sz="2600" i="1">
                                  <a:latin typeface="Cambria Math" panose="02040503050406030204" pitchFamily="18" charset="0"/>
                                </a:rPr>
                              </m:ctrlPr>
                            </m:dPr>
                            <m:e>
                              <m:sSub>
                                <m:sSubPr>
                                  <m:ctrlPr>
                                    <a:rPr lang="pt-BR" sz="2600" i="1">
                                      <a:latin typeface="Cambria Math" panose="02040503050406030204" pitchFamily="18" charset="0"/>
                                    </a:rPr>
                                  </m:ctrlPr>
                                </m:sSubPr>
                                <m:e>
                                  <m:r>
                                    <a:rPr lang="pt-BR" sz="2600" i="1">
                                      <a:latin typeface="Cambria Math" panose="02040503050406030204" pitchFamily="18" charset="0"/>
                                    </a:rPr>
                                    <m:t>𝑢</m:t>
                                  </m:r>
                                </m:e>
                                <m:sub>
                                  <m:r>
                                    <a:rPr lang="pt-BR" sz="2600" i="1">
                                      <a:latin typeface="Cambria Math" panose="02040503050406030204" pitchFamily="18" charset="0"/>
                                    </a:rPr>
                                    <m:t>1</m:t>
                                  </m:r>
                                </m:sub>
                              </m:sSub>
                            </m:e>
                          </m:d>
                        </m:num>
                        <m:den>
                          <m:r>
                            <a:rPr lang="pt-BR" sz="2600" i="1">
                              <a:latin typeface="Cambria Math" panose="02040503050406030204" pitchFamily="18" charset="0"/>
                              <a:ea typeface="Cambria Math" panose="02040503050406030204" pitchFamily="18" charset="0"/>
                            </a:rPr>
                            <m:t>𝜕</m:t>
                          </m:r>
                          <m:sSub>
                            <m:sSubPr>
                              <m:ctrlPr>
                                <a:rPr lang="pt-BR" sz="2600" i="1">
                                  <a:latin typeface="Cambria Math" panose="02040503050406030204" pitchFamily="18" charset="0"/>
                                </a:rPr>
                              </m:ctrlPr>
                            </m:sSubPr>
                            <m:e>
                              <m:r>
                                <a:rPr lang="pt-BR" sz="2600" i="1">
                                  <a:latin typeface="Cambria Math" panose="02040503050406030204" pitchFamily="18" charset="0"/>
                                </a:rPr>
                                <m:t>𝑢</m:t>
                              </m:r>
                            </m:e>
                            <m:sub>
                              <m:r>
                                <a:rPr lang="pt-BR" sz="2600" i="1">
                                  <a:latin typeface="Cambria Math" panose="02040503050406030204" pitchFamily="18" charset="0"/>
                                </a:rPr>
                                <m:t>1</m:t>
                              </m:r>
                            </m:sub>
                          </m:sSub>
                        </m:den>
                      </m:f>
                      <m:r>
                        <a:rPr lang="pt-BR" sz="2600" i="1">
                          <a:latin typeface="Cambria Math" panose="02040503050406030204" pitchFamily="18" charset="0"/>
                        </a:rPr>
                        <m:t>𝑥</m:t>
                      </m:r>
                      <m:r>
                        <a:rPr lang="pt-BR" sz="2600" i="1">
                          <a:latin typeface="Cambria Math" panose="02040503050406030204" pitchFamily="18" charset="0"/>
                          <a:ea typeface="Cambria Math" panose="02040503050406030204" pitchFamily="18" charset="0"/>
                        </a:rPr>
                        <m:t>.</m:t>
                      </m:r>
                    </m:oMath>
                  </m:oMathPara>
                </a14:m>
                <a:endParaRPr lang="pt-BR" sz="2600" dirty="0"/>
              </a:p>
              <a:p>
                <a:r>
                  <a:rPr lang="pt-BR" dirty="0"/>
                  <a:t>Se as derivadas das funções de ativação têm valores </a:t>
                </a:r>
                <a14:m>
                  <m:oMath xmlns:m="http://schemas.openxmlformats.org/officeDocument/2006/math">
                    <m:r>
                      <a:rPr lang="pt-BR" b="0" i="1" smtClean="0">
                        <a:latin typeface="Cambria Math" panose="02040503050406030204" pitchFamily="18" charset="0"/>
                      </a:rPr>
                      <m:t>&lt;1</m:t>
                    </m:r>
                  </m:oMath>
                </a14:m>
                <a:r>
                  <a:rPr lang="pt-BR" dirty="0"/>
                  <a:t>, teremos a multiplicação de </a:t>
                </a:r>
                <a14:m>
                  <m:oMath xmlns:m="http://schemas.openxmlformats.org/officeDocument/2006/math">
                    <m:r>
                      <a:rPr lang="pt-BR" i="1">
                        <a:latin typeface="Cambria Math" panose="02040503050406030204" pitchFamily="18" charset="0"/>
                      </a:rPr>
                      <m:t>𝑀</m:t>
                    </m:r>
                  </m:oMath>
                </a14:m>
                <a:r>
                  <a:rPr lang="pt-BR" dirty="0"/>
                  <a:t> valores </a:t>
                </a:r>
                <a14:m>
                  <m:oMath xmlns:m="http://schemas.openxmlformats.org/officeDocument/2006/math">
                    <m:r>
                      <a:rPr lang="pt-BR" i="1">
                        <a:latin typeface="Cambria Math" panose="02040503050406030204" pitchFamily="18" charset="0"/>
                      </a:rPr>
                      <m:t>&lt;</m:t>
                    </m:r>
                    <m:r>
                      <a:rPr lang="pt-BR" b="0" i="1" smtClean="0">
                        <a:latin typeface="Cambria Math" panose="02040503050406030204" pitchFamily="18" charset="0"/>
                      </a:rPr>
                      <m:t>1</m:t>
                    </m:r>
                  </m:oMath>
                </a14:m>
                <a:r>
                  <a:rPr lang="pt-BR" dirty="0"/>
                  <a:t>, causando a dissipação do gradiente.</a:t>
                </a:r>
              </a:p>
              <a:p>
                <a:pPr lvl="1">
                  <a:buFont typeface="Wingdings" panose="05000000000000000000" pitchFamily="2" charset="2"/>
                  <a:buChar char="§"/>
                </a:pPr>
                <a:r>
                  <a:rPr lang="pt-BR" dirty="0"/>
                  <a:t>Camadas inicias não aprendem ou aprendem muito lentamente.</a:t>
                </a:r>
              </a:p>
              <a:p>
                <a:r>
                  <a:rPr lang="pt-BR" dirty="0"/>
                  <a:t>Se os pesos, que são inicializados aleatoriamente, tiverem valores </a:t>
                </a:r>
                <a14:m>
                  <m:oMath xmlns:m="http://schemas.openxmlformats.org/officeDocument/2006/math">
                    <m:r>
                      <a:rPr lang="pt-BR" b="0" i="1" smtClean="0">
                        <a:latin typeface="Cambria Math" panose="02040503050406030204" pitchFamily="18" charset="0"/>
                      </a:rPr>
                      <m:t>&gt;1</m:t>
                    </m:r>
                  </m:oMath>
                </a14:m>
                <a:r>
                  <a:rPr lang="pt-BR" dirty="0"/>
                  <a:t>, teremos a multiplicação de </a:t>
                </a:r>
                <a14:m>
                  <m:oMath xmlns:m="http://schemas.openxmlformats.org/officeDocument/2006/math">
                    <m:r>
                      <a:rPr lang="pt-BR" i="1">
                        <a:latin typeface="Cambria Math" panose="02040503050406030204" pitchFamily="18" charset="0"/>
                      </a:rPr>
                      <m:t>𝑀</m:t>
                    </m:r>
                  </m:oMath>
                </a14:m>
                <a:r>
                  <a:rPr lang="pt-BR" dirty="0"/>
                  <a:t> valores </a:t>
                </a:r>
                <a14:m>
                  <m:oMath xmlns:m="http://schemas.openxmlformats.org/officeDocument/2006/math">
                    <m:r>
                      <a:rPr lang="pt-BR" i="1" dirty="0">
                        <a:latin typeface="Cambria Math" panose="02040503050406030204" pitchFamily="18" charset="0"/>
                      </a:rPr>
                      <m:t>&gt;</m:t>
                    </m:r>
                    <m:r>
                      <a:rPr lang="pt-BR" i="1">
                        <a:latin typeface="Cambria Math" panose="02040503050406030204" pitchFamily="18" charset="0"/>
                      </a:rPr>
                      <m:t>1</m:t>
                    </m:r>
                  </m:oMath>
                </a14:m>
                <a:r>
                  <a:rPr lang="pt-BR" dirty="0"/>
                  <a:t>, causando a explosão do gradiente.</a:t>
                </a:r>
              </a:p>
              <a:p>
                <a:pPr lvl="1">
                  <a:buFont typeface="Wingdings" panose="05000000000000000000" pitchFamily="2" charset="2"/>
                  <a:buChar char="§"/>
                </a:pPr>
                <a:r>
                  <a:rPr lang="pt-BR" dirty="0"/>
                  <a:t>Estouro da precisão numérica, instabilidade durante o treinamento e divergência. </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838200" y="2352469"/>
                <a:ext cx="11353800" cy="4505532"/>
              </a:xfrm>
              <a:blipFill rotWithShape="0">
                <a:blip r:embed="rId2"/>
                <a:stretch>
                  <a:fillRect l="-967" t="-3112"/>
                </a:stretch>
              </a:blipFill>
            </p:spPr>
            <p:txBody>
              <a:bodyPr/>
              <a:lstStyle/>
              <a:p>
                <a:r>
                  <a:rPr lang="pt-BR">
                    <a:noFill/>
                  </a:rPr>
                  <a:t> </a:t>
                </a:r>
              </a:p>
            </p:txBody>
          </p:sp>
        </mc:Fallback>
      </mc:AlternateContent>
      <p:grpSp>
        <p:nvGrpSpPr>
          <p:cNvPr id="33" name="Grupo 32"/>
          <p:cNvGrpSpPr/>
          <p:nvPr/>
        </p:nvGrpSpPr>
        <p:grpSpPr>
          <a:xfrm>
            <a:off x="1822907" y="1455155"/>
            <a:ext cx="8546185" cy="722679"/>
            <a:chOff x="1261739" y="2092470"/>
            <a:chExt cx="8546185" cy="722679"/>
          </a:xfrm>
        </p:grpSpPr>
        <mc:AlternateContent xmlns:mc="http://schemas.openxmlformats.org/markup-compatibility/2006" xmlns:a14="http://schemas.microsoft.com/office/drawing/2010/main">
          <mc:Choice Requires="a14">
            <p:sp>
              <p:nvSpPr>
                <p:cNvPr id="10" name="Elipse 4">
                  <a:extLst>
                    <a:ext uri="{FF2B5EF4-FFF2-40B4-BE49-F238E27FC236}">
                      <a16:creationId xmlns:a16="http://schemas.microsoft.com/office/drawing/2014/main" id="{44E00579-6C74-B23A-F63E-E89D51876AF6}"/>
                    </a:ext>
                  </a:extLst>
                </p:cNvPr>
                <p:cNvSpPr/>
                <p:nvPr/>
              </p:nvSpPr>
              <p:spPr>
                <a:xfrm>
                  <a:off x="2068130" y="2179134"/>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ℎ</m:t>
                        </m:r>
                        <m:r>
                          <a:rPr lang="pt-BR" b="0" i="1" smtClean="0">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10" name="Elipse 4">
                  <a:extLst>
                    <a:ext uri="{FF2B5EF4-FFF2-40B4-BE49-F238E27FC236}">
                      <a16:creationId xmlns="" xmlns:a16="http://schemas.microsoft.com/office/drawing/2014/main" xmlns:a14="http://schemas.microsoft.com/office/drawing/2010/main" id="{44E00579-6C74-B23A-F63E-E89D51876AF6}"/>
                    </a:ext>
                  </a:extLst>
                </p:cNvPr>
                <p:cNvSpPr>
                  <a:spLocks noRot="1" noChangeAspect="1" noMove="1" noResize="1" noEditPoints="1" noAdjustHandles="1" noChangeArrowheads="1" noChangeShapeType="1" noTextEdit="1"/>
                </p:cNvSpPr>
                <p:nvPr/>
              </p:nvSpPr>
              <p:spPr>
                <a:xfrm>
                  <a:off x="2068130" y="2179134"/>
                  <a:ext cx="576000" cy="576000"/>
                </a:xfrm>
                <a:prstGeom prst="ellipse">
                  <a:avLst/>
                </a:prstGeom>
                <a:blipFill rotWithShape="0">
                  <a:blip r:embed="rId3"/>
                  <a:stretch>
                    <a:fillRect r="-412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Elipse 5">
                  <a:extLst>
                    <a:ext uri="{FF2B5EF4-FFF2-40B4-BE49-F238E27FC236}">
                      <a16:creationId xmlns:a16="http://schemas.microsoft.com/office/drawing/2014/main" id="{7C0D906B-C0B2-67AF-DBED-D4BB581AFA91}"/>
                    </a:ext>
                  </a:extLst>
                </p:cNvPr>
                <p:cNvSpPr/>
                <p:nvPr/>
              </p:nvSpPr>
              <p:spPr>
                <a:xfrm>
                  <a:off x="3872502" y="2179134"/>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𝑔</m:t>
                        </m:r>
                        <m:r>
                          <a:rPr lang="pt-BR" i="1">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11" name="Elipse 5">
                  <a:extLst>
                    <a:ext uri="{FF2B5EF4-FFF2-40B4-BE49-F238E27FC236}">
                      <a16:creationId xmlns="" xmlns:a16="http://schemas.microsoft.com/office/drawing/2014/main" xmlns:a14="http://schemas.microsoft.com/office/drawing/2010/main" id="{7C0D906B-C0B2-67AF-DBED-D4BB581AFA91}"/>
                    </a:ext>
                  </a:extLst>
                </p:cNvPr>
                <p:cNvSpPr>
                  <a:spLocks noRot="1" noChangeAspect="1" noMove="1" noResize="1" noEditPoints="1" noAdjustHandles="1" noChangeArrowheads="1" noChangeShapeType="1" noTextEdit="1"/>
                </p:cNvSpPr>
                <p:nvPr/>
              </p:nvSpPr>
              <p:spPr>
                <a:xfrm>
                  <a:off x="3872502" y="2179134"/>
                  <a:ext cx="576000" cy="576000"/>
                </a:xfrm>
                <a:prstGeom prst="ellipse">
                  <a:avLst/>
                </a:prstGeom>
                <a:blipFill rotWithShape="0">
                  <a:blip r:embed="rId4"/>
                  <a:stretch>
                    <a:fillRect r="-515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Elipse 6">
                  <a:extLst>
                    <a:ext uri="{FF2B5EF4-FFF2-40B4-BE49-F238E27FC236}">
                      <a16:creationId xmlns:a16="http://schemas.microsoft.com/office/drawing/2014/main" id="{A6F1878F-253D-49AE-8CA1-10EE70E06C6D}"/>
                    </a:ext>
                  </a:extLst>
                </p:cNvPr>
                <p:cNvSpPr/>
                <p:nvPr/>
              </p:nvSpPr>
              <p:spPr>
                <a:xfrm>
                  <a:off x="5675954" y="2179134"/>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𝑓</m:t>
                        </m:r>
                        <m:r>
                          <a:rPr lang="pt-BR" i="1">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12" name="Elipse 6">
                  <a:extLst>
                    <a:ext uri="{FF2B5EF4-FFF2-40B4-BE49-F238E27FC236}">
                      <a16:creationId xmlns="" xmlns:a16="http://schemas.microsoft.com/office/drawing/2014/main" xmlns:a14="http://schemas.microsoft.com/office/drawing/2010/main" id="{A6F1878F-253D-49AE-8CA1-10EE70E06C6D}"/>
                    </a:ext>
                  </a:extLst>
                </p:cNvPr>
                <p:cNvSpPr>
                  <a:spLocks noRot="1" noChangeAspect="1" noMove="1" noResize="1" noEditPoints="1" noAdjustHandles="1" noChangeArrowheads="1" noChangeShapeType="1" noTextEdit="1"/>
                </p:cNvSpPr>
                <p:nvPr/>
              </p:nvSpPr>
              <p:spPr>
                <a:xfrm>
                  <a:off x="5675954" y="2179134"/>
                  <a:ext cx="576000" cy="576000"/>
                </a:xfrm>
                <a:prstGeom prst="ellipse">
                  <a:avLst/>
                </a:prstGeom>
                <a:blipFill rotWithShape="0">
                  <a:blip r:embed="rId5"/>
                  <a:stretch>
                    <a:fillRect l="-4124" r="-3093"/>
                  </a:stretch>
                </a:blipFill>
              </p:spPr>
              <p:txBody>
                <a:bodyPr/>
                <a:lstStyle/>
                <a:p>
                  <a:r>
                    <a:rPr lang="pt-BR">
                      <a:noFill/>
                    </a:rPr>
                    <a:t> </a:t>
                  </a:r>
                </a:p>
              </p:txBody>
            </p:sp>
          </mc:Fallback>
        </mc:AlternateContent>
        <p:cxnSp>
          <p:nvCxnSpPr>
            <p:cNvPr id="13" name="Conector de Seta Reta 7">
              <a:extLst>
                <a:ext uri="{FF2B5EF4-FFF2-40B4-BE49-F238E27FC236}">
                  <a16:creationId xmlns:a16="http://schemas.microsoft.com/office/drawing/2014/main" id="{5B8E2EF2-D5E5-E9CD-6B17-18F6CF51BD39}"/>
                </a:ext>
              </a:extLst>
            </p:cNvPr>
            <p:cNvCxnSpPr>
              <a:cxnSpLocks/>
            </p:cNvCxnSpPr>
            <p:nvPr/>
          </p:nvCxnSpPr>
          <p:spPr>
            <a:xfrm>
              <a:off x="2644129" y="2467134"/>
              <a:ext cx="12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de Seta Reta 12">
              <a:extLst>
                <a:ext uri="{FF2B5EF4-FFF2-40B4-BE49-F238E27FC236}">
                  <a16:creationId xmlns:a16="http://schemas.microsoft.com/office/drawing/2014/main" id="{81611D8F-AB3D-DE64-1DD8-92F3A6BBCA02}"/>
                </a:ext>
              </a:extLst>
            </p:cNvPr>
            <p:cNvCxnSpPr/>
            <p:nvPr/>
          </p:nvCxnSpPr>
          <p:spPr>
            <a:xfrm>
              <a:off x="6251954" y="2467134"/>
              <a:ext cx="612000"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tângulo 13">
                  <a:extLst>
                    <a:ext uri="{FF2B5EF4-FFF2-40B4-BE49-F238E27FC236}">
                      <a16:creationId xmlns:a16="http://schemas.microsoft.com/office/drawing/2014/main" id="{234BC2D3-CEF8-D79F-BFAF-6A5B2900CF25}"/>
                    </a:ext>
                  </a:extLst>
                </p:cNvPr>
                <p:cNvSpPr/>
                <p:nvPr/>
              </p:nvSpPr>
              <p:spPr>
                <a:xfrm>
                  <a:off x="1261739" y="2265366"/>
                  <a:ext cx="419282" cy="369332"/>
                </a:xfrm>
                <a:prstGeom prst="rect">
                  <a:avLst/>
                </a:prstGeom>
              </p:spPr>
              <p:txBody>
                <a:bodyPr wrap="none">
                  <a:spAutoFit/>
                </a:bodyPr>
                <a:lstStyle/>
                <a:p>
                  <a:pPr algn="ctr"/>
                  <a14:m>
                    <m:oMathPara xmlns:m="http://schemas.openxmlformats.org/officeDocument/2006/math">
                      <m:oMathParaPr>
                        <m:jc m:val="center"/>
                      </m:oMathParaPr>
                      <m:oMath>
                        <m:r>
                          <a:rPr lang="pt-BR" i="1" smtClean="0">
                            <a:latin typeface="Cambria Math" panose="02040503050406030204" pitchFamily="18" charset="0"/>
                          </a:rPr>
                          <m:t> </m:t>
                        </m:r>
                        <m:r>
                          <a:rPr lang="pt-BR" b="0" i="1" smtClean="0">
                            <a:latin typeface="Cambria Math" panose="02040503050406030204" pitchFamily="18" charset="0"/>
                          </a:rPr>
                          <m:t>𝑥</m:t>
                        </m:r>
                      </m:oMath>
                    </m:oMathPara>
                  </a14:m>
                  <a:endParaRPr lang="en-US" dirty="0"/>
                </a:p>
              </p:txBody>
            </p:sp>
          </mc:Choice>
          <mc:Fallback xmlns="">
            <p:sp>
              <p:nvSpPr>
                <p:cNvPr id="16" name="Retângulo 13">
                  <a:extLst>
                    <a:ext uri="{FF2B5EF4-FFF2-40B4-BE49-F238E27FC236}">
                      <a16:creationId xmlns="" xmlns:a16="http://schemas.microsoft.com/office/drawing/2014/main" xmlns:a14="http://schemas.microsoft.com/office/drawing/2010/main" id="{234BC2D3-CEF8-D79F-BFAF-6A5B2900CF25}"/>
                    </a:ext>
                  </a:extLst>
                </p:cNvPr>
                <p:cNvSpPr>
                  <a:spLocks noRot="1" noChangeAspect="1" noMove="1" noResize="1" noEditPoints="1" noAdjustHandles="1" noChangeArrowheads="1" noChangeShapeType="1" noTextEdit="1"/>
                </p:cNvSpPr>
                <p:nvPr/>
              </p:nvSpPr>
              <p:spPr>
                <a:xfrm>
                  <a:off x="1261739" y="2265366"/>
                  <a:ext cx="419282" cy="369332"/>
                </a:xfrm>
                <a:prstGeom prst="rect">
                  <a:avLst/>
                </a:prstGeom>
                <a:blipFill rotWithShape="0">
                  <a:blip r:embed="rId6"/>
                  <a:stretch>
                    <a:fillRect/>
                  </a:stretch>
                </a:blipFill>
              </p:spPr>
              <p:txBody>
                <a:bodyPr/>
                <a:lstStyle/>
                <a:p>
                  <a:r>
                    <a:rPr lang="pt-BR">
                      <a:noFill/>
                    </a:rPr>
                    <a:t> </a:t>
                  </a:r>
                </a:p>
              </p:txBody>
            </p:sp>
          </mc:Fallback>
        </mc:AlternateContent>
        <p:cxnSp>
          <p:nvCxnSpPr>
            <p:cNvPr id="17" name="Conector de Seta Reta 17">
              <a:extLst>
                <a:ext uri="{FF2B5EF4-FFF2-40B4-BE49-F238E27FC236}">
                  <a16:creationId xmlns:a16="http://schemas.microsoft.com/office/drawing/2014/main" id="{124DEF9F-3265-6F80-9682-008E1B0733EA}"/>
                </a:ext>
              </a:extLst>
            </p:cNvPr>
            <p:cNvCxnSpPr/>
            <p:nvPr/>
          </p:nvCxnSpPr>
          <p:spPr>
            <a:xfrm>
              <a:off x="1560646" y="2472443"/>
              <a:ext cx="50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31">
                  <a:extLst>
                    <a:ext uri="{FF2B5EF4-FFF2-40B4-BE49-F238E27FC236}">
                      <a16:creationId xmlns:a16="http://schemas.microsoft.com/office/drawing/2014/main" id="{D07344CA-4CF3-F76E-C52F-1EB1FD8D5072}"/>
                    </a:ext>
                  </a:extLst>
                </p:cNvPr>
                <p:cNvSpPr txBox="1"/>
                <p:nvPr/>
              </p:nvSpPr>
              <p:spPr>
                <a:xfrm>
                  <a:off x="1556274" y="2107905"/>
                  <a:ext cx="507482"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1</m:t>
                            </m:r>
                          </m:sub>
                        </m:sSub>
                      </m:oMath>
                    </m:oMathPara>
                  </a14:m>
                  <a:endParaRPr lang="en-US" dirty="0"/>
                </a:p>
              </p:txBody>
            </p:sp>
          </mc:Choice>
          <mc:Fallback xmlns="">
            <p:sp>
              <p:nvSpPr>
                <p:cNvPr id="18" name="TextBox 31">
                  <a:extLst>
                    <a:ext uri="{FF2B5EF4-FFF2-40B4-BE49-F238E27FC236}">
                      <a16:creationId xmlns="" xmlns:a16="http://schemas.microsoft.com/office/drawing/2014/main" xmlns:a14="http://schemas.microsoft.com/office/drawing/2010/main" id="{D07344CA-4CF3-F76E-C52F-1EB1FD8D5072}"/>
                    </a:ext>
                  </a:extLst>
                </p:cNvPr>
                <p:cNvSpPr txBox="1">
                  <a:spLocks noRot="1" noChangeAspect="1" noMove="1" noResize="1" noEditPoints="1" noAdjustHandles="1" noChangeArrowheads="1" noChangeShapeType="1" noTextEdit="1"/>
                </p:cNvSpPr>
                <p:nvPr/>
              </p:nvSpPr>
              <p:spPr>
                <a:xfrm>
                  <a:off x="1556274" y="2107905"/>
                  <a:ext cx="507482" cy="369332"/>
                </a:xfrm>
                <a:prstGeom prst="rect">
                  <a:avLst/>
                </a:prstGeom>
                <a:blipFill rotWithShape="0">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TextBox 32">
                  <a:extLst>
                    <a:ext uri="{FF2B5EF4-FFF2-40B4-BE49-F238E27FC236}">
                      <a16:creationId xmlns:a16="http://schemas.microsoft.com/office/drawing/2014/main" id="{77977DB8-2115-D769-DDDB-8EB37CAA7C17}"/>
                    </a:ext>
                  </a:extLst>
                </p:cNvPr>
                <p:cNvSpPr txBox="1"/>
                <p:nvPr/>
              </p:nvSpPr>
              <p:spPr>
                <a:xfrm>
                  <a:off x="2639756" y="2092470"/>
                  <a:ext cx="1232743"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2</m:t>
                            </m:r>
                          </m:sub>
                        </m:sSub>
                      </m:oMath>
                    </m:oMathPara>
                  </a14:m>
                  <a:endParaRPr lang="en-US" dirty="0"/>
                </a:p>
              </p:txBody>
            </p:sp>
          </mc:Choice>
          <mc:Fallback xmlns="">
            <p:sp>
              <p:nvSpPr>
                <p:cNvPr id="19" name="TextBox 32">
                  <a:extLst>
                    <a:ext uri="{FF2B5EF4-FFF2-40B4-BE49-F238E27FC236}">
                      <a16:creationId xmlns="" xmlns:a16="http://schemas.microsoft.com/office/drawing/2014/main" xmlns:a14="http://schemas.microsoft.com/office/drawing/2010/main" id="{77977DB8-2115-D769-DDDB-8EB37CAA7C17}"/>
                    </a:ext>
                  </a:extLst>
                </p:cNvPr>
                <p:cNvSpPr txBox="1">
                  <a:spLocks noRot="1" noChangeAspect="1" noMove="1" noResize="1" noEditPoints="1" noAdjustHandles="1" noChangeArrowheads="1" noChangeShapeType="1" noTextEdit="1"/>
                </p:cNvSpPr>
                <p:nvPr/>
              </p:nvSpPr>
              <p:spPr>
                <a:xfrm>
                  <a:off x="2639756" y="2092470"/>
                  <a:ext cx="1232743" cy="369332"/>
                </a:xfrm>
                <a:prstGeom prst="rect">
                  <a:avLst/>
                </a:prstGeom>
                <a:blipFill rotWithShape="0">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TextBox 33">
                  <a:extLst>
                    <a:ext uri="{FF2B5EF4-FFF2-40B4-BE49-F238E27FC236}">
                      <a16:creationId xmlns:a16="http://schemas.microsoft.com/office/drawing/2014/main" id="{151E2F26-305A-D7EF-7773-451EF33945B3}"/>
                    </a:ext>
                  </a:extLst>
                </p:cNvPr>
                <p:cNvSpPr txBox="1"/>
                <p:nvPr/>
              </p:nvSpPr>
              <p:spPr>
                <a:xfrm>
                  <a:off x="4452875" y="2092470"/>
                  <a:ext cx="1232743"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3</m:t>
                            </m:r>
                          </m:sub>
                        </m:sSub>
                      </m:oMath>
                    </m:oMathPara>
                  </a14:m>
                  <a:endParaRPr lang="en-US" dirty="0"/>
                </a:p>
              </p:txBody>
            </p:sp>
          </mc:Choice>
          <mc:Fallback xmlns="">
            <p:sp>
              <p:nvSpPr>
                <p:cNvPr id="20" name="TextBox 33">
                  <a:extLst>
                    <a:ext uri="{FF2B5EF4-FFF2-40B4-BE49-F238E27FC236}">
                      <a16:creationId xmlns="" xmlns:a16="http://schemas.microsoft.com/office/drawing/2014/main" xmlns:a14="http://schemas.microsoft.com/office/drawing/2010/main" id="{151E2F26-305A-D7EF-7773-451EF33945B3}"/>
                    </a:ext>
                  </a:extLst>
                </p:cNvPr>
                <p:cNvSpPr txBox="1">
                  <a:spLocks noRot="1" noChangeAspect="1" noMove="1" noResize="1" noEditPoints="1" noAdjustHandles="1" noChangeArrowheads="1" noChangeShapeType="1" noTextEdit="1"/>
                </p:cNvSpPr>
                <p:nvPr/>
              </p:nvSpPr>
              <p:spPr>
                <a:xfrm>
                  <a:off x="4452875" y="2092470"/>
                  <a:ext cx="1232743" cy="369332"/>
                </a:xfrm>
                <a:prstGeom prst="rect">
                  <a:avLst/>
                </a:prstGeom>
                <a:blipFill rotWithShape="0">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TextBox 34">
                  <a:extLst>
                    <a:ext uri="{FF2B5EF4-FFF2-40B4-BE49-F238E27FC236}">
                      <a16:creationId xmlns:a16="http://schemas.microsoft.com/office/drawing/2014/main" id="{895A3944-17AC-8AFF-27B7-B036DB071237}"/>
                    </a:ext>
                  </a:extLst>
                </p:cNvPr>
                <p:cNvSpPr txBox="1"/>
                <p:nvPr/>
              </p:nvSpPr>
              <p:spPr>
                <a:xfrm>
                  <a:off x="3482091" y="2393958"/>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2</m:t>
                            </m:r>
                          </m:sub>
                        </m:sSub>
                      </m:oMath>
                    </m:oMathPara>
                  </a14:m>
                  <a:endParaRPr lang="en-US" dirty="0"/>
                </a:p>
              </p:txBody>
            </p:sp>
          </mc:Choice>
          <mc:Fallback xmlns="">
            <p:sp>
              <p:nvSpPr>
                <p:cNvPr id="21" name="TextBox 34">
                  <a:extLst>
                    <a:ext uri="{FF2B5EF4-FFF2-40B4-BE49-F238E27FC236}">
                      <a16:creationId xmlns="" xmlns:a16="http://schemas.microsoft.com/office/drawing/2014/main" xmlns:a14="http://schemas.microsoft.com/office/drawing/2010/main" id="{895A3944-17AC-8AFF-27B7-B036DB071237}"/>
                    </a:ext>
                  </a:extLst>
                </p:cNvPr>
                <p:cNvSpPr txBox="1">
                  <a:spLocks noRot="1" noChangeAspect="1" noMove="1" noResize="1" noEditPoints="1" noAdjustHandles="1" noChangeArrowheads="1" noChangeShapeType="1" noTextEdit="1"/>
                </p:cNvSpPr>
                <p:nvPr/>
              </p:nvSpPr>
              <p:spPr>
                <a:xfrm>
                  <a:off x="3482091" y="2393958"/>
                  <a:ext cx="535857" cy="369332"/>
                </a:xfrm>
                <a:prstGeom prst="rect">
                  <a:avLst/>
                </a:prstGeom>
                <a:blipFill rotWithShape="0">
                  <a:blip r:embed="rId10"/>
                  <a:stretch>
                    <a:fillRect/>
                  </a:stretch>
                </a:blipFill>
              </p:spPr>
              <p:txBody>
                <a:bodyPr/>
                <a:lstStyle/>
                <a:p>
                  <a:r>
                    <a:rPr lang="pt-BR">
                      <a:noFill/>
                    </a:rPr>
                    <a:t> </a:t>
                  </a:r>
                </a:p>
              </p:txBody>
            </p:sp>
          </mc:Fallback>
        </mc:AlternateContent>
        <p:cxnSp>
          <p:nvCxnSpPr>
            <p:cNvPr id="22" name="Conector de Seta Reta 7">
              <a:extLst>
                <a:ext uri="{FF2B5EF4-FFF2-40B4-BE49-F238E27FC236}">
                  <a16:creationId xmlns:a16="http://schemas.microsoft.com/office/drawing/2014/main" id="{19C750B5-77EE-EC1E-44AC-504BB1D08D59}"/>
                </a:ext>
              </a:extLst>
            </p:cNvPr>
            <p:cNvCxnSpPr>
              <a:cxnSpLocks/>
            </p:cNvCxnSpPr>
            <p:nvPr/>
          </p:nvCxnSpPr>
          <p:spPr>
            <a:xfrm>
              <a:off x="4454848" y="2461802"/>
              <a:ext cx="12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36">
                  <a:extLst>
                    <a:ext uri="{FF2B5EF4-FFF2-40B4-BE49-F238E27FC236}">
                      <a16:creationId xmlns:a16="http://schemas.microsoft.com/office/drawing/2014/main" id="{F458501C-3728-E11F-68FF-8A2A80B4B659}"/>
                    </a:ext>
                  </a:extLst>
                </p:cNvPr>
                <p:cNvSpPr txBox="1"/>
                <p:nvPr/>
              </p:nvSpPr>
              <p:spPr>
                <a:xfrm>
                  <a:off x="5284573" y="2393958"/>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3</m:t>
                            </m:r>
                          </m:sub>
                        </m:sSub>
                      </m:oMath>
                    </m:oMathPara>
                  </a14:m>
                  <a:endParaRPr lang="en-US" dirty="0"/>
                </a:p>
              </p:txBody>
            </p:sp>
          </mc:Choice>
          <mc:Fallback xmlns="">
            <p:sp>
              <p:nvSpPr>
                <p:cNvPr id="23" name="TextBox 36">
                  <a:extLst>
                    <a:ext uri="{FF2B5EF4-FFF2-40B4-BE49-F238E27FC236}">
                      <a16:creationId xmlns="" xmlns:a16="http://schemas.microsoft.com/office/drawing/2014/main" xmlns:a14="http://schemas.microsoft.com/office/drawing/2010/main" id="{F458501C-3728-E11F-68FF-8A2A80B4B659}"/>
                    </a:ext>
                  </a:extLst>
                </p:cNvPr>
                <p:cNvSpPr txBox="1">
                  <a:spLocks noRot="1" noChangeAspect="1" noMove="1" noResize="1" noEditPoints="1" noAdjustHandles="1" noChangeArrowheads="1" noChangeShapeType="1" noTextEdit="1"/>
                </p:cNvSpPr>
                <p:nvPr/>
              </p:nvSpPr>
              <p:spPr>
                <a:xfrm>
                  <a:off x="5284573" y="2393958"/>
                  <a:ext cx="535857" cy="369332"/>
                </a:xfrm>
                <a:prstGeom prst="rect">
                  <a:avLst/>
                </a:prstGeom>
                <a:blipFill rotWithShape="0">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TextBox 37">
                  <a:extLst>
                    <a:ext uri="{FF2B5EF4-FFF2-40B4-BE49-F238E27FC236}">
                      <a16:creationId xmlns:a16="http://schemas.microsoft.com/office/drawing/2014/main" id="{17D991CB-FE1B-C01C-956B-179D0B09683C}"/>
                    </a:ext>
                  </a:extLst>
                </p:cNvPr>
                <p:cNvSpPr txBox="1"/>
                <p:nvPr/>
              </p:nvSpPr>
              <p:spPr>
                <a:xfrm>
                  <a:off x="1678896" y="2408731"/>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1</m:t>
                            </m:r>
                          </m:sub>
                        </m:sSub>
                      </m:oMath>
                    </m:oMathPara>
                  </a14:m>
                  <a:endParaRPr lang="en-US" dirty="0"/>
                </a:p>
              </p:txBody>
            </p:sp>
          </mc:Choice>
          <mc:Fallback xmlns="">
            <p:sp>
              <p:nvSpPr>
                <p:cNvPr id="24" name="TextBox 37">
                  <a:extLst>
                    <a:ext uri="{FF2B5EF4-FFF2-40B4-BE49-F238E27FC236}">
                      <a16:creationId xmlns="" xmlns:a16="http://schemas.microsoft.com/office/drawing/2014/main" xmlns:a14="http://schemas.microsoft.com/office/drawing/2010/main" id="{17D991CB-FE1B-C01C-956B-179D0B09683C}"/>
                    </a:ext>
                  </a:extLst>
                </p:cNvPr>
                <p:cNvSpPr txBox="1">
                  <a:spLocks noRot="1" noChangeAspect="1" noMove="1" noResize="1" noEditPoints="1" noAdjustHandles="1" noChangeArrowheads="1" noChangeShapeType="1" noTextEdit="1"/>
                </p:cNvSpPr>
                <p:nvPr/>
              </p:nvSpPr>
              <p:spPr>
                <a:xfrm>
                  <a:off x="1678896" y="2408731"/>
                  <a:ext cx="535857" cy="369332"/>
                </a:xfrm>
                <a:prstGeom prst="rect">
                  <a:avLst/>
                </a:prstGeom>
                <a:blipFill rotWithShape="0">
                  <a:blip r:embed="rId1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TextBox 21">
                  <a:extLst>
                    <a:ext uri="{FF2B5EF4-FFF2-40B4-BE49-F238E27FC236}">
                      <a16:creationId xmlns:a16="http://schemas.microsoft.com/office/drawing/2014/main" id="{16965A18-8FDE-9799-696D-152C5F865FD1}"/>
                    </a:ext>
                  </a:extLst>
                </p:cNvPr>
                <p:cNvSpPr txBox="1"/>
                <p:nvPr/>
              </p:nvSpPr>
              <p:spPr>
                <a:xfrm>
                  <a:off x="2522211" y="2422474"/>
                  <a:ext cx="825194" cy="369332"/>
                </a:xfrm>
                <a:prstGeom prst="rect">
                  <a:avLst/>
                </a:prstGeom>
                <a:noFill/>
              </p:spPr>
              <p:txBody>
                <a:bodyPr wrap="square">
                  <a:spAutoFit/>
                </a:bodyPr>
                <a:lstStyle/>
                <a:p>
                  <a:pPr/>
                  <a14:m>
                    <m:oMathPara xmlns:m="http://schemas.openxmlformats.org/officeDocument/2006/math">
                      <m:oMath>
                        <m:r>
                          <a:rPr lang="pt-BR" i="1" smtClean="0">
                            <a:latin typeface="Cambria Math" panose="02040503050406030204" pitchFamily="18" charset="0"/>
                          </a:rPr>
                          <m:t>ℎ</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1</m:t>
                                </m:r>
                              </m:sub>
                            </m:sSub>
                          </m:e>
                        </m:d>
                      </m:oMath>
                    </m:oMathPara>
                  </a14:m>
                  <a:endParaRPr lang="en-US" dirty="0"/>
                </a:p>
              </p:txBody>
            </p:sp>
          </mc:Choice>
          <mc:Fallback xmlns="">
            <p:sp>
              <p:nvSpPr>
                <p:cNvPr id="8" name="TextBox 21">
                  <a:extLst>
                    <a:ext uri="{FF2B5EF4-FFF2-40B4-BE49-F238E27FC236}">
                      <a16:creationId xmlns="" xmlns:a16="http://schemas.microsoft.com/office/drawing/2014/main" xmlns:a14="http://schemas.microsoft.com/office/drawing/2010/main" id="{16965A18-8FDE-9799-696D-152C5F865FD1}"/>
                    </a:ext>
                  </a:extLst>
                </p:cNvPr>
                <p:cNvSpPr txBox="1">
                  <a:spLocks noRot="1" noChangeAspect="1" noMove="1" noResize="1" noEditPoints="1" noAdjustHandles="1" noChangeArrowheads="1" noChangeShapeType="1" noTextEdit="1"/>
                </p:cNvSpPr>
                <p:nvPr/>
              </p:nvSpPr>
              <p:spPr>
                <a:xfrm>
                  <a:off x="2522211" y="2422474"/>
                  <a:ext cx="825194" cy="369332"/>
                </a:xfrm>
                <a:prstGeom prst="rect">
                  <a:avLst/>
                </a:prstGeom>
                <a:blipFill rotWithShape="0">
                  <a:blip r:embed="rId1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 name="TextBox 22">
                  <a:extLst>
                    <a:ext uri="{FF2B5EF4-FFF2-40B4-BE49-F238E27FC236}">
                      <a16:creationId xmlns:a16="http://schemas.microsoft.com/office/drawing/2014/main" id="{929BD083-D41D-6E8B-203F-3D4ABF6E2D08}"/>
                    </a:ext>
                  </a:extLst>
                </p:cNvPr>
                <p:cNvSpPr txBox="1"/>
                <p:nvPr/>
              </p:nvSpPr>
              <p:spPr>
                <a:xfrm>
                  <a:off x="4358006" y="2403307"/>
                  <a:ext cx="757084" cy="369332"/>
                </a:xfrm>
                <a:prstGeom prst="rect">
                  <a:avLst/>
                </a:prstGeom>
                <a:noFill/>
              </p:spPr>
              <p:txBody>
                <a:bodyPr wrap="square">
                  <a:spAutoFit/>
                </a:bodyPr>
                <a:lstStyle/>
                <a:p>
                  <a:pPr/>
                  <a14:m>
                    <m:oMathPara xmlns:m="http://schemas.openxmlformats.org/officeDocument/2006/math">
                      <m:oMath>
                        <m:r>
                          <a:rPr lang="pt-BR" i="1" smtClean="0">
                            <a:latin typeface="Cambria Math" panose="02040503050406030204" pitchFamily="18" charset="0"/>
                          </a:rPr>
                          <m:t>𝑔</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2</m:t>
                                </m:r>
                              </m:sub>
                            </m:sSub>
                          </m:e>
                        </m:d>
                      </m:oMath>
                    </m:oMathPara>
                  </a14:m>
                  <a:endParaRPr lang="en-US" dirty="0"/>
                </a:p>
              </p:txBody>
            </p:sp>
          </mc:Choice>
          <mc:Fallback xmlns="">
            <p:sp>
              <p:nvSpPr>
                <p:cNvPr id="9" name="TextBox 22">
                  <a:extLst>
                    <a:ext uri="{FF2B5EF4-FFF2-40B4-BE49-F238E27FC236}">
                      <a16:creationId xmlns="" xmlns:a16="http://schemas.microsoft.com/office/drawing/2014/main" xmlns:a14="http://schemas.microsoft.com/office/drawing/2010/main" id="{929BD083-D41D-6E8B-203F-3D4ABF6E2D08}"/>
                    </a:ext>
                  </a:extLst>
                </p:cNvPr>
                <p:cNvSpPr txBox="1">
                  <a:spLocks noRot="1" noChangeAspect="1" noMove="1" noResize="1" noEditPoints="1" noAdjustHandles="1" noChangeArrowheads="1" noChangeShapeType="1" noTextEdit="1"/>
                </p:cNvSpPr>
                <p:nvPr/>
              </p:nvSpPr>
              <p:spPr>
                <a:xfrm>
                  <a:off x="4358006" y="2403307"/>
                  <a:ext cx="757084" cy="369332"/>
                </a:xfrm>
                <a:prstGeom prst="rect">
                  <a:avLst/>
                </a:prstGeom>
                <a:blipFill rotWithShape="0">
                  <a:blip r:embed="rId14"/>
                  <a:stretch>
                    <a:fillRect b="-655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 name="TextBox 39">
                  <a:extLst>
                    <a:ext uri="{FF2B5EF4-FFF2-40B4-BE49-F238E27FC236}">
                      <a16:creationId xmlns:a16="http://schemas.microsoft.com/office/drawing/2014/main" id="{2CFDFBD5-FA4D-91D9-109D-B66617353EEC}"/>
                    </a:ext>
                  </a:extLst>
                </p:cNvPr>
                <p:cNvSpPr txBox="1"/>
                <p:nvPr/>
              </p:nvSpPr>
              <p:spPr>
                <a:xfrm>
                  <a:off x="6177475" y="2431966"/>
                  <a:ext cx="632539" cy="369332"/>
                </a:xfrm>
                <a:prstGeom prst="rect">
                  <a:avLst/>
                </a:prstGeom>
                <a:noFill/>
              </p:spPr>
              <p:txBody>
                <a:bodyPr wrap="square">
                  <a:spAutoFit/>
                </a:bodyPr>
                <a:lstStyle/>
                <a:p>
                  <a:pPr/>
                  <a14:m>
                    <m:oMathPara xmlns:m="http://schemas.openxmlformats.org/officeDocument/2006/math">
                      <m:oMath>
                        <m:r>
                          <a:rPr lang="pt-BR" i="1" smtClean="0">
                            <a:latin typeface="Cambria Math" panose="02040503050406030204" pitchFamily="18" charset="0"/>
                          </a:rPr>
                          <m:t>𝑓</m:t>
                        </m:r>
                        <m:r>
                          <a:rPr lang="pt-BR"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3</m:t>
                            </m:r>
                          </m:sub>
                        </m:sSub>
                        <m:r>
                          <a:rPr lang="pt-BR" i="1">
                            <a:latin typeface="Cambria Math" panose="02040503050406030204" pitchFamily="18" charset="0"/>
                          </a:rPr>
                          <m:t>)</m:t>
                        </m:r>
                      </m:oMath>
                    </m:oMathPara>
                  </a14:m>
                  <a:endParaRPr lang="en-US" dirty="0"/>
                </a:p>
              </p:txBody>
            </p:sp>
          </mc:Choice>
          <mc:Fallback xmlns="">
            <p:sp>
              <p:nvSpPr>
                <p:cNvPr id="6" name="TextBox 39">
                  <a:extLst>
                    <a:ext uri="{FF2B5EF4-FFF2-40B4-BE49-F238E27FC236}">
                      <a16:creationId xmlns="" xmlns:a16="http://schemas.microsoft.com/office/drawing/2014/main" xmlns:a14="http://schemas.microsoft.com/office/drawing/2010/main" id="{2CFDFBD5-FA4D-91D9-109D-B66617353EEC}"/>
                    </a:ext>
                  </a:extLst>
                </p:cNvPr>
                <p:cNvSpPr txBox="1">
                  <a:spLocks noRot="1" noChangeAspect="1" noMove="1" noResize="1" noEditPoints="1" noAdjustHandles="1" noChangeArrowheads="1" noChangeShapeType="1" noTextEdit="1"/>
                </p:cNvSpPr>
                <p:nvPr/>
              </p:nvSpPr>
              <p:spPr>
                <a:xfrm>
                  <a:off x="6177475" y="2431966"/>
                  <a:ext cx="632539" cy="369332"/>
                </a:xfrm>
                <a:prstGeom prst="rect">
                  <a:avLst/>
                </a:prstGeom>
                <a:blipFill rotWithShape="0">
                  <a:blip r:embed="rId15"/>
                  <a:stretch>
                    <a:fillRect l="-2885" r="-21154" b="-1147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Elipse 6">
                  <a:extLst>
                    <a:ext uri="{FF2B5EF4-FFF2-40B4-BE49-F238E27FC236}">
                      <a16:creationId xmlns:a16="http://schemas.microsoft.com/office/drawing/2014/main" id="{A6F1878F-253D-49AE-8CA1-10EE70E06C6D}"/>
                    </a:ext>
                  </a:extLst>
                </p:cNvPr>
                <p:cNvSpPr/>
                <p:nvPr/>
              </p:nvSpPr>
              <p:spPr>
                <a:xfrm>
                  <a:off x="8072787" y="2192985"/>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𝑓</m:t>
                        </m:r>
                        <m:r>
                          <a:rPr lang="pt-BR" i="1">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25" name="Elipse 6">
                  <a:extLst>
                    <a:ext uri="{FF2B5EF4-FFF2-40B4-BE49-F238E27FC236}">
                      <a16:creationId xmlns="" xmlns:a16="http://schemas.microsoft.com/office/drawing/2014/main" xmlns:a14="http://schemas.microsoft.com/office/drawing/2010/main" id="{A6F1878F-253D-49AE-8CA1-10EE70E06C6D}"/>
                    </a:ext>
                  </a:extLst>
                </p:cNvPr>
                <p:cNvSpPr>
                  <a:spLocks noRot="1" noChangeAspect="1" noMove="1" noResize="1" noEditPoints="1" noAdjustHandles="1" noChangeArrowheads="1" noChangeShapeType="1" noTextEdit="1"/>
                </p:cNvSpPr>
                <p:nvPr/>
              </p:nvSpPr>
              <p:spPr>
                <a:xfrm>
                  <a:off x="8072787" y="2192985"/>
                  <a:ext cx="576000" cy="576000"/>
                </a:xfrm>
                <a:prstGeom prst="ellipse">
                  <a:avLst/>
                </a:prstGeom>
                <a:blipFill rotWithShape="0">
                  <a:blip r:embed="rId16"/>
                  <a:stretch>
                    <a:fillRect l="-3093" r="-4124"/>
                  </a:stretch>
                </a:blipFill>
              </p:spPr>
              <p:txBody>
                <a:bodyPr/>
                <a:lstStyle/>
                <a:p>
                  <a:r>
                    <a:rPr lang="pt-BR">
                      <a:noFill/>
                    </a:rPr>
                    <a:t> </a:t>
                  </a:r>
                </a:p>
              </p:txBody>
            </p:sp>
          </mc:Fallback>
        </mc:AlternateContent>
        <p:cxnSp>
          <p:nvCxnSpPr>
            <p:cNvPr id="26" name="Conector de Seta Reta 12">
              <a:extLst>
                <a:ext uri="{FF2B5EF4-FFF2-40B4-BE49-F238E27FC236}">
                  <a16:creationId xmlns:a16="http://schemas.microsoft.com/office/drawing/2014/main" id="{81611D8F-AB3D-DE64-1DD8-92F3A6BBCA02}"/>
                </a:ext>
              </a:extLst>
            </p:cNvPr>
            <p:cNvCxnSpPr/>
            <p:nvPr/>
          </p:nvCxnSpPr>
          <p:spPr>
            <a:xfrm>
              <a:off x="8648787" y="2480985"/>
              <a:ext cx="828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Retângulo 10">
                  <a:extLst>
                    <a:ext uri="{FF2B5EF4-FFF2-40B4-BE49-F238E27FC236}">
                      <a16:creationId xmlns:a16="http://schemas.microsoft.com/office/drawing/2014/main" id="{5414173F-A671-4B2D-FD3D-2E2285ED3FD6}"/>
                    </a:ext>
                  </a:extLst>
                </p:cNvPr>
                <p:cNvSpPr/>
                <p:nvPr/>
              </p:nvSpPr>
              <p:spPr>
                <a:xfrm>
                  <a:off x="9385244" y="2271820"/>
                  <a:ext cx="422680" cy="369332"/>
                </a:xfrm>
                <a:prstGeom prst="rect">
                  <a:avLst/>
                </a:prstGeom>
              </p:spPr>
              <p:txBody>
                <a:bodyPr wrap="none">
                  <a:spAutoFit/>
                </a:bodyPr>
                <a:lstStyle/>
                <a:p>
                  <a:pPr algn="ctr"/>
                  <a14:m>
                    <m:oMathPara xmlns:m="http://schemas.openxmlformats.org/officeDocument/2006/math">
                      <m:oMathParaPr>
                        <m:jc m:val="center"/>
                      </m:oMathParaPr>
                      <m:oMath>
                        <m:r>
                          <a:rPr lang="pt-BR" i="1" smtClean="0">
                            <a:latin typeface="Cambria Math" panose="02040503050406030204" pitchFamily="18" charset="0"/>
                          </a:rPr>
                          <m:t> </m:t>
                        </m:r>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oMath>
                    </m:oMathPara>
                  </a14:m>
                  <a:endParaRPr lang="en-US" dirty="0"/>
                </a:p>
              </p:txBody>
            </p:sp>
          </mc:Choice>
          <mc:Fallback xmlns="">
            <p:sp>
              <p:nvSpPr>
                <p:cNvPr id="27" name="Retângulo 10">
                  <a:extLst>
                    <a:ext uri="{FF2B5EF4-FFF2-40B4-BE49-F238E27FC236}">
                      <a16:creationId xmlns="" xmlns:a16="http://schemas.microsoft.com/office/drawing/2014/main" xmlns:a14="http://schemas.microsoft.com/office/drawing/2010/main" id="{5414173F-A671-4B2D-FD3D-2E2285ED3FD6}"/>
                    </a:ext>
                  </a:extLst>
                </p:cNvPr>
                <p:cNvSpPr>
                  <a:spLocks noRot="1" noChangeAspect="1" noMove="1" noResize="1" noEditPoints="1" noAdjustHandles="1" noChangeArrowheads="1" noChangeShapeType="1" noTextEdit="1"/>
                </p:cNvSpPr>
                <p:nvPr/>
              </p:nvSpPr>
              <p:spPr>
                <a:xfrm>
                  <a:off x="9385244" y="2271820"/>
                  <a:ext cx="422680" cy="369332"/>
                </a:xfrm>
                <a:prstGeom prst="rect">
                  <a:avLst/>
                </a:prstGeom>
                <a:blipFill rotWithShape="0">
                  <a:blip r:embed="rId17"/>
                  <a:stretch>
                    <a:fillRect t="-6667" r="-20290" b="-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TextBox 39">
                  <a:extLst>
                    <a:ext uri="{FF2B5EF4-FFF2-40B4-BE49-F238E27FC236}">
                      <a16:creationId xmlns:a16="http://schemas.microsoft.com/office/drawing/2014/main" id="{2CFDFBD5-FA4D-91D9-109D-B66617353EEC}"/>
                    </a:ext>
                  </a:extLst>
                </p:cNvPr>
                <p:cNvSpPr txBox="1"/>
                <p:nvPr/>
              </p:nvSpPr>
              <p:spPr>
                <a:xfrm>
                  <a:off x="8574308" y="2445817"/>
                  <a:ext cx="632539" cy="369332"/>
                </a:xfrm>
                <a:prstGeom prst="rect">
                  <a:avLst/>
                </a:prstGeom>
                <a:noFill/>
              </p:spPr>
              <p:txBody>
                <a:bodyPr wrap="square">
                  <a:spAutoFit/>
                </a:bodyPr>
                <a:lstStyle/>
                <a:p>
                  <a:pPr/>
                  <a14:m>
                    <m:oMathPara xmlns:m="http://schemas.openxmlformats.org/officeDocument/2006/math">
                      <m:oMath>
                        <m:r>
                          <a:rPr lang="pt-BR" i="1" smtClean="0">
                            <a:latin typeface="Cambria Math" panose="02040503050406030204" pitchFamily="18" charset="0"/>
                          </a:rPr>
                          <m:t>𝑓</m:t>
                        </m:r>
                        <m:r>
                          <a:rPr lang="pt-BR"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𝑀</m:t>
                            </m:r>
                          </m:sub>
                        </m:sSub>
                        <m:r>
                          <a:rPr lang="pt-BR" i="1">
                            <a:latin typeface="Cambria Math" panose="02040503050406030204" pitchFamily="18" charset="0"/>
                          </a:rPr>
                          <m:t>)</m:t>
                        </m:r>
                      </m:oMath>
                    </m:oMathPara>
                  </a14:m>
                  <a:endParaRPr lang="en-US" dirty="0"/>
                </a:p>
              </p:txBody>
            </p:sp>
          </mc:Choice>
          <mc:Fallback xmlns="">
            <p:sp>
              <p:nvSpPr>
                <p:cNvPr id="28" name="TextBox 39">
                  <a:extLst>
                    <a:ext uri="{FF2B5EF4-FFF2-40B4-BE49-F238E27FC236}">
                      <a16:creationId xmlns="" xmlns:a16="http://schemas.microsoft.com/office/drawing/2014/main" xmlns:a14="http://schemas.microsoft.com/office/drawing/2010/main" id="{2CFDFBD5-FA4D-91D9-109D-B66617353EEC}"/>
                    </a:ext>
                  </a:extLst>
                </p:cNvPr>
                <p:cNvSpPr txBox="1">
                  <a:spLocks noRot="1" noChangeAspect="1" noMove="1" noResize="1" noEditPoints="1" noAdjustHandles="1" noChangeArrowheads="1" noChangeShapeType="1" noTextEdit="1"/>
                </p:cNvSpPr>
                <p:nvPr/>
              </p:nvSpPr>
              <p:spPr>
                <a:xfrm>
                  <a:off x="8574308" y="2445817"/>
                  <a:ext cx="632539" cy="369332"/>
                </a:xfrm>
                <a:prstGeom prst="rect">
                  <a:avLst/>
                </a:prstGeom>
                <a:blipFill rotWithShape="0">
                  <a:blip r:embed="rId18"/>
                  <a:stretch>
                    <a:fillRect l="-2913" r="-31068" b="-1311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TextBox 39">
                  <a:extLst>
                    <a:ext uri="{FF2B5EF4-FFF2-40B4-BE49-F238E27FC236}">
                      <a16:creationId xmlns:a16="http://schemas.microsoft.com/office/drawing/2014/main" id="{2CFDFBD5-FA4D-91D9-109D-B66617353EEC}"/>
                    </a:ext>
                  </a:extLst>
                </p:cNvPr>
                <p:cNvSpPr txBox="1"/>
                <p:nvPr/>
              </p:nvSpPr>
              <p:spPr>
                <a:xfrm>
                  <a:off x="6848924" y="2277136"/>
                  <a:ext cx="632539" cy="369332"/>
                </a:xfrm>
                <a:prstGeom prst="rect">
                  <a:avLst/>
                </a:prstGeom>
                <a:noFill/>
              </p:spPr>
              <p:txBody>
                <a:bodyPr wrap="square">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9" name="TextBox 39">
                  <a:extLst>
                    <a:ext uri="{FF2B5EF4-FFF2-40B4-BE49-F238E27FC236}">
                      <a16:creationId xmlns="" xmlns:a16="http://schemas.microsoft.com/office/drawing/2014/main" xmlns:a14="http://schemas.microsoft.com/office/drawing/2010/main" id="{2CFDFBD5-FA4D-91D9-109D-B66617353EEC}"/>
                    </a:ext>
                  </a:extLst>
                </p:cNvPr>
                <p:cNvSpPr txBox="1">
                  <a:spLocks noRot="1" noChangeAspect="1" noMove="1" noResize="1" noEditPoints="1" noAdjustHandles="1" noChangeArrowheads="1" noChangeShapeType="1" noTextEdit="1"/>
                </p:cNvSpPr>
                <p:nvPr/>
              </p:nvSpPr>
              <p:spPr>
                <a:xfrm>
                  <a:off x="6848924" y="2277136"/>
                  <a:ext cx="632539" cy="369332"/>
                </a:xfrm>
                <a:prstGeom prst="rect">
                  <a:avLst/>
                </a:prstGeom>
                <a:blipFill rotWithShape="0">
                  <a:blip r:embed="rId19"/>
                  <a:stretch>
                    <a:fillRect/>
                  </a:stretch>
                </a:blipFill>
              </p:spPr>
              <p:txBody>
                <a:bodyPr/>
                <a:lstStyle/>
                <a:p>
                  <a:r>
                    <a:rPr lang="pt-BR">
                      <a:noFill/>
                    </a:rPr>
                    <a:t> </a:t>
                  </a:r>
                </a:p>
              </p:txBody>
            </p:sp>
          </mc:Fallback>
        </mc:AlternateContent>
        <p:cxnSp>
          <p:nvCxnSpPr>
            <p:cNvPr id="30" name="Conector de Seta Reta 12">
              <a:extLst>
                <a:ext uri="{FF2B5EF4-FFF2-40B4-BE49-F238E27FC236}">
                  <a16:creationId xmlns:a16="http://schemas.microsoft.com/office/drawing/2014/main" id="{81611D8F-AB3D-DE64-1DD8-92F3A6BBCA02}"/>
                </a:ext>
              </a:extLst>
            </p:cNvPr>
            <p:cNvCxnSpPr/>
            <p:nvPr/>
          </p:nvCxnSpPr>
          <p:spPr>
            <a:xfrm>
              <a:off x="7460787" y="2486298"/>
              <a:ext cx="612000"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6">
                  <a:extLst>
                    <a:ext uri="{FF2B5EF4-FFF2-40B4-BE49-F238E27FC236}">
                      <a16:creationId xmlns:a16="http://schemas.microsoft.com/office/drawing/2014/main" id="{F458501C-3728-E11F-68FF-8A2A80B4B659}"/>
                    </a:ext>
                  </a:extLst>
                </p:cNvPr>
                <p:cNvSpPr txBox="1"/>
                <p:nvPr/>
              </p:nvSpPr>
              <p:spPr>
                <a:xfrm>
                  <a:off x="7670222" y="2403307"/>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𝑀</m:t>
                            </m:r>
                          </m:sub>
                        </m:sSub>
                      </m:oMath>
                    </m:oMathPara>
                  </a14:m>
                  <a:endParaRPr lang="en-US" dirty="0"/>
                </a:p>
              </p:txBody>
            </p:sp>
          </mc:Choice>
          <mc:Fallback xmlns="">
            <p:sp>
              <p:nvSpPr>
                <p:cNvPr id="31" name="TextBox 36">
                  <a:extLst>
                    <a:ext uri="{FF2B5EF4-FFF2-40B4-BE49-F238E27FC236}">
                      <a16:creationId xmlns="" xmlns:a16="http://schemas.microsoft.com/office/drawing/2014/main" xmlns:a14="http://schemas.microsoft.com/office/drawing/2010/main" id="{F458501C-3728-E11F-68FF-8A2A80B4B659}"/>
                    </a:ext>
                  </a:extLst>
                </p:cNvPr>
                <p:cNvSpPr txBox="1">
                  <a:spLocks noRot="1" noChangeAspect="1" noMove="1" noResize="1" noEditPoints="1" noAdjustHandles="1" noChangeArrowheads="1" noChangeShapeType="1" noTextEdit="1"/>
                </p:cNvSpPr>
                <p:nvPr/>
              </p:nvSpPr>
              <p:spPr>
                <a:xfrm>
                  <a:off x="7670222" y="2403307"/>
                  <a:ext cx="535857" cy="369332"/>
                </a:xfrm>
                <a:prstGeom prst="rect">
                  <a:avLst/>
                </a:prstGeom>
                <a:blipFill rotWithShape="0">
                  <a:blip r:embed="rId2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2" name="TextBox 33">
                  <a:extLst>
                    <a:ext uri="{FF2B5EF4-FFF2-40B4-BE49-F238E27FC236}">
                      <a16:creationId xmlns:a16="http://schemas.microsoft.com/office/drawing/2014/main" id="{151E2F26-305A-D7EF-7773-451EF33945B3}"/>
                    </a:ext>
                  </a:extLst>
                </p:cNvPr>
                <p:cNvSpPr txBox="1"/>
                <p:nvPr/>
              </p:nvSpPr>
              <p:spPr>
                <a:xfrm>
                  <a:off x="7054669" y="2106325"/>
                  <a:ext cx="1232743"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𝑀</m:t>
                            </m:r>
                          </m:sub>
                        </m:sSub>
                      </m:oMath>
                    </m:oMathPara>
                  </a14:m>
                  <a:endParaRPr lang="en-US" dirty="0"/>
                </a:p>
              </p:txBody>
            </p:sp>
          </mc:Choice>
          <mc:Fallback xmlns="">
            <p:sp>
              <p:nvSpPr>
                <p:cNvPr id="32" name="TextBox 33">
                  <a:extLst>
                    <a:ext uri="{FF2B5EF4-FFF2-40B4-BE49-F238E27FC236}">
                      <a16:creationId xmlns="" xmlns:a16="http://schemas.microsoft.com/office/drawing/2014/main" xmlns:a14="http://schemas.microsoft.com/office/drawing/2010/main" id="{151E2F26-305A-D7EF-7773-451EF33945B3}"/>
                    </a:ext>
                  </a:extLst>
                </p:cNvPr>
                <p:cNvSpPr txBox="1">
                  <a:spLocks noRot="1" noChangeAspect="1" noMove="1" noResize="1" noEditPoints="1" noAdjustHandles="1" noChangeArrowheads="1" noChangeShapeType="1" noTextEdit="1"/>
                </p:cNvSpPr>
                <p:nvPr/>
              </p:nvSpPr>
              <p:spPr>
                <a:xfrm>
                  <a:off x="7054669" y="2106325"/>
                  <a:ext cx="1232743" cy="369332"/>
                </a:xfrm>
                <a:prstGeom prst="rect">
                  <a:avLst/>
                </a:prstGeom>
                <a:blipFill rotWithShape="0">
                  <a:blip r:embed="rId21"/>
                  <a:stretch>
                    <a:fillRect/>
                  </a:stretch>
                </a:blipFill>
              </p:spPr>
              <p:txBody>
                <a:bodyPr/>
                <a:lstStyle/>
                <a:p>
                  <a:r>
                    <a:rPr lang="pt-BR">
                      <a:noFill/>
                    </a:rPr>
                    <a:t> </a:t>
                  </a:r>
                </a:p>
              </p:txBody>
            </p:sp>
          </mc:Fallback>
        </mc:AlternateContent>
      </p:grpSp>
      <p:sp>
        <p:nvSpPr>
          <p:cNvPr id="34" name="CaixaDeTexto 33">
            <a:extLst>
              <a:ext uri="{FF2B5EF4-FFF2-40B4-BE49-F238E27FC236}">
                <a16:creationId xmlns:a16="http://schemas.microsoft.com/office/drawing/2014/main" id="{D546424F-D5CC-72B1-6C68-B4AC1D5EF236}"/>
              </a:ext>
            </a:extLst>
          </p:cNvPr>
          <p:cNvSpPr txBox="1"/>
          <p:nvPr/>
        </p:nvSpPr>
        <p:spPr>
          <a:xfrm>
            <a:off x="9540240" y="6596391"/>
            <a:ext cx="2651760" cy="415498"/>
          </a:xfrm>
          <a:prstGeom prst="rect">
            <a:avLst/>
          </a:prstGeom>
          <a:noFill/>
        </p:spPr>
        <p:txBody>
          <a:bodyPr wrap="square">
            <a:spAutoFit/>
          </a:bodyPr>
          <a:lstStyle/>
          <a:p>
            <a:r>
              <a:rPr lang="pt-BR" sz="1050" b="1" noProof="0" dirty="0"/>
              <a:t>OBS</a:t>
            </a:r>
            <a:r>
              <a:rPr lang="pt-BR" sz="1050" noProof="0" dirty="0"/>
              <a:t>.: Para mais detalhes, consultem o Anexo I.</a:t>
            </a:r>
          </a:p>
        </p:txBody>
      </p:sp>
    </p:spTree>
    <p:extLst>
      <p:ext uri="{BB962C8B-B14F-4D97-AF65-F5344CB8AC3E}">
        <p14:creationId xmlns:p14="http://schemas.microsoft.com/office/powerpoint/2010/main" val="3798277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 da aplicação da retropropagação</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825624"/>
                <a:ext cx="11208027" cy="5032376"/>
              </a:xfrm>
            </p:spPr>
            <p:txBody>
              <a:bodyPr>
                <a:normAutofit/>
              </a:bodyPr>
              <a:lstStyle/>
              <a:p>
                <a:r>
                  <a:rPr lang="pt-BR" dirty="0"/>
                  <a:t>Encontrar o </a:t>
                </a:r>
                <a:r>
                  <a:rPr lang="pt-BR" b="1" dirty="0"/>
                  <a:t>vetor gradiente </a:t>
                </a:r>
                <a:r>
                  <a:rPr lang="pt-BR" dirty="0"/>
                  <a:t>para todos os pesos do nó 1 da camada oculta da rede neural MLP abaixo.</a:t>
                </a:r>
              </a:p>
              <a:p>
                <a:pPr marL="0" indent="0">
                  <a:buNone/>
                </a:pPr>
                <a:r>
                  <a:rPr lang="pt-BR" dirty="0"/>
                  <a:t>                                          </a:t>
                </a:r>
                <a14:m>
                  <m:oMath xmlns:m="http://schemas.openxmlformats.org/officeDocument/2006/math">
                    <m:d>
                      <m:dPr>
                        <m:begChr m:val="["/>
                        <m:endChr m:val="]"/>
                        <m:ctrlPr>
                          <a:rPr lang="pt-BR" sz="3200" i="1">
                            <a:latin typeface="Cambria Math" panose="02040503050406030204" pitchFamily="18" charset="0"/>
                          </a:rPr>
                        </m:ctrlPr>
                      </m:dPr>
                      <m:e>
                        <m:m>
                          <m:mPr>
                            <m:mcs>
                              <m:mc>
                                <m:mcPr>
                                  <m:count m:val="1"/>
                                  <m:mcJc m:val="center"/>
                                </m:mcPr>
                              </m:mc>
                            </m:mcs>
                            <m:ctrlPr>
                              <a:rPr lang="pt-BR" sz="3200" i="1">
                                <a:latin typeface="Cambria Math" panose="02040503050406030204" pitchFamily="18" charset="0"/>
                              </a:rPr>
                            </m:ctrlPr>
                          </m:mPr>
                          <m:mr>
                            <m:e>
                              <m:f>
                                <m:fPr>
                                  <m:ctrlPr>
                                    <a:rPr lang="pt-BR" sz="3200" i="1">
                                      <a:latin typeface="Cambria Math" panose="02040503050406030204" pitchFamily="18" charset="0"/>
                                    </a:rPr>
                                  </m:ctrlPr>
                                </m:fPr>
                                <m:num>
                                  <m:r>
                                    <a:rPr lang="pt-BR" sz="3200" i="1">
                                      <a:latin typeface="Cambria Math" panose="02040503050406030204" pitchFamily="18" charset="0"/>
                                    </a:rPr>
                                    <m:t>𝜕</m:t>
                                  </m:r>
                                  <m:sSub>
                                    <m:sSubPr>
                                      <m:ctrlPr>
                                        <a:rPr lang="pt-BR" sz="3200" i="1">
                                          <a:latin typeface="Cambria Math" panose="02040503050406030204" pitchFamily="18" charset="0"/>
                                        </a:rPr>
                                      </m:ctrlPr>
                                    </m:sSubPr>
                                    <m:e>
                                      <m:r>
                                        <a:rPr lang="pt-BR" sz="3200" i="1">
                                          <a:latin typeface="Cambria Math" panose="02040503050406030204" pitchFamily="18" charset="0"/>
                                        </a:rPr>
                                        <m:t>𝐽</m:t>
                                      </m:r>
                                    </m:e>
                                    <m:sub>
                                      <m:r>
                                        <a:rPr lang="pt-BR" sz="3200" i="1">
                                          <a:latin typeface="Cambria Math" panose="02040503050406030204" pitchFamily="18" charset="0"/>
                                        </a:rPr>
                                        <m:t>𝑒</m:t>
                                      </m:r>
                                    </m:sub>
                                  </m:sSub>
                                </m:num>
                                <m:den>
                                  <m:r>
                                    <a:rPr lang="pt-BR" sz="3200" i="1">
                                      <a:latin typeface="Cambria Math" panose="02040503050406030204" pitchFamily="18" charset="0"/>
                                    </a:rPr>
                                    <m:t>𝜕</m:t>
                                  </m:r>
                                  <m:sSubSup>
                                    <m:sSubSupPr>
                                      <m:ctrlPr>
                                        <a:rPr lang="pt-BR" sz="3200" i="1">
                                          <a:latin typeface="Cambria Math" panose="02040503050406030204" pitchFamily="18" charset="0"/>
                                        </a:rPr>
                                      </m:ctrlPr>
                                    </m:sSubSupPr>
                                    <m:e>
                                      <m:r>
                                        <a:rPr lang="pt-BR" sz="3200" i="1">
                                          <a:latin typeface="Cambria Math" panose="02040503050406030204" pitchFamily="18" charset="0"/>
                                        </a:rPr>
                                        <m:t>𝑤</m:t>
                                      </m:r>
                                    </m:e>
                                    <m:sub>
                                      <m:r>
                                        <a:rPr lang="pt-BR" sz="3200" i="1">
                                          <a:latin typeface="Cambria Math" panose="02040503050406030204" pitchFamily="18" charset="0"/>
                                        </a:rPr>
                                        <m:t>1,1</m:t>
                                      </m:r>
                                    </m:sub>
                                    <m:sup>
                                      <m:r>
                                        <a:rPr lang="pt-BR" sz="3200" i="1">
                                          <a:latin typeface="Cambria Math" panose="02040503050406030204" pitchFamily="18" charset="0"/>
                                        </a:rPr>
                                        <m:t>1</m:t>
                                      </m:r>
                                    </m:sup>
                                  </m:sSubSup>
                                </m:den>
                              </m:f>
                            </m:e>
                          </m:mr>
                          <m:mr>
                            <m:e>
                              <m:m>
                                <m:mPr>
                                  <m:mcs>
                                    <m:mc>
                                      <m:mcPr>
                                        <m:count m:val="1"/>
                                        <m:mcJc m:val="center"/>
                                      </m:mcPr>
                                    </m:mc>
                                  </m:mcs>
                                  <m:ctrlPr>
                                    <a:rPr lang="pt-BR" sz="3200" i="1">
                                      <a:latin typeface="Cambria Math" panose="02040503050406030204" pitchFamily="18" charset="0"/>
                                    </a:rPr>
                                  </m:ctrlPr>
                                </m:mPr>
                                <m:mr>
                                  <m:e>
                                    <m:f>
                                      <m:fPr>
                                        <m:ctrlPr>
                                          <a:rPr lang="pt-BR" sz="3200" i="1">
                                            <a:latin typeface="Cambria Math" panose="02040503050406030204" pitchFamily="18" charset="0"/>
                                          </a:rPr>
                                        </m:ctrlPr>
                                      </m:fPr>
                                      <m:num>
                                        <m:r>
                                          <a:rPr lang="pt-BR" sz="3200" i="1">
                                            <a:latin typeface="Cambria Math" panose="02040503050406030204" pitchFamily="18" charset="0"/>
                                          </a:rPr>
                                          <m:t>𝜕</m:t>
                                        </m:r>
                                        <m:sSub>
                                          <m:sSubPr>
                                            <m:ctrlPr>
                                              <a:rPr lang="pt-BR" sz="3200" i="1">
                                                <a:latin typeface="Cambria Math" panose="02040503050406030204" pitchFamily="18" charset="0"/>
                                              </a:rPr>
                                            </m:ctrlPr>
                                          </m:sSubPr>
                                          <m:e>
                                            <m:r>
                                              <a:rPr lang="pt-BR" sz="3200" i="1">
                                                <a:latin typeface="Cambria Math" panose="02040503050406030204" pitchFamily="18" charset="0"/>
                                              </a:rPr>
                                              <m:t>𝐽</m:t>
                                            </m:r>
                                          </m:e>
                                          <m:sub>
                                            <m:r>
                                              <a:rPr lang="pt-BR" sz="3200" i="1">
                                                <a:latin typeface="Cambria Math" panose="02040503050406030204" pitchFamily="18" charset="0"/>
                                              </a:rPr>
                                              <m:t>𝑒</m:t>
                                            </m:r>
                                          </m:sub>
                                        </m:sSub>
                                      </m:num>
                                      <m:den>
                                        <m:r>
                                          <a:rPr lang="pt-BR" sz="3200" i="1">
                                            <a:latin typeface="Cambria Math" panose="02040503050406030204" pitchFamily="18" charset="0"/>
                                          </a:rPr>
                                          <m:t>𝜕</m:t>
                                        </m:r>
                                        <m:sSubSup>
                                          <m:sSubSupPr>
                                            <m:ctrlPr>
                                              <a:rPr lang="pt-BR" sz="3200" i="1">
                                                <a:latin typeface="Cambria Math" panose="02040503050406030204" pitchFamily="18" charset="0"/>
                                              </a:rPr>
                                            </m:ctrlPr>
                                          </m:sSubSupPr>
                                          <m:e>
                                            <m:r>
                                              <a:rPr lang="pt-BR" sz="3200" i="1">
                                                <a:latin typeface="Cambria Math" panose="02040503050406030204" pitchFamily="18" charset="0"/>
                                              </a:rPr>
                                              <m:t>𝑤</m:t>
                                            </m:r>
                                          </m:e>
                                          <m:sub>
                                            <m:r>
                                              <a:rPr lang="pt-BR" sz="3200" i="1">
                                                <a:latin typeface="Cambria Math" panose="02040503050406030204" pitchFamily="18" charset="0"/>
                                              </a:rPr>
                                              <m:t>1,2</m:t>
                                            </m:r>
                                          </m:sub>
                                          <m:sup>
                                            <m:r>
                                              <a:rPr lang="pt-BR" sz="3200" i="1">
                                                <a:latin typeface="Cambria Math" panose="02040503050406030204" pitchFamily="18" charset="0"/>
                                              </a:rPr>
                                              <m:t>1</m:t>
                                            </m:r>
                                          </m:sup>
                                        </m:sSubSup>
                                      </m:den>
                                    </m:f>
                                  </m:e>
                                </m:mr>
                                <m:mr>
                                  <m:e>
                                    <m:f>
                                      <m:fPr>
                                        <m:ctrlPr>
                                          <a:rPr lang="pt-BR" sz="3200" i="1">
                                            <a:latin typeface="Cambria Math" panose="02040503050406030204" pitchFamily="18" charset="0"/>
                                          </a:rPr>
                                        </m:ctrlPr>
                                      </m:fPr>
                                      <m:num>
                                        <m:r>
                                          <a:rPr lang="pt-BR" sz="3200" i="1">
                                            <a:latin typeface="Cambria Math" panose="02040503050406030204" pitchFamily="18" charset="0"/>
                                          </a:rPr>
                                          <m:t>𝜕</m:t>
                                        </m:r>
                                        <m:sSub>
                                          <m:sSubPr>
                                            <m:ctrlPr>
                                              <a:rPr lang="pt-BR" sz="3200" i="1">
                                                <a:latin typeface="Cambria Math" panose="02040503050406030204" pitchFamily="18" charset="0"/>
                                              </a:rPr>
                                            </m:ctrlPr>
                                          </m:sSubPr>
                                          <m:e>
                                            <m:r>
                                              <a:rPr lang="pt-BR" sz="3200" i="1">
                                                <a:latin typeface="Cambria Math" panose="02040503050406030204" pitchFamily="18" charset="0"/>
                                              </a:rPr>
                                              <m:t>𝐽</m:t>
                                            </m:r>
                                          </m:e>
                                          <m:sub>
                                            <m:r>
                                              <a:rPr lang="pt-BR" sz="3200" i="1">
                                                <a:latin typeface="Cambria Math" panose="02040503050406030204" pitchFamily="18" charset="0"/>
                                              </a:rPr>
                                              <m:t>𝑒</m:t>
                                            </m:r>
                                          </m:sub>
                                        </m:sSub>
                                      </m:num>
                                      <m:den>
                                        <m:r>
                                          <a:rPr lang="pt-BR" sz="3200" i="1">
                                            <a:latin typeface="Cambria Math" panose="02040503050406030204" pitchFamily="18" charset="0"/>
                                          </a:rPr>
                                          <m:t>𝜕</m:t>
                                        </m:r>
                                        <m:sSubSup>
                                          <m:sSubSupPr>
                                            <m:ctrlPr>
                                              <a:rPr lang="pt-BR" sz="3200" i="1">
                                                <a:latin typeface="Cambria Math" panose="02040503050406030204" pitchFamily="18" charset="0"/>
                                              </a:rPr>
                                            </m:ctrlPr>
                                          </m:sSubSupPr>
                                          <m:e>
                                            <m:r>
                                              <a:rPr lang="pt-BR" sz="3200" i="1">
                                                <a:latin typeface="Cambria Math" panose="02040503050406030204" pitchFamily="18" charset="0"/>
                                              </a:rPr>
                                              <m:t>𝑏</m:t>
                                            </m:r>
                                          </m:e>
                                          <m:sub>
                                            <m:r>
                                              <a:rPr lang="pt-BR" sz="3200" i="1">
                                                <a:latin typeface="Cambria Math" panose="02040503050406030204" pitchFamily="18" charset="0"/>
                                              </a:rPr>
                                              <m:t>1</m:t>
                                            </m:r>
                                          </m:sub>
                                          <m:sup>
                                            <m:r>
                                              <a:rPr lang="pt-BR" sz="3200" i="1">
                                                <a:latin typeface="Cambria Math" panose="02040503050406030204" pitchFamily="18" charset="0"/>
                                              </a:rPr>
                                              <m:t>1</m:t>
                                            </m:r>
                                          </m:sup>
                                        </m:sSubSup>
                                      </m:den>
                                    </m:f>
                                  </m:e>
                                </m:mr>
                              </m:m>
                            </m:e>
                          </m:mr>
                        </m:m>
                      </m:e>
                    </m:d>
                    <m:r>
                      <a:rPr lang="pt-BR" sz="3200" b="0" i="1" smtClean="0">
                        <a:latin typeface="Cambria Math" panose="02040503050406030204" pitchFamily="18" charset="0"/>
                      </a:rPr>
                      <m:t>=?</m:t>
                    </m:r>
                  </m:oMath>
                </a14:m>
                <a:endParaRPr lang="pt-BR" sz="3200" dirty="0"/>
              </a:p>
              <a:p>
                <a:r>
                  <a:rPr lang="pt-BR" b="1" dirty="0"/>
                  <a:t>OBS</a:t>
                </a:r>
                <a:r>
                  <a:rPr lang="pt-BR" dirty="0"/>
                  <a:t>.: vamos deixar as derivadas das funções de ativação em relação às ativações de forma genérica, i.e., não vamos assumir nenhum tipo específico de função de ativação.</a:t>
                </a:r>
              </a:p>
              <a:p>
                <a:pPr lvl="1"/>
                <a:endParaRPr lang="pt-B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825624"/>
                <a:ext cx="11208027" cy="5032376"/>
              </a:xfrm>
              <a:blipFill>
                <a:blip r:embed="rId3"/>
                <a:stretch>
                  <a:fillRect l="-924" t="-1937" r="-1577"/>
                </a:stretch>
              </a:blipFill>
            </p:spPr>
            <p:txBody>
              <a:bodyPr/>
              <a:lstStyle/>
              <a:p>
                <a:r>
                  <a:rPr lang="en-US">
                    <a:noFill/>
                  </a:rPr>
                  <a:t> </a:t>
                </a:r>
              </a:p>
            </p:txBody>
          </p:sp>
        </mc:Fallback>
      </mc:AlternateContent>
      <p:pic>
        <p:nvPicPr>
          <p:cNvPr id="4" name="Picture 4"/>
          <p:cNvPicPr>
            <a:picLocks noChangeAspect="1"/>
          </p:cNvPicPr>
          <p:nvPr/>
        </p:nvPicPr>
        <p:blipFill rotWithShape="1">
          <a:blip r:embed="rId4" cstate="print">
            <a:extLst>
              <a:ext uri="{28A0092B-C50C-407E-A947-70E740481C1C}">
                <a14:useLocalDpi xmlns:a14="http://schemas.microsoft.com/office/drawing/2010/main" val="0"/>
              </a:ext>
            </a:extLst>
          </a:blip>
          <a:srcRect r="656"/>
          <a:stretch/>
        </p:blipFill>
        <p:spPr>
          <a:xfrm>
            <a:off x="7143732" y="2505020"/>
            <a:ext cx="4210068" cy="2544792"/>
          </a:xfrm>
          <a:prstGeom prst="rect">
            <a:avLst/>
          </a:prstGeom>
        </p:spPr>
      </p:pic>
      <p:sp>
        <p:nvSpPr>
          <p:cNvPr id="5" name="CaixaDeTexto 4"/>
          <p:cNvSpPr txBox="1"/>
          <p:nvPr/>
        </p:nvSpPr>
        <p:spPr>
          <a:xfrm>
            <a:off x="7669763" y="2250757"/>
            <a:ext cx="1948069" cy="307777"/>
          </a:xfrm>
          <a:prstGeom prst="rect">
            <a:avLst/>
          </a:prstGeom>
          <a:noFill/>
        </p:spPr>
        <p:txBody>
          <a:bodyPr wrap="square" rtlCol="0">
            <a:spAutoFit/>
          </a:bodyPr>
          <a:lstStyle/>
          <a:p>
            <a:pPr algn="ctr"/>
            <a:r>
              <a:rPr lang="pt-BR" sz="1400" dirty="0"/>
              <a:t>Camada oculta</a:t>
            </a:r>
          </a:p>
        </p:txBody>
      </p:sp>
      <p:sp>
        <p:nvSpPr>
          <p:cNvPr id="6" name="CaixaDeTexto 5"/>
          <p:cNvSpPr txBox="1"/>
          <p:nvPr/>
        </p:nvSpPr>
        <p:spPr>
          <a:xfrm>
            <a:off x="9350351" y="2920822"/>
            <a:ext cx="1938132" cy="307777"/>
          </a:xfrm>
          <a:prstGeom prst="rect">
            <a:avLst/>
          </a:prstGeom>
          <a:noFill/>
        </p:spPr>
        <p:txBody>
          <a:bodyPr wrap="square" rtlCol="0">
            <a:spAutoFit/>
          </a:bodyPr>
          <a:lstStyle/>
          <a:p>
            <a:pPr algn="ctr"/>
            <a:r>
              <a:rPr lang="pt-BR" sz="1400" dirty="0"/>
              <a:t>Camada de saída</a:t>
            </a:r>
          </a:p>
        </p:txBody>
      </p:sp>
      <p:sp>
        <p:nvSpPr>
          <p:cNvPr id="10" name="Elipse 9"/>
          <p:cNvSpPr/>
          <p:nvPr/>
        </p:nvSpPr>
        <p:spPr>
          <a:xfrm>
            <a:off x="7949681" y="2558876"/>
            <a:ext cx="326571" cy="29019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7949680" y="3237930"/>
            <a:ext cx="326571" cy="29019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8480511" y="2819221"/>
            <a:ext cx="326571" cy="29019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9815907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0819F1-A412-CAFD-E89E-65FC450B44D5}"/>
              </a:ext>
            </a:extLst>
          </p:cNvPr>
          <p:cNvSpPr>
            <a:spLocks noGrp="1"/>
          </p:cNvSpPr>
          <p:nvPr>
            <p:ph type="title"/>
          </p:nvPr>
        </p:nvSpPr>
        <p:spPr/>
        <p:txBody>
          <a:bodyPr/>
          <a:lstStyle/>
          <a:p>
            <a:r>
              <a:rPr lang="pt-BR" dirty="0"/>
              <a:t>Exemplo da aplicação da retropropagação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AA5869CA-BCE3-3D01-FEAF-9AD088F17496}"/>
                  </a:ext>
                </a:extLst>
              </p:cNvPr>
              <p:cNvSpPr>
                <a:spLocks noGrp="1"/>
              </p:cNvSpPr>
              <p:nvPr>
                <p:ph idx="1"/>
              </p:nvPr>
            </p:nvSpPr>
            <p:spPr>
              <a:xfrm>
                <a:off x="838201" y="1825624"/>
                <a:ext cx="11216148" cy="5032375"/>
              </a:xfrm>
            </p:spPr>
            <p:txBody>
              <a:bodyPr>
                <a:normAutofit/>
              </a:bodyPr>
              <a:lstStyle/>
              <a:p>
                <a:r>
                  <a:rPr lang="pt-BR" dirty="0"/>
                  <a:t>Usaremos o </a:t>
                </a:r>
                <a:r>
                  <a:rPr lang="pt-BR" b="1" dirty="0"/>
                  <a:t>erro quadrático médio</a:t>
                </a:r>
                <a:r>
                  <a:rPr lang="pt-BR" dirty="0"/>
                  <a:t> como função de erro</a:t>
                </a:r>
                <a:endParaRPr lang="pt-BR" sz="2800" dirty="0"/>
              </a:p>
              <a:p>
                <a:pPr marL="0" indent="0">
                  <a:buNone/>
                </a:pPr>
                <a:endParaRPr lang="pt-BR" sz="900" dirty="0"/>
              </a:p>
              <a:p>
                <a:pPr marL="0" indent="0" algn="ctr">
                  <a:buNone/>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sSub>
                            <m:sSubPr>
                              <m:ctrlPr>
                                <a:rPr lang="pt-BR" i="1">
                                  <a:latin typeface="Cambria Math" panose="02040503050406030204" pitchFamily="18" charset="0"/>
                                </a:rPr>
                              </m:ctrlPr>
                            </m:sSubPr>
                            <m:e>
                              <m:r>
                                <a:rPr lang="pt-BR" i="1">
                                  <a:latin typeface="Cambria Math" panose="02040503050406030204" pitchFamily="18" charset="0"/>
                                </a:rPr>
                                <m:t>𝑁</m:t>
                              </m:r>
                            </m:e>
                            <m:sub>
                              <m:r>
                                <m:rPr>
                                  <m:sty m:val="p"/>
                                </m:rPr>
                                <a:rPr lang="pt-BR">
                                  <a:latin typeface="Cambria Math" panose="02040503050406030204" pitchFamily="18" charset="0"/>
                                </a:rPr>
                                <m:t>dados</m:t>
                              </m:r>
                            </m:sub>
                          </m:sSub>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𝑀</m:t>
                              </m:r>
                            </m:sub>
                          </m:sSub>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𝑁</m:t>
                              </m:r>
                            </m:e>
                            <m:sub>
                              <m:r>
                                <m:rPr>
                                  <m:sty m:val="p"/>
                                </m:rPr>
                                <a:rPr lang="pt-BR">
                                  <a:latin typeface="Cambria Math" panose="02040503050406030204" pitchFamily="18" charset="0"/>
                                </a:rPr>
                                <m:t>dados</m:t>
                              </m:r>
                            </m:sub>
                          </m:sSub>
                        </m:sup>
                        <m:e>
                          <m:nary>
                            <m:naryPr>
                              <m:chr m:val="∑"/>
                              <m:ctrlPr>
                                <a:rPr lang="pt-BR" b="0" i="1" smtClean="0">
                                  <a:latin typeface="Cambria Math" panose="02040503050406030204" pitchFamily="18" charset="0"/>
                                </a:rPr>
                              </m:ctrlPr>
                            </m:naryPr>
                            <m:sub>
                              <m:r>
                                <a:rPr lang="pt-BR" b="0" i="1" smtClean="0">
                                  <a:latin typeface="Cambria Math" panose="02040503050406030204" pitchFamily="18" charset="0"/>
                                </a:rPr>
                                <m:t>𝑘</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𝑀</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𝑒</m:t>
                                  </m:r>
                                </m:e>
                                <m:sub>
                                  <m:r>
                                    <a:rPr lang="pt-BR" b="0" i="1" smtClean="0">
                                      <a:latin typeface="Cambria Math" panose="02040503050406030204" pitchFamily="18" charset="0"/>
                                    </a:rPr>
                                    <m:t>𝑘</m:t>
                                  </m:r>
                                </m:sub>
                                <m:sup>
                                  <m:r>
                                    <a:rPr lang="pt-BR" i="1">
                                      <a:latin typeface="Cambria Math" panose="02040503050406030204" pitchFamily="18" charset="0"/>
                                    </a:rPr>
                                    <m:t>2</m:t>
                                  </m:r>
                                </m:sup>
                              </m:sSubSup>
                              <m:d>
                                <m:dPr>
                                  <m:ctrlPr>
                                    <a:rPr lang="pt-BR" i="1">
                                      <a:latin typeface="Cambria Math" panose="02040503050406030204" pitchFamily="18" charset="0"/>
                                    </a:rPr>
                                  </m:ctrlPr>
                                </m:dPr>
                                <m:e>
                                  <m:r>
                                    <a:rPr lang="pt-BR" i="1">
                                      <a:latin typeface="Cambria Math" panose="02040503050406030204" pitchFamily="18" charset="0"/>
                                    </a:rPr>
                                    <m:t>𝑛</m:t>
                                  </m:r>
                                </m:e>
                              </m:d>
                            </m:e>
                          </m:nary>
                        </m:e>
                      </m:nary>
                    </m:oMath>
                  </m:oMathPara>
                </a14:m>
                <a:endParaRPr lang="pt-BR" dirty="0"/>
              </a:p>
              <a:p>
                <a:pPr marL="0" indent="0" algn="ctr">
                  <a:buNone/>
                </a:pPr>
                <a:endParaRPr lang="pt-BR" sz="500" dirty="0"/>
              </a:p>
              <a:p>
                <a:pPr marL="0" indent="0" algn="ctr">
                  <a:buNone/>
                </a:pPr>
                <a14:m>
                  <m:oMathPara xmlns:m="http://schemas.openxmlformats.org/officeDocument/2006/math">
                    <m:oMath>
                      <m:r>
                        <a:rPr lang="pt-BR" i="1">
                          <a:latin typeface="Cambria Math" panose="02040503050406030204" pitchFamily="18" charset="0"/>
                        </a:rPr>
                        <m:t>                               =</m:t>
                      </m:r>
                      <m:f>
                        <m:fPr>
                          <m:ctrlPr>
                            <a:rPr lang="pt-BR" i="1">
                              <a:latin typeface="Cambria Math" panose="02040503050406030204" pitchFamily="18" charset="0"/>
                            </a:rPr>
                          </m:ctrlPr>
                        </m:fPr>
                        <m:num>
                          <m:r>
                            <a:rPr lang="pt-BR" i="1">
                              <a:latin typeface="Cambria Math" panose="02040503050406030204" pitchFamily="18" charset="0"/>
                            </a:rPr>
                            <m:t>1</m:t>
                          </m:r>
                        </m:num>
                        <m:den>
                          <m:sSub>
                            <m:sSubPr>
                              <m:ctrlPr>
                                <a:rPr lang="pt-BR" i="1">
                                  <a:latin typeface="Cambria Math" panose="02040503050406030204" pitchFamily="18" charset="0"/>
                                </a:rPr>
                              </m:ctrlPr>
                            </m:sSubPr>
                            <m:e>
                              <m:r>
                                <a:rPr lang="pt-BR" i="1">
                                  <a:latin typeface="Cambria Math" panose="02040503050406030204" pitchFamily="18" charset="0"/>
                                </a:rPr>
                                <m:t>𝑁</m:t>
                              </m:r>
                            </m:e>
                            <m:sub>
                              <m:r>
                                <m:rPr>
                                  <m:sty m:val="p"/>
                                </m:rPr>
                                <a:rPr lang="pt-BR">
                                  <a:latin typeface="Cambria Math" panose="02040503050406030204" pitchFamily="18" charset="0"/>
                                </a:rPr>
                                <m:t>dados</m:t>
                              </m:r>
                            </m:sub>
                          </m:sSub>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𝑀</m:t>
                              </m:r>
                            </m:sub>
                          </m:sSub>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𝑁</m:t>
                              </m:r>
                            </m:e>
                            <m:sub>
                              <m:r>
                                <m:rPr>
                                  <m:sty m:val="p"/>
                                </m:rPr>
                                <a:rPr lang="pt-BR">
                                  <a:latin typeface="Cambria Math" panose="02040503050406030204" pitchFamily="18" charset="0"/>
                                </a:rPr>
                                <m:t>dados</m:t>
                              </m:r>
                            </m:sub>
                          </m:sSub>
                        </m:sup>
                        <m:e>
                          <m:nary>
                            <m:naryPr>
                              <m:chr m:val="∑"/>
                              <m:ctrlPr>
                                <a:rPr lang="pt-BR" b="0" i="1" smtClean="0">
                                  <a:latin typeface="Cambria Math" panose="02040503050406030204" pitchFamily="18" charset="0"/>
                                </a:rPr>
                              </m:ctrlPr>
                            </m:naryPr>
                            <m:sub>
                              <m:r>
                                <a:rPr lang="pt-BR" b="0" i="1" smtClean="0">
                                  <a:latin typeface="Cambria Math" panose="02040503050406030204" pitchFamily="18" charset="0"/>
                                </a:rPr>
                                <m:t>𝑘</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𝑀</m:t>
                                  </m:r>
                                </m:sub>
                              </m:sSub>
                            </m:sup>
                            <m:e>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sSub>
                                        <m:sSubPr>
                                          <m:ctrlPr>
                                            <a:rPr lang="pt-BR" b="0"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𝑘</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bSup>
                                        <m:sSubSupPr>
                                          <m:ctrlPr>
                                            <a:rPr lang="pt-BR" i="1">
                                              <a:latin typeface="Cambria Math" panose="02040503050406030204" pitchFamily="18" charset="0"/>
                                            </a:rPr>
                                          </m:ctrlPr>
                                        </m:sSubSup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b="0" i="1" smtClean="0">
                                              <a:latin typeface="Cambria Math" panose="02040503050406030204" pitchFamily="18" charset="0"/>
                                            </a:rPr>
                                            <m:t>𝑘</m:t>
                                          </m:r>
                                        </m:sub>
                                        <m:sup>
                                          <m:r>
                                            <a:rPr lang="pt-BR" i="1">
                                              <a:latin typeface="Cambria Math" panose="02040503050406030204" pitchFamily="18" charset="0"/>
                                            </a:rPr>
                                            <m:t>𝑀</m:t>
                                          </m:r>
                                        </m:sup>
                                      </m:sSubSup>
                                      <m:d>
                                        <m:dPr>
                                          <m:ctrlPr>
                                            <a:rPr lang="pt-BR" i="1">
                                              <a:latin typeface="Cambria Math" panose="02040503050406030204" pitchFamily="18" charset="0"/>
                                            </a:rPr>
                                          </m:ctrlPr>
                                        </m:dPr>
                                        <m:e>
                                          <m:r>
                                            <a:rPr lang="pt-BR" i="1">
                                              <a:latin typeface="Cambria Math" panose="02040503050406030204" pitchFamily="18" charset="0"/>
                                            </a:rPr>
                                            <m:t>𝑛</m:t>
                                          </m:r>
                                        </m:e>
                                      </m:d>
                                    </m:e>
                                  </m:d>
                                </m:e>
                                <m:sup>
                                  <m:r>
                                    <a:rPr lang="pt-BR" i="1">
                                      <a:latin typeface="Cambria Math" panose="02040503050406030204" pitchFamily="18" charset="0"/>
                                    </a:rPr>
                                    <m:t>2</m:t>
                                  </m:r>
                                </m:sup>
                              </m:sSup>
                            </m:e>
                          </m:nary>
                        </m:e>
                      </m:nary>
                      <m:r>
                        <a:rPr lang="pt-BR" i="1">
                          <a:latin typeface="Cambria Math" panose="02040503050406030204" pitchFamily="18" charset="0"/>
                        </a:rPr>
                        <m:t>,</m:t>
                      </m:r>
                    </m:oMath>
                  </m:oMathPara>
                </a14:m>
                <a:endParaRPr lang="pt-BR" dirty="0"/>
              </a:p>
              <a:p>
                <a:pPr marL="0" indent="0">
                  <a:buNone/>
                </a:pPr>
                <a:r>
                  <a:rPr lang="pt-BR" dirty="0"/>
                  <a:t>onde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𝑁</m:t>
                        </m:r>
                      </m:e>
                      <m:sub>
                        <m:r>
                          <m:rPr>
                            <m:sty m:val="p"/>
                          </m:rPr>
                          <a:rPr lang="pt-BR">
                            <a:latin typeface="Cambria Math" panose="02040503050406030204" pitchFamily="18" charset="0"/>
                          </a:rPr>
                          <m:t>dados</m:t>
                        </m:r>
                      </m:sub>
                    </m:sSub>
                  </m:oMath>
                </a14:m>
                <a:r>
                  <a:rPr lang="pt-BR" dirty="0"/>
                  <a:t> é o número de amostras,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𝑀</m:t>
                        </m:r>
                      </m:sub>
                    </m:sSub>
                  </m:oMath>
                </a14:m>
                <a:r>
                  <a:rPr lang="pt-BR" dirty="0"/>
                  <a:t> é o número de nós na camada de saída,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𝑘</m:t>
                        </m:r>
                      </m:sub>
                    </m:sSub>
                    <m:d>
                      <m:dPr>
                        <m:ctrlPr>
                          <a:rPr lang="pt-BR" i="1">
                            <a:latin typeface="Cambria Math" panose="02040503050406030204" pitchFamily="18" charset="0"/>
                          </a:rPr>
                        </m:ctrlPr>
                      </m:dPr>
                      <m:e>
                        <m:r>
                          <a:rPr lang="pt-BR" i="1">
                            <a:latin typeface="Cambria Math" panose="02040503050406030204" pitchFamily="18" charset="0"/>
                          </a:rPr>
                          <m:t>𝑛</m:t>
                        </m:r>
                      </m:e>
                    </m:d>
                  </m:oMath>
                </a14:m>
                <a:r>
                  <a:rPr lang="pt-BR" dirty="0"/>
                  <a:t> e </a:t>
                </a:r>
                <a14:m>
                  <m:oMath xmlns:m="http://schemas.openxmlformats.org/officeDocument/2006/math">
                    <m:sSubSup>
                      <m:sSubSupPr>
                        <m:ctrlPr>
                          <a:rPr lang="pt-BR" i="1">
                            <a:latin typeface="Cambria Math" panose="02040503050406030204" pitchFamily="18" charset="0"/>
                          </a:rPr>
                        </m:ctrlPr>
                      </m:sSubSup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b="0" i="1" smtClean="0">
                            <a:latin typeface="Cambria Math" panose="02040503050406030204" pitchFamily="18" charset="0"/>
                          </a:rPr>
                          <m:t>𝑘</m:t>
                        </m:r>
                      </m:sub>
                      <m:sup>
                        <m:r>
                          <a:rPr lang="pt-BR" i="1">
                            <a:latin typeface="Cambria Math" panose="02040503050406030204" pitchFamily="18" charset="0"/>
                          </a:rPr>
                          <m:t>𝑀</m:t>
                        </m:r>
                      </m:sup>
                    </m:sSubSup>
                    <m:d>
                      <m:dPr>
                        <m:ctrlPr>
                          <a:rPr lang="pt-BR" i="1">
                            <a:latin typeface="Cambria Math" panose="02040503050406030204" pitchFamily="18" charset="0"/>
                          </a:rPr>
                        </m:ctrlPr>
                      </m:dPr>
                      <m:e>
                        <m:r>
                          <a:rPr lang="pt-BR" i="1">
                            <a:latin typeface="Cambria Math" panose="02040503050406030204" pitchFamily="18" charset="0"/>
                          </a:rPr>
                          <m:t>𝑛</m:t>
                        </m:r>
                      </m:e>
                    </m:d>
                  </m:oMath>
                </a14:m>
                <a:r>
                  <a:rPr lang="pt-BR" dirty="0"/>
                  <a:t> são o rótulo da </a:t>
                </a:r>
                <a14:m>
                  <m:oMath xmlns:m="http://schemas.openxmlformats.org/officeDocument/2006/math">
                    <m:r>
                      <a:rPr lang="pt-BR" b="0" i="1" smtClean="0">
                        <a:latin typeface="Cambria Math" panose="02040503050406030204" pitchFamily="18" charset="0"/>
                      </a:rPr>
                      <m:t>𝑘</m:t>
                    </m:r>
                  </m:oMath>
                </a14:m>
                <a:r>
                  <a:rPr lang="pt-BR" dirty="0"/>
                  <a:t>-ésima saída e a saída do </a:t>
                </a:r>
                <a14:m>
                  <m:oMath xmlns:m="http://schemas.openxmlformats.org/officeDocument/2006/math">
                    <m:r>
                      <a:rPr lang="pt-BR" b="0" i="1" smtClean="0">
                        <a:latin typeface="Cambria Math" panose="02040503050406030204" pitchFamily="18" charset="0"/>
                      </a:rPr>
                      <m:t>𝑘</m:t>
                    </m:r>
                  </m:oMath>
                </a14:m>
                <a:r>
                  <a:rPr lang="pt-BR" dirty="0"/>
                  <a:t>-ésimo nó da camada de saída, respectivamente, ambos correspondentes à </a:t>
                </a:r>
                <a14:m>
                  <m:oMath xmlns:m="http://schemas.openxmlformats.org/officeDocument/2006/math">
                    <m:r>
                      <a:rPr lang="pt-BR" i="1">
                        <a:latin typeface="Cambria Math" panose="02040503050406030204" pitchFamily="18" charset="0"/>
                      </a:rPr>
                      <m:t>𝑛</m:t>
                    </m:r>
                  </m:oMath>
                </a14:m>
                <a:r>
                  <a:rPr lang="pt-BR" dirty="0"/>
                  <a:t>-</a:t>
                </a:r>
                <a:r>
                  <a:rPr lang="pt-BR" dirty="0" err="1"/>
                  <a:t>ésima</a:t>
                </a:r>
                <a:r>
                  <a:rPr lang="pt-BR" dirty="0"/>
                  <a:t> amostra de entrada, </a:t>
                </a:r>
                <a14:m>
                  <m:oMath xmlns:m="http://schemas.openxmlformats.org/officeDocument/2006/math">
                    <m:r>
                      <a:rPr lang="pt-BR" b="1" i="1">
                        <a:latin typeface="Cambria Math" panose="02040503050406030204" pitchFamily="18" charset="0"/>
                      </a:rPr>
                      <m:t>𝒙</m:t>
                    </m:r>
                    <m:r>
                      <a:rPr lang="pt-BR" b="0" i="1" smtClean="0">
                        <a:latin typeface="Cambria Math" panose="02040503050406030204" pitchFamily="18" charset="0"/>
                      </a:rPr>
                      <m:t>(</m:t>
                    </m:r>
                    <m:r>
                      <a:rPr lang="pt-BR" b="0" i="1" smtClean="0">
                        <a:latin typeface="Cambria Math" panose="02040503050406030204" pitchFamily="18" charset="0"/>
                      </a:rPr>
                      <m:t>𝑛</m:t>
                    </m:r>
                    <m:r>
                      <a:rPr lang="pt-BR" b="0" i="1" smtClean="0">
                        <a:latin typeface="Cambria Math" panose="02040503050406030204" pitchFamily="18" charset="0"/>
                      </a:rPr>
                      <m:t>)</m:t>
                    </m:r>
                  </m:oMath>
                </a14:m>
                <a:r>
                  <a:rPr lang="pt-BR" sz="2800" dirty="0"/>
                  <a:t> e </a:t>
                </a:r>
                <a14:m>
                  <m:oMath xmlns:m="http://schemas.openxmlformats.org/officeDocument/2006/math">
                    <m:r>
                      <a:rPr lang="pt-BR" sz="2800" b="0" i="1" smtClean="0">
                        <a:latin typeface="Cambria Math" panose="02040503050406030204" pitchFamily="18" charset="0"/>
                      </a:rPr>
                      <m:t>𝑀</m:t>
                    </m:r>
                  </m:oMath>
                </a14:m>
                <a:r>
                  <a:rPr lang="pt-BR" sz="2800" dirty="0"/>
                  <a:t> representa o índice da última camada.</a:t>
                </a:r>
              </a:p>
            </p:txBody>
          </p:sp>
        </mc:Choice>
        <mc:Fallback xmlns="">
          <p:sp>
            <p:nvSpPr>
              <p:cNvPr id="3" name="Espaço Reservado para Conteúdo 2">
                <a:extLst>
                  <a:ext uri="{FF2B5EF4-FFF2-40B4-BE49-F238E27FC236}">
                    <a16:creationId xmlns:a16="http://schemas.microsoft.com/office/drawing/2014/main" xmlns="" xmlns:a14="http://schemas.microsoft.com/office/drawing/2010/main" id="{AA5869CA-BCE3-3D01-FEAF-9AD088F17496}"/>
                  </a:ext>
                </a:extLst>
              </p:cNvPr>
              <p:cNvSpPr>
                <a:spLocks noGrp="1" noRot="1" noChangeAspect="1" noMove="1" noResize="1" noEditPoints="1" noAdjustHandles="1" noChangeArrowheads="1" noChangeShapeType="1" noTextEdit="1"/>
              </p:cNvSpPr>
              <p:nvPr>
                <p:ph idx="1"/>
              </p:nvPr>
            </p:nvSpPr>
            <p:spPr>
              <a:xfrm>
                <a:off x="838201" y="1825624"/>
                <a:ext cx="11216148" cy="5032375"/>
              </a:xfrm>
              <a:blipFill rotWithShape="0">
                <a:blip r:embed="rId2"/>
                <a:stretch>
                  <a:fillRect l="-1142" t="-1937" r="-1033"/>
                </a:stretch>
              </a:blipFill>
            </p:spPr>
            <p:txBody>
              <a:bodyPr/>
              <a:lstStyle/>
              <a:p>
                <a:r>
                  <a:rPr lang="pt-BR">
                    <a:noFill/>
                  </a:rPr>
                  <a:t> </a:t>
                </a:r>
              </a:p>
            </p:txBody>
          </p:sp>
        </mc:Fallback>
      </mc:AlternateContent>
    </p:spTree>
    <p:extLst>
      <p:ext uri="{BB962C8B-B14F-4D97-AF65-F5344CB8AC3E}">
        <p14:creationId xmlns:p14="http://schemas.microsoft.com/office/powerpoint/2010/main" val="36897857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FEE69-E068-E1DA-235F-CA5E09C5E7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51C0860-37BF-1E91-5400-161CEB8DD61F}"/>
              </a:ext>
            </a:extLst>
          </p:cNvPr>
          <p:cNvSpPr>
            <a:spLocks noGrp="1"/>
          </p:cNvSpPr>
          <p:nvPr>
            <p:ph type="title"/>
          </p:nvPr>
        </p:nvSpPr>
        <p:spPr/>
        <p:txBody>
          <a:bodyPr/>
          <a:lstStyle/>
          <a:p>
            <a:r>
              <a:rPr lang="pt-BR" dirty="0"/>
              <a:t>Exemplo da aplicação da retropropagação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21E90DBE-E2F7-6A62-23BE-53B140536553}"/>
                  </a:ext>
                </a:extLst>
              </p:cNvPr>
              <p:cNvSpPr>
                <a:spLocks noGrp="1"/>
              </p:cNvSpPr>
              <p:nvPr>
                <p:ph idx="1"/>
              </p:nvPr>
            </p:nvSpPr>
            <p:spPr>
              <a:xfrm>
                <a:off x="838201" y="1825624"/>
                <a:ext cx="11216148" cy="5032375"/>
              </a:xfrm>
            </p:spPr>
            <p:txBody>
              <a:bodyPr>
                <a:normAutofit/>
              </a:bodyPr>
              <a:lstStyle/>
              <a:p>
                <a:r>
                  <a:rPr lang="pt-BR" dirty="0"/>
                  <a:t>A rede do exemplo possui </a:t>
                </a:r>
                <a:r>
                  <a:rPr lang="pt-BR" b="1" dirty="0">
                    <a:solidFill>
                      <a:schemeClr val="accent2"/>
                    </a:solidFill>
                  </a:rPr>
                  <a:t>uma camada oculta </a:t>
                </a:r>
                <a:r>
                  <a:rPr lang="pt-BR" dirty="0"/>
                  <a:t>com </a:t>
                </a:r>
                <a:r>
                  <a:rPr lang="pt-BR" b="1" dirty="0">
                    <a:solidFill>
                      <a:srgbClr val="00B050"/>
                    </a:solidFill>
                  </a:rPr>
                  <a:t>dois nós </a:t>
                </a:r>
                <a:r>
                  <a:rPr lang="pt-BR" dirty="0"/>
                  <a:t>e </a:t>
                </a:r>
                <a:r>
                  <a:rPr lang="pt-BR" b="1" dirty="0">
                    <a:solidFill>
                      <a:schemeClr val="accent2"/>
                    </a:solidFill>
                  </a:rPr>
                  <a:t>uma camada de saída </a:t>
                </a:r>
                <a:r>
                  <a:rPr lang="pt-BR" dirty="0"/>
                  <a:t>com </a:t>
                </a:r>
                <a:r>
                  <a:rPr lang="pt-BR" b="1" dirty="0">
                    <a:solidFill>
                      <a:srgbClr val="00B050"/>
                    </a:solidFill>
                  </a:rPr>
                  <a:t>um único nó</a:t>
                </a:r>
                <a:r>
                  <a:rPr lang="pt-BR" dirty="0"/>
                  <a:t>, i.e.,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𝑀</m:t>
                        </m:r>
                      </m:sub>
                    </m:sSub>
                    <m:r>
                      <a:rPr lang="pt-BR" b="0" i="1" smtClean="0">
                        <a:latin typeface="Cambria Math" panose="02040503050406030204" pitchFamily="18" charset="0"/>
                      </a:rPr>
                      <m:t>=1</m:t>
                    </m:r>
                  </m:oMath>
                </a14:m>
                <a:r>
                  <a:rPr lang="pt-BR" dirty="0"/>
                  <a:t> e </a:t>
                </a:r>
                <a14:m>
                  <m:oMath xmlns:m="http://schemas.openxmlformats.org/officeDocument/2006/math">
                    <m:r>
                      <a:rPr lang="pt-BR" i="1">
                        <a:latin typeface="Cambria Math" panose="02040503050406030204" pitchFamily="18" charset="0"/>
                      </a:rPr>
                      <m:t>𝑀</m:t>
                    </m:r>
                    <m:r>
                      <a:rPr lang="pt-BR" b="0" i="1" smtClean="0">
                        <a:latin typeface="Cambria Math" panose="02040503050406030204" pitchFamily="18" charset="0"/>
                      </a:rPr>
                      <m:t>=2</m:t>
                    </m:r>
                  </m:oMath>
                </a14:m>
                <a:r>
                  <a:rPr lang="pt-BR" dirty="0"/>
                  <a:t>.</a:t>
                </a:r>
              </a:p>
              <a:p>
                <a:r>
                  <a:rPr lang="pt-BR" dirty="0"/>
                  <a:t>Além disso, por motivos didáticos, vamos considerar um único exemplo de entrada</a:t>
                </a:r>
                <a14:m>
                  <m:oMath xmlns:m="http://schemas.openxmlformats.org/officeDocument/2006/math">
                    <m:r>
                      <a:rPr lang="pt-BR" b="0" i="1" smtClean="0">
                        <a:latin typeface="Cambria Math" panose="02040503050406030204" pitchFamily="18" charset="0"/>
                      </a:rPr>
                      <m:t>,</m:t>
                    </m:r>
                  </m:oMath>
                </a14:m>
                <a:r>
                  <a:rPr lang="pt-BR" dirty="0"/>
                  <a:t> </a:t>
                </a:r>
                <a14:m>
                  <m:oMath xmlns:m="http://schemas.openxmlformats.org/officeDocument/2006/math">
                    <m:r>
                      <a:rPr lang="pt-BR" b="1" i="1">
                        <a:latin typeface="Cambria Math" panose="02040503050406030204" pitchFamily="18" charset="0"/>
                      </a:rPr>
                      <m:t>𝒙</m:t>
                    </m:r>
                    <m:r>
                      <a:rPr lang="pt-BR" i="1">
                        <a:latin typeface="Cambria Math" panose="02040503050406030204" pitchFamily="18" charset="0"/>
                      </a:rPr>
                      <m:t>=</m:t>
                    </m:r>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2</m:t>
                            </m:r>
                          </m:sub>
                        </m:sSub>
                      </m:e>
                    </m:d>
                  </m:oMath>
                </a14:m>
                <a:r>
                  <a:rPr lang="pt-BR" dirty="0"/>
                  <a:t> e seu respectivo rótulo, </a:t>
                </a:r>
                <a14:m>
                  <m:oMath xmlns:m="http://schemas.openxmlformats.org/officeDocument/2006/math">
                    <m:r>
                      <a:rPr lang="pt-BR" b="0" i="1" smtClean="0">
                        <a:latin typeface="Cambria Math" panose="02040503050406030204" pitchFamily="18" charset="0"/>
                      </a:rPr>
                      <m:t>𝑦</m:t>
                    </m:r>
                  </m:oMath>
                </a14:m>
                <a:r>
                  <a:rPr lang="pt-BR" dirty="0"/>
                  <a:t>. </a:t>
                </a:r>
              </a:p>
              <a:p>
                <a:r>
                  <a:rPr lang="pt-BR" dirty="0"/>
                  <a:t>Assim,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𝑁</m:t>
                        </m:r>
                      </m:e>
                      <m:sub>
                        <m:r>
                          <m:rPr>
                            <m:sty m:val="p"/>
                          </m:rPr>
                          <a:rPr lang="pt-BR">
                            <a:latin typeface="Cambria Math" panose="02040503050406030204" pitchFamily="18" charset="0"/>
                          </a:rPr>
                          <m:t>dados</m:t>
                        </m:r>
                      </m:sub>
                    </m:sSub>
                    <m:r>
                      <a:rPr lang="pt-BR" i="1">
                        <a:latin typeface="Cambria Math" panose="02040503050406030204" pitchFamily="18" charset="0"/>
                      </a:rPr>
                      <m:t>=1</m:t>
                    </m:r>
                  </m:oMath>
                </a14:m>
                <a:r>
                  <a:rPr lang="pt-BR" dirty="0"/>
                  <a:t>, fazendo com que o erro se torne</a:t>
                </a:r>
                <a:endParaRPr lang="pt-BR" sz="900" dirty="0"/>
              </a:p>
              <a:p>
                <a:pPr marL="0" indent="0" algn="ctr">
                  <a:buNone/>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𝑒</m:t>
                          </m:r>
                        </m:e>
                        <m:sub>
                          <m:r>
                            <a:rPr lang="pt-BR" i="1">
                              <a:latin typeface="Cambria Math" panose="02040503050406030204" pitchFamily="18" charset="0"/>
                            </a:rPr>
                            <m:t>1</m:t>
                          </m:r>
                        </m:sub>
                        <m:sup>
                          <m:r>
                            <a:rPr lang="pt-BR" i="1">
                              <a:latin typeface="Cambria Math" panose="02040503050406030204" pitchFamily="18" charset="0"/>
                            </a:rPr>
                            <m:t>2</m:t>
                          </m:r>
                        </m:sup>
                      </m:sSubSup>
                      <m:r>
                        <a:rPr lang="pt-BR" b="0" i="1" smtClean="0">
                          <a:latin typeface="Cambria Math" panose="02040503050406030204" pitchFamily="18" charset="0"/>
                        </a:rPr>
                        <m:t>=</m:t>
                      </m:r>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r>
                                <a:rPr lang="pt-BR" b="0" i="1" smtClean="0">
                                  <a:latin typeface="Cambria Math" panose="02040503050406030204" pitchFamily="18" charset="0"/>
                                </a:rPr>
                                <m:t>𝑦</m:t>
                              </m:r>
                              <m:r>
                                <a:rPr lang="pt-BR" b="0" i="1" smtClean="0">
                                  <a:latin typeface="Cambria Math" panose="02040503050406030204" pitchFamily="18" charset="0"/>
                                </a:rPr>
                                <m:t> −</m:t>
                              </m:r>
                              <m:sSubSup>
                                <m:sSubSupPr>
                                  <m:ctrlPr>
                                    <a:rPr lang="pt-BR" i="1">
                                      <a:latin typeface="Cambria Math" panose="02040503050406030204" pitchFamily="18" charset="0"/>
                                    </a:rPr>
                                  </m:ctrlPr>
                                </m:sSubSup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i="1">
                                      <a:latin typeface="Cambria Math" panose="02040503050406030204" pitchFamily="18" charset="0"/>
                                    </a:rPr>
                                    <m:t>1</m:t>
                                  </m:r>
                                </m:sub>
                                <m:sup>
                                  <m:r>
                                    <a:rPr lang="pt-BR" i="1">
                                      <a:latin typeface="Cambria Math" panose="02040503050406030204" pitchFamily="18" charset="0"/>
                                    </a:rPr>
                                    <m:t>2</m:t>
                                  </m:r>
                                </m:sup>
                              </m:sSubSup>
                            </m:e>
                          </m:d>
                        </m:e>
                        <m:sup>
                          <m:r>
                            <a:rPr lang="pt-BR" i="1">
                              <a:latin typeface="Cambria Math" panose="02040503050406030204" pitchFamily="18" charset="0"/>
                            </a:rPr>
                            <m:t>2</m:t>
                          </m:r>
                        </m:sup>
                      </m:sSup>
                      <m:r>
                        <a:rPr lang="pt-BR" b="0" i="1" smtClean="0">
                          <a:latin typeface="Cambria Math" panose="02040503050406030204" pitchFamily="18" charset="0"/>
                        </a:rPr>
                        <m:t>,</m:t>
                      </m:r>
                    </m:oMath>
                  </m:oMathPara>
                </a14:m>
                <a:endParaRPr lang="pt-BR" dirty="0"/>
              </a:p>
              <a:p>
                <a:pPr marL="0" indent="0">
                  <a:buNone/>
                </a:pPr>
                <a:r>
                  <a:rPr lang="pt-BR" dirty="0"/>
                  <a:t>onde o índice </a:t>
                </a:r>
                <a14:m>
                  <m:oMath xmlns:m="http://schemas.openxmlformats.org/officeDocument/2006/math">
                    <m:r>
                      <a:rPr lang="pt-BR" i="1">
                        <a:latin typeface="Cambria Math" panose="02040503050406030204" pitchFamily="18" charset="0"/>
                      </a:rPr>
                      <m:t>𝑛</m:t>
                    </m:r>
                  </m:oMath>
                </a14:m>
                <a:r>
                  <a:rPr lang="pt-BR" dirty="0"/>
                  <a:t> não é apresentado, pois temos apenas uma amostra.</a:t>
                </a:r>
              </a:p>
              <a:p>
                <a:r>
                  <a:rPr lang="pt-BR" dirty="0"/>
                  <a:t>Assim, o gradiente é dado por</a:t>
                </a:r>
              </a:p>
              <a:p>
                <a:pPr marL="0" indent="0" algn="ctr">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𝑖</m:t>
                              </m:r>
                              <m:r>
                                <a:rPr lang="pt-BR" i="1">
                                  <a:latin typeface="Cambria Math" panose="02040503050406030204" pitchFamily="18" charset="0"/>
                                </a:rPr>
                                <m:t>,</m:t>
                              </m:r>
                              <m:r>
                                <a:rPr lang="pt-BR" i="1">
                                  <a:latin typeface="Cambria Math" panose="02040503050406030204" pitchFamily="18" charset="0"/>
                                </a:rPr>
                                <m:t>𝑗</m:t>
                              </m:r>
                            </m:sub>
                            <m:sup>
                              <m:r>
                                <a:rPr lang="pt-BR" i="1">
                                  <a:latin typeface="Cambria Math" panose="02040503050406030204" pitchFamily="18" charset="0"/>
                                </a:rPr>
                                <m:t>𝑚</m:t>
                              </m:r>
                            </m:sup>
                          </m:sSubSup>
                        </m:den>
                      </m:f>
                      <m:r>
                        <a:rPr lang="pt-BR">
                          <a:latin typeface="Cambria Math" panose="02040503050406030204" pitchFamily="18" charset="0"/>
                        </a:rPr>
                        <m:t>=</m:t>
                      </m:r>
                      <m:f>
                        <m:fPr>
                          <m:ctrlPr>
                            <a:rPr lang="pt-BR" i="1">
                              <a:latin typeface="Cambria Math" panose="02040503050406030204" pitchFamily="18" charset="0"/>
                            </a:rPr>
                          </m:ctrlPr>
                        </m:fPr>
                        <m:num>
                          <m:sSubSup>
                            <m:sSubSupPr>
                              <m:ctrlPr>
                                <a:rPr lang="pt-BR" i="1">
                                  <a:latin typeface="Cambria Math" panose="02040503050406030204" pitchFamily="18" charset="0"/>
                                </a:rPr>
                              </m:ctrlPr>
                            </m:sSubSupPr>
                            <m:e>
                              <m:r>
                                <a:rPr lang="pt-BR" i="1">
                                  <a:latin typeface="Cambria Math" panose="02040503050406030204" pitchFamily="18" charset="0"/>
                                </a:rPr>
                                <m:t>𝜕</m:t>
                              </m:r>
                              <m:r>
                                <a:rPr lang="pt-BR" i="1">
                                  <a:latin typeface="Cambria Math" panose="02040503050406030204" pitchFamily="18" charset="0"/>
                                </a:rPr>
                                <m:t>𝑒</m:t>
                              </m:r>
                            </m:e>
                            <m:sub>
                              <m:r>
                                <a:rPr lang="pt-BR" i="1">
                                  <a:latin typeface="Cambria Math" panose="02040503050406030204" pitchFamily="18" charset="0"/>
                                </a:rPr>
                                <m:t>1</m:t>
                              </m:r>
                            </m:sub>
                            <m:sup>
                              <m:r>
                                <a:rPr lang="pt-BR" i="1">
                                  <a:latin typeface="Cambria Math" panose="02040503050406030204" pitchFamily="18" charset="0"/>
                                </a:rPr>
                                <m:t>2</m:t>
                              </m:r>
                            </m:sup>
                          </m:sSubSup>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𝑖</m:t>
                              </m:r>
                              <m:r>
                                <a:rPr lang="pt-BR" i="1">
                                  <a:latin typeface="Cambria Math" panose="02040503050406030204" pitchFamily="18" charset="0"/>
                                </a:rPr>
                                <m:t>,</m:t>
                              </m:r>
                              <m:r>
                                <a:rPr lang="pt-BR" i="1">
                                  <a:latin typeface="Cambria Math" panose="02040503050406030204" pitchFamily="18" charset="0"/>
                                </a:rPr>
                                <m:t>𝑗</m:t>
                              </m:r>
                            </m:sub>
                            <m:sup>
                              <m:r>
                                <a:rPr lang="pt-BR" i="1">
                                  <a:latin typeface="Cambria Math" panose="02040503050406030204" pitchFamily="18" charset="0"/>
                                </a:rPr>
                                <m:t>𝑚</m:t>
                              </m:r>
                            </m:sup>
                          </m:sSubSup>
                        </m:den>
                      </m:f>
                      <m:r>
                        <a:rPr lang="pt-BR" b="0" i="1" smtClean="0">
                          <a:latin typeface="Cambria Math" panose="02040503050406030204" pitchFamily="18" charset="0"/>
                        </a:rPr>
                        <m:t>.</m:t>
                      </m:r>
                    </m:oMath>
                  </m:oMathPara>
                </a14:m>
                <a:endParaRPr lang="pt-BR" dirty="0"/>
              </a:p>
            </p:txBody>
          </p:sp>
        </mc:Choice>
        <mc:Fallback xmlns="">
          <p:sp>
            <p:nvSpPr>
              <p:cNvPr id="3" name="Espaço Reservado para Conteúdo 2">
                <a:extLst>
                  <a:ext uri="{FF2B5EF4-FFF2-40B4-BE49-F238E27FC236}">
                    <a16:creationId xmlns:a16="http://schemas.microsoft.com/office/drawing/2014/main" xmlns="" xmlns:a14="http://schemas.microsoft.com/office/drawing/2010/main" id="{21E90DBE-E2F7-6A62-23BE-53B140536553}"/>
                  </a:ext>
                </a:extLst>
              </p:cNvPr>
              <p:cNvSpPr>
                <a:spLocks noGrp="1" noRot="1" noChangeAspect="1" noMove="1" noResize="1" noEditPoints="1" noAdjustHandles="1" noChangeArrowheads="1" noChangeShapeType="1" noTextEdit="1"/>
              </p:cNvSpPr>
              <p:nvPr>
                <p:ph idx="1"/>
              </p:nvPr>
            </p:nvSpPr>
            <p:spPr>
              <a:xfrm>
                <a:off x="838201" y="1825624"/>
                <a:ext cx="11216148" cy="5032375"/>
              </a:xfrm>
              <a:blipFill rotWithShape="0">
                <a:blip r:embed="rId2"/>
                <a:stretch>
                  <a:fillRect l="-1142" t="-1937" r="-119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9628555" y="6116899"/>
                <a:ext cx="2563445" cy="741100"/>
              </a:xfrm>
              <a:prstGeom prst="rect">
                <a:avLst/>
              </a:prstGeom>
            </p:spPr>
            <p:txBody>
              <a:bodyPr wrap="square">
                <a:spAutoFit/>
              </a:bodyPr>
              <a:lstStyle/>
              <a:p>
                <a:pPr algn="ctr"/>
                <a:r>
                  <a:rPr lang="pt-BR" sz="1400" b="1" dirty="0"/>
                  <a:t>OBS</a:t>
                </a:r>
                <a:r>
                  <a:rPr lang="pt-BR" sz="1400" dirty="0"/>
                  <a:t>.: </a:t>
                </a:r>
                <a14:m>
                  <m:oMath xmlns:m="http://schemas.openxmlformats.org/officeDocument/2006/math">
                    <m:sSubSup>
                      <m:sSubSupPr>
                        <m:ctrlPr>
                          <a:rPr lang="pt-BR" sz="1400" i="1">
                            <a:latin typeface="Cambria Math" panose="02040503050406030204" pitchFamily="18" charset="0"/>
                          </a:rPr>
                        </m:ctrlPr>
                      </m:sSubSupPr>
                      <m:e>
                        <m:acc>
                          <m:accPr>
                            <m:chr m:val="̂"/>
                            <m:ctrlPr>
                              <a:rPr lang="pt-BR" sz="1400" i="1">
                                <a:latin typeface="Cambria Math" panose="02040503050406030204" pitchFamily="18" charset="0"/>
                              </a:rPr>
                            </m:ctrlPr>
                          </m:accPr>
                          <m:e>
                            <m:r>
                              <a:rPr lang="pt-BR" sz="1400" i="1">
                                <a:latin typeface="Cambria Math" panose="02040503050406030204" pitchFamily="18" charset="0"/>
                              </a:rPr>
                              <m:t>𝑦</m:t>
                            </m:r>
                          </m:e>
                        </m:acc>
                      </m:e>
                      <m:sub>
                        <m:r>
                          <a:rPr lang="pt-BR" sz="1400" i="1">
                            <a:latin typeface="Cambria Math" panose="02040503050406030204" pitchFamily="18" charset="0"/>
                          </a:rPr>
                          <m:t>1</m:t>
                        </m:r>
                      </m:sub>
                      <m:sup>
                        <m:r>
                          <a:rPr lang="pt-BR" sz="1400" i="1">
                            <a:latin typeface="Cambria Math" panose="02040503050406030204" pitchFamily="18" charset="0"/>
                          </a:rPr>
                          <m:t>2</m:t>
                        </m:r>
                      </m:sup>
                    </m:sSubSup>
                  </m:oMath>
                </a14:m>
                <a:r>
                  <a:rPr lang="pt-BR" sz="1400" dirty="0"/>
                  <a:t> não significa “ao quadrado”, mas sim a indicação do índice da camada.</a:t>
                </a:r>
              </a:p>
            </p:txBody>
          </p:sp>
        </mc:Choice>
        <mc:Fallback xmlns="">
          <p:sp>
            <p:nvSpPr>
              <p:cNvPr id="4" name="Rectangle 3"/>
              <p:cNvSpPr>
                <a:spLocks noRot="1" noChangeAspect="1" noMove="1" noResize="1" noEditPoints="1" noAdjustHandles="1" noChangeArrowheads="1" noChangeShapeType="1" noTextEdit="1"/>
              </p:cNvSpPr>
              <p:nvPr/>
            </p:nvSpPr>
            <p:spPr>
              <a:xfrm>
                <a:off x="9628555" y="6116899"/>
                <a:ext cx="2563445" cy="741100"/>
              </a:xfrm>
              <a:prstGeom prst="rect">
                <a:avLst/>
              </a:prstGeom>
              <a:blipFill>
                <a:blip r:embed="rId3"/>
                <a:stretch>
                  <a:fillRect r="-475" b="-8197"/>
                </a:stretch>
              </a:blipFill>
            </p:spPr>
            <p:txBody>
              <a:bodyPr/>
              <a:lstStyle/>
              <a:p>
                <a:r>
                  <a:rPr lang="en-US">
                    <a:noFill/>
                  </a:rPr>
                  <a:t> </a:t>
                </a:r>
              </a:p>
            </p:txBody>
          </p:sp>
        </mc:Fallback>
      </mc:AlternateContent>
    </p:spTree>
    <p:extLst>
      <p:ext uri="{BB962C8B-B14F-4D97-AF65-F5344CB8AC3E}">
        <p14:creationId xmlns:p14="http://schemas.microsoft.com/office/powerpoint/2010/main" val="26095710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0819F1-A412-CAFD-E89E-65FC450B44D5}"/>
              </a:ext>
            </a:extLst>
          </p:cNvPr>
          <p:cNvSpPr>
            <a:spLocks noGrp="1"/>
          </p:cNvSpPr>
          <p:nvPr>
            <p:ph type="title"/>
          </p:nvPr>
        </p:nvSpPr>
        <p:spPr/>
        <p:txBody>
          <a:bodyPr/>
          <a:lstStyle/>
          <a:p>
            <a:r>
              <a:rPr lang="pt-BR" dirty="0"/>
              <a:t>Exemplo da aplicação da retropropagação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AA5869CA-BCE3-3D01-FEAF-9AD088F17496}"/>
                  </a:ext>
                </a:extLst>
              </p:cNvPr>
              <p:cNvSpPr>
                <a:spLocks noGrp="1"/>
              </p:cNvSpPr>
              <p:nvPr>
                <p:ph idx="1"/>
              </p:nvPr>
            </p:nvSpPr>
            <p:spPr>
              <a:xfrm>
                <a:off x="5153668" y="1825624"/>
                <a:ext cx="6900680" cy="5032375"/>
              </a:xfrm>
            </p:spPr>
            <p:txBody>
              <a:bodyPr>
                <a:normAutofit/>
              </a:bodyPr>
              <a:lstStyle/>
              <a:p>
                <a:r>
                  <a:rPr lang="pt-BR" dirty="0"/>
                  <a:t>Vamos supor que os pesos de todos os nós são </a:t>
                </a:r>
                <a:r>
                  <a:rPr lang="pt-BR" b="1" dirty="0">
                    <a:solidFill>
                      <a:schemeClr val="accent2"/>
                    </a:solidFill>
                  </a:rPr>
                  <a:t>inicializados de forma aleatória</a:t>
                </a:r>
                <a:r>
                  <a:rPr lang="pt-BR" dirty="0"/>
                  <a:t>.</a:t>
                </a:r>
              </a:p>
              <a:p>
                <a:r>
                  <a:rPr lang="pt-BR" dirty="0"/>
                  <a:t>Assim, quando a entrada, </a:t>
                </a:r>
                <a14:m>
                  <m:oMath xmlns:m="http://schemas.openxmlformats.org/officeDocument/2006/math">
                    <m:r>
                      <a:rPr lang="pt-BR" b="1" i="1">
                        <a:latin typeface="Cambria Math" panose="02040503050406030204" pitchFamily="18" charset="0"/>
                      </a:rPr>
                      <m:t>𝒙</m:t>
                    </m:r>
                  </m:oMath>
                </a14:m>
                <a:r>
                  <a:rPr lang="pt-BR" dirty="0"/>
                  <a:t>, é apresentada à rede, é possível calcular todos os valores de interesse ao longo dela até sua saída.</a:t>
                </a:r>
              </a:p>
              <a:p>
                <a:r>
                  <a:rPr lang="pt-BR" dirty="0"/>
                  <a:t>Consequentemente, tendo o valor de saída, conseguimos calcular o erro.</a:t>
                </a:r>
              </a:p>
              <a:p>
                <a:r>
                  <a:rPr lang="pt-BR" dirty="0"/>
                  <a:t>Essa é a etapa </a:t>
                </a:r>
                <a:r>
                  <a:rPr lang="pt-BR" b="1" dirty="0"/>
                  <a:t>direta</a:t>
                </a:r>
                <a:r>
                  <a:rPr lang="pt-BR" dirty="0"/>
                  <a:t> (</a:t>
                </a:r>
                <a:r>
                  <a:rPr lang="pt-BR" b="1" i="1" dirty="0" err="1"/>
                  <a:t>forward</a:t>
                </a:r>
                <a:r>
                  <a:rPr lang="pt-BR" dirty="0"/>
                  <a:t>).</a:t>
                </a:r>
              </a:p>
              <a:p>
                <a:r>
                  <a:rPr lang="pt-BR" dirty="0"/>
                  <a:t>Agora, na etapa reversa, calculamos a derivada do erro em relação aos pesos.</a:t>
                </a:r>
              </a:p>
            </p:txBody>
          </p:sp>
        </mc:Choice>
        <mc:Fallback xmlns="">
          <p:sp>
            <p:nvSpPr>
              <p:cNvPr id="3" name="Espaço Reservado para Conteúdo 2">
                <a:extLst>
                  <a:ext uri="{FF2B5EF4-FFF2-40B4-BE49-F238E27FC236}">
                    <a16:creationId xmlns:a16="http://schemas.microsoft.com/office/drawing/2014/main" id="{AA5869CA-BCE3-3D01-FEAF-9AD088F17496}"/>
                  </a:ext>
                </a:extLst>
              </p:cNvPr>
              <p:cNvSpPr>
                <a:spLocks noGrp="1" noRot="1" noChangeAspect="1" noMove="1" noResize="1" noEditPoints="1" noAdjustHandles="1" noChangeArrowheads="1" noChangeShapeType="1" noTextEdit="1"/>
              </p:cNvSpPr>
              <p:nvPr>
                <p:ph idx="1"/>
              </p:nvPr>
            </p:nvSpPr>
            <p:spPr>
              <a:xfrm>
                <a:off x="5153668" y="1825624"/>
                <a:ext cx="6900680" cy="5032375"/>
              </a:xfrm>
              <a:blipFill>
                <a:blip r:embed="rId2"/>
                <a:stretch>
                  <a:fillRect l="-1590" t="-1937" r="-2208"/>
                </a:stretch>
              </a:blipFill>
            </p:spPr>
            <p:txBody>
              <a:bodyPr/>
              <a:lstStyle/>
              <a:p>
                <a:r>
                  <a:rPr lang="en-US">
                    <a:noFill/>
                  </a:rPr>
                  <a:t> </a:t>
                </a:r>
              </a:p>
            </p:txBody>
          </p:sp>
        </mc:Fallback>
      </mc:AlternateContent>
      <p:grpSp>
        <p:nvGrpSpPr>
          <p:cNvPr id="4" name="Agrupar 3">
            <a:extLst>
              <a:ext uri="{FF2B5EF4-FFF2-40B4-BE49-F238E27FC236}">
                <a16:creationId xmlns:a16="http://schemas.microsoft.com/office/drawing/2014/main" id="{BCE8B423-576F-E2F8-7B15-7838E17243F0}"/>
              </a:ext>
            </a:extLst>
          </p:cNvPr>
          <p:cNvGrpSpPr/>
          <p:nvPr/>
        </p:nvGrpSpPr>
        <p:grpSpPr>
          <a:xfrm>
            <a:off x="478120" y="2301964"/>
            <a:ext cx="4210068" cy="2799055"/>
            <a:chOff x="7143732" y="2250757"/>
            <a:chExt cx="4210068" cy="2799055"/>
          </a:xfrm>
        </p:grpSpPr>
        <p:pic>
          <p:nvPicPr>
            <p:cNvPr id="5" name="Picture 4">
              <a:extLst>
                <a:ext uri="{FF2B5EF4-FFF2-40B4-BE49-F238E27FC236}">
                  <a16:creationId xmlns:a16="http://schemas.microsoft.com/office/drawing/2014/main" id="{4D4EC30E-0CD6-E24D-6C6D-44596BEC404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56"/>
            <a:stretch/>
          </p:blipFill>
          <p:spPr>
            <a:xfrm>
              <a:off x="7143732" y="2505020"/>
              <a:ext cx="4210068" cy="2544792"/>
            </a:xfrm>
            <a:prstGeom prst="rect">
              <a:avLst/>
            </a:prstGeom>
          </p:spPr>
        </p:pic>
        <p:sp>
          <p:nvSpPr>
            <p:cNvPr id="6" name="CaixaDeTexto 5">
              <a:extLst>
                <a:ext uri="{FF2B5EF4-FFF2-40B4-BE49-F238E27FC236}">
                  <a16:creationId xmlns:a16="http://schemas.microsoft.com/office/drawing/2014/main" id="{97B53FEE-6A8F-99FB-24A9-DB996D3BEBE9}"/>
                </a:ext>
              </a:extLst>
            </p:cNvPr>
            <p:cNvSpPr txBox="1"/>
            <p:nvPr/>
          </p:nvSpPr>
          <p:spPr>
            <a:xfrm>
              <a:off x="7669763" y="2250757"/>
              <a:ext cx="1948069" cy="307777"/>
            </a:xfrm>
            <a:prstGeom prst="rect">
              <a:avLst/>
            </a:prstGeom>
            <a:noFill/>
          </p:spPr>
          <p:txBody>
            <a:bodyPr wrap="square" rtlCol="0">
              <a:spAutoFit/>
            </a:bodyPr>
            <a:lstStyle/>
            <a:p>
              <a:pPr algn="ctr"/>
              <a:r>
                <a:rPr lang="pt-BR" sz="1400" dirty="0"/>
                <a:t>Camada oculta</a:t>
              </a:r>
            </a:p>
          </p:txBody>
        </p:sp>
        <p:sp>
          <p:nvSpPr>
            <p:cNvPr id="7" name="CaixaDeTexto 6">
              <a:extLst>
                <a:ext uri="{FF2B5EF4-FFF2-40B4-BE49-F238E27FC236}">
                  <a16:creationId xmlns:a16="http://schemas.microsoft.com/office/drawing/2014/main" id="{8328C594-DB14-ABFD-09EB-7478AAF9D6F1}"/>
                </a:ext>
              </a:extLst>
            </p:cNvPr>
            <p:cNvSpPr txBox="1"/>
            <p:nvPr/>
          </p:nvSpPr>
          <p:spPr>
            <a:xfrm>
              <a:off x="9350351" y="2920822"/>
              <a:ext cx="1938132" cy="307777"/>
            </a:xfrm>
            <a:prstGeom prst="rect">
              <a:avLst/>
            </a:prstGeom>
            <a:noFill/>
          </p:spPr>
          <p:txBody>
            <a:bodyPr wrap="square" rtlCol="0">
              <a:spAutoFit/>
            </a:bodyPr>
            <a:lstStyle/>
            <a:p>
              <a:pPr algn="ctr"/>
              <a:r>
                <a:rPr lang="pt-BR" sz="1400" dirty="0"/>
                <a:t>Camada de saída</a:t>
              </a:r>
            </a:p>
          </p:txBody>
        </p:sp>
        <p:sp>
          <p:nvSpPr>
            <p:cNvPr id="8" name="Elipse 7">
              <a:extLst>
                <a:ext uri="{FF2B5EF4-FFF2-40B4-BE49-F238E27FC236}">
                  <a16:creationId xmlns:a16="http://schemas.microsoft.com/office/drawing/2014/main" id="{5F0E7574-BB78-6327-AE66-8879A9C3F18D}"/>
                </a:ext>
              </a:extLst>
            </p:cNvPr>
            <p:cNvSpPr/>
            <p:nvPr/>
          </p:nvSpPr>
          <p:spPr>
            <a:xfrm>
              <a:off x="7949681" y="2558876"/>
              <a:ext cx="326571" cy="29019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a:extLst>
                <a:ext uri="{FF2B5EF4-FFF2-40B4-BE49-F238E27FC236}">
                  <a16:creationId xmlns:a16="http://schemas.microsoft.com/office/drawing/2014/main" id="{03065243-86EC-CCD4-294A-FD421FF83B0C}"/>
                </a:ext>
              </a:extLst>
            </p:cNvPr>
            <p:cNvSpPr/>
            <p:nvPr/>
          </p:nvSpPr>
          <p:spPr>
            <a:xfrm>
              <a:off x="7949680" y="3237930"/>
              <a:ext cx="326571" cy="29019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a:extLst>
                <a:ext uri="{FF2B5EF4-FFF2-40B4-BE49-F238E27FC236}">
                  <a16:creationId xmlns:a16="http://schemas.microsoft.com/office/drawing/2014/main" id="{606317D0-23D2-B580-7B10-0B388B98ABBA}"/>
                </a:ext>
              </a:extLst>
            </p:cNvPr>
            <p:cNvSpPr/>
            <p:nvPr/>
          </p:nvSpPr>
          <p:spPr>
            <a:xfrm>
              <a:off x="8480511" y="2819221"/>
              <a:ext cx="326571" cy="29019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9361466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 da aplicação da retropropagação</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11353799" cy="5032376"/>
              </a:xfrm>
            </p:spPr>
            <p:txBody>
              <a:bodyPr>
                <a:normAutofit/>
              </a:bodyPr>
              <a:lstStyle/>
              <a:p>
                <a:r>
                  <a:rPr lang="pt-BR" dirty="0"/>
                  <a:t>Aplicando a regra da cadeia, a derivada parcial do erro em relação ao peso </a:t>
                </a:r>
                <a14:m>
                  <m:oMath xmlns:m="http://schemas.openxmlformats.org/officeDocument/2006/math">
                    <m:sSubSup>
                      <m:sSubSupPr>
                        <m:ctrlPr>
                          <a:rPr lang="pt-BR" sz="2800" i="1">
                            <a:latin typeface="Cambria Math" panose="02040503050406030204" pitchFamily="18" charset="0"/>
                          </a:rPr>
                        </m:ctrlPr>
                      </m:sSubSupPr>
                      <m:e>
                        <m:r>
                          <a:rPr lang="pt-BR" sz="2800" i="1">
                            <a:latin typeface="Cambria Math" panose="02040503050406030204" pitchFamily="18" charset="0"/>
                          </a:rPr>
                          <m:t>𝑤</m:t>
                        </m:r>
                      </m:e>
                      <m:sub>
                        <m:r>
                          <a:rPr lang="pt-BR" sz="2800" i="1">
                            <a:latin typeface="Cambria Math" panose="02040503050406030204" pitchFamily="18" charset="0"/>
                          </a:rPr>
                          <m:t>1,1</m:t>
                        </m:r>
                      </m:sub>
                      <m:sup>
                        <m:r>
                          <a:rPr lang="pt-BR" sz="2800" i="1">
                            <a:latin typeface="Cambria Math" panose="02040503050406030204" pitchFamily="18" charset="0"/>
                          </a:rPr>
                          <m:t>1</m:t>
                        </m:r>
                      </m:sup>
                    </m:sSubSup>
                  </m:oMath>
                </a14:m>
                <a:r>
                  <a:rPr lang="pt-BR" dirty="0"/>
                  <a:t> é dada por</a:t>
                </a:r>
                <a:endParaRPr lang="pt-BR" sz="800" dirty="0"/>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1,1</m:t>
                              </m:r>
                            </m:sub>
                            <m:sup>
                              <m:r>
                                <a:rPr lang="pt-BR" i="1">
                                  <a:latin typeface="Cambria Math" panose="02040503050406030204" pitchFamily="18" charset="0"/>
                                </a:rPr>
                                <m:t>1</m:t>
                              </m:r>
                            </m:sup>
                          </m:sSubSup>
                        </m:den>
                      </m:f>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r>
                                    <a:rPr lang="pt-BR" b="0" i="1" smtClean="0">
                                      <a:latin typeface="Cambria Math" panose="02040503050406030204" pitchFamily="18" charset="0"/>
                                    </a:rPr>
                                    <m:t>𝑦</m:t>
                                  </m:r>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2</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e>
                                  </m:d>
                                </m:e>
                              </m:d>
                            </m:e>
                            <m:sup>
                              <m:r>
                                <a:rPr lang="pt-BR" i="1">
                                  <a:latin typeface="Cambria Math" panose="02040503050406030204" pitchFamily="18" charset="0"/>
                                </a:rPr>
                                <m:t>2</m:t>
                              </m:r>
                            </m:sup>
                          </m:sSup>
                        </m:num>
                        <m:den>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2</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e>
                          </m:d>
                        </m:den>
                      </m:f>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2</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e>
                          </m:d>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den>
                      </m:f>
                      <m:f>
                        <m:fPr>
                          <m:ctrlPr>
                            <a:rPr lang="pt-BR" i="1">
                              <a:latin typeface="Cambria Math" panose="02040503050406030204" pitchFamily="18" charset="0"/>
                            </a:rPr>
                          </m:ctrlPr>
                        </m:fPr>
                        <m:num>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num>
                        <m:den>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1</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1</m:t>
                                  </m:r>
                                </m:sup>
                              </m:sSubSup>
                            </m:e>
                          </m:d>
                        </m:den>
                      </m:f>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1</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1</m:t>
                                  </m:r>
                                </m:sup>
                              </m:sSubSup>
                            </m:e>
                          </m:d>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1</m:t>
                              </m:r>
                            </m:sup>
                          </m:sSubSup>
                        </m:den>
                      </m:f>
                      <m:f>
                        <m:fPr>
                          <m:ctrlPr>
                            <a:rPr lang="pt-BR" i="1">
                              <a:latin typeface="Cambria Math" panose="02040503050406030204" pitchFamily="18" charset="0"/>
                            </a:rPr>
                          </m:ctrlPr>
                        </m:fPr>
                        <m:num>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1</m:t>
                              </m:r>
                            </m:sup>
                          </m:sSubSup>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1,1</m:t>
                              </m:r>
                            </m:sub>
                            <m:sup>
                              <m:r>
                                <a:rPr lang="pt-BR" i="1">
                                  <a:latin typeface="Cambria Math" panose="02040503050406030204" pitchFamily="18" charset="0"/>
                                </a:rPr>
                                <m:t>1</m:t>
                              </m:r>
                            </m:sup>
                          </m:sSubSup>
                        </m:den>
                      </m:f>
                      <m:r>
                        <a:rPr lang="pt-BR" b="0" i="1" smtClean="0">
                          <a:latin typeface="Cambria Math" panose="02040503050406030204" pitchFamily="18" charset="0"/>
                        </a:rPr>
                        <m:t>.</m:t>
                      </m:r>
                    </m:oMath>
                  </m:oMathPara>
                </a14:m>
                <a:endParaRPr lang="pt-BR" dirty="0"/>
              </a:p>
              <a:p>
                <a:r>
                  <a:rPr lang="pt-BR" dirty="0"/>
                  <a:t>Resolvendo as derivadas parciais, temos</a:t>
                </a: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1,1</m:t>
                              </m:r>
                            </m:sub>
                            <m:sup>
                              <m:r>
                                <a:rPr lang="pt-BR" i="1">
                                  <a:latin typeface="Cambria Math" panose="02040503050406030204" pitchFamily="18" charset="0"/>
                                </a:rPr>
                                <m:t>1</m:t>
                              </m:r>
                            </m:sup>
                          </m:sSubSup>
                        </m:den>
                      </m:f>
                      <m:r>
                        <a:rPr lang="pt-BR" i="1">
                          <a:latin typeface="Cambria Math" panose="02040503050406030204" pitchFamily="18" charset="0"/>
                        </a:rPr>
                        <m:t>=−2</m:t>
                      </m:r>
                      <m:d>
                        <m:dPr>
                          <m:ctrlPr>
                            <a:rPr lang="pt-BR" b="0" i="1" smtClean="0">
                              <a:latin typeface="Cambria Math" panose="02040503050406030204" pitchFamily="18" charset="0"/>
                            </a:rPr>
                          </m:ctrlPr>
                        </m:dPr>
                        <m:e>
                          <m:r>
                            <a:rPr lang="pt-BR" b="0" i="1" smtClean="0">
                              <a:latin typeface="Cambria Math" panose="02040503050406030204" pitchFamily="18" charset="0"/>
                            </a:rPr>
                            <m:t>𝑦</m:t>
                          </m:r>
                          <m:r>
                            <a:rPr lang="pt-BR" i="1">
                              <a:latin typeface="Cambria Math" panose="02040503050406030204" pitchFamily="18" charset="0"/>
                            </a:rPr>
                            <m:t>−</m:t>
                          </m:r>
                          <m:limLow>
                            <m:limLowPr>
                              <m:ctrlPr>
                                <a:rPr lang="pt-BR" i="1">
                                  <a:latin typeface="Cambria Math" panose="02040503050406030204" pitchFamily="18" charset="0"/>
                                </a:rPr>
                              </m:ctrlPr>
                            </m:limLowPr>
                            <m:e>
                              <m:groupChr>
                                <m:groupChrPr>
                                  <m:chr m:val="⏟"/>
                                  <m:pos m:val="bot"/>
                                  <m:vertJc m:val="top"/>
                                  <m:ctrlPr>
                                    <a:rPr lang="pt-BR" i="1">
                                      <a:latin typeface="Cambria Math" panose="02040503050406030204" pitchFamily="18" charset="0"/>
                                    </a:rPr>
                                  </m:ctrlPr>
                                </m:groupChrPr>
                                <m:e>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2</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e>
                                  </m:d>
                                </m:e>
                              </m:groupChr>
                            </m:e>
                            <m:lim>
                              <m:sSubSup>
                                <m:sSubSupPr>
                                  <m:ctrlPr>
                                    <a:rPr lang="pt-BR" i="1">
                                      <a:latin typeface="Cambria Math" panose="02040503050406030204" pitchFamily="18" charset="0"/>
                                    </a:rPr>
                                  </m:ctrlPr>
                                </m:sSubSup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i="1">
                                      <a:latin typeface="Cambria Math" panose="02040503050406030204" pitchFamily="18" charset="0"/>
                                    </a:rPr>
                                    <m:t>1</m:t>
                                  </m:r>
                                </m:sub>
                                <m:sup>
                                  <m:r>
                                    <a:rPr lang="pt-BR" i="1">
                                      <a:latin typeface="Cambria Math" panose="02040503050406030204" pitchFamily="18" charset="0"/>
                                    </a:rPr>
                                    <m:t>2</m:t>
                                  </m:r>
                                </m:sup>
                              </m:sSubSup>
                            </m:lim>
                          </m:limLow>
                        </m:e>
                      </m:d>
                      <m:sSup>
                        <m:sSupPr>
                          <m:ctrlPr>
                            <a:rPr lang="pt-BR" i="1">
                              <a:latin typeface="Cambria Math" panose="02040503050406030204" pitchFamily="18" charset="0"/>
                            </a:rPr>
                          </m:ctrlPr>
                        </m:sSupPr>
                        <m:e>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m:t>
                              </m:r>
                            </m:sup>
                          </m:sSup>
                        </m:e>
                        <m:sup>
                          <m:r>
                            <a:rPr lang="pt-BR" i="1">
                              <a:latin typeface="Cambria Math" panose="02040503050406030204" pitchFamily="18" charset="0"/>
                            </a:rPr>
                            <m:t>2</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e>
                      </m:d>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1,1</m:t>
                          </m:r>
                        </m:sub>
                        <m:sup>
                          <m:r>
                            <a:rPr lang="pt-BR" i="1">
                              <a:latin typeface="Cambria Math" panose="02040503050406030204" pitchFamily="18" charset="0"/>
                            </a:rPr>
                            <m:t>2</m:t>
                          </m:r>
                        </m:sup>
                      </m:sSubSup>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′1</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1</m:t>
                              </m:r>
                            </m:sup>
                          </m:sSubSup>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b="0" i="1" smtClean="0">
                          <a:latin typeface="Cambria Math" panose="02040503050406030204" pitchFamily="18" charset="0"/>
                        </a:rPr>
                        <m:t>,</m:t>
                      </m:r>
                    </m:oMath>
                  </m:oMathPara>
                </a14:m>
                <a:endParaRPr lang="pt-BR" b="0" dirty="0"/>
              </a:p>
              <a:p>
                <a:pPr marL="0" indent="0">
                  <a:buNone/>
                </a:pPr>
                <a:r>
                  <a:rPr lang="pt-BR" dirty="0"/>
                  <a:t>onde </a:t>
                </a:r>
                <a14:m>
                  <m:oMath xmlns:m="http://schemas.openxmlformats.org/officeDocument/2006/math">
                    <m:sSup>
                      <m:sSupPr>
                        <m:ctrlPr>
                          <a:rPr lang="pt-BR" i="1">
                            <a:latin typeface="Cambria Math" panose="02040503050406030204" pitchFamily="18" charset="0"/>
                          </a:rPr>
                        </m:ctrlPr>
                      </m:sSupPr>
                      <m:e>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m:t>
                            </m:r>
                          </m:sup>
                        </m:sSup>
                      </m:e>
                      <m:sup>
                        <m:r>
                          <a:rPr lang="pt-BR" b="0" i="1" smtClean="0">
                            <a:latin typeface="Cambria Math" panose="02040503050406030204" pitchFamily="18" charset="0"/>
                          </a:rPr>
                          <m:t>𝑚</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b="0" i="1" smtClean="0">
                                <a:latin typeface="Cambria Math" panose="02040503050406030204" pitchFamily="18" charset="0"/>
                              </a:rPr>
                              <m:t>𝑖</m:t>
                            </m:r>
                          </m:sub>
                          <m:sup>
                            <m:r>
                              <a:rPr lang="pt-BR" b="0" i="1" smtClean="0">
                                <a:latin typeface="Cambria Math" panose="02040503050406030204" pitchFamily="18" charset="0"/>
                              </a:rPr>
                              <m:t>𝑚</m:t>
                            </m:r>
                          </m:sup>
                        </m:sSubSup>
                      </m:e>
                    </m:d>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b="0" i="1" smtClean="0">
                                <a:latin typeface="Cambria Math" panose="02040503050406030204" pitchFamily="18" charset="0"/>
                              </a:rPr>
                              <m:t>𝑚</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b="0" i="1" smtClean="0">
                                    <a:latin typeface="Cambria Math" panose="02040503050406030204" pitchFamily="18" charset="0"/>
                                  </a:rPr>
                                  <m:t>𝑖</m:t>
                                </m:r>
                              </m:sub>
                              <m:sup>
                                <m:r>
                                  <a:rPr lang="pt-BR" b="0" i="1" smtClean="0">
                                    <a:latin typeface="Cambria Math" panose="02040503050406030204" pitchFamily="18" charset="0"/>
                                  </a:rPr>
                                  <m:t>𝑚</m:t>
                                </m:r>
                              </m:sup>
                            </m:sSubSup>
                          </m:e>
                        </m:d>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b="0" i="1" smtClean="0">
                                <a:latin typeface="Cambria Math" panose="02040503050406030204" pitchFamily="18" charset="0"/>
                              </a:rPr>
                              <m:t>𝑖</m:t>
                            </m:r>
                          </m:sub>
                          <m:sup>
                            <m:r>
                              <a:rPr lang="pt-BR" b="0" i="1" smtClean="0">
                                <a:latin typeface="Cambria Math" panose="02040503050406030204" pitchFamily="18" charset="0"/>
                              </a:rPr>
                              <m:t>𝑚</m:t>
                            </m:r>
                          </m:sup>
                        </m:sSubSup>
                      </m:den>
                    </m:f>
                  </m:oMath>
                </a14:m>
                <a:r>
                  <a:rPr lang="pt-BR" dirty="0"/>
                  <a:t> é a derivada parcial da função de ativação do </a:t>
                </a:r>
                <a14:m>
                  <m:oMath xmlns:m="http://schemas.openxmlformats.org/officeDocument/2006/math">
                    <m:r>
                      <a:rPr lang="pt-BR" b="0" i="1" smtClean="0">
                        <a:latin typeface="Cambria Math" panose="02040503050406030204" pitchFamily="18" charset="0"/>
                      </a:rPr>
                      <m:t>𝑖</m:t>
                    </m:r>
                  </m:oMath>
                </a14:m>
                <a:r>
                  <a:rPr lang="pt-BR" dirty="0"/>
                  <a:t>-</a:t>
                </a:r>
                <a:r>
                  <a:rPr lang="pt-BR" dirty="0" err="1"/>
                  <a:t>ésimo</a:t>
                </a:r>
                <a:r>
                  <a:rPr lang="pt-BR" dirty="0"/>
                  <a:t> nó da </a:t>
                </a:r>
                <a14:m>
                  <m:oMath xmlns:m="http://schemas.openxmlformats.org/officeDocument/2006/math">
                    <m:r>
                      <a:rPr lang="pt-BR" b="0" i="1" smtClean="0">
                        <a:latin typeface="Cambria Math" panose="02040503050406030204" pitchFamily="18" charset="0"/>
                      </a:rPr>
                      <m:t>𝑚</m:t>
                    </m:r>
                  </m:oMath>
                </a14:m>
                <a:r>
                  <a:rPr lang="pt-BR" dirty="0"/>
                  <a:t>-</a:t>
                </a:r>
                <a:r>
                  <a:rPr lang="pt-BR" dirty="0" err="1"/>
                  <a:t>ésima</a:t>
                </a:r>
                <a:r>
                  <a:rPr lang="pt-BR" dirty="0"/>
                  <a:t> camada em relação a sua ativação.</a:t>
                </a:r>
              </a:p>
              <a:p>
                <a:pPr marL="0" indent="0">
                  <a:buNone/>
                </a:pPr>
                <a:endParaRPr lang="pt-BR" sz="2200" dirty="0"/>
              </a:p>
              <a:p>
                <a:pPr marL="0" indent="0">
                  <a:buNone/>
                </a:pPr>
                <a:endParaRPr lang="pt-BR" sz="2200" i="1" dirty="0">
                  <a:latin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11353799" cy="5032376"/>
              </a:xfrm>
              <a:blipFill rotWithShape="0">
                <a:blip r:embed="rId2"/>
                <a:stretch>
                  <a:fillRect l="-1128" t="-1937"/>
                </a:stretch>
              </a:blipFill>
            </p:spPr>
            <p:txBody>
              <a:bodyPr/>
              <a:lstStyle/>
              <a:p>
                <a:r>
                  <a:rPr lang="pt-BR">
                    <a:noFill/>
                  </a:rPr>
                  <a:t> </a:t>
                </a:r>
              </a:p>
            </p:txBody>
          </p:sp>
        </mc:Fallback>
      </mc:AlternateContent>
    </p:spTree>
    <p:extLst>
      <p:ext uri="{BB962C8B-B14F-4D97-AF65-F5344CB8AC3E}">
        <p14:creationId xmlns:p14="http://schemas.microsoft.com/office/powerpoint/2010/main" val="26652492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 da aplicação da retropropagação</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825624"/>
                <a:ext cx="11353800" cy="5032376"/>
              </a:xfrm>
            </p:spPr>
            <p:txBody>
              <a:bodyPr/>
              <a:lstStyle/>
              <a:p>
                <a:r>
                  <a:rPr lang="pt-BR" dirty="0"/>
                  <a:t>Aplicando-se o mesmo procedimento aos outros pesos, obtemos</a:t>
                </a: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1,1</m:t>
                              </m:r>
                            </m:sub>
                            <m:sup>
                              <m:r>
                                <a:rPr lang="pt-BR" i="1">
                                  <a:latin typeface="Cambria Math" panose="02040503050406030204" pitchFamily="18" charset="0"/>
                                </a:rPr>
                                <m:t>1</m:t>
                              </m:r>
                            </m:sup>
                          </m:sSubSup>
                        </m:den>
                      </m:f>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b="0" i="1" smtClean="0">
                                  <a:latin typeface="Cambria Math" panose="02040503050406030204" pitchFamily="18" charset="0"/>
                                </a:rPr>
                              </m:ctrlPr>
                            </m:sSupPr>
                            <m:e>
                              <m:r>
                                <a:rPr lang="pt-BR" b="0" i="1" smtClean="0">
                                  <a:latin typeface="Cambria Math" panose="02040503050406030204" pitchFamily="18" charset="0"/>
                                </a:rPr>
                                <m:t>𝑒</m:t>
                              </m:r>
                            </m:e>
                            <m:sup>
                              <m:r>
                                <a:rPr lang="pt-BR" b="0" i="1" smtClean="0">
                                  <a:latin typeface="Cambria Math" panose="02040503050406030204" pitchFamily="18" charset="0"/>
                                </a:rPr>
                                <m:t>2</m:t>
                              </m:r>
                            </m:sup>
                          </m:sSup>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1,1</m:t>
                              </m:r>
                            </m:sub>
                            <m:sup>
                              <m:r>
                                <a:rPr lang="pt-BR" i="1">
                                  <a:latin typeface="Cambria Math" panose="02040503050406030204" pitchFamily="18" charset="0"/>
                                </a:rPr>
                                <m:t>1</m:t>
                              </m:r>
                            </m:sup>
                          </m:sSubSup>
                        </m:den>
                      </m:f>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r>
                                    <a:rPr lang="pt-BR" b="0" i="1" smtClean="0">
                                      <a:latin typeface="Cambria Math" panose="02040503050406030204" pitchFamily="18" charset="0"/>
                                    </a:rPr>
                                    <m:t>𝑦</m:t>
                                  </m:r>
                                  <m:r>
                                    <a:rPr lang="pt-BR" b="0" i="1" smtClean="0">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b="0" i="1" smtClean="0">
                                          <a:latin typeface="Cambria Math" panose="02040503050406030204" pitchFamily="18" charset="0"/>
                                        </a:rPr>
                                        <m:t>2</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e>
                                  </m:d>
                                </m:e>
                              </m:d>
                            </m:e>
                            <m:sup>
                              <m:r>
                                <a:rPr lang="pt-BR" b="0" i="1" smtClean="0">
                                  <a:latin typeface="Cambria Math" panose="02040503050406030204" pitchFamily="18" charset="0"/>
                                </a:rPr>
                                <m:t>2</m:t>
                              </m:r>
                            </m:sup>
                          </m:sSup>
                        </m:num>
                        <m:den>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2</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e>
                          </m:d>
                        </m:den>
                      </m:f>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2</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e>
                          </m:d>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den>
                      </m:f>
                      <m:f>
                        <m:fPr>
                          <m:ctrlPr>
                            <a:rPr lang="pt-BR" i="1">
                              <a:latin typeface="Cambria Math" panose="02040503050406030204" pitchFamily="18" charset="0"/>
                            </a:rPr>
                          </m:ctrlPr>
                        </m:fPr>
                        <m:num>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num>
                        <m:den>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b="0" i="1" smtClean="0">
                                  <a:latin typeface="Cambria Math" panose="02040503050406030204" pitchFamily="18" charset="0"/>
                                </a:rPr>
                                <m:t>1</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b="0" i="1" smtClean="0">
                                      <a:latin typeface="Cambria Math" panose="02040503050406030204" pitchFamily="18" charset="0"/>
                                    </a:rPr>
                                    <m:t>1</m:t>
                                  </m:r>
                                </m:sup>
                              </m:sSubSup>
                            </m:e>
                          </m:d>
                        </m:den>
                      </m:f>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1</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1</m:t>
                                  </m:r>
                                </m:sup>
                              </m:sSubSup>
                            </m:e>
                          </m:d>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b="0" i="1" smtClean="0">
                                  <a:latin typeface="Cambria Math" panose="02040503050406030204" pitchFamily="18" charset="0"/>
                                </a:rPr>
                                <m:t>1</m:t>
                              </m:r>
                            </m:sup>
                          </m:sSubSup>
                        </m:den>
                      </m:f>
                      <m:f>
                        <m:fPr>
                          <m:ctrlPr>
                            <a:rPr lang="pt-BR" i="1">
                              <a:latin typeface="Cambria Math" panose="02040503050406030204" pitchFamily="18" charset="0"/>
                            </a:rPr>
                          </m:ctrlPr>
                        </m:fPr>
                        <m:num>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b="0" i="1" smtClean="0">
                                  <a:latin typeface="Cambria Math" panose="02040503050406030204" pitchFamily="18" charset="0"/>
                                </a:rPr>
                                <m:t>1</m:t>
                              </m:r>
                            </m:sup>
                          </m:sSubSup>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1,1</m:t>
                              </m:r>
                            </m:sub>
                            <m:sup>
                              <m:r>
                                <a:rPr lang="pt-BR" i="1">
                                  <a:latin typeface="Cambria Math" panose="02040503050406030204" pitchFamily="18" charset="0"/>
                                </a:rPr>
                                <m:t>1</m:t>
                              </m:r>
                            </m:sup>
                          </m:sSubSup>
                        </m:den>
                      </m:f>
                    </m:oMath>
                  </m:oMathPara>
                </a14:m>
                <a:endParaRPr lang="pt-BR" dirty="0"/>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m:t>
                              </m:r>
                              <m:r>
                                <a:rPr lang="pt-BR" b="0" i="1" smtClean="0">
                                  <a:latin typeface="Cambria Math" panose="02040503050406030204" pitchFamily="18" charset="0"/>
                                </a:rPr>
                                <m:t>2</m:t>
                              </m:r>
                            </m:sub>
                            <m:sup>
                              <m:r>
                                <a:rPr lang="pt-BR" i="1">
                                  <a:latin typeface="Cambria Math" panose="02040503050406030204" pitchFamily="18" charset="0"/>
                                </a:rPr>
                                <m:t>1</m:t>
                              </m:r>
                            </m:sup>
                          </m:sSubSup>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2</m:t>
                              </m:r>
                            </m:sup>
                          </m:sSup>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m:t>
                              </m:r>
                              <m:r>
                                <a:rPr lang="pt-BR" b="0" i="1" smtClean="0">
                                  <a:latin typeface="Cambria Math" panose="02040503050406030204" pitchFamily="18" charset="0"/>
                                </a:rPr>
                                <m:t>2</m:t>
                              </m:r>
                            </m:sub>
                            <m:sup>
                              <m:r>
                                <a:rPr lang="pt-BR" i="1">
                                  <a:latin typeface="Cambria Math" panose="02040503050406030204" pitchFamily="18" charset="0"/>
                                </a:rPr>
                                <m:t>1</m:t>
                              </m:r>
                            </m:sup>
                          </m:sSubSup>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r>
                                    <a:rPr lang="pt-BR" b="0" i="1" smtClean="0">
                                      <a:latin typeface="Cambria Math" panose="02040503050406030204" pitchFamily="18" charset="0"/>
                                    </a:rPr>
                                    <m:t>𝑦</m:t>
                                  </m:r>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2</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e>
                                  </m:d>
                                </m:e>
                              </m:d>
                            </m:e>
                            <m:sup>
                              <m:r>
                                <a:rPr lang="pt-BR" i="1">
                                  <a:latin typeface="Cambria Math" panose="02040503050406030204" pitchFamily="18" charset="0"/>
                                </a:rPr>
                                <m:t>2</m:t>
                              </m:r>
                            </m:sup>
                          </m:sSup>
                        </m:num>
                        <m:den>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2</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e>
                          </m:d>
                        </m:den>
                      </m:f>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2</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e>
                          </m:d>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den>
                      </m:f>
                      <m:f>
                        <m:fPr>
                          <m:ctrlPr>
                            <a:rPr lang="pt-BR" i="1">
                              <a:latin typeface="Cambria Math" panose="02040503050406030204" pitchFamily="18" charset="0"/>
                            </a:rPr>
                          </m:ctrlPr>
                        </m:fPr>
                        <m:num>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num>
                        <m:den>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1</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1</m:t>
                                  </m:r>
                                </m:sup>
                              </m:sSubSup>
                            </m:e>
                          </m:d>
                        </m:den>
                      </m:f>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1</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1</m:t>
                                  </m:r>
                                </m:sup>
                              </m:sSubSup>
                            </m:e>
                          </m:d>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1</m:t>
                              </m:r>
                            </m:sup>
                          </m:sSubSup>
                        </m:den>
                      </m:f>
                      <m:f>
                        <m:fPr>
                          <m:ctrlPr>
                            <a:rPr lang="pt-BR" i="1">
                              <a:latin typeface="Cambria Math" panose="02040503050406030204" pitchFamily="18" charset="0"/>
                            </a:rPr>
                          </m:ctrlPr>
                        </m:fPr>
                        <m:num>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1</m:t>
                              </m:r>
                            </m:sup>
                          </m:sSubSup>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m:t>
                              </m:r>
                              <m:r>
                                <a:rPr lang="pt-BR" b="0" i="1" smtClean="0">
                                  <a:latin typeface="Cambria Math" panose="02040503050406030204" pitchFamily="18" charset="0"/>
                                </a:rPr>
                                <m:t>2</m:t>
                              </m:r>
                            </m:sub>
                            <m:sup>
                              <m:r>
                                <a:rPr lang="pt-BR" i="1">
                                  <a:latin typeface="Cambria Math" panose="02040503050406030204" pitchFamily="18" charset="0"/>
                                </a:rPr>
                                <m:t>1</m:t>
                              </m:r>
                            </m:sup>
                          </m:sSubSup>
                        </m:den>
                      </m:f>
                    </m:oMath>
                  </m:oMathPara>
                </a14:m>
                <a:endParaRPr lang="pt-BR" dirty="0"/>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smtClean="0">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𝑏</m:t>
                              </m:r>
                            </m:e>
                            <m:sub>
                              <m:r>
                                <a:rPr lang="pt-BR" i="1">
                                  <a:latin typeface="Cambria Math" panose="02040503050406030204" pitchFamily="18" charset="0"/>
                                </a:rPr>
                                <m:t>1</m:t>
                              </m:r>
                            </m:sub>
                            <m:sup>
                              <m:r>
                                <a:rPr lang="pt-BR" i="1">
                                  <a:latin typeface="Cambria Math" panose="02040503050406030204" pitchFamily="18" charset="0"/>
                                </a:rPr>
                                <m:t>1</m:t>
                              </m:r>
                            </m:sup>
                          </m:sSubSup>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2</m:t>
                              </m:r>
                            </m:sup>
                          </m:sSup>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𝑏</m:t>
                              </m:r>
                            </m:e>
                            <m:sub>
                              <m:r>
                                <a:rPr lang="pt-BR" i="1">
                                  <a:latin typeface="Cambria Math" panose="02040503050406030204" pitchFamily="18" charset="0"/>
                                </a:rPr>
                                <m:t>1</m:t>
                              </m:r>
                            </m:sub>
                            <m:sup>
                              <m:r>
                                <a:rPr lang="pt-BR" i="1">
                                  <a:latin typeface="Cambria Math" panose="02040503050406030204" pitchFamily="18" charset="0"/>
                                </a:rPr>
                                <m:t>1</m:t>
                              </m:r>
                            </m:sup>
                          </m:sSubSup>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r>
                                    <a:rPr lang="pt-BR" b="0" i="1" smtClean="0">
                                      <a:latin typeface="Cambria Math" panose="02040503050406030204" pitchFamily="18" charset="0"/>
                                    </a:rPr>
                                    <m:t>𝑦</m:t>
                                  </m:r>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2</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e>
                                  </m:d>
                                </m:e>
                              </m:d>
                            </m:e>
                            <m:sup>
                              <m:r>
                                <a:rPr lang="pt-BR" i="1">
                                  <a:latin typeface="Cambria Math" panose="02040503050406030204" pitchFamily="18" charset="0"/>
                                </a:rPr>
                                <m:t>2</m:t>
                              </m:r>
                            </m:sup>
                          </m:sSup>
                        </m:num>
                        <m:den>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2</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e>
                          </m:d>
                        </m:den>
                      </m:f>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2</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e>
                          </m:d>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den>
                      </m:f>
                      <m:f>
                        <m:fPr>
                          <m:ctrlPr>
                            <a:rPr lang="pt-BR" i="1">
                              <a:latin typeface="Cambria Math" panose="02040503050406030204" pitchFamily="18" charset="0"/>
                            </a:rPr>
                          </m:ctrlPr>
                        </m:fPr>
                        <m:num>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num>
                        <m:den>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1</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1</m:t>
                                  </m:r>
                                </m:sup>
                              </m:sSubSup>
                            </m:e>
                          </m:d>
                        </m:den>
                      </m:f>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1</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1</m:t>
                                  </m:r>
                                </m:sup>
                              </m:sSubSup>
                            </m:e>
                          </m:d>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1</m:t>
                              </m:r>
                            </m:sup>
                          </m:sSubSup>
                        </m:den>
                      </m:f>
                      <m:f>
                        <m:fPr>
                          <m:ctrlPr>
                            <a:rPr lang="pt-BR" i="1">
                              <a:latin typeface="Cambria Math" panose="02040503050406030204" pitchFamily="18" charset="0"/>
                            </a:rPr>
                          </m:ctrlPr>
                        </m:fPr>
                        <m:num>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1</m:t>
                              </m:r>
                            </m:sup>
                          </m:sSubSup>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𝑏</m:t>
                              </m:r>
                            </m:e>
                            <m:sub>
                              <m:r>
                                <a:rPr lang="pt-BR" i="1">
                                  <a:latin typeface="Cambria Math" panose="02040503050406030204" pitchFamily="18" charset="0"/>
                                </a:rPr>
                                <m:t>1</m:t>
                              </m:r>
                            </m:sub>
                            <m:sup>
                              <m:r>
                                <a:rPr lang="pt-BR" i="1">
                                  <a:latin typeface="Cambria Math" panose="02040503050406030204" pitchFamily="18" charset="0"/>
                                </a:rPr>
                                <m:t>1</m:t>
                              </m:r>
                            </m:sup>
                          </m:sSubSup>
                        </m:den>
                      </m:f>
                    </m:oMath>
                  </m:oMathPara>
                </a14:m>
                <a:endParaRPr lang="pt-BR" dirty="0"/>
              </a:p>
              <a:p>
                <a:r>
                  <a:rPr lang="pt-BR" dirty="0"/>
                  <a:t>Percebam que todos os termos são iguais, exceto o último, cuja derivada resulta na entrada à qual o peso está conectado.</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825624"/>
                <a:ext cx="11353800" cy="5032376"/>
              </a:xfrm>
              <a:blipFill>
                <a:blip r:embed="rId3"/>
                <a:stretch>
                  <a:fillRect l="-967" t="-1937"/>
                </a:stretch>
              </a:blipFill>
            </p:spPr>
            <p:txBody>
              <a:bodyPr/>
              <a:lstStyle/>
              <a:p>
                <a:r>
                  <a:rPr lang="en-US">
                    <a:noFill/>
                  </a:rPr>
                  <a:t> </a:t>
                </a:r>
              </a:p>
            </p:txBody>
          </p:sp>
        </mc:Fallback>
      </mc:AlternateContent>
    </p:spTree>
    <p:extLst>
      <p:ext uri="{BB962C8B-B14F-4D97-AF65-F5344CB8AC3E}">
        <p14:creationId xmlns:p14="http://schemas.microsoft.com/office/powerpoint/2010/main" val="24941154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811560-BF4D-D109-5C84-91EA57030A69}"/>
              </a:ext>
            </a:extLst>
          </p:cNvPr>
          <p:cNvSpPr>
            <a:spLocks noGrp="1"/>
          </p:cNvSpPr>
          <p:nvPr>
            <p:ph type="title"/>
          </p:nvPr>
        </p:nvSpPr>
        <p:spPr/>
        <p:txBody>
          <a:bodyPr/>
          <a:lstStyle/>
          <a:p>
            <a:r>
              <a:rPr lang="pt-BR" dirty="0"/>
              <a:t>Exemplo da aplicação da retropropagação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5729B97E-1817-3C80-E551-8F3B0E85AF47}"/>
                  </a:ext>
                </a:extLst>
              </p:cNvPr>
              <p:cNvSpPr>
                <a:spLocks noGrp="1"/>
              </p:cNvSpPr>
              <p:nvPr>
                <p:ph idx="1"/>
              </p:nvPr>
            </p:nvSpPr>
            <p:spPr>
              <a:xfrm>
                <a:off x="838200" y="1825624"/>
                <a:ext cx="11241024" cy="5032375"/>
              </a:xfrm>
            </p:spPr>
            <p:txBody>
              <a:bodyPr>
                <a:normAutofit/>
              </a:bodyPr>
              <a:lstStyle/>
              <a:p>
                <a:r>
                  <a:rPr lang="pt-BR" dirty="0"/>
                  <a:t>Assim, o vetor gradiente com as derivadas parciais do erro com relação a todos os pesos do </a:t>
                </a:r>
                <a:r>
                  <a:rPr lang="pt-BR" b="1" i="1" dirty="0"/>
                  <a:t>nó</a:t>
                </a:r>
                <a:r>
                  <a:rPr lang="pt-BR" dirty="0"/>
                  <a:t> </a:t>
                </a:r>
                <a14:m>
                  <m:oMath xmlns:m="http://schemas.openxmlformats.org/officeDocument/2006/math">
                    <m:r>
                      <a:rPr lang="pt-BR" i="1">
                        <a:latin typeface="Cambria Math" panose="02040503050406030204" pitchFamily="18" charset="0"/>
                      </a:rPr>
                      <m:t>𝑖</m:t>
                    </m:r>
                    <m:r>
                      <a:rPr lang="pt-BR">
                        <a:latin typeface="Cambria Math" panose="02040503050406030204" pitchFamily="18" charset="0"/>
                      </a:rPr>
                      <m:t>=1</m:t>
                    </m:r>
                  </m:oMath>
                </a14:m>
                <a:r>
                  <a:rPr lang="pt-BR" dirty="0"/>
                  <a:t> da camada </a:t>
                </a:r>
                <a14:m>
                  <m:oMath xmlns:m="http://schemas.openxmlformats.org/officeDocument/2006/math">
                    <m:r>
                      <a:rPr lang="pt-BR" i="1">
                        <a:latin typeface="Cambria Math" panose="02040503050406030204" pitchFamily="18" charset="0"/>
                      </a:rPr>
                      <m:t>𝑚</m:t>
                    </m:r>
                    <m:r>
                      <a:rPr lang="pt-BR" i="1">
                        <a:latin typeface="Cambria Math" panose="02040503050406030204" pitchFamily="18" charset="0"/>
                      </a:rPr>
                      <m:t>=1</m:t>
                    </m:r>
                  </m:oMath>
                </a14:m>
                <a:r>
                  <a:rPr lang="pt-BR" dirty="0"/>
                  <a:t> é apresentado abaixo</a:t>
                </a:r>
              </a:p>
              <a:p>
                <a:pPr marL="0" indent="0">
                  <a:buNone/>
                </a:pPr>
                <a:endParaRPr lang="pt-BR" sz="900" dirty="0"/>
              </a:p>
              <a:p>
                <a:pPr marL="0" indent="0">
                  <a:buNone/>
                </a:pPr>
                <a14:m>
                  <m:oMathPara xmlns:m="http://schemas.openxmlformats.org/officeDocument/2006/math">
                    <m:oMath>
                      <m:d>
                        <m:dPr>
                          <m:begChr m:val="["/>
                          <m:endChr m:val="]"/>
                          <m:ctrlPr>
                            <a:rPr lang="pt-BR" b="0" i="1" smtClean="0">
                              <a:latin typeface="Cambria Math" panose="02040503050406030204" pitchFamily="18" charset="0"/>
                            </a:rPr>
                          </m:ctrlPr>
                        </m:dPr>
                        <m:e>
                          <m:m>
                            <m:mPr>
                              <m:mcs>
                                <m:mc>
                                  <m:mcPr>
                                    <m:count m:val="1"/>
                                    <m:mcJc m:val="center"/>
                                  </m:mcPr>
                                </m:mc>
                              </m:mcs>
                              <m:ctrlPr>
                                <a:rPr lang="pt-BR" b="0" i="1" smtClean="0">
                                  <a:latin typeface="Cambria Math" panose="02040503050406030204" pitchFamily="18" charset="0"/>
                                </a:rPr>
                              </m:ctrlPr>
                            </m:mPr>
                            <m:mr>
                              <m:e>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1,1</m:t>
                                        </m:r>
                                      </m:sub>
                                      <m:sup>
                                        <m:r>
                                          <a:rPr lang="pt-BR" i="1">
                                            <a:latin typeface="Cambria Math" panose="02040503050406030204" pitchFamily="18" charset="0"/>
                                          </a:rPr>
                                          <m:t>1</m:t>
                                        </m:r>
                                      </m:sup>
                                    </m:sSubSup>
                                  </m:den>
                                </m:f>
                              </m:e>
                            </m:mr>
                            <m:mr>
                              <m:e>
                                <m:m>
                                  <m:mPr>
                                    <m:mcs>
                                      <m:mc>
                                        <m:mcPr>
                                          <m:count m:val="1"/>
                                          <m:mcJc m:val="center"/>
                                        </m:mcPr>
                                      </m:mc>
                                    </m:mcs>
                                    <m:ctrlPr>
                                      <a:rPr lang="pt-BR" b="0" i="1" smtClean="0">
                                        <a:latin typeface="Cambria Math" panose="02040503050406030204" pitchFamily="18" charset="0"/>
                                      </a:rPr>
                                    </m:ctrlPr>
                                  </m:mPr>
                                  <m:mr>
                                    <m:e>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m:t>
                                              </m:r>
                                              <m:r>
                                                <a:rPr lang="pt-BR" b="0" i="1" smtClean="0">
                                                  <a:latin typeface="Cambria Math" panose="02040503050406030204" pitchFamily="18" charset="0"/>
                                                </a:rPr>
                                                <m:t>2</m:t>
                                              </m:r>
                                            </m:sub>
                                            <m:sup>
                                              <m:r>
                                                <a:rPr lang="pt-BR" i="1">
                                                  <a:latin typeface="Cambria Math" panose="02040503050406030204" pitchFamily="18" charset="0"/>
                                                </a:rPr>
                                                <m:t>1</m:t>
                                              </m:r>
                                            </m:sup>
                                          </m:sSubSup>
                                        </m:den>
                                      </m:f>
                                    </m:e>
                                  </m:mr>
                                  <m:mr>
                                    <m:e>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𝑏</m:t>
                                              </m:r>
                                            </m:e>
                                            <m:sub>
                                              <m:r>
                                                <a:rPr lang="pt-BR" i="1">
                                                  <a:latin typeface="Cambria Math" panose="02040503050406030204" pitchFamily="18" charset="0"/>
                                                </a:rPr>
                                                <m:t>1</m:t>
                                              </m:r>
                                            </m:sub>
                                            <m:sup>
                                              <m:r>
                                                <a:rPr lang="pt-BR" i="1">
                                                  <a:latin typeface="Cambria Math" panose="02040503050406030204" pitchFamily="18" charset="0"/>
                                                </a:rPr>
                                                <m:t>1</m:t>
                                              </m:r>
                                            </m:sup>
                                          </m:sSubSup>
                                        </m:den>
                                      </m:f>
                                    </m:e>
                                  </m:mr>
                                </m:m>
                              </m:e>
                            </m:mr>
                          </m:m>
                        </m:e>
                      </m:d>
                      <m:r>
                        <a:rPr lang="pt-BR" b="0" i="1" smtClean="0">
                          <a:latin typeface="Cambria Math" panose="02040503050406030204" pitchFamily="18" charset="0"/>
                        </a:rPr>
                        <m:t>=</m:t>
                      </m:r>
                      <m:r>
                        <a:rPr lang="pt-BR" i="1">
                          <a:latin typeface="Cambria Math" panose="02040503050406030204" pitchFamily="18" charset="0"/>
                        </a:rPr>
                        <m:t>−2</m:t>
                      </m:r>
                      <m:d>
                        <m:dPr>
                          <m:ctrlPr>
                            <a:rPr lang="pt-BR" b="0" i="1" smtClean="0">
                              <a:latin typeface="Cambria Math" panose="02040503050406030204" pitchFamily="18" charset="0"/>
                            </a:rPr>
                          </m:ctrlPr>
                        </m:dPr>
                        <m:e>
                          <m:r>
                            <a:rPr lang="pt-BR" b="0" i="1" smtClean="0">
                              <a:latin typeface="Cambria Math" panose="02040503050406030204" pitchFamily="18" charset="0"/>
                            </a:rPr>
                            <m:t>𝑦</m:t>
                          </m:r>
                          <m:r>
                            <a:rPr lang="pt-BR" i="1">
                              <a:latin typeface="Cambria Math" panose="02040503050406030204" pitchFamily="18" charset="0"/>
                            </a:rPr>
                            <m:t>−</m:t>
                          </m:r>
                          <m:sSubSup>
                            <m:sSubSupPr>
                              <m:ctrlPr>
                                <a:rPr lang="pt-BR" i="1">
                                  <a:latin typeface="Cambria Math" panose="02040503050406030204" pitchFamily="18" charset="0"/>
                                </a:rPr>
                              </m:ctrlPr>
                            </m:sSubSup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i="1">
                                  <a:latin typeface="Cambria Math" panose="02040503050406030204" pitchFamily="18" charset="0"/>
                                </a:rPr>
                                <m:t>1</m:t>
                              </m:r>
                            </m:sub>
                            <m:sup>
                              <m:r>
                                <a:rPr lang="pt-BR" i="1">
                                  <a:latin typeface="Cambria Math" panose="02040503050406030204" pitchFamily="18" charset="0"/>
                                </a:rPr>
                                <m:t>2</m:t>
                              </m:r>
                            </m:sup>
                          </m:sSubSup>
                        </m:e>
                      </m:d>
                      <m:sSup>
                        <m:sSupPr>
                          <m:ctrlPr>
                            <a:rPr lang="pt-BR" i="1">
                              <a:latin typeface="Cambria Math" panose="02040503050406030204" pitchFamily="18" charset="0"/>
                            </a:rPr>
                          </m:ctrlPr>
                        </m:sSupPr>
                        <m:e>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m:t>
                              </m:r>
                            </m:sup>
                          </m:sSup>
                        </m:e>
                        <m:sup>
                          <m:r>
                            <a:rPr lang="pt-BR" i="1">
                              <a:latin typeface="Cambria Math" panose="02040503050406030204" pitchFamily="18" charset="0"/>
                            </a:rPr>
                            <m:t>2</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2</m:t>
                              </m:r>
                            </m:sup>
                          </m:sSubSup>
                        </m:e>
                      </m:d>
                      <m:sSup>
                        <m:sSupPr>
                          <m:ctrlPr>
                            <a:rPr lang="pt-BR" i="1">
                              <a:latin typeface="Cambria Math" panose="02040503050406030204" pitchFamily="18" charset="0"/>
                            </a:rPr>
                          </m:ctrlPr>
                        </m:sSupPr>
                        <m:e>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1,1</m:t>
                              </m:r>
                            </m:sub>
                            <m:sup>
                              <m:r>
                                <a:rPr lang="pt-BR" i="1">
                                  <a:latin typeface="Cambria Math" panose="02040503050406030204" pitchFamily="18" charset="0"/>
                                </a:rPr>
                                <m:t>2</m:t>
                              </m:r>
                            </m:sup>
                          </m:sSubSup>
                          <m:r>
                            <a:rPr lang="pt-BR" i="1">
                              <a:latin typeface="Cambria Math" panose="02040503050406030204" pitchFamily="18" charset="0"/>
                            </a:rPr>
                            <m:t>𝑓</m:t>
                          </m:r>
                        </m:e>
                        <m:sup>
                          <m:r>
                            <a:rPr lang="pt-BR" i="1">
                              <a:latin typeface="Cambria Math" panose="02040503050406030204" pitchFamily="18" charset="0"/>
                            </a:rPr>
                            <m:t>′1</m:t>
                          </m:r>
                        </m:sup>
                      </m:s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𝑢</m:t>
                              </m:r>
                            </m:e>
                            <m:sub>
                              <m:r>
                                <a:rPr lang="pt-BR" i="1">
                                  <a:latin typeface="Cambria Math" panose="02040503050406030204" pitchFamily="18" charset="0"/>
                                </a:rPr>
                                <m:t>1</m:t>
                              </m:r>
                            </m:sub>
                            <m:sup>
                              <m:r>
                                <a:rPr lang="pt-BR" i="1">
                                  <a:latin typeface="Cambria Math" panose="02040503050406030204" pitchFamily="18" charset="0"/>
                                </a:rPr>
                                <m:t>1</m:t>
                              </m:r>
                            </m:sup>
                          </m:sSubSup>
                        </m:e>
                      </m:d>
                      <m:d>
                        <m:dPr>
                          <m:begChr m:val="["/>
                          <m:endChr m:val="]"/>
                          <m:ctrlPr>
                            <a:rPr lang="pt-BR" b="0" i="1" smtClean="0">
                              <a:latin typeface="Cambria Math" panose="02040503050406030204" pitchFamily="18" charset="0"/>
                            </a:rPr>
                          </m:ctrlPr>
                        </m:dPr>
                        <m:e>
                          <m:m>
                            <m:mPr>
                              <m:mcs>
                                <m:mc>
                                  <m:mcPr>
                                    <m:count m:val="1"/>
                                    <m:mcJc m:val="center"/>
                                  </m:mcPr>
                                </m:mc>
                              </m:mcs>
                              <m:ctrlPr>
                                <a:rPr lang="pt-BR" b="0" i="1" smtClean="0">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2</m:t>
                                    </m:r>
                                  </m:sub>
                                </m:sSub>
                              </m:e>
                            </m:mr>
                            <m:mr>
                              <m:e>
                                <m:r>
                                  <a:rPr lang="pt-BR" b="0" i="1" smtClean="0">
                                    <a:latin typeface="Cambria Math" panose="02040503050406030204" pitchFamily="18" charset="0"/>
                                  </a:rPr>
                                  <m:t>1</m:t>
                                </m:r>
                              </m:e>
                            </m:mr>
                          </m:m>
                        </m:e>
                      </m:d>
                      <m:r>
                        <a:rPr lang="pt-BR" b="0" i="1" smtClean="0">
                          <a:latin typeface="Cambria Math" panose="02040503050406030204" pitchFamily="18" charset="0"/>
                        </a:rPr>
                        <m:t>.</m:t>
                      </m:r>
                    </m:oMath>
                  </m:oMathPara>
                </a14:m>
                <a:endParaRPr lang="pt-BR" dirty="0"/>
              </a:p>
            </p:txBody>
          </p:sp>
        </mc:Choice>
        <mc:Fallback xmlns="">
          <p:sp>
            <p:nvSpPr>
              <p:cNvPr id="3" name="Espaço Reservado para Conteúdo 2">
                <a:extLst>
                  <a:ext uri="{FF2B5EF4-FFF2-40B4-BE49-F238E27FC236}">
                    <a16:creationId xmlns:a16="http://schemas.microsoft.com/office/drawing/2014/main" id="{5729B97E-1817-3C80-E551-8F3B0E85AF47}"/>
                  </a:ext>
                </a:extLst>
              </p:cNvPr>
              <p:cNvSpPr>
                <a:spLocks noGrp="1" noRot="1" noChangeAspect="1" noMove="1" noResize="1" noEditPoints="1" noAdjustHandles="1" noChangeArrowheads="1" noChangeShapeType="1" noTextEdit="1"/>
              </p:cNvSpPr>
              <p:nvPr>
                <p:ph idx="1"/>
              </p:nvPr>
            </p:nvSpPr>
            <p:spPr>
              <a:xfrm>
                <a:off x="838200" y="1825624"/>
                <a:ext cx="11241024" cy="5032375"/>
              </a:xfrm>
              <a:blipFill>
                <a:blip r:embed="rId3"/>
                <a:stretch>
                  <a:fillRect l="-976" t="-193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0E871D84-F6C8-92EF-0526-F8A532D2107D}"/>
              </a:ext>
            </a:extLst>
          </p:cNvPr>
          <p:cNvSpPr/>
          <p:nvPr/>
        </p:nvSpPr>
        <p:spPr>
          <a:xfrm>
            <a:off x="10123422" y="4803297"/>
            <a:ext cx="1583407" cy="1015663"/>
          </a:xfrm>
          <a:prstGeom prst="rect">
            <a:avLst/>
          </a:prstGeom>
        </p:spPr>
        <p:txBody>
          <a:bodyPr wrap="square">
            <a:spAutoFit/>
          </a:bodyPr>
          <a:lstStyle/>
          <a:p>
            <a:pPr algn="ctr"/>
            <a:r>
              <a:rPr lang="pt-BR" sz="1200" dirty="0"/>
              <a:t>Os pesos de </a:t>
            </a:r>
            <a:r>
              <a:rPr lang="pt-BR" sz="1200" b="1" i="1" dirty="0"/>
              <a:t>bias</a:t>
            </a:r>
            <a:r>
              <a:rPr lang="pt-BR" sz="1200" dirty="0"/>
              <a:t> estão ligados às entradas de todos os nós com valores constantes iguais a 1.</a:t>
            </a:r>
          </a:p>
        </p:txBody>
      </p:sp>
      <p:cxnSp>
        <p:nvCxnSpPr>
          <p:cNvPr id="5" name="Straight Arrow Connector 5">
            <a:extLst>
              <a:ext uri="{FF2B5EF4-FFF2-40B4-BE49-F238E27FC236}">
                <a16:creationId xmlns:a16="http://schemas.microsoft.com/office/drawing/2014/main" id="{97F30EFD-C31E-E533-377E-C527A12BCA19}"/>
              </a:ext>
            </a:extLst>
          </p:cNvPr>
          <p:cNvCxnSpPr>
            <a:cxnSpLocks/>
          </p:cNvCxnSpPr>
          <p:nvPr/>
        </p:nvCxnSpPr>
        <p:spPr>
          <a:xfrm flipH="1" flipV="1">
            <a:off x="9541689" y="4779464"/>
            <a:ext cx="723967" cy="4226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Chave Direita 6">
            <a:extLst>
              <a:ext uri="{FF2B5EF4-FFF2-40B4-BE49-F238E27FC236}">
                <a16:creationId xmlns:a16="http://schemas.microsoft.com/office/drawing/2014/main" id="{E0A6E839-1EA0-98AB-D24F-9568344CC691}"/>
              </a:ext>
            </a:extLst>
          </p:cNvPr>
          <p:cNvSpPr/>
          <p:nvPr/>
        </p:nvSpPr>
        <p:spPr>
          <a:xfrm rot="5400000">
            <a:off x="6664115" y="2346272"/>
            <a:ext cx="281940" cy="463210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CaixaDeTexto 7">
            <a:extLst>
              <a:ext uri="{FF2B5EF4-FFF2-40B4-BE49-F238E27FC236}">
                <a16:creationId xmlns:a16="http://schemas.microsoft.com/office/drawing/2014/main" id="{8FA274DA-B9C8-DFB0-A01A-D2F515F53076}"/>
              </a:ext>
            </a:extLst>
          </p:cNvPr>
          <p:cNvSpPr txBox="1"/>
          <p:nvPr/>
        </p:nvSpPr>
        <p:spPr>
          <a:xfrm>
            <a:off x="6385098" y="4753567"/>
            <a:ext cx="839974" cy="369332"/>
          </a:xfrm>
          <a:prstGeom prst="rect">
            <a:avLst/>
          </a:prstGeom>
          <a:noFill/>
        </p:spPr>
        <p:txBody>
          <a:bodyPr wrap="none" rtlCol="0">
            <a:spAutoFit/>
          </a:bodyPr>
          <a:lstStyle/>
          <a:p>
            <a:r>
              <a:rPr lang="pt-BR" dirty="0"/>
              <a:t>escalar</a:t>
            </a:r>
            <a:endParaRPr lang="en-US" dirty="0"/>
          </a:p>
        </p:txBody>
      </p:sp>
    </p:spTree>
    <p:extLst>
      <p:ext uri="{BB962C8B-B14F-4D97-AF65-F5344CB8AC3E}">
        <p14:creationId xmlns:p14="http://schemas.microsoft.com/office/powerpoint/2010/main" val="41837869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435C5349-4D31-D868-8BED-15F10A4DB8DE}"/>
                  </a:ext>
                </a:extLst>
              </p:cNvPr>
              <p:cNvSpPr txBox="1"/>
              <p:nvPr/>
            </p:nvSpPr>
            <p:spPr>
              <a:xfrm>
                <a:off x="288372" y="1733279"/>
                <a:ext cx="11720352" cy="3391441"/>
              </a:xfrm>
              <a:prstGeom prst="rect">
                <a:avLst/>
              </a:prstGeom>
              <a:noFill/>
              <a:ln>
                <a:solidFill>
                  <a:schemeClr val="tx1"/>
                </a:solidFill>
              </a:ln>
            </p:spPr>
            <p:txBody>
              <a:bodyPr wrap="square" rtlCol="0">
                <a:spAutoFit/>
              </a:bodyPr>
              <a:lstStyle/>
              <a:p>
                <a:pPr marL="285750" indent="-285750">
                  <a:buFont typeface="Wingdings" panose="05000000000000000000" pitchFamily="2" charset="2"/>
                  <a:buChar char="Ø"/>
                </a:pPr>
                <a:r>
                  <a:rPr lang="pt-BR" sz="2000" dirty="0"/>
                  <a:t>Inicialize a matriz de pesos, </a:t>
                </a:r>
                <a14:m>
                  <m:oMath xmlns:m="http://schemas.openxmlformats.org/officeDocument/2006/math">
                    <m:r>
                      <a:rPr lang="pt-BR" sz="2000" b="1" i="1" smtClean="0">
                        <a:latin typeface="Cambria Math" panose="02040503050406030204" pitchFamily="18" charset="0"/>
                      </a:rPr>
                      <m:t>𝑾</m:t>
                    </m:r>
                  </m:oMath>
                </a14:m>
                <a:r>
                  <a:rPr lang="pt-BR" sz="2000" dirty="0"/>
                  <a:t> (sinápticos e de </a:t>
                </a:r>
                <a:r>
                  <a:rPr lang="pt-BR" sz="2000" i="1" dirty="0"/>
                  <a:t>bias</a:t>
                </a:r>
                <a:r>
                  <a:rPr lang="pt-BR" sz="2000" dirty="0"/>
                  <a:t>) e a taxa de aprendizagem, </a:t>
                </a:r>
                <a14:m>
                  <m:oMath xmlns:m="http://schemas.openxmlformats.org/officeDocument/2006/math">
                    <m:r>
                      <a:rPr lang="pt-BR" sz="2000" i="1">
                        <a:latin typeface="Cambria Math" panose="02040503050406030204" pitchFamily="18" charset="0"/>
                        <a:ea typeface="Cambria Math" panose="02040503050406030204" pitchFamily="18" charset="0"/>
                      </a:rPr>
                      <m:t>𝛼</m:t>
                    </m:r>
                  </m:oMath>
                </a14:m>
                <a:r>
                  <a:rPr lang="pt-BR" sz="2000" dirty="0"/>
                  <a:t>. </a:t>
                </a:r>
              </a:p>
              <a:p>
                <a:pPr marL="285750" indent="-285750">
                  <a:buFont typeface="Wingdings" panose="05000000000000000000" pitchFamily="2" charset="2"/>
                  <a:buChar char="Ø"/>
                </a:pPr>
                <a:r>
                  <a:rPr lang="pt-BR" sz="2000" dirty="0"/>
                  <a:t>Faça </a:t>
                </a:r>
                <a14:m>
                  <m:oMath xmlns:m="http://schemas.openxmlformats.org/officeDocument/2006/math">
                    <m:r>
                      <a:rPr lang="pt-BR" sz="2000" b="0" i="1" smtClean="0">
                        <a:latin typeface="Cambria Math" panose="02040503050406030204" pitchFamily="18" charset="0"/>
                      </a:rPr>
                      <m:t>𝑘</m:t>
                    </m:r>
                    <m:r>
                      <a:rPr lang="pt-BR" sz="2000" b="0" i="1" smtClean="0">
                        <a:latin typeface="Cambria Math" panose="02040503050406030204" pitchFamily="18" charset="0"/>
                      </a:rPr>
                      <m:t>=0</m:t>
                    </m:r>
                  </m:oMath>
                </a14:m>
                <a:r>
                  <a:rPr lang="pt-BR" sz="2000" b="0" dirty="0"/>
                  <a:t> (contador de épocas)</a:t>
                </a:r>
              </a:p>
              <a:p>
                <a:pPr marL="285750" indent="-285750">
                  <a:buFont typeface="Wingdings" panose="05000000000000000000" pitchFamily="2" charset="2"/>
                  <a:buChar char="Ø"/>
                </a:pPr>
                <a:r>
                  <a:rPr lang="pt-BR" sz="2000" dirty="0"/>
                  <a:t>Calcule o erro inicial </a:t>
                </a:r>
                <a14:m>
                  <m:oMath xmlns:m="http://schemas.openxmlformats.org/officeDocument/2006/math">
                    <m:r>
                      <a:rPr lang="pt-BR" sz="2000" b="0" i="1" smtClean="0">
                        <a:latin typeface="Cambria Math" panose="02040503050406030204" pitchFamily="18" charset="0"/>
                      </a:rPr>
                      <m:t>𝐽</m:t>
                    </m:r>
                    <m:d>
                      <m:dPr>
                        <m:ctrlPr>
                          <a:rPr lang="pt-BR" sz="2000" b="1" i="1" smtClean="0">
                            <a:latin typeface="Cambria Math" panose="02040503050406030204" pitchFamily="18" charset="0"/>
                          </a:rPr>
                        </m:ctrlPr>
                      </m:dPr>
                      <m:e>
                        <m:r>
                          <a:rPr lang="pt-BR" sz="2000" b="1" i="1" smtClean="0">
                            <a:latin typeface="Cambria Math" panose="02040503050406030204" pitchFamily="18" charset="0"/>
                          </a:rPr>
                          <m:t>𝑾</m:t>
                        </m:r>
                        <m:d>
                          <m:dPr>
                            <m:ctrlPr>
                              <a:rPr lang="pt-BR" sz="2000" b="0" i="1" smtClean="0">
                                <a:latin typeface="Cambria Math" panose="02040503050406030204" pitchFamily="18" charset="0"/>
                              </a:rPr>
                            </m:ctrlPr>
                          </m:dPr>
                          <m:e>
                            <m:r>
                              <a:rPr lang="pt-BR" sz="2000" b="0" i="1" smtClean="0">
                                <a:latin typeface="Cambria Math" panose="02040503050406030204" pitchFamily="18" charset="0"/>
                              </a:rPr>
                              <m:t>𝑘</m:t>
                            </m:r>
                          </m:e>
                        </m:d>
                      </m:e>
                    </m:d>
                  </m:oMath>
                </a14:m>
                <a:r>
                  <a:rPr lang="pt-BR" sz="2000" dirty="0"/>
                  <a:t> (opcional)</a:t>
                </a:r>
              </a:p>
              <a:p>
                <a:pPr marL="285750" indent="-285750">
                  <a:buFont typeface="Wingdings" panose="05000000000000000000" pitchFamily="2" charset="2"/>
                  <a:buChar char="Ø"/>
                </a:pPr>
                <a:r>
                  <a:rPr lang="pt-BR" sz="2000" dirty="0"/>
                  <a:t>Enquanto o critério de parada não for atendido, faça: </a:t>
                </a:r>
              </a:p>
              <a:p>
                <a:pPr marL="742950" lvl="1" indent="-285750">
                  <a:buFont typeface="Courier New" panose="02070309020205020404" pitchFamily="49" charset="0"/>
                  <a:buChar char="o"/>
                </a:pPr>
                <a:r>
                  <a:rPr lang="pt-BR" sz="2000" dirty="0"/>
                  <a:t>Para </a:t>
                </a:r>
                <a14:m>
                  <m:oMath xmlns:m="http://schemas.openxmlformats.org/officeDocument/2006/math">
                    <m:r>
                      <a:rPr lang="pt-BR" sz="2000" b="0" i="1" smtClean="0">
                        <a:latin typeface="Cambria Math" panose="02040503050406030204" pitchFamily="18" charset="0"/>
                      </a:rPr>
                      <m:t>𝑙</m:t>
                    </m:r>
                  </m:oMath>
                </a14:m>
                <a:r>
                  <a:rPr lang="pt-BR" sz="2000" dirty="0"/>
                  <a:t> variando de 1 até </a:t>
                </a:r>
                <a14:m>
                  <m:oMath xmlns:m="http://schemas.openxmlformats.org/officeDocument/2006/math">
                    <m:r>
                      <a:rPr lang="pt-BR" sz="2000" b="0" i="1" smtClean="0">
                        <a:latin typeface="Cambria Math" panose="02040503050406030204" pitchFamily="18" charset="0"/>
                      </a:rPr>
                      <m:t>𝐿</m:t>
                    </m:r>
                  </m:oMath>
                </a14:m>
                <a:r>
                  <a:rPr lang="pt-BR" sz="2000" dirty="0"/>
                  <a:t>, faça: </a:t>
                </a:r>
              </a:p>
              <a:p>
                <a:pPr marL="1200150" lvl="2" indent="-285750">
                  <a:buFont typeface="Wingdings" panose="05000000000000000000" pitchFamily="2" charset="2"/>
                  <a:buChar char="§"/>
                </a:pPr>
                <a:r>
                  <a:rPr lang="pt-BR" sz="2000" dirty="0"/>
                  <a:t>Retire uma amostra aleatoriamente sem reposição do conjunto, a apresente à rede e calcule o erro.</a:t>
                </a:r>
              </a:p>
              <a:p>
                <a:pPr marL="1200150" lvl="2" indent="-285750">
                  <a:buFont typeface="Wingdings" panose="05000000000000000000" pitchFamily="2" charset="2"/>
                  <a:buChar char="§"/>
                </a:pPr>
                <a:r>
                  <a:rPr lang="pt-BR" sz="2000" dirty="0"/>
                  <a:t>Calcule </a:t>
                </a:r>
                <a14:m>
                  <m:oMath xmlns:m="http://schemas.openxmlformats.org/officeDocument/2006/math">
                    <m:r>
                      <a:rPr lang="pt-BR" sz="2000" i="1" smtClean="0">
                        <a:latin typeface="Cambria Math" panose="02040503050406030204" pitchFamily="18" charset="0"/>
                        <a:ea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𝐽</m:t>
                        </m:r>
                      </m:e>
                      <m:sub>
                        <m:r>
                          <a:rPr lang="pt-BR" sz="2000" b="0" i="1" smtClean="0">
                            <a:latin typeface="Cambria Math" panose="02040503050406030204" pitchFamily="18" charset="0"/>
                          </a:rPr>
                          <m:t>𝑙</m:t>
                        </m:r>
                      </m:sub>
                    </m:sSub>
                    <m:d>
                      <m:dPr>
                        <m:ctrlPr>
                          <a:rPr lang="pt-BR" sz="2000" b="1" i="1" smtClean="0">
                            <a:latin typeface="Cambria Math" panose="02040503050406030204" pitchFamily="18" charset="0"/>
                          </a:rPr>
                        </m:ctrlPr>
                      </m:dPr>
                      <m:e>
                        <m:r>
                          <a:rPr lang="pt-BR" sz="2000" b="1" i="1" smtClean="0">
                            <a:latin typeface="Cambria Math" panose="02040503050406030204" pitchFamily="18" charset="0"/>
                          </a:rPr>
                          <m:t>𝑾</m:t>
                        </m:r>
                        <m:d>
                          <m:dPr>
                            <m:ctrlPr>
                              <a:rPr lang="pt-BR" sz="2000" b="0" i="1" smtClean="0">
                                <a:latin typeface="Cambria Math" panose="02040503050406030204" pitchFamily="18" charset="0"/>
                              </a:rPr>
                            </m:ctrlPr>
                          </m:dPr>
                          <m:e>
                            <m:r>
                              <a:rPr lang="pt-BR" sz="2000" b="0" i="1" smtClean="0">
                                <a:latin typeface="Cambria Math" panose="02040503050406030204" pitchFamily="18" charset="0"/>
                              </a:rPr>
                              <m:t>𝑘</m:t>
                            </m:r>
                          </m:e>
                        </m:d>
                      </m:e>
                    </m:d>
                  </m:oMath>
                </a14:m>
                <a:endParaRPr lang="pt-BR" sz="2000" dirty="0"/>
              </a:p>
              <a:p>
                <a:pPr marL="742950" lvl="1" indent="-285750">
                  <a:buFont typeface="Courier New" panose="02070309020205020404" pitchFamily="49" charset="0"/>
                  <a:buChar char="o"/>
                </a:pPr>
                <a14:m>
                  <m:oMath xmlns:m="http://schemas.openxmlformats.org/officeDocument/2006/math">
                    <m:r>
                      <a:rPr lang="pt-BR" sz="2000" b="1" i="1" smtClean="0">
                        <a:latin typeface="Cambria Math" panose="02040503050406030204" pitchFamily="18" charset="0"/>
                      </a:rPr>
                      <m:t>𝑾</m:t>
                    </m:r>
                    <m:d>
                      <m:dPr>
                        <m:ctrlPr>
                          <a:rPr lang="pt-BR" sz="2000" b="0" i="1" smtClean="0">
                            <a:latin typeface="Cambria Math" panose="02040503050406030204" pitchFamily="18" charset="0"/>
                          </a:rPr>
                        </m:ctrlPr>
                      </m:dPr>
                      <m:e>
                        <m:r>
                          <a:rPr lang="pt-BR" sz="2000" b="0" i="1" smtClean="0">
                            <a:latin typeface="Cambria Math" panose="02040503050406030204" pitchFamily="18" charset="0"/>
                          </a:rPr>
                          <m:t>𝑘</m:t>
                        </m:r>
                        <m:r>
                          <a:rPr lang="pt-BR" sz="2000" i="1">
                            <a:latin typeface="Cambria Math" panose="02040503050406030204" pitchFamily="18" charset="0"/>
                          </a:rPr>
                          <m:t>+1</m:t>
                        </m:r>
                      </m:e>
                    </m:d>
                    <m:r>
                      <a:rPr lang="pt-BR" sz="2000" b="1" i="1">
                        <a:latin typeface="Cambria Math" panose="02040503050406030204" pitchFamily="18" charset="0"/>
                      </a:rPr>
                      <m:t>=</m:t>
                    </m:r>
                    <m:r>
                      <a:rPr lang="pt-BR" sz="2000" b="1" i="1" smtClean="0">
                        <a:latin typeface="Cambria Math" panose="02040503050406030204" pitchFamily="18" charset="0"/>
                      </a:rPr>
                      <m:t>𝑾</m:t>
                    </m:r>
                    <m:d>
                      <m:dPr>
                        <m:ctrlPr>
                          <a:rPr lang="pt-BR" sz="2000" b="0" i="1" smtClean="0">
                            <a:latin typeface="Cambria Math" panose="02040503050406030204" pitchFamily="18" charset="0"/>
                          </a:rPr>
                        </m:ctrlPr>
                      </m:dPr>
                      <m:e>
                        <m:r>
                          <a:rPr lang="pt-BR" sz="2000" b="0" i="1" smtClean="0">
                            <a:latin typeface="Cambria Math" panose="02040503050406030204" pitchFamily="18" charset="0"/>
                          </a:rPr>
                          <m:t>𝑘</m:t>
                        </m:r>
                      </m:e>
                    </m:d>
                    <m:r>
                      <a:rPr lang="pt-BR" sz="2000" b="1" i="1">
                        <a:latin typeface="Cambria Math" panose="02040503050406030204" pitchFamily="18" charset="0"/>
                      </a:rPr>
                      <m:t>−</m:t>
                    </m:r>
                    <m:f>
                      <m:fPr>
                        <m:ctrlPr>
                          <a:rPr lang="pt-BR" sz="2000" i="1">
                            <a:latin typeface="Cambria Math" panose="02040503050406030204" pitchFamily="18" charset="0"/>
                            <a:ea typeface="Cambria Math" panose="02040503050406030204" pitchFamily="18" charset="0"/>
                          </a:rPr>
                        </m:ctrlPr>
                      </m:fPr>
                      <m:num>
                        <m:r>
                          <a:rPr lang="pt-BR" sz="2000" i="1">
                            <a:latin typeface="Cambria Math" panose="02040503050406030204" pitchFamily="18" charset="0"/>
                            <a:ea typeface="Cambria Math" panose="02040503050406030204" pitchFamily="18" charset="0"/>
                          </a:rPr>
                          <m:t>𝛼</m:t>
                        </m:r>
                      </m:num>
                      <m:den>
                        <m:r>
                          <a:rPr lang="pt-BR" sz="2000" b="0" i="1" smtClean="0">
                            <a:latin typeface="Cambria Math" panose="02040503050406030204" pitchFamily="18" charset="0"/>
                            <a:ea typeface="Cambria Math" panose="02040503050406030204" pitchFamily="18" charset="0"/>
                          </a:rPr>
                          <m:t>𝐿</m:t>
                        </m:r>
                      </m:den>
                    </m:f>
                    <m:nary>
                      <m:naryPr>
                        <m:chr m:val="∑"/>
                        <m:ctrlPr>
                          <a:rPr lang="pt-BR" sz="2000" b="0" i="1" smtClean="0">
                            <a:latin typeface="Cambria Math" panose="02040503050406030204" pitchFamily="18" charset="0"/>
                          </a:rPr>
                        </m:ctrlPr>
                      </m:naryPr>
                      <m:sub>
                        <m:r>
                          <m:rPr>
                            <m:brk m:alnAt="23"/>
                          </m:rPr>
                          <a:rPr lang="pt-BR" sz="2000" b="0" i="1" smtClean="0">
                            <a:latin typeface="Cambria Math" panose="02040503050406030204" pitchFamily="18" charset="0"/>
                          </a:rPr>
                          <m:t>𝑙</m:t>
                        </m:r>
                        <m:r>
                          <a:rPr lang="pt-BR" sz="2000" b="0" i="1" smtClean="0">
                            <a:latin typeface="Cambria Math" panose="02040503050406030204" pitchFamily="18" charset="0"/>
                          </a:rPr>
                          <m:t>=1</m:t>
                        </m:r>
                      </m:sub>
                      <m:sup>
                        <m:r>
                          <a:rPr lang="pt-BR" sz="2000" b="0" i="1" smtClean="0">
                            <a:latin typeface="Cambria Math" panose="02040503050406030204" pitchFamily="18" charset="0"/>
                          </a:rPr>
                          <m:t>𝐿</m:t>
                        </m:r>
                      </m:sup>
                      <m:e>
                        <m:r>
                          <a:rPr lang="pt-BR" sz="2000" i="1">
                            <a:latin typeface="Cambria Math" panose="02040503050406030204" pitchFamily="18" charset="0"/>
                            <a:ea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𝐽</m:t>
                            </m:r>
                          </m:e>
                          <m:sub>
                            <m:r>
                              <a:rPr lang="pt-BR" sz="2000" b="0" i="1" smtClean="0">
                                <a:latin typeface="Cambria Math" panose="02040503050406030204" pitchFamily="18" charset="0"/>
                              </a:rPr>
                              <m:t>𝑙</m:t>
                            </m:r>
                          </m:sub>
                        </m:sSub>
                        <m:d>
                          <m:dPr>
                            <m:ctrlPr>
                              <a:rPr lang="pt-BR" sz="2000" b="1" i="1" smtClean="0">
                                <a:latin typeface="Cambria Math" panose="02040503050406030204" pitchFamily="18" charset="0"/>
                              </a:rPr>
                            </m:ctrlPr>
                          </m:dPr>
                          <m:e>
                            <m:r>
                              <a:rPr lang="pt-BR" sz="2000" b="1" i="1" smtClean="0">
                                <a:latin typeface="Cambria Math" panose="02040503050406030204" pitchFamily="18" charset="0"/>
                              </a:rPr>
                              <m:t>𝑾</m:t>
                            </m:r>
                            <m:d>
                              <m:dPr>
                                <m:ctrlPr>
                                  <a:rPr lang="pt-BR" sz="2000" b="0" i="1" smtClean="0">
                                    <a:latin typeface="Cambria Math" panose="02040503050406030204" pitchFamily="18" charset="0"/>
                                  </a:rPr>
                                </m:ctrlPr>
                              </m:dPr>
                              <m:e>
                                <m:r>
                                  <a:rPr lang="pt-BR" sz="2000" b="0" i="1" smtClean="0">
                                    <a:latin typeface="Cambria Math" panose="02040503050406030204" pitchFamily="18" charset="0"/>
                                  </a:rPr>
                                  <m:t>𝑘</m:t>
                                </m:r>
                              </m:e>
                            </m:d>
                          </m:e>
                        </m:d>
                      </m:e>
                    </m:nary>
                  </m:oMath>
                </a14:m>
                <a:endParaRPr lang="pt-BR" sz="2000" b="0" i="0" dirty="0">
                  <a:latin typeface="Cambria Math" panose="02040503050406030204" pitchFamily="18" charset="0"/>
                </a:endParaRPr>
              </a:p>
              <a:p>
                <a:pPr marL="742950" lvl="1" indent="-285750">
                  <a:buFont typeface="Courier New" panose="02070309020205020404" pitchFamily="49" charset="0"/>
                  <a:buChar char="o"/>
                </a:pPr>
                <a:r>
                  <a:rPr lang="pt-BR" sz="2000" dirty="0"/>
                  <a:t>Calcule o erro da </a:t>
                </a:r>
                <a14:m>
                  <m:oMath xmlns:m="http://schemas.openxmlformats.org/officeDocument/2006/math">
                    <m:r>
                      <a:rPr lang="pt-BR" sz="2000" i="1">
                        <a:latin typeface="Cambria Math" panose="02040503050406030204" pitchFamily="18" charset="0"/>
                      </a:rPr>
                      <m:t>𝑘</m:t>
                    </m:r>
                  </m:oMath>
                </a14:m>
                <a:r>
                  <a:rPr lang="pt-BR" sz="2000" dirty="0"/>
                  <a:t>-</a:t>
                </a:r>
                <a:r>
                  <a:rPr lang="pt-BR" sz="2000" dirty="0" err="1"/>
                  <a:t>ésima</a:t>
                </a:r>
                <a:r>
                  <a:rPr lang="pt-BR" sz="2000" dirty="0"/>
                  <a:t> iteração </a:t>
                </a:r>
                <a14:m>
                  <m:oMath xmlns:m="http://schemas.openxmlformats.org/officeDocument/2006/math">
                    <m:r>
                      <a:rPr lang="pt-BR" sz="2000" i="1">
                        <a:latin typeface="Cambria Math" panose="02040503050406030204" pitchFamily="18" charset="0"/>
                      </a:rPr>
                      <m:t>𝐽</m:t>
                    </m:r>
                    <m:d>
                      <m:dPr>
                        <m:ctrlPr>
                          <a:rPr lang="pt-BR" sz="2000" b="1" i="1" smtClean="0">
                            <a:latin typeface="Cambria Math" panose="02040503050406030204" pitchFamily="18" charset="0"/>
                          </a:rPr>
                        </m:ctrlPr>
                      </m:dPr>
                      <m:e>
                        <m:r>
                          <a:rPr lang="pt-BR" sz="2000" b="1" i="1" smtClean="0">
                            <a:latin typeface="Cambria Math" panose="02040503050406030204" pitchFamily="18" charset="0"/>
                          </a:rPr>
                          <m:t>𝑾</m:t>
                        </m:r>
                        <m:d>
                          <m:dPr>
                            <m:ctrlPr>
                              <a:rPr lang="pt-BR" sz="2000" b="0" i="1" smtClean="0">
                                <a:latin typeface="Cambria Math" panose="02040503050406030204" pitchFamily="18" charset="0"/>
                              </a:rPr>
                            </m:ctrlPr>
                          </m:dPr>
                          <m:e>
                            <m:r>
                              <a:rPr lang="pt-BR" sz="2000" b="0" i="1" smtClean="0">
                                <a:latin typeface="Cambria Math" panose="02040503050406030204" pitchFamily="18" charset="0"/>
                              </a:rPr>
                              <m:t>𝑘</m:t>
                            </m:r>
                          </m:e>
                        </m:d>
                      </m:e>
                    </m:d>
                  </m:oMath>
                </a14:m>
                <a:r>
                  <a:rPr lang="pt-BR" sz="2000" dirty="0">
                    <a:ea typeface="Cambria Math" panose="02040503050406030204" pitchFamily="18" charset="0"/>
                  </a:rPr>
                  <a:t> (</a:t>
                </a:r>
                <a:r>
                  <a:rPr lang="pt-BR" sz="2000" dirty="0"/>
                  <a:t>opcional)</a:t>
                </a:r>
              </a:p>
              <a:p>
                <a:pPr marL="742950" lvl="1" indent="-285750">
                  <a:buFont typeface="Courier New" panose="02070309020205020404" pitchFamily="49" charset="0"/>
                  <a:buChar char="o"/>
                </a:pPr>
                <a14:m>
                  <m:oMath xmlns:m="http://schemas.openxmlformats.org/officeDocument/2006/math">
                    <m:r>
                      <a:rPr lang="pt-BR" sz="2000" i="1">
                        <a:latin typeface="Cambria Math" panose="02040503050406030204" pitchFamily="18" charset="0"/>
                      </a:rPr>
                      <m:t>𝑘</m:t>
                    </m:r>
                    <m:r>
                      <a:rPr lang="pt-BR" sz="2000" i="1">
                        <a:latin typeface="Cambria Math" panose="02040503050406030204" pitchFamily="18" charset="0"/>
                      </a:rPr>
                      <m:t>=</m:t>
                    </m:r>
                    <m:r>
                      <a:rPr lang="pt-BR" sz="2000" i="1">
                        <a:latin typeface="Cambria Math" panose="02040503050406030204" pitchFamily="18" charset="0"/>
                      </a:rPr>
                      <m:t>𝑘</m:t>
                    </m:r>
                    <m:r>
                      <a:rPr lang="pt-BR" sz="2000" i="1">
                        <a:latin typeface="Cambria Math" panose="02040503050406030204" pitchFamily="18" charset="0"/>
                      </a:rPr>
                      <m:t>+1</m:t>
                    </m:r>
                  </m:oMath>
                </a14:m>
                <a:endParaRPr lang="pt-BR" sz="2000" dirty="0"/>
              </a:p>
            </p:txBody>
          </p:sp>
        </mc:Choice>
        <mc:Fallback>
          <p:sp>
            <p:nvSpPr>
              <p:cNvPr id="2" name="TextBox 1">
                <a:extLst>
                  <a:ext uri="{FF2B5EF4-FFF2-40B4-BE49-F238E27FC236}">
                    <a16:creationId xmlns:a16="http://schemas.microsoft.com/office/drawing/2014/main" id="{435C5349-4D31-D868-8BED-15F10A4DB8DE}"/>
                  </a:ext>
                </a:extLst>
              </p:cNvPr>
              <p:cNvSpPr txBox="1">
                <a:spLocks noRot="1" noChangeAspect="1" noMove="1" noResize="1" noEditPoints="1" noAdjustHandles="1" noChangeArrowheads="1" noChangeShapeType="1" noTextEdit="1"/>
              </p:cNvSpPr>
              <p:nvPr/>
            </p:nvSpPr>
            <p:spPr>
              <a:xfrm>
                <a:off x="288372" y="1733279"/>
                <a:ext cx="11720352" cy="3391441"/>
              </a:xfrm>
              <a:prstGeom prst="rect">
                <a:avLst/>
              </a:prstGeom>
              <a:blipFill>
                <a:blip r:embed="rId3"/>
                <a:stretch>
                  <a:fillRect l="-416" t="-716" b="-2147"/>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F2C9DE9-D545-65C4-A22D-AD667E28EA40}"/>
                  </a:ext>
                </a:extLst>
              </p:cNvPr>
              <p:cNvSpPr txBox="1"/>
              <p:nvPr/>
            </p:nvSpPr>
            <p:spPr>
              <a:xfrm>
                <a:off x="288372" y="5167312"/>
                <a:ext cx="11720352" cy="1584473"/>
              </a:xfrm>
              <a:prstGeom prst="rect">
                <a:avLst/>
              </a:prstGeom>
              <a:noFill/>
            </p:spPr>
            <p:txBody>
              <a:bodyPr wrap="square">
                <a:spAutoFit/>
              </a:bodyPr>
              <a:lstStyle/>
              <a:p>
                <a:r>
                  <a:rPr lang="pt-BR" sz="2000" dirty="0">
                    <a:ea typeface="Cambria Math" panose="02040503050406030204" pitchFamily="18" charset="0"/>
                  </a:rPr>
                  <a:t>onde</a:t>
                </a:r>
                <a:r>
                  <a:rPr lang="pt-BR" sz="2000" dirty="0"/>
                  <a:t> </a:t>
                </a:r>
                <a14:m>
                  <m:oMath xmlns:m="http://schemas.openxmlformats.org/officeDocument/2006/math">
                    <m:r>
                      <a:rPr lang="pt-BR" sz="2000" i="1">
                        <a:latin typeface="Cambria Math" panose="02040503050406030204" pitchFamily="18" charset="0"/>
                      </a:rPr>
                      <m:t>𝐿</m:t>
                    </m:r>
                  </m:oMath>
                </a14:m>
                <a:r>
                  <a:rPr lang="pt-BR" sz="2000" dirty="0">
                    <a:ea typeface="Cambria Math" panose="02040503050406030204" pitchFamily="18" charset="0"/>
                  </a:rPr>
                  <a:t> é o número de amostras usadas para estimar o gradiente, </a:t>
                </a:r>
                <a14:m>
                  <m:oMath xmlns:m="http://schemas.openxmlformats.org/officeDocument/2006/math">
                    <m:r>
                      <a:rPr lang="pt-BR" sz="2000" i="1">
                        <a:latin typeface="Cambria Math" panose="02040503050406030204" pitchFamily="18" charset="0"/>
                        <a:ea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𝐽</m:t>
                        </m:r>
                      </m:e>
                      <m:sub>
                        <m:r>
                          <a:rPr lang="pt-BR" sz="2000" b="0" i="1" smtClean="0">
                            <a:latin typeface="Cambria Math" panose="02040503050406030204" pitchFamily="18" charset="0"/>
                          </a:rPr>
                          <m:t>𝑙</m:t>
                        </m:r>
                      </m:sub>
                    </m:sSub>
                    <m:d>
                      <m:dPr>
                        <m:ctrlPr>
                          <a:rPr lang="pt-BR" sz="2000" b="1" i="1">
                            <a:latin typeface="Cambria Math" panose="02040503050406030204" pitchFamily="18" charset="0"/>
                          </a:rPr>
                        </m:ctrlPr>
                      </m:dPr>
                      <m:e>
                        <m:r>
                          <a:rPr lang="pt-BR" sz="2000" b="1" i="1">
                            <a:latin typeface="Cambria Math" panose="02040503050406030204" pitchFamily="18" charset="0"/>
                          </a:rPr>
                          <m:t>𝑾</m:t>
                        </m:r>
                        <m:r>
                          <a:rPr lang="pt-BR" sz="2000" b="0" i="1" smtClean="0">
                            <a:latin typeface="Cambria Math" panose="02040503050406030204" pitchFamily="18" charset="0"/>
                          </a:rPr>
                          <m:t>(</m:t>
                        </m:r>
                        <m:r>
                          <a:rPr lang="pt-BR" sz="2000" b="0" i="1" smtClean="0">
                            <a:latin typeface="Cambria Math" panose="02040503050406030204" pitchFamily="18" charset="0"/>
                          </a:rPr>
                          <m:t>𝑘</m:t>
                        </m:r>
                        <m:r>
                          <a:rPr lang="pt-BR" sz="2000" b="0" i="1" smtClean="0">
                            <a:latin typeface="Cambria Math" panose="02040503050406030204" pitchFamily="18" charset="0"/>
                          </a:rPr>
                          <m:t>)</m:t>
                        </m:r>
                      </m:e>
                    </m:d>
                    <m:r>
                      <a:rPr lang="pt-BR" sz="2000" b="1" i="1" smtClean="0">
                        <a:latin typeface="Cambria Math" panose="02040503050406030204" pitchFamily="18" charset="0"/>
                      </a:rPr>
                      <m:t>=</m:t>
                    </m:r>
                  </m:oMath>
                </a14:m>
                <a:r>
                  <a:rPr lang="pt-BR" sz="2000" dirty="0"/>
                  <a:t> </a:t>
                </a:r>
                <a14:m>
                  <m:oMath xmlns:m="http://schemas.openxmlformats.org/officeDocument/2006/math">
                    <m:f>
                      <m:fPr>
                        <m:ctrlPr>
                          <a:rPr lang="pt-BR" sz="2000" i="1">
                            <a:latin typeface="Cambria Math" panose="02040503050406030204" pitchFamily="18" charset="0"/>
                          </a:rPr>
                        </m:ctrlPr>
                      </m:fPr>
                      <m:num>
                        <m:r>
                          <a:rPr lang="pt-BR" sz="2000" i="1">
                            <a:latin typeface="Cambria Math" panose="02040503050406030204" pitchFamily="18" charset="0"/>
                          </a:rPr>
                          <m:t>1</m:t>
                        </m:r>
                      </m:num>
                      <m:den>
                        <m:sSub>
                          <m:sSubPr>
                            <m:ctrlPr>
                              <a:rPr lang="pt-BR" sz="2000" i="1">
                                <a:latin typeface="Cambria Math" panose="02040503050406030204" pitchFamily="18" charset="0"/>
                              </a:rPr>
                            </m:ctrlPr>
                          </m:sSubPr>
                          <m:e>
                            <m:r>
                              <a:rPr lang="pt-BR" sz="2000" i="1">
                                <a:latin typeface="Cambria Math" panose="02040503050406030204" pitchFamily="18" charset="0"/>
                              </a:rPr>
                              <m:t>𝑁</m:t>
                            </m:r>
                          </m:e>
                          <m:sub>
                            <m:r>
                              <a:rPr lang="pt-BR" sz="2000" i="1">
                                <a:latin typeface="Cambria Math" panose="02040503050406030204" pitchFamily="18" charset="0"/>
                              </a:rPr>
                              <m:t>𝑀</m:t>
                            </m:r>
                          </m:sub>
                        </m:sSub>
                      </m:den>
                    </m:f>
                    <m:nary>
                      <m:naryPr>
                        <m:chr m:val="∑"/>
                        <m:ctrlPr>
                          <a:rPr lang="pt-BR" sz="2000" b="0" i="1" smtClean="0">
                            <a:latin typeface="Cambria Math" panose="02040503050406030204" pitchFamily="18" charset="0"/>
                          </a:rPr>
                        </m:ctrlPr>
                      </m:naryPr>
                      <m:sub>
                        <m:r>
                          <a:rPr lang="pt-BR" sz="2000" b="0" i="1" smtClean="0">
                            <a:latin typeface="Cambria Math" panose="02040503050406030204" pitchFamily="18" charset="0"/>
                          </a:rPr>
                          <m:t>𝑗</m:t>
                        </m:r>
                        <m:r>
                          <a:rPr lang="pt-BR" sz="2000" i="1">
                            <a:latin typeface="Cambria Math" panose="02040503050406030204" pitchFamily="18" charset="0"/>
                          </a:rPr>
                          <m:t>=1</m:t>
                        </m:r>
                      </m:sub>
                      <m:sup>
                        <m:sSub>
                          <m:sSubPr>
                            <m:ctrlPr>
                              <a:rPr lang="pt-BR" sz="2000" i="1">
                                <a:latin typeface="Cambria Math" panose="02040503050406030204" pitchFamily="18" charset="0"/>
                              </a:rPr>
                            </m:ctrlPr>
                          </m:sSubPr>
                          <m:e>
                            <m:r>
                              <a:rPr lang="pt-BR" sz="2000" i="1">
                                <a:latin typeface="Cambria Math" panose="02040503050406030204" pitchFamily="18" charset="0"/>
                              </a:rPr>
                              <m:t>𝑁</m:t>
                            </m:r>
                          </m:e>
                          <m:sub>
                            <m:r>
                              <a:rPr lang="pt-BR" sz="2000" i="1">
                                <a:latin typeface="Cambria Math" panose="02040503050406030204" pitchFamily="18" charset="0"/>
                              </a:rPr>
                              <m:t>𝑀</m:t>
                            </m:r>
                          </m:sub>
                        </m:sSub>
                      </m:sup>
                      <m:e>
                        <m:f>
                          <m:fPr>
                            <m:ctrlPr>
                              <a:rPr lang="pt-BR" sz="2000" i="1">
                                <a:latin typeface="Cambria Math" panose="02040503050406030204" pitchFamily="18" charset="0"/>
                              </a:rPr>
                            </m:ctrlPr>
                          </m:fPr>
                          <m:num>
                            <m:sSubSup>
                              <m:sSubSupPr>
                                <m:ctrlPr>
                                  <a:rPr lang="pt-BR" sz="2000" i="1">
                                    <a:latin typeface="Cambria Math" panose="02040503050406030204" pitchFamily="18" charset="0"/>
                                  </a:rPr>
                                </m:ctrlPr>
                              </m:sSubSupPr>
                              <m:e>
                                <m:r>
                                  <a:rPr lang="pt-BR" sz="2000" i="1">
                                    <a:latin typeface="Cambria Math" panose="02040503050406030204" pitchFamily="18" charset="0"/>
                                  </a:rPr>
                                  <m:t>𝜕</m:t>
                                </m:r>
                                <m:r>
                                  <a:rPr lang="pt-BR" sz="2000" i="1">
                                    <a:latin typeface="Cambria Math" panose="02040503050406030204" pitchFamily="18" charset="0"/>
                                  </a:rPr>
                                  <m:t>𝑒</m:t>
                                </m:r>
                              </m:e>
                              <m:sub>
                                <m:r>
                                  <a:rPr lang="pt-BR" sz="2000" i="1">
                                    <a:latin typeface="Cambria Math" panose="02040503050406030204" pitchFamily="18" charset="0"/>
                                  </a:rPr>
                                  <m:t>𝑗</m:t>
                                </m:r>
                              </m:sub>
                              <m:sup>
                                <m:r>
                                  <a:rPr lang="pt-BR" sz="2000" i="1">
                                    <a:latin typeface="Cambria Math" panose="02040503050406030204" pitchFamily="18" charset="0"/>
                                  </a:rPr>
                                  <m:t>2</m:t>
                                </m:r>
                              </m:sup>
                            </m:sSubSup>
                            <m:d>
                              <m:dPr>
                                <m:ctrlPr>
                                  <a:rPr lang="pt-BR" sz="2000" b="0" i="1" smtClean="0">
                                    <a:latin typeface="Cambria Math" panose="02040503050406030204" pitchFamily="18" charset="0"/>
                                  </a:rPr>
                                </m:ctrlPr>
                              </m:dPr>
                              <m:e>
                                <m:r>
                                  <a:rPr lang="pt-BR" sz="2000" b="0" i="1" smtClean="0">
                                    <a:latin typeface="Cambria Math" panose="02040503050406030204" pitchFamily="18" charset="0"/>
                                  </a:rPr>
                                  <m:t>𝑙</m:t>
                                </m:r>
                              </m:e>
                            </m:d>
                          </m:num>
                          <m:den>
                            <m:r>
                              <a:rPr lang="pt-BR" sz="2000" i="1">
                                <a:latin typeface="Cambria Math" panose="02040503050406030204" pitchFamily="18" charset="0"/>
                              </a:rPr>
                              <m:t>𝜕</m:t>
                            </m:r>
                            <m:r>
                              <a:rPr lang="pt-BR" sz="2000" b="1" i="1">
                                <a:latin typeface="Cambria Math" panose="02040503050406030204" pitchFamily="18" charset="0"/>
                              </a:rPr>
                              <m:t>𝑾</m:t>
                            </m:r>
                            <m:r>
                              <a:rPr lang="pt-BR" sz="2000" i="1">
                                <a:latin typeface="Cambria Math" panose="02040503050406030204" pitchFamily="18" charset="0"/>
                              </a:rPr>
                              <m:t>(</m:t>
                            </m:r>
                            <m:r>
                              <a:rPr lang="pt-BR" sz="2000" i="1">
                                <a:latin typeface="Cambria Math" panose="02040503050406030204" pitchFamily="18" charset="0"/>
                              </a:rPr>
                              <m:t>𝑘</m:t>
                            </m:r>
                            <m:r>
                              <a:rPr lang="pt-BR" sz="2000" i="1">
                                <a:latin typeface="Cambria Math" panose="02040503050406030204" pitchFamily="18" charset="0"/>
                              </a:rPr>
                              <m:t>)</m:t>
                            </m:r>
                          </m:den>
                        </m:f>
                      </m:e>
                    </m:nary>
                  </m:oMath>
                </a14:m>
                <a:r>
                  <a:rPr lang="en-US" sz="2000" dirty="0"/>
                  <a:t> é a </a:t>
                </a:r>
                <a:r>
                  <a:rPr lang="pt-BR" sz="2000" dirty="0"/>
                  <a:t>média da derivada parcial do erro para todas as </a:t>
                </a:r>
                <a14:m>
                  <m:oMath xmlns:m="http://schemas.openxmlformats.org/officeDocument/2006/math">
                    <m:sSub>
                      <m:sSubPr>
                        <m:ctrlPr>
                          <a:rPr lang="pt-BR" sz="2000" i="1">
                            <a:latin typeface="Cambria Math" panose="02040503050406030204" pitchFamily="18" charset="0"/>
                          </a:rPr>
                        </m:ctrlPr>
                      </m:sSubPr>
                      <m:e>
                        <m:r>
                          <a:rPr lang="pt-BR" sz="2000" i="1">
                            <a:latin typeface="Cambria Math" panose="02040503050406030204" pitchFamily="18" charset="0"/>
                          </a:rPr>
                          <m:t>𝑁</m:t>
                        </m:r>
                      </m:e>
                      <m:sub>
                        <m:r>
                          <a:rPr lang="pt-BR" sz="2000" i="1">
                            <a:latin typeface="Cambria Math" panose="02040503050406030204" pitchFamily="18" charset="0"/>
                          </a:rPr>
                          <m:t>𝑀</m:t>
                        </m:r>
                      </m:sub>
                    </m:sSub>
                  </m:oMath>
                </a14:m>
                <a:r>
                  <a:rPr lang="pt-BR" sz="2000" b="1" i="1" dirty="0"/>
                  <a:t> </a:t>
                </a:r>
                <a:r>
                  <a:rPr lang="pt-BR" sz="2000" dirty="0"/>
                  <a:t>saídas, mas considerando apenas a </a:t>
                </a:r>
                <a14:m>
                  <m:oMath xmlns:m="http://schemas.openxmlformats.org/officeDocument/2006/math">
                    <m:r>
                      <a:rPr lang="pt-BR" sz="2000" i="1">
                        <a:latin typeface="Cambria Math" panose="02040503050406030204" pitchFamily="18" charset="0"/>
                      </a:rPr>
                      <m:t>𝑙</m:t>
                    </m:r>
                  </m:oMath>
                </a14:m>
                <a:r>
                  <a:rPr lang="pt-BR" sz="2000" dirty="0"/>
                  <a:t>-</a:t>
                </a:r>
                <a:r>
                  <a:rPr lang="pt-BR" sz="2000" dirty="0" err="1"/>
                  <a:t>ésima</a:t>
                </a:r>
                <a:r>
                  <a:rPr lang="pt-BR" sz="2000" dirty="0"/>
                  <a:t> amostra.</a:t>
                </a:r>
              </a:p>
              <a:p>
                <a:r>
                  <a:rPr lang="pt-BR" sz="2000" b="1" dirty="0"/>
                  <a:t>OBS</a:t>
                </a:r>
                <a:r>
                  <a:rPr lang="pt-BR" sz="2000" dirty="0"/>
                  <a:t>.: O pseudocódigo apresentado </a:t>
                </a:r>
                <a:r>
                  <a:rPr lang="pt-BR" sz="2000" b="1" dirty="0">
                    <a:solidFill>
                      <a:srgbClr val="00B050"/>
                    </a:solidFill>
                  </a:rPr>
                  <a:t>implementa qualquer versão do gradiente descendente </a:t>
                </a:r>
                <a:r>
                  <a:rPr lang="pt-BR" sz="2000" dirty="0"/>
                  <a:t>variando-se o valor de </a:t>
                </a:r>
                <a14:m>
                  <m:oMath xmlns:m="http://schemas.openxmlformats.org/officeDocument/2006/math">
                    <m:r>
                      <a:rPr lang="pt-BR" sz="2000" i="1">
                        <a:latin typeface="Cambria Math" panose="02040503050406030204" pitchFamily="18" charset="0"/>
                      </a:rPr>
                      <m:t>𝐿</m:t>
                    </m:r>
                  </m:oMath>
                </a14:m>
                <a:r>
                  <a:rPr lang="en-US" sz="2000" dirty="0"/>
                  <a:t>.</a:t>
                </a:r>
              </a:p>
            </p:txBody>
          </p:sp>
        </mc:Choice>
        <mc:Fallback xmlns="">
          <p:sp>
            <p:nvSpPr>
              <p:cNvPr id="7" name="TextBox 6">
                <a:extLst>
                  <a:ext uri="{FF2B5EF4-FFF2-40B4-BE49-F238E27FC236}">
                    <a16:creationId xmlns:a16="http://schemas.microsoft.com/office/drawing/2014/main" xmlns="" xmlns:a14="http://schemas.microsoft.com/office/drawing/2010/main" id="{2F2C9DE9-D545-65C4-A22D-AD667E28EA40}"/>
                  </a:ext>
                </a:extLst>
              </p:cNvPr>
              <p:cNvSpPr txBox="1">
                <a:spLocks noRot="1" noChangeAspect="1" noMove="1" noResize="1" noEditPoints="1" noAdjustHandles="1" noChangeArrowheads="1" noChangeShapeType="1" noTextEdit="1"/>
              </p:cNvSpPr>
              <p:nvPr/>
            </p:nvSpPr>
            <p:spPr>
              <a:xfrm>
                <a:off x="288372" y="5167312"/>
                <a:ext cx="11720352" cy="1584473"/>
              </a:xfrm>
              <a:prstGeom prst="rect">
                <a:avLst/>
              </a:prstGeom>
              <a:blipFill rotWithShape="0">
                <a:blip r:embed="rId4"/>
                <a:stretch>
                  <a:fillRect l="-520" b="-6154"/>
                </a:stretch>
              </a:blipFill>
            </p:spPr>
            <p:txBody>
              <a:bodyPr/>
              <a:lstStyle/>
              <a:p>
                <a:r>
                  <a:rPr lang="pt-BR">
                    <a:noFill/>
                  </a:rPr>
                  <a:t> </a:t>
                </a:r>
              </a:p>
            </p:txBody>
          </p:sp>
        </mc:Fallback>
      </mc:AlternateContent>
      <p:sp>
        <p:nvSpPr>
          <p:cNvPr id="8" name="Título 1">
            <a:extLst>
              <a:ext uri="{FF2B5EF4-FFF2-40B4-BE49-F238E27FC236}">
                <a16:creationId xmlns:a16="http://schemas.microsoft.com/office/drawing/2014/main" id="{7C797BA3-01C1-34FF-1A32-022D4B90D6D3}"/>
              </a:ext>
            </a:extLst>
          </p:cNvPr>
          <p:cNvSpPr>
            <a:spLocks noGrp="1"/>
          </p:cNvSpPr>
          <p:nvPr>
            <p:ph type="title"/>
          </p:nvPr>
        </p:nvSpPr>
        <p:spPr>
          <a:xfrm>
            <a:off x="838200" y="365125"/>
            <a:ext cx="10515600" cy="1325563"/>
          </a:xfrm>
        </p:spPr>
        <p:txBody>
          <a:bodyPr/>
          <a:lstStyle/>
          <a:p>
            <a:r>
              <a:rPr lang="pt-BR" dirty="0"/>
              <a:t>Pseudocódigo da retropropagação</a:t>
            </a:r>
          </a:p>
        </p:txBody>
      </p:sp>
    </p:spTree>
    <p:extLst>
      <p:ext uri="{BB962C8B-B14F-4D97-AF65-F5344CB8AC3E}">
        <p14:creationId xmlns:p14="http://schemas.microsoft.com/office/powerpoint/2010/main" val="20495784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4E7DA-EA58-B340-CE6C-733198DA31C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63B405-8B06-A3BA-3DD8-F818E20B52B6}"/>
              </a:ext>
            </a:extLst>
          </p:cNvPr>
          <p:cNvSpPr>
            <a:spLocks noGrp="1"/>
          </p:cNvSpPr>
          <p:nvPr>
            <p:ph idx="1"/>
          </p:nvPr>
        </p:nvSpPr>
        <p:spPr>
          <a:xfrm>
            <a:off x="580103" y="2385193"/>
            <a:ext cx="11208773" cy="2087614"/>
          </a:xfrm>
        </p:spPr>
        <p:txBody>
          <a:bodyPr>
            <a:normAutofit/>
          </a:bodyPr>
          <a:lstStyle/>
          <a:p>
            <a:pPr marL="0" indent="0" algn="ctr">
              <a:buNone/>
            </a:pPr>
            <a:r>
              <a:rPr lang="pt-BR" sz="6600" dirty="0"/>
              <a:t>Vou ter que implementar tudo isso manualmente?</a:t>
            </a:r>
            <a:endParaRPr lang="en-US" sz="6600" dirty="0"/>
          </a:p>
        </p:txBody>
      </p:sp>
    </p:spTree>
    <p:extLst>
      <p:ext uri="{BB962C8B-B14F-4D97-AF65-F5344CB8AC3E}">
        <p14:creationId xmlns:p14="http://schemas.microsoft.com/office/powerpoint/2010/main" val="18586918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209863" y="5771214"/>
            <a:ext cx="11782270" cy="1086786"/>
          </a:xfrm>
        </p:spPr>
        <p:txBody>
          <a:bodyPr>
            <a:normAutofit/>
          </a:bodyPr>
          <a:lstStyle/>
          <a:p>
            <a:pPr marL="0" indent="0" algn="ctr">
              <a:buNone/>
            </a:pPr>
            <a:r>
              <a:rPr lang="pt-BR" dirty="0"/>
              <a:t>Não se preocupem, hoje em dia, não realizamos esse procedimento de forma manual, </a:t>
            </a:r>
            <a:r>
              <a:rPr lang="pt-BR" b="1" dirty="0">
                <a:solidFill>
                  <a:srgbClr val="00B050"/>
                </a:solidFill>
              </a:rPr>
              <a:t>usamos bibliotecas que automatizam o processo</a:t>
            </a:r>
            <a:r>
              <a:rPr lang="pt-BR" dirty="0"/>
              <a:t>.</a:t>
            </a:r>
          </a:p>
        </p:txBody>
      </p:sp>
      <p:pic>
        <p:nvPicPr>
          <p:cNvPr id="4" name="Imagem 3"/>
          <p:cNvPicPr>
            <a:picLocks noChangeAspect="1"/>
          </p:cNvPicPr>
          <p:nvPr/>
        </p:nvPicPr>
        <p:blipFill rotWithShape="1">
          <a:blip r:embed="rId3">
            <a:extLst>
              <a:ext uri="{28A0092B-C50C-407E-A947-70E740481C1C}">
                <a14:useLocalDpi xmlns:a14="http://schemas.microsoft.com/office/drawing/2010/main" val="0"/>
              </a:ext>
            </a:extLst>
          </a:blip>
          <a:srcRect t="11177"/>
          <a:stretch/>
        </p:blipFill>
        <p:spPr>
          <a:xfrm>
            <a:off x="1371288" y="284811"/>
            <a:ext cx="9045938" cy="5356561"/>
          </a:xfrm>
          <a:prstGeom prst="rect">
            <a:avLst/>
          </a:prstGeom>
        </p:spPr>
      </p:pic>
    </p:spTree>
    <p:extLst>
      <p:ext uri="{BB962C8B-B14F-4D97-AF65-F5344CB8AC3E}">
        <p14:creationId xmlns:p14="http://schemas.microsoft.com/office/powerpoint/2010/main" val="37667881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4846C0-51E0-1E6E-C355-7CFDCCBADB55}"/>
              </a:ext>
            </a:extLst>
          </p:cNvPr>
          <p:cNvSpPr>
            <a:spLocks noGrp="1"/>
          </p:cNvSpPr>
          <p:nvPr>
            <p:ph type="title"/>
          </p:nvPr>
        </p:nvSpPr>
        <p:spPr/>
        <p:txBody>
          <a:bodyPr/>
          <a:lstStyle/>
          <a:p>
            <a:r>
              <a:rPr lang="pt-BR" dirty="0"/>
              <a:t>Superfícies de erro de redes neurais</a:t>
            </a:r>
          </a:p>
        </p:txBody>
      </p:sp>
      <p:sp>
        <p:nvSpPr>
          <p:cNvPr id="3" name="Espaço Reservado para Conteúdo 2">
            <a:extLst>
              <a:ext uri="{FF2B5EF4-FFF2-40B4-BE49-F238E27FC236}">
                <a16:creationId xmlns:a16="http://schemas.microsoft.com/office/drawing/2014/main" id="{FC5297BC-C988-C160-D024-5B018A5B1D85}"/>
              </a:ext>
            </a:extLst>
          </p:cNvPr>
          <p:cNvSpPr>
            <a:spLocks noGrp="1"/>
          </p:cNvSpPr>
          <p:nvPr>
            <p:ph idx="1"/>
          </p:nvPr>
        </p:nvSpPr>
        <p:spPr>
          <a:xfrm>
            <a:off x="5919018" y="1825624"/>
            <a:ext cx="6115665" cy="5032375"/>
          </a:xfrm>
        </p:spPr>
        <p:txBody>
          <a:bodyPr>
            <a:normAutofit/>
          </a:bodyPr>
          <a:lstStyle/>
          <a:p>
            <a:r>
              <a:rPr lang="pt-BR" dirty="0"/>
              <a:t>Por serem formadas pela </a:t>
            </a:r>
            <a:r>
              <a:rPr lang="pt-BR" b="1" dirty="0">
                <a:solidFill>
                  <a:srgbClr val="00B050"/>
                </a:solidFill>
              </a:rPr>
              <a:t>combinação de vários nós com </a:t>
            </a:r>
            <a:r>
              <a:rPr lang="pt-BR" b="1" dirty="0">
                <a:solidFill>
                  <a:schemeClr val="accent2"/>
                </a:solidFill>
              </a:rPr>
              <a:t>funções de ativação não-lineares</a:t>
            </a:r>
            <a:r>
              <a:rPr lang="pt-BR" dirty="0"/>
              <a:t>, as superfícies de erro de redes neurais </a:t>
            </a:r>
            <a:r>
              <a:rPr lang="pt-BR" b="1" dirty="0">
                <a:solidFill>
                  <a:srgbClr val="FF0000"/>
                </a:solidFill>
              </a:rPr>
              <a:t>não são convexas</a:t>
            </a:r>
            <a:r>
              <a:rPr lang="pt-BR" dirty="0"/>
              <a:t>.</a:t>
            </a:r>
          </a:p>
          <a:p>
            <a:r>
              <a:rPr lang="pt-BR" dirty="0"/>
              <a:t>Elas são</a:t>
            </a:r>
            <a:r>
              <a:rPr lang="pt-BR" b="1" dirty="0"/>
              <a:t> </a:t>
            </a:r>
            <a:r>
              <a:rPr lang="pt-BR" b="1" dirty="0">
                <a:solidFill>
                  <a:srgbClr val="7030A0"/>
                </a:solidFill>
              </a:rPr>
              <a:t>altamente irregulares</a:t>
            </a:r>
            <a:r>
              <a:rPr lang="pt-BR" dirty="0"/>
              <a:t>, incluindo irregularidades como</a:t>
            </a:r>
          </a:p>
          <a:p>
            <a:pPr lvl="1">
              <a:buFont typeface="Wingdings" panose="05000000000000000000" pitchFamily="2" charset="2"/>
              <a:buChar char="§"/>
            </a:pPr>
            <a:r>
              <a:rPr lang="pt-BR" dirty="0"/>
              <a:t>Pontos de sela: o erro diminui em algumas direções e aumenta em outras.</a:t>
            </a:r>
          </a:p>
          <a:p>
            <a:pPr lvl="1">
              <a:buFont typeface="Wingdings" panose="05000000000000000000" pitchFamily="2" charset="2"/>
              <a:buChar char="§"/>
            </a:pPr>
            <a:r>
              <a:rPr lang="pt-BR" dirty="0"/>
              <a:t>Vários mínimos locais.</a:t>
            </a:r>
          </a:p>
          <a:p>
            <a:pPr lvl="1">
              <a:buFont typeface="Wingdings" panose="05000000000000000000" pitchFamily="2" charset="2"/>
              <a:buChar char="§"/>
            </a:pPr>
            <a:r>
              <a:rPr lang="pt-BR" dirty="0"/>
              <a:t>Platôs: região plana com erro alto.</a:t>
            </a:r>
          </a:p>
          <a:p>
            <a:pPr lvl="1">
              <a:buFont typeface="Wingdings" panose="05000000000000000000" pitchFamily="2" charset="2"/>
              <a:buChar char="§"/>
            </a:pPr>
            <a:r>
              <a:rPr lang="pt-BR" dirty="0"/>
              <a:t>etc.</a:t>
            </a:r>
          </a:p>
        </p:txBody>
      </p:sp>
      <p:pic>
        <p:nvPicPr>
          <p:cNvPr id="4" name="Picture 2" descr="challenges-1">
            <a:extLst>
              <a:ext uri="{FF2B5EF4-FFF2-40B4-BE49-F238E27FC236}">
                <a16:creationId xmlns:a16="http://schemas.microsoft.com/office/drawing/2014/main" id="{A242D308-FF50-6495-8B8A-181CABE2B70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264" r="8781"/>
          <a:stretch/>
        </p:blipFill>
        <p:spPr bwMode="auto">
          <a:xfrm>
            <a:off x="361621" y="2310580"/>
            <a:ext cx="4934581" cy="333439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F7349C4-A2CF-FB70-48DB-3FC8E5CCE268}"/>
              </a:ext>
            </a:extLst>
          </p:cNvPr>
          <p:cNvSpPr txBox="1"/>
          <p:nvPr/>
        </p:nvSpPr>
        <p:spPr>
          <a:xfrm>
            <a:off x="7555218" y="6581000"/>
            <a:ext cx="4636782" cy="276999"/>
          </a:xfrm>
          <a:prstGeom prst="rect">
            <a:avLst/>
          </a:prstGeom>
          <a:noFill/>
        </p:spPr>
        <p:txBody>
          <a:bodyPr wrap="none" rtlCol="0">
            <a:spAutoFit/>
          </a:bodyPr>
          <a:lstStyle/>
          <a:p>
            <a:r>
              <a:rPr lang="pt-BR" sz="1200" b="1" dirty="0"/>
              <a:t>OBS</a:t>
            </a:r>
            <a:r>
              <a:rPr lang="pt-BR" sz="1200" dirty="0"/>
              <a:t>.: O anexo II tem um breve explicação sobre pontos de sela e platôs.</a:t>
            </a:r>
            <a:endParaRPr lang="en-US" sz="1200" dirty="0"/>
          </a:p>
        </p:txBody>
      </p:sp>
    </p:spTree>
    <p:extLst>
      <p:ext uri="{BB962C8B-B14F-4D97-AF65-F5344CB8AC3E}">
        <p14:creationId xmlns:p14="http://schemas.microsoft.com/office/powerpoint/2010/main" val="24805446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Superfícies de erro irregulares</a:t>
            </a:r>
          </a:p>
        </p:txBody>
      </p:sp>
      <p:sp>
        <p:nvSpPr>
          <p:cNvPr id="3" name="Espaço Reservado para Conteúdo 2"/>
          <p:cNvSpPr>
            <a:spLocks noGrp="1"/>
          </p:cNvSpPr>
          <p:nvPr>
            <p:ph idx="1"/>
          </p:nvPr>
        </p:nvSpPr>
        <p:spPr>
          <a:xfrm>
            <a:off x="5520906" y="1825624"/>
            <a:ext cx="6487064" cy="5032375"/>
          </a:xfrm>
        </p:spPr>
        <p:txBody>
          <a:bodyPr>
            <a:normAutofit/>
          </a:bodyPr>
          <a:lstStyle/>
          <a:p>
            <a:r>
              <a:rPr lang="pt-BR" dirty="0"/>
              <a:t>Essas irregularidades causam</a:t>
            </a:r>
          </a:p>
          <a:p>
            <a:pPr lvl="1">
              <a:buFont typeface="Wingdings" panose="05000000000000000000" pitchFamily="2" charset="2"/>
              <a:buChar char="§"/>
            </a:pPr>
            <a:r>
              <a:rPr lang="pt-BR" dirty="0"/>
              <a:t>treinamento mais lento</a:t>
            </a:r>
          </a:p>
          <a:p>
            <a:pPr lvl="1">
              <a:buFont typeface="Wingdings" panose="05000000000000000000" pitchFamily="2" charset="2"/>
              <a:buChar char="§"/>
            </a:pPr>
            <a:r>
              <a:rPr lang="pt-BR" dirty="0"/>
              <a:t>instabilidade numérica</a:t>
            </a:r>
          </a:p>
          <a:p>
            <a:pPr lvl="1">
              <a:buFont typeface="Wingdings" panose="05000000000000000000" pitchFamily="2" charset="2"/>
              <a:buChar char="§"/>
            </a:pPr>
            <a:r>
              <a:rPr lang="pt-BR" dirty="0"/>
              <a:t>soluções diferentes para o mesmo problema</a:t>
            </a:r>
          </a:p>
          <a:p>
            <a:r>
              <a:rPr lang="pt-BR" dirty="0"/>
              <a:t>Ou seja, as </a:t>
            </a:r>
            <a:r>
              <a:rPr lang="pt-BR" b="1" dirty="0">
                <a:solidFill>
                  <a:srgbClr val="7030A0"/>
                </a:solidFill>
              </a:rPr>
              <a:t>irregularidades dificultam o aprendizado</a:t>
            </a:r>
            <a:r>
              <a:rPr lang="pt-BR" dirty="0"/>
              <a:t>.</a:t>
            </a:r>
          </a:p>
        </p:txBody>
      </p:sp>
      <p:pic>
        <p:nvPicPr>
          <p:cNvPr id="5" name="Imagem 4"/>
          <p:cNvPicPr>
            <a:picLocks noChangeAspect="1"/>
          </p:cNvPicPr>
          <p:nvPr/>
        </p:nvPicPr>
        <p:blipFill rotWithShape="1">
          <a:blip r:embed="rId3">
            <a:extLst>
              <a:ext uri="{28A0092B-C50C-407E-A947-70E740481C1C}">
                <a14:useLocalDpi xmlns:a14="http://schemas.microsoft.com/office/drawing/2010/main" val="0"/>
              </a:ext>
            </a:extLst>
          </a:blip>
          <a:srcRect l="4503" r="4330"/>
          <a:stretch/>
        </p:blipFill>
        <p:spPr>
          <a:xfrm>
            <a:off x="272921" y="2067165"/>
            <a:ext cx="5075456" cy="3777995"/>
          </a:xfrm>
          <a:prstGeom prst="rect">
            <a:avLst/>
          </a:prstGeom>
        </p:spPr>
      </p:pic>
    </p:spTree>
    <p:extLst>
      <p:ext uri="{BB962C8B-B14F-4D97-AF65-F5344CB8AC3E}">
        <p14:creationId xmlns:p14="http://schemas.microsoft.com/office/powerpoint/2010/main" val="3679973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4846C0-51E0-1E6E-C355-7CFDCCBADB55}"/>
              </a:ext>
            </a:extLst>
          </p:cNvPr>
          <p:cNvSpPr>
            <a:spLocks noGrp="1"/>
          </p:cNvSpPr>
          <p:nvPr>
            <p:ph type="title"/>
          </p:nvPr>
        </p:nvSpPr>
        <p:spPr/>
        <p:txBody>
          <a:bodyPr/>
          <a:lstStyle/>
          <a:p>
            <a:r>
              <a:rPr lang="pt-BR" dirty="0"/>
              <a:t>Superfícies de erro irregulares</a:t>
            </a:r>
          </a:p>
        </p:txBody>
      </p:sp>
      <p:sp>
        <p:nvSpPr>
          <p:cNvPr id="3" name="Espaço Reservado para Conteúdo 2">
            <a:extLst>
              <a:ext uri="{FF2B5EF4-FFF2-40B4-BE49-F238E27FC236}">
                <a16:creationId xmlns:a16="http://schemas.microsoft.com/office/drawing/2014/main" id="{FC5297BC-C988-C160-D024-5B018A5B1D85}"/>
              </a:ext>
            </a:extLst>
          </p:cNvPr>
          <p:cNvSpPr>
            <a:spLocks noGrp="1"/>
          </p:cNvSpPr>
          <p:nvPr>
            <p:ph idx="1"/>
          </p:nvPr>
        </p:nvSpPr>
        <p:spPr>
          <a:xfrm>
            <a:off x="5317588" y="1825624"/>
            <a:ext cx="6874412" cy="5032375"/>
          </a:xfrm>
        </p:spPr>
        <p:txBody>
          <a:bodyPr>
            <a:normAutofit/>
          </a:bodyPr>
          <a:lstStyle/>
          <a:p>
            <a:r>
              <a:rPr lang="pt-BR" sz="2800" dirty="0"/>
              <a:t>Felizmente, </a:t>
            </a:r>
            <a:r>
              <a:rPr lang="pt-BR" dirty="0"/>
              <a:t>como mostrado em [1, 2], </a:t>
            </a:r>
            <a:r>
              <a:rPr lang="pt-BR" sz="2800" dirty="0"/>
              <a:t>em </a:t>
            </a:r>
            <a:r>
              <a:rPr lang="pt-BR" dirty="0"/>
              <a:t>geral</a:t>
            </a:r>
            <a:r>
              <a:rPr lang="pt-BR" sz="2800" dirty="0"/>
              <a:t>,</a:t>
            </a:r>
            <a:r>
              <a:rPr lang="pt-BR" dirty="0"/>
              <a:t> </a:t>
            </a:r>
            <a:r>
              <a:rPr lang="pt-BR" sz="2800" b="1" dirty="0">
                <a:solidFill>
                  <a:srgbClr val="7030A0"/>
                </a:solidFill>
              </a:rPr>
              <a:t>quase todos os mínimos locais têm erro próximo ao do mínimo global</a:t>
            </a:r>
            <a:r>
              <a:rPr lang="pt-BR" sz="2800" dirty="0"/>
              <a:t> e, portanto, encontrar um desses mínimos locais já é bom o suficiente para um dado problema.</a:t>
            </a:r>
          </a:p>
          <a:p>
            <a:r>
              <a:rPr lang="pt-BR" dirty="0"/>
              <a:t>Isso explica porque o </a:t>
            </a:r>
            <a:r>
              <a:rPr lang="pt-BR" b="1" dirty="0"/>
              <a:t>gradiente descendente funciona bem mesmo em problemas altamente não convexos</a:t>
            </a:r>
            <a:r>
              <a:rPr lang="pt-BR" dirty="0"/>
              <a:t>.</a:t>
            </a:r>
          </a:p>
          <a:p>
            <a:pPr marL="0" indent="0">
              <a:buNone/>
            </a:pPr>
            <a:endParaRPr lang="pt-BR" sz="100" dirty="0"/>
          </a:p>
        </p:txBody>
      </p:sp>
      <p:sp>
        <p:nvSpPr>
          <p:cNvPr id="5" name="TextBox 4">
            <a:extLst>
              <a:ext uri="{FF2B5EF4-FFF2-40B4-BE49-F238E27FC236}">
                <a16:creationId xmlns:a16="http://schemas.microsoft.com/office/drawing/2014/main" id="{9B74B76A-B8B0-D432-AC7E-F202A7A43FA3}"/>
              </a:ext>
            </a:extLst>
          </p:cNvPr>
          <p:cNvSpPr txBox="1"/>
          <p:nvPr/>
        </p:nvSpPr>
        <p:spPr>
          <a:xfrm>
            <a:off x="6164826" y="6387960"/>
            <a:ext cx="6027174" cy="461665"/>
          </a:xfrm>
          <a:prstGeom prst="rect">
            <a:avLst/>
          </a:prstGeom>
          <a:noFill/>
        </p:spPr>
        <p:txBody>
          <a:bodyPr wrap="square">
            <a:spAutoFit/>
          </a:bodyPr>
          <a:lstStyle/>
          <a:p>
            <a:r>
              <a:rPr lang="en-US" sz="1200" dirty="0"/>
              <a:t>[1] Anna </a:t>
            </a:r>
            <a:r>
              <a:rPr lang="en-US" sz="1200" dirty="0" err="1"/>
              <a:t>Choromanska</a:t>
            </a:r>
            <a:r>
              <a:rPr lang="en-US" sz="1200" dirty="0"/>
              <a:t>, Yann LeCun et al., “The Loss Surfaces of Multilayer Networks”, 2015</a:t>
            </a:r>
          </a:p>
          <a:p>
            <a:r>
              <a:rPr lang="en-US" sz="1200" dirty="0"/>
              <a:t>[2] Benjamin D. </a:t>
            </a:r>
            <a:r>
              <a:rPr lang="en-US" sz="1200" dirty="0" err="1"/>
              <a:t>Haeffele</a:t>
            </a:r>
            <a:r>
              <a:rPr lang="en-US" sz="1200" dirty="0"/>
              <a:t>, Rene Vidal, “Global Optimality in Neural Network Training”, 2017</a:t>
            </a:r>
          </a:p>
        </p:txBody>
      </p:sp>
      <p:pic>
        <p:nvPicPr>
          <p:cNvPr id="7" name="Picture 2" descr="challenges-1">
            <a:extLst>
              <a:ext uri="{FF2B5EF4-FFF2-40B4-BE49-F238E27FC236}">
                <a16:creationId xmlns:a16="http://schemas.microsoft.com/office/drawing/2014/main" id="{BD7D1F16-6FDA-1C81-3214-00FAB95D65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264" r="8781"/>
          <a:stretch/>
        </p:blipFill>
        <p:spPr bwMode="auto">
          <a:xfrm>
            <a:off x="206878" y="2514763"/>
            <a:ext cx="4632410" cy="31302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56591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781929" y="2529009"/>
            <a:ext cx="10515600" cy="1817907"/>
          </a:xfrm>
        </p:spPr>
        <p:txBody>
          <a:bodyPr>
            <a:normAutofit/>
          </a:bodyPr>
          <a:lstStyle/>
          <a:p>
            <a:pPr marL="0" indent="0" algn="ctr">
              <a:buNone/>
            </a:pPr>
            <a:r>
              <a:rPr lang="pt-BR" sz="5400" dirty="0"/>
              <a:t>Mas como garantir que o valor de erro encontrado é bom o suficiente?</a:t>
            </a:r>
          </a:p>
        </p:txBody>
      </p:sp>
    </p:spTree>
    <p:extLst>
      <p:ext uri="{BB962C8B-B14F-4D97-AF65-F5344CB8AC3E}">
        <p14:creationId xmlns:p14="http://schemas.microsoft.com/office/powerpoint/2010/main" val="40715787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CE6215-F8F6-B2CE-55D3-12C93532E35F}"/>
              </a:ext>
            </a:extLst>
          </p:cNvPr>
          <p:cNvSpPr>
            <a:spLocks noGrp="1"/>
          </p:cNvSpPr>
          <p:nvPr>
            <p:ph type="title"/>
          </p:nvPr>
        </p:nvSpPr>
        <p:spPr>
          <a:xfrm>
            <a:off x="838199" y="365125"/>
            <a:ext cx="11145253" cy="1325563"/>
          </a:xfrm>
        </p:spPr>
        <p:txBody>
          <a:bodyPr/>
          <a:lstStyle/>
          <a:p>
            <a:r>
              <a:rPr lang="pt-BR" dirty="0"/>
              <a:t>O erro encontrado é suficientemente bom?</a:t>
            </a:r>
          </a:p>
        </p:txBody>
      </p:sp>
      <p:sp>
        <p:nvSpPr>
          <p:cNvPr id="3" name="Espaço Reservado para Conteúdo 2">
            <a:extLst>
              <a:ext uri="{FF2B5EF4-FFF2-40B4-BE49-F238E27FC236}">
                <a16:creationId xmlns:a16="http://schemas.microsoft.com/office/drawing/2014/main" id="{9A61C462-DCAD-E604-85FB-9F3661AB03C1}"/>
              </a:ext>
            </a:extLst>
          </p:cNvPr>
          <p:cNvSpPr>
            <a:spLocks noGrp="1"/>
          </p:cNvSpPr>
          <p:nvPr>
            <p:ph idx="1"/>
          </p:nvPr>
        </p:nvSpPr>
        <p:spPr>
          <a:xfrm>
            <a:off x="838200" y="1825624"/>
            <a:ext cx="10972800" cy="5032375"/>
          </a:xfrm>
        </p:spPr>
        <p:txBody>
          <a:bodyPr>
            <a:normAutofit/>
          </a:bodyPr>
          <a:lstStyle/>
          <a:p>
            <a:r>
              <a:rPr lang="pt-BR" dirty="0"/>
              <a:t>Devemos </a:t>
            </a:r>
            <a:r>
              <a:rPr lang="pt-BR" b="1" dirty="0">
                <a:solidFill>
                  <a:srgbClr val="7030A0"/>
                </a:solidFill>
              </a:rPr>
              <a:t>avaliar a generalização </a:t>
            </a:r>
            <a:r>
              <a:rPr lang="pt-BR" dirty="0"/>
              <a:t>em dados não utilizados no treinamento.</a:t>
            </a:r>
          </a:p>
          <a:p>
            <a:r>
              <a:rPr lang="pt-BR" noProof="0" dirty="0"/>
              <a:t>O modelo é considerado adequado se </a:t>
            </a:r>
            <a:r>
              <a:rPr lang="pt-BR" dirty="0"/>
              <a:t>apresenta </a:t>
            </a:r>
            <a:r>
              <a:rPr lang="pt-BR" b="1" dirty="0">
                <a:solidFill>
                  <a:srgbClr val="00B050"/>
                </a:solidFill>
              </a:rPr>
              <a:t>bom desempenho fora do conjunto de treinamento</a:t>
            </a:r>
            <a:r>
              <a:rPr lang="pt-BR" dirty="0"/>
              <a:t>.</a:t>
            </a:r>
          </a:p>
          <a:p>
            <a:pPr lvl="1">
              <a:buFont typeface="Wingdings" panose="05000000000000000000" pitchFamily="2" charset="2"/>
              <a:buChar char="§"/>
            </a:pPr>
            <a:r>
              <a:rPr lang="pt-BR" dirty="0"/>
              <a:t>Ou seja, bom desempenho nos conjuntos de validação e teste.</a:t>
            </a:r>
          </a:p>
          <a:p>
            <a:r>
              <a:rPr lang="pt-BR" dirty="0"/>
              <a:t>Um bom mínimo local, que generalize bem, costuma bastar.</a:t>
            </a:r>
            <a:endParaRPr lang="pt-BR" noProof="0" dirty="0"/>
          </a:p>
        </p:txBody>
      </p:sp>
    </p:spTree>
    <p:extLst>
      <p:ext uri="{BB962C8B-B14F-4D97-AF65-F5344CB8AC3E}">
        <p14:creationId xmlns:p14="http://schemas.microsoft.com/office/powerpoint/2010/main" val="2735368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CE6215-F8F6-B2CE-55D3-12C93532E35F}"/>
              </a:ext>
            </a:extLst>
          </p:cNvPr>
          <p:cNvSpPr>
            <a:spLocks noGrp="1"/>
          </p:cNvSpPr>
          <p:nvPr>
            <p:ph type="title"/>
          </p:nvPr>
        </p:nvSpPr>
        <p:spPr>
          <a:xfrm>
            <a:off x="838199" y="365125"/>
            <a:ext cx="11145253" cy="1325563"/>
          </a:xfrm>
        </p:spPr>
        <p:txBody>
          <a:bodyPr/>
          <a:lstStyle/>
          <a:p>
            <a:r>
              <a:rPr lang="pt-BR" dirty="0"/>
              <a:t>Como avaliar a estabilidade da otimização?</a:t>
            </a:r>
          </a:p>
        </p:txBody>
      </p:sp>
      <p:sp>
        <p:nvSpPr>
          <p:cNvPr id="3" name="Espaço Reservado para Conteúdo 2">
            <a:extLst>
              <a:ext uri="{FF2B5EF4-FFF2-40B4-BE49-F238E27FC236}">
                <a16:creationId xmlns:a16="http://schemas.microsoft.com/office/drawing/2014/main" id="{9A61C462-DCAD-E604-85FB-9F3661AB03C1}"/>
              </a:ext>
            </a:extLst>
          </p:cNvPr>
          <p:cNvSpPr>
            <a:spLocks noGrp="1"/>
          </p:cNvSpPr>
          <p:nvPr>
            <p:ph idx="1"/>
          </p:nvPr>
        </p:nvSpPr>
        <p:spPr>
          <a:xfrm>
            <a:off x="838200" y="1825624"/>
            <a:ext cx="11353800" cy="5032375"/>
          </a:xfrm>
        </p:spPr>
        <p:txBody>
          <a:bodyPr>
            <a:normAutofit lnSpcReduction="10000"/>
          </a:bodyPr>
          <a:lstStyle/>
          <a:p>
            <a:r>
              <a:rPr lang="pt-BR" b="1" dirty="0">
                <a:solidFill>
                  <a:schemeClr val="accent1"/>
                </a:solidFill>
              </a:rPr>
              <a:t>Repetir o treinamento</a:t>
            </a:r>
            <a:r>
              <a:rPr lang="pt-BR" dirty="0">
                <a:solidFill>
                  <a:schemeClr val="accent1"/>
                </a:solidFill>
              </a:rPr>
              <a:t> </a:t>
            </a:r>
            <a:r>
              <a:rPr lang="pt-BR" dirty="0"/>
              <a:t>com diferentes inicializações aleatórias (i.e., pesos iniciais).</a:t>
            </a:r>
          </a:p>
          <a:p>
            <a:r>
              <a:rPr lang="pt-BR" b="1" dirty="0"/>
              <a:t>Comparar as métricas</a:t>
            </a:r>
            <a:r>
              <a:rPr lang="pt-BR" dirty="0"/>
              <a:t> de treino, validação e teste entre as repetições. </a:t>
            </a:r>
          </a:p>
          <a:p>
            <a:pPr lvl="1">
              <a:buFont typeface="Wingdings" panose="05000000000000000000" pitchFamily="2" charset="2"/>
              <a:buChar char="§"/>
            </a:pPr>
            <a:r>
              <a:rPr lang="pt-BR" dirty="0"/>
              <a:t>Reportar </a:t>
            </a:r>
            <a:r>
              <a:rPr lang="pt-BR" b="1" dirty="0"/>
              <a:t>média e desvio padrão</a:t>
            </a:r>
            <a:r>
              <a:rPr lang="pt-BR" dirty="0"/>
              <a:t> (por exemplo, 5 a 10 execuções).</a:t>
            </a:r>
          </a:p>
          <a:p>
            <a:r>
              <a:rPr lang="pt-BR" b="1" dirty="0">
                <a:solidFill>
                  <a:srgbClr val="00B0F0"/>
                </a:solidFill>
              </a:rPr>
              <a:t>Desempenho semelhante</a:t>
            </a:r>
            <a:r>
              <a:rPr lang="pt-BR" dirty="0"/>
              <a:t>: evidência de estabilidade da otimização. </a:t>
            </a:r>
          </a:p>
          <a:p>
            <a:pPr lvl="1">
              <a:buFont typeface="Wingdings" panose="05000000000000000000" pitchFamily="2" charset="2"/>
              <a:buChar char="§"/>
            </a:pPr>
            <a:r>
              <a:rPr lang="pt-BR" dirty="0"/>
              <a:t>O algoritmo encontra, </a:t>
            </a:r>
            <a:r>
              <a:rPr lang="pt-BR" b="1" dirty="0">
                <a:solidFill>
                  <a:srgbClr val="00B050"/>
                </a:solidFill>
              </a:rPr>
              <a:t>de forma consistente</a:t>
            </a:r>
            <a:r>
              <a:rPr lang="pt-BR" dirty="0"/>
              <a:t>, soluções boas.</a:t>
            </a:r>
          </a:p>
          <a:p>
            <a:r>
              <a:rPr lang="pt-BR" b="1" dirty="0">
                <a:solidFill>
                  <a:srgbClr val="FF0000"/>
                </a:solidFill>
              </a:rPr>
              <a:t>Desempenho muito diferente</a:t>
            </a:r>
            <a:r>
              <a:rPr lang="pt-BR" dirty="0"/>
              <a:t>: investigar possíveis causas: </a:t>
            </a:r>
          </a:p>
          <a:p>
            <a:pPr lvl="1">
              <a:buFont typeface="Wingdings" panose="05000000000000000000" pitchFamily="2" charset="2"/>
              <a:buChar char="§"/>
            </a:pPr>
            <a:r>
              <a:rPr lang="pt-BR" dirty="0"/>
              <a:t>Taxa de aprendizado inadequada</a:t>
            </a:r>
          </a:p>
          <a:p>
            <a:pPr lvl="1">
              <a:buFont typeface="Wingdings" panose="05000000000000000000" pitchFamily="2" charset="2"/>
              <a:buChar char="§"/>
            </a:pPr>
            <a:r>
              <a:rPr lang="pt-BR" dirty="0"/>
              <a:t>Sensibilidade à inicialização</a:t>
            </a:r>
          </a:p>
          <a:p>
            <a:pPr lvl="1">
              <a:buFont typeface="Wingdings" panose="05000000000000000000" pitchFamily="2" charset="2"/>
              <a:buChar char="§"/>
            </a:pPr>
            <a:r>
              <a:rPr lang="pt-BR" dirty="0"/>
              <a:t>Treinamento insuficiente (poucas épocas)</a:t>
            </a:r>
          </a:p>
          <a:p>
            <a:pPr lvl="1">
              <a:buFont typeface="Wingdings" panose="05000000000000000000" pitchFamily="2" charset="2"/>
              <a:buChar char="§"/>
            </a:pPr>
            <a:r>
              <a:rPr lang="pt-BR" dirty="0"/>
              <a:t>Mínimos de qualidade muito distinta (algoritmo converge para pontos diferentes)</a:t>
            </a:r>
          </a:p>
          <a:p>
            <a:r>
              <a:rPr lang="pt-BR" b="1" dirty="0"/>
              <a:t>Cuidado</a:t>
            </a:r>
            <a:r>
              <a:rPr lang="pt-BR" dirty="0"/>
              <a:t>: estabilidade não garante que o mínimo global foi encontrado.</a:t>
            </a:r>
          </a:p>
        </p:txBody>
      </p:sp>
    </p:spTree>
    <p:extLst>
      <p:ext uri="{BB962C8B-B14F-4D97-AF65-F5344CB8AC3E}">
        <p14:creationId xmlns:p14="http://schemas.microsoft.com/office/powerpoint/2010/main" val="10792188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AB8438-E56E-2412-517C-8456E4CA773C}"/>
              </a:ext>
            </a:extLst>
          </p:cNvPr>
          <p:cNvSpPr>
            <a:spLocks noGrp="1"/>
          </p:cNvSpPr>
          <p:nvPr>
            <p:ph type="title"/>
          </p:nvPr>
        </p:nvSpPr>
        <p:spPr/>
        <p:txBody>
          <a:bodyPr/>
          <a:lstStyle/>
          <a:p>
            <a:r>
              <a:rPr lang="pt-BR" dirty="0"/>
              <a:t>Exemplo</a:t>
            </a:r>
          </a:p>
        </p:txBody>
      </p:sp>
      <p:sp>
        <p:nvSpPr>
          <p:cNvPr id="3" name="Espaço Reservado para Conteúdo 2">
            <a:extLst>
              <a:ext uri="{FF2B5EF4-FFF2-40B4-BE49-F238E27FC236}">
                <a16:creationId xmlns:a16="http://schemas.microsoft.com/office/drawing/2014/main" id="{F7E2B09C-6D56-4C9F-A364-B904CCE2F1A0}"/>
              </a:ext>
            </a:extLst>
          </p:cNvPr>
          <p:cNvSpPr>
            <a:spLocks noGrp="1"/>
          </p:cNvSpPr>
          <p:nvPr>
            <p:ph idx="1"/>
          </p:nvPr>
        </p:nvSpPr>
        <p:spPr/>
        <p:txBody>
          <a:bodyPr/>
          <a:lstStyle/>
          <a:p>
            <a:r>
              <a:rPr lang="pt-BR" dirty="0">
                <a:hlinkClick r:id="rId3"/>
              </a:rPr>
              <a:t>Exemplo: </a:t>
            </a:r>
            <a:r>
              <a:rPr lang="pt-BR" dirty="0" err="1">
                <a:hlinkClick r:id="rId3"/>
              </a:rPr>
              <a:t>mlp.ipynb</a:t>
            </a:r>
            <a:endParaRPr lang="en-US" dirty="0"/>
          </a:p>
          <a:p>
            <a:pPr marL="0" indent="0">
              <a:buNone/>
            </a:pPr>
            <a:endParaRPr lang="pt-BR" dirty="0"/>
          </a:p>
        </p:txBody>
      </p:sp>
      <p:grpSp>
        <p:nvGrpSpPr>
          <p:cNvPr id="18" name="Group 17">
            <a:extLst>
              <a:ext uri="{FF2B5EF4-FFF2-40B4-BE49-F238E27FC236}">
                <a16:creationId xmlns:a16="http://schemas.microsoft.com/office/drawing/2014/main" id="{627C64FD-88E0-EC8E-2A34-0D5737B4C854}"/>
              </a:ext>
            </a:extLst>
          </p:cNvPr>
          <p:cNvGrpSpPr/>
          <p:nvPr/>
        </p:nvGrpSpPr>
        <p:grpSpPr>
          <a:xfrm>
            <a:off x="1752685" y="2681262"/>
            <a:ext cx="8371070" cy="2659743"/>
            <a:chOff x="1752685" y="2681262"/>
            <a:chExt cx="8371070" cy="2659743"/>
          </a:xfrm>
        </p:grpSpPr>
        <p:pic>
          <p:nvPicPr>
            <p:cNvPr id="12" name="Picture 4" descr="Project Jupyter | Try Jupyter">
              <a:extLst>
                <a:ext uri="{FF2B5EF4-FFF2-40B4-BE49-F238E27FC236}">
                  <a16:creationId xmlns:a16="http://schemas.microsoft.com/office/drawing/2014/main" id="{FF92EA36-91E7-292B-D7A0-2D4D83A10F9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31027" y="3102450"/>
              <a:ext cx="3461657" cy="181737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Google Colaboratory Colab - Guía Completa Español - Marketing Branding">
              <a:extLst>
                <a:ext uri="{FF2B5EF4-FFF2-40B4-BE49-F238E27FC236}">
                  <a16:creationId xmlns:a16="http://schemas.microsoft.com/office/drawing/2014/main" id="{46F1718A-89E6-9E63-E40B-2B19852D6AA0}"/>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5865" r="10641"/>
            <a:stretch/>
          </p:blipFill>
          <p:spPr bwMode="auto">
            <a:xfrm>
              <a:off x="6792684" y="2681262"/>
              <a:ext cx="3331071" cy="265974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IT12A01: FUNDAMENTALS OF PYTHON PROGRAMMING (SF) (SYNCHRONOUS E-LEARNING) -  NTUC LearningHub">
              <a:extLst>
                <a:ext uri="{FF2B5EF4-FFF2-40B4-BE49-F238E27FC236}">
                  <a16:creationId xmlns:a16="http://schemas.microsoft.com/office/drawing/2014/main" id="{33F6B1B4-9B79-D634-3E35-33F24609C84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3319" r="20198"/>
            <a:stretch/>
          </p:blipFill>
          <p:spPr bwMode="auto">
            <a:xfrm>
              <a:off x="1752685" y="3176833"/>
              <a:ext cx="1894114" cy="1877924"/>
            </a:xfrm>
            <a:prstGeom prst="rect">
              <a:avLst/>
            </a:prstGeom>
            <a:noFill/>
            <a:extLst>
              <a:ext uri="{909E8E84-426E-40DD-AFC4-6F175D3DCCD1}">
                <a14:hiddenFill xmlns:a14="http://schemas.microsoft.com/office/drawing/2010/main">
                  <a:solidFill>
                    <a:srgbClr val="FFFFFF"/>
                  </a:solidFill>
                </a14:hiddenFill>
              </a:ext>
            </a:extLst>
          </p:spPr>
        </p:pic>
        <p:sp>
          <p:nvSpPr>
            <p:cNvPr id="15" name="Sinal de Adição 7">
              <a:extLst>
                <a:ext uri="{FF2B5EF4-FFF2-40B4-BE49-F238E27FC236}">
                  <a16:creationId xmlns:a16="http://schemas.microsoft.com/office/drawing/2014/main" id="{6959EE6C-DCDB-E78B-5C50-EBD3FF3049E2}"/>
                </a:ext>
              </a:extLst>
            </p:cNvPr>
            <p:cNvSpPr>
              <a:spLocks noChangeAspect="1"/>
            </p:cNvSpPr>
            <p:nvPr/>
          </p:nvSpPr>
          <p:spPr>
            <a:xfrm>
              <a:off x="3646799" y="3545037"/>
              <a:ext cx="468000" cy="4680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Sinal de Adição 10">
              <a:extLst>
                <a:ext uri="{FF2B5EF4-FFF2-40B4-BE49-F238E27FC236}">
                  <a16:creationId xmlns:a16="http://schemas.microsoft.com/office/drawing/2014/main" id="{30A21FDB-ABA6-9FD5-49EF-7762414AEF0C}"/>
                </a:ext>
              </a:extLst>
            </p:cNvPr>
            <p:cNvSpPr>
              <a:spLocks noChangeAspect="1"/>
            </p:cNvSpPr>
            <p:nvPr/>
          </p:nvSpPr>
          <p:spPr>
            <a:xfrm>
              <a:off x="6096043" y="3467980"/>
              <a:ext cx="468000" cy="4680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40578833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D0E11-3B37-4336-5BF0-C8C033354AF6}"/>
              </a:ext>
            </a:extLst>
          </p:cNvPr>
          <p:cNvSpPr>
            <a:spLocks noGrp="1"/>
          </p:cNvSpPr>
          <p:nvPr>
            <p:ph type="title"/>
          </p:nvPr>
        </p:nvSpPr>
        <p:spPr/>
        <p:txBody>
          <a:bodyPr/>
          <a:lstStyle/>
          <a:p>
            <a:r>
              <a:rPr lang="pt-BR" dirty="0"/>
              <a:t>Lista de exercícios</a:t>
            </a:r>
            <a:endParaRPr lang="en-US" dirty="0"/>
          </a:p>
        </p:txBody>
      </p:sp>
      <p:sp>
        <p:nvSpPr>
          <p:cNvPr id="3" name="Content Placeholder 2">
            <a:extLst>
              <a:ext uri="{FF2B5EF4-FFF2-40B4-BE49-F238E27FC236}">
                <a16:creationId xmlns:a16="http://schemas.microsoft.com/office/drawing/2014/main" id="{32CB14AB-72E4-05EB-962C-F8B4618D0574}"/>
              </a:ext>
            </a:extLst>
          </p:cNvPr>
          <p:cNvSpPr>
            <a:spLocks noGrp="1"/>
          </p:cNvSpPr>
          <p:nvPr>
            <p:ph idx="1"/>
          </p:nvPr>
        </p:nvSpPr>
        <p:spPr/>
        <p:txBody>
          <a:bodyPr/>
          <a:lstStyle/>
          <a:p>
            <a:pPr marL="0" indent="0">
              <a:buNone/>
            </a:pPr>
            <a:r>
              <a:rPr lang="pt-BR" dirty="0">
                <a:hlinkClick r:id="rId3"/>
              </a:rPr>
              <a:t>Lista #9 - MLP</a:t>
            </a:r>
            <a:endParaRPr lang="en-US" dirty="0"/>
          </a:p>
        </p:txBody>
      </p:sp>
    </p:spTree>
    <p:extLst>
      <p:ext uri="{BB962C8B-B14F-4D97-AF65-F5344CB8AC3E}">
        <p14:creationId xmlns:p14="http://schemas.microsoft.com/office/powerpoint/2010/main" val="34372170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Perguntas?</a:t>
            </a:r>
            <a:endParaRPr lang="pt-BR" sz="6600" b="1" i="1" dirty="0"/>
          </a:p>
        </p:txBody>
      </p:sp>
    </p:spTree>
    <p:extLst>
      <p:ext uri="{BB962C8B-B14F-4D97-AF65-F5344CB8AC3E}">
        <p14:creationId xmlns:p14="http://schemas.microsoft.com/office/powerpoint/2010/main" val="41097133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endParaRPr lang="pt-BR" sz="6600" b="1" i="1" dirty="0"/>
          </a:p>
        </p:txBody>
      </p:sp>
    </p:spTree>
    <p:extLst>
      <p:ext uri="{BB962C8B-B14F-4D97-AF65-F5344CB8AC3E}">
        <p14:creationId xmlns:p14="http://schemas.microsoft.com/office/powerpoint/2010/main" val="14523087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96B82-EF66-0968-9E1A-B048DD13D85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FCAF9B-16C2-FD8E-435F-11A771041C8F}"/>
              </a:ext>
            </a:extLst>
          </p:cNvPr>
          <p:cNvSpPr>
            <a:spLocks noGrp="1"/>
          </p:cNvSpPr>
          <p:nvPr>
            <p:ph idx="1"/>
          </p:nvPr>
        </p:nvSpPr>
        <p:spPr>
          <a:xfrm>
            <a:off x="491613" y="2422478"/>
            <a:ext cx="11208773" cy="2013043"/>
          </a:xfrm>
        </p:spPr>
        <p:txBody>
          <a:bodyPr>
            <a:normAutofit/>
          </a:bodyPr>
          <a:lstStyle/>
          <a:p>
            <a:pPr marL="0" indent="0" algn="ctr">
              <a:buNone/>
            </a:pPr>
            <a:r>
              <a:rPr lang="pt-BR" sz="6600" dirty="0"/>
              <a:t>Anexo I: Desaparecimento e explosão do gradiente</a:t>
            </a:r>
            <a:endParaRPr lang="en-US" sz="6600" dirty="0"/>
          </a:p>
        </p:txBody>
      </p:sp>
    </p:spTree>
    <p:extLst>
      <p:ext uri="{BB962C8B-B14F-4D97-AF65-F5344CB8AC3E}">
        <p14:creationId xmlns:p14="http://schemas.microsoft.com/office/powerpoint/2010/main" val="27051982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20337-AB8B-9B66-8DCB-4A4BF80A6194}"/>
              </a:ext>
            </a:extLst>
          </p:cNvPr>
          <p:cNvSpPr>
            <a:spLocks noGrp="1"/>
          </p:cNvSpPr>
          <p:nvPr>
            <p:ph type="title"/>
          </p:nvPr>
        </p:nvSpPr>
        <p:spPr/>
        <p:txBody>
          <a:bodyPr/>
          <a:lstStyle/>
          <a:p>
            <a:r>
              <a:rPr lang="pt-BR" dirty="0"/>
              <a:t>Derivada parcial do erro</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17E2E8-C427-8782-DBAB-8F877FEA946C}"/>
                  </a:ext>
                </a:extLst>
              </p:cNvPr>
              <p:cNvSpPr>
                <a:spLocks noGrp="1"/>
              </p:cNvSpPr>
              <p:nvPr>
                <p:ph idx="1"/>
              </p:nvPr>
            </p:nvSpPr>
            <p:spPr>
              <a:xfrm>
                <a:off x="838199" y="2819048"/>
                <a:ext cx="11353801" cy="4038949"/>
              </a:xfrm>
            </p:spPr>
            <p:txBody>
              <a:bodyPr/>
              <a:lstStyle/>
              <a:p>
                <a:r>
                  <a:rPr lang="pt-BR" dirty="0"/>
                  <a:t>Vamos usar novamente a rede com </a:t>
                </a:r>
                <a:r>
                  <a:rPr lang="pt-BR" b="1" dirty="0"/>
                  <a:t>3 camadas</a:t>
                </a:r>
                <a:r>
                  <a:rPr lang="pt-BR" dirty="0"/>
                  <a:t> acima como exemplo. </a:t>
                </a:r>
              </a:p>
              <a:p>
                <a:r>
                  <a:rPr lang="pt-BR" dirty="0"/>
                  <a:t>Como já vimos, a derivada parcial do erro em relação ao peso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oMath>
                </a14:m>
                <a:r>
                  <a:rPr lang="pt-BR" dirty="0"/>
                  <a:t> do nó da primeira camada é dada por </a:t>
                </a:r>
              </a:p>
              <a:p>
                <a:pPr marL="0" indent="0">
                  <a:buNone/>
                </a:pPr>
                <a14:m>
                  <m:oMathPara xmlns:m="http://schemas.openxmlformats.org/officeDocument/2006/math">
                    <m:oMath>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m:rPr>
                              <m:nor/>
                            </m:rPr>
                            <a:rPr lang="en-US" i="0" dirty="0"/>
                            <m:t> </m:t>
                          </m:r>
                        </m:den>
                      </m:f>
                      <m:r>
                        <a:rPr lang="pt-BR" i="1">
                          <a:latin typeface="Cambria Math" panose="02040503050406030204" pitchFamily="18" charset="0"/>
                        </a:rPr>
                        <m:t>=</m:t>
                      </m:r>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p>
                            <m:sSupPr>
                              <m:ctrlPr>
                                <a:rPr lang="pt-BR" i="1">
                                  <a:latin typeface="Cambria Math" panose="02040503050406030204" pitchFamily="18" charset="0"/>
                                  <a:ea typeface="Cambria Math" panose="02040503050406030204" pitchFamily="18" charset="0"/>
                                </a:rPr>
                              </m:ctrlPr>
                            </m:sSupPr>
                            <m:e>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𝑦</m:t>
                                  </m:r>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r>
                                    <a:rPr lang="pt-BR" i="1">
                                      <a:latin typeface="Cambria Math" panose="02040503050406030204" pitchFamily="18" charset="0"/>
                                    </a:rPr>
                                    <m:t>)</m:t>
                                  </m:r>
                                </m:e>
                              </m:d>
                            </m:e>
                            <m:sup>
                              <m:r>
                                <a:rPr lang="pt-BR" i="1">
                                  <a:latin typeface="Cambria Math" panose="02040503050406030204" pitchFamily="18" charset="0"/>
                                </a:rPr>
                                <m:t>2</m:t>
                              </m:r>
                            </m:sup>
                          </m:sSup>
                        </m:num>
                        <m:den>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r>
                            <a:rPr lang="pt-BR" i="1">
                              <a:latin typeface="Cambria Math" panose="02040503050406030204" pitchFamily="18" charset="0"/>
                            </a:rPr>
                            <m:t>)</m:t>
                          </m:r>
                        </m:den>
                      </m:f>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r>
                            <a:rPr lang="pt-BR" i="1">
                              <a:latin typeface="Cambria Math" panose="02040503050406030204" pitchFamily="18" charset="0"/>
                            </a:rPr>
                            <m:t>)</m:t>
                          </m:r>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den>
                      </m:f>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num>
                        <m:den>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𝑔</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2</m:t>
                                  </m:r>
                                </m:sub>
                              </m:sSub>
                            </m:e>
                          </m:d>
                        </m:den>
                      </m:f>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𝑔</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2</m:t>
                                  </m:r>
                                </m:sub>
                              </m:sSub>
                            </m:e>
                          </m:d>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2</m:t>
                              </m:r>
                            </m:sub>
                          </m:sSub>
                        </m:den>
                      </m:f>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2</m:t>
                              </m:r>
                            </m:sub>
                          </m:sSub>
                        </m:num>
                        <m:den>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ℎ</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1</m:t>
                                  </m:r>
                                </m:sub>
                              </m:sSub>
                            </m:e>
                          </m:d>
                        </m:den>
                      </m:f>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ℎ</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1</m:t>
                                  </m:r>
                                </m:sub>
                              </m:sSub>
                            </m:e>
                          </m:d>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1</m:t>
                              </m:r>
                            </m:sub>
                          </m:sSub>
                        </m:den>
                      </m:f>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1</m:t>
                              </m:r>
                            </m:sub>
                          </m:sSub>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den>
                      </m:f>
                      <m:r>
                        <a:rPr lang="pt-BR" i="1">
                          <a:latin typeface="Cambria Math" panose="02040503050406030204" pitchFamily="18" charset="0"/>
                          <a:ea typeface="Cambria Math" panose="02040503050406030204" pitchFamily="18" charset="0"/>
                        </a:rPr>
                        <m:t>.</m:t>
                      </m:r>
                    </m:oMath>
                  </m:oMathPara>
                </a14:m>
                <a:endParaRPr lang="en-US" dirty="0"/>
              </a:p>
              <a:p>
                <a:r>
                  <a:rPr lang="en-US" dirty="0"/>
                  <a:t>Podemos </a:t>
                </a:r>
                <a:r>
                  <a:rPr lang="en-US" dirty="0" err="1"/>
                  <a:t>reescrevê</a:t>
                </a:r>
                <a:r>
                  <a:rPr lang="en-US" dirty="0"/>
                  <a:t>-la </a:t>
                </a:r>
                <a:r>
                  <a:rPr lang="en-US" dirty="0" err="1"/>
                  <a:t>deixando</a:t>
                </a:r>
                <a:r>
                  <a:rPr lang="en-US" dirty="0"/>
                  <a:t> </a:t>
                </a:r>
                <a:r>
                  <a:rPr lang="en-US" dirty="0" err="1"/>
                  <a:t>apenas</a:t>
                </a:r>
                <a:r>
                  <a:rPr lang="en-US" dirty="0"/>
                  <a:t> as </a:t>
                </a:r>
                <a:r>
                  <a:rPr lang="en-US" dirty="0" err="1"/>
                  <a:t>derivadas</a:t>
                </a:r>
                <a:r>
                  <a:rPr lang="en-US" dirty="0"/>
                  <a:t> das </a:t>
                </a:r>
                <a:r>
                  <a:rPr lang="en-US" dirty="0" err="1"/>
                  <a:t>funções</a:t>
                </a:r>
                <a:r>
                  <a:rPr lang="en-US" dirty="0"/>
                  <a:t> de </a:t>
                </a:r>
                <a:r>
                  <a:rPr lang="en-US" dirty="0" err="1"/>
                  <a:t>ativação</a:t>
                </a:r>
                <a:r>
                  <a:rPr lang="en-US" dirty="0"/>
                  <a:t> de forma </a:t>
                </a:r>
                <a:r>
                  <a:rPr lang="en-US" dirty="0" err="1"/>
                  <a:t>genérica</a:t>
                </a:r>
                <a:endParaRPr lang="en-US" dirty="0"/>
              </a:p>
              <a:p>
                <a:pPr marL="0" indent="0">
                  <a:buNone/>
                </a:pPr>
                <a14:m>
                  <m:oMathPara xmlns:m="http://schemas.openxmlformats.org/officeDocument/2006/math">
                    <m:oMath>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m:rPr>
                              <m:nor/>
                            </m:rPr>
                            <a:rPr lang="en-US" i="0" dirty="0"/>
                            <m:t> </m:t>
                          </m:r>
                        </m:den>
                      </m:f>
                      <m:r>
                        <a:rPr lang="pt-BR" i="1">
                          <a:latin typeface="Cambria Math" panose="02040503050406030204" pitchFamily="18" charset="0"/>
                        </a:rPr>
                        <m:t>=</m:t>
                      </m:r>
                      <m:r>
                        <a:rPr lang="pt-BR" b="0" i="1" smtClean="0">
                          <a:latin typeface="Cambria Math" panose="02040503050406030204" pitchFamily="18" charset="0"/>
                        </a:rPr>
                        <m:t>−2</m:t>
                      </m:r>
                      <m:sSup>
                        <m:sSupPr>
                          <m:ctrlPr>
                            <a:rPr lang="pt-BR" i="1">
                              <a:latin typeface="Cambria Math" panose="02040503050406030204" pitchFamily="18" charset="0"/>
                              <a:ea typeface="Cambria Math" panose="02040503050406030204" pitchFamily="18" charset="0"/>
                            </a:rPr>
                          </m:ctrlPr>
                        </m:sSupPr>
                        <m:e>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𝑦</m:t>
                              </m:r>
                              <m:r>
                                <a:rPr lang="pt-BR" i="1">
                                  <a:latin typeface="Cambria Math" panose="02040503050406030204" pitchFamily="18" charset="0"/>
                                  <a:ea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e>
                          </m:d>
                        </m:e>
                        <m:sup>
                          <m:r>
                            <a:rPr lang="pt-BR" i="1">
                              <a:latin typeface="Cambria Math" panose="02040503050406030204" pitchFamily="18" charset="0"/>
                            </a:rPr>
                            <m:t>2</m:t>
                          </m:r>
                        </m:sup>
                      </m:sSup>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r>
                            <a:rPr lang="pt-BR" i="1">
                              <a:latin typeface="Cambria Math" panose="02040503050406030204" pitchFamily="18" charset="0"/>
                            </a:rPr>
                            <m:t>)</m:t>
                          </m:r>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den>
                      </m:f>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i="1">
                              <a:latin typeface="Cambria Math" panose="02040503050406030204" pitchFamily="18" charset="0"/>
                            </a:rPr>
                            <m:t>3</m:t>
                          </m:r>
                        </m:sub>
                      </m:sSub>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𝑔</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2</m:t>
                                  </m:r>
                                </m:sub>
                              </m:sSub>
                            </m:e>
                          </m:d>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2</m:t>
                              </m:r>
                            </m:sub>
                          </m:sSub>
                        </m:den>
                      </m:f>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2</m:t>
                          </m:r>
                        </m:sub>
                      </m:sSub>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ℎ</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1</m:t>
                                  </m:r>
                                </m:sub>
                              </m:sSub>
                            </m:e>
                          </m:d>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1</m:t>
                              </m:r>
                            </m:sub>
                          </m:sSub>
                        </m:den>
                      </m:f>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r>
                        <a:rPr lang="pt-BR" i="1">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7B17E2E8-C427-8782-DBAB-8F877FEA946C}"/>
                  </a:ext>
                </a:extLst>
              </p:cNvPr>
              <p:cNvSpPr>
                <a:spLocks noGrp="1" noRot="1" noChangeAspect="1" noMove="1" noResize="1" noEditPoints="1" noAdjustHandles="1" noChangeArrowheads="1" noChangeShapeType="1" noTextEdit="1"/>
              </p:cNvSpPr>
              <p:nvPr>
                <p:ph idx="1"/>
              </p:nvPr>
            </p:nvSpPr>
            <p:spPr>
              <a:xfrm>
                <a:off x="838199" y="2819048"/>
                <a:ext cx="11353801" cy="4038949"/>
              </a:xfrm>
              <a:blipFill>
                <a:blip r:embed="rId2"/>
                <a:stretch>
                  <a:fillRect l="-913" t="-2413"/>
                </a:stretch>
              </a:blipFill>
            </p:spPr>
            <p:txBody>
              <a:bodyPr/>
              <a:lstStyle/>
              <a:p>
                <a:r>
                  <a:rPr lang="en-US">
                    <a:noFill/>
                  </a:rPr>
                  <a:t> </a:t>
                </a:r>
              </a:p>
            </p:txBody>
          </p:sp>
        </mc:Fallback>
      </mc:AlternateContent>
      <p:grpSp>
        <p:nvGrpSpPr>
          <p:cNvPr id="4" name="Grupo 3"/>
          <p:cNvGrpSpPr/>
          <p:nvPr/>
        </p:nvGrpSpPr>
        <p:grpSpPr>
          <a:xfrm>
            <a:off x="2824117" y="1825624"/>
            <a:ext cx="6149352" cy="699336"/>
            <a:chOff x="2824117" y="1825624"/>
            <a:chExt cx="6149352" cy="699336"/>
          </a:xfrm>
        </p:grpSpPr>
        <p:grpSp>
          <p:nvGrpSpPr>
            <p:cNvPr id="20" name="Group 19">
              <a:extLst>
                <a:ext uri="{FF2B5EF4-FFF2-40B4-BE49-F238E27FC236}">
                  <a16:creationId xmlns:a16="http://schemas.microsoft.com/office/drawing/2014/main" id="{AD7588CC-1303-51DE-62D0-1AF556C3EEE7}"/>
                </a:ext>
              </a:extLst>
            </p:cNvPr>
            <p:cNvGrpSpPr/>
            <p:nvPr/>
          </p:nvGrpSpPr>
          <p:grpSpPr>
            <a:xfrm>
              <a:off x="2824117" y="1825624"/>
              <a:ext cx="6149352" cy="699336"/>
              <a:chOff x="2824117" y="1825624"/>
              <a:chExt cx="6149352" cy="699336"/>
            </a:xfrm>
          </p:grpSpPr>
          <p:grpSp>
            <p:nvGrpSpPr>
              <p:cNvPr id="21" name="Group 20">
                <a:extLst>
                  <a:ext uri="{FF2B5EF4-FFF2-40B4-BE49-F238E27FC236}">
                    <a16:creationId xmlns:a16="http://schemas.microsoft.com/office/drawing/2014/main" id="{94DC601F-B063-C4F5-51D8-BA7138B87EB1}"/>
                  </a:ext>
                </a:extLst>
              </p:cNvPr>
              <p:cNvGrpSpPr/>
              <p:nvPr/>
            </p:nvGrpSpPr>
            <p:grpSpPr>
              <a:xfrm>
                <a:off x="2824117" y="1825624"/>
                <a:ext cx="6149352" cy="685593"/>
                <a:chOff x="2824117" y="4105306"/>
                <a:chExt cx="6149352" cy="685593"/>
              </a:xfrm>
            </p:grpSpPr>
            <mc:AlternateContent xmlns:mc="http://schemas.openxmlformats.org/markup-compatibility/2006" xmlns:a14="http://schemas.microsoft.com/office/drawing/2010/main">
              <mc:Choice Requires="a14">
                <p:sp>
                  <p:nvSpPr>
                    <p:cNvPr id="24" name="Elipse 4">
                      <a:extLst>
                        <a:ext uri="{FF2B5EF4-FFF2-40B4-BE49-F238E27FC236}">
                          <a16:creationId xmlns:a16="http://schemas.microsoft.com/office/drawing/2014/main" id="{44E00579-6C74-B23A-F63E-E89D51876AF6}"/>
                        </a:ext>
                      </a:extLst>
                    </p:cNvPr>
                    <p:cNvSpPr/>
                    <p:nvPr/>
                  </p:nvSpPr>
                  <p:spPr>
                    <a:xfrm>
                      <a:off x="3630508" y="419197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ℎ</m:t>
                            </m:r>
                            <m:r>
                              <a:rPr lang="pt-BR" b="0" i="1" smtClean="0">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20" name="Elipse 4">
                      <a:extLst>
                        <a:ext uri="{FF2B5EF4-FFF2-40B4-BE49-F238E27FC236}">
                          <a16:creationId xmlns:a16="http://schemas.microsoft.com/office/drawing/2014/main" id="{0DF451FF-252E-0ED6-AFC8-BBBDC99EE7D3}"/>
                        </a:ext>
                      </a:extLst>
                    </p:cNvPr>
                    <p:cNvSpPr>
                      <a:spLocks noRot="1" noChangeAspect="1" noMove="1" noResize="1" noEditPoints="1" noAdjustHandles="1" noChangeArrowheads="1" noChangeShapeType="1" noTextEdit="1"/>
                    </p:cNvSpPr>
                    <p:nvPr/>
                  </p:nvSpPr>
                  <p:spPr>
                    <a:xfrm>
                      <a:off x="3630508" y="4191970"/>
                      <a:ext cx="576000" cy="576000"/>
                    </a:xfrm>
                    <a:prstGeom prst="ellipse">
                      <a:avLst/>
                    </a:prstGeom>
                    <a:blipFill>
                      <a:blip r:embed="rId4"/>
                      <a:stretch>
                        <a:fillRect r="-4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Elipse 5">
                      <a:extLst>
                        <a:ext uri="{FF2B5EF4-FFF2-40B4-BE49-F238E27FC236}">
                          <a16:creationId xmlns:a16="http://schemas.microsoft.com/office/drawing/2014/main" id="{7C0D906B-C0B2-67AF-DBED-D4BB581AFA91}"/>
                        </a:ext>
                      </a:extLst>
                    </p:cNvPr>
                    <p:cNvSpPr/>
                    <p:nvPr/>
                  </p:nvSpPr>
                  <p:spPr>
                    <a:xfrm>
                      <a:off x="5434880" y="419197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𝑔</m:t>
                            </m:r>
                            <m:r>
                              <a:rPr lang="pt-BR" i="1">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21" name="Elipse 5">
                      <a:extLst>
                        <a:ext uri="{FF2B5EF4-FFF2-40B4-BE49-F238E27FC236}">
                          <a16:creationId xmlns:a16="http://schemas.microsoft.com/office/drawing/2014/main" id="{3CBB6E6D-DAB2-09E5-DD33-36B8D4A45190}"/>
                        </a:ext>
                      </a:extLst>
                    </p:cNvPr>
                    <p:cNvSpPr>
                      <a:spLocks noRot="1" noChangeAspect="1" noMove="1" noResize="1" noEditPoints="1" noAdjustHandles="1" noChangeArrowheads="1" noChangeShapeType="1" noTextEdit="1"/>
                    </p:cNvSpPr>
                    <p:nvPr/>
                  </p:nvSpPr>
                  <p:spPr>
                    <a:xfrm>
                      <a:off x="5434880" y="4191970"/>
                      <a:ext cx="576000" cy="576000"/>
                    </a:xfrm>
                    <a:prstGeom prst="ellipse">
                      <a:avLst/>
                    </a:prstGeom>
                    <a:blipFill>
                      <a:blip r:embed="rId5"/>
                      <a:stretch>
                        <a:fillRect l="-1042" r="-52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Elipse 6">
                      <a:extLst>
                        <a:ext uri="{FF2B5EF4-FFF2-40B4-BE49-F238E27FC236}">
                          <a16:creationId xmlns:a16="http://schemas.microsoft.com/office/drawing/2014/main" id="{A6F1878F-253D-49AE-8CA1-10EE70E06C6D}"/>
                        </a:ext>
                      </a:extLst>
                    </p:cNvPr>
                    <p:cNvSpPr/>
                    <p:nvPr/>
                  </p:nvSpPr>
                  <p:spPr>
                    <a:xfrm>
                      <a:off x="7238332" y="419197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𝑓</m:t>
                            </m:r>
                            <m:r>
                              <a:rPr lang="pt-BR" i="1">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22" name="Elipse 6">
                      <a:extLst>
                        <a:ext uri="{FF2B5EF4-FFF2-40B4-BE49-F238E27FC236}">
                          <a16:creationId xmlns:a16="http://schemas.microsoft.com/office/drawing/2014/main" id="{9EA08535-4021-80BA-226E-967C0A9D9A70}"/>
                        </a:ext>
                      </a:extLst>
                    </p:cNvPr>
                    <p:cNvSpPr>
                      <a:spLocks noRot="1" noChangeAspect="1" noMove="1" noResize="1" noEditPoints="1" noAdjustHandles="1" noChangeArrowheads="1" noChangeShapeType="1" noTextEdit="1"/>
                    </p:cNvSpPr>
                    <p:nvPr/>
                  </p:nvSpPr>
                  <p:spPr>
                    <a:xfrm>
                      <a:off x="7238332" y="4191970"/>
                      <a:ext cx="576000" cy="576000"/>
                    </a:xfrm>
                    <a:prstGeom prst="ellipse">
                      <a:avLst/>
                    </a:prstGeom>
                    <a:blipFill>
                      <a:blip r:embed="rId6"/>
                      <a:stretch>
                        <a:fillRect l="-3093" r="-4124"/>
                      </a:stretch>
                    </a:blipFill>
                  </p:spPr>
                  <p:txBody>
                    <a:bodyPr/>
                    <a:lstStyle/>
                    <a:p>
                      <a:r>
                        <a:rPr lang="en-US">
                          <a:noFill/>
                        </a:rPr>
                        <a:t> </a:t>
                      </a:r>
                    </a:p>
                  </p:txBody>
                </p:sp>
              </mc:Fallback>
            </mc:AlternateContent>
            <p:cxnSp>
              <p:nvCxnSpPr>
                <p:cNvPr id="27" name="Conector de Seta Reta 7">
                  <a:extLst>
                    <a:ext uri="{FF2B5EF4-FFF2-40B4-BE49-F238E27FC236}">
                      <a16:creationId xmlns:a16="http://schemas.microsoft.com/office/drawing/2014/main" id="{5B8E2EF2-D5E5-E9CD-6B17-18F6CF51BD39}"/>
                    </a:ext>
                  </a:extLst>
                </p:cNvPr>
                <p:cNvCxnSpPr>
                  <a:cxnSpLocks/>
                </p:cNvCxnSpPr>
                <p:nvPr/>
              </p:nvCxnSpPr>
              <p:spPr>
                <a:xfrm>
                  <a:off x="4206507" y="4479970"/>
                  <a:ext cx="12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de Seta Reta 12">
                  <a:extLst>
                    <a:ext uri="{FF2B5EF4-FFF2-40B4-BE49-F238E27FC236}">
                      <a16:creationId xmlns:a16="http://schemas.microsoft.com/office/drawing/2014/main" id="{81611D8F-AB3D-DE64-1DD8-92F3A6BBCA02}"/>
                    </a:ext>
                  </a:extLst>
                </p:cNvPr>
                <p:cNvCxnSpPr/>
                <p:nvPr/>
              </p:nvCxnSpPr>
              <p:spPr>
                <a:xfrm>
                  <a:off x="7814332" y="4479970"/>
                  <a:ext cx="828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Retângulo 10">
                      <a:extLst>
                        <a:ext uri="{FF2B5EF4-FFF2-40B4-BE49-F238E27FC236}">
                          <a16:creationId xmlns:a16="http://schemas.microsoft.com/office/drawing/2014/main" id="{5414173F-A671-4B2D-FD3D-2E2285ED3FD6}"/>
                        </a:ext>
                      </a:extLst>
                    </p:cNvPr>
                    <p:cNvSpPr/>
                    <p:nvPr/>
                  </p:nvSpPr>
                  <p:spPr>
                    <a:xfrm>
                      <a:off x="8550789" y="4270805"/>
                      <a:ext cx="422680" cy="369332"/>
                    </a:xfrm>
                    <a:prstGeom prst="rect">
                      <a:avLst/>
                    </a:prstGeom>
                  </p:spPr>
                  <p:txBody>
                    <a:bodyPr wrap="none">
                      <a:spAutoFit/>
                    </a:bodyPr>
                    <a:lstStyle/>
                    <a:p>
                      <a:pPr algn="ctr"/>
                      <a14:m>
                        <m:oMathPara xmlns:m="http://schemas.openxmlformats.org/officeDocument/2006/math">
                          <m:oMathParaPr>
                            <m:jc m:val="center"/>
                          </m:oMathParaPr>
                          <m:oMath>
                            <m:r>
                              <a:rPr lang="pt-BR" i="1" smtClean="0">
                                <a:latin typeface="Cambria Math" panose="02040503050406030204" pitchFamily="18" charset="0"/>
                              </a:rPr>
                              <m:t> </m:t>
                            </m:r>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oMath>
                        </m:oMathPara>
                      </a14:m>
                      <a:endParaRPr lang="en-US" dirty="0"/>
                    </a:p>
                  </p:txBody>
                </p:sp>
              </mc:Choice>
              <mc:Fallback xmlns="">
                <p:sp>
                  <p:nvSpPr>
                    <p:cNvPr id="29" name="Retângulo 10">
                      <a:extLst>
                        <a:ext uri="{FF2B5EF4-FFF2-40B4-BE49-F238E27FC236}">
                          <a16:creationId xmlns:a16="http://schemas.microsoft.com/office/drawing/2014/main" id="{5414173F-A671-4B2D-FD3D-2E2285ED3FD6}"/>
                        </a:ext>
                      </a:extLst>
                    </p:cNvPr>
                    <p:cNvSpPr>
                      <a:spLocks noRot="1" noChangeAspect="1" noMove="1" noResize="1" noEditPoints="1" noAdjustHandles="1" noChangeArrowheads="1" noChangeShapeType="1" noTextEdit="1"/>
                    </p:cNvSpPr>
                    <p:nvPr/>
                  </p:nvSpPr>
                  <p:spPr>
                    <a:xfrm>
                      <a:off x="8550789" y="4270805"/>
                      <a:ext cx="422680" cy="369332"/>
                    </a:xfrm>
                    <a:prstGeom prst="rect">
                      <a:avLst/>
                    </a:prstGeom>
                    <a:blipFill>
                      <a:blip r:embed="rId7"/>
                      <a:stretch>
                        <a:fillRect t="-6667" r="-20290"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tângulo 13">
                      <a:extLst>
                        <a:ext uri="{FF2B5EF4-FFF2-40B4-BE49-F238E27FC236}">
                          <a16:creationId xmlns:a16="http://schemas.microsoft.com/office/drawing/2014/main" id="{234BC2D3-CEF8-D79F-BFAF-6A5B2900CF25}"/>
                        </a:ext>
                      </a:extLst>
                    </p:cNvPr>
                    <p:cNvSpPr/>
                    <p:nvPr/>
                  </p:nvSpPr>
                  <p:spPr>
                    <a:xfrm>
                      <a:off x="2824117" y="4278202"/>
                      <a:ext cx="419282" cy="369332"/>
                    </a:xfrm>
                    <a:prstGeom prst="rect">
                      <a:avLst/>
                    </a:prstGeom>
                  </p:spPr>
                  <p:txBody>
                    <a:bodyPr wrap="none">
                      <a:spAutoFit/>
                    </a:bodyPr>
                    <a:lstStyle/>
                    <a:p>
                      <a:pPr algn="ctr"/>
                      <a14:m>
                        <m:oMathPara xmlns:m="http://schemas.openxmlformats.org/officeDocument/2006/math">
                          <m:oMathParaPr>
                            <m:jc m:val="center"/>
                          </m:oMathParaPr>
                          <m:oMath>
                            <m:r>
                              <a:rPr lang="pt-BR" i="1" smtClean="0">
                                <a:latin typeface="Cambria Math" panose="02040503050406030204" pitchFamily="18" charset="0"/>
                              </a:rPr>
                              <m:t> </m:t>
                            </m:r>
                            <m:r>
                              <a:rPr lang="pt-BR" b="0" i="1" smtClean="0">
                                <a:latin typeface="Cambria Math" panose="02040503050406030204" pitchFamily="18" charset="0"/>
                              </a:rPr>
                              <m:t>𝑥</m:t>
                            </m:r>
                          </m:oMath>
                        </m:oMathPara>
                      </a14:m>
                      <a:endParaRPr lang="en-US" dirty="0"/>
                    </a:p>
                  </p:txBody>
                </p:sp>
              </mc:Choice>
              <mc:Fallback xmlns="">
                <p:sp>
                  <p:nvSpPr>
                    <p:cNvPr id="26" name="Retângulo 13">
                      <a:extLst>
                        <a:ext uri="{FF2B5EF4-FFF2-40B4-BE49-F238E27FC236}">
                          <a16:creationId xmlns:a16="http://schemas.microsoft.com/office/drawing/2014/main" id="{6439ADC2-D04E-55B5-F201-6C2D55A65394}"/>
                        </a:ext>
                      </a:extLst>
                    </p:cNvPr>
                    <p:cNvSpPr>
                      <a:spLocks noRot="1" noChangeAspect="1" noMove="1" noResize="1" noEditPoints="1" noAdjustHandles="1" noChangeArrowheads="1" noChangeShapeType="1" noTextEdit="1"/>
                    </p:cNvSpPr>
                    <p:nvPr/>
                  </p:nvSpPr>
                  <p:spPr>
                    <a:xfrm>
                      <a:off x="2824117" y="4278202"/>
                      <a:ext cx="419282" cy="369332"/>
                    </a:xfrm>
                    <a:prstGeom prst="rect">
                      <a:avLst/>
                    </a:prstGeom>
                    <a:blipFill>
                      <a:blip r:embed="rId8"/>
                      <a:stretch>
                        <a:fillRect/>
                      </a:stretch>
                    </a:blipFill>
                  </p:spPr>
                  <p:txBody>
                    <a:bodyPr/>
                    <a:lstStyle/>
                    <a:p>
                      <a:r>
                        <a:rPr lang="en-US">
                          <a:noFill/>
                        </a:rPr>
                        <a:t> </a:t>
                      </a:r>
                    </a:p>
                  </p:txBody>
                </p:sp>
              </mc:Fallback>
            </mc:AlternateContent>
            <p:cxnSp>
              <p:nvCxnSpPr>
                <p:cNvPr id="31" name="Conector de Seta Reta 17">
                  <a:extLst>
                    <a:ext uri="{FF2B5EF4-FFF2-40B4-BE49-F238E27FC236}">
                      <a16:creationId xmlns:a16="http://schemas.microsoft.com/office/drawing/2014/main" id="{124DEF9F-3265-6F80-9682-008E1B0733EA}"/>
                    </a:ext>
                  </a:extLst>
                </p:cNvPr>
                <p:cNvCxnSpPr/>
                <p:nvPr/>
              </p:nvCxnSpPr>
              <p:spPr>
                <a:xfrm>
                  <a:off x="3123024" y="4485279"/>
                  <a:ext cx="50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07344CA-4CF3-F76E-C52F-1EB1FD8D5072}"/>
                        </a:ext>
                      </a:extLst>
                    </p:cNvPr>
                    <p:cNvSpPr txBox="1"/>
                    <p:nvPr/>
                  </p:nvSpPr>
                  <p:spPr>
                    <a:xfrm>
                      <a:off x="3118652" y="4120741"/>
                      <a:ext cx="507482"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1</m:t>
                                </m:r>
                              </m:sub>
                            </m:sSub>
                          </m:oMath>
                        </m:oMathPara>
                      </a14:m>
                      <a:endParaRPr lang="en-US" dirty="0"/>
                    </a:p>
                  </p:txBody>
                </p:sp>
              </mc:Choice>
              <mc:Fallback xmlns="">
                <p:sp>
                  <p:nvSpPr>
                    <p:cNvPr id="28" name="TextBox 27">
                      <a:extLst>
                        <a:ext uri="{FF2B5EF4-FFF2-40B4-BE49-F238E27FC236}">
                          <a16:creationId xmlns:a16="http://schemas.microsoft.com/office/drawing/2014/main" id="{B08B6112-66C0-EF5E-D40C-CB0F43BD4903}"/>
                        </a:ext>
                      </a:extLst>
                    </p:cNvPr>
                    <p:cNvSpPr txBox="1">
                      <a:spLocks noRot="1" noChangeAspect="1" noMove="1" noResize="1" noEditPoints="1" noAdjustHandles="1" noChangeArrowheads="1" noChangeShapeType="1" noTextEdit="1"/>
                    </p:cNvSpPr>
                    <p:nvPr/>
                  </p:nvSpPr>
                  <p:spPr>
                    <a:xfrm>
                      <a:off x="3118652" y="4120741"/>
                      <a:ext cx="50748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7977DB8-2115-D769-DDDB-8EB37CAA7C17}"/>
                        </a:ext>
                      </a:extLst>
                    </p:cNvPr>
                    <p:cNvSpPr txBox="1"/>
                    <p:nvPr/>
                  </p:nvSpPr>
                  <p:spPr>
                    <a:xfrm>
                      <a:off x="4202134" y="4105306"/>
                      <a:ext cx="1232743"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2</m:t>
                                </m:r>
                              </m:sub>
                            </m:sSub>
                          </m:oMath>
                        </m:oMathPara>
                      </a14:m>
                      <a:endParaRPr lang="en-US" dirty="0"/>
                    </a:p>
                  </p:txBody>
                </p:sp>
              </mc:Choice>
              <mc:Fallback xmlns="">
                <p:sp>
                  <p:nvSpPr>
                    <p:cNvPr id="29" name="TextBox 28">
                      <a:extLst>
                        <a:ext uri="{FF2B5EF4-FFF2-40B4-BE49-F238E27FC236}">
                          <a16:creationId xmlns:a16="http://schemas.microsoft.com/office/drawing/2014/main" id="{2229581D-0CB8-B97B-99EC-3870B0C571E7}"/>
                        </a:ext>
                      </a:extLst>
                    </p:cNvPr>
                    <p:cNvSpPr txBox="1">
                      <a:spLocks noRot="1" noChangeAspect="1" noMove="1" noResize="1" noEditPoints="1" noAdjustHandles="1" noChangeArrowheads="1" noChangeShapeType="1" noTextEdit="1"/>
                    </p:cNvSpPr>
                    <p:nvPr/>
                  </p:nvSpPr>
                  <p:spPr>
                    <a:xfrm>
                      <a:off x="4202134" y="4105306"/>
                      <a:ext cx="1232743"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151E2F26-305A-D7EF-7773-451EF33945B3}"/>
                        </a:ext>
                      </a:extLst>
                    </p:cNvPr>
                    <p:cNvSpPr txBox="1"/>
                    <p:nvPr/>
                  </p:nvSpPr>
                  <p:spPr>
                    <a:xfrm>
                      <a:off x="6015253" y="4105306"/>
                      <a:ext cx="1232743"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3</m:t>
                                </m:r>
                              </m:sub>
                            </m:sSub>
                          </m:oMath>
                        </m:oMathPara>
                      </a14:m>
                      <a:endParaRPr lang="en-US" dirty="0"/>
                    </a:p>
                  </p:txBody>
                </p:sp>
              </mc:Choice>
              <mc:Fallback xmlns="">
                <p:sp>
                  <p:nvSpPr>
                    <p:cNvPr id="30" name="TextBox 29">
                      <a:extLst>
                        <a:ext uri="{FF2B5EF4-FFF2-40B4-BE49-F238E27FC236}">
                          <a16:creationId xmlns:a16="http://schemas.microsoft.com/office/drawing/2014/main" id="{C59B8D0D-C168-0DEF-7032-780D8BD52DB8}"/>
                        </a:ext>
                      </a:extLst>
                    </p:cNvPr>
                    <p:cNvSpPr txBox="1">
                      <a:spLocks noRot="1" noChangeAspect="1" noMove="1" noResize="1" noEditPoints="1" noAdjustHandles="1" noChangeArrowheads="1" noChangeShapeType="1" noTextEdit="1"/>
                    </p:cNvSpPr>
                    <p:nvPr/>
                  </p:nvSpPr>
                  <p:spPr>
                    <a:xfrm>
                      <a:off x="6015253" y="4105306"/>
                      <a:ext cx="1232743"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895A3944-17AC-8AFF-27B7-B036DB071237}"/>
                        </a:ext>
                      </a:extLst>
                    </p:cNvPr>
                    <p:cNvSpPr txBox="1"/>
                    <p:nvPr/>
                  </p:nvSpPr>
                  <p:spPr>
                    <a:xfrm>
                      <a:off x="5044469" y="4406794"/>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2</m:t>
                                </m:r>
                              </m:sub>
                            </m:sSub>
                          </m:oMath>
                        </m:oMathPara>
                      </a14:m>
                      <a:endParaRPr lang="en-US" dirty="0"/>
                    </a:p>
                  </p:txBody>
                </p:sp>
              </mc:Choice>
              <mc:Fallback xmlns="">
                <p:sp>
                  <p:nvSpPr>
                    <p:cNvPr id="31" name="TextBox 30">
                      <a:extLst>
                        <a:ext uri="{FF2B5EF4-FFF2-40B4-BE49-F238E27FC236}">
                          <a16:creationId xmlns:a16="http://schemas.microsoft.com/office/drawing/2014/main" id="{413608BC-509F-47CF-C8C7-736D8D70B38D}"/>
                        </a:ext>
                      </a:extLst>
                    </p:cNvPr>
                    <p:cNvSpPr txBox="1">
                      <a:spLocks noRot="1" noChangeAspect="1" noMove="1" noResize="1" noEditPoints="1" noAdjustHandles="1" noChangeArrowheads="1" noChangeShapeType="1" noTextEdit="1"/>
                    </p:cNvSpPr>
                    <p:nvPr/>
                  </p:nvSpPr>
                  <p:spPr>
                    <a:xfrm>
                      <a:off x="5044469" y="4406794"/>
                      <a:ext cx="535857" cy="369332"/>
                    </a:xfrm>
                    <a:prstGeom prst="rect">
                      <a:avLst/>
                    </a:prstGeom>
                    <a:blipFill>
                      <a:blip r:embed="rId12"/>
                      <a:stretch>
                        <a:fillRect/>
                      </a:stretch>
                    </a:blipFill>
                  </p:spPr>
                  <p:txBody>
                    <a:bodyPr/>
                    <a:lstStyle/>
                    <a:p>
                      <a:r>
                        <a:rPr lang="en-US">
                          <a:noFill/>
                        </a:rPr>
                        <a:t> </a:t>
                      </a:r>
                    </a:p>
                  </p:txBody>
                </p:sp>
              </mc:Fallback>
            </mc:AlternateContent>
            <p:cxnSp>
              <p:nvCxnSpPr>
                <p:cNvPr id="36" name="Conector de Seta Reta 7">
                  <a:extLst>
                    <a:ext uri="{FF2B5EF4-FFF2-40B4-BE49-F238E27FC236}">
                      <a16:creationId xmlns:a16="http://schemas.microsoft.com/office/drawing/2014/main" id="{19C750B5-77EE-EC1E-44AC-504BB1D08D59}"/>
                    </a:ext>
                  </a:extLst>
                </p:cNvPr>
                <p:cNvCxnSpPr>
                  <a:cxnSpLocks/>
                </p:cNvCxnSpPr>
                <p:nvPr/>
              </p:nvCxnSpPr>
              <p:spPr>
                <a:xfrm>
                  <a:off x="6017226" y="4474638"/>
                  <a:ext cx="12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458501C-3728-E11F-68FF-8A2A80B4B659}"/>
                        </a:ext>
                      </a:extLst>
                    </p:cNvPr>
                    <p:cNvSpPr txBox="1"/>
                    <p:nvPr/>
                  </p:nvSpPr>
                  <p:spPr>
                    <a:xfrm>
                      <a:off x="6846951" y="4406794"/>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3</m:t>
                                </m:r>
                              </m:sub>
                            </m:sSub>
                          </m:oMath>
                        </m:oMathPara>
                      </a14:m>
                      <a:endParaRPr lang="en-US" dirty="0"/>
                    </a:p>
                  </p:txBody>
                </p:sp>
              </mc:Choice>
              <mc:Fallback xmlns="">
                <p:sp>
                  <p:nvSpPr>
                    <p:cNvPr id="33" name="TextBox 32">
                      <a:extLst>
                        <a:ext uri="{FF2B5EF4-FFF2-40B4-BE49-F238E27FC236}">
                          <a16:creationId xmlns:a16="http://schemas.microsoft.com/office/drawing/2014/main" id="{DBCA4DDE-7466-5839-23BD-BF84059D5A8F}"/>
                        </a:ext>
                      </a:extLst>
                    </p:cNvPr>
                    <p:cNvSpPr txBox="1">
                      <a:spLocks noRot="1" noChangeAspect="1" noMove="1" noResize="1" noEditPoints="1" noAdjustHandles="1" noChangeArrowheads="1" noChangeShapeType="1" noTextEdit="1"/>
                    </p:cNvSpPr>
                    <p:nvPr/>
                  </p:nvSpPr>
                  <p:spPr>
                    <a:xfrm>
                      <a:off x="6846951" y="4406794"/>
                      <a:ext cx="535857"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7D991CB-FE1B-C01C-956B-179D0B09683C}"/>
                        </a:ext>
                      </a:extLst>
                    </p:cNvPr>
                    <p:cNvSpPr txBox="1"/>
                    <p:nvPr/>
                  </p:nvSpPr>
                  <p:spPr>
                    <a:xfrm>
                      <a:off x="3241274" y="4421567"/>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1</m:t>
                                </m:r>
                              </m:sub>
                            </m:sSub>
                          </m:oMath>
                        </m:oMathPara>
                      </a14:m>
                      <a:endParaRPr lang="en-US" dirty="0"/>
                    </a:p>
                  </p:txBody>
                </p:sp>
              </mc:Choice>
              <mc:Fallback xmlns="">
                <p:sp>
                  <p:nvSpPr>
                    <p:cNvPr id="34" name="TextBox 33">
                      <a:extLst>
                        <a:ext uri="{FF2B5EF4-FFF2-40B4-BE49-F238E27FC236}">
                          <a16:creationId xmlns:a16="http://schemas.microsoft.com/office/drawing/2014/main" id="{D806064B-863B-8125-E188-56029193EBC2}"/>
                        </a:ext>
                      </a:extLst>
                    </p:cNvPr>
                    <p:cNvSpPr txBox="1">
                      <a:spLocks noRot="1" noChangeAspect="1" noMove="1" noResize="1" noEditPoints="1" noAdjustHandles="1" noChangeArrowheads="1" noChangeShapeType="1" noTextEdit="1"/>
                    </p:cNvSpPr>
                    <p:nvPr/>
                  </p:nvSpPr>
                  <p:spPr>
                    <a:xfrm>
                      <a:off x="3241274" y="4421567"/>
                      <a:ext cx="535857" cy="369332"/>
                    </a:xfrm>
                    <a:prstGeom prst="rect">
                      <a:avLst/>
                    </a:prstGeom>
                    <a:blipFill>
                      <a:blip r:embed="rId1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6965A18-8FDE-9799-696D-152C5F865FD1}"/>
                      </a:ext>
                    </a:extLst>
                  </p:cNvPr>
                  <p:cNvSpPr txBox="1"/>
                  <p:nvPr/>
                </p:nvSpPr>
                <p:spPr>
                  <a:xfrm>
                    <a:off x="4084589" y="2155628"/>
                    <a:ext cx="825194" cy="369332"/>
                  </a:xfrm>
                  <a:prstGeom prst="rect">
                    <a:avLst/>
                  </a:prstGeom>
                  <a:noFill/>
                </p:spPr>
                <p:txBody>
                  <a:bodyPr wrap="square">
                    <a:spAutoFit/>
                  </a:bodyPr>
                  <a:lstStyle/>
                  <a:p>
                    <a:pPr/>
                    <a14:m>
                      <m:oMathPara xmlns:m="http://schemas.openxmlformats.org/officeDocument/2006/math">
                        <m:oMath>
                          <m:r>
                            <a:rPr lang="pt-BR" i="1" smtClean="0">
                              <a:latin typeface="Cambria Math" panose="02040503050406030204" pitchFamily="18" charset="0"/>
                            </a:rPr>
                            <m:t>ℎ</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1</m:t>
                                  </m:r>
                                </m:sub>
                              </m:sSub>
                            </m:e>
                          </m:d>
                        </m:oMath>
                      </m:oMathPara>
                    </a14:m>
                    <a:endParaRPr lang="en-US" dirty="0"/>
                  </a:p>
                </p:txBody>
              </p:sp>
            </mc:Choice>
            <mc:Fallback xmlns="">
              <p:sp>
                <p:nvSpPr>
                  <p:cNvPr id="22" name="TextBox 21">
                    <a:extLst>
                      <a:ext uri="{FF2B5EF4-FFF2-40B4-BE49-F238E27FC236}">
                        <a16:creationId xmlns:a16="http://schemas.microsoft.com/office/drawing/2014/main" id="{16965A18-8FDE-9799-696D-152C5F865FD1}"/>
                      </a:ext>
                    </a:extLst>
                  </p:cNvPr>
                  <p:cNvSpPr txBox="1">
                    <a:spLocks noRot="1" noChangeAspect="1" noMove="1" noResize="1" noEditPoints="1" noAdjustHandles="1" noChangeArrowheads="1" noChangeShapeType="1" noTextEdit="1"/>
                  </p:cNvSpPr>
                  <p:nvPr/>
                </p:nvSpPr>
                <p:spPr>
                  <a:xfrm>
                    <a:off x="4084589" y="2155628"/>
                    <a:ext cx="825194"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29BD083-D41D-6E8B-203F-3D4ABF6E2D08}"/>
                      </a:ext>
                    </a:extLst>
                  </p:cNvPr>
                  <p:cNvSpPr txBox="1"/>
                  <p:nvPr/>
                </p:nvSpPr>
                <p:spPr>
                  <a:xfrm>
                    <a:off x="5920384" y="2136461"/>
                    <a:ext cx="757084" cy="369332"/>
                  </a:xfrm>
                  <a:prstGeom prst="rect">
                    <a:avLst/>
                  </a:prstGeom>
                  <a:noFill/>
                </p:spPr>
                <p:txBody>
                  <a:bodyPr wrap="square">
                    <a:spAutoFit/>
                  </a:bodyPr>
                  <a:lstStyle/>
                  <a:p>
                    <a:pPr/>
                    <a14:m>
                      <m:oMathPara xmlns:m="http://schemas.openxmlformats.org/officeDocument/2006/math">
                        <m:oMath>
                          <m:r>
                            <a:rPr lang="pt-BR" i="1" smtClean="0">
                              <a:latin typeface="Cambria Math" panose="02040503050406030204" pitchFamily="18" charset="0"/>
                            </a:rPr>
                            <m:t>𝑔</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2</m:t>
                                  </m:r>
                                </m:sub>
                              </m:sSub>
                            </m:e>
                          </m:d>
                        </m:oMath>
                      </m:oMathPara>
                    </a14:m>
                    <a:endParaRPr lang="en-US" dirty="0"/>
                  </a:p>
                </p:txBody>
              </p:sp>
            </mc:Choice>
            <mc:Fallback xmlns="">
              <p:sp>
                <p:nvSpPr>
                  <p:cNvPr id="23" name="TextBox 22">
                    <a:extLst>
                      <a:ext uri="{FF2B5EF4-FFF2-40B4-BE49-F238E27FC236}">
                        <a16:creationId xmlns:a16="http://schemas.microsoft.com/office/drawing/2014/main" id="{929BD083-D41D-6E8B-203F-3D4ABF6E2D08}"/>
                      </a:ext>
                    </a:extLst>
                  </p:cNvPr>
                  <p:cNvSpPr txBox="1">
                    <a:spLocks noRot="1" noChangeAspect="1" noMove="1" noResize="1" noEditPoints="1" noAdjustHandles="1" noChangeArrowheads="1" noChangeShapeType="1" noTextEdit="1"/>
                  </p:cNvSpPr>
                  <p:nvPr/>
                </p:nvSpPr>
                <p:spPr>
                  <a:xfrm>
                    <a:off x="5920384" y="2136461"/>
                    <a:ext cx="757084" cy="369332"/>
                  </a:xfrm>
                  <a:prstGeom prst="rect">
                    <a:avLst/>
                  </a:prstGeom>
                  <a:blipFill>
                    <a:blip r:embed="rId16"/>
                    <a:stretch>
                      <a:fillRect b="-655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CFDFBD5-FA4D-91D9-109D-B66617353EEC}"/>
                    </a:ext>
                  </a:extLst>
                </p:cNvPr>
                <p:cNvSpPr txBox="1"/>
                <p:nvPr/>
              </p:nvSpPr>
              <p:spPr>
                <a:xfrm>
                  <a:off x="7739853" y="2135140"/>
                  <a:ext cx="632539" cy="369332"/>
                </a:xfrm>
                <a:prstGeom prst="rect">
                  <a:avLst/>
                </a:prstGeom>
                <a:noFill/>
              </p:spPr>
              <p:txBody>
                <a:bodyPr wrap="square">
                  <a:spAutoFit/>
                </a:bodyPr>
                <a:lstStyle/>
                <a:p>
                  <a:pPr/>
                  <a14:m>
                    <m:oMathPara xmlns:m="http://schemas.openxmlformats.org/officeDocument/2006/math">
                      <m:oMath>
                        <m:r>
                          <a:rPr lang="pt-BR" i="1" smtClean="0">
                            <a:latin typeface="Cambria Math" panose="02040503050406030204" pitchFamily="18" charset="0"/>
                          </a:rPr>
                          <m:t>𝑓</m:t>
                        </m:r>
                        <m:r>
                          <a:rPr lang="pt-BR"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3</m:t>
                            </m:r>
                          </m:sub>
                        </m:sSub>
                        <m:r>
                          <a:rPr lang="pt-BR" i="1">
                            <a:latin typeface="Cambria Math" panose="02040503050406030204" pitchFamily="18" charset="0"/>
                          </a:rPr>
                          <m:t>)</m:t>
                        </m:r>
                      </m:oMath>
                    </m:oMathPara>
                  </a14:m>
                  <a:endParaRPr lang="en-US" dirty="0"/>
                </a:p>
              </p:txBody>
            </p:sp>
          </mc:Choice>
          <mc:Fallback xmlns="">
            <p:sp>
              <p:nvSpPr>
                <p:cNvPr id="40" name="TextBox 39">
                  <a:extLst>
                    <a:ext uri="{FF2B5EF4-FFF2-40B4-BE49-F238E27FC236}">
                      <a16:creationId xmlns:a16="http://schemas.microsoft.com/office/drawing/2014/main" id="{2CFDFBD5-FA4D-91D9-109D-B66617353EEC}"/>
                    </a:ext>
                  </a:extLst>
                </p:cNvPr>
                <p:cNvSpPr txBox="1">
                  <a:spLocks noRot="1" noChangeAspect="1" noMove="1" noResize="1" noEditPoints="1" noAdjustHandles="1" noChangeArrowheads="1" noChangeShapeType="1" noTextEdit="1"/>
                </p:cNvSpPr>
                <p:nvPr/>
              </p:nvSpPr>
              <p:spPr>
                <a:xfrm>
                  <a:off x="7739853" y="2135140"/>
                  <a:ext cx="632539" cy="369332"/>
                </a:xfrm>
                <a:prstGeom prst="rect">
                  <a:avLst/>
                </a:prstGeom>
                <a:blipFill>
                  <a:blip r:embed="rId17"/>
                  <a:stretch>
                    <a:fillRect l="-2913" r="-22330" b="-13115"/>
                  </a:stretch>
                </a:blipFill>
              </p:spPr>
              <p:txBody>
                <a:bodyPr/>
                <a:lstStyle/>
                <a:p>
                  <a:r>
                    <a:rPr lang="en-US">
                      <a:noFill/>
                    </a:rPr>
                    <a:t> </a:t>
                  </a:r>
                </a:p>
              </p:txBody>
            </p:sp>
          </mc:Fallback>
        </mc:AlternateContent>
      </p:grpSp>
    </p:spTree>
    <p:extLst>
      <p:ext uri="{BB962C8B-B14F-4D97-AF65-F5344CB8AC3E}">
        <p14:creationId xmlns:p14="http://schemas.microsoft.com/office/powerpoint/2010/main" val="40413518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Derivada parcial do erro</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838199" y="1825624"/>
                <a:ext cx="11353801" cy="5032375"/>
              </a:xfrm>
            </p:spPr>
            <p:txBody>
              <a:bodyPr/>
              <a:lstStyle/>
              <a:p>
                <a:pPr marL="0" indent="0">
                  <a:buNone/>
                </a:pPr>
                <a14:m>
                  <m:oMathPara xmlns:m="http://schemas.openxmlformats.org/officeDocument/2006/math">
                    <m:oMath>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m:rPr>
                              <m:nor/>
                            </m:rPr>
                            <a:rPr lang="en-US" i="0" dirty="0"/>
                            <m:t> </m:t>
                          </m:r>
                        </m:den>
                      </m:f>
                      <m:r>
                        <a:rPr lang="pt-BR" i="1">
                          <a:latin typeface="Cambria Math" panose="02040503050406030204" pitchFamily="18" charset="0"/>
                        </a:rPr>
                        <m:t>=−2</m:t>
                      </m:r>
                      <m:sSup>
                        <m:sSupPr>
                          <m:ctrlPr>
                            <a:rPr lang="pt-BR" i="1">
                              <a:latin typeface="Cambria Math" panose="02040503050406030204" pitchFamily="18" charset="0"/>
                              <a:ea typeface="Cambria Math" panose="02040503050406030204" pitchFamily="18" charset="0"/>
                            </a:rPr>
                          </m:ctrlPr>
                        </m:sSupPr>
                        <m:e>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𝑦</m:t>
                              </m:r>
                              <m:r>
                                <a:rPr lang="pt-BR" i="1">
                                  <a:latin typeface="Cambria Math" panose="02040503050406030204" pitchFamily="18" charset="0"/>
                                  <a:ea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e>
                          </m:d>
                        </m:e>
                        <m:sup>
                          <m:r>
                            <a:rPr lang="pt-BR" i="1">
                              <a:latin typeface="Cambria Math" panose="02040503050406030204" pitchFamily="18" charset="0"/>
                            </a:rPr>
                            <m:t>2</m:t>
                          </m:r>
                        </m:sup>
                      </m:sSup>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r>
                            <a:rPr lang="pt-BR" i="1">
                              <a:latin typeface="Cambria Math" panose="02040503050406030204" pitchFamily="18" charset="0"/>
                            </a:rPr>
                            <m:t>)</m:t>
                          </m:r>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den>
                      </m:f>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3</m:t>
                          </m:r>
                        </m:sub>
                      </m:sSub>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𝑔</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2</m:t>
                                  </m:r>
                                </m:sub>
                              </m:sSub>
                            </m:e>
                          </m:d>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2</m:t>
                              </m:r>
                            </m:sub>
                          </m:sSub>
                        </m:den>
                      </m:f>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ℎ</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1</m:t>
                                  </m:r>
                                </m:sub>
                              </m:sSub>
                            </m:e>
                          </m:d>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1</m:t>
                              </m:r>
                            </m:sub>
                          </m:sSub>
                        </m:den>
                      </m:f>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i="1">
                          <a:latin typeface="Cambria Math" panose="02040503050406030204" pitchFamily="18" charset="0"/>
                          <a:ea typeface="Cambria Math" panose="02040503050406030204" pitchFamily="18" charset="0"/>
                        </a:rPr>
                        <m:t>.</m:t>
                      </m:r>
                    </m:oMath>
                  </m:oMathPara>
                </a14:m>
                <a:endParaRPr lang="pt-BR" dirty="0"/>
              </a:p>
              <a:p>
                <a:r>
                  <a:rPr lang="pt-BR" dirty="0"/>
                  <a:t>A rede com 3 camadas tem </a:t>
                </a:r>
              </a:p>
              <a:p>
                <a:pPr lvl="1">
                  <a:buFont typeface="Wingdings" panose="05000000000000000000" pitchFamily="2" charset="2"/>
                  <a:buChar char="§"/>
                </a:pPr>
                <a:r>
                  <a:rPr lang="pt-BR" dirty="0"/>
                  <a:t>3 derivadas parciais das funções de ativação</a:t>
                </a:r>
              </a:p>
              <a:p>
                <a:pPr lvl="1">
                  <a:buFont typeface="Wingdings" panose="05000000000000000000" pitchFamily="2" charset="2"/>
                  <a:buChar char="§"/>
                </a:pPr>
                <a:r>
                  <a:rPr lang="pt-BR" dirty="0"/>
                  <a:t>e 2 pesos que ligam a saída à camada de entrada</a:t>
                </a:r>
              </a:p>
              <a:p>
                <a:pPr marL="0" indent="0">
                  <a:buNone/>
                </a:pPr>
                <a:r>
                  <a:rPr lang="pt-BR" dirty="0"/>
                  <a:t>para a atualização do peso do nó da primeira camada.</a:t>
                </a:r>
              </a:p>
              <a:p>
                <a:r>
                  <a:rPr lang="pt-BR" dirty="0"/>
                  <a:t>Se extrapolarmos a equação acima para redes com </a:t>
                </a:r>
                <a14:m>
                  <m:oMath xmlns:m="http://schemas.openxmlformats.org/officeDocument/2006/math">
                    <m:r>
                      <a:rPr lang="pt-BR" b="0" i="1" smtClean="0">
                        <a:latin typeface="Cambria Math" panose="02040503050406030204" pitchFamily="18" charset="0"/>
                      </a:rPr>
                      <m:t>𝑀</m:t>
                    </m:r>
                  </m:oMath>
                </a14:m>
                <a:r>
                  <a:rPr lang="pt-BR" dirty="0"/>
                  <a:t> camadas, teremos a multiplicação de </a:t>
                </a:r>
              </a:p>
              <a:p>
                <a:pPr lvl="1">
                  <a:buFont typeface="Wingdings" panose="05000000000000000000" pitchFamily="2" charset="2"/>
                  <a:buChar char="§"/>
                </a:pPr>
                <a14:m>
                  <m:oMath xmlns:m="http://schemas.openxmlformats.org/officeDocument/2006/math">
                    <m:r>
                      <a:rPr lang="pt-BR" i="1">
                        <a:latin typeface="Cambria Math" panose="02040503050406030204" pitchFamily="18" charset="0"/>
                      </a:rPr>
                      <m:t>𝑀</m:t>
                    </m:r>
                  </m:oMath>
                </a14:m>
                <a:r>
                  <a:rPr lang="pt-BR" dirty="0"/>
                  <a:t> derivadas parciais das funções de ativação </a:t>
                </a:r>
              </a:p>
              <a:p>
                <a:pPr lvl="1">
                  <a:buFont typeface="Wingdings" panose="05000000000000000000" pitchFamily="2" charset="2"/>
                  <a:buChar char="§"/>
                </a:pPr>
                <a:r>
                  <a:rPr lang="pt-BR" dirty="0"/>
                  <a:t>e </a:t>
                </a:r>
                <a14:m>
                  <m:oMath xmlns:m="http://schemas.openxmlformats.org/officeDocument/2006/math">
                    <m:r>
                      <a:rPr lang="pt-BR" i="1">
                        <a:latin typeface="Cambria Math" panose="02040503050406030204" pitchFamily="18" charset="0"/>
                      </a:rPr>
                      <m:t>𝑀</m:t>
                    </m:r>
                    <m:r>
                      <a:rPr lang="pt-BR" b="0" i="1" smtClean="0">
                        <a:latin typeface="Cambria Math" panose="02040503050406030204" pitchFamily="18" charset="0"/>
                      </a:rPr>
                      <m:t>−1</m:t>
                    </m:r>
                  </m:oMath>
                </a14:m>
                <a:r>
                  <a:rPr lang="pt-BR" dirty="0"/>
                  <a:t> pesos</a:t>
                </a:r>
              </a:p>
              <a:p>
                <a:pPr marL="0" indent="0">
                  <a:buNone/>
                </a:pPr>
                <a:r>
                  <a:rPr lang="pt-BR" dirty="0"/>
                  <a:t>para a derivada parcial do erro em relação ao peso da primeira camada.</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838199" y="1825624"/>
                <a:ext cx="11353801" cy="5032375"/>
              </a:xfrm>
              <a:blipFill>
                <a:blip r:embed="rId2"/>
                <a:stretch>
                  <a:fillRect l="-1074" b="-726"/>
                </a:stretch>
              </a:blipFill>
            </p:spPr>
            <p:txBody>
              <a:bodyPr/>
              <a:lstStyle/>
              <a:p>
                <a:r>
                  <a:rPr lang="en-US">
                    <a:noFill/>
                  </a:rPr>
                  <a:t> </a:t>
                </a:r>
              </a:p>
            </p:txBody>
          </p:sp>
        </mc:Fallback>
      </mc:AlternateContent>
    </p:spTree>
    <p:extLst>
      <p:ext uri="{BB962C8B-B14F-4D97-AF65-F5344CB8AC3E}">
        <p14:creationId xmlns:p14="http://schemas.microsoft.com/office/powerpoint/2010/main" val="22565286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3ADB7-9531-579F-4C79-45653024187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E35D4D1-A228-6178-616E-1592070D355B}"/>
              </a:ext>
            </a:extLst>
          </p:cNvPr>
          <p:cNvSpPr>
            <a:spLocks noGrp="1"/>
          </p:cNvSpPr>
          <p:nvPr>
            <p:ph type="title"/>
          </p:nvPr>
        </p:nvSpPr>
        <p:spPr/>
        <p:txBody>
          <a:bodyPr/>
          <a:lstStyle/>
          <a:p>
            <a:r>
              <a:rPr lang="pt-BR" dirty="0"/>
              <a:t>Desaparecimento do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24CA2A88-D180-1617-D092-D34BAF7F076B}"/>
                  </a:ext>
                </a:extLst>
              </p:cNvPr>
              <p:cNvSpPr>
                <a:spLocks noGrp="1"/>
              </p:cNvSpPr>
              <p:nvPr>
                <p:ph idx="1"/>
              </p:nvPr>
            </p:nvSpPr>
            <p:spPr>
              <a:xfrm>
                <a:off x="838199" y="1825624"/>
                <a:ext cx="11353801" cy="5032375"/>
              </a:xfrm>
            </p:spPr>
            <p:txBody>
              <a:bodyPr/>
              <a:lstStyle/>
              <a:p>
                <a:pPr marL="0" indent="0">
                  <a:buNone/>
                </a:pPr>
                <a14:m>
                  <m:oMathPara xmlns:m="http://schemas.openxmlformats.org/officeDocument/2006/math">
                    <m:oMath>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m:rPr>
                              <m:nor/>
                            </m:rPr>
                            <a:rPr lang="en-US" i="0" dirty="0"/>
                            <m:t> </m:t>
                          </m:r>
                        </m:den>
                      </m:f>
                      <m:r>
                        <a:rPr lang="pt-BR" i="1">
                          <a:latin typeface="Cambria Math" panose="02040503050406030204" pitchFamily="18" charset="0"/>
                        </a:rPr>
                        <m:t>=−2</m:t>
                      </m:r>
                      <m:sSup>
                        <m:sSupPr>
                          <m:ctrlPr>
                            <a:rPr lang="pt-BR" i="1">
                              <a:latin typeface="Cambria Math" panose="02040503050406030204" pitchFamily="18" charset="0"/>
                              <a:ea typeface="Cambria Math" panose="02040503050406030204" pitchFamily="18" charset="0"/>
                            </a:rPr>
                          </m:ctrlPr>
                        </m:sSupPr>
                        <m:e>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𝑦</m:t>
                              </m:r>
                              <m:r>
                                <a:rPr lang="pt-BR" i="1">
                                  <a:latin typeface="Cambria Math" panose="02040503050406030204" pitchFamily="18" charset="0"/>
                                  <a:ea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e>
                          </m:d>
                        </m:e>
                        <m:sup>
                          <m:r>
                            <a:rPr lang="pt-BR" i="1">
                              <a:latin typeface="Cambria Math" panose="02040503050406030204" pitchFamily="18" charset="0"/>
                            </a:rPr>
                            <m:t>2</m:t>
                          </m:r>
                        </m:sup>
                      </m:sSup>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r>
                            <a:rPr lang="pt-BR" i="1">
                              <a:latin typeface="Cambria Math" panose="02040503050406030204" pitchFamily="18" charset="0"/>
                            </a:rPr>
                            <m:t>)</m:t>
                          </m:r>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den>
                      </m:f>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3</m:t>
                          </m:r>
                        </m:sub>
                      </m:sSub>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𝑔</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2</m:t>
                                  </m:r>
                                </m:sub>
                              </m:sSub>
                            </m:e>
                          </m:d>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2</m:t>
                              </m:r>
                            </m:sub>
                          </m:sSub>
                        </m:den>
                      </m:f>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ℎ</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1</m:t>
                                  </m:r>
                                </m:sub>
                              </m:sSub>
                            </m:e>
                          </m:d>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1</m:t>
                              </m:r>
                            </m:sub>
                          </m:sSub>
                        </m:den>
                      </m:f>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i="1">
                          <a:latin typeface="Cambria Math" panose="02040503050406030204" pitchFamily="18" charset="0"/>
                          <a:ea typeface="Cambria Math" panose="02040503050406030204" pitchFamily="18" charset="0"/>
                        </a:rPr>
                        <m:t>.</m:t>
                      </m:r>
                    </m:oMath>
                  </m:oMathPara>
                </a14:m>
                <a:endParaRPr lang="pt-BR" dirty="0"/>
              </a:p>
              <a:p>
                <a:r>
                  <a:rPr lang="pt-BR" dirty="0"/>
                  <a:t>As derivadas das funções logística e tangente hiperbólica têm valores máximos iguais a 0.25 e 1, respectivamente, apenas quando as ativações são iguais a 0.</a:t>
                </a:r>
              </a:p>
            </p:txBody>
          </p:sp>
        </mc:Choice>
        <mc:Fallback xmlns="">
          <p:sp>
            <p:nvSpPr>
              <p:cNvPr id="3" name="Espaço Reservado para Conteúdo 2">
                <a:extLst>
                  <a:ext uri="{FF2B5EF4-FFF2-40B4-BE49-F238E27FC236}">
                    <a16:creationId xmlns:a16="http://schemas.microsoft.com/office/drawing/2014/main" id="{24CA2A88-D180-1617-D092-D34BAF7F076B}"/>
                  </a:ext>
                </a:extLst>
              </p:cNvPr>
              <p:cNvSpPr>
                <a:spLocks noGrp="1" noRot="1" noChangeAspect="1" noMove="1" noResize="1" noEditPoints="1" noAdjustHandles="1" noChangeArrowheads="1" noChangeShapeType="1" noTextEdit="1"/>
              </p:cNvSpPr>
              <p:nvPr>
                <p:ph idx="1"/>
              </p:nvPr>
            </p:nvSpPr>
            <p:spPr>
              <a:xfrm>
                <a:off x="838199" y="1825624"/>
                <a:ext cx="11353801" cy="5032375"/>
              </a:xfrm>
              <a:blipFill>
                <a:blip r:embed="rId2"/>
                <a:stretch>
                  <a:fillRect l="-913"/>
                </a:stretch>
              </a:blipFill>
            </p:spPr>
            <p:txBody>
              <a:bodyPr/>
              <a:lstStyle/>
              <a:p>
                <a:r>
                  <a:rPr lang="en-US">
                    <a:noFill/>
                  </a:rPr>
                  <a:t> </a:t>
                </a:r>
              </a:p>
            </p:txBody>
          </p:sp>
        </mc:Fallback>
      </mc:AlternateContent>
      <p:sp>
        <p:nvSpPr>
          <p:cNvPr id="4" name="Rectangle 7">
            <a:extLst>
              <a:ext uri="{FF2B5EF4-FFF2-40B4-BE49-F238E27FC236}">
                <a16:creationId xmlns:a16="http://schemas.microsoft.com/office/drawing/2014/main" id="{CDE9D292-A108-92A9-4275-BE70343FAD77}"/>
              </a:ext>
            </a:extLst>
          </p:cNvPr>
          <p:cNvSpPr/>
          <p:nvPr/>
        </p:nvSpPr>
        <p:spPr>
          <a:xfrm>
            <a:off x="2218544" y="4042011"/>
            <a:ext cx="2383436" cy="307777"/>
          </a:xfrm>
          <a:prstGeom prst="rect">
            <a:avLst/>
          </a:prstGeom>
        </p:spPr>
        <p:txBody>
          <a:bodyPr wrap="square">
            <a:spAutoFit/>
          </a:bodyPr>
          <a:lstStyle/>
          <a:p>
            <a:pPr algn="ctr"/>
            <a:r>
              <a:rPr lang="pt-BR" sz="1400" dirty="0"/>
              <a:t>Derivada da função logística</a:t>
            </a:r>
          </a:p>
        </p:txBody>
      </p:sp>
      <p:pic>
        <p:nvPicPr>
          <p:cNvPr id="5" name="Imagem 4">
            <a:extLst>
              <a:ext uri="{FF2B5EF4-FFF2-40B4-BE49-F238E27FC236}">
                <a16:creationId xmlns:a16="http://schemas.microsoft.com/office/drawing/2014/main" id="{24F74AD8-7BBC-F92A-499C-AE71F8E43A8F}"/>
              </a:ext>
            </a:extLst>
          </p:cNvPr>
          <p:cNvPicPr>
            <a:picLocks noChangeAspect="1"/>
          </p:cNvPicPr>
          <p:nvPr/>
        </p:nvPicPr>
        <p:blipFill>
          <a:blip r:embed="rId3"/>
          <a:stretch>
            <a:fillRect/>
          </a:stretch>
        </p:blipFill>
        <p:spPr>
          <a:xfrm>
            <a:off x="1830369" y="4182259"/>
            <a:ext cx="3067986" cy="2300990"/>
          </a:xfrm>
          <a:prstGeom prst="rect">
            <a:avLst/>
          </a:prstGeom>
        </p:spPr>
      </p:pic>
      <mc:AlternateContent xmlns:mc="http://schemas.openxmlformats.org/markup-compatibility/2006" xmlns:a14="http://schemas.microsoft.com/office/drawing/2010/main">
        <mc:Choice Requires="a14">
          <p:sp>
            <p:nvSpPr>
              <p:cNvPr id="11" name="Retângulo 10">
                <a:extLst>
                  <a:ext uri="{FF2B5EF4-FFF2-40B4-BE49-F238E27FC236}">
                    <a16:creationId xmlns:a16="http://schemas.microsoft.com/office/drawing/2014/main" id="{867283EA-E24E-A9A4-C1C0-8CEA2890EE4A}"/>
                  </a:ext>
                </a:extLst>
              </p:cNvPr>
              <p:cNvSpPr/>
              <p:nvPr/>
            </p:nvSpPr>
            <p:spPr>
              <a:xfrm>
                <a:off x="2009889" y="6437900"/>
                <a:ext cx="2817749" cy="404983"/>
              </a:xfrm>
              <a:prstGeom prst="rect">
                <a:avLst/>
              </a:prstGeom>
            </p:spPr>
            <p:txBody>
              <a:bodyPr wrap="square">
                <a:spAutoFit/>
              </a:bodyPr>
              <a:lstStyle/>
              <a:p>
                <a:pPr/>
                <a14:m>
                  <m:oMathPara xmlns:m="http://schemas.openxmlformats.org/officeDocument/2006/math">
                    <m:oMath>
                      <m:r>
                        <a:rPr lang="pt-BR" i="1" smtClean="0">
                          <a:latin typeface="Cambria Math" panose="02040503050406030204" pitchFamily="18" charset="0"/>
                        </a:rPr>
                        <m:t>𝑓</m:t>
                      </m:r>
                      <m:d>
                        <m:dPr>
                          <m:ctrlPr>
                            <a:rPr lang="pt-BR" b="0" i="1" smtClean="0">
                              <a:latin typeface="Cambria Math" panose="02040503050406030204" pitchFamily="18" charset="0"/>
                            </a:rPr>
                          </m:ctrlPr>
                        </m:dPr>
                        <m:e>
                          <m:r>
                            <a:rPr lang="pt-BR" b="0" i="1" smtClean="0">
                              <a:latin typeface="Cambria Math" panose="02040503050406030204" pitchFamily="18" charset="0"/>
                            </a:rPr>
                            <m:t>𝑧</m:t>
                          </m:r>
                        </m:e>
                      </m:d>
                      <m:d>
                        <m:dPr>
                          <m:ctrlPr>
                            <a:rPr lang="pt-BR" i="1">
                              <a:latin typeface="Cambria Math" panose="02040503050406030204" pitchFamily="18" charset="0"/>
                            </a:rPr>
                          </m:ctrlPr>
                        </m:dPr>
                        <m:e>
                          <m:r>
                            <a:rPr lang="pt-BR" i="1">
                              <a:latin typeface="Cambria Math" panose="02040503050406030204" pitchFamily="18" charset="0"/>
                            </a:rPr>
                            <m:t>1−</m:t>
                          </m:r>
                          <m:r>
                            <a:rPr lang="pt-BR" i="1">
                              <a:latin typeface="Cambria Math" panose="02040503050406030204" pitchFamily="18" charset="0"/>
                            </a:rPr>
                            <m:t>𝑓</m:t>
                          </m:r>
                          <m:d>
                            <m:dPr>
                              <m:ctrlPr>
                                <a:rPr lang="pt-BR" b="0" i="1" smtClean="0">
                                  <a:latin typeface="Cambria Math" panose="02040503050406030204" pitchFamily="18" charset="0"/>
                                </a:rPr>
                              </m:ctrlPr>
                            </m:dPr>
                            <m:e>
                              <m:r>
                                <a:rPr lang="pt-BR" b="0" i="1" smtClean="0">
                                  <a:latin typeface="Cambria Math" panose="02040503050406030204" pitchFamily="18" charset="0"/>
                                </a:rPr>
                                <m:t>𝑧</m:t>
                              </m:r>
                            </m:e>
                          </m:d>
                        </m:e>
                      </m:d>
                      <m:r>
                        <a:rPr lang="pt-BR" i="1">
                          <a:latin typeface="Cambria Math" panose="02040503050406030204" pitchFamily="18" charset="0"/>
                          <a:ea typeface="Cambria Math" panose="02040503050406030204" pitchFamily="18" charset="0"/>
                        </a:rPr>
                        <m:t>∈[0, 0.25]</m:t>
                      </m:r>
                    </m:oMath>
                  </m:oMathPara>
                </a14:m>
                <a:endParaRPr lang="pt-BR" dirty="0"/>
              </a:p>
            </p:txBody>
          </p:sp>
        </mc:Choice>
        <mc:Fallback xmlns="">
          <p:sp>
            <p:nvSpPr>
              <p:cNvPr id="11" name="Retângulo 10"/>
              <p:cNvSpPr>
                <a:spLocks noRot="1" noChangeAspect="1" noMove="1" noResize="1" noEditPoints="1" noAdjustHandles="1" noChangeArrowheads="1" noChangeShapeType="1" noTextEdit="1"/>
              </p:cNvSpPr>
              <p:nvPr/>
            </p:nvSpPr>
            <p:spPr>
              <a:xfrm>
                <a:off x="2009889" y="6437900"/>
                <a:ext cx="2817749" cy="404983"/>
              </a:xfrm>
              <a:prstGeom prst="rect">
                <a:avLst/>
              </a:prstGeom>
              <a:blipFill>
                <a:blip r:embed="rId4"/>
                <a:stretch>
                  <a:fillRect b="-10448"/>
                </a:stretch>
              </a:blipFill>
            </p:spPr>
            <p:txBody>
              <a:bodyPr/>
              <a:lstStyle/>
              <a:p>
                <a:r>
                  <a:rPr lang="en-US">
                    <a:noFill/>
                  </a:rPr>
                  <a:t> </a:t>
                </a:r>
              </a:p>
            </p:txBody>
          </p:sp>
        </mc:Fallback>
      </mc:AlternateContent>
      <p:pic>
        <p:nvPicPr>
          <p:cNvPr id="12" name="Imagem 11">
            <a:extLst>
              <a:ext uri="{FF2B5EF4-FFF2-40B4-BE49-F238E27FC236}">
                <a16:creationId xmlns:a16="http://schemas.microsoft.com/office/drawing/2014/main" id="{BA2D59C8-E445-6CF3-96BD-C57ACBA1C10D}"/>
              </a:ext>
            </a:extLst>
          </p:cNvPr>
          <p:cNvPicPr>
            <a:picLocks noChangeAspect="1"/>
          </p:cNvPicPr>
          <p:nvPr/>
        </p:nvPicPr>
        <p:blipFill>
          <a:blip r:embed="rId5"/>
          <a:stretch>
            <a:fillRect/>
          </a:stretch>
        </p:blipFill>
        <p:spPr>
          <a:xfrm>
            <a:off x="7054306" y="4195899"/>
            <a:ext cx="3049800" cy="2287350"/>
          </a:xfrm>
          <a:prstGeom prst="rect">
            <a:avLst/>
          </a:prstGeom>
        </p:spPr>
      </p:pic>
      <p:sp>
        <p:nvSpPr>
          <p:cNvPr id="14" name="Rectangle 7">
            <a:extLst>
              <a:ext uri="{FF2B5EF4-FFF2-40B4-BE49-F238E27FC236}">
                <a16:creationId xmlns:a16="http://schemas.microsoft.com/office/drawing/2014/main" id="{7842EFBD-EDFF-EE1A-50A9-D8AB0F16838D}"/>
              </a:ext>
            </a:extLst>
          </p:cNvPr>
          <p:cNvSpPr/>
          <p:nvPr/>
        </p:nvSpPr>
        <p:spPr>
          <a:xfrm>
            <a:off x="7387488" y="4042011"/>
            <a:ext cx="2383436" cy="307777"/>
          </a:xfrm>
          <a:prstGeom prst="rect">
            <a:avLst/>
          </a:prstGeom>
        </p:spPr>
        <p:txBody>
          <a:bodyPr wrap="square">
            <a:spAutoFit/>
          </a:bodyPr>
          <a:lstStyle/>
          <a:p>
            <a:pPr algn="ctr"/>
            <a:r>
              <a:rPr lang="pt-BR" sz="1400" dirty="0"/>
              <a:t>Derivada da função </a:t>
            </a:r>
            <a:r>
              <a:rPr lang="pt-BR" sz="1400" dirty="0" err="1"/>
              <a:t>tanh</a:t>
            </a:r>
            <a:endParaRPr lang="pt-BR" sz="1400" dirty="0"/>
          </a:p>
        </p:txBody>
      </p:sp>
      <mc:AlternateContent xmlns:mc="http://schemas.openxmlformats.org/markup-compatibility/2006" xmlns:a14="http://schemas.microsoft.com/office/drawing/2010/main">
        <mc:Choice Requires="a14">
          <p:sp>
            <p:nvSpPr>
              <p:cNvPr id="15" name="Retângulo 14">
                <a:extLst>
                  <a:ext uri="{FF2B5EF4-FFF2-40B4-BE49-F238E27FC236}">
                    <a16:creationId xmlns:a16="http://schemas.microsoft.com/office/drawing/2014/main" id="{FD6FA8AA-3D68-4F3F-7CC0-05D247CF31ED}"/>
                  </a:ext>
                </a:extLst>
              </p:cNvPr>
              <p:cNvSpPr/>
              <p:nvPr/>
            </p:nvSpPr>
            <p:spPr>
              <a:xfrm>
                <a:off x="7477797" y="6483249"/>
                <a:ext cx="2278894" cy="369332"/>
              </a:xfrm>
              <a:prstGeom prst="rect">
                <a:avLst/>
              </a:prstGeom>
            </p:spPr>
            <p:txBody>
              <a:bodyPr wrap="none">
                <a:spAutoFit/>
              </a:bodyPr>
              <a:lstStyle/>
              <a:p>
                <a:pPr/>
                <a14:m>
                  <m:oMathPara xmlns:m="http://schemas.openxmlformats.org/officeDocument/2006/math">
                    <m:oMath>
                      <m:r>
                        <a:rPr lang="pt-BR" i="1" smtClean="0">
                          <a:latin typeface="Cambria Math" panose="02040503050406030204" pitchFamily="18" charset="0"/>
                        </a:rPr>
                        <m:t>1−</m:t>
                      </m:r>
                      <m:sSup>
                        <m:sSupPr>
                          <m:ctrlPr>
                            <a:rPr lang="pt-BR">
                              <a:latin typeface="Cambria Math" panose="02040503050406030204" pitchFamily="18" charset="0"/>
                            </a:rPr>
                          </m:ctrlPr>
                        </m:sSupPr>
                        <m:e>
                          <m:r>
                            <m:rPr>
                              <m:sty m:val="p"/>
                            </m:rPr>
                            <a:rPr lang="pt-BR">
                              <a:latin typeface="Cambria Math" panose="02040503050406030204" pitchFamily="18" charset="0"/>
                            </a:rPr>
                            <m:t>tanh</m:t>
                          </m:r>
                        </m:e>
                        <m:sup>
                          <m:r>
                            <a:rPr lang="pt-BR" i="1">
                              <a:latin typeface="Cambria Math" panose="02040503050406030204" pitchFamily="18" charset="0"/>
                            </a:rPr>
                            <m:t>2</m:t>
                          </m:r>
                        </m:sup>
                      </m:sSup>
                      <m:r>
                        <a:rPr lang="pt-BR" i="1">
                          <a:latin typeface="Cambria Math" panose="02040503050406030204" pitchFamily="18" charset="0"/>
                        </a:rPr>
                        <m:t>(</m:t>
                      </m:r>
                      <m:r>
                        <a:rPr lang="pt-BR" b="0" i="1" smtClean="0">
                          <a:latin typeface="Cambria Math" panose="02040503050406030204" pitchFamily="18" charset="0"/>
                        </a:rPr>
                        <m:t>𝑧</m:t>
                      </m:r>
                      <m:r>
                        <a:rPr lang="pt-BR" i="1">
                          <a:latin typeface="Cambria Math" panose="02040503050406030204" pitchFamily="18" charset="0"/>
                        </a:rPr>
                        <m:t>)∈[0, 1</m:t>
                      </m:r>
                      <m:r>
                        <a:rPr lang="pt-BR" i="1">
                          <a:latin typeface="Cambria Math" panose="02040503050406030204" pitchFamily="18" charset="0"/>
                          <a:ea typeface="Cambria Math" panose="02040503050406030204" pitchFamily="18" charset="0"/>
                        </a:rPr>
                        <m:t>]</m:t>
                      </m:r>
                    </m:oMath>
                  </m:oMathPara>
                </a14:m>
                <a:endParaRPr lang="pt-BR" dirty="0"/>
              </a:p>
            </p:txBody>
          </p:sp>
        </mc:Choice>
        <mc:Fallback xmlns="">
          <p:sp>
            <p:nvSpPr>
              <p:cNvPr id="15" name="Retângulo 14"/>
              <p:cNvSpPr>
                <a:spLocks noRot="1" noChangeAspect="1" noMove="1" noResize="1" noEditPoints="1" noAdjustHandles="1" noChangeArrowheads="1" noChangeShapeType="1" noTextEdit="1"/>
              </p:cNvSpPr>
              <p:nvPr/>
            </p:nvSpPr>
            <p:spPr>
              <a:xfrm>
                <a:off x="7477797" y="6483249"/>
                <a:ext cx="2278894" cy="369332"/>
              </a:xfrm>
              <a:prstGeom prst="rect">
                <a:avLst/>
              </a:prstGeom>
              <a:blipFill rotWithShape="0">
                <a:blip r:embed="rId6"/>
                <a:stretch>
                  <a:fillRect b="-16667"/>
                </a:stretch>
              </a:blipFill>
            </p:spPr>
            <p:txBody>
              <a:bodyPr/>
              <a:lstStyle/>
              <a:p>
                <a:r>
                  <a:rPr lang="pt-BR">
                    <a:noFill/>
                  </a:rPr>
                  <a:t> </a:t>
                </a:r>
              </a:p>
            </p:txBody>
          </p:sp>
        </mc:Fallback>
      </mc:AlternateContent>
    </p:spTree>
    <p:extLst>
      <p:ext uri="{BB962C8B-B14F-4D97-AF65-F5344CB8AC3E}">
        <p14:creationId xmlns:p14="http://schemas.microsoft.com/office/powerpoint/2010/main" val="31463395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1FFA5-1CB6-9000-BBDF-D0EDE185427F}"/>
              </a:ext>
            </a:extLst>
          </p:cNvPr>
          <p:cNvSpPr>
            <a:spLocks noGrp="1"/>
          </p:cNvSpPr>
          <p:nvPr>
            <p:ph type="title"/>
          </p:nvPr>
        </p:nvSpPr>
        <p:spPr/>
        <p:txBody>
          <a:bodyPr/>
          <a:lstStyle/>
          <a:p>
            <a:r>
              <a:rPr lang="pt-BR" dirty="0"/>
              <a:t>Desaparecimento do gradiente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934CF7-9755-BAE7-4000-D544554A8335}"/>
                  </a:ext>
                </a:extLst>
              </p:cNvPr>
              <p:cNvSpPr>
                <a:spLocks noGrp="1"/>
              </p:cNvSpPr>
              <p:nvPr>
                <p:ph idx="1"/>
              </p:nvPr>
            </p:nvSpPr>
            <p:spPr>
              <a:xfrm>
                <a:off x="838200" y="1825624"/>
                <a:ext cx="11353800" cy="5032375"/>
              </a:xfrm>
            </p:spPr>
            <p:txBody>
              <a:bodyPr>
                <a:normAutofit/>
              </a:bodyPr>
              <a:lstStyle/>
              <a:p>
                <a:r>
                  <a:rPr lang="en-US" dirty="0"/>
                  <a:t>Se </a:t>
                </a:r>
                <a:r>
                  <a:rPr lang="en-US" dirty="0" err="1"/>
                  <a:t>usarmos</a:t>
                </a:r>
                <a:r>
                  <a:rPr lang="en-US" dirty="0"/>
                  <a:t> a </a:t>
                </a:r>
                <a:r>
                  <a:rPr lang="en-US" dirty="0" err="1"/>
                  <a:t>função</a:t>
                </a:r>
                <a:r>
                  <a:rPr lang="en-US" dirty="0"/>
                  <a:t> </a:t>
                </a:r>
                <a:r>
                  <a:rPr lang="en-US" dirty="0" err="1"/>
                  <a:t>logística</a:t>
                </a:r>
                <a:r>
                  <a:rPr lang="en-US" dirty="0"/>
                  <a:t>, </a:t>
                </a:r>
                <a:r>
                  <a:rPr lang="en-US" dirty="0" err="1"/>
                  <a:t>teremos</a:t>
                </a:r>
                <a:r>
                  <a:rPr lang="en-US" dirty="0"/>
                  <a:t> a </a:t>
                </a:r>
                <a:r>
                  <a:rPr lang="en-US" dirty="0" err="1"/>
                  <a:t>multiplicação</a:t>
                </a:r>
                <a:r>
                  <a:rPr lang="en-US" dirty="0"/>
                  <a:t> de </a:t>
                </a:r>
                <a:r>
                  <a:rPr lang="en-US" dirty="0" err="1"/>
                  <a:t>até</a:t>
                </a:r>
                <a:r>
                  <a:rPr lang="en-US" dirty="0"/>
                  <a:t> </a:t>
                </a:r>
                <a14:m>
                  <m:oMath xmlns:m="http://schemas.openxmlformats.org/officeDocument/2006/math">
                    <m:r>
                      <a:rPr lang="pt-BR" i="1">
                        <a:latin typeface="Cambria Math" panose="02040503050406030204" pitchFamily="18" charset="0"/>
                      </a:rPr>
                      <m:t>𝑀</m:t>
                    </m:r>
                  </m:oMath>
                </a14:m>
                <a:r>
                  <a:rPr lang="en-US" dirty="0"/>
                  <a:t> </a:t>
                </a:r>
                <a:r>
                  <a:rPr lang="en-US" dirty="0" err="1"/>
                  <a:t>termos</a:t>
                </a:r>
                <a:r>
                  <a:rPr lang="en-US" dirty="0"/>
                  <a:t> </a:t>
                </a:r>
                <a:r>
                  <a:rPr lang="en-US" dirty="0" err="1"/>
                  <a:t>menores</a:t>
                </a:r>
                <a:r>
                  <a:rPr lang="en-US" dirty="0"/>
                  <a:t> do </a:t>
                </a:r>
                <a:r>
                  <a:rPr lang="en-US" dirty="0" err="1"/>
                  <a:t>que</a:t>
                </a:r>
                <a:r>
                  <a:rPr lang="en-US" dirty="0"/>
                  <a:t> 0. </a:t>
                </a:r>
              </a:p>
              <a:p>
                <a:pPr lvl="1">
                  <a:buFont typeface="Wingdings" panose="05000000000000000000" pitchFamily="2" charset="2"/>
                  <a:buChar char="§"/>
                </a:pPr>
                <a:r>
                  <a:rPr lang="en-US" dirty="0"/>
                  <a:t>No </a:t>
                </a:r>
                <a:r>
                  <a:rPr lang="en-US" dirty="0" err="1"/>
                  <a:t>máximo</a:t>
                </a:r>
                <a:r>
                  <a:rPr lang="en-US" dirty="0"/>
                  <a:t> </a:t>
                </a:r>
                <a:r>
                  <a:rPr lang="en-US" dirty="0" err="1"/>
                  <a:t>iguais</a:t>
                </a:r>
                <a:r>
                  <a:rPr lang="en-US" dirty="0"/>
                  <a:t> a 0.25 </a:t>
                </a:r>
                <a:r>
                  <a:rPr lang="en-US" dirty="0" err="1"/>
                  <a:t>quando</a:t>
                </a:r>
                <a:r>
                  <a:rPr lang="en-US" dirty="0"/>
                  <a:t> a entrada é </a:t>
                </a:r>
                <a:r>
                  <a:rPr lang="en-US" dirty="0" err="1"/>
                  <a:t>igual</a:t>
                </a:r>
                <a:r>
                  <a:rPr lang="en-US" dirty="0"/>
                  <a:t> a 0.</a:t>
                </a:r>
              </a:p>
              <a:p>
                <a:r>
                  <a:rPr lang="en-US" dirty="0" err="1"/>
                  <a:t>Usando</a:t>
                </a:r>
                <a:r>
                  <a:rPr lang="en-US" dirty="0"/>
                  <a:t> a </a:t>
                </a:r>
                <a:r>
                  <a:rPr lang="en-US" dirty="0" err="1"/>
                  <a:t>função</a:t>
                </a:r>
                <a:r>
                  <a:rPr lang="en-US" dirty="0"/>
                  <a:t> tanh, </a:t>
                </a:r>
                <a:r>
                  <a:rPr lang="en-US" dirty="0" err="1"/>
                  <a:t>teremos</a:t>
                </a:r>
                <a:r>
                  <a:rPr lang="en-US" dirty="0"/>
                  <a:t> a </a:t>
                </a:r>
                <a:r>
                  <a:rPr lang="en-US" dirty="0" err="1"/>
                  <a:t>multiplicação</a:t>
                </a:r>
                <a:r>
                  <a:rPr lang="en-US" dirty="0"/>
                  <a:t> de </a:t>
                </a:r>
                <a:r>
                  <a:rPr lang="en-US" dirty="0" err="1"/>
                  <a:t>até</a:t>
                </a:r>
                <a:r>
                  <a:rPr lang="en-US" dirty="0"/>
                  <a:t> </a:t>
                </a:r>
                <a14:m>
                  <m:oMath xmlns:m="http://schemas.openxmlformats.org/officeDocument/2006/math">
                    <m:r>
                      <a:rPr lang="pt-BR" i="1">
                        <a:latin typeface="Cambria Math" panose="02040503050406030204" pitchFamily="18" charset="0"/>
                      </a:rPr>
                      <m:t>𝑀</m:t>
                    </m:r>
                  </m:oMath>
                </a14:m>
                <a:r>
                  <a:rPr lang="en-US" dirty="0"/>
                  <a:t> </a:t>
                </a:r>
                <a:r>
                  <a:rPr lang="en-US" dirty="0" err="1"/>
                  <a:t>termos</a:t>
                </a:r>
                <a:r>
                  <a:rPr lang="en-US" dirty="0"/>
                  <a:t> com </a:t>
                </a:r>
                <a:r>
                  <a:rPr lang="en-US" dirty="0" err="1"/>
                  <a:t>valores</a:t>
                </a:r>
                <a:r>
                  <a:rPr lang="en-US" dirty="0"/>
                  <a:t> no </a:t>
                </a:r>
                <a:r>
                  <a:rPr lang="en-US" dirty="0" err="1"/>
                  <a:t>máximo</a:t>
                </a:r>
                <a:r>
                  <a:rPr lang="en-US" dirty="0"/>
                  <a:t> </a:t>
                </a:r>
                <a:r>
                  <a:rPr lang="en-US" dirty="0" err="1"/>
                  <a:t>iguais</a:t>
                </a:r>
                <a:r>
                  <a:rPr lang="en-US" dirty="0"/>
                  <a:t> a 1, mas </a:t>
                </a:r>
                <a:r>
                  <a:rPr lang="en-US" dirty="0" err="1"/>
                  <a:t>apenas</a:t>
                </a:r>
                <a:r>
                  <a:rPr lang="en-US" dirty="0"/>
                  <a:t> </a:t>
                </a:r>
                <a:r>
                  <a:rPr lang="en-US" dirty="0" err="1"/>
                  <a:t>quando</a:t>
                </a:r>
                <a:r>
                  <a:rPr lang="en-US" dirty="0"/>
                  <a:t> a entrada é </a:t>
                </a:r>
                <a:r>
                  <a:rPr lang="en-US" dirty="0" err="1"/>
                  <a:t>igual</a:t>
                </a:r>
                <a:r>
                  <a:rPr lang="en-US" dirty="0"/>
                  <a:t> a 0.</a:t>
                </a:r>
              </a:p>
              <a:p>
                <a:pPr marL="0" indent="0">
                  <a:buNone/>
                </a:pPr>
                <a:endParaRPr lang="pt-BR" dirty="0"/>
              </a:p>
            </p:txBody>
          </p:sp>
        </mc:Choice>
        <mc:Fallback xmlns="">
          <p:sp>
            <p:nvSpPr>
              <p:cNvPr id="3" name="Content Placeholder 2">
                <a:extLst>
                  <a:ext uri="{FF2B5EF4-FFF2-40B4-BE49-F238E27FC236}">
                    <a16:creationId xmlns:a16="http://schemas.microsoft.com/office/drawing/2014/main" id="{D8934CF7-9755-BAE7-4000-D544554A8335}"/>
                  </a:ext>
                </a:extLst>
              </p:cNvPr>
              <p:cNvSpPr>
                <a:spLocks noGrp="1" noRot="1" noChangeAspect="1" noMove="1" noResize="1" noEditPoints="1" noAdjustHandles="1" noChangeArrowheads="1" noChangeShapeType="1" noTextEdit="1"/>
              </p:cNvSpPr>
              <p:nvPr>
                <p:ph idx="1"/>
              </p:nvPr>
            </p:nvSpPr>
            <p:spPr>
              <a:xfrm>
                <a:off x="838200" y="1825624"/>
                <a:ext cx="11353800" cy="5032375"/>
              </a:xfrm>
              <a:blipFill>
                <a:blip r:embed="rId2"/>
                <a:stretch>
                  <a:fillRect l="-967" t="-1937"/>
                </a:stretch>
              </a:blipFill>
            </p:spPr>
            <p:txBody>
              <a:bodyPr/>
              <a:lstStyle/>
              <a:p>
                <a:r>
                  <a:rPr lang="en-US">
                    <a:noFill/>
                  </a:rPr>
                  <a:t> </a:t>
                </a:r>
              </a:p>
            </p:txBody>
          </p:sp>
        </mc:Fallback>
      </mc:AlternateContent>
      <p:sp>
        <p:nvSpPr>
          <p:cNvPr id="4" name="Rectangle 7">
            <a:extLst>
              <a:ext uri="{FF2B5EF4-FFF2-40B4-BE49-F238E27FC236}">
                <a16:creationId xmlns:a16="http://schemas.microsoft.com/office/drawing/2014/main" id="{188120B7-662B-0302-08DB-34631D26EA52}"/>
              </a:ext>
            </a:extLst>
          </p:cNvPr>
          <p:cNvSpPr/>
          <p:nvPr/>
        </p:nvSpPr>
        <p:spPr>
          <a:xfrm>
            <a:off x="2218544" y="4042011"/>
            <a:ext cx="2383436" cy="307777"/>
          </a:xfrm>
          <a:prstGeom prst="rect">
            <a:avLst/>
          </a:prstGeom>
        </p:spPr>
        <p:txBody>
          <a:bodyPr wrap="square">
            <a:spAutoFit/>
          </a:bodyPr>
          <a:lstStyle/>
          <a:p>
            <a:pPr algn="ctr"/>
            <a:r>
              <a:rPr lang="pt-BR" sz="1400" dirty="0"/>
              <a:t>Derivada da função logística</a:t>
            </a:r>
          </a:p>
        </p:txBody>
      </p:sp>
      <p:pic>
        <p:nvPicPr>
          <p:cNvPr id="5" name="Imagem 4">
            <a:extLst>
              <a:ext uri="{FF2B5EF4-FFF2-40B4-BE49-F238E27FC236}">
                <a16:creationId xmlns:a16="http://schemas.microsoft.com/office/drawing/2014/main" id="{849AAD1E-45E1-72F3-48EB-137DD3B099A9}"/>
              </a:ext>
            </a:extLst>
          </p:cNvPr>
          <p:cNvPicPr>
            <a:picLocks noChangeAspect="1"/>
          </p:cNvPicPr>
          <p:nvPr/>
        </p:nvPicPr>
        <p:blipFill>
          <a:blip r:embed="rId3"/>
          <a:stretch>
            <a:fillRect/>
          </a:stretch>
        </p:blipFill>
        <p:spPr>
          <a:xfrm>
            <a:off x="1830369" y="4182259"/>
            <a:ext cx="3067986" cy="2300990"/>
          </a:xfrm>
          <a:prstGeom prst="rect">
            <a:avLst/>
          </a:prstGeom>
        </p:spPr>
      </p:pic>
      <mc:AlternateContent xmlns:mc="http://schemas.openxmlformats.org/markup-compatibility/2006" xmlns:a14="http://schemas.microsoft.com/office/drawing/2010/main">
        <mc:Choice Requires="a14">
          <p:sp>
            <p:nvSpPr>
              <p:cNvPr id="6" name="Retângulo 10">
                <a:extLst>
                  <a:ext uri="{FF2B5EF4-FFF2-40B4-BE49-F238E27FC236}">
                    <a16:creationId xmlns:a16="http://schemas.microsoft.com/office/drawing/2014/main" id="{FF1FDCB0-7757-8C33-F165-73A447EEEAB7}"/>
                  </a:ext>
                </a:extLst>
              </p:cNvPr>
              <p:cNvSpPr/>
              <p:nvPr/>
            </p:nvSpPr>
            <p:spPr>
              <a:xfrm>
                <a:off x="2009889" y="6437900"/>
                <a:ext cx="2817749" cy="404983"/>
              </a:xfrm>
              <a:prstGeom prst="rect">
                <a:avLst/>
              </a:prstGeom>
            </p:spPr>
            <p:txBody>
              <a:bodyPr wrap="square">
                <a:spAutoFit/>
              </a:bodyPr>
              <a:lstStyle/>
              <a:p>
                <a:pPr/>
                <a14:m>
                  <m:oMathPara xmlns:m="http://schemas.openxmlformats.org/officeDocument/2006/math">
                    <m:oMath>
                      <m:r>
                        <a:rPr lang="pt-BR" i="1" smtClean="0">
                          <a:latin typeface="Cambria Math" panose="02040503050406030204" pitchFamily="18" charset="0"/>
                        </a:rPr>
                        <m:t>𝑓</m:t>
                      </m:r>
                      <m:d>
                        <m:dPr>
                          <m:ctrlPr>
                            <a:rPr lang="pt-BR" b="0" i="1" smtClean="0">
                              <a:latin typeface="Cambria Math" panose="02040503050406030204" pitchFamily="18" charset="0"/>
                            </a:rPr>
                          </m:ctrlPr>
                        </m:dPr>
                        <m:e>
                          <m:r>
                            <a:rPr lang="pt-BR" b="0" i="1" smtClean="0">
                              <a:latin typeface="Cambria Math" panose="02040503050406030204" pitchFamily="18" charset="0"/>
                            </a:rPr>
                            <m:t>𝑧</m:t>
                          </m:r>
                        </m:e>
                      </m:d>
                      <m:d>
                        <m:dPr>
                          <m:ctrlPr>
                            <a:rPr lang="pt-BR" i="1">
                              <a:latin typeface="Cambria Math" panose="02040503050406030204" pitchFamily="18" charset="0"/>
                            </a:rPr>
                          </m:ctrlPr>
                        </m:dPr>
                        <m:e>
                          <m:r>
                            <a:rPr lang="pt-BR" i="1">
                              <a:latin typeface="Cambria Math" panose="02040503050406030204" pitchFamily="18" charset="0"/>
                            </a:rPr>
                            <m:t>1−</m:t>
                          </m:r>
                          <m:r>
                            <a:rPr lang="pt-BR" i="1">
                              <a:latin typeface="Cambria Math" panose="02040503050406030204" pitchFamily="18" charset="0"/>
                            </a:rPr>
                            <m:t>𝑓</m:t>
                          </m:r>
                          <m:d>
                            <m:dPr>
                              <m:ctrlPr>
                                <a:rPr lang="pt-BR" b="0" i="1" smtClean="0">
                                  <a:latin typeface="Cambria Math" panose="02040503050406030204" pitchFamily="18" charset="0"/>
                                </a:rPr>
                              </m:ctrlPr>
                            </m:dPr>
                            <m:e>
                              <m:r>
                                <a:rPr lang="pt-BR" b="0" i="1" smtClean="0">
                                  <a:latin typeface="Cambria Math" panose="02040503050406030204" pitchFamily="18" charset="0"/>
                                </a:rPr>
                                <m:t>𝑧</m:t>
                              </m:r>
                            </m:e>
                          </m:d>
                        </m:e>
                      </m:d>
                      <m:r>
                        <a:rPr lang="pt-BR" i="1">
                          <a:latin typeface="Cambria Math" panose="02040503050406030204" pitchFamily="18" charset="0"/>
                          <a:ea typeface="Cambria Math" panose="02040503050406030204" pitchFamily="18" charset="0"/>
                        </a:rPr>
                        <m:t>∈[0, 0.25]</m:t>
                      </m:r>
                    </m:oMath>
                  </m:oMathPara>
                </a14:m>
                <a:endParaRPr lang="pt-BR" dirty="0"/>
              </a:p>
            </p:txBody>
          </p:sp>
        </mc:Choice>
        <mc:Fallback xmlns="">
          <p:sp>
            <p:nvSpPr>
              <p:cNvPr id="6" name="Retângulo 10">
                <a:extLst>
                  <a:ext uri="{FF2B5EF4-FFF2-40B4-BE49-F238E27FC236}">
                    <a16:creationId xmlns:a16="http://schemas.microsoft.com/office/drawing/2014/main" id="{FF1FDCB0-7757-8C33-F165-73A447EEEAB7}"/>
                  </a:ext>
                </a:extLst>
              </p:cNvPr>
              <p:cNvSpPr>
                <a:spLocks noRot="1" noChangeAspect="1" noMove="1" noResize="1" noEditPoints="1" noAdjustHandles="1" noChangeArrowheads="1" noChangeShapeType="1" noTextEdit="1"/>
              </p:cNvSpPr>
              <p:nvPr/>
            </p:nvSpPr>
            <p:spPr>
              <a:xfrm>
                <a:off x="2009889" y="6437900"/>
                <a:ext cx="2817749" cy="404983"/>
              </a:xfrm>
              <a:prstGeom prst="rect">
                <a:avLst/>
              </a:prstGeom>
              <a:blipFill>
                <a:blip r:embed="rId4"/>
                <a:stretch>
                  <a:fillRect b="-10448"/>
                </a:stretch>
              </a:blipFill>
            </p:spPr>
            <p:txBody>
              <a:bodyPr/>
              <a:lstStyle/>
              <a:p>
                <a:r>
                  <a:rPr lang="en-US">
                    <a:noFill/>
                  </a:rPr>
                  <a:t> </a:t>
                </a:r>
              </a:p>
            </p:txBody>
          </p:sp>
        </mc:Fallback>
      </mc:AlternateContent>
      <p:pic>
        <p:nvPicPr>
          <p:cNvPr id="7" name="Imagem 11">
            <a:extLst>
              <a:ext uri="{FF2B5EF4-FFF2-40B4-BE49-F238E27FC236}">
                <a16:creationId xmlns:a16="http://schemas.microsoft.com/office/drawing/2014/main" id="{C9BB9D9B-68A5-6455-B5D8-70A97A97D070}"/>
              </a:ext>
            </a:extLst>
          </p:cNvPr>
          <p:cNvPicPr>
            <a:picLocks noChangeAspect="1"/>
          </p:cNvPicPr>
          <p:nvPr/>
        </p:nvPicPr>
        <p:blipFill>
          <a:blip r:embed="rId5"/>
          <a:stretch>
            <a:fillRect/>
          </a:stretch>
        </p:blipFill>
        <p:spPr>
          <a:xfrm>
            <a:off x="7054306" y="4195899"/>
            <a:ext cx="3049800" cy="2287350"/>
          </a:xfrm>
          <a:prstGeom prst="rect">
            <a:avLst/>
          </a:prstGeom>
        </p:spPr>
      </p:pic>
      <p:sp>
        <p:nvSpPr>
          <p:cNvPr id="8" name="Rectangle 7">
            <a:extLst>
              <a:ext uri="{FF2B5EF4-FFF2-40B4-BE49-F238E27FC236}">
                <a16:creationId xmlns:a16="http://schemas.microsoft.com/office/drawing/2014/main" id="{8E330444-0B41-60C1-AEE1-D9AB99524BBF}"/>
              </a:ext>
            </a:extLst>
          </p:cNvPr>
          <p:cNvSpPr/>
          <p:nvPr/>
        </p:nvSpPr>
        <p:spPr>
          <a:xfrm>
            <a:off x="7387488" y="4042011"/>
            <a:ext cx="2383436" cy="307777"/>
          </a:xfrm>
          <a:prstGeom prst="rect">
            <a:avLst/>
          </a:prstGeom>
        </p:spPr>
        <p:txBody>
          <a:bodyPr wrap="square">
            <a:spAutoFit/>
          </a:bodyPr>
          <a:lstStyle/>
          <a:p>
            <a:pPr algn="ctr"/>
            <a:r>
              <a:rPr lang="pt-BR" sz="1400" dirty="0"/>
              <a:t>Derivada da função </a:t>
            </a:r>
            <a:r>
              <a:rPr lang="pt-BR" sz="1400" dirty="0" err="1"/>
              <a:t>tanh</a:t>
            </a:r>
            <a:endParaRPr lang="pt-BR" sz="1400" dirty="0"/>
          </a:p>
        </p:txBody>
      </p:sp>
      <mc:AlternateContent xmlns:mc="http://schemas.openxmlformats.org/markup-compatibility/2006" xmlns:a14="http://schemas.microsoft.com/office/drawing/2010/main">
        <mc:Choice Requires="a14">
          <p:sp>
            <p:nvSpPr>
              <p:cNvPr id="9" name="Retângulo 14">
                <a:extLst>
                  <a:ext uri="{FF2B5EF4-FFF2-40B4-BE49-F238E27FC236}">
                    <a16:creationId xmlns:a16="http://schemas.microsoft.com/office/drawing/2014/main" id="{E9F71E95-981D-5B7D-D4D0-AE6D9630604E}"/>
                  </a:ext>
                </a:extLst>
              </p:cNvPr>
              <p:cNvSpPr/>
              <p:nvPr/>
            </p:nvSpPr>
            <p:spPr>
              <a:xfrm>
                <a:off x="7477797" y="6483249"/>
                <a:ext cx="2278894" cy="369332"/>
              </a:xfrm>
              <a:prstGeom prst="rect">
                <a:avLst/>
              </a:prstGeom>
            </p:spPr>
            <p:txBody>
              <a:bodyPr wrap="none">
                <a:spAutoFit/>
              </a:bodyPr>
              <a:lstStyle/>
              <a:p>
                <a:pPr/>
                <a14:m>
                  <m:oMathPara xmlns:m="http://schemas.openxmlformats.org/officeDocument/2006/math">
                    <m:oMath>
                      <m:r>
                        <a:rPr lang="pt-BR" i="1" smtClean="0">
                          <a:latin typeface="Cambria Math" panose="02040503050406030204" pitchFamily="18" charset="0"/>
                        </a:rPr>
                        <m:t>1−</m:t>
                      </m:r>
                      <m:sSup>
                        <m:sSupPr>
                          <m:ctrlPr>
                            <a:rPr lang="pt-BR">
                              <a:latin typeface="Cambria Math" panose="02040503050406030204" pitchFamily="18" charset="0"/>
                            </a:rPr>
                          </m:ctrlPr>
                        </m:sSupPr>
                        <m:e>
                          <m:r>
                            <m:rPr>
                              <m:sty m:val="p"/>
                            </m:rPr>
                            <a:rPr lang="pt-BR">
                              <a:latin typeface="Cambria Math" panose="02040503050406030204" pitchFamily="18" charset="0"/>
                            </a:rPr>
                            <m:t>tanh</m:t>
                          </m:r>
                        </m:e>
                        <m:sup>
                          <m:r>
                            <a:rPr lang="pt-BR" i="1">
                              <a:latin typeface="Cambria Math" panose="02040503050406030204" pitchFamily="18" charset="0"/>
                            </a:rPr>
                            <m:t>2</m:t>
                          </m:r>
                        </m:sup>
                      </m:sSup>
                      <m:r>
                        <a:rPr lang="pt-BR" i="1">
                          <a:latin typeface="Cambria Math" panose="02040503050406030204" pitchFamily="18" charset="0"/>
                        </a:rPr>
                        <m:t>(</m:t>
                      </m:r>
                      <m:r>
                        <a:rPr lang="pt-BR" b="0" i="1" smtClean="0">
                          <a:latin typeface="Cambria Math" panose="02040503050406030204" pitchFamily="18" charset="0"/>
                        </a:rPr>
                        <m:t>𝑧</m:t>
                      </m:r>
                      <m:r>
                        <a:rPr lang="pt-BR" i="1">
                          <a:latin typeface="Cambria Math" panose="02040503050406030204" pitchFamily="18" charset="0"/>
                        </a:rPr>
                        <m:t>)∈[0, 1</m:t>
                      </m:r>
                      <m:r>
                        <a:rPr lang="pt-BR" i="1">
                          <a:latin typeface="Cambria Math" panose="02040503050406030204" pitchFamily="18" charset="0"/>
                          <a:ea typeface="Cambria Math" panose="02040503050406030204" pitchFamily="18" charset="0"/>
                        </a:rPr>
                        <m:t>]</m:t>
                      </m:r>
                    </m:oMath>
                  </m:oMathPara>
                </a14:m>
                <a:endParaRPr lang="pt-BR" dirty="0"/>
              </a:p>
            </p:txBody>
          </p:sp>
        </mc:Choice>
        <mc:Fallback xmlns="">
          <p:sp>
            <p:nvSpPr>
              <p:cNvPr id="9" name="Retângulo 14">
                <a:extLst>
                  <a:ext uri="{FF2B5EF4-FFF2-40B4-BE49-F238E27FC236}">
                    <a16:creationId xmlns:a16="http://schemas.microsoft.com/office/drawing/2014/main" id="{E9F71E95-981D-5B7D-D4D0-AE6D9630604E}"/>
                  </a:ext>
                </a:extLst>
              </p:cNvPr>
              <p:cNvSpPr>
                <a:spLocks noRot="1" noChangeAspect="1" noMove="1" noResize="1" noEditPoints="1" noAdjustHandles="1" noChangeArrowheads="1" noChangeShapeType="1" noTextEdit="1"/>
              </p:cNvSpPr>
              <p:nvPr/>
            </p:nvSpPr>
            <p:spPr>
              <a:xfrm>
                <a:off x="7477797" y="6483249"/>
                <a:ext cx="2278894" cy="369332"/>
              </a:xfrm>
              <a:prstGeom prst="rect">
                <a:avLst/>
              </a:prstGeom>
              <a:blipFill>
                <a:blip r:embed="rId6"/>
                <a:stretch>
                  <a:fillRect b="-16667"/>
                </a:stretch>
              </a:blipFill>
            </p:spPr>
            <p:txBody>
              <a:bodyPr/>
              <a:lstStyle/>
              <a:p>
                <a:r>
                  <a:rPr lang="en-US">
                    <a:noFill/>
                  </a:rPr>
                  <a:t> </a:t>
                </a:r>
              </a:p>
            </p:txBody>
          </p:sp>
        </mc:Fallback>
      </mc:AlternateContent>
    </p:spTree>
    <p:extLst>
      <p:ext uri="{BB962C8B-B14F-4D97-AF65-F5344CB8AC3E}">
        <p14:creationId xmlns:p14="http://schemas.microsoft.com/office/powerpoint/2010/main" val="3131022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4E67D-1BE9-7550-5004-A1D19A290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64631-6CB2-152F-B2C3-34B6A408CC11}"/>
              </a:ext>
            </a:extLst>
          </p:cNvPr>
          <p:cNvSpPr>
            <a:spLocks noGrp="1"/>
          </p:cNvSpPr>
          <p:nvPr>
            <p:ph type="title"/>
          </p:nvPr>
        </p:nvSpPr>
        <p:spPr/>
        <p:txBody>
          <a:bodyPr/>
          <a:lstStyle/>
          <a:p>
            <a:r>
              <a:rPr lang="pt-BR" dirty="0"/>
              <a:t>Desaparecimento do gradiente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39F603-0AB1-0A3C-99B8-FEC63AAEF8C2}"/>
                  </a:ext>
                </a:extLst>
              </p:cNvPr>
              <p:cNvSpPr>
                <a:spLocks noGrp="1"/>
              </p:cNvSpPr>
              <p:nvPr>
                <p:ph idx="1"/>
              </p:nvPr>
            </p:nvSpPr>
            <p:spPr>
              <a:xfrm>
                <a:off x="838199" y="1825624"/>
                <a:ext cx="11353801" cy="5032375"/>
              </a:xfrm>
            </p:spPr>
            <p:txBody>
              <a:bodyPr>
                <a:normAutofit/>
              </a:bodyPr>
              <a:lstStyle/>
              <a:p>
                <a:r>
                  <a:rPr lang="pt-BR" dirty="0"/>
                  <a:t>Assim, em uma rede com </a:t>
                </a:r>
                <a14:m>
                  <m:oMath xmlns:m="http://schemas.openxmlformats.org/officeDocument/2006/math">
                    <m:r>
                      <a:rPr lang="pt-BR" b="0" i="1">
                        <a:latin typeface="Cambria Math" panose="02040503050406030204" pitchFamily="18" charset="0"/>
                      </a:rPr>
                      <m:t>𝑀</m:t>
                    </m:r>
                  </m:oMath>
                </a14:m>
                <a:r>
                  <a:rPr lang="pt-BR" dirty="0"/>
                  <a:t> camadas, a </a:t>
                </a:r>
                <a:r>
                  <a:rPr lang="pt-BR" b="1" dirty="0"/>
                  <a:t>retropropagação</a:t>
                </a:r>
                <a:r>
                  <a:rPr lang="pt-BR" b="1" i="1" dirty="0"/>
                  <a:t> </a:t>
                </a:r>
                <a:r>
                  <a:rPr lang="pt-BR" dirty="0"/>
                  <a:t>tem o efeito de multiplicar até </a:t>
                </a:r>
                <a14:m>
                  <m:oMath xmlns:m="http://schemas.openxmlformats.org/officeDocument/2006/math">
                    <m:r>
                      <a:rPr lang="pt-BR" b="0" i="1">
                        <a:latin typeface="Cambria Math" panose="02040503050406030204" pitchFamily="18" charset="0"/>
                      </a:rPr>
                      <m:t>𝑀</m:t>
                    </m:r>
                  </m:oMath>
                </a14:m>
                <a:r>
                  <a:rPr lang="pt-BR" dirty="0"/>
                  <a:t> valores, em geral, menores do que 1 para calcular os vetores gradiente das primeiras camadas.</a:t>
                </a:r>
              </a:p>
              <a:p>
                <a:r>
                  <a:rPr lang="en-US" b="1" dirty="0"/>
                  <a:t>OBS</a:t>
                </a:r>
                <a:r>
                  <a:rPr lang="en-US" dirty="0"/>
                  <a:t>.</a:t>
                </a:r>
                <a:r>
                  <a:rPr lang="pt-BR" dirty="0"/>
                  <a:t>: </a:t>
                </a:r>
                <a:r>
                  <a:rPr lang="en-US" dirty="0"/>
                  <a:t>Se </a:t>
                </a:r>
                <a:r>
                  <a:rPr lang="en-US" dirty="0" err="1"/>
                  <a:t>os</a:t>
                </a:r>
                <a:r>
                  <a:rPr lang="en-US" dirty="0"/>
                  <a:t> </a:t>
                </a:r>
                <a:r>
                  <a:rPr lang="en-US" dirty="0" err="1"/>
                  <a:t>valores</a:t>
                </a:r>
                <a:r>
                  <a:rPr lang="en-US" dirty="0"/>
                  <a:t> </a:t>
                </a:r>
                <a:r>
                  <a:rPr lang="en-US" dirty="0" err="1"/>
                  <a:t>iniciais</a:t>
                </a:r>
                <a:r>
                  <a:rPr lang="en-US" dirty="0"/>
                  <a:t> dos pesos </a:t>
                </a:r>
                <a:r>
                  <a:rPr lang="en-US" dirty="0" err="1"/>
                  <a:t>forem</a:t>
                </a:r>
                <a:r>
                  <a:rPr lang="en-US" dirty="0"/>
                  <a:t> </a:t>
                </a:r>
                <a:r>
                  <a:rPr lang="en-US" dirty="0" err="1"/>
                  <a:t>menores</a:t>
                </a:r>
                <a:r>
                  <a:rPr lang="en-US" dirty="0"/>
                  <a:t> do </a:t>
                </a:r>
                <a:r>
                  <a:rPr lang="en-US" dirty="0" err="1"/>
                  <a:t>que</a:t>
                </a:r>
                <a:r>
                  <a:rPr lang="en-US" dirty="0"/>
                  <a:t> 1, </a:t>
                </a:r>
                <a:r>
                  <a:rPr lang="en-US" dirty="0" err="1"/>
                  <a:t>também</a:t>
                </a:r>
                <a:r>
                  <a:rPr lang="en-US" dirty="0"/>
                  <a:t> </a:t>
                </a:r>
                <a:r>
                  <a:rPr lang="en-US" dirty="0" err="1"/>
                  <a:t>teremos</a:t>
                </a:r>
                <a:r>
                  <a:rPr lang="en-US" dirty="0"/>
                  <a:t> a </a:t>
                </a:r>
                <a:r>
                  <a:rPr lang="en-US" dirty="0" err="1"/>
                  <a:t>multiplicação</a:t>
                </a:r>
                <a:r>
                  <a:rPr lang="en-US" dirty="0"/>
                  <a:t> de </a:t>
                </a:r>
                <a:r>
                  <a:rPr lang="en-US" dirty="0" err="1"/>
                  <a:t>vários</a:t>
                </a:r>
                <a:r>
                  <a:rPr lang="en-US" dirty="0"/>
                  <a:t> </a:t>
                </a:r>
                <a:r>
                  <a:rPr lang="en-US" dirty="0" err="1"/>
                  <a:t>termos</a:t>
                </a:r>
                <a:r>
                  <a:rPr lang="en-US" dirty="0"/>
                  <a:t> </a:t>
                </a:r>
                <a:r>
                  <a:rPr lang="en-US" dirty="0" err="1"/>
                  <a:t>pequenos</a:t>
                </a:r>
                <a:r>
                  <a:rPr lang="en-US" dirty="0"/>
                  <a:t>.</a:t>
                </a:r>
                <a:endParaRPr lang="pt-BR" dirty="0"/>
              </a:p>
              <a:p>
                <a:pPr marL="0" indent="0">
                  <a:buNone/>
                </a:pPr>
                <a:endParaRPr lang="pt-BR" dirty="0"/>
              </a:p>
              <a:p>
                <a:pPr marL="0" indent="0">
                  <a:buNone/>
                </a:pPr>
                <a:endParaRPr lang="pt-BR" dirty="0"/>
              </a:p>
              <a:p>
                <a:pPr marL="0" indent="0" algn="ctr">
                  <a:buNone/>
                </a:pPr>
                <a:r>
                  <a:rPr lang="pt-BR" sz="3200" b="1" dirty="0">
                    <a:solidFill>
                      <a:schemeClr val="accent1"/>
                    </a:solidFill>
                  </a:rPr>
                  <a:t>Mas o que isso significa na prática?</a:t>
                </a:r>
                <a:endParaRPr lang="pt-BR" b="1" dirty="0">
                  <a:solidFill>
                    <a:schemeClr val="accent1"/>
                  </a:solidFill>
                </a:endParaRPr>
              </a:p>
            </p:txBody>
          </p:sp>
        </mc:Choice>
        <mc:Fallback xmlns="">
          <p:sp>
            <p:nvSpPr>
              <p:cNvPr id="3" name="Content Placeholder 2">
                <a:extLst>
                  <a:ext uri="{FF2B5EF4-FFF2-40B4-BE49-F238E27FC236}">
                    <a16:creationId xmlns:a16="http://schemas.microsoft.com/office/drawing/2014/main" id="{9639F603-0AB1-0A3C-99B8-FEC63AAEF8C2}"/>
                  </a:ext>
                </a:extLst>
              </p:cNvPr>
              <p:cNvSpPr>
                <a:spLocks noGrp="1" noRot="1" noChangeAspect="1" noMove="1" noResize="1" noEditPoints="1" noAdjustHandles="1" noChangeArrowheads="1" noChangeShapeType="1" noTextEdit="1"/>
              </p:cNvSpPr>
              <p:nvPr>
                <p:ph idx="1"/>
              </p:nvPr>
            </p:nvSpPr>
            <p:spPr>
              <a:xfrm>
                <a:off x="838199" y="1825624"/>
                <a:ext cx="11353801" cy="5032375"/>
              </a:xfrm>
              <a:blipFill>
                <a:blip r:embed="rId2"/>
                <a:stretch>
                  <a:fillRect l="-913" t="-1937"/>
                </a:stretch>
              </a:blipFill>
            </p:spPr>
            <p:txBody>
              <a:bodyPr/>
              <a:lstStyle/>
              <a:p>
                <a:r>
                  <a:rPr lang="en-US">
                    <a:noFill/>
                  </a:rPr>
                  <a:t> </a:t>
                </a:r>
              </a:p>
            </p:txBody>
          </p:sp>
        </mc:Fallback>
      </mc:AlternateContent>
    </p:spTree>
    <p:extLst>
      <p:ext uri="{BB962C8B-B14F-4D97-AF65-F5344CB8AC3E}">
        <p14:creationId xmlns:p14="http://schemas.microsoft.com/office/powerpoint/2010/main" val="8670859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DFC76-8AB6-020C-82FD-4686C37B8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AEB46-AF82-7781-D7B1-BEBCF114524D}"/>
              </a:ext>
            </a:extLst>
          </p:cNvPr>
          <p:cNvSpPr>
            <a:spLocks noGrp="1"/>
          </p:cNvSpPr>
          <p:nvPr>
            <p:ph type="title"/>
          </p:nvPr>
        </p:nvSpPr>
        <p:spPr/>
        <p:txBody>
          <a:bodyPr/>
          <a:lstStyle/>
          <a:p>
            <a:r>
              <a:rPr lang="pt-BR" dirty="0"/>
              <a:t>Desaparecimento do gradiente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15A5F3-5F37-E63E-2FB4-9239351DA1DD}"/>
                  </a:ext>
                </a:extLst>
              </p:cNvPr>
              <p:cNvSpPr>
                <a:spLocks noGrp="1"/>
              </p:cNvSpPr>
              <p:nvPr>
                <p:ph idx="1"/>
              </p:nvPr>
            </p:nvSpPr>
            <p:spPr>
              <a:xfrm>
                <a:off x="5378245" y="1825624"/>
                <a:ext cx="6813755" cy="5032375"/>
              </a:xfrm>
            </p:spPr>
            <p:txBody>
              <a:bodyPr>
                <a:normAutofit/>
              </a:bodyPr>
              <a:lstStyle/>
              <a:p>
                <a:r>
                  <a:rPr lang="pt-BR" dirty="0"/>
                  <a:t>Isso significa que o </a:t>
                </a:r>
                <a:r>
                  <a:rPr lang="pt-BR" b="1" dirty="0">
                    <a:solidFill>
                      <a:srgbClr val="7030A0"/>
                    </a:solidFill>
                  </a:rPr>
                  <a:t>gradiente diminui exponencialmente com </a:t>
                </a:r>
                <a14:m>
                  <m:oMath xmlns:m="http://schemas.openxmlformats.org/officeDocument/2006/math">
                    <m:r>
                      <a:rPr lang="pt-BR" b="1" i="1">
                        <a:solidFill>
                          <a:srgbClr val="7030A0"/>
                        </a:solidFill>
                        <a:latin typeface="Cambria Math" panose="02040503050406030204" pitchFamily="18" charset="0"/>
                      </a:rPr>
                      <m:t>𝑴</m:t>
                    </m:r>
                  </m:oMath>
                </a14:m>
                <a:r>
                  <a:rPr lang="pt-BR" dirty="0"/>
                  <a:t>.</a:t>
                </a:r>
              </a:p>
              <a:p>
                <a:r>
                  <a:rPr lang="pt-BR" dirty="0"/>
                  <a:t>Assim, os </a:t>
                </a:r>
                <a:r>
                  <a:rPr lang="pt-BR" b="1" dirty="0">
                    <a:solidFill>
                      <a:schemeClr val="accent2"/>
                    </a:solidFill>
                  </a:rPr>
                  <a:t>nós das camadas iniciais</a:t>
                </a:r>
                <a:r>
                  <a:rPr lang="pt-BR" b="1" dirty="0"/>
                  <a:t> aprendem muito mais </a:t>
                </a:r>
                <a:r>
                  <a:rPr lang="pt-BR" b="1" dirty="0">
                    <a:solidFill>
                      <a:srgbClr val="7030A0"/>
                    </a:solidFill>
                  </a:rPr>
                  <a:t>lentamente</a:t>
                </a:r>
                <a:r>
                  <a:rPr lang="pt-BR" b="1" dirty="0"/>
                  <a:t> do que os nós das camadas finais</a:t>
                </a:r>
                <a:r>
                  <a:rPr lang="pt-BR" dirty="0"/>
                  <a:t>, pois o </a:t>
                </a:r>
                <a:r>
                  <a:rPr lang="pt-BR" b="1" dirty="0">
                    <a:solidFill>
                      <a:srgbClr val="7030A0"/>
                    </a:solidFill>
                  </a:rPr>
                  <a:t>vetor gradiente </a:t>
                </a:r>
                <a:r>
                  <a:rPr lang="pt-BR" dirty="0"/>
                  <a:t>daquelas camadas é </a:t>
                </a:r>
                <a:r>
                  <a:rPr lang="pt-BR" b="1" dirty="0">
                    <a:solidFill>
                      <a:srgbClr val="7030A0"/>
                    </a:solidFill>
                  </a:rPr>
                  <a:t>muito pequeno</a:t>
                </a:r>
                <a:r>
                  <a:rPr lang="pt-BR" dirty="0"/>
                  <a:t>, fazendo com que a </a:t>
                </a:r>
                <a:r>
                  <a:rPr lang="pt-BR" b="1" dirty="0">
                    <a:solidFill>
                      <a:srgbClr val="7030A0"/>
                    </a:solidFill>
                  </a:rPr>
                  <a:t>atualização dos pesos também seja pequena</a:t>
                </a:r>
                <a:r>
                  <a:rPr lang="pt-BR" b="1" dirty="0"/>
                  <a:t>.</a:t>
                </a:r>
              </a:p>
              <a:p>
                <a:r>
                  <a:rPr lang="pt-BR" dirty="0"/>
                  <a:t>Isso faz com que as </a:t>
                </a:r>
                <a:r>
                  <a:rPr lang="pt-BR" b="1" dirty="0">
                    <a:solidFill>
                      <a:schemeClr val="accent2"/>
                    </a:solidFill>
                  </a:rPr>
                  <a:t>primeiras camadas aprendam lentamente ou nem aprendam</a:t>
                </a:r>
                <a:r>
                  <a:rPr lang="pt-BR" dirty="0"/>
                  <a:t>, pois têm </a:t>
                </a:r>
                <a:r>
                  <a:rPr lang="pt-BR" b="1" dirty="0">
                    <a:solidFill>
                      <a:srgbClr val="7030A0"/>
                    </a:solidFill>
                  </a:rPr>
                  <a:t>derivadas muito pequenas</a:t>
                </a:r>
                <a:r>
                  <a:rPr lang="pt-BR" dirty="0"/>
                  <a:t>, </a:t>
                </a:r>
                <a:r>
                  <a:rPr lang="pt-BR" b="1" dirty="0">
                    <a:solidFill>
                      <a:schemeClr val="accent5"/>
                    </a:solidFill>
                  </a:rPr>
                  <a:t>tendendo a zero</a:t>
                </a:r>
                <a:r>
                  <a:rPr lang="pt-BR" dirty="0"/>
                  <a:t>.</a:t>
                </a:r>
              </a:p>
            </p:txBody>
          </p:sp>
        </mc:Choice>
        <mc:Fallback xmlns="">
          <p:sp>
            <p:nvSpPr>
              <p:cNvPr id="3" name="Content Placeholder 2">
                <a:extLst>
                  <a:ext uri="{FF2B5EF4-FFF2-40B4-BE49-F238E27FC236}">
                    <a16:creationId xmlns:a16="http://schemas.microsoft.com/office/drawing/2014/main" id="{6C15A5F3-5F37-E63E-2FB4-9239351DA1DD}"/>
                  </a:ext>
                </a:extLst>
              </p:cNvPr>
              <p:cNvSpPr>
                <a:spLocks noGrp="1" noRot="1" noChangeAspect="1" noMove="1" noResize="1" noEditPoints="1" noAdjustHandles="1" noChangeArrowheads="1" noChangeShapeType="1" noTextEdit="1"/>
              </p:cNvSpPr>
              <p:nvPr>
                <p:ph idx="1"/>
              </p:nvPr>
            </p:nvSpPr>
            <p:spPr>
              <a:xfrm>
                <a:off x="5378245" y="1825624"/>
                <a:ext cx="6813755" cy="5032375"/>
              </a:xfrm>
              <a:blipFill>
                <a:blip r:embed="rId2"/>
                <a:stretch>
                  <a:fillRect l="-1610" t="-1937" b="-1816"/>
                </a:stretch>
              </a:blipFill>
            </p:spPr>
            <p:txBody>
              <a:bodyPr/>
              <a:lstStyle/>
              <a:p>
                <a:r>
                  <a:rPr lang="en-US">
                    <a:noFill/>
                  </a:rPr>
                  <a:t> </a:t>
                </a:r>
              </a:p>
            </p:txBody>
          </p:sp>
        </mc:Fallback>
      </mc:AlternateContent>
      <p:pic>
        <p:nvPicPr>
          <p:cNvPr id="1026" name="Picture 2" descr="Vanishing Gradient Problem: Causes and Methods">
            <a:extLst>
              <a:ext uri="{FF2B5EF4-FFF2-40B4-BE49-F238E27FC236}">
                <a16:creationId xmlns:a16="http://schemas.microsoft.com/office/drawing/2014/main" id="{27B765F7-AA34-949A-CBF5-E1A9E76CFB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986" t="5324" r="6417" b="5324"/>
          <a:stretch>
            <a:fillRect/>
          </a:stretch>
        </p:blipFill>
        <p:spPr bwMode="auto">
          <a:xfrm>
            <a:off x="596706" y="1825624"/>
            <a:ext cx="4447242" cy="4536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00161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1F707D88-35FE-5C70-B670-7724F07963B8}"/>
              </a:ext>
            </a:extLst>
          </p:cNvPr>
          <p:cNvSpPr>
            <a:spLocks noGrp="1"/>
          </p:cNvSpPr>
          <p:nvPr>
            <p:ph idx="1"/>
          </p:nvPr>
        </p:nvSpPr>
        <p:spPr>
          <a:xfrm>
            <a:off x="641838" y="2433544"/>
            <a:ext cx="10908323" cy="2166166"/>
          </a:xfrm>
        </p:spPr>
        <p:txBody>
          <a:bodyPr>
            <a:noAutofit/>
          </a:bodyPr>
          <a:lstStyle/>
          <a:p>
            <a:pPr marL="0" indent="0" algn="ctr">
              <a:buNone/>
            </a:pPr>
            <a:r>
              <a:rPr lang="pt-BR" sz="7200" b="1" dirty="0"/>
              <a:t>Como mitigar esse problema?</a:t>
            </a:r>
          </a:p>
        </p:txBody>
      </p:sp>
    </p:spTree>
    <p:extLst>
      <p:ext uri="{BB962C8B-B14F-4D97-AF65-F5344CB8AC3E}">
        <p14:creationId xmlns:p14="http://schemas.microsoft.com/office/powerpoint/2010/main" val="16142086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CCA311-66EE-354C-C200-CCC00EDBCF09}"/>
              </a:ext>
            </a:extLst>
          </p:cNvPr>
          <p:cNvSpPr>
            <a:spLocks noGrp="1"/>
          </p:cNvSpPr>
          <p:nvPr>
            <p:ph type="title"/>
          </p:nvPr>
        </p:nvSpPr>
        <p:spPr/>
        <p:txBody>
          <a:bodyPr/>
          <a:lstStyle/>
          <a:p>
            <a:r>
              <a:rPr lang="pt-BR" dirty="0"/>
              <a:t>Função de ativação retificadora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98299B2A-6128-9D83-D88E-42F9464E8818}"/>
                  </a:ext>
                </a:extLst>
              </p:cNvPr>
              <p:cNvSpPr>
                <a:spLocks noGrp="1"/>
              </p:cNvSpPr>
              <p:nvPr>
                <p:ph idx="1"/>
              </p:nvPr>
            </p:nvSpPr>
            <p:spPr>
              <a:xfrm>
                <a:off x="5154803" y="1825624"/>
                <a:ext cx="7037197" cy="5032375"/>
              </a:xfrm>
            </p:spPr>
            <p:txBody>
              <a:bodyPr>
                <a:normAutofit/>
              </a:bodyPr>
              <a:lstStyle/>
              <a:p>
                <a:r>
                  <a:rPr lang="pt-BR" dirty="0"/>
                  <a:t>Com o surgimento das </a:t>
                </a:r>
                <a:r>
                  <a:rPr lang="pt-BR" b="1" dirty="0">
                    <a:solidFill>
                      <a:srgbClr val="00B050"/>
                    </a:solidFill>
                  </a:rPr>
                  <a:t>redes neurais profundas</a:t>
                </a:r>
                <a:r>
                  <a:rPr lang="pt-BR" dirty="0"/>
                  <a:t>, e, consequentemente, do problema do </a:t>
                </a:r>
                <a:r>
                  <a:rPr lang="pt-BR" b="1" dirty="0">
                    <a:solidFill>
                      <a:srgbClr val="7030A0"/>
                    </a:solidFill>
                  </a:rPr>
                  <a:t>desaparecimento do gradiente</a:t>
                </a:r>
                <a:r>
                  <a:rPr lang="pt-BR" dirty="0"/>
                  <a:t>, uma outra função de ativação, conhecida como </a:t>
                </a:r>
                <a:r>
                  <a:rPr lang="pt-BR" b="1" i="1" dirty="0" err="1">
                    <a:solidFill>
                      <a:schemeClr val="tx1"/>
                    </a:solidFill>
                  </a:rPr>
                  <a:t>Rectified</a:t>
                </a:r>
                <a:r>
                  <a:rPr lang="pt-BR" b="1" i="1" dirty="0">
                    <a:solidFill>
                      <a:schemeClr val="tx1"/>
                    </a:solidFill>
                  </a:rPr>
                  <a:t> Linear Unit </a:t>
                </a:r>
                <a:r>
                  <a:rPr lang="pt-BR" dirty="0">
                    <a:solidFill>
                      <a:schemeClr val="tx1"/>
                    </a:solidFill>
                  </a:rPr>
                  <a:t>(</a:t>
                </a:r>
                <a:r>
                  <a:rPr lang="pt-BR" dirty="0" err="1">
                    <a:solidFill>
                      <a:schemeClr val="tx1"/>
                    </a:solidFill>
                  </a:rPr>
                  <a:t>ReLU</a:t>
                </a:r>
                <a:r>
                  <a:rPr lang="pt-BR" dirty="0">
                    <a:solidFill>
                      <a:schemeClr val="tx1"/>
                    </a:solidFill>
                  </a:rPr>
                  <a:t>)</a:t>
                </a:r>
                <a:r>
                  <a:rPr lang="pt-BR" dirty="0"/>
                  <a:t>, passou a ser a bastante utilizada.</a:t>
                </a:r>
              </a:p>
              <a:p>
                <a:r>
                  <a:rPr lang="pt-BR" dirty="0">
                    <a:solidFill>
                      <a:schemeClr val="tx1"/>
                    </a:solidFill>
                  </a:rPr>
                  <a:t>É também uma </a:t>
                </a:r>
                <a:r>
                  <a:rPr lang="pt-BR" b="1" dirty="0">
                    <a:solidFill>
                      <a:schemeClr val="accent2"/>
                    </a:solidFill>
                  </a:rPr>
                  <a:t>função não-linear </a:t>
                </a:r>
                <a:r>
                  <a:rPr lang="pt-BR" dirty="0">
                    <a:solidFill>
                      <a:schemeClr val="tx1"/>
                    </a:solidFill>
                  </a:rPr>
                  <a:t>onde sua saída é igual 0 quando </a:t>
                </a:r>
                <a14:m>
                  <m:oMath xmlns:m="http://schemas.openxmlformats.org/officeDocument/2006/math">
                    <m:r>
                      <a:rPr lang="pt-BR" i="1">
                        <a:solidFill>
                          <a:schemeClr val="tx1"/>
                        </a:solidFill>
                        <a:latin typeface="Cambria Math" panose="02040503050406030204" pitchFamily="18" charset="0"/>
                      </a:rPr>
                      <m:t>𝑔</m:t>
                    </m:r>
                    <m:d>
                      <m:dPr>
                        <m:ctrlPr>
                          <a:rPr lang="pt-BR" b="1" i="1">
                            <a:solidFill>
                              <a:schemeClr val="tx1"/>
                            </a:solidFill>
                            <a:latin typeface="Cambria Math" panose="02040503050406030204" pitchFamily="18" charset="0"/>
                          </a:rPr>
                        </m:ctrlPr>
                      </m:dPr>
                      <m:e>
                        <m:r>
                          <a:rPr lang="pt-BR" b="1" i="1">
                            <a:solidFill>
                              <a:schemeClr val="tx1"/>
                            </a:solidFill>
                            <a:latin typeface="Cambria Math" panose="02040503050406030204" pitchFamily="18" charset="0"/>
                          </a:rPr>
                          <m:t>𝒙</m:t>
                        </m:r>
                      </m:e>
                    </m:d>
                    <m:r>
                      <a:rPr lang="pt-BR" b="0" i="1" smtClean="0">
                        <a:solidFill>
                          <a:schemeClr val="tx1"/>
                        </a:solidFill>
                        <a:latin typeface="Cambria Math" panose="02040503050406030204" pitchFamily="18" charset="0"/>
                      </a:rPr>
                      <m:t>≤0</m:t>
                    </m:r>
                  </m:oMath>
                </a14:m>
                <a:r>
                  <a:rPr lang="pt-BR" dirty="0">
                    <a:solidFill>
                      <a:schemeClr val="tx1"/>
                    </a:solidFill>
                  </a:rPr>
                  <a:t> e o próprio </a:t>
                </a:r>
                <a14:m>
                  <m:oMath xmlns:m="http://schemas.openxmlformats.org/officeDocument/2006/math">
                    <m:r>
                      <a:rPr lang="pt-BR" i="1">
                        <a:solidFill>
                          <a:schemeClr val="tx1"/>
                        </a:solidFill>
                        <a:latin typeface="Cambria Math" panose="02040503050406030204" pitchFamily="18" charset="0"/>
                      </a:rPr>
                      <m:t>𝑔</m:t>
                    </m:r>
                    <m:r>
                      <a:rPr lang="pt-BR" i="1">
                        <a:solidFill>
                          <a:schemeClr val="tx1"/>
                        </a:solidFill>
                        <a:latin typeface="Cambria Math" panose="02040503050406030204" pitchFamily="18" charset="0"/>
                      </a:rPr>
                      <m:t>(</m:t>
                    </m:r>
                    <m:r>
                      <a:rPr lang="pt-BR" b="1" i="1">
                        <a:solidFill>
                          <a:schemeClr val="tx1"/>
                        </a:solidFill>
                        <a:latin typeface="Cambria Math" panose="02040503050406030204" pitchFamily="18" charset="0"/>
                      </a:rPr>
                      <m:t>𝒙</m:t>
                    </m:r>
                    <m:r>
                      <a:rPr lang="pt-BR" i="1">
                        <a:solidFill>
                          <a:schemeClr val="tx1"/>
                        </a:solidFill>
                        <a:latin typeface="Cambria Math" panose="02040503050406030204" pitchFamily="18" charset="0"/>
                      </a:rPr>
                      <m:t>)</m:t>
                    </m:r>
                  </m:oMath>
                </a14:m>
                <a:r>
                  <a:rPr lang="pt-BR" dirty="0">
                    <a:solidFill>
                      <a:schemeClr val="tx1"/>
                    </a:solidFill>
                  </a:rPr>
                  <a:t> quando </a:t>
                </a:r>
                <a14:m>
                  <m:oMath xmlns:m="http://schemas.openxmlformats.org/officeDocument/2006/math">
                    <m:r>
                      <a:rPr lang="pt-BR" i="1">
                        <a:solidFill>
                          <a:schemeClr val="tx1"/>
                        </a:solidFill>
                        <a:latin typeface="Cambria Math" panose="02040503050406030204" pitchFamily="18" charset="0"/>
                      </a:rPr>
                      <m:t>𝑔</m:t>
                    </m:r>
                    <m:d>
                      <m:dPr>
                        <m:ctrlPr>
                          <a:rPr lang="pt-BR" b="1" i="1">
                            <a:solidFill>
                              <a:schemeClr val="tx1"/>
                            </a:solidFill>
                            <a:latin typeface="Cambria Math" panose="02040503050406030204" pitchFamily="18" charset="0"/>
                          </a:rPr>
                        </m:ctrlPr>
                      </m:dPr>
                      <m:e>
                        <m:r>
                          <a:rPr lang="pt-BR" b="1" i="1">
                            <a:solidFill>
                              <a:schemeClr val="tx1"/>
                            </a:solidFill>
                            <a:latin typeface="Cambria Math" panose="02040503050406030204" pitchFamily="18" charset="0"/>
                          </a:rPr>
                          <m:t>𝒙</m:t>
                        </m:r>
                      </m:e>
                    </m:d>
                    <m:r>
                      <a:rPr lang="pt-BR" b="0" i="1" smtClean="0">
                        <a:solidFill>
                          <a:schemeClr val="tx1"/>
                        </a:solidFill>
                        <a:latin typeface="Cambria Math" panose="02040503050406030204" pitchFamily="18" charset="0"/>
                      </a:rPr>
                      <m:t>&gt;0</m:t>
                    </m:r>
                  </m:oMath>
                </a14:m>
                <a:r>
                  <a:rPr lang="pt-BR" dirty="0">
                    <a:solidFill>
                      <a:schemeClr val="tx1"/>
                    </a:solidFill>
                  </a:rPr>
                  <a:t>.</a:t>
                </a:r>
              </a:p>
              <a:p>
                <a:r>
                  <a:rPr lang="pt-BR" dirty="0">
                    <a:solidFill>
                      <a:schemeClr val="tx1"/>
                    </a:solidFill>
                  </a:rPr>
                  <a:t>É</a:t>
                </a:r>
                <a:r>
                  <a:rPr lang="pt-BR" b="0" i="0" dirty="0">
                    <a:solidFill>
                      <a:schemeClr val="tx1"/>
                    </a:solidFill>
                    <a:effectLst/>
                  </a:rPr>
                  <a:t> uma das funções mais utilizadas em redes neurais profundas atualmente</a:t>
                </a:r>
                <a:r>
                  <a:rPr lang="pt-BR" dirty="0">
                    <a:solidFill>
                      <a:schemeClr val="tx1"/>
                    </a:solidFill>
                  </a:rPr>
                  <a:t>.</a:t>
                </a:r>
              </a:p>
            </p:txBody>
          </p:sp>
        </mc:Choice>
        <mc:Fallback xmlns="">
          <p:sp>
            <p:nvSpPr>
              <p:cNvPr id="3" name="Espaço Reservado para Conteúdo 2">
                <a:extLst>
                  <a:ext uri="{FF2B5EF4-FFF2-40B4-BE49-F238E27FC236}">
                    <a16:creationId xmlns:a16="http://schemas.microsoft.com/office/drawing/2014/main" id="{98299B2A-6128-9D83-D88E-42F9464E8818}"/>
                  </a:ext>
                </a:extLst>
              </p:cNvPr>
              <p:cNvSpPr>
                <a:spLocks noGrp="1" noRot="1" noChangeAspect="1" noMove="1" noResize="1" noEditPoints="1" noAdjustHandles="1" noChangeArrowheads="1" noChangeShapeType="1" noTextEdit="1"/>
              </p:cNvSpPr>
              <p:nvPr>
                <p:ph idx="1"/>
              </p:nvPr>
            </p:nvSpPr>
            <p:spPr>
              <a:xfrm>
                <a:off x="5154803" y="1825624"/>
                <a:ext cx="7037197" cy="5032375"/>
              </a:xfrm>
              <a:blipFill>
                <a:blip r:embed="rId3"/>
                <a:stretch>
                  <a:fillRect l="-1560" t="-1937" r="-1560"/>
                </a:stretch>
              </a:blipFill>
            </p:spPr>
            <p:txBody>
              <a:bodyPr/>
              <a:lstStyle/>
              <a:p>
                <a:r>
                  <a:rPr lang="en-US">
                    <a:noFill/>
                  </a:rPr>
                  <a:t> </a:t>
                </a:r>
              </a:p>
            </p:txBody>
          </p:sp>
        </mc:Fallback>
      </mc:AlternateContent>
      <p:grpSp>
        <p:nvGrpSpPr>
          <p:cNvPr id="4" name="Agrupar 3">
            <a:extLst>
              <a:ext uri="{FF2B5EF4-FFF2-40B4-BE49-F238E27FC236}">
                <a16:creationId xmlns:a16="http://schemas.microsoft.com/office/drawing/2014/main" id="{3C578F58-6A89-FBA0-2705-1E663273F189}"/>
              </a:ext>
            </a:extLst>
          </p:cNvPr>
          <p:cNvGrpSpPr/>
          <p:nvPr/>
        </p:nvGrpSpPr>
        <p:grpSpPr>
          <a:xfrm>
            <a:off x="723477" y="2390249"/>
            <a:ext cx="3968359" cy="3472872"/>
            <a:chOff x="1115363" y="2400298"/>
            <a:chExt cx="3968359" cy="3472872"/>
          </a:xfrm>
        </p:grpSpPr>
        <p:pic>
          <p:nvPicPr>
            <p:cNvPr id="5" name="Imagem 4">
              <a:extLst>
                <a:ext uri="{FF2B5EF4-FFF2-40B4-BE49-F238E27FC236}">
                  <a16:creationId xmlns:a16="http://schemas.microsoft.com/office/drawing/2014/main" id="{EE48010C-60E1-A3D9-6322-51F40770A40D}"/>
                </a:ext>
              </a:extLst>
            </p:cNvPr>
            <p:cNvPicPr>
              <a:picLocks noChangeAspect="1"/>
            </p:cNvPicPr>
            <p:nvPr/>
          </p:nvPicPr>
          <p:blipFill rotWithShape="1">
            <a:blip r:embed="rId4"/>
            <a:srcRect l="5002" t="6467" r="8442" b="1020"/>
            <a:stretch/>
          </p:blipFill>
          <p:spPr>
            <a:xfrm>
              <a:off x="1299732" y="2400298"/>
              <a:ext cx="3345850" cy="2682043"/>
            </a:xfrm>
            <a:prstGeom prst="rect">
              <a:avLst/>
            </a:prstGeom>
          </p:spPr>
        </p:pic>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C7425866-D58A-05FA-F0E5-6358ECBB0655}"/>
                    </a:ext>
                  </a:extLst>
                </p:cNvPr>
                <p:cNvSpPr txBox="1"/>
                <p:nvPr/>
              </p:nvSpPr>
              <p:spPr>
                <a:xfrm>
                  <a:off x="1142860" y="5411505"/>
                  <a:ext cx="3940862" cy="461665"/>
                </a:xfrm>
                <a:prstGeom prst="rect">
                  <a:avLst/>
                </a:prstGeom>
                <a:noFill/>
              </p:spPr>
              <p:txBody>
                <a:bodyPr wrap="square">
                  <a:spAutoFit/>
                </a:bodyPr>
                <a:lstStyle/>
                <a:p>
                  <a:pPr/>
                  <a14:m>
                    <m:oMathPara xmlns:m="http://schemas.openxmlformats.org/officeDocument/2006/math">
                      <m:oMath>
                        <m:acc>
                          <m:accPr>
                            <m:chr m:val="̂"/>
                            <m:ctrlPr>
                              <a:rPr lang="pt-BR" sz="2400" b="0" i="1" smtClean="0">
                                <a:latin typeface="Cambria Math" panose="02040503050406030204" pitchFamily="18" charset="0"/>
                              </a:rPr>
                            </m:ctrlPr>
                          </m:accPr>
                          <m:e>
                            <m:r>
                              <a:rPr lang="pt-BR" sz="2400" b="0" i="1" smtClean="0">
                                <a:latin typeface="Cambria Math" panose="02040503050406030204" pitchFamily="18" charset="0"/>
                              </a:rPr>
                              <m:t>𝑦</m:t>
                            </m:r>
                          </m:e>
                        </m:acc>
                        <m:r>
                          <a:rPr lang="pt-BR" sz="2400" i="1">
                            <a:latin typeface="Cambria Math" panose="02040503050406030204" pitchFamily="18" charset="0"/>
                          </a:rPr>
                          <m:t>=</m:t>
                        </m:r>
                        <m:r>
                          <a:rPr lang="pt-BR" sz="2400" i="1">
                            <a:latin typeface="Cambria Math" panose="02040503050406030204" pitchFamily="18" charset="0"/>
                          </a:rPr>
                          <m:t>𝑓</m:t>
                        </m:r>
                        <m:d>
                          <m:dPr>
                            <m:ctrlPr>
                              <a:rPr lang="pt-BR" sz="2400" b="0" i="1" smtClean="0">
                                <a:latin typeface="Cambria Math" panose="02040503050406030204" pitchFamily="18" charset="0"/>
                              </a:rPr>
                            </m:ctrlPr>
                          </m:dPr>
                          <m:e>
                            <m:r>
                              <a:rPr lang="pt-BR" sz="2400" b="0" i="1" smtClean="0">
                                <a:latin typeface="Cambria Math" panose="02040503050406030204" pitchFamily="18" charset="0"/>
                              </a:rPr>
                              <m:t>𝑔</m:t>
                            </m:r>
                            <m:r>
                              <a:rPr lang="pt-BR" sz="2400" b="0" i="1" smtClean="0">
                                <a:latin typeface="Cambria Math" panose="02040503050406030204" pitchFamily="18" charset="0"/>
                              </a:rPr>
                              <m:t>(</m:t>
                            </m:r>
                            <m:r>
                              <a:rPr lang="pt-BR" sz="2400" b="1" i="1" smtClean="0">
                                <a:latin typeface="Cambria Math" panose="02040503050406030204" pitchFamily="18" charset="0"/>
                              </a:rPr>
                              <m:t>𝒙</m:t>
                            </m:r>
                            <m:r>
                              <a:rPr lang="pt-BR" sz="2400" b="0" i="1" smtClean="0">
                                <a:latin typeface="Cambria Math" panose="02040503050406030204" pitchFamily="18" charset="0"/>
                              </a:rPr>
                              <m:t>)</m:t>
                            </m:r>
                          </m:e>
                        </m:d>
                        <m:r>
                          <a:rPr lang="pt-BR" sz="2400" i="1">
                            <a:latin typeface="Cambria Math" panose="02040503050406030204" pitchFamily="18" charset="0"/>
                          </a:rPr>
                          <m:t>=</m:t>
                        </m:r>
                        <m:r>
                          <m:rPr>
                            <m:sty m:val="p"/>
                          </m:rPr>
                          <a:rPr lang="pt-BR" sz="2400">
                            <a:latin typeface="Cambria Math" panose="02040503050406030204" pitchFamily="18" charset="0"/>
                          </a:rPr>
                          <m:t>max</m:t>
                        </m:r>
                        <m:d>
                          <m:dPr>
                            <m:ctrlPr>
                              <a:rPr lang="pt-BR" sz="2400" i="1">
                                <a:latin typeface="Cambria Math" panose="02040503050406030204" pitchFamily="18" charset="0"/>
                              </a:rPr>
                            </m:ctrlPr>
                          </m:dPr>
                          <m:e>
                            <m:r>
                              <a:rPr lang="pt-BR" sz="2400" i="1">
                                <a:latin typeface="Cambria Math" panose="02040503050406030204" pitchFamily="18" charset="0"/>
                              </a:rPr>
                              <m:t>0,</m:t>
                            </m:r>
                            <m:r>
                              <a:rPr lang="pt-BR" sz="2400" i="1">
                                <a:latin typeface="Cambria Math" panose="02040503050406030204" pitchFamily="18" charset="0"/>
                              </a:rPr>
                              <m:t>𝑔</m:t>
                            </m:r>
                            <m:r>
                              <a:rPr lang="pt-BR" sz="2400" i="1">
                                <a:latin typeface="Cambria Math" panose="02040503050406030204" pitchFamily="18" charset="0"/>
                              </a:rPr>
                              <m:t>(</m:t>
                            </m:r>
                            <m:r>
                              <a:rPr lang="pt-BR" sz="2400" b="1" i="1">
                                <a:latin typeface="Cambria Math" panose="02040503050406030204" pitchFamily="18" charset="0"/>
                              </a:rPr>
                              <m:t>𝒙</m:t>
                            </m:r>
                            <m:r>
                              <a:rPr lang="pt-BR" sz="2400" i="1">
                                <a:latin typeface="Cambria Math" panose="02040503050406030204" pitchFamily="18" charset="0"/>
                              </a:rPr>
                              <m:t>)</m:t>
                            </m:r>
                          </m:e>
                        </m:d>
                      </m:oMath>
                    </m:oMathPara>
                  </a14:m>
                  <a:endParaRPr lang="pt-BR" sz="2400" dirty="0"/>
                </a:p>
              </p:txBody>
            </p:sp>
          </mc:Choice>
          <mc:Fallback xmlns="">
            <p:sp>
              <p:nvSpPr>
                <p:cNvPr id="6" name="CaixaDeTexto 5">
                  <a:extLst>
                    <a:ext uri="{FF2B5EF4-FFF2-40B4-BE49-F238E27FC236}">
                      <a16:creationId xmlns:a16="http://schemas.microsoft.com/office/drawing/2014/main" id="{C7425866-D58A-05FA-F0E5-6358ECBB0655}"/>
                    </a:ext>
                  </a:extLst>
                </p:cNvPr>
                <p:cNvSpPr txBox="1">
                  <a:spLocks noRot="1" noChangeAspect="1" noMove="1" noResize="1" noEditPoints="1" noAdjustHandles="1" noChangeArrowheads="1" noChangeShapeType="1" noTextEdit="1"/>
                </p:cNvSpPr>
                <p:nvPr/>
              </p:nvSpPr>
              <p:spPr>
                <a:xfrm>
                  <a:off x="1142860" y="5411505"/>
                  <a:ext cx="3940862" cy="461665"/>
                </a:xfrm>
                <a:prstGeom prst="rect">
                  <a:avLst/>
                </a:prstGeom>
                <a:blipFill>
                  <a:blip r:embed="rId5"/>
                  <a:stretch>
                    <a:fillRect t="-3947" b="-1710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CDC42720-BF1E-F028-3274-537BB07178B8}"/>
                    </a:ext>
                  </a:extLst>
                </p:cNvPr>
                <p:cNvSpPr txBox="1"/>
                <p:nvPr/>
              </p:nvSpPr>
              <p:spPr>
                <a:xfrm>
                  <a:off x="2597098" y="4928452"/>
                  <a:ext cx="1032387" cy="307777"/>
                </a:xfrm>
                <a:prstGeom prst="rect">
                  <a:avLst/>
                </a:prstGeom>
                <a:solidFill>
                  <a:schemeClr val="bg1"/>
                </a:solidFill>
              </p:spPr>
              <p:txBody>
                <a:bodyPr wrap="square">
                  <a:spAutoFit/>
                </a:bodyPr>
                <a:lstStyle/>
                <a:p>
                  <a:pPr/>
                  <a14:m>
                    <m:oMathPara xmlns:m="http://schemas.openxmlformats.org/officeDocument/2006/math">
                      <m:oMath>
                        <m:r>
                          <a:rPr lang="pt-BR" sz="1400" i="1">
                            <a:latin typeface="Cambria Math" panose="02040503050406030204" pitchFamily="18" charset="0"/>
                          </a:rPr>
                          <m:t>𝑔</m:t>
                        </m:r>
                        <m:r>
                          <a:rPr lang="pt-BR" sz="1400" i="1">
                            <a:latin typeface="Cambria Math" panose="02040503050406030204" pitchFamily="18" charset="0"/>
                          </a:rPr>
                          <m:t>(</m:t>
                        </m:r>
                        <m:r>
                          <a:rPr lang="pt-BR" sz="1400" b="1" i="1">
                            <a:latin typeface="Cambria Math" panose="02040503050406030204" pitchFamily="18" charset="0"/>
                          </a:rPr>
                          <m:t>𝒙</m:t>
                        </m:r>
                        <m:r>
                          <a:rPr lang="pt-BR" sz="1400" i="1">
                            <a:latin typeface="Cambria Math" panose="02040503050406030204" pitchFamily="18" charset="0"/>
                          </a:rPr>
                          <m:t>)</m:t>
                        </m:r>
                      </m:oMath>
                    </m:oMathPara>
                  </a14:m>
                  <a:endParaRPr lang="pt-BR" sz="1400" dirty="0"/>
                </a:p>
              </p:txBody>
            </p:sp>
          </mc:Choice>
          <mc:Fallback xmlns="">
            <p:sp>
              <p:nvSpPr>
                <p:cNvPr id="7" name="CaixaDeTexto 6">
                  <a:extLst>
                    <a:ext uri="{FF2B5EF4-FFF2-40B4-BE49-F238E27FC236}">
                      <a16:creationId xmlns:a16="http://schemas.microsoft.com/office/drawing/2014/main" id="{CDC42720-BF1E-F028-3274-537BB07178B8}"/>
                    </a:ext>
                  </a:extLst>
                </p:cNvPr>
                <p:cNvSpPr txBox="1">
                  <a:spLocks noRot="1" noChangeAspect="1" noMove="1" noResize="1" noEditPoints="1" noAdjustHandles="1" noChangeArrowheads="1" noChangeShapeType="1" noTextEdit="1"/>
                </p:cNvSpPr>
                <p:nvPr/>
              </p:nvSpPr>
              <p:spPr>
                <a:xfrm>
                  <a:off x="2597098" y="4928452"/>
                  <a:ext cx="1032387" cy="307777"/>
                </a:xfrm>
                <a:prstGeom prst="rect">
                  <a:avLst/>
                </a:prstGeom>
                <a:blipFill>
                  <a:blip r:embed="rId6"/>
                  <a:stretch>
                    <a:fillRect b="-8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0DF71D57-88CC-D41A-98C9-F5950AD2D133}"/>
                    </a:ext>
                  </a:extLst>
                </p:cNvPr>
                <p:cNvSpPr txBox="1"/>
                <p:nvPr/>
              </p:nvSpPr>
              <p:spPr>
                <a:xfrm rot="16200000">
                  <a:off x="753058" y="3449303"/>
                  <a:ext cx="1032387" cy="307777"/>
                </a:xfrm>
                <a:prstGeom prst="rect">
                  <a:avLst/>
                </a:prstGeom>
                <a:solidFill>
                  <a:schemeClr val="bg1"/>
                </a:solidFill>
              </p:spPr>
              <p:txBody>
                <a:bodyPr wrap="square">
                  <a:spAutoFit/>
                </a:bodyPr>
                <a:lstStyle/>
                <a:p>
                  <a:pPr/>
                  <a14:m>
                    <m:oMathPara xmlns:m="http://schemas.openxmlformats.org/officeDocument/2006/math">
                      <m:oMath>
                        <m:r>
                          <a:rPr lang="pt-BR" sz="1400" i="1" smtClean="0">
                            <a:latin typeface="Cambria Math" panose="02040503050406030204" pitchFamily="18" charset="0"/>
                          </a:rPr>
                          <m:t>𝑓</m:t>
                        </m:r>
                        <m:d>
                          <m:dPr>
                            <m:ctrlPr>
                              <a:rPr lang="pt-BR" sz="1400" b="0" i="1" smtClean="0">
                                <a:latin typeface="Cambria Math" panose="02040503050406030204" pitchFamily="18" charset="0"/>
                              </a:rPr>
                            </m:ctrlPr>
                          </m:dPr>
                          <m:e>
                            <m:r>
                              <a:rPr lang="pt-BR" sz="1400" b="0" i="1" smtClean="0">
                                <a:latin typeface="Cambria Math" panose="02040503050406030204" pitchFamily="18" charset="0"/>
                              </a:rPr>
                              <m:t>𝑔</m:t>
                            </m:r>
                            <m:r>
                              <a:rPr lang="pt-BR" sz="1400" b="0" i="1" smtClean="0">
                                <a:latin typeface="Cambria Math" panose="02040503050406030204" pitchFamily="18" charset="0"/>
                              </a:rPr>
                              <m:t>(</m:t>
                            </m:r>
                            <m:r>
                              <a:rPr lang="pt-BR" sz="1400" b="1" i="1" smtClean="0">
                                <a:latin typeface="Cambria Math" panose="02040503050406030204" pitchFamily="18" charset="0"/>
                              </a:rPr>
                              <m:t>𝒙</m:t>
                            </m:r>
                            <m:r>
                              <a:rPr lang="pt-BR" sz="1400" b="0" i="1" smtClean="0">
                                <a:latin typeface="Cambria Math" panose="02040503050406030204" pitchFamily="18" charset="0"/>
                              </a:rPr>
                              <m:t>)</m:t>
                            </m:r>
                          </m:e>
                        </m:d>
                      </m:oMath>
                    </m:oMathPara>
                  </a14:m>
                  <a:endParaRPr lang="pt-BR" sz="1400" dirty="0"/>
                </a:p>
              </p:txBody>
            </p:sp>
          </mc:Choice>
          <mc:Fallback xmlns="">
            <p:sp>
              <p:nvSpPr>
                <p:cNvPr id="8" name="CaixaDeTexto 7">
                  <a:extLst>
                    <a:ext uri="{FF2B5EF4-FFF2-40B4-BE49-F238E27FC236}">
                      <a16:creationId xmlns:a16="http://schemas.microsoft.com/office/drawing/2014/main" id="{0DF71D57-88CC-D41A-98C9-F5950AD2D133}"/>
                    </a:ext>
                  </a:extLst>
                </p:cNvPr>
                <p:cNvSpPr txBox="1">
                  <a:spLocks noRot="1" noChangeAspect="1" noMove="1" noResize="1" noEditPoints="1" noAdjustHandles="1" noChangeArrowheads="1" noChangeShapeType="1" noTextEdit="1"/>
                </p:cNvSpPr>
                <p:nvPr/>
              </p:nvSpPr>
              <p:spPr>
                <a:xfrm rot="16200000">
                  <a:off x="753058" y="3449303"/>
                  <a:ext cx="1032387" cy="307777"/>
                </a:xfrm>
                <a:prstGeom prst="rect">
                  <a:avLst/>
                </a:prstGeom>
                <a:blipFill>
                  <a:blip r:embed="rId7"/>
                  <a:stretch>
                    <a:fillRect r="-8000"/>
                  </a:stretch>
                </a:blipFill>
              </p:spPr>
              <p:txBody>
                <a:bodyPr/>
                <a:lstStyle/>
                <a:p>
                  <a:r>
                    <a:rPr lang="pt-BR">
                      <a:noFill/>
                    </a:rPr>
                    <a:t> </a:t>
                  </a:r>
                </a:p>
              </p:txBody>
            </p:sp>
          </mc:Fallback>
        </mc:AlternateContent>
      </p:grpSp>
    </p:spTree>
    <p:extLst>
      <p:ext uri="{BB962C8B-B14F-4D97-AF65-F5344CB8AC3E}">
        <p14:creationId xmlns:p14="http://schemas.microsoft.com/office/powerpoint/2010/main" val="28192185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E3438D-F516-F1D3-A02F-51857586D07A}"/>
              </a:ext>
            </a:extLst>
          </p:cNvPr>
          <p:cNvSpPr>
            <a:spLocks noGrp="1"/>
          </p:cNvSpPr>
          <p:nvPr>
            <p:ph type="title"/>
          </p:nvPr>
        </p:nvSpPr>
        <p:spPr/>
        <p:txBody>
          <a:bodyPr/>
          <a:lstStyle/>
          <a:p>
            <a:r>
              <a:rPr lang="pt-BR" dirty="0"/>
              <a:t>Função de ativação retificadora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CAAD57B-65A0-9DAD-79FC-2AE2692EB84B}"/>
                  </a:ext>
                </a:extLst>
              </p:cNvPr>
              <p:cNvSpPr>
                <a:spLocks noGrp="1"/>
              </p:cNvSpPr>
              <p:nvPr>
                <p:ph idx="1"/>
              </p:nvPr>
            </p:nvSpPr>
            <p:spPr>
              <a:xfrm>
                <a:off x="4767924" y="1825624"/>
                <a:ext cx="7352541" cy="5032375"/>
              </a:xfrm>
            </p:spPr>
            <p:txBody>
              <a:bodyPr>
                <a:normAutofit lnSpcReduction="10000"/>
              </a:bodyPr>
              <a:lstStyle/>
              <a:p>
                <a:r>
                  <a:rPr lang="pt-BR" dirty="0"/>
                  <a:t>Sua principal </a:t>
                </a:r>
                <a:r>
                  <a:rPr lang="pt-BR" b="1" dirty="0">
                    <a:solidFill>
                      <a:srgbClr val="00B050"/>
                    </a:solidFill>
                  </a:rPr>
                  <a:t>vantagem</a:t>
                </a:r>
                <a:r>
                  <a:rPr lang="pt-BR" dirty="0"/>
                  <a:t> é que ela a</a:t>
                </a:r>
                <a:r>
                  <a:rPr lang="pt-BR" b="0" dirty="0">
                    <a:effectLst/>
                  </a:rPr>
                  <a:t>juda a </a:t>
                </a:r>
                <a:r>
                  <a:rPr lang="pt-BR" b="1" dirty="0">
                    <a:solidFill>
                      <a:schemeClr val="accent2"/>
                    </a:solidFill>
                    <a:effectLst/>
                  </a:rPr>
                  <a:t>minimizar</a:t>
                </a:r>
                <a:r>
                  <a:rPr lang="pt-BR" b="1" dirty="0">
                    <a:solidFill>
                      <a:srgbClr val="00B050"/>
                    </a:solidFill>
                    <a:effectLst/>
                  </a:rPr>
                  <a:t> o problema do desaparecimento do gradiente</a:t>
                </a:r>
                <a:r>
                  <a:rPr lang="pt-BR" b="0" dirty="0">
                    <a:effectLst/>
                  </a:rPr>
                  <a:t>,</a:t>
                </a:r>
                <a:r>
                  <a:rPr lang="pt-BR" b="0" i="0" dirty="0">
                    <a:effectLst/>
                  </a:rPr>
                  <a:t> pois sua derivada é igual a 1 para </a:t>
                </a:r>
                <a14:m>
                  <m:oMath xmlns:m="http://schemas.openxmlformats.org/officeDocument/2006/math">
                    <m:r>
                      <a:rPr lang="pt-BR" i="1" smtClean="0">
                        <a:latin typeface="Cambria Math" panose="02040503050406030204" pitchFamily="18" charset="0"/>
                      </a:rPr>
                      <m:t>𝑔</m:t>
                    </m:r>
                    <m:d>
                      <m:dPr>
                        <m:ctrlPr>
                          <a:rPr lang="pt-BR" b="1" i="1">
                            <a:latin typeface="Cambria Math" panose="02040503050406030204" pitchFamily="18" charset="0"/>
                          </a:rPr>
                        </m:ctrlPr>
                      </m:dPr>
                      <m:e>
                        <m:r>
                          <a:rPr lang="pt-BR" b="1" i="1">
                            <a:latin typeface="Cambria Math" panose="02040503050406030204" pitchFamily="18" charset="0"/>
                          </a:rPr>
                          <m:t>𝒙</m:t>
                        </m:r>
                      </m:e>
                    </m:d>
                    <m:r>
                      <a:rPr lang="pt-BR" b="0" i="1" smtClean="0">
                        <a:latin typeface="Cambria Math" panose="02040503050406030204" pitchFamily="18" charset="0"/>
                      </a:rPr>
                      <m:t>&gt;0</m:t>
                    </m:r>
                  </m:oMath>
                </a14:m>
                <a:r>
                  <a:rPr lang="pt-BR" b="0" i="0" dirty="0">
                    <a:effectLst/>
                  </a:rPr>
                  <a:t>.</a:t>
                </a:r>
              </a:p>
              <a:p>
                <a:r>
                  <a:rPr lang="pt-BR" dirty="0"/>
                  <a:t>Sua derivada é dada por</a:t>
                </a:r>
              </a:p>
              <a:p>
                <a:pPr marL="0" indent="0" algn="ctr">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𝑑</m:t>
                          </m:r>
                          <m:sSub>
                            <m:sSubPr>
                              <m:ctrlPr>
                                <a:rPr lang="pt-BR" i="1">
                                  <a:latin typeface="Cambria Math" panose="02040503050406030204" pitchFamily="18" charset="0"/>
                                </a:rPr>
                              </m:ctrlPr>
                            </m:sSubPr>
                            <m:e>
                              <m:r>
                                <a:rPr lang="pt-BR" i="1">
                                  <a:latin typeface="Cambria Math" panose="02040503050406030204" pitchFamily="18" charset="0"/>
                                </a:rPr>
                                <m:t>𝑦</m:t>
                              </m:r>
                            </m:e>
                            <m:sub>
                              <m:r>
                                <a:rPr lang="pt-BR" i="1">
                                  <a:latin typeface="Cambria Math" panose="02040503050406030204" pitchFamily="18" charset="0"/>
                                </a:rPr>
                                <m:t>𝑗</m:t>
                              </m:r>
                            </m:sub>
                          </m:sSub>
                        </m:num>
                        <m:den>
                          <m:r>
                            <a:rPr lang="pt-BR" i="1">
                              <a:latin typeface="Cambria Math" panose="02040503050406030204" pitchFamily="18" charset="0"/>
                            </a:rPr>
                            <m:t>𝑑𝑔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m:rPr>
                              <m:nor/>
                            </m:rPr>
                            <a:rPr lang="pt-BR" i="0" dirty="0"/>
                            <m:t> </m:t>
                          </m:r>
                        </m:den>
                      </m:f>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𝑑</m:t>
                          </m:r>
                          <m:r>
                            <a:rPr lang="pt-BR" i="1" smtClean="0">
                              <a:latin typeface="Cambria Math" panose="02040503050406030204" pitchFamily="18" charset="0"/>
                            </a:rPr>
                            <m:t>𝑓</m:t>
                          </m:r>
                          <m:d>
                            <m:dPr>
                              <m:ctrlPr>
                                <a:rPr lang="pt-BR" i="1">
                                  <a:latin typeface="Cambria Math" panose="02040503050406030204" pitchFamily="18" charset="0"/>
                                </a:rPr>
                              </m:ctrlPr>
                            </m:dPr>
                            <m:e>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m:rPr>
                                  <m:nor/>
                                </m:rPr>
                                <a:rPr lang="pt-BR" i="0" dirty="0"/>
                                <m:t> </m:t>
                              </m:r>
                            </m:e>
                          </m:d>
                        </m:num>
                        <m:den>
                          <m:r>
                            <a:rPr lang="pt-BR" i="1">
                              <a:latin typeface="Cambria Math" panose="02040503050406030204" pitchFamily="18" charset="0"/>
                            </a:rPr>
                            <m:t>𝑑𝑔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m:rPr>
                              <m:nor/>
                            </m:rPr>
                            <a:rPr lang="pt-BR" i="0" dirty="0"/>
                            <m:t> </m:t>
                          </m:r>
                        </m:den>
                      </m:f>
                      <m:r>
                        <a:rPr lang="pt-BR" i="1">
                          <a:latin typeface="Cambria Math" panose="02040503050406030204" pitchFamily="18" charset="0"/>
                        </a:rPr>
                        <m:t>=</m:t>
                      </m:r>
                      <m:d>
                        <m:dPr>
                          <m:begChr m:val="{"/>
                          <m:endChr m:val=""/>
                          <m:ctrlPr>
                            <a:rPr lang="pt-BR" i="1">
                              <a:latin typeface="Cambria Math" panose="02040503050406030204" pitchFamily="18" charset="0"/>
                            </a:rPr>
                          </m:ctrlPr>
                        </m:dPr>
                        <m:e>
                          <m:eqArr>
                            <m:eqArrPr>
                              <m:ctrlPr>
                                <a:rPr lang="pt-BR" i="1">
                                  <a:latin typeface="Cambria Math" panose="02040503050406030204" pitchFamily="18" charset="0"/>
                                </a:rPr>
                              </m:ctrlPr>
                            </m:eqArrPr>
                            <m:e>
                              <m:r>
                                <a:rPr lang="pt-BR" i="1">
                                  <a:latin typeface="Cambria Math" panose="02040503050406030204" pitchFamily="18" charset="0"/>
                                </a:rPr>
                                <m:t>0, </m:t>
                              </m:r>
                              <m:r>
                                <m:rPr>
                                  <m:sty m:val="p"/>
                                </m:rPr>
                                <a:rPr lang="pt-BR">
                                  <a:latin typeface="Cambria Math" panose="02040503050406030204" pitchFamily="18" charset="0"/>
                                </a:rPr>
                                <m:t>se</m:t>
                              </m:r>
                              <m:r>
                                <a:rPr lang="pt-BR" b="0" i="0" smtClean="0">
                                  <a:latin typeface="Cambria Math" panose="02040503050406030204" pitchFamily="18" charset="0"/>
                                </a:rPr>
                                <m:t> </m:t>
                              </m:r>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m:rPr>
                                  <m:nor/>
                                </m:rPr>
                                <a:rPr lang="pt-BR" i="0" dirty="0"/>
                                <m:t> </m:t>
                              </m:r>
                              <m:r>
                                <a:rPr lang="pt-BR" i="1">
                                  <a:latin typeface="Cambria Math" panose="02040503050406030204" pitchFamily="18" charset="0"/>
                                </a:rPr>
                                <m:t>&lt;0</m:t>
                              </m:r>
                            </m:e>
                            <m:e>
                              <m:r>
                                <a:rPr lang="pt-BR" i="1">
                                  <a:latin typeface="Cambria Math" panose="02040503050406030204" pitchFamily="18" charset="0"/>
                                </a:rPr>
                                <m:t>1,</m:t>
                              </m:r>
                              <m:r>
                                <a:rPr lang="pt-BR" b="0" i="0" smtClean="0">
                                  <a:latin typeface="Cambria Math" panose="02040503050406030204" pitchFamily="18" charset="0"/>
                                </a:rPr>
                                <m:t> </m:t>
                              </m:r>
                              <m:r>
                                <m:rPr>
                                  <m:sty m:val="p"/>
                                </m:rPr>
                                <a:rPr lang="pt-BR">
                                  <a:latin typeface="Cambria Math" panose="02040503050406030204" pitchFamily="18" charset="0"/>
                                </a:rPr>
                                <m:t>se</m:t>
                              </m:r>
                              <m:r>
                                <a:rPr lang="pt-BR" b="0" i="0" smtClean="0">
                                  <a:latin typeface="Cambria Math" panose="02040503050406030204" pitchFamily="18" charset="0"/>
                                </a:rPr>
                                <m:t> </m:t>
                              </m:r>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m:rPr>
                                  <m:nor/>
                                </m:rPr>
                                <a:rPr lang="pt-BR" i="0" dirty="0"/>
                                <m:t> </m:t>
                              </m:r>
                              <m:r>
                                <a:rPr lang="pt-BR" i="1">
                                  <a:latin typeface="Cambria Math" panose="02040503050406030204" pitchFamily="18" charset="0"/>
                                </a:rPr>
                                <m:t>&gt;0</m:t>
                              </m:r>
                            </m:e>
                          </m:eqArr>
                        </m:e>
                      </m:d>
                      <m:r>
                        <a:rPr lang="pt-BR" b="0" i="0" smtClean="0">
                          <a:latin typeface="Cambria Math" panose="02040503050406030204" pitchFamily="18" charset="0"/>
                        </a:rPr>
                        <m:t>.</m:t>
                      </m:r>
                    </m:oMath>
                  </m:oMathPara>
                </a14:m>
                <a:endParaRPr lang="pt-BR" b="0" dirty="0"/>
              </a:p>
              <a:p>
                <a:r>
                  <a:rPr lang="pt-BR" dirty="0"/>
                  <a:t>A derivada é indeterminada para </a:t>
                </a:r>
                <a14:m>
                  <m:oMath xmlns:m="http://schemas.openxmlformats.org/officeDocument/2006/math">
                    <m:r>
                      <a:rPr lang="pt-BR" i="1" smtClean="0">
                        <a:latin typeface="Cambria Math" panose="02040503050406030204" pitchFamily="18" charset="0"/>
                      </a:rPr>
                      <m:t>𝑔</m:t>
                    </m:r>
                    <m:d>
                      <m:dPr>
                        <m:ctrlPr>
                          <a:rPr lang="pt-BR" b="1" i="1">
                            <a:latin typeface="Cambria Math" panose="02040503050406030204" pitchFamily="18" charset="0"/>
                          </a:rPr>
                        </m:ctrlPr>
                      </m:dPr>
                      <m:e>
                        <m:r>
                          <a:rPr lang="pt-BR" b="1" i="1">
                            <a:latin typeface="Cambria Math" panose="02040503050406030204" pitchFamily="18" charset="0"/>
                          </a:rPr>
                          <m:t>𝒙</m:t>
                        </m:r>
                      </m:e>
                    </m:d>
                    <m:r>
                      <a:rPr lang="pt-BR" b="0" i="1" smtClean="0">
                        <a:latin typeface="Cambria Math" panose="02040503050406030204" pitchFamily="18" charset="0"/>
                      </a:rPr>
                      <m:t>=0</m:t>
                    </m:r>
                  </m:oMath>
                </a14:m>
                <a:r>
                  <a:rPr lang="pt-BR" dirty="0"/>
                  <a:t>. </a:t>
                </a:r>
              </a:p>
              <a:p>
                <a:r>
                  <a:rPr lang="pt-BR" dirty="0"/>
                  <a:t>Outra </a:t>
                </a:r>
                <a:r>
                  <a:rPr lang="pt-BR" b="1" dirty="0">
                    <a:solidFill>
                      <a:srgbClr val="00B050"/>
                    </a:solidFill>
                  </a:rPr>
                  <a:t>vantagem</a:t>
                </a:r>
                <a:r>
                  <a:rPr lang="pt-BR" dirty="0"/>
                  <a:t> é a sua </a:t>
                </a:r>
                <a:r>
                  <a:rPr lang="pt-BR" b="1" dirty="0">
                    <a:solidFill>
                      <a:srgbClr val="00B050"/>
                    </a:solidFill>
                  </a:rPr>
                  <a:t>eficiência computacional</a:t>
                </a:r>
                <a:r>
                  <a:rPr lang="pt-BR" dirty="0"/>
                  <a:t>.</a:t>
                </a:r>
              </a:p>
              <a:p>
                <a:pPr lvl="1">
                  <a:buFont typeface="Wingdings" panose="05000000000000000000" pitchFamily="2" charset="2"/>
                  <a:buChar char="§"/>
                </a:pPr>
                <a:r>
                  <a:rPr lang="pt-BR" dirty="0"/>
                  <a:t>Ela e sua derivada </a:t>
                </a:r>
                <a:r>
                  <a:rPr lang="pt-BR" b="1" dirty="0">
                    <a:solidFill>
                      <a:srgbClr val="0070C0"/>
                    </a:solidFill>
                  </a:rPr>
                  <a:t>são mais rápidas de se calcular </a:t>
                </a:r>
                <a:r>
                  <a:rPr lang="pt-BR" dirty="0"/>
                  <a:t>do que as funções logística e tangente hiperbólica.</a:t>
                </a:r>
              </a:p>
            </p:txBody>
          </p:sp>
        </mc:Choice>
        <mc:Fallback xmlns="">
          <p:sp>
            <p:nvSpPr>
              <p:cNvPr id="3" name="Espaço Reservado para Conteúdo 2">
                <a:extLst>
                  <a:ext uri="{FF2B5EF4-FFF2-40B4-BE49-F238E27FC236}">
                    <a16:creationId xmlns:a16="http://schemas.microsoft.com/office/drawing/2014/main" id="{BCAAD57B-65A0-9DAD-79FC-2AE2692EB84B}"/>
                  </a:ext>
                </a:extLst>
              </p:cNvPr>
              <p:cNvSpPr>
                <a:spLocks noGrp="1" noRot="1" noChangeAspect="1" noMove="1" noResize="1" noEditPoints="1" noAdjustHandles="1" noChangeArrowheads="1" noChangeShapeType="1" noTextEdit="1"/>
              </p:cNvSpPr>
              <p:nvPr>
                <p:ph idx="1"/>
              </p:nvPr>
            </p:nvSpPr>
            <p:spPr>
              <a:xfrm>
                <a:off x="4767924" y="1825624"/>
                <a:ext cx="7352541" cy="5032375"/>
              </a:xfrm>
              <a:blipFill>
                <a:blip r:embed="rId3"/>
                <a:stretch>
                  <a:fillRect l="-1493" t="-2663"/>
                </a:stretch>
              </a:blipFill>
            </p:spPr>
            <p:txBody>
              <a:bodyPr/>
              <a:lstStyle/>
              <a:p>
                <a:r>
                  <a:rPr lang="en-US">
                    <a:noFill/>
                  </a:rPr>
                  <a:t> </a:t>
                </a:r>
              </a:p>
            </p:txBody>
          </p:sp>
        </mc:Fallback>
      </mc:AlternateContent>
      <p:grpSp>
        <p:nvGrpSpPr>
          <p:cNvPr id="4" name="Agrupar 3">
            <a:extLst>
              <a:ext uri="{FF2B5EF4-FFF2-40B4-BE49-F238E27FC236}">
                <a16:creationId xmlns:a16="http://schemas.microsoft.com/office/drawing/2014/main" id="{EB893F40-D97D-A573-25BC-816CAB494F86}"/>
              </a:ext>
            </a:extLst>
          </p:cNvPr>
          <p:cNvGrpSpPr/>
          <p:nvPr/>
        </p:nvGrpSpPr>
        <p:grpSpPr>
          <a:xfrm>
            <a:off x="383107" y="2420599"/>
            <a:ext cx="3918072" cy="3242569"/>
            <a:chOff x="596467" y="2379959"/>
            <a:chExt cx="3918072" cy="3242569"/>
          </a:xfrm>
        </p:grpSpPr>
        <p:pic>
          <p:nvPicPr>
            <p:cNvPr id="9" name="Imagem 8">
              <a:extLst>
                <a:ext uri="{FF2B5EF4-FFF2-40B4-BE49-F238E27FC236}">
                  <a16:creationId xmlns:a16="http://schemas.microsoft.com/office/drawing/2014/main" id="{3C8C2B4F-0E30-4DE9-7C7F-04857DE425BF}"/>
                </a:ext>
              </a:extLst>
            </p:cNvPr>
            <p:cNvPicPr>
              <a:picLocks noChangeAspect="1"/>
            </p:cNvPicPr>
            <p:nvPr/>
          </p:nvPicPr>
          <p:blipFill rotWithShape="1">
            <a:blip r:embed="rId4"/>
            <a:srcRect l="4832" t="5799" r="8612"/>
            <a:stretch/>
          </p:blipFill>
          <p:spPr>
            <a:xfrm>
              <a:off x="935916" y="2686239"/>
              <a:ext cx="3492558" cy="2850764"/>
            </a:xfrm>
            <a:prstGeom prst="rect">
              <a:avLst/>
            </a:prstGeom>
          </p:spPr>
        </p:pic>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4E689C38-6BCF-BE04-D0CC-329E7D8B8582}"/>
                    </a:ext>
                  </a:extLst>
                </p:cNvPr>
                <p:cNvSpPr txBox="1"/>
                <p:nvPr/>
              </p:nvSpPr>
              <p:spPr>
                <a:xfrm>
                  <a:off x="2311232" y="5345529"/>
                  <a:ext cx="1032387" cy="276999"/>
                </a:xfrm>
                <a:prstGeom prst="rect">
                  <a:avLst/>
                </a:prstGeom>
                <a:solidFill>
                  <a:schemeClr val="bg1"/>
                </a:solidFill>
              </p:spPr>
              <p:txBody>
                <a:bodyPr wrap="square">
                  <a:spAutoFit/>
                </a:bodyPr>
                <a:lstStyle/>
                <a:p>
                  <a:pPr/>
                  <a14:m>
                    <m:oMathPara xmlns:m="http://schemas.openxmlformats.org/officeDocument/2006/math">
                      <m:oMath>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oMath>
                    </m:oMathPara>
                  </a14:m>
                  <a:endParaRPr lang="pt-BR" sz="1200" dirty="0"/>
                </a:p>
              </p:txBody>
            </p:sp>
          </mc:Choice>
          <mc:Fallback xmlns="">
            <p:sp>
              <p:nvSpPr>
                <p:cNvPr id="10" name="CaixaDeTexto 9">
                  <a:extLst>
                    <a:ext uri="{FF2B5EF4-FFF2-40B4-BE49-F238E27FC236}">
                      <a16:creationId xmlns:a16="http://schemas.microsoft.com/office/drawing/2014/main" id="{4E689C38-6BCF-BE04-D0CC-329E7D8B8582}"/>
                    </a:ext>
                  </a:extLst>
                </p:cNvPr>
                <p:cNvSpPr txBox="1">
                  <a:spLocks noRot="1" noChangeAspect="1" noMove="1" noResize="1" noEditPoints="1" noAdjustHandles="1" noChangeArrowheads="1" noChangeShapeType="1" noTextEdit="1"/>
                </p:cNvSpPr>
                <p:nvPr/>
              </p:nvSpPr>
              <p:spPr>
                <a:xfrm>
                  <a:off x="2311232" y="5345529"/>
                  <a:ext cx="1032387" cy="276999"/>
                </a:xfrm>
                <a:prstGeom prst="rect">
                  <a:avLst/>
                </a:prstGeom>
                <a:blipFill>
                  <a:blip r:embed="rId5"/>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80ED1133-791C-EB74-9BED-C91A11BC44AC}"/>
                    </a:ext>
                  </a:extLst>
                </p:cNvPr>
                <p:cNvSpPr txBox="1"/>
                <p:nvPr/>
              </p:nvSpPr>
              <p:spPr>
                <a:xfrm rot="16200000">
                  <a:off x="356656" y="3670711"/>
                  <a:ext cx="963088" cy="483466"/>
                </a:xfrm>
                <a:prstGeom prst="rect">
                  <a:avLst/>
                </a:prstGeom>
                <a:solidFill>
                  <a:schemeClr val="bg1"/>
                </a:solidFill>
              </p:spPr>
              <p:txBody>
                <a:bodyPr wrap="square">
                  <a:spAutoFit/>
                </a:bodyPr>
                <a:lstStyle/>
                <a:p>
                  <a:pPr/>
                  <a14:m>
                    <m:oMathPara xmlns:m="http://schemas.openxmlformats.org/officeDocument/2006/math">
                      <m:oMath>
                        <m:f>
                          <m:fPr>
                            <m:ctrlPr>
                              <a:rPr lang="pt-BR" sz="1200" i="1">
                                <a:latin typeface="Cambria Math" panose="02040503050406030204" pitchFamily="18" charset="0"/>
                              </a:rPr>
                            </m:ctrlPr>
                          </m:fPr>
                          <m:num>
                            <m:r>
                              <a:rPr lang="pt-BR" sz="1200" i="1">
                                <a:latin typeface="Cambria Math" panose="02040503050406030204" pitchFamily="18" charset="0"/>
                              </a:rPr>
                              <m:t>𝜕</m:t>
                            </m:r>
                            <m:r>
                              <a:rPr lang="pt-BR" sz="1200" i="1">
                                <a:latin typeface="Cambria Math" panose="02040503050406030204" pitchFamily="18" charset="0"/>
                              </a:rPr>
                              <m:t>𝑓</m:t>
                            </m:r>
                            <m:d>
                              <m:dPr>
                                <m:ctrlPr>
                                  <a:rPr lang="pt-BR" sz="1200" i="1">
                                    <a:latin typeface="Cambria Math" panose="02040503050406030204" pitchFamily="18" charset="0"/>
                                  </a:rPr>
                                </m:ctrlPr>
                              </m:dPr>
                              <m:e>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e>
                            </m:d>
                            <m:r>
                              <m:rPr>
                                <m:nor/>
                              </m:rPr>
                              <a:rPr lang="pt-BR" sz="1200" i="0" dirty="0"/>
                              <m:t> </m:t>
                            </m:r>
                          </m:num>
                          <m:den>
                            <m:r>
                              <a:rPr lang="pt-BR" sz="1200" i="1">
                                <a:latin typeface="Cambria Math" panose="02040503050406030204" pitchFamily="18" charset="0"/>
                              </a:rPr>
                              <m:t>𝜕</m:t>
                            </m:r>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den>
                        </m:f>
                      </m:oMath>
                    </m:oMathPara>
                  </a14:m>
                  <a:endParaRPr lang="pt-BR" sz="1200" dirty="0"/>
                </a:p>
              </p:txBody>
            </p:sp>
          </mc:Choice>
          <mc:Fallback xmlns="">
            <p:sp>
              <p:nvSpPr>
                <p:cNvPr id="11" name="CaixaDeTexto 10">
                  <a:extLst>
                    <a:ext uri="{FF2B5EF4-FFF2-40B4-BE49-F238E27FC236}">
                      <a16:creationId xmlns:a16="http://schemas.microsoft.com/office/drawing/2014/main" id="{80ED1133-791C-EB74-9BED-C91A11BC44AC}"/>
                    </a:ext>
                  </a:extLst>
                </p:cNvPr>
                <p:cNvSpPr txBox="1">
                  <a:spLocks noRot="1" noChangeAspect="1" noMove="1" noResize="1" noEditPoints="1" noAdjustHandles="1" noChangeArrowheads="1" noChangeShapeType="1" noTextEdit="1"/>
                </p:cNvSpPr>
                <p:nvPr/>
              </p:nvSpPr>
              <p:spPr>
                <a:xfrm rot="16200000">
                  <a:off x="356656" y="3670711"/>
                  <a:ext cx="963088" cy="483466"/>
                </a:xfrm>
                <a:prstGeom prst="rect">
                  <a:avLst/>
                </a:prstGeom>
                <a:blipFill>
                  <a:blip r:embed="rId6"/>
                  <a:stretch>
                    <a:fillRect r="-6329"/>
                  </a:stretch>
                </a:blipFill>
              </p:spPr>
              <p:txBody>
                <a:bodyPr/>
                <a:lstStyle/>
                <a:p>
                  <a:r>
                    <a:rPr lang="pt-BR">
                      <a:noFill/>
                    </a:rPr>
                    <a:t> </a:t>
                  </a:r>
                </a:p>
              </p:txBody>
            </p:sp>
          </mc:Fallback>
        </mc:AlternateContent>
        <p:sp>
          <p:nvSpPr>
            <p:cNvPr id="16" name="Rectangle 5">
              <a:extLst>
                <a:ext uri="{FF2B5EF4-FFF2-40B4-BE49-F238E27FC236}">
                  <a16:creationId xmlns:a16="http://schemas.microsoft.com/office/drawing/2014/main" id="{222B6A0C-7A1D-DD01-F4B1-51B74E10B344}"/>
                </a:ext>
              </a:extLst>
            </p:cNvPr>
            <p:cNvSpPr/>
            <p:nvPr/>
          </p:nvSpPr>
          <p:spPr>
            <a:xfrm>
              <a:off x="1140313" y="2379959"/>
              <a:ext cx="3374226" cy="338554"/>
            </a:xfrm>
            <a:prstGeom prst="rect">
              <a:avLst/>
            </a:prstGeom>
          </p:spPr>
          <p:txBody>
            <a:bodyPr wrap="square">
              <a:spAutoFit/>
            </a:bodyPr>
            <a:lstStyle/>
            <a:p>
              <a:pPr algn="ctr"/>
              <a:r>
                <a:rPr lang="pt-BR" sz="1600" dirty="0"/>
                <a:t>Derivada da função retificadora</a:t>
              </a:r>
            </a:p>
          </p:txBody>
        </p:sp>
      </p:grpSp>
    </p:spTree>
    <p:extLst>
      <p:ext uri="{BB962C8B-B14F-4D97-AF65-F5344CB8AC3E}">
        <p14:creationId xmlns:p14="http://schemas.microsoft.com/office/powerpoint/2010/main" val="34790968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E3438D-F516-F1D3-A02F-51857586D07A}"/>
              </a:ext>
            </a:extLst>
          </p:cNvPr>
          <p:cNvSpPr>
            <a:spLocks noGrp="1"/>
          </p:cNvSpPr>
          <p:nvPr>
            <p:ph type="title"/>
          </p:nvPr>
        </p:nvSpPr>
        <p:spPr/>
        <p:txBody>
          <a:bodyPr/>
          <a:lstStyle/>
          <a:p>
            <a:r>
              <a:rPr lang="pt-BR" dirty="0"/>
              <a:t>Função de ativação retificadora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CAAD57B-65A0-9DAD-79FC-2AE2692EB84B}"/>
                  </a:ext>
                </a:extLst>
              </p:cNvPr>
              <p:cNvSpPr>
                <a:spLocks noGrp="1"/>
              </p:cNvSpPr>
              <p:nvPr>
                <p:ph idx="1"/>
              </p:nvPr>
            </p:nvSpPr>
            <p:spPr>
              <a:xfrm>
                <a:off x="4933741" y="1825624"/>
                <a:ext cx="7258259" cy="5032375"/>
              </a:xfrm>
            </p:spPr>
            <p:txBody>
              <a:bodyPr>
                <a:normAutofit/>
              </a:bodyPr>
              <a:lstStyle/>
              <a:p>
                <a:r>
                  <a:rPr lang="pt-BR" b="0" dirty="0">
                    <a:effectLst/>
                  </a:rPr>
                  <a:t>Uma </a:t>
                </a:r>
                <a:r>
                  <a:rPr lang="pt-BR" b="1" dirty="0">
                    <a:solidFill>
                      <a:srgbClr val="FF0000"/>
                    </a:solidFill>
                    <a:effectLst/>
                  </a:rPr>
                  <a:t>desvantagem</a:t>
                </a:r>
                <a:r>
                  <a:rPr lang="pt-BR" b="0" dirty="0">
                    <a:effectLst/>
                  </a:rPr>
                  <a:t> é que ela causa o problema </a:t>
                </a:r>
                <a:r>
                  <a:rPr lang="pt-BR" dirty="0"/>
                  <a:t>conhecido como</a:t>
                </a:r>
                <a:r>
                  <a:rPr lang="pt-BR" b="0" dirty="0">
                    <a:effectLst/>
                  </a:rPr>
                  <a:t> </a:t>
                </a:r>
                <a:r>
                  <a:rPr lang="pt-BR" b="1" dirty="0" err="1">
                    <a:solidFill>
                      <a:srgbClr val="7030A0"/>
                    </a:solidFill>
                    <a:effectLst/>
                  </a:rPr>
                  <a:t>ReLU</a:t>
                </a:r>
                <a:r>
                  <a:rPr lang="pt-BR" b="1" dirty="0">
                    <a:solidFill>
                      <a:srgbClr val="7030A0"/>
                    </a:solidFill>
                    <a:effectLst/>
                  </a:rPr>
                  <a:t> agonizante</a:t>
                </a:r>
                <a:r>
                  <a:rPr lang="pt-BR" b="0" dirty="0">
                    <a:effectLst/>
                  </a:rPr>
                  <a:t>.</a:t>
                </a:r>
              </a:p>
              <a:p>
                <a:r>
                  <a:rPr lang="pt-BR" b="0" dirty="0">
                    <a:effectLst/>
                  </a:rPr>
                  <a:t>Esse </a:t>
                </a:r>
                <a:r>
                  <a:rPr lang="pt-BR" b="1" dirty="0">
                    <a:solidFill>
                      <a:srgbClr val="00B050"/>
                    </a:solidFill>
                    <a:effectLst/>
                  </a:rPr>
                  <a:t>problema ocorre durante o treinamento </a:t>
                </a:r>
                <a:r>
                  <a:rPr lang="pt-BR" b="0" i="0" dirty="0">
                    <a:effectLst/>
                  </a:rPr>
                  <a:t>da rede, quando </a:t>
                </a:r>
                <a:r>
                  <a:rPr lang="pt-BR" dirty="0"/>
                  <a:t>a ativação do nó, </a:t>
                </a:r>
                <a14:m>
                  <m:oMath xmlns:m="http://schemas.openxmlformats.org/officeDocument/2006/math">
                    <m:r>
                      <a:rPr lang="pt-BR" sz="2800" i="1" smtClean="0">
                        <a:latin typeface="Cambria Math" panose="02040503050406030204" pitchFamily="18" charset="0"/>
                      </a:rPr>
                      <m:t>𝑔</m:t>
                    </m:r>
                    <m:d>
                      <m:dPr>
                        <m:ctrlPr>
                          <a:rPr lang="pt-BR" sz="2800" b="1" i="1">
                            <a:latin typeface="Cambria Math" panose="02040503050406030204" pitchFamily="18" charset="0"/>
                          </a:rPr>
                        </m:ctrlPr>
                      </m:dPr>
                      <m:e>
                        <m:r>
                          <a:rPr lang="pt-BR" sz="2800" b="1" i="1">
                            <a:latin typeface="Cambria Math" panose="02040503050406030204" pitchFamily="18" charset="0"/>
                          </a:rPr>
                          <m:t>𝒙</m:t>
                        </m:r>
                      </m:e>
                    </m:d>
                  </m:oMath>
                </a14:m>
                <a:r>
                  <a:rPr lang="pt-BR" dirty="0"/>
                  <a:t>, é </a:t>
                </a:r>
                <a:r>
                  <a:rPr lang="pt-BR" b="1" dirty="0">
                    <a:solidFill>
                      <a:srgbClr val="7030A0"/>
                    </a:solidFill>
                  </a:rPr>
                  <a:t>negativa</a:t>
                </a:r>
                <a:r>
                  <a:rPr lang="pt-BR" dirty="0"/>
                  <a:t>.</a:t>
                </a:r>
              </a:p>
              <a:p>
                <a:r>
                  <a:rPr lang="pt-BR" dirty="0"/>
                  <a:t>Isso faz com que sua </a:t>
                </a:r>
                <a:r>
                  <a:rPr lang="pt-BR" b="1" dirty="0">
                    <a:solidFill>
                      <a:srgbClr val="7030A0"/>
                    </a:solidFill>
                  </a:rPr>
                  <a:t>saída e</a:t>
                </a:r>
                <a:r>
                  <a:rPr lang="pt-BR" dirty="0"/>
                  <a:t>, consequentemente, a </a:t>
                </a:r>
                <a:r>
                  <a:rPr lang="pt-BR" b="1" dirty="0">
                    <a:solidFill>
                      <a:srgbClr val="7030A0"/>
                    </a:solidFill>
                  </a:rPr>
                  <a:t>derivada parcial da função de ativação sejam iguais a 0</a:t>
                </a:r>
                <a:r>
                  <a:rPr lang="pt-BR" dirty="0"/>
                  <a:t>.</a:t>
                </a:r>
              </a:p>
              <a:p>
                <a:r>
                  <a:rPr lang="pt-BR" dirty="0">
                    <a:effectLst/>
                  </a:rPr>
                  <a:t>Quando isso ocorre, o </a:t>
                </a:r>
                <a:r>
                  <a:rPr lang="pt-BR" b="1" dirty="0">
                    <a:solidFill>
                      <a:srgbClr val="7030A0"/>
                    </a:solidFill>
                    <a:effectLst/>
                  </a:rPr>
                  <a:t>nó </a:t>
                </a:r>
                <a:r>
                  <a:rPr lang="pt-BR" b="1" dirty="0">
                    <a:solidFill>
                      <a:srgbClr val="FF0000"/>
                    </a:solidFill>
                    <a:effectLst/>
                  </a:rPr>
                  <a:t>não</a:t>
                </a:r>
                <a:r>
                  <a:rPr lang="pt-BR" b="1" dirty="0">
                    <a:solidFill>
                      <a:srgbClr val="7030A0"/>
                    </a:solidFill>
                    <a:effectLst/>
                  </a:rPr>
                  <a:t> tem seus pesos atualizados</a:t>
                </a:r>
                <a:r>
                  <a:rPr lang="pt-BR" dirty="0">
                    <a:effectLst/>
                  </a:rPr>
                  <a:t> durante o treinamento, </a:t>
                </a:r>
                <a:r>
                  <a:rPr lang="pt-BR" b="1" dirty="0">
                    <a:solidFill>
                      <a:srgbClr val="002060"/>
                    </a:solidFill>
                    <a:effectLst/>
                  </a:rPr>
                  <a:t>permanecendo </a:t>
                </a:r>
                <a:r>
                  <a:rPr lang="pt-BR" b="1" dirty="0">
                    <a:solidFill>
                      <a:srgbClr val="002060"/>
                    </a:solidFill>
                  </a:rPr>
                  <a:t>inalterados</a:t>
                </a:r>
                <a:r>
                  <a:rPr lang="pt-BR" b="0" dirty="0">
                    <a:effectLst/>
                  </a:rPr>
                  <a:t>.</a:t>
                </a:r>
              </a:p>
            </p:txBody>
          </p:sp>
        </mc:Choice>
        <mc:Fallback xmlns="">
          <p:sp>
            <p:nvSpPr>
              <p:cNvPr id="3" name="Espaço Reservado para Conteúdo 2">
                <a:extLst>
                  <a:ext uri="{FF2B5EF4-FFF2-40B4-BE49-F238E27FC236}">
                    <a16:creationId xmlns:a16="http://schemas.microsoft.com/office/drawing/2014/main" id="{BCAAD57B-65A0-9DAD-79FC-2AE2692EB84B}"/>
                  </a:ext>
                </a:extLst>
              </p:cNvPr>
              <p:cNvSpPr>
                <a:spLocks noGrp="1" noRot="1" noChangeAspect="1" noMove="1" noResize="1" noEditPoints="1" noAdjustHandles="1" noChangeArrowheads="1" noChangeShapeType="1" noTextEdit="1"/>
              </p:cNvSpPr>
              <p:nvPr>
                <p:ph idx="1"/>
              </p:nvPr>
            </p:nvSpPr>
            <p:spPr>
              <a:xfrm>
                <a:off x="4933741" y="1825624"/>
                <a:ext cx="7258259" cy="5032375"/>
              </a:xfrm>
              <a:blipFill>
                <a:blip r:embed="rId3"/>
                <a:stretch>
                  <a:fillRect l="-1511" t="-1937" r="-1679"/>
                </a:stretch>
              </a:blipFill>
            </p:spPr>
            <p:txBody>
              <a:bodyPr/>
              <a:lstStyle/>
              <a:p>
                <a:r>
                  <a:rPr lang="en-US">
                    <a:noFill/>
                  </a:rPr>
                  <a:t> </a:t>
                </a:r>
              </a:p>
            </p:txBody>
          </p:sp>
        </mc:Fallback>
      </mc:AlternateContent>
      <p:pic>
        <p:nvPicPr>
          <p:cNvPr id="4" name="Imagem 3">
            <a:extLst>
              <a:ext uri="{FF2B5EF4-FFF2-40B4-BE49-F238E27FC236}">
                <a16:creationId xmlns:a16="http://schemas.microsoft.com/office/drawing/2014/main" id="{96ECAEDE-8070-9B44-26C9-52D815BFED42}"/>
              </a:ext>
            </a:extLst>
          </p:cNvPr>
          <p:cNvPicPr>
            <a:picLocks noChangeAspect="1"/>
          </p:cNvPicPr>
          <p:nvPr/>
        </p:nvPicPr>
        <p:blipFill rotWithShape="1">
          <a:blip r:embed="rId4"/>
          <a:srcRect l="5002" t="6467" r="8442" b="1020"/>
          <a:stretch/>
        </p:blipFill>
        <p:spPr>
          <a:xfrm>
            <a:off x="1770497" y="1942323"/>
            <a:ext cx="2512197" cy="2013784"/>
          </a:xfrm>
          <a:prstGeom prst="rect">
            <a:avLst/>
          </a:prstGeom>
        </p:spPr>
      </p:pic>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5712CB71-5F2C-4AA7-C445-78041D010827}"/>
                  </a:ext>
                </a:extLst>
              </p:cNvPr>
              <p:cNvSpPr txBox="1"/>
              <p:nvPr/>
            </p:nvSpPr>
            <p:spPr>
              <a:xfrm>
                <a:off x="2138844" y="2071205"/>
                <a:ext cx="1834540" cy="276999"/>
              </a:xfrm>
              <a:prstGeom prst="rect">
                <a:avLst/>
              </a:prstGeom>
              <a:noFill/>
            </p:spPr>
            <p:txBody>
              <a:bodyPr wrap="square">
                <a:spAutoFit/>
              </a:bodyPr>
              <a:lstStyle/>
              <a:p>
                <a:pPr/>
                <a14:m>
                  <m:oMathPara xmlns:m="http://schemas.openxmlformats.org/officeDocument/2006/math">
                    <m:oMath>
                      <m:r>
                        <a:rPr lang="pt-BR" sz="1200" i="1">
                          <a:latin typeface="Cambria Math" panose="02040503050406030204" pitchFamily="18" charset="0"/>
                        </a:rPr>
                        <m:t>𝑓</m:t>
                      </m:r>
                      <m:d>
                        <m:dPr>
                          <m:ctrlPr>
                            <a:rPr lang="pt-BR" sz="1200" b="0" i="1" smtClean="0">
                              <a:latin typeface="Cambria Math" panose="02040503050406030204" pitchFamily="18" charset="0"/>
                            </a:rPr>
                          </m:ctrlPr>
                        </m:dPr>
                        <m:e>
                          <m:r>
                            <a:rPr lang="pt-BR" sz="1200" b="0" i="1" smtClean="0">
                              <a:latin typeface="Cambria Math" panose="02040503050406030204" pitchFamily="18" charset="0"/>
                            </a:rPr>
                            <m:t>𝑔</m:t>
                          </m:r>
                          <m:r>
                            <a:rPr lang="pt-BR" sz="1200" b="0" i="1" smtClean="0">
                              <a:latin typeface="Cambria Math" panose="02040503050406030204" pitchFamily="18" charset="0"/>
                            </a:rPr>
                            <m:t>(</m:t>
                          </m:r>
                          <m:r>
                            <a:rPr lang="pt-BR" sz="1200" b="1" i="1" smtClean="0">
                              <a:latin typeface="Cambria Math" panose="02040503050406030204" pitchFamily="18" charset="0"/>
                            </a:rPr>
                            <m:t>𝒙</m:t>
                          </m:r>
                          <m:r>
                            <a:rPr lang="pt-BR" sz="1200" b="0" i="1" smtClean="0">
                              <a:latin typeface="Cambria Math" panose="02040503050406030204" pitchFamily="18" charset="0"/>
                            </a:rPr>
                            <m:t>)</m:t>
                          </m:r>
                        </m:e>
                      </m:d>
                      <m:r>
                        <a:rPr lang="pt-BR" sz="1200" i="1">
                          <a:latin typeface="Cambria Math" panose="02040503050406030204" pitchFamily="18" charset="0"/>
                        </a:rPr>
                        <m:t>=</m:t>
                      </m:r>
                      <m:r>
                        <m:rPr>
                          <m:sty m:val="p"/>
                        </m:rPr>
                        <a:rPr lang="pt-BR" sz="1200">
                          <a:latin typeface="Cambria Math" panose="02040503050406030204" pitchFamily="18" charset="0"/>
                        </a:rPr>
                        <m:t>max</m:t>
                      </m:r>
                      <m:d>
                        <m:dPr>
                          <m:ctrlPr>
                            <a:rPr lang="pt-BR" sz="1200" i="1">
                              <a:latin typeface="Cambria Math" panose="02040503050406030204" pitchFamily="18" charset="0"/>
                            </a:rPr>
                          </m:ctrlPr>
                        </m:dPr>
                        <m:e>
                          <m:r>
                            <a:rPr lang="pt-BR" sz="1200" i="1">
                              <a:latin typeface="Cambria Math" panose="02040503050406030204" pitchFamily="18" charset="0"/>
                            </a:rPr>
                            <m:t>0,</m:t>
                          </m:r>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e>
                      </m:d>
                    </m:oMath>
                  </m:oMathPara>
                </a14:m>
                <a:endParaRPr lang="pt-BR" sz="1200" dirty="0"/>
              </a:p>
            </p:txBody>
          </p:sp>
        </mc:Choice>
        <mc:Fallback xmlns="">
          <p:sp>
            <p:nvSpPr>
              <p:cNvPr id="5" name="CaixaDeTexto 4">
                <a:extLst>
                  <a:ext uri="{FF2B5EF4-FFF2-40B4-BE49-F238E27FC236}">
                    <a16:creationId xmlns:a16="http://schemas.microsoft.com/office/drawing/2014/main" id="{5712CB71-5F2C-4AA7-C445-78041D010827}"/>
                  </a:ext>
                </a:extLst>
              </p:cNvPr>
              <p:cNvSpPr txBox="1">
                <a:spLocks noRot="1" noChangeAspect="1" noMove="1" noResize="1" noEditPoints="1" noAdjustHandles="1" noChangeArrowheads="1" noChangeShapeType="1" noTextEdit="1"/>
              </p:cNvSpPr>
              <p:nvPr/>
            </p:nvSpPr>
            <p:spPr>
              <a:xfrm>
                <a:off x="2138844" y="2071205"/>
                <a:ext cx="1834540" cy="276999"/>
              </a:xfrm>
              <a:prstGeom prst="rect">
                <a:avLst/>
              </a:prstGeom>
              <a:blipFill>
                <a:blip r:embed="rId5"/>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39646284-D717-CCFF-C733-4613ED4C2067}"/>
                  </a:ext>
                </a:extLst>
              </p:cNvPr>
              <p:cNvSpPr txBox="1"/>
              <p:nvPr/>
            </p:nvSpPr>
            <p:spPr>
              <a:xfrm rot="16200000">
                <a:off x="1248776" y="2699592"/>
                <a:ext cx="963088" cy="261610"/>
              </a:xfrm>
              <a:prstGeom prst="rect">
                <a:avLst/>
              </a:prstGeom>
              <a:solidFill>
                <a:schemeClr val="bg1"/>
              </a:solidFill>
            </p:spPr>
            <p:txBody>
              <a:bodyPr wrap="square">
                <a:spAutoFit/>
              </a:bodyPr>
              <a:lstStyle/>
              <a:p>
                <a:pPr/>
                <a14:m>
                  <m:oMathPara xmlns:m="http://schemas.openxmlformats.org/officeDocument/2006/math">
                    <m:oMath>
                      <m:r>
                        <a:rPr lang="pt-BR" sz="1100" i="1" smtClean="0">
                          <a:latin typeface="Cambria Math" panose="02040503050406030204" pitchFamily="18" charset="0"/>
                        </a:rPr>
                        <m:t>𝑓</m:t>
                      </m:r>
                      <m:d>
                        <m:dPr>
                          <m:ctrlPr>
                            <a:rPr lang="pt-BR" sz="1100" b="0" i="1" smtClean="0">
                              <a:latin typeface="Cambria Math" panose="02040503050406030204" pitchFamily="18" charset="0"/>
                            </a:rPr>
                          </m:ctrlPr>
                        </m:dPr>
                        <m:e>
                          <m:r>
                            <a:rPr lang="pt-BR" sz="1100" b="0" i="1" smtClean="0">
                              <a:latin typeface="Cambria Math" panose="02040503050406030204" pitchFamily="18" charset="0"/>
                            </a:rPr>
                            <m:t>𝑔</m:t>
                          </m:r>
                          <m:r>
                            <a:rPr lang="pt-BR" sz="1100" b="0" i="1" smtClean="0">
                              <a:latin typeface="Cambria Math" panose="02040503050406030204" pitchFamily="18" charset="0"/>
                            </a:rPr>
                            <m:t>(</m:t>
                          </m:r>
                          <m:r>
                            <a:rPr lang="pt-BR" sz="1100" b="1" i="1" smtClean="0">
                              <a:latin typeface="Cambria Math" panose="02040503050406030204" pitchFamily="18" charset="0"/>
                            </a:rPr>
                            <m:t>𝒙</m:t>
                          </m:r>
                          <m:r>
                            <a:rPr lang="pt-BR" sz="1100" b="0" i="1" smtClean="0">
                              <a:latin typeface="Cambria Math" panose="02040503050406030204" pitchFamily="18" charset="0"/>
                            </a:rPr>
                            <m:t>)</m:t>
                          </m:r>
                        </m:e>
                      </m:d>
                    </m:oMath>
                  </m:oMathPara>
                </a14:m>
                <a:endParaRPr lang="pt-BR" sz="1100" dirty="0"/>
              </a:p>
            </p:txBody>
          </p:sp>
        </mc:Choice>
        <mc:Fallback xmlns="">
          <p:sp>
            <p:nvSpPr>
              <p:cNvPr id="7" name="CaixaDeTexto 6">
                <a:extLst>
                  <a:ext uri="{FF2B5EF4-FFF2-40B4-BE49-F238E27FC236}">
                    <a16:creationId xmlns:a16="http://schemas.microsoft.com/office/drawing/2014/main" id="{39646284-D717-CCFF-C733-4613ED4C2067}"/>
                  </a:ext>
                </a:extLst>
              </p:cNvPr>
              <p:cNvSpPr txBox="1">
                <a:spLocks noRot="1" noChangeAspect="1" noMove="1" noResize="1" noEditPoints="1" noAdjustHandles="1" noChangeArrowheads="1" noChangeShapeType="1" noTextEdit="1"/>
              </p:cNvSpPr>
              <p:nvPr/>
            </p:nvSpPr>
            <p:spPr>
              <a:xfrm rot="16200000">
                <a:off x="1248776" y="2699592"/>
                <a:ext cx="963088" cy="261610"/>
              </a:xfrm>
              <a:prstGeom prst="rect">
                <a:avLst/>
              </a:prstGeom>
              <a:blipFill>
                <a:blip r:embed="rId6"/>
                <a:stretch>
                  <a:fillRect r="-697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0D10596A-3E18-4D4A-6415-9CDBEC4E9929}"/>
                  </a:ext>
                </a:extLst>
              </p:cNvPr>
              <p:cNvSpPr txBox="1"/>
              <p:nvPr/>
            </p:nvSpPr>
            <p:spPr>
              <a:xfrm>
                <a:off x="2610414" y="3862861"/>
                <a:ext cx="1032387" cy="261610"/>
              </a:xfrm>
              <a:prstGeom prst="rect">
                <a:avLst/>
              </a:prstGeom>
              <a:solidFill>
                <a:schemeClr val="bg1"/>
              </a:solidFill>
            </p:spPr>
            <p:txBody>
              <a:bodyPr wrap="square">
                <a:spAutoFit/>
              </a:bodyPr>
              <a:lstStyle/>
              <a:p>
                <a:pPr/>
                <a14:m>
                  <m:oMathPara xmlns:m="http://schemas.openxmlformats.org/officeDocument/2006/math">
                    <m:oMath>
                      <m:r>
                        <a:rPr lang="pt-BR" sz="1100" i="1">
                          <a:latin typeface="Cambria Math" panose="02040503050406030204" pitchFamily="18" charset="0"/>
                        </a:rPr>
                        <m:t>𝑔</m:t>
                      </m:r>
                      <m:r>
                        <a:rPr lang="pt-BR" sz="1100" i="1">
                          <a:latin typeface="Cambria Math" panose="02040503050406030204" pitchFamily="18" charset="0"/>
                        </a:rPr>
                        <m:t>(</m:t>
                      </m:r>
                      <m:r>
                        <a:rPr lang="pt-BR" sz="1100" b="1" i="1">
                          <a:latin typeface="Cambria Math" panose="02040503050406030204" pitchFamily="18" charset="0"/>
                        </a:rPr>
                        <m:t>𝒙</m:t>
                      </m:r>
                      <m:r>
                        <a:rPr lang="pt-BR" sz="1100" i="1">
                          <a:latin typeface="Cambria Math" panose="02040503050406030204" pitchFamily="18" charset="0"/>
                        </a:rPr>
                        <m:t>)</m:t>
                      </m:r>
                    </m:oMath>
                  </m:oMathPara>
                </a14:m>
                <a:endParaRPr lang="pt-BR" sz="1100" dirty="0"/>
              </a:p>
            </p:txBody>
          </p:sp>
        </mc:Choice>
        <mc:Fallback xmlns="">
          <p:sp>
            <p:nvSpPr>
              <p:cNvPr id="6" name="CaixaDeTexto 5">
                <a:extLst>
                  <a:ext uri="{FF2B5EF4-FFF2-40B4-BE49-F238E27FC236}">
                    <a16:creationId xmlns:a16="http://schemas.microsoft.com/office/drawing/2014/main" id="{0D10596A-3E18-4D4A-6415-9CDBEC4E9929}"/>
                  </a:ext>
                </a:extLst>
              </p:cNvPr>
              <p:cNvSpPr txBox="1">
                <a:spLocks noRot="1" noChangeAspect="1" noMove="1" noResize="1" noEditPoints="1" noAdjustHandles="1" noChangeArrowheads="1" noChangeShapeType="1" noTextEdit="1"/>
              </p:cNvSpPr>
              <p:nvPr/>
            </p:nvSpPr>
            <p:spPr>
              <a:xfrm>
                <a:off x="2610414" y="3862861"/>
                <a:ext cx="1032387" cy="261610"/>
              </a:xfrm>
              <a:prstGeom prst="rect">
                <a:avLst/>
              </a:prstGeom>
              <a:blipFill>
                <a:blip r:embed="rId7"/>
                <a:stretch>
                  <a:fillRect b="-4651"/>
                </a:stretch>
              </a:blipFill>
            </p:spPr>
            <p:txBody>
              <a:bodyPr/>
              <a:lstStyle/>
              <a:p>
                <a:r>
                  <a:rPr lang="pt-BR">
                    <a:noFill/>
                  </a:rPr>
                  <a:t> </a:t>
                </a:r>
              </a:p>
            </p:txBody>
          </p:sp>
        </mc:Fallback>
      </mc:AlternateContent>
      <p:pic>
        <p:nvPicPr>
          <p:cNvPr id="9" name="Imagem 8">
            <a:extLst>
              <a:ext uri="{FF2B5EF4-FFF2-40B4-BE49-F238E27FC236}">
                <a16:creationId xmlns:a16="http://schemas.microsoft.com/office/drawing/2014/main" id="{A5612E3A-613C-E624-A52C-8F571A186D9E}"/>
              </a:ext>
            </a:extLst>
          </p:cNvPr>
          <p:cNvPicPr>
            <a:picLocks noChangeAspect="1"/>
          </p:cNvPicPr>
          <p:nvPr/>
        </p:nvPicPr>
        <p:blipFill rotWithShape="1">
          <a:blip r:embed="rId8"/>
          <a:srcRect l="4832" t="5799" r="8612"/>
          <a:stretch/>
        </p:blipFill>
        <p:spPr>
          <a:xfrm>
            <a:off x="1763661" y="4442320"/>
            <a:ext cx="2512197" cy="2050555"/>
          </a:xfrm>
          <a:prstGeom prst="rect">
            <a:avLst/>
          </a:prstGeom>
        </p:spPr>
      </p:pic>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EB14C765-0461-48B6-CC2D-B0E386EDC69F}"/>
                  </a:ext>
                </a:extLst>
              </p:cNvPr>
              <p:cNvSpPr txBox="1"/>
              <p:nvPr/>
            </p:nvSpPr>
            <p:spPr>
              <a:xfrm>
                <a:off x="2610414" y="6362070"/>
                <a:ext cx="1032387" cy="261610"/>
              </a:xfrm>
              <a:prstGeom prst="rect">
                <a:avLst/>
              </a:prstGeom>
              <a:solidFill>
                <a:schemeClr val="bg1"/>
              </a:solidFill>
            </p:spPr>
            <p:txBody>
              <a:bodyPr wrap="square">
                <a:spAutoFit/>
              </a:bodyPr>
              <a:lstStyle/>
              <a:p>
                <a:pPr/>
                <a14:m>
                  <m:oMathPara xmlns:m="http://schemas.openxmlformats.org/officeDocument/2006/math">
                    <m:oMath>
                      <m:r>
                        <a:rPr lang="pt-BR" sz="1100" i="1">
                          <a:latin typeface="Cambria Math" panose="02040503050406030204" pitchFamily="18" charset="0"/>
                        </a:rPr>
                        <m:t>𝑔</m:t>
                      </m:r>
                      <m:r>
                        <a:rPr lang="pt-BR" sz="1100" i="1">
                          <a:latin typeface="Cambria Math" panose="02040503050406030204" pitchFamily="18" charset="0"/>
                        </a:rPr>
                        <m:t>(</m:t>
                      </m:r>
                      <m:r>
                        <a:rPr lang="pt-BR" sz="1100" b="1" i="1">
                          <a:latin typeface="Cambria Math" panose="02040503050406030204" pitchFamily="18" charset="0"/>
                        </a:rPr>
                        <m:t>𝒙</m:t>
                      </m:r>
                      <m:r>
                        <a:rPr lang="pt-BR" sz="1100" i="1">
                          <a:latin typeface="Cambria Math" panose="02040503050406030204" pitchFamily="18" charset="0"/>
                        </a:rPr>
                        <m:t>)</m:t>
                      </m:r>
                    </m:oMath>
                  </m:oMathPara>
                </a14:m>
                <a:endParaRPr lang="pt-BR" sz="1100" dirty="0"/>
              </a:p>
            </p:txBody>
          </p:sp>
        </mc:Choice>
        <mc:Fallback xmlns="">
          <p:sp>
            <p:nvSpPr>
              <p:cNvPr id="10" name="CaixaDeTexto 9">
                <a:extLst>
                  <a:ext uri="{FF2B5EF4-FFF2-40B4-BE49-F238E27FC236}">
                    <a16:creationId xmlns:a16="http://schemas.microsoft.com/office/drawing/2014/main" id="{EB14C765-0461-48B6-CC2D-B0E386EDC69F}"/>
                  </a:ext>
                </a:extLst>
              </p:cNvPr>
              <p:cNvSpPr txBox="1">
                <a:spLocks noRot="1" noChangeAspect="1" noMove="1" noResize="1" noEditPoints="1" noAdjustHandles="1" noChangeArrowheads="1" noChangeShapeType="1" noTextEdit="1"/>
              </p:cNvSpPr>
              <p:nvPr/>
            </p:nvSpPr>
            <p:spPr>
              <a:xfrm>
                <a:off x="2610414" y="6362070"/>
                <a:ext cx="1032387" cy="261610"/>
              </a:xfrm>
              <a:prstGeom prst="rect">
                <a:avLst/>
              </a:prstGeom>
              <a:blipFill>
                <a:blip r:embed="rId7"/>
                <a:stretch>
                  <a:fillRect b="-465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98EBD8C4-33DA-8566-BBEE-AA36569A3C2A}"/>
                  </a:ext>
                </a:extLst>
              </p:cNvPr>
              <p:cNvSpPr txBox="1"/>
              <p:nvPr/>
            </p:nvSpPr>
            <p:spPr>
              <a:xfrm rot="16200000">
                <a:off x="1137019" y="5121782"/>
                <a:ext cx="963088" cy="450893"/>
              </a:xfrm>
              <a:prstGeom prst="rect">
                <a:avLst/>
              </a:prstGeom>
              <a:solidFill>
                <a:schemeClr val="bg1"/>
              </a:solidFill>
            </p:spPr>
            <p:txBody>
              <a:bodyPr wrap="square">
                <a:spAutoFit/>
              </a:bodyPr>
              <a:lstStyle/>
              <a:p>
                <a:pPr/>
                <a14:m>
                  <m:oMathPara xmlns:m="http://schemas.openxmlformats.org/officeDocument/2006/math">
                    <m:oMath>
                      <m:f>
                        <m:fPr>
                          <m:ctrlPr>
                            <a:rPr lang="pt-BR" sz="1100" i="1">
                              <a:latin typeface="Cambria Math" panose="02040503050406030204" pitchFamily="18" charset="0"/>
                            </a:rPr>
                          </m:ctrlPr>
                        </m:fPr>
                        <m:num>
                          <m:r>
                            <a:rPr lang="pt-BR" sz="1100" i="1">
                              <a:latin typeface="Cambria Math" panose="02040503050406030204" pitchFamily="18" charset="0"/>
                            </a:rPr>
                            <m:t>𝜕</m:t>
                          </m:r>
                          <m:r>
                            <a:rPr lang="pt-BR" sz="1100" i="1">
                              <a:latin typeface="Cambria Math" panose="02040503050406030204" pitchFamily="18" charset="0"/>
                            </a:rPr>
                            <m:t>𝑓</m:t>
                          </m:r>
                          <m:d>
                            <m:dPr>
                              <m:ctrlPr>
                                <a:rPr lang="pt-BR" sz="1100" i="1">
                                  <a:latin typeface="Cambria Math" panose="02040503050406030204" pitchFamily="18" charset="0"/>
                                </a:rPr>
                              </m:ctrlPr>
                            </m:dPr>
                            <m:e>
                              <m:r>
                                <a:rPr lang="pt-BR" sz="1100" i="1">
                                  <a:latin typeface="Cambria Math" panose="02040503050406030204" pitchFamily="18" charset="0"/>
                                </a:rPr>
                                <m:t>𝑔</m:t>
                              </m:r>
                              <m:r>
                                <a:rPr lang="pt-BR" sz="1100" i="1">
                                  <a:latin typeface="Cambria Math" panose="02040503050406030204" pitchFamily="18" charset="0"/>
                                </a:rPr>
                                <m:t>(</m:t>
                              </m:r>
                              <m:r>
                                <a:rPr lang="pt-BR" sz="1100" b="1" i="1">
                                  <a:latin typeface="Cambria Math" panose="02040503050406030204" pitchFamily="18" charset="0"/>
                                </a:rPr>
                                <m:t>𝒙</m:t>
                              </m:r>
                              <m:r>
                                <a:rPr lang="pt-BR" sz="1100" i="1">
                                  <a:latin typeface="Cambria Math" panose="02040503050406030204" pitchFamily="18" charset="0"/>
                                </a:rPr>
                                <m:t>)</m:t>
                              </m:r>
                            </m:e>
                          </m:d>
                          <m:r>
                            <m:rPr>
                              <m:nor/>
                            </m:rPr>
                            <a:rPr lang="pt-BR" sz="1100" i="0" dirty="0"/>
                            <m:t> </m:t>
                          </m:r>
                        </m:num>
                        <m:den>
                          <m:r>
                            <a:rPr lang="pt-BR" sz="1100" i="1">
                              <a:latin typeface="Cambria Math" panose="02040503050406030204" pitchFamily="18" charset="0"/>
                            </a:rPr>
                            <m:t>𝜕</m:t>
                          </m:r>
                          <m:r>
                            <a:rPr lang="pt-BR" sz="1100" i="1">
                              <a:latin typeface="Cambria Math" panose="02040503050406030204" pitchFamily="18" charset="0"/>
                            </a:rPr>
                            <m:t>𝑔</m:t>
                          </m:r>
                          <m:r>
                            <a:rPr lang="pt-BR" sz="1100" i="1">
                              <a:latin typeface="Cambria Math" panose="02040503050406030204" pitchFamily="18" charset="0"/>
                            </a:rPr>
                            <m:t>(</m:t>
                          </m:r>
                          <m:r>
                            <a:rPr lang="pt-BR" sz="1100" b="1" i="1">
                              <a:latin typeface="Cambria Math" panose="02040503050406030204" pitchFamily="18" charset="0"/>
                            </a:rPr>
                            <m:t>𝒙</m:t>
                          </m:r>
                          <m:r>
                            <a:rPr lang="pt-BR" sz="1100" i="1">
                              <a:latin typeface="Cambria Math" panose="02040503050406030204" pitchFamily="18" charset="0"/>
                            </a:rPr>
                            <m:t>)</m:t>
                          </m:r>
                        </m:den>
                      </m:f>
                    </m:oMath>
                  </m:oMathPara>
                </a14:m>
                <a:endParaRPr lang="pt-BR" sz="1100" dirty="0"/>
              </a:p>
            </p:txBody>
          </p:sp>
        </mc:Choice>
        <mc:Fallback xmlns="">
          <p:sp>
            <p:nvSpPr>
              <p:cNvPr id="11" name="CaixaDeTexto 10">
                <a:extLst>
                  <a:ext uri="{FF2B5EF4-FFF2-40B4-BE49-F238E27FC236}">
                    <a16:creationId xmlns:a16="http://schemas.microsoft.com/office/drawing/2014/main" id="{98EBD8C4-33DA-8566-BBEE-AA36569A3C2A}"/>
                  </a:ext>
                </a:extLst>
              </p:cNvPr>
              <p:cNvSpPr txBox="1">
                <a:spLocks noRot="1" noChangeAspect="1" noMove="1" noResize="1" noEditPoints="1" noAdjustHandles="1" noChangeArrowheads="1" noChangeShapeType="1" noTextEdit="1"/>
              </p:cNvSpPr>
              <p:nvPr/>
            </p:nvSpPr>
            <p:spPr>
              <a:xfrm rot="16200000">
                <a:off x="1137019" y="5121782"/>
                <a:ext cx="963088" cy="450893"/>
              </a:xfrm>
              <a:prstGeom prst="rect">
                <a:avLst/>
              </a:prstGeom>
              <a:blipFill>
                <a:blip r:embed="rId9"/>
                <a:stretch>
                  <a:fillRect r="-4110"/>
                </a:stretch>
              </a:blipFill>
            </p:spPr>
            <p:txBody>
              <a:bodyPr/>
              <a:lstStyle/>
              <a:p>
                <a:r>
                  <a:rPr lang="pt-BR">
                    <a:noFill/>
                  </a:rPr>
                  <a:t> </a:t>
                </a:r>
              </a:p>
            </p:txBody>
          </p:sp>
        </mc:Fallback>
      </mc:AlternateContent>
    </p:spTree>
    <p:extLst>
      <p:ext uri="{BB962C8B-B14F-4D97-AF65-F5344CB8AC3E}">
        <p14:creationId xmlns:p14="http://schemas.microsoft.com/office/powerpoint/2010/main" val="24449340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E3438D-F516-F1D3-A02F-51857586D07A}"/>
              </a:ext>
            </a:extLst>
          </p:cNvPr>
          <p:cNvSpPr>
            <a:spLocks noGrp="1"/>
          </p:cNvSpPr>
          <p:nvPr>
            <p:ph type="title"/>
          </p:nvPr>
        </p:nvSpPr>
        <p:spPr/>
        <p:txBody>
          <a:bodyPr/>
          <a:lstStyle/>
          <a:p>
            <a:r>
              <a:rPr lang="pt-BR" dirty="0"/>
              <a:t>Variantes da função de ativação retificadora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CAAD57B-65A0-9DAD-79FC-2AE2692EB84B}"/>
                  </a:ext>
                </a:extLst>
              </p:cNvPr>
              <p:cNvSpPr>
                <a:spLocks noGrp="1"/>
              </p:cNvSpPr>
              <p:nvPr>
                <p:ph idx="1"/>
              </p:nvPr>
            </p:nvSpPr>
            <p:spPr>
              <a:xfrm>
                <a:off x="7072603" y="1825624"/>
                <a:ext cx="5035659" cy="5032375"/>
              </a:xfrm>
            </p:spPr>
            <p:txBody>
              <a:bodyPr>
                <a:normAutofit/>
              </a:bodyPr>
              <a:lstStyle/>
              <a:p>
                <a:r>
                  <a:rPr lang="pt-BR" dirty="0"/>
                  <a:t>Para mitigar o problema das </a:t>
                </a:r>
                <a:r>
                  <a:rPr lang="pt-BR" b="1" dirty="0"/>
                  <a:t>ReLUs</a:t>
                </a:r>
                <a:r>
                  <a:rPr lang="pt-BR" b="1" i="1" dirty="0"/>
                  <a:t> </a:t>
                </a:r>
                <a:r>
                  <a:rPr lang="pt-BR" b="1" dirty="0"/>
                  <a:t>agonizantes</a:t>
                </a:r>
                <a:r>
                  <a:rPr lang="pt-BR" dirty="0"/>
                  <a:t>, usa-se </a:t>
                </a:r>
                <a:r>
                  <a:rPr lang="pt-BR" b="1" dirty="0">
                    <a:solidFill>
                      <a:srgbClr val="00B050"/>
                    </a:solidFill>
                  </a:rPr>
                  <a:t>variantes da função </a:t>
                </a:r>
                <a:r>
                  <a:rPr lang="pt-BR" b="1" dirty="0" err="1">
                    <a:solidFill>
                      <a:srgbClr val="00B050"/>
                    </a:solidFill>
                  </a:rPr>
                  <a:t>ReLU</a:t>
                </a:r>
                <a:r>
                  <a:rPr lang="pt-BR" dirty="0"/>
                  <a:t> que </a:t>
                </a:r>
                <a:r>
                  <a:rPr lang="pt-BR" b="1" dirty="0">
                    <a:solidFill>
                      <a:schemeClr val="accent2"/>
                    </a:solidFill>
                  </a:rPr>
                  <a:t>possuam derivada diferente de zero para </a:t>
                </a:r>
                <a14:m>
                  <m:oMath xmlns:m="http://schemas.openxmlformats.org/officeDocument/2006/math">
                    <m:r>
                      <a:rPr lang="pt-BR" b="1" i="1">
                        <a:solidFill>
                          <a:schemeClr val="accent2"/>
                        </a:solidFill>
                        <a:latin typeface="Cambria Math" panose="02040503050406030204" pitchFamily="18" charset="0"/>
                      </a:rPr>
                      <m:t>𝒈</m:t>
                    </m:r>
                    <m:d>
                      <m:dPr>
                        <m:ctrlPr>
                          <a:rPr lang="pt-BR" b="1" i="1">
                            <a:solidFill>
                              <a:schemeClr val="accent2"/>
                            </a:solidFill>
                            <a:latin typeface="Cambria Math" panose="02040503050406030204" pitchFamily="18" charset="0"/>
                          </a:rPr>
                        </m:ctrlPr>
                      </m:dPr>
                      <m:e>
                        <m:r>
                          <a:rPr lang="pt-BR" b="1" i="1">
                            <a:solidFill>
                              <a:schemeClr val="accent2"/>
                            </a:solidFill>
                            <a:latin typeface="Cambria Math" panose="02040503050406030204" pitchFamily="18" charset="0"/>
                          </a:rPr>
                          <m:t>𝒙</m:t>
                        </m:r>
                      </m:e>
                    </m:d>
                    <m:r>
                      <a:rPr lang="pt-BR" b="1" i="1">
                        <a:solidFill>
                          <a:schemeClr val="accent2"/>
                        </a:solidFill>
                        <a:latin typeface="Cambria Math" panose="02040503050406030204" pitchFamily="18" charset="0"/>
                      </a:rPr>
                      <m:t>&lt;</m:t>
                    </m:r>
                    <m:r>
                      <a:rPr lang="pt-BR" b="1" i="1">
                        <a:solidFill>
                          <a:schemeClr val="accent2"/>
                        </a:solidFill>
                        <a:latin typeface="Cambria Math" panose="02040503050406030204" pitchFamily="18" charset="0"/>
                      </a:rPr>
                      <m:t>𝟎</m:t>
                    </m:r>
                  </m:oMath>
                </a14:m>
                <a:r>
                  <a:rPr lang="pt-BR" dirty="0"/>
                  <a:t>, como, por exemplo, </a:t>
                </a:r>
              </a:p>
              <a:p>
                <a:pPr lvl="1">
                  <a:buFont typeface="Wingdings" panose="05000000000000000000" pitchFamily="2" charset="2"/>
                  <a:buChar char="§"/>
                </a:pPr>
                <a:r>
                  <a:rPr lang="pt-BR" dirty="0" err="1">
                    <a:hlinkClick r:id="rId3"/>
                  </a:rPr>
                  <a:t>Leaky</a:t>
                </a:r>
                <a:r>
                  <a:rPr lang="pt-BR" dirty="0">
                    <a:hlinkClick r:id="rId3"/>
                  </a:rPr>
                  <a:t> </a:t>
                </a:r>
                <a:r>
                  <a:rPr lang="pt-BR" dirty="0" err="1">
                    <a:hlinkClick r:id="rId3"/>
                  </a:rPr>
                  <a:t>ReLU</a:t>
                </a:r>
                <a:r>
                  <a:rPr lang="pt-BR" dirty="0">
                    <a:hlinkClick r:id="rId3"/>
                  </a:rPr>
                  <a:t>, </a:t>
                </a:r>
              </a:p>
              <a:p>
                <a:pPr lvl="1">
                  <a:buFont typeface="Wingdings" panose="05000000000000000000" pitchFamily="2" charset="2"/>
                  <a:buChar char="§"/>
                </a:pPr>
                <a:r>
                  <a:rPr lang="pt-BR" dirty="0" err="1">
                    <a:hlinkClick r:id="rId3"/>
                  </a:rPr>
                  <a:t>Parametric</a:t>
                </a:r>
                <a:r>
                  <a:rPr lang="pt-BR" dirty="0">
                    <a:hlinkClick r:id="rId3"/>
                  </a:rPr>
                  <a:t> </a:t>
                </a:r>
                <a:r>
                  <a:rPr lang="pt-BR" dirty="0" err="1">
                    <a:hlinkClick r:id="rId3"/>
                  </a:rPr>
                  <a:t>ReLU</a:t>
                </a:r>
                <a:r>
                  <a:rPr lang="pt-BR" dirty="0">
                    <a:hlinkClick r:id="rId3"/>
                  </a:rPr>
                  <a:t> (</a:t>
                </a:r>
                <a:r>
                  <a:rPr lang="pt-BR" dirty="0" err="1">
                    <a:hlinkClick r:id="rId3"/>
                  </a:rPr>
                  <a:t>PReLU</a:t>
                </a:r>
                <a:r>
                  <a:rPr lang="pt-BR" dirty="0">
                    <a:hlinkClick r:id="rId3"/>
                  </a:rPr>
                  <a:t>), </a:t>
                </a:r>
              </a:p>
              <a:p>
                <a:pPr lvl="1">
                  <a:buFont typeface="Wingdings" panose="05000000000000000000" pitchFamily="2" charset="2"/>
                  <a:buChar char="§"/>
                </a:pPr>
                <a:r>
                  <a:rPr lang="pt-BR" dirty="0" err="1">
                    <a:hlinkClick r:id="rId3"/>
                  </a:rPr>
                  <a:t>Gaussian</a:t>
                </a:r>
                <a:r>
                  <a:rPr lang="pt-BR" dirty="0">
                    <a:hlinkClick r:id="rId3"/>
                  </a:rPr>
                  <a:t> Error Linear Unit (GELU), </a:t>
                </a:r>
              </a:p>
              <a:p>
                <a:pPr lvl="1">
                  <a:buFont typeface="Wingdings" panose="05000000000000000000" pitchFamily="2" charset="2"/>
                  <a:buChar char="§"/>
                </a:pPr>
                <a:r>
                  <a:rPr lang="pt-BR" dirty="0">
                    <a:hlinkClick r:id="rId3"/>
                  </a:rPr>
                  <a:t>etc.</a:t>
                </a:r>
                <a:endParaRPr lang="pt-BR" dirty="0"/>
              </a:p>
            </p:txBody>
          </p:sp>
        </mc:Choice>
        <mc:Fallback xmlns="">
          <p:sp>
            <p:nvSpPr>
              <p:cNvPr id="3" name="Espaço Reservado para Conteúdo 2">
                <a:extLst>
                  <a:ext uri="{FF2B5EF4-FFF2-40B4-BE49-F238E27FC236}">
                    <a16:creationId xmlns:a16="http://schemas.microsoft.com/office/drawing/2014/main" id="{BCAAD57B-65A0-9DAD-79FC-2AE2692EB84B}"/>
                  </a:ext>
                </a:extLst>
              </p:cNvPr>
              <p:cNvSpPr>
                <a:spLocks noGrp="1" noRot="1" noChangeAspect="1" noMove="1" noResize="1" noEditPoints="1" noAdjustHandles="1" noChangeArrowheads="1" noChangeShapeType="1" noTextEdit="1"/>
              </p:cNvSpPr>
              <p:nvPr>
                <p:ph idx="1"/>
              </p:nvPr>
            </p:nvSpPr>
            <p:spPr>
              <a:xfrm>
                <a:off x="7072603" y="1825624"/>
                <a:ext cx="5035659" cy="5032375"/>
              </a:xfrm>
              <a:blipFill>
                <a:blip r:embed="rId4"/>
                <a:stretch>
                  <a:fillRect l="-2179" t="-1937" r="-3269"/>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DCEAF695-2366-440F-7631-39103A7D3C73}"/>
              </a:ext>
            </a:extLst>
          </p:cNvPr>
          <p:cNvPicPr>
            <a:picLocks noChangeAspect="1"/>
          </p:cNvPicPr>
          <p:nvPr/>
        </p:nvPicPr>
        <p:blipFill>
          <a:blip r:embed="rId5">
            <a:extLst>
              <a:ext uri="{28A0092B-C50C-407E-A947-70E740481C1C}">
                <a14:useLocalDpi xmlns:a14="http://schemas.microsoft.com/office/drawing/2010/main" val="0"/>
              </a:ext>
            </a:extLst>
          </a:blip>
          <a:srcRect l="1196" r="1907"/>
          <a:stretch>
            <a:fillRect/>
          </a:stretch>
        </p:blipFill>
        <p:spPr>
          <a:xfrm>
            <a:off x="93067" y="1825623"/>
            <a:ext cx="6783595" cy="4667251"/>
          </a:xfrm>
          <a:prstGeom prst="rect">
            <a:avLst/>
          </a:prstGeom>
        </p:spPr>
      </p:pic>
    </p:spTree>
    <p:extLst>
      <p:ext uri="{BB962C8B-B14F-4D97-AF65-F5344CB8AC3E}">
        <p14:creationId xmlns:p14="http://schemas.microsoft.com/office/powerpoint/2010/main" val="6256383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526349-A7BE-499C-8397-6417B176CCDF}"/>
              </a:ext>
            </a:extLst>
          </p:cNvPr>
          <p:cNvSpPr>
            <a:spLocks noGrp="1"/>
          </p:cNvSpPr>
          <p:nvPr>
            <p:ph type="title"/>
          </p:nvPr>
        </p:nvSpPr>
        <p:spPr/>
        <p:txBody>
          <a:bodyPr/>
          <a:lstStyle/>
          <a:p>
            <a:r>
              <a:rPr lang="pt-BR" dirty="0"/>
              <a:t>Explosão do gradiente</a:t>
            </a:r>
            <a:r>
              <a:rPr lang="en-US" dirty="0"/>
              <a:t> </a:t>
            </a:r>
            <a:endParaRPr lang="pt-BR" dirty="0"/>
          </a:p>
        </p:txBody>
      </p:sp>
      <p:sp>
        <p:nvSpPr>
          <p:cNvPr id="3" name="Espaço Reservado para Conteúdo 2">
            <a:extLst>
              <a:ext uri="{FF2B5EF4-FFF2-40B4-BE49-F238E27FC236}">
                <a16:creationId xmlns:a16="http://schemas.microsoft.com/office/drawing/2014/main" id="{A390FEFD-F331-53A0-B441-F413CF36E07C}"/>
              </a:ext>
            </a:extLst>
          </p:cNvPr>
          <p:cNvSpPr>
            <a:spLocks noGrp="1"/>
          </p:cNvSpPr>
          <p:nvPr>
            <p:ph idx="1"/>
          </p:nvPr>
        </p:nvSpPr>
        <p:spPr>
          <a:xfrm>
            <a:off x="4958080" y="1825624"/>
            <a:ext cx="7125765" cy="5032375"/>
          </a:xfrm>
        </p:spPr>
        <p:txBody>
          <a:bodyPr>
            <a:normAutofit/>
          </a:bodyPr>
          <a:lstStyle/>
          <a:p>
            <a:r>
              <a:rPr lang="pt-BR" dirty="0">
                <a:solidFill>
                  <a:schemeClr val="tx1"/>
                </a:solidFill>
              </a:rPr>
              <a:t>Usando funções de ativação </a:t>
            </a:r>
            <a:r>
              <a:rPr lang="pt-BR" dirty="0" err="1">
                <a:solidFill>
                  <a:schemeClr val="tx1"/>
                </a:solidFill>
              </a:rPr>
              <a:t>ReLU</a:t>
            </a:r>
            <a:r>
              <a:rPr lang="pt-BR" dirty="0">
                <a:solidFill>
                  <a:schemeClr val="tx1"/>
                </a:solidFill>
              </a:rPr>
              <a:t> e suas variantes, reduzimos o problema do desaparecimento do gradiente.</a:t>
            </a:r>
          </a:p>
          <a:p>
            <a:r>
              <a:rPr lang="pt-BR" dirty="0"/>
              <a:t>Porém, um </a:t>
            </a:r>
            <a:r>
              <a:rPr lang="pt-BR" b="1" dirty="0">
                <a:solidFill>
                  <a:srgbClr val="7030A0"/>
                </a:solidFill>
              </a:rPr>
              <a:t>outro problema surge</a:t>
            </a:r>
            <a:r>
              <a:rPr lang="pt-BR" dirty="0"/>
              <a:t> quando as </a:t>
            </a:r>
            <a:r>
              <a:rPr lang="pt-BR" b="1" dirty="0">
                <a:solidFill>
                  <a:srgbClr val="FF0000"/>
                </a:solidFill>
              </a:rPr>
              <a:t>ativações são positivas (derivadas iguais a 1) </a:t>
            </a:r>
            <a:r>
              <a:rPr lang="pt-BR" dirty="0"/>
              <a:t>e os </a:t>
            </a:r>
            <a:r>
              <a:rPr lang="pt-BR" b="1" dirty="0">
                <a:solidFill>
                  <a:schemeClr val="accent2"/>
                </a:solidFill>
              </a:rPr>
              <a:t>pesos têm valores maiores do que 1</a:t>
            </a:r>
            <a:r>
              <a:rPr lang="pt-BR" dirty="0"/>
              <a:t>.</a:t>
            </a:r>
            <a:endParaRPr lang="pt-BR" dirty="0">
              <a:solidFill>
                <a:schemeClr val="tx1"/>
              </a:solidFill>
            </a:endParaRPr>
          </a:p>
          <a:p>
            <a:r>
              <a:rPr lang="pt-BR" dirty="0"/>
              <a:t>C</a:t>
            </a:r>
            <a:r>
              <a:rPr lang="pt-BR" dirty="0">
                <a:solidFill>
                  <a:schemeClr val="tx1"/>
                </a:solidFill>
              </a:rPr>
              <a:t>aso os pesos sejam inicializados (em geral, de forma aleatória) com </a:t>
            </a:r>
            <a:r>
              <a:rPr lang="pt-BR" b="1" dirty="0">
                <a:solidFill>
                  <a:srgbClr val="7030A0"/>
                </a:solidFill>
              </a:rPr>
              <a:t>valores maiores do que 1</a:t>
            </a:r>
            <a:r>
              <a:rPr lang="pt-BR" dirty="0">
                <a:solidFill>
                  <a:schemeClr val="tx1"/>
                </a:solidFill>
              </a:rPr>
              <a:t>, haverá a </a:t>
            </a:r>
            <a:r>
              <a:rPr lang="pt-BR" b="1" dirty="0">
                <a:solidFill>
                  <a:schemeClr val="accent5"/>
                </a:solidFill>
              </a:rPr>
              <a:t>multiplicação de vários valores assim</a:t>
            </a:r>
            <a:r>
              <a:rPr lang="pt-BR" dirty="0">
                <a:solidFill>
                  <a:schemeClr val="tx1"/>
                </a:solidFill>
              </a:rPr>
              <a:t>, </a:t>
            </a:r>
            <a:r>
              <a:rPr lang="pt-BR" b="1" dirty="0">
                <a:solidFill>
                  <a:schemeClr val="accent2"/>
                </a:solidFill>
              </a:rPr>
              <a:t>o que pode resultar em valores de gradiente muito grandes nas camadas iniciais</a:t>
            </a:r>
            <a:r>
              <a:rPr lang="pt-BR" dirty="0">
                <a:solidFill>
                  <a:schemeClr val="tx1"/>
                </a:solidFill>
              </a:rPr>
              <a:t>.</a:t>
            </a:r>
          </a:p>
        </p:txBody>
      </p:sp>
      <p:pic>
        <p:nvPicPr>
          <p:cNvPr id="1026" name="Picture 2" descr="Vanishing And Exploding Gradient Problems in Deep Learning | by Fraidoon  Omarzai | Medium">
            <a:extLst>
              <a:ext uri="{FF2B5EF4-FFF2-40B4-BE49-F238E27FC236}">
                <a16:creationId xmlns:a16="http://schemas.microsoft.com/office/drawing/2014/main" id="{658BB48A-56A7-0C93-AEE3-E0A485269B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380" y="2159318"/>
            <a:ext cx="4343400" cy="4124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08911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991379-1C4F-4AB9-BB38-83C7CC20155D}"/>
              </a:ext>
            </a:extLst>
          </p:cNvPr>
          <p:cNvSpPr>
            <a:spLocks noGrp="1"/>
          </p:cNvSpPr>
          <p:nvPr>
            <p:ph type="title"/>
          </p:nvPr>
        </p:nvSpPr>
        <p:spPr>
          <a:xfrm>
            <a:off x="838200" y="254597"/>
            <a:ext cx="10515600" cy="979733"/>
          </a:xfrm>
        </p:spPr>
        <p:txBody>
          <a:bodyPr/>
          <a:lstStyle/>
          <a:p>
            <a:r>
              <a:rPr lang="pt-BR" dirty="0"/>
              <a:t>Explosão do gradiente</a:t>
            </a:r>
            <a:r>
              <a:rPr lang="en-US" dirty="0"/>
              <a:t> </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8DBA540-3B58-4BC7-B375-23ABBBC057D3}"/>
                  </a:ext>
                </a:extLst>
              </p:cNvPr>
              <p:cNvSpPr>
                <a:spLocks noGrp="1"/>
              </p:cNvSpPr>
              <p:nvPr>
                <p:ph idx="1"/>
              </p:nvPr>
            </p:nvSpPr>
            <p:spPr>
              <a:xfrm>
                <a:off x="838200" y="2967184"/>
                <a:ext cx="11353800" cy="3890816"/>
              </a:xfrm>
            </p:spPr>
            <p:txBody>
              <a:bodyPr>
                <a:normAutofit/>
              </a:bodyPr>
              <a:lstStyle/>
              <a:p>
                <a:pPr marL="0" indent="0">
                  <a:buNone/>
                </a:pPr>
                <a14:m>
                  <m:oMathPara xmlns:m="http://schemas.openxmlformats.org/officeDocument/2006/math">
                    <m:oMath>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m:rPr>
                              <m:nor/>
                            </m:rPr>
                            <a:rPr lang="en-US" i="0" dirty="0"/>
                            <m:t> </m:t>
                          </m:r>
                        </m:den>
                      </m:f>
                      <m:r>
                        <a:rPr lang="pt-BR" i="1">
                          <a:latin typeface="Cambria Math" panose="02040503050406030204" pitchFamily="18" charset="0"/>
                        </a:rPr>
                        <m:t>=−2</m:t>
                      </m:r>
                      <m:sSup>
                        <m:sSupPr>
                          <m:ctrlPr>
                            <a:rPr lang="pt-BR" i="1">
                              <a:latin typeface="Cambria Math" panose="02040503050406030204" pitchFamily="18" charset="0"/>
                              <a:ea typeface="Cambria Math" panose="02040503050406030204" pitchFamily="18" charset="0"/>
                            </a:rPr>
                          </m:ctrlPr>
                        </m:sSupPr>
                        <m:e>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𝑦</m:t>
                              </m:r>
                              <m:r>
                                <a:rPr lang="pt-BR" i="1">
                                  <a:latin typeface="Cambria Math" panose="02040503050406030204" pitchFamily="18" charset="0"/>
                                  <a:ea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e>
                          </m:d>
                        </m:e>
                        <m:sup>
                          <m:r>
                            <a:rPr lang="pt-BR" i="1">
                              <a:latin typeface="Cambria Math" panose="02040503050406030204" pitchFamily="18" charset="0"/>
                            </a:rPr>
                            <m:t>2</m:t>
                          </m:r>
                        </m:sup>
                      </m:sSup>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r>
                            <a:rPr lang="pt-BR" i="1">
                              <a:latin typeface="Cambria Math" panose="02040503050406030204" pitchFamily="18" charset="0"/>
                            </a:rPr>
                            <m:t>)</m:t>
                          </m:r>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3</m:t>
                              </m:r>
                            </m:sub>
                          </m:sSub>
                        </m:den>
                      </m:f>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3</m:t>
                          </m:r>
                        </m:sub>
                      </m:sSub>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𝑔</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2</m:t>
                                  </m:r>
                                </m:sub>
                              </m:sSub>
                            </m:e>
                          </m:d>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2</m:t>
                              </m:r>
                            </m:sub>
                          </m:sSub>
                        </m:den>
                      </m:f>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ℎ</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1</m:t>
                                  </m:r>
                                </m:sub>
                              </m:sSub>
                            </m:e>
                          </m:d>
                        </m:num>
                        <m:den>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i="1">
                                  <a:latin typeface="Cambria Math" panose="02040503050406030204" pitchFamily="18" charset="0"/>
                                </a:rPr>
                                <m:t>1</m:t>
                              </m:r>
                            </m:sub>
                          </m:sSub>
                        </m:den>
                      </m:f>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i="1">
                          <a:latin typeface="Cambria Math" panose="02040503050406030204" pitchFamily="18" charset="0"/>
                          <a:ea typeface="Cambria Math" panose="02040503050406030204" pitchFamily="18" charset="0"/>
                        </a:rPr>
                        <m:t>.</m:t>
                      </m:r>
                    </m:oMath>
                  </m:oMathPara>
                </a14:m>
                <a:endParaRPr lang="pt-BR" b="0" dirty="0">
                  <a:solidFill>
                    <a:schemeClr val="tx1"/>
                  </a:solidFill>
                  <a:effectLst/>
                </a:endParaRPr>
              </a:p>
              <a:p>
                <a:r>
                  <a:rPr lang="pt-BR" b="0" dirty="0">
                    <a:solidFill>
                      <a:schemeClr val="tx1"/>
                    </a:solidFill>
                    <a:effectLst/>
                  </a:rPr>
                  <a:t>Se os elementos do vetor gradiente tiverem </a:t>
                </a:r>
                <a:r>
                  <a:rPr lang="pt-BR" b="1" dirty="0">
                    <a:solidFill>
                      <a:srgbClr val="0070C0"/>
                    </a:solidFill>
                    <a:effectLst/>
                  </a:rPr>
                  <a:t>magnitudes muito grandes</a:t>
                </a:r>
                <a:r>
                  <a:rPr lang="pt-BR" b="0" dirty="0">
                    <a:solidFill>
                      <a:schemeClr val="tx1"/>
                    </a:solidFill>
                    <a:effectLst/>
                  </a:rPr>
                  <a:t>, os </a:t>
                </a:r>
                <a:r>
                  <a:rPr lang="pt-BR" b="1" dirty="0">
                    <a:solidFill>
                      <a:srgbClr val="7030A0"/>
                    </a:solidFill>
                    <a:effectLst/>
                  </a:rPr>
                  <a:t>pesos da rede podem sofrer atualizações extremamente grandes</a:t>
                </a:r>
                <a:r>
                  <a:rPr lang="pt-BR" b="0" dirty="0">
                    <a:solidFill>
                      <a:schemeClr val="tx1"/>
                    </a:solidFill>
                    <a:effectLst/>
                  </a:rPr>
                  <a:t>, o que leva a </a:t>
                </a:r>
                <a:r>
                  <a:rPr lang="pt-BR" b="1" dirty="0">
                    <a:solidFill>
                      <a:srgbClr val="FF0000"/>
                    </a:solidFill>
                    <a:effectLst/>
                  </a:rPr>
                  <a:t>instabilidades numéricas</a:t>
                </a:r>
                <a:r>
                  <a:rPr lang="pt-BR" b="0" dirty="0">
                    <a:solidFill>
                      <a:schemeClr val="tx1"/>
                    </a:solidFill>
                    <a:effectLst/>
                  </a:rPr>
                  <a:t> e a um </a:t>
                </a:r>
                <a:r>
                  <a:rPr lang="pt-BR" b="1" dirty="0">
                    <a:solidFill>
                      <a:schemeClr val="accent2"/>
                    </a:solidFill>
                    <a:effectLst/>
                  </a:rPr>
                  <a:t>treinamento ineficaz</a:t>
                </a:r>
                <a:r>
                  <a:rPr lang="pt-BR" b="0" dirty="0">
                    <a:solidFill>
                      <a:schemeClr val="tx1"/>
                    </a:solidFill>
                    <a:effectLst/>
                  </a:rPr>
                  <a:t> ou até mesmo à </a:t>
                </a:r>
                <a:r>
                  <a:rPr lang="pt-BR" b="1" dirty="0">
                    <a:solidFill>
                      <a:schemeClr val="accent2"/>
                    </a:solidFill>
                    <a:effectLst/>
                  </a:rPr>
                  <a:t>divergência</a:t>
                </a:r>
                <a:r>
                  <a:rPr lang="pt-BR" b="0" dirty="0">
                    <a:solidFill>
                      <a:schemeClr val="tx1"/>
                    </a:solidFill>
                    <a:effectLst/>
                  </a:rPr>
                  <a:t>.</a:t>
                </a:r>
              </a:p>
            </p:txBody>
          </p:sp>
        </mc:Choice>
        <mc:Fallback xmlns="">
          <p:sp>
            <p:nvSpPr>
              <p:cNvPr id="3" name="Espaço Reservado para Conteúdo 2">
                <a:extLst>
                  <a:ext uri="{FF2B5EF4-FFF2-40B4-BE49-F238E27FC236}">
                    <a16:creationId xmlns:a16="http://schemas.microsoft.com/office/drawing/2014/main" id="{68DBA540-3B58-4BC7-B375-23ABBBC057D3}"/>
                  </a:ext>
                </a:extLst>
              </p:cNvPr>
              <p:cNvSpPr>
                <a:spLocks noGrp="1" noRot="1" noChangeAspect="1" noMove="1" noResize="1" noEditPoints="1" noAdjustHandles="1" noChangeArrowheads="1" noChangeShapeType="1" noTextEdit="1"/>
              </p:cNvSpPr>
              <p:nvPr>
                <p:ph idx="1"/>
              </p:nvPr>
            </p:nvSpPr>
            <p:spPr>
              <a:xfrm>
                <a:off x="838200" y="2967184"/>
                <a:ext cx="11353800" cy="3890816"/>
              </a:xfrm>
              <a:blipFill>
                <a:blip r:embed="rId3"/>
                <a:stretch>
                  <a:fillRect l="-967" r="-1450"/>
                </a:stretch>
              </a:blipFill>
            </p:spPr>
            <p:txBody>
              <a:bodyPr/>
              <a:lstStyle/>
              <a:p>
                <a:r>
                  <a:rPr lang="en-US">
                    <a:noFill/>
                  </a:rPr>
                  <a:t> </a:t>
                </a:r>
              </a:p>
            </p:txBody>
          </p:sp>
        </mc:Fallback>
      </mc:AlternateContent>
      <p:grpSp>
        <p:nvGrpSpPr>
          <p:cNvPr id="4" name="Grupo 3">
            <a:extLst>
              <a:ext uri="{FF2B5EF4-FFF2-40B4-BE49-F238E27FC236}">
                <a16:creationId xmlns:a16="http://schemas.microsoft.com/office/drawing/2014/main" id="{B4807606-488C-D221-C588-FF3400573D56}"/>
              </a:ext>
            </a:extLst>
          </p:cNvPr>
          <p:cNvGrpSpPr/>
          <p:nvPr/>
        </p:nvGrpSpPr>
        <p:grpSpPr>
          <a:xfrm>
            <a:off x="2824117" y="1825624"/>
            <a:ext cx="6149352" cy="699336"/>
            <a:chOff x="2824117" y="1825624"/>
            <a:chExt cx="6149352" cy="699336"/>
          </a:xfrm>
        </p:grpSpPr>
        <p:grpSp>
          <p:nvGrpSpPr>
            <p:cNvPr id="5" name="Group 4">
              <a:extLst>
                <a:ext uri="{FF2B5EF4-FFF2-40B4-BE49-F238E27FC236}">
                  <a16:creationId xmlns:a16="http://schemas.microsoft.com/office/drawing/2014/main" id="{5E6FD578-7839-28E5-4EB6-C3CA55505E74}"/>
                </a:ext>
              </a:extLst>
            </p:cNvPr>
            <p:cNvGrpSpPr/>
            <p:nvPr/>
          </p:nvGrpSpPr>
          <p:grpSpPr>
            <a:xfrm>
              <a:off x="2824117" y="1825624"/>
              <a:ext cx="6149352" cy="699336"/>
              <a:chOff x="2824117" y="1825624"/>
              <a:chExt cx="6149352" cy="699336"/>
            </a:xfrm>
          </p:grpSpPr>
          <p:grpSp>
            <p:nvGrpSpPr>
              <p:cNvPr id="14" name="Group 13">
                <a:extLst>
                  <a:ext uri="{FF2B5EF4-FFF2-40B4-BE49-F238E27FC236}">
                    <a16:creationId xmlns:a16="http://schemas.microsoft.com/office/drawing/2014/main" id="{E376E3EA-4382-052B-A7FC-E3029DEB0AFD}"/>
                  </a:ext>
                </a:extLst>
              </p:cNvPr>
              <p:cNvGrpSpPr/>
              <p:nvPr/>
            </p:nvGrpSpPr>
            <p:grpSpPr>
              <a:xfrm>
                <a:off x="2824117" y="1825624"/>
                <a:ext cx="6149352" cy="685593"/>
                <a:chOff x="2824117" y="4105306"/>
                <a:chExt cx="6149352" cy="685593"/>
              </a:xfrm>
            </p:grpSpPr>
            <mc:AlternateContent xmlns:mc="http://schemas.openxmlformats.org/markup-compatibility/2006" xmlns:a14="http://schemas.microsoft.com/office/drawing/2010/main">
              <mc:Choice Requires="a14">
                <p:sp>
                  <p:nvSpPr>
                    <p:cNvPr id="34" name="Elipse 4">
                      <a:extLst>
                        <a:ext uri="{FF2B5EF4-FFF2-40B4-BE49-F238E27FC236}">
                          <a16:creationId xmlns:a16="http://schemas.microsoft.com/office/drawing/2014/main" id="{97FE01AB-52E2-771A-F7E6-07636CF32E43}"/>
                        </a:ext>
                      </a:extLst>
                    </p:cNvPr>
                    <p:cNvSpPr/>
                    <p:nvPr/>
                  </p:nvSpPr>
                  <p:spPr>
                    <a:xfrm>
                      <a:off x="3630508" y="419197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ℎ</m:t>
                            </m:r>
                            <m:r>
                              <a:rPr lang="pt-BR" b="0" i="1" smtClean="0">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20" name="Elipse 4">
                      <a:extLst>
                        <a:ext uri="{FF2B5EF4-FFF2-40B4-BE49-F238E27FC236}">
                          <a16:creationId xmlns:a16="http://schemas.microsoft.com/office/drawing/2014/main" id="{0DF451FF-252E-0ED6-AFC8-BBBDC99EE7D3}"/>
                        </a:ext>
                      </a:extLst>
                    </p:cNvPr>
                    <p:cNvSpPr>
                      <a:spLocks noRot="1" noChangeAspect="1" noMove="1" noResize="1" noEditPoints="1" noAdjustHandles="1" noChangeArrowheads="1" noChangeShapeType="1" noTextEdit="1"/>
                    </p:cNvSpPr>
                    <p:nvPr/>
                  </p:nvSpPr>
                  <p:spPr>
                    <a:xfrm>
                      <a:off x="3630508" y="4191970"/>
                      <a:ext cx="576000" cy="576000"/>
                    </a:xfrm>
                    <a:prstGeom prst="ellipse">
                      <a:avLst/>
                    </a:prstGeom>
                    <a:blipFill>
                      <a:blip r:embed="rId4"/>
                      <a:stretch>
                        <a:fillRect r="-4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Elipse 5">
                      <a:extLst>
                        <a:ext uri="{FF2B5EF4-FFF2-40B4-BE49-F238E27FC236}">
                          <a16:creationId xmlns:a16="http://schemas.microsoft.com/office/drawing/2014/main" id="{33A46BB5-128C-57A9-CF00-E8CF258E5ABC}"/>
                        </a:ext>
                      </a:extLst>
                    </p:cNvPr>
                    <p:cNvSpPr/>
                    <p:nvPr/>
                  </p:nvSpPr>
                  <p:spPr>
                    <a:xfrm>
                      <a:off x="5434880" y="419197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𝑔</m:t>
                            </m:r>
                            <m:r>
                              <a:rPr lang="pt-BR" i="1">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21" name="Elipse 5">
                      <a:extLst>
                        <a:ext uri="{FF2B5EF4-FFF2-40B4-BE49-F238E27FC236}">
                          <a16:creationId xmlns:a16="http://schemas.microsoft.com/office/drawing/2014/main" id="{3CBB6E6D-DAB2-09E5-DD33-36B8D4A45190}"/>
                        </a:ext>
                      </a:extLst>
                    </p:cNvPr>
                    <p:cNvSpPr>
                      <a:spLocks noRot="1" noChangeAspect="1" noMove="1" noResize="1" noEditPoints="1" noAdjustHandles="1" noChangeArrowheads="1" noChangeShapeType="1" noTextEdit="1"/>
                    </p:cNvSpPr>
                    <p:nvPr/>
                  </p:nvSpPr>
                  <p:spPr>
                    <a:xfrm>
                      <a:off x="5434880" y="4191970"/>
                      <a:ext cx="576000" cy="576000"/>
                    </a:xfrm>
                    <a:prstGeom prst="ellipse">
                      <a:avLst/>
                    </a:prstGeom>
                    <a:blipFill>
                      <a:blip r:embed="rId5"/>
                      <a:stretch>
                        <a:fillRect l="-1042" r="-52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Elipse 6">
                      <a:extLst>
                        <a:ext uri="{FF2B5EF4-FFF2-40B4-BE49-F238E27FC236}">
                          <a16:creationId xmlns:a16="http://schemas.microsoft.com/office/drawing/2014/main" id="{C8B10504-4845-9941-E1A6-C2078D57EA58}"/>
                        </a:ext>
                      </a:extLst>
                    </p:cNvPr>
                    <p:cNvSpPr/>
                    <p:nvPr/>
                  </p:nvSpPr>
                  <p:spPr>
                    <a:xfrm>
                      <a:off x="7238332" y="419197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𝑓</m:t>
                            </m:r>
                            <m:r>
                              <a:rPr lang="pt-BR" i="1">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22" name="Elipse 6">
                      <a:extLst>
                        <a:ext uri="{FF2B5EF4-FFF2-40B4-BE49-F238E27FC236}">
                          <a16:creationId xmlns:a16="http://schemas.microsoft.com/office/drawing/2014/main" id="{9EA08535-4021-80BA-226E-967C0A9D9A70}"/>
                        </a:ext>
                      </a:extLst>
                    </p:cNvPr>
                    <p:cNvSpPr>
                      <a:spLocks noRot="1" noChangeAspect="1" noMove="1" noResize="1" noEditPoints="1" noAdjustHandles="1" noChangeArrowheads="1" noChangeShapeType="1" noTextEdit="1"/>
                    </p:cNvSpPr>
                    <p:nvPr/>
                  </p:nvSpPr>
                  <p:spPr>
                    <a:xfrm>
                      <a:off x="7238332" y="4191970"/>
                      <a:ext cx="576000" cy="576000"/>
                    </a:xfrm>
                    <a:prstGeom prst="ellipse">
                      <a:avLst/>
                    </a:prstGeom>
                    <a:blipFill>
                      <a:blip r:embed="rId6"/>
                      <a:stretch>
                        <a:fillRect l="-3093" r="-4124"/>
                      </a:stretch>
                    </a:blipFill>
                  </p:spPr>
                  <p:txBody>
                    <a:bodyPr/>
                    <a:lstStyle/>
                    <a:p>
                      <a:r>
                        <a:rPr lang="en-US">
                          <a:noFill/>
                        </a:rPr>
                        <a:t> </a:t>
                      </a:r>
                    </a:p>
                  </p:txBody>
                </p:sp>
              </mc:Fallback>
            </mc:AlternateContent>
            <p:cxnSp>
              <p:nvCxnSpPr>
                <p:cNvPr id="37" name="Conector de Seta Reta 7">
                  <a:extLst>
                    <a:ext uri="{FF2B5EF4-FFF2-40B4-BE49-F238E27FC236}">
                      <a16:creationId xmlns:a16="http://schemas.microsoft.com/office/drawing/2014/main" id="{1914F34A-BEE1-E025-60AE-F66437DE699B}"/>
                    </a:ext>
                  </a:extLst>
                </p:cNvPr>
                <p:cNvCxnSpPr>
                  <a:cxnSpLocks/>
                </p:cNvCxnSpPr>
                <p:nvPr/>
              </p:nvCxnSpPr>
              <p:spPr>
                <a:xfrm>
                  <a:off x="4206507" y="4479970"/>
                  <a:ext cx="12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ector de Seta Reta 12">
                  <a:extLst>
                    <a:ext uri="{FF2B5EF4-FFF2-40B4-BE49-F238E27FC236}">
                      <a16:creationId xmlns:a16="http://schemas.microsoft.com/office/drawing/2014/main" id="{D289C719-9731-D36E-0323-21DCD20ABC3A}"/>
                    </a:ext>
                  </a:extLst>
                </p:cNvPr>
                <p:cNvCxnSpPr/>
                <p:nvPr/>
              </p:nvCxnSpPr>
              <p:spPr>
                <a:xfrm>
                  <a:off x="7814332" y="4479970"/>
                  <a:ext cx="828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Retângulo 10">
                      <a:extLst>
                        <a:ext uri="{FF2B5EF4-FFF2-40B4-BE49-F238E27FC236}">
                          <a16:creationId xmlns:a16="http://schemas.microsoft.com/office/drawing/2014/main" id="{9099FC73-22CE-837F-300F-B4D44D6815D3}"/>
                        </a:ext>
                      </a:extLst>
                    </p:cNvPr>
                    <p:cNvSpPr/>
                    <p:nvPr/>
                  </p:nvSpPr>
                  <p:spPr>
                    <a:xfrm>
                      <a:off x="8550789" y="4270805"/>
                      <a:ext cx="422680" cy="369332"/>
                    </a:xfrm>
                    <a:prstGeom prst="rect">
                      <a:avLst/>
                    </a:prstGeom>
                  </p:spPr>
                  <p:txBody>
                    <a:bodyPr wrap="none">
                      <a:spAutoFit/>
                    </a:bodyPr>
                    <a:lstStyle/>
                    <a:p>
                      <a:pPr algn="ctr"/>
                      <a14:m>
                        <m:oMathPara xmlns:m="http://schemas.openxmlformats.org/officeDocument/2006/math">
                          <m:oMathParaPr>
                            <m:jc m:val="center"/>
                          </m:oMathParaPr>
                          <m:oMath>
                            <m:r>
                              <a:rPr lang="pt-BR" i="1" smtClean="0">
                                <a:latin typeface="Cambria Math" panose="02040503050406030204" pitchFamily="18" charset="0"/>
                              </a:rPr>
                              <m:t> </m:t>
                            </m:r>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oMath>
                        </m:oMathPara>
                      </a14:m>
                      <a:endParaRPr lang="en-US" dirty="0"/>
                    </a:p>
                  </p:txBody>
                </p:sp>
              </mc:Choice>
              <mc:Fallback xmlns="">
                <p:sp>
                  <p:nvSpPr>
                    <p:cNvPr id="29" name="Retângulo 10">
                      <a:extLst>
                        <a:ext uri="{FF2B5EF4-FFF2-40B4-BE49-F238E27FC236}">
                          <a16:creationId xmlns:a16="http://schemas.microsoft.com/office/drawing/2014/main" id="{5414173F-A671-4B2D-FD3D-2E2285ED3FD6}"/>
                        </a:ext>
                      </a:extLst>
                    </p:cNvPr>
                    <p:cNvSpPr>
                      <a:spLocks noRot="1" noChangeAspect="1" noMove="1" noResize="1" noEditPoints="1" noAdjustHandles="1" noChangeArrowheads="1" noChangeShapeType="1" noTextEdit="1"/>
                    </p:cNvSpPr>
                    <p:nvPr/>
                  </p:nvSpPr>
                  <p:spPr>
                    <a:xfrm>
                      <a:off x="8550789" y="4270805"/>
                      <a:ext cx="422680" cy="369332"/>
                    </a:xfrm>
                    <a:prstGeom prst="rect">
                      <a:avLst/>
                    </a:prstGeom>
                    <a:blipFill>
                      <a:blip r:embed="rId7"/>
                      <a:stretch>
                        <a:fillRect t="-6667" r="-20290"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tângulo 13">
                      <a:extLst>
                        <a:ext uri="{FF2B5EF4-FFF2-40B4-BE49-F238E27FC236}">
                          <a16:creationId xmlns:a16="http://schemas.microsoft.com/office/drawing/2014/main" id="{7841027F-45F1-AB30-3FC7-0F55663DA47C}"/>
                        </a:ext>
                      </a:extLst>
                    </p:cNvPr>
                    <p:cNvSpPr/>
                    <p:nvPr/>
                  </p:nvSpPr>
                  <p:spPr>
                    <a:xfrm>
                      <a:off x="2824117" y="4278202"/>
                      <a:ext cx="419282" cy="369332"/>
                    </a:xfrm>
                    <a:prstGeom prst="rect">
                      <a:avLst/>
                    </a:prstGeom>
                  </p:spPr>
                  <p:txBody>
                    <a:bodyPr wrap="none">
                      <a:spAutoFit/>
                    </a:bodyPr>
                    <a:lstStyle/>
                    <a:p>
                      <a:pPr algn="ctr"/>
                      <a14:m>
                        <m:oMathPara xmlns:m="http://schemas.openxmlformats.org/officeDocument/2006/math">
                          <m:oMathParaPr>
                            <m:jc m:val="center"/>
                          </m:oMathParaPr>
                          <m:oMath>
                            <m:r>
                              <a:rPr lang="pt-BR" i="1" smtClean="0">
                                <a:latin typeface="Cambria Math" panose="02040503050406030204" pitchFamily="18" charset="0"/>
                              </a:rPr>
                              <m:t> </m:t>
                            </m:r>
                            <m:r>
                              <a:rPr lang="pt-BR" b="0" i="1" smtClean="0">
                                <a:latin typeface="Cambria Math" panose="02040503050406030204" pitchFamily="18" charset="0"/>
                              </a:rPr>
                              <m:t>𝑥</m:t>
                            </m:r>
                          </m:oMath>
                        </m:oMathPara>
                      </a14:m>
                      <a:endParaRPr lang="en-US" dirty="0"/>
                    </a:p>
                  </p:txBody>
                </p:sp>
              </mc:Choice>
              <mc:Fallback xmlns="">
                <p:sp>
                  <p:nvSpPr>
                    <p:cNvPr id="26" name="Retângulo 13">
                      <a:extLst>
                        <a:ext uri="{FF2B5EF4-FFF2-40B4-BE49-F238E27FC236}">
                          <a16:creationId xmlns:a16="http://schemas.microsoft.com/office/drawing/2014/main" id="{6439ADC2-D04E-55B5-F201-6C2D55A65394}"/>
                        </a:ext>
                      </a:extLst>
                    </p:cNvPr>
                    <p:cNvSpPr>
                      <a:spLocks noRot="1" noChangeAspect="1" noMove="1" noResize="1" noEditPoints="1" noAdjustHandles="1" noChangeArrowheads="1" noChangeShapeType="1" noTextEdit="1"/>
                    </p:cNvSpPr>
                    <p:nvPr/>
                  </p:nvSpPr>
                  <p:spPr>
                    <a:xfrm>
                      <a:off x="2824117" y="4278202"/>
                      <a:ext cx="419282" cy="369332"/>
                    </a:xfrm>
                    <a:prstGeom prst="rect">
                      <a:avLst/>
                    </a:prstGeom>
                    <a:blipFill>
                      <a:blip r:embed="rId8"/>
                      <a:stretch>
                        <a:fillRect/>
                      </a:stretch>
                    </a:blipFill>
                  </p:spPr>
                  <p:txBody>
                    <a:bodyPr/>
                    <a:lstStyle/>
                    <a:p>
                      <a:r>
                        <a:rPr lang="en-US">
                          <a:noFill/>
                        </a:rPr>
                        <a:t> </a:t>
                      </a:r>
                    </a:p>
                  </p:txBody>
                </p:sp>
              </mc:Fallback>
            </mc:AlternateContent>
            <p:cxnSp>
              <p:nvCxnSpPr>
                <p:cNvPr id="41" name="Conector de Seta Reta 17">
                  <a:extLst>
                    <a:ext uri="{FF2B5EF4-FFF2-40B4-BE49-F238E27FC236}">
                      <a16:creationId xmlns:a16="http://schemas.microsoft.com/office/drawing/2014/main" id="{5971EBFF-D303-AC61-C9DC-AFC797743FB1}"/>
                    </a:ext>
                  </a:extLst>
                </p:cNvPr>
                <p:cNvCxnSpPr/>
                <p:nvPr/>
              </p:nvCxnSpPr>
              <p:spPr>
                <a:xfrm>
                  <a:off x="3123024" y="4485279"/>
                  <a:ext cx="50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17B511C-67C9-DDCD-C016-ECF773E83611}"/>
                        </a:ext>
                      </a:extLst>
                    </p:cNvPr>
                    <p:cNvSpPr txBox="1"/>
                    <p:nvPr/>
                  </p:nvSpPr>
                  <p:spPr>
                    <a:xfrm>
                      <a:off x="3118652" y="4120741"/>
                      <a:ext cx="507482"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1</m:t>
                                </m:r>
                              </m:sub>
                            </m:sSub>
                          </m:oMath>
                        </m:oMathPara>
                      </a14:m>
                      <a:endParaRPr lang="en-US" dirty="0"/>
                    </a:p>
                  </p:txBody>
                </p:sp>
              </mc:Choice>
              <mc:Fallback xmlns="">
                <p:sp>
                  <p:nvSpPr>
                    <p:cNvPr id="28" name="TextBox 27">
                      <a:extLst>
                        <a:ext uri="{FF2B5EF4-FFF2-40B4-BE49-F238E27FC236}">
                          <a16:creationId xmlns:a16="http://schemas.microsoft.com/office/drawing/2014/main" id="{B08B6112-66C0-EF5E-D40C-CB0F43BD4903}"/>
                        </a:ext>
                      </a:extLst>
                    </p:cNvPr>
                    <p:cNvSpPr txBox="1">
                      <a:spLocks noRot="1" noChangeAspect="1" noMove="1" noResize="1" noEditPoints="1" noAdjustHandles="1" noChangeArrowheads="1" noChangeShapeType="1" noTextEdit="1"/>
                    </p:cNvSpPr>
                    <p:nvPr/>
                  </p:nvSpPr>
                  <p:spPr>
                    <a:xfrm>
                      <a:off x="3118652" y="4120741"/>
                      <a:ext cx="50748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8F73C42-4012-A2CB-17CD-7919D91C09DB}"/>
                        </a:ext>
                      </a:extLst>
                    </p:cNvPr>
                    <p:cNvSpPr txBox="1"/>
                    <p:nvPr/>
                  </p:nvSpPr>
                  <p:spPr>
                    <a:xfrm>
                      <a:off x="4202134" y="4105306"/>
                      <a:ext cx="1232743"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2</m:t>
                                </m:r>
                              </m:sub>
                            </m:sSub>
                          </m:oMath>
                        </m:oMathPara>
                      </a14:m>
                      <a:endParaRPr lang="en-US" dirty="0"/>
                    </a:p>
                  </p:txBody>
                </p:sp>
              </mc:Choice>
              <mc:Fallback xmlns="">
                <p:sp>
                  <p:nvSpPr>
                    <p:cNvPr id="29" name="TextBox 28">
                      <a:extLst>
                        <a:ext uri="{FF2B5EF4-FFF2-40B4-BE49-F238E27FC236}">
                          <a16:creationId xmlns:a16="http://schemas.microsoft.com/office/drawing/2014/main" id="{2229581D-0CB8-B97B-99EC-3870B0C571E7}"/>
                        </a:ext>
                      </a:extLst>
                    </p:cNvPr>
                    <p:cNvSpPr txBox="1">
                      <a:spLocks noRot="1" noChangeAspect="1" noMove="1" noResize="1" noEditPoints="1" noAdjustHandles="1" noChangeArrowheads="1" noChangeShapeType="1" noTextEdit="1"/>
                    </p:cNvSpPr>
                    <p:nvPr/>
                  </p:nvSpPr>
                  <p:spPr>
                    <a:xfrm>
                      <a:off x="4202134" y="4105306"/>
                      <a:ext cx="1232743"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CF1CFD52-D5DE-7707-9F87-3CE0C285F900}"/>
                        </a:ext>
                      </a:extLst>
                    </p:cNvPr>
                    <p:cNvSpPr txBox="1"/>
                    <p:nvPr/>
                  </p:nvSpPr>
                  <p:spPr>
                    <a:xfrm>
                      <a:off x="6015253" y="4105306"/>
                      <a:ext cx="1232743" cy="369332"/>
                    </a:xfrm>
                    <a:prstGeom prst="rect">
                      <a:avLst/>
                    </a:prstGeom>
                    <a:noFill/>
                  </p:spPr>
                  <p:txBody>
                    <a:bodyPr wrap="square">
                      <a:spAutoFit/>
                    </a:bodyPr>
                    <a:lstStyle/>
                    <a:p>
                      <a:pPr/>
                      <a14:m>
                        <m:oMathPara xmlns:m="http://schemas.openxmlformats.org/officeDocument/2006/math">
                          <m:oMathParaPr>
                            <m:jc m:val="center"/>
                          </m:oMathParaPr>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3</m:t>
                                </m:r>
                              </m:sub>
                            </m:sSub>
                          </m:oMath>
                        </m:oMathPara>
                      </a14:m>
                      <a:endParaRPr lang="en-US" dirty="0"/>
                    </a:p>
                  </p:txBody>
                </p:sp>
              </mc:Choice>
              <mc:Fallback xmlns="">
                <p:sp>
                  <p:nvSpPr>
                    <p:cNvPr id="30" name="TextBox 29">
                      <a:extLst>
                        <a:ext uri="{FF2B5EF4-FFF2-40B4-BE49-F238E27FC236}">
                          <a16:creationId xmlns:a16="http://schemas.microsoft.com/office/drawing/2014/main" id="{C59B8D0D-C168-0DEF-7032-780D8BD52DB8}"/>
                        </a:ext>
                      </a:extLst>
                    </p:cNvPr>
                    <p:cNvSpPr txBox="1">
                      <a:spLocks noRot="1" noChangeAspect="1" noMove="1" noResize="1" noEditPoints="1" noAdjustHandles="1" noChangeArrowheads="1" noChangeShapeType="1" noTextEdit="1"/>
                    </p:cNvSpPr>
                    <p:nvPr/>
                  </p:nvSpPr>
                  <p:spPr>
                    <a:xfrm>
                      <a:off x="6015253" y="4105306"/>
                      <a:ext cx="1232743"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A97EBEEC-E99E-F647-FC73-6B3CAC0EB6A8}"/>
                        </a:ext>
                      </a:extLst>
                    </p:cNvPr>
                    <p:cNvSpPr txBox="1"/>
                    <p:nvPr/>
                  </p:nvSpPr>
                  <p:spPr>
                    <a:xfrm>
                      <a:off x="5044469" y="4406794"/>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2</m:t>
                                </m:r>
                              </m:sub>
                            </m:sSub>
                          </m:oMath>
                        </m:oMathPara>
                      </a14:m>
                      <a:endParaRPr lang="en-US" dirty="0"/>
                    </a:p>
                  </p:txBody>
                </p:sp>
              </mc:Choice>
              <mc:Fallback xmlns="">
                <p:sp>
                  <p:nvSpPr>
                    <p:cNvPr id="31" name="TextBox 30">
                      <a:extLst>
                        <a:ext uri="{FF2B5EF4-FFF2-40B4-BE49-F238E27FC236}">
                          <a16:creationId xmlns:a16="http://schemas.microsoft.com/office/drawing/2014/main" id="{413608BC-509F-47CF-C8C7-736D8D70B38D}"/>
                        </a:ext>
                      </a:extLst>
                    </p:cNvPr>
                    <p:cNvSpPr txBox="1">
                      <a:spLocks noRot="1" noChangeAspect="1" noMove="1" noResize="1" noEditPoints="1" noAdjustHandles="1" noChangeArrowheads="1" noChangeShapeType="1" noTextEdit="1"/>
                    </p:cNvSpPr>
                    <p:nvPr/>
                  </p:nvSpPr>
                  <p:spPr>
                    <a:xfrm>
                      <a:off x="5044469" y="4406794"/>
                      <a:ext cx="535857" cy="369332"/>
                    </a:xfrm>
                    <a:prstGeom prst="rect">
                      <a:avLst/>
                    </a:prstGeom>
                    <a:blipFill>
                      <a:blip r:embed="rId12"/>
                      <a:stretch>
                        <a:fillRect/>
                      </a:stretch>
                    </a:blipFill>
                  </p:spPr>
                  <p:txBody>
                    <a:bodyPr/>
                    <a:lstStyle/>
                    <a:p>
                      <a:r>
                        <a:rPr lang="en-US">
                          <a:noFill/>
                        </a:rPr>
                        <a:t> </a:t>
                      </a:r>
                    </a:p>
                  </p:txBody>
                </p:sp>
              </mc:Fallback>
            </mc:AlternateContent>
            <p:cxnSp>
              <p:nvCxnSpPr>
                <p:cNvPr id="46" name="Conector de Seta Reta 7">
                  <a:extLst>
                    <a:ext uri="{FF2B5EF4-FFF2-40B4-BE49-F238E27FC236}">
                      <a16:creationId xmlns:a16="http://schemas.microsoft.com/office/drawing/2014/main" id="{A91636D0-ECB7-69FE-B767-938328619451}"/>
                    </a:ext>
                  </a:extLst>
                </p:cNvPr>
                <p:cNvCxnSpPr>
                  <a:cxnSpLocks/>
                </p:cNvCxnSpPr>
                <p:nvPr/>
              </p:nvCxnSpPr>
              <p:spPr>
                <a:xfrm>
                  <a:off x="6017226" y="4474638"/>
                  <a:ext cx="12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9A366CA-5D02-6F2C-6AA0-1919B6595B07}"/>
                        </a:ext>
                      </a:extLst>
                    </p:cNvPr>
                    <p:cNvSpPr txBox="1"/>
                    <p:nvPr/>
                  </p:nvSpPr>
                  <p:spPr>
                    <a:xfrm>
                      <a:off x="6846951" y="4406794"/>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3</m:t>
                                </m:r>
                              </m:sub>
                            </m:sSub>
                          </m:oMath>
                        </m:oMathPara>
                      </a14:m>
                      <a:endParaRPr lang="en-US" dirty="0"/>
                    </a:p>
                  </p:txBody>
                </p:sp>
              </mc:Choice>
              <mc:Fallback xmlns="">
                <p:sp>
                  <p:nvSpPr>
                    <p:cNvPr id="33" name="TextBox 32">
                      <a:extLst>
                        <a:ext uri="{FF2B5EF4-FFF2-40B4-BE49-F238E27FC236}">
                          <a16:creationId xmlns:a16="http://schemas.microsoft.com/office/drawing/2014/main" id="{DBCA4DDE-7466-5839-23BD-BF84059D5A8F}"/>
                        </a:ext>
                      </a:extLst>
                    </p:cNvPr>
                    <p:cNvSpPr txBox="1">
                      <a:spLocks noRot="1" noChangeAspect="1" noMove="1" noResize="1" noEditPoints="1" noAdjustHandles="1" noChangeArrowheads="1" noChangeShapeType="1" noTextEdit="1"/>
                    </p:cNvSpPr>
                    <p:nvPr/>
                  </p:nvSpPr>
                  <p:spPr>
                    <a:xfrm>
                      <a:off x="6846951" y="4406794"/>
                      <a:ext cx="535857"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D95AD987-FB7E-9032-4CCC-2966B725C7EC}"/>
                        </a:ext>
                      </a:extLst>
                    </p:cNvPr>
                    <p:cNvSpPr txBox="1"/>
                    <p:nvPr/>
                  </p:nvSpPr>
                  <p:spPr>
                    <a:xfrm>
                      <a:off x="3241274" y="4421567"/>
                      <a:ext cx="535857" cy="369332"/>
                    </a:xfrm>
                    <a:prstGeom prst="rect">
                      <a:avLst/>
                    </a:prstGeom>
                    <a:noFill/>
                  </p:spPr>
                  <p:txBody>
                    <a:bodyPr wrap="square">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𝑢</m:t>
                                </m:r>
                              </m:e>
                              <m:sub>
                                <m:r>
                                  <a:rPr lang="pt-BR" b="0" i="1" smtClean="0">
                                    <a:latin typeface="Cambria Math" panose="02040503050406030204" pitchFamily="18" charset="0"/>
                                  </a:rPr>
                                  <m:t>1</m:t>
                                </m:r>
                              </m:sub>
                            </m:sSub>
                          </m:oMath>
                        </m:oMathPara>
                      </a14:m>
                      <a:endParaRPr lang="en-US" dirty="0"/>
                    </a:p>
                  </p:txBody>
                </p:sp>
              </mc:Choice>
              <mc:Fallback xmlns="">
                <p:sp>
                  <p:nvSpPr>
                    <p:cNvPr id="34" name="TextBox 33">
                      <a:extLst>
                        <a:ext uri="{FF2B5EF4-FFF2-40B4-BE49-F238E27FC236}">
                          <a16:creationId xmlns:a16="http://schemas.microsoft.com/office/drawing/2014/main" id="{D806064B-863B-8125-E188-56029193EBC2}"/>
                        </a:ext>
                      </a:extLst>
                    </p:cNvPr>
                    <p:cNvSpPr txBox="1">
                      <a:spLocks noRot="1" noChangeAspect="1" noMove="1" noResize="1" noEditPoints="1" noAdjustHandles="1" noChangeArrowheads="1" noChangeShapeType="1" noTextEdit="1"/>
                    </p:cNvSpPr>
                    <p:nvPr/>
                  </p:nvSpPr>
                  <p:spPr>
                    <a:xfrm>
                      <a:off x="3241274" y="4421567"/>
                      <a:ext cx="535857" cy="369332"/>
                    </a:xfrm>
                    <a:prstGeom prst="rect">
                      <a:avLst/>
                    </a:prstGeom>
                    <a:blipFill>
                      <a:blip r:embed="rId1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59A049A-481A-E4D8-351B-2904731D88E8}"/>
                      </a:ext>
                    </a:extLst>
                  </p:cNvPr>
                  <p:cNvSpPr txBox="1"/>
                  <p:nvPr/>
                </p:nvSpPr>
                <p:spPr>
                  <a:xfrm>
                    <a:off x="4084589" y="2155628"/>
                    <a:ext cx="825194" cy="369332"/>
                  </a:xfrm>
                  <a:prstGeom prst="rect">
                    <a:avLst/>
                  </a:prstGeom>
                  <a:noFill/>
                </p:spPr>
                <p:txBody>
                  <a:bodyPr wrap="square">
                    <a:spAutoFit/>
                  </a:bodyPr>
                  <a:lstStyle/>
                  <a:p>
                    <a:pPr/>
                    <a14:m>
                      <m:oMathPara xmlns:m="http://schemas.openxmlformats.org/officeDocument/2006/math">
                        <m:oMath>
                          <m:r>
                            <a:rPr lang="pt-BR" i="1" smtClean="0">
                              <a:latin typeface="Cambria Math" panose="02040503050406030204" pitchFamily="18" charset="0"/>
                            </a:rPr>
                            <m:t>ℎ</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1</m:t>
                                  </m:r>
                                </m:sub>
                              </m:sSub>
                            </m:e>
                          </m:d>
                        </m:oMath>
                      </m:oMathPara>
                    </a14:m>
                    <a:endParaRPr lang="en-US" dirty="0"/>
                  </a:p>
                </p:txBody>
              </p:sp>
            </mc:Choice>
            <mc:Fallback xmlns="">
              <p:sp>
                <p:nvSpPr>
                  <p:cNvPr id="22" name="TextBox 21">
                    <a:extLst>
                      <a:ext uri="{FF2B5EF4-FFF2-40B4-BE49-F238E27FC236}">
                        <a16:creationId xmlns:a16="http://schemas.microsoft.com/office/drawing/2014/main" id="{16965A18-8FDE-9799-696D-152C5F865FD1}"/>
                      </a:ext>
                    </a:extLst>
                  </p:cNvPr>
                  <p:cNvSpPr txBox="1">
                    <a:spLocks noRot="1" noChangeAspect="1" noMove="1" noResize="1" noEditPoints="1" noAdjustHandles="1" noChangeArrowheads="1" noChangeShapeType="1" noTextEdit="1"/>
                  </p:cNvSpPr>
                  <p:nvPr/>
                </p:nvSpPr>
                <p:spPr>
                  <a:xfrm>
                    <a:off x="4084589" y="2155628"/>
                    <a:ext cx="825194"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BB8468D-FC03-9330-0F81-F6A0164E371A}"/>
                      </a:ext>
                    </a:extLst>
                  </p:cNvPr>
                  <p:cNvSpPr txBox="1"/>
                  <p:nvPr/>
                </p:nvSpPr>
                <p:spPr>
                  <a:xfrm>
                    <a:off x="5920384" y="2136461"/>
                    <a:ext cx="757084" cy="369332"/>
                  </a:xfrm>
                  <a:prstGeom prst="rect">
                    <a:avLst/>
                  </a:prstGeom>
                  <a:noFill/>
                </p:spPr>
                <p:txBody>
                  <a:bodyPr wrap="square">
                    <a:spAutoFit/>
                  </a:bodyPr>
                  <a:lstStyle/>
                  <a:p>
                    <a:pPr/>
                    <a14:m>
                      <m:oMathPara xmlns:m="http://schemas.openxmlformats.org/officeDocument/2006/math">
                        <m:oMath>
                          <m:r>
                            <a:rPr lang="pt-BR" i="1" smtClean="0">
                              <a:latin typeface="Cambria Math" panose="02040503050406030204" pitchFamily="18" charset="0"/>
                            </a:rPr>
                            <m:t>𝑔</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2</m:t>
                                  </m:r>
                                </m:sub>
                              </m:sSub>
                            </m:e>
                          </m:d>
                        </m:oMath>
                      </m:oMathPara>
                    </a14:m>
                    <a:endParaRPr lang="en-US" dirty="0"/>
                  </a:p>
                </p:txBody>
              </p:sp>
            </mc:Choice>
            <mc:Fallback xmlns="">
              <p:sp>
                <p:nvSpPr>
                  <p:cNvPr id="23" name="TextBox 22">
                    <a:extLst>
                      <a:ext uri="{FF2B5EF4-FFF2-40B4-BE49-F238E27FC236}">
                        <a16:creationId xmlns:a16="http://schemas.microsoft.com/office/drawing/2014/main" id="{929BD083-D41D-6E8B-203F-3D4ABF6E2D08}"/>
                      </a:ext>
                    </a:extLst>
                  </p:cNvPr>
                  <p:cNvSpPr txBox="1">
                    <a:spLocks noRot="1" noChangeAspect="1" noMove="1" noResize="1" noEditPoints="1" noAdjustHandles="1" noChangeArrowheads="1" noChangeShapeType="1" noTextEdit="1"/>
                  </p:cNvSpPr>
                  <p:nvPr/>
                </p:nvSpPr>
                <p:spPr>
                  <a:xfrm>
                    <a:off x="5920384" y="2136461"/>
                    <a:ext cx="757084" cy="369332"/>
                  </a:xfrm>
                  <a:prstGeom prst="rect">
                    <a:avLst/>
                  </a:prstGeom>
                  <a:blipFill>
                    <a:blip r:embed="rId16"/>
                    <a:stretch>
                      <a:fillRect b="-655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E6C5A80-C989-1213-8FF2-8E5220EDAA82}"/>
                    </a:ext>
                  </a:extLst>
                </p:cNvPr>
                <p:cNvSpPr txBox="1"/>
                <p:nvPr/>
              </p:nvSpPr>
              <p:spPr>
                <a:xfrm>
                  <a:off x="7739853" y="2135140"/>
                  <a:ext cx="632539" cy="369332"/>
                </a:xfrm>
                <a:prstGeom prst="rect">
                  <a:avLst/>
                </a:prstGeom>
                <a:noFill/>
              </p:spPr>
              <p:txBody>
                <a:bodyPr wrap="square">
                  <a:spAutoFit/>
                </a:bodyPr>
                <a:lstStyle/>
                <a:p>
                  <a:pPr/>
                  <a14:m>
                    <m:oMathPara xmlns:m="http://schemas.openxmlformats.org/officeDocument/2006/math">
                      <m:oMath>
                        <m:r>
                          <a:rPr lang="pt-BR" i="1" smtClean="0">
                            <a:latin typeface="Cambria Math" panose="02040503050406030204" pitchFamily="18" charset="0"/>
                          </a:rPr>
                          <m:t>𝑓</m:t>
                        </m:r>
                        <m:r>
                          <a:rPr lang="pt-BR"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𝑢</m:t>
                            </m:r>
                          </m:e>
                          <m:sub>
                            <m:r>
                              <a:rPr lang="pt-BR" b="0" i="1" smtClean="0">
                                <a:latin typeface="Cambria Math" panose="02040503050406030204" pitchFamily="18" charset="0"/>
                              </a:rPr>
                              <m:t>3</m:t>
                            </m:r>
                          </m:sub>
                        </m:sSub>
                        <m:r>
                          <a:rPr lang="pt-BR" i="1">
                            <a:latin typeface="Cambria Math" panose="02040503050406030204" pitchFamily="18" charset="0"/>
                          </a:rPr>
                          <m:t>)</m:t>
                        </m:r>
                      </m:oMath>
                    </m:oMathPara>
                  </a14:m>
                  <a:endParaRPr lang="en-US" dirty="0"/>
                </a:p>
              </p:txBody>
            </p:sp>
          </mc:Choice>
          <mc:Fallback xmlns="">
            <p:sp>
              <p:nvSpPr>
                <p:cNvPr id="40" name="TextBox 39">
                  <a:extLst>
                    <a:ext uri="{FF2B5EF4-FFF2-40B4-BE49-F238E27FC236}">
                      <a16:creationId xmlns:a16="http://schemas.microsoft.com/office/drawing/2014/main" id="{2CFDFBD5-FA4D-91D9-109D-B66617353EEC}"/>
                    </a:ext>
                  </a:extLst>
                </p:cNvPr>
                <p:cNvSpPr txBox="1">
                  <a:spLocks noRot="1" noChangeAspect="1" noMove="1" noResize="1" noEditPoints="1" noAdjustHandles="1" noChangeArrowheads="1" noChangeShapeType="1" noTextEdit="1"/>
                </p:cNvSpPr>
                <p:nvPr/>
              </p:nvSpPr>
              <p:spPr>
                <a:xfrm>
                  <a:off x="7739853" y="2135140"/>
                  <a:ext cx="632539" cy="369332"/>
                </a:xfrm>
                <a:prstGeom prst="rect">
                  <a:avLst/>
                </a:prstGeom>
                <a:blipFill>
                  <a:blip r:embed="rId17"/>
                  <a:stretch>
                    <a:fillRect l="-2913" r="-22330" b="-13115"/>
                  </a:stretch>
                </a:blipFill>
              </p:spPr>
              <p:txBody>
                <a:bodyPr/>
                <a:lstStyle/>
                <a:p>
                  <a:r>
                    <a:rPr lang="en-US">
                      <a:noFill/>
                    </a:rPr>
                    <a:t> </a:t>
                  </a:r>
                </a:p>
              </p:txBody>
            </p:sp>
          </mc:Fallback>
        </mc:AlternateContent>
      </p:grpSp>
    </p:spTree>
    <p:extLst>
      <p:ext uri="{BB962C8B-B14F-4D97-AF65-F5344CB8AC3E}">
        <p14:creationId xmlns:p14="http://schemas.microsoft.com/office/powerpoint/2010/main" val="32997882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613D26-C76F-D3F7-FC01-BA23B862E2B2}"/>
              </a:ext>
            </a:extLst>
          </p:cNvPr>
          <p:cNvSpPr>
            <a:spLocks noGrp="1"/>
          </p:cNvSpPr>
          <p:nvPr>
            <p:ph type="title"/>
          </p:nvPr>
        </p:nvSpPr>
        <p:spPr>
          <a:xfrm>
            <a:off x="838200" y="365125"/>
            <a:ext cx="11353800" cy="1325563"/>
          </a:xfrm>
        </p:spPr>
        <p:txBody>
          <a:bodyPr/>
          <a:lstStyle/>
          <a:p>
            <a:r>
              <a:rPr lang="pt-BR" dirty="0"/>
              <a:t>Formas de se minimizar a dissipação e a explosão do gradiente</a:t>
            </a:r>
          </a:p>
        </p:txBody>
      </p:sp>
      <p:sp>
        <p:nvSpPr>
          <p:cNvPr id="3" name="Espaço Reservado para Conteúdo 2">
            <a:extLst>
              <a:ext uri="{FF2B5EF4-FFF2-40B4-BE49-F238E27FC236}">
                <a16:creationId xmlns:a16="http://schemas.microsoft.com/office/drawing/2014/main" id="{0D16A970-E5B0-45AB-5F13-4EB2F6AB2E7A}"/>
              </a:ext>
            </a:extLst>
          </p:cNvPr>
          <p:cNvSpPr>
            <a:spLocks noGrp="1"/>
          </p:cNvSpPr>
          <p:nvPr>
            <p:ph idx="1"/>
          </p:nvPr>
        </p:nvSpPr>
        <p:spPr>
          <a:xfrm>
            <a:off x="838199" y="1825624"/>
            <a:ext cx="11244944" cy="5032375"/>
          </a:xfrm>
        </p:spPr>
        <p:txBody>
          <a:bodyPr>
            <a:normAutofit lnSpcReduction="10000"/>
          </a:bodyPr>
          <a:lstStyle/>
          <a:p>
            <a:r>
              <a:rPr lang="pt-BR" dirty="0"/>
              <a:t>Além do uso de funções de ativação </a:t>
            </a:r>
            <a:r>
              <a:rPr lang="pt-BR" dirty="0" err="1"/>
              <a:t>ReLU</a:t>
            </a:r>
            <a:r>
              <a:rPr lang="pt-BR" dirty="0"/>
              <a:t> ou de suas variantes, outras formas de se minimizar esses problemas são:</a:t>
            </a:r>
          </a:p>
          <a:p>
            <a:pPr lvl="1">
              <a:buFont typeface="Wingdings" panose="05000000000000000000" pitchFamily="2" charset="2"/>
              <a:buChar char="§"/>
            </a:pPr>
            <a:r>
              <a:rPr lang="pt-BR" b="1" dirty="0"/>
              <a:t>Inicialização apropriada dos pesos</a:t>
            </a:r>
            <a:r>
              <a:rPr lang="pt-BR" dirty="0"/>
              <a:t>: </a:t>
            </a:r>
            <a:r>
              <a:rPr lang="pt-BR" b="1" dirty="0">
                <a:solidFill>
                  <a:schemeClr val="accent2"/>
                </a:solidFill>
              </a:rPr>
              <a:t>garante que a variância das ativações permaneça a mesma</a:t>
            </a:r>
            <a:r>
              <a:rPr lang="pt-BR" dirty="0"/>
              <a:t> ao longo de todas as camadas. Isso garante que o gradiente retropropagado </a:t>
            </a:r>
            <a:r>
              <a:rPr lang="pt-BR" b="1" dirty="0">
                <a:solidFill>
                  <a:srgbClr val="00B050"/>
                </a:solidFill>
              </a:rPr>
              <a:t>não tenha multiplicações com valores muito pequenos ou muito grandes</a:t>
            </a:r>
            <a:r>
              <a:rPr lang="pt-BR" dirty="0"/>
              <a:t> em qualquer camada, </a:t>
            </a:r>
            <a:r>
              <a:rPr lang="pt-BR" dirty="0">
                <a:effectLst/>
              </a:rPr>
              <a:t>ajudando a </a:t>
            </a:r>
            <a:r>
              <a:rPr lang="pt-BR" dirty="0"/>
              <a:t>mitigar ambos os problemas.</a:t>
            </a:r>
          </a:p>
          <a:p>
            <a:pPr lvl="1">
              <a:buFont typeface="Wingdings" panose="05000000000000000000" pitchFamily="2" charset="2"/>
              <a:buChar char="§"/>
            </a:pPr>
            <a:r>
              <a:rPr lang="pt-BR" b="1" dirty="0"/>
              <a:t>Normalização das ativações</a:t>
            </a:r>
            <a:r>
              <a:rPr lang="pt-BR" dirty="0"/>
              <a:t>: </a:t>
            </a:r>
            <a:r>
              <a:rPr lang="pt-BR" b="1" dirty="0">
                <a:solidFill>
                  <a:schemeClr val="accent2"/>
                </a:solidFill>
              </a:rPr>
              <a:t>padroniza as ativações das camadas</a:t>
            </a:r>
            <a:r>
              <a:rPr lang="pt-BR" dirty="0"/>
              <a:t> durante o treinamento. Isso estabiliza os gradientes, acelera a convergência </a:t>
            </a:r>
            <a:r>
              <a:rPr lang="en-US" dirty="0"/>
              <a:t>e </a:t>
            </a:r>
            <a:r>
              <a:rPr lang="en-US" dirty="0" err="1"/>
              <a:t>mitiga</a:t>
            </a:r>
            <a:r>
              <a:rPr lang="en-US" dirty="0"/>
              <a:t> ambos </a:t>
            </a:r>
            <a:r>
              <a:rPr lang="en-US" dirty="0" err="1"/>
              <a:t>problemas</a:t>
            </a:r>
            <a:r>
              <a:rPr lang="en-US" dirty="0"/>
              <a:t>.</a:t>
            </a:r>
            <a:endParaRPr lang="pt-BR" dirty="0"/>
          </a:p>
          <a:p>
            <a:pPr lvl="1">
              <a:buFont typeface="Wingdings" panose="05000000000000000000" pitchFamily="2" charset="2"/>
              <a:buChar char="§"/>
            </a:pPr>
            <a:r>
              <a:rPr lang="pt-BR" b="1" dirty="0"/>
              <a:t>Poda do gradiente</a:t>
            </a:r>
            <a:r>
              <a:rPr lang="pt-BR" dirty="0"/>
              <a:t>: </a:t>
            </a:r>
            <a:r>
              <a:rPr lang="pt-BR" b="1" dirty="0">
                <a:solidFill>
                  <a:schemeClr val="accent2"/>
                </a:solidFill>
              </a:rPr>
              <a:t>limita o valor máximo do gradiente</a:t>
            </a:r>
            <a:r>
              <a:rPr lang="pt-BR" dirty="0"/>
              <a:t> durante o treinamento. Isso evita atualizações excessivas dos pesos e previne a explosão do gradiente.</a:t>
            </a:r>
          </a:p>
          <a:p>
            <a:pPr lvl="1">
              <a:buFont typeface="Wingdings" panose="05000000000000000000" pitchFamily="2" charset="2"/>
              <a:buChar char="§"/>
            </a:pPr>
            <a:r>
              <a:rPr lang="pt-BR" b="1" dirty="0"/>
              <a:t>Arquiteturas com conexões residuais</a:t>
            </a:r>
            <a:r>
              <a:rPr lang="pt-BR" dirty="0"/>
              <a:t>: </a:t>
            </a:r>
            <a:r>
              <a:rPr lang="pt-BR" b="1" dirty="0">
                <a:solidFill>
                  <a:schemeClr val="accent2"/>
                </a:solidFill>
              </a:rPr>
              <a:t>criam caminhos diretos entre camadas (curto circuito)</a:t>
            </a:r>
            <a:r>
              <a:rPr lang="pt-BR" dirty="0"/>
              <a:t>. Isso facilita a propagação do gradiente em redes muito profundas, minimizando ambos os problemas.</a:t>
            </a:r>
          </a:p>
        </p:txBody>
      </p:sp>
    </p:spTree>
    <p:extLst>
      <p:ext uri="{BB962C8B-B14F-4D97-AF65-F5344CB8AC3E}">
        <p14:creationId xmlns:p14="http://schemas.microsoft.com/office/powerpoint/2010/main" val="36803022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EE8C0-5F94-F5EA-4B14-A088A2EDBA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DA7A58-EB7E-FB25-773A-8FDCB85FD71D}"/>
              </a:ext>
            </a:extLst>
          </p:cNvPr>
          <p:cNvSpPr>
            <a:spLocks noGrp="1"/>
          </p:cNvSpPr>
          <p:nvPr>
            <p:ph idx="1"/>
          </p:nvPr>
        </p:nvSpPr>
        <p:spPr>
          <a:xfrm>
            <a:off x="491613" y="1961479"/>
            <a:ext cx="11208773" cy="2935042"/>
          </a:xfrm>
        </p:spPr>
        <p:txBody>
          <a:bodyPr>
            <a:normAutofit/>
          </a:bodyPr>
          <a:lstStyle/>
          <a:p>
            <a:pPr marL="0" indent="0" algn="ctr">
              <a:buNone/>
            </a:pPr>
            <a:r>
              <a:rPr lang="pt-BR" sz="6600" dirty="0"/>
              <a:t>Anexo II: Algumas irregularidades que dificultam o aprendizado de redes neurais</a:t>
            </a:r>
            <a:endParaRPr lang="en-US" sz="6600" dirty="0"/>
          </a:p>
        </p:txBody>
      </p:sp>
    </p:spTree>
    <p:extLst>
      <p:ext uri="{BB962C8B-B14F-4D97-AF65-F5344CB8AC3E}">
        <p14:creationId xmlns:p14="http://schemas.microsoft.com/office/powerpoint/2010/main" val="6449892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2C9CE-150B-BB20-8B40-4A16AD51EB2F}"/>
              </a:ext>
            </a:extLst>
          </p:cNvPr>
          <p:cNvSpPr>
            <a:spLocks noGrp="1"/>
          </p:cNvSpPr>
          <p:nvPr>
            <p:ph type="title"/>
          </p:nvPr>
        </p:nvSpPr>
        <p:spPr/>
        <p:txBody>
          <a:bodyPr/>
          <a:lstStyle/>
          <a:p>
            <a:r>
              <a:rPr lang="pt-BR" dirty="0"/>
              <a:t>Pontos de sela</a:t>
            </a:r>
          </a:p>
        </p:txBody>
      </p:sp>
      <p:sp>
        <p:nvSpPr>
          <p:cNvPr id="3" name="Espaço Reservado para Conteúdo 2">
            <a:extLst>
              <a:ext uri="{FF2B5EF4-FFF2-40B4-BE49-F238E27FC236}">
                <a16:creationId xmlns:a16="http://schemas.microsoft.com/office/drawing/2014/main" id="{CCBE1DD9-448F-D5B1-C67D-592E98C6557B}"/>
              </a:ext>
            </a:extLst>
          </p:cNvPr>
          <p:cNvSpPr>
            <a:spLocks noGrp="1"/>
          </p:cNvSpPr>
          <p:nvPr>
            <p:ph idx="1"/>
          </p:nvPr>
        </p:nvSpPr>
        <p:spPr>
          <a:xfrm>
            <a:off x="4506541" y="1825624"/>
            <a:ext cx="7498645" cy="5032375"/>
          </a:xfrm>
        </p:spPr>
        <p:txBody>
          <a:bodyPr>
            <a:normAutofit/>
          </a:bodyPr>
          <a:lstStyle/>
          <a:p>
            <a:r>
              <a:rPr lang="pt-BR" dirty="0"/>
              <a:t>Uma irregularidade comumente encontrada em redes neurais são os </a:t>
            </a:r>
            <a:r>
              <a:rPr lang="pt-BR" b="1" dirty="0"/>
              <a:t>pontos de sela</a:t>
            </a:r>
            <a:r>
              <a:rPr lang="pt-BR" dirty="0"/>
              <a:t>: </a:t>
            </a:r>
          </a:p>
          <a:p>
            <a:pPr lvl="1">
              <a:buFont typeface="Wingdings" panose="05000000000000000000" pitchFamily="2" charset="2"/>
              <a:buChar char="§"/>
            </a:pPr>
            <a:r>
              <a:rPr lang="pt-BR" dirty="0"/>
              <a:t>É um ponto que é um </a:t>
            </a:r>
            <a:r>
              <a:rPr lang="pt-BR" b="1" dirty="0">
                <a:solidFill>
                  <a:srgbClr val="00B050"/>
                </a:solidFill>
              </a:rPr>
              <a:t>mínimo ao longo de um eixo</a:t>
            </a:r>
            <a:r>
              <a:rPr lang="pt-BR" dirty="0"/>
              <a:t>, mas um </a:t>
            </a:r>
            <a:r>
              <a:rPr lang="pt-BR" b="1" dirty="0">
                <a:solidFill>
                  <a:srgbClr val="00B050"/>
                </a:solidFill>
              </a:rPr>
              <a:t>máximo ao longo de outro</a:t>
            </a:r>
            <a:r>
              <a:rPr lang="pt-BR" dirty="0"/>
              <a:t>.</a:t>
            </a:r>
            <a:r>
              <a:rPr lang="pt-BR" dirty="0">
                <a:cs typeface="Calibri"/>
              </a:rPr>
              <a:t>​</a:t>
            </a:r>
          </a:p>
          <a:p>
            <a:pPr lvl="1">
              <a:buFont typeface="Wingdings" panose="05000000000000000000" pitchFamily="2" charset="2"/>
              <a:buChar char="§"/>
            </a:pPr>
            <a:r>
              <a:rPr lang="pt-BR" dirty="0"/>
              <a:t>Em algumas direções são </a:t>
            </a:r>
            <a:r>
              <a:rPr lang="pt-BR" b="1" dirty="0"/>
              <a:t>atratores</a:t>
            </a:r>
            <a:r>
              <a:rPr lang="pt-BR" dirty="0"/>
              <a:t> (i.e., alta declividade), mas em outras não.</a:t>
            </a:r>
          </a:p>
          <a:p>
            <a:r>
              <a:rPr lang="pt-BR" dirty="0"/>
              <a:t>O algoritmo de otimização pode passar um longo período de tempo sendo atraído por eles, o que prejudica seu desempenho.</a:t>
            </a:r>
          </a:p>
          <a:p>
            <a:r>
              <a:rPr lang="pt-BR" dirty="0"/>
              <a:t>Para escapar destes pontos, usa-se métodos de </a:t>
            </a:r>
            <a:r>
              <a:rPr lang="pt-BR" b="1" dirty="0"/>
              <a:t>segunda ordem</a:t>
            </a:r>
            <a:r>
              <a:rPr lang="pt-BR" dirty="0"/>
              <a:t> ou </a:t>
            </a:r>
            <a:r>
              <a:rPr lang="pt-BR" b="1" dirty="0"/>
              <a:t>versões estocásticas (i.e., ruidosas) do gradiente descendente</a:t>
            </a:r>
            <a:r>
              <a:rPr lang="pt-BR" dirty="0"/>
              <a:t>.</a:t>
            </a:r>
          </a:p>
        </p:txBody>
      </p:sp>
      <p:pic>
        <p:nvPicPr>
          <p:cNvPr id="1030" name="Picture 6">
            <a:extLst>
              <a:ext uri="{FF2B5EF4-FFF2-40B4-BE49-F238E27FC236}">
                <a16:creationId xmlns:a16="http://schemas.microsoft.com/office/drawing/2014/main" id="{CD53714B-59DC-DB4A-6266-5DE82F04DB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310" t="17829" r="14573" b="10077"/>
          <a:stretch/>
        </p:blipFill>
        <p:spPr bwMode="auto">
          <a:xfrm>
            <a:off x="131439" y="2593330"/>
            <a:ext cx="4287210" cy="3856001"/>
          </a:xfrm>
          <a:prstGeom prst="rect">
            <a:avLst/>
          </a:prstGeom>
          <a:noFill/>
          <a:extLst>
            <a:ext uri="{909E8E84-426E-40DD-AFC4-6F175D3DCCD1}">
              <a14:hiddenFill xmlns:a14="http://schemas.microsoft.com/office/drawing/2010/main">
                <a:solidFill>
                  <a:srgbClr val="FFFFFF"/>
                </a:solidFill>
              </a14:hiddenFill>
            </a:ext>
          </a:extLst>
        </p:spPr>
      </p:pic>
      <p:sp>
        <p:nvSpPr>
          <p:cNvPr id="5" name="Elipse 4">
            <a:extLst>
              <a:ext uri="{FF2B5EF4-FFF2-40B4-BE49-F238E27FC236}">
                <a16:creationId xmlns:a16="http://schemas.microsoft.com/office/drawing/2014/main" id="{3850DA1C-824C-FF23-C5D2-A293D9C00F8E}"/>
              </a:ext>
            </a:extLst>
          </p:cNvPr>
          <p:cNvSpPr/>
          <p:nvPr/>
        </p:nvSpPr>
        <p:spPr>
          <a:xfrm>
            <a:off x="2028969" y="4115261"/>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 name="Conector de Seta Reta 6">
            <a:extLst>
              <a:ext uri="{FF2B5EF4-FFF2-40B4-BE49-F238E27FC236}">
                <a16:creationId xmlns:a16="http://schemas.microsoft.com/office/drawing/2014/main" id="{7B36AE48-BAE5-0F6C-8DF3-F9AE0B31F4BB}"/>
              </a:ext>
            </a:extLst>
          </p:cNvPr>
          <p:cNvCxnSpPr>
            <a:cxnSpLocks/>
          </p:cNvCxnSpPr>
          <p:nvPr/>
        </p:nvCxnSpPr>
        <p:spPr>
          <a:xfrm flipH="1">
            <a:off x="2136969" y="2593330"/>
            <a:ext cx="1041660" cy="14378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CaixaDeTexto 9">
            <a:extLst>
              <a:ext uri="{FF2B5EF4-FFF2-40B4-BE49-F238E27FC236}">
                <a16:creationId xmlns:a16="http://schemas.microsoft.com/office/drawing/2014/main" id="{98B28DAF-FE1B-579F-44FC-F067DE348314}"/>
              </a:ext>
            </a:extLst>
          </p:cNvPr>
          <p:cNvSpPr txBox="1"/>
          <p:nvPr/>
        </p:nvSpPr>
        <p:spPr>
          <a:xfrm>
            <a:off x="226526" y="2207584"/>
            <a:ext cx="3820886" cy="369332"/>
          </a:xfrm>
          <a:prstGeom prst="rect">
            <a:avLst/>
          </a:prstGeom>
          <a:noFill/>
        </p:spPr>
        <p:txBody>
          <a:bodyPr wrap="square">
            <a:spAutoFit/>
          </a:bodyPr>
          <a:lstStyle/>
          <a:p>
            <a:pPr algn="ctr"/>
            <a:r>
              <a:rPr lang="pt-BR" b="1" dirty="0"/>
              <a:t>Superfície com Ponto de Sela</a:t>
            </a:r>
          </a:p>
        </p:txBody>
      </p:sp>
    </p:spTree>
    <p:extLst>
      <p:ext uri="{BB962C8B-B14F-4D97-AF65-F5344CB8AC3E}">
        <p14:creationId xmlns:p14="http://schemas.microsoft.com/office/powerpoint/2010/main" val="135619837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2C9CE-150B-BB20-8B40-4A16AD51EB2F}"/>
              </a:ext>
            </a:extLst>
          </p:cNvPr>
          <p:cNvSpPr>
            <a:spLocks noGrp="1"/>
          </p:cNvSpPr>
          <p:nvPr>
            <p:ph type="title"/>
          </p:nvPr>
        </p:nvSpPr>
        <p:spPr/>
        <p:txBody>
          <a:bodyPr/>
          <a:lstStyle/>
          <a:p>
            <a:r>
              <a:rPr lang="pt-BR" dirty="0"/>
              <a:t>Platôs</a:t>
            </a:r>
          </a:p>
        </p:txBody>
      </p:sp>
      <p:sp>
        <p:nvSpPr>
          <p:cNvPr id="3" name="Espaço Reservado para Conteúdo 2">
            <a:extLst>
              <a:ext uri="{FF2B5EF4-FFF2-40B4-BE49-F238E27FC236}">
                <a16:creationId xmlns:a16="http://schemas.microsoft.com/office/drawing/2014/main" id="{CCBE1DD9-448F-D5B1-C67D-592E98C6557B}"/>
              </a:ext>
            </a:extLst>
          </p:cNvPr>
          <p:cNvSpPr>
            <a:spLocks noGrp="1"/>
          </p:cNvSpPr>
          <p:nvPr>
            <p:ph idx="1"/>
          </p:nvPr>
        </p:nvSpPr>
        <p:spPr>
          <a:xfrm>
            <a:off x="5391472" y="1825624"/>
            <a:ext cx="6698773" cy="5032375"/>
          </a:xfrm>
        </p:spPr>
        <p:txBody>
          <a:bodyPr>
            <a:normAutofit/>
          </a:bodyPr>
          <a:lstStyle/>
          <a:p>
            <a:r>
              <a:rPr lang="pt-BR" dirty="0"/>
              <a:t>Outro tipo de irregularidade são os </a:t>
            </a:r>
            <a:r>
              <a:rPr lang="pt-BR" b="1" dirty="0">
                <a:solidFill>
                  <a:srgbClr val="7030A0"/>
                </a:solidFill>
              </a:rPr>
              <a:t>platôs</a:t>
            </a:r>
            <a:r>
              <a:rPr lang="pt-BR" b="1" dirty="0"/>
              <a:t>.</a:t>
            </a:r>
          </a:p>
          <a:p>
            <a:r>
              <a:rPr lang="pt-BR" dirty="0"/>
              <a:t>Eles são </a:t>
            </a:r>
            <a:r>
              <a:rPr lang="pt-BR" b="1" dirty="0">
                <a:solidFill>
                  <a:srgbClr val="7030A0"/>
                </a:solidFill>
              </a:rPr>
              <a:t>regiões planas e com erro elevado</a:t>
            </a:r>
            <a:r>
              <a:rPr lang="pt-BR" dirty="0"/>
              <a:t>.</a:t>
            </a:r>
          </a:p>
          <a:p>
            <a:r>
              <a:rPr lang="pt-BR" dirty="0"/>
              <a:t>Como a </a:t>
            </a:r>
            <a:r>
              <a:rPr lang="pt-BR" b="1" dirty="0">
                <a:solidFill>
                  <a:srgbClr val="00B050"/>
                </a:solidFill>
              </a:rPr>
              <a:t>inclinação da superfície </a:t>
            </a:r>
            <a:r>
              <a:rPr lang="pt-BR" dirty="0"/>
              <a:t>nessa região é </a:t>
            </a:r>
            <a:r>
              <a:rPr lang="pt-BR" b="1" dirty="0">
                <a:solidFill>
                  <a:srgbClr val="00B050"/>
                </a:solidFill>
              </a:rPr>
              <a:t>próxima de zero </a:t>
            </a:r>
            <a:r>
              <a:rPr lang="pt-BR" dirty="0"/>
              <a:t>(i.e., o gradiente é próximo de zero) o algoritmo pode levar muito tempo para atravessá-la.</a:t>
            </a:r>
          </a:p>
          <a:p>
            <a:r>
              <a:rPr lang="pt-BR" dirty="0"/>
              <a:t>Métodos de </a:t>
            </a:r>
            <a:r>
              <a:rPr lang="pt-BR" b="1" dirty="0"/>
              <a:t>aprendizado </a:t>
            </a:r>
            <a:r>
              <a:rPr lang="pt-BR" b="1" dirty="0" err="1"/>
              <a:t>adaptativo</a:t>
            </a:r>
            <a:r>
              <a:rPr lang="pt-BR" dirty="0" err="1"/>
              <a:t>,que</a:t>
            </a:r>
            <a:r>
              <a:rPr lang="pt-BR" dirty="0"/>
              <a:t> são variações do gradiente descente, como </a:t>
            </a:r>
            <a:r>
              <a:rPr lang="pt-BR" dirty="0" err="1"/>
              <a:t>AdaGrad</a:t>
            </a:r>
            <a:r>
              <a:rPr lang="pt-BR" dirty="0"/>
              <a:t>, </a:t>
            </a:r>
            <a:r>
              <a:rPr lang="pt-BR" dirty="0" err="1"/>
              <a:t>RMSProp</a:t>
            </a:r>
            <a:r>
              <a:rPr lang="pt-BR" dirty="0"/>
              <a:t>, Adam, podem escapar destas regiões.</a:t>
            </a:r>
          </a:p>
        </p:txBody>
      </p:sp>
      <p:pic>
        <p:nvPicPr>
          <p:cNvPr id="9" name="Imagem 8">
            <a:extLst>
              <a:ext uri="{FF2B5EF4-FFF2-40B4-BE49-F238E27FC236}">
                <a16:creationId xmlns:a16="http://schemas.microsoft.com/office/drawing/2014/main" id="{F0319121-9B05-B1F7-F1F5-FFAD1E028F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755" y="2331705"/>
            <a:ext cx="5289717" cy="3108990"/>
          </a:xfrm>
          <a:prstGeom prst="rect">
            <a:avLst/>
          </a:prstGeom>
        </p:spPr>
      </p:pic>
    </p:spTree>
    <p:extLst>
      <p:ext uri="{BB962C8B-B14F-4D97-AF65-F5344CB8AC3E}">
        <p14:creationId xmlns:p14="http://schemas.microsoft.com/office/powerpoint/2010/main" val="910698538"/>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9838</TotalTime>
  <Words>11789</Words>
  <Application>Microsoft Office PowerPoint</Application>
  <PresentationFormat>Widescreen</PresentationFormat>
  <Paragraphs>1104</Paragraphs>
  <Slides>76</Slides>
  <Notes>45</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76</vt:i4>
      </vt:variant>
    </vt:vector>
  </HeadingPairs>
  <TitlesOfParts>
    <vt:vector size="85" baseType="lpstr">
      <vt:lpstr>Arial</vt:lpstr>
      <vt:lpstr>Calibri</vt:lpstr>
      <vt:lpstr>Calibri Light</vt:lpstr>
      <vt:lpstr>Cambria Math</vt:lpstr>
      <vt:lpstr>Courier New</vt:lpstr>
      <vt:lpstr>Google Sans</vt:lpstr>
      <vt:lpstr>Söhne</vt:lpstr>
      <vt:lpstr>Wingdings</vt:lpstr>
      <vt:lpstr>Tema do Office</vt:lpstr>
      <vt:lpstr>C24 – Inteligência Artificial: Redes Multilayer Perceptron</vt:lpstr>
      <vt:lpstr>Apresentação do PowerPoint</vt:lpstr>
      <vt:lpstr>Redes neurais artificiais</vt:lpstr>
      <vt:lpstr>Apresentação do PowerPoint</vt:lpstr>
      <vt:lpstr>Apresentação do PowerPoint</vt:lpstr>
      <vt:lpstr>O que é uma rede neural artificial?</vt:lpstr>
      <vt:lpstr>O que é uma rede neural artificial?</vt:lpstr>
      <vt:lpstr>O que é uma rede neural artificial?</vt:lpstr>
      <vt:lpstr>Neurônio biológico</vt:lpstr>
      <vt:lpstr>Neurônio biológico</vt:lpstr>
      <vt:lpstr>Neurônio biológico</vt:lpstr>
      <vt:lpstr>Neurônio biológico</vt:lpstr>
      <vt:lpstr>Neurônio artificial</vt:lpstr>
      <vt:lpstr>Neurônio artificial</vt:lpstr>
      <vt:lpstr>Neurônio artificial</vt:lpstr>
      <vt:lpstr>Neurônio artificial</vt:lpstr>
      <vt:lpstr>Neurônio artificial</vt:lpstr>
      <vt:lpstr>Neurônio artificial</vt:lpstr>
      <vt:lpstr>Neurônio artificial</vt:lpstr>
      <vt:lpstr>Apresentação do PowerPoint</vt:lpstr>
      <vt:lpstr>Redes neurais artificiais</vt:lpstr>
      <vt:lpstr>Redes neurais artificiais</vt:lpstr>
      <vt:lpstr>Redes neurais artificiais</vt:lpstr>
      <vt:lpstr>Apresentação do PowerPoint</vt:lpstr>
      <vt:lpstr>Redes neurais artificiais</vt:lpstr>
      <vt:lpstr>Redes neurais artificiais</vt:lpstr>
      <vt:lpstr>Redes neurais artificiais</vt:lpstr>
      <vt:lpstr>Redes neurais artificiais</vt:lpstr>
      <vt:lpstr>Aproximação de funções</vt:lpstr>
      <vt:lpstr>Aproximação universal de funções</vt:lpstr>
      <vt:lpstr>Apresentação do PowerPoint</vt:lpstr>
      <vt:lpstr>Backpropagation</vt:lpstr>
      <vt:lpstr>Apresentação do PowerPoint</vt:lpstr>
      <vt:lpstr>Backpropagation</vt:lpstr>
      <vt:lpstr>Backpropagation</vt:lpstr>
      <vt:lpstr>Regra da cadeia</vt:lpstr>
      <vt:lpstr>Regra da cadeia</vt:lpstr>
      <vt:lpstr>Dissipação e explosão do gradiente</vt:lpstr>
      <vt:lpstr>Exemplo da aplicação da retropropagação</vt:lpstr>
      <vt:lpstr>Exemplo da aplicação da retropropagação</vt:lpstr>
      <vt:lpstr>Exemplo da aplicação da retropropagação</vt:lpstr>
      <vt:lpstr>Exemplo da aplicação da retropropagação</vt:lpstr>
      <vt:lpstr>Exemplo da aplicação da retropropagação</vt:lpstr>
      <vt:lpstr>Exemplo da aplicação da retropropagação</vt:lpstr>
      <vt:lpstr>Exemplo da aplicação da retropropagação</vt:lpstr>
      <vt:lpstr>Pseudocódigo da retropropagação</vt:lpstr>
      <vt:lpstr>Apresentação do PowerPoint</vt:lpstr>
      <vt:lpstr>Apresentação do PowerPoint</vt:lpstr>
      <vt:lpstr>Superfícies de erro de redes neurais</vt:lpstr>
      <vt:lpstr>Superfícies de erro irregulares</vt:lpstr>
      <vt:lpstr>Superfícies de erro irregulares</vt:lpstr>
      <vt:lpstr>Apresentação do PowerPoint</vt:lpstr>
      <vt:lpstr>O erro encontrado é suficientemente bom?</vt:lpstr>
      <vt:lpstr>Como avaliar a estabilidade da otimização?</vt:lpstr>
      <vt:lpstr>Exemplo</vt:lpstr>
      <vt:lpstr>Lista de exercícios</vt:lpstr>
      <vt:lpstr>Apresentação do PowerPoint</vt:lpstr>
      <vt:lpstr>Apresentação do PowerPoint</vt:lpstr>
      <vt:lpstr>Apresentação do PowerPoint</vt:lpstr>
      <vt:lpstr>Derivada parcial do erro</vt:lpstr>
      <vt:lpstr>Derivada parcial do erro</vt:lpstr>
      <vt:lpstr>Desaparecimento do gradiente</vt:lpstr>
      <vt:lpstr>Desaparecimento do gradiente</vt:lpstr>
      <vt:lpstr>Desaparecimento do gradiente</vt:lpstr>
      <vt:lpstr>Desaparecimento do gradiente</vt:lpstr>
      <vt:lpstr>Apresentação do PowerPoint</vt:lpstr>
      <vt:lpstr>Função de ativação retificadora</vt:lpstr>
      <vt:lpstr>Função de ativação retificadora</vt:lpstr>
      <vt:lpstr>Função de ativação retificadora</vt:lpstr>
      <vt:lpstr>Variantes da função de ativação retificadora</vt:lpstr>
      <vt:lpstr>Explosão do gradiente </vt:lpstr>
      <vt:lpstr>Explosão do gradiente </vt:lpstr>
      <vt:lpstr>Formas de se minimizar a dissipação e a explosão do gradiente</vt:lpstr>
      <vt:lpstr>Apresentação do PowerPoint</vt:lpstr>
      <vt:lpstr>Pontos de sela</vt:lpstr>
      <vt:lpstr>Platôs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dc:title>
  <dc:creator>Felipe Augusto Pereira de Figueiredo</dc:creator>
  <cp:lastModifiedBy>Felipe Augusto Pereira de Figueiredo</cp:lastModifiedBy>
  <cp:revision>2108</cp:revision>
  <dcterms:created xsi:type="dcterms:W3CDTF">2020-01-20T13:50:05Z</dcterms:created>
  <dcterms:modified xsi:type="dcterms:W3CDTF">2026-10-05T17:47:40Z</dcterms:modified>
</cp:coreProperties>
</file>