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handoutMasterIdLst>
    <p:handoutMasterId r:id="rId62"/>
  </p:handoutMasterIdLst>
  <p:sldIdLst>
    <p:sldId id="256" r:id="rId2"/>
    <p:sldId id="565" r:id="rId3"/>
    <p:sldId id="417" r:id="rId4"/>
    <p:sldId id="545" r:id="rId5"/>
    <p:sldId id="544" r:id="rId6"/>
    <p:sldId id="553" r:id="rId7"/>
    <p:sldId id="556" r:id="rId8"/>
    <p:sldId id="558" r:id="rId9"/>
    <p:sldId id="445" r:id="rId10"/>
    <p:sldId id="451" r:id="rId11"/>
    <p:sldId id="454" r:id="rId12"/>
    <p:sldId id="453" r:id="rId13"/>
    <p:sldId id="532" r:id="rId14"/>
    <p:sldId id="455" r:id="rId15"/>
    <p:sldId id="448" r:id="rId16"/>
    <p:sldId id="533" r:id="rId17"/>
    <p:sldId id="512" r:id="rId18"/>
    <p:sldId id="563" r:id="rId19"/>
    <p:sldId id="564" r:id="rId20"/>
    <p:sldId id="560" r:id="rId21"/>
    <p:sldId id="561" r:id="rId22"/>
    <p:sldId id="562" r:id="rId23"/>
    <p:sldId id="531" r:id="rId24"/>
    <p:sldId id="550" r:id="rId25"/>
    <p:sldId id="551" r:id="rId26"/>
    <p:sldId id="566" r:id="rId27"/>
    <p:sldId id="554" r:id="rId28"/>
    <p:sldId id="579" r:id="rId29"/>
    <p:sldId id="567" r:id="rId30"/>
    <p:sldId id="547" r:id="rId31"/>
    <p:sldId id="391" r:id="rId32"/>
    <p:sldId id="392" r:id="rId33"/>
    <p:sldId id="568" r:id="rId34"/>
    <p:sldId id="569" r:id="rId35"/>
    <p:sldId id="578" r:id="rId36"/>
    <p:sldId id="570" r:id="rId37"/>
    <p:sldId id="573" r:id="rId38"/>
    <p:sldId id="574" r:id="rId39"/>
    <p:sldId id="572" r:id="rId40"/>
    <p:sldId id="581" r:id="rId41"/>
    <p:sldId id="584" r:id="rId42"/>
    <p:sldId id="580" r:id="rId43"/>
    <p:sldId id="588" r:id="rId44"/>
    <p:sldId id="589" r:id="rId45"/>
    <p:sldId id="586" r:id="rId46"/>
    <p:sldId id="587" r:id="rId47"/>
    <p:sldId id="585" r:id="rId48"/>
    <p:sldId id="583" r:id="rId49"/>
    <p:sldId id="592" r:id="rId50"/>
    <p:sldId id="557" r:id="rId51"/>
    <p:sldId id="601" r:id="rId52"/>
    <p:sldId id="593" r:id="rId53"/>
    <p:sldId id="594" r:id="rId54"/>
    <p:sldId id="595" r:id="rId55"/>
    <p:sldId id="596" r:id="rId56"/>
    <p:sldId id="597" r:id="rId57"/>
    <p:sldId id="598" r:id="rId58"/>
    <p:sldId id="599" r:id="rId59"/>
    <p:sldId id="600" r:id="rId6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912" autoAdjust="0"/>
    <p:restoredTop sz="87893" autoAdjust="0"/>
  </p:normalViewPr>
  <p:slideViewPr>
    <p:cSldViewPr snapToGrid="0">
      <p:cViewPr varScale="1">
        <p:scale>
          <a:sx n="97" d="100"/>
          <a:sy n="97" d="100"/>
        </p:scale>
        <p:origin x="1290" y="84"/>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56.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a:t>
            </a:r>
            <a:r>
              <a:rPr lang="pt-BR" sz="1200" b="0" i="0" kern="1200" dirty="0" err="1">
                <a:solidFill>
                  <a:schemeClr val="tx1"/>
                </a:solidFill>
                <a:effectLst/>
                <a:latin typeface="+mn-lt"/>
                <a:ea typeface="+mn-ea"/>
                <a:cs typeface="+mn-cs"/>
              </a:rPr>
              <a:t>backpropagation</a:t>
            </a:r>
            <a:r>
              <a:rPr lang="pt-BR" sz="1200" b="0" i="0" kern="1200" dirty="0">
                <a:solidFill>
                  <a:schemeClr val="tx1"/>
                </a:solidFill>
                <a:effectLst/>
                <a:latin typeface="+mn-lt"/>
                <a:ea typeface="+mn-ea"/>
                <a:cs typeface="+mn-cs"/>
              </a:rPr>
              <a:t>).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59</a:t>
            </a:fld>
            <a:endParaRPr lang="pt-BR"/>
          </a:p>
        </p:txBody>
      </p:sp>
    </p:spTree>
    <p:extLst>
      <p:ext uri="{BB962C8B-B14F-4D97-AF65-F5344CB8AC3E}">
        <p14:creationId xmlns:p14="http://schemas.microsoft.com/office/powerpoint/2010/main" val="21692430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0.xml.rels><?xml version="1.0" encoding="UTF-8" standalone="yes"?>
<Relationships xmlns="http://schemas.openxmlformats.org/package/2006/relationships"><Relationship Id="rId8" Type="http://schemas.openxmlformats.org/officeDocument/2006/relationships/image" Target="../media/image150.png"/><Relationship Id="rId3" Type="http://schemas.openxmlformats.org/officeDocument/2006/relationships/image" Target="../media/image100.png"/><Relationship Id="rId7" Type="http://schemas.openxmlformats.org/officeDocument/2006/relationships/image" Target="../media/image14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7.jpeg"/><Relationship Id="rId5" Type="http://schemas.openxmlformats.org/officeDocument/2006/relationships/image" Target="../media/image120.png"/><Relationship Id="rId10" Type="http://schemas.openxmlformats.org/officeDocument/2006/relationships/image" Target="../media/image17.png"/><Relationship Id="rId4" Type="http://schemas.openxmlformats.org/officeDocument/2006/relationships/image" Target="../media/image110.png"/><Relationship Id="rId9" Type="http://schemas.openxmlformats.org/officeDocument/2006/relationships/image" Target="../media/image160.png"/></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23.jpe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0.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32.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5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16.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34.xml.rels><?xml version="1.0" encoding="UTF-8" standalone="yes"?>
<Relationships xmlns="http://schemas.openxmlformats.org/package/2006/relationships"><Relationship Id="rId2" Type="http://schemas.openxmlformats.org/officeDocument/2006/relationships/image" Target="../media/image69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69.png"/><Relationship Id="rId4" Type="http://schemas.openxmlformats.org/officeDocument/2006/relationships/image" Target="../media/image67.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image" Target="../media/image78.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49.xml.rels><?xml version="1.0" encoding="UTF-8" standalone="yes"?>
<Relationships xmlns="http://schemas.openxmlformats.org/package/2006/relationships"><Relationship Id="rId3" Type="http://schemas.openxmlformats.org/officeDocument/2006/relationships/image" Target="../media/image80.emf"/><Relationship Id="rId2" Type="http://schemas.openxmlformats.org/officeDocument/2006/relationships/image" Target="../media/image79.png"/><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emf"/><Relationship Id="rId4" Type="http://schemas.openxmlformats.org/officeDocument/2006/relationships/image" Target="../media/image82.png"/></Relationships>
</file>

<file path=ppt/slides/_rels/slide5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88.png"/><Relationship Id="rId7" Type="http://schemas.openxmlformats.org/officeDocument/2006/relationships/image" Target="../media/image38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9.emf"/></Relationships>
</file>

<file path=ppt/slides/_rels/slide5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91.emf"/></Relationships>
</file>

<file path=ppt/slides/_rels/slide55.xml.rels><?xml version="1.0" encoding="UTF-8" standalone="yes"?>
<Relationships xmlns="http://schemas.openxmlformats.org/package/2006/relationships"><Relationship Id="rId8" Type="http://schemas.openxmlformats.org/officeDocument/2006/relationships/image" Target="../media/image91.emf"/><Relationship Id="rId3" Type="http://schemas.openxmlformats.org/officeDocument/2006/relationships/image" Target="../media/image92.png"/><Relationship Id="rId7" Type="http://schemas.openxmlformats.org/officeDocument/2006/relationships/image" Target="../media/image6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9.emf"/><Relationship Id="rId9" Type="http://schemas.openxmlformats.org/officeDocument/2006/relationships/image" Target="../media/image67.png"/></Relationships>
</file>

<file path=ppt/slides/_rels/slide56.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94.png"/><Relationship Id="rId4" Type="http://schemas.openxmlformats.org/officeDocument/2006/relationships/image" Target="../media/image93.png"/></Relationships>
</file>

<file path=ppt/slides/_rels/slide57.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png"/><Relationship Id="rId2" Type="http://schemas.openxmlformats.org/officeDocument/2006/relationships/notesSlide" Target="../notesSlides/notesSlide25.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3471" y="1766327"/>
            <a:ext cx="7063898" cy="38498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317369" y="1890746"/>
            <a:ext cx="4776309" cy="3600986"/>
          </a:xfrm>
          <a:prstGeom prst="rect">
            <a:avLst/>
          </a:prstGeom>
          <a:noFill/>
        </p:spPr>
        <p:txBody>
          <a:bodyPr wrap="square" rtlCol="0">
            <a:spAutoFit/>
          </a:bodyPr>
          <a:lstStyle/>
          <a:p>
            <a:pPr algn="ctr"/>
            <a:r>
              <a:rPr lang="pt-BR" sz="2800" dirty="0"/>
              <a:t>São os modelos de ML mais usados atualmente.</a:t>
            </a:r>
          </a:p>
          <a:p>
            <a:pPr algn="ctr"/>
            <a:endParaRPr lang="pt-BR" sz="28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várias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150429" cy="5032375"/>
          </a:xfrm>
        </p:spPr>
        <p:txBody>
          <a:bodyPr>
            <a:normAutofit/>
          </a:bodyPr>
          <a:lstStyle/>
          <a:p>
            <a:r>
              <a:rPr lang="pt-BR" b="1" dirty="0"/>
              <a:t>Redes neurais artificiais </a:t>
            </a:r>
            <a:r>
              <a:rPr lang="pt-BR" dirty="0"/>
              <a:t>são modelos matemáticos </a:t>
            </a:r>
            <a:r>
              <a:rPr lang="pt-BR" b="1" dirty="0"/>
              <a:t>inspirados </a:t>
            </a:r>
            <a:r>
              <a:rPr lang="pt-BR" dirty="0"/>
              <a:t>pelo funcionamento do cérebro.</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1" y="1825624"/>
            <a:ext cx="6422572" cy="5032375"/>
          </a:xfrm>
        </p:spPr>
        <p:txBody>
          <a:bodyPr>
            <a:normAutofit/>
          </a:bodyPr>
          <a:lstStyle/>
          <a:p>
            <a:r>
              <a:rPr lang="pt-BR" dirty="0" err="1"/>
              <a:t>RNAs</a:t>
            </a:r>
            <a:r>
              <a:rPr lang="pt-BR" dirty="0"/>
              <a:t> são representadas como sistemas de </a:t>
            </a:r>
            <a:r>
              <a:rPr lang="pt-BR" b="1" dirty="0"/>
              <a:t>neurônios (ou nós) interconectados</a:t>
            </a:r>
            <a:r>
              <a:rPr lang="pt-BR" dirty="0"/>
              <a:t>, organizados em </a:t>
            </a:r>
            <a:r>
              <a:rPr lang="pt-BR" b="1" dirty="0"/>
              <a:t>camadas</a:t>
            </a:r>
            <a:r>
              <a:rPr lang="pt-BR" dirty="0"/>
              <a:t>, que </a:t>
            </a:r>
            <a:r>
              <a:rPr lang="pt-BR" b="1" dirty="0"/>
              <a:t>aprendem</a:t>
            </a:r>
            <a:r>
              <a:rPr lang="pt-BR" dirty="0"/>
              <a:t>, a </a:t>
            </a:r>
            <a:r>
              <a:rPr lang="pt-BR" b="1" dirty="0"/>
              <a:t>partir de dados</a:t>
            </a:r>
            <a:r>
              <a:rPr lang="pt-BR" dirty="0"/>
              <a:t>, uma </a:t>
            </a:r>
            <a:r>
              <a:rPr lang="pt-BR" b="1" dirty="0"/>
              <a:t>função que relaciona entradas a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precisamos primeiro relembrar o principio básico de funcionamento um neurônio biológico 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Têm três partes fundamentais:</a:t>
            </a:r>
            <a:r>
              <a:rPr lang="pt-BR" b="1" dirty="0"/>
              <a:t> </a:t>
            </a:r>
            <a:r>
              <a:rPr lang="pt-BR" dirty="0"/>
              <a:t>os </a:t>
            </a:r>
            <a:r>
              <a:rPr lang="pt-BR" b="1" dirty="0"/>
              <a:t>dendritos</a:t>
            </a:r>
            <a:r>
              <a:rPr lang="pt-BR" dirty="0"/>
              <a:t>, o </a:t>
            </a:r>
            <a:r>
              <a:rPr lang="pt-BR" b="1" dirty="0"/>
              <a:t>axônio</a:t>
            </a:r>
            <a:r>
              <a:rPr lang="pt-BR" dirty="0"/>
              <a:t> e o </a:t>
            </a:r>
            <a:r>
              <a:rPr lang="pt-BR" b="1" dirty="0"/>
              <a:t>corpo celular</a:t>
            </a:r>
            <a:r>
              <a:rPr lang="pt-BR" dirty="0"/>
              <a:t>, também chamado de </a:t>
            </a:r>
            <a:r>
              <a:rPr lang="pt-BR" b="1" dirty="0">
                <a:solidFill>
                  <a:srgbClr val="00B050"/>
                </a:solidFill>
              </a:rPr>
              <a:t>soma</a:t>
            </a:r>
            <a:r>
              <a:rPr lang="pt-BR" dirty="0"/>
              <a:t>.</a:t>
            </a:r>
          </a:p>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O </a:t>
            </a:r>
            <a:r>
              <a:rPr lang="pt-BR" b="1" dirty="0"/>
              <a:t>corpo celular</a:t>
            </a:r>
            <a:r>
              <a:rPr lang="pt-BR" dirty="0"/>
              <a:t> realiza a </a:t>
            </a:r>
            <a:r>
              <a:rPr lang="pt-BR" b="1" dirty="0">
                <a:solidFill>
                  <a:srgbClr val="7030A0"/>
                </a:solidFill>
              </a:rPr>
              <a:t>integração</a:t>
            </a:r>
            <a:r>
              <a:rPr lang="pt-BR" dirty="0"/>
              <a:t> dos </a:t>
            </a:r>
            <a:r>
              <a:rPr lang="pt-BR" b="1" dirty="0"/>
              <a:t>estímulos e gera impulsos</a:t>
            </a:r>
            <a:r>
              <a:rPr lang="pt-BR" dirty="0"/>
              <a:t> caso um limiar seja ultrapassado.</a:t>
            </a:r>
          </a:p>
          <a:p>
            <a:r>
              <a:rPr lang="pt-BR" dirty="0"/>
              <a:t>O </a:t>
            </a:r>
            <a:r>
              <a:rPr lang="pt-BR" b="1" dirty="0"/>
              <a:t>axônio</a:t>
            </a:r>
            <a:r>
              <a:rPr lang="pt-BR" dirty="0"/>
              <a:t> envia </a:t>
            </a:r>
            <a:r>
              <a:rPr lang="pt-BR" b="1" dirty="0"/>
              <a:t>impulsos</a:t>
            </a:r>
            <a:r>
              <a:rPr lang="pt-BR" dirty="0"/>
              <a:t> a outros neurônios através de seus </a:t>
            </a:r>
            <a:r>
              <a:rPr lang="pt-BR" b="1" dirty="0"/>
              <a:t>terminais</a:t>
            </a:r>
            <a:r>
              <a:rPr lang="pt-BR" dirty="0"/>
              <a:t>.</a:t>
            </a:r>
          </a:p>
          <a:p>
            <a:r>
              <a:rPr lang="pt-BR" dirty="0"/>
              <a:t>Os neurônios se comunicam uns com os outros através das </a:t>
            </a:r>
            <a:r>
              <a:rPr lang="pt-BR" b="1" dirty="0"/>
              <a:t>sinapses</a:t>
            </a:r>
            <a:r>
              <a:rPr lang="pt-BR" dirty="0"/>
              <a:t>.</a:t>
            </a:r>
          </a:p>
          <a:p>
            <a:r>
              <a:rPr lang="pt-BR" b="1" dirty="0"/>
              <a:t>Sinapses</a:t>
            </a:r>
            <a:r>
              <a:rPr lang="pt-BR" dirty="0"/>
              <a:t> são os </a:t>
            </a:r>
            <a:r>
              <a:rPr lang="pt-BR" b="1" dirty="0"/>
              <a:t>pontos de contato </a:t>
            </a:r>
            <a:r>
              <a:rPr lang="pt-BR" dirty="0"/>
              <a:t>entre os </a:t>
            </a:r>
            <a:r>
              <a:rPr lang="pt-BR" b="1" dirty="0"/>
              <a:t>dentritos</a:t>
            </a:r>
            <a:r>
              <a:rPr lang="pt-BR" dirty="0"/>
              <a:t> de um neurônio e os </a:t>
            </a:r>
            <a:r>
              <a:rPr lang="pt-BR" b="1" dirty="0"/>
              <a:t>terminais do axônio </a:t>
            </a:r>
            <a:r>
              <a:rPr lang="pt-BR" dirty="0"/>
              <a:t>de outros neurônios.</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71873" y="2058398"/>
            <a:ext cx="5701148" cy="3587746"/>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9"/>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9"/>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2750344" y="5352460"/>
            <a:ext cx="2334440" cy="1388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funcionamento do </a:t>
            </a:r>
            <a:r>
              <a:rPr lang="pt-BR" b="1" dirty="0"/>
              <a:t>neurônio</a:t>
            </a:r>
            <a:r>
              <a:rPr lang="pt-BR" dirty="0"/>
              <a:t> pode ser explicado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meados da década de 40, pesquisadores propuseram o modelo matemático ao lado.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aprendido anteriormente é idêntico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034206" y="1690688"/>
                <a:ext cx="6043494" cy="5167312"/>
              </a:xfrm>
            </p:spPr>
            <p:txBody>
              <a:bodyPr>
                <a:normAutofit/>
              </a:bodyPr>
              <a:lstStyle/>
              <a:p>
                <a:r>
                  <a:rPr lang="pt-BR" dirty="0"/>
                  <a:t>Os </a:t>
                </a:r>
                <a:r>
                  <a:rPr lang="pt-BR" b="1" dirty="0"/>
                  <a:t>estímulos</a:t>
                </a:r>
                <a:r>
                  <a:rPr lang="pt-BR" dirty="0"/>
                  <a:t>, </a:t>
                </a:r>
                <a14:m>
                  <m:oMath xmlns:m="http://schemas.openxmlformats.org/officeDocument/2006/math">
                    <m:sSub>
                      <m:sSubPr>
                        <m:ctrlPr>
                          <a:rPr lang="pt-BR" sz="240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multiplicados pelos </a:t>
                </a:r>
                <a:r>
                  <a:rPr lang="pt-BR" b="1" dirty="0"/>
                  <a:t>pesos sinápticos</a:t>
                </a:r>
                <a:r>
                  <a:rPr lang="pt-BR" dirty="0"/>
                  <a:t>,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com 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é passado por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No contexto de redes neurais os estímulos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 controla o </a:t>
                </a:r>
                <a:r>
                  <a:rPr lang="pt-BR" b="1" dirty="0"/>
                  <a:t>ponto de ativação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034206" y="1690688"/>
                <a:ext cx="6043494" cy="5167312"/>
              </a:xfrm>
              <a:blipFill>
                <a:blip r:embed="rId3"/>
                <a:stretch>
                  <a:fillRect l="-1816" t="-1887" r="-2523"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191249" cy="5032376"/>
              </a:xfrm>
            </p:spPr>
            <p:txBody>
              <a:bodyPr>
                <a:normAutofit/>
              </a:bodyPr>
              <a:lstStyle/>
              <a:p>
                <a:r>
                  <a:rPr lang="pt-BR" b="0" dirty="0">
                    <a:solidFill>
                      <a:schemeClr val="tx1"/>
                    </a:solidFill>
                    <a:effectLst/>
                  </a:rPr>
                  <a:t>O </a:t>
                </a:r>
                <a:r>
                  <a:rPr lang="pt-BR" b="1" dirty="0">
                    <a:solidFill>
                      <a:schemeClr val="tx1"/>
                    </a:solidFill>
                    <a:effectLst/>
                  </a:rPr>
                  <a:t>peso de bias</a:t>
                </a:r>
                <a:r>
                  <a:rPr lang="pt-BR" dirty="0">
                    <a:solidFill>
                      <a:schemeClr val="tx1"/>
                    </a:solidFill>
                    <a:effectLst/>
                  </a:rPr>
                  <a:t>,</a:t>
                </a:r>
                <a:r>
                  <a:rPr lang="pt-BR" dirty="0">
                    <a:solidFill>
                      <a:schemeClr val="tx1"/>
                    </a:solidFill>
                  </a:rPr>
                  <a:t> </a:t>
                </a:r>
                <a14:m>
                  <m:oMath xmlns:m="http://schemas.openxmlformats.org/officeDocument/2006/math">
                    <m:r>
                      <a:rPr lang="pt-BR" b="0" i="1" smtClean="0">
                        <a:solidFill>
                          <a:schemeClr val="tx1"/>
                        </a:solidFill>
                        <a:latin typeface="Cambria Math" panose="02040503050406030204" pitchFamily="18" charset="0"/>
                      </a:rPr>
                      <m:t>𝑏</m:t>
                    </m:r>
                  </m:oMath>
                </a14:m>
                <a:r>
                  <a:rPr lang="pt-BR" dirty="0">
                    <a:solidFill>
                      <a:schemeClr val="tx1"/>
                    </a:solidFill>
                    <a:effectLst/>
                  </a:rPr>
                  <a:t>,</a:t>
                </a:r>
                <a:r>
                  <a:rPr lang="pt-BR" b="1" dirty="0">
                    <a:solidFill>
                      <a:schemeClr val="tx1"/>
                    </a:solidFill>
                    <a:effectLst/>
                  </a:rPr>
                  <a:t> </a:t>
                </a:r>
                <a:r>
                  <a:rPr lang="pt-BR" b="0" dirty="0">
                    <a:solidFill>
                      <a:schemeClr val="tx1"/>
                    </a:solidFill>
                    <a:effectLst/>
                  </a:rPr>
                  <a:t>permite </a:t>
                </a:r>
                <a:r>
                  <a:rPr lang="pt-BR" b="1" dirty="0">
                    <a:solidFill>
                      <a:schemeClr val="tx1"/>
                    </a:solidFill>
                    <a:effectLst/>
                  </a:rPr>
                  <a:t>ajustar o limiar de ativação</a:t>
                </a:r>
                <a:r>
                  <a:rPr lang="pt-BR" b="0" dirty="0">
                    <a:solidFill>
                      <a:schemeClr val="tx1"/>
                    </a:solidFill>
                    <a:effectLst/>
                  </a:rPr>
                  <a:t> (ou ponto de disparo) da função de ativação.</a:t>
                </a:r>
                <a:endParaRPr lang="pt-BR" dirty="0">
                  <a:solidFill>
                    <a:schemeClr val="tx1"/>
                  </a:solidFill>
                </a:endParaRPr>
              </a:p>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 (degrau unitário).</a:t>
                </a:r>
              </a:p>
              <a:p>
                <a:r>
                  <a:rPr lang="pt-BR" dirty="0">
                    <a:solidFill>
                      <a:schemeClr val="tx1"/>
                    </a:solidFill>
                  </a:rPr>
                  <a:t>Com o decorrer do tempo, outras funções com características diferentes foram propostas, tais como as funções sigmoide, tangente hiperbólica, linear,</a:t>
                </a:r>
                <a:r>
                  <a:rPr lang="pt-BR" dirty="0"/>
                  <a:t> </a:t>
                </a:r>
                <a:r>
                  <a:rPr lang="pt-BR" dirty="0" err="1"/>
                  <a:t>relu</a:t>
                </a:r>
                <a:r>
                  <a:rPr lang="pt-BR" dirty="0"/>
                  <a:t> e suas variantes,</a:t>
                </a:r>
                <a:r>
                  <a:rPr lang="pt-BR" dirty="0">
                    <a:solidFill>
                      <a:schemeClr val="tx1"/>
                    </a:solidFill>
                  </a:rPr>
                  <a:t> etc.</a:t>
                </a:r>
              </a:p>
            </p:txBody>
          </p:sp>
        </mc:Choice>
        <mc:Fallback xmlns="">
          <p:sp>
            <p:nvSpPr>
              <p:cNvPr id="3" name="Espaço Reservado para Conteúdo 2">
                <a:extLst>
                  <a:ext uri="{FF2B5EF4-FFF2-40B4-BE49-F238E27FC236}">
                    <a16:creationId xmlns:a16="http://schemas.microsoft.com/office/drawing/2014/main" id="{7AD301D6-DB59-55AE-6500-3F2B8EBC51E6}"/>
                  </a:ext>
                </a:extLst>
              </p:cNvPr>
              <p:cNvSpPr>
                <a:spLocks noGrp="1" noRot="1" noChangeAspect="1" noMove="1" noResize="1" noEditPoints="1" noAdjustHandles="1" noChangeArrowheads="1" noChangeShapeType="1" noTextEdit="1"/>
              </p:cNvSpPr>
              <p:nvPr>
                <p:ph idx="1"/>
              </p:nvPr>
            </p:nvSpPr>
            <p:spPr>
              <a:xfrm>
                <a:off x="5819775" y="1825624"/>
                <a:ext cx="6191249" cy="5032376"/>
              </a:xfrm>
              <a:blipFill>
                <a:blip r:embed="rId3"/>
                <a:stretch>
                  <a:fillRect l="-1773" t="-1937" b="-1816"/>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5EB97E14-ADB4-BA5D-F1FE-546C74193E47}"/>
              </a:ext>
            </a:extLst>
          </p:cNvPr>
          <p:cNvSpPr/>
          <p:nvPr/>
        </p:nvSpPr>
        <p:spPr>
          <a:xfrm>
            <a:off x="2830754" y="1710972"/>
            <a:ext cx="2062156" cy="584775"/>
          </a:xfrm>
          <a:prstGeom prst="rect">
            <a:avLst/>
          </a:prstGeom>
        </p:spPr>
        <p:txBody>
          <a:bodyPr wrap="square">
            <a:spAutoFit/>
          </a:bodyPr>
          <a:lstStyle/>
          <a:p>
            <a:pPr algn="ctr"/>
            <a:r>
              <a:rPr lang="pt-BR" sz="1600" b="1" i="1" dirty="0"/>
              <a:t>função de ativação “tudo-ou-nada”</a:t>
            </a:r>
            <a:endParaRPr lang="pt-BR" sz="1600" dirty="0"/>
          </a:p>
        </p:txBody>
      </p:sp>
      <p:pic>
        <p:nvPicPr>
          <p:cNvPr id="11" name="Imagem 10">
            <a:extLst>
              <a:ext uri="{FF2B5EF4-FFF2-40B4-BE49-F238E27FC236}">
                <a16:creationId xmlns:a16="http://schemas.microsoft.com/office/drawing/2014/main" id="{14A2C82D-E147-3E46-5A94-B1817A65CE8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53665" y="1618724"/>
            <a:ext cx="3242177" cy="2092834"/>
          </a:xfrm>
          <a:prstGeom prst="rect">
            <a:avLst/>
          </a:prstGeom>
        </p:spPr>
      </p:pic>
      <p:pic>
        <p:nvPicPr>
          <p:cNvPr id="1028" name="Picture 4" descr="Activation Function - AI Wiki">
            <a:extLst>
              <a:ext uri="{FF2B5EF4-FFF2-40B4-BE49-F238E27FC236}">
                <a16:creationId xmlns:a16="http://schemas.microsoft.com/office/drawing/2014/main" id="{C1963A18-9DCD-92E6-F73C-DDD9DE51D68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024" t="57261" r="54834" b="1205"/>
          <a:stretch/>
        </p:blipFill>
        <p:spPr bwMode="auto">
          <a:xfrm>
            <a:off x="168883" y="3688177"/>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550ACC60-BA74-A8DC-EC0D-BCF56A693693}"/>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66054" t="57929" r="9225" b="2032"/>
          <a:stretch/>
        </p:blipFill>
        <p:spPr bwMode="auto">
          <a:xfrm>
            <a:off x="3201838" y="5288588"/>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24D9FB6F-0548-0312-1650-B2A6897D71C2}"/>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4905" t="4046" r="52375" b="51018"/>
          <a:stretch/>
        </p:blipFill>
        <p:spPr bwMode="auto">
          <a:xfrm>
            <a:off x="2856509" y="3688175"/>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DE19C8D7-086E-8B51-C541-E12C93D4CB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3394" t="3391" r="3935" b="53689"/>
          <a:stretch/>
        </p:blipFill>
        <p:spPr bwMode="auto">
          <a:xfrm>
            <a:off x="334435" y="5309998"/>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06891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5964820" cy="5032375"/>
          </a:xfrm>
        </p:spPr>
        <p:txBody>
          <a:bodyPr>
            <a:normAutofit/>
          </a:bodyPr>
          <a:lstStyle/>
          <a:p>
            <a:r>
              <a:rPr lang="pt-BR" b="0" dirty="0">
                <a:effectLst/>
              </a:rPr>
              <a:t>O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artificial é </a:t>
            </a:r>
            <a:r>
              <a:rPr lang="pt-BR" b="1" dirty="0">
                <a:solidFill>
                  <a:srgbClr val="00B050"/>
                </a:solidFill>
                <a:effectLst/>
              </a:rPr>
              <a:t>encontrar os valores ideais dos pesos</a:t>
            </a:r>
            <a:r>
              <a:rPr lang="pt-BR" b="1" dirty="0">
                <a:effectLst/>
              </a:rPr>
              <a:t> </a:t>
            </a:r>
            <a:r>
              <a:rPr lang="pt-BR" b="0" dirty="0">
                <a:effectLst/>
              </a:rPr>
              <a:t>(bias e sinápticos) </a:t>
            </a:r>
            <a:r>
              <a:rPr lang="pt-BR" b="1" dirty="0">
                <a:solidFill>
                  <a:srgbClr val="00B050"/>
                </a:solidFill>
                <a:effectLst/>
              </a:rPr>
              <a:t>de todos os neurônios</a:t>
            </a:r>
            <a:r>
              <a:rPr lang="pt-BR" b="0" dirty="0">
                <a:effectLst/>
              </a:rPr>
              <a:t> de forma que a rede </a:t>
            </a:r>
            <a:r>
              <a:rPr lang="pt-BR" b="1" dirty="0">
                <a:effectLst/>
              </a:rPr>
              <a:t>resolva uma tarefa específica</a:t>
            </a:r>
            <a:r>
              <a:rPr lang="pt-BR" b="0" dirty="0">
                <a:effectLst/>
              </a:rPr>
              <a:t>, como, por exemplo, a classificação de imagens ou a predição do preço de casas.</a:t>
            </a:r>
            <a:r>
              <a:rPr lang="pt-BR" dirty="0"/>
              <a:t> </a:t>
            </a:r>
            <a:endParaRPr lang="pt-BR" b="0" dirty="0">
              <a:effectLst/>
            </a:endParaRPr>
          </a:p>
          <a:p>
            <a:pPr marL="0" indent="0">
              <a:buNone/>
            </a:pPr>
            <a:endParaRPr lang="pt-BR" dirty="0">
              <a:effectLst/>
            </a:endParaRP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6096000" y="1825624"/>
            <a:ext cx="5964820" cy="5032375"/>
          </a:xfrm>
        </p:spPr>
        <p:txBody>
          <a:bodyPr>
            <a:normAutofit/>
          </a:bodyPr>
          <a:lstStyle/>
          <a:p>
            <a:r>
              <a:rPr lang="pt-BR" dirty="0"/>
              <a:t>Os pesos são ajustados através de um </a:t>
            </a:r>
            <a:r>
              <a:rPr lang="pt-BR" b="1" dirty="0">
                <a:solidFill>
                  <a:srgbClr val="00B050"/>
                </a:solidFill>
              </a:rPr>
              <a:t>processo de otimização iterativo </a:t>
            </a:r>
            <a:r>
              <a:rPr lang="pt-BR" dirty="0"/>
              <a:t>chamado de </a:t>
            </a:r>
            <a:r>
              <a:rPr lang="pt-BR" b="1" dirty="0">
                <a:solidFill>
                  <a:srgbClr val="00B050"/>
                </a:solidFill>
              </a:rPr>
              <a:t>retropropagação do erro</a:t>
            </a:r>
            <a:r>
              <a:rPr lang="pt-BR" dirty="0"/>
              <a:t>, onde apresenta-se ao modelo as </a:t>
            </a:r>
            <a:r>
              <a:rPr lang="pt-BR" b="1" dirty="0"/>
              <a:t>entradas</a:t>
            </a:r>
            <a:r>
              <a:rPr lang="pt-BR" dirty="0"/>
              <a:t> e </a:t>
            </a:r>
            <a:r>
              <a:rPr lang="pt-BR" b="1" dirty="0"/>
              <a:t>saídas esperadas</a:t>
            </a:r>
            <a:r>
              <a:rPr lang="pt-BR" dirty="0"/>
              <a:t> e o processo </a:t>
            </a:r>
            <a:r>
              <a:rPr lang="pt-BR" b="1" dirty="0">
                <a:solidFill>
                  <a:srgbClr val="00B050"/>
                </a:solidFill>
              </a:rPr>
              <a:t>minimiza o erro </a:t>
            </a:r>
            <a:r>
              <a:rPr lang="pt-BR" dirty="0"/>
              <a:t>entre a </a:t>
            </a:r>
            <a:r>
              <a:rPr lang="pt-BR" b="1" dirty="0"/>
              <a:t>saída da rede </a:t>
            </a:r>
            <a:r>
              <a:rPr lang="pt-BR" dirty="0"/>
              <a:t>e os </a:t>
            </a:r>
            <a:r>
              <a:rPr lang="pt-BR" b="1" dirty="0"/>
              <a:t>valores de saída esperados, chamados de </a:t>
            </a:r>
            <a:r>
              <a:rPr lang="pt-BR" b="1" dirty="0">
                <a:solidFill>
                  <a:srgbClr val="7030A0"/>
                </a:solidFill>
              </a:rPr>
              <a:t>rótulos</a:t>
            </a:r>
            <a:r>
              <a:rPr lang="pt-BR" b="1" dirty="0"/>
              <a:t> ou </a:t>
            </a:r>
            <a:r>
              <a:rPr lang="pt-BR" b="1" dirty="0" err="1">
                <a:solidFill>
                  <a:srgbClr val="7030A0"/>
                </a:solidFill>
              </a:rPr>
              <a:t>labels</a:t>
            </a:r>
            <a:r>
              <a:rPr lang="pt-BR" dirty="0"/>
              <a:t>.</a:t>
            </a:r>
            <a:endParaRPr lang="pt-BR" dirty="0">
              <a:effectLst/>
            </a:endParaRPr>
          </a:p>
        </p:txBody>
      </p:sp>
      <p:pic>
        <p:nvPicPr>
          <p:cNvPr id="5" name="Imagem 4">
            <a:extLst>
              <a:ext uri="{FF2B5EF4-FFF2-40B4-BE49-F238E27FC236}">
                <a16:creationId xmlns:a16="http://schemas.microsoft.com/office/drawing/2014/main" id="{FEF649D0-6599-5F36-3322-C9FED0ED3EA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40186641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1" y="1825625"/>
            <a:ext cx="6313714"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permitem:</a:t>
            </a:r>
          </a:p>
          <a:p>
            <a:pPr lvl="1">
              <a:buFont typeface="Wingdings" panose="05000000000000000000" pitchFamily="2" charset="2"/>
              <a:buChar char="§"/>
            </a:pPr>
            <a:r>
              <a:rPr lang="pt-BR" dirty="0"/>
              <a:t>criar </a:t>
            </a:r>
            <a:r>
              <a:rPr lang="pt-BR" b="1" dirty="0"/>
              <a:t>representações intermediárias.</a:t>
            </a:r>
            <a:endParaRPr lang="pt-BR" dirty="0"/>
          </a:p>
          <a:p>
            <a:pPr lvl="1">
              <a:buFont typeface="Wingdings" panose="05000000000000000000" pitchFamily="2" charset="2"/>
              <a:buChar char="§"/>
            </a:pPr>
            <a:r>
              <a:rPr lang="pt-BR" dirty="0"/>
              <a:t>extrair </a:t>
            </a:r>
            <a:r>
              <a:rPr lang="pt-BR" b="1" dirty="0"/>
              <a:t>características relevantes.</a:t>
            </a:r>
            <a:endParaRPr lang="pt-BR" dirty="0"/>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pro </a:t>
            </a:r>
            <a:r>
              <a:rPr lang="en-US" dirty="0"/>
              <a:t>Frank Rosenblatt.</a:t>
            </a:r>
            <a:endParaRPr lang="pt-BR" dirty="0"/>
          </a:p>
        </p:txBody>
      </p:sp>
      <p:grpSp>
        <p:nvGrpSpPr>
          <p:cNvPr id="7"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C80C3ECA-7703-EA9E-2FA6-B601F3950B7C}"/>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0121DEA3-80D1-546A-A967-4D8E7A23AFFE}"/>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AA463781-F1A3-95A0-7035-EEB88CD7629C}"/>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16EC8692-F71A-1CAE-4F2E-7166B2FB25A4}"/>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5F4C4EE0-A523-C167-CEC0-D8C11A7841F0}"/>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0FCF106F-E873-2EC3-6488-BE7ACB6C9376}"/>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BEB790B-A599-815D-2CC8-C968853533C8}"/>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4B118A1C-5EEE-42C1-6604-B621705EFD48}"/>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14AFF8CC-AC9F-2724-1E5A-810703AB52BA}"/>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722A8CBB-E96B-2043-D81B-DEF683B448BD}"/>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4638BD3F-20CA-7859-4DC1-F740B12B483B}"/>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AA11E5C-AB54-CB2F-FE8F-FD2AF31F00DB}"/>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A464DA56-0662-5E09-FA2E-331EB8345D19}"/>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9E679653-00C7-27F4-D4EA-FBF2473CACAF}"/>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BD741CC3-12D0-AC90-3AB8-3EDC87740418}"/>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D9E7D66D-CCDF-CBE1-7285-BF0DEAEA5826}"/>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43D75E58-76B7-39F6-EBAD-9332B0D528A1}"/>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0544D7E7-4A93-384A-FE1D-EFB06E41452B}"/>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7829942-9F7A-456C-06E1-0FDA22EEA3ED}"/>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A7EC2237-770A-1305-3024-6201BF73D4FC}"/>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BBA0EB4A-F0B0-A468-81E9-098010FF982F}"/>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04DADC82-8ACE-215F-1880-5E9CD709B3E3}"/>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30037EE4-118A-F493-8A4D-BEE627965FCF}"/>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E732B412-A9DC-6EB3-AFB4-60B2CA5371DE}"/>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5353916E-3C7D-382C-B435-CE4998378741}"/>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8A04DE0D-CB52-9B8F-F044-F8EBA190333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D7CDE263-B479-1BEE-EBDC-1E9D0936FDD6}"/>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8EEF35CA-096F-4E2A-14E6-F202F64CEDB4}"/>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CE8BE39C-3F59-3AF0-B514-4C93BDC4DCC0}"/>
              </a:ext>
            </a:extLst>
          </p:cNvPr>
          <p:cNvGrpSpPr/>
          <p:nvPr/>
        </p:nvGrpSpPr>
        <p:grpSpPr>
          <a:xfrm>
            <a:off x="3107872" y="440872"/>
            <a:ext cx="5976256" cy="5976256"/>
            <a:chOff x="3020786"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20786"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234541"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4082141" y="1892567"/>
              <a:ext cx="1524001" cy="369332"/>
            </a:xfrm>
            <a:prstGeom prst="rect">
              <a:avLst/>
            </a:prstGeom>
            <a:noFill/>
          </p:spPr>
          <p:txBody>
            <a:bodyPr wrap="square" rtlCol="0">
              <a:spAutoFit/>
            </a:bodyPr>
            <a:lstStyle/>
            <a:p>
              <a:pPr algn="ctr"/>
              <a:r>
                <a:rPr lang="pt-BR" b="1" dirty="0">
                  <a:solidFill>
                    <a:srgbClr val="7030A0"/>
                  </a:solidFill>
                  <a:highlight>
                    <a:srgbClr val="00FFFF"/>
                  </a:highlight>
                </a:rPr>
                <a:t>neurônio</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346374"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 da próxima camada da rede neural</a:t>
              </a:r>
              <a:endParaRPr lang="en-US" b="1" dirty="0">
                <a:solidFill>
                  <a:srgbClr val="7030A0"/>
                </a:solidFill>
                <a:highlight>
                  <a:srgbClr val="00FFFF"/>
                </a:highlight>
              </a:endParaRPr>
            </a:p>
          </p:txBody>
        </p:sp>
      </p:grpSp>
    </p:spTree>
    <p:extLst>
      <p:ext uri="{BB962C8B-B14F-4D97-AF65-F5344CB8AC3E}">
        <p14:creationId xmlns:p14="http://schemas.microsoft.com/office/powerpoint/2010/main" val="8994085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715001" y="1825625"/>
            <a:ext cx="6313714" cy="5032375"/>
          </a:xfrm>
        </p:spPr>
        <p:txBody>
          <a:bodyPr>
            <a:normAutofit/>
          </a:bodyPr>
          <a:lstStyle/>
          <a:p>
            <a:r>
              <a:rPr lang="pt-BR" dirty="0"/>
              <a:t>Ela também é chamada de </a:t>
            </a:r>
            <a:r>
              <a:rPr lang="pt-BR" b="1" dirty="0">
                <a:solidFill>
                  <a:srgbClr val="00B050"/>
                </a:solidFill>
              </a:rPr>
              <a:t>rede densamente conectada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a:t>
            </a:r>
            <a:r>
              <a:rPr lang="pt-BR" dirty="0"/>
              <a:t> - DNN).</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 que determinam a </a:t>
            </a:r>
            <a:r>
              <a:rPr lang="pt-BR" b="1" dirty="0">
                <a:solidFill>
                  <a:srgbClr val="7030A0"/>
                </a:solidFill>
              </a:rPr>
              <a:t>força daquela conexão</a:t>
            </a:r>
            <a:r>
              <a:rPr lang="pt-BR" dirty="0"/>
              <a:t>.</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592182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rgbClr val="7030A0"/>
                </a:solidFill>
              </a:rPr>
              <a:t>arquitetura</a:t>
            </a:r>
            <a:r>
              <a:rPr lang="pt-BR" dirty="0"/>
              <a:t>.</a:t>
            </a:r>
          </a:p>
          <a:p>
            <a:r>
              <a:rPr lang="pt-BR" dirty="0"/>
              <a:t>A arquitetura é definida</a:t>
            </a:r>
          </a:p>
          <a:p>
            <a:pPr lvl="1">
              <a:buFont typeface="Wingdings" panose="05000000000000000000" pitchFamily="2" charset="2"/>
              <a:buChar char="§"/>
            </a:pPr>
            <a:r>
              <a:rPr lang="pt-BR" dirty="0"/>
              <a:t>como os neurônios estão conectados (forma direta ou recursiva),</a:t>
            </a:r>
          </a:p>
          <a:p>
            <a:pPr lvl="1">
              <a:buFont typeface="Wingdings" panose="05000000000000000000" pitchFamily="2" charset="2"/>
              <a:buChar char="§"/>
            </a:pPr>
            <a:r>
              <a:rPr lang="pt-BR" dirty="0"/>
              <a:t>quantidade neurônios,</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Sup>
                          <m:sSubSupPr>
                            <m:ctrlPr>
                              <a:rPr lang="en-US" sz="140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9" y="1825625"/>
            <a:ext cx="11146971" cy="4351338"/>
          </a:xfrm>
        </p:spPr>
        <p:txBody>
          <a:bodyPr/>
          <a:lstStyle/>
          <a:p>
            <a:r>
              <a:rPr lang="pt-BR" dirty="0"/>
              <a:t>As </a:t>
            </a:r>
            <a:r>
              <a:rPr lang="pt-BR" dirty="0" err="1"/>
              <a:t>RNAs</a:t>
            </a:r>
            <a:r>
              <a:rPr lang="pt-BR" dirty="0"/>
              <a:t> são o coração do </a:t>
            </a:r>
            <a:r>
              <a:rPr lang="pt-BR" b="1" dirty="0" err="1"/>
              <a:t>deep</a:t>
            </a:r>
            <a:r>
              <a:rPr lang="pt-BR" b="1" dirty="0"/>
              <a:t> learning ou aprendizado profundo</a:t>
            </a:r>
            <a:r>
              <a:rPr lang="pt-BR" dirty="0"/>
              <a:t>.</a:t>
            </a:r>
          </a:p>
          <a:p>
            <a:r>
              <a:rPr lang="pt-BR" dirty="0"/>
              <a:t>O termo "</a:t>
            </a:r>
            <a:r>
              <a:rPr lang="pt-BR" b="1" dirty="0">
                <a:solidFill>
                  <a:srgbClr val="00B050"/>
                </a:solidFill>
              </a:rPr>
              <a:t>profundo</a:t>
            </a:r>
            <a:r>
              <a:rPr lang="pt-BR" dirty="0"/>
              <a:t>" vem fato destas redes poderem possuir </a:t>
            </a:r>
            <a:r>
              <a:rPr lang="pt-BR" b="1" dirty="0">
                <a:solidFill>
                  <a:srgbClr val="7030A0"/>
                </a:solidFill>
              </a:rPr>
              <a:t>muitas camadas ocultas</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40839" y="3557831"/>
            <a:ext cx="7310321" cy="2832256"/>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104756" cy="2397727"/>
          </a:xfrm>
        </p:spPr>
        <p:txBody>
          <a:bodyPr>
            <a:normAutofit/>
          </a:bodyPr>
          <a:lstStyle/>
          <a:p>
            <a:r>
              <a:rPr lang="pt-BR" dirty="0"/>
              <a:t>Em geral, quando elas tem duas ou mais camadas ocultas,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terem uma grande capacidade de aprendizado, elas precisam de uma grande quantidade de dados para aprenderem uma solução geral.</a:t>
            </a:r>
          </a:p>
        </p:txBody>
      </p:sp>
      <p:grpSp>
        <p:nvGrpSpPr>
          <p:cNvPr id="6" name="Group 5">
            <a:extLst>
              <a:ext uri="{FF2B5EF4-FFF2-40B4-BE49-F238E27FC236}">
                <a16:creationId xmlns:a16="http://schemas.microsoft.com/office/drawing/2014/main" id="{5213EC6B-9964-F0AD-F41B-220541F20C22}"/>
              </a:ext>
            </a:extLst>
          </p:cNvPr>
          <p:cNvGrpSpPr/>
          <p:nvPr/>
        </p:nvGrpSpPr>
        <p:grpSpPr>
          <a:xfrm>
            <a:off x="2440839" y="3858322"/>
            <a:ext cx="7310321" cy="2832256"/>
            <a:chOff x="4678169" y="3716345"/>
            <a:chExt cx="7310321" cy="2832256"/>
          </a:xfrm>
        </p:grpSpPr>
        <p:pic>
          <p:nvPicPr>
            <p:cNvPr id="1028" name="Picture 4" descr="Future prospects of deep learning in medicine | LaptrinhX">
              <a:extLst>
                <a:ext uri="{FF2B5EF4-FFF2-40B4-BE49-F238E27FC236}">
                  <a16:creationId xmlns:a16="http://schemas.microsoft.com/office/drawing/2014/main" id="{777D2658-2AAB-B25A-6674-749DB9CC77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E2A49A03-38AE-D0C4-66A2-B5893933E5F5}"/>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5" name="CaixaDeTexto 4">
              <a:extLst>
                <a:ext uri="{FF2B5EF4-FFF2-40B4-BE49-F238E27FC236}">
                  <a16:creationId xmlns:a16="http://schemas.microsoft.com/office/drawing/2014/main" id="{D1CD49A4-CD97-D5F3-65DA-FB96958FB93B}"/>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200" y="1825624"/>
            <a:ext cx="11038840"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 (número de camadas, número de nós, que corresponde à quantidade de pesos, as funções de ativação empregadas, etc.).</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a </a:t>
            </a:r>
            <a:r>
              <a:rPr lang="pt-BR" b="1" dirty="0">
                <a:solidFill>
                  <a:srgbClr val="7030A0"/>
                </a:solidFill>
                <a:effectLst/>
              </a:rPr>
              <a:t>capacidade da rede de aproximar diferentes tipos de funções</a:t>
            </a:r>
            <a:r>
              <a:rPr lang="pt-BR" b="0" dirty="0">
                <a:effectLst/>
              </a:rPr>
              <a:t>.</a:t>
            </a:r>
            <a:endParaRPr lang="pt-BR" dirty="0"/>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arquitetura.</a:t>
            </a:r>
          </a:p>
        </p:txBody>
      </p:sp>
    </p:spTree>
    <p:extLst>
      <p:ext uri="{BB962C8B-B14F-4D97-AF65-F5344CB8AC3E}">
        <p14:creationId xmlns:p14="http://schemas.microsoft.com/office/powerpoint/2010/main" val="230788342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rgbClr val="00B050"/>
                </a:solidFill>
              </a:rPr>
              <a:t>uma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Usamos validação cruzada e gradiente descendente.</a:t>
            </a:r>
          </a:p>
        </p:txBody>
      </p:sp>
    </p:spTree>
    <p:extLst>
      <p:ext uri="{BB962C8B-B14F-4D97-AF65-F5344CB8AC3E}">
        <p14:creationId xmlns:p14="http://schemas.microsoft.com/office/powerpoint/2010/main" val="1518596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459793"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err="1"/>
              <a:t>error</a:t>
            </a:r>
            <a:r>
              <a:rPr lang="pt-BR" dirty="0"/>
              <a:t>) </a:t>
            </a:r>
            <a:r>
              <a:rPr lang="pt-BR" i="1" dirty="0" err="1"/>
              <a:t>backpropagation</a:t>
            </a:r>
            <a:r>
              <a:rPr lang="pt-BR" dirty="0"/>
              <a:t>.</a:t>
            </a:r>
          </a:p>
          <a:p>
            <a:r>
              <a:rPr lang="pt-BR" dirty="0"/>
              <a:t>O objetivo do </a:t>
            </a:r>
            <a:r>
              <a:rPr lang="pt-BR" i="1" dirty="0" err="1"/>
              <a:t>backpropagation</a:t>
            </a:r>
            <a:r>
              <a:rPr lang="pt-BR" dirty="0"/>
              <a:t> é calcular o quanto cada peso da rede contribui para o erro e ajustá-lo de forma a minimizar o erro.</a:t>
            </a:r>
          </a:p>
        </p:txBody>
      </p:sp>
      <p:pic>
        <p:nvPicPr>
          <p:cNvPr id="4" name="Imagem 10">
            <a:extLst>
              <a:ext uri="{FF2B5EF4-FFF2-40B4-BE49-F238E27FC236}">
                <a16:creationId xmlns:a16="http://schemas.microsoft.com/office/drawing/2014/main" id="{14327F44-C55C-3981-FB77-ADF6F10AA3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41066466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7525061" y="2170905"/>
            <a:ext cx="3813748" cy="2521523"/>
          </a:xfrm>
        </p:spPr>
        <p:txBody>
          <a:bodyPr>
            <a:noAutofit/>
          </a:bodyPr>
          <a:lstStyle/>
          <a:p>
            <a:pPr marL="0" indent="0" algn="ctr">
              <a:buNone/>
            </a:pPr>
            <a:r>
              <a:rPr lang="pt-BR" sz="3600" dirty="0"/>
              <a:t>O algoritmo de </a:t>
            </a:r>
            <a:r>
              <a:rPr lang="pt-BR" sz="3600" i="1" dirty="0" err="1"/>
              <a:t>backpropagation</a:t>
            </a:r>
            <a:r>
              <a:rPr lang="pt-BR" sz="3600" dirty="0"/>
              <a:t> é baseado na regra da cadeia.</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466735" y="1825624"/>
            <a:ext cx="6725265"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 rede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dirty="0"/>
              <a:t>Propaga o erro para trás através das camadas da rede para atualizar os pesos usando o gradiente descendente.</a:t>
            </a:r>
          </a:p>
          <a:p>
            <a:pPr lvl="2">
              <a:buFont typeface="Courier New" panose="02070309020205020404" pitchFamily="49" charset="0"/>
              <a:buChar char="o"/>
            </a:pPr>
            <a:r>
              <a:rPr lang="pt-BR" dirty="0"/>
              <a:t>Etapa chamada de </a:t>
            </a:r>
            <a:r>
              <a:rPr lang="en-US" i="1" dirty="0"/>
              <a:t>backpropagation</a:t>
            </a:r>
            <a:r>
              <a:rPr lang="en-US" dirty="0"/>
              <a:t>.</a:t>
            </a:r>
          </a:p>
          <a:p>
            <a:pPr lvl="2">
              <a:buFont typeface="Courier New" panose="02070309020205020404" pitchFamily="49" charset="0"/>
              <a:buChar char="o"/>
            </a:pPr>
            <a:r>
              <a:rPr lang="pt-BR" dirty="0"/>
              <a:t>Os gradientes são calculados usando </a:t>
            </a:r>
            <a:r>
              <a:rPr lang="pt-BR" b="1" dirty="0"/>
              <a:t>regra da cadeia</a:t>
            </a:r>
            <a:r>
              <a:rPr lang="pt-BR" dirty="0"/>
              <a:t>.</a:t>
            </a:r>
          </a:p>
        </p:txBody>
      </p:sp>
      <p:pic>
        <p:nvPicPr>
          <p:cNvPr id="4" name="Imagem 10">
            <a:extLst>
              <a:ext uri="{FF2B5EF4-FFF2-40B4-BE49-F238E27FC236}">
                <a16:creationId xmlns:a16="http://schemas.microsoft.com/office/drawing/2014/main" id="{4B677D2C-FFA4-3F3D-DBE3-56466217D5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484" y="2422906"/>
            <a:ext cx="4380297" cy="3822928"/>
          </a:xfrm>
          <a:prstGeom prst="rect">
            <a:avLst/>
          </a:prstGeom>
        </p:spPr>
      </p:pic>
    </p:spTree>
    <p:extLst>
      <p:ext uri="{BB962C8B-B14F-4D97-AF65-F5344CB8AC3E}">
        <p14:creationId xmlns:p14="http://schemas.microsoft.com/office/powerpoint/2010/main" val="22828300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err="1"/>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dirty="0"/>
              <a:t>A rede prediz → mede o erro → corrige os pesos.</a:t>
            </a:r>
          </a:p>
          <a:p>
            <a:r>
              <a:rPr lang="pt-BR" dirty="0"/>
              <a:t>O </a:t>
            </a:r>
            <a:r>
              <a:rPr lang="pt-BR" i="1" dirty="0" err="1"/>
              <a:t>backpropagation</a:t>
            </a:r>
            <a:r>
              <a:rPr lang="pt-BR" dirty="0"/>
              <a:t> responde à pergunta:</a:t>
            </a:r>
          </a:p>
          <a:p>
            <a:pPr marL="0" indent="0" algn="ctr">
              <a:buNone/>
            </a:pPr>
            <a:r>
              <a:rPr lang="pt-BR" b="1" dirty="0"/>
              <a:t>“Quais pesos precisam mudar e o quanto eles precisam mudar para que a rede produza uma saída mais correta?”</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dirty="0"/>
                  <a:t>Para </a:t>
                </a:r>
                <a:r>
                  <a:rPr lang="pt-BR" b="1" dirty="0">
                    <a:solidFill>
                      <a:srgbClr val="00B050"/>
                    </a:solidFill>
                  </a:rPr>
                  <a:t>atualizar o peso de um nó de uma camada</a:t>
                </a:r>
                <a:r>
                  <a:rPr lang="pt-BR" dirty="0"/>
                  <a:t>, a </a:t>
                </a:r>
                <a:r>
                  <a:rPr lang="pt-BR" b="1" dirty="0"/>
                  <a:t>retropropagação </a:t>
                </a:r>
                <a:r>
                  <a:rPr lang="pt-BR" dirty="0"/>
                  <a:t>calcula a derivada parcial do erro em relação àquele peso usando a </a:t>
                </a:r>
                <a:r>
                  <a:rPr lang="pt-BR" b="1" dirty="0">
                    <a:solidFill>
                      <a:srgbClr val="7030A0"/>
                    </a:solidFill>
                  </a:rPr>
                  <a:t>regra da cadeia</a:t>
                </a:r>
                <a:r>
                  <a:rPr lang="pt-BR" dirty="0"/>
                  <a:t>.</a:t>
                </a:r>
              </a:p>
              <a:p>
                <a:r>
                  <a:rPr lang="pt-BR" dirty="0"/>
                  <a:t>Vejamos o exemplo abaixo com 3 nós, 3 pesos,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e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oMath>
                </a14:m>
                <a:r>
                  <a:rPr lang="pt-BR" dirty="0"/>
                  <a:t>, 3 funções de ativação,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m:t>
                        </m:r>
                      </m:e>
                    </m:d>
                    <m:r>
                      <a:rPr lang="pt-BR" i="1">
                        <a:latin typeface="Cambria Math" panose="02040503050406030204" pitchFamily="18" charset="0"/>
                      </a:rPr>
                      <m:t>, </m:t>
                    </m:r>
                    <m:r>
                      <a:rPr lang="pt-BR" i="1">
                        <a:latin typeface="Cambria Math" panose="02040503050406030204" pitchFamily="18" charset="0"/>
                      </a:rPr>
                      <m:t>𝑔</m:t>
                    </m:r>
                    <m:d>
                      <m:dPr>
                        <m:ctrlPr>
                          <a:rPr lang="pt-BR" i="1">
                            <a:latin typeface="Cambria Math" panose="02040503050406030204" pitchFamily="18" charset="0"/>
                          </a:rPr>
                        </m:ctrlPr>
                      </m:dPr>
                      <m:e>
                        <m:r>
                          <a:rPr lang="pt-BR" i="1">
                            <a:latin typeface="Cambria Math" panose="02040503050406030204" pitchFamily="18" charset="0"/>
                          </a:rPr>
                          <m:t>.</m:t>
                        </m:r>
                      </m:e>
                    </m:d>
                  </m:oMath>
                </a14:m>
                <a:r>
                  <a:rPr lang="pt-BR" dirty="0"/>
                  <a:t> 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oMath>
                </a14:m>
                <a:r>
                  <a:rPr lang="pt-BR" dirty="0"/>
                  <a:t>, e um rótulo </a:t>
                </a:r>
                <a14:m>
                  <m:oMath xmlns:m="http://schemas.openxmlformats.org/officeDocument/2006/math">
                    <m:r>
                      <a:rPr lang="pt-BR" i="1">
                        <a:latin typeface="Cambria Math" panose="02040503050406030204" pitchFamily="18" charset="0"/>
                        <a:ea typeface="Cambria Math" panose="02040503050406030204" pitchFamily="18" charset="0"/>
                      </a:rPr>
                      <m:t>𝑦</m:t>
                    </m:r>
                    <m:r>
                      <a:rPr lang="pt-BR" b="0" i="0" smtClean="0">
                        <a:latin typeface="Cambria Math" panose="02040503050406030204" pitchFamily="18" charset="0"/>
                        <a:ea typeface="Cambria Math" panose="02040503050406030204" pitchFamily="18" charset="0"/>
                      </a:rPr>
                      <m:t>.</m:t>
                    </m:r>
                  </m:oMath>
                </a14:m>
                <a:endParaRPr lang="pt-BR" sz="900" dirty="0"/>
              </a:p>
              <a:p>
                <a:endParaRPr lang="pt-BR" dirty="0"/>
              </a:p>
              <a:p>
                <a:pPr marL="0" indent="0">
                  <a:buNone/>
                </a:pPr>
                <a:endParaRPr lang="pt-BR" dirty="0"/>
              </a:p>
              <a:p>
                <a:r>
                  <a:rPr lang="pt-BR" dirty="0"/>
                  <a:t>Para facilitar a análise, vamos definir as entradas dos nós como</a:t>
                </a: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a:rPr lang="pt-BR" b="0" i="1" smtClean="0">
                          <a:latin typeface="Cambria Math" panose="02040503050406030204" pitchFamily="18" charset="0"/>
                        </a:rPr>
                        <m:t>𝑥</m:t>
                      </m:r>
                      <m:r>
                        <a:rPr lang="pt-BR" i="1">
                          <a:latin typeface="Cambria Math" panose="02040503050406030204" pitchFamily="18" charset="0"/>
                        </a:rPr>
                        <m:t>,</m:t>
                      </m:r>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r>
                        <a:rPr lang="pt-BR" b="0" i="1" smtClean="0">
                          <a:latin typeface="Cambria Math" panose="02040503050406030204" pitchFamily="18" charset="0"/>
                        </a:rPr>
                        <m:t>,</m:t>
                      </m:r>
                    </m:oMath>
                  </m:oMathPara>
                </a14:m>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a:rPr lang="pt-BR" i="1">
                                  <a:latin typeface="Cambria Math" panose="02040503050406030204" pitchFamily="18" charset="0"/>
                                </a:rPr>
                                <m:t>𝑥</m:t>
                              </m:r>
                            </m:e>
                          </m:d>
                        </m:e>
                      </m:d>
                      <m:r>
                        <a:rPr lang="pt-BR" b="0"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3</m:t>
                          </m:r>
                        </m:sub>
                      </m:sSub>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a:p>
                <a:r>
                  <a:rPr lang="en-US" dirty="0" err="1"/>
                  <a:t>Essas</a:t>
                </a:r>
                <a:r>
                  <a:rPr lang="en-US" dirty="0"/>
                  <a:t> </a:t>
                </a:r>
                <a:r>
                  <a:rPr lang="en-US" dirty="0" err="1"/>
                  <a:t>variáveis</a:t>
                </a:r>
                <a:r>
                  <a:rPr lang="en-US" dirty="0"/>
                  <a:t> </a:t>
                </a:r>
                <a:r>
                  <a:rPr lang="en-US" dirty="0" err="1"/>
                  <a:t>são</a:t>
                </a:r>
                <a:r>
                  <a:rPr lang="en-US" dirty="0"/>
                  <a:t> </a:t>
                </a:r>
                <a:r>
                  <a:rPr lang="en-US" dirty="0" err="1"/>
                  <a:t>chamadas</a:t>
                </a:r>
                <a:r>
                  <a:rPr lang="en-US" dirty="0"/>
                  <a:t> de </a:t>
                </a:r>
                <a:r>
                  <a:rPr lang="en-US" b="1" dirty="0" err="1"/>
                  <a:t>ativações</a:t>
                </a:r>
                <a:r>
                  <a:rPr lang="en-US" dirty="0"/>
                  <a:t>.</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1825624"/>
                <a:ext cx="11353801" cy="5032375"/>
              </a:xfrm>
            </p:spPr>
            <p:txBody>
              <a:bodyPr>
                <a:normAutofit lnSpcReduction="10000"/>
              </a:bodyPr>
              <a:lstStyle/>
              <a:p>
                <a:pPr marL="0" indent="0">
                  <a:buNone/>
                </a:pPr>
                <a:endParaRPr lang="pt-BR" dirty="0"/>
              </a:p>
              <a:p>
                <a:pPr marL="0" indent="0">
                  <a:buNone/>
                </a:pPr>
                <a:endParaRPr lang="pt-BR" dirty="0"/>
              </a:p>
              <a:p>
                <a:r>
                  <a:rPr lang="pt-BR" dirty="0"/>
                  <a:t>Qual é a derivada de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oMath>
                </a14:m>
                <a:r>
                  <a:rPr lang="pt-BR" dirty="0"/>
                  <a:t> em relação à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smtClean="0">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Exemplos: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1"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a:p>
                <a:pPr lvl="1"/>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22D5A62-CE6E-1AA5-57FE-1C7135D815B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b="-847"/>
                </a:stretch>
              </a:blipFill>
            </p:spPr>
            <p:txBody>
              <a:bodyPr/>
              <a:lstStyle/>
              <a:p>
                <a:r>
                  <a:rPr lang="pt-BR">
                    <a:noFill/>
                  </a:rPr>
                  <a:t> </a:t>
                </a:r>
              </a:p>
            </p:txBody>
          </p:sp>
        </mc:Fallback>
      </mc:AlternateContent>
      <p:grpSp>
        <p:nvGrpSpPr>
          <p:cNvPr id="56" name="Grupo 55"/>
          <p:cNvGrpSpPr/>
          <p:nvPr/>
        </p:nvGrpSpPr>
        <p:grpSpPr>
          <a:xfrm>
            <a:off x="2824117" y="1825624"/>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p:spTree>
    <p:extLst>
      <p:ext uri="{BB962C8B-B14F-4D97-AF65-F5344CB8AC3E}">
        <p14:creationId xmlns:p14="http://schemas.microsoft.com/office/powerpoint/2010/main" val="9245302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smtClean="0">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 função de ativação em relação às ativações, </a:t>
                </a:r>
                <a14:m>
                  <m:oMath xmlns:m="http://schemas.openxmlformats.org/officeDocument/2006/math">
                    <m:r>
                      <a:rPr lang="pt-BR" b="0" i="1" smtClean="0">
                        <a:latin typeface="Cambria Math" panose="02040503050406030204" pitchFamily="18" charset="0"/>
                      </a:rPr>
                      <m:t>𝑢</m:t>
                    </m:r>
                  </m:oMath>
                </a14:m>
                <a:r>
                  <a:rPr lang="pt-BR" dirty="0"/>
                  <a:t>, de forma genérica, i.e., não vamos assumir nenhum tipo específico de função de ativação.</a:t>
                </a:r>
              </a:p>
              <a:p>
                <a:pPr lvl="1"/>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i="1">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42"/>
                </a:stretch>
              </a:blipFill>
            </p:spPr>
            <p:txBody>
              <a:bodyPr/>
              <a:lstStyle/>
              <a:p>
                <a:r>
                  <a:rPr lang="pt-BR">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possui uma camada oculta com dois nós e uma camada de saída com um único nó,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i="1">
                        <a:latin typeface="Cambria Math" panose="02040503050406030204" pitchFamily="18" charset="0"/>
                      </a:rPr>
                      <m:t>𝑑</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smtClean="0">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rPr>
                      <m:t>𝑛</m:t>
                    </m:r>
                    <m:r>
                      <a:rPr lang="pt-BR" b="0" i="1" smtClean="0">
                        <a:latin typeface="Cambria Math" panose="02040503050406030204" pitchFamily="18" charset="0"/>
                      </a:rPr>
                      <m:t>=1</m:t>
                    </m:r>
                  </m:oMath>
                </a14:m>
                <a:r>
                  <a:rPr lang="pt-BR" dirty="0"/>
                  <a:t>.</a:t>
                </a:r>
              </a:p>
              <a:p>
                <a:r>
                  <a:rPr lang="pt-BR" dirty="0"/>
                  <a:t>Por sua vez, o gradiente é dado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rotWithShape="0">
                <a:blip r:embed="rId2"/>
                <a:stretch>
                  <a:fillRect l="-1142" t="-1937" r="-119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r>
                          <a:rPr lang="pt-BR" sz="1400" i="1">
                            <a:latin typeface="Cambria Math" panose="02040503050406030204" pitchFamily="18" charset="0"/>
                          </a:rPr>
                          <m:t>𝑦</m:t>
                        </m:r>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rotWithShape="0">
                <a:blip r:embed="rId3"/>
                <a:stretch>
                  <a:fillRect r="-475" b="-8197"/>
                </a:stretch>
              </a:blipFill>
            </p:spPr>
            <p:txBody>
              <a:bodyPr/>
              <a:lstStyle/>
              <a:p>
                <a:r>
                  <a:rPr lang="pt-BR">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4551979" y="1825624"/>
                <a:ext cx="7502369" cy="5032375"/>
              </a:xfrm>
            </p:spPr>
            <p:txBody>
              <a:bodyPr>
                <a:normAutofit/>
              </a:bodyPr>
              <a:lstStyle/>
              <a:p>
                <a:r>
                  <a:rPr lang="pt-BR" dirty="0"/>
                  <a:t>Vamos supor que os pesos de todos os nós são inicializados de forma aleatória.</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A5869CA-BCE3-3D01-FEAF-9AD088F17496}"/>
                  </a:ext>
                </a:extLst>
              </p:cNvPr>
              <p:cNvSpPr>
                <a:spLocks noGrp="1" noRot="1" noChangeAspect="1" noMove="1" noResize="1" noEditPoints="1" noAdjustHandles="1" noChangeArrowheads="1" noChangeShapeType="1" noTextEdit="1"/>
              </p:cNvSpPr>
              <p:nvPr>
                <p:ph idx="1"/>
              </p:nvPr>
            </p:nvSpPr>
            <p:spPr>
              <a:xfrm>
                <a:off x="4551979" y="1825624"/>
                <a:ext cx="7502369" cy="5032375"/>
              </a:xfrm>
              <a:blipFill rotWithShape="0">
                <a:blip r:embed="rId2"/>
                <a:stretch>
                  <a:fillRect l="-1463" t="-1937"/>
                </a:stretch>
              </a:blipFill>
            </p:spPr>
            <p:txBody>
              <a:bodyPr/>
              <a:lstStyle/>
              <a:p>
                <a:r>
                  <a:rPr lang="pt-BR">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137652" y="2477062"/>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smtClean="0">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150601" cy="5032376"/>
              </a:xfrm>
            </p:spPr>
            <p:txBody>
              <a:bodyPr/>
              <a:lstStyle/>
              <a:p>
                <a:r>
                  <a:rPr lang="pt-BR" dirty="0"/>
                  <a:t>Aplicando-se o mesmo procedimento aos outros pesos, obtemos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𝑑</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150601" cy="5032376"/>
              </a:xfrm>
              <a:blipFill rotWithShape="0">
                <a:blip r:embed="rId2"/>
                <a:stretch>
                  <a:fillRect l="-929" t="-1937"/>
                </a:stretch>
              </a:blipFill>
            </p:spPr>
            <p:txBody>
              <a:bodyPr/>
              <a:lstStyle/>
              <a:p>
                <a:r>
                  <a:rPr lang="pt-BR">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i="1">
                              <a:latin typeface="Cambria Math" panose="02040503050406030204" pitchFamily="18" charset="0"/>
                            </a:rPr>
                          </m:ctrlPr>
                        </m:dPr>
                        <m:e>
                          <m:r>
                            <a:rPr lang="pt-BR" i="1">
                              <a:latin typeface="Cambria Math" panose="02040503050406030204" pitchFamily="18" charset="0"/>
                            </a:rPr>
                            <m:t>𝑑</m:t>
                          </m:r>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𝑦</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rotWithShape="0">
                <a:blip r:embed="rId2"/>
                <a:stretch>
                  <a:fillRect l="-976" t="-1937" r="-54"/>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78694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5C5349-4D31-D868-8BED-15F10A4DB8DE}"/>
                  </a:ext>
                </a:extLst>
              </p:cNvPr>
              <p:cNvSpPr txBox="1"/>
              <p:nvPr/>
            </p:nvSpPr>
            <p:spPr>
              <a:xfrm>
                <a:off x="1229216" y="1782098"/>
                <a:ext cx="9733568"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o passo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0"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1"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(1 até </a:t>
                </a:r>
                <a14:m>
                  <m:oMath xmlns:m="http://schemas.openxmlformats.org/officeDocument/2006/math">
                    <m:r>
                      <a:rPr lang="pt-BR" sz="2000" b="0" i="1" smtClean="0">
                        <a:latin typeface="Cambria Math" panose="02040503050406030204" pitchFamily="18" charset="0"/>
                      </a:rPr>
                      <m:t>𝑁</m:t>
                    </m:r>
                  </m:oMath>
                </a14:m>
                <a:r>
                  <a:rPr lang="pt-BR" sz="2000" dirty="0"/>
                  <a:t>), faça: </a:t>
                </a:r>
              </a:p>
              <a:p>
                <a:pPr marL="1200150" lvl="2" indent="-285750">
                  <a:buFont typeface="Wingdings" panose="05000000000000000000" pitchFamily="2" charset="2"/>
                  <a:buChar char="§"/>
                </a:pPr>
                <a:r>
                  <a:rPr lang="pt-BR" sz="2000" dirty="0"/>
                  <a:t>Apresente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 amostrada aleatóriamente sem reposição, à rede.</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i="1">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b="1" i="1" smtClean="0">
                            <a:latin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1"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i="1">
                            <a:latin typeface="Cambria Math" panose="02040503050406030204" pitchFamily="18" charset="0"/>
                          </a:rPr>
                        </m:ctrlPr>
                      </m:dPr>
                      <m:e>
                        <m:r>
                          <a:rPr lang="pt-BR" sz="2000" b="1" i="1" smtClean="0">
                            <a:latin typeface="Cambria Math" panose="02040503050406030204" pitchFamily="18" charset="0"/>
                          </a:rPr>
                          <m:t>𝑾</m:t>
                        </m:r>
                        <m:d>
                          <m:dPr>
                            <m:ctrlPr>
                              <a:rPr lang="pt-BR" sz="2000" b="1" i="1">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xmlns="">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1229216" y="1782098"/>
                <a:ext cx="9733568" cy="3391441"/>
              </a:xfrm>
              <a:prstGeom prst="rect">
                <a:avLst/>
              </a:prstGeom>
              <a:blipFill>
                <a:blip r:embed="rId3"/>
                <a:stretch>
                  <a:fillRect l="-501"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838200" y="5264949"/>
                <a:ext cx="11166987" cy="1584473"/>
              </a:xfrm>
              <a:prstGeom prst="rect">
                <a:avLst/>
              </a:prstGeom>
              <a:noFill/>
            </p:spPr>
            <p:txBody>
              <a:bodyPr wrap="square">
                <a:spAutoFit/>
              </a:bodyPr>
              <a:lstStyle/>
              <a:p>
                <a:r>
                  <a:rPr lang="pt-BR" sz="2000" dirty="0">
                    <a:ea typeface="Cambria Math" panose="02040503050406030204" pitchFamily="18" charset="0"/>
                  </a:rPr>
                  <a:t>onde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i="1">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i="1">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dirty="0"/>
                  <a:t>OBS.: O pseudocódigo apresentado implementa qualquer versão do gradiente descendente variando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838200" y="5264949"/>
                <a:ext cx="11166987" cy="1584473"/>
              </a:xfrm>
              <a:prstGeom prst="rect">
                <a:avLst/>
              </a:prstGeom>
              <a:blipFill>
                <a:blip r:embed="rId4"/>
                <a:stretch>
                  <a:fillRect l="-601"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usamos bibliotecas que automatizam o processo.</a:t>
            </a:r>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t>Exemplo: </a:t>
            </a:r>
            <a:r>
              <a:rPr lang="pt-BR" dirty="0" err="1"/>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1959078"/>
            <a:ext cx="11208773" cy="2939844"/>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a rede acima com </a:t>
                </a:r>
                <a:r>
                  <a:rPr lang="pt-BR" b="1" dirty="0"/>
                  <a:t>3 camadas </a:t>
                </a:r>
                <a:r>
                  <a:rPr lang="pt-BR" dirty="0"/>
                  <a:t>como exemplo. </a:t>
                </a:r>
              </a:p>
              <a:p>
                <a:r>
                  <a:rPr lang="pt-BR" dirty="0"/>
                  <a:t>A derivada parcial do erro em relação ao peso </a:t>
                </a:r>
                <a14:m>
                  <m:oMath xmlns:m="http://schemas.openxmlformats.org/officeDocument/2006/math">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da primeira camada é dada por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da forma </a:t>
                </a:r>
                <a:r>
                  <a:rPr lang="en-US" dirty="0" err="1"/>
                  <a:t>abaixo</a:t>
                </a:r>
                <a:r>
                  <a:rPr lang="en-US" dirty="0"/>
                  <a:t> </a:t>
                </a:r>
                <a:r>
                  <a:rPr lang="en-US" dirty="0" err="1"/>
                  <a:t>deixando</a:t>
                </a:r>
                <a:r>
                  <a:rPr lang="en-US" dirty="0"/>
                  <a:t> </a:t>
                </a:r>
                <a:r>
                  <a:rPr lang="en-US" dirty="0" err="1"/>
                  <a:t>apenas</a:t>
                </a:r>
                <a:r>
                  <a:rPr lang="en-US" dirty="0"/>
                  <a:t> as </a:t>
                </a:r>
                <a:r>
                  <a:rPr lang="en-US" dirty="0" err="1"/>
                  <a:t>as</a:t>
                </a:r>
                <a:r>
                  <a:rPr lang="en-US" dirty="0"/>
                  <a:t>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r="-1664"/>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Desaparecimento do gradiente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14:m>
                  <m:oMath xmlns:m="http://schemas.openxmlformats.org/officeDocument/2006/math">
                    <m:r>
                      <a:rPr lang="pt-BR" i="1">
                        <a:latin typeface="Cambria Math" panose="02040503050406030204" pitchFamily="18" charset="0"/>
                      </a:rPr>
                      <m:t>𝑀</m:t>
                    </m:r>
                  </m:oMath>
                </a14:m>
                <a:r>
                  <a:rPr lang="pt-BR" dirty="0"/>
                  <a:t> derivadas das funções de ativação na primeira camada.</a:t>
                </a:r>
              </a:p>
              <a:p>
                <a:r>
                  <a:rPr lang="pt-BR" dirty="0"/>
                  <a:t>As derivadas das funções logística e </a:t>
                </a:r>
                <a:r>
                  <a:rPr lang="pt-BR" dirty="0" err="1"/>
                  <a:t>tanh</a:t>
                </a:r>
                <a:r>
                  <a:rPr lang="pt-BR" dirty="0"/>
                  <a:t> têm valores no máximo iguais a 0.</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r="-10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A8F6D200-7D08-0CCC-145F-94A173627C80}"/>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32B18529-41C0-AF0E-9EA4-ED64EE914AFE}"/>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mc:Choice xmlns:a14="http://schemas.microsoft.com/office/drawing/2010/main" Requires="a14">
          <p:sp>
            <p:nvSpPr>
              <p:cNvPr id="11" name="Retângulo 10"/>
              <p:cNvSpPr/>
              <p:nvPr/>
            </p:nvSpPr>
            <p:spPr>
              <a:xfrm>
                <a:off x="2009889" y="6437900"/>
                <a:ext cx="2817749" cy="404983"/>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i="1">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DE70E2C7-FF35-E904-6977-D68094F5E785}"/>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A8F6D200-7D08-0CCC-145F-94A173627C80}"/>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p:cNvSpPr/>
              <p:nvPr/>
            </p:nvSpPr>
            <p:spPr>
              <a:xfrm>
                <a:off x="7477797" y="6483249"/>
                <a:ext cx="2278894"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1−</m:t>
                      </m:r>
                      <m:sSup>
                        <m:sSupPr>
                          <m:ctrlPr>
                            <a:rPr lang="pt-BR" i="1">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199" y="1825624"/>
                <a:ext cx="11353801"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menores</a:t>
                </a:r>
                <a:r>
                  <a:rPr lang="en-US" dirty="0"/>
                  <a:t> que 0 (no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err="1"/>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b="-3511"/>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i="1" dirty="0">
                    <a:solidFill>
                      <a:schemeClr val="tx1"/>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pt-BR" sz="240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i="1">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rPr>
                          <m:t>𝑓</m:t>
                        </m:r>
                        <m:d>
                          <m:dPr>
                            <m:ctrlPr>
                              <a:rPr lang="pt-BR" sz="1400" i="1">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233578" cy="5032375"/>
              </a:xfrm>
            </p:spPr>
            <p:txBody>
              <a:bodyPr>
                <a:normAutofit/>
              </a:bodyPr>
              <a:lstStyle/>
              <a:p>
                <a:r>
                  <a:rPr lang="pt-BR" dirty="0">
                    <a:solidFill>
                      <a:schemeClr val="tx1"/>
                    </a:solidFill>
                  </a:rPr>
                  <a:t>Suas</a:t>
                </a:r>
                <a:r>
                  <a:rPr lang="pt-BR" b="0" dirty="0">
                    <a:solidFill>
                      <a:schemeClr val="tx1"/>
                    </a:solidFill>
                    <a:effectLst/>
                  </a:rPr>
                  <a:t> principais </a:t>
                </a:r>
                <a:r>
                  <a:rPr lang="pt-BR" b="1" dirty="0">
                    <a:solidFill>
                      <a:srgbClr val="00B050"/>
                    </a:solidFill>
                    <a:effectLst/>
                  </a:rPr>
                  <a:t>vantagens</a:t>
                </a:r>
                <a:r>
                  <a:rPr lang="pt-BR" b="0" dirty="0">
                    <a:solidFill>
                      <a:schemeClr val="tx1"/>
                    </a:solidFill>
                    <a:effectLst/>
                  </a:rPr>
                  <a:t> são a sua </a:t>
                </a:r>
                <a:r>
                  <a:rPr lang="pt-BR" b="1" dirty="0">
                    <a:solidFill>
                      <a:srgbClr val="00B050"/>
                    </a:solidFill>
                    <a:effectLst/>
                  </a:rPr>
                  <a:t>simplicidade e 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a:t>
                </a:r>
                <a:r>
                  <a:rPr lang="pt-BR" b="1" dirty="0">
                    <a:solidFill>
                      <a:srgbClr val="0070C0"/>
                    </a:solidFill>
                    <a:effectLst/>
                  </a:rPr>
                  <a:t> mais </a:t>
                </a:r>
                <a:r>
                  <a:rPr lang="pt-BR" b="1" dirty="0">
                    <a:solidFill>
                      <a:srgbClr val="0070C0"/>
                    </a:solidFill>
                  </a:rPr>
                  <a:t>rápidas de se calcular </a:t>
                </a:r>
                <a:r>
                  <a:rPr lang="pt-BR" dirty="0"/>
                  <a:t>do que as funções logística e tangente hiperbólica.</a:t>
                </a:r>
                <a:endParaRPr lang="pt-BR" b="0" dirty="0">
                  <a:effectLst/>
                </a:endParaRPr>
              </a:p>
              <a:p>
                <a:r>
                  <a:rPr lang="pt-BR" dirty="0"/>
                  <a:t>Além disso, a</a:t>
                </a:r>
                <a:r>
                  <a:rPr lang="pt-BR" b="0" dirty="0">
                    <a:effectLst/>
                  </a:rPr>
                  <a:t>juda a </a:t>
                </a:r>
                <a:r>
                  <a:rPr lang="pt-BR" b="1" dirty="0">
                    <a:solidFill>
                      <a:srgbClr val="00B050"/>
                    </a:solidFill>
                    <a:effectLst/>
                  </a:rPr>
                  <a:t>minimizar o problema do desaparecimento de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smtClean="0">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i="1" smtClean="0">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endParaRPr lang="pt-BR" b="0" i="0" dirty="0">
                  <a:effectLst/>
                </a:endParaRP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233578" cy="5032375"/>
              </a:xfrm>
              <a:blipFill>
                <a:blip r:embed="rId3"/>
                <a:stretch>
                  <a:fillRect l="-1516" t="-1937"/>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200" i="1" smtClean="0">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desvantagem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i="1" smtClean="0">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008"/>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smtClean="0">
                          <a:latin typeface="Cambria Math" panose="02040503050406030204" pitchFamily="18" charset="0"/>
                        </a:rPr>
                        <m:t>𝑓</m:t>
                      </m:r>
                      <m:d>
                        <m:dPr>
                          <m:ctrlPr>
                            <a:rPr lang="pt-BR" sz="1100" i="1">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pt-BR" sz="1100" i="1" smtClean="0">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6096000" y="1825624"/>
                <a:ext cx="6012263"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5"/>
                    </a:solidFill>
                  </a:rPr>
                  <a:t>possuam derivada diferente de zero para </a:t>
                </a:r>
                <a14:m>
                  <m:oMath xmlns:m="http://schemas.openxmlformats.org/officeDocument/2006/math">
                    <m:r>
                      <a:rPr lang="pt-BR" b="1" i="1">
                        <a:solidFill>
                          <a:schemeClr val="accent5"/>
                        </a:solidFill>
                        <a:latin typeface="Cambria Math" panose="02040503050406030204" pitchFamily="18" charset="0"/>
                      </a:rPr>
                      <m:t>𝒈</m:t>
                    </m:r>
                    <m:d>
                      <m:dPr>
                        <m:ctrlPr>
                          <a:rPr lang="pt-BR" b="1" i="1">
                            <a:solidFill>
                              <a:schemeClr val="accent5"/>
                            </a:solidFill>
                            <a:latin typeface="Cambria Math" panose="02040503050406030204" pitchFamily="18" charset="0"/>
                          </a:rPr>
                        </m:ctrlPr>
                      </m:dPr>
                      <m:e>
                        <m:r>
                          <a:rPr lang="pt-BR" b="1" i="1">
                            <a:solidFill>
                              <a:schemeClr val="accent5"/>
                            </a:solidFill>
                            <a:latin typeface="Cambria Math" panose="02040503050406030204" pitchFamily="18" charset="0"/>
                          </a:rPr>
                          <m:t>𝒙</m:t>
                        </m:r>
                      </m:e>
                    </m:d>
                    <m:r>
                      <a:rPr lang="pt-BR" b="1" i="1">
                        <a:solidFill>
                          <a:schemeClr val="accent5"/>
                        </a:solidFill>
                        <a:latin typeface="Cambria Math" panose="02040503050406030204" pitchFamily="18" charset="0"/>
                      </a:rPr>
                      <m:t>&lt;</m:t>
                    </m:r>
                    <m:r>
                      <a:rPr lang="pt-BR" b="1" i="1">
                        <a:solidFill>
                          <a:schemeClr val="accent5"/>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a:t>
                </a:r>
                <a:r>
                  <a:rPr lang="pt-BR" dirty="0" err="1">
                    <a:hlinkClick r:id="rId3"/>
                  </a:rPr>
                  <a:t>Error</a:t>
                </a:r>
                <a:r>
                  <a:rPr lang="pt-BR" dirty="0">
                    <a:hlinkClick r:id="rId3"/>
                  </a:rPr>
                  <a:t> Linear Unit (GELU), </a:t>
                </a:r>
              </a:p>
              <a:p>
                <a:pPr lvl="1">
                  <a:buFont typeface="Wingdings" panose="05000000000000000000" pitchFamily="2" charset="2"/>
                  <a:buChar char="§"/>
                </a:pPr>
                <a:r>
                  <a:rPr lang="pt-BR" dirty="0">
                    <a:hlinkClick r:id="rId3"/>
                  </a:rPr>
                  <a:t>etc.</a:t>
                </a:r>
                <a:endParaRPr lang="pt-BR" dirty="0"/>
              </a:p>
            </p:txBody>
          </p:sp>
        </mc:Choice>
        <mc:Fallback>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6096000" y="1825624"/>
                <a:ext cx="6012263" cy="5032375"/>
              </a:xfrm>
              <a:blipFill>
                <a:blip r:embed="rId4"/>
                <a:stretch>
                  <a:fillRect l="-1826" t="-1937"/>
                </a:stretch>
              </a:blipFill>
            </p:spPr>
            <p:txBody>
              <a:bodyPr/>
              <a:lstStyle/>
              <a:p>
                <a:r>
                  <a:rPr lang="en-US">
                    <a:noFill/>
                  </a:rPr>
                  <a:t> </a:t>
                </a:r>
              </a:p>
            </p:txBody>
          </p:sp>
        </mc:Fallback>
      </mc:AlternateContent>
      <p:pic>
        <p:nvPicPr>
          <p:cNvPr id="3074" name="Picture 2">
            <a:extLst>
              <a:ext uri="{FF2B5EF4-FFF2-40B4-BE49-F238E27FC236}">
                <a16:creationId xmlns:a16="http://schemas.microsoft.com/office/drawing/2014/main" id="{68C782F8-5C7A-4BE6-7EEC-5451A1D237D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4681" y="1439693"/>
            <a:ext cx="4530150" cy="5282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56383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dirty="0"/>
                            <m:t> </m:t>
                          </m:r>
                        </m:den>
                      </m:f>
                      <m:r>
                        <a:rPr lang="pt-BR" i="1">
                          <a:latin typeface="Cambria Math" panose="02040503050406030204" pitchFamily="18" charset="0"/>
                        </a:rPr>
                        <m:t>=</m:t>
                      </m:r>
                      <m:r>
                        <a:rPr lang="pt-BR" i="1">
                          <a:latin typeface="Cambria Math" panose="02040503050406030204" pitchFamily="18" charset="0"/>
                        </a:rPr>
                        <m:t>−2</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en-US"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en-US"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144535" cy="5032375"/>
          </a:xfrm>
        </p:spPr>
        <p:txBody>
          <a:bodyPr>
            <a:normAutofit/>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garante que a variância das ativações permaneça a mesma ao longo de todas as camadas. Isso garante que o gradiente retropropagado não tenha multiplicações com valores muito pequenos ou muito grandes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padroniza as ativações das camadas durante o treinamento. Isso estabiliza os gradientes e acelera a convergência.</a:t>
            </a:r>
          </a:p>
          <a:p>
            <a:pPr lvl="1">
              <a:buFont typeface="Wingdings" panose="05000000000000000000" pitchFamily="2" charset="2"/>
              <a:buChar char="§"/>
            </a:pPr>
            <a:r>
              <a:rPr lang="pt-BR" b="1" dirty="0"/>
              <a:t>Poda do gradiente</a:t>
            </a:r>
            <a:r>
              <a:rPr lang="pt-BR" dirty="0"/>
              <a:t>: limita o valor máximo do gradiente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criam caminhos diretos entre camadas. Isso facilita a propagação do gradiente em redes muito profundas.</a:t>
            </a:r>
          </a:p>
        </p:txBody>
      </p:sp>
    </p:spTree>
    <p:extLst>
      <p:ext uri="{BB962C8B-B14F-4D97-AF65-F5344CB8AC3E}">
        <p14:creationId xmlns:p14="http://schemas.microsoft.com/office/powerpoint/2010/main" val="368030221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8785</TotalTime>
  <Words>8948</Words>
  <Application>Microsoft Office PowerPoint</Application>
  <PresentationFormat>Widescreen</PresentationFormat>
  <Paragraphs>716</Paragraphs>
  <Slides>59</Slides>
  <Notes>26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PowerPoint Presentation</vt:lpstr>
      <vt:lpstr>Redes neurais artificiais</vt:lpstr>
      <vt:lpstr>PowerPoint Presentation</vt:lpstr>
      <vt:lpstr>PowerPoint Presentation</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Redes neurais artificiais</vt:lpstr>
      <vt:lpstr>Redes neurais artificiais</vt:lpstr>
      <vt:lpstr>PowerPoint Presentation</vt:lpstr>
      <vt:lpstr>Redes neurais artificiais</vt:lpstr>
      <vt:lpstr>Redes neurais artificiais</vt:lpstr>
      <vt:lpstr>Redes neurais artificiais</vt:lpstr>
      <vt:lpstr>Redes neurais artificiais</vt:lpstr>
      <vt:lpstr>Aproximação universal de funções</vt:lpstr>
      <vt:lpstr>Aproximação universal de funções</vt:lpstr>
      <vt:lpstr>PowerPoint Presentation</vt:lpstr>
      <vt:lpstr>Backpropagation</vt:lpstr>
      <vt:lpstr>PowerPoint Presentation</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PowerPoint Presentation</vt:lpstr>
      <vt:lpstr>PowerPoint Presentation</vt:lpstr>
      <vt:lpstr>Exemplo</vt:lpstr>
      <vt:lpstr>Lista de exercícios</vt:lpstr>
      <vt:lpstr>PowerPoint Presentation</vt:lpstr>
      <vt:lpstr>PowerPoint Presentation</vt:lpstr>
      <vt:lpstr>PowerPoint Presentation</vt:lpstr>
      <vt:lpstr>Desaparecimento do gradiente</vt:lpstr>
      <vt:lpstr>Desaparecimento do gradiente</vt:lpstr>
      <vt:lpstr>Desaparecimento do gradiente</vt:lpstr>
      <vt:lpstr>Desaparecimento do gradiente</vt:lpstr>
      <vt:lpstr>PowerPoint Presentation</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1874</cp:revision>
  <dcterms:created xsi:type="dcterms:W3CDTF">2020-01-20T13:50:05Z</dcterms:created>
  <dcterms:modified xsi:type="dcterms:W3CDTF">2026-03-12T12:03:51Z</dcterms:modified>
</cp:coreProperties>
</file>