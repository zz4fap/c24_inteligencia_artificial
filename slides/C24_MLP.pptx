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588" r:id="rId44"/>
    <p:sldId id="589" r:id="rId45"/>
    <p:sldId id="586" r:id="rId46"/>
    <p:sldId id="587" r:id="rId47"/>
    <p:sldId id="585" r:id="rId48"/>
    <p:sldId id="583" r:id="rId49"/>
    <p:sldId id="592" r:id="rId50"/>
    <p:sldId id="557" r:id="rId51"/>
    <p:sldId id="593" r:id="rId52"/>
    <p:sldId id="594" r:id="rId53"/>
    <p:sldId id="595" r:id="rId54"/>
    <p:sldId id="596" r:id="rId55"/>
    <p:sldId id="597" r:id="rId56"/>
    <p:sldId id="598" r:id="rId57"/>
    <p:sldId id="599" r:id="rId58"/>
    <p:sldId id="600" r:id="rId59"/>
    <p:sldId id="549" r:id="rId6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7893" autoAdjust="0"/>
  </p:normalViewPr>
  <p:slideViewPr>
    <p:cSldViewPr snapToGrid="0">
      <p:cViewPr varScale="1">
        <p:scale>
          <a:sx n="64" d="100"/>
          <a:sy n="64" d="100"/>
        </p:scale>
        <p:origin x="1104"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11/03/2026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11/03/2026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55.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2169243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7.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image" Target="../media/image78.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49.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1.png"/><Relationship Id="rId7" Type="http://schemas.openxmlformats.org/officeDocument/2006/relationships/image" Target="../media/image38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5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54.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41.png"/><Relationship Id="rId7" Type="http://schemas.openxmlformats.org/officeDocument/2006/relationships/image" Target="../media/image6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55.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7.png"/><Relationship Id="rId7" Type="http://schemas.openxmlformats.org/officeDocument/2006/relationships/image" Target="../media/image49.png"/><Relationship Id="rId12" Type="http://schemas.openxmlformats.org/officeDocument/2006/relationships/image" Target="../media/image54.png"/><Relationship Id="rId17" Type="http://schemas.openxmlformats.org/officeDocument/2006/relationships/image" Target="../media/image59.png"/><Relationship Id="rId2" Type="http://schemas.openxmlformats.org/officeDocument/2006/relationships/notesSlide" Target="../notesSlides/notesSlide25.xml"/><Relationship Id="rId16"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482.png"/><Relationship Id="rId11" Type="http://schemas.openxmlformats.org/officeDocument/2006/relationships/image" Target="../media/image53.png"/><Relationship Id="rId5" Type="http://schemas.openxmlformats.org/officeDocument/2006/relationships/image" Target="../media/image471.png"/><Relationship Id="rId15" Type="http://schemas.openxmlformats.org/officeDocument/2006/relationships/image" Target="../media/image57.png"/><Relationship Id="rId10" Type="http://schemas.openxmlformats.org/officeDocument/2006/relationships/image" Target="../media/image520.png"/><Relationship Id="rId4" Type="http://schemas.openxmlformats.org/officeDocument/2006/relationships/image" Target="../media/image48.png"/><Relationship Id="rId9" Type="http://schemas.openxmlformats.org/officeDocument/2006/relationships/image" Target="../media/image51.png"/><Relationship Id="rId14" Type="http://schemas.openxmlformats.org/officeDocument/2006/relationships/image" Target="../media/image560.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xmlns=""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xmlns=""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xmlns=""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xmlns=""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xmlns=""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xmlns=""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xmlns=""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xmlns=""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xmlns=""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smtClean="0"/>
              </a:p>
              <a:p>
                <a:pPr marL="0" indent="0">
                  <a:buNone/>
                </a:pPr>
                <a:endParaRPr lang="pt-BR" dirty="0" smtClean="0"/>
              </a:p>
              <a:p>
                <a:r>
                  <a:rPr lang="pt-BR" dirty="0" smtClean="0"/>
                  <a:t>Qual é a </a:t>
                </a:r>
                <a:r>
                  <a:rPr lang="pt-BR" dirty="0"/>
                  <a:t>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smtClean="0"/>
              </a:p>
              <a:p>
                <a:r>
                  <a:rPr lang="pt-BR" dirty="0" smtClean="0"/>
                  <a:t>Calculando as derivadas, exceto as das funções de ativação, temos</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smtClean="0"/>
              </a:p>
              <a:p>
                <a:r>
                  <a:rPr lang="pt-BR" dirty="0" smtClean="0"/>
                  <a:t>Exemplos: derivadas das funções de ativação logística e </a:t>
                </a:r>
                <a:r>
                  <a:rPr lang="pt-BR" dirty="0" err="1" smtClean="0"/>
                  <a:t>tanh</a:t>
                </a:r>
                <a:endParaRPr lang="pt-BR" dirty="0" smtClean="0"/>
              </a:p>
              <a:p>
                <a:pPr lvl="1">
                  <a:buFont typeface="Wingdings" panose="05000000000000000000" pitchFamily="2" charset="2"/>
                  <a:buChar char="§"/>
                </a:pPr>
                <a:r>
                  <a:rPr lang="pt-BR" dirty="0" smtClean="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smtClean="0"/>
              </a:p>
              <a:p>
                <a:pPr lvl="1">
                  <a:buFont typeface="Wingdings" panose="05000000000000000000" pitchFamily="2" charset="2"/>
                  <a:buChar char="§"/>
                </a:pPr>
                <a:r>
                  <a:rPr lang="pt-BR" dirty="0" err="1" smtClean="0"/>
                  <a:t>Tanh</a:t>
                </a:r>
                <a:r>
                  <a:rPr lang="pt-BR" dirty="0" smtClean="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a14:m>
                <a:endParaRPr lang="pt-BR" dirty="0"/>
              </a:p>
              <a:p>
                <a:pPr lvl="1"/>
                <a:endParaRPr lang="pt-BR" dirty="0" smtClean="0"/>
              </a:p>
              <a:p>
                <a:endParaRPr lang="pt-BR" dirty="0" smtClean="0"/>
              </a:p>
            </p:txBody>
          </p:sp>
        </mc:Choice>
        <mc:Fallback>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smtClean="0"/>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t>Lista </a:t>
            </a:r>
            <a:r>
              <a:rPr lang="pt-BR" dirty="0" smtClean="0"/>
              <a:t>#</a:t>
            </a:r>
            <a:r>
              <a:rPr lang="pt-BR" dirty="0"/>
              <a:t>9</a:t>
            </a:r>
            <a:r>
              <a:rPr lang="pt-BR" dirty="0" smtClean="0"/>
              <a:t>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smtClean="0"/>
              <a:t>Anexo I: </a:t>
            </a:r>
            <a:r>
              <a:rPr lang="pt-BR" sz="6600" dirty="0" smtClean="0"/>
              <a:t>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a:t>
                </a:r>
                <a:r>
                  <a:rPr lang="pt-BR" dirty="0" smtClean="0"/>
                  <a:t>usar </a:t>
                </a:r>
                <a:r>
                  <a:rPr lang="pt-BR" dirty="0"/>
                  <a:t>a rede acima 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a:t>
                </a:r>
                <a:r>
                  <a:rPr lang="pt-BR" dirty="0" smtClean="0"/>
                  <a:t>da primeira camada é </a:t>
                </a:r>
                <a:r>
                  <a:rPr lang="pt-BR" dirty="0"/>
                  <a:t>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xmlns:a14="http://schemas.microsoft.com/office/drawing/2010/main" xmlns=""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rotWithShape="0">
                <a:blip r:embed="rId2"/>
                <a:stretch>
                  <a:fillRect l="-913" t="-2413" r="-1664"/>
                </a:stretch>
              </a:blipFill>
            </p:spPr>
            <p:txBody>
              <a:bodyPr/>
              <a:lstStyle/>
              <a:p>
                <a:r>
                  <a:rPr lang="pt-BR">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smtClean="0"/>
              </a:p>
              <a:p>
                <a:r>
                  <a:rPr lang="pt-BR" dirty="0" smtClean="0"/>
                  <a:t>Extrapolando </a:t>
                </a:r>
                <a:r>
                  <a:rPr lang="pt-BR" dirty="0"/>
                  <a:t>a equação acima </a:t>
                </a:r>
                <a:r>
                  <a:rPr lang="pt-BR" dirty="0" smtClean="0"/>
                  <a:t>para redes profundas, com </a:t>
                </a:r>
                <a14:m>
                  <m:oMath xmlns:m="http://schemas.openxmlformats.org/officeDocument/2006/math">
                    <m:r>
                      <a:rPr lang="pt-BR" b="0" i="1" smtClean="0">
                        <a:latin typeface="Cambria Math" panose="02040503050406030204" pitchFamily="18" charset="0"/>
                      </a:rPr>
                      <m:t>𝑀</m:t>
                    </m:r>
                  </m:oMath>
                </a14:m>
                <a:r>
                  <a:rPr lang="pt-BR" dirty="0" smtClean="0"/>
                  <a:t> camadas, teremos a multiplicação de </a:t>
                </a:r>
                <a14:m>
                  <m:oMath xmlns:m="http://schemas.openxmlformats.org/officeDocument/2006/math">
                    <m:r>
                      <a:rPr lang="pt-BR" i="1">
                        <a:latin typeface="Cambria Math" panose="02040503050406030204" pitchFamily="18" charset="0"/>
                      </a:rPr>
                      <m:t>𝑀</m:t>
                    </m:r>
                  </m:oMath>
                </a14:m>
                <a:r>
                  <a:rPr lang="pt-BR" dirty="0" smtClean="0"/>
                  <a:t> derivadas parciais das funções de ativação.</a:t>
                </a:r>
              </a:p>
              <a:p>
                <a:r>
                  <a:rPr lang="pt-BR" dirty="0" smtClean="0"/>
                  <a:t>As derivadas das funções logística e </a:t>
                </a:r>
                <a:r>
                  <a:rPr lang="pt-BR" dirty="0" err="1" smtClean="0"/>
                  <a:t>tanh</a:t>
                </a:r>
                <a:r>
                  <a:rPr lang="pt-BR" dirty="0" smtClean="0"/>
                  <a:t> têm valores no máximo iguais a 0.</a:t>
                </a:r>
                <a:endParaRPr lang="pt-BR"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913" r="-107"/>
                </a:stretch>
              </a:blipFill>
            </p:spPr>
            <p:txBody>
              <a:bodyPr/>
              <a:lstStyle/>
              <a:p>
                <a:r>
                  <a:rPr lang="pt-BR">
                    <a:noFill/>
                  </a:rPr>
                  <a:t> </a:t>
                </a:r>
              </a:p>
            </p:txBody>
          </p:sp>
        </mc:Fallback>
      </mc:AlternateContent>
      <p:sp>
        <p:nvSpPr>
          <p:cNvPr id="4" name="Rectangle 7">
            <a:extLst>
              <a:ext uri="{FF2B5EF4-FFF2-40B4-BE49-F238E27FC236}">
                <a16:creationId xmlns=""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a:t>
            </a:r>
            <a:r>
              <a:rPr lang="pt-BR" sz="1400" dirty="0" smtClean="0"/>
              <a:t>função </a:t>
            </a:r>
            <a:r>
              <a:rPr lang="pt-BR" sz="1400" dirty="0"/>
              <a:t>l</a:t>
            </a:r>
            <a:r>
              <a:rPr lang="pt-BR" sz="1400" dirty="0" smtClean="0"/>
              <a:t>ogística</a:t>
            </a:r>
            <a:endParaRPr lang="pt-BR" sz="1400" dirty="0"/>
          </a:p>
        </p:txBody>
      </p:sp>
      <p:pic>
        <p:nvPicPr>
          <p:cNvPr id="5" name="Imagem 4">
            <a:extLst>
              <a:ext uri="{FF2B5EF4-FFF2-40B4-BE49-F238E27FC236}">
                <a16:creationId xmlns=""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mc:Choice xmlns:a14="http://schemas.microsoft.com/office/drawing/2010/main" Requires="a14">
          <p:sp>
            <p:nvSpPr>
              <p:cNvPr id="11" name="Retângulo 10"/>
              <p:cNvSpPr/>
              <p:nvPr/>
            </p:nvSpPr>
            <p:spPr>
              <a:xfrm>
                <a:off x="1990225" y="6437900"/>
                <a:ext cx="2921249" cy="404983"/>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p:sp>
            <p:nvSpPr>
              <p:cNvPr id="11" name="Retângulo 10"/>
              <p:cNvSpPr>
                <a:spLocks noRot="1" noChangeAspect="1" noMove="1" noResize="1" noEditPoints="1" noAdjustHandles="1" noChangeArrowheads="1" noChangeShapeType="1" noTextEdit="1"/>
              </p:cNvSpPr>
              <p:nvPr/>
            </p:nvSpPr>
            <p:spPr>
              <a:xfrm>
                <a:off x="1990225" y="6437900"/>
                <a:ext cx="2921249" cy="404983"/>
              </a:xfrm>
              <a:prstGeom prst="rect">
                <a:avLst/>
              </a:prstGeom>
              <a:blipFill rotWithShape="0">
                <a:blip r:embed="rId4"/>
                <a:stretch>
                  <a:fillRect b="-10448"/>
                </a:stretch>
              </a:blipFill>
            </p:spPr>
            <p:txBody>
              <a:bodyPr/>
              <a:lstStyle/>
              <a:p>
                <a:r>
                  <a:rPr lang="pt-BR">
                    <a:noFill/>
                  </a:rPr>
                  <a:t> </a:t>
                </a:r>
              </a:p>
            </p:txBody>
          </p:sp>
        </mc:Fallback>
      </mc:AlternateContent>
      <p:pic>
        <p:nvPicPr>
          <p:cNvPr id="12" name="Imagem 11">
            <a:extLst>
              <a:ext uri="{FF2B5EF4-FFF2-40B4-BE49-F238E27FC236}">
                <a16:creationId xmlns=""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a:t>
            </a:r>
            <a:r>
              <a:rPr lang="pt-BR" sz="1400" dirty="0" smtClean="0"/>
              <a:t>função </a:t>
            </a:r>
            <a:r>
              <a:rPr lang="pt-BR" sz="1400" dirty="0" err="1" smtClean="0"/>
              <a:t>tanh</a:t>
            </a:r>
            <a:endParaRPr lang="pt-BR" sz="1400" dirty="0"/>
          </a:p>
        </p:txBody>
      </p:sp>
      <mc:AlternateContent xmlns:mc="http://schemas.openxmlformats.org/markup-compatibility/2006">
        <mc:Choice xmlns:a14="http://schemas.microsoft.com/office/drawing/2010/main" Requires="a14">
          <p:sp>
            <p:nvSpPr>
              <p:cNvPr id="15" name="Retângulo 14"/>
              <p:cNvSpPr/>
              <p:nvPr/>
            </p:nvSpPr>
            <p:spPr>
              <a:xfrm>
                <a:off x="7477797" y="6483249"/>
                <a:ext cx="2278894"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199" y="1825624"/>
                <a:ext cx="11353801" cy="5032375"/>
              </a:xfrm>
            </p:spPr>
            <p:txBody>
              <a:bodyPr>
                <a:normAutofit fontScale="92500" lnSpcReduction="10000"/>
              </a:bodyPr>
              <a:lstStyle/>
              <a:p>
                <a:r>
                  <a:rPr lang="en-US" dirty="0" smtClean="0"/>
                  <a:t>Se </a:t>
                </a:r>
                <a:r>
                  <a:rPr lang="en-US" dirty="0" err="1" smtClean="0"/>
                  <a:t>usarmos</a:t>
                </a:r>
                <a:r>
                  <a:rPr lang="en-US" dirty="0" smtClean="0"/>
                  <a:t> a </a:t>
                </a:r>
                <a:r>
                  <a:rPr lang="en-US" dirty="0" err="1" smtClean="0"/>
                  <a:t>função</a:t>
                </a:r>
                <a:r>
                  <a:rPr lang="en-US" dirty="0" smtClean="0"/>
                  <a:t> </a:t>
                </a:r>
                <a:r>
                  <a:rPr lang="en-US" dirty="0" err="1" smtClean="0"/>
                  <a:t>logística</a:t>
                </a:r>
                <a:r>
                  <a:rPr lang="en-US" dirty="0" smtClean="0"/>
                  <a:t>, </a:t>
                </a:r>
                <a:r>
                  <a:rPr lang="en-US" dirty="0" err="1" smtClean="0"/>
                  <a:t>teremos</a:t>
                </a:r>
                <a:r>
                  <a:rPr lang="en-US" dirty="0" smtClean="0"/>
                  <a:t> a </a:t>
                </a:r>
                <a:r>
                  <a:rPr lang="en-US" dirty="0" err="1" smtClean="0"/>
                  <a:t>multiplicação</a:t>
                </a:r>
                <a:r>
                  <a:rPr lang="en-US" dirty="0" smtClean="0"/>
                  <a:t> de </a:t>
                </a:r>
                <a:r>
                  <a:rPr lang="en-US" dirty="0" err="1" smtClean="0"/>
                  <a:t>vários</a:t>
                </a:r>
                <a:r>
                  <a:rPr lang="en-US" dirty="0" smtClean="0"/>
                  <a:t> </a:t>
                </a:r>
                <a:r>
                  <a:rPr lang="en-US" dirty="0" err="1" smtClean="0"/>
                  <a:t>termos</a:t>
                </a:r>
                <a:r>
                  <a:rPr lang="en-US" dirty="0" smtClean="0"/>
                  <a:t> </a:t>
                </a:r>
                <a:r>
                  <a:rPr lang="en-US" dirty="0" err="1" smtClean="0"/>
                  <a:t>menores</a:t>
                </a:r>
                <a:r>
                  <a:rPr lang="en-US" dirty="0" smtClean="0"/>
                  <a:t> que 0 (no </a:t>
                </a:r>
                <a:r>
                  <a:rPr lang="en-US" dirty="0" err="1" smtClean="0"/>
                  <a:t>máximo</a:t>
                </a:r>
                <a:r>
                  <a:rPr lang="en-US" dirty="0" smtClean="0"/>
                  <a:t> 0.25).</a:t>
                </a:r>
              </a:p>
              <a:p>
                <a:r>
                  <a:rPr lang="en-US" dirty="0" err="1" smtClean="0"/>
                  <a:t>Usando</a:t>
                </a:r>
                <a:r>
                  <a:rPr lang="en-US" dirty="0" smtClean="0"/>
                  <a:t> a </a:t>
                </a:r>
                <a:r>
                  <a:rPr lang="en-US" dirty="0" err="1" smtClean="0"/>
                  <a:t>função</a:t>
                </a:r>
                <a:r>
                  <a:rPr lang="en-US" dirty="0" smtClean="0"/>
                  <a:t> </a:t>
                </a:r>
                <a:r>
                  <a:rPr lang="en-US" dirty="0" err="1" smtClean="0"/>
                  <a:t>tanh</a:t>
                </a:r>
                <a:r>
                  <a:rPr lang="en-US" dirty="0" smtClean="0"/>
                  <a:t>, </a:t>
                </a:r>
                <a:r>
                  <a:rPr lang="en-US" dirty="0" err="1" smtClean="0"/>
                  <a:t>teremos</a:t>
                </a:r>
                <a:r>
                  <a:rPr lang="en-US" dirty="0" smtClean="0"/>
                  <a:t> a </a:t>
                </a:r>
                <a:r>
                  <a:rPr lang="en-US" dirty="0" err="1" smtClean="0"/>
                  <a:t>multiplicação</a:t>
                </a:r>
                <a:r>
                  <a:rPr lang="en-US" dirty="0" smtClean="0"/>
                  <a:t> de </a:t>
                </a:r>
                <a:r>
                  <a:rPr lang="en-US" dirty="0" err="1" smtClean="0"/>
                  <a:t>vários</a:t>
                </a:r>
                <a:r>
                  <a:rPr lang="en-US" dirty="0" smtClean="0"/>
                  <a:t> </a:t>
                </a:r>
                <a:r>
                  <a:rPr lang="en-US" dirty="0" err="1" smtClean="0"/>
                  <a:t>termos</a:t>
                </a:r>
                <a:r>
                  <a:rPr lang="en-US" dirty="0" smtClean="0"/>
                  <a:t> com </a:t>
                </a:r>
                <a:r>
                  <a:rPr lang="en-US" dirty="0" err="1" smtClean="0"/>
                  <a:t>valores</a:t>
                </a:r>
                <a:r>
                  <a:rPr lang="en-US" dirty="0" smtClean="0"/>
                  <a:t> no </a:t>
                </a:r>
                <a:r>
                  <a:rPr lang="en-US" dirty="0" err="1" smtClean="0"/>
                  <a:t>máximo</a:t>
                </a:r>
                <a:r>
                  <a:rPr lang="en-US" dirty="0" smtClean="0"/>
                  <a:t> </a:t>
                </a:r>
                <a:r>
                  <a:rPr lang="en-US" dirty="0" err="1" smtClean="0"/>
                  <a:t>iguais</a:t>
                </a:r>
                <a:r>
                  <a:rPr lang="en-US" dirty="0" smtClean="0"/>
                  <a:t> a 1, mas </a:t>
                </a:r>
                <a:r>
                  <a:rPr lang="en-US" dirty="0" err="1" smtClean="0"/>
                  <a:t>apenas</a:t>
                </a:r>
                <a:r>
                  <a:rPr lang="en-US" dirty="0" smtClean="0"/>
                  <a:t> </a:t>
                </a:r>
                <a:r>
                  <a:rPr lang="en-US" dirty="0" err="1" smtClean="0"/>
                  <a:t>quando</a:t>
                </a:r>
                <a:r>
                  <a:rPr lang="en-US" dirty="0" smtClean="0"/>
                  <a:t> a entrada é </a:t>
                </a:r>
                <a:r>
                  <a:rPr lang="en-US" dirty="0" err="1" smtClean="0"/>
                  <a:t>igual</a:t>
                </a:r>
                <a:r>
                  <a:rPr lang="en-US" dirty="0" smtClean="0"/>
                  <a:t> a 0.</a:t>
                </a:r>
              </a:p>
              <a:p>
                <a:r>
                  <a:rPr lang="pt-BR" dirty="0" smtClean="0"/>
                  <a:t>Assim, em </a:t>
                </a:r>
                <a:r>
                  <a:rPr lang="pt-BR" dirty="0"/>
                  <a:t>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a:t>
                </a:r>
                <a:r>
                  <a:rPr lang="pt-BR" dirty="0" smtClean="0"/>
                  <a:t>valores, em geral, menores do que 1 para </a:t>
                </a:r>
                <a:r>
                  <a:rPr lang="pt-BR" dirty="0"/>
                  <a:t>calcular os vetores gradiente das primeiras camadas.</a:t>
                </a:r>
              </a:p>
              <a:p>
                <a:r>
                  <a:rPr lang="pt-BR" dirty="0"/>
                  <a:t>O que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smtClean="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smtClean="0"/>
                  <a:t>.</a:t>
                </a:r>
              </a:p>
              <a:p>
                <a:r>
                  <a:rPr lang="pt-BR" dirty="0"/>
                  <a:t>Isso faz com que as </a:t>
                </a:r>
                <a:r>
                  <a:rPr lang="pt-BR" b="1" i="1" dirty="0">
                    <a:solidFill>
                      <a:schemeClr val="accent2"/>
                    </a:solidFill>
                  </a:rPr>
                  <a:t>primeiras camadas aprendam lentamente ou nem aprendam</a:t>
                </a:r>
                <a:r>
                  <a:rPr lang="pt-BR" dirty="0"/>
                  <a:t>, pois têm </a:t>
                </a:r>
                <a:r>
                  <a:rPr lang="pt-BR" b="1" i="1" dirty="0">
                    <a:solidFill>
                      <a:srgbClr val="7030A0"/>
                    </a:solidFill>
                  </a:rPr>
                  <a:t>derivadas muito pequenas</a:t>
                </a:r>
                <a:r>
                  <a:rPr lang="pt-BR" dirty="0"/>
                  <a:t>, </a:t>
                </a:r>
                <a:r>
                  <a:rPr lang="pt-BR" b="1" i="1" dirty="0">
                    <a:solidFill>
                      <a:schemeClr val="accent5"/>
                    </a:solidFill>
                  </a:rPr>
                  <a:t>tendendo a zero</a:t>
                </a:r>
                <a:r>
                  <a:rPr lang="pt-BR" dirty="0" smtClean="0"/>
                  <a:t>.</a:t>
                </a:r>
                <a:endParaRPr lang="pt-BR" dirty="0"/>
              </a:p>
            </p:txBody>
          </p:sp>
        </mc:Choice>
        <mc:Fallback>
          <p:sp>
            <p:nvSpPr>
              <p:cNvPr id="3" name="Content Placeholder 2">
                <a:extLst>
                  <a:ext uri="{FF2B5EF4-FFF2-40B4-BE49-F238E27FC236}">
                    <a16:creationId xmlns:a16="http://schemas.microsoft.com/office/drawing/2014/main" xmlns:a14="http://schemas.microsoft.com/office/drawing/2010/main" xmlns=""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805" t="-2421" r="-483"/>
                </a:stretch>
              </a:blipFill>
            </p:spPr>
            <p:txBody>
              <a:bodyPr/>
              <a:lstStyle/>
              <a:p>
                <a:r>
                  <a:rPr lang="pt-BR">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8299B2A-6128-9D83-D88E-42F9464E8818}"/>
                  </a:ext>
                </a:extLst>
              </p:cNvPr>
              <p:cNvSpPr>
                <a:spLocks noGrp="1"/>
              </p:cNvSpPr>
              <p:nvPr>
                <p:ph idx="1"/>
              </p:nvPr>
            </p:nvSpPr>
            <p:spPr>
              <a:xfrm>
                <a:off x="5154803" y="1825624"/>
                <a:ext cx="6873073" cy="5032375"/>
              </a:xfrm>
            </p:spPr>
            <p:txBody>
              <a:bodyPr>
                <a:normAutofit/>
              </a:bodyPr>
              <a:lstStyle/>
              <a:p>
                <a:r>
                  <a:rPr lang="pt-BR" dirty="0"/>
                  <a:t>Com o surgimento das </a:t>
                </a:r>
                <a:r>
                  <a:rPr lang="pt-BR" b="1" i="1" dirty="0">
                    <a:solidFill>
                      <a:srgbClr val="00B050"/>
                    </a:solidFill>
                  </a:rPr>
                  <a:t>redes neurais profundas</a:t>
                </a:r>
                <a:r>
                  <a:rPr lang="pt-BR" dirty="0"/>
                  <a:t>, e, consequentemente, do problema do </a:t>
                </a:r>
                <a:r>
                  <a:rPr lang="pt-BR" b="1" i="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amplamente utilizadas em redes neurais profundas</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6873073" cy="5032375"/>
              </a:xfrm>
              <a:blipFill>
                <a:blip r:embed="rId3"/>
                <a:stretch>
                  <a:fillRect l="-1597" t="-1937" r="-1597"/>
                </a:stretch>
              </a:blipFill>
            </p:spPr>
            <p:txBody>
              <a:bodyPr/>
              <a:lstStyle/>
              <a:p>
                <a:r>
                  <a:rPr lang="pt-BR">
                    <a:noFill/>
                  </a:rPr>
                  <a:t> </a:t>
                </a:r>
              </a:p>
            </p:txBody>
          </p:sp>
        </mc:Fallback>
      </mc:AlternateContent>
      <p:grpSp>
        <p:nvGrpSpPr>
          <p:cNvPr id="4" name="Agrupar 3">
            <a:extLst>
              <a:ext uri="{FF2B5EF4-FFF2-40B4-BE49-F238E27FC236}">
                <a16:creationId xmlns=""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i="0" dirty="0">
                    <a:solidFill>
                      <a:schemeClr val="tx1"/>
                    </a:solidFill>
                    <a:effectLst/>
                  </a:rPr>
                  <a:t> principais </a:t>
                </a:r>
                <a:r>
                  <a:rPr lang="pt-BR" b="1" i="1" dirty="0">
                    <a:solidFill>
                      <a:srgbClr val="00B050"/>
                    </a:solidFill>
                    <a:effectLst/>
                  </a:rPr>
                  <a:t>vantagens</a:t>
                </a:r>
                <a:r>
                  <a:rPr lang="pt-BR" b="0" i="0" dirty="0">
                    <a:solidFill>
                      <a:schemeClr val="tx1"/>
                    </a:solidFill>
                    <a:effectLst/>
                  </a:rPr>
                  <a:t> são a sua </a:t>
                </a:r>
                <a:r>
                  <a:rPr lang="pt-BR" b="1" i="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i="1" dirty="0">
                    <a:solidFill>
                      <a:srgbClr val="0070C0"/>
                    </a:solidFill>
                  </a:rPr>
                  <a:t>são</a:t>
                </a:r>
                <a:r>
                  <a:rPr lang="pt-BR" b="1" i="1" dirty="0">
                    <a:solidFill>
                      <a:srgbClr val="0070C0"/>
                    </a:solidFill>
                    <a:effectLst/>
                  </a:rPr>
                  <a:t> mais </a:t>
                </a:r>
                <a:r>
                  <a:rPr lang="pt-BR" b="1" i="1" dirty="0">
                    <a:solidFill>
                      <a:srgbClr val="0070C0"/>
                    </a:solidFill>
                  </a:rPr>
                  <a:t>rápidas de se calcular </a:t>
                </a:r>
                <a:r>
                  <a:rPr lang="pt-BR" dirty="0"/>
                  <a:t>do que as funções logística e tangente hiperbólica.</a:t>
                </a:r>
                <a:endParaRPr lang="pt-BR" b="0" i="0" dirty="0">
                  <a:effectLst/>
                </a:endParaRPr>
              </a:p>
              <a:p>
                <a:r>
                  <a:rPr lang="pt-BR" dirty="0"/>
                  <a:t>Além disso, a</a:t>
                </a:r>
                <a:r>
                  <a:rPr lang="pt-BR" b="0" i="0" dirty="0">
                    <a:effectLst/>
                  </a:rPr>
                  <a:t>juda a </a:t>
                </a:r>
                <a:r>
                  <a:rPr lang="pt-BR" b="1" i="1" dirty="0">
                    <a:solidFill>
                      <a:srgbClr val="00B050"/>
                    </a:solidFill>
                    <a:effectLst/>
                  </a:rPr>
                  <a:t>minimizar o problema do desaparecimento de gradiente</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pt-BR">
                    <a:noFill/>
                  </a:rPr>
                  <a:t> </a:t>
                </a:r>
              </a:p>
            </p:txBody>
          </p:sp>
        </mc:Fallback>
      </mc:AlternateContent>
      <p:grpSp>
        <p:nvGrpSpPr>
          <p:cNvPr id="4" name="Agrupar 3">
            <a:extLst>
              <a:ext uri="{FF2B5EF4-FFF2-40B4-BE49-F238E27FC236}">
                <a16:creationId xmlns=""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933741" y="1825624"/>
                <a:ext cx="7067761" cy="5032375"/>
              </a:xfrm>
            </p:spPr>
            <p:txBody>
              <a:bodyPr>
                <a:normAutofit/>
              </a:bodyPr>
              <a:lstStyle/>
              <a:p>
                <a:r>
                  <a:rPr lang="pt-BR" b="0" i="0" dirty="0">
                    <a:effectLst/>
                  </a:rPr>
                  <a:t>Uma desvantagem é que ela causa o problema </a:t>
                </a:r>
                <a:r>
                  <a:rPr lang="pt-BR" dirty="0"/>
                  <a:t>conhecido como</a:t>
                </a:r>
                <a:r>
                  <a:rPr lang="pt-BR" b="0" i="0" dirty="0">
                    <a:effectLst/>
                  </a:rPr>
                  <a:t> </a:t>
                </a:r>
                <a:r>
                  <a:rPr lang="pt-BR" b="1" i="1" dirty="0" err="1">
                    <a:solidFill>
                      <a:srgbClr val="7030A0"/>
                    </a:solidFill>
                    <a:effectLst/>
                  </a:rPr>
                  <a:t>ReLU</a:t>
                </a:r>
                <a:r>
                  <a:rPr lang="pt-BR" b="1" i="1" dirty="0">
                    <a:solidFill>
                      <a:srgbClr val="7030A0"/>
                    </a:solidFill>
                    <a:effectLst/>
                  </a:rPr>
                  <a:t> agonizante</a:t>
                </a:r>
                <a:r>
                  <a:rPr lang="pt-BR" b="0" i="0" dirty="0">
                    <a:effectLst/>
                  </a:rPr>
                  <a:t>.</a:t>
                </a:r>
              </a:p>
              <a:p>
                <a:r>
                  <a:rPr lang="pt-BR" b="0" i="0" dirty="0">
                    <a:effectLst/>
                  </a:rPr>
                  <a:t>Esse </a:t>
                </a:r>
                <a:r>
                  <a:rPr lang="pt-BR" b="1" i="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i="1" dirty="0">
                    <a:solidFill>
                      <a:srgbClr val="7030A0"/>
                    </a:solidFill>
                  </a:rPr>
                  <a:t>negativa</a:t>
                </a:r>
                <a:r>
                  <a:rPr lang="pt-BR" dirty="0"/>
                  <a:t>.</a:t>
                </a:r>
              </a:p>
              <a:p>
                <a:r>
                  <a:rPr lang="pt-BR" dirty="0"/>
                  <a:t>Isso faz com que sua </a:t>
                </a:r>
                <a:r>
                  <a:rPr lang="pt-BR" b="1" i="1" dirty="0">
                    <a:solidFill>
                      <a:srgbClr val="7030A0"/>
                    </a:solidFill>
                  </a:rPr>
                  <a:t>saída e</a:t>
                </a:r>
                <a:r>
                  <a:rPr lang="pt-BR" dirty="0"/>
                  <a:t>, consequentemente, a </a:t>
                </a:r>
                <a:r>
                  <a:rPr lang="pt-BR" b="1" i="1" dirty="0">
                    <a:solidFill>
                      <a:srgbClr val="7030A0"/>
                    </a:solidFill>
                  </a:rPr>
                  <a:t>derivada parcial da função de ativação sejam iguais a 0</a:t>
                </a:r>
                <a:r>
                  <a:rPr lang="pt-BR" dirty="0"/>
                  <a:t>.</a:t>
                </a:r>
              </a:p>
              <a:p>
                <a:r>
                  <a:rPr lang="pt-BR" dirty="0">
                    <a:effectLst/>
                  </a:rPr>
                  <a:t>Quando isso ocorre, o </a:t>
                </a:r>
                <a:r>
                  <a:rPr lang="pt-BR" b="1" i="1" dirty="0">
                    <a:solidFill>
                      <a:srgbClr val="7030A0"/>
                    </a:solidFill>
                    <a:effectLst/>
                  </a:rPr>
                  <a:t>nó </a:t>
                </a:r>
                <a:r>
                  <a:rPr lang="pt-BR" b="1" i="1" dirty="0">
                    <a:solidFill>
                      <a:srgbClr val="FF0000"/>
                    </a:solidFill>
                    <a:effectLst/>
                  </a:rPr>
                  <a:t>não</a:t>
                </a:r>
                <a:r>
                  <a:rPr lang="pt-BR" b="1" i="1" dirty="0">
                    <a:solidFill>
                      <a:srgbClr val="7030A0"/>
                    </a:solidFill>
                    <a:effectLst/>
                  </a:rPr>
                  <a:t> tem seus pesos atualizados</a:t>
                </a:r>
                <a:r>
                  <a:rPr lang="pt-BR" dirty="0">
                    <a:effectLst/>
                  </a:rPr>
                  <a:t> durante o treinamento, </a:t>
                </a:r>
                <a:r>
                  <a:rPr lang="pt-BR" b="1" i="1" dirty="0">
                    <a:solidFill>
                      <a:srgbClr val="002060"/>
                    </a:solidFill>
                    <a:effectLst/>
                  </a:rPr>
                  <a:t>permanecendo </a:t>
                </a:r>
                <a:r>
                  <a:rPr lang="pt-BR" b="1" i="1" dirty="0">
                    <a:solidFill>
                      <a:srgbClr val="002060"/>
                    </a:solidFill>
                  </a:rPr>
                  <a:t>inalterados</a:t>
                </a:r>
                <a:r>
                  <a:rPr lang="pt-BR" b="0" i="0" dirty="0">
                    <a:effectLst/>
                  </a:rPr>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067761" cy="5032375"/>
              </a:xfrm>
              <a:blipFill rotWithShape="0">
                <a:blip r:embed="rId3"/>
                <a:stretch>
                  <a:fillRect l="-1552" t="-1937" r="-1983"/>
                </a:stretch>
              </a:blipFill>
            </p:spPr>
            <p:txBody>
              <a:bodyPr/>
              <a:lstStyle/>
              <a:p>
                <a:r>
                  <a:rPr lang="pt-BR">
                    <a:noFill/>
                  </a:rPr>
                  <a:t> </a:t>
                </a:r>
              </a:p>
            </p:txBody>
          </p:sp>
        </mc:Fallback>
      </mc:AlternateContent>
      <p:pic>
        <p:nvPicPr>
          <p:cNvPr id="4" name="Imagem 3">
            <a:extLst>
              <a:ext uri="{FF2B5EF4-FFF2-40B4-BE49-F238E27FC236}">
                <a16:creationId xmlns=""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resolver o problema das </a:t>
                </a:r>
                <a:r>
                  <a:rPr lang="pt-BR" b="1" i="1" dirty="0"/>
                  <a:t>ReLUs agonizantes</a:t>
                </a:r>
                <a:r>
                  <a:rPr lang="pt-BR" dirty="0"/>
                  <a:t>, usa-se </a:t>
                </a:r>
                <a:r>
                  <a:rPr lang="pt-BR" b="1" i="1" dirty="0">
                    <a:solidFill>
                      <a:srgbClr val="00B050"/>
                    </a:solidFill>
                  </a:rPr>
                  <a:t>variantes da função </a:t>
                </a:r>
                <a:r>
                  <a:rPr lang="pt-BR" b="1" i="1" dirty="0" err="1">
                    <a:solidFill>
                      <a:srgbClr val="00B050"/>
                    </a:solidFill>
                  </a:rPr>
                  <a:t>ReLU</a:t>
                </a:r>
                <a:r>
                  <a:rPr lang="pt-BR" dirty="0"/>
                  <a:t> que </a:t>
                </a:r>
                <a:r>
                  <a:rPr lang="pt-BR" b="1" i="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pt-BR">
                    <a:noFill/>
                  </a:rPr>
                  <a:t> </a:t>
                </a:r>
              </a:p>
            </p:txBody>
          </p:sp>
        </mc:Fallback>
      </mc:AlternateContent>
      <p:pic>
        <p:nvPicPr>
          <p:cNvPr id="3074" name="Picture 2">
            <a:extLst>
              <a:ext uri="{FF2B5EF4-FFF2-40B4-BE49-F238E27FC236}">
                <a16:creationId xmlns=""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 xmlns:a16="http://schemas.microsoft.com/office/drawing/2014/main" id="{A390FEFD-F331-53A0-B441-F413CF36E07C}"/>
              </a:ext>
            </a:extLst>
          </p:cNvPr>
          <p:cNvSpPr>
            <a:spLocks noGrp="1"/>
          </p:cNvSpPr>
          <p:nvPr>
            <p:ph idx="1"/>
          </p:nvPr>
        </p:nvSpPr>
        <p:spPr>
          <a:xfrm>
            <a:off x="4958080" y="1825624"/>
            <a:ext cx="7061200"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i="1" dirty="0">
                <a:solidFill>
                  <a:srgbClr val="7030A0"/>
                </a:solidFill>
              </a:rPr>
              <a:t>outro problema surge</a:t>
            </a:r>
            <a:r>
              <a:rPr lang="pt-BR" dirty="0"/>
              <a:t> quando as </a:t>
            </a:r>
            <a:r>
              <a:rPr lang="pt-BR" b="1" i="1" dirty="0">
                <a:solidFill>
                  <a:srgbClr val="FF0000"/>
                </a:solidFill>
              </a:rPr>
              <a:t>ativações são positivas </a:t>
            </a:r>
            <a:r>
              <a:rPr lang="pt-BR" dirty="0"/>
              <a:t>e os </a:t>
            </a:r>
            <a:r>
              <a:rPr lang="pt-BR" b="1" i="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i="1" dirty="0">
                <a:solidFill>
                  <a:srgbClr val="7030A0"/>
                </a:solidFill>
              </a:rPr>
              <a:t>valores maiores do que 1</a:t>
            </a:r>
            <a:r>
              <a:rPr lang="pt-BR" dirty="0">
                <a:solidFill>
                  <a:schemeClr val="tx1"/>
                </a:solidFill>
              </a:rPr>
              <a:t>, haverá a </a:t>
            </a:r>
            <a:r>
              <a:rPr lang="pt-BR" b="1" i="1" dirty="0">
                <a:solidFill>
                  <a:schemeClr val="accent5"/>
                </a:solidFill>
              </a:rPr>
              <a:t>multiplicação de vários valores assim</a:t>
            </a:r>
            <a:r>
              <a:rPr lang="pt-BR" dirty="0">
                <a:solidFill>
                  <a:schemeClr val="tx1"/>
                </a:solidFill>
              </a:rPr>
              <a:t>, </a:t>
            </a:r>
            <a:r>
              <a:rPr lang="pt-BR" b="1" i="1" dirty="0">
                <a:solidFill>
                  <a:schemeClr val="accent2"/>
                </a:solidFill>
              </a:rPr>
              <a:t>resultando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8DBA540-3B58-4BC7-B375-23ABBBC057D3}"/>
                  </a:ext>
                </a:extLst>
              </p:cNvPr>
              <p:cNvSpPr>
                <a:spLocks noGrp="1"/>
              </p:cNvSpPr>
              <p:nvPr>
                <p:ph idx="1"/>
              </p:nvPr>
            </p:nvSpPr>
            <p:spPr>
              <a:xfrm>
                <a:off x="838200" y="3448220"/>
                <a:ext cx="11140439" cy="340978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b="0" i="1" smtClean="0">
                                  <a:solidFill>
                                    <a:schemeClr val="tx1"/>
                                  </a:solidFill>
                                  <a:latin typeface="Cambria Math" panose="02040503050406030204" pitchFamily="18" charset="0"/>
                                </a:rPr>
                                <m:t>3</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b="0" i="1" smtClean="0">
                                  <a:solidFill>
                                    <a:schemeClr val="tx1"/>
                                  </a:solidFill>
                                  <a:latin typeface="Cambria Math" panose="02040503050406030204" pitchFamily="18" charset="0"/>
                                </a:rPr>
                                <m:t>3</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b="0" i="1" smtClean="0">
                                  <a:solidFill>
                                    <a:schemeClr val="tx1"/>
                                  </a:solidFill>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b="0" i="1" smtClean="0">
                          <a:solidFill>
                            <a:schemeClr val="tx1"/>
                          </a:solidFill>
                          <a:latin typeface="Cambria Math" panose="02040503050406030204" pitchFamily="18" charset="0"/>
                        </a:rPr>
                        <m:t>.</m:t>
                      </m:r>
                    </m:oMath>
                  </m:oMathPara>
                </a14:m>
                <a:endParaRPr lang="pt-BR" dirty="0">
                  <a:solidFill>
                    <a:schemeClr val="tx1"/>
                  </a:solidFill>
                </a:endParaRPr>
              </a:p>
              <a:p>
                <a:r>
                  <a:rPr lang="pt-BR" b="0" i="0" dirty="0">
                    <a:solidFill>
                      <a:schemeClr val="tx1"/>
                    </a:solidFill>
                    <a:effectLst/>
                  </a:rPr>
                  <a:t>Se os elementos do vetor gradiente tiverem </a:t>
                </a:r>
                <a:r>
                  <a:rPr lang="pt-BR" b="1" i="1" dirty="0">
                    <a:solidFill>
                      <a:srgbClr val="0070C0"/>
                    </a:solidFill>
                    <a:effectLst/>
                  </a:rPr>
                  <a:t>magnitudes muito grandes</a:t>
                </a:r>
                <a:r>
                  <a:rPr lang="pt-BR" b="0" i="0" dirty="0">
                    <a:solidFill>
                      <a:schemeClr val="tx1"/>
                    </a:solidFill>
                    <a:effectLst/>
                  </a:rPr>
                  <a:t>, os </a:t>
                </a:r>
                <a:r>
                  <a:rPr lang="pt-BR" b="1" i="1" dirty="0">
                    <a:solidFill>
                      <a:srgbClr val="7030A0"/>
                    </a:solidFill>
                    <a:effectLst/>
                  </a:rPr>
                  <a:t>pesos da rede podem sofrer atualizações extremamente grandes</a:t>
                </a:r>
                <a:r>
                  <a:rPr lang="pt-BR" b="0" i="0" dirty="0">
                    <a:solidFill>
                      <a:schemeClr val="tx1"/>
                    </a:solidFill>
                    <a:effectLst/>
                  </a:rPr>
                  <a:t>, o que leva a </a:t>
                </a:r>
                <a:r>
                  <a:rPr lang="pt-BR" b="1" i="1" dirty="0">
                    <a:solidFill>
                      <a:srgbClr val="FF0000"/>
                    </a:solidFill>
                    <a:effectLst/>
                  </a:rPr>
                  <a:t>instabilidades numéricas</a:t>
                </a:r>
                <a:r>
                  <a:rPr lang="pt-BR" b="0" i="0" dirty="0">
                    <a:solidFill>
                      <a:schemeClr val="tx1"/>
                    </a:solidFill>
                    <a:effectLst/>
                  </a:rPr>
                  <a:t> e a um </a:t>
                </a:r>
                <a:r>
                  <a:rPr lang="pt-BR" b="1" i="1" dirty="0">
                    <a:solidFill>
                      <a:schemeClr val="accent2"/>
                    </a:solidFill>
                    <a:effectLst/>
                  </a:rPr>
                  <a:t>treinamento ineficaz</a:t>
                </a:r>
                <a:r>
                  <a:rPr lang="pt-BR" b="0" i="0" dirty="0">
                    <a:solidFill>
                      <a:schemeClr val="tx1"/>
                    </a:solidFill>
                    <a:effectLst/>
                  </a:rPr>
                  <a:t> ou até mesmo à </a:t>
                </a:r>
                <a:r>
                  <a:rPr lang="pt-BR" b="1" i="1" dirty="0">
                    <a:solidFill>
                      <a:schemeClr val="accent2"/>
                    </a:solidFill>
                    <a:effectLst/>
                  </a:rPr>
                  <a:t>divergência</a:t>
                </a:r>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3448220"/>
                <a:ext cx="11140439" cy="3409780"/>
              </a:xfrm>
              <a:blipFill>
                <a:blip r:embed="rId3"/>
                <a:stretch>
                  <a:fillRect l="-985"/>
                </a:stretch>
              </a:blipFill>
            </p:spPr>
            <p:txBody>
              <a:bodyPr/>
              <a:lstStyle/>
              <a:p>
                <a:r>
                  <a:rPr lang="pt-BR">
                    <a:noFill/>
                  </a:rPr>
                  <a:t> </a:t>
                </a:r>
              </a:p>
            </p:txBody>
          </p:sp>
        </mc:Fallback>
      </mc:AlternateContent>
      <p:sp>
        <p:nvSpPr>
          <p:cNvPr id="15" name="Elipse 14">
            <a:extLst>
              <a:ext uri="{FF2B5EF4-FFF2-40B4-BE49-F238E27FC236}">
                <a16:creationId xmlns="" xmlns:a16="http://schemas.microsoft.com/office/drawing/2014/main" id="{E4EBB7CB-9B70-401A-B744-8CD1F89E3BB9}"/>
              </a:ext>
            </a:extLst>
          </p:cNvPr>
          <p:cNvSpPr/>
          <p:nvPr/>
        </p:nvSpPr>
        <p:spPr>
          <a:xfrm>
            <a:off x="7060909" y="3348178"/>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6FBFF077-F3C9-473A-1A4C-80E1393B997C}"/>
                  </a:ext>
                </a:extLst>
              </p:cNvPr>
              <p:cNvSpPr txBox="1"/>
              <p:nvPr/>
            </p:nvSpPr>
            <p:spPr>
              <a:xfrm>
                <a:off x="9206039" y="2890079"/>
                <a:ext cx="2530293" cy="6643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𝑧</m:t>
                              </m:r>
                            </m:e>
                            <m:sub>
                              <m:r>
                                <a:rPr lang="pt-BR" i="1">
                                  <a:latin typeface="Cambria Math" panose="02040503050406030204" pitchFamily="18" charset="0"/>
                                </a:rPr>
                                <m:t>1</m:t>
                              </m:r>
                            </m:sub>
                          </m:sSub>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num>
                        <m:den>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den>
                      </m:f>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p:txBody>
          </p:sp>
        </mc:Choice>
        <mc:Fallback xmlns="">
          <p:sp>
            <p:nvSpPr>
              <p:cNvPr id="8" name="CaixaDeTexto 7">
                <a:extLst>
                  <a:ext uri="{FF2B5EF4-FFF2-40B4-BE49-F238E27FC236}">
                    <a16:creationId xmlns:a16="http://schemas.microsoft.com/office/drawing/2014/main" id="{6FBFF077-F3C9-473A-1A4C-80E1393B997C}"/>
                  </a:ext>
                </a:extLst>
              </p:cNvPr>
              <p:cNvSpPr txBox="1">
                <a:spLocks noRot="1" noChangeAspect="1" noMove="1" noResize="1" noEditPoints="1" noAdjustHandles="1" noChangeArrowheads="1" noChangeShapeType="1" noTextEdit="1"/>
              </p:cNvSpPr>
              <p:nvPr/>
            </p:nvSpPr>
            <p:spPr>
              <a:xfrm>
                <a:off x="9206039" y="2890079"/>
                <a:ext cx="2530293" cy="664349"/>
              </a:xfrm>
              <a:prstGeom prst="rect">
                <a:avLst/>
              </a:prstGeom>
              <a:blipFill>
                <a:blip r:embed="rId4"/>
                <a:stretch>
                  <a:fillRect/>
                </a:stretch>
              </a:blipFill>
            </p:spPr>
            <p:txBody>
              <a:bodyPr/>
              <a:lstStyle/>
              <a:p>
                <a:r>
                  <a:rPr lang="pt-BR">
                    <a:noFill/>
                  </a:rPr>
                  <a:t> </a:t>
                </a:r>
              </a:p>
            </p:txBody>
          </p:sp>
        </mc:Fallback>
      </mc:AlternateContent>
      <p:cxnSp>
        <p:nvCxnSpPr>
          <p:cNvPr id="17" name="Conector de Seta Reta 16">
            <a:extLst>
              <a:ext uri="{FF2B5EF4-FFF2-40B4-BE49-F238E27FC236}">
                <a16:creationId xmlns="" xmlns:a16="http://schemas.microsoft.com/office/drawing/2014/main" id="{7613A4EA-8A6C-E622-65F0-F50F47ED811D}"/>
              </a:ext>
            </a:extLst>
          </p:cNvPr>
          <p:cNvCxnSpPr>
            <a:cxnSpLocks/>
            <a:stCxn id="15" idx="0"/>
            <a:endCxn id="8" idx="1"/>
          </p:cNvCxnSpPr>
          <p:nvPr/>
        </p:nvCxnSpPr>
        <p:spPr>
          <a:xfrm flipV="1">
            <a:off x="7454864" y="3222254"/>
            <a:ext cx="1751175" cy="12592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3" name="Agrupar 52">
            <a:extLst>
              <a:ext uri="{FF2B5EF4-FFF2-40B4-BE49-F238E27FC236}">
                <a16:creationId xmlns="" xmlns:a16="http://schemas.microsoft.com/office/drawing/2014/main" id="{5387FC49-081A-A801-5991-BFD4CB1DD4AD}"/>
              </a:ext>
            </a:extLst>
          </p:cNvPr>
          <p:cNvGrpSpPr/>
          <p:nvPr/>
        </p:nvGrpSpPr>
        <p:grpSpPr>
          <a:xfrm>
            <a:off x="3704871" y="1394766"/>
            <a:ext cx="4180699" cy="1140745"/>
            <a:chOff x="4501646" y="1270405"/>
            <a:chExt cx="4180699" cy="1140745"/>
          </a:xfrm>
        </p:grpSpPr>
        <mc:AlternateContent xmlns:mc="http://schemas.openxmlformats.org/markup-compatibility/2006" xmlns:a14="http://schemas.microsoft.com/office/drawing/2010/main">
          <mc:Choice Requires="a14">
            <p:sp>
              <p:nvSpPr>
                <p:cNvPr id="19" name="Elipse 18">
                  <a:extLst>
                    <a:ext uri="{FF2B5EF4-FFF2-40B4-BE49-F238E27FC236}">
                      <a16:creationId xmlns="" xmlns:a16="http://schemas.microsoft.com/office/drawing/2014/main" id="{81C22FF9-AD56-9169-FD9C-E18E18A8E6EB}"/>
                    </a:ext>
                  </a:extLst>
                </p:cNvPr>
                <p:cNvSpPr/>
                <p:nvPr/>
              </p:nvSpPr>
              <p:spPr>
                <a:xfrm>
                  <a:off x="5624719" y="1543839"/>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sz="1400" dirty="0">
                    <a:solidFill>
                      <a:schemeClr val="tx1"/>
                    </a:solidFill>
                  </a:endParaRPr>
                </a:p>
              </p:txBody>
            </p:sp>
          </mc:Choice>
          <mc:Fallback xmlns="">
            <p:sp>
              <p:nvSpPr>
                <p:cNvPr id="19" name="Elipse 18">
                  <a:extLst>
                    <a:ext uri="{FF2B5EF4-FFF2-40B4-BE49-F238E27FC236}">
                      <a16:creationId xmlns:a16="http://schemas.microsoft.com/office/drawing/2014/main" id="{81C22FF9-AD56-9169-FD9C-E18E18A8E6EB}"/>
                    </a:ext>
                  </a:extLst>
                </p:cNvPr>
                <p:cNvSpPr>
                  <a:spLocks noRot="1" noChangeAspect="1" noMove="1" noResize="1" noEditPoints="1" noAdjustHandles="1" noChangeArrowheads="1" noChangeShapeType="1" noTextEdit="1"/>
                </p:cNvSpPr>
                <p:nvPr/>
              </p:nvSpPr>
              <p:spPr>
                <a:xfrm>
                  <a:off x="5624719" y="1543839"/>
                  <a:ext cx="468000" cy="468000"/>
                </a:xfrm>
                <a:prstGeom prst="ellipse">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Elipse 19">
                  <a:extLst>
                    <a:ext uri="{FF2B5EF4-FFF2-40B4-BE49-F238E27FC236}">
                      <a16:creationId xmlns="" xmlns:a16="http://schemas.microsoft.com/office/drawing/2014/main" id="{37EF5DA9-B940-DA6C-1645-2479126F43A2}"/>
                    </a:ext>
                  </a:extLst>
                </p:cNvPr>
                <p:cNvSpPr/>
                <p:nvPr/>
              </p:nvSpPr>
              <p:spPr>
                <a:xfrm>
                  <a:off x="6626901" y="1543839"/>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20" name="Elipse 19">
                  <a:extLst>
                    <a:ext uri="{FF2B5EF4-FFF2-40B4-BE49-F238E27FC236}">
                      <a16:creationId xmlns:a16="http://schemas.microsoft.com/office/drawing/2014/main" id="{37EF5DA9-B940-DA6C-1645-2479126F43A2}"/>
                    </a:ext>
                  </a:extLst>
                </p:cNvPr>
                <p:cNvSpPr>
                  <a:spLocks noRot="1" noChangeAspect="1" noMove="1" noResize="1" noEditPoints="1" noAdjustHandles="1" noChangeArrowheads="1" noChangeShapeType="1" noTextEdit="1"/>
                </p:cNvSpPr>
                <p:nvPr/>
              </p:nvSpPr>
              <p:spPr>
                <a:xfrm>
                  <a:off x="6626901" y="1543839"/>
                  <a:ext cx="468000" cy="468000"/>
                </a:xfrm>
                <a:prstGeom prst="ellipse">
                  <a:avLst/>
                </a:prstGeom>
                <a:blipFill>
                  <a:blip r:embed="rId5"/>
                  <a:stretch>
                    <a:fillRect/>
                  </a:stretch>
                </a:blipFill>
              </p:spPr>
              <p:txBody>
                <a:bodyPr/>
                <a:lstStyle/>
                <a:p>
                  <a:r>
                    <a:rPr lang="pt-BR">
                      <a:noFill/>
                    </a:rPr>
                    <a:t> </a:t>
                  </a:r>
                </a:p>
              </p:txBody>
            </p:sp>
          </mc:Fallback>
        </mc:AlternateContent>
        <p:sp>
          <p:nvSpPr>
            <p:cNvPr id="22" name="Retângulo 21">
              <a:extLst>
                <a:ext uri="{FF2B5EF4-FFF2-40B4-BE49-F238E27FC236}">
                  <a16:creationId xmlns="" xmlns:a16="http://schemas.microsoft.com/office/drawing/2014/main" id="{87F070D7-3291-A677-03F7-85D4DAAA7AE6}"/>
                </a:ext>
              </a:extLst>
            </p:cNvPr>
            <p:cNvSpPr/>
            <p:nvPr/>
          </p:nvSpPr>
          <p:spPr>
            <a:xfrm>
              <a:off x="4982537" y="1723839"/>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3" name="Conector de seta reta 15">
              <a:extLst>
                <a:ext uri="{FF2B5EF4-FFF2-40B4-BE49-F238E27FC236}">
                  <a16:creationId xmlns="" xmlns:a16="http://schemas.microsoft.com/office/drawing/2014/main" id="{3A6F5EC2-4087-59F3-6C78-495A96FFC1B0}"/>
                </a:ext>
              </a:extLst>
            </p:cNvPr>
            <p:cNvCxnSpPr>
              <a:stCxn id="22" idx="3"/>
              <a:endCxn id="19" idx="2"/>
            </p:cNvCxnSpPr>
            <p:nvPr/>
          </p:nvCxnSpPr>
          <p:spPr>
            <a:xfrm>
              <a:off x="5090537" y="1777839"/>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aixaDeTexto 23">
                  <a:extLst>
                    <a:ext uri="{FF2B5EF4-FFF2-40B4-BE49-F238E27FC236}">
                      <a16:creationId xmlns="" xmlns:a16="http://schemas.microsoft.com/office/drawing/2014/main" id="{7DEE2945-609E-539F-D058-BCB9BB20530E}"/>
                    </a:ext>
                  </a:extLst>
                </p:cNvPr>
                <p:cNvSpPr txBox="1"/>
                <p:nvPr/>
              </p:nvSpPr>
              <p:spPr>
                <a:xfrm>
                  <a:off x="4501646" y="1593173"/>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panose="02040503050406030204" pitchFamily="18" charset="0"/>
                          </a:rPr>
                          <m:t>𝑥</m:t>
                        </m:r>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24" name="CaixaDeTexto 23">
                  <a:extLst>
                    <a:ext uri="{FF2B5EF4-FFF2-40B4-BE49-F238E27FC236}">
                      <a16:creationId xmlns:a16="http://schemas.microsoft.com/office/drawing/2014/main" id="{7DEE2945-609E-539F-D058-BCB9BB20530E}"/>
                    </a:ext>
                  </a:extLst>
                </p:cNvPr>
                <p:cNvSpPr txBox="1">
                  <a:spLocks noRot="1" noChangeAspect="1" noMove="1" noResize="1" noEditPoints="1" noAdjustHandles="1" noChangeArrowheads="1" noChangeShapeType="1" noTextEdit="1"/>
                </p:cNvSpPr>
                <p:nvPr/>
              </p:nvSpPr>
              <p:spPr>
                <a:xfrm>
                  <a:off x="4501646" y="1593173"/>
                  <a:ext cx="290146" cy="338554"/>
                </a:xfrm>
                <a:prstGeom prst="rect">
                  <a:avLst/>
                </a:prstGeom>
                <a:blipFill>
                  <a:blip r:embed="rId6"/>
                  <a:stretch>
                    <a:fillRect r="-87234"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5" name="CaixaDeTexto 24">
                  <a:extLst>
                    <a:ext uri="{FF2B5EF4-FFF2-40B4-BE49-F238E27FC236}">
                      <a16:creationId xmlns="" xmlns:a16="http://schemas.microsoft.com/office/drawing/2014/main" id="{76A6EF18-B0EA-7F81-D413-AC84059FE1F7}"/>
                    </a:ext>
                  </a:extLst>
                </p:cNvPr>
                <p:cNvSpPr txBox="1"/>
                <p:nvPr/>
              </p:nvSpPr>
              <p:spPr>
                <a:xfrm>
                  <a:off x="5179464" y="1473189"/>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1</m:t>
                            </m:r>
                          </m:sub>
                        </m:sSub>
                      </m:oMath>
                    </m:oMathPara>
                  </a14:m>
                  <a:endParaRPr lang="pt-BR" sz="1600" dirty="0"/>
                </a:p>
              </p:txBody>
            </p:sp>
          </mc:Choice>
          <mc:Fallback xmlns="">
            <p:sp>
              <p:nvSpPr>
                <p:cNvPr id="25" name="CaixaDeTexto 24">
                  <a:extLst>
                    <a:ext uri="{FF2B5EF4-FFF2-40B4-BE49-F238E27FC236}">
                      <a16:creationId xmlns:a16="http://schemas.microsoft.com/office/drawing/2014/main" id="{76A6EF18-B0EA-7F81-D413-AC84059FE1F7}"/>
                    </a:ext>
                  </a:extLst>
                </p:cNvPr>
                <p:cNvSpPr txBox="1">
                  <a:spLocks noRot="1" noChangeAspect="1" noMove="1" noResize="1" noEditPoints="1" noAdjustHandles="1" noChangeArrowheads="1" noChangeShapeType="1" noTextEdit="1"/>
                </p:cNvSpPr>
                <p:nvPr/>
              </p:nvSpPr>
              <p:spPr>
                <a:xfrm>
                  <a:off x="5179464" y="1473189"/>
                  <a:ext cx="290146" cy="338554"/>
                </a:xfrm>
                <a:prstGeom prst="rect">
                  <a:avLst/>
                </a:prstGeom>
                <a:blipFill>
                  <a:blip r:embed="rId7"/>
                  <a:stretch>
                    <a:fillRect r="-25532"/>
                  </a:stretch>
                </a:blipFill>
              </p:spPr>
              <p:txBody>
                <a:bodyPr/>
                <a:lstStyle/>
                <a:p>
                  <a:r>
                    <a:rPr lang="pt-BR">
                      <a:noFill/>
                    </a:rPr>
                    <a:t> </a:t>
                  </a:r>
                </a:p>
              </p:txBody>
            </p:sp>
          </mc:Fallback>
        </mc:AlternateContent>
        <p:cxnSp>
          <p:nvCxnSpPr>
            <p:cNvPr id="27" name="Conector de seta reta 15">
              <a:extLst>
                <a:ext uri="{FF2B5EF4-FFF2-40B4-BE49-F238E27FC236}">
                  <a16:creationId xmlns="" xmlns:a16="http://schemas.microsoft.com/office/drawing/2014/main" id="{E799E6AE-6308-0D1F-4AB8-CF1B412BE9FA}"/>
                </a:ext>
              </a:extLst>
            </p:cNvPr>
            <p:cNvCxnSpPr/>
            <p:nvPr/>
          </p:nvCxnSpPr>
          <p:spPr>
            <a:xfrm>
              <a:off x="6092719" y="1778805"/>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 xmlns:a16="http://schemas.microsoft.com/office/drawing/2014/main" id="{FAF78A10-3ED0-7B71-8F0D-469D7545143C}"/>
                    </a:ext>
                  </a:extLst>
                </p:cNvPr>
                <p:cNvSpPr txBox="1"/>
                <p:nvPr/>
              </p:nvSpPr>
              <p:spPr>
                <a:xfrm>
                  <a:off x="6138886" y="1473189"/>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2</m:t>
                            </m:r>
                          </m:sub>
                        </m:sSub>
                      </m:oMath>
                    </m:oMathPara>
                  </a14:m>
                  <a:endParaRPr lang="pt-BR" sz="1600" dirty="0"/>
                </a:p>
              </p:txBody>
            </p:sp>
          </mc:Choice>
          <mc:Fallback xmlns="">
            <p:sp>
              <p:nvSpPr>
                <p:cNvPr id="28" name="CaixaDeTexto 27">
                  <a:extLst>
                    <a:ext uri="{FF2B5EF4-FFF2-40B4-BE49-F238E27FC236}">
                      <a16:creationId xmlns:a16="http://schemas.microsoft.com/office/drawing/2014/main" id="{FAF78A10-3ED0-7B71-8F0D-469D7545143C}"/>
                    </a:ext>
                  </a:extLst>
                </p:cNvPr>
                <p:cNvSpPr txBox="1">
                  <a:spLocks noRot="1" noChangeAspect="1" noMove="1" noResize="1" noEditPoints="1" noAdjustHandles="1" noChangeArrowheads="1" noChangeShapeType="1" noTextEdit="1"/>
                </p:cNvSpPr>
                <p:nvPr/>
              </p:nvSpPr>
              <p:spPr>
                <a:xfrm>
                  <a:off x="6138886" y="1473189"/>
                  <a:ext cx="290146" cy="338554"/>
                </a:xfrm>
                <a:prstGeom prst="rect">
                  <a:avLst/>
                </a:prstGeom>
                <a:blipFill>
                  <a:blip r:embed="rId8"/>
                  <a:stretch>
                    <a:fillRect r="-25000"/>
                  </a:stretch>
                </a:blipFill>
              </p:spPr>
              <p:txBody>
                <a:bodyPr/>
                <a:lstStyle/>
                <a:p>
                  <a:r>
                    <a:rPr lang="pt-BR">
                      <a:noFill/>
                    </a:rPr>
                    <a:t> </a:t>
                  </a:r>
                </a:p>
              </p:txBody>
            </p:sp>
          </mc:Fallback>
        </mc:AlternateContent>
        <p:sp>
          <p:nvSpPr>
            <p:cNvPr id="16" name="CaixaDeTexto 15">
              <a:extLst>
                <a:ext uri="{FF2B5EF4-FFF2-40B4-BE49-F238E27FC236}">
                  <a16:creationId xmlns="" xmlns:a16="http://schemas.microsoft.com/office/drawing/2014/main" id="{7E7FBCEE-F7A4-591F-22F5-0418A618187D}"/>
                </a:ext>
              </a:extLst>
            </p:cNvPr>
            <p:cNvSpPr txBox="1"/>
            <p:nvPr/>
          </p:nvSpPr>
          <p:spPr>
            <a:xfrm>
              <a:off x="5739298" y="1270405"/>
              <a:ext cx="342900" cy="276999"/>
            </a:xfrm>
            <a:prstGeom prst="rect">
              <a:avLst/>
            </a:prstGeom>
            <a:noFill/>
          </p:spPr>
          <p:txBody>
            <a:bodyPr wrap="square" rtlCol="0">
              <a:spAutoFit/>
            </a:bodyPr>
            <a:lstStyle/>
            <a:p>
              <a:r>
                <a:rPr lang="pt-BR" sz="1200" dirty="0"/>
                <a:t>1</a:t>
              </a:r>
            </a:p>
          </p:txBody>
        </p:sp>
        <p:sp>
          <p:nvSpPr>
            <p:cNvPr id="18" name="CaixaDeTexto 17">
              <a:extLst>
                <a:ext uri="{FF2B5EF4-FFF2-40B4-BE49-F238E27FC236}">
                  <a16:creationId xmlns="" xmlns:a16="http://schemas.microsoft.com/office/drawing/2014/main" id="{60570651-0009-B696-F544-8C19AB7E3837}"/>
                </a:ext>
              </a:extLst>
            </p:cNvPr>
            <p:cNvSpPr txBox="1"/>
            <p:nvPr/>
          </p:nvSpPr>
          <p:spPr>
            <a:xfrm>
              <a:off x="6734313" y="1270405"/>
              <a:ext cx="342900" cy="276999"/>
            </a:xfrm>
            <a:prstGeom prst="rect">
              <a:avLst/>
            </a:prstGeom>
            <a:noFill/>
          </p:spPr>
          <p:txBody>
            <a:bodyPr wrap="square" rtlCol="0">
              <a:spAutoFit/>
            </a:bodyPr>
            <a:lstStyle/>
            <a:p>
              <a:r>
                <a:rPr lang="pt-BR" sz="1200" dirty="0"/>
                <a:t>2</a:t>
              </a:r>
            </a:p>
          </p:txBody>
        </p:sp>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C13268F1-F60C-AC94-C7E8-1DA44E31196C}"/>
                    </a:ext>
                  </a:extLst>
                </p:cNvPr>
                <p:cNvSpPr txBox="1"/>
                <p:nvPr/>
              </p:nvSpPr>
              <p:spPr>
                <a:xfrm>
                  <a:off x="6190021" y="2011338"/>
                  <a:ext cx="4368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oMath>
                    </m:oMathPara>
                  </a14:m>
                  <a:endParaRPr lang="pt-BR" dirty="0"/>
                </a:p>
              </p:txBody>
            </p:sp>
          </mc:Choice>
          <mc:Fallback xmlns="">
            <p:sp>
              <p:nvSpPr>
                <p:cNvPr id="10" name="CaixaDeTexto 9">
                  <a:extLst>
                    <a:ext uri="{FF2B5EF4-FFF2-40B4-BE49-F238E27FC236}">
                      <a16:creationId xmlns:a16="http://schemas.microsoft.com/office/drawing/2014/main" id="{C13268F1-F60C-AC94-C7E8-1DA44E31196C}"/>
                    </a:ext>
                  </a:extLst>
                </p:cNvPr>
                <p:cNvSpPr txBox="1">
                  <a:spLocks noRot="1" noChangeAspect="1" noMove="1" noResize="1" noEditPoints="1" noAdjustHandles="1" noChangeArrowheads="1" noChangeShapeType="1" noTextEdit="1"/>
                </p:cNvSpPr>
                <p:nvPr/>
              </p:nvSpPr>
              <p:spPr>
                <a:xfrm>
                  <a:off x="6190021" y="2011338"/>
                  <a:ext cx="436880" cy="369332"/>
                </a:xfrm>
                <a:prstGeom prst="rect">
                  <a:avLst/>
                </a:prstGeom>
                <a:blipFill>
                  <a:blip r:embed="rId9"/>
                  <a:stretch>
                    <a:fillRect b="-6557"/>
                  </a:stretch>
                </a:blipFill>
              </p:spPr>
              <p:txBody>
                <a:bodyPr/>
                <a:lstStyle/>
                <a:p>
                  <a:r>
                    <a:rPr lang="pt-BR">
                      <a:noFill/>
                    </a:rPr>
                    <a:t> </a:t>
                  </a:r>
                </a:p>
              </p:txBody>
            </p:sp>
          </mc:Fallback>
        </mc:AlternateContent>
        <p:cxnSp>
          <p:nvCxnSpPr>
            <p:cNvPr id="11" name="Conector de Seta Reta 10">
              <a:extLst>
                <a:ext uri="{FF2B5EF4-FFF2-40B4-BE49-F238E27FC236}">
                  <a16:creationId xmlns="" xmlns:a16="http://schemas.microsoft.com/office/drawing/2014/main" id="{AC5FAFD6-E417-8912-0508-FBA352FA65C6}"/>
                </a:ext>
              </a:extLst>
            </p:cNvPr>
            <p:cNvCxnSpPr>
              <a:cxnSpLocks/>
            </p:cNvCxnSpPr>
            <p:nvPr/>
          </p:nvCxnSpPr>
          <p:spPr>
            <a:xfrm flipV="1">
              <a:off x="6429032" y="1831839"/>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A0E9A8C6-A293-FA26-8CE9-F7185463D6BE}"/>
                    </a:ext>
                  </a:extLst>
                </p:cNvPr>
                <p:cNvSpPr txBox="1"/>
                <p:nvPr/>
              </p:nvSpPr>
              <p:spPr>
                <a:xfrm>
                  <a:off x="5235474" y="2031329"/>
                  <a:ext cx="4368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1</m:t>
                            </m:r>
                          </m:sub>
                        </m:sSub>
                      </m:oMath>
                    </m:oMathPara>
                  </a14:m>
                  <a:endParaRPr lang="pt-BR" dirty="0"/>
                </a:p>
              </p:txBody>
            </p:sp>
          </mc:Choice>
          <mc:Fallback xmlns="">
            <p:sp>
              <p:nvSpPr>
                <p:cNvPr id="12" name="CaixaDeTexto 11">
                  <a:extLst>
                    <a:ext uri="{FF2B5EF4-FFF2-40B4-BE49-F238E27FC236}">
                      <a16:creationId xmlns:a16="http://schemas.microsoft.com/office/drawing/2014/main" id="{A0E9A8C6-A293-FA26-8CE9-F7185463D6BE}"/>
                    </a:ext>
                  </a:extLst>
                </p:cNvPr>
                <p:cNvSpPr txBox="1">
                  <a:spLocks noRot="1" noChangeAspect="1" noMove="1" noResize="1" noEditPoints="1" noAdjustHandles="1" noChangeArrowheads="1" noChangeShapeType="1" noTextEdit="1"/>
                </p:cNvSpPr>
                <p:nvPr/>
              </p:nvSpPr>
              <p:spPr>
                <a:xfrm>
                  <a:off x="5235474" y="2031329"/>
                  <a:ext cx="436880" cy="369332"/>
                </a:xfrm>
                <a:prstGeom prst="rect">
                  <a:avLst/>
                </a:prstGeom>
                <a:blipFill>
                  <a:blip r:embed="rId10"/>
                  <a:stretch>
                    <a:fillRect b="-6557"/>
                  </a:stretch>
                </a:blipFill>
              </p:spPr>
              <p:txBody>
                <a:bodyPr/>
                <a:lstStyle/>
                <a:p>
                  <a:r>
                    <a:rPr lang="pt-BR">
                      <a:noFill/>
                    </a:rPr>
                    <a:t> </a:t>
                  </a:r>
                </a:p>
              </p:txBody>
            </p:sp>
          </mc:Fallback>
        </mc:AlternateContent>
        <p:cxnSp>
          <p:nvCxnSpPr>
            <p:cNvPr id="13" name="Conector de Seta Reta 12">
              <a:extLst>
                <a:ext uri="{FF2B5EF4-FFF2-40B4-BE49-F238E27FC236}">
                  <a16:creationId xmlns="" xmlns:a16="http://schemas.microsoft.com/office/drawing/2014/main" id="{E1232793-A53B-0478-2175-EFA1A567F317}"/>
                </a:ext>
              </a:extLst>
            </p:cNvPr>
            <p:cNvCxnSpPr>
              <a:cxnSpLocks/>
            </p:cNvCxnSpPr>
            <p:nvPr/>
          </p:nvCxnSpPr>
          <p:spPr>
            <a:xfrm flipV="1">
              <a:off x="5474485" y="1851830"/>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938D9FAF-ABAF-B31B-199A-DB9E77AD699E}"/>
                    </a:ext>
                  </a:extLst>
                </p:cNvPr>
                <p:cNvSpPr txBox="1"/>
                <p:nvPr/>
              </p:nvSpPr>
              <p:spPr>
                <a:xfrm>
                  <a:off x="5791583" y="2041818"/>
                  <a:ext cx="4368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1</m:t>
                            </m:r>
                          </m:sub>
                        </m:sSub>
                      </m:oMath>
                    </m:oMathPara>
                  </a14:m>
                  <a:endParaRPr lang="pt-BR" dirty="0"/>
                </a:p>
              </p:txBody>
            </p:sp>
          </mc:Choice>
          <mc:Fallback xmlns="">
            <p:sp>
              <p:nvSpPr>
                <p:cNvPr id="6" name="CaixaDeTexto 5">
                  <a:extLst>
                    <a:ext uri="{FF2B5EF4-FFF2-40B4-BE49-F238E27FC236}">
                      <a16:creationId xmlns:a16="http://schemas.microsoft.com/office/drawing/2014/main" id="{938D9FAF-ABAF-B31B-199A-DB9E77AD699E}"/>
                    </a:ext>
                  </a:extLst>
                </p:cNvPr>
                <p:cNvSpPr txBox="1">
                  <a:spLocks noRot="1" noChangeAspect="1" noMove="1" noResize="1" noEditPoints="1" noAdjustHandles="1" noChangeArrowheads="1" noChangeShapeType="1" noTextEdit="1"/>
                </p:cNvSpPr>
                <p:nvPr/>
              </p:nvSpPr>
              <p:spPr>
                <a:xfrm>
                  <a:off x="5791583" y="2041818"/>
                  <a:ext cx="436880" cy="369332"/>
                </a:xfrm>
                <a:prstGeom prst="rect">
                  <a:avLst/>
                </a:prstGeom>
                <a:blipFill>
                  <a:blip r:embed="rId11"/>
                  <a:stretch>
                    <a:fillRect/>
                  </a:stretch>
                </a:blipFill>
              </p:spPr>
              <p:txBody>
                <a:bodyPr/>
                <a:lstStyle/>
                <a:p>
                  <a:r>
                    <a:rPr lang="pt-BR">
                      <a:noFill/>
                    </a:rPr>
                    <a:t> </a:t>
                  </a:r>
                </a:p>
              </p:txBody>
            </p:sp>
          </mc:Fallback>
        </mc:AlternateContent>
        <p:cxnSp>
          <p:nvCxnSpPr>
            <p:cNvPr id="7" name="Conector de Seta Reta 6">
              <a:extLst>
                <a:ext uri="{FF2B5EF4-FFF2-40B4-BE49-F238E27FC236}">
                  <a16:creationId xmlns="" xmlns:a16="http://schemas.microsoft.com/office/drawing/2014/main" id="{A4803D75-4896-3BC8-AD6F-79B897D68B31}"/>
                </a:ext>
              </a:extLst>
            </p:cNvPr>
            <p:cNvCxnSpPr>
              <a:cxnSpLocks/>
            </p:cNvCxnSpPr>
            <p:nvPr/>
          </p:nvCxnSpPr>
          <p:spPr>
            <a:xfrm flipV="1">
              <a:off x="6030594" y="1862319"/>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29" name="Elipse 28">
                  <a:extLst>
                    <a:ext uri="{FF2B5EF4-FFF2-40B4-BE49-F238E27FC236}">
                      <a16:creationId xmlns="" xmlns:a16="http://schemas.microsoft.com/office/drawing/2014/main" id="{9909DEEC-6EE4-F87D-6D3B-83F89F15E699}"/>
                    </a:ext>
                  </a:extLst>
                </p:cNvPr>
                <p:cNvSpPr/>
                <p:nvPr/>
              </p:nvSpPr>
              <p:spPr>
                <a:xfrm>
                  <a:off x="7618893" y="1551224"/>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29" name="Elipse 28">
                  <a:extLst>
                    <a:ext uri="{FF2B5EF4-FFF2-40B4-BE49-F238E27FC236}">
                      <a16:creationId xmlns:a16="http://schemas.microsoft.com/office/drawing/2014/main" id="{9909DEEC-6EE4-F87D-6D3B-83F89F15E699}"/>
                    </a:ext>
                  </a:extLst>
                </p:cNvPr>
                <p:cNvSpPr>
                  <a:spLocks noRot="1" noChangeAspect="1" noMove="1" noResize="1" noEditPoints="1" noAdjustHandles="1" noChangeArrowheads="1" noChangeShapeType="1" noTextEdit="1"/>
                </p:cNvSpPr>
                <p:nvPr/>
              </p:nvSpPr>
              <p:spPr>
                <a:xfrm>
                  <a:off x="7618893" y="1551224"/>
                  <a:ext cx="468000" cy="468000"/>
                </a:xfrm>
                <a:prstGeom prst="ellipse">
                  <a:avLst/>
                </a:prstGeom>
                <a:blipFill>
                  <a:blip r:embed="rId12"/>
                  <a:stretch>
                    <a:fillRect/>
                  </a:stretch>
                </a:blipFill>
              </p:spPr>
              <p:txBody>
                <a:bodyPr/>
                <a:lstStyle/>
                <a:p>
                  <a:r>
                    <a:rPr lang="pt-BR">
                      <a:noFill/>
                    </a:rPr>
                    <a:t> </a:t>
                  </a:r>
                </a:p>
              </p:txBody>
            </p:sp>
          </mc:Fallback>
        </mc:AlternateContent>
        <p:cxnSp>
          <p:nvCxnSpPr>
            <p:cNvPr id="30" name="Conector de seta reta 10">
              <a:extLst>
                <a:ext uri="{FF2B5EF4-FFF2-40B4-BE49-F238E27FC236}">
                  <a16:creationId xmlns="" xmlns:a16="http://schemas.microsoft.com/office/drawing/2014/main" id="{C126E3E8-E8DA-A2EE-62BE-8BFCE84630BA}"/>
                </a:ext>
              </a:extLst>
            </p:cNvPr>
            <p:cNvCxnSpPr>
              <a:cxnSpLocks/>
            </p:cNvCxnSpPr>
            <p:nvPr/>
          </p:nvCxnSpPr>
          <p:spPr>
            <a:xfrm>
              <a:off x="8086893" y="1785224"/>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CaixaDeTexto 30">
                  <a:extLst>
                    <a:ext uri="{FF2B5EF4-FFF2-40B4-BE49-F238E27FC236}">
                      <a16:creationId xmlns="" xmlns:a16="http://schemas.microsoft.com/office/drawing/2014/main" id="{326EB73C-4AA8-B2AA-4F8D-09585351C894}"/>
                    </a:ext>
                  </a:extLst>
                </p:cNvPr>
                <p:cNvSpPr txBox="1"/>
                <p:nvPr/>
              </p:nvSpPr>
              <p:spPr>
                <a:xfrm>
                  <a:off x="8392199" y="1613789"/>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600" i="1" smtClean="0">
                                <a:latin typeface="Cambria Math" panose="02040503050406030204" pitchFamily="18" charset="0"/>
                              </a:rPr>
                            </m:ctrlPr>
                          </m:accPr>
                          <m:e>
                            <m:r>
                              <a:rPr lang="pt-BR" sz="1600" b="0" i="1" smtClean="0">
                                <a:latin typeface="Cambria Math" panose="02040503050406030204" pitchFamily="18" charset="0"/>
                              </a:rPr>
                              <m:t>𝑦</m:t>
                            </m:r>
                          </m:e>
                        </m:acc>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1" name="CaixaDeTexto 30">
                  <a:extLst>
                    <a:ext uri="{FF2B5EF4-FFF2-40B4-BE49-F238E27FC236}">
                      <a16:creationId xmlns:a16="http://schemas.microsoft.com/office/drawing/2014/main" id="{326EB73C-4AA8-B2AA-4F8D-09585351C894}"/>
                    </a:ext>
                  </a:extLst>
                </p:cNvPr>
                <p:cNvSpPr txBox="1">
                  <a:spLocks noRot="1" noChangeAspect="1" noMove="1" noResize="1" noEditPoints="1" noAdjustHandles="1" noChangeArrowheads="1" noChangeShapeType="1" noTextEdit="1"/>
                </p:cNvSpPr>
                <p:nvPr/>
              </p:nvSpPr>
              <p:spPr>
                <a:xfrm>
                  <a:off x="8392199" y="1613789"/>
                  <a:ext cx="290146" cy="338554"/>
                </a:xfrm>
                <a:prstGeom prst="rect">
                  <a:avLst/>
                </a:prstGeom>
                <a:blipFill>
                  <a:blip r:embed="rId13"/>
                  <a:stretch>
                    <a:fillRect r="-89362" b="-10909"/>
                  </a:stretch>
                </a:blipFill>
              </p:spPr>
              <p:txBody>
                <a:bodyPr/>
                <a:lstStyle/>
                <a:p>
                  <a:r>
                    <a:rPr lang="pt-BR">
                      <a:noFill/>
                    </a:rPr>
                    <a:t> </a:t>
                  </a:r>
                </a:p>
              </p:txBody>
            </p:sp>
          </mc:Fallback>
        </mc:AlternateContent>
        <p:cxnSp>
          <p:nvCxnSpPr>
            <p:cNvPr id="32" name="Conector de seta reta 15">
              <a:extLst>
                <a:ext uri="{FF2B5EF4-FFF2-40B4-BE49-F238E27FC236}">
                  <a16:creationId xmlns="" xmlns:a16="http://schemas.microsoft.com/office/drawing/2014/main" id="{083B4131-AD45-FF9C-6EBD-BDE24066AD3B}"/>
                </a:ext>
              </a:extLst>
            </p:cNvPr>
            <p:cNvCxnSpPr/>
            <p:nvPr/>
          </p:nvCxnSpPr>
          <p:spPr>
            <a:xfrm>
              <a:off x="7084711" y="1786190"/>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32">
                  <a:extLst>
                    <a:ext uri="{FF2B5EF4-FFF2-40B4-BE49-F238E27FC236}">
                      <a16:creationId xmlns="" xmlns:a16="http://schemas.microsoft.com/office/drawing/2014/main" id="{872BADB7-3EB9-7B86-0220-E3EEEEBA6442}"/>
                    </a:ext>
                  </a:extLst>
                </p:cNvPr>
                <p:cNvSpPr txBox="1"/>
                <p:nvPr/>
              </p:nvSpPr>
              <p:spPr>
                <a:xfrm>
                  <a:off x="7130878" y="1480574"/>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3</m:t>
                            </m:r>
                          </m:sub>
                        </m:sSub>
                      </m:oMath>
                    </m:oMathPara>
                  </a14:m>
                  <a:endParaRPr lang="pt-BR" sz="1600" dirty="0"/>
                </a:p>
              </p:txBody>
            </p:sp>
          </mc:Choice>
          <mc:Fallback xmlns="">
            <p:sp>
              <p:nvSpPr>
                <p:cNvPr id="33" name="CaixaDeTexto 32">
                  <a:extLst>
                    <a:ext uri="{FF2B5EF4-FFF2-40B4-BE49-F238E27FC236}">
                      <a16:creationId xmlns:a16="http://schemas.microsoft.com/office/drawing/2014/main" id="{872BADB7-3EB9-7B86-0220-E3EEEEBA6442}"/>
                    </a:ext>
                  </a:extLst>
                </p:cNvPr>
                <p:cNvSpPr txBox="1">
                  <a:spLocks noRot="1" noChangeAspect="1" noMove="1" noResize="1" noEditPoints="1" noAdjustHandles="1" noChangeArrowheads="1" noChangeShapeType="1" noTextEdit="1"/>
                </p:cNvSpPr>
                <p:nvPr/>
              </p:nvSpPr>
              <p:spPr>
                <a:xfrm>
                  <a:off x="7130878" y="1480574"/>
                  <a:ext cx="290146" cy="338554"/>
                </a:xfrm>
                <a:prstGeom prst="rect">
                  <a:avLst/>
                </a:prstGeom>
                <a:blipFill>
                  <a:blip r:embed="rId14"/>
                  <a:stretch>
                    <a:fillRect r="-27660"/>
                  </a:stretch>
                </a:blipFill>
              </p:spPr>
              <p:txBody>
                <a:bodyPr/>
                <a:lstStyle/>
                <a:p>
                  <a:r>
                    <a:rPr lang="pt-BR">
                      <a:noFill/>
                    </a:rPr>
                    <a:t> </a:t>
                  </a:r>
                </a:p>
              </p:txBody>
            </p:sp>
          </mc:Fallback>
        </mc:AlternateContent>
        <p:sp>
          <p:nvSpPr>
            <p:cNvPr id="48" name="CaixaDeTexto 47">
              <a:extLst>
                <a:ext uri="{FF2B5EF4-FFF2-40B4-BE49-F238E27FC236}">
                  <a16:creationId xmlns="" xmlns:a16="http://schemas.microsoft.com/office/drawing/2014/main" id="{D1D56148-137F-D9C7-7D03-7FF79F0EB5EB}"/>
                </a:ext>
              </a:extLst>
            </p:cNvPr>
            <p:cNvSpPr txBox="1"/>
            <p:nvPr/>
          </p:nvSpPr>
          <p:spPr>
            <a:xfrm>
              <a:off x="7726305" y="1277790"/>
              <a:ext cx="342900" cy="276999"/>
            </a:xfrm>
            <a:prstGeom prst="rect">
              <a:avLst/>
            </a:prstGeom>
            <a:noFill/>
          </p:spPr>
          <p:txBody>
            <a:bodyPr wrap="square" rtlCol="0">
              <a:spAutoFit/>
            </a:bodyPr>
            <a:lstStyle/>
            <a:p>
              <a:r>
                <a:rPr lang="pt-BR" sz="1200" dirty="0"/>
                <a:t>3</a:t>
              </a:r>
            </a:p>
          </p:txBody>
        </p:sp>
        <mc:AlternateContent xmlns:mc="http://schemas.openxmlformats.org/markup-compatibility/2006" xmlns:a14="http://schemas.microsoft.com/office/drawing/2010/main">
          <mc:Choice Requires="a14">
            <p:sp>
              <p:nvSpPr>
                <p:cNvPr id="49" name="CaixaDeTexto 48">
                  <a:extLst>
                    <a:ext uri="{FF2B5EF4-FFF2-40B4-BE49-F238E27FC236}">
                      <a16:creationId xmlns="" xmlns:a16="http://schemas.microsoft.com/office/drawing/2014/main" id="{8FE7EC3C-AD89-424C-5B65-D06E77AB08FA}"/>
                    </a:ext>
                  </a:extLst>
                </p:cNvPr>
                <p:cNvSpPr txBox="1"/>
                <p:nvPr/>
              </p:nvSpPr>
              <p:spPr>
                <a:xfrm>
                  <a:off x="7182013" y="2018723"/>
                  <a:ext cx="4368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3</m:t>
                            </m:r>
                          </m:sub>
                        </m:sSub>
                      </m:oMath>
                    </m:oMathPara>
                  </a14:m>
                  <a:endParaRPr lang="pt-BR" dirty="0"/>
                </a:p>
              </p:txBody>
            </p:sp>
          </mc:Choice>
          <mc:Fallback xmlns="">
            <p:sp>
              <p:nvSpPr>
                <p:cNvPr id="49" name="CaixaDeTexto 48">
                  <a:extLst>
                    <a:ext uri="{FF2B5EF4-FFF2-40B4-BE49-F238E27FC236}">
                      <a16:creationId xmlns:a16="http://schemas.microsoft.com/office/drawing/2014/main" id="{8FE7EC3C-AD89-424C-5B65-D06E77AB08FA}"/>
                    </a:ext>
                  </a:extLst>
                </p:cNvPr>
                <p:cNvSpPr txBox="1">
                  <a:spLocks noRot="1" noChangeAspect="1" noMove="1" noResize="1" noEditPoints="1" noAdjustHandles="1" noChangeArrowheads="1" noChangeShapeType="1" noTextEdit="1"/>
                </p:cNvSpPr>
                <p:nvPr/>
              </p:nvSpPr>
              <p:spPr>
                <a:xfrm>
                  <a:off x="7182013" y="2018723"/>
                  <a:ext cx="436880" cy="369332"/>
                </a:xfrm>
                <a:prstGeom prst="rect">
                  <a:avLst/>
                </a:prstGeom>
                <a:blipFill>
                  <a:blip r:embed="rId15"/>
                  <a:stretch>
                    <a:fillRect b="-6557"/>
                  </a:stretch>
                </a:blipFill>
              </p:spPr>
              <p:txBody>
                <a:bodyPr/>
                <a:lstStyle/>
                <a:p>
                  <a:r>
                    <a:rPr lang="pt-BR">
                      <a:noFill/>
                    </a:rPr>
                    <a:t> </a:t>
                  </a:r>
                </a:p>
              </p:txBody>
            </p:sp>
          </mc:Fallback>
        </mc:AlternateContent>
        <p:cxnSp>
          <p:nvCxnSpPr>
            <p:cNvPr id="50" name="Conector de Seta Reta 49">
              <a:extLst>
                <a:ext uri="{FF2B5EF4-FFF2-40B4-BE49-F238E27FC236}">
                  <a16:creationId xmlns="" xmlns:a16="http://schemas.microsoft.com/office/drawing/2014/main" id="{8C7CCD12-6EF1-2AEC-9C3F-96E08AE7CB07}"/>
                </a:ext>
              </a:extLst>
            </p:cNvPr>
            <p:cNvCxnSpPr>
              <a:cxnSpLocks/>
            </p:cNvCxnSpPr>
            <p:nvPr/>
          </p:nvCxnSpPr>
          <p:spPr>
            <a:xfrm flipV="1">
              <a:off x="7421024" y="1839224"/>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51" name="Conector de Seta Reta 50">
              <a:extLst>
                <a:ext uri="{FF2B5EF4-FFF2-40B4-BE49-F238E27FC236}">
                  <a16:creationId xmlns="" xmlns:a16="http://schemas.microsoft.com/office/drawing/2014/main" id="{EF6E5901-859B-3C75-4CFC-A2DF5ADBF18B}"/>
                </a:ext>
              </a:extLst>
            </p:cNvPr>
            <p:cNvCxnSpPr>
              <a:cxnSpLocks/>
            </p:cNvCxnSpPr>
            <p:nvPr/>
          </p:nvCxnSpPr>
          <p:spPr>
            <a:xfrm flipV="1">
              <a:off x="7022586" y="1869704"/>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52" name="CaixaDeTexto 51">
                  <a:extLst>
                    <a:ext uri="{FF2B5EF4-FFF2-40B4-BE49-F238E27FC236}">
                      <a16:creationId xmlns="" xmlns:a16="http://schemas.microsoft.com/office/drawing/2014/main" id="{B10BE76B-AA0A-B6FC-806D-CABD2D7F3B58}"/>
                    </a:ext>
                  </a:extLst>
                </p:cNvPr>
                <p:cNvSpPr txBox="1"/>
                <p:nvPr/>
              </p:nvSpPr>
              <p:spPr>
                <a:xfrm>
                  <a:off x="6758859" y="2010004"/>
                  <a:ext cx="4368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2</m:t>
                            </m:r>
                          </m:sub>
                        </m:sSub>
                      </m:oMath>
                    </m:oMathPara>
                  </a14:m>
                  <a:endParaRPr lang="pt-BR" dirty="0"/>
                </a:p>
              </p:txBody>
            </p:sp>
          </mc:Choice>
          <mc:Fallback xmlns="">
            <p:sp>
              <p:nvSpPr>
                <p:cNvPr id="52" name="CaixaDeTexto 51">
                  <a:extLst>
                    <a:ext uri="{FF2B5EF4-FFF2-40B4-BE49-F238E27FC236}">
                      <a16:creationId xmlns:a16="http://schemas.microsoft.com/office/drawing/2014/main" id="{B10BE76B-AA0A-B6FC-806D-CABD2D7F3B58}"/>
                    </a:ext>
                  </a:extLst>
                </p:cNvPr>
                <p:cNvSpPr txBox="1">
                  <a:spLocks noRot="1" noChangeAspect="1" noMove="1" noResize="1" noEditPoints="1" noAdjustHandles="1" noChangeArrowheads="1" noChangeShapeType="1" noTextEdit="1"/>
                </p:cNvSpPr>
                <p:nvPr/>
              </p:nvSpPr>
              <p:spPr>
                <a:xfrm>
                  <a:off x="6758859" y="2010004"/>
                  <a:ext cx="436880" cy="369332"/>
                </a:xfrm>
                <a:prstGeom prst="rect">
                  <a:avLst/>
                </a:prstGeom>
                <a:blipFill>
                  <a:blip r:embed="rId16"/>
                  <a:stretch>
                    <a:fillRect/>
                  </a:stretch>
                </a:blipFill>
              </p:spPr>
              <p:txBody>
                <a:bodyPr/>
                <a:lstStyle/>
                <a:p>
                  <a:r>
                    <a:rPr lang="pt-BR">
                      <a:noFill/>
                    </a:rPr>
                    <a:t> </a:t>
                  </a:r>
                </a:p>
              </p:txBody>
            </p:sp>
          </mc:Fallback>
        </mc:AlternateContent>
      </p:grpSp>
      <p:sp>
        <p:nvSpPr>
          <p:cNvPr id="55" name="Elipse 54">
            <a:extLst>
              <a:ext uri="{FF2B5EF4-FFF2-40B4-BE49-F238E27FC236}">
                <a16:creationId xmlns="" xmlns:a16="http://schemas.microsoft.com/office/drawing/2014/main" id="{CCF2F530-05F7-D02C-662A-B2A38918A7E9}"/>
              </a:ext>
            </a:extLst>
          </p:cNvPr>
          <p:cNvSpPr/>
          <p:nvPr/>
        </p:nvSpPr>
        <p:spPr>
          <a:xfrm>
            <a:off x="5795221" y="3347035"/>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57" name="CaixaDeTexto 56">
                <a:extLst>
                  <a:ext uri="{FF2B5EF4-FFF2-40B4-BE49-F238E27FC236}">
                    <a16:creationId xmlns="" xmlns:a16="http://schemas.microsoft.com/office/drawing/2014/main" id="{E6E092E0-E38C-A54D-428E-7F50F1504669}"/>
                  </a:ext>
                </a:extLst>
              </p:cNvPr>
              <p:cNvSpPr txBox="1"/>
              <p:nvPr/>
            </p:nvSpPr>
            <p:spPr>
              <a:xfrm>
                <a:off x="9206038" y="2179232"/>
                <a:ext cx="2530293" cy="66909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3</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𝑧</m:t>
                              </m:r>
                            </m:e>
                            <m:sub>
                              <m:r>
                                <a:rPr lang="pt-BR" b="0" i="1" smtClean="0">
                                  <a:latin typeface="Cambria Math" panose="02040503050406030204" pitchFamily="18" charset="0"/>
                                </a:rPr>
                                <m:t>2</m:t>
                              </m:r>
                            </m:sub>
                          </m:sSub>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num>
                        <m:den>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den>
                      </m:f>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m:oMathPara>
                </a14:m>
                <a:endParaRPr lang="pt-BR" dirty="0"/>
              </a:p>
            </p:txBody>
          </p:sp>
        </mc:Choice>
        <mc:Fallback xmlns="">
          <p:sp>
            <p:nvSpPr>
              <p:cNvPr id="57" name="CaixaDeTexto 56">
                <a:extLst>
                  <a:ext uri="{FF2B5EF4-FFF2-40B4-BE49-F238E27FC236}">
                    <a16:creationId xmlns:a16="http://schemas.microsoft.com/office/drawing/2014/main" id="{E6E092E0-E38C-A54D-428E-7F50F1504669}"/>
                  </a:ext>
                </a:extLst>
              </p:cNvPr>
              <p:cNvSpPr txBox="1">
                <a:spLocks noRot="1" noChangeAspect="1" noMove="1" noResize="1" noEditPoints="1" noAdjustHandles="1" noChangeArrowheads="1" noChangeShapeType="1" noTextEdit="1"/>
              </p:cNvSpPr>
              <p:nvPr/>
            </p:nvSpPr>
            <p:spPr>
              <a:xfrm>
                <a:off x="9206038" y="2179232"/>
                <a:ext cx="2530293" cy="669094"/>
              </a:xfrm>
              <a:prstGeom prst="rect">
                <a:avLst/>
              </a:prstGeom>
              <a:blipFill>
                <a:blip r:embed="rId17"/>
                <a:stretch>
                  <a:fillRect/>
                </a:stretch>
              </a:blipFill>
            </p:spPr>
            <p:txBody>
              <a:bodyPr/>
              <a:lstStyle/>
              <a:p>
                <a:r>
                  <a:rPr lang="pt-BR">
                    <a:noFill/>
                  </a:rPr>
                  <a:t> </a:t>
                </a:r>
              </a:p>
            </p:txBody>
          </p:sp>
        </mc:Fallback>
      </mc:AlternateContent>
      <p:cxnSp>
        <p:nvCxnSpPr>
          <p:cNvPr id="58" name="Conector de Seta Reta 57">
            <a:extLst>
              <a:ext uri="{FF2B5EF4-FFF2-40B4-BE49-F238E27FC236}">
                <a16:creationId xmlns="" xmlns:a16="http://schemas.microsoft.com/office/drawing/2014/main" id="{8155D331-D548-C377-EFBF-60518B377CE8}"/>
              </a:ext>
            </a:extLst>
          </p:cNvPr>
          <p:cNvCxnSpPr>
            <a:cxnSpLocks/>
            <a:stCxn id="55" idx="0"/>
            <a:endCxn id="57" idx="1"/>
          </p:cNvCxnSpPr>
          <p:nvPr/>
        </p:nvCxnSpPr>
        <p:spPr>
          <a:xfrm flipV="1">
            <a:off x="6189176" y="2513779"/>
            <a:ext cx="3016862" cy="83325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97882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3613D26-C76F-D3F7-FC01-BA23B862E2B2}"/>
              </a:ext>
            </a:extLst>
          </p:cNvPr>
          <p:cNvSpPr>
            <a:spLocks noGrp="1"/>
          </p:cNvSpPr>
          <p:nvPr>
            <p:ph type="title"/>
          </p:nvPr>
        </p:nvSpPr>
        <p:spPr>
          <a:xfrm>
            <a:off x="838200" y="365125"/>
            <a:ext cx="11144534"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a:t>
            </a:r>
            <a:r>
              <a:rPr lang="pt-BR" b="1" i="1" dirty="0">
                <a:solidFill>
                  <a:srgbClr val="00B050"/>
                </a:solidFill>
              </a:rPr>
              <a:t>variância das ativações permaneça a mesma ao longo de todas as camadas</a:t>
            </a:r>
            <a:r>
              <a:rPr lang="pt-BR" dirty="0"/>
              <a:t>. Isso garante que o gradiente retropropagado não tenha multiplicações com valores muito pequenos ou muito grandes em qualquer camada, </a:t>
            </a:r>
            <a:r>
              <a:rPr lang="pt-BR" b="0" i="0" dirty="0">
                <a:effectLst/>
              </a:rPr>
              <a:t>ajudando a </a:t>
            </a:r>
            <a:r>
              <a:rPr lang="pt-BR" b="1" i="1" dirty="0">
                <a:solidFill>
                  <a:schemeClr val="accent5"/>
                </a:solidFill>
              </a:rPr>
              <a:t>mitigar ambos os problemas</a:t>
            </a:r>
            <a:r>
              <a:rPr lang="pt-BR" dirty="0"/>
              <a:t>.</a:t>
            </a:r>
          </a:p>
          <a:p>
            <a:pPr lvl="1">
              <a:buFont typeface="Wingdings" panose="05000000000000000000" pitchFamily="2" charset="2"/>
              <a:buChar char="§"/>
            </a:pPr>
            <a:r>
              <a:rPr lang="pt-BR" b="1" dirty="0"/>
              <a:t>Normalização de batch</a:t>
            </a:r>
            <a:r>
              <a:rPr lang="pt-BR" dirty="0"/>
              <a:t>: </a:t>
            </a:r>
            <a:r>
              <a:rPr lang="pt-BR" b="1" i="1" dirty="0">
                <a:solidFill>
                  <a:srgbClr val="00B050"/>
                </a:solidFill>
              </a:rPr>
              <a:t>padroniza as ativações </a:t>
            </a:r>
            <a:r>
              <a:rPr lang="pt-BR" dirty="0"/>
              <a:t>das camadas da rede e, na sequência, as </a:t>
            </a:r>
            <a:r>
              <a:rPr lang="pt-BR" b="1" i="1" dirty="0">
                <a:solidFill>
                  <a:srgbClr val="00B050"/>
                </a:solidFill>
              </a:rPr>
              <a:t>desloca e escalona</a:t>
            </a:r>
            <a:r>
              <a:rPr lang="pt-BR" b="0" i="0" dirty="0">
                <a:effectLst/>
              </a:rPr>
              <a:t>,</a:t>
            </a:r>
            <a:r>
              <a:rPr lang="pt-BR" dirty="0"/>
              <a:t> mantendo-as dentro de intervalos que </a:t>
            </a:r>
            <a:r>
              <a:rPr lang="pt-BR" b="1" i="1" dirty="0">
                <a:solidFill>
                  <a:schemeClr val="accent5"/>
                </a:solidFill>
              </a:rPr>
              <a:t>minimizam</a:t>
            </a:r>
            <a:r>
              <a:rPr lang="pt-BR" b="1" i="1" dirty="0">
                <a:solidFill>
                  <a:schemeClr val="accent5"/>
                </a:solidFill>
                <a:effectLst/>
              </a:rPr>
              <a:t> ambos os problemas</a:t>
            </a:r>
            <a:r>
              <a:rPr lang="pt-BR" b="0" i="0" dirty="0">
                <a:effectLst/>
              </a:rPr>
              <a:t>.</a:t>
            </a:r>
            <a:endParaRPr lang="pt-BR" dirty="0"/>
          </a:p>
          <a:p>
            <a:pPr lvl="1">
              <a:buFont typeface="Wingdings" panose="05000000000000000000" pitchFamily="2" charset="2"/>
              <a:buChar char="§"/>
            </a:pPr>
            <a:r>
              <a:rPr lang="pt-BR" b="1" dirty="0"/>
              <a:t>Poda do gradiente</a:t>
            </a:r>
            <a:r>
              <a:rPr lang="pt-BR" dirty="0"/>
              <a:t>: </a:t>
            </a:r>
            <a:r>
              <a:rPr lang="pt-BR" b="1" i="1" dirty="0">
                <a:solidFill>
                  <a:srgbClr val="00B050"/>
                </a:solidFill>
              </a:rPr>
              <a:t>limita (poda) os valores dos gradientes</a:t>
            </a:r>
            <a:r>
              <a:rPr lang="pt-BR" dirty="0">
                <a:solidFill>
                  <a:srgbClr val="00B050"/>
                </a:solidFill>
              </a:rPr>
              <a:t> </a:t>
            </a:r>
            <a:r>
              <a:rPr lang="pt-BR" dirty="0"/>
              <a:t>durante o treinamento para que eles não excedam algum limite pré-definido, </a:t>
            </a:r>
            <a:r>
              <a:rPr lang="pt-BR" b="1" i="1" dirty="0">
                <a:solidFill>
                  <a:schemeClr val="accent5"/>
                </a:solidFill>
              </a:rPr>
              <a:t>mitigando apenas o problema da explosão do gradiente</a:t>
            </a:r>
            <a:r>
              <a:rPr lang="pt-BR" dirty="0"/>
              <a:t>.</a:t>
            </a:r>
          </a:p>
        </p:txBody>
      </p:sp>
    </p:spTree>
    <p:extLst>
      <p:ext uri="{BB962C8B-B14F-4D97-AF65-F5344CB8AC3E}">
        <p14:creationId xmlns:p14="http://schemas.microsoft.com/office/powerpoint/2010/main" val="36803022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B46EFC7-9713-E919-C22B-473617EDFB24}"/>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7807888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8741</TotalTime>
  <Words>6122</Words>
  <Application>Microsoft Office PowerPoint</Application>
  <PresentationFormat>Widescreen</PresentationFormat>
  <Paragraphs>715</Paragraphs>
  <Slides>59</Slides>
  <Notes>26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59</vt:i4>
      </vt:variant>
    </vt:vector>
  </HeadingPairs>
  <TitlesOfParts>
    <vt:vector size="68"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Exemplo</vt:lpstr>
      <vt:lpstr>Lista de exercícios</vt:lpstr>
      <vt:lpstr>Apresentação do PowerPoint</vt:lpstr>
      <vt:lpstr>Apresentação do PowerPoint</vt:lpstr>
      <vt:lpstr>Apresentação do PowerPoint</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1863</cp:revision>
  <dcterms:created xsi:type="dcterms:W3CDTF">2020-01-20T13:50:05Z</dcterms:created>
  <dcterms:modified xsi:type="dcterms:W3CDTF">2026-03-12T01:43:23Z</dcterms:modified>
</cp:coreProperties>
</file>