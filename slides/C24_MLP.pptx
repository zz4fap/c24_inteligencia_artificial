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handoutMasterIdLst>
    <p:handoutMasterId r:id="rId52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79" r:id="rId29"/>
    <p:sldId id="567" r:id="rId30"/>
    <p:sldId id="547" r:id="rId31"/>
    <p:sldId id="391" r:id="rId32"/>
    <p:sldId id="392" r:id="rId33"/>
    <p:sldId id="576" r:id="rId34"/>
    <p:sldId id="568" r:id="rId35"/>
    <p:sldId id="569" r:id="rId36"/>
    <p:sldId id="578" r:id="rId37"/>
    <p:sldId id="570" r:id="rId38"/>
    <p:sldId id="573" r:id="rId39"/>
    <p:sldId id="574" r:id="rId40"/>
    <p:sldId id="572" r:id="rId41"/>
    <p:sldId id="581" r:id="rId42"/>
    <p:sldId id="582" r:id="rId43"/>
    <p:sldId id="580" r:id="rId44"/>
    <p:sldId id="552" r:id="rId45"/>
    <p:sldId id="557" r:id="rId46"/>
    <p:sldId id="369" r:id="rId47"/>
    <p:sldId id="549" r:id="rId48"/>
    <p:sldId id="293" r:id="rId49"/>
    <p:sldId id="306" r:id="rId5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7893" autoAdjust="0"/>
  </p:normalViewPr>
  <p:slideViewPr>
    <p:cSldViewPr snapToGrid="0">
      <p:cViewPr varScale="1">
        <p:scale>
          <a:sx n="97" d="100"/>
          <a:sy n="97" d="100"/>
        </p:scale>
        <p:origin x="133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objetivo é encontrar o conjunto de pesos que minimiza a função de perda.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79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32166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0368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ABF4-821B-90C6-D65A-3ECCDF84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F1DF97-BECB-E7EA-642E-BDC94C46E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044D16-69E1-EFE7-26AA-A95677BC2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F15E5F-E836-3455-7343-3F42C53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6859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3315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316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0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13" Type="http://schemas.openxmlformats.org/officeDocument/2006/relationships/image" Target="../media/image310.png"/><Relationship Id="rId3" Type="http://schemas.openxmlformats.org/officeDocument/2006/relationships/image" Target="../media/image461.png"/><Relationship Id="rId7" Type="http://schemas.openxmlformats.org/officeDocument/2006/relationships/image" Target="../media/image250.png"/><Relationship Id="rId12" Type="http://schemas.openxmlformats.org/officeDocument/2006/relationships/image" Target="../media/image30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11" Type="http://schemas.openxmlformats.org/officeDocument/2006/relationships/image" Target="../media/image290.png"/><Relationship Id="rId5" Type="http://schemas.openxmlformats.org/officeDocument/2006/relationships/image" Target="../media/image230.png"/><Relationship Id="rId10" Type="http://schemas.openxmlformats.org/officeDocument/2006/relationships/image" Target="../media/image281.png"/><Relationship Id="rId4" Type="http://schemas.openxmlformats.org/officeDocument/2006/relationships/image" Target="../media/image221.png"/><Relationship Id="rId9" Type="http://schemas.openxmlformats.org/officeDocument/2006/relationships/image" Target="../media/image27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:a16="http://schemas.microsoft.com/office/drawing/2014/main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  <a:p>
            <a:r>
              <a:rPr lang="pt-BR" dirty="0"/>
              <a:t>Cada camada, exceto a de entrada, possui um ou mais neurônios.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dirty="0" err="1"/>
              <a:t>deep</a:t>
            </a:r>
            <a:r>
              <a:rPr lang="pt-BR" b="1" dirty="0"/>
              <a:t> learning ou aprendizado profundo</a:t>
            </a:r>
            <a:r>
              <a:rPr lang="pt-BR" dirty="0"/>
              <a:t>.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397727"/>
          </a:xfrm>
        </p:spPr>
        <p:txBody>
          <a:bodyPr>
            <a:normAutofit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/>
              <a:t>Por terem uma grande capacidade de aprendizado, elas precisam de uma grande quantidade de dados para aprenderem uma solução geral.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/>
              <a:t>Isso 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525061" y="2170905"/>
            <a:ext cx="3813748" cy="252152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3600" dirty="0"/>
              <a:t>O algoritmo de </a:t>
            </a:r>
            <a:r>
              <a:rPr lang="pt-BR" sz="3600" i="1" dirty="0" err="1"/>
              <a:t>backpropagation</a:t>
            </a:r>
            <a:r>
              <a:rPr lang="pt-BR" sz="3600" dirty="0"/>
              <a:t> é baseado na regra da cadeia.</a:t>
            </a:r>
          </a:p>
        </p:txBody>
      </p:sp>
      <p:pic>
        <p:nvPicPr>
          <p:cNvPr id="1026" name="Picture 2" descr="Backpropagation is not the Chain Rule; Read why in this easy-to-understand  Deep Learning and backpropagation introduction! (+books recommended) | by  Mariano Crosetti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016" y="259842"/>
            <a:ext cx="4762500" cy="634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4377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/>
              <a:t>O 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gradientes são calculados usando </a:t>
            </a:r>
            <a:r>
              <a:rPr lang="pt-BR" b="1" dirty="0"/>
              <a:t>regra da cadeia</a:t>
            </a:r>
            <a:r>
              <a:rPr lang="pt-BR" dirty="0"/>
              <a:t>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8548-4E40-D933-E8DC-9078F53FE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atualizar o peso de um nó de uma camada</a:t>
                </a:r>
                <a:r>
                  <a:rPr lang="pt-BR" dirty="0"/>
                  <a:t>, a </a:t>
                </a:r>
                <a:r>
                  <a:rPr lang="pt-BR" b="1" dirty="0"/>
                  <a:t>retropropagação </a:t>
                </a:r>
                <a:r>
                  <a:rPr lang="pt-BR" dirty="0"/>
                  <a:t>calcula a derivada parcial do erro em relação àquele peso usando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regra da cadeia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o exemplo abaixo com 3 nós, 3 pesos,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3 funções de ativação,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e um rótulo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900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Para facilitar a análise, vamos definir as entradas dos nós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Essas</a:t>
                </a:r>
                <a:r>
                  <a:rPr lang="en-US" dirty="0"/>
                  <a:t> </a:t>
                </a:r>
                <a:r>
                  <a:rPr lang="en-US" dirty="0" err="1"/>
                  <a:t>variáveis</a:t>
                </a:r>
                <a:r>
                  <a:rPr lang="en-US" dirty="0"/>
                  <a:t>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chamadas</a:t>
                </a:r>
                <a:r>
                  <a:rPr lang="en-US" dirty="0"/>
                  <a:t> de </a:t>
                </a:r>
                <a:r>
                  <a:rPr lang="en-US" b="1" dirty="0" err="1"/>
                  <a:t>ativações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2663" r="-1396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/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15EECB81-4888-BE43-D57A-7E0AC3433AAA}"/>
              </a:ext>
            </a:extLst>
          </p:cNvPr>
          <p:cNvGrpSpPr/>
          <p:nvPr/>
        </p:nvGrpSpPr>
        <p:grpSpPr>
          <a:xfrm>
            <a:off x="2824117" y="3859500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7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Conector de Seta Reta 7">
              <a:extLst>
                <a:ext uri="{FF2B5EF4-FFF2-40B4-BE49-F238E27FC236}">
                  <a16:creationId xmlns:a16="http://schemas.microsoft.com/office/drawing/2014/main" id="{3EB6652E-D7A4-3D53-0846-F1BCA7D3B54C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2">
              <a:extLst>
                <a:ext uri="{FF2B5EF4-FFF2-40B4-BE49-F238E27FC236}">
                  <a16:creationId xmlns:a16="http://schemas.microsoft.com/office/drawing/2014/main" id="{F3DFC699-3B19-0FEE-C53B-3464E77AFC53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Conector de Seta Reta 17">
              <a:extLst>
                <a:ext uri="{FF2B5EF4-FFF2-40B4-BE49-F238E27FC236}">
                  <a16:creationId xmlns:a16="http://schemas.microsoft.com/office/drawing/2014/main" id="{312E89C0-1C24-ACB0-845A-4621F2D3BD18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/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82B2D064-F37C-9C64-51DF-13B09FB79146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79394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DF1B7-8386-676F-A207-485C7F06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22D5A62-CE6E-1AA5-57FE-1C7135D81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Como calculamos a derivada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?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22D5A62-CE6E-1AA5-57FE-1C7135D81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 rotWithShape="0"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353461F-D7CA-7028-DE2D-B74AE7BD8BE3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:a16="http://schemas.microsoft.com/office/drawing/2014/main" id="{7ABF4E32-E935-559B-0DAE-36252CB986F6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:a16="http://schemas.microsoft.com/office/drawing/2014/main" id="{0EFE6466-BF10-C27D-2D10-5E9265EA4B9A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:a16="http://schemas.microsoft.com/office/drawing/2014/main" id="{974D17E7-41A8-8865-2776-B3EE2C176F20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93ECE202-BD62-15EC-E1DF-DF61B6B9EB0F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45302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59F49-C0EE-A65D-6D87-C23C536B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9FFF17-A855-AFE9-F0FE-D69D38AEE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vetor gradiente para a atualização de um peso de qualquer camada inclui o produto das derivadas das funções de ativação dos nós desde a camada de saída até a camada desejada.</a:t>
                </a:r>
              </a:p>
              <a:p>
                <a:r>
                  <a:rPr lang="pt-BR" dirty="0"/>
                  <a:t>Essa observação será útil para entendermos os problemas do desaparecimento e explosão do gradiente.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5F4EB85-2A0F-77F3-E70D-4C9D6DE49915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0DF451FF-252E-0ED6-AFC8-BBBDC99EE7D3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0DF451FF-252E-0ED6-AFC8-BBBDC99EE7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3CBB6E6D-DAB2-09E5-DD33-36B8D4A45190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3CBB6E6D-DAB2-09E5-DD33-36B8D4A451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9EA08535-4021-80BA-226E-967C0A9D9A70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9EA08535-4021-80BA-226E-967C0A9D9A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:a16="http://schemas.microsoft.com/office/drawing/2014/main" id="{A11E8B99-7CCE-788B-5F00-5BD90E4A7D69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:a16="http://schemas.microsoft.com/office/drawing/2014/main" id="{16A531C1-9B34-4202-B1FA-074BD5A23B85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906CF6EB-5141-3C81-7C9C-26A36C81B480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906CF6EB-5141-3C81-7C9C-26A36C81B4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6439ADC2-D04E-55B5-F201-6C2D55A65394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6439ADC2-D04E-55B5-F201-6C2D55A653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:a16="http://schemas.microsoft.com/office/drawing/2014/main" id="{EBE85167-55DF-8F1E-D1BD-32C79C2D1084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08B6112-66C0-EF5E-D40C-CB0F43BD4903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08B6112-66C0-EF5E-D40C-CB0F43BD4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229581D-0CB8-B97B-99EC-3870B0C571E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229581D-0CB8-B97B-99EC-3870B0C57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59B8D0D-C168-0DEF-7032-780D8BD52DB8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59B8D0D-C168-0DEF-7032-780D8BD52D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13608BC-509F-47CF-C8C7-736D8D70B38D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13608BC-509F-47CF-C8C7-736D8D70B3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5D9A51C3-8AAB-F25D-CA8D-57F7AE5F54BC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BCA4DDE-7466-5839-23BD-BF84059D5A8F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BCA4DDE-7466-5839-23BD-BF84059D5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806064B-863B-8125-E188-56029193EBC2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806064B-863B-8125-E188-56029193EB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9271769-A4F8-1B13-5BBA-5C50F190452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9271769-A4F8-1B13-5BBA-5C50F1904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8F8E7D3-7811-A713-AA0A-6E81D86279E2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8F8E7D3-7811-A713-AA0A-6E81D8627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59F6DF8-3471-00E6-711E-5D1D4947B53E}"/>
              </a:ext>
            </a:extLst>
          </p:cNvPr>
          <p:cNvSpPr/>
          <p:nvPr/>
        </p:nvSpPr>
        <p:spPr>
          <a:xfrm>
            <a:off x="4870455" y="2674375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AA49B-7357-E6EF-02B7-310898999E79}"/>
              </a:ext>
            </a:extLst>
          </p:cNvPr>
          <p:cNvSpPr/>
          <p:nvPr/>
        </p:nvSpPr>
        <p:spPr>
          <a:xfrm>
            <a:off x="714437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2B75B0-B3A1-B9D4-02EF-5E1B13BE504B}"/>
              </a:ext>
            </a:extLst>
          </p:cNvPr>
          <p:cNvSpPr/>
          <p:nvPr/>
        </p:nvSpPr>
        <p:spPr>
          <a:xfrm>
            <a:off x="941829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8437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dirty="0"/>
                  <a:t>vetor gradiente </a:t>
                </a:r>
                <a:r>
                  <a:rPr lang="pt-BR" dirty="0"/>
                  <a:t>para todos os pesos do nó 1 da camada oculta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pt-BR" dirty="0"/>
                  <a:t>, de forma genérica, i.e., não vamos assumir nenhum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 r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5907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Usaremos o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 como função de erro</a:t>
                </a:r>
                <a:endParaRPr lang="pt-BR" sz="2800" dirty="0"/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 algn="ctr">
                  <a:buNone/>
                </a:pPr>
                <a:endParaRPr lang="pt-BR" sz="5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amostras,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é o número de nós na camada de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rótulo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nó da camada de saída, respectivamente, ambos correspondentes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amostra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sz="2800" dirty="0"/>
                  <a:t> representa o índice da última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7857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FEE69-E068-E1DA-235F-CA5E09C5E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1C0860-37BF-1E91-5400-161CEB8D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E90DBE-E2F7-6A62-23BE-53B1405365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rede possui uma camada oculta com dois nós e uma camada de saída com um único nó,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Além disso, por motivos didáticos, vamos considerar um único exemplo de entrada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seu respectivo rótulo,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fazendo com que o erro se torne</a:t>
                </a: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sua vez, o gradiente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1E90DBE-E2F7-6A62-23BE-53B1405365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9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sz="1400" dirty="0"/>
                  <a:t> não significa “ao quadrado”, mas sim a indicação do índice da camada.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  <a:blipFill rotWithShape="0">
                <a:blip r:embed="rId3"/>
                <a:stretch>
                  <a:fillRect r="-475" b="-81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57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são inicializados de forma aleatória.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dirty="0"/>
                  <a:t>direta</a:t>
                </a:r>
                <a:r>
                  <a:rPr lang="pt-BR" dirty="0"/>
                  <a:t> (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 rotWithShape="0">
                <a:blip r:embed="rId2"/>
                <a:stretch>
                  <a:fillRect l="-146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936146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a derivada parcial da função de ativação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em relação à ativação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no desta camada.</a:t>
                </a:r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  <a:blipFill rotWithShape="0">
                <a:blip r:embed="rId2"/>
                <a:stretch>
                  <a:fillRect l="-1135" t="-1937" r="-3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2492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 rotWithShape="0"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154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vetor gradiente com as derivadas parciais com relação a todos 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é apresentado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 rotWithShape="0">
                <a:blip r:embed="rId2"/>
                <a:stretch>
                  <a:fillRect l="-976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10123422" y="4803297"/>
            <a:ext cx="15834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às entradas de todos os nós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9541689" y="4779464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869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3B46D1-CEFE-A5A2-AC44-071EEB21FF81}"/>
              </a:ext>
            </a:extLst>
          </p:cNvPr>
          <p:cNvSpPr txBox="1"/>
          <p:nvPr/>
        </p:nvSpPr>
        <p:spPr>
          <a:xfrm>
            <a:off x="2251587" y="3510116"/>
            <a:ext cx="74921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200" b="1" dirty="0" err="1">
                <a:solidFill>
                  <a:srgbClr val="7030A0"/>
                </a:solidFill>
              </a:rPr>
              <a:t>Pseudo-código</a:t>
            </a:r>
            <a:r>
              <a:rPr lang="pt-BR" sz="7200" b="1" dirty="0">
                <a:solidFill>
                  <a:srgbClr val="7030A0"/>
                </a:solidFill>
              </a:rPr>
              <a:t>?</a:t>
            </a:r>
            <a:endParaRPr lang="en-US" sz="72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95784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FA125-6AAE-1A72-72B8-43F1CEBC9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caling An ML Team (0–10 People). Illustrated With Memes | by Peter Gao |  Aquarium Learning | Medium">
            <a:extLst>
              <a:ext uri="{FF2B5EF4-FFF2-40B4-BE49-F238E27FC236}">
                <a16:creationId xmlns:a16="http://schemas.microsoft.com/office/drawing/2014/main" id="{F8BF85EB-C5E1-7CBB-79BF-EA3654032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1524000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8552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09863" y="5771214"/>
            <a:ext cx="11782270" cy="10867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dirty="0"/>
              <a:t>Não se preocupem, hoje em dia, não realizamos esse procedimento de forma manual, usamos bibliotecas que automatizam o processo.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77"/>
          <a:stretch/>
        </p:blipFill>
        <p:spPr>
          <a:xfrm>
            <a:off x="1371288" y="284811"/>
            <a:ext cx="9045938" cy="5356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7881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dissipação do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Vamos entender esse problema através de um exemplo.</a:t>
                </a:r>
              </a:p>
              <a:p>
                <a:r>
                  <a:rPr lang="pt-BR" dirty="0"/>
                  <a:t>Dada a simplificação de uma rede neural mostrada na figura abaixo, a qual contém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Três nós com as seguintes funções de ativação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Pesos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, 1 e 1, conectando os três nós,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atualizarmos o valor do peso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 com o gradiente descendente, precisamos encontrar a derivada parcial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encontrar a derivada, usamos a regra da cadeia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928" t="-2801" r="-2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23">
            <a:extLst>
              <a:ext uri="{FF2B5EF4-FFF2-40B4-BE49-F238E27FC236}">
                <a16:creationId xmlns:a16="http://schemas.microsoft.com/office/drawing/2014/main" id="{B2B2E9E4-40EA-4EF3-A1B4-7C4B37E726F4}"/>
              </a:ext>
            </a:extLst>
          </p:cNvPr>
          <p:cNvGrpSpPr/>
          <p:nvPr/>
        </p:nvGrpSpPr>
        <p:grpSpPr>
          <a:xfrm>
            <a:off x="2729869" y="6016442"/>
            <a:ext cx="6903711" cy="749666"/>
            <a:chOff x="4473339" y="2985718"/>
            <a:chExt cx="6903711" cy="749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/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Elipse 3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/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51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6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/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4DB247EE-A5CD-4605-B5AE-0574C92FD396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6186225" y="3355050"/>
              <a:ext cx="94323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9">
              <a:extLst>
                <a:ext uri="{FF2B5EF4-FFF2-40B4-BE49-F238E27FC236}">
                  <a16:creationId xmlns:a16="http://schemas.microsoft.com/office/drawing/2014/main" id="{8FDC2F6D-7AEF-4D5B-AD32-8005F3C27C47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>
              <a:off x="7705462" y="3355050"/>
              <a:ext cx="9718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12">
              <a:extLst>
                <a:ext uri="{FF2B5EF4-FFF2-40B4-BE49-F238E27FC236}">
                  <a16:creationId xmlns:a16="http://schemas.microsoft.com/office/drawing/2014/main" id="{894AD04A-1FF4-48E9-81C3-E481324E92F6}"/>
                </a:ext>
              </a:extLst>
            </p:cNvPr>
            <p:cNvCxnSpPr/>
            <p:nvPr/>
          </p:nvCxnSpPr>
          <p:spPr>
            <a:xfrm>
              <a:off x="9253275" y="335505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/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/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Retângulo 14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1887" r="-4403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2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/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/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ector de Seta Reta 17">
              <a:extLst>
                <a:ext uri="{FF2B5EF4-FFF2-40B4-BE49-F238E27FC236}">
                  <a16:creationId xmlns:a16="http://schemas.microsoft.com/office/drawing/2014/main" id="{54CB43BD-2566-471D-88EE-64FDFF39B9D8}"/>
                </a:ext>
              </a:extLst>
            </p:cNvPr>
            <p:cNvCxnSpPr/>
            <p:nvPr/>
          </p:nvCxnSpPr>
          <p:spPr>
            <a:xfrm>
              <a:off x="5250225" y="3360359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/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Retângulo 18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/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/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tângulo 20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7993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8527</TotalTime>
  <Words>5135</Words>
  <Application>Microsoft Office PowerPoint</Application>
  <PresentationFormat>Widescreen</PresentationFormat>
  <Paragraphs>505</Paragraphs>
  <Slides>49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PowerPoint Presentation</vt:lpstr>
      <vt:lpstr>Redes neurais artificiais</vt:lpstr>
      <vt:lpstr>PowerPoint Presentation</vt:lpstr>
      <vt:lpstr>PowerPoint Presentation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PowerPoint Presentation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PowerPoint Presentation</vt:lpstr>
      <vt:lpstr>Backpropagation</vt:lpstr>
      <vt:lpstr>PowerPoint Presentation</vt:lpstr>
      <vt:lpstr>Backpropagation</vt:lpstr>
      <vt:lpstr>Backpropagation</vt:lpstr>
      <vt:lpstr>Regra da cadeia</vt:lpstr>
      <vt:lpstr>Regra da cadeia</vt:lpstr>
      <vt:lpstr>Regra da cadeia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 problema da dissipação do gradiente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1828</cp:revision>
  <dcterms:created xsi:type="dcterms:W3CDTF">2020-01-20T13:50:05Z</dcterms:created>
  <dcterms:modified xsi:type="dcterms:W3CDTF">2026-03-09T17:05:12Z</dcterms:modified>
</cp:coreProperties>
</file>