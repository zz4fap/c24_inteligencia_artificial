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512" r:id="rId21"/>
    <p:sldId id="563" r:id="rId22"/>
    <p:sldId id="564" r:id="rId23"/>
    <p:sldId id="560" r:id="rId24"/>
    <p:sldId id="561" r:id="rId25"/>
    <p:sldId id="562" r:id="rId26"/>
    <p:sldId id="531" r:id="rId27"/>
    <p:sldId id="550" r:id="rId28"/>
    <p:sldId id="551" r:id="rId29"/>
    <p:sldId id="566" r:id="rId30"/>
    <p:sldId id="554" r:id="rId31"/>
    <p:sldId id="579" r:id="rId32"/>
    <p:sldId id="567" r:id="rId33"/>
    <p:sldId id="547" r:id="rId34"/>
    <p:sldId id="391" r:id="rId35"/>
    <p:sldId id="392" r:id="rId36"/>
    <p:sldId id="568" r:id="rId37"/>
    <p:sldId id="569" r:id="rId38"/>
    <p:sldId id="578" r:id="rId39"/>
    <p:sldId id="570" r:id="rId40"/>
    <p:sldId id="573" r:id="rId41"/>
    <p:sldId id="574" r:id="rId42"/>
    <p:sldId id="572" r:id="rId43"/>
    <p:sldId id="581" r:id="rId44"/>
    <p:sldId id="584" r:id="rId45"/>
    <p:sldId id="580" r:id="rId46"/>
    <p:sldId id="423" r:id="rId47"/>
    <p:sldId id="607" r:id="rId48"/>
    <p:sldId id="404" r:id="rId49"/>
    <p:sldId id="407" r:id="rId50"/>
    <p:sldId id="588" r:id="rId51"/>
    <p:sldId id="589" r:id="rId52"/>
    <p:sldId id="586" r:id="rId53"/>
    <p:sldId id="587" r:id="rId54"/>
    <p:sldId id="585" r:id="rId55"/>
    <p:sldId id="583" r:id="rId56"/>
    <p:sldId id="592" r:id="rId57"/>
    <p:sldId id="557" r:id="rId58"/>
    <p:sldId id="601" r:id="rId59"/>
    <p:sldId id="593" r:id="rId60"/>
    <p:sldId id="594" r:id="rId61"/>
    <p:sldId id="595" r:id="rId62"/>
    <p:sldId id="596" r:id="rId63"/>
    <p:sldId id="597" r:id="rId64"/>
    <p:sldId id="598" r:id="rId65"/>
    <p:sldId id="599" r:id="rId66"/>
    <p:sldId id="600" r:id="rId67"/>
    <p:sldId id="606" r:id="rId68"/>
    <p:sldId id="405" r:id="rId69"/>
    <p:sldId id="406" r:id="rId7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2930" autoAdjust="0"/>
  </p:normalViewPr>
  <p:slideViewPr>
    <p:cSldViewPr snapToGrid="0">
      <p:cViewPr varScale="1">
        <p:scale>
          <a:sx n="92" d="100"/>
          <a:sy n="92" d="100"/>
        </p:scale>
        <p:origin x="148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3.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66</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1.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6.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1.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780.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6.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790.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emf"/><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8.emf"/></Relationships>
</file>

<file path=ppt/slides/_rels/slide6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9.emf"/></Relationships>
</file>

<file path=ppt/slides/_rels/slide62.xml.rels><?xml version="1.0" encoding="UTF-8" standalone="yes"?>
<Relationships xmlns="http://schemas.openxmlformats.org/package/2006/relationships"><Relationship Id="rId8" Type="http://schemas.openxmlformats.org/officeDocument/2006/relationships/image" Target="../media/image89.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8.emf"/><Relationship Id="rId9" Type="http://schemas.openxmlformats.org/officeDocument/2006/relationships/image" Target="../media/image67.png"/></Relationships>
</file>

<file path=ppt/slides/_rels/slide63.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3.png"/></Relationships>
</file>

<file path=ppt/slides/_rels/slide6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766327"/>
            <a:ext cx="4776309" cy="3970318"/>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a:t>ChatGPT</a:t>
            </a:r>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relembrar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 </a:t>
            </a:r>
          </a:p>
          <a:p>
            <a:pPr lvl="1">
              <a:buFont typeface="Wingdings" panose="05000000000000000000" pitchFamily="2" charset="2"/>
              <a:buChar char="§"/>
            </a:pPr>
            <a:r>
              <a:rPr lang="pt-BR" dirty="0"/>
              <a:t>o </a:t>
            </a:r>
            <a:r>
              <a:rPr lang="pt-BR" b="1" dirty="0"/>
              <a:t>axônio com seus terminais</a:t>
            </a:r>
            <a:r>
              <a:rPr lang="pt-BR" dirty="0"/>
              <a:t> </a:t>
            </a:r>
          </a:p>
          <a:p>
            <a:pPr lvl="1">
              <a:buFont typeface="Wingdings" panose="05000000000000000000" pitchFamily="2" charset="2"/>
              <a:buChar char="§"/>
            </a:pPr>
            <a:r>
              <a:rPr lang="pt-BR" dirty="0"/>
              <a:t>e o </a:t>
            </a:r>
            <a:r>
              <a:rPr lang="pt-BR" b="1" dirty="0"/>
              <a:t>corpo celular</a:t>
            </a:r>
            <a:r>
              <a:rPr lang="pt-BR" dirty="0"/>
              <a:t>, também chamado de </a:t>
            </a:r>
            <a:r>
              <a:rPr lang="pt-BR" b="1" dirty="0">
                <a:solidFill>
                  <a:srgbClr val="00B050"/>
                </a:solidFill>
              </a:rPr>
              <a:t>soma</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5" y="1825624"/>
            <a:ext cx="6425046"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de ativação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em quase todos os pontos.</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p>
          <a:p>
            <a:r>
              <a:rPr lang="pt-BR" dirty="0"/>
              <a:t>Ou seja, em problemas </a:t>
            </a:r>
            <a:r>
              <a:rPr lang="pt-BR" b="1" dirty="0">
                <a:solidFill>
                  <a:srgbClr val="7030A0"/>
                </a:solidFill>
              </a:rPr>
              <a:t>supervisionados</a:t>
            </a:r>
            <a:r>
              <a:rPr lang="pt-BR" dirty="0"/>
              <a:t>, o objetivo é </a:t>
            </a:r>
            <a:r>
              <a:rPr lang="pt-BR" b="1" dirty="0">
                <a:solidFill>
                  <a:srgbClr val="7030A0"/>
                </a:solidFill>
              </a:rPr>
              <a:t>minimizar uma função de erro</a:t>
            </a:r>
            <a:r>
              <a:rPr lang="pt-BR" dirty="0"/>
              <a:t>.</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a:t>
            </a:r>
            <a:r>
              <a:rPr lang="pt-BR" dirty="0"/>
              <a:t>.</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capaz de aprender e quão bem ela fará isso.</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a:t>
            </a:r>
            <a:r>
              <a:rPr lang="pt-BR" b="1" dirty="0">
                <a:solidFill>
                  <a:srgbClr val="7030A0"/>
                </a:solidFill>
              </a:rPr>
              <a:t>grande quantidade de dados para aprenderem uma solução geral</a:t>
            </a:r>
            <a:r>
              <a:rPr lang="pt-BR" dirty="0"/>
              <a:t>.</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931059"/>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b="-847"/>
                </a:stretch>
              </a:blipFill>
            </p:spPr>
            <p:txBody>
              <a:bodyPr/>
              <a:lstStyle/>
              <a:p>
                <a:r>
                  <a:rPr lang="en-US">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5446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
        <p:nvSpPr>
          <p:cNvPr id="6" name="TextBox 5">
            <a:extLst>
              <a:ext uri="{FF2B5EF4-FFF2-40B4-BE49-F238E27FC236}">
                <a16:creationId xmlns:a16="http://schemas.microsoft.com/office/drawing/2014/main" id="{89179501-3107-A6C1-F7DF-DC4E29D2D7A6}"/>
              </a:ext>
            </a:extLst>
          </p:cNvPr>
          <p:cNvSpPr txBox="1"/>
          <p:nvPr/>
        </p:nvSpPr>
        <p:spPr>
          <a:xfrm>
            <a:off x="501446" y="5852305"/>
            <a:ext cx="4385186" cy="369332"/>
          </a:xfrm>
          <a:prstGeom prst="rect">
            <a:avLst/>
          </a:prstGeom>
          <a:noFill/>
        </p:spPr>
        <p:txBody>
          <a:bodyPr wrap="square">
            <a:spAutoFit/>
          </a:bodyPr>
          <a:lstStyle/>
          <a:p>
            <a:r>
              <a:rPr lang="pt-BR" dirty="0"/>
              <a:t>As irregularidades dificultam o aprendizado.</a:t>
            </a:r>
          </a:p>
        </p:txBody>
      </p:sp>
    </p:spTree>
    <p:extLst>
      <p:ext uri="{BB962C8B-B14F-4D97-AF65-F5344CB8AC3E}">
        <p14:creationId xmlns:p14="http://schemas.microsoft.com/office/powerpoint/2010/main" val="367997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muitos casos, </a:t>
            </a:r>
            <a:r>
              <a:rPr lang="pt-BR" sz="2800" b="1" dirty="0">
                <a:solidFill>
                  <a:srgbClr val="7030A0"/>
                </a:solidFill>
              </a:rPr>
              <a:t>quase todos os mínimos locais têm valor de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 que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761703" y="1825624"/>
            <a:ext cx="6361471" cy="5032375"/>
          </a:xfrm>
        </p:spPr>
        <p:txBody>
          <a:bodyPr>
            <a:normAutofit/>
          </a:bodyPr>
          <a:lstStyle/>
          <a:p>
            <a:r>
              <a:rPr lang="pt-BR" dirty="0"/>
              <a:t>Avaliar o erro em conjuntos de validação e/ou teste.</a:t>
            </a:r>
          </a:p>
          <a:p>
            <a:pPr lvl="1"/>
            <a:r>
              <a:rPr lang="pt-BR" dirty="0"/>
              <a:t>O modelo é considerado bom se o </a:t>
            </a:r>
            <a:r>
              <a:rPr lang="pt-BR" b="1" dirty="0"/>
              <a:t>erro de validação/teste for baixo</a:t>
            </a:r>
            <a:r>
              <a:rPr lang="pt-BR" dirty="0"/>
              <a:t>.</a:t>
            </a:r>
          </a:p>
          <a:p>
            <a:r>
              <a:rPr lang="pt-BR" dirty="0"/>
              <a:t>Comparar o resultado de vários treinamentos com inicializações diferentes.</a:t>
            </a:r>
          </a:p>
          <a:p>
            <a:pPr lvl="1">
              <a:buFont typeface="Wingdings" panose="05000000000000000000" pitchFamily="2" charset="2"/>
              <a:buChar char="§"/>
            </a:pPr>
            <a:r>
              <a:rPr lang="pt-BR" dirty="0"/>
              <a:t>Se todos os treinamentos convergem para erros parecidos, então o mínimo encontrado provavelmente é bom.</a:t>
            </a:r>
          </a:p>
          <a:p>
            <a:pPr lvl="1">
              <a:buFont typeface="Wingdings" panose="05000000000000000000" pitchFamily="2" charset="2"/>
              <a:buChar char="§"/>
            </a:pPr>
            <a:r>
              <a:rPr lang="pt-BR" dirty="0"/>
              <a:t>Se os resultados variam muito, então o mínimo pode ser ruim.</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32125" y="2556386"/>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9077</TotalTime>
  <Words>10680</Words>
  <Application>Microsoft Office PowerPoint</Application>
  <PresentationFormat>Widescreen</PresentationFormat>
  <Paragraphs>936</Paragraphs>
  <Slides>69</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69</vt:i4>
      </vt:variant>
    </vt:vector>
  </HeadingPairs>
  <TitlesOfParts>
    <vt:vector size="78"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1946</cp:revision>
  <dcterms:created xsi:type="dcterms:W3CDTF">2020-01-20T13:50:05Z</dcterms:created>
  <dcterms:modified xsi:type="dcterms:W3CDTF">2026-04-20T19:05:52Z</dcterms:modified>
</cp:coreProperties>
</file>