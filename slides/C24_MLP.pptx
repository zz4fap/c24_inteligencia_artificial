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handoutMasterIdLst>
    <p:handoutMasterId r:id="rId76"/>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614" r:id="rId24"/>
    <p:sldId id="564" r:id="rId25"/>
    <p:sldId id="560" r:id="rId26"/>
    <p:sldId id="561" r:id="rId27"/>
    <p:sldId id="562" r:id="rId28"/>
    <p:sldId id="531" r:id="rId29"/>
    <p:sldId id="550" r:id="rId30"/>
    <p:sldId id="551" r:id="rId31"/>
    <p:sldId id="566" r:id="rId32"/>
    <p:sldId id="554" r:id="rId33"/>
    <p:sldId id="579" r:id="rId34"/>
    <p:sldId id="567" r:id="rId35"/>
    <p:sldId id="547" r:id="rId36"/>
    <p:sldId id="391" r:id="rId37"/>
    <p:sldId id="392" r:id="rId38"/>
    <p:sldId id="568" r:id="rId39"/>
    <p:sldId id="569" r:id="rId40"/>
    <p:sldId id="578" r:id="rId41"/>
    <p:sldId id="570" r:id="rId42"/>
    <p:sldId id="573" r:id="rId43"/>
    <p:sldId id="574" r:id="rId44"/>
    <p:sldId id="572" r:id="rId45"/>
    <p:sldId id="581" r:id="rId46"/>
    <p:sldId id="584" r:id="rId47"/>
    <p:sldId id="580" r:id="rId48"/>
    <p:sldId id="423" r:id="rId49"/>
    <p:sldId id="607" r:id="rId50"/>
    <p:sldId id="404" r:id="rId51"/>
    <p:sldId id="407" r:id="rId52"/>
    <p:sldId id="588" r:id="rId53"/>
    <p:sldId id="589" r:id="rId54"/>
    <p:sldId id="586" r:id="rId55"/>
    <p:sldId id="587" r:id="rId56"/>
    <p:sldId id="585" r:id="rId57"/>
    <p:sldId id="583" r:id="rId58"/>
    <p:sldId id="592" r:id="rId59"/>
    <p:sldId id="611" r:id="rId60"/>
    <p:sldId id="557" r:id="rId61"/>
    <p:sldId id="613" r:id="rId62"/>
    <p:sldId id="601" r:id="rId63"/>
    <p:sldId id="593" r:id="rId64"/>
    <p:sldId id="594" r:id="rId65"/>
    <p:sldId id="595" r:id="rId66"/>
    <p:sldId id="596" r:id="rId67"/>
    <p:sldId id="597" r:id="rId68"/>
    <p:sldId id="598" r:id="rId69"/>
    <p:sldId id="599" r:id="rId70"/>
    <p:sldId id="600" r:id="rId71"/>
    <p:sldId id="606" r:id="rId72"/>
    <p:sldId id="405" r:id="rId73"/>
    <p:sldId id="406" r:id="rId7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88342" autoAdjust="0"/>
  </p:normalViewPr>
  <p:slideViewPr>
    <p:cSldViewPr snapToGrid="0">
      <p:cViewPr varScale="1">
        <p:scale>
          <a:sx n="65" d="100"/>
          <a:sy n="65" d="100"/>
        </p:scale>
        <p:origin x="1062"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7.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AAF0A06A-D0CE-4BAD-3BDF-4B9F8363AD59}"/>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Potencial de ação de neurônio, mostrando: “estímulo insuficiente”, “Limiar”, “Potencial de ação”, “Despolarização”, “</a:t>
            </a:r>
            <a:r>
              <a:rPr lang="pt-BR" dirty="0" err="1" smtClean="0"/>
              <a:t>Repolarização</a:t>
            </a:r>
            <a:r>
              <a:rPr lang="pt-BR" dirty="0" smtClean="0"/>
              <a:t>”, “Período refratário” e “Repouso”. </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5283444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 xmlns:a16="http://schemas.microsoft.com/office/drawing/2014/main"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 xmlns:a16="http://schemas.microsoft.com/office/drawing/2014/main"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9825557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LeCun</a:t>
            </a:r>
          </a:p>
        </p:txBody>
      </p:sp>
      <p:sp>
        <p:nvSpPr>
          <p:cNvPr id="4" name="Slide Number Placeholder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r>
              <a:rPr lang="en-US" dirty="0"/>
              <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r>
              <a:rPr lang="en-US" dirty="0"/>
              <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r>
              <a:rPr lang="en-US" dirty="0"/>
              <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70</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72</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73</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4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39.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3.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3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79.jpeg"/><Relationship Id="rId4" Type="http://schemas.openxmlformats.org/officeDocument/2006/relationships/image" Target="../media/image78.png"/></Relationships>
</file>

<file path=ppt/slides/_rels/slide53.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83.emf"/><Relationship Id="rId4" Type="http://schemas.openxmlformats.org/officeDocument/2006/relationships/image" Target="../media/image820.png"/></Relationships>
</file>

<file path=ppt/slides/_rels/slide60.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3.emf"/><Relationship Id="rId4" Type="http://schemas.openxmlformats.org/officeDocument/2006/relationships/image" Target="../media/image87.png"/></Relationships>
</file>

<file path=ppt/slides/_rels/slide61.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38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6.emf"/></Relationships>
</file>

<file path=ppt/slides/_rels/slide6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7.emf"/></Relationships>
</file>

<file path=ppt/slides/_rels/slide66.xml.rels><?xml version="1.0" encoding="UTF-8" standalone="yes"?>
<Relationships xmlns="http://schemas.openxmlformats.org/package/2006/relationships"><Relationship Id="rId8" Type="http://schemas.openxmlformats.org/officeDocument/2006/relationships/image" Target="../media/image87.emf"/><Relationship Id="rId3" Type="http://schemas.openxmlformats.org/officeDocument/2006/relationships/image" Target="../media/image95.png"/><Relationship Id="rId7" Type="http://schemas.openxmlformats.org/officeDocument/2006/relationships/image" Target="../media/image650.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6.emf"/><Relationship Id="rId9" Type="http://schemas.openxmlformats.org/officeDocument/2006/relationships/image" Target="../media/image67.png"/></Relationships>
</file>

<file path=ppt/slides/_rels/slide67.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96.png"/></Relationships>
</file>

<file path=ppt/slides/_rels/slide6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8.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3C86F23E-3116-9DE3-82E3-FFC279A1FB0E}"/>
              </a:ext>
            </a:extLst>
          </p:cNvPr>
          <p:cNvSpPr txBox="1"/>
          <p:nvPr/>
        </p:nvSpPr>
        <p:spPr>
          <a:xfrm>
            <a:off x="7317369" y="1336748"/>
            <a:ext cx="4776309" cy="4708981"/>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err="1" smtClean="0"/>
              <a:t>ChatGPT</a:t>
            </a:r>
            <a:endParaRPr lang="pt-BR" sz="2400" dirty="0" smtClean="0"/>
          </a:p>
          <a:p>
            <a:pPr algn="ctr"/>
            <a:r>
              <a:rPr lang="pt-BR" sz="2400" dirty="0" smtClean="0"/>
              <a:t>Claude</a:t>
            </a:r>
          </a:p>
          <a:p>
            <a:pPr algn="ctr"/>
            <a:r>
              <a:rPr lang="pt-BR" sz="2400" dirty="0" err="1" smtClean="0"/>
              <a:t>Gemini</a:t>
            </a:r>
            <a:endParaRPr lang="pt-BR" sz="24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a:t>
            </a:r>
            <a:r>
              <a:rPr lang="pt-BR" dirty="0" smtClean="0"/>
              <a:t>segmentação de objetos,</a:t>
            </a:r>
            <a:endParaRPr lang="pt-BR" dirty="0"/>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as entradas às saídas</a:t>
            </a:r>
            <a:r>
              <a:rPr lang="pt-BR" dirty="0"/>
              <a:t>.</a:t>
            </a:r>
          </a:p>
        </p:txBody>
      </p:sp>
      <p:grpSp>
        <p:nvGrpSpPr>
          <p:cNvPr id="4" name="Group 3">
            <a:extLst>
              <a:ext uri="{FF2B5EF4-FFF2-40B4-BE49-F238E27FC236}">
                <a16:creationId xmlns=""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a:t>
            </a:r>
            <a:r>
              <a:rPr lang="pt-BR" b="1" dirty="0" smtClean="0">
                <a:solidFill>
                  <a:schemeClr val="accent2"/>
                </a:solidFill>
              </a:rPr>
              <a:t>discutir o </a:t>
            </a:r>
            <a:r>
              <a:rPr lang="pt-BR" b="1" dirty="0">
                <a:solidFill>
                  <a:schemeClr val="accent2"/>
                </a:solidFill>
              </a:rPr>
              <a:t>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a:t>
            </a:r>
          </a:p>
          <a:p>
            <a:pPr lvl="1">
              <a:buFont typeface="Wingdings" panose="05000000000000000000" pitchFamily="2" charset="2"/>
              <a:buChar char="§"/>
            </a:pPr>
            <a:r>
              <a:rPr lang="pt-BR" dirty="0"/>
              <a:t>o </a:t>
            </a:r>
            <a:r>
              <a:rPr lang="pt-BR" b="1" dirty="0"/>
              <a:t>corpo celular</a:t>
            </a:r>
            <a:r>
              <a:rPr lang="pt-BR" dirty="0"/>
              <a:t>, também chamado de </a:t>
            </a:r>
            <a:r>
              <a:rPr lang="pt-BR" b="1" dirty="0">
                <a:solidFill>
                  <a:srgbClr val="00B050"/>
                </a:solidFill>
              </a:rPr>
              <a:t>soma</a:t>
            </a:r>
            <a:r>
              <a:rPr lang="pt-BR" dirty="0"/>
              <a:t>,</a:t>
            </a:r>
          </a:p>
          <a:p>
            <a:pPr lvl="1">
              <a:buFont typeface="Wingdings" panose="05000000000000000000" pitchFamily="2" charset="2"/>
              <a:buChar char="§"/>
            </a:pPr>
            <a:r>
              <a:rPr lang="pt-BR" dirty="0"/>
              <a:t>e o </a:t>
            </a:r>
            <a:r>
              <a:rPr lang="pt-BR" b="1" dirty="0"/>
              <a:t>axônio com seus terminais</a:t>
            </a:r>
            <a:r>
              <a:rPr lang="pt-BR" dirty="0"/>
              <a:t>.</a:t>
            </a:r>
          </a:p>
        </p:txBody>
      </p:sp>
      <p:grpSp>
        <p:nvGrpSpPr>
          <p:cNvPr id="15" name="Agrupar 14">
            <a:extLst>
              <a:ext uri="{FF2B5EF4-FFF2-40B4-BE49-F238E27FC236}">
                <a16:creationId xmlns=""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 dos estímulos</a:t>
            </a:r>
            <a:r>
              <a:rPr lang="pt-BR" b="1" dirty="0"/>
              <a:t> e </a:t>
            </a:r>
            <a:r>
              <a:rPr lang="pt-BR" b="1" dirty="0" smtClean="0"/>
              <a:t>gera um impulso</a:t>
            </a:r>
            <a:r>
              <a:rPr lang="pt-BR" dirty="0" smtClean="0"/>
              <a:t> </a:t>
            </a:r>
            <a:r>
              <a:rPr lang="pt-BR" dirty="0"/>
              <a:t>caso um </a:t>
            </a:r>
            <a:r>
              <a:rPr lang="pt-BR" b="1" dirty="0">
                <a:solidFill>
                  <a:srgbClr val="00B050"/>
                </a:solidFill>
              </a:rPr>
              <a:t>limiar de ativação </a:t>
            </a:r>
            <a:r>
              <a:rPr lang="pt-BR" b="1" dirty="0">
                <a:solidFill>
                  <a:schemeClr val="accent2"/>
                </a:solidFill>
              </a:rPr>
              <a:t>seja ultrapassado</a:t>
            </a:r>
            <a:r>
              <a:rPr lang="pt-BR" dirty="0"/>
              <a:t>.</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a:t>
            </a:r>
            <a:r>
              <a:rPr lang="pt-BR" dirty="0" smtClean="0"/>
              <a:t>é muito </a:t>
            </a:r>
            <a:r>
              <a:rPr lang="pt-BR" dirty="0"/>
              <a:t>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 xmlns:a16="http://schemas.microsoft.com/office/drawing/2014/main" id="{8D8030FA-31D6-D143-F6AE-EAED513397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89E58D1-11D9-351C-CF04-51B9533F4DC0}"/>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 xmlns:a16="http://schemas.microsoft.com/office/drawing/2014/main"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 xmlns:a16="http://schemas.microsoft.com/office/drawing/2014/main"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 xmlns:a16="http://schemas.microsoft.com/office/drawing/2014/main"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smtClean="0"/>
              <a:t>para valores maiores e menores do que 0 e indeterminada em 0.</a:t>
            </a:r>
            <a:endParaRPr lang="pt-BR" dirty="0"/>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 xmlns:a16="http://schemas.microsoft.com/office/drawing/2014/main"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 xmlns:a16="http://schemas.microsoft.com/office/drawing/2014/main"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 xmlns:a16="http://schemas.microsoft.com/office/drawing/2014/main"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 xmlns:a16="http://schemas.microsoft.com/office/drawing/2014/main"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 xmlns:a16="http://schemas.microsoft.com/office/drawing/2014/main"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 xmlns:a16="http://schemas.microsoft.com/office/drawing/2014/main"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 xmlns:a16="http://schemas.microsoft.com/office/drawing/2014/main"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 xmlns:a16="http://schemas.microsoft.com/office/drawing/2014/main"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 xmlns:a16="http://schemas.microsoft.com/office/drawing/2014/main"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CE8AFAF-188B-B0ED-1C4B-D8E94246201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p>
          <a:p>
            <a:pPr lvl="1">
              <a:buFont typeface="Wingdings" panose="05000000000000000000" pitchFamily="2" charset="2"/>
              <a:buChar char="§"/>
            </a:pPr>
            <a:r>
              <a:rPr lang="pt-BR" dirty="0" err="1"/>
              <a:t>softmax</a:t>
            </a:r>
            <a:r>
              <a:rPr lang="pt-BR" dirty="0"/>
              <a:t>,</a:t>
            </a:r>
            <a:r>
              <a:rPr lang="pt-BR" dirty="0">
                <a:solidFill>
                  <a:schemeClr val="tx1"/>
                </a:solidFill>
              </a:rPr>
              <a:t>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 xmlns:a16="http://schemas.microsoft.com/office/drawing/2014/main"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 xmlns:a16="http://schemas.microsoft.com/office/drawing/2014/main"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 xmlns:a16="http://schemas.microsoft.com/office/drawing/2014/main"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 xmlns:a16="http://schemas.microsoft.com/office/drawing/2014/main"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651AE336-F194-B92F-7FFD-EAA2F0C65A36}"/>
              </a:ext>
            </a:extLst>
          </p:cNvPr>
          <p:cNvSpPr>
            <a:spLocks noGrp="1"/>
          </p:cNvSpPr>
          <p:nvPr>
            <p:ph idx="1"/>
          </p:nvPr>
        </p:nvSpPr>
        <p:spPr>
          <a:xfrm>
            <a:off x="6096000" y="1825624"/>
            <a:ext cx="6096000" cy="5032375"/>
          </a:xfrm>
        </p:spPr>
        <p:txBody>
          <a:bodyPr>
            <a:normAutofit/>
          </a:bodyPr>
          <a:lstStyle/>
          <a:p>
            <a:r>
              <a:rPr lang="pt-BR" b="0" dirty="0" smtClean="0">
                <a:effectLst/>
              </a:rPr>
              <a:t>Em geral, redes </a:t>
            </a:r>
            <a:r>
              <a:rPr lang="pt-BR" dirty="0"/>
              <a:t>neurais </a:t>
            </a:r>
            <a:r>
              <a:rPr lang="pt-BR" dirty="0" smtClean="0"/>
              <a:t>artificiais são </a:t>
            </a:r>
            <a:r>
              <a:rPr lang="pt-BR" b="0" dirty="0" smtClean="0">
                <a:effectLst/>
              </a:rPr>
              <a:t>modelos de aprendizado supervisionado.</a:t>
            </a:r>
          </a:p>
          <a:p>
            <a:r>
              <a:rPr lang="pt-BR" dirty="0" smtClean="0"/>
              <a:t>Portanto, o</a:t>
            </a:r>
            <a:r>
              <a:rPr lang="pt-BR" b="0" dirty="0" smtClean="0">
                <a:effectLst/>
              </a:rPr>
              <a:t>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t>
            </a:r>
            <a:r>
              <a:rPr lang="pt-BR" b="0" dirty="0" smtClean="0">
                <a:effectLst/>
              </a:rPr>
              <a:t>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a:t>
            </a:r>
            <a:r>
              <a:rPr lang="pt-BR" b="0" dirty="0" smtClean="0">
                <a:effectLst/>
              </a:rPr>
              <a:t>que</a:t>
            </a:r>
            <a:r>
              <a:rPr lang="pt-BR" dirty="0" smtClean="0"/>
              <a:t> </a:t>
            </a:r>
            <a:r>
              <a:rPr lang="pt-BR" b="1" dirty="0" smtClean="0">
                <a:solidFill>
                  <a:srgbClr val="7030A0"/>
                </a:solidFill>
              </a:rPr>
              <a:t>minimizem </a:t>
            </a:r>
            <a:r>
              <a:rPr lang="pt-BR" b="1" dirty="0">
                <a:solidFill>
                  <a:srgbClr val="7030A0"/>
                </a:solidFill>
              </a:rPr>
              <a:t>uma função de erro</a:t>
            </a:r>
            <a:r>
              <a:rPr lang="pt-BR" dirty="0" smtClean="0"/>
              <a:t>.</a:t>
            </a:r>
          </a:p>
          <a:p>
            <a:r>
              <a:rPr lang="pt-BR" dirty="0" smtClean="0"/>
              <a:t>Por exemplo:</a:t>
            </a:r>
            <a:endParaRPr lang="pt-BR" dirty="0"/>
          </a:p>
          <a:p>
            <a:pPr lvl="1">
              <a:buFont typeface="Wingdings" panose="05000000000000000000" pitchFamily="2" charset="2"/>
              <a:buChar char="§"/>
            </a:pPr>
            <a:r>
              <a:rPr lang="pt-BR" dirty="0" smtClean="0"/>
              <a:t>Classificação: entropia cruzada</a:t>
            </a:r>
          </a:p>
          <a:p>
            <a:pPr lvl="1">
              <a:buFont typeface="Wingdings" panose="05000000000000000000" pitchFamily="2" charset="2"/>
              <a:buChar char="§"/>
            </a:pPr>
            <a:r>
              <a:rPr lang="pt-BR" dirty="0" smtClean="0"/>
              <a:t>Regressão: erro quadrático médio</a:t>
            </a:r>
            <a:endParaRPr lang="pt-BR" dirty="0"/>
          </a:p>
        </p:txBody>
      </p:sp>
      <p:pic>
        <p:nvPicPr>
          <p:cNvPr id="5" name="Imagem 4">
            <a:extLst>
              <a:ext uri="{FF2B5EF4-FFF2-40B4-BE49-F238E27FC236}">
                <a16:creationId xmlns=""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a:t>
            </a:r>
            <a:r>
              <a:rPr lang="pt-BR" b="1" dirty="0" smtClean="0">
                <a:solidFill>
                  <a:srgbClr val="00B050"/>
                </a:solidFill>
              </a:rPr>
              <a:t>erro, </a:t>
            </a:r>
            <a:r>
              <a:rPr lang="pt-BR" dirty="0" smtClean="0"/>
              <a:t>o qual é baseado no gradiente descendente.</a:t>
            </a:r>
            <a:endParaRPr lang="pt-BR" dirty="0"/>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 xmlns:a16="http://schemas.microsoft.com/office/drawing/2014/main"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 xmlns:a16="http://schemas.microsoft.com/office/drawing/2014/main"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 xmlns:a16="http://schemas.microsoft.com/office/drawing/2014/main"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 xmlns:a16="http://schemas.microsoft.com/office/drawing/2014/main"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 xmlns:a16="http://schemas.microsoft.com/office/drawing/2014/main"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 xmlns:a16="http://schemas.microsoft.com/office/drawing/2014/main"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 xmlns:a16="http://schemas.microsoft.com/office/drawing/2014/main"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 xmlns:a16="http://schemas.microsoft.com/office/drawing/2014/main"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 xmlns:a16="http://schemas.microsoft.com/office/drawing/2014/main"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 xmlns:a16="http://schemas.microsoft.com/office/drawing/2014/main"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 xmlns:a16="http://schemas.microsoft.com/office/drawing/2014/main"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 xmlns:a16="http://schemas.microsoft.com/office/drawing/2014/main"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 xmlns:a16="http://schemas.microsoft.com/office/drawing/2014/main"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 xmlns:a16="http://schemas.microsoft.com/office/drawing/2014/main"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 xmlns:a16="http://schemas.microsoft.com/office/drawing/2014/main"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 xmlns:a16="http://schemas.microsoft.com/office/drawing/2014/main"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 xmlns:a16="http://schemas.microsoft.com/office/drawing/2014/main"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 xmlns:a16="http://schemas.microsoft.com/office/drawing/2014/main"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 xmlns:a16="http://schemas.microsoft.com/office/drawing/2014/main"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 xmlns:a16="http://schemas.microsoft.com/office/drawing/2014/main"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 xmlns:a16="http://schemas.microsoft.com/office/drawing/2014/main"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 xmlns:a16="http://schemas.microsoft.com/office/drawing/2014/main"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 xmlns:a16="http://schemas.microsoft.com/office/drawing/2014/main"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 xmlns:a16="http://schemas.microsoft.com/office/drawing/2014/main"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 xmlns:a16="http://schemas.microsoft.com/office/drawing/2014/main"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 xmlns:a16="http://schemas.microsoft.com/office/drawing/2014/main"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 xmlns:a16="http://schemas.microsoft.com/office/drawing/2014/main"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 xmlns:a16="http://schemas.microsoft.com/office/drawing/2014/main"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 xmlns:a16="http://schemas.microsoft.com/office/drawing/2014/main"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 xmlns:a16="http://schemas.microsoft.com/office/drawing/2014/main"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 xmlns:a16="http://schemas.microsoft.com/office/drawing/2014/main"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 xmlns:a16="http://schemas.microsoft.com/office/drawing/2014/main"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 xmlns:a16="http://schemas.microsoft.com/office/drawing/2014/main"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 xmlns:a16="http://schemas.microsoft.com/office/drawing/2014/main"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 xmlns:a16="http://schemas.microsoft.com/office/drawing/2014/main"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 xmlns:a16="http://schemas.microsoft.com/office/drawing/2014/main"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 xmlns:a16="http://schemas.microsoft.com/office/drawing/2014/main"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 xmlns:a16="http://schemas.microsoft.com/office/drawing/2014/main"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 xmlns:a16="http://schemas.microsoft.com/office/drawing/2014/main"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 xmlns:a16="http://schemas.microsoft.com/office/drawing/2014/main"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 xmlns:a16="http://schemas.microsoft.com/office/drawing/2014/main"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 xmlns:a16="http://schemas.microsoft.com/office/drawing/2014/main"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 xmlns:a16="http://schemas.microsoft.com/office/drawing/2014/main"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 xmlns:a16="http://schemas.microsoft.com/office/drawing/2014/main"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 xmlns:a16="http://schemas.microsoft.com/office/drawing/2014/main"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 xmlns:a16="http://schemas.microsoft.com/office/drawing/2014/main"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 xmlns:a16="http://schemas.microsoft.com/office/drawing/2014/main"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 xmlns:a16="http://schemas.microsoft.com/office/drawing/2014/main" id="{7942C362-2B1D-8B61-38ED-253B029C4E7F}"/>
              </a:ext>
            </a:extLst>
          </p:cNvPr>
          <p:cNvSpPr>
            <a:spLocks noGrp="1"/>
          </p:cNvSpPr>
          <p:nvPr>
            <p:ph idx="1"/>
          </p:nvPr>
        </p:nvSpPr>
        <p:spPr>
          <a:xfrm>
            <a:off x="5545394" y="1825625"/>
            <a:ext cx="6646605"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a:t>
            </a:r>
            <a:r>
              <a:rPr lang="pt-BR" b="1" dirty="0" smtClean="0">
                <a:solidFill>
                  <a:schemeClr val="accent2"/>
                </a:solidFill>
              </a:rPr>
              <a:t>transformam</a:t>
            </a:r>
            <a:r>
              <a:rPr lang="pt-BR" dirty="0" smtClean="0"/>
              <a:t> </a:t>
            </a:r>
            <a:r>
              <a:rPr lang="pt-BR" dirty="0"/>
              <a:t>progressivamente os </a:t>
            </a:r>
            <a:r>
              <a:rPr lang="pt-BR" b="1" dirty="0">
                <a:solidFill>
                  <a:schemeClr val="accent2"/>
                </a:solidFill>
              </a:rPr>
              <a:t>dados de entrada em </a:t>
            </a:r>
            <a:r>
              <a:rPr lang="pt-BR" b="1" dirty="0">
                <a:solidFill>
                  <a:srgbClr val="00B050"/>
                </a:solidFill>
              </a:rPr>
              <a:t>representações</a:t>
            </a:r>
            <a:r>
              <a:rPr lang="pt-BR" b="1" dirty="0">
                <a:solidFill>
                  <a:schemeClr val="accent2"/>
                </a:solidFill>
              </a:rPr>
              <a:t> internas que sejam úteis para produzir a saída desejada</a:t>
            </a:r>
            <a:r>
              <a:rPr lang="pt-BR" dirty="0" smtClean="0"/>
              <a:t>.</a:t>
            </a:r>
          </a:p>
        </p:txBody>
      </p:sp>
      <p:grpSp>
        <p:nvGrpSpPr>
          <p:cNvPr id="79" name="Group 6">
            <a:extLst>
              <a:ext uri="{FF2B5EF4-FFF2-40B4-BE49-F238E27FC236}">
                <a16:creationId xmlns=""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 xmlns:a16="http://schemas.microsoft.com/office/drawing/2014/main"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 xmlns:a16="http://schemas.microsoft.com/office/drawing/2014/main"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 xmlns:a16="http://schemas.microsoft.com/office/drawing/2014/main"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 xmlns:a16="http://schemas.microsoft.com/office/drawing/2014/main"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 xmlns:a16="http://schemas.microsoft.com/office/drawing/2014/main"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 xmlns:a16="http://schemas.microsoft.com/office/drawing/2014/main"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 xmlns:a16="http://schemas.microsoft.com/office/drawing/2014/main"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 xmlns:a16="http://schemas.microsoft.com/office/drawing/2014/main"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 xmlns:a16="http://schemas.microsoft.com/office/drawing/2014/main"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 xmlns:a16="http://schemas.microsoft.com/office/drawing/2014/main"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 xmlns:a16="http://schemas.microsoft.com/office/drawing/2014/main"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 xmlns:a16="http://schemas.microsoft.com/office/drawing/2014/main"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 xmlns:a16="http://schemas.microsoft.com/office/drawing/2014/main"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 xmlns:a16="http://schemas.microsoft.com/office/drawing/2014/main"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 xmlns:a16="http://schemas.microsoft.com/office/drawing/2014/main"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 xmlns:a16="http://schemas.microsoft.com/office/drawing/2014/main"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 xmlns:a16="http://schemas.microsoft.com/office/drawing/2014/main"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 xmlns:a16="http://schemas.microsoft.com/office/drawing/2014/main"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 xmlns:a16="http://schemas.microsoft.com/office/drawing/2014/main"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 xmlns:a16="http://schemas.microsoft.com/office/drawing/2014/main"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 xmlns:a16="http://schemas.microsoft.com/office/drawing/2014/main"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 xmlns:a16="http://schemas.microsoft.com/office/drawing/2014/main"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 xmlns:a16="http://schemas.microsoft.com/office/drawing/2014/main"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 xmlns:a16="http://schemas.microsoft.com/office/drawing/2014/main"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 xmlns:a16="http://schemas.microsoft.com/office/drawing/2014/main"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 xmlns:a16="http://schemas.microsoft.com/office/drawing/2014/main"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 xmlns:a16="http://schemas.microsoft.com/office/drawing/2014/main"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 xmlns:a16="http://schemas.microsoft.com/office/drawing/2014/main"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 xmlns:a16="http://schemas.microsoft.com/office/drawing/2014/main" id="{7942C362-2B1D-8B61-38ED-253B029C4E7F}"/>
              </a:ext>
            </a:extLst>
          </p:cNvPr>
          <p:cNvSpPr>
            <a:spLocks noGrp="1"/>
          </p:cNvSpPr>
          <p:nvPr>
            <p:ph idx="1"/>
          </p:nvPr>
        </p:nvSpPr>
        <p:spPr>
          <a:xfrm>
            <a:off x="5715000" y="1825625"/>
            <a:ext cx="6476999" cy="5032375"/>
          </a:xfrm>
        </p:spPr>
        <p:txBody>
          <a:bodyPr>
            <a:normAutofit/>
          </a:bodyPr>
          <a:lstStyle/>
          <a:p>
            <a:r>
              <a:rPr lang="pt-BR" dirty="0"/>
              <a:t>A ideia é que as representações sejam construídas </a:t>
            </a:r>
            <a:r>
              <a:rPr lang="pt-BR" b="1" dirty="0"/>
              <a:t>hierarquicamente</a:t>
            </a:r>
            <a:r>
              <a:rPr lang="pt-BR" dirty="0"/>
              <a:t>: </a:t>
            </a:r>
            <a:endParaRPr lang="pt-BR" dirty="0" smtClean="0"/>
          </a:p>
          <a:p>
            <a:pPr lvl="1">
              <a:buFont typeface="Wingdings" panose="05000000000000000000" pitchFamily="2" charset="2"/>
              <a:buChar char="§"/>
            </a:pPr>
            <a:r>
              <a:rPr lang="pt-BR" dirty="0" smtClean="0"/>
              <a:t>camadas </a:t>
            </a:r>
            <a:r>
              <a:rPr lang="pt-BR" dirty="0"/>
              <a:t>iniciais detectam padrões mais básicos, </a:t>
            </a:r>
            <a:endParaRPr lang="pt-BR" dirty="0" smtClean="0"/>
          </a:p>
          <a:p>
            <a:pPr lvl="1">
              <a:buFont typeface="Wingdings" panose="05000000000000000000" pitchFamily="2" charset="2"/>
              <a:buChar char="§"/>
            </a:pPr>
            <a:r>
              <a:rPr lang="pt-BR" dirty="0" smtClean="0"/>
              <a:t>enquanto </a:t>
            </a:r>
            <a:r>
              <a:rPr lang="pt-BR" dirty="0"/>
              <a:t>camadas posteriores combinam esses padrões em estruturas progressivamente mais complexas</a:t>
            </a:r>
            <a:r>
              <a:rPr lang="pt-BR" dirty="0" smtClean="0"/>
              <a:t>.</a:t>
            </a:r>
            <a:endParaRPr lang="pt-BR" dirty="0" smtClean="0"/>
          </a:p>
          <a:p>
            <a:r>
              <a:rPr lang="pt-BR" dirty="0" smtClean="0"/>
              <a:t>O </a:t>
            </a:r>
            <a:r>
              <a:rPr lang="pt-BR" dirty="0"/>
              <a:t>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69" name="Grupo 68"/>
          <p:cNvGrpSpPr/>
          <p:nvPr/>
        </p:nvGrpSpPr>
        <p:grpSpPr>
          <a:xfrm>
            <a:off x="604596" y="1825625"/>
            <a:ext cx="4517960" cy="4485823"/>
            <a:chOff x="653454" y="2071496"/>
            <a:chExt cx="4517960" cy="4485823"/>
          </a:xfrm>
        </p:grpSpPr>
        <p:grpSp>
          <p:nvGrpSpPr>
            <p:cNvPr id="70" name="Group 6">
              <a:extLst>
                <a:ext uri="{FF2B5EF4-FFF2-40B4-BE49-F238E27FC236}">
                  <a16:creationId xmlns=""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 xmlns:a16="http://schemas.microsoft.com/office/drawing/2014/main"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 xmlns:a16="http://schemas.microsoft.com/office/drawing/2014/main"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 xmlns:a16="http://schemas.microsoft.com/office/drawing/2014/main"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 xmlns:a16="http://schemas.microsoft.com/office/drawing/2014/main"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 xmlns:a16="http://schemas.microsoft.com/office/drawing/2014/main"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 xmlns:a16="http://schemas.microsoft.com/office/drawing/2014/main"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 xmlns:a16="http://schemas.microsoft.com/office/drawing/2014/main"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 xmlns:a16="http://schemas.microsoft.com/office/drawing/2014/main"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 xmlns:a16="http://schemas.microsoft.com/office/drawing/2014/main"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 xmlns:a16="http://schemas.microsoft.com/office/drawing/2014/main"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 xmlns:a16="http://schemas.microsoft.com/office/drawing/2014/main"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 xmlns:a16="http://schemas.microsoft.com/office/drawing/2014/main"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 xmlns:a16="http://schemas.microsoft.com/office/drawing/2014/main"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 xmlns:a16="http://schemas.microsoft.com/office/drawing/2014/main"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 xmlns:a16="http://schemas.microsoft.com/office/drawing/2014/main"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 xmlns:a16="http://schemas.microsoft.com/office/drawing/2014/main"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 xmlns:a16="http://schemas.microsoft.com/office/drawing/2014/main"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 xmlns:a16="http://schemas.microsoft.com/office/drawing/2014/main"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 xmlns:a16="http://schemas.microsoft.com/office/drawing/2014/main"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 xmlns:a16="http://schemas.microsoft.com/office/drawing/2014/main"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 xmlns:a16="http://schemas.microsoft.com/office/drawing/2014/main"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 xmlns:a16="http://schemas.microsoft.com/office/drawing/2014/main"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 xmlns:a16="http://schemas.microsoft.com/office/drawing/2014/main"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 xmlns:a16="http://schemas.microsoft.com/office/drawing/2014/main"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 xmlns:a16="http://schemas.microsoft.com/office/drawing/2014/main"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 xmlns:a16="http://schemas.microsoft.com/office/drawing/2014/main"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 xmlns:a16="http://schemas.microsoft.com/office/drawing/2014/main"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 xmlns:a16="http://schemas.microsoft.com/office/drawing/2014/main"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71" name="Retângulo 70"/>
            <p:cNvSpPr/>
            <p:nvPr/>
          </p:nvSpPr>
          <p:spPr>
            <a:xfrm>
              <a:off x="854768" y="6172599"/>
              <a:ext cx="635174" cy="307777"/>
            </a:xfrm>
            <a:prstGeom prst="rect">
              <a:avLst/>
            </a:prstGeom>
          </p:spPr>
          <p:txBody>
            <a:bodyPr wrap="none">
              <a:spAutoFit/>
            </a:bodyPr>
            <a:lstStyle/>
            <a:p>
              <a:r>
                <a:rPr lang="pt-BR" sz="1400" dirty="0"/>
                <a:t>Pixels </a:t>
              </a:r>
            </a:p>
          </p:txBody>
        </p:sp>
        <p:sp>
          <p:nvSpPr>
            <p:cNvPr id="72" name="Retângulo 71"/>
            <p:cNvSpPr/>
            <p:nvPr/>
          </p:nvSpPr>
          <p:spPr>
            <a:xfrm>
              <a:off x="1601555" y="6034099"/>
              <a:ext cx="1051832" cy="523220"/>
            </a:xfrm>
            <a:prstGeom prst="rect">
              <a:avLst/>
            </a:prstGeom>
          </p:spPr>
          <p:txBody>
            <a:bodyPr wrap="square">
              <a:spAutoFit/>
            </a:bodyPr>
            <a:lstStyle/>
            <a:p>
              <a:pPr algn="ctr"/>
              <a:r>
                <a:rPr lang="pt-BR" sz="1400" dirty="0" smtClean="0"/>
                <a:t>Bordas e formas</a:t>
              </a:r>
              <a:endParaRPr lang="pt-BR" sz="1400" dirty="0"/>
            </a:p>
          </p:txBody>
        </p:sp>
        <p:sp>
          <p:nvSpPr>
            <p:cNvPr id="73" name="Retângulo 72"/>
            <p:cNvSpPr/>
            <p:nvPr/>
          </p:nvSpPr>
          <p:spPr>
            <a:xfrm>
              <a:off x="2613979" y="6034098"/>
              <a:ext cx="1112849" cy="523220"/>
            </a:xfrm>
            <a:prstGeom prst="rect">
              <a:avLst/>
            </a:prstGeom>
          </p:spPr>
          <p:txBody>
            <a:bodyPr wrap="square">
              <a:spAutoFit/>
            </a:bodyPr>
            <a:lstStyle/>
            <a:p>
              <a:pPr algn="ctr"/>
              <a:r>
                <a:rPr lang="pt-BR" sz="1400" dirty="0"/>
                <a:t>partes de objetos</a:t>
              </a:r>
              <a:endParaRPr lang="pt-BR" sz="1400" dirty="0"/>
            </a:p>
          </p:txBody>
        </p:sp>
        <p:sp>
          <p:nvSpPr>
            <p:cNvPr id="74" name="Retângulo 73"/>
            <p:cNvSpPr/>
            <p:nvPr/>
          </p:nvSpPr>
          <p:spPr>
            <a:xfrm>
              <a:off x="3737640" y="6178132"/>
              <a:ext cx="659668" cy="307777"/>
            </a:xfrm>
            <a:prstGeom prst="rect">
              <a:avLst/>
            </a:prstGeom>
          </p:spPr>
          <p:txBody>
            <a:bodyPr wrap="none">
              <a:spAutoFit/>
            </a:bodyPr>
            <a:lstStyle/>
            <a:p>
              <a:r>
                <a:rPr lang="pt-BR" sz="1400" dirty="0"/>
                <a:t>objeto</a:t>
              </a:r>
            </a:p>
          </p:txBody>
        </p:sp>
        <p:sp>
          <p:nvSpPr>
            <p:cNvPr id="75" name="Retângulo 74"/>
            <p:cNvSpPr/>
            <p:nvPr/>
          </p:nvSpPr>
          <p:spPr>
            <a:xfrm>
              <a:off x="4522197" y="6175005"/>
              <a:ext cx="649217" cy="307777"/>
            </a:xfrm>
            <a:prstGeom prst="rect">
              <a:avLst/>
            </a:prstGeom>
          </p:spPr>
          <p:txBody>
            <a:bodyPr wrap="none">
              <a:spAutoFit/>
            </a:bodyPr>
            <a:lstStyle/>
            <a:p>
              <a:r>
                <a:rPr lang="pt-BR" sz="1400" dirty="0"/>
                <a:t>"gato"</a:t>
              </a:r>
            </a:p>
          </p:txBody>
        </p:sp>
        <p:cxnSp>
          <p:nvCxnSpPr>
            <p:cNvPr id="76" name="Conector de seta reta 75"/>
            <p:cNvCxnSpPr/>
            <p:nvPr/>
          </p:nvCxnSpPr>
          <p:spPr>
            <a:xfrm>
              <a:off x="1463901"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76"/>
            <p:cNvCxnSpPr/>
            <p:nvPr/>
          </p:nvCxnSpPr>
          <p:spPr>
            <a:xfrm>
              <a:off x="2487979" y="6295708"/>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p:cNvCxnSpPr/>
            <p:nvPr/>
          </p:nvCxnSpPr>
          <p:spPr>
            <a:xfrm>
              <a:off x="3474828"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p:cNvCxnSpPr/>
            <p:nvPr/>
          </p:nvCxnSpPr>
          <p:spPr>
            <a:xfrm>
              <a:off x="4340537"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0604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upo 2"/>
          <p:cNvGrpSpPr/>
          <p:nvPr/>
        </p:nvGrpSpPr>
        <p:grpSpPr>
          <a:xfrm>
            <a:off x="1087343" y="440872"/>
            <a:ext cx="5976256" cy="5976256"/>
            <a:chOff x="3107872" y="440872"/>
            <a:chExt cx="5976256" cy="5976256"/>
          </a:xfrm>
        </p:grpSpPr>
        <p:pic>
          <p:nvPicPr>
            <p:cNvPr id="5" name="Picture 4">
              <a:extLst>
                <a:ext uri="{FF2B5EF4-FFF2-40B4-BE49-F238E27FC236}">
                  <a16:creationId xmlns=""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07872" y="440872"/>
              <a:ext cx="5976256" cy="5976256"/>
            </a:xfrm>
            <a:prstGeom prst="rect">
              <a:avLst/>
            </a:prstGeom>
          </p:spPr>
        </p:pic>
        <p:sp>
          <p:nvSpPr>
            <p:cNvPr id="6" name="TextBox 5">
              <a:extLst>
                <a:ext uri="{FF2B5EF4-FFF2-40B4-BE49-F238E27FC236}">
                  <a16:creationId xmlns="" xmlns:a16="http://schemas.microsoft.com/office/drawing/2014/main" id="{9D886CFA-C0D2-3102-EA0D-5092AEF6A37B}"/>
                </a:ext>
              </a:extLst>
            </p:cNvPr>
            <p:cNvSpPr txBox="1"/>
            <p:nvPr/>
          </p:nvSpPr>
          <p:spPr>
            <a:xfrm>
              <a:off x="4321627" y="4495800"/>
              <a:ext cx="1774373" cy="923330"/>
            </a:xfrm>
            <a:prstGeom prst="rect">
              <a:avLst/>
            </a:prstGeom>
            <a:noFill/>
          </p:spPr>
          <p:txBody>
            <a:bodyPr wrap="square" rtlCol="0">
              <a:spAutoFit/>
            </a:bodyPr>
            <a:lstStyle/>
            <a:p>
              <a:pPr algn="ctr"/>
              <a:r>
                <a:rPr lang="pt-BR" b="1" dirty="0" smtClean="0">
                  <a:solidFill>
                    <a:srgbClr val="7030A0"/>
                  </a:solidFill>
                  <a:highlight>
                    <a:srgbClr val="00FFFF"/>
                  </a:highlight>
                </a:rPr>
                <a:t>Saídas </a:t>
              </a:r>
              <a:r>
                <a:rPr lang="pt-BR" b="1" dirty="0">
                  <a:solidFill>
                    <a:srgbClr val="7030A0"/>
                  </a:solidFill>
                  <a:highlight>
                    <a:srgbClr val="00FFFF"/>
                  </a:highlight>
                </a:rPr>
                <a:t>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 xmlns:a16="http://schemas.microsoft.com/office/drawing/2014/main" id="{DCA7CE31-31A2-E045-C746-E9DAD42E9A0F}"/>
                </a:ext>
              </a:extLst>
            </p:cNvPr>
            <p:cNvSpPr txBox="1"/>
            <p:nvPr/>
          </p:nvSpPr>
          <p:spPr>
            <a:xfrm>
              <a:off x="3886027" y="1640734"/>
              <a:ext cx="2057573" cy="646331"/>
            </a:xfrm>
            <a:prstGeom prst="rect">
              <a:avLst/>
            </a:prstGeom>
            <a:noFill/>
          </p:spPr>
          <p:txBody>
            <a:bodyPr wrap="square" rtlCol="0">
              <a:spAutoFit/>
            </a:bodyPr>
            <a:lstStyle/>
            <a:p>
              <a:pPr algn="ctr"/>
              <a:r>
                <a:rPr lang="pt-BR" b="1" dirty="0" smtClean="0">
                  <a:solidFill>
                    <a:srgbClr val="7030A0"/>
                  </a:solidFill>
                  <a:highlight>
                    <a:srgbClr val="00FFFF"/>
                  </a:highlight>
                </a:rPr>
                <a:t>Neurônios de uma camada oculta</a:t>
              </a:r>
              <a:endParaRPr lang="en-US" b="1" dirty="0">
                <a:solidFill>
                  <a:srgbClr val="7030A0"/>
                </a:solidFill>
                <a:highlight>
                  <a:srgbClr val="00FFFF"/>
                </a:highlight>
              </a:endParaRPr>
            </a:p>
          </p:txBody>
        </p:sp>
        <p:sp>
          <p:nvSpPr>
            <p:cNvPr id="9" name="TextBox 8">
              <a:extLst>
                <a:ext uri="{FF2B5EF4-FFF2-40B4-BE49-F238E27FC236}">
                  <a16:creationId xmlns="" xmlns:a16="http://schemas.microsoft.com/office/drawing/2014/main" id="{C384550B-383A-873F-97FE-B77AC94B99AB}"/>
                </a:ext>
              </a:extLst>
            </p:cNvPr>
            <p:cNvSpPr txBox="1"/>
            <p:nvPr/>
          </p:nvSpPr>
          <p:spPr>
            <a:xfrm>
              <a:off x="6433460" y="555171"/>
              <a:ext cx="1981197" cy="923330"/>
            </a:xfrm>
            <a:prstGeom prst="rect">
              <a:avLst/>
            </a:prstGeom>
            <a:noFill/>
          </p:spPr>
          <p:txBody>
            <a:bodyPr wrap="square" rtlCol="0">
              <a:spAutoFit/>
            </a:bodyPr>
            <a:lstStyle/>
            <a:p>
              <a:pPr algn="ctr"/>
              <a:r>
                <a:rPr lang="pt-BR" b="1" dirty="0" smtClean="0">
                  <a:solidFill>
                    <a:srgbClr val="7030A0"/>
                  </a:solidFill>
                  <a:highlight>
                    <a:srgbClr val="00FFFF"/>
                  </a:highlight>
                </a:rPr>
                <a:t>Entradas </a:t>
              </a:r>
              <a:r>
                <a:rPr lang="pt-BR" b="1" dirty="0">
                  <a:solidFill>
                    <a:srgbClr val="7030A0"/>
                  </a:solidFill>
                  <a:highlight>
                    <a:srgbClr val="00FFFF"/>
                  </a:highlight>
                </a:rPr>
                <a:t>da próxima camada da rede neural</a:t>
              </a:r>
              <a:endParaRPr lang="en-US" b="1" dirty="0">
                <a:solidFill>
                  <a:srgbClr val="7030A0"/>
                </a:solidFill>
                <a:highlight>
                  <a:srgbClr val="00FFFF"/>
                </a:highlight>
              </a:endParaRPr>
            </a:p>
          </p:txBody>
        </p:sp>
      </p:grpSp>
      <p:sp>
        <p:nvSpPr>
          <p:cNvPr id="2" name="Retângulo 1"/>
          <p:cNvSpPr/>
          <p:nvPr/>
        </p:nvSpPr>
        <p:spPr>
          <a:xfrm>
            <a:off x="7553800" y="2551837"/>
            <a:ext cx="3930278" cy="1754326"/>
          </a:xfrm>
          <a:prstGeom prst="rect">
            <a:avLst/>
          </a:prstGeom>
        </p:spPr>
        <p:txBody>
          <a:bodyPr wrap="square">
            <a:spAutoFit/>
          </a:bodyPr>
          <a:lstStyle/>
          <a:p>
            <a:pPr algn="ctr"/>
            <a:r>
              <a:rPr lang="pt-BR" sz="3600" dirty="0"/>
              <a:t>R</a:t>
            </a:r>
            <a:r>
              <a:rPr lang="pt-BR" sz="3600" dirty="0" smtClean="0"/>
              <a:t>edes </a:t>
            </a:r>
            <a:r>
              <a:rPr lang="pt-BR" sz="3600" dirty="0"/>
              <a:t>densamente conectadas e de alimentação direta</a:t>
            </a:r>
          </a:p>
        </p:txBody>
      </p:sp>
    </p:spTree>
    <p:extLst>
      <p:ext uri="{BB962C8B-B14F-4D97-AF65-F5344CB8AC3E}">
        <p14:creationId xmlns:p14="http://schemas.microsoft.com/office/powerpoint/2010/main" val="899408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 xmlns:a16="http://schemas.microsoft.com/office/drawing/2014/main"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 xmlns:a16="http://schemas.microsoft.com/office/drawing/2014/main"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definida pela</a:t>
            </a:r>
          </a:p>
          <a:p>
            <a:pPr lvl="1">
              <a:buFont typeface="Wingdings" panose="05000000000000000000" pitchFamily="2" charset="2"/>
              <a:buChar char="§"/>
            </a:pPr>
            <a:r>
              <a:rPr lang="pt-BR" dirty="0"/>
              <a:t>forma 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 xmlns:a16="http://schemas.microsoft.com/office/drawing/2014/main"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neural.</a:t>
            </a:r>
          </a:p>
        </p:txBody>
      </p:sp>
      <p:grpSp>
        <p:nvGrpSpPr>
          <p:cNvPr id="8" name="Group 7">
            <a:extLst>
              <a:ext uri="{FF2B5EF4-FFF2-40B4-BE49-F238E27FC236}">
                <a16:creationId xmlns="" xmlns:a16="http://schemas.microsoft.com/office/drawing/2014/main" id="{AA23EAEA-060A-1C22-3020-27BBBAF3E612}"/>
              </a:ext>
            </a:extLst>
          </p:cNvPr>
          <p:cNvGrpSpPr/>
          <p:nvPr/>
        </p:nvGrpSpPr>
        <p:grpSpPr>
          <a:xfrm>
            <a:off x="2440839" y="3931907"/>
            <a:ext cx="7310321" cy="2832256"/>
            <a:chOff x="4678169" y="3716345"/>
            <a:chExt cx="7310321" cy="2832256"/>
          </a:xfrm>
        </p:grpSpPr>
        <p:pic>
          <p:nvPicPr>
            <p:cNvPr id="9" name="Picture 4" descr="Future prospects of deep learning in medicine | LaptrinhX">
              <a:extLst>
                <a:ext uri="{FF2B5EF4-FFF2-40B4-BE49-F238E27FC236}">
                  <a16:creationId xmlns=""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 xmlns:a16="http://schemas.microsoft.com/office/drawing/2014/main" id="{C653729B-FBD8-B36F-5207-9E37720CD997}"/>
              </a:ext>
            </a:extLst>
          </p:cNvPr>
          <p:cNvSpPr>
            <a:spLocks noGrp="1"/>
          </p:cNvSpPr>
          <p:nvPr>
            <p:ph idx="1"/>
          </p:nvPr>
        </p:nvSpPr>
        <p:spPr>
          <a:xfrm>
            <a:off x="838200" y="1825625"/>
            <a:ext cx="11205754" cy="2397727"/>
          </a:xfrm>
        </p:spPr>
        <p:txBody>
          <a:bodyPr>
            <a:normAutofit/>
          </a:bodyPr>
          <a:lstStyle/>
          <a:p>
            <a:r>
              <a:rPr lang="pt-BR" dirty="0"/>
              <a:t>Em geral, quando elas 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poderem ter uma grande capacidade de aprendizado, elas precisam de uma </a:t>
            </a:r>
            <a:r>
              <a:rPr lang="pt-BR" b="1" dirty="0">
                <a:solidFill>
                  <a:srgbClr val="7030A0"/>
                </a:solidFill>
              </a:rPr>
              <a:t>grande quantidade de dados para aprender uma solução geral</a:t>
            </a:r>
            <a:r>
              <a:rPr lang="pt-BR" dirty="0"/>
              <a:t>.</a:t>
            </a:r>
          </a:p>
        </p:txBody>
      </p:sp>
      <p:grpSp>
        <p:nvGrpSpPr>
          <p:cNvPr id="6" name="Group 5">
            <a:extLst>
              <a:ext uri="{FF2B5EF4-FFF2-40B4-BE49-F238E27FC236}">
                <a16:creationId xmlns="" xmlns:a16="http://schemas.microsoft.com/office/drawing/2014/main" id="{5213EC6B-9964-F0AD-F41B-220541F20C22}"/>
              </a:ext>
            </a:extLst>
          </p:cNvPr>
          <p:cNvGrpSpPr/>
          <p:nvPr/>
        </p:nvGrpSpPr>
        <p:grpSpPr>
          <a:xfrm>
            <a:off x="2440839" y="3839618"/>
            <a:ext cx="7310321" cy="2832256"/>
            <a:chOff x="4678169" y="3716345"/>
            <a:chExt cx="7310321" cy="2832256"/>
          </a:xfrm>
        </p:grpSpPr>
        <p:pic>
          <p:nvPicPr>
            <p:cNvPr id="1028" name="Picture 4" descr="Future prospects of deep learning in medicine | LaptrinhX">
              <a:extLst>
                <a:ext uri="{FF2B5EF4-FFF2-40B4-BE49-F238E27FC236}">
                  <a16:creationId xmlns=""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 xmlns:a16="http://schemas.microsoft.com/office/drawing/2014/main"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de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Aplica entradas e 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e o quanto eles precisam mudar para que a rede produza uma saída mais correta?”</a:t>
            </a:r>
            <a:endParaRPr lang="pt-BR" dirty="0"/>
          </a:p>
          <a:p>
            <a:endParaRPr lang="en-US" dirty="0"/>
          </a:p>
        </p:txBody>
      </p:sp>
      <p:pic>
        <p:nvPicPr>
          <p:cNvPr id="8" name="Picture 7">
            <a:extLst>
              <a:ext uri="{FF2B5EF4-FFF2-40B4-BE49-F238E27FC236}">
                <a16:creationId xmlns=""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b="0" i="1" smtClean="0">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smtClean="0">
                                              <a:latin typeface="Cambria Math" panose="02040503050406030204" pitchFamily="18" charset="0"/>
                                            </a:rPr>
                                          </m:ctrlPr>
                                        </m:sSubSupPr>
                                        <m:e>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757"/>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a:blip r:embed="rId2"/>
                <a:stretch>
                  <a:fillRect l="-929"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2"/>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 xmlns:a16="http://schemas.microsoft.com/office/drawing/2014/main"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em </a:t>
            </a:r>
            <a:r>
              <a:rPr lang="pt-BR" dirty="0"/>
              <a:t>geral</a:t>
            </a:r>
            <a:r>
              <a:rPr lang="pt-BR" sz="2800" dirty="0"/>
              <a:t>, no caso dos pontos de mínimo,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 xmlns:a16="http://schemas.microsoft.com/office/drawing/2014/main" id="{9A61C462-DCAD-E604-85FB-9F3661AB03C1}"/>
              </a:ext>
            </a:extLst>
          </p:cNvPr>
          <p:cNvSpPr>
            <a:spLocks noGrp="1"/>
          </p:cNvSpPr>
          <p:nvPr>
            <p:ph idx="1"/>
          </p:nvPr>
        </p:nvSpPr>
        <p:spPr>
          <a:xfrm>
            <a:off x="5268191" y="1825624"/>
            <a:ext cx="6854983" cy="5032375"/>
          </a:xfrm>
        </p:spPr>
        <p:txBody>
          <a:bodyPr>
            <a:normAutofit/>
          </a:bodyPr>
          <a:lstStyle/>
          <a:p>
            <a:r>
              <a:rPr lang="pt-BR" dirty="0"/>
              <a:t>Avaliar o erro em conjuntos de validação e teste.</a:t>
            </a:r>
          </a:p>
          <a:p>
            <a:pPr lvl="1">
              <a:buFont typeface="Wingdings" panose="05000000000000000000" pitchFamily="2" charset="2"/>
              <a:buChar char="§"/>
            </a:pPr>
            <a:r>
              <a:rPr lang="pt-BR" dirty="0"/>
              <a:t>O modelo é considerado bom se os </a:t>
            </a:r>
            <a:r>
              <a:rPr lang="pt-BR" b="1" dirty="0"/>
              <a:t>erros de validação e teste forem baixos</a:t>
            </a:r>
            <a:r>
              <a:rPr lang="pt-BR" dirty="0"/>
              <a:t>.</a:t>
            </a:r>
          </a:p>
          <a:p>
            <a:r>
              <a:rPr lang="pt-BR" dirty="0"/>
              <a:t>Comparar o resultado de vários treinamentos com inicializações (pesos e </a:t>
            </a:r>
            <a:r>
              <a:rPr lang="pt-BR" i="1" dirty="0"/>
              <a:t>dataset</a:t>
            </a:r>
            <a:r>
              <a:rPr lang="pt-BR" dirty="0"/>
              <a:t>, e.g., </a:t>
            </a:r>
            <a:r>
              <a:rPr lang="pt-BR" i="1" dirty="0"/>
              <a:t>k-</a:t>
            </a:r>
            <a:r>
              <a:rPr lang="pt-BR" i="1" dirty="0" err="1"/>
              <a:t>fold</a:t>
            </a:r>
            <a:r>
              <a:rPr lang="pt-BR" dirty="0"/>
              <a:t>) diferentes.</a:t>
            </a:r>
          </a:p>
          <a:p>
            <a:pPr lvl="1">
              <a:buFont typeface="Wingdings" panose="05000000000000000000" pitchFamily="2" charset="2"/>
              <a:buChar char="§"/>
            </a:pPr>
            <a:r>
              <a:rPr lang="pt-BR" dirty="0"/>
              <a:t>Se todos os treinamentos convergem para erros parecidos, então o mínimo ou os mínimos encontrados são provavelmente bons.</a:t>
            </a:r>
          </a:p>
          <a:p>
            <a:pPr lvl="1">
              <a:buFont typeface="Wingdings" panose="05000000000000000000" pitchFamily="2" charset="2"/>
              <a:buChar char="§"/>
            </a:pPr>
            <a:r>
              <a:rPr lang="pt-BR" dirty="0"/>
              <a:t>Se os resultados variam muito, então os mínimos podem ser ruins e isso pode indicar sobreajuste do modelo.</a:t>
            </a:r>
          </a:p>
        </p:txBody>
      </p:sp>
      <p:pic>
        <p:nvPicPr>
          <p:cNvPr id="4" name="Picture 2" descr="challenges-1">
            <a:extLst>
              <a:ext uri="{FF2B5EF4-FFF2-40B4-BE49-F238E27FC236}">
                <a16:creationId xmlns=""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21734" y="2494041"/>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5320337-AB8B-9B66-8DCB-4A4BF80A6194}"/>
              </a:ext>
            </a:extLst>
          </p:cNvPr>
          <p:cNvSpPr>
            <a:spLocks noGrp="1"/>
          </p:cNvSpPr>
          <p:nvPr>
            <p:ph type="title"/>
          </p:nvPr>
        </p:nvSpPr>
        <p:spPr/>
        <p:txBody>
          <a:bodyPr/>
          <a:lstStyle/>
          <a:p>
            <a:r>
              <a:rPr lang="pt-BR" dirty="0"/>
              <a:t>Derivada parcial do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Derivada parcial do erro</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a:t>
                </a:r>
              </a:p>
              <a:p>
                <a:pPr lvl="1">
                  <a:buFont typeface="Wingdings" panose="05000000000000000000" pitchFamily="2" charset="2"/>
                  <a:buChar char="§"/>
                </a:pPr>
                <a:r>
                  <a:rPr lang="pt-BR" dirty="0"/>
                  <a:t>3 derivadas parciais das funções de ativação</a:t>
                </a:r>
              </a:p>
              <a:p>
                <a:pPr lvl="1">
                  <a:buFont typeface="Wingdings" panose="05000000000000000000" pitchFamily="2" charset="2"/>
                  <a:buChar char="§"/>
                </a:pPr>
                <a:r>
                  <a:rPr lang="pt-BR" dirty="0"/>
                  <a:t>e 2 pesos que ligam a saída à camada de entrada</a:t>
                </a:r>
              </a:p>
              <a:p>
                <a:pPr marL="0" indent="0">
                  <a:buNone/>
                </a:pPr>
                <a:r>
                  <a:rPr lang="pt-BR" dirty="0"/>
                  <a:t>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𝑀</m:t>
                    </m:r>
                  </m:oMath>
                </a14:m>
                <a:r>
                  <a:rPr lang="pt-BR" dirty="0"/>
                  <a:t> derivadas parciais das funções de ativação </a:t>
                </a:r>
              </a:p>
              <a:p>
                <a:pPr lvl="1">
                  <a:buFont typeface="Wingdings" panose="05000000000000000000" pitchFamily="2" charset="2"/>
                  <a:buChar char="§"/>
                </a:pPr>
                <a:r>
                  <a:rPr lang="pt-BR" dirty="0"/>
                  <a:t>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−1</m:t>
                    </m:r>
                  </m:oMath>
                </a14:m>
                <a:r>
                  <a:rPr lang="pt-BR" dirty="0"/>
                  <a:t> pesos</a:t>
                </a:r>
              </a:p>
              <a:p>
                <a:pPr marL="0" indent="0">
                  <a:buNone/>
                </a:pPr>
                <a:r>
                  <a:rPr lang="pt-BR" dirty="0"/>
                  <a:t>para a derivada parcial do erro em relação ao peso da primeira camada.</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b="-726"/>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AF3ADB7-9531-579F-4C79-456530241870}"/>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 xmlns:a16="http://schemas.microsoft.com/office/drawing/2014/main"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 xmlns:a16="http://schemas.microsoft.com/office/drawing/2014/main"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 xmlns:a16="http://schemas.microsoft.com/office/drawing/2014/main"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 xmlns:a16="http://schemas.microsoft.com/office/drawing/2014/main"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 xmlns:a16="http://schemas.microsoft.com/office/drawing/2014/main"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 xmlns:a16="http://schemas.microsoft.com/office/drawing/2014/main"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D8934CF7-9755-BAE7-4000-D544554A8335}"/>
                  </a:ext>
                </a:extLst>
              </p:cNvPr>
              <p:cNvSpPr>
                <a:spLocks noGrp="1"/>
              </p:cNvSpPr>
              <p:nvPr>
                <p:ph idx="1"/>
              </p:nvPr>
            </p:nvSpPr>
            <p:spPr>
              <a:xfrm>
                <a:off x="838200" y="1825624"/>
                <a:ext cx="11353800"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a:t>
                </a:r>
                <a:r>
                  <a:rPr lang="en-US" dirty="0" err="1"/>
                  <a:t>menores</a:t>
                </a:r>
                <a:r>
                  <a:rPr lang="en-US" dirty="0"/>
                  <a:t> do </a:t>
                </a:r>
                <a:r>
                  <a:rPr lang="en-US" dirty="0" err="1"/>
                  <a:t>que</a:t>
                </a:r>
                <a:r>
                  <a:rPr lang="en-US" dirty="0"/>
                  <a:t> 0. </a:t>
                </a:r>
              </a:p>
              <a:p>
                <a:pPr lvl="1">
                  <a:buFont typeface="Wingdings" panose="05000000000000000000" pitchFamily="2" charset="2"/>
                  <a:buChar char="§"/>
                </a:pPr>
                <a:r>
                  <a:rPr lang="en-US" dirty="0"/>
                  <a:t>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pPr marL="0" indent="0">
                  <a:buNone/>
                </a:pPr>
                <a:endParaRPr lang="pt-BR" dirty="0"/>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967" t="-1937"/>
                </a:stretch>
              </a:blipFill>
            </p:spPr>
            <p:txBody>
              <a:bodyPr/>
              <a:lstStyle/>
              <a:p>
                <a:r>
                  <a:rPr lang="en-US">
                    <a:noFill/>
                  </a:rPr>
                  <a:t> </a:t>
                </a:r>
              </a:p>
            </p:txBody>
          </p:sp>
        </mc:Fallback>
      </mc:AlternateContent>
      <p:sp>
        <p:nvSpPr>
          <p:cNvPr id="4" name="Rectangle 7">
            <a:extLst>
              <a:ext uri="{FF2B5EF4-FFF2-40B4-BE49-F238E27FC236}">
                <a16:creationId xmlns="" xmlns:a16="http://schemas.microsoft.com/office/drawing/2014/main" id="{188120B7-662B-0302-08DB-34631D26EA52}"/>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 xmlns:a16="http://schemas.microsoft.com/office/drawing/2014/main" id="{849AAD1E-45E1-72F3-48EB-137DD3B099A9}"/>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6" name="Retângulo 10">
                <a:extLst>
                  <a:ext uri="{FF2B5EF4-FFF2-40B4-BE49-F238E27FC236}">
                    <a16:creationId xmlns="" xmlns:a16="http://schemas.microsoft.com/office/drawing/2014/main" id="{FF1FDCB0-7757-8C33-F165-73A447EEEAB7}"/>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6" name="Retângulo 10">
                <a:extLst>
                  <a:ext uri="{FF2B5EF4-FFF2-40B4-BE49-F238E27FC236}">
                    <a16:creationId xmlns:a16="http://schemas.microsoft.com/office/drawing/2014/main" id="{FF1FDCB0-7757-8C33-F165-73A447EEEAB7}"/>
                  </a:ext>
                </a:extLst>
              </p:cNvPr>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7" name="Imagem 11">
            <a:extLst>
              <a:ext uri="{FF2B5EF4-FFF2-40B4-BE49-F238E27FC236}">
                <a16:creationId xmlns="" xmlns:a16="http://schemas.microsoft.com/office/drawing/2014/main" id="{C9BB9D9B-68A5-6455-B5D8-70A97A97D070}"/>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8" name="Rectangle 7">
            <a:extLst>
              <a:ext uri="{FF2B5EF4-FFF2-40B4-BE49-F238E27FC236}">
                <a16:creationId xmlns="" xmlns:a16="http://schemas.microsoft.com/office/drawing/2014/main" id="{8E330444-0B41-60C1-AEE1-D9AB99524BBF}"/>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9" name="Retângulo 14">
                <a:extLst>
                  <a:ext uri="{FF2B5EF4-FFF2-40B4-BE49-F238E27FC236}">
                    <a16:creationId xmlns="" xmlns:a16="http://schemas.microsoft.com/office/drawing/2014/main" id="{E9F71E95-981D-5B7D-D4D0-AE6D9630604E}"/>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9" name="Retângulo 14">
                <a:extLst>
                  <a:ext uri="{FF2B5EF4-FFF2-40B4-BE49-F238E27FC236}">
                    <a16:creationId xmlns:a16="http://schemas.microsoft.com/office/drawing/2014/main" id="{E9F71E95-981D-5B7D-D4D0-AE6D9630604E}"/>
                  </a:ext>
                </a:extLst>
              </p:cNvPr>
              <p:cNvSpPr>
                <a:spLocks noRot="1" noChangeAspect="1" noMove="1" noResize="1" noEditPoints="1" noAdjustHandles="1" noChangeArrowheads="1" noChangeShapeType="1" noTextEdit="1"/>
              </p:cNvSpPr>
              <p:nvPr/>
            </p:nvSpPr>
            <p:spPr>
              <a:xfrm>
                <a:off x="7477797" y="6483249"/>
                <a:ext cx="2278894" cy="369332"/>
              </a:xfrm>
              <a:prstGeom prst="rect">
                <a:avLst/>
              </a:prstGeom>
              <a:blipFill>
                <a:blip r:embed="rId6"/>
                <a:stretch>
                  <a:fillRect b="-16667"/>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3B4E67D-1BE9-7550-5004-A1D19A2907A8}"/>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0FF64631-6CB2-152F-B2C3-34B6A408CC11}"/>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9639F603-0AB1-0A3C-99B8-FEC63AAEF8C2}"/>
                  </a:ext>
                </a:extLst>
              </p:cNvPr>
              <p:cNvSpPr>
                <a:spLocks noGrp="1"/>
              </p:cNvSpPr>
              <p:nvPr>
                <p:ph idx="1"/>
              </p:nvPr>
            </p:nvSpPr>
            <p:spPr>
              <a:xfrm>
                <a:off x="838199" y="1825624"/>
                <a:ext cx="11353801" cy="5032375"/>
              </a:xfrm>
            </p:spPr>
            <p:txBody>
              <a:bodyPr>
                <a:normAutofit/>
              </a:bodyPr>
              <a:lstStyle/>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9639F603-0AB1-0A3C-99B8-FEC63AAEF8C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86708598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dirty="0">
                    <a:solidFill>
                      <a:schemeClr val="accent2"/>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4767924" y="1825624"/>
                <a:ext cx="7352541" cy="5032375"/>
              </a:xfrm>
            </p:spPr>
            <p:txBody>
              <a:bodyPr>
                <a:normAutofit lnSpcReduction="10000"/>
              </a:bodyPr>
              <a:lstStyle/>
              <a:p>
                <a:r>
                  <a:rPr lang="pt-BR" dirty="0"/>
                  <a:t>Sua principal </a:t>
                </a:r>
                <a:r>
                  <a:rPr lang="pt-BR" b="1" dirty="0">
                    <a:solidFill>
                      <a:srgbClr val="00B050"/>
                    </a:solidFill>
                  </a:rPr>
                  <a:t>vantagem</a:t>
                </a:r>
                <a:r>
                  <a:rPr lang="pt-BR" dirty="0"/>
                  <a:t> é que ela a</a:t>
                </a:r>
                <a:r>
                  <a:rPr lang="pt-BR" b="0" dirty="0">
                    <a:effectLst/>
                  </a:rPr>
                  <a:t>juda a </a:t>
                </a:r>
                <a:r>
                  <a:rPr lang="pt-BR" b="1" dirty="0">
                    <a:solidFill>
                      <a:schemeClr val="accent2"/>
                    </a:solidFill>
                    <a:effectLst/>
                  </a:rPr>
                  <a:t>minimizar</a:t>
                </a:r>
                <a:r>
                  <a:rPr lang="pt-BR" b="1" dirty="0">
                    <a:solidFill>
                      <a:srgbClr val="00B050"/>
                    </a:solidFill>
                    <a:effectLst/>
                  </a:rPr>
                  <a:t> o problema do desaparecimento do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p>
              <a:p>
                <a:r>
                  <a:rPr lang="pt-BR" dirty="0"/>
                  <a:t>Outra </a:t>
                </a:r>
                <a:r>
                  <a:rPr lang="pt-BR" b="1" dirty="0">
                    <a:solidFill>
                      <a:srgbClr val="00B050"/>
                    </a:solidFill>
                  </a:rPr>
                  <a:t>vantagem</a:t>
                </a:r>
                <a:r>
                  <a:rPr lang="pt-BR" dirty="0"/>
                  <a:t> é a sua </a:t>
                </a:r>
                <a:r>
                  <a:rPr lang="pt-BR" b="1" dirty="0">
                    <a:solidFill>
                      <a:srgbClr val="00B050"/>
                    </a:solidFill>
                  </a:rPr>
                  <a:t>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 mais rápidas de se calcular </a:t>
                </a:r>
                <a:r>
                  <a:rPr lang="pt-BR" dirty="0"/>
                  <a:t>do que as funções logística e tangente hiperbólica.</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352541" cy="5032375"/>
              </a:xfrm>
              <a:blipFill>
                <a:blip r:embed="rId3"/>
                <a:stretch>
                  <a:fillRect l="-1493" t="-2663"/>
                </a:stretch>
              </a:blipFill>
            </p:spPr>
            <p:txBody>
              <a:bodyPr/>
              <a:lstStyle/>
              <a:p>
                <a:r>
                  <a:rPr lang="en-US">
                    <a:noFill/>
                  </a:rPr>
                  <a:t> </a:t>
                </a:r>
              </a:p>
            </p:txBody>
          </p:sp>
        </mc:Fallback>
      </mc:AlternateContent>
      <p:grpSp>
        <p:nvGrpSpPr>
          <p:cNvPr id="4" name="Agrupar 3">
            <a:extLst>
              <a:ext uri="{FF2B5EF4-FFF2-40B4-BE49-F238E27FC236}">
                <a16:creationId xmlns=""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a:t>
                </a:r>
                <a:r>
                  <a:rPr lang="pt-BR" b="1" dirty="0">
                    <a:solidFill>
                      <a:srgbClr val="FF0000"/>
                    </a:solidFill>
                    <a:effectLst/>
                  </a:rPr>
                  <a:t>desvantagem</a:t>
                </a:r>
                <a:r>
                  <a:rPr lang="pt-BR" b="0" dirty="0">
                    <a:effectLst/>
                  </a:rPr>
                  <a:t>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679"/>
                </a:stretch>
              </a:blipFill>
            </p:spPr>
            <p:txBody>
              <a:bodyPr/>
              <a:lstStyle/>
              <a:p>
                <a:r>
                  <a:rPr lang="en-US">
                    <a:noFill/>
                  </a:rPr>
                  <a:t> </a:t>
                </a:r>
              </a:p>
            </p:txBody>
          </p:sp>
        </mc:Fallback>
      </mc:AlternateContent>
      <p:pic>
        <p:nvPicPr>
          <p:cNvPr id="4" name="Imagem 3">
            <a:extLst>
              <a:ext uri="{FF2B5EF4-FFF2-40B4-BE49-F238E27FC236}">
                <a16:creationId xmlns=""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7072603" y="1825624"/>
                <a:ext cx="5035659"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2"/>
                    </a:solidFill>
                  </a:rPr>
                  <a:t>possuam derivada diferente de zero para </a:t>
                </a:r>
                <a14:m>
                  <m:oMath xmlns:m="http://schemas.openxmlformats.org/officeDocument/2006/math">
                    <m:r>
                      <a:rPr lang="pt-BR" b="1" i="1">
                        <a:solidFill>
                          <a:schemeClr val="accent2"/>
                        </a:solidFill>
                        <a:latin typeface="Cambria Math" panose="02040503050406030204" pitchFamily="18" charset="0"/>
                      </a:rPr>
                      <m:t>𝒈</m:t>
                    </m:r>
                    <m:d>
                      <m:dPr>
                        <m:ctrlPr>
                          <a:rPr lang="pt-BR" b="1" i="1">
                            <a:solidFill>
                              <a:schemeClr val="accent2"/>
                            </a:solidFill>
                            <a:latin typeface="Cambria Math" panose="02040503050406030204" pitchFamily="18" charset="0"/>
                          </a:rPr>
                        </m:ctrlPr>
                      </m:dPr>
                      <m:e>
                        <m:r>
                          <a:rPr lang="pt-BR" b="1" i="1">
                            <a:solidFill>
                              <a:schemeClr val="accent2"/>
                            </a:solidFill>
                            <a:latin typeface="Cambria Math" panose="02040503050406030204" pitchFamily="18" charset="0"/>
                          </a:rPr>
                          <m:t>𝒙</m:t>
                        </m:r>
                      </m:e>
                    </m:d>
                    <m:r>
                      <a:rPr lang="pt-BR" b="1" i="1">
                        <a:solidFill>
                          <a:schemeClr val="accent2"/>
                        </a:solidFill>
                        <a:latin typeface="Cambria Math" panose="02040503050406030204" pitchFamily="18" charset="0"/>
                      </a:rPr>
                      <m:t>&lt;</m:t>
                    </m:r>
                    <m:r>
                      <a:rPr lang="pt-BR" b="1" i="1">
                        <a:solidFill>
                          <a:schemeClr val="accent2"/>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7072603" y="1825624"/>
                <a:ext cx="5035659" cy="5032375"/>
              </a:xfrm>
              <a:blipFill>
                <a:blip r:embed="rId4"/>
                <a:stretch>
                  <a:fillRect l="-2179" t="-1937" r="-3269"/>
                </a:stretch>
              </a:blipFill>
            </p:spPr>
            <p:txBody>
              <a:bodyPr/>
              <a:lstStyle/>
              <a:p>
                <a:r>
                  <a:rPr lang="en-US">
                    <a:noFill/>
                  </a:rPr>
                  <a:t> </a:t>
                </a:r>
              </a:p>
            </p:txBody>
          </p:sp>
        </mc:Fallback>
      </mc:AlternateContent>
      <p:pic>
        <p:nvPicPr>
          <p:cNvPr id="5" name="Picture 4">
            <a:extLst>
              <a:ext uri="{FF2B5EF4-FFF2-40B4-BE49-F238E27FC236}">
                <a16:creationId xmlns="" xmlns:a16="http://schemas.microsoft.com/office/drawing/2014/main" id="{DCEAF695-2366-440F-7631-39103A7D3C73}"/>
              </a:ext>
            </a:extLst>
          </p:cNvPr>
          <p:cNvPicPr>
            <a:picLocks noChangeAspect="1"/>
          </p:cNvPicPr>
          <p:nvPr/>
        </p:nvPicPr>
        <p:blipFill>
          <a:blip r:embed="rId5">
            <a:extLst>
              <a:ext uri="{28A0092B-C50C-407E-A947-70E740481C1C}">
                <a14:useLocalDpi xmlns:a14="http://schemas.microsoft.com/office/drawing/2010/main" val="0"/>
              </a:ext>
            </a:extLst>
          </a:blip>
          <a:srcRect l="1196" r="1907"/>
          <a:stretch>
            <a:fillRect/>
          </a:stretch>
        </p:blipFill>
        <p:spPr>
          <a:xfrm>
            <a:off x="93067" y="1825623"/>
            <a:ext cx="6783595" cy="4667251"/>
          </a:xfrm>
          <a:prstGeom prst="rect">
            <a:avLst/>
          </a:prstGeom>
        </p:spPr>
      </p:pic>
    </p:spTree>
    <p:extLst>
      <p:ext uri="{BB962C8B-B14F-4D97-AF65-F5344CB8AC3E}">
        <p14:creationId xmlns:p14="http://schemas.microsoft.com/office/powerpoint/2010/main" val="6256383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 xmlns:a16="http://schemas.microsoft.com/office/drawing/2014/main" id="{0D16A970-E5B0-45AB-5F13-4EB2F6AB2E7A}"/>
              </a:ext>
            </a:extLst>
          </p:cNvPr>
          <p:cNvSpPr>
            <a:spLocks noGrp="1"/>
          </p:cNvSpPr>
          <p:nvPr>
            <p:ph idx="1"/>
          </p:nvPr>
        </p:nvSpPr>
        <p:spPr>
          <a:xfrm>
            <a:off x="838199" y="1825624"/>
            <a:ext cx="11244944" cy="5032375"/>
          </a:xfrm>
        </p:spPr>
        <p:txBody>
          <a:bodyPr>
            <a:normAutofit lnSpcReduction="10000"/>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a:t>
            </a:r>
            <a:r>
              <a:rPr lang="pt-BR" b="1" dirty="0">
                <a:solidFill>
                  <a:schemeClr val="accent2"/>
                </a:solidFill>
              </a:rPr>
              <a:t>garante que a variância das ativações permaneça a mesma</a:t>
            </a:r>
            <a:r>
              <a:rPr lang="pt-BR" dirty="0"/>
              <a:t> ao longo de todas as camadas. Isso garante que o gradiente retropropagado </a:t>
            </a:r>
            <a:r>
              <a:rPr lang="pt-BR" b="1" dirty="0">
                <a:solidFill>
                  <a:srgbClr val="00B050"/>
                </a:solidFill>
              </a:rPr>
              <a:t>não tenha multiplicações com valores muito pequenos ou muito grandes</a:t>
            </a:r>
            <a:r>
              <a:rPr lang="pt-BR" dirty="0"/>
              <a:t>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a:t>
            </a:r>
            <a:r>
              <a:rPr lang="pt-BR" b="1" dirty="0">
                <a:solidFill>
                  <a:schemeClr val="accent2"/>
                </a:solidFill>
              </a:rPr>
              <a:t>padroniza as ativações das camadas</a:t>
            </a:r>
            <a:r>
              <a:rPr lang="pt-BR" dirty="0"/>
              <a:t> durante o treinamento. Isso estabiliza os gradientes, acelera a convergência </a:t>
            </a:r>
            <a:r>
              <a:rPr lang="en-US" dirty="0"/>
              <a:t>e </a:t>
            </a:r>
            <a:r>
              <a:rPr lang="en-US" dirty="0" err="1"/>
              <a:t>mitiga</a:t>
            </a:r>
            <a:r>
              <a:rPr lang="en-US" dirty="0"/>
              <a:t> ambos </a:t>
            </a:r>
            <a:r>
              <a:rPr lang="en-US" dirty="0" err="1"/>
              <a:t>problemas</a:t>
            </a:r>
            <a:r>
              <a:rPr lang="en-US" dirty="0"/>
              <a:t>.</a:t>
            </a:r>
            <a:endParaRPr lang="pt-BR" dirty="0"/>
          </a:p>
          <a:p>
            <a:pPr lvl="1">
              <a:buFont typeface="Wingdings" panose="05000000000000000000" pitchFamily="2" charset="2"/>
              <a:buChar char="§"/>
            </a:pPr>
            <a:r>
              <a:rPr lang="pt-BR" b="1" dirty="0"/>
              <a:t>Poda do gradiente</a:t>
            </a:r>
            <a:r>
              <a:rPr lang="pt-BR" dirty="0"/>
              <a:t>: </a:t>
            </a:r>
            <a:r>
              <a:rPr lang="pt-BR" b="1" dirty="0">
                <a:solidFill>
                  <a:schemeClr val="accent2"/>
                </a:solidFill>
              </a:rPr>
              <a:t>limita o valor máximo do gradiente</a:t>
            </a:r>
            <a:r>
              <a:rPr lang="pt-BR" dirty="0"/>
              <a:t>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a:t>
            </a:r>
            <a:r>
              <a:rPr lang="pt-BR" b="1" dirty="0">
                <a:solidFill>
                  <a:schemeClr val="accent2"/>
                </a:solidFill>
              </a:rPr>
              <a:t>criam caminhos diretos entre camadas (curto circuito)</a:t>
            </a:r>
            <a:r>
              <a:rPr lang="pt-BR" dirty="0"/>
              <a:t>. Isso facilita a propagação do gradiente em redes muito profundas, minimizando ambos os problemas.</a:t>
            </a:r>
          </a:p>
        </p:txBody>
      </p:sp>
    </p:spTree>
    <p:extLst>
      <p:ext uri="{BB962C8B-B14F-4D97-AF65-F5344CB8AC3E}">
        <p14:creationId xmlns:p14="http://schemas.microsoft.com/office/powerpoint/2010/main" val="368030221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9264</TotalTime>
  <Words>7676</Words>
  <Application>Microsoft Office PowerPoint</Application>
  <PresentationFormat>Widescreen</PresentationFormat>
  <Paragraphs>991</Paragraphs>
  <Slides>73</Slides>
  <Notes>41</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73</vt:i4>
      </vt:variant>
    </vt:vector>
  </HeadingPairs>
  <TitlesOfParts>
    <vt:vector size="82"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Apresentação do PowerPoint</vt:lpstr>
      <vt:lpstr>Redes neurais artificiais</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universal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Superfícies de erro de redes neurais</vt:lpstr>
      <vt:lpstr>Superfícies de erro irregulares</vt:lpstr>
      <vt:lpstr>Superfícies de erro irregulares</vt:lpstr>
      <vt:lpstr>Como garantir que o erro encontrado é bom?</vt:lpstr>
      <vt:lpstr>Exemplo</vt:lpstr>
      <vt:lpstr>Lista de exercícios</vt:lpstr>
      <vt:lpstr>Apresentação do PowerPoint</vt:lpstr>
      <vt:lpstr>Apresentação do PowerPoint</vt:lpstr>
      <vt:lpstr>Apresentação do PowerPoint</vt:lpstr>
      <vt:lpstr>Derivada parcial do erro</vt:lpstr>
      <vt:lpstr>Derivada parcial do erro</vt:lpstr>
      <vt:lpstr>Desaparecimento do gradiente</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lpstr>Pontos de sela</vt:lpstr>
      <vt:lpstr>Platôs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2004</cp:revision>
  <dcterms:created xsi:type="dcterms:W3CDTF">2020-01-20T13:50:05Z</dcterms:created>
  <dcterms:modified xsi:type="dcterms:W3CDTF">2026-09-21T00:44:00Z</dcterms:modified>
</cp:coreProperties>
</file>