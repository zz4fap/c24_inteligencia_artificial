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256" r:id="rId2"/>
    <p:sldId id="565" r:id="rId3"/>
    <p:sldId id="417" r:id="rId4"/>
    <p:sldId id="545" r:id="rId5"/>
    <p:sldId id="544" r:id="rId6"/>
    <p:sldId id="553" r:id="rId7"/>
    <p:sldId id="556" r:id="rId8"/>
    <p:sldId id="558" r:id="rId9"/>
    <p:sldId id="445" r:id="rId10"/>
    <p:sldId id="451" r:id="rId11"/>
    <p:sldId id="454" r:id="rId12"/>
    <p:sldId id="453" r:id="rId13"/>
    <p:sldId id="532" r:id="rId14"/>
    <p:sldId id="455" r:id="rId15"/>
    <p:sldId id="448" r:id="rId16"/>
    <p:sldId id="533" r:id="rId17"/>
    <p:sldId id="512" r:id="rId18"/>
    <p:sldId id="563" r:id="rId19"/>
    <p:sldId id="564" r:id="rId20"/>
    <p:sldId id="560" r:id="rId21"/>
    <p:sldId id="561" r:id="rId22"/>
    <p:sldId id="562" r:id="rId23"/>
    <p:sldId id="531" r:id="rId24"/>
    <p:sldId id="550" r:id="rId25"/>
    <p:sldId id="551" r:id="rId26"/>
    <p:sldId id="566" r:id="rId27"/>
    <p:sldId id="554" r:id="rId28"/>
    <p:sldId id="579" r:id="rId29"/>
    <p:sldId id="567" r:id="rId30"/>
    <p:sldId id="547" r:id="rId31"/>
    <p:sldId id="391" r:id="rId32"/>
    <p:sldId id="392" r:id="rId33"/>
    <p:sldId id="568" r:id="rId34"/>
    <p:sldId id="569" r:id="rId35"/>
    <p:sldId id="578" r:id="rId36"/>
    <p:sldId id="570" r:id="rId37"/>
    <p:sldId id="573" r:id="rId38"/>
    <p:sldId id="574" r:id="rId39"/>
    <p:sldId id="572" r:id="rId40"/>
    <p:sldId id="581" r:id="rId41"/>
    <p:sldId id="584" r:id="rId42"/>
    <p:sldId id="580" r:id="rId43"/>
    <p:sldId id="423" r:id="rId44"/>
    <p:sldId id="404" r:id="rId45"/>
    <p:sldId id="407" r:id="rId46"/>
    <p:sldId id="588" r:id="rId47"/>
    <p:sldId id="589" r:id="rId48"/>
    <p:sldId id="586" r:id="rId49"/>
    <p:sldId id="587" r:id="rId50"/>
    <p:sldId id="585" r:id="rId51"/>
    <p:sldId id="583" r:id="rId52"/>
    <p:sldId id="592" r:id="rId53"/>
    <p:sldId id="557" r:id="rId54"/>
    <p:sldId id="601" r:id="rId55"/>
    <p:sldId id="593" r:id="rId56"/>
    <p:sldId id="594" r:id="rId57"/>
    <p:sldId id="595" r:id="rId58"/>
    <p:sldId id="596" r:id="rId59"/>
    <p:sldId id="597" r:id="rId60"/>
    <p:sldId id="598" r:id="rId61"/>
    <p:sldId id="599" r:id="rId62"/>
    <p:sldId id="600" r:id="rId63"/>
    <p:sldId id="606" r:id="rId64"/>
    <p:sldId id="405" r:id="rId65"/>
    <p:sldId id="406" r:id="rId66"/>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87893" autoAdjust="0"/>
  </p:normalViewPr>
  <p:slideViewPr>
    <p:cSldViewPr snapToGrid="0">
      <p:cViewPr varScale="1">
        <p:scale>
          <a:sx n="97" d="100"/>
          <a:sy n="97" d="100"/>
        </p:scale>
        <p:origin x="1290"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59.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60</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61</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62</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65</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7.jpe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media/image70.jpeg"/><Relationship Id="rId4" Type="http://schemas.openxmlformats.org/officeDocument/2006/relationships/image" Target="../media/image69.png"/></Relationships>
</file>

<file path=ppt/slides/_rels/slide47.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image" Target="../media/image780.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2.xml.rels><?xml version="1.0" encoding="UTF-8" standalone="yes"?>
<Relationships xmlns="http://schemas.openxmlformats.org/package/2006/relationships"><Relationship Id="rId3" Type="http://schemas.openxmlformats.org/officeDocument/2006/relationships/image" Target="../media/image79.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0.emf"/><Relationship Id="rId4" Type="http://schemas.openxmlformats.org/officeDocument/2006/relationships/image" Target="../media/image82.png"/></Relationships>
</file>

<file path=ppt/slides/_rels/slide5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4.emf"/></Relationships>
</file>

<file path=ppt/slides/_rels/slide5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5.emf"/></Relationships>
</file>

<file path=ppt/slides/_rels/slide58.xml.rels><?xml version="1.0" encoding="UTF-8" standalone="yes"?>
<Relationships xmlns="http://schemas.openxmlformats.org/package/2006/relationships"><Relationship Id="rId8" Type="http://schemas.openxmlformats.org/officeDocument/2006/relationships/image" Target="../media/image85.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4.emf"/><Relationship Id="rId9" Type="http://schemas.openxmlformats.org/officeDocument/2006/relationships/image" Target="../media/image67.png"/></Relationships>
</file>

<file path=ppt/slides/_rels/slide59.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87.png"/><Relationship Id="rId4" Type="http://schemas.openxmlformats.org/officeDocument/2006/relationships/image" Target="../media/image93.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notesSlide" Target="../notesSlides/notesSlide29.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890746"/>
            <a:ext cx="4776309" cy="3600986"/>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várias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150429" cy="5032375"/>
          </a:xfrm>
        </p:spPr>
        <p:txBody>
          <a:bodyPr>
            <a:normAutofit/>
          </a:bodyPr>
          <a:lstStyle/>
          <a:p>
            <a:r>
              <a:rPr lang="pt-BR" b="1" dirty="0"/>
              <a:t>Redes neurais artificiais </a:t>
            </a:r>
            <a:r>
              <a:rPr lang="pt-BR" dirty="0"/>
              <a:t>são modelos matemáticos </a:t>
            </a:r>
            <a:r>
              <a:rPr lang="pt-BR" b="1" dirty="0"/>
              <a:t>inspirados </a:t>
            </a:r>
            <a:r>
              <a:rPr lang="pt-BR" dirty="0"/>
              <a:t>pelo funcionamento do cérebro.</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1" y="1825624"/>
            <a:ext cx="6422572" cy="5032375"/>
          </a:xfrm>
        </p:spPr>
        <p:txBody>
          <a:bodyPr>
            <a:normAutofit/>
          </a:bodyPr>
          <a:lstStyle/>
          <a:p>
            <a:r>
              <a:rPr lang="pt-BR" dirty="0" err="1"/>
              <a:t>RNAs</a:t>
            </a:r>
            <a:r>
              <a:rPr lang="pt-BR" dirty="0"/>
              <a:t> são representadas como sistemas de </a:t>
            </a:r>
            <a:r>
              <a:rPr lang="pt-BR" b="1" dirty="0"/>
              <a:t>neurônios (ou nós) interconectados</a:t>
            </a:r>
            <a:r>
              <a:rPr lang="pt-BR" dirty="0"/>
              <a:t>, organizados em </a:t>
            </a:r>
            <a:r>
              <a:rPr lang="pt-BR" b="1" dirty="0"/>
              <a:t>camadas</a:t>
            </a:r>
            <a:r>
              <a:rPr lang="pt-BR" dirty="0"/>
              <a:t>, que </a:t>
            </a:r>
            <a:r>
              <a:rPr lang="pt-BR" b="1" dirty="0"/>
              <a:t>aprendem</a:t>
            </a:r>
            <a:r>
              <a:rPr lang="pt-BR" dirty="0"/>
              <a:t>, a </a:t>
            </a:r>
            <a:r>
              <a:rPr lang="pt-BR" b="1" dirty="0"/>
              <a:t>partir de dados</a:t>
            </a:r>
            <a:r>
              <a:rPr lang="pt-BR" dirty="0"/>
              <a:t>, uma </a:t>
            </a:r>
            <a:r>
              <a:rPr lang="pt-BR" b="1" dirty="0"/>
              <a:t>função que relaciona entradas a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precisamos primeiro relembrar o principio básico de funcionamento um neurônio biológico 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r>
              <a:rPr lang="pt-BR" dirty="0"/>
              <a:t>os </a:t>
            </a:r>
            <a:r>
              <a:rPr lang="pt-BR" b="1" dirty="0"/>
              <a:t>dendritos</a:t>
            </a:r>
            <a:r>
              <a:rPr lang="pt-BR" dirty="0"/>
              <a:t>, o </a:t>
            </a:r>
            <a:r>
              <a:rPr lang="pt-BR" b="1" dirty="0"/>
              <a:t>axônio</a:t>
            </a:r>
            <a:r>
              <a:rPr lang="pt-BR" dirty="0"/>
              <a:t> e o </a:t>
            </a:r>
            <a:r>
              <a:rPr lang="pt-BR" b="1" dirty="0"/>
              <a:t>corpo celular</a:t>
            </a:r>
            <a:r>
              <a:rPr lang="pt-BR" dirty="0"/>
              <a:t>, também chamado de </a:t>
            </a:r>
            <a:r>
              <a:rPr lang="pt-BR" b="1" dirty="0">
                <a:solidFill>
                  <a:srgbClr val="00B050"/>
                </a:solidFill>
              </a:rPr>
              <a:t>soma</a:t>
            </a:r>
            <a:r>
              <a:rPr lang="pt-BR" dirty="0"/>
              <a:t>.</a:t>
            </a:r>
          </a:p>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71873" y="2058398"/>
            <a:ext cx="5701148" cy="3587746"/>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2750344" y="5352460"/>
            <a:ext cx="2334440" cy="1388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Exemplos: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a:t>
            </a:r>
            <a:r>
              <a:rPr lang="pt-BR" b="1" dirty="0"/>
              <a:t>vários mínimos locais, platôs, pontos de sela, etc.</a:t>
            </a:r>
          </a:p>
          <a:p>
            <a:r>
              <a:rPr lang="pt-BR" dirty="0"/>
              <a:t>Essas </a:t>
            </a:r>
            <a:r>
              <a:rPr lang="pt-BR" b="1" dirty="0">
                <a:solidFill>
                  <a:srgbClr val="00B050"/>
                </a:solidFill>
              </a:rPr>
              <a:t>irregularidades dificultam o aprendizado</a:t>
            </a:r>
            <a:r>
              <a:rPr lang="pt-BR" dirty="0"/>
              <a:t>.</a:t>
            </a:r>
          </a:p>
          <a:p>
            <a:endParaRPr lang="pt-BR" dirty="0"/>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8054464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565058" y="1825624"/>
            <a:ext cx="6626942" cy="5032375"/>
          </a:xfrm>
        </p:spPr>
        <p:txBody>
          <a:bodyPr>
            <a:normAutofit/>
          </a:bodyPr>
          <a:lstStyle/>
          <a:p>
            <a:r>
              <a:rPr lang="pt-BR" sz="2800" dirty="0"/>
              <a:t>Felizmente, em muitos casos, </a:t>
            </a:r>
            <a:r>
              <a:rPr lang="pt-BR" sz="2800" b="1" dirty="0">
                <a:solidFill>
                  <a:srgbClr val="7030A0"/>
                </a:solidFill>
              </a:rPr>
              <a:t>quase todos os mínimos locais têm valor de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 que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p:txBody>
          <a:bodyPr/>
          <a:lstStyle/>
          <a:p>
            <a:r>
              <a:rPr lang="pt-BR" dirty="0"/>
              <a:t>Como garantir que o erro encontrado é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5761703" y="1825624"/>
            <a:ext cx="6361471" cy="5032375"/>
          </a:xfrm>
        </p:spPr>
        <p:txBody>
          <a:bodyPr>
            <a:normAutofit/>
          </a:bodyPr>
          <a:lstStyle/>
          <a:p>
            <a:r>
              <a:rPr lang="pt-BR" dirty="0"/>
              <a:t>Avaliar o erro em conjuntos de validação e/ou teste.</a:t>
            </a:r>
          </a:p>
          <a:p>
            <a:pPr lvl="1"/>
            <a:r>
              <a:rPr lang="pt-BR" dirty="0"/>
              <a:t>O modelo é considerado bom se o </a:t>
            </a:r>
            <a:r>
              <a:rPr lang="pt-BR" b="1" dirty="0"/>
              <a:t>erro de validação/teste for baixo</a:t>
            </a:r>
            <a:r>
              <a:rPr lang="pt-BR" dirty="0"/>
              <a:t>.</a:t>
            </a:r>
          </a:p>
          <a:p>
            <a:r>
              <a:rPr lang="pt-BR" dirty="0"/>
              <a:t>Comparar o resultado de vários treinamentos com inicializações diferentes.</a:t>
            </a:r>
          </a:p>
          <a:p>
            <a:pPr lvl="1">
              <a:buFont typeface="Wingdings" panose="05000000000000000000" pitchFamily="2" charset="2"/>
              <a:buChar char="§"/>
            </a:pPr>
            <a:r>
              <a:rPr lang="pt-BR" dirty="0"/>
              <a:t>Se todos os treinamentos convergem para erros parecidos, então o mínimo encontrado provavelmente é bom.</a:t>
            </a:r>
          </a:p>
          <a:p>
            <a:pPr lvl="1">
              <a:buFont typeface="Wingdings" panose="05000000000000000000" pitchFamily="2" charset="2"/>
              <a:buChar char="§"/>
            </a:pPr>
            <a:r>
              <a:rPr lang="pt-BR" dirty="0"/>
              <a:t>Se os resultados variam muito, então o mínimo pode ser ruim.</a:t>
            </a:r>
          </a:p>
        </p:txBody>
      </p:sp>
      <p:pic>
        <p:nvPicPr>
          <p:cNvPr id="4" name="Picture 2" descr="challenges-1">
            <a:extLst>
              <a:ext uri="{FF2B5EF4-FFF2-40B4-BE49-F238E27FC236}">
                <a16:creationId xmlns:a16="http://schemas.microsoft.com/office/drawing/2014/main" id="{160E6BAE-8DAB-6EB8-29AB-0A7E9CB618F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32125" y="2556386"/>
            <a:ext cx="4585362" cy="30984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689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8853</TotalTime>
  <Words>9872</Words>
  <Application>Microsoft Office PowerPoint</Application>
  <PresentationFormat>Widescreen</PresentationFormat>
  <Paragraphs>797</Paragraphs>
  <Slides>65</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65</vt:i4>
      </vt:variant>
    </vt:vector>
  </HeadingPairs>
  <TitlesOfParts>
    <vt:vector size="74"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Superfícies de erro de redes neurais</vt:lpstr>
      <vt:lpstr>Superfícies de erro irregulares</vt:lpstr>
      <vt:lpstr>Como garantir que o erro encontrado é bom?</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PowerPoint Presentation</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1884</cp:revision>
  <dcterms:created xsi:type="dcterms:W3CDTF">2020-01-20T13:50:05Z</dcterms:created>
  <dcterms:modified xsi:type="dcterms:W3CDTF">2026-03-12T18:30:47Z</dcterms:modified>
</cp:coreProperties>
</file>