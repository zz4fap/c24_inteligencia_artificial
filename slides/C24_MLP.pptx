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417" r:id="rId3"/>
    <p:sldId id="531" r:id="rId4"/>
    <p:sldId id="444" r:id="rId5"/>
    <p:sldId id="545" r:id="rId6"/>
    <p:sldId id="544" r:id="rId7"/>
    <p:sldId id="446" r:id="rId8"/>
    <p:sldId id="445" r:id="rId9"/>
    <p:sldId id="451" r:id="rId10"/>
    <p:sldId id="454" r:id="rId11"/>
    <p:sldId id="453" r:id="rId12"/>
    <p:sldId id="532" r:id="rId13"/>
    <p:sldId id="455" r:id="rId14"/>
    <p:sldId id="448" r:id="rId15"/>
    <p:sldId id="534" r:id="rId16"/>
    <p:sldId id="533" r:id="rId17"/>
    <p:sldId id="546" r:id="rId18"/>
    <p:sldId id="512" r:id="rId19"/>
    <p:sldId id="458" r:id="rId20"/>
    <p:sldId id="535" r:id="rId21"/>
    <p:sldId id="547" r:id="rId22"/>
    <p:sldId id="431" r:id="rId23"/>
    <p:sldId id="409" r:id="rId24"/>
    <p:sldId id="438" r:id="rId25"/>
    <p:sldId id="413" r:id="rId26"/>
    <p:sldId id="433" r:id="rId27"/>
    <p:sldId id="548" r:id="rId28"/>
    <p:sldId id="293" r:id="rId29"/>
    <p:sldId id="306" r:id="rId3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5/03/2026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9646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Apesar das semelhanças conceituais e da inspiração biológica, é importante enfatizar que as redes neurais artificiais ainda são simplificações dos complexos processos que ocorrem no cérebro humano. 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891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67487-1901-FC19-E18A-6B8BC74C2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EF2DE8C-8042-9AE5-0A60-5066B8DA9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39F024-FF3D-430C-609E-F08AFCA32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C75515A-5743-58F6-6099-6E4678721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4505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9.jpe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asimovinstitute.org/neural-network-zoo/" TargetMode="Externa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7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</a:t>
            </a:r>
            <a:r>
              <a:rPr lang="pt-BR" sz="7200" b="1" i="1" dirty="0" err="1"/>
              <a:t>Multilayer</a:t>
            </a:r>
            <a:r>
              <a:rPr lang="pt-BR" sz="7200" b="1" i="1" dirty="0"/>
              <a:t>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Engloba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Deep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032697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1F1F1F"/>
                </a:solidFill>
                <a:latin typeface="Google Sans"/>
              </a:rPr>
              <a:t>São redes neurais com um grande número de camadas.</a:t>
            </a:r>
          </a:p>
          <a:p>
            <a:r>
              <a:rPr lang="pt-BR" dirty="0">
                <a:solidFill>
                  <a:srgbClr val="1F1F1F"/>
                </a:solidFill>
                <a:latin typeface="Google Sans"/>
              </a:rPr>
              <a:t>Por terem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capacidade de aprendizado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, em geral, precisam de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quantidade de dados 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para aprenderem (i.e., encontrar uma solução geral).</a:t>
            </a:r>
            <a:endParaRPr lang="pt-BR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213EC6B-9964-F0AD-F41B-220541F20C22}"/>
              </a:ext>
            </a:extLst>
          </p:cNvPr>
          <p:cNvGrpSpPr/>
          <p:nvPr/>
        </p:nvGrpSpPr>
        <p:grpSpPr>
          <a:xfrm>
            <a:off x="2440839" y="377734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0947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0" y="1825624"/>
            <a:ext cx="5233640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 exemplo muito comum de uso de redes neurais é a </a:t>
            </a:r>
            <a:r>
              <a:rPr lang="pt-BR" b="1" dirty="0"/>
              <a:t>classificação de imagens</a:t>
            </a:r>
            <a:r>
              <a:rPr lang="pt-BR" dirty="0"/>
              <a:t>.</a:t>
            </a:r>
          </a:p>
          <a:p>
            <a:r>
              <a:rPr lang="pt-BR" dirty="0"/>
              <a:t>Se tivermos uma base de dados com imagens de gatos e cachorros, podemos </a:t>
            </a:r>
            <a:r>
              <a:rPr lang="pt-BR" b="1" i="1" dirty="0"/>
              <a:t>treinar uma rede neural para identificá-los </a:t>
            </a:r>
            <a:r>
              <a:rPr lang="pt-BR" dirty="0"/>
              <a:t>em imagens.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é obter um </a:t>
            </a:r>
            <a:r>
              <a:rPr lang="pt-BR" b="1" i="1" dirty="0">
                <a:solidFill>
                  <a:srgbClr val="00B050"/>
                </a:solidFill>
              </a:rPr>
              <a:t>modelo que generalize</a:t>
            </a:r>
            <a:r>
              <a:rPr lang="pt-BR" dirty="0"/>
              <a:t>, ou seja, que identifique gatos ou cachorros não vistos durante o treinamento.</a:t>
            </a:r>
          </a:p>
        </p:txBody>
      </p:sp>
      <p:pic>
        <p:nvPicPr>
          <p:cNvPr id="2050" name="Picture 2" descr="Simple Image Classification using Convolutional Neural Network — Deep  Learning in python. | by Venkatesh Tata | Becoming Human: Artificial  Intelligence Magazine">
            <a:extLst>
              <a:ext uri="{FF2B5EF4-FFF2-40B4-BE49-F238E27FC236}">
                <a16:creationId xmlns:a16="http://schemas.microsoft.com/office/drawing/2014/main" id="{205C3FB7-7E39-8328-E951-DF67D1DBEB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18" b="9513"/>
          <a:stretch/>
        </p:blipFill>
        <p:spPr bwMode="auto">
          <a:xfrm>
            <a:off x="100360" y="2352104"/>
            <a:ext cx="6757640" cy="2944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DEF13FF9-DC40-F925-445A-14398086AEE7}"/>
              </a:ext>
            </a:extLst>
          </p:cNvPr>
          <p:cNvSpPr txBox="1"/>
          <p:nvPr/>
        </p:nvSpPr>
        <p:spPr>
          <a:xfrm>
            <a:off x="2790263" y="5065996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Hidden </a:t>
            </a:r>
            <a:r>
              <a:rPr lang="pt-BR" sz="1200" dirty="0" err="1"/>
              <a:t>Layer</a:t>
            </a:r>
            <a:r>
              <a:rPr lang="pt-BR" sz="1200" dirty="0"/>
              <a:t> 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892AD7D-C8E2-04F4-9936-06ECADDB4A74}"/>
              </a:ext>
            </a:extLst>
          </p:cNvPr>
          <p:cNvSpPr txBox="1"/>
          <p:nvPr/>
        </p:nvSpPr>
        <p:spPr>
          <a:xfrm>
            <a:off x="3671210" y="4973663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Hidden </a:t>
            </a:r>
            <a:r>
              <a:rPr lang="pt-BR" sz="1200" dirty="0" err="1"/>
              <a:t>Layer</a:t>
            </a:r>
            <a:r>
              <a:rPr lang="pt-BR" sz="1200" dirty="0"/>
              <a:t> 2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DC6DB16-99B6-62DE-1D33-337151D4C4B3}"/>
              </a:ext>
            </a:extLst>
          </p:cNvPr>
          <p:cNvSpPr txBox="1"/>
          <p:nvPr/>
        </p:nvSpPr>
        <p:spPr>
          <a:xfrm>
            <a:off x="4497658" y="4835163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Hidden </a:t>
            </a:r>
            <a:r>
              <a:rPr lang="pt-BR" sz="1200" dirty="0" err="1"/>
              <a:t>Layer</a:t>
            </a:r>
            <a:r>
              <a:rPr lang="pt-BR" sz="1200" dirty="0"/>
              <a:t> 3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9811440-9516-7FE3-5696-94128711B6B7}"/>
              </a:ext>
            </a:extLst>
          </p:cNvPr>
          <p:cNvSpPr txBox="1"/>
          <p:nvPr/>
        </p:nvSpPr>
        <p:spPr>
          <a:xfrm>
            <a:off x="5097607" y="4460229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Output </a:t>
            </a:r>
            <a:r>
              <a:rPr lang="pt-BR" sz="1200" dirty="0" err="1"/>
              <a:t>Layer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25662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:a16="http://schemas.microsoft.com/office/drawing/2014/main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FA6979-106A-2CE5-04F2-4C77872FA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638BCF-E9BA-6EFE-BA14-BFF2AEB9C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9785" y="1825624"/>
            <a:ext cx="6191019" cy="5032375"/>
          </a:xfrm>
        </p:spPr>
        <p:txBody>
          <a:bodyPr>
            <a:normAutofit/>
          </a:bodyPr>
          <a:lstStyle/>
          <a:p>
            <a:r>
              <a:rPr lang="pt-BR" dirty="0"/>
              <a:t>É uma </a:t>
            </a:r>
            <a:r>
              <a:rPr lang="pt-BR" b="1" dirty="0"/>
              <a:t>conexão de camadas de neurônios artificiais</a:t>
            </a:r>
            <a:r>
              <a:rPr lang="pt-BR" dirty="0"/>
              <a:t>, ou também chamados de nós.</a:t>
            </a:r>
          </a:p>
          <a:p>
            <a:r>
              <a:rPr lang="pt-BR" dirty="0"/>
              <a:t>Os </a:t>
            </a:r>
            <a:r>
              <a:rPr lang="pt-BR" b="1" dirty="0"/>
              <a:t>neurônios artificiais </a:t>
            </a:r>
            <a:r>
              <a:rPr lang="pt-BR" dirty="0"/>
              <a:t>são </a:t>
            </a:r>
            <a:r>
              <a:rPr lang="pt-BR" b="1" dirty="0">
                <a:solidFill>
                  <a:srgbClr val="7030A0"/>
                </a:solidFill>
              </a:rPr>
              <a:t>modelos matemáticos</a:t>
            </a:r>
            <a:r>
              <a:rPr lang="pt-BR" b="1" dirty="0"/>
              <a:t> </a:t>
            </a:r>
            <a:r>
              <a:rPr lang="pt-BR" b="1" dirty="0">
                <a:solidFill>
                  <a:srgbClr val="00B050"/>
                </a:solidFill>
              </a:rPr>
              <a:t>inspirados</a:t>
            </a:r>
            <a:r>
              <a:rPr lang="pt-BR" b="1" dirty="0"/>
              <a:t> no funcionamento de um </a:t>
            </a:r>
            <a:r>
              <a:rPr lang="pt-BR" b="1" dirty="0">
                <a:solidFill>
                  <a:schemeClr val="accent2"/>
                </a:solidFill>
              </a:rPr>
              <a:t>neurônio biológico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rgbClr val="0070C0"/>
                </a:solidFill>
              </a:rPr>
              <a:t>neurônios</a:t>
            </a:r>
            <a:r>
              <a:rPr lang="pt-BR" dirty="0"/>
              <a:t> das diferentes camadas </a:t>
            </a:r>
            <a:r>
              <a:rPr lang="pt-BR" b="1" dirty="0">
                <a:solidFill>
                  <a:srgbClr val="0070C0"/>
                </a:solidFill>
              </a:rPr>
              <a:t>são conectados através dos </a:t>
            </a:r>
            <a:r>
              <a:rPr lang="pt-BR" b="1" dirty="0">
                <a:solidFill>
                  <a:srgbClr val="00B050"/>
                </a:solidFill>
              </a:rPr>
              <a:t>pesos sinápticos</a:t>
            </a:r>
            <a:r>
              <a:rPr lang="pt-BR" dirty="0"/>
              <a:t>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</p:txBody>
      </p:sp>
      <p:pic>
        <p:nvPicPr>
          <p:cNvPr id="35" name="Imagem 34">
            <a:extLst>
              <a:ext uri="{FF2B5EF4-FFF2-40B4-BE49-F238E27FC236}">
                <a16:creationId xmlns:a16="http://schemas.microsoft.com/office/drawing/2014/main" id="{D2FD0ED7-F258-7A91-D80A-BD9EE96E98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533" y="1577612"/>
            <a:ext cx="4383051" cy="496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8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:a16="http://schemas.microsoft.com/office/drawing/2014/main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:a16="http://schemas.microsoft.com/office/drawing/2014/main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i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i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i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i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i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624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</a:t>
                </a:r>
                <a:r>
                  <a:rPr lang="pt-BR" dirty="0" err="1">
                    <a:solidFill>
                      <a:schemeClr val="tx1"/>
                    </a:solidFill>
                  </a:rPr>
                  <a:t>relu</a:t>
                </a:r>
                <a:r>
                  <a:rPr lang="pt-BR" dirty="0">
                    <a:solidFill>
                      <a:schemeClr val="tx1"/>
                    </a:solidFill>
                  </a:rPr>
                  <a:t>, linear, etc.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r="-99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:a16="http://schemas.microsoft.com/office/drawing/2014/main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:a16="http://schemas.microsoft.com/office/drawing/2014/main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:a16="http://schemas.microsoft.com/office/drawing/2014/main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:a16="http://schemas.microsoft.com/office/drawing/2014/main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7D516-ABB5-8779-587F-E082349A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18A237-9F4A-D40C-1CF3-11A654651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E3133F-D9B2-C0B6-8B1F-5679CD337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Se os atributos são os pixels das imagens e gatos e cachorros são representados por saídas iguais a 1 e 0, respectivamente, quais devem ser os valores dos pesos para classificar corretamente as imagens? </a:t>
            </a:r>
            <a:endParaRPr lang="pt-BR" b="0" i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4C29AC4-0F3F-B4A7-185C-ABAD3AC72B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18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A30EE-C969-E0F8-E390-2ED10A961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D30A3-4F9A-4EF9-AB1A-A93331227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382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Arquiteturas de 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50696" cy="1325563"/>
          </a:xfrm>
        </p:spPr>
        <p:txBody>
          <a:bodyPr/>
          <a:lstStyle/>
          <a:p>
            <a:r>
              <a:rPr lang="pt-BR" dirty="0"/>
              <a:t>Diferentes </a:t>
            </a:r>
            <a:r>
              <a:rPr lang="pt-BR" b="1" i="1" dirty="0"/>
              <a:t>tipos de neurônios</a:t>
            </a:r>
            <a:r>
              <a:rPr lang="pt-BR" dirty="0"/>
              <a:t>, </a:t>
            </a:r>
            <a:r>
              <a:rPr lang="pt-BR" b="1" i="1" dirty="0"/>
              <a:t>quantidades de camadas</a:t>
            </a:r>
            <a:r>
              <a:rPr lang="pt-BR" dirty="0"/>
              <a:t> e de </a:t>
            </a:r>
            <a:r>
              <a:rPr lang="pt-BR" b="1" i="1" dirty="0"/>
              <a:t>neurônios</a:t>
            </a:r>
            <a:r>
              <a:rPr lang="pt-BR" dirty="0"/>
              <a:t> em cada uma delas e a </a:t>
            </a:r>
            <a:r>
              <a:rPr lang="pt-BR" b="1" i="1" dirty="0"/>
              <a:t>forma como eles são conectados</a:t>
            </a:r>
            <a:r>
              <a:rPr lang="pt-BR" dirty="0"/>
              <a:t>, resultam em </a:t>
            </a:r>
            <a:r>
              <a:rPr lang="pt-BR" b="1" i="1" dirty="0">
                <a:solidFill>
                  <a:srgbClr val="00B050"/>
                </a:solidFill>
              </a:rPr>
              <a:t>arquiteturas</a:t>
            </a:r>
            <a:r>
              <a:rPr lang="pt-BR" dirty="0"/>
              <a:t> diferentes.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BA4082F-6B1A-1767-2E14-72793ACF4E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" t="1470" r="1666" b="52098"/>
          <a:stretch/>
        </p:blipFill>
        <p:spPr bwMode="auto">
          <a:xfrm>
            <a:off x="1712569" y="3174338"/>
            <a:ext cx="4226812" cy="3473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5285A842-680B-2B65-59C2-A2AE7F8830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8" t="49167" r="1974" b="1945"/>
          <a:stretch/>
        </p:blipFill>
        <p:spPr bwMode="auto">
          <a:xfrm>
            <a:off x="6459293" y="3174338"/>
            <a:ext cx="4020138" cy="3473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025529A5-E5B8-9923-39D6-E7833647F015}"/>
              </a:ext>
            </a:extLst>
          </p:cNvPr>
          <p:cNvSpPr txBox="1"/>
          <p:nvPr/>
        </p:nvSpPr>
        <p:spPr>
          <a:xfrm>
            <a:off x="0" y="6596390"/>
            <a:ext cx="41205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050" dirty="0"/>
              <a:t>Fonte: </a:t>
            </a:r>
            <a:r>
              <a:rPr lang="pt-BR" sz="1050" dirty="0">
                <a:hlinkClick r:id="rId5"/>
              </a:rPr>
              <a:t>https://www.asimovinstitute.org/neural-network-zoo/</a:t>
            </a:r>
            <a:endParaRPr lang="pt-BR" sz="1050" dirty="0"/>
          </a:p>
        </p:txBody>
      </p: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E677E9-E8F3-6C52-3B30-5C445D679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861" y="98422"/>
            <a:ext cx="10515600" cy="1325563"/>
          </a:xfrm>
        </p:spPr>
        <p:txBody>
          <a:bodyPr/>
          <a:lstStyle/>
          <a:p>
            <a:r>
              <a:rPr lang="pt-BR" dirty="0"/>
              <a:t>Arquiteturas de redes neurais artificiais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D2E43D7-AEA5-F110-4A94-2ABF9F94D0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" t="1470" r="1666" b="52098"/>
          <a:stretch/>
        </p:blipFill>
        <p:spPr bwMode="auto">
          <a:xfrm>
            <a:off x="131777" y="1416394"/>
            <a:ext cx="6268716" cy="5151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51253F61-FE15-D675-8A52-7B573E07647B}"/>
              </a:ext>
            </a:extLst>
          </p:cNvPr>
          <p:cNvSpPr/>
          <p:nvPr/>
        </p:nvSpPr>
        <p:spPr>
          <a:xfrm>
            <a:off x="5191125" y="1700211"/>
            <a:ext cx="1209368" cy="1243014"/>
          </a:xfrm>
          <a:prstGeom prst="roundRect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600" b="1" dirty="0"/>
              <a:t>DFF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43C671D-91F4-AEC8-FD4F-06E73D665DEB}"/>
              </a:ext>
            </a:extLst>
          </p:cNvPr>
          <p:cNvSpPr txBox="1"/>
          <p:nvPr/>
        </p:nvSpPr>
        <p:spPr>
          <a:xfrm>
            <a:off x="0" y="6596390"/>
            <a:ext cx="316199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050" dirty="0"/>
              <a:t>https://www.asimovinstitute.org/neural-network-zoo/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811CC485-7A65-DDBC-CD0F-35D7758C64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9875" y="1706579"/>
            <a:ext cx="5420991" cy="5151421"/>
          </a:xfrm>
        </p:spPr>
        <p:txBody>
          <a:bodyPr>
            <a:normAutofit/>
          </a:bodyPr>
          <a:lstStyle/>
          <a:p>
            <a:r>
              <a:rPr lang="pt-BR" b="1" dirty="0" err="1"/>
              <a:t>Deep</a:t>
            </a:r>
            <a:r>
              <a:rPr lang="pt-BR" b="1" dirty="0"/>
              <a:t> Feed </a:t>
            </a:r>
            <a:r>
              <a:rPr lang="pt-BR" b="1" dirty="0" err="1"/>
              <a:t>Forward</a:t>
            </a:r>
            <a:r>
              <a:rPr lang="pt-BR" b="1" dirty="0"/>
              <a:t> (DFF) networks</a:t>
            </a:r>
            <a:r>
              <a:rPr lang="pt-BR" dirty="0"/>
              <a:t>: também chamadas de </a:t>
            </a:r>
            <a:r>
              <a:rPr lang="pt-BR" i="1" dirty="0" err="1"/>
              <a:t>dense</a:t>
            </a:r>
            <a:r>
              <a:rPr lang="pt-BR" i="1" dirty="0"/>
              <a:t> neural networks </a:t>
            </a:r>
            <a:r>
              <a:rPr lang="pt-BR" dirty="0"/>
              <a:t>(</a:t>
            </a:r>
            <a:r>
              <a:rPr lang="pt-BR" dirty="0" err="1"/>
              <a:t>DNNs</a:t>
            </a:r>
            <a:r>
              <a:rPr lang="pt-BR" dirty="0"/>
              <a:t>).</a:t>
            </a:r>
          </a:p>
          <a:p>
            <a:r>
              <a:rPr lang="pt-BR" dirty="0"/>
              <a:t>São redes </a:t>
            </a:r>
            <a:r>
              <a:rPr lang="pt-BR" b="1" i="1" dirty="0"/>
              <a:t>densamente</a:t>
            </a:r>
            <a:r>
              <a:rPr lang="pt-BR" dirty="0"/>
              <a:t> conectadas: </a:t>
            </a:r>
            <a:r>
              <a:rPr lang="pt-BR" b="1" i="1" dirty="0">
                <a:solidFill>
                  <a:srgbClr val="00B050"/>
                </a:solidFill>
              </a:rPr>
              <a:t>todas as saídas de uma camada se conectam a todos os nós da próxima</a:t>
            </a:r>
            <a:r>
              <a:rPr lang="pt-BR" dirty="0"/>
              <a:t>.</a:t>
            </a:r>
          </a:p>
          <a:p>
            <a:r>
              <a:rPr lang="pt-BR" dirty="0"/>
              <a:t>Para serem consideradas profundas (i.e., </a:t>
            </a:r>
            <a:r>
              <a:rPr lang="pt-BR" b="1" i="1" dirty="0" err="1"/>
              <a:t>deep</a:t>
            </a:r>
            <a:r>
              <a:rPr lang="pt-BR" dirty="0"/>
              <a:t>), devem ter 2 ou mais camadas ocultas.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B9D9639-F477-4342-5FAD-CB7A69423116}"/>
              </a:ext>
            </a:extLst>
          </p:cNvPr>
          <p:cNvSpPr txBox="1"/>
          <p:nvPr/>
        </p:nvSpPr>
        <p:spPr>
          <a:xfrm>
            <a:off x="6319378" y="1564013"/>
            <a:ext cx="342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*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DED775B-4386-BF2D-7F1A-8EEC45D8E14F}"/>
              </a:ext>
            </a:extLst>
          </p:cNvPr>
          <p:cNvSpPr txBox="1"/>
          <p:nvPr/>
        </p:nvSpPr>
        <p:spPr>
          <a:xfrm>
            <a:off x="9631348" y="6567815"/>
            <a:ext cx="2628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solidFill>
                  <a:srgbClr val="FF0000"/>
                </a:solidFill>
              </a:rPr>
              <a:t>* </a:t>
            </a:r>
            <a:r>
              <a:rPr lang="pt-BR" sz="1100" dirty="0"/>
              <a:t>Modelo que será muito usado no curso.</a:t>
            </a:r>
          </a:p>
        </p:txBody>
      </p:sp>
    </p:spTree>
    <p:extLst>
      <p:ext uri="{BB962C8B-B14F-4D97-AF65-F5344CB8AC3E}">
        <p14:creationId xmlns:p14="http://schemas.microsoft.com/office/powerpoint/2010/main" val="2967633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2B8C-A891-CCA3-9E83-17526C25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82D2F9-FB2E-C3E6-8ABF-82FBE1263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861" y="98422"/>
            <a:ext cx="10515600" cy="1325563"/>
          </a:xfrm>
        </p:spPr>
        <p:txBody>
          <a:bodyPr/>
          <a:lstStyle/>
          <a:p>
            <a:r>
              <a:rPr lang="pt-BR" dirty="0"/>
              <a:t>Arquiteturas de redes neurais artificiais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42D517B-71A6-FF47-9331-EDFDB3D6A1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" t="1470" r="1666" b="52098"/>
          <a:stretch/>
        </p:blipFill>
        <p:spPr bwMode="auto">
          <a:xfrm>
            <a:off x="131777" y="1416394"/>
            <a:ext cx="6268716" cy="5151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1BBA7FB-F5D4-137F-2994-99F22668CDC1}"/>
              </a:ext>
            </a:extLst>
          </p:cNvPr>
          <p:cNvSpPr/>
          <p:nvPr/>
        </p:nvSpPr>
        <p:spPr>
          <a:xfrm>
            <a:off x="5191125" y="1700211"/>
            <a:ext cx="1209368" cy="1243014"/>
          </a:xfrm>
          <a:prstGeom prst="roundRect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600" b="1" dirty="0"/>
              <a:t>DFF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54C1391-F043-960E-88F9-3A84BFBA2C99}"/>
              </a:ext>
            </a:extLst>
          </p:cNvPr>
          <p:cNvSpPr txBox="1"/>
          <p:nvPr/>
        </p:nvSpPr>
        <p:spPr>
          <a:xfrm>
            <a:off x="0" y="6596390"/>
            <a:ext cx="316199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050" dirty="0"/>
              <a:t>https://www.asimovinstitute.org/neural-network-zoo/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0BC766B3-21C2-EF3B-8A8E-C3E6FC81E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9875" y="1706579"/>
            <a:ext cx="5420991" cy="5151421"/>
          </a:xfrm>
        </p:spPr>
        <p:txBody>
          <a:bodyPr>
            <a:normAutofit/>
          </a:bodyPr>
          <a:lstStyle/>
          <a:p>
            <a:r>
              <a:rPr lang="pt-BR" dirty="0"/>
              <a:t>O termo </a:t>
            </a:r>
            <a:r>
              <a:rPr lang="pt-BR" b="1" i="1" dirty="0"/>
              <a:t>feed </a:t>
            </a:r>
            <a:r>
              <a:rPr lang="pt-BR" b="1" i="1" dirty="0" err="1"/>
              <a:t>forward</a:t>
            </a:r>
            <a:r>
              <a:rPr lang="pt-BR" b="1" i="1" dirty="0"/>
              <a:t> </a:t>
            </a:r>
            <a:r>
              <a:rPr lang="pt-BR" dirty="0"/>
              <a:t>vem do fato de que as conexões são sempre no sentido da </a:t>
            </a:r>
            <a:r>
              <a:rPr lang="pt-BR" b="1" i="1" dirty="0"/>
              <a:t>entrada para a saída</a:t>
            </a:r>
            <a:r>
              <a:rPr lang="pt-BR" dirty="0"/>
              <a:t>, ou seja, </a:t>
            </a:r>
            <a:r>
              <a:rPr lang="pt-BR" b="1" i="1" dirty="0">
                <a:solidFill>
                  <a:srgbClr val="7030A0"/>
                </a:solidFill>
              </a:rPr>
              <a:t>não há realimentação</a:t>
            </a:r>
            <a:r>
              <a:rPr lang="pt-BR" dirty="0"/>
              <a:t>.</a:t>
            </a:r>
          </a:p>
          <a:p>
            <a:r>
              <a:rPr lang="pt-BR" dirty="0"/>
              <a:t>São usadas em tarefas de </a:t>
            </a:r>
            <a:r>
              <a:rPr lang="pt-BR" b="1" i="1" dirty="0">
                <a:solidFill>
                  <a:srgbClr val="00B050"/>
                </a:solidFill>
              </a:rPr>
              <a:t>aproximação de funções </a:t>
            </a:r>
            <a:r>
              <a:rPr lang="pt-BR" dirty="0"/>
              <a:t>(i.e., regressão e classificação).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E109180-18F6-0C9D-A029-399FC39A52B2}"/>
              </a:ext>
            </a:extLst>
          </p:cNvPr>
          <p:cNvSpPr txBox="1"/>
          <p:nvPr/>
        </p:nvSpPr>
        <p:spPr>
          <a:xfrm>
            <a:off x="6319378" y="1564013"/>
            <a:ext cx="342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*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70D87F9-4723-B306-9210-25E8217B72C2}"/>
              </a:ext>
            </a:extLst>
          </p:cNvPr>
          <p:cNvSpPr txBox="1"/>
          <p:nvPr/>
        </p:nvSpPr>
        <p:spPr>
          <a:xfrm>
            <a:off x="9631348" y="6567815"/>
            <a:ext cx="2628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solidFill>
                  <a:srgbClr val="FF0000"/>
                </a:solidFill>
              </a:rPr>
              <a:t>* </a:t>
            </a:r>
            <a:r>
              <a:rPr lang="pt-BR" sz="1100" dirty="0"/>
              <a:t>Modelo que será muito usado no curso.</a:t>
            </a:r>
          </a:p>
        </p:txBody>
      </p:sp>
    </p:spTree>
    <p:extLst>
      <p:ext uri="{BB962C8B-B14F-4D97-AF65-F5344CB8AC3E}">
        <p14:creationId xmlns:p14="http://schemas.microsoft.com/office/powerpoint/2010/main" val="8887547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modelo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independentemente se estamos usando </a:t>
                </a:r>
                <a:r>
                  <a:rPr lang="pt-BR" b="1" i="1" dirty="0"/>
                  <a:t>hiperplanos</a:t>
                </a:r>
                <a:r>
                  <a:rPr lang="pt-BR" dirty="0"/>
                  <a:t>, </a:t>
                </a:r>
                <a:r>
                  <a:rPr lang="pt-BR" b="1" i="1" dirty="0"/>
                  <a:t>polinômios</a:t>
                </a:r>
                <a:r>
                  <a:rPr lang="pt-BR" dirty="0"/>
                  <a:t> ou </a:t>
                </a:r>
                <a:r>
                  <a:rPr lang="pt-BR" b="1" i="1" dirty="0"/>
                  <a:t>redes neurais</a:t>
                </a:r>
                <a:r>
                  <a:rPr lang="pt-BR" dirty="0"/>
                  <a:t>, em todos os casos temos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</a:t>
                </a:r>
                <a:r>
                  <a:rPr lang="pt-BR" dirty="0"/>
                  <a:t> (i.e.,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</a:t>
                </a:r>
                <a:r>
                  <a:rPr lang="pt-BR" dirty="0"/>
                  <a:t>) e o 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 é encontrar seus pesos de forma que o erro seja minimizado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queremos encontrar os pesos que façam com que a função mapeie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com o menor erro possível.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  <a:blipFill>
                <a:blip r:embed="rId2"/>
                <a:stretch>
                  <a:fillRect l="-1980" t="-1937" r="-3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/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blipFill>
                <a:blip r:embed="rId3"/>
                <a:stretch>
                  <a:fillRect t="-6154" b="-76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/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Sup>
                        <m:sSub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blipFill>
                <a:blip r:embed="rId4"/>
                <a:stretch>
                  <a:fillRect t="-4478" b="-74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D15AE257-D58E-7339-C43F-9A8A9A80E6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187" y="3760093"/>
            <a:ext cx="3549569" cy="309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132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0" y="1825624"/>
            <a:ext cx="5704114" cy="5032371"/>
          </a:xfrm>
        </p:spPr>
        <p:txBody>
          <a:bodyPr/>
          <a:lstStyle/>
          <a:p>
            <a:r>
              <a:rPr lang="pt-BR" dirty="0"/>
              <a:t>Na rede neural ao lado, cada um dos círculos é um neurônio ou nó.</a:t>
            </a:r>
          </a:p>
        </p:txBody>
      </p:sp>
      <p:grpSp>
        <p:nvGrpSpPr>
          <p:cNvPr id="77" name="Agrupar 76">
            <a:extLst>
              <a:ext uri="{FF2B5EF4-FFF2-40B4-BE49-F238E27FC236}">
                <a16:creationId xmlns:a16="http://schemas.microsoft.com/office/drawing/2014/main" id="{F8A379B1-E489-BBAB-ABBA-4E2CADA1B609}"/>
              </a:ext>
            </a:extLst>
          </p:cNvPr>
          <p:cNvGrpSpPr/>
          <p:nvPr/>
        </p:nvGrpSpPr>
        <p:grpSpPr>
          <a:xfrm>
            <a:off x="1262741" y="2275505"/>
            <a:ext cx="3086099" cy="3058495"/>
            <a:chOff x="598713" y="2308162"/>
            <a:chExt cx="3086099" cy="3058495"/>
          </a:xfrm>
        </p:grpSpPr>
        <p:sp>
          <p:nvSpPr>
            <p:cNvPr id="78" name="Elipse 77">
              <a:extLst>
                <a:ext uri="{FF2B5EF4-FFF2-40B4-BE49-F238E27FC236}">
                  <a16:creationId xmlns:a16="http://schemas.microsoft.com/office/drawing/2014/main" id="{3F711C16-999C-441C-29DF-DF5D5C235C30}"/>
                </a:ext>
              </a:extLst>
            </p:cNvPr>
            <p:cNvSpPr/>
            <p:nvPr/>
          </p:nvSpPr>
          <p:spPr>
            <a:xfrm>
              <a:off x="1828800" y="264522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9" name="Elipse 78">
              <a:extLst>
                <a:ext uri="{FF2B5EF4-FFF2-40B4-BE49-F238E27FC236}">
                  <a16:creationId xmlns:a16="http://schemas.microsoft.com/office/drawing/2014/main" id="{DAD915BA-2D78-7CBE-5751-0196BDC99FF0}"/>
                </a:ext>
              </a:extLst>
            </p:cNvPr>
            <p:cNvSpPr/>
            <p:nvPr/>
          </p:nvSpPr>
          <p:spPr>
            <a:xfrm>
              <a:off x="1828799" y="336368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0" name="Elipse 79">
              <a:extLst>
                <a:ext uri="{FF2B5EF4-FFF2-40B4-BE49-F238E27FC236}">
                  <a16:creationId xmlns:a16="http://schemas.microsoft.com/office/drawing/2014/main" id="{051DA8EE-4CB1-4D59-F041-CC7FF7A0518E}"/>
                </a:ext>
              </a:extLst>
            </p:cNvPr>
            <p:cNvSpPr/>
            <p:nvPr/>
          </p:nvSpPr>
          <p:spPr>
            <a:xfrm>
              <a:off x="1828799" y="408214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1" name="Elipse 80">
              <a:extLst>
                <a:ext uri="{FF2B5EF4-FFF2-40B4-BE49-F238E27FC236}">
                  <a16:creationId xmlns:a16="http://schemas.microsoft.com/office/drawing/2014/main" id="{19A74916-C423-EB59-EEBB-40E2C027DE0D}"/>
                </a:ext>
              </a:extLst>
            </p:cNvPr>
            <p:cNvSpPr/>
            <p:nvPr/>
          </p:nvSpPr>
          <p:spPr>
            <a:xfrm>
              <a:off x="1828799" y="4800600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2" name="Elipse 81">
              <a:extLst>
                <a:ext uri="{FF2B5EF4-FFF2-40B4-BE49-F238E27FC236}">
                  <a16:creationId xmlns:a16="http://schemas.microsoft.com/office/drawing/2014/main" id="{E3A39CB9-6045-6283-87A1-A27DB4DD6B0A}"/>
                </a:ext>
              </a:extLst>
            </p:cNvPr>
            <p:cNvSpPr/>
            <p:nvPr/>
          </p:nvSpPr>
          <p:spPr>
            <a:xfrm>
              <a:off x="2786742" y="336368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3" name="Elipse 82">
              <a:extLst>
                <a:ext uri="{FF2B5EF4-FFF2-40B4-BE49-F238E27FC236}">
                  <a16:creationId xmlns:a16="http://schemas.microsoft.com/office/drawing/2014/main" id="{A63130C6-D637-BB5C-C4BF-D644C40FA95A}"/>
                </a:ext>
              </a:extLst>
            </p:cNvPr>
            <p:cNvSpPr/>
            <p:nvPr/>
          </p:nvSpPr>
          <p:spPr>
            <a:xfrm>
              <a:off x="2786741" y="4082142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4" name="Elipse 83">
              <a:extLst>
                <a:ext uri="{FF2B5EF4-FFF2-40B4-BE49-F238E27FC236}">
                  <a16:creationId xmlns:a16="http://schemas.microsoft.com/office/drawing/2014/main" id="{AEB215F3-6528-4707-50FC-34BF384575D9}"/>
                </a:ext>
              </a:extLst>
            </p:cNvPr>
            <p:cNvSpPr/>
            <p:nvPr/>
          </p:nvSpPr>
          <p:spPr>
            <a:xfrm>
              <a:off x="870856" y="296261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5" name="Elipse 84">
              <a:extLst>
                <a:ext uri="{FF2B5EF4-FFF2-40B4-BE49-F238E27FC236}">
                  <a16:creationId xmlns:a16="http://schemas.microsoft.com/office/drawing/2014/main" id="{D872480E-CA74-453B-B356-1CB8A7F6C1F7}"/>
                </a:ext>
              </a:extLst>
            </p:cNvPr>
            <p:cNvSpPr/>
            <p:nvPr/>
          </p:nvSpPr>
          <p:spPr>
            <a:xfrm>
              <a:off x="870856" y="371826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6" name="Elipse 85">
              <a:extLst>
                <a:ext uri="{FF2B5EF4-FFF2-40B4-BE49-F238E27FC236}">
                  <a16:creationId xmlns:a16="http://schemas.microsoft.com/office/drawing/2014/main" id="{C023918A-1BF1-E544-F30A-ADDEA61A6A9C}"/>
                </a:ext>
              </a:extLst>
            </p:cNvPr>
            <p:cNvSpPr/>
            <p:nvPr/>
          </p:nvSpPr>
          <p:spPr>
            <a:xfrm>
              <a:off x="870856" y="447391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87" name="Conector de Seta Reta 86">
              <a:extLst>
                <a:ext uri="{FF2B5EF4-FFF2-40B4-BE49-F238E27FC236}">
                  <a16:creationId xmlns:a16="http://schemas.microsoft.com/office/drawing/2014/main" id="{4B0761D3-1D33-4C45-117F-C6828FCEAE1C}"/>
                </a:ext>
              </a:extLst>
            </p:cNvPr>
            <p:cNvCxnSpPr>
              <a:stCxn id="84" idx="6"/>
              <a:endCxn id="78" idx="2"/>
            </p:cNvCxnSpPr>
            <p:nvPr/>
          </p:nvCxnSpPr>
          <p:spPr>
            <a:xfrm flipV="1">
              <a:off x="1436913" y="2928258"/>
              <a:ext cx="391887" cy="3173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87">
              <a:extLst>
                <a:ext uri="{FF2B5EF4-FFF2-40B4-BE49-F238E27FC236}">
                  <a16:creationId xmlns:a16="http://schemas.microsoft.com/office/drawing/2014/main" id="{10E618C7-0E69-7F34-602A-77456DA73C9B}"/>
                </a:ext>
              </a:extLst>
            </p:cNvPr>
            <p:cNvCxnSpPr>
              <a:stCxn id="84" idx="6"/>
              <a:endCxn id="79" idx="2"/>
            </p:cNvCxnSpPr>
            <p:nvPr/>
          </p:nvCxnSpPr>
          <p:spPr>
            <a:xfrm>
              <a:off x="1436913" y="3245644"/>
              <a:ext cx="391886" cy="4010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de Seta Reta 88">
              <a:extLst>
                <a:ext uri="{FF2B5EF4-FFF2-40B4-BE49-F238E27FC236}">
                  <a16:creationId xmlns:a16="http://schemas.microsoft.com/office/drawing/2014/main" id="{2EF3BEA5-154E-8C01-8F7F-EBFB40A86510}"/>
                </a:ext>
              </a:extLst>
            </p:cNvPr>
            <p:cNvCxnSpPr>
              <a:stCxn id="84" idx="6"/>
              <a:endCxn id="80" idx="2"/>
            </p:cNvCxnSpPr>
            <p:nvPr/>
          </p:nvCxnSpPr>
          <p:spPr>
            <a:xfrm>
              <a:off x="1436913" y="3245644"/>
              <a:ext cx="391886" cy="11195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id="{3912DB0B-BA7B-88FA-614E-2A3BFF94445E}"/>
                </a:ext>
              </a:extLst>
            </p:cNvPr>
            <p:cNvCxnSpPr>
              <a:stCxn id="84" idx="6"/>
              <a:endCxn id="81" idx="2"/>
            </p:cNvCxnSpPr>
            <p:nvPr/>
          </p:nvCxnSpPr>
          <p:spPr>
            <a:xfrm>
              <a:off x="1436913" y="3245644"/>
              <a:ext cx="391886" cy="18379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de Seta Reta 90">
              <a:extLst>
                <a:ext uri="{FF2B5EF4-FFF2-40B4-BE49-F238E27FC236}">
                  <a16:creationId xmlns:a16="http://schemas.microsoft.com/office/drawing/2014/main" id="{C6CD3620-0444-E712-1D4A-A5A4B2CF8F63}"/>
                </a:ext>
              </a:extLst>
            </p:cNvPr>
            <p:cNvCxnSpPr>
              <a:stCxn id="85" idx="6"/>
              <a:endCxn id="78" idx="2"/>
            </p:cNvCxnSpPr>
            <p:nvPr/>
          </p:nvCxnSpPr>
          <p:spPr>
            <a:xfrm flipV="1">
              <a:off x="1436913" y="2928258"/>
              <a:ext cx="391887" cy="10730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id="{5E2A5F46-9BC2-47B0-C5E0-BAA439CC01FC}"/>
                </a:ext>
              </a:extLst>
            </p:cNvPr>
            <p:cNvCxnSpPr>
              <a:stCxn id="86" idx="6"/>
              <a:endCxn id="79" idx="2"/>
            </p:cNvCxnSpPr>
            <p:nvPr/>
          </p:nvCxnSpPr>
          <p:spPr>
            <a:xfrm flipV="1">
              <a:off x="1436913" y="3646715"/>
              <a:ext cx="391886" cy="11102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92">
              <a:extLst>
                <a:ext uri="{FF2B5EF4-FFF2-40B4-BE49-F238E27FC236}">
                  <a16:creationId xmlns:a16="http://schemas.microsoft.com/office/drawing/2014/main" id="{F9D3224F-AF72-0426-8205-4FBD527BD7AD}"/>
                </a:ext>
              </a:extLst>
            </p:cNvPr>
            <p:cNvCxnSpPr>
              <a:stCxn id="85" idx="6"/>
              <a:endCxn id="79" idx="2"/>
            </p:cNvCxnSpPr>
            <p:nvPr/>
          </p:nvCxnSpPr>
          <p:spPr>
            <a:xfrm flipV="1">
              <a:off x="1436913" y="3646715"/>
              <a:ext cx="391886" cy="3545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de Seta Reta 93">
              <a:extLst>
                <a:ext uri="{FF2B5EF4-FFF2-40B4-BE49-F238E27FC236}">
                  <a16:creationId xmlns:a16="http://schemas.microsoft.com/office/drawing/2014/main" id="{A66DAE43-0A1F-9F45-1176-49DCA5478EB6}"/>
                </a:ext>
              </a:extLst>
            </p:cNvPr>
            <p:cNvCxnSpPr>
              <a:stCxn id="85" idx="6"/>
              <a:endCxn id="80" idx="2"/>
            </p:cNvCxnSpPr>
            <p:nvPr/>
          </p:nvCxnSpPr>
          <p:spPr>
            <a:xfrm>
              <a:off x="1436913" y="4001294"/>
              <a:ext cx="391886" cy="363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de Seta Reta 94">
              <a:extLst>
                <a:ext uri="{FF2B5EF4-FFF2-40B4-BE49-F238E27FC236}">
                  <a16:creationId xmlns:a16="http://schemas.microsoft.com/office/drawing/2014/main" id="{60EAF2FA-38FF-EE48-A5C7-2BD378ED0805}"/>
                </a:ext>
              </a:extLst>
            </p:cNvPr>
            <p:cNvCxnSpPr>
              <a:stCxn id="85" idx="6"/>
              <a:endCxn id="81" idx="2"/>
            </p:cNvCxnSpPr>
            <p:nvPr/>
          </p:nvCxnSpPr>
          <p:spPr>
            <a:xfrm>
              <a:off x="1436913" y="4001294"/>
              <a:ext cx="391886" cy="10823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de Seta Reta 95">
              <a:extLst>
                <a:ext uri="{FF2B5EF4-FFF2-40B4-BE49-F238E27FC236}">
                  <a16:creationId xmlns:a16="http://schemas.microsoft.com/office/drawing/2014/main" id="{1C79D24B-5F96-09BC-0793-E01EC40CB9BD}"/>
                </a:ext>
              </a:extLst>
            </p:cNvPr>
            <p:cNvCxnSpPr>
              <a:stCxn id="86" idx="6"/>
              <a:endCxn id="78" idx="2"/>
            </p:cNvCxnSpPr>
            <p:nvPr/>
          </p:nvCxnSpPr>
          <p:spPr>
            <a:xfrm flipV="1">
              <a:off x="1436913" y="2928258"/>
              <a:ext cx="391887" cy="18286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de Seta Reta 96">
              <a:extLst>
                <a:ext uri="{FF2B5EF4-FFF2-40B4-BE49-F238E27FC236}">
                  <a16:creationId xmlns:a16="http://schemas.microsoft.com/office/drawing/2014/main" id="{AA49314F-364F-E84C-1DA5-F879603AAA8A}"/>
                </a:ext>
              </a:extLst>
            </p:cNvPr>
            <p:cNvCxnSpPr>
              <a:stCxn id="86" idx="6"/>
              <a:endCxn id="80" idx="2"/>
            </p:cNvCxnSpPr>
            <p:nvPr/>
          </p:nvCxnSpPr>
          <p:spPr>
            <a:xfrm flipV="1">
              <a:off x="1436913" y="4365172"/>
              <a:ext cx="391886" cy="3917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de Seta Reta 97">
              <a:extLst>
                <a:ext uri="{FF2B5EF4-FFF2-40B4-BE49-F238E27FC236}">
                  <a16:creationId xmlns:a16="http://schemas.microsoft.com/office/drawing/2014/main" id="{0B05AD63-B476-DEEF-DAAB-5E56A6B079ED}"/>
                </a:ext>
              </a:extLst>
            </p:cNvPr>
            <p:cNvCxnSpPr>
              <a:stCxn id="86" idx="6"/>
              <a:endCxn id="81" idx="2"/>
            </p:cNvCxnSpPr>
            <p:nvPr/>
          </p:nvCxnSpPr>
          <p:spPr>
            <a:xfrm>
              <a:off x="1436913" y="4756944"/>
              <a:ext cx="391886" cy="3266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de Seta Reta 98">
              <a:extLst>
                <a:ext uri="{FF2B5EF4-FFF2-40B4-BE49-F238E27FC236}">
                  <a16:creationId xmlns:a16="http://schemas.microsoft.com/office/drawing/2014/main" id="{6B937CD4-117C-7E48-9B45-BC50669F0CC2}"/>
                </a:ext>
              </a:extLst>
            </p:cNvPr>
            <p:cNvCxnSpPr>
              <a:stCxn id="78" idx="6"/>
              <a:endCxn id="82" idx="2"/>
            </p:cNvCxnSpPr>
            <p:nvPr/>
          </p:nvCxnSpPr>
          <p:spPr>
            <a:xfrm>
              <a:off x="2394857" y="2928258"/>
              <a:ext cx="391885" cy="7184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de Seta Reta 99">
              <a:extLst>
                <a:ext uri="{FF2B5EF4-FFF2-40B4-BE49-F238E27FC236}">
                  <a16:creationId xmlns:a16="http://schemas.microsoft.com/office/drawing/2014/main" id="{480DCA50-06DD-1BF8-F4F5-263702B10061}"/>
                </a:ext>
              </a:extLst>
            </p:cNvPr>
            <p:cNvCxnSpPr>
              <a:stCxn id="79" idx="6"/>
              <a:endCxn id="83" idx="2"/>
            </p:cNvCxnSpPr>
            <p:nvPr/>
          </p:nvCxnSpPr>
          <p:spPr>
            <a:xfrm>
              <a:off x="2394856" y="3646715"/>
              <a:ext cx="391885" cy="7184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de Seta Reta 100">
              <a:extLst>
                <a:ext uri="{FF2B5EF4-FFF2-40B4-BE49-F238E27FC236}">
                  <a16:creationId xmlns:a16="http://schemas.microsoft.com/office/drawing/2014/main" id="{8D93FBBA-532E-3921-0024-9D156EA6CC1B}"/>
                </a:ext>
              </a:extLst>
            </p:cNvPr>
            <p:cNvCxnSpPr>
              <a:stCxn id="80" idx="6"/>
              <a:endCxn id="83" idx="2"/>
            </p:cNvCxnSpPr>
            <p:nvPr/>
          </p:nvCxnSpPr>
          <p:spPr>
            <a:xfrm flipV="1">
              <a:off x="2394856" y="4365171"/>
              <a:ext cx="39188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de Seta Reta 101">
              <a:extLst>
                <a:ext uri="{FF2B5EF4-FFF2-40B4-BE49-F238E27FC236}">
                  <a16:creationId xmlns:a16="http://schemas.microsoft.com/office/drawing/2014/main" id="{345F2276-9F16-2A1C-8F90-C8391CB65DC7}"/>
                </a:ext>
              </a:extLst>
            </p:cNvPr>
            <p:cNvCxnSpPr>
              <a:stCxn id="81" idx="6"/>
              <a:endCxn id="83" idx="2"/>
            </p:cNvCxnSpPr>
            <p:nvPr/>
          </p:nvCxnSpPr>
          <p:spPr>
            <a:xfrm flipV="1">
              <a:off x="2394856" y="4365171"/>
              <a:ext cx="391885" cy="7184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de Seta Reta 102">
              <a:extLst>
                <a:ext uri="{FF2B5EF4-FFF2-40B4-BE49-F238E27FC236}">
                  <a16:creationId xmlns:a16="http://schemas.microsoft.com/office/drawing/2014/main" id="{B5C25FCE-8F3C-6BDA-58BB-933316DC8CB1}"/>
                </a:ext>
              </a:extLst>
            </p:cNvPr>
            <p:cNvCxnSpPr>
              <a:cxnSpLocks/>
              <a:stCxn id="78" idx="6"/>
              <a:endCxn id="83" idx="2"/>
            </p:cNvCxnSpPr>
            <p:nvPr/>
          </p:nvCxnSpPr>
          <p:spPr>
            <a:xfrm>
              <a:off x="2394857" y="2928258"/>
              <a:ext cx="391884" cy="14369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id="{8FCB7AE0-204C-C167-9A5C-B97A8F5A5E02}"/>
                </a:ext>
              </a:extLst>
            </p:cNvPr>
            <p:cNvCxnSpPr>
              <a:stCxn id="79" idx="6"/>
              <a:endCxn id="82" idx="2"/>
            </p:cNvCxnSpPr>
            <p:nvPr/>
          </p:nvCxnSpPr>
          <p:spPr>
            <a:xfrm flipV="1">
              <a:off x="2394856" y="3646714"/>
              <a:ext cx="39188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de Seta Reta 104">
              <a:extLst>
                <a:ext uri="{FF2B5EF4-FFF2-40B4-BE49-F238E27FC236}">
                  <a16:creationId xmlns:a16="http://schemas.microsoft.com/office/drawing/2014/main" id="{9E2A57D1-BF18-440A-1624-40AA9C0C9AED}"/>
                </a:ext>
              </a:extLst>
            </p:cNvPr>
            <p:cNvCxnSpPr>
              <a:stCxn id="80" idx="6"/>
              <a:endCxn id="82" idx="2"/>
            </p:cNvCxnSpPr>
            <p:nvPr/>
          </p:nvCxnSpPr>
          <p:spPr>
            <a:xfrm flipV="1">
              <a:off x="2394856" y="3646714"/>
              <a:ext cx="391886" cy="7184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105">
              <a:extLst>
                <a:ext uri="{FF2B5EF4-FFF2-40B4-BE49-F238E27FC236}">
                  <a16:creationId xmlns:a16="http://schemas.microsoft.com/office/drawing/2014/main" id="{78EF831F-87D7-DBF8-17BD-62684A5E63BF}"/>
                </a:ext>
              </a:extLst>
            </p:cNvPr>
            <p:cNvCxnSpPr>
              <a:stCxn id="81" idx="6"/>
              <a:endCxn id="82" idx="2"/>
            </p:cNvCxnSpPr>
            <p:nvPr/>
          </p:nvCxnSpPr>
          <p:spPr>
            <a:xfrm flipV="1">
              <a:off x="2394856" y="3646714"/>
              <a:ext cx="391886" cy="14369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CaixaDeTexto 106">
              <a:extLst>
                <a:ext uri="{FF2B5EF4-FFF2-40B4-BE49-F238E27FC236}">
                  <a16:creationId xmlns:a16="http://schemas.microsoft.com/office/drawing/2014/main" id="{86ECE9D6-68DB-75D1-E666-3B2F4229CC83}"/>
                </a:ext>
              </a:extLst>
            </p:cNvPr>
            <p:cNvSpPr txBox="1"/>
            <p:nvPr/>
          </p:nvSpPr>
          <p:spPr>
            <a:xfrm>
              <a:off x="2454726" y="2308162"/>
              <a:ext cx="1230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Neurônio</a:t>
              </a:r>
            </a:p>
          </p:txBody>
        </p:sp>
        <p:sp>
          <p:nvSpPr>
            <p:cNvPr id="108" name="Forma Livre: Forma 107">
              <a:extLst>
                <a:ext uri="{FF2B5EF4-FFF2-40B4-BE49-F238E27FC236}">
                  <a16:creationId xmlns:a16="http://schemas.microsoft.com/office/drawing/2014/main" id="{75F6CAE9-4F5B-92EC-1FA9-38BDB9DC55A4}"/>
                </a:ext>
              </a:extLst>
            </p:cNvPr>
            <p:cNvSpPr/>
            <p:nvPr/>
          </p:nvSpPr>
          <p:spPr>
            <a:xfrm>
              <a:off x="2068281" y="2424094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9" name="Conector de Seta Reta 108">
              <a:extLst>
                <a:ext uri="{FF2B5EF4-FFF2-40B4-BE49-F238E27FC236}">
                  <a16:creationId xmlns:a16="http://schemas.microsoft.com/office/drawing/2014/main" id="{DD200772-7E7B-FE6C-44AC-7E941863A6BF}"/>
                </a:ext>
              </a:extLst>
            </p:cNvPr>
            <p:cNvCxnSpPr>
              <a:endCxn id="84" idx="2"/>
            </p:cNvCxnSpPr>
            <p:nvPr/>
          </p:nvCxnSpPr>
          <p:spPr>
            <a:xfrm>
              <a:off x="598714" y="3245643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de Seta Reta 109">
              <a:extLst>
                <a:ext uri="{FF2B5EF4-FFF2-40B4-BE49-F238E27FC236}">
                  <a16:creationId xmlns:a16="http://schemas.microsoft.com/office/drawing/2014/main" id="{9D8F67E1-B2AC-FD49-9C70-5716FA06969F}"/>
                </a:ext>
              </a:extLst>
            </p:cNvPr>
            <p:cNvCxnSpPr>
              <a:endCxn id="85" idx="2"/>
            </p:cNvCxnSpPr>
            <p:nvPr/>
          </p:nvCxnSpPr>
          <p:spPr>
            <a:xfrm>
              <a:off x="598714" y="3245643"/>
              <a:ext cx="272142" cy="7556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de Seta Reta 110">
              <a:extLst>
                <a:ext uri="{FF2B5EF4-FFF2-40B4-BE49-F238E27FC236}">
                  <a16:creationId xmlns:a16="http://schemas.microsoft.com/office/drawing/2014/main" id="{5CB1FBC1-928E-E251-5995-908DBAA08898}"/>
                </a:ext>
              </a:extLst>
            </p:cNvPr>
            <p:cNvCxnSpPr>
              <a:endCxn id="86" idx="2"/>
            </p:cNvCxnSpPr>
            <p:nvPr/>
          </p:nvCxnSpPr>
          <p:spPr>
            <a:xfrm>
              <a:off x="598714" y="3245643"/>
              <a:ext cx="272142" cy="15113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de Seta Reta 111">
              <a:extLst>
                <a:ext uri="{FF2B5EF4-FFF2-40B4-BE49-F238E27FC236}">
                  <a16:creationId xmlns:a16="http://schemas.microsoft.com/office/drawing/2014/main" id="{A35DF8F4-1616-8571-93FE-278EB3816FD4}"/>
                </a:ext>
              </a:extLst>
            </p:cNvPr>
            <p:cNvCxnSpPr/>
            <p:nvPr/>
          </p:nvCxnSpPr>
          <p:spPr>
            <a:xfrm>
              <a:off x="598714" y="4726100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to 112">
              <a:extLst>
                <a:ext uri="{FF2B5EF4-FFF2-40B4-BE49-F238E27FC236}">
                  <a16:creationId xmlns:a16="http://schemas.microsoft.com/office/drawing/2014/main" id="{B58FD32B-52AF-36BD-1B41-7407D017B459}"/>
                </a:ext>
              </a:extLst>
            </p:cNvPr>
            <p:cNvCxnSpPr>
              <a:cxnSpLocks/>
              <a:endCxn id="85" idx="2"/>
            </p:cNvCxnSpPr>
            <p:nvPr/>
          </p:nvCxnSpPr>
          <p:spPr>
            <a:xfrm flipV="1">
              <a:off x="598713" y="4001294"/>
              <a:ext cx="272143" cy="723106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ector de Seta Reta 113">
              <a:extLst>
                <a:ext uri="{FF2B5EF4-FFF2-40B4-BE49-F238E27FC236}">
                  <a16:creationId xmlns:a16="http://schemas.microsoft.com/office/drawing/2014/main" id="{3EA617B7-DB9F-3092-147B-1F5A71166A33}"/>
                </a:ext>
              </a:extLst>
            </p:cNvPr>
            <p:cNvCxnSpPr/>
            <p:nvPr/>
          </p:nvCxnSpPr>
          <p:spPr>
            <a:xfrm>
              <a:off x="3352797" y="3646712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ector de Seta Reta 114">
              <a:extLst>
                <a:ext uri="{FF2B5EF4-FFF2-40B4-BE49-F238E27FC236}">
                  <a16:creationId xmlns:a16="http://schemas.microsoft.com/office/drawing/2014/main" id="{366AFBA3-B356-BFC5-FC24-1A6E67F4DA23}"/>
                </a:ext>
              </a:extLst>
            </p:cNvPr>
            <p:cNvCxnSpPr/>
            <p:nvPr/>
          </p:nvCxnSpPr>
          <p:spPr>
            <a:xfrm>
              <a:off x="3352797" y="4362846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1CD8757B-1311-4FA6-2200-D5AC926E7B0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1CD8757B-1311-4FA6-2200-D5AC926E7B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CaixaDeTexto 116">
                <a:extLst>
                  <a:ext uri="{FF2B5EF4-FFF2-40B4-BE49-F238E27FC236}">
                    <a16:creationId xmlns:a16="http://schemas.microsoft.com/office/drawing/2014/main" id="{A6BDB99A-A149-B3C5-BA75-3DD4A1960242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7" name="CaixaDeTexto 116">
                <a:extLst>
                  <a:ext uri="{FF2B5EF4-FFF2-40B4-BE49-F238E27FC236}">
                    <a16:creationId xmlns:a16="http://schemas.microsoft.com/office/drawing/2014/main" id="{A6BDB99A-A149-B3C5-BA75-3DD4A1960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1509603-7149-245B-A616-80929F56DD4C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1509603-7149-245B-A616-80929F56D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25DD31E-6264-57BF-559E-7FB4B5DC68E2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25DD31E-6264-57BF-559E-7FB4B5DC6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lipse 3">
            <a:extLst>
              <a:ext uri="{FF2B5EF4-FFF2-40B4-BE49-F238E27FC236}">
                <a16:creationId xmlns:a16="http://schemas.microsoft.com/office/drawing/2014/main" id="{1F135C18-EBA0-AC37-FF53-37F617F8BF86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E56C044B-1686-AD12-9440-C64E44FD6EF2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831065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D5550-6E90-775F-7D80-8B1815CA8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DB50FB-EDA7-F7CD-93D2-D8F19632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C59215-6342-7B26-1DD9-F90550E17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6925" y="1825624"/>
            <a:ext cx="6151789" cy="5032371"/>
          </a:xfrm>
        </p:spPr>
        <p:txBody>
          <a:bodyPr>
            <a:normAutofit lnSpcReduction="10000"/>
          </a:bodyPr>
          <a:lstStyle/>
          <a:p>
            <a:r>
              <a:rPr lang="pt-BR" dirty="0"/>
              <a:t>Nós chamamos cada um dos </a:t>
            </a:r>
            <a:r>
              <a:rPr lang="pt-BR" b="1" i="1" dirty="0">
                <a:solidFill>
                  <a:srgbClr val="00B050"/>
                </a:solidFill>
              </a:rPr>
              <a:t>conjuntos de neurônios </a:t>
            </a:r>
            <a:r>
              <a:rPr lang="pt-BR" dirty="0"/>
              <a:t>em um retângulo de </a:t>
            </a:r>
            <a:r>
              <a:rPr lang="pt-BR" b="1" i="1" dirty="0">
                <a:solidFill>
                  <a:srgbClr val="00B050"/>
                </a:solidFill>
              </a:rPr>
              <a:t>camada</a:t>
            </a:r>
            <a:r>
              <a:rPr lang="pt-BR" dirty="0"/>
              <a:t>.</a:t>
            </a:r>
          </a:p>
          <a:p>
            <a:r>
              <a:rPr lang="pt-BR" dirty="0"/>
              <a:t>A rede ao lado tem </a:t>
            </a:r>
            <a:r>
              <a:rPr lang="pt-BR" b="1" i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uma camada de saída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alguns autores chamam o ponto de transferência dos atributos para a rede de </a:t>
            </a:r>
            <a:r>
              <a:rPr lang="pt-BR" b="1" i="1" dirty="0">
                <a:solidFill>
                  <a:schemeClr val="accent2"/>
                </a:solidFill>
              </a:rPr>
              <a:t>camada de entrada</a:t>
            </a:r>
            <a:r>
              <a:rPr lang="pt-BR" dirty="0"/>
              <a:t> (retângulo com linha tracejada).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i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normalmente é usada para aplicar </a:t>
            </a:r>
            <a:r>
              <a:rPr lang="pt-BR" b="1" i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FA97F8B8-7440-50FB-2CB9-244879F58181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34C899FC-0198-F3A7-CFC9-2D6E80F0E145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F7B4950A-7E03-EA7F-2759-6CFFC4EBA0A1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173D9231-06BA-F66A-45A5-9E39572C4D4C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3FBD492D-38B6-2540-8A5F-649E6C6B339D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54C7C540-8AC4-7C3A-0BA0-86686274F97E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174687D-97FB-20ED-0C39-F77DBEAE29BA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AC539A0-620D-0EBD-D777-64C5125DA177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CF24AD47-056A-928C-8100-D1C1B7A1EEB1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E7125CD-7385-1833-3A02-5DAF20C777C0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8499EEBC-1449-46AA-CD1A-082352D7AF92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76A8D25A-A659-D76D-7CE9-63BAC38DCEC6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26FB9E7F-4501-807E-AC4E-94D7CE818401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C0E94414-4C2F-38A0-A272-AF9219CD3209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E9C4A0E6-591C-9D0B-931B-8D346D074EED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50B871A0-B943-9240-1AD7-3D52E57A3DD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F72D5DCC-2012-A2EA-0AF6-9343411B2D1C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09D9330E-09B3-48FF-6720-5D43ABFC7153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2A1B0231-C934-F63A-A0A1-E4FD87BEB659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8DE1AD21-5E66-6FD6-375C-700554BE7811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CD1B8D74-55AB-AE92-5479-B2D74871D89F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47A35F7F-B76B-ED8D-881C-7BE8ACC9EE11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077E76B-4689-3698-FD43-10058DA1B2B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9D8DEBB8-1211-E6BA-2873-A72B8B34A55F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80508D98-FAFB-F342-51B7-92E3CACBAAB8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53CEC21C-5FE8-CA7C-1083-79C626B75F4F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9E2D4AFC-3B21-3B63-9A5D-D98BDBD8C0D2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F0DA1995-ED28-2C76-DA88-82E28DCE74B1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264E2997-B103-DA49-0EC4-D33C4D5E4ECF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FA9079BD-5331-3637-DD2D-2C1340C6CEFB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78B01544-0E00-4590-B145-7CF5AF0E361E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9115C0E6-20F5-2027-4C32-26916C4D2E97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C86A7D8A-7C23-19F6-884F-3867FABFEE15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B8827A07-3E3D-0C97-801D-9A74C324DE63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E0F87557-7070-4929-A51D-EE277FDD435E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FCCF0474-CE2C-C40C-1A31-88ACA6555F82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A2D9CAB0-DF2D-3F57-522F-07FC15C4A96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CB0CB90-939E-F84F-CBCC-3053851EB279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38F46C46-9537-91DA-78F1-D51ACF093A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8E72FD6-4CDC-F2B8-B01F-62CB96A01D1B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9F743859-239A-0A9E-7C23-70E728CC7263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4D2E2E0E-0F0C-5967-1CE0-4B51848D1B76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5FA32A51-E7FC-B519-CBA9-0AF02963B21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Elipse 24">
            <a:extLst>
              <a:ext uri="{FF2B5EF4-FFF2-40B4-BE49-F238E27FC236}">
                <a16:creationId xmlns:a16="http://schemas.microsoft.com/office/drawing/2014/main" id="{AE2B9AE3-36FD-1451-8485-9534BEDD1747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47774D4E-763E-F71D-7ECF-17A859C932CA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07C9B91-2341-A55C-29F8-3712CF974534}"/>
              </a:ext>
            </a:extLst>
          </p:cNvPr>
          <p:cNvSpPr txBox="1"/>
          <p:nvPr/>
        </p:nvSpPr>
        <p:spPr>
          <a:xfrm>
            <a:off x="636820" y="4923257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de entrada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B00554A2-0346-AB3F-53C6-F50EBB54B821}"/>
              </a:ext>
            </a:extLst>
          </p:cNvPr>
          <p:cNvSpPr txBox="1"/>
          <p:nvPr/>
        </p:nvSpPr>
        <p:spPr>
          <a:xfrm>
            <a:off x="1398812" y="5103167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oculta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83C1477-8089-07E8-4F11-F57543D78929}"/>
              </a:ext>
            </a:extLst>
          </p:cNvPr>
          <p:cNvSpPr txBox="1"/>
          <p:nvPr/>
        </p:nvSpPr>
        <p:spPr>
          <a:xfrm>
            <a:off x="3282043" y="4694586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de saída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4DD5BCCF-0256-F6E1-F598-54110E86D7A6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4F8747B-B61E-07F2-BFA2-E4FF0B0B8567}"/>
              </a:ext>
            </a:extLst>
          </p:cNvPr>
          <p:cNvSpPr txBox="1"/>
          <p:nvPr/>
        </p:nvSpPr>
        <p:spPr>
          <a:xfrm>
            <a:off x="2341787" y="5428874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oculta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CB534506-CC6C-CF2D-B9C3-4471584A4DF9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266512D1-A6D4-405C-9BC3-AC9FBE1D9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20FF8A48-CE44-2F39-7E7F-751CB5202359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E0690722-A566-179D-1352-330E6151F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7373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1491" y="1825624"/>
            <a:ext cx="5757224" cy="5032371"/>
          </a:xfrm>
        </p:spPr>
        <p:txBody>
          <a:bodyPr>
            <a:normAutofit/>
          </a:bodyPr>
          <a:lstStyle/>
          <a:p>
            <a:r>
              <a:rPr lang="pt-BR" dirty="0"/>
              <a:t>Em redes de </a:t>
            </a:r>
            <a:r>
              <a:rPr lang="pt-BR" b="1" i="1" dirty="0">
                <a:solidFill>
                  <a:srgbClr val="00B050"/>
                </a:solidFill>
              </a:rPr>
              <a:t>alimentação direta</a:t>
            </a:r>
            <a:r>
              <a:rPr lang="pt-BR" dirty="0"/>
              <a:t>, as camadas estão conectadas em </a:t>
            </a:r>
            <a:r>
              <a:rPr lang="pt-BR" b="1" i="1" dirty="0">
                <a:solidFill>
                  <a:srgbClr val="7030A0"/>
                </a:solidFill>
              </a:rPr>
              <a:t>sequência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i="1" dirty="0">
                <a:solidFill>
                  <a:srgbClr val="7030A0"/>
                </a:solidFill>
              </a:rPr>
              <a:t>i</a:t>
            </a:r>
            <a:r>
              <a:rPr lang="pt-BR" b="1" i="1" dirty="0">
                <a:solidFill>
                  <a:srgbClr val="7030A0"/>
                </a:solidFill>
                <a:effectLst/>
              </a:rPr>
              <a:t>nformações fluem em uma única direção</a:t>
            </a:r>
            <a:r>
              <a:rPr lang="pt-BR" b="0" i="0" dirty="0">
                <a:effectLst/>
              </a:rPr>
              <a:t>, ou seja, elas fluem da entrada passando pelas camadas ocultas e, finalmente, para a camada de saída,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sem recursões</a:t>
            </a:r>
            <a:r>
              <a:rPr lang="pt-BR" b="0" i="0" dirty="0">
                <a:effectLst/>
              </a:rPr>
              <a:t>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08A6742-BE26-9B9A-B13E-292CA4DD59D9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BCCAF25-1B0F-B235-1A10-3C52C1AB34FA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38F7732-8C3C-65A4-4F96-BA3B33979FED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4666CE-36D0-BE6B-16F9-935F58521DB7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AB68B74-AF88-1A55-4231-19652040796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525851D-4160-E437-2302-9EFE8B9063AC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343B571-738E-4671-F07E-6A1B60CFEB25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C4D0FD3-9DAC-E44E-AE4F-B409F9026B5C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3DDA52F-C6E6-466F-FE51-D98BADB29163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017DD43-9BD3-A103-1DCD-B5A5BE3A5532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3A380203-43AF-CE9B-6D3C-B406F204543A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3C6AAB6-D3E9-5E7F-3B51-0FB9FB15B28F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A20096B-1444-E4B1-7FEC-AA2A53E84923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6A0FA0CB-BF5F-4D2A-E199-ECBD7245A6DA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441C1B94-EA54-1456-63A6-C09B13B54360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6EA84E3C-954B-3DAB-1EB6-807CEAD7197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34CF6DAF-C570-7B0F-1947-1F1E80AD9FC9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8BE3AFE0-C170-C2F4-4080-89A75722E82C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EB05B87-9EAF-C8B4-302B-FF0556C6CE4A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EFCA8237-94D3-9B23-0091-C28446557FF8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18A10864-4E00-5BA3-7D1C-C6D863800DF1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9556E08D-EF95-07A5-6D00-1BDA7A969645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9AD6C45-FF60-0D50-5C52-DBC2F2958E7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15AA0725-DC80-7F4B-8714-18D3F46C746C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E9230D12-789F-9CDA-656F-25BFCED0A735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AA99C075-AC79-6177-3FC9-E5BE4B2A39B7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FB9C7CE7-3C9A-43B5-8151-181478F960FC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483A9D86-72FB-C7C0-92A4-B0D6B048CDC4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1C6662C4-7403-9EAA-9279-911015B2D632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57BD08EC-2E7D-FBE2-60CC-7C7846438007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183E0838-369F-3E3D-4ADF-1C87997AFA5B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04BE0612-6136-FBDC-6CC5-8B3CBA650013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3BA63B5D-937F-6E51-15A7-E6AFDA831C06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EB0F55A7-20A9-6DDF-98F5-99CD11328C8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FAD93FD9-246B-7D54-081B-E8C001ED4338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AF486AF2-E9B3-8E87-28FF-FB5398A3097E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FED9A91B-FDC3-C649-4D21-9F39A5DDA98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138E5B-BE73-1B6A-1F12-EABFA3CA74DE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CCB7E64-B7C7-D881-75DF-AA472247E6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040C819-9AAA-8CB1-5A45-41E05334A7D6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EE976CA5-12E6-4DB5-139A-5B13EA5F460D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eta: para a Direita 24">
            <a:extLst>
              <a:ext uri="{FF2B5EF4-FFF2-40B4-BE49-F238E27FC236}">
                <a16:creationId xmlns:a16="http://schemas.microsoft.com/office/drawing/2014/main" id="{AD46F655-8AFC-EDF7-1E6F-51F5255FB298}"/>
              </a:ext>
            </a:extLst>
          </p:cNvPr>
          <p:cNvSpPr/>
          <p:nvPr/>
        </p:nvSpPr>
        <p:spPr>
          <a:xfrm>
            <a:off x="1055914" y="5519057"/>
            <a:ext cx="3233053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69AFB094-43B1-8880-457C-124F65E7AA05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651583E6-8146-1C20-2C9A-EFA7502FAB23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05E33D71-30D4-A18F-F9B4-B17BD449DC99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DC5AB40-59DB-81C6-B885-55553A8E4740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DC5AB40-59DB-81C6-B885-55553A8E4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F934570C-207C-50C9-2531-E7840ED9BB8D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F934570C-207C-50C9-2531-E7840ED9BB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071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8363" y="1825624"/>
            <a:ext cx="5840351" cy="5032371"/>
          </a:xfrm>
        </p:spPr>
        <p:txBody>
          <a:bodyPr>
            <a:normAutofit/>
          </a:bodyPr>
          <a:lstStyle/>
          <a:p>
            <a:r>
              <a:rPr lang="pt-BR" dirty="0"/>
              <a:t>Na terminologia do Tensorflow, nós usamos o termo </a:t>
            </a:r>
            <a:r>
              <a:rPr lang="pt-BR" b="1" i="1" dirty="0" err="1">
                <a:solidFill>
                  <a:srgbClr val="00B050"/>
                </a:solidFill>
              </a:rPr>
              <a:t>sequential</a:t>
            </a:r>
            <a:r>
              <a:rPr lang="pt-BR" dirty="0"/>
              <a:t> para definir este tipo de rede.</a:t>
            </a:r>
          </a:p>
          <a:p>
            <a:r>
              <a:rPr lang="pt-BR" dirty="0"/>
              <a:t>Além disso, vemos que as </a:t>
            </a:r>
            <a:r>
              <a:rPr lang="pt-BR" b="1" i="1" dirty="0">
                <a:solidFill>
                  <a:srgbClr val="00B050"/>
                </a:solidFill>
              </a:rPr>
              <a:t>saídas de uma camada estão </a:t>
            </a:r>
            <a:r>
              <a:rPr lang="pt-BR" b="1" i="1" dirty="0">
                <a:solidFill>
                  <a:srgbClr val="7030A0"/>
                </a:solidFill>
              </a:rPr>
              <a:t>conectadas a todos os neurônios</a:t>
            </a:r>
            <a:r>
              <a:rPr lang="pt-BR" b="1" i="1" dirty="0">
                <a:solidFill>
                  <a:srgbClr val="00B050"/>
                </a:solidFill>
              </a:rPr>
              <a:t> da próxima camada</a:t>
            </a:r>
            <a:r>
              <a:rPr lang="pt-BR" dirty="0"/>
              <a:t>, criando conexões </a:t>
            </a:r>
            <a:r>
              <a:rPr lang="pt-BR" b="1" i="1" dirty="0">
                <a:solidFill>
                  <a:srgbClr val="00B050"/>
                </a:solidFill>
              </a:rPr>
              <a:t>densas</a:t>
            </a:r>
            <a:r>
              <a:rPr lang="pt-BR" dirty="0"/>
              <a:t>.</a:t>
            </a:r>
          </a:p>
          <a:p>
            <a:r>
              <a:rPr lang="pt-BR" dirty="0"/>
              <a:t>Usaremos o termo </a:t>
            </a:r>
            <a:r>
              <a:rPr lang="pt-BR" b="1" i="1" dirty="0">
                <a:solidFill>
                  <a:srgbClr val="00B050"/>
                </a:solidFill>
              </a:rPr>
              <a:t>densas</a:t>
            </a:r>
            <a:r>
              <a:rPr lang="pt-BR" dirty="0"/>
              <a:t> para definir estes tipos de camadas da rede.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08A6742-BE26-9B9A-B13E-292CA4DD59D9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BCCAF25-1B0F-B235-1A10-3C52C1AB34FA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38F7732-8C3C-65A4-4F96-BA3B33979FED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4666CE-36D0-BE6B-16F9-935F58521DB7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AB68B74-AF88-1A55-4231-19652040796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525851D-4160-E437-2302-9EFE8B9063AC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343B571-738E-4671-F07E-6A1B60CFEB25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C4D0FD3-9DAC-E44E-AE4F-B409F9026B5C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3DDA52F-C6E6-466F-FE51-D98BADB29163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017DD43-9BD3-A103-1DCD-B5A5BE3A5532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3A380203-43AF-CE9B-6D3C-B406F204543A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3C6AAB6-D3E9-5E7F-3B51-0FB9FB15B28F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A20096B-1444-E4B1-7FEC-AA2A53E84923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6A0FA0CB-BF5F-4D2A-E199-ECBD7245A6DA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441C1B94-EA54-1456-63A6-C09B13B54360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6EA84E3C-954B-3DAB-1EB6-807CEAD7197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34CF6DAF-C570-7B0F-1947-1F1E80AD9FC9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8BE3AFE0-C170-C2F4-4080-89A75722E82C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EB05B87-9EAF-C8B4-302B-FF0556C6CE4A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EFCA8237-94D3-9B23-0091-C28446557FF8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18A10864-4E00-5BA3-7D1C-C6D863800DF1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9556E08D-EF95-07A5-6D00-1BDA7A969645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9AD6C45-FF60-0D50-5C52-DBC2F2958E7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15AA0725-DC80-7F4B-8714-18D3F46C746C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E9230D12-789F-9CDA-656F-25BFCED0A735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AA99C075-AC79-6177-3FC9-E5BE4B2A39B7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FB9C7CE7-3C9A-43B5-8151-181478F960FC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483A9D86-72FB-C7C0-92A4-B0D6B048CDC4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1C6662C4-7403-9EAA-9279-911015B2D632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57BD08EC-2E7D-FBE2-60CC-7C7846438007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183E0838-369F-3E3D-4ADF-1C87997AFA5B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04BE0612-6136-FBDC-6CC5-8B3CBA650013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3BA63B5D-937F-6E51-15A7-E6AFDA831C06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EB0F55A7-20A9-6DDF-98F5-99CD11328C8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FAD93FD9-246B-7D54-081B-E8C001ED4338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AF486AF2-E9B3-8E87-28FF-FB5398A3097E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FED9A91B-FDC3-C649-4D21-9F39A5DDA98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138E5B-BE73-1B6A-1F12-EABFA3CA74DE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CCB7E64-B7C7-D881-75DF-AA472247E6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040C819-9AAA-8CB1-5A45-41E05334A7D6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EE976CA5-12E6-4DB5-139A-5B13EA5F460D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eta: para a Direita 24">
            <a:extLst>
              <a:ext uri="{FF2B5EF4-FFF2-40B4-BE49-F238E27FC236}">
                <a16:creationId xmlns:a16="http://schemas.microsoft.com/office/drawing/2014/main" id="{AD46F655-8AFC-EDF7-1E6F-51F5255FB298}"/>
              </a:ext>
            </a:extLst>
          </p:cNvPr>
          <p:cNvSpPr/>
          <p:nvPr/>
        </p:nvSpPr>
        <p:spPr>
          <a:xfrm>
            <a:off x="1055914" y="5519057"/>
            <a:ext cx="3233053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22A93382-D88C-70E6-9B59-1AF2FD479481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708469EC-6004-2D63-0804-7B226F3E1CB1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D1BB9D04-F15F-3E34-E391-00EB80B9A840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82791097-3950-FBA9-E13E-B8305DFB45B1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82791097-3950-FBA9-E13E-B8305DFB4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9D67A65A-9B31-85CF-0C2E-6BE00120B57D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9D67A65A-9B31-85CF-0C2E-6BE00120B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24391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ric Jang: Machine Learning Memes">
            <a:extLst>
              <a:ext uri="{FF2B5EF4-FFF2-40B4-BE49-F238E27FC236}">
                <a16:creationId xmlns:a16="http://schemas.microsoft.com/office/drawing/2014/main" id="{434BD8D2-A10B-6CEF-7BE4-F378CFBBCB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16" t="7142" r="3016" b="9207"/>
          <a:stretch>
            <a:fillRect/>
          </a:stretch>
        </p:blipFill>
        <p:spPr bwMode="auto">
          <a:xfrm>
            <a:off x="1306285" y="489856"/>
            <a:ext cx="6444343" cy="573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02408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7937</TotalTime>
  <Words>2637</Words>
  <Application>Microsoft Office PowerPoint</Application>
  <PresentationFormat>Widescreen</PresentationFormat>
  <Paragraphs>209</Paragraphs>
  <Slides>29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Arial</vt:lpstr>
      <vt:lpstr>Calibri</vt:lpstr>
      <vt:lpstr>Calibri Light</vt:lpstr>
      <vt:lpstr>Cambria Math</vt:lpstr>
      <vt:lpstr>Google Sans</vt:lpstr>
      <vt:lpstr>Söhne</vt:lpstr>
      <vt:lpstr>Wingdings</vt:lpstr>
      <vt:lpstr>Tema do Office</vt:lpstr>
      <vt:lpstr>C24 – Inteligência Artificial: Redes Multilayer Perceptron</vt:lpstr>
      <vt:lpstr>Redes neurais artificiais</vt:lpstr>
      <vt:lpstr>O que é Deep Learning?</vt:lpstr>
      <vt:lpstr>Motivação</vt:lpstr>
      <vt:lpstr>PowerPoint Presentation</vt:lpstr>
      <vt:lpstr>PowerPoint Presentation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Neurônio artificial</vt:lpstr>
      <vt:lpstr>PowerPoint Presentation</vt:lpstr>
      <vt:lpstr>Arquiteturas de redes neurais artificiais</vt:lpstr>
      <vt:lpstr>Arquiteturas de redes neurais artificiais</vt:lpstr>
      <vt:lpstr>Arquiteturas de redes neurais artificiais</vt:lpstr>
      <vt:lpstr>PowerPoint Presentation</vt:lpstr>
      <vt:lpstr>O modelo</vt:lpstr>
      <vt:lpstr>Relembrando alguns termos</vt:lpstr>
      <vt:lpstr>Relembrando alguns termos</vt:lpstr>
      <vt:lpstr>Relembrando alguns termos</vt:lpstr>
      <vt:lpstr>Relembrando alguns termos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1736</cp:revision>
  <dcterms:created xsi:type="dcterms:W3CDTF">2020-01-20T13:50:05Z</dcterms:created>
  <dcterms:modified xsi:type="dcterms:W3CDTF">2026-03-05T14:48:48Z</dcterms:modified>
</cp:coreProperties>
</file>