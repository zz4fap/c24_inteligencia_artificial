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handoutMasterIdLst>
    <p:handoutMasterId r:id="rId48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4" r:id="rId28"/>
    <p:sldId id="567" r:id="rId29"/>
    <p:sldId id="547" r:id="rId30"/>
    <p:sldId id="391" r:id="rId31"/>
    <p:sldId id="392" r:id="rId32"/>
    <p:sldId id="576" r:id="rId33"/>
    <p:sldId id="568" r:id="rId34"/>
    <p:sldId id="569" r:id="rId35"/>
    <p:sldId id="578" r:id="rId36"/>
    <p:sldId id="570" r:id="rId37"/>
    <p:sldId id="573" r:id="rId38"/>
    <p:sldId id="574" r:id="rId39"/>
    <p:sldId id="572" r:id="rId40"/>
    <p:sldId id="552" r:id="rId41"/>
    <p:sldId id="557" r:id="rId42"/>
    <p:sldId id="369" r:id="rId43"/>
    <p:sldId id="549" r:id="rId44"/>
    <p:sldId id="293" r:id="rId45"/>
    <p:sldId id="306" r:id="rId4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7893" autoAdjust="0"/>
  </p:normalViewPr>
  <p:slideViewPr>
    <p:cSldViewPr snapToGrid="0">
      <p:cViewPr varScale="1">
        <p:scale>
          <a:sx n="64" d="100"/>
          <a:sy n="64" d="100"/>
        </p:scale>
        <p:origin x="114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objetivo é encontrar o conjunto de pesos que minimiza a função de perda.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793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32166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90368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ADABF4-821B-90C6-D65A-3ECCDF84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8DF1DF97-BECB-E7EA-642E-BDC94C46E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E8044D16-69E1-EFE7-26AA-A95677BC2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é que, em alguns casos, o gradiente será extremamente pequeno, evitando efetivamente que o peso mude de valor. </a:t>
            </a:r>
          </a:p>
          <a:p>
            <a:r>
              <a:rPr lang="pt-BR" dirty="0"/>
              <a:t>Na pior das hipóteses, isso pode impedir completamente o treinamento adicional da rede neural.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aqui uma observação importante: em pelo menos algumas redes neurais profundas, o gradiente tende a diminuir à medida que nos movemos para trás através das camadas ocultas. Isso significa que os neurônios nas camadas anteriores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gradiente é multiplicado várias vezes com o algoritmo da </a:t>
            </a:r>
            <a:r>
              <a:rPr lang="pt-BR" b="1" i="1" dirty="0"/>
              <a:t>retropropagação</a:t>
            </a:r>
            <a:r>
              <a:rPr lang="pt-BR" dirty="0"/>
              <a:t>, o que faz com que o gradiente se torne menor para as camadas inferiores, levando a uma mudança muito pequena ou até mesmo nenhuma mudança nos pesos das camadas </a:t>
            </a:r>
            <a:r>
              <a:rPr lang="pt-BR" dirty="0" err="1"/>
              <a:t>inferiores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endem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muito mais lentamente que os neurônios nas camadas posteriores.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EFF15E5F-E836-3455-7343-3F42C53DA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6859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3315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316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66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.png"/><Relationship Id="rId13" Type="http://schemas.openxmlformats.org/officeDocument/2006/relationships/image" Target="../media/image310.png"/><Relationship Id="rId3" Type="http://schemas.openxmlformats.org/officeDocument/2006/relationships/image" Target="../media/image461.png"/><Relationship Id="rId7" Type="http://schemas.openxmlformats.org/officeDocument/2006/relationships/image" Target="../media/image250.png"/><Relationship Id="rId12" Type="http://schemas.openxmlformats.org/officeDocument/2006/relationships/image" Target="../media/image30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11" Type="http://schemas.openxmlformats.org/officeDocument/2006/relationships/image" Target="../media/image290.png"/><Relationship Id="rId5" Type="http://schemas.openxmlformats.org/officeDocument/2006/relationships/image" Target="../media/image230.png"/><Relationship Id="rId10" Type="http://schemas.openxmlformats.org/officeDocument/2006/relationships/image" Target="../media/image281.png"/><Relationship Id="rId4" Type="http://schemas.openxmlformats.org/officeDocument/2006/relationships/image" Target="../media/image221.png"/><Relationship Id="rId9" Type="http://schemas.openxmlformats.org/officeDocument/2006/relationships/image" Target="../media/image27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:a16="http://schemas.microsoft.com/office/drawing/2014/main" xmlns="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xmlns="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xmlns="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xmlns="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xmlns="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xmlns="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xmlns="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xmlns="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xmlns="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xmlns="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xmlns="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xmlns="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xmlns="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xmlns="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xmlns="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xmlns="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xmlns="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xmlns="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xmlns="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xmlns="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xmlns="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xmlns="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xmlns="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xmlns="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xmlns="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xmlns="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xmlns="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xmlns="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xmlns="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xmlns="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xmlns="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xmlns="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xmlns="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xmlns="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xmlns="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xmlns="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xmlns="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xmlns="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xmlns="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xmlns="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xmlns="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xmlns="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xmlns="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xmlns="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xmlns="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xmlns="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xmlns="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xmlns="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xmlns="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xmlns="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xmlns="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xmlns="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xmlns="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xmlns="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xmlns="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xmlns="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xmlns="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xmlns="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xmlns="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xmlns="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xmlns="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xmlns="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xmlns="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xmlns="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xmlns="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xmlns="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xmlns="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xmlns="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xmlns="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xmlns="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xmlns="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xmlns="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xmlns="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xmlns="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xmlns="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xmlns="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xmlns="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xmlns="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xmlns="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xmlns="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xmlns="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xmlns="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xmlns="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xmlns="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xmlns="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xmlns="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xmlns="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xmlns="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xmlns="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xmlns="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xmlns="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xmlns="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xmlns="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xmlns="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xmlns="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xmlns="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xmlns="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xmlns="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xmlns="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xmlns="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xmlns="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xmlns="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xmlns="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xmlns="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xmlns="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xmlns="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xmlns="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xmlns="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xmlns="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xmlns="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xmlns="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xmlns="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xmlns="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xmlns="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xmlns="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xmlns="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xmlns="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xmlns="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xmlns="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xmlns="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xmlns="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xmlns="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xmlns="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xmlns="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xmlns="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xmlns="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xmlns="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xmlns="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xmlns="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xmlns="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xmlns="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xmlns="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xmlns="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xmlns="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xmlns="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xmlns="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xmlns="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xmlns="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xmlns="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xmlns="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xmlns="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xmlns="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xmlns="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xmlns="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xmlns="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xmlns="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xmlns="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xmlns="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xmlns="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xmlns="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xmlns="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xmlns="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xmlns="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xmlns="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xmlns="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xmlns="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xmlns="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xmlns="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xmlns="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xmlns="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xmlns="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xmlns="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xmlns="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xmlns="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xmlns="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  <a:p>
            <a:r>
              <a:rPr lang="pt-BR" dirty="0"/>
              <a:t>Cada camada, exceto a de entrada, possui um ou mais neurônios.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xmlns="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xmlns="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xmlns="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xmlns="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xmlns="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xmlns="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xmlns="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xmlns="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xmlns="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xmlns="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xmlns="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xmlns="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xmlns="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xmlns="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xmlns="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xmlns="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xmlns="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xmlns="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xmlns="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xmlns="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xmlns="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xmlns="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xmlns="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xmlns="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xmlns="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xmlns="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xmlns="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xmlns="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xmlns="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xmlns="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xmlns="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xmlns="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xmlns="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xmlns="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xmlns="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xmlns="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xmlns="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xmlns="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xmlns="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xmlns="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xmlns="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xmlns="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xmlns="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xmlns="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xmlns="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xmlns="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xmlns="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xmlns="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xmlns="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xmlns="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xmlns="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xmlns="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xmlns="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xmlns="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xmlns="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xmlns="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xmlns="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xmlns="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xmlns="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xmlns="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xmlns="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xmlns="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xmlns="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xmlns="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xmlns="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xmlns="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xmlns="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xmlns="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xmlns="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xmlns="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xmlns="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xmlns="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xmlns="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xmlns="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xmlns="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xmlns="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xmlns="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xmlns="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xmlns="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xmlns="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xmlns="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xmlns="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xmlns="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xmlns="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xmlns="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xmlns="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xmlns="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xmlns="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xmlns="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xmlns="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xmlns="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xmlns="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xmlns="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xmlns="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xmlns="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xmlns="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xmlns="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xmlns="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xmlns="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xmlns="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xmlns="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xmlns="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xmlns="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xmlns="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:a16="http://schemas.microsoft.com/office/drawing/2014/main" xmlns="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:a16="http://schemas.microsoft.com/office/drawing/2014/main" xmlns="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:a16="http://schemas.microsoft.com/office/drawing/2014/main" xmlns="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:a16="http://schemas.microsoft.com/office/drawing/2014/main" xmlns="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:a16="http://schemas.microsoft.com/office/drawing/2014/main" xmlns="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:a16="http://schemas.microsoft.com/office/drawing/2014/main" xmlns="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:a16="http://schemas.microsoft.com/office/drawing/2014/main" xmlns="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:a16="http://schemas.microsoft.com/office/drawing/2014/main" xmlns="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:a16="http://schemas.microsoft.com/office/drawing/2014/main" xmlns="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:a16="http://schemas.microsoft.com/office/drawing/2014/main" xmlns="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:a16="http://schemas.microsoft.com/office/drawing/2014/main" xmlns="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:a16="http://schemas.microsoft.com/office/drawing/2014/main" xmlns="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:a16="http://schemas.microsoft.com/office/drawing/2014/main" xmlns="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:a16="http://schemas.microsoft.com/office/drawing/2014/main" xmlns="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:a16="http://schemas.microsoft.com/office/drawing/2014/main" xmlns="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:a16="http://schemas.microsoft.com/office/drawing/2014/main" xmlns="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:a16="http://schemas.microsoft.com/office/drawing/2014/main" xmlns="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:a16="http://schemas.microsoft.com/office/drawing/2014/main" xmlns="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:a16="http://schemas.microsoft.com/office/drawing/2014/main" xmlns="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:a16="http://schemas.microsoft.com/office/drawing/2014/main" xmlns="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:a16="http://schemas.microsoft.com/office/drawing/2014/main" xmlns="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:a16="http://schemas.microsoft.com/office/drawing/2014/main" xmlns="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:a16="http://schemas.microsoft.com/office/drawing/2014/main" xmlns="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:a16="http://schemas.microsoft.com/office/drawing/2014/main" xmlns="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:a16="http://schemas.microsoft.com/office/drawing/2014/main" xmlns="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xmlns="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xmlns="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xmlns="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xmlns="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:a16="http://schemas.microsoft.com/office/drawing/2014/main" xmlns="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:a16="http://schemas.microsoft.com/office/drawing/2014/main" xmlns="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xmlns="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xmlns="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:a16="http://schemas.microsoft.com/office/drawing/2014/main" xmlns="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:a16="http://schemas.microsoft.com/office/drawing/2014/main" xmlns="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:a16="http://schemas.microsoft.com/office/drawing/2014/main" xmlns="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:a16="http://schemas.microsoft.com/office/drawing/2014/main" xmlns="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:a16="http://schemas.microsoft.com/office/drawing/2014/main" xmlns="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:a16="http://schemas.microsoft.com/office/drawing/2014/main" xmlns="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:a16="http://schemas.microsoft.com/office/drawing/2014/main" xmlns="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:a16="http://schemas.microsoft.com/office/drawing/2014/main" xmlns="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:a16="http://schemas.microsoft.com/office/drawing/2014/main" xmlns="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:a16="http://schemas.microsoft.com/office/drawing/2014/main" xmlns="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:a16="http://schemas.microsoft.com/office/drawing/2014/main" xmlns="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:a16="http://schemas.microsoft.com/office/drawing/2014/main" xmlns="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xmlns="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xmlns="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xmlns="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xmlns="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xmlns="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xmlns="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xmlns="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xmlns="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:a16="http://schemas.microsoft.com/office/drawing/2014/main" xmlns="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xmlns="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:a16="http://schemas.microsoft.com/office/drawing/2014/main" xmlns="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:a16="http://schemas.microsoft.com/office/drawing/2014/main" xmlns="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:a16="http://schemas.microsoft.com/office/drawing/2014/main" xmlns="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:a16="http://schemas.microsoft.com/office/drawing/2014/main" xmlns="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:a16="http://schemas.microsoft.com/office/drawing/2014/main" xmlns="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xmlns="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xmlns="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xmlns="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xmlns="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xmlns="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xmlns="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xmlns="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xmlns="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xmlns="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xmlns="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xmlns="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xmlns="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xmlns="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xmlns="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xmlns="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xmlns="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xmlns="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xmlns="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xmlns="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xmlns="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xmlns="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xmlns="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xmlns="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xmlns="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xmlns="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xmlns="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xmlns="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xmlns="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xmlns="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xmlns="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xmlns="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xmlns="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xmlns="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xmlns="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xmlns="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xmlns="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xmlns="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xmlns="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xmlns="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xmlns="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xmlns="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xmlns="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xmlns="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xmlns="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xmlns="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xmlns="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xmlns="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xmlns="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:a16="http://schemas.microsoft.com/office/drawing/2014/main" xmlns="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i="1" dirty="0" err="1"/>
              <a:t>deep</a:t>
            </a:r>
            <a:r>
              <a:rPr lang="pt-BR" b="1" i="1" dirty="0"/>
              <a:t> learning </a:t>
            </a:r>
            <a:r>
              <a:rPr lang="pt-BR" b="1" dirty="0"/>
              <a:t>ou aprendizado profundo</a:t>
            </a:r>
            <a:r>
              <a:rPr lang="pt-BR" dirty="0"/>
              <a:t>. 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xmlns="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:a16="http://schemas.microsoft.com/office/drawing/2014/main" xmlns="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:a16="http://schemas.microsoft.com/office/drawing/2014/main" xmlns="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elas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uma solução geral.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xmlns="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xmlns="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xmlns="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/>
              <a:t>Isso 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o quanto cada peso da rede contribui para o erro e ajustá-lo de forma a minimizar o erro.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xmlns="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725265" cy="5032375"/>
          </a:xfrm>
        </p:spPr>
        <p:txBody>
          <a:bodyPr>
            <a:normAutofit/>
          </a:bodyPr>
          <a:lstStyle/>
          <a:p>
            <a:r>
              <a:rPr lang="pt-BR" dirty="0"/>
              <a:t>O 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gradientes são calculados usando </a:t>
            </a:r>
            <a:r>
              <a:rPr lang="pt-BR" b="1" dirty="0"/>
              <a:t>regra da cadeia</a:t>
            </a:r>
            <a:r>
              <a:rPr lang="pt-BR" dirty="0"/>
              <a:t>.</a:t>
            </a:r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xmlns="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157154" cy="4351338"/>
          </a:xfrm>
        </p:spPr>
        <p:txBody>
          <a:bodyPr/>
          <a:lstStyle/>
          <a:p>
            <a:r>
              <a:rPr lang="pt-BR" dirty="0"/>
              <a:t>A rede prediz → mede o erro → corrige os pesos.</a:t>
            </a:r>
          </a:p>
          <a:p>
            <a:r>
              <a:rPr lang="pt-BR" dirty="0"/>
              <a:t>O </a:t>
            </a:r>
            <a:r>
              <a:rPr lang="pt-BR" i="1" dirty="0" err="1"/>
              <a:t>backpropagation</a:t>
            </a:r>
            <a:r>
              <a:rPr lang="pt-BR" dirty="0"/>
              <a:t> responde à pergunta:</a:t>
            </a:r>
          </a:p>
          <a:p>
            <a:pPr marL="0" indent="0" algn="ctr">
              <a:buNone/>
            </a:pPr>
            <a:r>
              <a:rPr lang="pt-BR" b="1" dirty="0"/>
              <a:t>“Quais pesos precisam mudar e o quanto eles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CB13E6A6-6D4A-0E94-E375-65268C2150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355" y="3697491"/>
            <a:ext cx="3160509" cy="316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46B8548-4E40-D933-E8DC-9078F53FE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BF615BC-2786-CA1F-664E-992832AC0C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atualizar o peso de um nó de uma camada</a:t>
                </a:r>
                <a:r>
                  <a:rPr lang="pt-BR" dirty="0"/>
                  <a:t>, a </a:t>
                </a:r>
                <a:r>
                  <a:rPr lang="pt-BR" b="1" dirty="0"/>
                  <a:t>retropropagação </a:t>
                </a:r>
                <a:r>
                  <a:rPr lang="pt-BR" dirty="0"/>
                  <a:t>calcula a derivada parcial do erro em relação àquele peso usando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regra da cadeia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o exemplo abaixo com 3 nós, 3 pesos,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3 funções de ativação,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e um rótulo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900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Para facilitar a análise, vamos definir as entradas dos nós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Essas</a:t>
                </a:r>
                <a:r>
                  <a:rPr lang="en-US" dirty="0"/>
                  <a:t> </a:t>
                </a:r>
                <a:r>
                  <a:rPr lang="en-US" dirty="0" err="1"/>
                  <a:t>variáveis</a:t>
                </a:r>
                <a:r>
                  <a:rPr lang="en-US" dirty="0"/>
                  <a:t>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chamadas</a:t>
                </a:r>
                <a:r>
                  <a:rPr lang="en-US" dirty="0"/>
                  <a:t> de </a:t>
                </a:r>
                <a:r>
                  <a:rPr lang="en-US" b="1" dirty="0" err="1"/>
                  <a:t>ativações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BF615BC-2786-CA1F-664E-992832AC0C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2663" r="-1396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xmlns="" id="{9B36616D-E944-80BF-04DE-C825CF6150D1}"/>
                  </a:ext>
                </a:extLst>
              </p:cNvPr>
              <p:cNvSpPr/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Retângulo 12">
                <a:extLst>
                  <a:ext uri="{FF2B5EF4-FFF2-40B4-BE49-F238E27FC236}">
                    <a16:creationId xmlns:a16="http://schemas.microsoft.com/office/drawing/2014/main" id="{9B36616D-E944-80BF-04DE-C825CF6150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618" y="4785958"/>
                <a:ext cx="12371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xmlns="" id="{15EECB81-4888-BE43-D57A-7E0AC3433AAA}"/>
              </a:ext>
            </a:extLst>
          </p:cNvPr>
          <p:cNvGrpSpPr/>
          <p:nvPr/>
        </p:nvGrpSpPr>
        <p:grpSpPr>
          <a:xfrm>
            <a:off x="2824117" y="3859500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xmlns="" id="{633D9C31-DFA6-3082-DD70-2794AB92394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Elipse 4">
                  <a:extLst>
                    <a:ext uri="{FF2B5EF4-FFF2-40B4-BE49-F238E27FC236}">
                      <a16:creationId xmlns:a16="http://schemas.microsoft.com/office/drawing/2014/main" id="{633D9C31-DFA6-3082-DD70-2794AB9239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xmlns="" id="{F5BA69D4-07C9-A369-D2AF-6B93C40D70CD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Elipse 5">
                  <a:extLst>
                    <a:ext uri="{FF2B5EF4-FFF2-40B4-BE49-F238E27FC236}">
                      <a16:creationId xmlns:a16="http://schemas.microsoft.com/office/drawing/2014/main" id="{F5BA69D4-07C9-A369-D2AF-6B93C40D7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xmlns="" id="{D327F739-FF71-EB11-0FD1-6CFEA4FD3BF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Elipse 6">
                  <a:extLst>
                    <a:ext uri="{FF2B5EF4-FFF2-40B4-BE49-F238E27FC236}">
                      <a16:creationId xmlns:a16="http://schemas.microsoft.com/office/drawing/2014/main" id="{D327F739-FF71-EB11-0FD1-6CFEA4FD3BF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7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Conector de Seta Reta 7">
              <a:extLst>
                <a:ext uri="{FF2B5EF4-FFF2-40B4-BE49-F238E27FC236}">
                  <a16:creationId xmlns:a16="http://schemas.microsoft.com/office/drawing/2014/main" xmlns="" id="{3EB6652E-D7A4-3D53-0846-F1BCA7D3B54C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12">
              <a:extLst>
                <a:ext uri="{FF2B5EF4-FFF2-40B4-BE49-F238E27FC236}">
                  <a16:creationId xmlns:a16="http://schemas.microsoft.com/office/drawing/2014/main" xmlns="" id="{F3DFC699-3B19-0FEE-C53B-3464E77AFC53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xmlns="" id="{41E9C926-F8C0-AD63-B23E-0F7B0A223C05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Retângulo 10">
                  <a:extLst>
                    <a:ext uri="{FF2B5EF4-FFF2-40B4-BE49-F238E27FC236}">
                      <a16:creationId xmlns:a16="http://schemas.microsoft.com/office/drawing/2014/main" id="{41E9C926-F8C0-AD63-B23E-0F7B0A223C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6667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xmlns="" id="{1330C992-F346-CC20-7943-524305990CF2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3">
                  <a:extLst>
                    <a:ext uri="{FF2B5EF4-FFF2-40B4-BE49-F238E27FC236}">
                      <a16:creationId xmlns:a16="http://schemas.microsoft.com/office/drawing/2014/main" id="{1330C992-F346-CC20-7943-524305990C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Conector de Seta Reta 17">
              <a:extLst>
                <a:ext uri="{FF2B5EF4-FFF2-40B4-BE49-F238E27FC236}">
                  <a16:creationId xmlns:a16="http://schemas.microsoft.com/office/drawing/2014/main" xmlns="" id="{312E89C0-1C24-ACB0-845A-4621F2D3BD18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FF421B8B-79CA-D541-EEB0-3F7DF7B31E52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421B8B-79CA-D541-EEB0-3F7DF7B31E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0FEA34E7-938B-9A3F-73F6-346EE9769A3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EA34E7-938B-9A3F-73F6-346EE9769A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7BE36F37-8A2C-6242-BF23-F377A09A83A0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BE36F37-8A2C-6242-BF23-F377A09A8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E760C9FE-D9DE-D5B0-9045-04D52F8CD414}"/>
                    </a:ext>
                  </a:extLst>
                </p:cNvPr>
                <p:cNvSpPr txBox="1"/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760C9FE-D9DE-D5B0-9045-04D52F8CD4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4301" y="4416626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xmlns="" id="{82B2D064-F37C-9C64-51DF-13B09FB79146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xmlns="" id="{C22EA230-25F4-2AAD-DC8A-A42A708F2C4C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22EA230-25F4-2AAD-DC8A-A42A708F2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xmlns="" id="{BEB8D773-FD39-350F-AD63-7E27AC57E1E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EB8D773-FD39-350F-AD63-7E27AC57E1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79394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2DF1B7-8386-676F-A207-485C7F06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22D5A62-CE6E-1AA5-57FE-1C7135D81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Como calculamos a derivada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?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 smtClean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22D5A62-CE6E-1AA5-57FE-1C7135D81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 rotWithShape="0"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xmlns="" id="{8353461F-D7CA-7028-DE2D-B74AE7BD8BE3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xmlns="" id="{9846BC50-02B5-633B-6165-2EB870283B9E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9846BC50-02B5-633B-6165-2EB870283B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xmlns="" id="{89BCEC54-4E20-5A96-6990-4F12F15BC7B4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89BCEC54-4E20-5A96-6990-4F12F15BC7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xmlns="" id="{6ECA5E71-B209-E01F-21B7-53B29AC093CC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6ECA5E71-B209-E01F-21B7-53B29AC093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:a16="http://schemas.microsoft.com/office/drawing/2014/main" xmlns="" id="{7ABF4E32-E935-559B-0DAE-36252CB986F6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:a16="http://schemas.microsoft.com/office/drawing/2014/main" xmlns="" id="{0EFE6466-BF10-C27D-2D10-5E9265EA4B9A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xmlns="" id="{D7E07E71-B391-53C6-D77F-A795361AFA1C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D7E07E71-B391-53C6-D77F-A795361AFA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xmlns="" id="{775AA0A4-77CB-5E86-7BAD-8437E2FAF4D8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775AA0A4-77CB-5E86-7BAD-8437E2FAF4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:a16="http://schemas.microsoft.com/office/drawing/2014/main" xmlns="" id="{974D17E7-41A8-8865-2776-B3EE2C176F20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7521291-7A43-0F62-0816-4B0443750E9E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7521291-7A43-0F62-0816-4B0443750E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907605AB-C0DC-A233-ED9A-FAC79C407088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07605AB-C0DC-A233-ED9A-FAC79C4070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xmlns="" id="{87343517-BA38-6BF9-4E1B-513FBFBF612F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7343517-BA38-6BF9-4E1B-513FBFBF61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F337D4A8-0C54-30B1-521C-FBC17333FDD2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F337D4A8-0C54-30B1-521C-FBC17333FD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xmlns="" id="{93ECE202-BD62-15EC-E1DF-DF61B6B9EB0F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xmlns="" id="{0E70C0A8-77B1-D3E4-DEBB-69B7CFD73D1E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E70C0A8-77B1-D3E4-DEBB-69B7CFD73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D3998E93-C3A5-A9B9-A443-C9200A55C625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3998E93-C3A5-A9B9-A443-C9200A55C6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xmlns="" id="{511DB839-F69B-5436-F7B6-E5F866F7D24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11DB839-F69B-5436-F7B6-E5F866F7D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xmlns="" id="{0958DEC8-4486-A073-A24E-9DD3214004C0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958DEC8-4486-A073-A24E-9DD321400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45302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959F49-C0EE-A65D-6D87-C23C536B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79FFF17-A855-AFE9-F0FE-D69D38AEE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 da cadeia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4E07120-8BEF-869A-2AD7-141945FC87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vetor gradiente para a atualização de um peso de qualquer camada inclui o produto das derivadas das funções de ativação dos nós desde a camada de saída até a camada desejada.</a:t>
                </a:r>
              </a:p>
              <a:p>
                <a:r>
                  <a:rPr lang="pt-BR" dirty="0"/>
                  <a:t>Essa observação será útil para entendermos os problemas do desaparecimento e explosão do gradiente.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E07120-8BEF-869A-2AD7-141945FC87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9435" cy="5032375"/>
              </a:xfrm>
              <a:blipFill>
                <a:blip r:embed="rId3"/>
                <a:stretch>
                  <a:fillRect l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xmlns="" id="{25F4EB85-2A0F-77F3-E70D-4C9D6DE49915}"/>
              </a:ext>
            </a:extLst>
          </p:cNvPr>
          <p:cNvGrpSpPr/>
          <p:nvPr/>
        </p:nvGrpSpPr>
        <p:grpSpPr>
          <a:xfrm>
            <a:off x="2824117" y="1825624"/>
            <a:ext cx="6543765" cy="685593"/>
            <a:chOff x="2824117" y="4105306"/>
            <a:chExt cx="6543765" cy="6855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xmlns="" id="{0DF451FF-252E-0ED6-AFC8-BBBDC99EE7D3}"/>
                    </a:ext>
                  </a:extLst>
                </p:cNvPr>
                <p:cNvSpPr/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Elipse 4">
                  <a:extLst>
                    <a:ext uri="{FF2B5EF4-FFF2-40B4-BE49-F238E27FC236}">
                      <a16:creationId xmlns:a16="http://schemas.microsoft.com/office/drawing/2014/main" id="{0DF451FF-252E-0ED6-AFC8-BBBDC99EE7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08" y="419197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xmlns="" id="{3CBB6E6D-DAB2-09E5-DD33-36B8D4A45190}"/>
                    </a:ext>
                  </a:extLst>
                </p:cNvPr>
                <p:cNvSpPr/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Elipse 5">
                  <a:extLst>
                    <a:ext uri="{FF2B5EF4-FFF2-40B4-BE49-F238E27FC236}">
                      <a16:creationId xmlns:a16="http://schemas.microsoft.com/office/drawing/2014/main" id="{3CBB6E6D-DAB2-09E5-DD33-36B8D4A4519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880" y="419197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l="-1042" r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xmlns="" id="{9EA08535-4021-80BA-226E-967C0A9D9A70}"/>
                    </a:ext>
                  </a:extLst>
                </p:cNvPr>
                <p:cNvSpPr/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Elipse 6">
                  <a:extLst>
                    <a:ext uri="{FF2B5EF4-FFF2-40B4-BE49-F238E27FC236}">
                      <a16:creationId xmlns:a16="http://schemas.microsoft.com/office/drawing/2014/main" id="{9EA08535-4021-80BA-226E-967C0A9D9A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8332" y="419197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Conector de Seta Reta 7">
              <a:extLst>
                <a:ext uri="{FF2B5EF4-FFF2-40B4-BE49-F238E27FC236}">
                  <a16:creationId xmlns:a16="http://schemas.microsoft.com/office/drawing/2014/main" xmlns="" id="{A11E8B99-7CCE-788B-5F00-5BD90E4A7D69}"/>
                </a:ext>
              </a:extLst>
            </p:cNvPr>
            <p:cNvCxnSpPr>
              <a:cxnSpLocks/>
            </p:cNvCxnSpPr>
            <p:nvPr/>
          </p:nvCxnSpPr>
          <p:spPr>
            <a:xfrm>
              <a:off x="4206507" y="4479970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2">
              <a:extLst>
                <a:ext uri="{FF2B5EF4-FFF2-40B4-BE49-F238E27FC236}">
                  <a16:creationId xmlns:a16="http://schemas.microsoft.com/office/drawing/2014/main" xmlns="" id="{16A531C1-9B34-4202-B1FA-074BD5A23B85}"/>
                </a:ext>
              </a:extLst>
            </p:cNvPr>
            <p:cNvCxnSpPr/>
            <p:nvPr/>
          </p:nvCxnSpPr>
          <p:spPr>
            <a:xfrm>
              <a:off x="7814332" y="447997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xmlns="" id="{906CF6EB-5141-3C81-7C9C-26A36C81B480}"/>
                    </a:ext>
                  </a:extLst>
                </p:cNvPr>
                <p:cNvSpPr/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Retângulo 10">
                  <a:extLst>
                    <a:ext uri="{FF2B5EF4-FFF2-40B4-BE49-F238E27FC236}">
                      <a16:creationId xmlns:a16="http://schemas.microsoft.com/office/drawing/2014/main" id="{906CF6EB-5141-3C81-7C9C-26A36C81B4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721" y="4260973"/>
                  <a:ext cx="1290161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6557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xmlns="" id="{6439ADC2-D04E-55B5-F201-6C2D55A65394}"/>
                    </a:ext>
                  </a:extLst>
                </p:cNvPr>
                <p:cNvSpPr/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Retângulo 13">
                  <a:extLst>
                    <a:ext uri="{FF2B5EF4-FFF2-40B4-BE49-F238E27FC236}">
                      <a16:creationId xmlns:a16="http://schemas.microsoft.com/office/drawing/2014/main" id="{6439ADC2-D04E-55B5-F201-6C2D55A653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4117" y="4278202"/>
                  <a:ext cx="4192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Conector de Seta Reta 17">
              <a:extLst>
                <a:ext uri="{FF2B5EF4-FFF2-40B4-BE49-F238E27FC236}">
                  <a16:creationId xmlns:a16="http://schemas.microsoft.com/office/drawing/2014/main" xmlns="" id="{EBE85167-55DF-8F1E-D1BD-32C79C2D1084}"/>
                </a:ext>
              </a:extLst>
            </p:cNvPr>
            <p:cNvCxnSpPr/>
            <p:nvPr/>
          </p:nvCxnSpPr>
          <p:spPr>
            <a:xfrm>
              <a:off x="3123024" y="4485279"/>
              <a:ext cx="50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B08B6112-66C0-EF5E-D40C-CB0F43BD4903}"/>
                    </a:ext>
                  </a:extLst>
                </p:cNvPr>
                <p:cNvSpPr txBox="1"/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08B6112-66C0-EF5E-D40C-CB0F43BD4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652" y="4120741"/>
                  <a:ext cx="50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2229581D-0CB8-B97B-99EC-3870B0C571E7}"/>
                    </a:ext>
                  </a:extLst>
                </p:cNvPr>
                <p:cNvSpPr txBox="1"/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229581D-0CB8-B97B-99EC-3870B0C57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134" y="4105306"/>
                  <a:ext cx="123274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xmlns="" id="{C59B8D0D-C168-0DEF-7032-780D8BD52DB8}"/>
                    </a:ext>
                  </a:extLst>
                </p:cNvPr>
                <p:cNvSpPr txBox="1"/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59B8D0D-C168-0DEF-7032-780D8BD52D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5253" y="4105306"/>
                  <a:ext cx="1232743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413608BC-509F-47CF-C8C7-736D8D70B38D}"/>
                    </a:ext>
                  </a:extLst>
                </p:cNvPr>
                <p:cNvSpPr txBox="1"/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13608BC-509F-47CF-C8C7-736D8D70B3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4469" y="4406794"/>
                  <a:ext cx="53585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ector de Seta Reta 7">
              <a:extLst>
                <a:ext uri="{FF2B5EF4-FFF2-40B4-BE49-F238E27FC236}">
                  <a16:creationId xmlns:a16="http://schemas.microsoft.com/office/drawing/2014/main" xmlns="" id="{5D9A51C3-8AAB-F25D-CA8D-57F7AE5F54BC}"/>
                </a:ext>
              </a:extLst>
            </p:cNvPr>
            <p:cNvCxnSpPr>
              <a:cxnSpLocks/>
            </p:cNvCxnSpPr>
            <p:nvPr/>
          </p:nvCxnSpPr>
          <p:spPr>
            <a:xfrm>
              <a:off x="6017226" y="4474638"/>
              <a:ext cx="122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xmlns="" id="{DBCA4DDE-7466-5839-23BD-BF84059D5A8F}"/>
                    </a:ext>
                  </a:extLst>
                </p:cNvPr>
                <p:cNvSpPr txBox="1"/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DBCA4DDE-7466-5839-23BD-BF84059D5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6951" y="4406794"/>
                  <a:ext cx="53585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D806064B-863B-8125-E188-56029193EBC2}"/>
                    </a:ext>
                  </a:extLst>
                </p:cNvPr>
                <p:cNvSpPr txBox="1"/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806064B-863B-8125-E188-56029193EB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274" y="4421567"/>
                  <a:ext cx="53585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xmlns="" id="{69271769-A4F8-1B13-5BBA-5C50F1904527}"/>
                  </a:ext>
                </a:extLst>
              </p:cNvPr>
              <p:cNvSpPr txBox="1"/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9271769-A4F8-1B13-5BBA-5C50F1904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589" y="2155628"/>
                <a:ext cx="82519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xmlns="" id="{D8F8E7D3-7811-A713-AA0A-6E81D86279E2}"/>
                  </a:ext>
                </a:extLst>
              </p:cNvPr>
              <p:cNvSpPr txBox="1"/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8F8E7D3-7811-A713-AA0A-6E81D8627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384" y="2136461"/>
                <a:ext cx="757084" cy="369332"/>
              </a:xfrm>
              <a:prstGeom prst="rect">
                <a:avLst/>
              </a:prstGeom>
              <a:blipFill>
                <a:blip r:embed="rId1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A59F6DF8-3471-00E6-711E-5D1D4947B53E}"/>
              </a:ext>
            </a:extLst>
          </p:cNvPr>
          <p:cNvSpPr/>
          <p:nvPr/>
        </p:nvSpPr>
        <p:spPr>
          <a:xfrm>
            <a:off x="4870455" y="2674375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57AA49B-7357-E6EF-02B7-310898999E79}"/>
              </a:ext>
            </a:extLst>
          </p:cNvPr>
          <p:cNvSpPr/>
          <p:nvPr/>
        </p:nvSpPr>
        <p:spPr>
          <a:xfrm>
            <a:off x="714437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EE2B75B0-B3A1-B9D4-02EF-5E1B13BE504B}"/>
              </a:ext>
            </a:extLst>
          </p:cNvPr>
          <p:cNvSpPr/>
          <p:nvPr/>
        </p:nvSpPr>
        <p:spPr>
          <a:xfrm>
            <a:off x="9418295" y="2691604"/>
            <a:ext cx="1101097" cy="10127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843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dirty="0"/>
                  <a:t>vetor gradiente </a:t>
                </a:r>
                <a:r>
                  <a:rPr lang="pt-BR" dirty="0"/>
                  <a:t>para todos os pesos do nó 1 da camada oculta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pt-BR" dirty="0"/>
                  <a:t>, de forma genérica, i.e., não vamos assumir nenhum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 r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5907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Usaremos o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 como função de erro</a:t>
                </a:r>
                <a:endParaRPr lang="pt-BR" sz="2800" dirty="0"/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dirty="0" smtClean="0"/>
              </a:p>
              <a:p>
                <a:pPr marL="0" indent="0" algn="ctr">
                  <a:buNone/>
                </a:pPr>
                <a:endParaRPr lang="pt-BR" sz="5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amostras,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é o número de nós na camada de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rótulo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nó da camada de saída, respectivamente, ambos correspondentes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amostra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sz="2800" dirty="0"/>
                  <a:t> representa o índice da última camada.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 rotWithShape="0">
                <a:blip r:embed="rId2"/>
                <a:stretch>
                  <a:fillRect l="-1142" t="-1937" r="-11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7857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0FFEE69-E068-E1DA-235F-CA5E09C5E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51C0860-37BF-1E91-5400-161CEB8D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1E90DBE-E2F7-6A62-23BE-53B1405365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rede possui uma camada oculta com dois nós e uma camada de saída com um único nó,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Além disso, por motivos didáticos, vamos considerar um único exemplo de entrada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seu respectivo rótulo,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fazendo com que o erro se torne</a:t>
                </a: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sua vez, o gradiente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1E90DBE-E2F7-6A62-23BE-53B1405365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6148" cy="5032375"/>
              </a:xfrm>
              <a:blipFill rotWithShape="0">
                <a:blip r:embed="rId2"/>
                <a:stretch>
                  <a:fillRect l="-1142" t="-1937" r="-119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/>
              <p:cNvSpPr/>
              <p:nvPr/>
            </p:nvSpPr>
            <p:spPr>
              <a:xfrm>
                <a:off x="9628555" y="6116899"/>
                <a:ext cx="2563445" cy="7411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sz="1400" dirty="0" smtClean="0"/>
                  <a:t> não </a:t>
                </a:r>
                <a:r>
                  <a:rPr lang="pt-BR" sz="1400" dirty="0"/>
                  <a:t>significa “ao quadrado”, mas sim a indicação </a:t>
                </a:r>
                <a:r>
                  <a:rPr lang="pt-BR" sz="1400" dirty="0" smtClean="0"/>
                  <a:t>do índice da camada.</a:t>
                </a:r>
                <a:endParaRPr lang="pt-BR" sz="1400" dirty="0"/>
              </a:p>
            </p:txBody>
          </p:sp>
        </mc:Choice>
        <mc:Fallback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8555" y="6116899"/>
                <a:ext cx="2563445" cy="741100"/>
              </a:xfrm>
              <a:prstGeom prst="rect">
                <a:avLst/>
              </a:prstGeom>
              <a:blipFill rotWithShape="0">
                <a:blip r:embed="rId3"/>
                <a:stretch>
                  <a:fillRect r="-475" b="-81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5710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</a:t>
                </a:r>
                <a:r>
                  <a:rPr lang="pt-BR" dirty="0" smtClean="0"/>
                  <a:t>nós são inicializados de forma aleatória.</a:t>
                </a:r>
                <a:endParaRPr lang="pt-BR" dirty="0"/>
              </a:p>
              <a:p>
                <a:r>
                  <a:rPr lang="pt-BR" dirty="0" smtClean="0"/>
                  <a:t>Assim</a:t>
                </a:r>
                <a:r>
                  <a:rPr lang="pt-BR" dirty="0"/>
                  <a:t>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dirty="0"/>
                  <a:t>direta</a:t>
                </a:r>
                <a:r>
                  <a:rPr lang="pt-BR" dirty="0"/>
                  <a:t> </a:t>
                </a:r>
                <a:r>
                  <a:rPr lang="pt-BR" dirty="0" smtClean="0"/>
                  <a:t>(</a:t>
                </a:r>
                <a:r>
                  <a:rPr lang="pt-BR" b="1" i="1" dirty="0" err="1" smtClean="0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 rotWithShape="0">
                <a:blip r:embed="rId2"/>
                <a:stretch>
                  <a:fillRect l="-146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xmlns="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xmlns="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9361466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776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Aplicando </a:t>
                </a:r>
                <a:r>
                  <a:rPr lang="pt-BR" dirty="0"/>
                  <a:t>a regra da </a:t>
                </a:r>
                <a:r>
                  <a:rPr lang="pt-BR" dirty="0" smtClean="0"/>
                  <a:t>cadeia, a derivada </a:t>
                </a:r>
                <a:r>
                  <a:rPr lang="pt-BR" dirty="0"/>
                  <a:t>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</a:t>
                </a:r>
                <a:r>
                  <a:rPr lang="pt-BR" dirty="0" smtClean="0"/>
                  <a:t>por</a:t>
                </a: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 smtClean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dirty="0" smtClean="0"/>
                  <a:t>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 smtClean="0"/>
                  <a:t> é a derivada parcial da função de ativação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 smtClean="0"/>
                  <a:t>-</a:t>
                </a:r>
                <a:r>
                  <a:rPr lang="pt-BR" dirty="0" err="1" smtClean="0"/>
                  <a:t>ésima</a:t>
                </a:r>
                <a:r>
                  <a:rPr lang="pt-BR" dirty="0" smtClean="0"/>
                  <a:t> camada em relação à ativação 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 smtClean="0"/>
                  <a:t>-</a:t>
                </a:r>
                <a:r>
                  <a:rPr lang="pt-BR" dirty="0" err="1" smtClean="0"/>
                  <a:t>ésimo</a:t>
                </a:r>
                <a:r>
                  <a:rPr lang="pt-BR" dirty="0" smtClean="0"/>
                  <a:t> no desta camada.</a:t>
                </a:r>
                <a:endParaRPr lang="pt-BR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77600" cy="5032376"/>
              </a:xfrm>
              <a:blipFill rotWithShape="0">
                <a:blip r:embed="rId2"/>
                <a:stretch>
                  <a:fillRect l="-1135" t="-1937" r="-3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5249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 rotWithShape="0"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154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Assim, o vetor gradiente com </a:t>
                </a:r>
                <a:r>
                  <a:rPr lang="pt-BR" dirty="0"/>
                  <a:t>as derivadas parciais com relação </a:t>
                </a:r>
                <a:r>
                  <a:rPr lang="pt-BR" dirty="0" smtClean="0"/>
                  <a:t>a todos os pesos </a:t>
                </a:r>
                <a:r>
                  <a:rPr lang="pt-BR" dirty="0"/>
                  <a:t>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  <a:r>
                  <a:rPr lang="pt-BR" dirty="0"/>
                  <a:t>é</a:t>
                </a:r>
                <a:r>
                  <a:rPr lang="pt-BR" dirty="0" smtClean="0"/>
                  <a:t> apresentado abaixo</a:t>
                </a:r>
                <a:endParaRPr lang="pt-BR" dirty="0"/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 rotWithShape="0">
                <a:blip r:embed="rId2"/>
                <a:stretch>
                  <a:fillRect l="-976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E871D84-F6C8-92EF-0526-F8A532D2107D}"/>
              </a:ext>
            </a:extLst>
          </p:cNvPr>
          <p:cNvSpPr/>
          <p:nvPr/>
        </p:nvSpPr>
        <p:spPr>
          <a:xfrm>
            <a:off x="10123422" y="4803297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xmlns="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9541689" y="4779464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869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dissipação do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Vamos entender esse problema através de um exemplo.</a:t>
                </a:r>
              </a:p>
              <a:p>
                <a:r>
                  <a:rPr lang="pt-BR" dirty="0"/>
                  <a:t>Dada a simplificação de uma rede neural mostrada na figura abaixo, a qual contém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Três nós com as seguintes funções de ativação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Pesos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, 1 e 1, conectando os três nós,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Entrada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atualizarmos o valor do peso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 com o gradiente descendente, precisamos encontrar a derivada parcial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em relação à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Para encontrar a derivada, usamos a regra da cadeia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928" t="-2801" r="-2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23">
            <a:extLst>
              <a:ext uri="{FF2B5EF4-FFF2-40B4-BE49-F238E27FC236}">
                <a16:creationId xmlns:a16="http://schemas.microsoft.com/office/drawing/2014/main" xmlns="" id="{B2B2E9E4-40EA-4EF3-A1B4-7C4B37E726F4}"/>
              </a:ext>
            </a:extLst>
          </p:cNvPr>
          <p:cNvGrpSpPr/>
          <p:nvPr/>
        </p:nvGrpSpPr>
        <p:grpSpPr>
          <a:xfrm>
            <a:off x="2729869" y="6016442"/>
            <a:ext cx="6903711" cy="749666"/>
            <a:chOff x="4473339" y="2985718"/>
            <a:chExt cx="6903711" cy="749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xmlns="" id="{6E02C4AE-F573-42F7-B89A-4B4B97A1874A}"/>
                    </a:ext>
                  </a:extLst>
                </p:cNvPr>
                <p:cNvSpPr/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Elipse 3">
                  <a:extLst>
                    <a:ext uri="{FF2B5EF4-FFF2-40B4-BE49-F238E27FC236}">
                      <a16:creationId xmlns:a16="http://schemas.microsoft.com/office/drawing/2014/main" id="{6E02C4AE-F573-42F7-B89A-4B4B97A187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0225" y="3067050"/>
                  <a:ext cx="576000" cy="576000"/>
                </a:xfrm>
                <a:prstGeom prst="ellipse">
                  <a:avLst/>
                </a:prstGeom>
                <a:blipFill>
                  <a:blip r:embed="rId4"/>
                  <a:stretch>
                    <a:fillRect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xmlns="" id="{72D7C50D-C426-411D-8AD2-049893155314}"/>
                    </a:ext>
                  </a:extLst>
                </p:cNvPr>
                <p:cNvSpPr/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Elipse 4">
                  <a:extLst>
                    <a:ext uri="{FF2B5EF4-FFF2-40B4-BE49-F238E27FC236}">
                      <a16:creationId xmlns:a16="http://schemas.microsoft.com/office/drawing/2014/main" id="{72D7C50D-C426-411D-8AD2-0498931553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462" y="3067050"/>
                  <a:ext cx="576000" cy="576000"/>
                </a:xfrm>
                <a:prstGeom prst="ellipse">
                  <a:avLst/>
                </a:prstGeom>
                <a:blipFill>
                  <a:blip r:embed="rId5"/>
                  <a:stretch>
                    <a:fillRect r="-51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Elipse 6">
                  <a:extLst>
                    <a:ext uri="{FF2B5EF4-FFF2-40B4-BE49-F238E27FC236}">
                      <a16:creationId xmlns:a16="http://schemas.microsoft.com/office/drawing/2014/main" xmlns="" id="{F3B03121-AED8-4DD2-BFA9-11F1631876D1}"/>
                    </a:ext>
                  </a:extLst>
                </p:cNvPr>
                <p:cNvSpPr/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Elipse 5">
                  <a:extLst>
                    <a:ext uri="{FF2B5EF4-FFF2-40B4-BE49-F238E27FC236}">
                      <a16:creationId xmlns:a16="http://schemas.microsoft.com/office/drawing/2014/main" id="{F3B03121-AED8-4DD2-BFA9-11F1631876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7275" y="3067050"/>
                  <a:ext cx="576000" cy="576000"/>
                </a:xfrm>
                <a:prstGeom prst="ellipse">
                  <a:avLst/>
                </a:prstGeom>
                <a:blipFill>
                  <a:blip r:embed="rId6"/>
                  <a:stretch>
                    <a:fillRect l="-3093" r="-4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xmlns="" id="{4DB247EE-A5CD-4605-B5AE-0574C92FD396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6186225" y="3355050"/>
              <a:ext cx="94323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9">
              <a:extLst>
                <a:ext uri="{FF2B5EF4-FFF2-40B4-BE49-F238E27FC236}">
                  <a16:creationId xmlns:a16="http://schemas.microsoft.com/office/drawing/2014/main" xmlns="" id="{8FDC2F6D-7AEF-4D5B-AD32-8005F3C27C47}"/>
                </a:ext>
              </a:extLst>
            </p:cNvPr>
            <p:cNvCxnSpPr>
              <a:stCxn id="6" idx="6"/>
              <a:endCxn id="7" idx="2"/>
            </p:cNvCxnSpPr>
            <p:nvPr/>
          </p:nvCxnSpPr>
          <p:spPr>
            <a:xfrm>
              <a:off x="7705462" y="3355050"/>
              <a:ext cx="97181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12">
              <a:extLst>
                <a:ext uri="{FF2B5EF4-FFF2-40B4-BE49-F238E27FC236}">
                  <a16:creationId xmlns:a16="http://schemas.microsoft.com/office/drawing/2014/main" xmlns="" id="{894AD04A-1FF4-48E9-81C3-E481324E92F6}"/>
                </a:ext>
              </a:extLst>
            </p:cNvPr>
            <p:cNvCxnSpPr/>
            <p:nvPr/>
          </p:nvCxnSpPr>
          <p:spPr>
            <a:xfrm>
              <a:off x="9253275" y="3355050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xmlns="" id="{BB399603-1FD4-44D2-8C65-4FA371297954}"/>
                    </a:ext>
                  </a:extLst>
                </p:cNvPr>
                <p:cNvSpPr/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id="{BB399603-1FD4-44D2-8C65-4FA3712979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648" y="3133618"/>
                  <a:ext cx="188840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xmlns="" id="{FAB24333-A3E1-42FB-A469-DC8B3C8AE5A8}"/>
                    </a:ext>
                  </a:extLst>
                </p:cNvPr>
                <p:cNvSpPr/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Retângulo 14">
                  <a:extLst>
                    <a:ext uri="{FF2B5EF4-FFF2-40B4-BE49-F238E27FC236}">
                      <a16:creationId xmlns:a16="http://schemas.microsoft.com/office/drawing/2014/main" id="{FAB24333-A3E1-42FB-A469-DC8B3C8AE5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61" y="3366052"/>
                  <a:ext cx="971813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1887" r="-4403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tângulo 12">
                  <a:extLst>
                    <a:ext uri="{FF2B5EF4-FFF2-40B4-BE49-F238E27FC236}">
                      <a16:creationId xmlns:a16="http://schemas.microsoft.com/office/drawing/2014/main" xmlns="" id="{F6753DB7-75B6-4A62-9915-3372A17CDB94}"/>
                    </a:ext>
                  </a:extLst>
                </p:cNvPr>
                <p:cNvSpPr/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F6753DB7-75B6-4A62-9915-3372A17CD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6223" y="3359550"/>
                  <a:ext cx="943237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tângulo 13">
                  <a:extLst>
                    <a:ext uri="{FF2B5EF4-FFF2-40B4-BE49-F238E27FC236}">
                      <a16:creationId xmlns:a16="http://schemas.microsoft.com/office/drawing/2014/main" xmlns="" id="{8BEB5D43-CA6F-418B-AC1B-D8E50C603710}"/>
                    </a:ext>
                  </a:extLst>
                </p:cNvPr>
                <p:cNvSpPr/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id="{8BEB5D43-CA6F-418B-AC1B-D8E50C6037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3339" y="3170384"/>
                  <a:ext cx="8488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onector de Seta Reta 17">
              <a:extLst>
                <a:ext uri="{FF2B5EF4-FFF2-40B4-BE49-F238E27FC236}">
                  <a16:creationId xmlns:a16="http://schemas.microsoft.com/office/drawing/2014/main" xmlns="" id="{54CB43BD-2566-471D-88EE-64FDFF39B9D8}"/>
                </a:ext>
              </a:extLst>
            </p:cNvPr>
            <p:cNvCxnSpPr/>
            <p:nvPr/>
          </p:nvCxnSpPr>
          <p:spPr>
            <a:xfrm>
              <a:off x="5250225" y="3360359"/>
              <a:ext cx="360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D9842835-461A-4F7C-8DC5-389F1085CC06}"/>
                    </a:ext>
                  </a:extLst>
                </p:cNvPr>
                <p:cNvSpPr/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Retângulo 18">
                  <a:extLst>
                    <a:ext uri="{FF2B5EF4-FFF2-40B4-BE49-F238E27FC236}">
                      <a16:creationId xmlns:a16="http://schemas.microsoft.com/office/drawing/2014/main" id="{D9842835-461A-4F7C-8DC5-389F1085CC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3117" y="3020937"/>
                  <a:ext cx="41421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tângulo 16">
                  <a:extLst>
                    <a:ext uri="{FF2B5EF4-FFF2-40B4-BE49-F238E27FC236}">
                      <a16:creationId xmlns:a16="http://schemas.microsoft.com/office/drawing/2014/main" xmlns="" id="{ACDAE330-BCC1-4F77-8EA6-C3DB7D574120}"/>
                    </a:ext>
                  </a:extLst>
                </p:cNvPr>
                <p:cNvSpPr/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ACDAE330-BCC1-4F77-8EA6-C3DB7D57412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4759" y="2985718"/>
                  <a:ext cx="94470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D7251400-1BF3-4485-B8CB-FDE69339835B}"/>
                    </a:ext>
                  </a:extLst>
                </p:cNvPr>
                <p:cNvSpPr/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tângulo 20">
                  <a:extLst>
                    <a:ext uri="{FF2B5EF4-FFF2-40B4-BE49-F238E27FC236}">
                      <a16:creationId xmlns:a16="http://schemas.microsoft.com/office/drawing/2014/main" id="{D7251400-1BF3-4485-B8CB-FDE6933983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5459" y="2996720"/>
                  <a:ext cx="971816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7993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8481</TotalTime>
  <Words>4204</Words>
  <Application>Microsoft Office PowerPoint</Application>
  <PresentationFormat>Widescreen</PresentationFormat>
  <Paragraphs>502</Paragraphs>
  <Slides>45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45</vt:i4>
      </vt:variant>
    </vt:vector>
  </HeadingPairs>
  <TitlesOfParts>
    <vt:vector size="54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Apresentação do PowerPoint</vt:lpstr>
      <vt:lpstr>Redes neurais artificiais</vt:lpstr>
      <vt:lpstr>Apresentação do PowerPoint</vt:lpstr>
      <vt:lpstr>Apresentação do PowerPoint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Apresentação do PowerPoint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Apresentação do PowerPoint</vt:lpstr>
      <vt:lpstr>Backpropagation</vt:lpstr>
      <vt:lpstr>Backpropagation</vt:lpstr>
      <vt:lpstr>Backpropagation</vt:lpstr>
      <vt:lpstr>Regra da cadeia</vt:lpstr>
      <vt:lpstr>Regra da cadeia</vt:lpstr>
      <vt:lpstr>Regra da cadeia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Apresentação do PowerPoint</vt:lpstr>
      <vt:lpstr>Apresentação do PowerPoint</vt:lpstr>
      <vt:lpstr>O problema da dissipação do gradiente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1824</cp:revision>
  <dcterms:created xsi:type="dcterms:W3CDTF">2020-01-20T13:50:05Z</dcterms:created>
  <dcterms:modified xsi:type="dcterms:W3CDTF">2026-03-08T21:21:41Z</dcterms:modified>
</cp:coreProperties>
</file>