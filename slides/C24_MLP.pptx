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512" r:id="rId21"/>
    <p:sldId id="563" r:id="rId22"/>
    <p:sldId id="564" r:id="rId23"/>
    <p:sldId id="560" r:id="rId24"/>
    <p:sldId id="561" r:id="rId25"/>
    <p:sldId id="562" r:id="rId26"/>
    <p:sldId id="531" r:id="rId27"/>
    <p:sldId id="550" r:id="rId28"/>
    <p:sldId id="551" r:id="rId29"/>
    <p:sldId id="566" r:id="rId30"/>
    <p:sldId id="554" r:id="rId31"/>
    <p:sldId id="579" r:id="rId32"/>
    <p:sldId id="567" r:id="rId33"/>
    <p:sldId id="547" r:id="rId34"/>
    <p:sldId id="391" r:id="rId35"/>
    <p:sldId id="392" r:id="rId36"/>
    <p:sldId id="568" r:id="rId37"/>
    <p:sldId id="569" r:id="rId38"/>
    <p:sldId id="578" r:id="rId39"/>
    <p:sldId id="570" r:id="rId40"/>
    <p:sldId id="573" r:id="rId41"/>
    <p:sldId id="574" r:id="rId42"/>
    <p:sldId id="572" r:id="rId43"/>
    <p:sldId id="581" r:id="rId44"/>
    <p:sldId id="584" r:id="rId45"/>
    <p:sldId id="580" r:id="rId46"/>
    <p:sldId id="423" r:id="rId47"/>
    <p:sldId id="607" r:id="rId48"/>
    <p:sldId id="404" r:id="rId49"/>
    <p:sldId id="407" r:id="rId50"/>
    <p:sldId id="588" r:id="rId51"/>
    <p:sldId id="589" r:id="rId52"/>
    <p:sldId id="586" r:id="rId53"/>
    <p:sldId id="587" r:id="rId54"/>
    <p:sldId id="585" r:id="rId55"/>
    <p:sldId id="583" r:id="rId56"/>
    <p:sldId id="592" r:id="rId57"/>
    <p:sldId id="557" r:id="rId58"/>
    <p:sldId id="601" r:id="rId59"/>
    <p:sldId id="593" r:id="rId60"/>
    <p:sldId id="594" r:id="rId61"/>
    <p:sldId id="595" r:id="rId62"/>
    <p:sldId id="596" r:id="rId63"/>
    <p:sldId id="597" r:id="rId64"/>
    <p:sldId id="598" r:id="rId65"/>
    <p:sldId id="599" r:id="rId66"/>
    <p:sldId id="600" r:id="rId67"/>
    <p:sldId id="606" r:id="rId68"/>
    <p:sldId id="405" r:id="rId69"/>
    <p:sldId id="406" r:id="rId7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2930" autoAdjust="0"/>
  </p:normalViewPr>
  <p:slideViewPr>
    <p:cSldViewPr snapToGrid="0">
      <p:cViewPr varScale="1">
        <p:scale>
          <a:sx n="92" d="100"/>
          <a:sy n="92" d="100"/>
        </p:scale>
        <p:origin x="148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3.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jpeg"/><Relationship Id="rId4" Type="http://schemas.openxmlformats.org/officeDocument/2006/relationships/image" Target="../media/image79.png"/></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6.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790.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2.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5.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 </a:t>
            </a:r>
          </a:p>
          <a:p>
            <a:pPr lvl="1">
              <a:buFont typeface="Wingdings" panose="05000000000000000000" pitchFamily="2" charset="2"/>
              <a:buChar char="§"/>
            </a:pPr>
            <a:r>
              <a:rPr lang="pt-BR" dirty="0"/>
              <a:t>o </a:t>
            </a:r>
            <a:r>
              <a:rPr lang="pt-BR" b="1" dirty="0"/>
              <a:t>axônio com seus terminais</a:t>
            </a:r>
            <a:r>
              <a:rPr lang="pt-BR" dirty="0"/>
              <a:t> </a:t>
            </a:r>
          </a:p>
          <a:p>
            <a:pPr lvl="1">
              <a:buFont typeface="Wingdings" panose="05000000000000000000" pitchFamily="2" charset="2"/>
              <a:buChar char="§"/>
            </a:pPr>
            <a:r>
              <a:rPr lang="pt-BR" dirty="0"/>
              <a:t>e o </a:t>
            </a:r>
            <a:r>
              <a:rPr lang="pt-BR" b="1" dirty="0"/>
              <a:t>corpo celular</a:t>
            </a:r>
            <a:r>
              <a:rPr lang="pt-BR" dirty="0"/>
              <a:t>, também chamado de </a:t>
            </a:r>
            <a:r>
              <a:rPr lang="pt-BR" b="1" dirty="0">
                <a:solidFill>
                  <a:srgbClr val="00B050"/>
                </a:solidFill>
              </a:rPr>
              <a:t>soma</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5" y="1825624"/>
            <a:ext cx="6425046"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de ativação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m:t>
                    </m:r>
                    <m:r>
                      <a:rPr lang="pt-BR" sz="2400" b="0" i="1" smtClean="0">
                        <a:latin typeface="Cambria Math" panose="02040503050406030204" pitchFamily="18" charset="0"/>
                      </a:rPr>
                      <m:t>1</m:t>
                    </m:r>
                    <m:r>
                      <a:rPr lang="pt-BR" sz="2400" b="0" i="1" smtClean="0">
                        <a:latin typeface="Cambria Math" panose="02040503050406030204" pitchFamily="18" charset="0"/>
                      </a:rPr>
                      <m:t>,…,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capaz de aprender e quão bem ela fará isso.</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a:t>
            </a:r>
            <a:r>
              <a:rPr lang="pt-BR" b="1" dirty="0">
                <a:solidFill>
                  <a:srgbClr val="7030A0"/>
                </a:solidFill>
              </a:rPr>
              <a:t>grande quantidade de dados para aprenderem uma solução geral</a:t>
            </a:r>
            <a:r>
              <a:rPr lang="pt-BR" dirty="0"/>
              <a:t>.</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931059"/>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b="-847"/>
                </a:stretch>
              </a:blipFill>
            </p:spPr>
            <p:txBody>
              <a:bodyPr/>
              <a:lstStyle/>
              <a:p>
                <a:r>
                  <a:rPr lang="en-US">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
        <p:nvSpPr>
          <p:cNvPr id="6" name="TextBox 5">
            <a:extLst>
              <a:ext uri="{FF2B5EF4-FFF2-40B4-BE49-F238E27FC236}">
                <a16:creationId xmlns:a16="http://schemas.microsoft.com/office/drawing/2014/main" id="{89179501-3107-A6C1-F7DF-DC4E29D2D7A6}"/>
              </a:ext>
            </a:extLst>
          </p:cNvPr>
          <p:cNvSpPr txBox="1"/>
          <p:nvPr/>
        </p:nvSpPr>
        <p:spPr>
          <a:xfrm>
            <a:off x="501446" y="5852305"/>
            <a:ext cx="4385186" cy="369332"/>
          </a:xfrm>
          <a:prstGeom prst="rect">
            <a:avLst/>
          </a:prstGeom>
          <a:noFill/>
        </p:spPr>
        <p:txBody>
          <a:bodyPr wrap="square">
            <a:spAutoFit/>
          </a:bodyPr>
          <a:lstStyle/>
          <a:p>
            <a:r>
              <a:rPr lang="pt-BR" dirty="0"/>
              <a:t>As irregularidades dificultam o aprendizado.</a:t>
            </a:r>
          </a:p>
        </p:txBody>
      </p:sp>
    </p:spTree>
    <p:extLst>
      <p:ext uri="{BB962C8B-B14F-4D97-AF65-F5344CB8AC3E}">
        <p14:creationId xmlns:p14="http://schemas.microsoft.com/office/powerpoint/2010/main" val="367997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0</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0</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25</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r>
                        <a:rPr lang="pt-BR" i="1" smtClean="0">
                          <a:latin typeface="Cambria Math" panose="02040503050406030204" pitchFamily="18" charset="0"/>
                        </a:rPr>
                        <m:t>−</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m:t>
                      </m:r>
                      <m:r>
                        <a:rPr lang="pt-BR" i="1">
                          <a:latin typeface="Cambria Math" panose="02040503050406030204" pitchFamily="18" charset="0"/>
                        </a:rPr>
                        <m:t>0</m:t>
                      </m:r>
                      <m:r>
                        <a:rPr lang="pt-BR" i="1">
                          <a:latin typeface="Cambria Math" panose="02040503050406030204" pitchFamily="18" charset="0"/>
                        </a:rPr>
                        <m:t>, </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9053</TotalTime>
  <Words>10681</Words>
  <Application>Microsoft Office PowerPoint</Application>
  <PresentationFormat>Widescreen</PresentationFormat>
  <Paragraphs>934</Paragraphs>
  <Slides>69</Slides>
  <Notes>38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1943</cp:revision>
  <dcterms:created xsi:type="dcterms:W3CDTF">2020-01-20T13:50:05Z</dcterms:created>
  <dcterms:modified xsi:type="dcterms:W3CDTF">2026-04-20T18:33:57Z</dcterms:modified>
</cp:coreProperties>
</file>