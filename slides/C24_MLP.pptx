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5"/>
  </p:notesMasterIdLst>
  <p:handoutMasterIdLst>
    <p:handoutMasterId r:id="rId76"/>
  </p:handoutMasterIdLst>
  <p:sldIdLst>
    <p:sldId id="256" r:id="rId2"/>
    <p:sldId id="565" r:id="rId3"/>
    <p:sldId id="417" r:id="rId4"/>
    <p:sldId id="545" r:id="rId5"/>
    <p:sldId id="544" r:id="rId6"/>
    <p:sldId id="553" r:id="rId7"/>
    <p:sldId id="556" r:id="rId8"/>
    <p:sldId id="558" r:id="rId9"/>
    <p:sldId id="445" r:id="rId10"/>
    <p:sldId id="608" r:id="rId11"/>
    <p:sldId id="451" r:id="rId12"/>
    <p:sldId id="454" r:id="rId13"/>
    <p:sldId id="453" r:id="rId14"/>
    <p:sldId id="532" r:id="rId15"/>
    <p:sldId id="609" r:id="rId16"/>
    <p:sldId id="455" r:id="rId17"/>
    <p:sldId id="610" r:id="rId18"/>
    <p:sldId id="448" r:id="rId19"/>
    <p:sldId id="533" r:id="rId20"/>
    <p:sldId id="612" r:id="rId21"/>
    <p:sldId id="512" r:id="rId22"/>
    <p:sldId id="563" r:id="rId23"/>
    <p:sldId id="614" r:id="rId24"/>
    <p:sldId id="564" r:id="rId25"/>
    <p:sldId id="560" r:id="rId26"/>
    <p:sldId id="561" r:id="rId27"/>
    <p:sldId id="562" r:id="rId28"/>
    <p:sldId id="531" r:id="rId29"/>
    <p:sldId id="550" r:id="rId30"/>
    <p:sldId id="551" r:id="rId31"/>
    <p:sldId id="566" r:id="rId32"/>
    <p:sldId id="554" r:id="rId33"/>
    <p:sldId id="579" r:id="rId34"/>
    <p:sldId id="567" r:id="rId35"/>
    <p:sldId id="547" r:id="rId36"/>
    <p:sldId id="391" r:id="rId37"/>
    <p:sldId id="392" r:id="rId38"/>
    <p:sldId id="568" r:id="rId39"/>
    <p:sldId id="569" r:id="rId40"/>
    <p:sldId id="578" r:id="rId41"/>
    <p:sldId id="570" r:id="rId42"/>
    <p:sldId id="573" r:id="rId43"/>
    <p:sldId id="574" r:id="rId44"/>
    <p:sldId id="572" r:id="rId45"/>
    <p:sldId id="581" r:id="rId46"/>
    <p:sldId id="584" r:id="rId47"/>
    <p:sldId id="580" r:id="rId48"/>
    <p:sldId id="423" r:id="rId49"/>
    <p:sldId id="607" r:id="rId50"/>
    <p:sldId id="404" r:id="rId51"/>
    <p:sldId id="407" r:id="rId52"/>
    <p:sldId id="588" r:id="rId53"/>
    <p:sldId id="589" r:id="rId54"/>
    <p:sldId id="586" r:id="rId55"/>
    <p:sldId id="587" r:id="rId56"/>
    <p:sldId id="585" r:id="rId57"/>
    <p:sldId id="583" r:id="rId58"/>
    <p:sldId id="592" r:id="rId59"/>
    <p:sldId id="611" r:id="rId60"/>
    <p:sldId id="557" r:id="rId61"/>
    <p:sldId id="613" r:id="rId62"/>
    <p:sldId id="601" r:id="rId63"/>
    <p:sldId id="593" r:id="rId64"/>
    <p:sldId id="594" r:id="rId65"/>
    <p:sldId id="595" r:id="rId66"/>
    <p:sldId id="596" r:id="rId67"/>
    <p:sldId id="597" r:id="rId68"/>
    <p:sldId id="598" r:id="rId69"/>
    <p:sldId id="599" r:id="rId70"/>
    <p:sldId id="600" r:id="rId71"/>
    <p:sldId id="606" r:id="rId72"/>
    <p:sldId id="405" r:id="rId73"/>
    <p:sldId id="406" r:id="rId74"/>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12" autoAdjust="0"/>
    <p:restoredTop sz="95884" autoAdjust="0"/>
  </p:normalViewPr>
  <p:slideViewPr>
    <p:cSldViewPr snapToGrid="0">
      <p:cViewPr varScale="1">
        <p:scale>
          <a:sx n="69" d="100"/>
          <a:sy n="69" d="100"/>
        </p:scale>
        <p:origin x="906"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82"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8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21/09/2026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21/09/2026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67.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neurônio é uma </a:t>
            </a:r>
            <a:r>
              <a:rPr lang="pt-BR" b="1" dirty="0"/>
              <a:t>célula eucarionte altamente especializada</a:t>
            </a:r>
            <a:r>
              <a:rPr lang="pt-BR" dirty="0"/>
              <a:t>.</a:t>
            </a:r>
          </a:p>
          <a:p>
            <a:r>
              <a:rPr lang="pt-BR" dirty="0"/>
              <a:t/>
            </a:r>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74394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9B53F4D-6C82-7FCA-23FF-C258F7CE9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AAF0A06A-D0CE-4BAD-3BDF-4B9F8363AD5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2058ADF5-5B4F-9FF6-CF6A-9C10F85DC22E}"/>
              </a:ext>
            </a:extLst>
          </p:cNvPr>
          <p:cNvSpPr>
            <a:spLocks noGrp="1"/>
          </p:cNvSpPr>
          <p:nvPr>
            <p:ph type="body" idx="1"/>
          </p:nvPr>
        </p:nvSpPr>
        <p:spPr/>
        <p:txBody>
          <a:bodyPr/>
          <a:lstStyle/>
          <a:p>
            <a:r>
              <a:rPr lang="pt-BR" dirty="0"/>
              <a:t>O neurônio é uma </a:t>
            </a:r>
            <a:r>
              <a:rPr lang="pt-BR" b="1" dirty="0"/>
              <a:t>célula eucarionte altamente especializada</a:t>
            </a:r>
            <a:r>
              <a:rPr lang="pt-BR" dirty="0"/>
              <a:t>.</a:t>
            </a:r>
          </a:p>
          <a:p>
            <a:r>
              <a:rPr lang="pt-BR" dirty="0"/>
              <a:t/>
            </a:r>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a:extLst>
              <a:ext uri="{FF2B5EF4-FFF2-40B4-BE49-F238E27FC236}">
                <a16:creationId xmlns:a16="http://schemas.microsoft.com/office/drawing/2014/main" xmlns="" id="{2C58DB8A-770D-EB46-5B62-C7A647A63B5B}"/>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59256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Existem dois tipos principais de sinapses: a </a:t>
            </a:r>
            <a:r>
              <a:rPr lang="pt-BR" b="1" dirty="0"/>
              <a:t>química</a:t>
            </a:r>
            <a:r>
              <a:rPr lang="pt-BR" dirty="0"/>
              <a:t> (a mais comum no nosso cérebro) e a </a:t>
            </a:r>
            <a:r>
              <a:rPr lang="pt-BR" b="1" dirty="0"/>
              <a:t>elétrica</a:t>
            </a:r>
            <a:r>
              <a:rPr lang="pt-BR" dirty="0"/>
              <a:t>.</a:t>
            </a:r>
          </a:p>
          <a:p>
            <a:endParaRPr lang="pt-BR" b="1" dirty="0"/>
          </a:p>
          <a:p>
            <a:r>
              <a:rPr lang="pt-BR" b="1" dirty="0"/>
              <a:t>Como eles se comunicam?</a:t>
            </a:r>
          </a:p>
          <a:p>
            <a:r>
              <a:rPr lang="pt-BR" dirty="0"/>
              <a:t>A comunicação acontece em dois estágios principais:</a:t>
            </a:r>
          </a:p>
          <a:p>
            <a:r>
              <a:rPr lang="pt-BR" b="1" dirty="0"/>
              <a:t>Condução Elétrica:</a:t>
            </a:r>
            <a:r>
              <a:rPr lang="pt-BR" dirty="0"/>
              <a:t> Dentro do próprio neurônio, a informação viaja como um pulso elétrico chamado </a:t>
            </a:r>
            <a:r>
              <a:rPr lang="pt-BR" b="1" dirty="0"/>
              <a:t>Potencial de Ação</a:t>
            </a:r>
            <a:r>
              <a:rPr lang="pt-BR" dirty="0"/>
              <a:t>.</a:t>
            </a:r>
          </a:p>
          <a:p>
            <a:r>
              <a:rPr lang="pt-BR" b="1" dirty="0"/>
              <a:t>Transmissão Química (Sinapse):</a:t>
            </a:r>
            <a:r>
              <a:rPr lang="pt-BR" dirty="0"/>
              <a:t> Quando o sinal chega ao fim do axônio, ele não "pula" diretamente para a outra célula (pois elas não se encostam). O neurônio libera substâncias químicas chamadas </a:t>
            </a:r>
            <a:r>
              <a:rPr lang="pt-BR" b="1" dirty="0"/>
              <a:t>neurotransmissores</a:t>
            </a:r>
            <a:r>
              <a:rPr lang="pt-BR" dirty="0"/>
              <a:t> (como dopamina ou serotonina) no espaço entre eles, a </a:t>
            </a:r>
            <a:r>
              <a:rPr lang="pt-BR" b="1" dirty="0"/>
              <a:t>fenda sináptica</a:t>
            </a:r>
            <a:r>
              <a:rPr lang="pt-BR" dirty="0"/>
              <a:t>.</a:t>
            </a:r>
          </a:p>
          <a:p>
            <a:endParaRPr lang="pt-BR" dirty="0"/>
          </a:p>
          <a:p>
            <a:r>
              <a:rPr lang="pt-BR" b="1" dirty="0"/>
              <a:t>O "Filtro" do Cérebro</a:t>
            </a:r>
          </a:p>
          <a:p>
            <a:r>
              <a:rPr lang="pt-BR" dirty="0"/>
              <a:t>Essa distinção é fundamental porque o seu cérebro recebe milhões de estímulos por segundo (o toque da roupa na pele, o barulho do ventilador, a luz da sala).</a:t>
            </a:r>
          </a:p>
          <a:p>
            <a:r>
              <a:rPr lang="pt-BR" dirty="0"/>
              <a:t>Para as informações irrelevantes, as sinapses são mantidas </a:t>
            </a:r>
            <a:r>
              <a:rPr lang="pt-BR" b="1" dirty="0"/>
              <a:t>fracas</a:t>
            </a:r>
            <a:r>
              <a:rPr lang="pt-BR" dirty="0"/>
              <a:t> (filtro).</a:t>
            </a:r>
          </a:p>
          <a:p>
            <a:r>
              <a:rPr lang="pt-BR" dirty="0"/>
              <a:t>Para informações vitais ou aprendidas, as sinapses tornam-se </a:t>
            </a:r>
            <a:r>
              <a:rPr lang="pt-BR" b="1" dirty="0"/>
              <a:t>fortes</a:t>
            </a:r>
            <a:r>
              <a:rPr lang="pt-BR" dirty="0"/>
              <a:t> (foco).</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41119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Potencial de ação de neurônio, mostrando: “estímulo insuficiente”, “Limiar”, “Potencial de ação”, “Despolarização”, “</a:t>
            </a:r>
            <a:r>
              <a:rPr lang="pt-BR" dirty="0" err="1"/>
              <a:t>Repolarização</a:t>
            </a:r>
            <a:r>
              <a:rPr lang="pt-BR" dirty="0"/>
              <a:t>”, “Período refratário” e “Repouso”.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5283444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xmlns="" id="{9E728E3E-66FE-8A4E-22A4-3CEBC0A1FE28}"/>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2B3E06D-D4DF-62F5-AED3-2FF8FE7BAF6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9761FFDF-D7C1-0654-ECF9-2DA2D948011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789B2351-07CF-627D-5227-558D210CC3B2}"/>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xmlns="" id="{FADA0DA6-61DD-F173-41B1-52DE43CB9160}"/>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874638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63695A6-848B-0A56-6ADE-D9EAB9837D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97F7751-BFAF-01F0-7C95-E12D5204F81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5A1DA766-2DCA-5FAD-DC9C-AB3157892A1A}"/>
              </a:ext>
            </a:extLst>
          </p:cNvPr>
          <p:cNvSpPr>
            <a:spLocks noGrp="1"/>
          </p:cNvSpPr>
          <p:nvPr>
            <p:ph type="body" idx="1"/>
          </p:nvPr>
        </p:nvSpPr>
        <p:spPr/>
        <p:txBody>
          <a:bodyPr/>
          <a:lstStyle/>
          <a:p>
            <a:pPr lvl="0"/>
            <a:r>
              <a:rPr lang="en-US" b="1" dirty="0"/>
              <a:t>Hopfield (1984):</a:t>
            </a:r>
            <a:r>
              <a:rPr lang="en-US" dirty="0"/>
              <a:t> </a:t>
            </a:r>
            <a:r>
              <a:rPr lang="en-US" dirty="0" err="1"/>
              <a:t>propôs</a:t>
            </a:r>
            <a:r>
              <a:rPr lang="en-US" dirty="0"/>
              <a:t> a </a:t>
            </a:r>
            <a:r>
              <a:rPr lang="en-US" dirty="0" err="1"/>
              <a:t>versão</a:t>
            </a:r>
            <a:r>
              <a:rPr lang="en-US" dirty="0"/>
              <a:t> de </a:t>
            </a:r>
            <a:r>
              <a:rPr lang="en-US" dirty="0" err="1"/>
              <a:t>resposta</a:t>
            </a:r>
            <a:r>
              <a:rPr lang="en-US" dirty="0"/>
              <a:t> </a:t>
            </a:r>
            <a:r>
              <a:rPr lang="en-US" dirty="0" err="1"/>
              <a:t>graduada</a:t>
            </a:r>
            <a:r>
              <a:rPr lang="en-US" dirty="0"/>
              <a:t> (</a:t>
            </a:r>
            <a:r>
              <a:rPr lang="en-US" dirty="0" err="1"/>
              <a:t>contínua</a:t>
            </a:r>
            <a:r>
              <a:rPr lang="en-US" dirty="0"/>
              <a:t>) da rede, com </a:t>
            </a:r>
            <a:r>
              <a:rPr lang="en-US" dirty="0" err="1"/>
              <a:t>neurônios</a:t>
            </a:r>
            <a:r>
              <a:rPr lang="en-US" dirty="0"/>
              <a:t> </a:t>
            </a:r>
            <a:r>
              <a:rPr lang="en-US" dirty="0" err="1"/>
              <a:t>sigmoides</a:t>
            </a:r>
            <a:r>
              <a:rPr lang="en-US" dirty="0"/>
              <a:t>, </a:t>
            </a:r>
            <a:r>
              <a:rPr lang="en-US" dirty="0" err="1"/>
              <a:t>depois</a:t>
            </a:r>
            <a:r>
              <a:rPr lang="en-US" dirty="0"/>
              <a:t> de ter </a:t>
            </a:r>
            <a:r>
              <a:rPr lang="en-US" dirty="0" err="1"/>
              <a:t>usado</a:t>
            </a:r>
            <a:r>
              <a:rPr lang="en-US" dirty="0"/>
              <a:t> </a:t>
            </a:r>
            <a:r>
              <a:rPr lang="en-US" dirty="0" err="1"/>
              <a:t>unidades</a:t>
            </a:r>
            <a:r>
              <a:rPr lang="en-US" dirty="0"/>
              <a:t> </a:t>
            </a:r>
            <a:r>
              <a:rPr lang="en-US" dirty="0" err="1"/>
              <a:t>binárias</a:t>
            </a:r>
            <a:r>
              <a:rPr lang="en-US" dirty="0"/>
              <a:t> </a:t>
            </a:r>
            <a:r>
              <a:rPr lang="en-US" dirty="0" err="1"/>
              <a:t>em</a:t>
            </a:r>
            <a:r>
              <a:rPr lang="en-US" dirty="0"/>
              <a:t> 1982.</a:t>
            </a:r>
          </a:p>
          <a:p>
            <a:pPr lvl="0"/>
            <a:r>
              <a:rPr lang="en-US" b="1" dirty="0"/>
              <a:t>Rumelhart, Hinton e Williams (1986):</a:t>
            </a:r>
            <a:r>
              <a:rPr lang="en-US" dirty="0"/>
              <a:t> </a:t>
            </a:r>
            <a:r>
              <a:rPr lang="en-US" dirty="0" err="1"/>
              <a:t>popularizaram</a:t>
            </a:r>
            <a:r>
              <a:rPr lang="en-US" dirty="0"/>
              <a:t> o backpropagation com a </a:t>
            </a:r>
            <a:r>
              <a:rPr lang="en-US" dirty="0" err="1"/>
              <a:t>função</a:t>
            </a:r>
            <a:r>
              <a:rPr lang="en-US" dirty="0"/>
              <a:t> </a:t>
            </a:r>
            <a:r>
              <a:rPr lang="en-US" dirty="0" err="1"/>
              <a:t>logística</a:t>
            </a:r>
            <a:r>
              <a:rPr lang="en-US" dirty="0"/>
              <a:t>. A </a:t>
            </a:r>
            <a:r>
              <a:rPr lang="en-US" dirty="0" err="1"/>
              <a:t>necessidade</a:t>
            </a:r>
            <a:r>
              <a:rPr lang="en-US" dirty="0"/>
              <a:t> de </a:t>
            </a:r>
            <a:r>
              <a:rPr lang="en-US" dirty="0" err="1"/>
              <a:t>uma</a:t>
            </a:r>
            <a:r>
              <a:rPr lang="en-US" dirty="0"/>
              <a:t> </a:t>
            </a:r>
            <a:r>
              <a:rPr lang="en-US" dirty="0" err="1"/>
              <a:t>função</a:t>
            </a:r>
            <a:r>
              <a:rPr lang="en-US" dirty="0"/>
              <a:t> </a:t>
            </a:r>
            <a:r>
              <a:rPr lang="en-US" b="1" dirty="0"/>
              <a:t>diferenciável</a:t>
            </a:r>
            <a:r>
              <a:rPr lang="en-US" dirty="0"/>
              <a:t> para </a:t>
            </a:r>
            <a:r>
              <a:rPr lang="en-US" dirty="0" err="1"/>
              <a:t>calcular</a:t>
            </a:r>
            <a:r>
              <a:rPr lang="en-US" dirty="0"/>
              <a:t> </a:t>
            </a:r>
            <a:r>
              <a:rPr lang="en-US" dirty="0" err="1"/>
              <a:t>gradientes</a:t>
            </a:r>
            <a:r>
              <a:rPr lang="en-US" dirty="0"/>
              <a:t> </a:t>
            </a:r>
            <a:r>
              <a:rPr lang="en-US" dirty="0" err="1"/>
              <a:t>foi</a:t>
            </a:r>
            <a:r>
              <a:rPr lang="en-US" dirty="0"/>
              <a:t> o principal </a:t>
            </a:r>
            <a:r>
              <a:rPr lang="en-US" dirty="0" err="1"/>
              <a:t>motivo</a:t>
            </a:r>
            <a:r>
              <a:rPr lang="en-US" dirty="0"/>
              <a:t> </a:t>
            </a:r>
            <a:r>
              <a:rPr lang="en-US" dirty="0" err="1"/>
              <a:t>prático</a:t>
            </a:r>
            <a:r>
              <a:rPr lang="en-US" dirty="0"/>
              <a:t> para </a:t>
            </a:r>
            <a:r>
              <a:rPr lang="en-US" dirty="0" err="1"/>
              <a:t>abandonar</a:t>
            </a:r>
            <a:r>
              <a:rPr lang="en-US" dirty="0"/>
              <a:t> o </a:t>
            </a:r>
            <a:r>
              <a:rPr lang="en-US" dirty="0" err="1"/>
              <a:t>degrau</a:t>
            </a:r>
            <a:r>
              <a:rPr lang="en-US" dirty="0"/>
              <a:t>, </a:t>
            </a:r>
            <a:r>
              <a:rPr lang="en-US" dirty="0" err="1"/>
              <a:t>cuja</a:t>
            </a:r>
            <a:r>
              <a:rPr lang="en-US" dirty="0"/>
              <a:t> </a:t>
            </a:r>
            <a:r>
              <a:rPr lang="en-US" dirty="0" err="1"/>
              <a:t>derivada</a:t>
            </a:r>
            <a:r>
              <a:rPr lang="en-US" dirty="0"/>
              <a:t> é zero (</a:t>
            </a:r>
            <a:r>
              <a:rPr lang="en-US" dirty="0" err="1"/>
              <a:t>exceto</a:t>
            </a:r>
            <a:r>
              <a:rPr lang="en-US" dirty="0"/>
              <a:t> no </a:t>
            </a:r>
            <a:r>
              <a:rPr lang="en-US" dirty="0" err="1"/>
              <a:t>ponto</a:t>
            </a:r>
            <a:r>
              <a:rPr lang="en-US" dirty="0"/>
              <a:t> de </a:t>
            </a:r>
            <a:r>
              <a:rPr lang="en-US" dirty="0" err="1"/>
              <a:t>descontinuidade</a:t>
            </a:r>
            <a:r>
              <a:rPr lang="en-US" dirty="0"/>
              <a:t>, </a:t>
            </a:r>
            <a:r>
              <a:rPr lang="en-US" dirty="0" err="1"/>
              <a:t>onde</a:t>
            </a:r>
            <a:r>
              <a:rPr lang="en-US" dirty="0"/>
              <a:t> </a:t>
            </a:r>
            <a:r>
              <a:rPr lang="en-US" dirty="0" err="1"/>
              <a:t>não</a:t>
            </a:r>
            <a:r>
              <a:rPr lang="en-US" dirty="0"/>
              <a:t> </a:t>
            </a:r>
            <a:r>
              <a:rPr lang="en-US" dirty="0" err="1"/>
              <a:t>existe</a:t>
            </a:r>
            <a:r>
              <a:rPr lang="en-US" dirty="0"/>
              <a:t>). </a:t>
            </a:r>
            <a:r>
              <a:rPr lang="en-US" dirty="0" err="1"/>
              <a:t>Werbos</a:t>
            </a:r>
            <a:r>
              <a:rPr lang="en-US" dirty="0"/>
              <a:t> </a:t>
            </a:r>
            <a:r>
              <a:rPr lang="en-US" dirty="0" err="1"/>
              <a:t>já</a:t>
            </a:r>
            <a:r>
              <a:rPr lang="en-US" dirty="0"/>
              <a:t> </a:t>
            </a:r>
            <a:r>
              <a:rPr lang="en-US" dirty="0" err="1"/>
              <a:t>havia</a:t>
            </a:r>
            <a:r>
              <a:rPr lang="en-US" dirty="0"/>
              <a:t> </a:t>
            </a:r>
            <a:r>
              <a:rPr lang="en-US" dirty="0" err="1"/>
              <a:t>descrito</a:t>
            </a:r>
            <a:r>
              <a:rPr lang="en-US" dirty="0"/>
              <a:t> a </a:t>
            </a:r>
            <a:r>
              <a:rPr lang="en-US" dirty="0" err="1"/>
              <a:t>ideia</a:t>
            </a:r>
            <a:r>
              <a:rPr lang="en-US" dirty="0"/>
              <a:t> </a:t>
            </a:r>
            <a:r>
              <a:rPr lang="en-US" dirty="0" err="1"/>
              <a:t>em</a:t>
            </a:r>
            <a:r>
              <a:rPr lang="en-US" dirty="0"/>
              <a:t> 1974.</a:t>
            </a:r>
          </a:p>
          <a:p>
            <a:endParaRPr lang="pt-BR" dirty="0"/>
          </a:p>
        </p:txBody>
      </p:sp>
      <p:sp>
        <p:nvSpPr>
          <p:cNvPr id="4" name="Espaço Reservado para Número de Slide 3">
            <a:extLst>
              <a:ext uri="{FF2B5EF4-FFF2-40B4-BE49-F238E27FC236}">
                <a16:creationId xmlns:a16="http://schemas.microsoft.com/office/drawing/2014/main" xmlns="" id="{D572725B-DFCE-4260-C8C5-6A026057E77C}"/>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530559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xmlns="" id="{19F165B9-8714-BAFC-E5BF-A8F2176883FE}"/>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a16="http://schemas.microsoft.com/office/drawing/2014/main" xmlns="" id="{BB272679-77C5-7D07-DA1E-053F9855A280}"/>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a16="http://schemas.microsoft.com/office/drawing/2014/main" xmlns="" id="{BB272679-77C5-7D07-DA1E-053F9855A280}"/>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9825557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As saídas de uma camada alimentam todos os neurônios da próxima camada e assim por diante.</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10305535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xmlns="" id="{7E1631C1-F5A3-D807-E216-0D61AA847626}"/>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xmlns="" id="{7A5C78BB-67EB-C595-6562-CBFCAE7A0717}"/>
              </a:ext>
            </a:extLst>
          </p:cNvPr>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416895804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Yann LeCun</a:t>
            </a:r>
          </a:p>
          <a:p>
            <a:endParaRPr lang="en-US" dirty="0"/>
          </a:p>
          <a:p>
            <a:r>
              <a:rPr lang="en-US" sz="1200" b="0" u="none" strike="noStrike" kern="1200" dirty="0">
                <a:solidFill>
                  <a:schemeClr val="tx1"/>
                </a:solidFill>
                <a:effectLst/>
                <a:latin typeface="+mn-lt"/>
                <a:ea typeface="+mn-ea"/>
                <a:cs typeface="+mn-cs"/>
              </a:rPr>
              <a:t>A </a:t>
            </a:r>
            <a:r>
              <a:rPr lang="en-US" sz="1200" b="0" u="none" strike="noStrike" kern="1200" dirty="0" err="1">
                <a:solidFill>
                  <a:schemeClr val="tx1"/>
                </a:solidFill>
                <a:effectLst/>
                <a:latin typeface="+mn-lt"/>
                <a:ea typeface="+mn-ea"/>
                <a:cs typeface="+mn-cs"/>
              </a:rPr>
              <a:t>transição</a:t>
            </a:r>
            <a:r>
              <a:rPr lang="en-US" sz="1200" b="0" u="none" strike="noStrike" kern="1200" dirty="0">
                <a:solidFill>
                  <a:schemeClr val="tx1"/>
                </a:solidFill>
                <a:effectLst/>
                <a:latin typeface="+mn-lt"/>
                <a:ea typeface="+mn-ea"/>
                <a:cs typeface="+mn-cs"/>
              </a:rPr>
              <a:t> </a:t>
            </a:r>
            <a:r>
              <a:rPr lang="en-US" sz="1200" b="0" u="none" strike="noStrike" kern="1200" dirty="0" err="1">
                <a:solidFill>
                  <a:schemeClr val="tx1"/>
                </a:solidFill>
                <a:effectLst/>
                <a:latin typeface="+mn-lt"/>
                <a:ea typeface="+mn-ea"/>
                <a:cs typeface="+mn-cs"/>
              </a:rPr>
              <a:t>ocorreu</a:t>
            </a:r>
            <a:r>
              <a:rPr lang="en-US" sz="1200" b="0" u="none" strike="noStrike" kern="1200" dirty="0">
                <a:solidFill>
                  <a:schemeClr val="tx1"/>
                </a:solidFill>
                <a:effectLst/>
                <a:latin typeface="+mn-lt"/>
                <a:ea typeface="+mn-ea"/>
                <a:cs typeface="+mn-cs"/>
              </a:rPr>
              <a:t> no </a:t>
            </a:r>
            <a:r>
              <a:rPr lang="en-US" sz="1200" b="0" u="none" strike="noStrike" kern="1200" dirty="0" err="1">
                <a:solidFill>
                  <a:schemeClr val="tx1"/>
                </a:solidFill>
                <a:effectLst/>
                <a:latin typeface="+mn-lt"/>
                <a:ea typeface="+mn-ea"/>
                <a:cs typeface="+mn-cs"/>
              </a:rPr>
              <a:t>início</a:t>
            </a:r>
            <a:r>
              <a:rPr lang="en-US" sz="1200" b="0" u="none" strike="noStrike" kern="1200" dirty="0">
                <a:solidFill>
                  <a:schemeClr val="tx1"/>
                </a:solidFill>
                <a:effectLst/>
                <a:latin typeface="+mn-lt"/>
                <a:ea typeface="+mn-ea"/>
                <a:cs typeface="+mn-cs"/>
              </a:rPr>
              <a:t> da </a:t>
            </a:r>
            <a:r>
              <a:rPr lang="en-US" sz="1200" b="1" u="none" strike="noStrike" kern="1200" dirty="0" err="1">
                <a:solidFill>
                  <a:schemeClr val="tx1"/>
                </a:solidFill>
                <a:effectLst/>
                <a:latin typeface="+mn-lt"/>
                <a:ea typeface="+mn-ea"/>
                <a:cs typeface="+mn-cs"/>
              </a:rPr>
              <a:t>década</a:t>
            </a:r>
            <a:r>
              <a:rPr lang="en-US" sz="1200" b="1" u="none" strike="noStrike" kern="1200" dirty="0">
                <a:solidFill>
                  <a:schemeClr val="tx1"/>
                </a:solidFill>
                <a:effectLst/>
                <a:latin typeface="+mn-lt"/>
                <a:ea typeface="+mn-ea"/>
                <a:cs typeface="+mn-cs"/>
              </a:rPr>
              <a:t> de 2010</a:t>
            </a:r>
            <a:r>
              <a:rPr lang="en-US" dirty="0"/>
              <a:t> com o </a:t>
            </a:r>
            <a:r>
              <a:rPr lang="en-US" dirty="0" err="1"/>
              <a:t>lançamento</a:t>
            </a:r>
            <a:r>
              <a:rPr lang="en-US" dirty="0"/>
              <a:t> de </a:t>
            </a:r>
            <a:r>
              <a:rPr lang="en-US" dirty="0" err="1"/>
              <a:t>bibliotecas</a:t>
            </a:r>
            <a:r>
              <a:rPr lang="en-US" dirty="0"/>
              <a:t> </a:t>
            </a:r>
            <a:r>
              <a:rPr lang="en-US" dirty="0" err="1"/>
              <a:t>como</a:t>
            </a:r>
            <a:r>
              <a:rPr lang="en-US" dirty="0"/>
              <a:t> </a:t>
            </a:r>
            <a:r>
              <a:rPr lang="en-US" sz="1200" b="1" u="none" strike="noStrike" kern="1200" dirty="0">
                <a:solidFill>
                  <a:schemeClr val="tx1"/>
                </a:solidFill>
                <a:effectLst/>
                <a:latin typeface="+mn-lt"/>
                <a:ea typeface="+mn-ea"/>
                <a:cs typeface="+mn-cs"/>
              </a:rPr>
              <a:t>Theano, </a:t>
            </a:r>
            <a:r>
              <a:rPr lang="en-US" dirty="0" err="1"/>
              <a:t>liderado</a:t>
            </a:r>
            <a:r>
              <a:rPr lang="en-US" dirty="0"/>
              <a:t> </a:t>
            </a:r>
            <a:r>
              <a:rPr lang="en-US" dirty="0" err="1"/>
              <a:t>por</a:t>
            </a:r>
            <a:r>
              <a:rPr lang="en-US" dirty="0"/>
              <a:t> Yoshua Bengio,</a:t>
            </a:r>
            <a:r>
              <a:rPr lang="en-US" sz="1200" b="1" u="none" strike="noStrike" kern="1200" dirty="0">
                <a:solidFill>
                  <a:schemeClr val="tx1"/>
                </a:solidFill>
                <a:effectLst/>
                <a:latin typeface="+mn-lt"/>
                <a:ea typeface="+mn-ea"/>
                <a:cs typeface="+mn-cs"/>
              </a:rPr>
              <a:t> (2010)</a:t>
            </a:r>
            <a:r>
              <a:rPr lang="en-US" dirty="0"/>
              <a:t> e </a:t>
            </a:r>
            <a:r>
              <a:rPr lang="en-US" sz="1200" b="1" u="none" strike="noStrike" kern="1200" dirty="0">
                <a:solidFill>
                  <a:schemeClr val="tx1"/>
                </a:solidFill>
                <a:effectLst/>
                <a:latin typeface="+mn-lt"/>
                <a:ea typeface="+mn-ea"/>
                <a:cs typeface="+mn-cs"/>
              </a:rPr>
              <a:t>Caffe (2013)</a:t>
            </a:r>
            <a:r>
              <a:rPr lang="en-US" dirty="0"/>
              <a:t>, </a:t>
            </a:r>
            <a:r>
              <a:rPr lang="en-US" dirty="0" err="1"/>
              <a:t>que</a:t>
            </a:r>
            <a:r>
              <a:rPr lang="en-US" dirty="0"/>
              <a:t> </a:t>
            </a:r>
            <a:r>
              <a:rPr lang="en-US" dirty="0" err="1"/>
              <a:t>introduziram</a:t>
            </a:r>
            <a:r>
              <a:rPr lang="en-US" dirty="0"/>
              <a:t> a </a:t>
            </a:r>
            <a:r>
              <a:rPr lang="en-US" dirty="0" err="1"/>
              <a:t>diferenciação</a:t>
            </a:r>
            <a:r>
              <a:rPr lang="en-US" dirty="0"/>
              <a:t> </a:t>
            </a:r>
            <a:r>
              <a:rPr lang="en-US" dirty="0" err="1"/>
              <a:t>automática</a:t>
            </a:r>
            <a:r>
              <a:rPr lang="en-US" dirty="0"/>
              <a:t> e </a:t>
            </a:r>
            <a:r>
              <a:rPr lang="en-US" dirty="0" err="1"/>
              <a:t>configurações</a:t>
            </a:r>
            <a:r>
              <a:rPr lang="en-US" dirty="0"/>
              <a:t> </a:t>
            </a:r>
            <a:r>
              <a:rPr lang="en-US" dirty="0" err="1"/>
              <a:t>estruturadas</a:t>
            </a:r>
            <a:r>
              <a:rPr lang="en-US" dirty="0"/>
              <a:t>, </a:t>
            </a:r>
            <a:r>
              <a:rPr lang="en-US" dirty="0" err="1"/>
              <a:t>culminando</a:t>
            </a:r>
            <a:r>
              <a:rPr lang="en-US" dirty="0"/>
              <a:t> </a:t>
            </a:r>
            <a:r>
              <a:rPr lang="en-US" dirty="0" err="1"/>
              <a:t>na</a:t>
            </a:r>
            <a:r>
              <a:rPr lang="en-US" dirty="0"/>
              <a:t> </a:t>
            </a:r>
            <a:r>
              <a:rPr lang="en-US" dirty="0" err="1"/>
              <a:t>democratização</a:t>
            </a:r>
            <a:r>
              <a:rPr lang="en-US" dirty="0"/>
              <a:t> </a:t>
            </a:r>
            <a:r>
              <a:rPr lang="en-US" dirty="0" err="1"/>
              <a:t>definitiva</a:t>
            </a:r>
            <a:r>
              <a:rPr lang="en-US" dirty="0"/>
              <a:t> </a:t>
            </a:r>
            <a:r>
              <a:rPr lang="en-US" dirty="0" err="1"/>
              <a:t>em</a:t>
            </a:r>
            <a:r>
              <a:rPr lang="en-US" dirty="0"/>
              <a:t> </a:t>
            </a:r>
            <a:r>
              <a:rPr lang="en-US" sz="1200" b="1" u="none" strike="noStrike" kern="1200" dirty="0">
                <a:solidFill>
                  <a:schemeClr val="tx1"/>
                </a:solidFill>
                <a:effectLst/>
                <a:latin typeface="+mn-lt"/>
                <a:ea typeface="+mn-ea"/>
                <a:cs typeface="+mn-cs"/>
              </a:rPr>
              <a:t>2015</a:t>
            </a:r>
            <a:r>
              <a:rPr lang="en-US" dirty="0"/>
              <a:t> com a </a:t>
            </a:r>
            <a:r>
              <a:rPr lang="en-US" dirty="0" err="1"/>
              <a:t>chegada</a:t>
            </a:r>
            <a:r>
              <a:rPr lang="en-US" dirty="0"/>
              <a:t> do </a:t>
            </a:r>
            <a:r>
              <a:rPr lang="en-US" sz="1200" b="1" u="none" strike="noStrike" kern="1200" dirty="0" err="1">
                <a:solidFill>
                  <a:schemeClr val="tx1"/>
                </a:solidFill>
                <a:effectLst/>
                <a:latin typeface="+mn-lt"/>
                <a:ea typeface="+mn-ea"/>
                <a:cs typeface="+mn-cs"/>
              </a:rPr>
              <a:t>Keras</a:t>
            </a:r>
            <a:r>
              <a:rPr lang="en-US" dirty="0"/>
              <a:t> e do </a:t>
            </a:r>
            <a:r>
              <a:rPr lang="en-US" sz="1200" b="1" u="none" strike="noStrike" kern="1200" dirty="0">
                <a:solidFill>
                  <a:schemeClr val="tx1"/>
                </a:solidFill>
                <a:effectLst/>
                <a:latin typeface="+mn-lt"/>
                <a:ea typeface="+mn-ea"/>
                <a:cs typeface="+mn-cs"/>
              </a:rPr>
              <a:t>TensorFlow</a:t>
            </a:r>
            <a:r>
              <a:rPr lang="en-US" dirty="0"/>
              <a:t>.</a:t>
            </a:r>
          </a:p>
        </p:txBody>
      </p:sp>
      <p:sp>
        <p:nvSpPr>
          <p:cNvPr id="4" name="Slide Number Placeholder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401706064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48</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err="1"/>
              <a:t>Existem</a:t>
            </a:r>
            <a:r>
              <a:rPr lang="en-US" dirty="0"/>
              <a:t> </a:t>
            </a:r>
            <a:r>
              <a:rPr lang="en-US" dirty="0" err="1"/>
              <a:t>resultados</a:t>
            </a:r>
            <a:r>
              <a:rPr lang="en-US" dirty="0"/>
              <a:t> </a:t>
            </a:r>
            <a:r>
              <a:rPr lang="en-US" dirty="0" err="1"/>
              <a:t>mostrando</a:t>
            </a:r>
            <a:r>
              <a:rPr lang="en-US" dirty="0"/>
              <a:t> </a:t>
            </a:r>
            <a:r>
              <a:rPr lang="en-US" dirty="0" err="1"/>
              <a:t>que</a:t>
            </a:r>
            <a:r>
              <a:rPr lang="en-US" dirty="0"/>
              <a:t> </a:t>
            </a:r>
            <a:r>
              <a:rPr lang="en-US" dirty="0" err="1"/>
              <a:t>determinadas</a:t>
            </a:r>
            <a:r>
              <a:rPr lang="en-US" dirty="0"/>
              <a:t> CNNs </a:t>
            </a:r>
            <a:r>
              <a:rPr lang="en-US" dirty="0" err="1"/>
              <a:t>suficientemente</a:t>
            </a:r>
            <a:r>
              <a:rPr lang="en-US" dirty="0"/>
              <a:t> </a:t>
            </a:r>
            <a:r>
              <a:rPr lang="en-US" dirty="0" err="1"/>
              <a:t>largas</a:t>
            </a:r>
            <a:r>
              <a:rPr lang="en-US" dirty="0"/>
              <a:t> </a:t>
            </a:r>
            <a:r>
              <a:rPr lang="en-US" dirty="0" err="1"/>
              <a:t>apresentam</a:t>
            </a:r>
            <a:r>
              <a:rPr lang="en-US" dirty="0"/>
              <a:t> </a:t>
            </a:r>
            <a:r>
              <a:rPr lang="en-US" dirty="0" err="1"/>
              <a:t>condições</a:t>
            </a:r>
            <a:r>
              <a:rPr lang="en-US" dirty="0"/>
              <a:t> </a:t>
            </a:r>
            <a:r>
              <a:rPr lang="en-US" dirty="0" err="1"/>
              <a:t>nas</a:t>
            </a:r>
            <a:r>
              <a:rPr lang="en-US" dirty="0"/>
              <a:t> quais </a:t>
            </a:r>
            <a:r>
              <a:rPr lang="en-US" dirty="0" err="1"/>
              <a:t>praticamente</a:t>
            </a:r>
            <a:r>
              <a:rPr lang="en-US" dirty="0"/>
              <a:t> </a:t>
            </a:r>
            <a:r>
              <a:rPr lang="en-US" dirty="0" err="1"/>
              <a:t>todos</a:t>
            </a:r>
            <a:r>
              <a:rPr lang="en-US" dirty="0"/>
              <a:t> </a:t>
            </a:r>
            <a:r>
              <a:rPr lang="en-US" dirty="0" err="1"/>
              <a:t>os</a:t>
            </a:r>
            <a:r>
              <a:rPr lang="en-US" dirty="0"/>
              <a:t> </a:t>
            </a:r>
            <a:r>
              <a:rPr lang="en-US" dirty="0" err="1"/>
              <a:t>pontos</a:t>
            </a:r>
            <a:r>
              <a:rPr lang="en-US" dirty="0"/>
              <a:t> </a:t>
            </a:r>
            <a:r>
              <a:rPr lang="en-US" dirty="0" err="1"/>
              <a:t>críticos</a:t>
            </a:r>
            <a:r>
              <a:rPr lang="en-US" dirty="0"/>
              <a:t> </a:t>
            </a:r>
            <a:r>
              <a:rPr lang="en-US" dirty="0" err="1"/>
              <a:t>relevantes</a:t>
            </a:r>
            <a:r>
              <a:rPr lang="en-US" dirty="0"/>
              <a:t> </a:t>
            </a:r>
            <a:r>
              <a:rPr lang="en-US" dirty="0" err="1"/>
              <a:t>são</a:t>
            </a:r>
            <a:r>
              <a:rPr lang="en-US" dirty="0"/>
              <a:t> </a:t>
            </a:r>
            <a:r>
              <a:rPr lang="en-US" dirty="0" err="1"/>
              <a:t>mínimos</a:t>
            </a:r>
            <a:r>
              <a:rPr lang="en-US" dirty="0"/>
              <a:t> </a:t>
            </a:r>
            <a:r>
              <a:rPr lang="en-US" dirty="0" err="1"/>
              <a:t>globais</a:t>
            </a:r>
            <a:r>
              <a:rPr lang="en-US" dirty="0"/>
              <a:t> com </a:t>
            </a:r>
            <a:r>
              <a:rPr lang="en-US" dirty="0" err="1"/>
              <a:t>erro</a:t>
            </a:r>
            <a:r>
              <a:rPr lang="en-US" dirty="0"/>
              <a:t> de </a:t>
            </a:r>
            <a:r>
              <a:rPr lang="en-US" dirty="0" err="1"/>
              <a:t>treinamento</a:t>
            </a:r>
            <a:r>
              <a:rPr lang="en-US" dirty="0"/>
              <a:t> zero.</a:t>
            </a:r>
          </a:p>
          <a:p>
            <a:endParaRPr lang="en-US" dirty="0"/>
          </a:p>
          <a:p>
            <a:r>
              <a:rPr lang="en-US" dirty="0" err="1"/>
              <a:t>Também</a:t>
            </a:r>
            <a:r>
              <a:rPr lang="en-US" dirty="0"/>
              <a:t> </a:t>
            </a:r>
            <a:r>
              <a:rPr lang="en-US" dirty="0" err="1"/>
              <a:t>existem</a:t>
            </a:r>
            <a:r>
              <a:rPr lang="en-US" dirty="0"/>
              <a:t> </a:t>
            </a:r>
            <a:r>
              <a:rPr lang="en-US" dirty="0" err="1"/>
              <a:t>resultados</a:t>
            </a:r>
            <a:r>
              <a:rPr lang="en-US" dirty="0"/>
              <a:t> </a:t>
            </a:r>
            <a:r>
              <a:rPr lang="en-US" dirty="0" err="1"/>
              <a:t>mostrando</a:t>
            </a:r>
            <a:r>
              <a:rPr lang="en-US" dirty="0"/>
              <a:t> </a:t>
            </a:r>
            <a:r>
              <a:rPr lang="en-US" dirty="0" err="1"/>
              <a:t>que</a:t>
            </a:r>
            <a:r>
              <a:rPr lang="en-US" dirty="0"/>
              <a:t>, sob </a:t>
            </a:r>
            <a:r>
              <a:rPr lang="en-US" dirty="0" err="1"/>
              <a:t>condições</a:t>
            </a:r>
            <a:r>
              <a:rPr lang="en-US" dirty="0"/>
              <a:t> </a:t>
            </a:r>
            <a:r>
              <a:rPr lang="en-US" dirty="0" err="1"/>
              <a:t>específicas</a:t>
            </a:r>
            <a:r>
              <a:rPr lang="en-US" dirty="0"/>
              <a:t> de </a:t>
            </a:r>
            <a:r>
              <a:rPr lang="en-US" dirty="0" err="1"/>
              <a:t>homogeneidade</a:t>
            </a:r>
            <a:r>
              <a:rPr lang="en-US" dirty="0"/>
              <a:t> </a:t>
            </a:r>
            <a:r>
              <a:rPr lang="en-US" dirty="0" err="1"/>
              <a:t>positiva</a:t>
            </a:r>
            <a:r>
              <a:rPr lang="en-US" dirty="0"/>
              <a:t> e </a:t>
            </a:r>
            <a:r>
              <a:rPr lang="en-US" dirty="0" err="1"/>
              <a:t>regularização</a:t>
            </a:r>
            <a:r>
              <a:rPr lang="en-US" dirty="0"/>
              <a:t>, </a:t>
            </a:r>
            <a:r>
              <a:rPr lang="en-US" dirty="0" err="1"/>
              <a:t>mínimos</a:t>
            </a:r>
            <a:r>
              <a:rPr lang="en-US" dirty="0"/>
              <a:t> </a:t>
            </a:r>
            <a:r>
              <a:rPr lang="en-US" dirty="0" err="1"/>
              <a:t>locais</a:t>
            </a:r>
            <a:r>
              <a:rPr lang="en-US" dirty="0"/>
              <a:t> </a:t>
            </a:r>
            <a:r>
              <a:rPr lang="en-US" dirty="0" err="1"/>
              <a:t>podem</a:t>
            </a:r>
            <a:r>
              <a:rPr lang="en-US" dirty="0"/>
              <a:t> ser </a:t>
            </a:r>
            <a:r>
              <a:rPr lang="en-US" dirty="0" err="1"/>
              <a:t>garantidamente</a:t>
            </a:r>
            <a:r>
              <a:rPr lang="en-US" dirty="0"/>
              <a:t> </a:t>
            </a:r>
            <a:r>
              <a:rPr lang="en-US" dirty="0" err="1"/>
              <a:t>globais</a:t>
            </a:r>
            <a:r>
              <a:rPr lang="en-US" dirty="0"/>
              <a:t>.</a:t>
            </a:r>
          </a:p>
          <a:p>
            <a:r>
              <a:rPr lang="en-US" sz="1200" b="1" i="1" kern="1200" dirty="0">
                <a:solidFill>
                  <a:schemeClr val="tx1"/>
                </a:solidFill>
                <a:effectLst/>
                <a:latin typeface="+mn-lt"/>
                <a:ea typeface="+mn-ea"/>
                <a:cs typeface="+mn-cs"/>
              </a:rPr>
              <a:t>Benjamin D. </a:t>
            </a:r>
            <a:r>
              <a:rPr lang="en-US" sz="1200" b="1" i="1" kern="1200" dirty="0" err="1">
                <a:solidFill>
                  <a:schemeClr val="tx1"/>
                </a:solidFill>
                <a:effectLst/>
                <a:latin typeface="+mn-lt"/>
                <a:ea typeface="+mn-ea"/>
                <a:cs typeface="+mn-cs"/>
              </a:rPr>
              <a:t>Haeffele</a:t>
            </a:r>
            <a:r>
              <a:rPr lang="en-US" sz="1200" b="1" i="1" kern="1200" dirty="0">
                <a:solidFill>
                  <a:schemeClr val="tx1"/>
                </a:solidFill>
                <a:effectLst/>
                <a:latin typeface="+mn-lt"/>
                <a:ea typeface="+mn-ea"/>
                <a:cs typeface="+mn-cs"/>
              </a:rPr>
              <a:t>, Rene Vidal</a:t>
            </a:r>
            <a:r>
              <a:rPr lang="en-US" sz="1200" b="0" i="0" kern="1200" dirty="0">
                <a:solidFill>
                  <a:schemeClr val="tx1"/>
                </a:solidFill>
                <a:effectLst/>
                <a:latin typeface="+mn-lt"/>
                <a:ea typeface="+mn-ea"/>
                <a:cs typeface="+mn-cs"/>
              </a:rPr>
              <a:t>; “Global Optimality in Neural Network Training”, Proceedings of the IEEE Conference on Computer Vision and Pattern Recognition (CVPR), 2017, pp. 7331-7339</a:t>
            </a:r>
          </a:p>
          <a:p>
            <a:endParaRPr lang="en-US" dirty="0"/>
          </a:p>
          <a:p>
            <a:endParaRPr lang="en-US" dirty="0"/>
          </a:p>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r>
              <a:rPr lang="en-US" dirty="0"/>
              <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r>
              <a:rPr lang="en-US" dirty="0"/>
              <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r>
              <a:rPr lang="en-US" dirty="0"/>
              <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1" dirty="0" err="1"/>
              <a:t>Não</a:t>
            </a:r>
            <a:r>
              <a:rPr lang="en-US" b="1" dirty="0"/>
              <a:t> </a:t>
            </a:r>
            <a:r>
              <a:rPr lang="en-US" b="1" dirty="0" err="1"/>
              <a:t>confundir</a:t>
            </a:r>
            <a:r>
              <a:rPr lang="en-US" b="1" dirty="0"/>
              <a:t> </a:t>
            </a:r>
            <a:r>
              <a:rPr lang="en-US" b="1" dirty="0" err="1"/>
              <a:t>estabilidade</a:t>
            </a:r>
            <a:r>
              <a:rPr lang="en-US" b="1" dirty="0"/>
              <a:t> com </a:t>
            </a:r>
            <a:r>
              <a:rPr lang="en-US" b="1" dirty="0" err="1"/>
              <a:t>optimalidade</a:t>
            </a:r>
            <a:r>
              <a:rPr lang="en-US" b="1" dirty="0"/>
              <a:t> global</a:t>
            </a:r>
            <a:endParaRPr lang="en-US" dirty="0"/>
          </a:p>
          <a:p>
            <a:pPr lvl="0"/>
            <a:r>
              <a:rPr lang="en-US" dirty="0" err="1"/>
              <a:t>Resultados</a:t>
            </a:r>
            <a:r>
              <a:rPr lang="en-US" dirty="0"/>
              <a:t> </a:t>
            </a:r>
            <a:r>
              <a:rPr lang="en-US" dirty="0" err="1"/>
              <a:t>semelhantes</a:t>
            </a:r>
            <a:r>
              <a:rPr lang="en-US" dirty="0"/>
              <a:t> </a:t>
            </a:r>
            <a:r>
              <a:rPr lang="en-US" dirty="0" err="1"/>
              <a:t>não</a:t>
            </a:r>
            <a:r>
              <a:rPr lang="en-US" dirty="0"/>
              <a:t> </a:t>
            </a:r>
            <a:r>
              <a:rPr lang="en-US" dirty="0" err="1"/>
              <a:t>provam</a:t>
            </a:r>
            <a:r>
              <a:rPr lang="en-US" dirty="0"/>
              <a:t> </a:t>
            </a:r>
            <a:r>
              <a:rPr lang="en-US" dirty="0" err="1"/>
              <a:t>que</a:t>
            </a:r>
            <a:r>
              <a:rPr lang="en-US" dirty="0"/>
              <a:t> o </a:t>
            </a:r>
            <a:r>
              <a:rPr lang="en-US" dirty="0" err="1"/>
              <a:t>mínimo</a:t>
            </a:r>
            <a:r>
              <a:rPr lang="en-US" dirty="0"/>
              <a:t> global </a:t>
            </a:r>
            <a:r>
              <a:rPr lang="en-US" dirty="0" err="1"/>
              <a:t>foi</a:t>
            </a:r>
            <a:r>
              <a:rPr lang="en-US" dirty="0"/>
              <a:t> </a:t>
            </a:r>
            <a:r>
              <a:rPr lang="en-US" dirty="0" err="1"/>
              <a:t>encontrado</a:t>
            </a:r>
            <a:r>
              <a:rPr lang="en-US" dirty="0"/>
              <a:t>.</a:t>
            </a:r>
          </a:p>
          <a:p>
            <a:pPr lvl="0"/>
            <a:r>
              <a:rPr lang="en-US" dirty="0"/>
              <a:t>A </a:t>
            </a:r>
            <a:r>
              <a:rPr lang="en-US" dirty="0" err="1"/>
              <a:t>solução</a:t>
            </a:r>
            <a:r>
              <a:rPr lang="en-US" dirty="0"/>
              <a:t> </a:t>
            </a:r>
            <a:r>
              <a:rPr lang="en-US" dirty="0" err="1"/>
              <a:t>obtida</a:t>
            </a:r>
            <a:r>
              <a:rPr lang="en-US" dirty="0"/>
              <a:t> é, </a:t>
            </a:r>
            <a:r>
              <a:rPr lang="en-US" dirty="0" err="1"/>
              <a:t>inicialmente</a:t>
            </a:r>
            <a:r>
              <a:rPr lang="en-US" dirty="0"/>
              <a:t>, </a:t>
            </a:r>
            <a:r>
              <a:rPr lang="en-US" dirty="0" err="1"/>
              <a:t>apenas</a:t>
            </a:r>
            <a:r>
              <a:rPr lang="en-US" dirty="0"/>
              <a:t> a </a:t>
            </a:r>
            <a:r>
              <a:rPr lang="en-US" b="1" dirty="0" err="1"/>
              <a:t>melhor</a:t>
            </a:r>
            <a:r>
              <a:rPr lang="en-US" b="1" dirty="0"/>
              <a:t> </a:t>
            </a:r>
            <a:r>
              <a:rPr lang="en-US" b="1" dirty="0" err="1"/>
              <a:t>solução</a:t>
            </a:r>
            <a:r>
              <a:rPr lang="en-US" b="1" dirty="0"/>
              <a:t> </a:t>
            </a:r>
            <a:r>
              <a:rPr lang="en-US" b="1" dirty="0" err="1"/>
              <a:t>encontrada</a:t>
            </a:r>
            <a:r>
              <a:rPr lang="en-US" b="1" dirty="0"/>
              <a:t> </a:t>
            </a:r>
            <a:r>
              <a:rPr lang="en-US" b="1" dirty="0" err="1"/>
              <a:t>pelo</a:t>
            </a:r>
            <a:r>
              <a:rPr lang="en-US" b="1" dirty="0"/>
              <a:t> </a:t>
            </a:r>
            <a:r>
              <a:rPr lang="en-US" b="1" dirty="0" err="1"/>
              <a:t>procedimento</a:t>
            </a:r>
            <a:r>
              <a:rPr lang="en-US" b="1" dirty="0"/>
              <a:t> de </a:t>
            </a:r>
            <a:r>
              <a:rPr lang="en-US" b="1" dirty="0" err="1"/>
              <a:t>treinamento</a:t>
            </a:r>
            <a:r>
              <a:rPr lang="en-US" dirty="0"/>
              <a:t>.“</a:t>
            </a:r>
          </a:p>
          <a:p>
            <a:pPr lvl="0"/>
            <a:endParaRPr lang="en-US" dirty="0"/>
          </a:p>
          <a:p>
            <a:r>
              <a:rPr lang="en-US" b="1" dirty="0" err="1"/>
              <a:t>Variabilidade</a:t>
            </a:r>
            <a:r>
              <a:rPr lang="en-US" b="1" dirty="0"/>
              <a:t> entre </a:t>
            </a:r>
            <a:r>
              <a:rPr lang="en-US" b="1" dirty="0" err="1"/>
              <a:t>treinamentos</a:t>
            </a:r>
            <a:r>
              <a:rPr lang="en-US" b="1" dirty="0"/>
              <a:t> </a:t>
            </a:r>
            <a:r>
              <a:rPr lang="en-US" dirty="0" err="1"/>
              <a:t>pode</a:t>
            </a:r>
            <a:r>
              <a:rPr lang="en-US" dirty="0"/>
              <a:t> </a:t>
            </a:r>
            <a:r>
              <a:rPr lang="en-US" dirty="0" err="1"/>
              <a:t>indicar</a:t>
            </a:r>
            <a:r>
              <a:rPr lang="en-US" dirty="0"/>
              <a:t>:</a:t>
            </a:r>
          </a:p>
          <a:p>
            <a:pPr marL="171450" lvl="0" indent="-171450">
              <a:buFont typeface="Arial" panose="020B0604020202020204" pitchFamily="34" charset="0"/>
              <a:buChar char="•"/>
            </a:pPr>
            <a:r>
              <a:rPr lang="en-US" dirty="0" err="1"/>
              <a:t>diferentes</a:t>
            </a:r>
            <a:r>
              <a:rPr lang="en-US" dirty="0"/>
              <a:t> </a:t>
            </a:r>
            <a:r>
              <a:rPr lang="en-US" dirty="0" err="1"/>
              <a:t>bacias</a:t>
            </a:r>
            <a:r>
              <a:rPr lang="en-US" dirty="0"/>
              <a:t>/</a:t>
            </a:r>
            <a:r>
              <a:rPr lang="en-US" dirty="0" err="1"/>
              <a:t>regiões</a:t>
            </a:r>
            <a:r>
              <a:rPr lang="en-US" dirty="0"/>
              <a:t> de </a:t>
            </a:r>
            <a:r>
              <a:rPr lang="en-US" dirty="0" err="1"/>
              <a:t>atração</a:t>
            </a:r>
            <a:r>
              <a:rPr lang="en-US" dirty="0"/>
              <a:t>; </a:t>
            </a:r>
          </a:p>
          <a:p>
            <a:pPr marL="171450" lvl="0" indent="-171450">
              <a:buFont typeface="Arial" panose="020B0604020202020204" pitchFamily="34" charset="0"/>
              <a:buChar char="•"/>
            </a:pPr>
            <a:r>
              <a:rPr lang="en-US" dirty="0" err="1"/>
              <a:t>instabilidade</a:t>
            </a:r>
            <a:r>
              <a:rPr lang="en-US" dirty="0"/>
              <a:t> da </a:t>
            </a:r>
            <a:r>
              <a:rPr lang="en-US" dirty="0" err="1"/>
              <a:t>otimização</a:t>
            </a:r>
            <a:r>
              <a:rPr lang="en-US" dirty="0"/>
              <a:t>; </a:t>
            </a:r>
          </a:p>
          <a:p>
            <a:pPr marL="171450" lvl="0" indent="-171450">
              <a:buFont typeface="Arial" panose="020B0604020202020204" pitchFamily="34" charset="0"/>
              <a:buChar char="•"/>
            </a:pPr>
            <a:r>
              <a:rPr lang="en-US" dirty="0" err="1"/>
              <a:t>sensibilidade</a:t>
            </a:r>
            <a:r>
              <a:rPr lang="en-US" dirty="0"/>
              <a:t> à </a:t>
            </a:r>
            <a:r>
              <a:rPr lang="en-US" dirty="0" err="1"/>
              <a:t>inicialização</a:t>
            </a:r>
            <a:r>
              <a:rPr lang="en-US" dirty="0"/>
              <a:t>; </a:t>
            </a:r>
          </a:p>
          <a:p>
            <a:pPr marL="171450" lvl="0" indent="-171450">
              <a:buFont typeface="Arial" panose="020B0604020202020204" pitchFamily="34" charset="0"/>
              <a:buChar char="•"/>
            </a:pPr>
            <a:r>
              <a:rPr lang="en-US" dirty="0"/>
              <a:t>learning rate </a:t>
            </a:r>
            <a:r>
              <a:rPr lang="en-US" dirty="0" err="1"/>
              <a:t>inadequado</a:t>
            </a:r>
            <a:r>
              <a:rPr lang="en-US" dirty="0"/>
              <a:t>; </a:t>
            </a:r>
          </a:p>
          <a:p>
            <a:pPr marL="171450" lvl="0" indent="-171450">
              <a:buFont typeface="Arial" panose="020B0604020202020204" pitchFamily="34" charset="0"/>
              <a:buChar char="•"/>
            </a:pPr>
            <a:r>
              <a:rPr lang="en-US" dirty="0" err="1"/>
              <a:t>treinamento</a:t>
            </a:r>
            <a:r>
              <a:rPr lang="en-US" dirty="0"/>
              <a:t> </a:t>
            </a:r>
            <a:r>
              <a:rPr lang="en-US" dirty="0" err="1"/>
              <a:t>insuficiente</a:t>
            </a:r>
            <a:r>
              <a:rPr lang="en-US" dirty="0"/>
              <a:t>; </a:t>
            </a:r>
          </a:p>
          <a:p>
            <a:pPr marL="171450" lvl="0" indent="-171450">
              <a:buFont typeface="Arial" panose="020B0604020202020204" pitchFamily="34" charset="0"/>
              <a:buChar char="•"/>
            </a:pPr>
            <a:r>
              <a:rPr lang="en-US" dirty="0" err="1"/>
              <a:t>existência</a:t>
            </a:r>
            <a:r>
              <a:rPr lang="en-US" dirty="0"/>
              <a:t> de </a:t>
            </a:r>
            <a:r>
              <a:rPr lang="en-US" dirty="0" err="1"/>
              <a:t>diferentes</a:t>
            </a:r>
            <a:r>
              <a:rPr lang="en-US" dirty="0"/>
              <a:t> </a:t>
            </a:r>
            <a:r>
              <a:rPr lang="en-US" dirty="0" err="1"/>
              <a:t>soluções</a:t>
            </a:r>
            <a:r>
              <a:rPr lang="en-US" dirty="0"/>
              <a:t> com </a:t>
            </a:r>
            <a:r>
              <a:rPr lang="en-US" dirty="0" err="1"/>
              <a:t>perdas</a:t>
            </a:r>
            <a:r>
              <a:rPr lang="en-US" dirty="0"/>
              <a:t> </a:t>
            </a:r>
            <a:r>
              <a:rPr lang="en-US" dirty="0" err="1"/>
              <a:t>distintas</a:t>
            </a:r>
            <a:r>
              <a:rPr lang="en-US" dirty="0"/>
              <a:t>; </a:t>
            </a:r>
          </a:p>
          <a:p>
            <a:pPr marL="171450" lvl="0" indent="-171450">
              <a:buFont typeface="Arial" panose="020B0604020202020204" pitchFamily="34" charset="0"/>
              <a:buChar char="•"/>
            </a:pPr>
            <a:r>
              <a:rPr lang="en-US" dirty="0" err="1"/>
              <a:t>ou</a:t>
            </a:r>
            <a:r>
              <a:rPr lang="en-US" dirty="0"/>
              <a:t>, </a:t>
            </a:r>
            <a:r>
              <a:rPr lang="en-US" dirty="0" err="1"/>
              <a:t>em</a:t>
            </a:r>
            <a:r>
              <a:rPr lang="en-US" dirty="0"/>
              <a:t> </a:t>
            </a:r>
            <a:r>
              <a:rPr lang="en-US" dirty="0" err="1"/>
              <a:t>alguns</a:t>
            </a:r>
            <a:r>
              <a:rPr lang="en-US" dirty="0"/>
              <a:t> </a:t>
            </a:r>
            <a:r>
              <a:rPr lang="en-US" dirty="0" err="1"/>
              <a:t>casos</a:t>
            </a:r>
            <a:r>
              <a:rPr lang="en-US" dirty="0"/>
              <a:t>, </a:t>
            </a:r>
            <a:r>
              <a:rPr lang="en-US" dirty="0" err="1"/>
              <a:t>diferenças</a:t>
            </a:r>
            <a:r>
              <a:rPr lang="en-US" dirty="0"/>
              <a:t> de </a:t>
            </a:r>
            <a:r>
              <a:rPr lang="en-US" dirty="0" err="1"/>
              <a:t>generalização</a:t>
            </a:r>
            <a:r>
              <a:rPr lang="en-US" dirty="0"/>
              <a:t>.</a:t>
            </a:r>
          </a:p>
          <a:p>
            <a:pPr lvl="0"/>
            <a:endParaRPr lang="en-US" dirty="0"/>
          </a:p>
          <a:p>
            <a:endParaRPr lang="en-US" dirty="0">
              <a:cs typeface="Calibri"/>
            </a:endParaRP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51</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64</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(backpropagation).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68</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(backpropagation).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69</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70</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72</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73</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0.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12"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8" Type="http://schemas.openxmlformats.org/officeDocument/2006/relationships/image" Target="../media/image510.png"/><Relationship Id="rId7" Type="http://schemas.openxmlformats.org/officeDocument/2006/relationships/image" Target="../media/image5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3.png"/><Relationship Id="rId9" Type="http://schemas.openxmlformats.org/officeDocument/2006/relationships/image" Target="../media/image191.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3.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33.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3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0.png"/><Relationship Id="rId9" Type="http://schemas.openxmlformats.org/officeDocument/2006/relationships/image" Target="../media/image45.png"/><Relationship Id="rId14" Type="http://schemas.openxmlformats.org/officeDocument/2006/relationships/image" Target="../media/image50.png"/></Relationships>
</file>

<file path=ppt/slides/_rels/slide37.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18" Type="http://schemas.openxmlformats.org/officeDocument/2006/relationships/image" Target="../media/image52.png"/><Relationship Id="rId3" Type="http://schemas.openxmlformats.org/officeDocument/2006/relationships/image" Target="../media/image40.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24.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9.xml.rels><?xml version="1.0" encoding="UTF-8" standalone="yes"?>
<Relationships xmlns="http://schemas.openxmlformats.org/package/2006/relationships"><Relationship Id="rId2" Type="http://schemas.openxmlformats.org/officeDocument/2006/relationships/image" Target="../media/image65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79.jpeg"/><Relationship Id="rId4" Type="http://schemas.openxmlformats.org/officeDocument/2006/relationships/image" Target="../media/image78.png"/></Relationships>
</file>

<file path=ppt/slides/_rels/slide53.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9%20-%20MLP.pdf"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image" Target="../media/image82.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840.png"/><Relationship Id="rId5" Type="http://schemas.openxmlformats.org/officeDocument/2006/relationships/image" Target="../media/image83.emf"/><Relationship Id="rId4" Type="http://schemas.openxmlformats.org/officeDocument/2006/relationships/image" Target="../media/image820.png"/></Relationships>
</file>

<file path=ppt/slides/_rels/slide60.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86.png"/><Relationship Id="rId1" Type="http://schemas.openxmlformats.org/officeDocument/2006/relationships/slideLayout" Target="../slideLayouts/slideLayout2.xml"/><Relationship Id="rId6" Type="http://schemas.openxmlformats.org/officeDocument/2006/relationships/image" Target="../media/image88.png"/><Relationship Id="rId5" Type="http://schemas.openxmlformats.org/officeDocument/2006/relationships/image" Target="../media/image83.emf"/><Relationship Id="rId4" Type="http://schemas.openxmlformats.org/officeDocument/2006/relationships/image" Target="../media/image87.png"/></Relationships>
</file>

<file path=ppt/slides/_rels/slide61.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6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381.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6.emf"/></Relationships>
</file>

<file path=ppt/slides/_rels/slide65.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7.emf"/></Relationships>
</file>

<file path=ppt/slides/_rels/slide66.xml.rels><?xml version="1.0" encoding="UTF-8" standalone="yes"?>
<Relationships xmlns="http://schemas.openxmlformats.org/package/2006/relationships"><Relationship Id="rId8" Type="http://schemas.openxmlformats.org/officeDocument/2006/relationships/image" Target="../media/image87.emf"/><Relationship Id="rId3" Type="http://schemas.openxmlformats.org/officeDocument/2006/relationships/image" Target="../media/image95.png"/><Relationship Id="rId7" Type="http://schemas.openxmlformats.org/officeDocument/2006/relationships/image" Target="../media/image650.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6.emf"/><Relationship Id="rId9" Type="http://schemas.openxmlformats.org/officeDocument/2006/relationships/image" Target="../media/image67.png"/></Relationships>
</file>

<file path=ppt/slides/_rels/slide67.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90.png"/><Relationship Id="rId4" Type="http://schemas.openxmlformats.org/officeDocument/2006/relationships/image" Target="../media/image96.png"/></Relationships>
</file>

<file path=ppt/slides/_rels/slide6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0.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notesSlide" Target="../notesSlides/notesSlide40.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xmlns=""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3812" y="1809489"/>
            <a:ext cx="6662696" cy="363116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3C86F23E-3116-9DE3-82E3-FFC279A1FB0E}"/>
              </a:ext>
            </a:extLst>
          </p:cNvPr>
          <p:cNvSpPr txBox="1"/>
          <p:nvPr/>
        </p:nvSpPr>
        <p:spPr>
          <a:xfrm>
            <a:off x="7130473" y="1270582"/>
            <a:ext cx="4963205" cy="4708981"/>
          </a:xfrm>
          <a:prstGeom prst="rect">
            <a:avLst/>
          </a:prstGeom>
          <a:noFill/>
        </p:spPr>
        <p:txBody>
          <a:bodyPr wrap="square" rtlCol="0">
            <a:spAutoFit/>
          </a:bodyPr>
          <a:lstStyle/>
          <a:p>
            <a:pPr algn="ctr"/>
            <a:r>
              <a:rPr lang="pt-BR" sz="2800" dirty="0"/>
              <a:t>Redes neurais são os modelos de ML mais usados atualmente.</a:t>
            </a:r>
          </a:p>
          <a:p>
            <a:pPr algn="ctr"/>
            <a:endParaRPr lang="pt-BR" sz="2800" dirty="0"/>
          </a:p>
          <a:p>
            <a:pPr algn="ctr"/>
            <a:r>
              <a:rPr lang="pt-BR" sz="2400" dirty="0" err="1"/>
              <a:t>ChatGPT</a:t>
            </a:r>
            <a:endParaRPr lang="pt-BR" sz="2400" dirty="0"/>
          </a:p>
          <a:p>
            <a:pPr algn="ctr"/>
            <a:r>
              <a:rPr lang="pt-BR" sz="2400" dirty="0"/>
              <a:t>Claude</a:t>
            </a:r>
          </a:p>
          <a:p>
            <a:pPr algn="ctr"/>
            <a:r>
              <a:rPr lang="pt-BR" sz="2400" dirty="0" err="1"/>
              <a:t>Gemini</a:t>
            </a:r>
            <a:endParaRPr lang="pt-BR" sz="2400" dirty="0"/>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xmlns=""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xmlns=""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xmlns=""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uma ou mais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xmlns="" id="{606EEABC-C54D-CD89-568A-09EEED4E6ED1}"/>
              </a:ext>
            </a:extLst>
          </p:cNvPr>
          <p:cNvSpPr>
            <a:spLocks noGrp="1"/>
          </p:cNvSpPr>
          <p:nvPr>
            <p:ph idx="1"/>
          </p:nvPr>
        </p:nvSpPr>
        <p:spPr>
          <a:xfrm>
            <a:off x="5900057" y="1825624"/>
            <a:ext cx="6291943" cy="5032375"/>
          </a:xfrm>
        </p:spPr>
        <p:txBody>
          <a:bodyPr>
            <a:normAutofit/>
          </a:bodyPr>
          <a:lstStyle/>
          <a:p>
            <a:r>
              <a:rPr lang="pt-BR" b="1" dirty="0"/>
              <a:t>Redes neurais artificiais </a:t>
            </a:r>
            <a:r>
              <a:rPr lang="pt-BR" dirty="0"/>
              <a:t>são modelos matemáticos </a:t>
            </a:r>
            <a:r>
              <a:rPr lang="pt-BR" b="1" dirty="0">
                <a:solidFill>
                  <a:schemeClr val="accent2"/>
                </a:solidFill>
              </a:rPr>
              <a:t>inspirados</a:t>
            </a:r>
            <a:r>
              <a:rPr lang="pt-BR" b="1" dirty="0"/>
              <a:t> </a:t>
            </a:r>
            <a:r>
              <a:rPr lang="pt-BR" dirty="0"/>
              <a:t>pelo funcionamento do cérebro dos animais.</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 de objetos,</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xmlns=""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xmlns=""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xmlns="" id="{DED2EFDE-F421-7617-3661-898FEECA74FF}"/>
              </a:ext>
            </a:extLst>
          </p:cNvPr>
          <p:cNvSpPr>
            <a:spLocks noGrp="1"/>
          </p:cNvSpPr>
          <p:nvPr>
            <p:ph idx="1"/>
          </p:nvPr>
        </p:nvSpPr>
        <p:spPr>
          <a:xfrm>
            <a:off x="5660570" y="1825624"/>
            <a:ext cx="6531429" cy="5032375"/>
          </a:xfrm>
        </p:spPr>
        <p:txBody>
          <a:bodyPr>
            <a:normAutofit/>
          </a:bodyPr>
          <a:lstStyle/>
          <a:p>
            <a:r>
              <a:rPr lang="pt-BR" dirty="0" err="1"/>
              <a:t>RNAs</a:t>
            </a:r>
            <a:r>
              <a:rPr lang="pt-BR" dirty="0"/>
              <a:t> são representadas como </a:t>
            </a:r>
          </a:p>
          <a:p>
            <a:pPr lvl="1">
              <a:buFont typeface="Wingdings" panose="05000000000000000000" pitchFamily="2" charset="2"/>
              <a:buChar char="§"/>
            </a:pPr>
            <a:r>
              <a:rPr lang="pt-BR" dirty="0"/>
              <a:t>sistemas de </a:t>
            </a:r>
            <a:r>
              <a:rPr lang="pt-BR" b="1" dirty="0"/>
              <a:t>neurônios (ou nós) interconectados</a:t>
            </a:r>
            <a:r>
              <a:rPr lang="pt-BR" dirty="0"/>
              <a:t>, </a:t>
            </a:r>
          </a:p>
          <a:p>
            <a:pPr lvl="1">
              <a:buFont typeface="Wingdings" panose="05000000000000000000" pitchFamily="2" charset="2"/>
              <a:buChar char="§"/>
            </a:pPr>
            <a:r>
              <a:rPr lang="pt-BR" dirty="0"/>
              <a:t>organizados em </a:t>
            </a:r>
            <a:r>
              <a:rPr lang="pt-BR" b="1" dirty="0"/>
              <a:t>camadas</a:t>
            </a:r>
            <a:r>
              <a:rPr lang="pt-BR" dirty="0"/>
              <a:t>, </a:t>
            </a:r>
          </a:p>
          <a:p>
            <a:pPr lvl="1">
              <a:buFont typeface="Wingdings" panose="05000000000000000000" pitchFamily="2" charset="2"/>
              <a:buChar char="§"/>
            </a:pPr>
            <a:r>
              <a:rPr lang="pt-BR" dirty="0"/>
              <a:t>que </a:t>
            </a:r>
            <a:r>
              <a:rPr lang="pt-BR" b="1" dirty="0"/>
              <a:t>aprendem</a:t>
            </a:r>
            <a:r>
              <a:rPr lang="pt-BR" dirty="0"/>
              <a:t>, a </a:t>
            </a:r>
            <a:r>
              <a:rPr lang="pt-BR" b="1" dirty="0"/>
              <a:t>partir de dados</a:t>
            </a:r>
            <a:r>
              <a:rPr lang="pt-BR" dirty="0"/>
              <a:t>, uma </a:t>
            </a:r>
            <a:r>
              <a:rPr lang="pt-BR" b="1" dirty="0"/>
              <a:t>função que relaciona as entradas às saídas</a:t>
            </a:r>
            <a:r>
              <a:rPr lang="pt-BR" dirty="0"/>
              <a:t>.</a:t>
            </a:r>
          </a:p>
        </p:txBody>
      </p:sp>
      <p:grpSp>
        <p:nvGrpSpPr>
          <p:cNvPr id="4" name="Group 3">
            <a:extLst>
              <a:ext uri="{FF2B5EF4-FFF2-40B4-BE49-F238E27FC236}">
                <a16:creationId xmlns:a16="http://schemas.microsoft.com/office/drawing/2014/main" xmlns=""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xmlns=""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xmlns=""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a:t>
            </a:r>
            <a:r>
              <a:rPr lang="pt-BR" b="1" dirty="0">
                <a:solidFill>
                  <a:schemeClr val="accent2"/>
                </a:solidFill>
              </a:rPr>
              <a:t>precisamos primeiro discutir o principio básico de funcionamento um neurônio biológico </a:t>
            </a:r>
            <a:r>
              <a:rPr lang="pt-BR" dirty="0"/>
              <a:t>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xmlns=""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xmlns=""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C151907C-2CEE-D100-622D-830DCF5CE15A}"/>
              </a:ext>
            </a:extLst>
          </p:cNvPr>
          <p:cNvSpPr>
            <a:spLocks noGrp="1"/>
          </p:cNvSpPr>
          <p:nvPr>
            <p:ph idx="1"/>
          </p:nvPr>
        </p:nvSpPr>
        <p:spPr>
          <a:xfrm>
            <a:off x="6196011" y="1825624"/>
            <a:ext cx="5858310"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Eles têm três partes fundamentais:</a:t>
            </a:r>
            <a:r>
              <a:rPr lang="pt-BR" b="1" dirty="0"/>
              <a:t> </a:t>
            </a:r>
          </a:p>
          <a:p>
            <a:pPr lvl="1">
              <a:buFont typeface="Wingdings" panose="05000000000000000000" pitchFamily="2" charset="2"/>
              <a:buChar char="§"/>
            </a:pPr>
            <a:r>
              <a:rPr lang="pt-BR" dirty="0"/>
              <a:t>os </a:t>
            </a:r>
            <a:r>
              <a:rPr lang="pt-BR" b="1" dirty="0"/>
              <a:t>dendritos</a:t>
            </a:r>
            <a:r>
              <a:rPr lang="pt-BR" dirty="0"/>
              <a:t>,</a:t>
            </a:r>
          </a:p>
          <a:p>
            <a:pPr lvl="1">
              <a:buFont typeface="Wingdings" panose="05000000000000000000" pitchFamily="2" charset="2"/>
              <a:buChar char="§"/>
            </a:pPr>
            <a:r>
              <a:rPr lang="pt-BR" dirty="0"/>
              <a:t>o </a:t>
            </a:r>
            <a:r>
              <a:rPr lang="pt-BR" b="1" dirty="0"/>
              <a:t>corpo celular</a:t>
            </a:r>
            <a:r>
              <a:rPr lang="pt-BR" dirty="0"/>
              <a:t>, também chamado de </a:t>
            </a:r>
            <a:r>
              <a:rPr lang="pt-BR" b="1" dirty="0">
                <a:solidFill>
                  <a:srgbClr val="00B050"/>
                </a:solidFill>
              </a:rPr>
              <a:t>soma</a:t>
            </a:r>
            <a:r>
              <a:rPr lang="pt-BR" dirty="0"/>
              <a:t>,</a:t>
            </a:r>
          </a:p>
          <a:p>
            <a:pPr lvl="1">
              <a:buFont typeface="Wingdings" panose="05000000000000000000" pitchFamily="2" charset="2"/>
              <a:buChar char="§"/>
            </a:pPr>
            <a:r>
              <a:rPr lang="pt-BR" dirty="0"/>
              <a:t>e o </a:t>
            </a:r>
            <a:r>
              <a:rPr lang="pt-BR" b="1" dirty="0"/>
              <a:t>axônio com seus terminais</a:t>
            </a:r>
            <a:r>
              <a:rPr lang="pt-BR" dirty="0"/>
              <a:t>.</a:t>
            </a:r>
          </a:p>
        </p:txBody>
      </p:sp>
      <p:grpSp>
        <p:nvGrpSpPr>
          <p:cNvPr id="15" name="Agrupar 14">
            <a:extLst>
              <a:ext uri="{FF2B5EF4-FFF2-40B4-BE49-F238E27FC236}">
                <a16:creationId xmlns:a16="http://schemas.microsoft.com/office/drawing/2014/main" xmlns="" id="{969B708E-3193-1F66-DEDD-45860CC83E7A}"/>
              </a:ext>
            </a:extLst>
          </p:cNvPr>
          <p:cNvGrpSpPr/>
          <p:nvPr/>
        </p:nvGrpSpPr>
        <p:grpSpPr>
          <a:xfrm>
            <a:off x="137679" y="2146889"/>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xmlns="" id="{B71EEF35-963B-11CA-3796-3E1341DE944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xmlns=""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xmlns=""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44DD0B1-76D5-7A8B-8216-2E8B1EE1E23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BFFA193-3414-FBF2-A56E-F3D2A3820BF8}"/>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E3E38018-9693-6B2A-8D4F-68053D3B4C50}"/>
              </a:ext>
            </a:extLst>
          </p:cNvPr>
          <p:cNvSpPr>
            <a:spLocks noGrp="1"/>
          </p:cNvSpPr>
          <p:nvPr>
            <p:ph idx="1"/>
          </p:nvPr>
        </p:nvSpPr>
        <p:spPr>
          <a:xfrm>
            <a:off x="5629274" y="1825624"/>
            <a:ext cx="6562725" cy="5032375"/>
          </a:xfrm>
        </p:spPr>
        <p:txBody>
          <a:bodyPr>
            <a:normAutofit/>
          </a:bodyPr>
          <a:lstStyle/>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a:p>
            <a:r>
              <a:rPr lang="pt-BR" dirty="0"/>
              <a:t>O </a:t>
            </a:r>
            <a:r>
              <a:rPr lang="pt-BR" b="1" dirty="0"/>
              <a:t>corpo celular</a:t>
            </a:r>
            <a:r>
              <a:rPr lang="pt-BR" dirty="0"/>
              <a:t> realiza a </a:t>
            </a:r>
            <a:r>
              <a:rPr lang="pt-BR" b="1" dirty="0">
                <a:solidFill>
                  <a:srgbClr val="7030A0"/>
                </a:solidFill>
              </a:rPr>
              <a:t>integração dos estímulos</a:t>
            </a:r>
            <a:r>
              <a:rPr lang="pt-BR" b="1" dirty="0"/>
              <a:t> e gera um impulso</a:t>
            </a:r>
            <a:r>
              <a:rPr lang="pt-BR" dirty="0"/>
              <a:t> caso um </a:t>
            </a:r>
            <a:r>
              <a:rPr lang="pt-BR" b="1" dirty="0">
                <a:solidFill>
                  <a:srgbClr val="00B050"/>
                </a:solidFill>
              </a:rPr>
              <a:t>limiar de ativação </a:t>
            </a:r>
            <a:r>
              <a:rPr lang="pt-BR" b="1" dirty="0">
                <a:solidFill>
                  <a:schemeClr val="accent2"/>
                </a:solidFill>
              </a:rPr>
              <a:t>seja ultrapassado</a:t>
            </a:r>
            <a:r>
              <a:rPr lang="pt-BR" dirty="0"/>
              <a:t>.</a:t>
            </a:r>
          </a:p>
          <a:p>
            <a:r>
              <a:rPr lang="pt-BR" dirty="0"/>
              <a:t>O </a:t>
            </a:r>
            <a:r>
              <a:rPr lang="pt-BR" b="1" dirty="0"/>
              <a:t>axônio</a:t>
            </a:r>
            <a:r>
              <a:rPr lang="pt-BR" dirty="0"/>
              <a:t> envia os </a:t>
            </a:r>
            <a:r>
              <a:rPr lang="pt-BR" b="1" dirty="0"/>
              <a:t>impulsos</a:t>
            </a:r>
            <a:r>
              <a:rPr lang="pt-BR" dirty="0"/>
              <a:t> a outros neurônios através de seus </a:t>
            </a:r>
            <a:r>
              <a:rPr lang="pt-BR" b="1" dirty="0"/>
              <a:t>terminais</a:t>
            </a:r>
            <a:r>
              <a:rPr lang="pt-BR" dirty="0"/>
              <a:t>.</a:t>
            </a:r>
          </a:p>
        </p:txBody>
      </p:sp>
      <p:grpSp>
        <p:nvGrpSpPr>
          <p:cNvPr id="15" name="Agrupar 14">
            <a:extLst>
              <a:ext uri="{FF2B5EF4-FFF2-40B4-BE49-F238E27FC236}">
                <a16:creationId xmlns:a16="http://schemas.microsoft.com/office/drawing/2014/main" xmlns="" id="{B06885AF-BA09-B612-7B3F-5CE1E715686B}"/>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xmlns="" id="{D3D27B0F-C933-8F86-50A2-A83292BA33E3}"/>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2E2226E9-735A-76E8-2F6A-44CFED44A218}"/>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B2E6D022-B6F2-7924-8357-122354EABF84}"/>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DF894B33-4236-A6DE-FFED-BE1227FB3384}"/>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ED7B8BB6-4ECF-00FC-BE89-05A2AB167FF9}"/>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xmlns="" id="{49F9D227-8D26-59FD-4F22-3C9FB641BB2B}"/>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AD9F61F9-826E-F826-B809-AEA021036D53}"/>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2BA2AE87-F254-E293-0168-B4736AAAD24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xmlns="" id="{5B4D901E-1539-EA12-5177-EF8F5025BA3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60BADF7A-2F33-2437-DC96-3F87C53B061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3DA66797-1BAF-F764-9644-96F00DECF7E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4327003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C151907C-2CEE-D100-622D-830DCF5CE15A}"/>
              </a:ext>
            </a:extLst>
          </p:cNvPr>
          <p:cNvSpPr>
            <a:spLocks noGrp="1"/>
          </p:cNvSpPr>
          <p:nvPr>
            <p:ph idx="1"/>
          </p:nvPr>
        </p:nvSpPr>
        <p:spPr>
          <a:xfrm>
            <a:off x="5500118" y="1825624"/>
            <a:ext cx="6691881" cy="5032375"/>
          </a:xfrm>
        </p:spPr>
        <p:txBody>
          <a:bodyPr>
            <a:normAutofit/>
          </a:bodyPr>
          <a:lstStyle/>
          <a:p>
            <a:r>
              <a:rPr lang="pt-BR" noProof="0" dirty="0"/>
              <a:t>Os neurônios se comunicam uns com os outros através das </a:t>
            </a:r>
            <a:r>
              <a:rPr lang="pt-BR" b="1" noProof="0" dirty="0">
                <a:solidFill>
                  <a:srgbClr val="FF0000"/>
                </a:solidFill>
              </a:rPr>
              <a:t>sinapses</a:t>
            </a:r>
            <a:r>
              <a:rPr lang="pt-BR" noProof="0" dirty="0"/>
              <a:t>.</a:t>
            </a:r>
          </a:p>
          <a:p>
            <a:r>
              <a:rPr lang="pt-BR" b="1" noProof="0" dirty="0"/>
              <a:t>Sinapses</a:t>
            </a:r>
            <a:r>
              <a:rPr lang="pt-BR" noProof="0" dirty="0"/>
              <a:t> são os </a:t>
            </a:r>
            <a:r>
              <a:rPr lang="pt-BR" b="1" noProof="0" dirty="0"/>
              <a:t>pontos de contato </a:t>
            </a:r>
            <a:r>
              <a:rPr lang="pt-BR" noProof="0" dirty="0"/>
              <a:t>entre os </a:t>
            </a:r>
            <a:r>
              <a:rPr lang="pt-BR" b="1" noProof="0" dirty="0" err="1"/>
              <a:t>dentritos</a:t>
            </a:r>
            <a:r>
              <a:rPr lang="pt-BR" noProof="0" dirty="0"/>
              <a:t> de um neurônio e os </a:t>
            </a:r>
            <a:r>
              <a:rPr lang="pt-BR" b="1" noProof="0" dirty="0"/>
              <a:t>terminais do axônio </a:t>
            </a:r>
            <a:r>
              <a:rPr lang="pt-BR" noProof="0" dirty="0"/>
              <a:t>de outros neurônios.</a:t>
            </a:r>
          </a:p>
          <a:p>
            <a:r>
              <a:rPr lang="pt-BR" noProof="0" dirty="0"/>
              <a:t>As sinapses podem ser:</a:t>
            </a:r>
          </a:p>
          <a:p>
            <a:pPr lvl="1">
              <a:buFont typeface="Wingdings" panose="05000000000000000000" pitchFamily="2" charset="2"/>
              <a:buChar char="§"/>
            </a:pPr>
            <a:r>
              <a:rPr lang="pt-BR" b="1" dirty="0"/>
              <a:t>Excitatórias</a:t>
            </a:r>
            <a:r>
              <a:rPr lang="pt-BR" dirty="0"/>
              <a:t>: aumentam a chance de disparo.</a:t>
            </a:r>
          </a:p>
          <a:p>
            <a:pPr lvl="1">
              <a:buFont typeface="Wingdings" panose="05000000000000000000" pitchFamily="2" charset="2"/>
              <a:buChar char="§"/>
            </a:pPr>
            <a:r>
              <a:rPr lang="pt-BR" b="1" dirty="0"/>
              <a:t>Inibitórias</a:t>
            </a:r>
            <a:r>
              <a:rPr lang="pt-BR" dirty="0"/>
              <a:t>: diminuem a chance de disparo.</a:t>
            </a:r>
            <a:endParaRPr lang="pt-BR" b="1" noProof="0" dirty="0"/>
          </a:p>
          <a:p>
            <a:pPr lvl="1">
              <a:buFont typeface="Wingdings" panose="05000000000000000000" pitchFamily="2" charset="2"/>
              <a:buChar char="§"/>
            </a:pPr>
            <a:r>
              <a:rPr lang="pt-BR" b="1" noProof="0" dirty="0"/>
              <a:t>Fortes</a:t>
            </a:r>
            <a:r>
              <a:rPr lang="pt-BR" noProof="0" dirty="0"/>
              <a:t>: a informação de um neurônio é muito importante para o próximo.</a:t>
            </a:r>
          </a:p>
          <a:p>
            <a:pPr lvl="1">
              <a:buFont typeface="Wingdings" panose="05000000000000000000" pitchFamily="2" charset="2"/>
              <a:buChar char="§"/>
            </a:pPr>
            <a:r>
              <a:rPr lang="pt-BR" b="1" noProof="0" dirty="0"/>
              <a:t>Fracas</a:t>
            </a:r>
            <a:r>
              <a:rPr lang="pt-BR" noProof="0" dirty="0"/>
              <a:t>: a informação de um neurônio não é tão importante para o próximo.</a:t>
            </a:r>
          </a:p>
        </p:txBody>
      </p:sp>
      <p:grpSp>
        <p:nvGrpSpPr>
          <p:cNvPr id="4" name="Agrupar 3">
            <a:extLst>
              <a:ext uri="{FF2B5EF4-FFF2-40B4-BE49-F238E27FC236}">
                <a16:creationId xmlns:a16="http://schemas.microsoft.com/office/drawing/2014/main" xmlns="" id="{2D96ECB5-848A-C88C-056F-52DA508E7224}"/>
              </a:ext>
            </a:extLst>
          </p:cNvPr>
          <p:cNvGrpSpPr/>
          <p:nvPr/>
        </p:nvGrpSpPr>
        <p:grpSpPr>
          <a:xfrm>
            <a:off x="363792" y="1836762"/>
            <a:ext cx="4788311" cy="2902483"/>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xmlns="" id="{759A4CA3-01FF-6AF2-87C1-457853CE01F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xmlns=""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xmlns=""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xmlns="" id="{DAF695C8-FDDC-46FC-779C-6B1769BDD492}"/>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2034116" y="4950974"/>
            <a:ext cx="3060008" cy="18207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a:t>
            </a:r>
            <a:r>
              <a:rPr lang="pt-BR" b="1" dirty="0"/>
              <a:t>neurônio </a:t>
            </a:r>
            <a:r>
              <a:rPr lang="pt-BR" dirty="0"/>
              <a:t>funciona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xmlns="" id="{8D8030FA-31D6-D143-F6AE-EAED513397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a:t>
            </a:r>
            <a:r>
              <a:rPr lang="pt-BR" b="1" dirty="0">
                <a:solidFill>
                  <a:schemeClr val="accent2"/>
                </a:solidFill>
              </a:rPr>
              <a:t>meados da década de 40</a:t>
            </a:r>
            <a:r>
              <a:rPr lang="pt-BR" dirty="0"/>
              <a:t>, pesquisadores propuseram o </a:t>
            </a:r>
            <a:r>
              <a:rPr lang="pt-BR" b="1" dirty="0">
                <a:solidFill>
                  <a:schemeClr val="accent2"/>
                </a:solidFill>
              </a:rPr>
              <a:t>modelo matemático ao lado</a:t>
            </a:r>
            <a:r>
              <a:rPr lang="pt-BR" dirty="0"/>
              <a:t>.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de ML aprendido anteriormente se assemelha ao neurônio artificial?</a:t>
            </a:r>
          </a:p>
        </p:txBody>
      </p:sp>
      <p:sp>
        <p:nvSpPr>
          <p:cNvPr id="4" name="CaixaDeTexto 3">
            <a:extLst>
              <a:ext uri="{FF2B5EF4-FFF2-40B4-BE49-F238E27FC236}">
                <a16:creationId xmlns:a16="http://schemas.microsoft.com/office/drawing/2014/main" xmlns=""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xmlns=""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xmlns=""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58573E3-61FC-8F02-6F46-01A6D8E3F15D}"/>
                  </a:ext>
                </a:extLst>
              </p:cNvPr>
              <p:cNvSpPr>
                <a:spLocks noGrp="1"/>
              </p:cNvSpPr>
              <p:nvPr>
                <p:ph idx="1"/>
              </p:nvPr>
            </p:nvSpPr>
            <p:spPr>
              <a:xfrm>
                <a:off x="6213764" y="1690688"/>
                <a:ext cx="5889634" cy="5167312"/>
              </a:xfrm>
            </p:spPr>
            <p:txBody>
              <a:bodyPr>
                <a:normAutofit/>
              </a:bodyPr>
              <a:lstStyle/>
              <a:p>
                <a:r>
                  <a:rPr lang="pt-BR" dirty="0"/>
                  <a:t>O neurônio se assemelha ao </a:t>
                </a:r>
                <a:r>
                  <a:rPr lang="pt-BR" b="1" dirty="0">
                    <a:solidFill>
                      <a:schemeClr val="accent2"/>
                    </a:solidFill>
                  </a:rPr>
                  <a:t>regressor logístico</a:t>
                </a:r>
                <a:r>
                  <a:rPr lang="pt-BR" dirty="0"/>
                  <a:t>.</a:t>
                </a:r>
              </a:p>
              <a:p>
                <a:r>
                  <a:rPr lang="pt-BR" dirty="0"/>
                  <a:t>Os </a:t>
                </a:r>
                <a:r>
                  <a:rPr lang="pt-BR" b="1" dirty="0"/>
                  <a:t>estímulos</a:t>
                </a:r>
                <a:r>
                  <a:rPr lang="pt-BR" dirty="0"/>
                  <a:t>, </a:t>
                </a:r>
                <a14:m>
                  <m:oMath xmlns:m="http://schemas.openxmlformats.org/officeDocument/2006/math">
                    <m:sSub>
                      <m:sSubPr>
                        <m:ctrlPr>
                          <a:rPr lang="pt-BR" sz="2400" b="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a:t>
                </a:r>
                <a:r>
                  <a:rPr lang="pt-BR" b="1" dirty="0"/>
                  <a:t>multiplicados</a:t>
                </a:r>
                <a:r>
                  <a:rPr lang="pt-BR" dirty="0"/>
                  <a:t> pelos </a:t>
                </a:r>
                <a:r>
                  <a:rPr lang="pt-BR" b="1" dirty="0"/>
                  <a:t>pesos sinápticos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ao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a:t>
                </a:r>
                <a14:m>
                  <m:oMath xmlns:m="http://schemas.openxmlformats.org/officeDocument/2006/math">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é passado através de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213764" y="1690688"/>
                <a:ext cx="5889634" cy="5167312"/>
              </a:xfrm>
              <a:blipFill>
                <a:blip r:embed="rId3"/>
                <a:stretch>
                  <a:fillRect l="-1863" t="-1887" r="-2588"/>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xmlns=""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xmlns=""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xmlns=""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89E58D1-11D9-351C-CF04-51B9533F4DC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1E70D167-40D0-47EA-7A89-B67F251FEFB1}"/>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00D2BC11-4A17-8912-4A6C-7F2D0605D26C}"/>
                  </a:ext>
                </a:extLst>
              </p:cNvPr>
              <p:cNvSpPr>
                <a:spLocks noGrp="1"/>
              </p:cNvSpPr>
              <p:nvPr>
                <p:ph idx="1"/>
              </p:nvPr>
            </p:nvSpPr>
            <p:spPr>
              <a:xfrm>
                <a:off x="6249971" y="1690688"/>
                <a:ext cx="5942029" cy="5167312"/>
              </a:xfrm>
            </p:spPr>
            <p:txBody>
              <a:bodyPr>
                <a:normAutofit/>
              </a:bodyPr>
              <a:lstStyle/>
              <a:p>
                <a:r>
                  <a:rPr lang="pt-BR" dirty="0"/>
                  <a:t>No contexto de redes neurais os estímulos,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i="1">
                        <a:latin typeface="Cambria Math" panose="02040503050406030204" pitchFamily="18" charset="0"/>
                      </a:rPr>
                      <m:t>𝑏</m:t>
                    </m:r>
                  </m:oMath>
                </a14:m>
                <a:r>
                  <a:rPr lang="pt-BR" dirty="0"/>
                  <a:t>,</a:t>
                </a:r>
                <a:r>
                  <a:rPr lang="pt-BR" b="1" dirty="0"/>
                  <a:t> </a:t>
                </a:r>
                <a:r>
                  <a:rPr lang="pt-BR" dirty="0"/>
                  <a:t>permite </a:t>
                </a:r>
                <a:r>
                  <a:rPr lang="pt-BR" b="1" dirty="0"/>
                  <a:t>ajustar o limiar de ativação</a:t>
                </a:r>
                <a:r>
                  <a:rPr lang="pt-BR" dirty="0"/>
                  <a:t> (ou ponto de disparo) da função de ativação </a:t>
                </a:r>
                <a:r>
                  <a:rPr lang="pt-BR" b="1" dirty="0"/>
                  <a:t>do neurônio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a:p>
                <a:r>
                  <a:rPr lang="pt-BR" dirty="0"/>
                  <a:t>A média ponderada dos atributos, </a:t>
                </a:r>
                <a14:m>
                  <m:oMath xmlns:m="http://schemas.openxmlformats.org/officeDocument/2006/math">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pt-BR" dirty="0"/>
                  <a:t>, é chamada de </a:t>
                </a:r>
                <a:r>
                  <a:rPr lang="pt-BR" b="1" dirty="0">
                    <a:solidFill>
                      <a:srgbClr val="00B050"/>
                    </a:solidFill>
                  </a:rPr>
                  <a:t>ativação</a:t>
                </a:r>
                <a:r>
                  <a:rPr lang="pt-BR" dirty="0"/>
                  <a:t>.</a:t>
                </a:r>
              </a:p>
            </p:txBody>
          </p:sp>
        </mc:Choice>
        <mc:Fallback xmlns="">
          <p:sp>
            <p:nvSpPr>
              <p:cNvPr id="3" name="Espaço Reservado para Conteúdo 2">
                <a:extLst>
                  <a:ext uri="{FF2B5EF4-FFF2-40B4-BE49-F238E27FC236}">
                    <a16:creationId xmlns:a16="http://schemas.microsoft.com/office/drawing/2014/main" id="{00D2BC11-4A17-8912-4A6C-7F2D0605D26C}"/>
                  </a:ext>
                </a:extLst>
              </p:cNvPr>
              <p:cNvSpPr>
                <a:spLocks noGrp="1" noRot="1" noChangeAspect="1" noMove="1" noResize="1" noEditPoints="1" noAdjustHandles="1" noChangeArrowheads="1" noChangeShapeType="1" noTextEdit="1"/>
              </p:cNvSpPr>
              <p:nvPr>
                <p:ph idx="1"/>
              </p:nvPr>
            </p:nvSpPr>
            <p:spPr>
              <a:xfrm>
                <a:off x="6249971" y="1690688"/>
                <a:ext cx="5942029" cy="5167312"/>
              </a:xfrm>
              <a:blipFill>
                <a:blip r:embed="rId3"/>
                <a:stretch>
                  <a:fillRect l="-1846" t="-1887" r="-3385"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xmlns="" id="{17377B3E-628A-22E0-9088-A729A7D05D14}"/>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xmlns="" id="{64CA71CD-4E19-DB03-124F-334C4208F8B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xmlns="" id="{4E0E7932-C669-28EE-149A-C621C39B1B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30132753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7AD301D6-DB59-55AE-6500-3F2B8EBC51E6}"/>
              </a:ext>
            </a:extLst>
          </p:cNvPr>
          <p:cNvSpPr>
            <a:spLocks noGrp="1"/>
          </p:cNvSpPr>
          <p:nvPr>
            <p:ph idx="1"/>
          </p:nvPr>
        </p:nvSpPr>
        <p:spPr>
          <a:xfrm>
            <a:off x="5819775" y="1825624"/>
            <a:ext cx="6296025" cy="5032376"/>
          </a:xfrm>
        </p:spPr>
        <p:txBody>
          <a:bodyPr>
            <a:normAutofit/>
          </a:bodyPr>
          <a:lstStyle/>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a:t>
            </a:r>
          </a:p>
          <a:p>
            <a:pPr lvl="1">
              <a:buFont typeface="Wingdings" panose="05000000000000000000" pitchFamily="2" charset="2"/>
              <a:buChar char="§"/>
            </a:pPr>
            <a:r>
              <a:rPr lang="pt-BR" dirty="0"/>
              <a:t>Em outras palavras, era um </a:t>
            </a:r>
            <a:r>
              <a:rPr lang="pt-BR" dirty="0">
                <a:solidFill>
                  <a:schemeClr val="tx1"/>
                </a:solidFill>
              </a:rPr>
              <a:t>degrau unitário</a:t>
            </a:r>
            <a:r>
              <a:rPr lang="pt-BR" dirty="0"/>
              <a:t>.</a:t>
            </a:r>
            <a:endParaRPr lang="pt-BR" dirty="0">
              <a:solidFill>
                <a:schemeClr val="tx1"/>
              </a:solidFill>
            </a:endParaRPr>
          </a:p>
          <a:p>
            <a:r>
              <a:rPr lang="pt-BR" dirty="0">
                <a:solidFill>
                  <a:schemeClr val="tx1"/>
                </a:solidFill>
              </a:rPr>
              <a:t>Entretanto, ela não é </a:t>
            </a:r>
            <a:r>
              <a:rPr lang="pt-BR" dirty="0" smtClean="0">
                <a:solidFill>
                  <a:schemeClr val="tx1"/>
                </a:solidFill>
              </a:rPr>
              <a:t>mais usada </a:t>
            </a:r>
            <a:r>
              <a:rPr lang="pt-BR" dirty="0"/>
              <a:t>porque sua </a:t>
            </a:r>
            <a:r>
              <a:rPr lang="pt-BR" b="1" dirty="0">
                <a:solidFill>
                  <a:srgbClr val="7030A0"/>
                </a:solidFill>
              </a:rPr>
              <a:t>derivada é zero </a:t>
            </a:r>
            <a:r>
              <a:rPr lang="pt-BR" dirty="0"/>
              <a:t>para valores maiores e menores do que 0 e indeterminada em 0.</a:t>
            </a:r>
          </a:p>
          <a:p>
            <a:r>
              <a:rPr lang="pt-BR" dirty="0"/>
              <a:t>Isso </a:t>
            </a:r>
            <a:r>
              <a:rPr lang="pt-BR" b="1" dirty="0">
                <a:solidFill>
                  <a:srgbClr val="7030A0"/>
                </a:solidFill>
              </a:rPr>
              <a:t>impede o ajuste dos pesos </a:t>
            </a:r>
            <a:r>
              <a:rPr lang="pt-BR" dirty="0"/>
              <a:t>pelo algoritmo de </a:t>
            </a:r>
            <a:r>
              <a:rPr lang="pt-BR" b="1" dirty="0">
                <a:solidFill>
                  <a:srgbClr val="7030A0"/>
                </a:solidFill>
              </a:rPr>
              <a:t>gradiente descendente</a:t>
            </a:r>
            <a:r>
              <a:rPr lang="pt-BR" dirty="0"/>
              <a:t>.</a:t>
            </a:r>
            <a:endParaRPr lang="pt-BR" dirty="0">
              <a:solidFill>
                <a:schemeClr val="tx1"/>
              </a:solidFill>
            </a:endParaRPr>
          </a:p>
        </p:txBody>
      </p:sp>
      <p:sp>
        <p:nvSpPr>
          <p:cNvPr id="7" name="Rectangle 6">
            <a:extLst>
              <a:ext uri="{FF2B5EF4-FFF2-40B4-BE49-F238E27FC236}">
                <a16:creationId xmlns:a16="http://schemas.microsoft.com/office/drawing/2014/main" xmlns="" id="{5EB97E14-ADB4-BA5D-F1FE-546C74193E47}"/>
              </a:ext>
            </a:extLst>
          </p:cNvPr>
          <p:cNvSpPr/>
          <p:nvPr/>
        </p:nvSpPr>
        <p:spPr>
          <a:xfrm>
            <a:off x="2947713" y="3114699"/>
            <a:ext cx="2062156" cy="584775"/>
          </a:xfrm>
          <a:prstGeom prst="rect">
            <a:avLst/>
          </a:prstGeom>
        </p:spPr>
        <p:txBody>
          <a:bodyPr wrap="square">
            <a:spAutoFit/>
          </a:bodyPr>
          <a:lstStyle/>
          <a:p>
            <a:pPr algn="ctr"/>
            <a:r>
              <a:rPr lang="pt-BR" sz="1600" b="1" i="1" dirty="0"/>
              <a:t>função de ativação “tudo-ou-nada”</a:t>
            </a:r>
            <a:endParaRPr lang="pt-BR" sz="1600" dirty="0"/>
          </a:p>
        </p:txBody>
      </p:sp>
      <p:grpSp>
        <p:nvGrpSpPr>
          <p:cNvPr id="4" name="Group 5">
            <a:extLst>
              <a:ext uri="{FF2B5EF4-FFF2-40B4-BE49-F238E27FC236}">
                <a16:creationId xmlns:a16="http://schemas.microsoft.com/office/drawing/2014/main" xmlns="" id="{B5E8039F-CECC-21DA-E60C-3E21A07C8086}"/>
              </a:ext>
            </a:extLst>
          </p:cNvPr>
          <p:cNvGrpSpPr/>
          <p:nvPr/>
        </p:nvGrpSpPr>
        <p:grpSpPr>
          <a:xfrm>
            <a:off x="992380" y="3094415"/>
            <a:ext cx="3142324" cy="1550303"/>
            <a:chOff x="511819" y="4987108"/>
            <a:chExt cx="3142324" cy="1550303"/>
          </a:xfrm>
        </p:grpSpPr>
        <p:cxnSp>
          <p:nvCxnSpPr>
            <p:cNvPr id="5" name="Straight Arrow Connector 6">
              <a:extLst>
                <a:ext uri="{FF2B5EF4-FFF2-40B4-BE49-F238E27FC236}">
                  <a16:creationId xmlns:a16="http://schemas.microsoft.com/office/drawing/2014/main" xmlns="" id="{F447FC66-7200-CC38-B1FE-B168EAF52462}"/>
                </a:ext>
              </a:extLst>
            </p:cNvPr>
            <p:cNvCxnSpPr/>
            <p:nvPr/>
          </p:nvCxnSpPr>
          <p:spPr>
            <a:xfrm flipV="1">
              <a:off x="1038293" y="5156782"/>
              <a:ext cx="0" cy="10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7">
              <a:extLst>
                <a:ext uri="{FF2B5EF4-FFF2-40B4-BE49-F238E27FC236}">
                  <a16:creationId xmlns:a16="http://schemas.microsoft.com/office/drawing/2014/main" xmlns="" id="{9E5C7F2F-679B-3BF7-3F6F-B5B6F18D8BA7}"/>
                </a:ext>
              </a:extLst>
            </p:cNvPr>
            <p:cNvCxnSpPr/>
            <p:nvPr/>
          </p:nvCxnSpPr>
          <p:spPr>
            <a:xfrm>
              <a:off x="511819" y="6236782"/>
              <a:ext cx="25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Connector 8">
              <a:extLst>
                <a:ext uri="{FF2B5EF4-FFF2-40B4-BE49-F238E27FC236}">
                  <a16:creationId xmlns:a16="http://schemas.microsoft.com/office/drawing/2014/main" xmlns="" id="{72B02B8A-8607-D866-82E6-DA3A5862E380}"/>
                </a:ext>
              </a:extLst>
            </p:cNvPr>
            <p:cNvCxnSpPr/>
            <p:nvPr/>
          </p:nvCxnSpPr>
          <p:spPr>
            <a:xfrm>
              <a:off x="1039821" y="5761728"/>
              <a:ext cx="2016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9">
                  <a:extLst>
                    <a:ext uri="{FF2B5EF4-FFF2-40B4-BE49-F238E27FC236}">
                      <a16:creationId xmlns:a16="http://schemas.microsoft.com/office/drawing/2014/main" xmlns="" id="{D50670C3-77D5-E1ED-BA30-A572CE5F9E4F}"/>
                    </a:ext>
                  </a:extLst>
                </p:cNvPr>
                <p:cNvSpPr/>
                <p:nvPr/>
              </p:nvSpPr>
              <p:spPr>
                <a:xfrm>
                  <a:off x="876228" y="6229634"/>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0" smtClean="0">
                            <a:latin typeface="Cambria Math" panose="02040503050406030204" pitchFamily="18" charset="0"/>
                          </a:rPr>
                          <m:t>0</m:t>
                        </m:r>
                      </m:oMath>
                    </m:oMathPara>
                  </a14:m>
                  <a:endParaRPr lang="pt-BR" sz="1400" dirty="0"/>
                </a:p>
              </p:txBody>
            </p:sp>
          </mc:Choice>
          <mc:Fallback xmlns="">
            <p:sp>
              <p:nvSpPr>
                <p:cNvPr id="11" name="Rectangle 10"/>
                <p:cNvSpPr>
                  <a:spLocks noRot="1" noChangeAspect="1" noMove="1" noResize="1" noEditPoints="1" noAdjustHandles="1" noChangeArrowheads="1" noChangeShapeType="1" noTextEdit="1"/>
                </p:cNvSpPr>
                <p:nvPr/>
              </p:nvSpPr>
              <p:spPr>
                <a:xfrm>
                  <a:off x="876228" y="6229634"/>
                  <a:ext cx="324128" cy="307777"/>
                </a:xfrm>
                <a:prstGeom prst="rect">
                  <a:avLst/>
                </a:prstGeom>
                <a:blipFill rotWithShape="0">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10">
                  <a:extLst>
                    <a:ext uri="{FF2B5EF4-FFF2-40B4-BE49-F238E27FC236}">
                      <a16:creationId xmlns:a16="http://schemas.microsoft.com/office/drawing/2014/main" xmlns="" id="{62E842B0-88B7-84E4-AAB8-B9885A4027D7}"/>
                    </a:ext>
                  </a:extLst>
                </p:cNvPr>
                <p:cNvSpPr/>
                <p:nvPr/>
              </p:nvSpPr>
              <p:spPr>
                <a:xfrm>
                  <a:off x="1038292" y="4987108"/>
                  <a:ext cx="1483163" cy="40498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i="1">
                            <a:latin typeface="Cambria Math" panose="02040503050406030204" pitchFamily="18" charset="0"/>
                          </a:rPr>
                          <m:t>𝑓</m:t>
                        </m:r>
                        <m:d>
                          <m:dPr>
                            <m:ctrlPr>
                              <a:rPr lang="pt-BR" i="1" smtClean="0">
                                <a:latin typeface="Cambria Math" panose="02040503050406030204" pitchFamily="18" charset="0"/>
                              </a:rPr>
                            </m:ctrlPr>
                          </m:dPr>
                          <m:e>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e>
                        </m:d>
                      </m:oMath>
                    </m:oMathPara>
                  </a14:m>
                  <a:endParaRPr lang="pt-BR" dirty="0"/>
                </a:p>
              </p:txBody>
            </p:sp>
          </mc:Choice>
          <mc:Fallback xmlns="">
            <p:sp>
              <p:nvSpPr>
                <p:cNvPr id="10" name="Rectangle 10"/>
                <p:cNvSpPr>
                  <a:spLocks noRot="1" noChangeAspect="1" noMove="1" noResize="1" noEditPoints="1" noAdjustHandles="1" noChangeArrowheads="1" noChangeShapeType="1" noTextEdit="1"/>
                </p:cNvSpPr>
                <p:nvPr/>
              </p:nvSpPr>
              <p:spPr>
                <a:xfrm>
                  <a:off x="1038292" y="4987108"/>
                  <a:ext cx="1483163" cy="404983"/>
                </a:xfrm>
                <a:prstGeom prst="rect">
                  <a:avLst/>
                </a:prstGeom>
                <a:blipFill rotWithShape="0">
                  <a:blip r:embed="rId7"/>
                  <a:stretch>
                    <a:fillRect b="-909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11">
                  <a:extLst>
                    <a:ext uri="{FF2B5EF4-FFF2-40B4-BE49-F238E27FC236}">
                      <a16:creationId xmlns:a16="http://schemas.microsoft.com/office/drawing/2014/main" xmlns="" id="{2778CF86-A376-F86A-405D-DB21B08D6F8F}"/>
                    </a:ext>
                  </a:extLst>
                </p:cNvPr>
                <p:cNvSpPr/>
                <p:nvPr/>
              </p:nvSpPr>
              <p:spPr>
                <a:xfrm>
                  <a:off x="2946898" y="6044968"/>
                  <a:ext cx="70724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oMath>
                    </m:oMathPara>
                  </a14:m>
                  <a:endParaRPr lang="pt-BR" dirty="0"/>
                </a:p>
              </p:txBody>
            </p:sp>
          </mc:Choice>
          <mc:Fallback xmlns="">
            <p:sp>
              <p:nvSpPr>
                <p:cNvPr id="13" name="Rectangle 12"/>
                <p:cNvSpPr>
                  <a:spLocks noRot="1" noChangeAspect="1" noMove="1" noResize="1" noEditPoints="1" noAdjustHandles="1" noChangeArrowheads="1" noChangeShapeType="1" noTextEdit="1"/>
                </p:cNvSpPr>
                <p:nvPr/>
              </p:nvSpPr>
              <p:spPr>
                <a:xfrm>
                  <a:off x="2946898" y="6044968"/>
                  <a:ext cx="707245" cy="369332"/>
                </a:xfrm>
                <a:prstGeom prst="rect">
                  <a:avLst/>
                </a:prstGeom>
                <a:blipFill rotWithShape="0">
                  <a:blip r:embed="rId8"/>
                  <a:stretch>
                    <a:fillRect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Rectangle 12">
                  <a:extLst>
                    <a:ext uri="{FF2B5EF4-FFF2-40B4-BE49-F238E27FC236}">
                      <a16:creationId xmlns:a16="http://schemas.microsoft.com/office/drawing/2014/main" xmlns="" id="{AA919F89-3BFA-5DAC-6A06-E93B0CC1EC78}"/>
                    </a:ext>
                  </a:extLst>
                </p:cNvPr>
                <p:cNvSpPr/>
                <p:nvPr/>
              </p:nvSpPr>
              <p:spPr>
                <a:xfrm>
                  <a:off x="761832" y="5607839"/>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1</m:t>
                        </m:r>
                      </m:oMath>
                    </m:oMathPara>
                  </a14:m>
                  <a:endParaRPr lang="pt-BR" sz="1400" dirty="0"/>
                </a:p>
              </p:txBody>
            </p:sp>
          </mc:Choice>
          <mc:Fallback xmlns="">
            <p:sp>
              <p:nvSpPr>
                <p:cNvPr id="14" name="Rectangle 13"/>
                <p:cNvSpPr>
                  <a:spLocks noRot="1" noChangeAspect="1" noMove="1" noResize="1" noEditPoints="1" noAdjustHandles="1" noChangeArrowheads="1" noChangeShapeType="1" noTextEdit="1"/>
                </p:cNvSpPr>
                <p:nvPr/>
              </p:nvSpPr>
              <p:spPr>
                <a:xfrm>
                  <a:off x="761832" y="5607839"/>
                  <a:ext cx="324128" cy="307777"/>
                </a:xfrm>
                <a:prstGeom prst="rect">
                  <a:avLst/>
                </a:prstGeom>
                <a:blipFill rotWithShape="0">
                  <a:blip r:embed="rId9"/>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1250689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CE8AFAF-188B-B0ED-1C4B-D8E94246201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08EEDF4-87BE-6524-C339-B311FC44688A}"/>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2508FD22-A6D0-DCF8-E036-C334F9415BFF}"/>
              </a:ext>
            </a:extLst>
          </p:cNvPr>
          <p:cNvSpPr>
            <a:spLocks noGrp="1"/>
          </p:cNvSpPr>
          <p:nvPr>
            <p:ph idx="1"/>
          </p:nvPr>
        </p:nvSpPr>
        <p:spPr>
          <a:xfrm>
            <a:off x="6255328" y="1825624"/>
            <a:ext cx="5860472" cy="5032376"/>
          </a:xfrm>
        </p:spPr>
        <p:txBody>
          <a:bodyPr>
            <a:normAutofit/>
          </a:bodyPr>
          <a:lstStyle/>
          <a:p>
            <a:r>
              <a:rPr lang="pt-BR" dirty="0"/>
              <a:t>Assim, c</a:t>
            </a:r>
            <a:r>
              <a:rPr lang="pt-BR" dirty="0">
                <a:solidFill>
                  <a:schemeClr val="tx1"/>
                </a:solidFill>
              </a:rPr>
              <a:t>om o decorrer do tempo, funções de ativação </a:t>
            </a:r>
            <a:r>
              <a:rPr lang="pt-BR" b="1" dirty="0">
                <a:solidFill>
                  <a:schemeClr val="accent2"/>
                </a:solidFill>
              </a:rPr>
              <a:t>contínuas e deriváveis</a:t>
            </a:r>
            <a:r>
              <a:rPr lang="pt-BR" dirty="0">
                <a:solidFill>
                  <a:schemeClr val="tx1"/>
                </a:solidFill>
              </a:rPr>
              <a:t> foram propostas</a:t>
            </a:r>
            <a:r>
              <a:rPr lang="pt-BR" dirty="0"/>
              <a:t>:</a:t>
            </a:r>
          </a:p>
          <a:p>
            <a:pPr lvl="1">
              <a:buFont typeface="Wingdings" panose="05000000000000000000" pitchFamily="2" charset="2"/>
              <a:buChar char="§"/>
            </a:pPr>
            <a:r>
              <a:rPr lang="pt-BR" dirty="0"/>
              <a:t>s</a:t>
            </a:r>
            <a:r>
              <a:rPr lang="pt-BR" dirty="0">
                <a:solidFill>
                  <a:schemeClr val="tx1"/>
                </a:solidFill>
              </a:rPr>
              <a:t>igmoide (ou logística),</a:t>
            </a:r>
          </a:p>
          <a:p>
            <a:pPr lvl="1">
              <a:buFont typeface="Wingdings" panose="05000000000000000000" pitchFamily="2" charset="2"/>
              <a:buChar char="§"/>
            </a:pPr>
            <a:r>
              <a:rPr lang="pt-BR" dirty="0" err="1"/>
              <a:t>softmax</a:t>
            </a:r>
            <a:r>
              <a:rPr lang="pt-BR" dirty="0"/>
              <a:t>,</a:t>
            </a:r>
            <a:r>
              <a:rPr lang="pt-BR" dirty="0">
                <a:solidFill>
                  <a:schemeClr val="tx1"/>
                </a:solidFill>
              </a:rPr>
              <a:t> </a:t>
            </a:r>
          </a:p>
          <a:p>
            <a:pPr lvl="1">
              <a:buFont typeface="Wingdings" panose="05000000000000000000" pitchFamily="2" charset="2"/>
              <a:buChar char="§"/>
            </a:pPr>
            <a:r>
              <a:rPr lang="pt-BR" dirty="0">
                <a:solidFill>
                  <a:schemeClr val="tx1"/>
                </a:solidFill>
              </a:rPr>
              <a:t>tangente hiperbólica, </a:t>
            </a:r>
          </a:p>
          <a:p>
            <a:pPr lvl="1">
              <a:buFont typeface="Wingdings" panose="05000000000000000000" pitchFamily="2" charset="2"/>
              <a:buChar char="§"/>
            </a:pPr>
            <a:r>
              <a:rPr lang="pt-BR" dirty="0">
                <a:solidFill>
                  <a:schemeClr val="tx1"/>
                </a:solidFill>
              </a:rPr>
              <a:t>linear,</a:t>
            </a:r>
            <a:r>
              <a:rPr lang="pt-BR" dirty="0"/>
              <a:t> </a:t>
            </a:r>
          </a:p>
          <a:p>
            <a:pPr lvl="1">
              <a:buFont typeface="Wingdings" panose="05000000000000000000" pitchFamily="2" charset="2"/>
              <a:buChar char="§"/>
            </a:pPr>
            <a:r>
              <a:rPr lang="pt-BR" dirty="0" err="1"/>
              <a:t>relu</a:t>
            </a:r>
            <a:r>
              <a:rPr lang="pt-BR" dirty="0"/>
              <a:t> e suas variantes,</a:t>
            </a:r>
            <a:r>
              <a:rPr lang="pt-BR" dirty="0">
                <a:solidFill>
                  <a:schemeClr val="tx1"/>
                </a:solidFill>
              </a:rPr>
              <a:t> </a:t>
            </a:r>
          </a:p>
          <a:p>
            <a:pPr lvl="1">
              <a:buFont typeface="Wingdings" panose="05000000000000000000" pitchFamily="2" charset="2"/>
              <a:buChar char="§"/>
            </a:pPr>
            <a:r>
              <a:rPr lang="pt-BR" dirty="0">
                <a:solidFill>
                  <a:schemeClr val="tx1"/>
                </a:solidFill>
              </a:rPr>
              <a:t>etc.</a:t>
            </a:r>
          </a:p>
          <a:p>
            <a:r>
              <a:rPr lang="pt-BR" b="1" dirty="0"/>
              <a:t>OBS</a:t>
            </a:r>
            <a:r>
              <a:rPr lang="pt-BR" dirty="0"/>
              <a:t>.: A função “linear” é usada, em geral, apenas na saída de redes neurais para regressão.</a:t>
            </a:r>
            <a:endParaRPr lang="pt-BR" dirty="0">
              <a:solidFill>
                <a:schemeClr val="tx1"/>
              </a:solidFill>
            </a:endParaRPr>
          </a:p>
        </p:txBody>
      </p:sp>
      <p:pic>
        <p:nvPicPr>
          <p:cNvPr id="1028" name="Picture 4" descr="Activation Function - AI Wiki">
            <a:extLst>
              <a:ext uri="{FF2B5EF4-FFF2-40B4-BE49-F238E27FC236}">
                <a16:creationId xmlns:a16="http://schemas.microsoft.com/office/drawing/2014/main" xmlns="" id="{B6AD023D-BBB1-9AF0-9047-4098C2C58D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24" t="57261" r="54834" b="1205"/>
          <a:stretch/>
        </p:blipFill>
        <p:spPr bwMode="auto">
          <a:xfrm>
            <a:off x="407874" y="2472441"/>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xmlns="" id="{EF6DC5CF-A0C8-D64D-44FC-58DDB514588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6054" t="57929" r="9225" b="2032"/>
          <a:stretch/>
        </p:blipFill>
        <p:spPr bwMode="auto">
          <a:xfrm>
            <a:off x="3440829" y="4072852"/>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xmlns="" id="{64B42139-9503-99AF-E0F3-287C1509F7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05" t="4046" r="52375" b="51018"/>
          <a:stretch/>
        </p:blipFill>
        <p:spPr bwMode="auto">
          <a:xfrm>
            <a:off x="3095500" y="2472439"/>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xmlns="" id="{E7B30C64-028A-1736-014C-4EA49A4A2B0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394" t="3391" r="3935" b="53689"/>
          <a:stretch/>
        </p:blipFill>
        <p:spPr bwMode="auto">
          <a:xfrm>
            <a:off x="573426" y="4094262"/>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6091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651AE336-F194-B92F-7FFD-EAA2F0C65A36}"/>
              </a:ext>
            </a:extLst>
          </p:cNvPr>
          <p:cNvSpPr>
            <a:spLocks noGrp="1"/>
          </p:cNvSpPr>
          <p:nvPr>
            <p:ph idx="1"/>
          </p:nvPr>
        </p:nvSpPr>
        <p:spPr>
          <a:xfrm>
            <a:off x="6096000" y="1825624"/>
            <a:ext cx="6096000" cy="5032375"/>
          </a:xfrm>
        </p:spPr>
        <p:txBody>
          <a:bodyPr>
            <a:normAutofit/>
          </a:bodyPr>
          <a:lstStyle/>
          <a:p>
            <a:r>
              <a:rPr lang="pt-BR" b="0" dirty="0">
                <a:effectLst/>
              </a:rPr>
              <a:t>Em geral, redes </a:t>
            </a:r>
            <a:r>
              <a:rPr lang="pt-BR" dirty="0"/>
              <a:t>neurais artificiais são </a:t>
            </a:r>
            <a:r>
              <a:rPr lang="pt-BR" b="0" dirty="0">
                <a:effectLst/>
              </a:rPr>
              <a:t>modelos de aprendizado supervisionado.</a:t>
            </a:r>
          </a:p>
          <a:p>
            <a:r>
              <a:rPr lang="pt-BR" dirty="0"/>
              <a:t>Portanto, o</a:t>
            </a:r>
            <a:r>
              <a:rPr lang="pt-BR" b="0" dirty="0">
                <a:effectLst/>
              </a:rPr>
              <a:t>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é </a:t>
            </a:r>
            <a:r>
              <a:rPr lang="pt-BR" b="1" dirty="0">
                <a:solidFill>
                  <a:srgbClr val="00B050"/>
                </a:solidFill>
                <a:effectLst/>
              </a:rPr>
              <a:t>encontrar os valores dos pesos</a:t>
            </a:r>
            <a:r>
              <a:rPr lang="pt-BR" b="1" dirty="0">
                <a:effectLst/>
              </a:rPr>
              <a:t> </a:t>
            </a:r>
            <a:r>
              <a:rPr lang="pt-BR" b="0" dirty="0">
                <a:effectLst/>
              </a:rPr>
              <a:t>(bias e sinápticos) </a:t>
            </a:r>
            <a:r>
              <a:rPr lang="pt-BR" b="1" dirty="0">
                <a:solidFill>
                  <a:srgbClr val="FF0000"/>
                </a:solidFill>
                <a:effectLst/>
              </a:rPr>
              <a:t>de todos os neurônios</a:t>
            </a:r>
            <a:r>
              <a:rPr lang="pt-BR" b="0" dirty="0">
                <a:effectLst/>
              </a:rPr>
              <a:t> que</a:t>
            </a:r>
            <a:r>
              <a:rPr lang="pt-BR" dirty="0"/>
              <a:t> </a:t>
            </a:r>
            <a:r>
              <a:rPr lang="pt-BR" b="1" dirty="0">
                <a:solidFill>
                  <a:srgbClr val="7030A0"/>
                </a:solidFill>
              </a:rPr>
              <a:t>minimizem uma função de erro</a:t>
            </a:r>
            <a:r>
              <a:rPr lang="pt-BR" dirty="0"/>
              <a:t>.</a:t>
            </a:r>
          </a:p>
          <a:p>
            <a:r>
              <a:rPr lang="pt-BR" dirty="0"/>
              <a:t>Por exemplo:</a:t>
            </a:r>
          </a:p>
          <a:p>
            <a:pPr lvl="1">
              <a:buFont typeface="Wingdings" panose="05000000000000000000" pitchFamily="2" charset="2"/>
              <a:buChar char="§"/>
            </a:pPr>
            <a:r>
              <a:rPr lang="pt-BR" dirty="0"/>
              <a:t>Classificação: entropia cruzada</a:t>
            </a:r>
          </a:p>
          <a:p>
            <a:pPr lvl="1">
              <a:buFont typeface="Wingdings" panose="05000000000000000000" pitchFamily="2" charset="2"/>
              <a:buChar char="§"/>
            </a:pPr>
            <a:r>
              <a:rPr lang="pt-BR" dirty="0"/>
              <a:t>Regressão: erro quadrático médio</a:t>
            </a:r>
          </a:p>
        </p:txBody>
      </p:sp>
      <p:pic>
        <p:nvPicPr>
          <p:cNvPr id="5" name="Imagem 4">
            <a:extLst>
              <a:ext uri="{FF2B5EF4-FFF2-40B4-BE49-F238E27FC236}">
                <a16:creationId xmlns:a16="http://schemas.microsoft.com/office/drawing/2014/main" xmlns=""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D010F0FE-985C-783D-7E8F-1F871A77B3CD}"/>
              </a:ext>
            </a:extLst>
          </p:cNvPr>
          <p:cNvSpPr>
            <a:spLocks noGrp="1"/>
          </p:cNvSpPr>
          <p:nvPr>
            <p:ph idx="1"/>
          </p:nvPr>
        </p:nvSpPr>
        <p:spPr>
          <a:xfrm>
            <a:off x="5953991" y="1825624"/>
            <a:ext cx="6161809" cy="5032375"/>
          </a:xfrm>
        </p:spPr>
        <p:txBody>
          <a:bodyPr>
            <a:normAutofit/>
          </a:bodyPr>
          <a:lstStyle/>
          <a:p>
            <a:r>
              <a:rPr lang="pt-BR" dirty="0"/>
              <a:t>Os pesos são ajustados através de um </a:t>
            </a:r>
            <a:r>
              <a:rPr lang="pt-BR" b="1" dirty="0">
                <a:solidFill>
                  <a:srgbClr val="00B050"/>
                </a:solidFill>
              </a:rPr>
              <a:t>algoritmo de otimização iterativo </a:t>
            </a:r>
            <a:r>
              <a:rPr lang="pt-BR" dirty="0"/>
              <a:t>chamado de </a:t>
            </a:r>
            <a:r>
              <a:rPr lang="pt-BR" b="1" dirty="0">
                <a:solidFill>
                  <a:srgbClr val="00B050"/>
                </a:solidFill>
              </a:rPr>
              <a:t>retropropagação do erro, </a:t>
            </a:r>
            <a:r>
              <a:rPr lang="pt-BR" dirty="0"/>
              <a:t>o qual é baseado no gradiente descendente.</a:t>
            </a:r>
          </a:p>
        </p:txBody>
      </p:sp>
      <p:grpSp>
        <p:nvGrpSpPr>
          <p:cNvPr id="4" name="Group 3">
            <a:extLst>
              <a:ext uri="{FF2B5EF4-FFF2-40B4-BE49-F238E27FC236}">
                <a16:creationId xmlns:a16="http://schemas.microsoft.com/office/drawing/2014/main" xmlns="" id="{5E5B4210-F451-0E46-2DC3-5A853779D86A}"/>
              </a:ext>
            </a:extLst>
          </p:cNvPr>
          <p:cNvGrpSpPr/>
          <p:nvPr/>
        </p:nvGrpSpPr>
        <p:grpSpPr>
          <a:xfrm>
            <a:off x="671945" y="2004203"/>
            <a:ext cx="4240583" cy="3792091"/>
            <a:chOff x="294226" y="2506925"/>
            <a:chExt cx="4240583" cy="3792091"/>
          </a:xfrm>
        </p:grpSpPr>
        <p:sp>
          <p:nvSpPr>
            <p:cNvPr id="6" name="Elipse 77">
              <a:extLst>
                <a:ext uri="{FF2B5EF4-FFF2-40B4-BE49-F238E27FC236}">
                  <a16:creationId xmlns:a16="http://schemas.microsoft.com/office/drawing/2014/main" xmlns="" id="{70938B78-1D25-4E0F-4634-95BF4D6C491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a16="http://schemas.microsoft.com/office/drawing/2014/main" xmlns="" id="{D759AC0C-F0D3-1871-2754-69F6D52A6DB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a16="http://schemas.microsoft.com/office/drawing/2014/main" xmlns="" id="{2964BE85-A296-DE4E-E51D-89ECA5716917}"/>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a16="http://schemas.microsoft.com/office/drawing/2014/main" xmlns="" id="{8A60846B-F1E1-7A6B-E335-768C1DC1CC8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a16="http://schemas.microsoft.com/office/drawing/2014/main" xmlns="" id="{033FA15F-7158-4CB1-E047-83183F66F65A}"/>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a16="http://schemas.microsoft.com/office/drawing/2014/main" xmlns="" id="{7C336A27-D1BE-7BF4-CB72-0110F569EE1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a16="http://schemas.microsoft.com/office/drawing/2014/main" xmlns="" id="{18B254A2-D380-C70B-D669-CE16BE48FA8A}"/>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a16="http://schemas.microsoft.com/office/drawing/2014/main" xmlns="" id="{AB02A44B-6636-2983-FEB9-7BB13C0EC978}"/>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a16="http://schemas.microsoft.com/office/drawing/2014/main" xmlns="" id="{84468D6E-B7EC-AA41-E5FD-96FC7756BF4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a16="http://schemas.microsoft.com/office/drawing/2014/main" xmlns="" id="{0B50005F-F6A0-320B-6B06-20B5BA23A1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a16="http://schemas.microsoft.com/office/drawing/2014/main" xmlns="" id="{A41DE232-8C9D-AA86-059D-0434EB0F9F04}"/>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a16="http://schemas.microsoft.com/office/drawing/2014/main" xmlns="" id="{EE2B524E-5D20-41B7-7A32-E87BAE6D1104}"/>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a16="http://schemas.microsoft.com/office/drawing/2014/main" xmlns="" id="{8DBFB752-E2AC-D8D7-8821-677A1FE16DDE}"/>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a16="http://schemas.microsoft.com/office/drawing/2014/main" xmlns="" id="{89D6D24F-AC19-B095-7D38-CF319A6581B1}"/>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a16="http://schemas.microsoft.com/office/drawing/2014/main" xmlns="" id="{59BE2D41-8045-1E74-F8E3-652BF7044E13}"/>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a16="http://schemas.microsoft.com/office/drawing/2014/main" xmlns="" id="{E68E2B60-AFB2-A61C-EB33-9AD710FF25AC}"/>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a16="http://schemas.microsoft.com/office/drawing/2014/main" xmlns="" id="{2DA4392C-3D3C-2FD9-0579-26F9633E4839}"/>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a16="http://schemas.microsoft.com/office/drawing/2014/main" xmlns="" id="{8631E04C-C69E-D569-8733-0B18B71619F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a16="http://schemas.microsoft.com/office/drawing/2014/main" xmlns="" id="{84F98F55-5EC7-3506-A130-BE0646F624CB}"/>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a16="http://schemas.microsoft.com/office/drawing/2014/main" xmlns="" id="{E0CAC1C2-9CB4-18FA-5D0F-4F65CB13864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a16="http://schemas.microsoft.com/office/drawing/2014/main" xmlns="" id="{949E63AC-3290-32BF-9FA1-DBE6B50C7701}"/>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a16="http://schemas.microsoft.com/office/drawing/2014/main" xmlns="" id="{598C46AA-C187-4ECE-8C6D-33457339BDB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a16="http://schemas.microsoft.com/office/drawing/2014/main" xmlns="" id="{F5260134-74BF-B8A6-6615-CEFD5D33C3E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a16="http://schemas.microsoft.com/office/drawing/2014/main" xmlns="" id="{6B3776BE-B594-D910-0E3C-E4DD3EFA38C6}"/>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a16="http://schemas.microsoft.com/office/drawing/2014/main" xmlns="" id="{80EA5619-A589-515C-9CC4-AA341DACFCC9}"/>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a16="http://schemas.microsoft.com/office/drawing/2014/main" xmlns="" id="{78EBEC59-8B34-6834-5B3B-73A8BE9E8DB8}"/>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a16="http://schemas.microsoft.com/office/drawing/2014/main" xmlns="" id="{ABB647B5-F523-4899-7A11-9C081D1C181B}"/>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a16="http://schemas.microsoft.com/office/drawing/2014/main" xmlns="" id="{5498EC9A-FBA7-EC41-AFC2-BB8F89479AFE}"/>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a16="http://schemas.microsoft.com/office/drawing/2014/main" xmlns="" id="{FCC717E5-0431-4BF4-E93C-1DC663CE328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4">
              <a:extLst>
                <a:ext uri="{FF2B5EF4-FFF2-40B4-BE49-F238E27FC236}">
                  <a16:creationId xmlns:a16="http://schemas.microsoft.com/office/drawing/2014/main" xmlns="" id="{511A2ABD-CAF3-343C-635B-ED9906395A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a16="http://schemas.microsoft.com/office/drawing/2014/main" xmlns="" id="{1808174C-4E25-6E3A-67F6-05ACAB75DC1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4091"/>
                    </a:stretch>
                  </a:blipFill>
                </p:spPr>
                <p:txBody>
                  <a:bodyPr/>
                  <a:lstStyle/>
                  <a:p>
                    <a:r>
                      <a:rPr lang="en-US">
                        <a:noFill/>
                      </a:rPr>
                      <a:t> </a:t>
                    </a:r>
                  </a:p>
                </p:txBody>
              </p:sp>
            </mc:Fallback>
          </mc:AlternateContent>
          <p:sp>
            <p:nvSpPr>
              <p:cNvPr id="66" name="Elipse 3">
                <a:extLst>
                  <a:ext uri="{FF2B5EF4-FFF2-40B4-BE49-F238E27FC236}">
                    <a16:creationId xmlns:a16="http://schemas.microsoft.com/office/drawing/2014/main" xmlns="" id="{E5F1337E-7FE4-CFEA-6D68-0EFF60CF3CC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a16="http://schemas.microsoft.com/office/drawing/2014/main" xmlns="" id="{B8193959-6979-CA45-FCB6-D771C67DC5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6">
              <a:extLst>
                <a:ext uri="{FF2B5EF4-FFF2-40B4-BE49-F238E27FC236}">
                  <a16:creationId xmlns:a16="http://schemas.microsoft.com/office/drawing/2014/main" xmlns="" id="{2477E4F2-895D-7D20-D7EC-AC5EDA23309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a16="http://schemas.microsoft.com/office/drawing/2014/main" xmlns="" id="{CFAC640B-C55B-BAB4-3F58-FE8016DC0883}"/>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a16="http://schemas.microsoft.com/office/drawing/2014/main" xmlns="" id="{97777CEA-4A77-7857-75FE-350AAD190E65}"/>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a16="http://schemas.microsoft.com/office/drawing/2014/main" xmlns="" id="{2919784C-62EB-EA92-7CE0-399832E560E5}"/>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7DF8B70D-638D-3788-5447-B836B97AB716}"/>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B8FAAD47-5328-FC60-424C-50F349E807D0}"/>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749B7646-2585-A6C7-731C-96B4A7D36099}"/>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90160C70-080F-79BC-25B0-29BE51D99E32}"/>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6AE1AB27-DE3C-B8AB-B39F-B6781152D7C9}"/>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xmlns="" id="{5FC98075-D65C-BA5A-2093-75138E76A68A}"/>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B9D2A461-DBBD-5434-FA71-1E60E8EE8B13}"/>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0DB552F6-FD7F-F3BC-9A09-7CB4896E1AE3}"/>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8421F91B-4CBA-34A0-3BBC-4E5A1F7D4305}"/>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xmlns="" id="{67A81EE7-1BC4-5264-2F83-E58674F1841B}"/>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61C24F76-1CD9-1815-BA56-8FCD08A712D5}"/>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F0CA8ED8-FB00-230C-27A9-1C41F068C503}"/>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8D683463-3CCA-F760-0EE9-6F4CF8B8C9F8}"/>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9A72763A-8635-F0BA-DBF9-82E22F5234F2}"/>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65C553B-2043-9D1A-6458-D6F3F63692F6}"/>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33BC27EC-6C37-2011-D498-52F0B89F3949}"/>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9400BA16-2DDE-1D24-7BB1-AF95052DB002}"/>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xmlns="" id="{0A2884CC-9B66-9296-2793-2454431EC354}"/>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a16="http://schemas.microsoft.com/office/drawing/2014/main" xmlns="" id="{534D633C-C7A8-CFF1-D35A-AFC6B5F396D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7">
              <a:extLst>
                <a:ext uri="{FF2B5EF4-FFF2-40B4-BE49-F238E27FC236}">
                  <a16:creationId xmlns:a16="http://schemas.microsoft.com/office/drawing/2014/main" xmlns="" id="{60F60EC0-0E55-F84E-7684-B27136F98553}"/>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a16="http://schemas.microsoft.com/office/drawing/2014/main" xmlns="" id="{C99ECD34-F555-AC03-845E-D488C8B56CA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a16="http://schemas.microsoft.com/office/drawing/2014/main" xmlns="" id="{91FF672D-E313-8B98-3EA9-38FECDE561D3}"/>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a16="http://schemas.microsoft.com/office/drawing/2014/main" xmlns="" id="{D245666B-93D8-92BC-771F-308658626B95}"/>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a16="http://schemas.microsoft.com/office/drawing/2014/main" xmlns="" id="{291F4B66-DF6A-110C-F1C3-B4E07427EC17}"/>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018664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838200" y="2988220"/>
            <a:ext cx="10515600" cy="1139644"/>
          </a:xfrm>
        </p:spPr>
        <p:txBody>
          <a:bodyPr>
            <a:normAutofit/>
          </a:bodyPr>
          <a:lstStyle/>
          <a:p>
            <a:pPr marL="0" indent="0" algn="ctr">
              <a:buNone/>
            </a:pPr>
            <a:r>
              <a:rPr lang="pt-BR" sz="6600" dirty="0"/>
              <a:t>Redes neurais artificiais</a:t>
            </a:r>
          </a:p>
        </p:txBody>
      </p:sp>
    </p:spTree>
    <p:extLst>
      <p:ext uri="{BB962C8B-B14F-4D97-AF65-F5344CB8AC3E}">
        <p14:creationId xmlns:p14="http://schemas.microsoft.com/office/powerpoint/2010/main" val="22487375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xmlns=""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xmlns=""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xmlns=""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xmlns=""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xmlns=""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xmlns=""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xmlns=""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xmlns=""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xmlns=""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xmlns=""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xmlns=""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xmlns=""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xmlns=""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xmlns=""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xmlns=""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xmlns=""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xmlns=""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xmlns=""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xmlns=""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xmlns=""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xmlns=""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xmlns=""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xmlns=""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xmlns=""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xmlns=""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xmlns=""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xmlns=""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xmlns=""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xmlns=""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xmlns=""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xmlns=""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xmlns=""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xmlns=""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xmlns=""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xmlns=""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xmlns=""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xmlns=""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xmlns=""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xmlns=""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xmlns=""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xmlns=""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xmlns=""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xmlns=""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xmlns=""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xmlns=""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xmlns=""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xmlns=""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xmlns=""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xmlns=""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xmlns=""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xmlns=""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xmlns=""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xmlns=""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7942C362-2B1D-8B61-38ED-253B029C4E7F}"/>
              </a:ext>
            </a:extLst>
          </p:cNvPr>
          <p:cNvSpPr>
            <a:spLocks noGrp="1"/>
          </p:cNvSpPr>
          <p:nvPr>
            <p:ph idx="1"/>
          </p:nvPr>
        </p:nvSpPr>
        <p:spPr>
          <a:xfrm>
            <a:off x="5545394" y="1825625"/>
            <a:ext cx="6646605"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a:t>
            </a:r>
            <a:r>
              <a:rPr lang="pt-BR" b="1" dirty="0">
                <a:solidFill>
                  <a:schemeClr val="accent5"/>
                </a:solidFill>
              </a:rPr>
              <a:t>transformam progressivamente</a:t>
            </a:r>
            <a:r>
              <a:rPr lang="pt-BR" dirty="0"/>
              <a:t> os </a:t>
            </a:r>
            <a:r>
              <a:rPr lang="pt-BR" b="1" dirty="0">
                <a:solidFill>
                  <a:schemeClr val="accent2"/>
                </a:solidFill>
              </a:rPr>
              <a:t>dados de entrada em </a:t>
            </a:r>
            <a:r>
              <a:rPr lang="pt-BR" b="1" dirty="0">
                <a:solidFill>
                  <a:srgbClr val="00B050"/>
                </a:solidFill>
              </a:rPr>
              <a:t>representações internas </a:t>
            </a:r>
            <a:r>
              <a:rPr lang="pt-BR" b="1" dirty="0">
                <a:solidFill>
                  <a:schemeClr val="accent2"/>
                </a:solidFill>
              </a:rPr>
              <a:t>que sejam </a:t>
            </a:r>
            <a:r>
              <a:rPr lang="pt-BR" b="1" dirty="0">
                <a:solidFill>
                  <a:srgbClr val="7030A0"/>
                </a:solidFill>
              </a:rPr>
              <a:t>úteis</a:t>
            </a:r>
            <a:r>
              <a:rPr lang="pt-BR" b="1" dirty="0">
                <a:solidFill>
                  <a:schemeClr val="accent2"/>
                </a:solidFill>
              </a:rPr>
              <a:t> para produzir a saída desejada</a:t>
            </a:r>
            <a:r>
              <a:rPr lang="pt-BR" dirty="0"/>
              <a:t>.</a:t>
            </a:r>
          </a:p>
        </p:txBody>
      </p:sp>
      <p:grpSp>
        <p:nvGrpSpPr>
          <p:cNvPr id="79" name="Group 6">
            <a:extLst>
              <a:ext uri="{FF2B5EF4-FFF2-40B4-BE49-F238E27FC236}">
                <a16:creationId xmlns:a16="http://schemas.microsoft.com/office/drawing/2014/main" xmlns="" id="{6B09627C-CE08-2478-8D23-3B4588E066AC}"/>
              </a:ext>
            </a:extLst>
          </p:cNvPr>
          <p:cNvGrpSpPr/>
          <p:nvPr/>
        </p:nvGrpSpPr>
        <p:grpSpPr>
          <a:xfrm>
            <a:off x="653454" y="2071496"/>
            <a:ext cx="4240583" cy="3792091"/>
            <a:chOff x="294226" y="2506925"/>
            <a:chExt cx="4240583" cy="3792091"/>
          </a:xfrm>
        </p:grpSpPr>
        <p:sp>
          <p:nvSpPr>
            <p:cNvPr id="80" name="Elipse 77">
              <a:extLst>
                <a:ext uri="{FF2B5EF4-FFF2-40B4-BE49-F238E27FC236}">
                  <a16:creationId xmlns:a16="http://schemas.microsoft.com/office/drawing/2014/main" xmlns=""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1" name="Elipse 78">
              <a:extLst>
                <a:ext uri="{FF2B5EF4-FFF2-40B4-BE49-F238E27FC236}">
                  <a16:creationId xmlns:a16="http://schemas.microsoft.com/office/drawing/2014/main" xmlns=""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2" name="Elipse 79">
              <a:extLst>
                <a:ext uri="{FF2B5EF4-FFF2-40B4-BE49-F238E27FC236}">
                  <a16:creationId xmlns:a16="http://schemas.microsoft.com/office/drawing/2014/main" xmlns=""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3" name="Elipse 81">
              <a:extLst>
                <a:ext uri="{FF2B5EF4-FFF2-40B4-BE49-F238E27FC236}">
                  <a16:creationId xmlns:a16="http://schemas.microsoft.com/office/drawing/2014/main" xmlns=""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4" name="Elipse 82">
              <a:extLst>
                <a:ext uri="{FF2B5EF4-FFF2-40B4-BE49-F238E27FC236}">
                  <a16:creationId xmlns:a16="http://schemas.microsoft.com/office/drawing/2014/main" xmlns=""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5" name="Elipse 83">
              <a:extLst>
                <a:ext uri="{FF2B5EF4-FFF2-40B4-BE49-F238E27FC236}">
                  <a16:creationId xmlns:a16="http://schemas.microsoft.com/office/drawing/2014/main" xmlns=""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6" name="Elipse 84">
              <a:extLst>
                <a:ext uri="{FF2B5EF4-FFF2-40B4-BE49-F238E27FC236}">
                  <a16:creationId xmlns:a16="http://schemas.microsoft.com/office/drawing/2014/main" xmlns=""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7" name="Elipse 85">
              <a:extLst>
                <a:ext uri="{FF2B5EF4-FFF2-40B4-BE49-F238E27FC236}">
                  <a16:creationId xmlns:a16="http://schemas.microsoft.com/office/drawing/2014/main" xmlns=""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88" name="Conector de Seta Reta 86">
              <a:extLst>
                <a:ext uri="{FF2B5EF4-FFF2-40B4-BE49-F238E27FC236}">
                  <a16:creationId xmlns:a16="http://schemas.microsoft.com/office/drawing/2014/main" xmlns="" id="{C80C3ECA-7703-EA9E-2FA6-B601F3950B7C}"/>
                </a:ext>
              </a:extLst>
            </p:cNvPr>
            <p:cNvCxnSpPr>
              <a:cxnSpLocks/>
              <a:stCxn id="85" idx="6"/>
              <a:endCxn id="80"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ector de Seta Reta 87">
              <a:extLst>
                <a:ext uri="{FF2B5EF4-FFF2-40B4-BE49-F238E27FC236}">
                  <a16:creationId xmlns:a16="http://schemas.microsoft.com/office/drawing/2014/main" xmlns="" id="{0121DEA3-80D1-546A-A967-4D8E7A23AFFE}"/>
                </a:ext>
              </a:extLst>
            </p:cNvPr>
            <p:cNvCxnSpPr>
              <a:stCxn id="85" idx="6"/>
              <a:endCxn id="81"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8">
              <a:extLst>
                <a:ext uri="{FF2B5EF4-FFF2-40B4-BE49-F238E27FC236}">
                  <a16:creationId xmlns:a16="http://schemas.microsoft.com/office/drawing/2014/main" xmlns="" id="{AA463781-F1A3-95A0-7035-EEB88CD7629C}"/>
                </a:ext>
              </a:extLst>
            </p:cNvPr>
            <p:cNvCxnSpPr>
              <a:stCxn id="85" idx="6"/>
              <a:endCxn id="82"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ector de Seta Reta 90">
              <a:extLst>
                <a:ext uri="{FF2B5EF4-FFF2-40B4-BE49-F238E27FC236}">
                  <a16:creationId xmlns:a16="http://schemas.microsoft.com/office/drawing/2014/main" xmlns="" id="{16EC8692-F71A-1CAE-4F2E-7166B2FB25A4}"/>
                </a:ext>
              </a:extLst>
            </p:cNvPr>
            <p:cNvCxnSpPr>
              <a:cxnSpLocks/>
              <a:stCxn id="86" idx="6"/>
              <a:endCxn id="80"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xmlns="" id="{5F4C4EE0-A523-C167-CEC0-D8C11A7841F0}"/>
                </a:ext>
              </a:extLst>
            </p:cNvPr>
            <p:cNvCxnSpPr>
              <a:stCxn id="87" idx="6"/>
              <a:endCxn id="81"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92">
              <a:extLst>
                <a:ext uri="{FF2B5EF4-FFF2-40B4-BE49-F238E27FC236}">
                  <a16:creationId xmlns:a16="http://schemas.microsoft.com/office/drawing/2014/main" xmlns="" id="{0FCF106F-E873-2EC3-6488-BE7ACB6C9376}"/>
                </a:ext>
              </a:extLst>
            </p:cNvPr>
            <p:cNvCxnSpPr>
              <a:stCxn id="86" idx="6"/>
              <a:endCxn id="81"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xmlns="" id="{2BEB790B-A599-815D-2CC8-C968853533C8}"/>
                </a:ext>
              </a:extLst>
            </p:cNvPr>
            <p:cNvCxnSpPr>
              <a:stCxn id="86" idx="6"/>
              <a:endCxn id="82"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ector de Seta Reta 96">
              <a:extLst>
                <a:ext uri="{FF2B5EF4-FFF2-40B4-BE49-F238E27FC236}">
                  <a16:creationId xmlns:a16="http://schemas.microsoft.com/office/drawing/2014/main" xmlns="" id="{4B118A1C-5EEE-42C1-6604-B621705EFD48}"/>
                </a:ext>
              </a:extLst>
            </p:cNvPr>
            <p:cNvCxnSpPr>
              <a:stCxn id="87" idx="6"/>
              <a:endCxn id="82"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8">
              <a:extLst>
                <a:ext uri="{FF2B5EF4-FFF2-40B4-BE49-F238E27FC236}">
                  <a16:creationId xmlns:a16="http://schemas.microsoft.com/office/drawing/2014/main" xmlns="" id="{14AFF8CC-AC9F-2724-1E5A-810703AB52BA}"/>
                </a:ext>
              </a:extLst>
            </p:cNvPr>
            <p:cNvCxnSpPr>
              <a:stCxn id="80" idx="6"/>
              <a:endCxn id="83"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ector de Seta Reta 99">
              <a:extLst>
                <a:ext uri="{FF2B5EF4-FFF2-40B4-BE49-F238E27FC236}">
                  <a16:creationId xmlns:a16="http://schemas.microsoft.com/office/drawing/2014/main" xmlns="" id="{722A8CBB-E96B-2043-D81B-DEF683B448BD}"/>
                </a:ext>
              </a:extLst>
            </p:cNvPr>
            <p:cNvCxnSpPr>
              <a:stCxn id="81" idx="6"/>
              <a:endCxn id="84"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100">
              <a:extLst>
                <a:ext uri="{FF2B5EF4-FFF2-40B4-BE49-F238E27FC236}">
                  <a16:creationId xmlns:a16="http://schemas.microsoft.com/office/drawing/2014/main" xmlns="" id="{4638BD3F-20CA-7859-4DC1-F740B12B483B}"/>
                </a:ext>
              </a:extLst>
            </p:cNvPr>
            <p:cNvCxnSpPr>
              <a:stCxn id="82" idx="6"/>
              <a:endCxn id="84"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9" name="Conector de Seta Reta 102">
              <a:extLst>
                <a:ext uri="{FF2B5EF4-FFF2-40B4-BE49-F238E27FC236}">
                  <a16:creationId xmlns:a16="http://schemas.microsoft.com/office/drawing/2014/main" xmlns="" id="{6AA11E5C-AB54-CB2F-FE8F-FD2AF31F00DB}"/>
                </a:ext>
              </a:extLst>
            </p:cNvPr>
            <p:cNvCxnSpPr>
              <a:cxnSpLocks/>
              <a:stCxn id="80" idx="6"/>
              <a:endCxn id="84"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103">
              <a:extLst>
                <a:ext uri="{FF2B5EF4-FFF2-40B4-BE49-F238E27FC236}">
                  <a16:creationId xmlns:a16="http://schemas.microsoft.com/office/drawing/2014/main" xmlns="" id="{A464DA56-0662-5E09-FA2E-331EB8345D19}"/>
                </a:ext>
              </a:extLst>
            </p:cNvPr>
            <p:cNvCxnSpPr>
              <a:stCxn id="81" idx="6"/>
              <a:endCxn id="83"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ector de Seta Reta 104">
              <a:extLst>
                <a:ext uri="{FF2B5EF4-FFF2-40B4-BE49-F238E27FC236}">
                  <a16:creationId xmlns:a16="http://schemas.microsoft.com/office/drawing/2014/main" xmlns="" id="{9E679653-00C7-27F4-D4EA-FBF2473CACAF}"/>
                </a:ext>
              </a:extLst>
            </p:cNvPr>
            <p:cNvCxnSpPr>
              <a:stCxn id="82" idx="6"/>
              <a:endCxn id="83"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2" name="CaixaDeTexto 106">
              <a:extLst>
                <a:ext uri="{FF2B5EF4-FFF2-40B4-BE49-F238E27FC236}">
                  <a16:creationId xmlns:a16="http://schemas.microsoft.com/office/drawing/2014/main" xmlns=""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103" name="Forma Livre: Forma 107">
              <a:extLst>
                <a:ext uri="{FF2B5EF4-FFF2-40B4-BE49-F238E27FC236}">
                  <a16:creationId xmlns:a16="http://schemas.microsoft.com/office/drawing/2014/main" xmlns=""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4" name="Conector reto 112">
              <a:extLst>
                <a:ext uri="{FF2B5EF4-FFF2-40B4-BE49-F238E27FC236}">
                  <a16:creationId xmlns:a16="http://schemas.microsoft.com/office/drawing/2014/main" xmlns="" id="{BD741CC3-12D0-AC90-3AB8-3EDC87740418}"/>
                </a:ext>
              </a:extLst>
            </p:cNvPr>
            <p:cNvCxnSpPr>
              <a:cxnSpLocks/>
              <a:stCxn id="140" idx="6"/>
              <a:endCxn id="86"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de Seta Reta 113">
              <a:extLst>
                <a:ext uri="{FF2B5EF4-FFF2-40B4-BE49-F238E27FC236}">
                  <a16:creationId xmlns:a16="http://schemas.microsoft.com/office/drawing/2014/main" xmlns="" id="{D9E7D66D-CCDF-CBE1-7285-BF0DEAEA5826}"/>
                </a:ext>
              </a:extLst>
            </p:cNvPr>
            <p:cNvCxnSpPr>
              <a:cxnSpLocks/>
              <a:stCxn id="83" idx="6"/>
              <a:endCxn id="107"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14">
              <a:extLst>
                <a:ext uri="{FF2B5EF4-FFF2-40B4-BE49-F238E27FC236}">
                  <a16:creationId xmlns:a16="http://schemas.microsoft.com/office/drawing/2014/main" xmlns="" id="{43D75E58-76B7-39F6-EBAD-9332B0D528A1}"/>
                </a:ext>
              </a:extLst>
            </p:cNvPr>
            <p:cNvCxnSpPr>
              <a:cxnSpLocks/>
              <a:stCxn id="84"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7" name="CaixaDeTexto 5">
                  <a:extLst>
                    <a:ext uri="{FF2B5EF4-FFF2-40B4-BE49-F238E27FC236}">
                      <a16:creationId xmlns:a16="http://schemas.microsoft.com/office/drawing/2014/main" xmlns=""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CaixaDeTexto 6">
                  <a:extLst>
                    <a:ext uri="{FF2B5EF4-FFF2-40B4-BE49-F238E27FC236}">
                      <a16:creationId xmlns:a16="http://schemas.microsoft.com/office/drawing/2014/main" xmlns=""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109" name="Group 36">
              <a:extLst>
                <a:ext uri="{FF2B5EF4-FFF2-40B4-BE49-F238E27FC236}">
                  <a16:creationId xmlns:a16="http://schemas.microsoft.com/office/drawing/2014/main" xmlns=""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39" name="CaixaDeTexto 115">
                    <a:extLst>
                      <a:ext uri="{FF2B5EF4-FFF2-40B4-BE49-F238E27FC236}">
                        <a16:creationId xmlns:a16="http://schemas.microsoft.com/office/drawing/2014/main" xmlns=""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40" name="Elipse 3">
                <a:extLst>
                  <a:ext uri="{FF2B5EF4-FFF2-40B4-BE49-F238E27FC236}">
                    <a16:creationId xmlns:a16="http://schemas.microsoft.com/office/drawing/2014/main" xmlns=""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10" name="Elipse 83">
              <a:extLst>
                <a:ext uri="{FF2B5EF4-FFF2-40B4-BE49-F238E27FC236}">
                  <a16:creationId xmlns:a16="http://schemas.microsoft.com/office/drawing/2014/main" xmlns=""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111" name="Group 38">
              <a:extLst>
                <a:ext uri="{FF2B5EF4-FFF2-40B4-BE49-F238E27FC236}">
                  <a16:creationId xmlns:a16="http://schemas.microsoft.com/office/drawing/2014/main" xmlns=""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37" name="CaixaDeTexto 116">
                    <a:extLst>
                      <a:ext uri="{FF2B5EF4-FFF2-40B4-BE49-F238E27FC236}">
                        <a16:creationId xmlns:a16="http://schemas.microsoft.com/office/drawing/2014/main" xmlns=""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38" name="Elipse 4">
                <a:extLst>
                  <a:ext uri="{FF2B5EF4-FFF2-40B4-BE49-F238E27FC236}">
                    <a16:creationId xmlns:a16="http://schemas.microsoft.com/office/drawing/2014/main" xmlns=""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12" name="Conector reto 112">
              <a:extLst>
                <a:ext uri="{FF2B5EF4-FFF2-40B4-BE49-F238E27FC236}">
                  <a16:creationId xmlns:a16="http://schemas.microsoft.com/office/drawing/2014/main" xmlns="" id="{0544D7E7-4A93-384A-FE1D-EFB06E41452B}"/>
                </a:ext>
              </a:extLst>
            </p:cNvPr>
            <p:cNvCxnSpPr>
              <a:cxnSpLocks/>
              <a:stCxn id="140" idx="6"/>
              <a:endCxn id="85"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Conector reto 112">
              <a:extLst>
                <a:ext uri="{FF2B5EF4-FFF2-40B4-BE49-F238E27FC236}">
                  <a16:creationId xmlns:a16="http://schemas.microsoft.com/office/drawing/2014/main" xmlns="" id="{E7829942-9F7A-456C-06E1-0FDA22EEA3ED}"/>
                </a:ext>
              </a:extLst>
            </p:cNvPr>
            <p:cNvCxnSpPr>
              <a:cxnSpLocks/>
              <a:stCxn id="140" idx="6"/>
              <a:endCxn id="87"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Conector reto 112">
              <a:extLst>
                <a:ext uri="{FF2B5EF4-FFF2-40B4-BE49-F238E27FC236}">
                  <a16:creationId xmlns:a16="http://schemas.microsoft.com/office/drawing/2014/main" xmlns="" id="{A7EC2237-770A-1305-3024-6201BF73D4FC}"/>
                </a:ext>
              </a:extLst>
            </p:cNvPr>
            <p:cNvCxnSpPr>
              <a:cxnSpLocks/>
              <a:stCxn id="140" idx="6"/>
              <a:endCxn id="110"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Conector reto 112">
              <a:extLst>
                <a:ext uri="{FF2B5EF4-FFF2-40B4-BE49-F238E27FC236}">
                  <a16:creationId xmlns:a16="http://schemas.microsoft.com/office/drawing/2014/main" xmlns="" id="{BBA0EB4A-F0B0-A468-81E9-098010FF982F}"/>
                </a:ext>
              </a:extLst>
            </p:cNvPr>
            <p:cNvCxnSpPr>
              <a:cxnSpLocks/>
              <a:stCxn id="138" idx="6"/>
              <a:endCxn id="110"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Conector reto 112">
              <a:extLst>
                <a:ext uri="{FF2B5EF4-FFF2-40B4-BE49-F238E27FC236}">
                  <a16:creationId xmlns:a16="http://schemas.microsoft.com/office/drawing/2014/main" xmlns="" id="{04DADC82-8ACE-215F-1880-5E9CD709B3E3}"/>
                </a:ext>
              </a:extLst>
            </p:cNvPr>
            <p:cNvCxnSpPr>
              <a:cxnSpLocks/>
              <a:stCxn id="138" idx="6"/>
              <a:endCxn id="87"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Conector reto 112">
              <a:extLst>
                <a:ext uri="{FF2B5EF4-FFF2-40B4-BE49-F238E27FC236}">
                  <a16:creationId xmlns:a16="http://schemas.microsoft.com/office/drawing/2014/main" xmlns="" id="{30037EE4-118A-F493-8A4D-BEE627965FCF}"/>
                </a:ext>
              </a:extLst>
            </p:cNvPr>
            <p:cNvCxnSpPr>
              <a:cxnSpLocks/>
              <a:stCxn id="138"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Conector reto 112">
              <a:extLst>
                <a:ext uri="{FF2B5EF4-FFF2-40B4-BE49-F238E27FC236}">
                  <a16:creationId xmlns:a16="http://schemas.microsoft.com/office/drawing/2014/main" xmlns="" id="{E732B412-A9DC-6EB3-AFB4-60B2CA5371DE}"/>
                </a:ext>
              </a:extLst>
            </p:cNvPr>
            <p:cNvCxnSpPr>
              <a:cxnSpLocks/>
              <a:stCxn id="138" idx="6"/>
              <a:endCxn id="85"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Conector de Seta Reta 91">
              <a:extLst>
                <a:ext uri="{FF2B5EF4-FFF2-40B4-BE49-F238E27FC236}">
                  <a16:creationId xmlns:a16="http://schemas.microsoft.com/office/drawing/2014/main" xmlns="" id="{5353916E-3C7D-382C-B435-CE4998378741}"/>
                </a:ext>
              </a:extLst>
            </p:cNvPr>
            <p:cNvCxnSpPr>
              <a:cxnSpLocks/>
              <a:stCxn id="87" idx="6"/>
              <a:endCxn id="80"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91">
              <a:extLst>
                <a:ext uri="{FF2B5EF4-FFF2-40B4-BE49-F238E27FC236}">
                  <a16:creationId xmlns:a16="http://schemas.microsoft.com/office/drawing/2014/main" xmlns="" id="{8A04DE0D-CB52-9B8F-F044-F8EBA1903333}"/>
                </a:ext>
              </a:extLst>
            </p:cNvPr>
            <p:cNvCxnSpPr>
              <a:cxnSpLocks/>
              <a:stCxn id="110" idx="6"/>
              <a:endCxn id="80"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1" name="Conector de Seta Reta 91">
              <a:extLst>
                <a:ext uri="{FF2B5EF4-FFF2-40B4-BE49-F238E27FC236}">
                  <a16:creationId xmlns:a16="http://schemas.microsoft.com/office/drawing/2014/main" xmlns="" id="{D7CDE263-B479-1BEE-EBDC-1E9D0936FDD6}"/>
                </a:ext>
              </a:extLst>
            </p:cNvPr>
            <p:cNvCxnSpPr>
              <a:cxnSpLocks/>
              <a:stCxn id="110" idx="6"/>
              <a:endCxn id="81"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91">
              <a:extLst>
                <a:ext uri="{FF2B5EF4-FFF2-40B4-BE49-F238E27FC236}">
                  <a16:creationId xmlns:a16="http://schemas.microsoft.com/office/drawing/2014/main" xmlns="" id="{8EEF35CA-096F-4E2A-14E6-F202F64CEDB4}"/>
                </a:ext>
              </a:extLst>
            </p:cNvPr>
            <p:cNvCxnSpPr>
              <a:cxnSpLocks/>
              <a:stCxn id="110" idx="6"/>
              <a:endCxn id="82"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3" name="TextBox 50">
                  <a:extLst>
                    <a:ext uri="{FF2B5EF4-FFF2-40B4-BE49-F238E27FC236}">
                      <a16:creationId xmlns:a16="http://schemas.microsoft.com/office/drawing/2014/main" xmlns=""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51">
                  <a:extLst>
                    <a:ext uri="{FF2B5EF4-FFF2-40B4-BE49-F238E27FC236}">
                      <a16:creationId xmlns:a16="http://schemas.microsoft.com/office/drawing/2014/main" xmlns=""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52">
                  <a:extLst>
                    <a:ext uri="{FF2B5EF4-FFF2-40B4-BE49-F238E27FC236}">
                      <a16:creationId xmlns:a16="http://schemas.microsoft.com/office/drawing/2014/main" xmlns=""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53">
                  <a:extLst>
                    <a:ext uri="{FF2B5EF4-FFF2-40B4-BE49-F238E27FC236}">
                      <a16:creationId xmlns:a16="http://schemas.microsoft.com/office/drawing/2014/main" xmlns=""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54">
                  <a:extLst>
                    <a:ext uri="{FF2B5EF4-FFF2-40B4-BE49-F238E27FC236}">
                      <a16:creationId xmlns:a16="http://schemas.microsoft.com/office/drawing/2014/main" xmlns=""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55">
                  <a:extLst>
                    <a:ext uri="{FF2B5EF4-FFF2-40B4-BE49-F238E27FC236}">
                      <a16:creationId xmlns:a16="http://schemas.microsoft.com/office/drawing/2014/main" xmlns=""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56">
                  <a:extLst>
                    <a:ext uri="{FF2B5EF4-FFF2-40B4-BE49-F238E27FC236}">
                      <a16:creationId xmlns:a16="http://schemas.microsoft.com/office/drawing/2014/main" xmlns=""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57">
                  <a:extLst>
                    <a:ext uri="{FF2B5EF4-FFF2-40B4-BE49-F238E27FC236}">
                      <a16:creationId xmlns:a16="http://schemas.microsoft.com/office/drawing/2014/main" xmlns=""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31" name="CaixaDeTexto 106">
              <a:extLst>
                <a:ext uri="{FF2B5EF4-FFF2-40B4-BE49-F238E27FC236}">
                  <a16:creationId xmlns:a16="http://schemas.microsoft.com/office/drawing/2014/main" xmlns=""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32" name="Freeform: Shape 59">
              <a:extLst>
                <a:ext uri="{FF2B5EF4-FFF2-40B4-BE49-F238E27FC236}">
                  <a16:creationId xmlns:a16="http://schemas.microsoft.com/office/drawing/2014/main" xmlns=""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CaixaDeTexto 32">
              <a:extLst>
                <a:ext uri="{FF2B5EF4-FFF2-40B4-BE49-F238E27FC236}">
                  <a16:creationId xmlns:a16="http://schemas.microsoft.com/office/drawing/2014/main" xmlns=""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34" name="CaixaDeTexto 34">
              <a:extLst>
                <a:ext uri="{FF2B5EF4-FFF2-40B4-BE49-F238E27FC236}">
                  <a16:creationId xmlns:a16="http://schemas.microsoft.com/office/drawing/2014/main" xmlns=""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35" name="CaixaDeTexto 40">
              <a:extLst>
                <a:ext uri="{FF2B5EF4-FFF2-40B4-BE49-F238E27FC236}">
                  <a16:creationId xmlns:a16="http://schemas.microsoft.com/office/drawing/2014/main" xmlns=""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36" name="CaixaDeTexto 36">
              <a:extLst>
                <a:ext uri="{FF2B5EF4-FFF2-40B4-BE49-F238E27FC236}">
                  <a16:creationId xmlns:a16="http://schemas.microsoft.com/office/drawing/2014/main" xmlns=""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7942C362-2B1D-8B61-38ED-253B029C4E7F}"/>
              </a:ext>
            </a:extLst>
          </p:cNvPr>
          <p:cNvSpPr>
            <a:spLocks noGrp="1"/>
          </p:cNvSpPr>
          <p:nvPr>
            <p:ph idx="1"/>
          </p:nvPr>
        </p:nvSpPr>
        <p:spPr>
          <a:xfrm>
            <a:off x="5715000" y="1825625"/>
            <a:ext cx="6476999" cy="5032375"/>
          </a:xfrm>
        </p:spPr>
        <p:txBody>
          <a:bodyPr>
            <a:normAutofit/>
          </a:bodyPr>
          <a:lstStyle/>
          <a:p>
            <a:r>
              <a:rPr lang="pt-BR" dirty="0"/>
              <a:t>A ideia é que as </a:t>
            </a:r>
            <a:r>
              <a:rPr lang="pt-BR" b="1" dirty="0">
                <a:solidFill>
                  <a:srgbClr val="00B050"/>
                </a:solidFill>
              </a:rPr>
              <a:t>representações</a:t>
            </a:r>
            <a:r>
              <a:rPr lang="pt-BR" dirty="0"/>
              <a:t> sejam construídas </a:t>
            </a:r>
            <a:r>
              <a:rPr lang="pt-BR" b="1" dirty="0">
                <a:solidFill>
                  <a:srgbClr val="7030A0"/>
                </a:solidFill>
              </a:rPr>
              <a:t>hierarquicamente</a:t>
            </a:r>
            <a:r>
              <a:rPr lang="pt-BR" dirty="0"/>
              <a:t>: </a:t>
            </a:r>
          </a:p>
          <a:p>
            <a:pPr lvl="1">
              <a:buFont typeface="Wingdings" panose="05000000000000000000" pitchFamily="2" charset="2"/>
              <a:buChar char="§"/>
            </a:pPr>
            <a:r>
              <a:rPr lang="pt-BR" dirty="0"/>
              <a:t>camadas iniciais detectam padrões mais básicos, </a:t>
            </a:r>
          </a:p>
          <a:p>
            <a:pPr lvl="1">
              <a:buFont typeface="Wingdings" panose="05000000000000000000" pitchFamily="2" charset="2"/>
              <a:buChar char="§"/>
            </a:pPr>
            <a:r>
              <a:rPr lang="pt-BR" dirty="0"/>
              <a:t>enquanto camadas posteriores combinam esses padrões em estruturas progressivamente mais complexas.</a:t>
            </a:r>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por </a:t>
            </a:r>
            <a:r>
              <a:rPr lang="en-US" dirty="0"/>
              <a:t>Frank Rosenblatt.</a:t>
            </a:r>
            <a:endParaRPr lang="pt-BR" dirty="0"/>
          </a:p>
        </p:txBody>
      </p:sp>
      <p:grpSp>
        <p:nvGrpSpPr>
          <p:cNvPr id="69" name="Grupo 68"/>
          <p:cNvGrpSpPr/>
          <p:nvPr/>
        </p:nvGrpSpPr>
        <p:grpSpPr>
          <a:xfrm>
            <a:off x="604596" y="1825625"/>
            <a:ext cx="5108836" cy="4524192"/>
            <a:chOff x="653454" y="2071496"/>
            <a:chExt cx="5108836" cy="4524192"/>
          </a:xfrm>
        </p:grpSpPr>
        <p:grpSp>
          <p:nvGrpSpPr>
            <p:cNvPr id="70" name="Group 6">
              <a:extLst>
                <a:ext uri="{FF2B5EF4-FFF2-40B4-BE49-F238E27FC236}">
                  <a16:creationId xmlns:a16="http://schemas.microsoft.com/office/drawing/2014/main" xmlns="" id="{6B09627C-CE08-2478-8D23-3B4588E066AC}"/>
                </a:ext>
              </a:extLst>
            </p:cNvPr>
            <p:cNvGrpSpPr/>
            <p:nvPr/>
          </p:nvGrpSpPr>
          <p:grpSpPr>
            <a:xfrm>
              <a:off x="653454" y="2071496"/>
              <a:ext cx="4240583" cy="3792091"/>
              <a:chOff x="294226" y="2506925"/>
              <a:chExt cx="4240583" cy="3792091"/>
            </a:xfrm>
          </p:grpSpPr>
          <p:sp>
            <p:nvSpPr>
              <p:cNvPr id="80" name="Elipse 77">
                <a:extLst>
                  <a:ext uri="{FF2B5EF4-FFF2-40B4-BE49-F238E27FC236}">
                    <a16:creationId xmlns:a16="http://schemas.microsoft.com/office/drawing/2014/main" xmlns=""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1" name="Elipse 78">
                <a:extLst>
                  <a:ext uri="{FF2B5EF4-FFF2-40B4-BE49-F238E27FC236}">
                    <a16:creationId xmlns:a16="http://schemas.microsoft.com/office/drawing/2014/main" xmlns=""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2" name="Elipse 79">
                <a:extLst>
                  <a:ext uri="{FF2B5EF4-FFF2-40B4-BE49-F238E27FC236}">
                    <a16:creationId xmlns:a16="http://schemas.microsoft.com/office/drawing/2014/main" xmlns=""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3" name="Elipse 81">
                <a:extLst>
                  <a:ext uri="{FF2B5EF4-FFF2-40B4-BE49-F238E27FC236}">
                    <a16:creationId xmlns:a16="http://schemas.microsoft.com/office/drawing/2014/main" xmlns=""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4" name="Elipse 82">
                <a:extLst>
                  <a:ext uri="{FF2B5EF4-FFF2-40B4-BE49-F238E27FC236}">
                    <a16:creationId xmlns:a16="http://schemas.microsoft.com/office/drawing/2014/main" xmlns=""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5" name="Elipse 83">
                <a:extLst>
                  <a:ext uri="{FF2B5EF4-FFF2-40B4-BE49-F238E27FC236}">
                    <a16:creationId xmlns:a16="http://schemas.microsoft.com/office/drawing/2014/main" xmlns=""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6" name="Elipse 84">
                <a:extLst>
                  <a:ext uri="{FF2B5EF4-FFF2-40B4-BE49-F238E27FC236}">
                    <a16:creationId xmlns:a16="http://schemas.microsoft.com/office/drawing/2014/main" xmlns=""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7" name="Elipse 85">
                <a:extLst>
                  <a:ext uri="{FF2B5EF4-FFF2-40B4-BE49-F238E27FC236}">
                    <a16:creationId xmlns:a16="http://schemas.microsoft.com/office/drawing/2014/main" xmlns=""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88" name="Conector de Seta Reta 86">
                <a:extLst>
                  <a:ext uri="{FF2B5EF4-FFF2-40B4-BE49-F238E27FC236}">
                    <a16:creationId xmlns:a16="http://schemas.microsoft.com/office/drawing/2014/main" xmlns="" id="{C80C3ECA-7703-EA9E-2FA6-B601F3950B7C}"/>
                  </a:ext>
                </a:extLst>
              </p:cNvPr>
              <p:cNvCxnSpPr>
                <a:cxnSpLocks/>
                <a:stCxn id="85" idx="6"/>
                <a:endCxn id="80"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ector de Seta Reta 87">
                <a:extLst>
                  <a:ext uri="{FF2B5EF4-FFF2-40B4-BE49-F238E27FC236}">
                    <a16:creationId xmlns:a16="http://schemas.microsoft.com/office/drawing/2014/main" xmlns="" id="{0121DEA3-80D1-546A-A967-4D8E7A23AFFE}"/>
                  </a:ext>
                </a:extLst>
              </p:cNvPr>
              <p:cNvCxnSpPr>
                <a:stCxn id="85" idx="6"/>
                <a:endCxn id="81"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8">
                <a:extLst>
                  <a:ext uri="{FF2B5EF4-FFF2-40B4-BE49-F238E27FC236}">
                    <a16:creationId xmlns:a16="http://schemas.microsoft.com/office/drawing/2014/main" xmlns="" id="{AA463781-F1A3-95A0-7035-EEB88CD7629C}"/>
                  </a:ext>
                </a:extLst>
              </p:cNvPr>
              <p:cNvCxnSpPr>
                <a:stCxn id="85" idx="6"/>
                <a:endCxn id="82"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ector de Seta Reta 90">
                <a:extLst>
                  <a:ext uri="{FF2B5EF4-FFF2-40B4-BE49-F238E27FC236}">
                    <a16:creationId xmlns:a16="http://schemas.microsoft.com/office/drawing/2014/main" xmlns="" id="{16EC8692-F71A-1CAE-4F2E-7166B2FB25A4}"/>
                  </a:ext>
                </a:extLst>
              </p:cNvPr>
              <p:cNvCxnSpPr>
                <a:cxnSpLocks/>
                <a:stCxn id="86" idx="6"/>
                <a:endCxn id="80"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xmlns="" id="{5F4C4EE0-A523-C167-CEC0-D8C11A7841F0}"/>
                  </a:ext>
                </a:extLst>
              </p:cNvPr>
              <p:cNvCxnSpPr>
                <a:stCxn id="87" idx="6"/>
                <a:endCxn id="81"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92">
                <a:extLst>
                  <a:ext uri="{FF2B5EF4-FFF2-40B4-BE49-F238E27FC236}">
                    <a16:creationId xmlns:a16="http://schemas.microsoft.com/office/drawing/2014/main" xmlns="" id="{0FCF106F-E873-2EC3-6488-BE7ACB6C9376}"/>
                  </a:ext>
                </a:extLst>
              </p:cNvPr>
              <p:cNvCxnSpPr>
                <a:stCxn id="86" idx="6"/>
                <a:endCxn id="81"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xmlns="" id="{2BEB790B-A599-815D-2CC8-C968853533C8}"/>
                  </a:ext>
                </a:extLst>
              </p:cNvPr>
              <p:cNvCxnSpPr>
                <a:stCxn id="86" idx="6"/>
                <a:endCxn id="82"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ector de Seta Reta 96">
                <a:extLst>
                  <a:ext uri="{FF2B5EF4-FFF2-40B4-BE49-F238E27FC236}">
                    <a16:creationId xmlns:a16="http://schemas.microsoft.com/office/drawing/2014/main" xmlns="" id="{4B118A1C-5EEE-42C1-6604-B621705EFD48}"/>
                  </a:ext>
                </a:extLst>
              </p:cNvPr>
              <p:cNvCxnSpPr>
                <a:stCxn id="87" idx="6"/>
                <a:endCxn id="82"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8">
                <a:extLst>
                  <a:ext uri="{FF2B5EF4-FFF2-40B4-BE49-F238E27FC236}">
                    <a16:creationId xmlns:a16="http://schemas.microsoft.com/office/drawing/2014/main" xmlns="" id="{14AFF8CC-AC9F-2724-1E5A-810703AB52BA}"/>
                  </a:ext>
                </a:extLst>
              </p:cNvPr>
              <p:cNvCxnSpPr>
                <a:stCxn id="80" idx="6"/>
                <a:endCxn id="83"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ector de Seta Reta 99">
                <a:extLst>
                  <a:ext uri="{FF2B5EF4-FFF2-40B4-BE49-F238E27FC236}">
                    <a16:creationId xmlns:a16="http://schemas.microsoft.com/office/drawing/2014/main" xmlns="" id="{722A8CBB-E96B-2043-D81B-DEF683B448BD}"/>
                  </a:ext>
                </a:extLst>
              </p:cNvPr>
              <p:cNvCxnSpPr>
                <a:stCxn id="81" idx="6"/>
                <a:endCxn id="84"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100">
                <a:extLst>
                  <a:ext uri="{FF2B5EF4-FFF2-40B4-BE49-F238E27FC236}">
                    <a16:creationId xmlns:a16="http://schemas.microsoft.com/office/drawing/2014/main" xmlns="" id="{4638BD3F-20CA-7859-4DC1-F740B12B483B}"/>
                  </a:ext>
                </a:extLst>
              </p:cNvPr>
              <p:cNvCxnSpPr>
                <a:stCxn id="82" idx="6"/>
                <a:endCxn id="84"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9" name="Conector de Seta Reta 102">
                <a:extLst>
                  <a:ext uri="{FF2B5EF4-FFF2-40B4-BE49-F238E27FC236}">
                    <a16:creationId xmlns:a16="http://schemas.microsoft.com/office/drawing/2014/main" xmlns="" id="{6AA11E5C-AB54-CB2F-FE8F-FD2AF31F00DB}"/>
                  </a:ext>
                </a:extLst>
              </p:cNvPr>
              <p:cNvCxnSpPr>
                <a:cxnSpLocks/>
                <a:stCxn id="80" idx="6"/>
                <a:endCxn id="84"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103">
                <a:extLst>
                  <a:ext uri="{FF2B5EF4-FFF2-40B4-BE49-F238E27FC236}">
                    <a16:creationId xmlns:a16="http://schemas.microsoft.com/office/drawing/2014/main" xmlns="" id="{A464DA56-0662-5E09-FA2E-331EB8345D19}"/>
                  </a:ext>
                </a:extLst>
              </p:cNvPr>
              <p:cNvCxnSpPr>
                <a:stCxn id="81" idx="6"/>
                <a:endCxn id="83"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ector de Seta Reta 104">
                <a:extLst>
                  <a:ext uri="{FF2B5EF4-FFF2-40B4-BE49-F238E27FC236}">
                    <a16:creationId xmlns:a16="http://schemas.microsoft.com/office/drawing/2014/main" xmlns="" id="{9E679653-00C7-27F4-D4EA-FBF2473CACAF}"/>
                  </a:ext>
                </a:extLst>
              </p:cNvPr>
              <p:cNvCxnSpPr>
                <a:stCxn id="82" idx="6"/>
                <a:endCxn id="83"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2" name="CaixaDeTexto 106">
                <a:extLst>
                  <a:ext uri="{FF2B5EF4-FFF2-40B4-BE49-F238E27FC236}">
                    <a16:creationId xmlns:a16="http://schemas.microsoft.com/office/drawing/2014/main" xmlns=""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103" name="Forma Livre: Forma 107">
                <a:extLst>
                  <a:ext uri="{FF2B5EF4-FFF2-40B4-BE49-F238E27FC236}">
                    <a16:creationId xmlns:a16="http://schemas.microsoft.com/office/drawing/2014/main" xmlns=""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4" name="Conector reto 112">
                <a:extLst>
                  <a:ext uri="{FF2B5EF4-FFF2-40B4-BE49-F238E27FC236}">
                    <a16:creationId xmlns:a16="http://schemas.microsoft.com/office/drawing/2014/main" xmlns="" id="{BD741CC3-12D0-AC90-3AB8-3EDC87740418}"/>
                  </a:ext>
                </a:extLst>
              </p:cNvPr>
              <p:cNvCxnSpPr>
                <a:cxnSpLocks/>
                <a:stCxn id="140" idx="6"/>
                <a:endCxn id="86"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de Seta Reta 113">
                <a:extLst>
                  <a:ext uri="{FF2B5EF4-FFF2-40B4-BE49-F238E27FC236}">
                    <a16:creationId xmlns:a16="http://schemas.microsoft.com/office/drawing/2014/main" xmlns="" id="{D9E7D66D-CCDF-CBE1-7285-BF0DEAEA5826}"/>
                  </a:ext>
                </a:extLst>
              </p:cNvPr>
              <p:cNvCxnSpPr>
                <a:cxnSpLocks/>
                <a:stCxn id="83" idx="6"/>
                <a:endCxn id="107"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14">
                <a:extLst>
                  <a:ext uri="{FF2B5EF4-FFF2-40B4-BE49-F238E27FC236}">
                    <a16:creationId xmlns:a16="http://schemas.microsoft.com/office/drawing/2014/main" xmlns="" id="{43D75E58-76B7-39F6-EBAD-9332B0D528A1}"/>
                  </a:ext>
                </a:extLst>
              </p:cNvPr>
              <p:cNvCxnSpPr>
                <a:cxnSpLocks/>
                <a:stCxn id="84"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7" name="CaixaDeTexto 5">
                    <a:extLst>
                      <a:ext uri="{FF2B5EF4-FFF2-40B4-BE49-F238E27FC236}">
                        <a16:creationId xmlns:a16="http://schemas.microsoft.com/office/drawing/2014/main" xmlns=""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CaixaDeTexto 6">
                    <a:extLst>
                      <a:ext uri="{FF2B5EF4-FFF2-40B4-BE49-F238E27FC236}">
                        <a16:creationId xmlns:a16="http://schemas.microsoft.com/office/drawing/2014/main" xmlns=""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109" name="Group 36">
                <a:extLst>
                  <a:ext uri="{FF2B5EF4-FFF2-40B4-BE49-F238E27FC236}">
                    <a16:creationId xmlns:a16="http://schemas.microsoft.com/office/drawing/2014/main" xmlns=""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39" name="CaixaDeTexto 115">
                      <a:extLst>
                        <a:ext uri="{FF2B5EF4-FFF2-40B4-BE49-F238E27FC236}">
                          <a16:creationId xmlns:a16="http://schemas.microsoft.com/office/drawing/2014/main" xmlns=""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40" name="Elipse 3">
                  <a:extLst>
                    <a:ext uri="{FF2B5EF4-FFF2-40B4-BE49-F238E27FC236}">
                      <a16:creationId xmlns:a16="http://schemas.microsoft.com/office/drawing/2014/main" xmlns=""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10" name="Elipse 83">
                <a:extLst>
                  <a:ext uri="{FF2B5EF4-FFF2-40B4-BE49-F238E27FC236}">
                    <a16:creationId xmlns:a16="http://schemas.microsoft.com/office/drawing/2014/main" xmlns=""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111" name="Group 38">
                <a:extLst>
                  <a:ext uri="{FF2B5EF4-FFF2-40B4-BE49-F238E27FC236}">
                    <a16:creationId xmlns:a16="http://schemas.microsoft.com/office/drawing/2014/main" xmlns=""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37" name="CaixaDeTexto 116">
                      <a:extLst>
                        <a:ext uri="{FF2B5EF4-FFF2-40B4-BE49-F238E27FC236}">
                          <a16:creationId xmlns:a16="http://schemas.microsoft.com/office/drawing/2014/main" xmlns=""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38" name="Elipse 4">
                  <a:extLst>
                    <a:ext uri="{FF2B5EF4-FFF2-40B4-BE49-F238E27FC236}">
                      <a16:creationId xmlns:a16="http://schemas.microsoft.com/office/drawing/2014/main" xmlns=""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12" name="Conector reto 112">
                <a:extLst>
                  <a:ext uri="{FF2B5EF4-FFF2-40B4-BE49-F238E27FC236}">
                    <a16:creationId xmlns:a16="http://schemas.microsoft.com/office/drawing/2014/main" xmlns="" id="{0544D7E7-4A93-384A-FE1D-EFB06E41452B}"/>
                  </a:ext>
                </a:extLst>
              </p:cNvPr>
              <p:cNvCxnSpPr>
                <a:cxnSpLocks/>
                <a:stCxn id="140" idx="6"/>
                <a:endCxn id="85"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Conector reto 112">
                <a:extLst>
                  <a:ext uri="{FF2B5EF4-FFF2-40B4-BE49-F238E27FC236}">
                    <a16:creationId xmlns:a16="http://schemas.microsoft.com/office/drawing/2014/main" xmlns="" id="{E7829942-9F7A-456C-06E1-0FDA22EEA3ED}"/>
                  </a:ext>
                </a:extLst>
              </p:cNvPr>
              <p:cNvCxnSpPr>
                <a:cxnSpLocks/>
                <a:stCxn id="140" idx="6"/>
                <a:endCxn id="87"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Conector reto 112">
                <a:extLst>
                  <a:ext uri="{FF2B5EF4-FFF2-40B4-BE49-F238E27FC236}">
                    <a16:creationId xmlns:a16="http://schemas.microsoft.com/office/drawing/2014/main" xmlns="" id="{A7EC2237-770A-1305-3024-6201BF73D4FC}"/>
                  </a:ext>
                </a:extLst>
              </p:cNvPr>
              <p:cNvCxnSpPr>
                <a:cxnSpLocks/>
                <a:stCxn id="140" idx="6"/>
                <a:endCxn id="110"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Conector reto 112">
                <a:extLst>
                  <a:ext uri="{FF2B5EF4-FFF2-40B4-BE49-F238E27FC236}">
                    <a16:creationId xmlns:a16="http://schemas.microsoft.com/office/drawing/2014/main" xmlns="" id="{BBA0EB4A-F0B0-A468-81E9-098010FF982F}"/>
                  </a:ext>
                </a:extLst>
              </p:cNvPr>
              <p:cNvCxnSpPr>
                <a:cxnSpLocks/>
                <a:stCxn id="138" idx="6"/>
                <a:endCxn id="110"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Conector reto 112">
                <a:extLst>
                  <a:ext uri="{FF2B5EF4-FFF2-40B4-BE49-F238E27FC236}">
                    <a16:creationId xmlns:a16="http://schemas.microsoft.com/office/drawing/2014/main" xmlns="" id="{04DADC82-8ACE-215F-1880-5E9CD709B3E3}"/>
                  </a:ext>
                </a:extLst>
              </p:cNvPr>
              <p:cNvCxnSpPr>
                <a:cxnSpLocks/>
                <a:stCxn id="138" idx="6"/>
                <a:endCxn id="87"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Conector reto 112">
                <a:extLst>
                  <a:ext uri="{FF2B5EF4-FFF2-40B4-BE49-F238E27FC236}">
                    <a16:creationId xmlns:a16="http://schemas.microsoft.com/office/drawing/2014/main" xmlns="" id="{30037EE4-118A-F493-8A4D-BEE627965FCF}"/>
                  </a:ext>
                </a:extLst>
              </p:cNvPr>
              <p:cNvCxnSpPr>
                <a:cxnSpLocks/>
                <a:stCxn id="138"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Conector reto 112">
                <a:extLst>
                  <a:ext uri="{FF2B5EF4-FFF2-40B4-BE49-F238E27FC236}">
                    <a16:creationId xmlns:a16="http://schemas.microsoft.com/office/drawing/2014/main" xmlns="" id="{E732B412-A9DC-6EB3-AFB4-60B2CA5371DE}"/>
                  </a:ext>
                </a:extLst>
              </p:cNvPr>
              <p:cNvCxnSpPr>
                <a:cxnSpLocks/>
                <a:stCxn id="138" idx="6"/>
                <a:endCxn id="85"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Conector de Seta Reta 91">
                <a:extLst>
                  <a:ext uri="{FF2B5EF4-FFF2-40B4-BE49-F238E27FC236}">
                    <a16:creationId xmlns:a16="http://schemas.microsoft.com/office/drawing/2014/main" xmlns="" id="{5353916E-3C7D-382C-B435-CE4998378741}"/>
                  </a:ext>
                </a:extLst>
              </p:cNvPr>
              <p:cNvCxnSpPr>
                <a:cxnSpLocks/>
                <a:stCxn id="87" idx="6"/>
                <a:endCxn id="80"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91">
                <a:extLst>
                  <a:ext uri="{FF2B5EF4-FFF2-40B4-BE49-F238E27FC236}">
                    <a16:creationId xmlns:a16="http://schemas.microsoft.com/office/drawing/2014/main" xmlns="" id="{8A04DE0D-CB52-9B8F-F044-F8EBA1903333}"/>
                  </a:ext>
                </a:extLst>
              </p:cNvPr>
              <p:cNvCxnSpPr>
                <a:cxnSpLocks/>
                <a:stCxn id="110" idx="6"/>
                <a:endCxn id="80"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1" name="Conector de Seta Reta 91">
                <a:extLst>
                  <a:ext uri="{FF2B5EF4-FFF2-40B4-BE49-F238E27FC236}">
                    <a16:creationId xmlns:a16="http://schemas.microsoft.com/office/drawing/2014/main" xmlns="" id="{D7CDE263-B479-1BEE-EBDC-1E9D0936FDD6}"/>
                  </a:ext>
                </a:extLst>
              </p:cNvPr>
              <p:cNvCxnSpPr>
                <a:cxnSpLocks/>
                <a:stCxn id="110" idx="6"/>
                <a:endCxn id="81"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91">
                <a:extLst>
                  <a:ext uri="{FF2B5EF4-FFF2-40B4-BE49-F238E27FC236}">
                    <a16:creationId xmlns:a16="http://schemas.microsoft.com/office/drawing/2014/main" xmlns="" id="{8EEF35CA-096F-4E2A-14E6-F202F64CEDB4}"/>
                  </a:ext>
                </a:extLst>
              </p:cNvPr>
              <p:cNvCxnSpPr>
                <a:cxnSpLocks/>
                <a:stCxn id="110" idx="6"/>
                <a:endCxn id="82"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3" name="TextBox 50">
                    <a:extLst>
                      <a:ext uri="{FF2B5EF4-FFF2-40B4-BE49-F238E27FC236}">
                        <a16:creationId xmlns:a16="http://schemas.microsoft.com/office/drawing/2014/main" xmlns=""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51">
                    <a:extLst>
                      <a:ext uri="{FF2B5EF4-FFF2-40B4-BE49-F238E27FC236}">
                        <a16:creationId xmlns:a16="http://schemas.microsoft.com/office/drawing/2014/main" xmlns=""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52">
                    <a:extLst>
                      <a:ext uri="{FF2B5EF4-FFF2-40B4-BE49-F238E27FC236}">
                        <a16:creationId xmlns:a16="http://schemas.microsoft.com/office/drawing/2014/main" xmlns=""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53">
                    <a:extLst>
                      <a:ext uri="{FF2B5EF4-FFF2-40B4-BE49-F238E27FC236}">
                        <a16:creationId xmlns:a16="http://schemas.microsoft.com/office/drawing/2014/main" xmlns=""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54">
                    <a:extLst>
                      <a:ext uri="{FF2B5EF4-FFF2-40B4-BE49-F238E27FC236}">
                        <a16:creationId xmlns:a16="http://schemas.microsoft.com/office/drawing/2014/main" xmlns=""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55">
                    <a:extLst>
                      <a:ext uri="{FF2B5EF4-FFF2-40B4-BE49-F238E27FC236}">
                        <a16:creationId xmlns:a16="http://schemas.microsoft.com/office/drawing/2014/main" xmlns=""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56">
                    <a:extLst>
                      <a:ext uri="{FF2B5EF4-FFF2-40B4-BE49-F238E27FC236}">
                        <a16:creationId xmlns:a16="http://schemas.microsoft.com/office/drawing/2014/main" xmlns=""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57">
                    <a:extLst>
                      <a:ext uri="{FF2B5EF4-FFF2-40B4-BE49-F238E27FC236}">
                        <a16:creationId xmlns:a16="http://schemas.microsoft.com/office/drawing/2014/main" xmlns=""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31" name="CaixaDeTexto 106">
                <a:extLst>
                  <a:ext uri="{FF2B5EF4-FFF2-40B4-BE49-F238E27FC236}">
                    <a16:creationId xmlns:a16="http://schemas.microsoft.com/office/drawing/2014/main" xmlns=""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32" name="Freeform: Shape 59">
                <a:extLst>
                  <a:ext uri="{FF2B5EF4-FFF2-40B4-BE49-F238E27FC236}">
                    <a16:creationId xmlns:a16="http://schemas.microsoft.com/office/drawing/2014/main" xmlns=""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CaixaDeTexto 32">
                <a:extLst>
                  <a:ext uri="{FF2B5EF4-FFF2-40B4-BE49-F238E27FC236}">
                    <a16:creationId xmlns:a16="http://schemas.microsoft.com/office/drawing/2014/main" xmlns=""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34" name="CaixaDeTexto 34">
                <a:extLst>
                  <a:ext uri="{FF2B5EF4-FFF2-40B4-BE49-F238E27FC236}">
                    <a16:creationId xmlns:a16="http://schemas.microsoft.com/office/drawing/2014/main" xmlns=""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35" name="CaixaDeTexto 40">
                <a:extLst>
                  <a:ext uri="{FF2B5EF4-FFF2-40B4-BE49-F238E27FC236}">
                    <a16:creationId xmlns:a16="http://schemas.microsoft.com/office/drawing/2014/main" xmlns=""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36" name="CaixaDeTexto 36">
                <a:extLst>
                  <a:ext uri="{FF2B5EF4-FFF2-40B4-BE49-F238E27FC236}">
                    <a16:creationId xmlns:a16="http://schemas.microsoft.com/office/drawing/2014/main" xmlns=""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71" name="Retângulo 70"/>
            <p:cNvSpPr/>
            <p:nvPr/>
          </p:nvSpPr>
          <p:spPr>
            <a:xfrm>
              <a:off x="854768" y="6172599"/>
              <a:ext cx="635174" cy="307777"/>
            </a:xfrm>
            <a:prstGeom prst="rect">
              <a:avLst/>
            </a:prstGeom>
          </p:spPr>
          <p:txBody>
            <a:bodyPr wrap="none">
              <a:spAutoFit/>
            </a:bodyPr>
            <a:lstStyle/>
            <a:p>
              <a:r>
                <a:rPr lang="pt-BR" sz="1400" dirty="0"/>
                <a:t>Pixels </a:t>
              </a:r>
            </a:p>
          </p:txBody>
        </p:sp>
        <p:sp>
          <p:nvSpPr>
            <p:cNvPr id="72" name="Retângulo 71"/>
            <p:cNvSpPr/>
            <p:nvPr/>
          </p:nvSpPr>
          <p:spPr>
            <a:xfrm>
              <a:off x="1573159" y="6172599"/>
              <a:ext cx="1051832" cy="307777"/>
            </a:xfrm>
            <a:prstGeom prst="rect">
              <a:avLst/>
            </a:prstGeom>
          </p:spPr>
          <p:txBody>
            <a:bodyPr wrap="square">
              <a:spAutoFit/>
            </a:bodyPr>
            <a:lstStyle/>
            <a:p>
              <a:pPr algn="ctr"/>
              <a:r>
                <a:rPr lang="pt-BR" sz="1400" dirty="0" smtClean="0"/>
                <a:t>Bordas</a:t>
              </a:r>
              <a:endParaRPr lang="pt-BR" sz="1400" dirty="0"/>
            </a:p>
          </p:txBody>
        </p:sp>
        <p:sp>
          <p:nvSpPr>
            <p:cNvPr id="73" name="Retângulo 72"/>
            <p:cNvSpPr/>
            <p:nvPr/>
          </p:nvSpPr>
          <p:spPr>
            <a:xfrm>
              <a:off x="2436280" y="6180190"/>
              <a:ext cx="1112849" cy="307777"/>
            </a:xfrm>
            <a:prstGeom prst="rect">
              <a:avLst/>
            </a:prstGeom>
          </p:spPr>
          <p:txBody>
            <a:bodyPr wrap="square">
              <a:spAutoFit/>
            </a:bodyPr>
            <a:lstStyle/>
            <a:p>
              <a:pPr algn="ctr"/>
              <a:r>
                <a:rPr lang="pt-BR" sz="1400" dirty="0"/>
                <a:t>formas</a:t>
              </a:r>
              <a:endParaRPr lang="pt-BR" sz="1400" dirty="0"/>
            </a:p>
          </p:txBody>
        </p:sp>
        <p:sp>
          <p:nvSpPr>
            <p:cNvPr id="74" name="Retângulo 73"/>
            <p:cNvSpPr/>
            <p:nvPr/>
          </p:nvSpPr>
          <p:spPr>
            <a:xfrm>
              <a:off x="3447970" y="6072468"/>
              <a:ext cx="1026598" cy="523220"/>
            </a:xfrm>
            <a:prstGeom prst="rect">
              <a:avLst/>
            </a:prstGeom>
          </p:spPr>
          <p:txBody>
            <a:bodyPr wrap="square">
              <a:spAutoFit/>
            </a:bodyPr>
            <a:lstStyle/>
            <a:p>
              <a:pPr algn="ctr"/>
              <a:r>
                <a:rPr lang="pt-BR" sz="1400" dirty="0"/>
                <a:t>partes de </a:t>
              </a:r>
              <a:r>
                <a:rPr lang="pt-BR" sz="1400" dirty="0" smtClean="0"/>
                <a:t>objetos</a:t>
              </a:r>
              <a:endParaRPr lang="pt-BR" sz="1400" dirty="0"/>
            </a:p>
          </p:txBody>
        </p:sp>
        <p:sp>
          <p:nvSpPr>
            <p:cNvPr id="75" name="Retângulo 74"/>
            <p:cNvSpPr/>
            <p:nvPr/>
          </p:nvSpPr>
          <p:spPr>
            <a:xfrm>
              <a:off x="4549907" y="6175005"/>
              <a:ext cx="1212383" cy="307777"/>
            </a:xfrm>
            <a:prstGeom prst="rect">
              <a:avLst/>
            </a:prstGeom>
          </p:spPr>
          <p:txBody>
            <a:bodyPr wrap="none">
              <a:spAutoFit/>
            </a:bodyPr>
            <a:lstStyle/>
            <a:p>
              <a:r>
                <a:rPr lang="pt-BR" sz="1400" dirty="0"/>
                <a:t>o</a:t>
              </a:r>
              <a:r>
                <a:rPr lang="pt-BR" sz="1400" dirty="0" smtClean="0"/>
                <a:t>bjeto: "</a:t>
              </a:r>
              <a:r>
                <a:rPr lang="pt-BR" sz="1400" dirty="0" smtClean="0"/>
                <a:t>gato</a:t>
              </a:r>
              <a:r>
                <a:rPr lang="pt-BR" sz="1400" dirty="0"/>
                <a:t>"</a:t>
              </a:r>
            </a:p>
          </p:txBody>
        </p:sp>
        <p:cxnSp>
          <p:nvCxnSpPr>
            <p:cNvPr id="76" name="Conector de seta reta 75"/>
            <p:cNvCxnSpPr/>
            <p:nvPr/>
          </p:nvCxnSpPr>
          <p:spPr>
            <a:xfrm>
              <a:off x="1463901"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76"/>
            <p:cNvCxnSpPr/>
            <p:nvPr/>
          </p:nvCxnSpPr>
          <p:spPr>
            <a:xfrm>
              <a:off x="2418704" y="6337273"/>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p:cNvCxnSpPr/>
            <p:nvPr/>
          </p:nvCxnSpPr>
          <p:spPr>
            <a:xfrm>
              <a:off x="3308568" y="6339767"/>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78"/>
            <p:cNvCxnSpPr/>
            <p:nvPr/>
          </p:nvCxnSpPr>
          <p:spPr>
            <a:xfrm>
              <a:off x="4340537"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06042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upo 2"/>
          <p:cNvGrpSpPr/>
          <p:nvPr/>
        </p:nvGrpSpPr>
        <p:grpSpPr>
          <a:xfrm>
            <a:off x="1087343" y="440872"/>
            <a:ext cx="5976256" cy="5976256"/>
            <a:chOff x="3107872" y="440872"/>
            <a:chExt cx="5976256" cy="5976256"/>
          </a:xfrm>
        </p:grpSpPr>
        <p:pic>
          <p:nvPicPr>
            <p:cNvPr id="5" name="Picture 4">
              <a:extLst>
                <a:ext uri="{FF2B5EF4-FFF2-40B4-BE49-F238E27FC236}">
                  <a16:creationId xmlns:a16="http://schemas.microsoft.com/office/drawing/2014/main" xmlns="" id="{E0538820-64CD-65AF-6306-AEB3879A20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07872" y="440872"/>
              <a:ext cx="5976256" cy="5976256"/>
            </a:xfrm>
            <a:prstGeom prst="rect">
              <a:avLst/>
            </a:prstGeom>
          </p:spPr>
        </p:pic>
        <p:sp>
          <p:nvSpPr>
            <p:cNvPr id="6" name="TextBox 5">
              <a:extLst>
                <a:ext uri="{FF2B5EF4-FFF2-40B4-BE49-F238E27FC236}">
                  <a16:creationId xmlns:a16="http://schemas.microsoft.com/office/drawing/2014/main" xmlns="" id="{9D886CFA-C0D2-3102-EA0D-5092AEF6A37B}"/>
                </a:ext>
              </a:extLst>
            </p:cNvPr>
            <p:cNvSpPr txBox="1"/>
            <p:nvPr/>
          </p:nvSpPr>
          <p:spPr>
            <a:xfrm>
              <a:off x="4321627"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Saídas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xmlns="" id="{DCA7CE31-31A2-E045-C746-E9DAD42E9A0F}"/>
                </a:ext>
              </a:extLst>
            </p:cNvPr>
            <p:cNvSpPr txBox="1"/>
            <p:nvPr/>
          </p:nvSpPr>
          <p:spPr>
            <a:xfrm>
              <a:off x="3886027" y="1640734"/>
              <a:ext cx="2057573" cy="646331"/>
            </a:xfrm>
            <a:prstGeom prst="rect">
              <a:avLst/>
            </a:prstGeom>
            <a:noFill/>
          </p:spPr>
          <p:txBody>
            <a:bodyPr wrap="square" rtlCol="0">
              <a:spAutoFit/>
            </a:bodyPr>
            <a:lstStyle/>
            <a:p>
              <a:pPr algn="ctr"/>
              <a:r>
                <a:rPr lang="pt-BR" b="1" dirty="0">
                  <a:solidFill>
                    <a:srgbClr val="7030A0"/>
                  </a:solidFill>
                  <a:highlight>
                    <a:srgbClr val="00FFFF"/>
                  </a:highlight>
                </a:rPr>
                <a:t>Neurônios de uma camada oculta</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xmlns="" id="{C384550B-383A-873F-97FE-B77AC94B99AB}"/>
                </a:ext>
              </a:extLst>
            </p:cNvPr>
            <p:cNvSpPr txBox="1"/>
            <p:nvPr/>
          </p:nvSpPr>
          <p:spPr>
            <a:xfrm>
              <a:off x="6433460"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Entradas da próxima camada da rede neural</a:t>
              </a:r>
              <a:endParaRPr lang="en-US" b="1" dirty="0">
                <a:solidFill>
                  <a:srgbClr val="7030A0"/>
                </a:solidFill>
                <a:highlight>
                  <a:srgbClr val="00FFFF"/>
                </a:highlight>
              </a:endParaRPr>
            </a:p>
          </p:txBody>
        </p:sp>
      </p:grpSp>
      <p:sp>
        <p:nvSpPr>
          <p:cNvPr id="2" name="Retângulo 1"/>
          <p:cNvSpPr/>
          <p:nvPr/>
        </p:nvSpPr>
        <p:spPr>
          <a:xfrm>
            <a:off x="7214587" y="2408375"/>
            <a:ext cx="4638200" cy="2800767"/>
          </a:xfrm>
          <a:prstGeom prst="rect">
            <a:avLst/>
          </a:prstGeom>
        </p:spPr>
        <p:txBody>
          <a:bodyPr wrap="square">
            <a:spAutoFit/>
          </a:bodyPr>
          <a:lstStyle/>
          <a:p>
            <a:pPr algn="ctr"/>
            <a:r>
              <a:rPr lang="pt-BR" sz="4400" dirty="0" err="1" smtClean="0"/>
              <a:t>MLPs</a:t>
            </a:r>
            <a:r>
              <a:rPr lang="pt-BR" sz="4400" dirty="0" smtClean="0"/>
              <a:t> são redes </a:t>
            </a:r>
            <a:r>
              <a:rPr lang="pt-BR" sz="4400" dirty="0"/>
              <a:t>densamente conectadas e de alimentação direta</a:t>
            </a:r>
          </a:p>
        </p:txBody>
      </p:sp>
    </p:spTree>
    <p:extLst>
      <p:ext uri="{BB962C8B-B14F-4D97-AF65-F5344CB8AC3E}">
        <p14:creationId xmlns:p14="http://schemas.microsoft.com/office/powerpoint/2010/main" val="8994085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E7EAF4C3-D39B-6291-6EFB-AD306FF6F971}"/>
              </a:ext>
            </a:extLst>
          </p:cNvPr>
          <p:cNvSpPr>
            <a:spLocks noGrp="1"/>
          </p:cNvSpPr>
          <p:nvPr>
            <p:ph idx="1"/>
          </p:nvPr>
        </p:nvSpPr>
        <p:spPr>
          <a:xfrm>
            <a:off x="5613250" y="1825625"/>
            <a:ext cx="6578749" cy="5032375"/>
          </a:xfrm>
        </p:spPr>
        <p:txBody>
          <a:bodyPr>
            <a:normAutofit/>
          </a:bodyPr>
          <a:lstStyle/>
          <a:p>
            <a:r>
              <a:rPr lang="pt-BR" dirty="0"/>
              <a:t>As </a:t>
            </a:r>
            <a:r>
              <a:rPr lang="pt-BR" dirty="0" err="1"/>
              <a:t>MLPs</a:t>
            </a:r>
            <a:r>
              <a:rPr lang="pt-BR" dirty="0"/>
              <a:t> também são chamadas de </a:t>
            </a:r>
            <a:r>
              <a:rPr lang="pt-BR" b="1" dirty="0">
                <a:solidFill>
                  <a:srgbClr val="00B050"/>
                </a:solidFill>
              </a:rPr>
              <a:t>redes densamente conectadas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Networks</a:t>
            </a:r>
            <a:r>
              <a:rPr lang="pt-BR" dirty="0"/>
              <a:t> - </a:t>
            </a:r>
            <a:r>
              <a:rPr lang="pt-BR" dirty="0" err="1"/>
              <a:t>DNNs</a:t>
            </a:r>
            <a:r>
              <a:rPr lang="pt-BR" dirty="0"/>
              <a:t>).</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xmlns=""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xmlns=""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xmlns=""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xmlns=""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xmlns=""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xmlns=""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xmlns=""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xmlns=""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xmlns=""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xmlns=""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xmlns=""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xmlns=""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xmlns=""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xmlns=""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xmlns=""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xmlns=""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xmlns=""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xmlns=""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xmlns=""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xmlns=""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xmlns=""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xmlns=""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xmlns=""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xmlns=""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xmlns=""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xmlns=""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xmlns=""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xmlns=""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xmlns=""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xmlns=""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xmlns=""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xmlns=""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xmlns=""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xmlns=""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xmlns=""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xmlns=""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xmlns=""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xmlns=""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xmlns=""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xmlns=""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xmlns=""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xmlns=""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xmlns=""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xmlns=""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xmlns=""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xmlns=""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xmlns=""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xmlns=""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xmlns=""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xmlns=""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xmlns=""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xmlns=""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xmlns=""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xmlns=""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xmlns=""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xmlns=""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xmlns=""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xmlns=""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xmlns=""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xmlns=""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xmlns=""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xmlns=""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xmlns="" id="{77D0909E-29B2-B53D-BDF3-AC009A018977}"/>
              </a:ext>
            </a:extLst>
          </p:cNvPr>
          <p:cNvSpPr>
            <a:spLocks noGrp="1"/>
          </p:cNvSpPr>
          <p:nvPr>
            <p:ph idx="1"/>
          </p:nvPr>
        </p:nvSpPr>
        <p:spPr>
          <a:xfrm>
            <a:off x="6096001" y="1825624"/>
            <a:ext cx="600940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chemeClr val="accent2"/>
                </a:solidFill>
              </a:rPr>
              <a:t>arquitetura</a:t>
            </a:r>
            <a:r>
              <a:rPr lang="pt-BR" dirty="0"/>
              <a:t>.</a:t>
            </a:r>
          </a:p>
          <a:p>
            <a:pPr lvl="1">
              <a:buFont typeface="Wingdings" panose="05000000000000000000" pitchFamily="2" charset="2"/>
              <a:buChar char="§"/>
            </a:pPr>
            <a:r>
              <a:rPr lang="pt-BR" dirty="0"/>
              <a:t>Ela define o que a rede é </a:t>
            </a:r>
            <a:r>
              <a:rPr lang="pt-BR" b="1" dirty="0">
                <a:solidFill>
                  <a:srgbClr val="00B050"/>
                </a:solidFill>
              </a:rPr>
              <a:t>capaz de aprender</a:t>
            </a:r>
            <a:r>
              <a:rPr lang="pt-BR" dirty="0"/>
              <a:t> e </a:t>
            </a:r>
            <a:r>
              <a:rPr lang="pt-BR" b="1" dirty="0">
                <a:solidFill>
                  <a:srgbClr val="00B050"/>
                </a:solidFill>
              </a:rPr>
              <a:t>quão bem ela fará isso</a:t>
            </a:r>
            <a:r>
              <a:rPr lang="pt-BR" dirty="0"/>
              <a:t>.</a:t>
            </a:r>
          </a:p>
          <a:p>
            <a:r>
              <a:rPr lang="pt-BR" dirty="0"/>
              <a:t>A arquitetura é definida pela</a:t>
            </a:r>
          </a:p>
          <a:p>
            <a:pPr lvl="1">
              <a:buFont typeface="Wingdings" panose="05000000000000000000" pitchFamily="2" charset="2"/>
              <a:buChar char="§"/>
            </a:pPr>
            <a:r>
              <a:rPr lang="pt-BR" dirty="0"/>
              <a:t>forma como os neurônios estão conectados (forma direta ou recursiva),</a:t>
            </a:r>
          </a:p>
          <a:p>
            <a:pPr lvl="1">
              <a:buFont typeface="Wingdings" panose="05000000000000000000" pitchFamily="2" charset="2"/>
              <a:buChar char="§"/>
            </a:pPr>
            <a:r>
              <a:rPr lang="pt-BR" dirty="0"/>
              <a:t>quantidade neurônios por camada,</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xmlns=""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xmlns=""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xmlns=""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xmlns="" id="{874EAA9B-6003-D045-CC88-4188882B271A}"/>
              </a:ext>
            </a:extLst>
          </p:cNvPr>
          <p:cNvSpPr>
            <a:spLocks noGrp="1"/>
          </p:cNvSpPr>
          <p:nvPr>
            <p:ph idx="1"/>
          </p:nvPr>
        </p:nvSpPr>
        <p:spPr>
          <a:xfrm>
            <a:off x="838198" y="1825625"/>
            <a:ext cx="11353801" cy="4351338"/>
          </a:xfrm>
        </p:spPr>
        <p:txBody>
          <a:bodyPr/>
          <a:lstStyle/>
          <a:p>
            <a:r>
              <a:rPr lang="pt-BR" dirty="0"/>
              <a:t>As </a:t>
            </a:r>
            <a:r>
              <a:rPr lang="pt-BR" dirty="0" err="1"/>
              <a:t>RNAs</a:t>
            </a:r>
            <a:r>
              <a:rPr lang="pt-BR" dirty="0"/>
              <a:t> são o coração do </a:t>
            </a:r>
            <a:r>
              <a:rPr lang="pt-BR" b="1" i="1" dirty="0" err="1"/>
              <a:t>deep</a:t>
            </a:r>
            <a:r>
              <a:rPr lang="pt-BR" b="1" i="1" dirty="0"/>
              <a:t> learning </a:t>
            </a:r>
            <a:r>
              <a:rPr lang="pt-BR" b="1" dirty="0"/>
              <a:t>ou aprendizado profundo</a:t>
            </a:r>
            <a:r>
              <a:rPr lang="pt-BR" dirty="0"/>
              <a:t>.</a:t>
            </a:r>
          </a:p>
          <a:p>
            <a:r>
              <a:rPr lang="pt-BR" dirty="0"/>
              <a:t>O termo "</a:t>
            </a:r>
            <a:r>
              <a:rPr lang="pt-BR" b="1" dirty="0">
                <a:solidFill>
                  <a:srgbClr val="00B050"/>
                </a:solidFill>
              </a:rPr>
              <a:t>profundo</a:t>
            </a:r>
            <a:r>
              <a:rPr lang="pt-BR" dirty="0"/>
              <a:t>" vem fato destas redes </a:t>
            </a:r>
            <a:r>
              <a:rPr lang="pt-BR" b="1" dirty="0">
                <a:solidFill>
                  <a:srgbClr val="7030A0"/>
                </a:solidFill>
              </a:rPr>
              <a:t>poderem possuir muitas camadas ocultas</a:t>
            </a:r>
            <a:r>
              <a:rPr lang="pt-BR" dirty="0"/>
              <a:t>.</a:t>
            </a:r>
          </a:p>
          <a:p>
            <a:r>
              <a:rPr lang="pt-BR" dirty="0"/>
              <a:t>Em geral, quanto mais profunda, maior é a </a:t>
            </a:r>
            <a:r>
              <a:rPr lang="pt-BR" b="1" dirty="0">
                <a:solidFill>
                  <a:schemeClr val="accent2"/>
                </a:solidFill>
              </a:rPr>
              <a:t>capacidade de aprendizado</a:t>
            </a:r>
            <a:r>
              <a:rPr lang="pt-BR" dirty="0"/>
              <a:t> de uma rede neural, porém, maior será sua </a:t>
            </a:r>
            <a:r>
              <a:rPr lang="pt-BR" b="1" dirty="0">
                <a:solidFill>
                  <a:srgbClr val="7030A0"/>
                </a:solidFill>
              </a:rPr>
              <a:t>complexidade computacional</a:t>
            </a:r>
            <a:r>
              <a:rPr lang="pt-BR" dirty="0"/>
              <a:t>.</a:t>
            </a:r>
          </a:p>
        </p:txBody>
      </p:sp>
      <p:grpSp>
        <p:nvGrpSpPr>
          <p:cNvPr id="8" name="Group 7">
            <a:extLst>
              <a:ext uri="{FF2B5EF4-FFF2-40B4-BE49-F238E27FC236}">
                <a16:creationId xmlns:a16="http://schemas.microsoft.com/office/drawing/2014/main" xmlns="" id="{AA23EAEA-060A-1C22-3020-27BBBAF3E612}"/>
              </a:ext>
            </a:extLst>
          </p:cNvPr>
          <p:cNvGrpSpPr/>
          <p:nvPr/>
        </p:nvGrpSpPr>
        <p:grpSpPr>
          <a:xfrm>
            <a:off x="2403988" y="4090650"/>
            <a:ext cx="7052205" cy="2767350"/>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xmlns=""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xmlns=""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xmlns=""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xmlns="" id="{C653729B-FBD8-B36F-5207-9E37720CD997}"/>
              </a:ext>
            </a:extLst>
          </p:cNvPr>
          <p:cNvSpPr>
            <a:spLocks noGrp="1"/>
          </p:cNvSpPr>
          <p:nvPr>
            <p:ph idx="1"/>
          </p:nvPr>
        </p:nvSpPr>
        <p:spPr>
          <a:xfrm>
            <a:off x="838200" y="1825625"/>
            <a:ext cx="11205754" cy="2410686"/>
          </a:xfrm>
        </p:spPr>
        <p:txBody>
          <a:bodyPr>
            <a:normAutofit/>
          </a:bodyPr>
          <a:lstStyle/>
          <a:p>
            <a:r>
              <a:rPr lang="pt-BR" dirty="0"/>
              <a:t>Geralmente, quando elas têm </a:t>
            </a:r>
            <a:r>
              <a:rPr lang="pt-BR" b="1" dirty="0">
                <a:solidFill>
                  <a:schemeClr val="accent2"/>
                </a:solidFill>
              </a:rPr>
              <a:t>duas ou mais camadas ocultas</a:t>
            </a:r>
            <a:r>
              <a:rPr lang="pt-BR" dirty="0"/>
              <a:t>,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poderem ter uma grande capacidade de aprendizado, elas precisam de uma </a:t>
            </a:r>
            <a:r>
              <a:rPr lang="pt-BR" b="1" dirty="0">
                <a:solidFill>
                  <a:srgbClr val="7030A0"/>
                </a:solidFill>
              </a:rPr>
              <a:t>grande quantidade de dados para aprender uma solução geral e não se sobreajustarem</a:t>
            </a:r>
            <a:r>
              <a:rPr lang="pt-BR" dirty="0"/>
              <a:t>.</a:t>
            </a:r>
          </a:p>
        </p:txBody>
      </p:sp>
      <p:grpSp>
        <p:nvGrpSpPr>
          <p:cNvPr id="8" name="Group 7">
            <a:extLst>
              <a:ext uri="{FF2B5EF4-FFF2-40B4-BE49-F238E27FC236}">
                <a16:creationId xmlns:a16="http://schemas.microsoft.com/office/drawing/2014/main" xmlns="" id="{AA23EAEA-060A-1C22-3020-27BBBAF3E612}"/>
              </a:ext>
            </a:extLst>
          </p:cNvPr>
          <p:cNvGrpSpPr/>
          <p:nvPr/>
        </p:nvGrpSpPr>
        <p:grpSpPr>
          <a:xfrm>
            <a:off x="2403988" y="4090650"/>
            <a:ext cx="7052205" cy="2767350"/>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xmlns="" id="{FD27238F-87B0-A3D4-5393-308D26A524F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xmlns=""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xmlns=""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95084B-BF98-A7F2-E47B-18549FAB6D51}"/>
              </a:ext>
            </a:extLst>
          </p:cNvPr>
          <p:cNvSpPr>
            <a:spLocks noGrp="1"/>
          </p:cNvSpPr>
          <p:nvPr>
            <p:ph type="title"/>
          </p:nvPr>
        </p:nvSpPr>
        <p:spPr/>
        <p:txBody>
          <a:bodyPr/>
          <a:lstStyle/>
          <a:p>
            <a:r>
              <a:rPr lang="pt-BR" dirty="0"/>
              <a:t>Aproximação de funções</a:t>
            </a:r>
          </a:p>
        </p:txBody>
      </p:sp>
      <p:sp>
        <p:nvSpPr>
          <p:cNvPr id="3" name="Espaço Reservado para Conteúdo 2">
            <a:extLst>
              <a:ext uri="{FF2B5EF4-FFF2-40B4-BE49-F238E27FC236}">
                <a16:creationId xmlns:a16="http://schemas.microsoft.com/office/drawing/2014/main" xmlns="" id="{FE65592C-B0D6-412A-1B41-23EDA4B75A92}"/>
              </a:ext>
            </a:extLst>
          </p:cNvPr>
          <p:cNvSpPr>
            <a:spLocks noGrp="1"/>
          </p:cNvSpPr>
          <p:nvPr>
            <p:ph idx="1"/>
          </p:nvPr>
        </p:nvSpPr>
        <p:spPr>
          <a:xfrm>
            <a:off x="838199" y="1825624"/>
            <a:ext cx="11194473"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à </a:t>
            </a:r>
            <a:r>
              <a:rPr lang="pt-BR" b="1" dirty="0">
                <a:solidFill>
                  <a:srgbClr val="7030A0"/>
                </a:solidFill>
                <a:effectLst/>
              </a:rPr>
              <a:t>capacidade da rede de aproximar diferentes tipos de funções</a:t>
            </a:r>
            <a:r>
              <a:rPr lang="pt-BR" b="0" dirty="0">
                <a:effectLst/>
              </a:rPr>
              <a:t>.</a:t>
            </a:r>
          </a:p>
          <a:p>
            <a:pPr lvl="1">
              <a:buFont typeface="Wingdings" panose="05000000000000000000" pitchFamily="2" charset="2"/>
              <a:buChar char="§"/>
            </a:pPr>
            <a:r>
              <a:rPr lang="pt-BR" dirty="0"/>
              <a:t>Quanto maior a rede, mais pesos e, consequentemente, maior é sua capacidade de aprendizado.</a:t>
            </a:r>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t>
            </a:r>
            <a:r>
              <a:rPr lang="pt-BR" b="1" dirty="0">
                <a:solidFill>
                  <a:schemeClr val="accent2"/>
                </a:solidFill>
              </a:rPr>
              <a:t>arquitetura ideal</a:t>
            </a:r>
            <a:r>
              <a:rPr lang="pt-BR" dirty="0"/>
              <a:t>.</a:t>
            </a:r>
          </a:p>
        </p:txBody>
      </p:sp>
    </p:spTree>
    <p:extLst>
      <p:ext uri="{BB962C8B-B14F-4D97-AF65-F5344CB8AC3E}">
        <p14:creationId xmlns:p14="http://schemas.microsoft.com/office/powerpoint/2010/main" val="23078834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xmlns=""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chemeClr val="accent2"/>
                </a:solidFill>
              </a:rPr>
              <a:t>uma</a:t>
            </a:r>
            <a:r>
              <a:rPr lang="pt-BR" b="1" dirty="0">
                <a:solidFill>
                  <a:srgbClr val="00B050"/>
                </a:solidFill>
              </a:rPr>
              <a:t>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de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Podemos usar </a:t>
            </a:r>
            <a:r>
              <a:rPr lang="pt-BR" b="1" dirty="0">
                <a:solidFill>
                  <a:schemeClr val="accent2"/>
                </a:solidFill>
              </a:rPr>
              <a:t>validação cruzada </a:t>
            </a:r>
            <a:r>
              <a:rPr lang="pt-BR" dirty="0"/>
              <a:t>e </a:t>
            </a:r>
            <a:r>
              <a:rPr lang="pt-BR" dirty="0" smtClean="0"/>
              <a:t>uma versão </a:t>
            </a:r>
            <a:r>
              <a:rPr lang="pt-BR" dirty="0" smtClean="0"/>
              <a:t>do </a:t>
            </a:r>
            <a:r>
              <a:rPr lang="pt-BR" b="1" dirty="0">
                <a:solidFill>
                  <a:schemeClr val="accent2"/>
                </a:solidFill>
              </a:rPr>
              <a:t>gradiente descendente</a:t>
            </a:r>
            <a:r>
              <a:rPr lang="pt-BR" dirty="0"/>
              <a:t>.</a:t>
            </a:r>
          </a:p>
        </p:txBody>
      </p:sp>
    </p:spTree>
    <p:extLst>
      <p:ext uri="{BB962C8B-B14F-4D97-AF65-F5344CB8AC3E}">
        <p14:creationId xmlns:p14="http://schemas.microsoft.com/office/powerpoint/2010/main" val="15185964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622042E-E154-9255-670A-2165DE0B18C0}"/>
              </a:ext>
            </a:extLst>
          </p:cNvPr>
          <p:cNvSpPr>
            <a:spLocks noGrp="1"/>
          </p:cNvSpPr>
          <p:nvPr>
            <p:ph type="title"/>
          </p:nvPr>
        </p:nvSpPr>
        <p:spPr/>
        <p:txBody>
          <a:bodyPr/>
          <a:lstStyle/>
          <a:p>
            <a:r>
              <a:rPr lang="pt-BR" i="1" dirty="0"/>
              <a:t>Backpropagation</a:t>
            </a:r>
            <a:endParaRPr lang="en-US" dirty="0"/>
          </a:p>
        </p:txBody>
      </p:sp>
      <p:sp>
        <p:nvSpPr>
          <p:cNvPr id="3" name="Content Placeholder 2">
            <a:extLst>
              <a:ext uri="{FF2B5EF4-FFF2-40B4-BE49-F238E27FC236}">
                <a16:creationId xmlns:a16="http://schemas.microsoft.com/office/drawing/2014/main" xmlns="" id="{6059FE4F-F9B9-0CCC-8671-00C9AC9804E4}"/>
              </a:ext>
            </a:extLst>
          </p:cNvPr>
          <p:cNvSpPr>
            <a:spLocks noGrp="1"/>
          </p:cNvSpPr>
          <p:nvPr>
            <p:ph idx="1"/>
          </p:nvPr>
        </p:nvSpPr>
        <p:spPr>
          <a:xfrm>
            <a:off x="5584723" y="1825624"/>
            <a:ext cx="6500440"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a:t>error</a:t>
            </a:r>
            <a:r>
              <a:rPr lang="pt-BR" dirty="0"/>
              <a:t>) </a:t>
            </a:r>
            <a:r>
              <a:rPr lang="pt-BR" i="1" dirty="0"/>
              <a:t>backpropagation</a:t>
            </a:r>
            <a:r>
              <a:rPr lang="pt-BR" dirty="0"/>
              <a:t>.</a:t>
            </a:r>
          </a:p>
          <a:p>
            <a:r>
              <a:rPr lang="pt-BR" dirty="0"/>
              <a:t>O </a:t>
            </a:r>
            <a:r>
              <a:rPr lang="pt-BR" b="1" dirty="0">
                <a:solidFill>
                  <a:schemeClr val="accent2"/>
                </a:solidFill>
              </a:rPr>
              <a:t>objetivo</a:t>
            </a:r>
            <a:r>
              <a:rPr lang="pt-BR" dirty="0"/>
              <a:t> do </a:t>
            </a:r>
            <a:r>
              <a:rPr lang="pt-BR" i="1" dirty="0"/>
              <a:t>backpropagation</a:t>
            </a:r>
            <a:r>
              <a:rPr lang="pt-BR" dirty="0"/>
              <a:t> é calcular o </a:t>
            </a:r>
            <a:r>
              <a:rPr lang="pt-BR" b="1" dirty="0">
                <a:solidFill>
                  <a:schemeClr val="accent2"/>
                </a:solidFill>
              </a:rPr>
              <a:t>quanto cada peso da rede contribui para o erro</a:t>
            </a:r>
            <a:r>
              <a:rPr lang="pt-BR" dirty="0"/>
              <a:t> e </a:t>
            </a:r>
            <a:r>
              <a:rPr lang="pt-BR" b="1" dirty="0">
                <a:solidFill>
                  <a:srgbClr val="7030A0"/>
                </a:solidFill>
              </a:rPr>
              <a:t>ajustá-lo de forma a minimizar o erro</a:t>
            </a:r>
            <a:r>
              <a:rPr lang="pt-BR" dirty="0"/>
              <a:t>.</a:t>
            </a:r>
          </a:p>
        </p:txBody>
      </p:sp>
      <p:grpSp>
        <p:nvGrpSpPr>
          <p:cNvPr id="5" name="Group 3">
            <a:extLst>
              <a:ext uri="{FF2B5EF4-FFF2-40B4-BE49-F238E27FC236}">
                <a16:creationId xmlns:a16="http://schemas.microsoft.com/office/drawing/2014/main" xmlns="" id="{E4B8B95F-75F4-85B9-BF20-3CA051275703}"/>
              </a:ext>
            </a:extLst>
          </p:cNvPr>
          <p:cNvGrpSpPr/>
          <p:nvPr/>
        </p:nvGrpSpPr>
        <p:grpSpPr>
          <a:xfrm>
            <a:off x="653454" y="2071496"/>
            <a:ext cx="4240583" cy="3792091"/>
            <a:chOff x="294226" y="2506925"/>
            <a:chExt cx="4240583" cy="3792091"/>
          </a:xfrm>
        </p:grpSpPr>
        <p:sp>
          <p:nvSpPr>
            <p:cNvPr id="6" name="Elipse 77">
              <a:extLst>
                <a:ext uri="{FF2B5EF4-FFF2-40B4-BE49-F238E27FC236}">
                  <a16:creationId xmlns:a16="http://schemas.microsoft.com/office/drawing/2014/main" xmlns="" id="{A5D2977C-9197-6FF3-FEF9-0305FD791CC7}"/>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a16="http://schemas.microsoft.com/office/drawing/2014/main" xmlns="" id="{34CCAD66-BC6E-B920-FD02-5677F8B5AF12}"/>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a16="http://schemas.microsoft.com/office/drawing/2014/main" xmlns="" id="{2F62AB26-F9B5-FC3F-9258-BCB1F92E0BAC}"/>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a16="http://schemas.microsoft.com/office/drawing/2014/main" xmlns="" id="{7B8F927D-45BE-1F13-5DAA-F8CF3100689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a16="http://schemas.microsoft.com/office/drawing/2014/main" xmlns="" id="{3B074B7F-5370-F3EF-4621-F6F3E62ED99C}"/>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a16="http://schemas.microsoft.com/office/drawing/2014/main" xmlns="" id="{D3F47B41-15CC-F4B9-6A4B-8C8C49C9EF6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a16="http://schemas.microsoft.com/office/drawing/2014/main" xmlns="" id="{13B86950-508B-0DC5-C4E3-4B777CEF8A4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a16="http://schemas.microsoft.com/office/drawing/2014/main" xmlns="" id="{5585EE18-8031-E41F-F17E-C89D7178FF9C}"/>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a16="http://schemas.microsoft.com/office/drawing/2014/main" xmlns="" id="{CFBE4D4A-C91E-ABE2-9F75-CA11A6E53D1E}"/>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a16="http://schemas.microsoft.com/office/drawing/2014/main" xmlns="" id="{FFBD4CFA-DD51-AD2B-9AB3-D393B7033E6A}"/>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a16="http://schemas.microsoft.com/office/drawing/2014/main" xmlns="" id="{7B3B1F9B-FB34-20E2-6C2F-E6778FBEFC13}"/>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a16="http://schemas.microsoft.com/office/drawing/2014/main" xmlns="" id="{1B08B2CA-492E-E5CF-C2C1-1E74FD2916CC}"/>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a16="http://schemas.microsoft.com/office/drawing/2014/main" xmlns="" id="{E5AC5EC2-6770-F3BD-8167-4BCF680CC002}"/>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a16="http://schemas.microsoft.com/office/drawing/2014/main" xmlns="" id="{DAACE556-8D1A-E325-69AC-7243DE9224E0}"/>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a16="http://schemas.microsoft.com/office/drawing/2014/main" xmlns="" id="{FEAB7B47-B252-37ED-4BB4-925E0090D236}"/>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a16="http://schemas.microsoft.com/office/drawing/2014/main" xmlns="" id="{4BEEF4F5-9EBF-E836-27C5-A404EEA32BC3}"/>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a16="http://schemas.microsoft.com/office/drawing/2014/main" xmlns="" id="{2DED781D-F0B3-1B51-DC3A-2F3657E5D853}"/>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a16="http://schemas.microsoft.com/office/drawing/2014/main" xmlns="" id="{F016CD6A-5190-232E-4726-48CFA85D01C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a16="http://schemas.microsoft.com/office/drawing/2014/main" xmlns="" id="{7DF3DF95-37CC-2617-C4EF-E3F06F40B0C1}"/>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a16="http://schemas.microsoft.com/office/drawing/2014/main" xmlns="" id="{41A8B8B1-CFFE-FEC2-DD6C-1F5768B802F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a16="http://schemas.microsoft.com/office/drawing/2014/main" xmlns="" id="{3F2E8D09-773D-B2D2-31AA-12E8938F32EC}"/>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a16="http://schemas.microsoft.com/office/drawing/2014/main" xmlns="" id="{DFDF1E8D-DD7A-7619-CF8F-67261F61CFE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a16="http://schemas.microsoft.com/office/drawing/2014/main" xmlns="" id="{742B2AFB-527E-49B7-D83C-6CE5B7AF43AB}"/>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a16="http://schemas.microsoft.com/office/drawing/2014/main" xmlns="" id="{2A75358B-3F57-BF48-B1E9-E762E79056C4}"/>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a16="http://schemas.microsoft.com/office/drawing/2014/main" xmlns="" id="{182A6403-31DB-905C-C85C-3F6417F09BCC}"/>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a16="http://schemas.microsoft.com/office/drawing/2014/main" xmlns="" id="{D6C47937-6908-EF68-C86E-F08C1429EF1C}"/>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a16="http://schemas.microsoft.com/office/drawing/2014/main" xmlns="" id="{6C5C74B5-BD84-369B-BC90-6AD4A658135F}"/>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a16="http://schemas.microsoft.com/office/drawing/2014/main" xmlns="" id="{4B4175E5-5B44-74A7-3DE4-99152D99162A}"/>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a16="http://schemas.microsoft.com/office/drawing/2014/main" xmlns="" id="{DEF7A672-56A9-6D75-5475-C64BDBCA96F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3">
              <a:extLst>
                <a:ext uri="{FF2B5EF4-FFF2-40B4-BE49-F238E27FC236}">
                  <a16:creationId xmlns:a16="http://schemas.microsoft.com/office/drawing/2014/main" xmlns="" id="{7040E706-55D1-EB92-0A9F-0D5E91A79D2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a16="http://schemas.microsoft.com/office/drawing/2014/main" xmlns="" id="{4616F2EA-0B09-3804-C221-F4580538EBDF}"/>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6" name="Elipse 3">
                <a:extLst>
                  <a:ext uri="{FF2B5EF4-FFF2-40B4-BE49-F238E27FC236}">
                    <a16:creationId xmlns:a16="http://schemas.microsoft.com/office/drawing/2014/main" xmlns="" id="{59E02FFA-A32C-C2EC-E337-3695D4CBC028}"/>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a16="http://schemas.microsoft.com/office/drawing/2014/main" xmlns="" id="{41E2954C-E410-1590-CEB1-C7B65E21A7A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5">
              <a:extLst>
                <a:ext uri="{FF2B5EF4-FFF2-40B4-BE49-F238E27FC236}">
                  <a16:creationId xmlns:a16="http://schemas.microsoft.com/office/drawing/2014/main" xmlns="" id="{C092391A-FC21-67F7-E467-4119158550DF}"/>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a16="http://schemas.microsoft.com/office/drawing/2014/main" xmlns="" id="{804B266B-AFD3-A6ED-0707-40E7EEDE131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a16="http://schemas.microsoft.com/office/drawing/2014/main" xmlns="" id="{954EB106-4FC8-1251-EB77-C6C99D4D5AB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a16="http://schemas.microsoft.com/office/drawing/2014/main" xmlns="" id="{460AFE64-4E5C-F510-8C2B-291B42E29749}"/>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2DAE464F-A111-2825-5ED8-99E61339FC55}"/>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CC2D34F4-CA98-69A6-AF58-213CD140699F}"/>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3AA8D449-01AE-0402-5027-72D2C11E9795}"/>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040AF124-9616-BBA9-1BC5-5EA94DFD2BE6}"/>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80D7A17D-2D64-93AF-3E91-D95AEBD9DED8}"/>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xmlns="" id="{F5BE57D6-A12B-70F9-DB4B-91E55704BF8F}"/>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237FAE4C-A04C-79A1-E79F-98F5B631B10A}"/>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83430D9D-9BFC-122D-EED9-FB711583F1D7}"/>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14363AB3-D780-450E-032E-1998E8869A32}"/>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xmlns="" id="{631D6CF7-7637-753A-0D83-C4C4B41AA991}"/>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7">
                  <a:extLst>
                    <a:ext uri="{FF2B5EF4-FFF2-40B4-BE49-F238E27FC236}">
                      <a16:creationId xmlns:a16="http://schemas.microsoft.com/office/drawing/2014/main" xmlns="" id="{A14E3873-3AF6-B2B5-3BEF-FC40BE31893C}"/>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8">
                  <a:extLst>
                    <a:ext uri="{FF2B5EF4-FFF2-40B4-BE49-F238E27FC236}">
                      <a16:creationId xmlns:a16="http://schemas.microsoft.com/office/drawing/2014/main" xmlns="" id="{5C4D0F34-DEEA-0A3E-A7A5-40D42A01E9B0}"/>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49">
                  <a:extLst>
                    <a:ext uri="{FF2B5EF4-FFF2-40B4-BE49-F238E27FC236}">
                      <a16:creationId xmlns:a16="http://schemas.microsoft.com/office/drawing/2014/main" xmlns="" id="{A993F1F7-1388-8F29-0706-696821EB87B3}"/>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0">
                  <a:extLst>
                    <a:ext uri="{FF2B5EF4-FFF2-40B4-BE49-F238E27FC236}">
                      <a16:creationId xmlns:a16="http://schemas.microsoft.com/office/drawing/2014/main" xmlns="" id="{A1C38678-F044-012B-3968-84A86A57A30D}"/>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1">
                  <a:extLst>
                    <a:ext uri="{FF2B5EF4-FFF2-40B4-BE49-F238E27FC236}">
                      <a16:creationId xmlns:a16="http://schemas.microsoft.com/office/drawing/2014/main" xmlns="" id="{3158C44F-FEB2-1C11-EE63-92270AA2F239}"/>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2">
                  <a:extLst>
                    <a:ext uri="{FF2B5EF4-FFF2-40B4-BE49-F238E27FC236}">
                      <a16:creationId xmlns:a16="http://schemas.microsoft.com/office/drawing/2014/main" xmlns="" id="{964AB797-735C-1CA2-78E8-0D85FE65AD3F}"/>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3">
                  <a:extLst>
                    <a:ext uri="{FF2B5EF4-FFF2-40B4-BE49-F238E27FC236}">
                      <a16:creationId xmlns:a16="http://schemas.microsoft.com/office/drawing/2014/main" xmlns="" id="{555FBF73-6623-FE46-C1EF-9B973DC84648}"/>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4">
                  <a:extLst>
                    <a:ext uri="{FF2B5EF4-FFF2-40B4-BE49-F238E27FC236}">
                      <a16:creationId xmlns:a16="http://schemas.microsoft.com/office/drawing/2014/main" xmlns="" id="{9ED074C8-495A-2F94-2C22-60B10AE4B80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a16="http://schemas.microsoft.com/office/drawing/2014/main" xmlns="" id="{2FB89822-0519-CF86-9B8F-3431E624D98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6">
              <a:extLst>
                <a:ext uri="{FF2B5EF4-FFF2-40B4-BE49-F238E27FC236}">
                  <a16:creationId xmlns:a16="http://schemas.microsoft.com/office/drawing/2014/main" xmlns="" id="{337E208E-BD12-0383-95FF-EADCBCB885B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a16="http://schemas.microsoft.com/office/drawing/2014/main" xmlns="" id="{04892B26-2B27-BAE3-2EF6-2C6433562A15}"/>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a16="http://schemas.microsoft.com/office/drawing/2014/main" xmlns="" id="{46B37539-583C-7EB4-44FE-03FBE7F32EE1}"/>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a16="http://schemas.microsoft.com/office/drawing/2014/main" xmlns="" id="{E60CE0A3-6F43-317B-17C2-4EB92543864F}"/>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a16="http://schemas.microsoft.com/office/drawing/2014/main" xmlns="" id="{B057D2F4-F863-65AC-DA90-E0F2C5AAE5B5}"/>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1066466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6532776" y="2565010"/>
            <a:ext cx="4854804" cy="2440623"/>
          </a:xfrm>
        </p:spPr>
        <p:txBody>
          <a:bodyPr>
            <a:noAutofit/>
          </a:bodyPr>
          <a:lstStyle/>
          <a:p>
            <a:pPr marL="0" indent="0" algn="ctr">
              <a:buNone/>
            </a:pPr>
            <a:r>
              <a:rPr lang="pt-BR" sz="4000" dirty="0"/>
              <a:t>O algoritmo de </a:t>
            </a:r>
            <a:r>
              <a:rPr lang="pt-BR" sz="4000" i="1" dirty="0"/>
              <a:t>error</a:t>
            </a:r>
            <a:r>
              <a:rPr lang="pt-BR" sz="4000" dirty="0"/>
              <a:t> </a:t>
            </a:r>
            <a:r>
              <a:rPr lang="pt-BR" sz="4000" i="1" dirty="0"/>
              <a:t>backpropagation</a:t>
            </a:r>
            <a:r>
              <a:rPr lang="pt-BR" sz="4000" dirty="0"/>
              <a:t> é baseado na </a:t>
            </a:r>
            <a:r>
              <a:rPr lang="pt-BR" sz="4000" b="1" dirty="0">
                <a:solidFill>
                  <a:schemeClr val="accent2"/>
                </a:solidFill>
              </a:rPr>
              <a:t>regra da cadeia</a:t>
            </a:r>
            <a:r>
              <a:rPr lang="pt-BR" sz="4000" dirty="0">
                <a:solidFill>
                  <a:schemeClr val="accent2"/>
                </a:solidFill>
              </a:rPr>
              <a:t>.</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BE775A6-6732-2632-18D8-0617A7FBF913}"/>
              </a:ext>
            </a:extLst>
          </p:cNvPr>
          <p:cNvSpPr>
            <a:spLocks noGrp="1"/>
          </p:cNvSpPr>
          <p:nvPr>
            <p:ph type="title"/>
          </p:nvPr>
        </p:nvSpPr>
        <p:spPr/>
        <p:txBody>
          <a:bodyPr/>
          <a:lstStyle/>
          <a:p>
            <a:r>
              <a:rPr lang="pt-BR" i="1" dirty="0"/>
              <a:t>Backpropagation</a:t>
            </a:r>
            <a:endParaRPr lang="en-US" dirty="0"/>
          </a:p>
        </p:txBody>
      </p:sp>
      <p:sp>
        <p:nvSpPr>
          <p:cNvPr id="3" name="Content Placeholder 2">
            <a:extLst>
              <a:ext uri="{FF2B5EF4-FFF2-40B4-BE49-F238E27FC236}">
                <a16:creationId xmlns:a16="http://schemas.microsoft.com/office/drawing/2014/main" xmlns="" id="{5D7CC740-332C-5F7B-FF5E-6165FD0B3C85}"/>
              </a:ext>
            </a:extLst>
          </p:cNvPr>
          <p:cNvSpPr>
            <a:spLocks noGrp="1"/>
          </p:cNvSpPr>
          <p:nvPr>
            <p:ph idx="1"/>
          </p:nvPr>
        </p:nvSpPr>
        <p:spPr>
          <a:xfrm>
            <a:off x="5545394" y="1825624"/>
            <a:ext cx="6646606"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Apresenta os exemplos à rede e ela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b="1" dirty="0">
                <a:solidFill>
                  <a:srgbClr val="00B050"/>
                </a:solidFill>
              </a:rPr>
              <a:t>Propaga o erro para trás</a:t>
            </a:r>
            <a:r>
              <a:rPr lang="pt-BR" dirty="0"/>
              <a:t> através das camadas da rede para atualizar os pesos usando o gradiente descendente.</a:t>
            </a:r>
          </a:p>
          <a:p>
            <a:pPr lvl="2">
              <a:buFont typeface="Courier New" panose="02070309020205020404" pitchFamily="49" charset="0"/>
              <a:buChar char="o"/>
            </a:pPr>
            <a:r>
              <a:rPr lang="pt-BR" dirty="0"/>
              <a:t>Etapa chamada de retropropagação do erro (</a:t>
            </a:r>
            <a:r>
              <a:rPr lang="pt-BR" i="1" dirty="0"/>
              <a:t>error</a:t>
            </a:r>
            <a:r>
              <a:rPr lang="pt-BR" dirty="0"/>
              <a:t> </a:t>
            </a:r>
            <a:r>
              <a:rPr lang="en-US" i="1" dirty="0"/>
              <a:t>backpropagation</a:t>
            </a:r>
            <a:r>
              <a:rPr lang="en-US" dirty="0"/>
              <a:t>).</a:t>
            </a:r>
          </a:p>
          <a:p>
            <a:pPr lvl="2">
              <a:buFont typeface="Courier New" panose="02070309020205020404" pitchFamily="49" charset="0"/>
              <a:buChar char="o"/>
            </a:pPr>
            <a:r>
              <a:rPr lang="pt-BR" dirty="0"/>
              <a:t>As </a:t>
            </a:r>
            <a:r>
              <a:rPr lang="pt-BR" b="1" dirty="0">
                <a:solidFill>
                  <a:schemeClr val="accent2"/>
                </a:solidFill>
              </a:rPr>
              <a:t>derivadas parciais do erro em relação aos pesos (gradientes) </a:t>
            </a:r>
            <a:r>
              <a:rPr lang="pt-BR" dirty="0"/>
              <a:t>são calculadas usando-se a </a:t>
            </a:r>
            <a:r>
              <a:rPr lang="pt-BR" b="1" dirty="0">
                <a:solidFill>
                  <a:srgbClr val="7030A0"/>
                </a:solidFill>
              </a:rPr>
              <a:t>regra da cadeia</a:t>
            </a:r>
            <a:r>
              <a:rPr lang="pt-BR" dirty="0"/>
              <a:t>.</a:t>
            </a:r>
          </a:p>
        </p:txBody>
      </p:sp>
      <p:grpSp>
        <p:nvGrpSpPr>
          <p:cNvPr id="5" name="Group 3">
            <a:extLst>
              <a:ext uri="{FF2B5EF4-FFF2-40B4-BE49-F238E27FC236}">
                <a16:creationId xmlns:a16="http://schemas.microsoft.com/office/drawing/2014/main" xmlns="" id="{FF634148-131E-AD74-69EE-DB385D6912DF}"/>
              </a:ext>
            </a:extLst>
          </p:cNvPr>
          <p:cNvGrpSpPr/>
          <p:nvPr/>
        </p:nvGrpSpPr>
        <p:grpSpPr>
          <a:xfrm>
            <a:off x="653454" y="2071496"/>
            <a:ext cx="4240583" cy="3792091"/>
            <a:chOff x="294226" y="2506925"/>
            <a:chExt cx="4240583" cy="3792091"/>
          </a:xfrm>
        </p:grpSpPr>
        <p:sp>
          <p:nvSpPr>
            <p:cNvPr id="6" name="Elipse 77">
              <a:extLst>
                <a:ext uri="{FF2B5EF4-FFF2-40B4-BE49-F238E27FC236}">
                  <a16:creationId xmlns:a16="http://schemas.microsoft.com/office/drawing/2014/main" xmlns="" id="{6E6719AD-4F7E-AD74-2622-29CF0F31BB94}"/>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a16="http://schemas.microsoft.com/office/drawing/2014/main" xmlns="" id="{DC987079-F169-557E-BA2E-FB0171F3C9F7}"/>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a16="http://schemas.microsoft.com/office/drawing/2014/main" xmlns="" id="{DE7882DA-4AC7-40FA-C740-6B91C10E11CB}"/>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a16="http://schemas.microsoft.com/office/drawing/2014/main" xmlns="" id="{9DC5C365-CA9F-03EB-6750-0BC3DF8F2F7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a16="http://schemas.microsoft.com/office/drawing/2014/main" xmlns="" id="{F1FC713F-6518-DC92-F72A-3B666B4069F0}"/>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a16="http://schemas.microsoft.com/office/drawing/2014/main" xmlns="" id="{D77DACB0-05A1-2715-750D-9A5BCDA00C7C}"/>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a16="http://schemas.microsoft.com/office/drawing/2014/main" xmlns="" id="{18E0BD8E-80B0-3893-9384-9BDAF19421B6}"/>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a16="http://schemas.microsoft.com/office/drawing/2014/main" xmlns="" id="{8CF35641-DB22-E3F4-EA3E-1E2DE63D1461}"/>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a16="http://schemas.microsoft.com/office/drawing/2014/main" xmlns="" id="{57DE86BA-97B6-779F-AEB1-8A6E30C1C7E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a16="http://schemas.microsoft.com/office/drawing/2014/main" xmlns="" id="{1ACC1833-C817-C068-94CE-D5E1AB8904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a16="http://schemas.microsoft.com/office/drawing/2014/main" xmlns="" id="{44FF8987-5E0D-22ED-420E-153A88241AFD}"/>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a16="http://schemas.microsoft.com/office/drawing/2014/main" xmlns="" id="{DB945994-6367-B873-0CEE-1CFB8712F553}"/>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a16="http://schemas.microsoft.com/office/drawing/2014/main" xmlns="" id="{032A5094-7761-6D54-7194-BFE2BDF0F173}"/>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a16="http://schemas.microsoft.com/office/drawing/2014/main" xmlns="" id="{DCD661F3-7659-C795-3803-BB8BA38C4A8A}"/>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a16="http://schemas.microsoft.com/office/drawing/2014/main" xmlns="" id="{282466CE-D01C-30B3-E3E4-F42E03037B4D}"/>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a16="http://schemas.microsoft.com/office/drawing/2014/main" xmlns="" id="{2F3FADE4-13F4-8F19-2F87-87B575296F14}"/>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a16="http://schemas.microsoft.com/office/drawing/2014/main" xmlns="" id="{518CF0EB-5D20-01A8-1F6B-60E3B525ED06}"/>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a16="http://schemas.microsoft.com/office/drawing/2014/main" xmlns="" id="{7ABCF542-C05A-E0A8-9684-C5579583EBC5}"/>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a16="http://schemas.microsoft.com/office/drawing/2014/main" xmlns="" id="{4D440B07-F9A9-B326-0B96-616C95C0929C}"/>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a16="http://schemas.microsoft.com/office/drawing/2014/main" xmlns="" id="{88F957FF-6F9C-B293-B133-64428E481D11}"/>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a16="http://schemas.microsoft.com/office/drawing/2014/main" xmlns="" id="{768FB5CE-A01B-49BD-E306-6F2D1E2E6B4E}"/>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a16="http://schemas.microsoft.com/office/drawing/2014/main" xmlns="" id="{79A72F69-24D6-33C1-A71A-1007CC1D708D}"/>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a16="http://schemas.microsoft.com/office/drawing/2014/main" xmlns="" id="{5D1B08F4-8791-67A7-6773-BF44C2186478}"/>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a16="http://schemas.microsoft.com/office/drawing/2014/main" xmlns="" id="{4E621269-7C5B-B747-9F04-AD9B9D5253EA}"/>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a16="http://schemas.microsoft.com/office/drawing/2014/main" xmlns="" id="{65C81D34-1A11-B74C-3BAB-02FA21C3C0D7}"/>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a16="http://schemas.microsoft.com/office/drawing/2014/main" xmlns="" id="{126E7253-ED76-049B-CFB7-8FC0A4B667D3}"/>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a16="http://schemas.microsoft.com/office/drawing/2014/main" xmlns="" id="{C7380110-3B2C-F302-E8D2-8DCB67211A7D}"/>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a16="http://schemas.microsoft.com/office/drawing/2014/main" xmlns="" id="{745199CC-F48E-FEC3-8881-C99472B0922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a16="http://schemas.microsoft.com/office/drawing/2014/main" xmlns="" id="{28E63C63-C579-50F7-D45F-2A2B01A73CA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5" name="Group 33">
              <a:extLst>
                <a:ext uri="{FF2B5EF4-FFF2-40B4-BE49-F238E27FC236}">
                  <a16:creationId xmlns:a16="http://schemas.microsoft.com/office/drawing/2014/main" xmlns="" id="{4B0662A5-5DED-3223-4132-AA6A658A827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a16="http://schemas.microsoft.com/office/drawing/2014/main" xmlns="" id="{0E32B930-9D34-5A10-2A65-BD78E1E1605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6" name="Elipse 3">
                <a:extLst>
                  <a:ext uri="{FF2B5EF4-FFF2-40B4-BE49-F238E27FC236}">
                    <a16:creationId xmlns:a16="http://schemas.microsoft.com/office/drawing/2014/main" xmlns="" id="{01337A5A-72EE-1059-4FBA-8C9A6A955F63}"/>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a16="http://schemas.microsoft.com/office/drawing/2014/main" xmlns="" id="{27182ACC-5B07-274C-5B31-4A7D0FE0A146}"/>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5">
              <a:extLst>
                <a:ext uri="{FF2B5EF4-FFF2-40B4-BE49-F238E27FC236}">
                  <a16:creationId xmlns:a16="http://schemas.microsoft.com/office/drawing/2014/main" xmlns="" id="{55FCBDFF-1016-7533-0AB2-8D98AF57DA8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a16="http://schemas.microsoft.com/office/drawing/2014/main" xmlns="" id="{87925EF6-8551-5EE8-49E6-09C0D5FD5E81}"/>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4" name="Elipse 4">
                <a:extLst>
                  <a:ext uri="{FF2B5EF4-FFF2-40B4-BE49-F238E27FC236}">
                    <a16:creationId xmlns:a16="http://schemas.microsoft.com/office/drawing/2014/main" xmlns="" id="{E9AAE255-046D-93F7-7625-6B1BD8BD879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a16="http://schemas.microsoft.com/office/drawing/2014/main" xmlns="" id="{070D07BB-4F99-25A9-DF12-4B8401ED9D30}"/>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8FB0FAA4-B741-F933-FD71-653102F88FF4}"/>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E5F9B485-FB2A-FFA4-67FA-15FB31CFC57E}"/>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0F2E5358-9129-DFCA-8A00-20CBB18CA9AF}"/>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179C17A1-FE0E-C491-2F8E-717B2ED26C65}"/>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1322C110-3B56-1201-B9AC-19D5F911842E}"/>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xmlns="" id="{BF6C127B-329F-235E-F6EB-CF8D4DFF73AB}"/>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D779149C-29F4-82DB-357B-8D075288D4D1}"/>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9ED2BCC4-D867-EA4E-7977-E42A630FD702}"/>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4DB015B8-C6E1-3D93-9413-D6F7492D65EC}"/>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xmlns="" id="{CC2BEDA7-B6EF-D098-2E40-734E8C1C0A29}"/>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7">
                  <a:extLst>
                    <a:ext uri="{FF2B5EF4-FFF2-40B4-BE49-F238E27FC236}">
                      <a16:creationId xmlns:a16="http://schemas.microsoft.com/office/drawing/2014/main" xmlns="" id="{94A05F8E-2D3C-093D-D6BA-2A20EEAA2C22}"/>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8">
                  <a:extLst>
                    <a:ext uri="{FF2B5EF4-FFF2-40B4-BE49-F238E27FC236}">
                      <a16:creationId xmlns:a16="http://schemas.microsoft.com/office/drawing/2014/main" xmlns="" id="{2EEF52BD-8C4C-4E25-5761-305AE2A9E5CF}"/>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49">
                  <a:extLst>
                    <a:ext uri="{FF2B5EF4-FFF2-40B4-BE49-F238E27FC236}">
                      <a16:creationId xmlns:a16="http://schemas.microsoft.com/office/drawing/2014/main" xmlns="" id="{F2B3764F-292D-4C73-59F6-271F4B3B3FCF}"/>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0">
                  <a:extLst>
                    <a:ext uri="{FF2B5EF4-FFF2-40B4-BE49-F238E27FC236}">
                      <a16:creationId xmlns:a16="http://schemas.microsoft.com/office/drawing/2014/main" xmlns="" id="{E432C528-7FA6-2BE5-3B69-D13BDBF93D37}"/>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1">
                  <a:extLst>
                    <a:ext uri="{FF2B5EF4-FFF2-40B4-BE49-F238E27FC236}">
                      <a16:creationId xmlns:a16="http://schemas.microsoft.com/office/drawing/2014/main" xmlns="" id="{5CCF6C3B-FA35-C12A-A80E-859FA884B3DC}"/>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2">
                  <a:extLst>
                    <a:ext uri="{FF2B5EF4-FFF2-40B4-BE49-F238E27FC236}">
                      <a16:creationId xmlns:a16="http://schemas.microsoft.com/office/drawing/2014/main" xmlns="" id="{B48A1C05-E9AB-5F17-EDA4-D254BA36C18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3">
                  <a:extLst>
                    <a:ext uri="{FF2B5EF4-FFF2-40B4-BE49-F238E27FC236}">
                      <a16:creationId xmlns:a16="http://schemas.microsoft.com/office/drawing/2014/main" xmlns="" id="{3FCE0594-A7FF-5C24-DBED-E95573D9C56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4">
                  <a:extLst>
                    <a:ext uri="{FF2B5EF4-FFF2-40B4-BE49-F238E27FC236}">
                      <a16:creationId xmlns:a16="http://schemas.microsoft.com/office/drawing/2014/main" xmlns="" id="{AFDB757D-A881-3CF3-5765-1BD034DC665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7" name="CaixaDeTexto 106">
              <a:extLst>
                <a:ext uri="{FF2B5EF4-FFF2-40B4-BE49-F238E27FC236}">
                  <a16:creationId xmlns:a16="http://schemas.microsoft.com/office/drawing/2014/main" xmlns="" id="{25419A2C-7C18-820C-2D6F-633F46F6DD2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6">
              <a:extLst>
                <a:ext uri="{FF2B5EF4-FFF2-40B4-BE49-F238E27FC236}">
                  <a16:creationId xmlns:a16="http://schemas.microsoft.com/office/drawing/2014/main" xmlns="" id="{94C9168B-9914-0A3D-D43E-6EAB201103E4}"/>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a16="http://schemas.microsoft.com/office/drawing/2014/main" xmlns="" id="{FA3DDBEA-C3F2-47AA-509A-840A31CCB55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a16="http://schemas.microsoft.com/office/drawing/2014/main" xmlns="" id="{0C734AAD-5D8C-7EAE-C078-9AC6BCE46389}"/>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a16="http://schemas.microsoft.com/office/drawing/2014/main" xmlns="" id="{A681107B-D401-A01B-DDAE-07EB22B295D2}"/>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a16="http://schemas.microsoft.com/office/drawing/2014/main" xmlns="" id="{9F34BDE3-CF61-A47E-2254-CFEAD27284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2828300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39CD25A-051E-2532-A1B8-176C742EECEB}"/>
              </a:ext>
            </a:extLst>
          </p:cNvPr>
          <p:cNvSpPr>
            <a:spLocks noGrp="1"/>
          </p:cNvSpPr>
          <p:nvPr>
            <p:ph type="title"/>
          </p:nvPr>
        </p:nvSpPr>
        <p:spPr/>
        <p:txBody>
          <a:bodyPr/>
          <a:lstStyle/>
          <a:p>
            <a:r>
              <a:rPr lang="pt-BR" i="1" dirty="0"/>
              <a:t>Backpropagation</a:t>
            </a:r>
            <a:endParaRPr lang="en-US" dirty="0"/>
          </a:p>
        </p:txBody>
      </p:sp>
      <p:sp>
        <p:nvSpPr>
          <p:cNvPr id="3" name="Content Placeholder 2">
            <a:extLst>
              <a:ext uri="{FF2B5EF4-FFF2-40B4-BE49-F238E27FC236}">
                <a16:creationId xmlns:a16="http://schemas.microsoft.com/office/drawing/2014/main" xmlns="" id="{F2837435-CAA9-AE41-D90E-E6FA914481A4}"/>
              </a:ext>
            </a:extLst>
          </p:cNvPr>
          <p:cNvSpPr>
            <a:spLocks noGrp="1"/>
          </p:cNvSpPr>
          <p:nvPr>
            <p:ph idx="1"/>
          </p:nvPr>
        </p:nvSpPr>
        <p:spPr>
          <a:xfrm>
            <a:off x="838201" y="1825625"/>
            <a:ext cx="11157154" cy="4351338"/>
          </a:xfrm>
        </p:spPr>
        <p:txBody>
          <a:bodyPr/>
          <a:lstStyle/>
          <a:p>
            <a:r>
              <a:rPr lang="pt-BR" b="1" dirty="0"/>
              <a:t>Em resumo</a:t>
            </a:r>
            <a:r>
              <a:rPr lang="pt-BR" dirty="0"/>
              <a:t>: a rede prediz → mede o erro → corrige os pesos.</a:t>
            </a:r>
          </a:p>
          <a:p>
            <a:r>
              <a:rPr lang="pt-BR" dirty="0"/>
              <a:t>O </a:t>
            </a:r>
            <a:r>
              <a:rPr lang="pt-BR" i="1" dirty="0"/>
              <a:t>backpropagation</a:t>
            </a:r>
            <a:r>
              <a:rPr lang="pt-BR" dirty="0"/>
              <a:t> responde à pergunta:</a:t>
            </a:r>
          </a:p>
          <a:p>
            <a:pPr marL="0" indent="0" algn="ctr">
              <a:buNone/>
            </a:pPr>
            <a:r>
              <a:rPr lang="pt-BR" b="1" dirty="0"/>
              <a:t>“O quanto os pesos precisam mudar para que a rede produza uma saída mais correta a cada iteração?”</a:t>
            </a:r>
            <a:endParaRPr lang="pt-BR" dirty="0"/>
          </a:p>
          <a:p>
            <a:endParaRPr lang="en-US" dirty="0"/>
          </a:p>
        </p:txBody>
      </p:sp>
      <p:pic>
        <p:nvPicPr>
          <p:cNvPr id="8" name="Picture 7">
            <a:extLst>
              <a:ext uri="{FF2B5EF4-FFF2-40B4-BE49-F238E27FC236}">
                <a16:creationId xmlns:a16="http://schemas.microsoft.com/office/drawing/2014/main" xmlns=""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5BF615BC-2786-CA1F-664E-992832AC0C08}"/>
                  </a:ext>
                </a:extLst>
              </p:cNvPr>
              <p:cNvSpPr>
                <a:spLocks noGrp="1"/>
              </p:cNvSpPr>
              <p:nvPr>
                <p:ph idx="1"/>
              </p:nvPr>
            </p:nvSpPr>
            <p:spPr>
              <a:xfrm>
                <a:off x="838199" y="1825625"/>
                <a:ext cx="11353801" cy="5032375"/>
              </a:xfrm>
            </p:spPr>
            <p:txBody>
              <a:bodyPr>
                <a:normAutofit lnSpcReduction="10000"/>
              </a:bodyPr>
              <a:lstStyle/>
              <a:p>
                <a:r>
                  <a:rPr lang="pt-BR" noProof="0"/>
                  <a:t>Para </a:t>
                </a:r>
                <a:r>
                  <a:rPr lang="pt-BR" b="1" noProof="0">
                    <a:solidFill>
                      <a:srgbClr val="00B050"/>
                    </a:solidFill>
                  </a:rPr>
                  <a:t>atualizar o peso de um nó de uma camada</a:t>
                </a:r>
                <a:r>
                  <a:rPr lang="pt-BR" noProof="0"/>
                  <a:t>, a </a:t>
                </a:r>
                <a:r>
                  <a:rPr lang="pt-BR" b="1" noProof="0"/>
                  <a:t>retropropagação </a:t>
                </a:r>
                <a:r>
                  <a:rPr lang="pt-BR" noProof="0"/>
                  <a:t>calcula a derivada parcial do erro em relação àquele peso usando a </a:t>
                </a:r>
                <a:r>
                  <a:rPr lang="pt-BR" b="1" noProof="0">
                    <a:solidFill>
                      <a:srgbClr val="7030A0"/>
                    </a:solidFill>
                  </a:rPr>
                  <a:t>regra da cadeia</a:t>
                </a:r>
                <a:r>
                  <a:rPr lang="pt-BR" noProof="0"/>
                  <a:t>.</a:t>
                </a:r>
              </a:p>
              <a:p>
                <a:r>
                  <a:rPr lang="pt-BR" noProof="0" dirty="0"/>
                  <a:t>Vejamos o exemplo abaixo com 3 nós, 3 pesos,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1</m:t>
                        </m:r>
                      </m:sub>
                    </m:sSub>
                  </m:oMath>
                </a14:m>
                <a:r>
                  <a:rPr lang="pt-BR" noProof="0" dirty="0"/>
                  <a:t>,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3</m:t>
                        </m:r>
                      </m:sub>
                    </m:sSub>
                  </m:oMath>
                </a14:m>
                <a:r>
                  <a:rPr lang="pt-BR" noProof="0" dirty="0"/>
                  <a:t> e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3</m:t>
                        </m:r>
                      </m:sub>
                    </m:sSub>
                  </m:oMath>
                </a14:m>
                <a:r>
                  <a:rPr lang="pt-BR" noProof="0" dirty="0"/>
                  <a:t>, 3 funções de ativação, </a:t>
                </a:r>
                <a14:m>
                  <m:oMath xmlns:m="http://schemas.openxmlformats.org/officeDocument/2006/math">
                    <m:r>
                      <a:rPr lang="pt-BR" i="1" noProof="0">
                        <a:latin typeface="Cambria Math" panose="02040503050406030204" pitchFamily="18" charset="0"/>
                      </a:rPr>
                      <m:t>𝑓</m:t>
                    </m:r>
                    <m:d>
                      <m:dPr>
                        <m:ctrlPr>
                          <a:rPr lang="pt-BR" i="1" noProof="0">
                            <a:latin typeface="Cambria Math" panose="02040503050406030204" pitchFamily="18" charset="0"/>
                          </a:rPr>
                        </m:ctrlPr>
                      </m:dPr>
                      <m:e>
                        <m:r>
                          <a:rPr lang="pt-BR" i="1" noProof="0">
                            <a:latin typeface="Cambria Math" panose="02040503050406030204" pitchFamily="18" charset="0"/>
                          </a:rPr>
                          <m:t>.</m:t>
                        </m:r>
                      </m:e>
                    </m:d>
                    <m:r>
                      <a:rPr lang="pt-BR" i="1" noProof="0">
                        <a:latin typeface="Cambria Math" panose="02040503050406030204" pitchFamily="18" charset="0"/>
                      </a:rPr>
                      <m:t>, </m:t>
                    </m:r>
                    <m:r>
                      <a:rPr lang="pt-BR" i="1" noProof="0">
                        <a:latin typeface="Cambria Math" panose="02040503050406030204" pitchFamily="18" charset="0"/>
                      </a:rPr>
                      <m:t>𝑔</m:t>
                    </m:r>
                    <m:d>
                      <m:dPr>
                        <m:ctrlPr>
                          <a:rPr lang="pt-BR" i="1" noProof="0">
                            <a:latin typeface="Cambria Math" panose="02040503050406030204" pitchFamily="18" charset="0"/>
                          </a:rPr>
                        </m:ctrlPr>
                      </m:dPr>
                      <m:e>
                        <m:r>
                          <a:rPr lang="pt-BR" i="1" noProof="0">
                            <a:latin typeface="Cambria Math" panose="02040503050406030204" pitchFamily="18" charset="0"/>
                          </a:rPr>
                          <m:t>.</m:t>
                        </m:r>
                      </m:e>
                    </m:d>
                  </m:oMath>
                </a14:m>
                <a:r>
                  <a:rPr lang="pt-BR" noProof="0" dirty="0"/>
                  <a:t> e </a:t>
                </a:r>
                <a14:m>
                  <m:oMath xmlns:m="http://schemas.openxmlformats.org/officeDocument/2006/math">
                    <m:r>
                      <a:rPr lang="pt-BR" i="1" noProof="0">
                        <a:latin typeface="Cambria Math" panose="02040503050406030204" pitchFamily="18" charset="0"/>
                      </a:rPr>
                      <m:t>h</m:t>
                    </m:r>
                    <m:r>
                      <a:rPr lang="pt-BR" i="1" noProof="0">
                        <a:latin typeface="Cambria Math" panose="02040503050406030204" pitchFamily="18" charset="0"/>
                      </a:rPr>
                      <m:t>(.)</m:t>
                    </m:r>
                  </m:oMath>
                </a14:m>
                <a:r>
                  <a:rPr lang="pt-BR" noProof="0" dirty="0"/>
                  <a:t>, uma entrada </a:t>
                </a:r>
                <a14:m>
                  <m:oMath xmlns:m="http://schemas.openxmlformats.org/officeDocument/2006/math">
                    <m:r>
                      <a:rPr lang="pt-BR" b="0" i="1" noProof="0" smtClean="0">
                        <a:latin typeface="Cambria Math" panose="02040503050406030204" pitchFamily="18" charset="0"/>
                      </a:rPr>
                      <m:t>𝑥</m:t>
                    </m:r>
                  </m:oMath>
                </a14:m>
                <a:r>
                  <a:rPr lang="pt-BR" noProof="0" dirty="0"/>
                  <a:t>, uma saída </a:t>
                </a:r>
                <a14:m>
                  <m:oMath xmlns:m="http://schemas.openxmlformats.org/officeDocument/2006/math">
                    <m:acc>
                      <m:accPr>
                        <m:chr m:val="̂"/>
                        <m:ctrlPr>
                          <a:rPr lang="pt-BR" b="0" i="1" noProof="0" smtClean="0">
                            <a:latin typeface="Cambria Math" panose="02040503050406030204" pitchFamily="18" charset="0"/>
                          </a:rPr>
                        </m:ctrlPr>
                      </m:accPr>
                      <m:e>
                        <m:r>
                          <a:rPr lang="pt-BR" b="0" i="1" noProof="0" smtClean="0">
                            <a:latin typeface="Cambria Math" panose="02040503050406030204" pitchFamily="18" charset="0"/>
                          </a:rPr>
                          <m:t>𝑦</m:t>
                        </m:r>
                      </m:e>
                    </m:acc>
                  </m:oMath>
                </a14:m>
                <a:r>
                  <a:rPr lang="pt-BR" noProof="0" dirty="0"/>
                  <a:t> e um rótulo </a:t>
                </a:r>
                <a14:m>
                  <m:oMath xmlns:m="http://schemas.openxmlformats.org/officeDocument/2006/math">
                    <m:r>
                      <a:rPr lang="pt-BR" i="1" noProof="0">
                        <a:latin typeface="Cambria Math" panose="02040503050406030204" pitchFamily="18" charset="0"/>
                        <a:ea typeface="Cambria Math" panose="02040503050406030204" pitchFamily="18" charset="0"/>
                      </a:rPr>
                      <m:t>𝑦</m:t>
                    </m:r>
                    <m:r>
                      <a:rPr lang="pt-BR" b="0" i="0" noProof="0" smtClean="0">
                        <a:latin typeface="Cambria Math" panose="02040503050406030204" pitchFamily="18" charset="0"/>
                        <a:ea typeface="Cambria Math" panose="02040503050406030204" pitchFamily="18" charset="0"/>
                      </a:rPr>
                      <m:t>.</m:t>
                    </m:r>
                  </m:oMath>
                </a14:m>
                <a:endParaRPr lang="pt-BR" sz="900" noProof="0" dirty="0"/>
              </a:p>
              <a:p>
                <a:endParaRPr lang="pt-BR" noProof="0" dirty="0"/>
              </a:p>
              <a:p>
                <a:pPr marL="0" indent="0">
                  <a:buNone/>
                </a:pPr>
                <a:endParaRPr lang="pt-BR" noProof="0" dirty="0"/>
              </a:p>
              <a:p>
                <a:r>
                  <a:rPr lang="pt-BR" noProof="0"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i="1" noProof="0">
                              <a:latin typeface="Cambria Math" panose="02040503050406030204" pitchFamily="18" charset="0"/>
                            </a:rPr>
                            <m:t>1</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i="1" noProof="0">
                              <a:latin typeface="Cambria Math" panose="02040503050406030204" pitchFamily="18" charset="0"/>
                            </a:rPr>
                            <m:t>1</m:t>
                          </m:r>
                        </m:sub>
                      </m:sSub>
                      <m:r>
                        <a:rPr lang="pt-BR" b="0" i="1" noProof="0" smtClean="0">
                          <a:latin typeface="Cambria Math" panose="02040503050406030204" pitchFamily="18" charset="0"/>
                        </a:rPr>
                        <m:t>𝑥</m:t>
                      </m:r>
                      <m:r>
                        <a:rPr lang="pt-BR" i="1" noProof="0">
                          <a:latin typeface="Cambria Math" panose="02040503050406030204" pitchFamily="18" charset="0"/>
                        </a:rPr>
                        <m:t>,</m:t>
                      </m:r>
                    </m:oMath>
                  </m:oMathPara>
                </a14:m>
                <a:endParaRPr lang="pt-BR" i="1" noProof="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b="0" i="1" noProof="0" smtClean="0">
                              <a:latin typeface="Cambria Math" panose="02040503050406030204" pitchFamily="18" charset="0"/>
                            </a:rPr>
                            <m:t>2</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2</m:t>
                          </m:r>
                        </m:sub>
                      </m:sSub>
                      <m:r>
                        <a:rPr lang="pt-BR" i="1" noProof="0">
                          <a:latin typeface="Cambria Math" panose="02040503050406030204" pitchFamily="18" charset="0"/>
                        </a:rPr>
                        <m:t>h</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1</m:t>
                              </m:r>
                            </m:sub>
                          </m:sSub>
                          <m:r>
                            <a:rPr lang="pt-BR" i="1" noProof="0">
                              <a:latin typeface="Cambria Math" panose="02040503050406030204" pitchFamily="18" charset="0"/>
                            </a:rPr>
                            <m:t>𝑥</m:t>
                          </m:r>
                        </m:e>
                      </m:d>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i="1" noProof="0">
                              <a:latin typeface="Cambria Math" panose="02040503050406030204" pitchFamily="18" charset="0"/>
                            </a:rPr>
                            <m:t>2</m:t>
                          </m:r>
                        </m:sub>
                      </m:sSub>
                      <m:r>
                        <a:rPr lang="pt-BR" i="1" noProof="0">
                          <a:latin typeface="Cambria Math" panose="02040503050406030204" pitchFamily="18" charset="0"/>
                        </a:rPr>
                        <m:t>h</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i="1" noProof="0">
                                  <a:latin typeface="Cambria Math" panose="02040503050406030204" pitchFamily="18" charset="0"/>
                                </a:rPr>
                                <m:t>1</m:t>
                              </m:r>
                            </m:sub>
                          </m:sSub>
                        </m:e>
                      </m:d>
                      <m:r>
                        <a:rPr lang="pt-BR" b="0" i="1" noProof="0" smtClean="0">
                          <a:latin typeface="Cambria Math" panose="02040503050406030204" pitchFamily="18" charset="0"/>
                        </a:rPr>
                        <m:t>,</m:t>
                      </m:r>
                    </m:oMath>
                  </m:oMathPara>
                </a14:m>
                <a:endParaRPr lang="pt-BR" noProof="0" dirty="0"/>
              </a:p>
              <a:p>
                <a:pPr marL="0" indent="0">
                  <a:buNone/>
                </a:pPr>
                <a14:m>
                  <m:oMathPara xmlns:m="http://schemas.openxmlformats.org/officeDocument/2006/math">
                    <m:oMathParaPr>
                      <m:jc m:val="centerGroup"/>
                    </m:oMathParaPr>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b="0" i="1" noProof="0" smtClean="0">
                              <a:latin typeface="Cambria Math" panose="02040503050406030204" pitchFamily="18" charset="0"/>
                            </a:rPr>
                            <m:t>3</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3</m:t>
                          </m:r>
                        </m:sub>
                      </m:sSub>
                      <m:r>
                        <a:rPr lang="pt-BR" i="1" noProof="0">
                          <a:latin typeface="Cambria Math" panose="02040503050406030204" pitchFamily="18" charset="0"/>
                        </a:rPr>
                        <m:t>𝑔</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2</m:t>
                              </m:r>
                            </m:sub>
                          </m:sSub>
                          <m:r>
                            <a:rPr lang="pt-BR" i="1" noProof="0">
                              <a:latin typeface="Cambria Math" panose="02040503050406030204" pitchFamily="18" charset="0"/>
                            </a:rPr>
                            <m:t>h</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1</m:t>
                                  </m:r>
                                </m:sub>
                              </m:sSub>
                              <m:r>
                                <a:rPr lang="pt-BR" i="1" noProof="0">
                                  <a:latin typeface="Cambria Math" panose="02040503050406030204" pitchFamily="18" charset="0"/>
                                </a:rPr>
                                <m:t>𝑥</m:t>
                              </m:r>
                            </m:e>
                          </m:d>
                        </m:e>
                      </m:d>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3</m:t>
                          </m:r>
                        </m:sub>
                      </m:sSub>
                      <m:r>
                        <a:rPr lang="pt-BR" i="1" noProof="0">
                          <a:latin typeface="Cambria Math" panose="02040503050406030204" pitchFamily="18" charset="0"/>
                        </a:rPr>
                        <m:t>𝑔</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b="0" i="1" noProof="0" smtClean="0">
                                  <a:latin typeface="Cambria Math" panose="02040503050406030204" pitchFamily="18" charset="0"/>
                                </a:rPr>
                                <m:t>2</m:t>
                              </m:r>
                            </m:sub>
                          </m:sSub>
                        </m:e>
                      </m:d>
                      <m:r>
                        <a:rPr lang="pt-BR" b="0" i="0" noProof="0" smtClean="0">
                          <a:latin typeface="Cambria Math" panose="02040503050406030204" pitchFamily="18" charset="0"/>
                        </a:rPr>
                        <m:t>.</m:t>
                      </m:r>
                    </m:oMath>
                  </m:oMathPara>
                </a14:m>
                <a:endParaRPr lang="pt-BR" noProof="0" dirty="0"/>
              </a:p>
              <a:p>
                <a:r>
                  <a:rPr lang="pt-BR" noProof="0" dirty="0"/>
                  <a:t>Essas variáveis são chamadas de </a:t>
                </a:r>
                <a:r>
                  <a:rPr lang="pt-BR" b="1" noProof="0" dirty="0">
                    <a:solidFill>
                      <a:schemeClr val="accent2"/>
                    </a:solidFill>
                  </a:rPr>
                  <a:t>ativações</a:t>
                </a:r>
                <a:r>
                  <a:rPr lang="pt-BR" noProof="0" dirty="0"/>
                  <a:t>.</a:t>
                </a:r>
              </a:p>
              <a:p>
                <a:pPr marL="0" indent="0">
                  <a:buNone/>
                </a:pPr>
                <a:endParaRPr lang="pt-BR" noProof="0" dirty="0"/>
              </a:p>
            </p:txBody>
          </p:sp>
        </mc:Choice>
        <mc:Fallback xmlns="">
          <p:sp>
            <p:nvSpPr>
              <p:cNvPr id="3" name="Espaço Reservado para Conteúdo 2">
                <a:extLst>
                  <a:ext uri="{FF2B5EF4-FFF2-40B4-BE49-F238E27FC236}">
                    <a16:creationId xmlns:a16="http://schemas.microsoft.com/office/drawing/2014/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913" t="-2663" r="-1396" b="-2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xmlns=""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xmlns=""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xmlns=""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xmlns=""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xmlns=""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xmlns=""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xmlns=""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xmlns=""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xmlns=""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xmlns=""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xmlns=""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xmlns=""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xmlns=""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xmlns=""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xmlns=""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22D5A62-CE6E-1AA5-57FE-1C7135D815BD}"/>
                  </a:ext>
                </a:extLst>
              </p:cNvPr>
              <p:cNvSpPr>
                <a:spLocks noGrp="1"/>
              </p:cNvSpPr>
              <p:nvPr>
                <p:ph idx="1"/>
              </p:nvPr>
            </p:nvSpPr>
            <p:spPr>
              <a:xfrm>
                <a:off x="838199" y="2752928"/>
                <a:ext cx="11353801" cy="4105071"/>
              </a:xfrm>
            </p:spPr>
            <p:txBody>
              <a:bodyPr>
                <a:normAutofit lnSpcReduction="10000"/>
              </a:bodyPr>
              <a:lstStyle/>
              <a:p>
                <a:r>
                  <a:rPr lang="pt-BR" dirty="0"/>
                  <a:t>Qual é a derivada do erro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r>
                          <a:rPr lang="pt-BR" b="0" i="1" smtClean="0">
                            <a:latin typeface="Cambria Math" panose="02040503050406030204" pitchFamily="18" charset="0"/>
                          </a:rPr>
                          <m:t>∗</m:t>
                        </m:r>
                      </m:sup>
                    </m:sSup>
                  </m:oMath>
                </a14:m>
                <a:r>
                  <a:rPr lang="pt-BR" dirty="0"/>
                  <a:t> em relação à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1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i="0" dirty="0"/>
                            <m:t> </m:t>
                          </m:r>
                        </m:den>
                      </m:f>
                      <m:r>
                        <a:rPr lang="pt-BR" i="1">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groupChr>
                            </m:e>
                            <m:lim>
                              <m:acc>
                                <m:accPr>
                                  <m:chr m:val="̂"/>
                                  <m:ctrlPr>
                                    <a:rPr lang="pt-BR" i="1">
                                      <a:latin typeface="Cambria Math" panose="02040503050406030204" pitchFamily="18" charset="0"/>
                                    </a:rPr>
                                  </m:ctrlPr>
                                </m:accPr>
                                <m:e>
                                  <m:r>
                                    <a:rPr lang="pt-BR" i="1">
                                      <a:latin typeface="Cambria Math" panose="02040503050406030204" pitchFamily="18" charset="0"/>
                                    </a:rPr>
                                    <m:t>𝑦</m:t>
                                  </m:r>
                                </m:e>
                              </m:acc>
                            </m:lim>
                          </m:limLow>
                        </m:e>
                      </m:d>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r>
                        <a:rPr lang="pt-BR" b="0" i="1" smtClean="0">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oMath>
                  </m:oMathPara>
                </a14:m>
                <a:endParaRPr lang="pt-BR" dirty="0"/>
              </a:p>
              <a:p>
                <a:r>
                  <a:rPr lang="pt-BR" b="1" dirty="0"/>
                  <a:t>Exemplos</a:t>
                </a:r>
                <a:r>
                  <a:rPr lang="pt-BR" dirty="0"/>
                  <a:t>: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p:txBody>
          </p:sp>
        </mc:Choice>
        <mc:Fallback xmlns="">
          <p:sp>
            <p:nvSpPr>
              <p:cNvPr id="3" name="Espaço Reservado para Conteúdo 2">
                <a:extLst>
                  <a:ext uri="{FF2B5EF4-FFF2-40B4-BE49-F238E27FC236}">
                    <a16:creationId xmlns:a16="http://schemas.microsoft.com/office/drawing/2014/main" id="{322D5A62-CE6E-1AA5-57FE-1C7135D815BD}"/>
                  </a:ext>
                </a:extLst>
              </p:cNvPr>
              <p:cNvSpPr>
                <a:spLocks noGrp="1" noRot="1" noChangeAspect="1" noMove="1" noResize="1" noEditPoints="1" noAdjustHandles="1" noChangeArrowheads="1" noChangeShapeType="1" noTextEdit="1"/>
              </p:cNvSpPr>
              <p:nvPr>
                <p:ph idx="1"/>
              </p:nvPr>
            </p:nvSpPr>
            <p:spPr>
              <a:xfrm>
                <a:off x="838199" y="2752928"/>
                <a:ext cx="11353801" cy="4105071"/>
              </a:xfrm>
              <a:blipFill>
                <a:blip r:embed="rId3"/>
                <a:stretch>
                  <a:fillRect l="-913" t="-3418" b="-2526"/>
                </a:stretch>
              </a:blipFill>
            </p:spPr>
            <p:txBody>
              <a:bodyPr/>
              <a:lstStyle/>
              <a:p>
                <a:r>
                  <a:rPr lang="en-US">
                    <a:noFill/>
                  </a:rPr>
                  <a:t> </a:t>
                </a:r>
              </a:p>
            </p:txBody>
          </p:sp>
        </mc:Fallback>
      </mc:AlternateContent>
      <p:grpSp>
        <p:nvGrpSpPr>
          <p:cNvPr id="56" name="Grupo 55"/>
          <p:cNvGrpSpPr/>
          <p:nvPr/>
        </p:nvGrpSpPr>
        <p:grpSpPr>
          <a:xfrm>
            <a:off x="3021324" y="1690688"/>
            <a:ext cx="6149352" cy="708828"/>
            <a:chOff x="2824117" y="1825624"/>
            <a:chExt cx="6149352" cy="708828"/>
          </a:xfrm>
        </p:grpSpPr>
        <p:grpSp>
          <p:nvGrpSpPr>
            <p:cNvPr id="57" name="Group 19">
              <a:extLst>
                <a:ext uri="{FF2B5EF4-FFF2-40B4-BE49-F238E27FC236}">
                  <a16:creationId xmlns:a16="http://schemas.microsoft.com/office/drawing/2014/main" xmlns=""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xmlns=""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xmlns=""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xmlns=""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xmlns=""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xmlns=""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xmlns=""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xmlns=""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xmlns=""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xmlns=""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xmlns=""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xmlns=""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xmlns=""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xmlns=""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xmlns=""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xmlns=""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xmlns=""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xmlns=""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xmlns=""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a16="http://schemas.microsoft.com/office/drawing/2014/main" xmlns=""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D546424F-D5CC-72B1-6C68-B4AC1D5EF236}"/>
                  </a:ext>
                </a:extLst>
              </p:cNvPr>
              <p:cNvSpPr txBox="1"/>
              <p:nvPr/>
            </p:nvSpPr>
            <p:spPr>
              <a:xfrm>
                <a:off x="8729074" y="6495016"/>
                <a:ext cx="3462926" cy="362984"/>
              </a:xfrm>
              <a:prstGeom prst="rect">
                <a:avLst/>
              </a:prstGeom>
              <a:noFill/>
            </p:spPr>
            <p:txBody>
              <a:bodyPr wrap="square">
                <a:spAutoFit/>
              </a:bodyPr>
              <a:lstStyle/>
              <a:p>
                <a14:m>
                  <m:oMath xmlns:m="http://schemas.openxmlformats.org/officeDocument/2006/math">
                    <m:r>
                      <a:rPr lang="pt-BR" b="1" i="1" noProof="0" smtClean="0">
                        <a:latin typeface="Cambria Math" panose="02040503050406030204" pitchFamily="18" charset="0"/>
                      </a:rPr>
                      <m:t>∗</m:t>
                    </m:r>
                  </m:oMath>
                </a14:m>
                <a:r>
                  <a:rPr lang="pt-BR" sz="1200" noProof="0" dirty="0"/>
                  <a:t> Vamos considerar o erro de apenas uma amostra.</a:t>
                </a:r>
              </a:p>
            </p:txBody>
          </p:sp>
        </mc:Choice>
        <mc:Fallback xmlns="">
          <p:sp>
            <p:nvSpPr>
              <p:cNvPr id="5" name="CaixaDeTexto 4">
                <a:extLst>
                  <a:ext uri="{FF2B5EF4-FFF2-40B4-BE49-F238E27FC236}">
                    <a16:creationId xmlns:a16="http://schemas.microsoft.com/office/drawing/2014/main" id="{D546424F-D5CC-72B1-6C68-B4AC1D5EF236}"/>
                  </a:ext>
                </a:extLst>
              </p:cNvPr>
              <p:cNvSpPr txBox="1">
                <a:spLocks noRot="1" noChangeAspect="1" noMove="1" noResize="1" noEditPoints="1" noAdjustHandles="1" noChangeArrowheads="1" noChangeShapeType="1" noTextEdit="1"/>
              </p:cNvSpPr>
              <p:nvPr/>
            </p:nvSpPr>
            <p:spPr>
              <a:xfrm>
                <a:off x="8729074" y="6495016"/>
                <a:ext cx="3462926" cy="362984"/>
              </a:xfrm>
              <a:prstGeom prst="rect">
                <a:avLst/>
              </a:prstGeom>
              <a:blipFill>
                <a:blip r:embed="rId18"/>
                <a:stretch>
                  <a:fillRect b="-10000"/>
                </a:stretch>
              </a:blipFill>
            </p:spPr>
            <p:txBody>
              <a:bodyPr/>
              <a:lstStyle/>
              <a:p>
                <a:r>
                  <a:rPr lang="en-US">
                    <a:noFill/>
                  </a:rPr>
                  <a:t> </a:t>
                </a:r>
              </a:p>
            </p:txBody>
          </p:sp>
        </mc:Fallback>
      </mc:AlternateContent>
    </p:spTree>
    <p:extLst>
      <p:ext uri="{BB962C8B-B14F-4D97-AF65-F5344CB8AC3E}">
        <p14:creationId xmlns:p14="http://schemas.microsoft.com/office/powerpoint/2010/main" val="9245302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das funções de ativação em relação às ativações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033"/>
                </a:stretch>
              </a:blipFill>
            </p:spPr>
            <p:txBody>
              <a:bodyPr/>
              <a:lstStyle/>
              <a:p>
                <a:r>
                  <a:rPr lang="en-US">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1E90DBE-E2F7-6A62-23BE-53B140536553}"/>
                  </a:ext>
                </a:extLst>
              </p:cNvPr>
              <p:cNvSpPr>
                <a:spLocks noGrp="1"/>
              </p:cNvSpPr>
              <p:nvPr>
                <p:ph idx="1"/>
              </p:nvPr>
            </p:nvSpPr>
            <p:spPr>
              <a:xfrm>
                <a:off x="838201" y="1825624"/>
                <a:ext cx="11216148" cy="5032375"/>
              </a:xfrm>
            </p:spPr>
            <p:txBody>
              <a:bodyPr>
                <a:normAutofit/>
              </a:bodyPr>
              <a:lstStyle/>
              <a:p>
                <a:r>
                  <a:rPr lang="pt-BR" dirty="0"/>
                  <a:t>A rede do exemplo possui </a:t>
                </a:r>
                <a:r>
                  <a:rPr lang="pt-BR" b="1" dirty="0">
                    <a:solidFill>
                      <a:schemeClr val="accent2"/>
                    </a:solidFill>
                  </a:rPr>
                  <a:t>uma camada oculta </a:t>
                </a:r>
                <a:r>
                  <a:rPr lang="pt-BR" dirty="0"/>
                  <a:t>com </a:t>
                </a:r>
                <a:r>
                  <a:rPr lang="pt-BR" b="1" dirty="0">
                    <a:solidFill>
                      <a:srgbClr val="00B050"/>
                    </a:solidFill>
                  </a:rPr>
                  <a:t>dois nós </a:t>
                </a:r>
                <a:r>
                  <a:rPr lang="pt-BR" dirty="0"/>
                  <a:t>e </a:t>
                </a:r>
                <a:r>
                  <a:rPr lang="pt-BR" b="1" dirty="0">
                    <a:solidFill>
                      <a:schemeClr val="accent2"/>
                    </a:solidFill>
                  </a:rPr>
                  <a:t>uma camada de saída </a:t>
                </a:r>
                <a:r>
                  <a:rPr lang="pt-BR" dirty="0"/>
                  <a:t>com </a:t>
                </a:r>
                <a:r>
                  <a:rPr lang="pt-BR" b="1" dirty="0">
                    <a:solidFill>
                      <a:srgbClr val="00B050"/>
                    </a:solidFill>
                  </a:rPr>
                  <a:t>um único nó</a:t>
                </a:r>
                <a:r>
                  <a:rPr lang="pt-BR" dirty="0"/>
                  <a:t>,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𝑀</m:t>
                    </m:r>
                    <m:r>
                      <a:rPr lang="pt-BR" b="0" i="1" smtClean="0">
                        <a:latin typeface="Cambria Math" panose="02040503050406030204" pitchFamily="18" charset="0"/>
                      </a:rPr>
                      <m:t>=2</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b="0" i="1" smtClean="0">
                        <a:latin typeface="Cambria Math" panose="02040503050406030204" pitchFamily="18" charset="0"/>
                      </a:rPr>
                      <m:t>𝑦</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o índice </a:t>
                </a:r>
                <a14:m>
                  <m:oMath xmlns:m="http://schemas.openxmlformats.org/officeDocument/2006/math">
                    <m:r>
                      <a:rPr lang="pt-BR" i="1">
                        <a:latin typeface="Cambria Math" panose="02040503050406030204" pitchFamily="18" charset="0"/>
                      </a:rPr>
                      <m:t>𝑛</m:t>
                    </m:r>
                  </m:oMath>
                </a14:m>
                <a:r>
                  <a:rPr lang="pt-BR" dirty="0"/>
                  <a:t> não é apresentado, pois temos apenas uma amostra.</a:t>
                </a:r>
              </a:p>
              <a:p>
                <a:r>
                  <a:rPr lang="pt-BR" dirty="0"/>
                  <a:t>Por sua vez, 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1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acc>
                          <m:accPr>
                            <m:chr m:val="̂"/>
                            <m:ctrlPr>
                              <a:rPr lang="pt-BR" sz="1400" i="1">
                                <a:latin typeface="Cambria Math" panose="02040503050406030204" pitchFamily="18" charset="0"/>
                              </a:rPr>
                            </m:ctrlPr>
                          </m:accPr>
                          <m:e>
                            <m:r>
                              <a:rPr lang="pt-BR" sz="1400" i="1">
                                <a:latin typeface="Cambria Math" panose="02040503050406030204" pitchFamily="18" charset="0"/>
                              </a:rPr>
                              <m:t>𝑦</m:t>
                            </m:r>
                          </m:e>
                        </m:acc>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a:blip r:embed="rId3"/>
                <a:stretch>
                  <a:fillRect r="-475" b="-8197"/>
                </a:stretch>
              </a:blipFill>
            </p:spPr>
            <p:txBody>
              <a:bodyPr/>
              <a:lstStyle/>
              <a:p>
                <a:r>
                  <a:rPr lang="en-US">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A5869CA-BCE3-3D01-FEAF-9AD088F17496}"/>
                  </a:ext>
                </a:extLst>
              </p:cNvPr>
              <p:cNvSpPr>
                <a:spLocks noGrp="1"/>
              </p:cNvSpPr>
              <p:nvPr>
                <p:ph idx="1"/>
              </p:nvPr>
            </p:nvSpPr>
            <p:spPr>
              <a:xfrm>
                <a:off x="5153668" y="1825624"/>
                <a:ext cx="6900680" cy="5032375"/>
              </a:xfrm>
            </p:spPr>
            <p:txBody>
              <a:bodyPr>
                <a:normAutofit/>
              </a:bodyPr>
              <a:lstStyle/>
              <a:p>
                <a:r>
                  <a:rPr lang="pt-BR" dirty="0"/>
                  <a:t>Vamos supor que os pesos de todos os nós são </a:t>
                </a:r>
                <a:r>
                  <a:rPr lang="pt-BR" b="1" dirty="0">
                    <a:solidFill>
                      <a:schemeClr val="accent2"/>
                    </a:solidFill>
                  </a:rPr>
                  <a:t>inicializados de forma aleatória</a:t>
                </a:r>
                <a:r>
                  <a:rPr lang="pt-BR" dirty="0"/>
                  <a:t>.</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a:p>
                <a:r>
                  <a:rPr lang="pt-BR" dirty="0"/>
                  <a:t>Agora, na etapa reversa, calculamos a derivada do erro em relação aos pesos.</a:t>
                </a:r>
              </a:p>
            </p:txBody>
          </p:sp>
        </mc:Choice>
        <mc:Fallback xmlns="">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5153668" y="1825624"/>
                <a:ext cx="6900680" cy="5032375"/>
              </a:xfrm>
              <a:blipFill>
                <a:blip r:embed="rId2"/>
                <a:stretch>
                  <a:fillRect l="-1590" t="-1937" r="-2208"/>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xmlns="" id="{BCE8B423-576F-E2F8-7B15-7838E17243F0}"/>
              </a:ext>
            </a:extLst>
          </p:cNvPr>
          <p:cNvGrpSpPr/>
          <p:nvPr/>
        </p:nvGrpSpPr>
        <p:grpSpPr>
          <a:xfrm>
            <a:off x="478120" y="2301964"/>
            <a:ext cx="4210068" cy="2799055"/>
            <a:chOff x="7143732" y="2250757"/>
            <a:chExt cx="4210068" cy="2799055"/>
          </a:xfrm>
        </p:grpSpPr>
        <p:pic>
          <p:nvPicPr>
            <p:cNvPr id="5" name="Picture 4">
              <a:extLst>
                <a:ext uri="{FF2B5EF4-FFF2-40B4-BE49-F238E27FC236}">
                  <a16:creationId xmlns:a16="http://schemas.microsoft.com/office/drawing/2014/main" xmlns=""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xmlns=""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xmlns=""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xmlns=""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xmlns=""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xmlns=""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groupChr>
                            </m:e>
                            <m:lim>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lim>
                          </m:limLow>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378"/>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85188"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a:p>
                <a:r>
                  <a:rPr lang="pt-BR" dirty="0"/>
                  <a:t>Percebam que todos os termos são iguais, exceto o último.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85188" cy="5032376"/>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do erro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b="0" i="1" smtClean="0">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a:blip r:embed="rId3"/>
                <a:stretch>
                  <a:fillRect l="-976" t="-1937"/>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xmlns=""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xmlns=""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Chave Direita 6">
            <a:extLst>
              <a:ext uri="{FF2B5EF4-FFF2-40B4-BE49-F238E27FC236}">
                <a16:creationId xmlns:a16="http://schemas.microsoft.com/office/drawing/2014/main" xmlns="" id="{E0A6E839-1EA0-98AB-D24F-9568344CC691}"/>
              </a:ext>
            </a:extLst>
          </p:cNvPr>
          <p:cNvSpPr/>
          <p:nvPr/>
        </p:nvSpPr>
        <p:spPr>
          <a:xfrm rot="5400000">
            <a:off x="6664115" y="2346272"/>
            <a:ext cx="281940" cy="4632109"/>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CaixaDeTexto 7">
            <a:extLst>
              <a:ext uri="{FF2B5EF4-FFF2-40B4-BE49-F238E27FC236}">
                <a16:creationId xmlns:a16="http://schemas.microsoft.com/office/drawing/2014/main" xmlns="" id="{8FA274DA-B9C8-DFB0-A01A-D2F515F53076}"/>
              </a:ext>
            </a:extLst>
          </p:cNvPr>
          <p:cNvSpPr txBox="1"/>
          <p:nvPr/>
        </p:nvSpPr>
        <p:spPr>
          <a:xfrm>
            <a:off x="6385098" y="4753567"/>
            <a:ext cx="839974" cy="369332"/>
          </a:xfrm>
          <a:prstGeom prst="rect">
            <a:avLst/>
          </a:prstGeom>
          <a:noFill/>
        </p:spPr>
        <p:txBody>
          <a:bodyPr wrap="none" rtlCol="0">
            <a:spAutoFit/>
          </a:bodyPr>
          <a:lstStyle/>
          <a:p>
            <a:r>
              <a:rPr lang="pt-BR" dirty="0"/>
              <a:t>escalar</a:t>
            </a:r>
            <a:endParaRPr lang="en-US" dirty="0"/>
          </a:p>
        </p:txBody>
      </p:sp>
    </p:spTree>
    <p:extLst>
      <p:ext uri="{BB962C8B-B14F-4D97-AF65-F5344CB8AC3E}">
        <p14:creationId xmlns:p14="http://schemas.microsoft.com/office/powerpoint/2010/main" val="41837869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xmlns="" id="{435C5349-4D31-D868-8BED-15F10A4DB8DE}"/>
                  </a:ext>
                </a:extLst>
              </p:cNvPr>
              <p:cNvSpPr txBox="1"/>
              <p:nvPr/>
            </p:nvSpPr>
            <p:spPr>
              <a:xfrm>
                <a:off x="288372" y="1733279"/>
                <a:ext cx="11720352"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a taxa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faça: </a:t>
                </a:r>
              </a:p>
              <a:p>
                <a:pPr marL="1200150" lvl="2" indent="-285750">
                  <a:buFont typeface="Wingdings" panose="05000000000000000000" pitchFamily="2" charset="2"/>
                  <a:buChar char="§"/>
                </a:pPr>
                <a:r>
                  <a:rPr lang="pt-BR" sz="2000" dirty="0"/>
                  <a:t>Retire uma amostra aleatoriamente sem reposição do conjunto, a apresente à rede e calcule o erro.</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i="1">
                            <a:latin typeface="Cambria Math" panose="02040503050406030204" pitchFamily="18" charset="0"/>
                            <a:ea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0"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288372" y="1733279"/>
                <a:ext cx="11720352" cy="3391441"/>
              </a:xfrm>
              <a:prstGeom prst="rect">
                <a:avLst/>
              </a:prstGeom>
              <a:blipFill>
                <a:blip r:embed="rId3"/>
                <a:stretch>
                  <a:fillRect l="-416"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2F2C9DE9-D545-65C4-A22D-AD667E28EA40}"/>
                  </a:ext>
                </a:extLst>
              </p:cNvPr>
              <p:cNvSpPr txBox="1"/>
              <p:nvPr/>
            </p:nvSpPr>
            <p:spPr>
              <a:xfrm>
                <a:off x="288372" y="5167312"/>
                <a:ext cx="11720352" cy="1584473"/>
              </a:xfrm>
              <a:prstGeom prst="rect">
                <a:avLst/>
              </a:prstGeom>
              <a:noFill/>
            </p:spPr>
            <p:txBody>
              <a:bodyPr wrap="square">
                <a:spAutoFit/>
              </a:bodyPr>
              <a:lstStyle/>
              <a:p>
                <a:r>
                  <a:rPr lang="pt-BR" sz="2000" dirty="0">
                    <a:ea typeface="Cambria Math" panose="02040503050406030204" pitchFamily="18" charset="0"/>
                  </a:rPr>
                  <a:t>onde</a:t>
                </a:r>
                <a:r>
                  <a:rPr lang="pt-BR" sz="2000" dirty="0"/>
                  <a:t> </a:t>
                </a:r>
                <a14:m>
                  <m:oMath xmlns:m="http://schemas.openxmlformats.org/officeDocument/2006/math">
                    <m:r>
                      <a:rPr lang="pt-BR" sz="2000" i="1">
                        <a:latin typeface="Cambria Math" panose="02040503050406030204" pitchFamily="18" charset="0"/>
                      </a:rPr>
                      <m:t>𝐿</m:t>
                    </m:r>
                  </m:oMath>
                </a14:m>
                <a:r>
                  <a:rPr lang="pt-BR" sz="2000" dirty="0">
                    <a:ea typeface="Cambria Math" panose="02040503050406030204" pitchFamily="18" charset="0"/>
                  </a:rPr>
                  <a:t> é o número de amostras usadas para estimar o gradiente,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b="1"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b="0" i="1" smtClean="0">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b="1" dirty="0"/>
                  <a:t>OBS</a:t>
                </a:r>
                <a:r>
                  <a:rPr lang="pt-BR" sz="2000" dirty="0"/>
                  <a:t>.: O pseudocódigo apresentado </a:t>
                </a:r>
                <a:r>
                  <a:rPr lang="pt-BR" sz="2000" b="1" dirty="0">
                    <a:solidFill>
                      <a:srgbClr val="00B050"/>
                    </a:solidFill>
                  </a:rPr>
                  <a:t>implementa qualquer versão do gradiente descendente </a:t>
                </a:r>
                <a:r>
                  <a:rPr lang="pt-BR" sz="2000" dirty="0"/>
                  <a:t>variando-se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288372" y="5167312"/>
                <a:ext cx="11720352" cy="1584473"/>
              </a:xfrm>
              <a:prstGeom prst="rect">
                <a:avLst/>
              </a:prstGeom>
              <a:blipFill>
                <a:blip r:embed="rId4"/>
                <a:stretch>
                  <a:fillRect l="-520" b="-6154"/>
                </a:stretch>
              </a:blipFill>
            </p:spPr>
            <p:txBody>
              <a:bodyPr/>
              <a:lstStyle/>
              <a:p>
                <a:r>
                  <a:rPr lang="en-US">
                    <a:noFill/>
                  </a:rPr>
                  <a:t> </a:t>
                </a:r>
              </a:p>
            </p:txBody>
          </p:sp>
        </mc:Fallback>
      </mc:AlternateContent>
      <p:sp>
        <p:nvSpPr>
          <p:cNvPr id="8" name="Título 1">
            <a:extLst>
              <a:ext uri="{FF2B5EF4-FFF2-40B4-BE49-F238E27FC236}">
                <a16:creationId xmlns:a16="http://schemas.microsoft.com/office/drawing/2014/main" xmlns=""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a:t>
            </a:r>
            <a:r>
              <a:rPr lang="pt-BR" b="1" dirty="0">
                <a:solidFill>
                  <a:srgbClr val="00B050"/>
                </a:solidFill>
              </a:rPr>
              <a:t>usamos bibliotecas que automatizam o processo</a:t>
            </a:r>
            <a:r>
              <a:rPr lang="pt-BR" dirty="0"/>
              <a:t>.</a:t>
            </a:r>
          </a:p>
        </p:txBody>
      </p:sp>
      <p:pic>
        <p:nvPicPr>
          <p:cNvPr id="4" name="Imagem 3"/>
          <p:cNvPicPr>
            <a:picLocks noChangeAspect="1"/>
          </p:cNvPicPr>
          <p:nvPr/>
        </p:nvPicPr>
        <p:blipFill rotWithShape="1">
          <a:blip r:embed="rId3">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a16="http://schemas.microsoft.com/office/drawing/2014/main" xmlns=""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irregularidades como</a:t>
            </a:r>
          </a:p>
          <a:p>
            <a:pPr lvl="1">
              <a:buFont typeface="Wingdings" panose="05000000000000000000" pitchFamily="2" charset="2"/>
              <a:buChar char="§"/>
            </a:pPr>
            <a:r>
              <a:rPr lang="pt-BR" dirty="0"/>
              <a:t>Pontos de sela: o erro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Platôs: região plana com erro alto.</a:t>
            </a:r>
          </a:p>
          <a:p>
            <a:pPr lvl="1">
              <a:buFont typeface="Wingdings" panose="05000000000000000000" pitchFamily="2" charset="2"/>
              <a:buChar char="§"/>
            </a:pPr>
            <a:r>
              <a:rPr lang="pt-BR" dirty="0"/>
              <a:t>etc.</a:t>
            </a:r>
          </a:p>
        </p:txBody>
      </p:sp>
      <p:pic>
        <p:nvPicPr>
          <p:cNvPr id="4" name="Picture 2" descr="challenges-1">
            <a:extLst>
              <a:ext uri="{FF2B5EF4-FFF2-40B4-BE49-F238E27FC236}">
                <a16:creationId xmlns:a16="http://schemas.microsoft.com/office/drawing/2014/main" xmlns=""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DF7349C4-A2CF-FB70-48DB-3FC8E5CCE268}"/>
              </a:ext>
            </a:extLst>
          </p:cNvPr>
          <p:cNvSpPr txBox="1"/>
          <p:nvPr/>
        </p:nvSpPr>
        <p:spPr>
          <a:xfrm>
            <a:off x="7555218" y="6581000"/>
            <a:ext cx="4636782" cy="276999"/>
          </a:xfrm>
          <a:prstGeom prst="rect">
            <a:avLst/>
          </a:prstGeom>
          <a:noFill/>
        </p:spPr>
        <p:txBody>
          <a:bodyPr wrap="none" rtlCol="0">
            <a:spAutoFit/>
          </a:bodyPr>
          <a:lstStyle/>
          <a:p>
            <a:r>
              <a:rPr lang="pt-BR" sz="1200" b="1" dirty="0"/>
              <a:t>OBS</a:t>
            </a:r>
            <a:r>
              <a:rPr lang="pt-BR" sz="1200" dirty="0"/>
              <a:t>.: O anexo II tem um breve explicação sobre pontos de sela e platôs.</a:t>
            </a:r>
            <a:endParaRPr lang="en-US" sz="1200" dirty="0"/>
          </a:p>
        </p:txBody>
      </p:sp>
    </p:spTree>
    <p:extLst>
      <p:ext uri="{BB962C8B-B14F-4D97-AF65-F5344CB8AC3E}">
        <p14:creationId xmlns:p14="http://schemas.microsoft.com/office/powerpoint/2010/main" val="24805446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Superfícies de erro irregulares</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a:p>
            <a:r>
              <a:rPr lang="pt-BR" dirty="0"/>
              <a:t>Ou seja, as </a:t>
            </a:r>
            <a:r>
              <a:rPr lang="pt-BR" b="1" dirty="0">
                <a:solidFill>
                  <a:srgbClr val="7030A0"/>
                </a:solidFill>
              </a:rPr>
              <a:t>irregularidades dificultam o aprendizado</a:t>
            </a:r>
            <a:r>
              <a:rPr lang="pt-BR" dirty="0"/>
              <a:t>.</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a16="http://schemas.microsoft.com/office/drawing/2014/main" xmlns="" id="{FC5297BC-C988-C160-D024-5B018A5B1D85}"/>
              </a:ext>
            </a:extLst>
          </p:cNvPr>
          <p:cNvSpPr>
            <a:spLocks noGrp="1"/>
          </p:cNvSpPr>
          <p:nvPr>
            <p:ph idx="1"/>
          </p:nvPr>
        </p:nvSpPr>
        <p:spPr>
          <a:xfrm>
            <a:off x="5317588" y="1825624"/>
            <a:ext cx="6874412" cy="5032375"/>
          </a:xfrm>
        </p:spPr>
        <p:txBody>
          <a:bodyPr>
            <a:normAutofit/>
          </a:bodyPr>
          <a:lstStyle/>
          <a:p>
            <a:r>
              <a:rPr lang="pt-BR" sz="2800" dirty="0"/>
              <a:t>Felizmente, em </a:t>
            </a:r>
            <a:r>
              <a:rPr lang="pt-BR" dirty="0"/>
              <a:t>geral</a:t>
            </a:r>
            <a:r>
              <a:rPr lang="pt-BR" sz="2800" dirty="0"/>
              <a:t>, no caso dos pontos de mínimo, </a:t>
            </a:r>
            <a:r>
              <a:rPr lang="pt-BR" sz="2800" b="1" dirty="0">
                <a:solidFill>
                  <a:srgbClr val="7030A0"/>
                </a:solidFill>
              </a:rPr>
              <a:t>quase todos os mínimos locais têm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porque o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a16="http://schemas.microsoft.com/office/drawing/2014/main" xmlns=""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a16="http://schemas.microsoft.com/office/drawing/2014/main" xmlns=""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206878" y="2514763"/>
            <a:ext cx="4632410" cy="31302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CE6215-F8F6-B2CE-55D3-12C93532E35F}"/>
              </a:ext>
            </a:extLst>
          </p:cNvPr>
          <p:cNvSpPr>
            <a:spLocks noGrp="1"/>
          </p:cNvSpPr>
          <p:nvPr>
            <p:ph type="title"/>
          </p:nvPr>
        </p:nvSpPr>
        <p:spPr>
          <a:xfrm>
            <a:off x="838199" y="365125"/>
            <a:ext cx="11145253" cy="1325563"/>
          </a:xfrm>
        </p:spPr>
        <p:txBody>
          <a:bodyPr/>
          <a:lstStyle/>
          <a:p>
            <a:r>
              <a:rPr lang="pt-BR" dirty="0"/>
              <a:t>Como avaliar se o erro encontrado é suficientemente bom?</a:t>
            </a:r>
          </a:p>
        </p:txBody>
      </p:sp>
      <p:sp>
        <p:nvSpPr>
          <p:cNvPr id="3" name="Espaço Reservado para Conteúdo 2">
            <a:extLst>
              <a:ext uri="{FF2B5EF4-FFF2-40B4-BE49-F238E27FC236}">
                <a16:creationId xmlns:a16="http://schemas.microsoft.com/office/drawing/2014/main" xmlns="" id="{9A61C462-DCAD-E604-85FB-9F3661AB03C1}"/>
              </a:ext>
            </a:extLst>
          </p:cNvPr>
          <p:cNvSpPr>
            <a:spLocks noGrp="1"/>
          </p:cNvSpPr>
          <p:nvPr>
            <p:ph idx="1"/>
          </p:nvPr>
        </p:nvSpPr>
        <p:spPr>
          <a:xfrm>
            <a:off x="838200" y="1825624"/>
            <a:ext cx="11353802" cy="5032375"/>
          </a:xfrm>
        </p:spPr>
        <p:txBody>
          <a:bodyPr>
            <a:normAutofit lnSpcReduction="10000"/>
          </a:bodyPr>
          <a:lstStyle/>
          <a:p>
            <a:r>
              <a:rPr lang="pt-BR" dirty="0"/>
              <a:t>Devemos </a:t>
            </a:r>
            <a:r>
              <a:rPr lang="pt-BR" b="1" dirty="0">
                <a:solidFill>
                  <a:srgbClr val="7030A0"/>
                </a:solidFill>
              </a:rPr>
              <a:t>avaliar a generalização </a:t>
            </a:r>
            <a:r>
              <a:rPr lang="pt-BR" dirty="0"/>
              <a:t>em dados não utilizados no </a:t>
            </a:r>
            <a:r>
              <a:rPr lang="pt-BR" dirty="0" smtClean="0"/>
              <a:t>treinamento.</a:t>
            </a:r>
            <a:endParaRPr lang="pt-BR" noProof="0" dirty="0"/>
          </a:p>
          <a:p>
            <a:pPr lvl="1">
              <a:buFont typeface="Wingdings" panose="05000000000000000000" pitchFamily="2" charset="2"/>
              <a:buChar char="§"/>
            </a:pPr>
            <a:r>
              <a:rPr lang="pt-BR" noProof="0" dirty="0"/>
              <a:t>O modelo é considerado adequado se </a:t>
            </a:r>
            <a:r>
              <a:rPr lang="pt-BR" dirty="0"/>
              <a:t>apresenta </a:t>
            </a:r>
            <a:r>
              <a:rPr lang="pt-BR" b="1" dirty="0">
                <a:solidFill>
                  <a:srgbClr val="00B050"/>
                </a:solidFill>
              </a:rPr>
              <a:t>bom desempenho fora do conjunto de </a:t>
            </a:r>
            <a:r>
              <a:rPr lang="pt-BR" b="1" dirty="0" smtClean="0">
                <a:solidFill>
                  <a:srgbClr val="00B050"/>
                </a:solidFill>
              </a:rPr>
              <a:t>treinamento</a:t>
            </a:r>
            <a:r>
              <a:rPr lang="pt-BR" dirty="0" smtClean="0"/>
              <a:t> </a:t>
            </a:r>
            <a:r>
              <a:rPr lang="pt-BR" dirty="0"/>
              <a:t>(i.e., conjuntos de validação e teste).</a:t>
            </a:r>
            <a:endParaRPr lang="pt-BR" noProof="0" dirty="0"/>
          </a:p>
          <a:p>
            <a:r>
              <a:rPr lang="pt-BR" dirty="0"/>
              <a:t>Como avaliar a estabilidade da otimização?</a:t>
            </a:r>
          </a:p>
          <a:p>
            <a:pPr lvl="1">
              <a:buFont typeface="Wingdings" panose="05000000000000000000" pitchFamily="2" charset="2"/>
              <a:buChar char="§"/>
            </a:pPr>
            <a:r>
              <a:rPr lang="pt-BR" dirty="0"/>
              <a:t>Repetir o treinamento com </a:t>
            </a:r>
            <a:r>
              <a:rPr lang="pt-BR" b="1" dirty="0"/>
              <a:t>diferentes inicializações aleatórias (i.e., pesos)</a:t>
            </a:r>
            <a:r>
              <a:rPr lang="pt-BR" dirty="0"/>
              <a:t>. </a:t>
            </a:r>
          </a:p>
          <a:p>
            <a:pPr lvl="1">
              <a:buFont typeface="Wingdings" panose="05000000000000000000" pitchFamily="2" charset="2"/>
              <a:buChar char="§"/>
            </a:pPr>
            <a:r>
              <a:rPr lang="pt-BR" dirty="0"/>
              <a:t>Comparar os erros e as métricas obtidas. </a:t>
            </a:r>
          </a:p>
          <a:p>
            <a:pPr lvl="2">
              <a:buFont typeface="Courier New" panose="02070309020205020404" pitchFamily="49" charset="0"/>
              <a:buChar char="o"/>
            </a:pPr>
            <a:r>
              <a:rPr lang="pt-BR" dirty="0"/>
              <a:t>Resultados semelhantes: evidência de </a:t>
            </a:r>
            <a:r>
              <a:rPr lang="pt-BR" b="1" dirty="0"/>
              <a:t>estabilidade do processo de otimização</a:t>
            </a:r>
            <a:r>
              <a:rPr lang="pt-BR" dirty="0"/>
              <a:t>. </a:t>
            </a:r>
          </a:p>
          <a:p>
            <a:pPr lvl="3">
              <a:buFont typeface="Wingdings" panose="05000000000000000000" pitchFamily="2" charset="2"/>
              <a:buChar char="ü"/>
            </a:pPr>
            <a:r>
              <a:rPr lang="pt-BR" dirty="0"/>
              <a:t>Se diferentes inicializações convergem para soluções de baixo erro, temos evidência de que o treinamento é estável e que uma região de baixa perda é facilmente alcançada.</a:t>
            </a:r>
          </a:p>
          <a:p>
            <a:pPr lvl="2">
              <a:buFont typeface="Courier New" panose="02070309020205020404" pitchFamily="49" charset="0"/>
              <a:buChar char="o"/>
            </a:pPr>
            <a:r>
              <a:rPr lang="pt-BR" dirty="0"/>
              <a:t>Resultados muito diferentes: devemos investigar pois pode ser </a:t>
            </a:r>
            <a:r>
              <a:rPr lang="pt-BR" b="1" dirty="0"/>
              <a:t>diferentes regiões/pontos de mínimo, taxa de aprendizado inadequada, sensibilidade à inicialização ou treinamento insuficiente.</a:t>
            </a:r>
          </a:p>
          <a:p>
            <a:r>
              <a:rPr lang="pt-BR" b="1" dirty="0"/>
              <a:t>Cuidado</a:t>
            </a:r>
            <a:r>
              <a:rPr lang="pt-BR" dirty="0"/>
              <a:t>: resultados semelhantes indicam estabilidade do treinamento, mas não garantem que o mínimo global foi encontrado.</a:t>
            </a:r>
          </a:p>
        </p:txBody>
      </p:sp>
    </p:spTree>
    <p:extLst>
      <p:ext uri="{BB962C8B-B14F-4D97-AF65-F5344CB8AC3E}">
        <p14:creationId xmlns:p14="http://schemas.microsoft.com/office/powerpoint/2010/main" val="27353689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32CB14AB-72E4-05EB-962C-F8B4618D0574}"/>
              </a:ext>
            </a:extLst>
          </p:cNvPr>
          <p:cNvSpPr>
            <a:spLocks noGrp="1"/>
          </p:cNvSpPr>
          <p:nvPr>
            <p:ph idx="1"/>
          </p:nvPr>
        </p:nvSpPr>
        <p:spPr/>
        <p:txBody>
          <a:bodyPr/>
          <a:lstStyle/>
          <a:p>
            <a:pPr marL="0" indent="0">
              <a:buNone/>
            </a:pPr>
            <a:r>
              <a:rPr lang="pt-BR" dirty="0">
                <a:hlinkClick r:id="rId3"/>
              </a:rPr>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6FFCAF9B-16C2-FD8E-435F-11A771041C8F}"/>
              </a:ext>
            </a:extLst>
          </p:cNvPr>
          <p:cNvSpPr>
            <a:spLocks noGrp="1"/>
          </p:cNvSpPr>
          <p:nvPr>
            <p:ph idx="1"/>
          </p:nvPr>
        </p:nvSpPr>
        <p:spPr>
          <a:xfrm>
            <a:off x="491613" y="2422478"/>
            <a:ext cx="11208773" cy="2013043"/>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5320337-AB8B-9B66-8DCB-4A4BF80A6194}"/>
              </a:ext>
            </a:extLst>
          </p:cNvPr>
          <p:cNvSpPr>
            <a:spLocks noGrp="1"/>
          </p:cNvSpPr>
          <p:nvPr>
            <p:ph type="title"/>
          </p:nvPr>
        </p:nvSpPr>
        <p:spPr/>
        <p:txBody>
          <a:bodyPr/>
          <a:lstStyle/>
          <a:p>
            <a:r>
              <a:rPr lang="pt-BR" dirty="0"/>
              <a:t>Derivada parcial do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7B17E2E8-C427-8782-DBAB-8F877FEA946C}"/>
                  </a:ext>
                </a:extLst>
              </p:cNvPr>
              <p:cNvSpPr>
                <a:spLocks noGrp="1"/>
              </p:cNvSpPr>
              <p:nvPr>
                <p:ph idx="1"/>
              </p:nvPr>
            </p:nvSpPr>
            <p:spPr>
              <a:xfrm>
                <a:off x="838199" y="2819048"/>
                <a:ext cx="11353801" cy="4038949"/>
              </a:xfrm>
            </p:spPr>
            <p:txBody>
              <a:bodyPr/>
              <a:lstStyle/>
              <a:p>
                <a:r>
                  <a:rPr lang="pt-BR" dirty="0"/>
                  <a:t>Vamos usar novamente a rede com </a:t>
                </a:r>
                <a:r>
                  <a:rPr lang="pt-BR" b="1" dirty="0"/>
                  <a:t>3 camadas</a:t>
                </a:r>
                <a:r>
                  <a:rPr lang="pt-BR" dirty="0"/>
                  <a:t> acima como exemplo. </a:t>
                </a:r>
              </a:p>
              <a:p>
                <a:r>
                  <a:rPr lang="pt-BR" dirty="0"/>
                  <a:t>Como já vimos, a derivada parcial do erro em relação ao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do nó da primeira camada é 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a:t>
                </a:r>
                <a:r>
                  <a:rPr lang="en-US" dirty="0" err="1"/>
                  <a:t>deixando</a:t>
                </a:r>
                <a:r>
                  <a:rPr lang="en-US" dirty="0"/>
                  <a:t> </a:t>
                </a:r>
                <a:r>
                  <a:rPr lang="en-US" dirty="0" err="1"/>
                  <a:t>apenas</a:t>
                </a:r>
                <a:r>
                  <a:rPr lang="en-US" dirty="0"/>
                  <a:t> as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xmlns=""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xmlns=""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xmlns=""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xmlns=""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xmlns=""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xmlns=""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xmlns=""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xmlns=""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xmlns=""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xmlns=""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xmlns=""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xmlns=""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xmlns=""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xmlns=""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xmlns=""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xmlns=""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xmlns=""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xmlns=""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xmlns=""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Derivada parcial do erro</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 rede com 3 camadas tem </a:t>
                </a:r>
              </a:p>
              <a:p>
                <a:pPr lvl="1">
                  <a:buFont typeface="Wingdings" panose="05000000000000000000" pitchFamily="2" charset="2"/>
                  <a:buChar char="§"/>
                </a:pPr>
                <a:r>
                  <a:rPr lang="pt-BR" dirty="0"/>
                  <a:t>3 derivadas parciais das funções de ativação</a:t>
                </a:r>
              </a:p>
              <a:p>
                <a:pPr lvl="1">
                  <a:buFont typeface="Wingdings" panose="05000000000000000000" pitchFamily="2" charset="2"/>
                  <a:buChar char="§"/>
                </a:pPr>
                <a:r>
                  <a:rPr lang="pt-BR" dirty="0"/>
                  <a:t>e 2 pesos que ligam a saída à camada de entrada</a:t>
                </a:r>
              </a:p>
              <a:p>
                <a:pPr marL="0" indent="0">
                  <a:buNone/>
                </a:pPr>
                <a:r>
                  <a:rPr lang="pt-BR" dirty="0"/>
                  <a:t>para a atualização do peso do nó da primeira camada.</a:t>
                </a:r>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𝑀</m:t>
                    </m:r>
                  </m:oMath>
                </a14:m>
                <a:r>
                  <a:rPr lang="pt-BR" dirty="0"/>
                  <a:t> derivadas parciais das funções de ativação </a:t>
                </a:r>
              </a:p>
              <a:p>
                <a:pPr lvl="1">
                  <a:buFont typeface="Wingdings" panose="05000000000000000000" pitchFamily="2" charset="2"/>
                  <a:buChar char="§"/>
                </a:pPr>
                <a:r>
                  <a:rPr lang="pt-BR" dirty="0"/>
                  <a:t>e </a:t>
                </a:r>
                <a14:m>
                  <m:oMath xmlns:m="http://schemas.openxmlformats.org/officeDocument/2006/math">
                    <m:r>
                      <a:rPr lang="pt-BR" i="1">
                        <a:latin typeface="Cambria Math" panose="02040503050406030204" pitchFamily="18" charset="0"/>
                      </a:rPr>
                      <m:t>𝑀</m:t>
                    </m:r>
                    <m:r>
                      <a:rPr lang="pt-BR" b="0" i="1" smtClean="0">
                        <a:latin typeface="Cambria Math" panose="02040503050406030204" pitchFamily="18" charset="0"/>
                      </a:rPr>
                      <m:t>−1</m:t>
                    </m:r>
                  </m:oMath>
                </a14:m>
                <a:r>
                  <a:rPr lang="pt-BR" dirty="0"/>
                  <a:t> pesos</a:t>
                </a:r>
              </a:p>
              <a:p>
                <a:pPr marL="0" indent="0">
                  <a:buNone/>
                </a:pPr>
                <a:r>
                  <a:rPr lang="pt-BR" dirty="0"/>
                  <a:t>para a derivada parcial do erro em relação ao peso da primeira camada.</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1074" b="-726"/>
                </a:stretch>
              </a:blipFill>
            </p:spPr>
            <p:txBody>
              <a:bodyPr/>
              <a:lstStyle/>
              <a:p>
                <a:r>
                  <a:rPr lang="en-US">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AF3ADB7-9531-579F-4C79-45653024187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E35D4D1-A228-6178-616E-1592070D355B}"/>
              </a:ext>
            </a:extLst>
          </p:cNvPr>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4CA2A88-D180-1617-D092-D34BAF7F076B}"/>
                  </a:ext>
                </a:extLst>
              </p:cNvPr>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As derivadas das funções logística e tangente hiperbólica têm valores máximos iguais a 0.25 e 1, respectivamente, apenas quando as ativações são iguais a 0.</a:t>
                </a:r>
              </a:p>
            </p:txBody>
          </p:sp>
        </mc:Choice>
        <mc:Fallback xmlns="">
          <p:sp>
            <p:nvSpPr>
              <p:cNvPr id="3" name="Espaço Reservado para Conteúdo 2">
                <a:extLst>
                  <a:ext uri="{FF2B5EF4-FFF2-40B4-BE49-F238E27FC236}">
                    <a16:creationId xmlns:a16="http://schemas.microsoft.com/office/drawing/2014/main" id="{24CA2A88-D180-1617-D092-D34BAF7F076B}"/>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xmlns="" id="{CDE9D292-A108-92A9-4275-BE70343FAD77}"/>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xmlns="" id="{24F74AD8-7BBC-F92A-499C-AE71F8E43A8F}"/>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a:extLst>
                  <a:ext uri="{FF2B5EF4-FFF2-40B4-BE49-F238E27FC236}">
                    <a16:creationId xmlns:a16="http://schemas.microsoft.com/office/drawing/2014/main" xmlns="" id="{867283EA-E24E-A9A4-C1C0-8CEA2890EE4A}"/>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a16="http://schemas.microsoft.com/office/drawing/2014/main" xmlns="" id="{BA2D59C8-E445-6CF3-96BD-C57ACBA1C10D}"/>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a16="http://schemas.microsoft.com/office/drawing/2014/main" xmlns="" id="{7842EFBD-EDFF-EE1A-50A9-D8AB0F16838D}"/>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a:extLst>
                  <a:ext uri="{FF2B5EF4-FFF2-40B4-BE49-F238E27FC236}">
                    <a16:creationId xmlns:a16="http://schemas.microsoft.com/office/drawing/2014/main" xmlns="" id="{FD6FA8AA-3D68-4F3F-7CC0-05D247CF31ED}"/>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314633956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D8934CF7-9755-BAE7-4000-D544554A8335}"/>
                  </a:ext>
                </a:extLst>
              </p:cNvPr>
              <p:cNvSpPr>
                <a:spLocks noGrp="1"/>
              </p:cNvSpPr>
              <p:nvPr>
                <p:ph idx="1"/>
              </p:nvPr>
            </p:nvSpPr>
            <p:spPr>
              <a:xfrm>
                <a:off x="838200" y="1825624"/>
                <a:ext cx="11353800"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a:t>
                </a:r>
                <a:r>
                  <a:rPr lang="en-US" dirty="0" err="1"/>
                  <a:t>menores</a:t>
                </a:r>
                <a:r>
                  <a:rPr lang="en-US" dirty="0"/>
                  <a:t> do </a:t>
                </a:r>
                <a:r>
                  <a:rPr lang="en-US" dirty="0" err="1"/>
                  <a:t>que</a:t>
                </a:r>
                <a:r>
                  <a:rPr lang="en-US" dirty="0"/>
                  <a:t> 0. </a:t>
                </a:r>
              </a:p>
              <a:p>
                <a:pPr lvl="1">
                  <a:buFont typeface="Wingdings" panose="05000000000000000000" pitchFamily="2" charset="2"/>
                  <a:buChar char="§"/>
                </a:pPr>
                <a:r>
                  <a:rPr lang="en-US" dirty="0"/>
                  <a:t>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pPr marL="0" indent="0">
                  <a:buNone/>
                </a:pPr>
                <a:endParaRPr lang="pt-BR" dirty="0"/>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2"/>
                <a:stretch>
                  <a:fillRect l="-967" t="-1937"/>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xmlns="" id="{188120B7-662B-0302-08DB-34631D26EA52}"/>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xmlns="" id="{849AAD1E-45E1-72F3-48EB-137DD3B099A9}"/>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6" name="Retângulo 10">
                <a:extLst>
                  <a:ext uri="{FF2B5EF4-FFF2-40B4-BE49-F238E27FC236}">
                    <a16:creationId xmlns:a16="http://schemas.microsoft.com/office/drawing/2014/main" xmlns="" id="{FF1FDCB0-7757-8C33-F165-73A447EEEAB7}"/>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6" name="Retângulo 10">
                <a:extLst>
                  <a:ext uri="{FF2B5EF4-FFF2-40B4-BE49-F238E27FC236}">
                    <a16:creationId xmlns:a16="http://schemas.microsoft.com/office/drawing/2014/main" id="{FF1FDCB0-7757-8C33-F165-73A447EEEAB7}"/>
                  </a:ext>
                </a:extLst>
              </p:cNvPr>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7" name="Imagem 11">
            <a:extLst>
              <a:ext uri="{FF2B5EF4-FFF2-40B4-BE49-F238E27FC236}">
                <a16:creationId xmlns:a16="http://schemas.microsoft.com/office/drawing/2014/main" xmlns="" id="{C9BB9D9B-68A5-6455-B5D8-70A97A97D070}"/>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8" name="Rectangle 7">
            <a:extLst>
              <a:ext uri="{FF2B5EF4-FFF2-40B4-BE49-F238E27FC236}">
                <a16:creationId xmlns:a16="http://schemas.microsoft.com/office/drawing/2014/main" xmlns="" id="{8E330444-0B41-60C1-AEE1-D9AB99524BBF}"/>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9" name="Retângulo 14">
                <a:extLst>
                  <a:ext uri="{FF2B5EF4-FFF2-40B4-BE49-F238E27FC236}">
                    <a16:creationId xmlns:a16="http://schemas.microsoft.com/office/drawing/2014/main" xmlns="" id="{E9F71E95-981D-5B7D-D4D0-AE6D9630604E}"/>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9" name="Retângulo 14">
                <a:extLst>
                  <a:ext uri="{FF2B5EF4-FFF2-40B4-BE49-F238E27FC236}">
                    <a16:creationId xmlns:a16="http://schemas.microsoft.com/office/drawing/2014/main" id="{E9F71E95-981D-5B7D-D4D0-AE6D9630604E}"/>
                  </a:ext>
                </a:extLst>
              </p:cNvPr>
              <p:cNvSpPr>
                <a:spLocks noRot="1" noChangeAspect="1" noMove="1" noResize="1" noEditPoints="1" noAdjustHandles="1" noChangeArrowheads="1" noChangeShapeType="1" noTextEdit="1"/>
              </p:cNvSpPr>
              <p:nvPr/>
            </p:nvSpPr>
            <p:spPr>
              <a:xfrm>
                <a:off x="7477797" y="6483249"/>
                <a:ext cx="2278894" cy="369332"/>
              </a:xfrm>
              <a:prstGeom prst="rect">
                <a:avLst/>
              </a:prstGeom>
              <a:blipFill>
                <a:blip r:embed="rId6"/>
                <a:stretch>
                  <a:fillRect b="-16667"/>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3B4E67D-1BE9-7550-5004-A1D19A2907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FF64631-6CB2-152F-B2C3-34B6A408CC11}"/>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9639F603-0AB1-0A3C-99B8-FEC63AAEF8C2}"/>
                  </a:ext>
                </a:extLst>
              </p:cNvPr>
              <p:cNvSpPr>
                <a:spLocks noGrp="1"/>
              </p:cNvSpPr>
              <p:nvPr>
                <p:ph idx="1"/>
              </p:nvPr>
            </p:nvSpPr>
            <p:spPr>
              <a:xfrm>
                <a:off x="838199" y="1825624"/>
                <a:ext cx="11353801" cy="5032375"/>
              </a:xfrm>
            </p:spPr>
            <p:txBody>
              <a:bodyPr>
                <a:normAutofit/>
              </a:bodyPr>
              <a:lstStyle/>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9639F603-0AB1-0A3C-99B8-FEC63AAEF8C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a:stretch>
              </a:blipFill>
            </p:spPr>
            <p:txBody>
              <a:bodyPr/>
              <a:lstStyle/>
              <a:p>
                <a:r>
                  <a:rPr lang="en-US">
                    <a:noFill/>
                  </a:rPr>
                  <a:t> </a:t>
                </a:r>
              </a:p>
            </p:txBody>
          </p:sp>
        </mc:Fallback>
      </mc:AlternateContent>
    </p:spTree>
    <p:extLst>
      <p:ext uri="{BB962C8B-B14F-4D97-AF65-F5344CB8AC3E}">
        <p14:creationId xmlns:p14="http://schemas.microsoft.com/office/powerpoint/2010/main" val="86708598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6DFC76-8AB6-020C-82FD-4686C37B8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a16="http://schemas.microsoft.com/office/drawing/2014/main" xmlns=""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dirty="0">
                    <a:solidFill>
                      <a:schemeClr val="accent2"/>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xmlns=""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xmlns=""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b="0" i="1" smtClean="0">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b="0" i="1" smtClean="0">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4767924" y="1825624"/>
                <a:ext cx="7352541" cy="5032375"/>
              </a:xfrm>
            </p:spPr>
            <p:txBody>
              <a:bodyPr>
                <a:normAutofit lnSpcReduction="10000"/>
              </a:bodyPr>
              <a:lstStyle/>
              <a:p>
                <a:r>
                  <a:rPr lang="pt-BR" dirty="0"/>
                  <a:t>Sua principal </a:t>
                </a:r>
                <a:r>
                  <a:rPr lang="pt-BR" b="1" dirty="0">
                    <a:solidFill>
                      <a:srgbClr val="00B050"/>
                    </a:solidFill>
                  </a:rPr>
                  <a:t>vantagem</a:t>
                </a:r>
                <a:r>
                  <a:rPr lang="pt-BR" dirty="0"/>
                  <a:t> é que ela a</a:t>
                </a:r>
                <a:r>
                  <a:rPr lang="pt-BR" b="0" dirty="0">
                    <a:effectLst/>
                  </a:rPr>
                  <a:t>juda a </a:t>
                </a:r>
                <a:r>
                  <a:rPr lang="pt-BR" b="1" dirty="0">
                    <a:solidFill>
                      <a:schemeClr val="accent2"/>
                    </a:solidFill>
                    <a:effectLst/>
                  </a:rPr>
                  <a:t>minimizar</a:t>
                </a:r>
                <a:r>
                  <a:rPr lang="pt-BR" b="1" dirty="0">
                    <a:solidFill>
                      <a:srgbClr val="00B050"/>
                    </a:solidFill>
                    <a:effectLst/>
                  </a:rPr>
                  <a:t> o problema do desaparecimento do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p>
              <a:p>
                <a:r>
                  <a:rPr lang="pt-BR" dirty="0"/>
                  <a:t>Outra </a:t>
                </a:r>
                <a:r>
                  <a:rPr lang="pt-BR" b="1" dirty="0">
                    <a:solidFill>
                      <a:srgbClr val="00B050"/>
                    </a:solidFill>
                  </a:rPr>
                  <a:t>vantagem</a:t>
                </a:r>
                <a:r>
                  <a:rPr lang="pt-BR" dirty="0"/>
                  <a:t> é a sua </a:t>
                </a:r>
                <a:r>
                  <a:rPr lang="pt-BR" b="1" dirty="0">
                    <a:solidFill>
                      <a:srgbClr val="00B050"/>
                    </a:solidFill>
                  </a:rPr>
                  <a:t>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 mais rápidas de se calcular </a:t>
                </a:r>
                <a:r>
                  <a:rPr lang="pt-BR" dirty="0"/>
                  <a:t>do que as funções logística e tangente hiperbólica.</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352541" cy="5032375"/>
              </a:xfrm>
              <a:blipFill>
                <a:blip r:embed="rId3"/>
                <a:stretch>
                  <a:fillRect l="-1493" t="-2663"/>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xmlns=""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xmlns=""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i="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xmlns=""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a:t>
                </a:r>
                <a:r>
                  <a:rPr lang="pt-BR" b="1" dirty="0">
                    <a:solidFill>
                      <a:srgbClr val="FF0000"/>
                    </a:solidFill>
                    <a:effectLst/>
                  </a:rPr>
                  <a:t>desvantagem</a:t>
                </a:r>
                <a:r>
                  <a:rPr lang="pt-BR" b="0" dirty="0">
                    <a:effectLst/>
                  </a:rPr>
                  <a:t>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b="1" i="1">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67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b="0" i="1" smtClean="0">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xmlns=""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i="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7072603" y="1825624"/>
                <a:ext cx="5035659"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2"/>
                    </a:solidFill>
                  </a:rPr>
                  <a:t>possuam derivada diferente de zero para </a:t>
                </a:r>
                <a14:m>
                  <m:oMath xmlns:m="http://schemas.openxmlformats.org/officeDocument/2006/math">
                    <m:r>
                      <a:rPr lang="pt-BR" b="1" i="1">
                        <a:solidFill>
                          <a:schemeClr val="accent2"/>
                        </a:solidFill>
                        <a:latin typeface="Cambria Math" panose="02040503050406030204" pitchFamily="18" charset="0"/>
                      </a:rPr>
                      <m:t>𝒈</m:t>
                    </m:r>
                    <m:d>
                      <m:dPr>
                        <m:ctrlPr>
                          <a:rPr lang="pt-BR" b="1" i="1">
                            <a:solidFill>
                              <a:schemeClr val="accent2"/>
                            </a:solidFill>
                            <a:latin typeface="Cambria Math" panose="02040503050406030204" pitchFamily="18" charset="0"/>
                          </a:rPr>
                        </m:ctrlPr>
                      </m:dPr>
                      <m:e>
                        <m:r>
                          <a:rPr lang="pt-BR" b="1" i="1">
                            <a:solidFill>
                              <a:schemeClr val="accent2"/>
                            </a:solidFill>
                            <a:latin typeface="Cambria Math" panose="02040503050406030204" pitchFamily="18" charset="0"/>
                          </a:rPr>
                          <m:t>𝒙</m:t>
                        </m:r>
                      </m:e>
                    </m:d>
                    <m:r>
                      <a:rPr lang="pt-BR" b="1" i="1">
                        <a:solidFill>
                          <a:schemeClr val="accent2"/>
                        </a:solidFill>
                        <a:latin typeface="Cambria Math" panose="02040503050406030204" pitchFamily="18" charset="0"/>
                      </a:rPr>
                      <m:t>&lt;</m:t>
                    </m:r>
                    <m:r>
                      <a:rPr lang="pt-BR" b="1" i="1">
                        <a:solidFill>
                          <a:schemeClr val="accent2"/>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Error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7072603" y="1825624"/>
                <a:ext cx="5035659" cy="5032375"/>
              </a:xfrm>
              <a:blipFill>
                <a:blip r:embed="rId4"/>
                <a:stretch>
                  <a:fillRect l="-2179" t="-1937" r="-3269"/>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xmlns="" id="{DCEAF695-2366-440F-7631-39103A7D3C73}"/>
              </a:ext>
            </a:extLst>
          </p:cNvPr>
          <p:cNvPicPr>
            <a:picLocks noChangeAspect="1"/>
          </p:cNvPicPr>
          <p:nvPr/>
        </p:nvPicPr>
        <p:blipFill>
          <a:blip r:embed="rId5">
            <a:extLst>
              <a:ext uri="{28A0092B-C50C-407E-A947-70E740481C1C}">
                <a14:useLocalDpi xmlns:a14="http://schemas.microsoft.com/office/drawing/2010/main" val="0"/>
              </a:ext>
            </a:extLst>
          </a:blip>
          <a:srcRect l="1196" r="1907"/>
          <a:stretch>
            <a:fillRect/>
          </a:stretch>
        </p:blipFill>
        <p:spPr>
          <a:xfrm>
            <a:off x="93067" y="1825623"/>
            <a:ext cx="6783595" cy="4667251"/>
          </a:xfrm>
          <a:prstGeom prst="rect">
            <a:avLst/>
          </a:prstGeom>
        </p:spPr>
      </p:pic>
    </p:spTree>
    <p:extLst>
      <p:ext uri="{BB962C8B-B14F-4D97-AF65-F5344CB8AC3E}">
        <p14:creationId xmlns:p14="http://schemas.microsoft.com/office/powerpoint/2010/main" val="6256383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xmlns=""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xmlns=""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xmlns=""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a16="http://schemas.microsoft.com/office/drawing/2014/main" xmlns=""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a16="http://schemas.microsoft.com/office/drawing/2014/main" xmlns=""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a16="http://schemas.microsoft.com/office/drawing/2014/main" xmlns=""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a16="http://schemas.microsoft.com/office/drawing/2014/main" xmlns=""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a16="http://schemas.microsoft.com/office/drawing/2014/main" xmlns=""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a16="http://schemas.microsoft.com/office/drawing/2014/main" xmlns=""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a16="http://schemas.microsoft.com/office/drawing/2014/main" xmlns=""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a16="http://schemas.microsoft.com/office/drawing/2014/main" xmlns=""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a16="http://schemas.microsoft.com/office/drawing/2014/main" xmlns=""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a16="http://schemas.microsoft.com/office/drawing/2014/main" xmlns=""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xmlns=""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xmlns=""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xmlns=""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xmlns=""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a16="http://schemas.microsoft.com/office/drawing/2014/main" xmlns=""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xmlns=""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xmlns=""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xmlns="" id="{0D16A970-E5B0-45AB-5F13-4EB2F6AB2E7A}"/>
              </a:ext>
            </a:extLst>
          </p:cNvPr>
          <p:cNvSpPr>
            <a:spLocks noGrp="1"/>
          </p:cNvSpPr>
          <p:nvPr>
            <p:ph idx="1"/>
          </p:nvPr>
        </p:nvSpPr>
        <p:spPr>
          <a:xfrm>
            <a:off x="838199" y="1825624"/>
            <a:ext cx="11244944" cy="5032375"/>
          </a:xfrm>
        </p:spPr>
        <p:txBody>
          <a:bodyPr>
            <a:normAutofit lnSpcReduction="10000"/>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a:t>
            </a:r>
            <a:r>
              <a:rPr lang="pt-BR" b="1" dirty="0">
                <a:solidFill>
                  <a:schemeClr val="accent2"/>
                </a:solidFill>
              </a:rPr>
              <a:t>garante que a variância das ativações permaneça a mesma</a:t>
            </a:r>
            <a:r>
              <a:rPr lang="pt-BR" dirty="0"/>
              <a:t> ao longo de todas as camadas. Isso garante que o gradiente retropropagado </a:t>
            </a:r>
            <a:r>
              <a:rPr lang="pt-BR" b="1" dirty="0">
                <a:solidFill>
                  <a:srgbClr val="00B050"/>
                </a:solidFill>
              </a:rPr>
              <a:t>não tenha multiplicações com valores muito pequenos ou muito grandes</a:t>
            </a:r>
            <a:r>
              <a:rPr lang="pt-BR" dirty="0"/>
              <a:t>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a:t>
            </a:r>
            <a:r>
              <a:rPr lang="pt-BR" b="1" dirty="0">
                <a:solidFill>
                  <a:schemeClr val="accent2"/>
                </a:solidFill>
              </a:rPr>
              <a:t>padroniza as ativações das camadas</a:t>
            </a:r>
            <a:r>
              <a:rPr lang="pt-BR" dirty="0"/>
              <a:t> durante o treinamento. Isso estabiliza os gradientes, acelera a convergência </a:t>
            </a:r>
            <a:r>
              <a:rPr lang="en-US" dirty="0"/>
              <a:t>e </a:t>
            </a:r>
            <a:r>
              <a:rPr lang="en-US" dirty="0" err="1"/>
              <a:t>mitiga</a:t>
            </a:r>
            <a:r>
              <a:rPr lang="en-US" dirty="0"/>
              <a:t> ambos </a:t>
            </a:r>
            <a:r>
              <a:rPr lang="en-US" dirty="0" err="1"/>
              <a:t>problemas</a:t>
            </a:r>
            <a:r>
              <a:rPr lang="en-US" dirty="0"/>
              <a:t>.</a:t>
            </a:r>
            <a:endParaRPr lang="pt-BR" dirty="0"/>
          </a:p>
          <a:p>
            <a:pPr lvl="1">
              <a:buFont typeface="Wingdings" panose="05000000000000000000" pitchFamily="2" charset="2"/>
              <a:buChar char="§"/>
            </a:pPr>
            <a:r>
              <a:rPr lang="pt-BR" b="1" dirty="0"/>
              <a:t>Poda do gradiente</a:t>
            </a:r>
            <a:r>
              <a:rPr lang="pt-BR" dirty="0"/>
              <a:t>: </a:t>
            </a:r>
            <a:r>
              <a:rPr lang="pt-BR" b="1" dirty="0">
                <a:solidFill>
                  <a:schemeClr val="accent2"/>
                </a:solidFill>
              </a:rPr>
              <a:t>limita o valor máximo do gradiente</a:t>
            </a:r>
            <a:r>
              <a:rPr lang="pt-BR" dirty="0"/>
              <a:t>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a:t>
            </a:r>
            <a:r>
              <a:rPr lang="pt-BR" b="1" dirty="0">
                <a:solidFill>
                  <a:schemeClr val="accent2"/>
                </a:solidFill>
              </a:rPr>
              <a:t>criam caminhos diretos entre camadas (curto circuito)</a:t>
            </a:r>
            <a:r>
              <a:rPr lang="pt-BR" dirty="0"/>
              <a:t>. Isso facilita a propagação do gradiente em redes muito profundas, minimizando ambos os problemas.</a:t>
            </a:r>
          </a:p>
        </p:txBody>
      </p:sp>
    </p:spTree>
    <p:extLst>
      <p:ext uri="{BB962C8B-B14F-4D97-AF65-F5344CB8AC3E}">
        <p14:creationId xmlns:p14="http://schemas.microsoft.com/office/powerpoint/2010/main" val="368030221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72DA7A58-EB7E-FB25-773A-8FDCB85FD71D}"/>
              </a:ext>
            </a:extLst>
          </p:cNvPr>
          <p:cNvSpPr>
            <a:spLocks noGrp="1"/>
          </p:cNvSpPr>
          <p:nvPr>
            <p:ph idx="1"/>
          </p:nvPr>
        </p:nvSpPr>
        <p:spPr>
          <a:xfrm>
            <a:off x="491613" y="1961479"/>
            <a:ext cx="11208773" cy="2935042"/>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a16="http://schemas.microsoft.com/office/drawing/2014/main" xmlns=""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a16="http://schemas.microsoft.com/office/drawing/2014/main" xmlns=""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xmlns=""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xmlns=""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xmlns=""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a16="http://schemas.microsoft.com/office/drawing/2014/main" xmlns=""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a16="http://schemas.microsoft.com/office/drawing/2014/main" xmlns=""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9684</TotalTime>
  <Words>8078</Words>
  <Application>Microsoft Office PowerPoint</Application>
  <PresentationFormat>Widescreen</PresentationFormat>
  <Paragraphs>1053</Paragraphs>
  <Slides>73</Slides>
  <Notes>43</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73</vt:i4>
      </vt:variant>
    </vt:vector>
  </HeadingPairs>
  <TitlesOfParts>
    <vt:vector size="82"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Apresentação do PowerPoint</vt:lpstr>
      <vt:lpstr>Redes neurais artificiais</vt:lpstr>
      <vt:lpstr>Apresentação do PowerPoint</vt:lpstr>
      <vt:lpstr>Apresentação do PowerPoint</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Neurônio artificial</vt:lpstr>
      <vt:lpstr>Neurônio artificial</vt:lpstr>
      <vt:lpstr>Apresentação do PowerPoint</vt:lpstr>
      <vt:lpstr>Redes neurais artificiais</vt:lpstr>
      <vt:lpstr>Redes neurais artificiais</vt:lpstr>
      <vt:lpstr>Redes neurais artificiais</vt:lpstr>
      <vt:lpstr>Apresentação do PowerPoint</vt:lpstr>
      <vt:lpstr>Redes neurais artificiais</vt:lpstr>
      <vt:lpstr>Redes neurais artificiais</vt:lpstr>
      <vt:lpstr>Redes neurais artificiais</vt:lpstr>
      <vt:lpstr>Redes neurais artificiais</vt:lpstr>
      <vt:lpstr>Aproximação de funções</vt:lpstr>
      <vt:lpstr>Aproximação universal de funções</vt:lpstr>
      <vt:lpstr>Apresentação do PowerPoint</vt:lpstr>
      <vt:lpstr>Backpropagation</vt:lpstr>
      <vt:lpstr>Apresentação do PowerPoint</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Apresentação do PowerPoint</vt:lpstr>
      <vt:lpstr>Apresentação do PowerPoint</vt:lpstr>
      <vt:lpstr>Superfícies de erro de redes neurais</vt:lpstr>
      <vt:lpstr>Superfícies de erro irregulares</vt:lpstr>
      <vt:lpstr>Superfícies de erro irregulares</vt:lpstr>
      <vt:lpstr>Como avaliar se o erro encontrado é suficientemente bom?</vt:lpstr>
      <vt:lpstr>Exemplo</vt:lpstr>
      <vt:lpstr>Lista de exercícios</vt:lpstr>
      <vt:lpstr>Apresentação do PowerPoint</vt:lpstr>
      <vt:lpstr>Apresentação do PowerPoint</vt:lpstr>
      <vt:lpstr>Apresentação do PowerPoint</vt:lpstr>
      <vt:lpstr>Derivada parcial do erro</vt:lpstr>
      <vt:lpstr>Derivada parcial do erro</vt:lpstr>
      <vt:lpstr>Desaparecimento do gradiente</vt:lpstr>
      <vt:lpstr>Desaparecimento do gradiente</vt:lpstr>
      <vt:lpstr>Desaparecimento do gradiente</vt:lpstr>
      <vt:lpstr>Desaparecimento do gradiente</vt:lpstr>
      <vt:lpstr>Apresentação do PowerPoint</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Apresentação do PowerPoint</vt:lpstr>
      <vt:lpstr>Pontos de sela</vt:lpstr>
      <vt:lpstr>Platôs</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2080</cp:revision>
  <dcterms:created xsi:type="dcterms:W3CDTF">2020-01-20T13:50:05Z</dcterms:created>
  <dcterms:modified xsi:type="dcterms:W3CDTF">2026-09-21T21:52:36Z</dcterms:modified>
</cp:coreProperties>
</file>