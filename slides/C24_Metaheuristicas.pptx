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293" r:id="rId9"/>
    <p:sldId id="314" r:id="rId10"/>
    <p:sldId id="306" r:id="rId11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79540" autoAdjust="0"/>
  </p:normalViewPr>
  <p:slideViewPr>
    <p:cSldViewPr snapToGrid="0">
      <p:cViewPr varScale="1">
        <p:scale>
          <a:sx n="58" d="100"/>
          <a:sy n="58" d="100"/>
        </p:scale>
        <p:origin x="1380" y="72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16/02/2026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882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Felipe A. P. de Figueiredo</a:t>
            </a:r>
            <a:endParaRPr lang="pt-BR" sz="2000" dirty="0"/>
          </a:p>
          <a:p>
            <a:r>
              <a:rPr lang="pt-BR" dirty="0">
                <a:hlinkClick r:id="rId3"/>
              </a:rPr>
              <a:t>f</a:t>
            </a:r>
            <a:r>
              <a:rPr lang="pt-BR" dirty="0" smtClean="0">
                <a:hlinkClick r:id="rId3"/>
              </a:rPr>
              <a:t>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 smtClean="0"/>
              <a:t>C24 –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i="1" dirty="0" err="1" smtClean="0"/>
              <a:t>M</a:t>
            </a:r>
            <a:r>
              <a:rPr lang="pt-BR" sz="7200" b="1" i="1" dirty="0" err="1" smtClean="0"/>
              <a:t>etaheurísticas</a:t>
            </a:r>
            <a:endParaRPr lang="pt-BR" sz="7200" b="1" i="1" dirty="0"/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enquanto o </a:t>
            </a:r>
            <a:r>
              <a:rPr lang="pt-BR" b="1" dirty="0"/>
              <a:t>Aprendizado de Máquina</a:t>
            </a:r>
            <a:r>
              <a:rPr lang="pt-BR" dirty="0"/>
              <a:t> foca em como o computador pode </a:t>
            </a:r>
            <a:r>
              <a:rPr lang="pt-BR" i="1" dirty="0"/>
              <a:t>aprender</a:t>
            </a:r>
            <a:r>
              <a:rPr lang="pt-BR" dirty="0"/>
              <a:t> a partir de dados, a </a:t>
            </a:r>
            <a:r>
              <a:rPr lang="pt-BR" b="1" dirty="0" err="1"/>
              <a:t>Metaheurística</a:t>
            </a:r>
            <a:r>
              <a:rPr lang="pt-BR" dirty="0"/>
              <a:t> foca em como o computador pode </a:t>
            </a:r>
            <a:r>
              <a:rPr lang="pt-BR" i="1" dirty="0"/>
              <a:t>encontrar a melhor solução possível</a:t>
            </a:r>
            <a:r>
              <a:rPr lang="pt-BR" dirty="0"/>
              <a:t> para um problema complexo.</a:t>
            </a:r>
          </a:p>
        </p:txBody>
      </p:sp>
    </p:spTree>
    <p:extLst>
      <p:ext uri="{BB962C8B-B14F-4D97-AF65-F5344CB8AC3E}">
        <p14:creationId xmlns:p14="http://schemas.microsoft.com/office/powerpoint/2010/main" val="9419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198629" cy="5032375"/>
          </a:xfrm>
        </p:spPr>
        <p:txBody>
          <a:bodyPr>
            <a:normAutofit/>
          </a:bodyPr>
          <a:lstStyle/>
          <a:p>
            <a:r>
              <a:rPr lang="pt-BR" b="1" dirty="0"/>
              <a:t>O que é a </a:t>
            </a:r>
            <a:r>
              <a:rPr lang="pt-BR" b="1" dirty="0" err="1"/>
              <a:t>Metaheurística</a:t>
            </a:r>
            <a:r>
              <a:rPr lang="pt-BR" b="1" dirty="0"/>
              <a:t>?</a:t>
            </a:r>
          </a:p>
          <a:p>
            <a:r>
              <a:rPr lang="pt-BR" dirty="0"/>
              <a:t>A </a:t>
            </a:r>
            <a:r>
              <a:rPr lang="pt-BR" dirty="0" err="1"/>
              <a:t>metaheurística</a:t>
            </a:r>
            <a:r>
              <a:rPr lang="pt-BR" dirty="0"/>
              <a:t> é um método de </a:t>
            </a:r>
            <a:r>
              <a:rPr lang="pt-BR" b="1" dirty="0"/>
              <a:t>otimização</a:t>
            </a:r>
            <a:r>
              <a:rPr lang="pt-BR" dirty="0"/>
              <a:t>. Imagine que você está em uma cordilheira à noite, com uma lanterna fraca, e precisa encontrar o pico mais alto. Você não tem um mapa (o problema é grande demais para testar todas as possibilidades), então usa uma estratégia (heurística) para decidir se sobe ou desce.</a:t>
            </a:r>
          </a:p>
          <a:p>
            <a:r>
              <a:rPr lang="pt-BR" dirty="0"/>
              <a:t>As </a:t>
            </a:r>
            <a:r>
              <a:rPr lang="pt-BR" dirty="0" err="1"/>
              <a:t>metaheurísticas</a:t>
            </a:r>
            <a:r>
              <a:rPr lang="pt-BR" dirty="0"/>
              <a:t> são estratégias de "alto nível" que guiam essa busca. Muitas são inspiradas na natureza:</a:t>
            </a:r>
          </a:p>
          <a:p>
            <a:pPr lvl="1"/>
            <a:r>
              <a:rPr lang="pt-BR" b="1" dirty="0"/>
              <a:t>Algoritmos Genéticos:</a:t>
            </a:r>
            <a:r>
              <a:rPr lang="pt-BR" dirty="0"/>
              <a:t> Inspirados na evolução e seleção natural.</a:t>
            </a:r>
          </a:p>
          <a:p>
            <a:pPr lvl="1"/>
            <a:r>
              <a:rPr lang="pt-BR" b="1" dirty="0"/>
              <a:t>Colônia de Formigas:</a:t>
            </a:r>
            <a:r>
              <a:rPr lang="pt-BR" dirty="0"/>
              <a:t> Inspirado em como formigas acham o caminho mais curto.</a:t>
            </a:r>
          </a:p>
          <a:p>
            <a:pPr lvl="1"/>
            <a:r>
              <a:rPr lang="pt-BR" b="1" dirty="0"/>
              <a:t>Recozimento Simulado (</a:t>
            </a:r>
            <a:r>
              <a:rPr lang="pt-BR" b="1" dirty="0" err="1"/>
              <a:t>Simulated</a:t>
            </a:r>
            <a:r>
              <a:rPr lang="pt-BR" b="1" dirty="0"/>
              <a:t> </a:t>
            </a:r>
            <a:r>
              <a:rPr lang="pt-BR" b="1" dirty="0" err="1"/>
              <a:t>Annealing</a:t>
            </a:r>
            <a:r>
              <a:rPr lang="pt-BR" b="1" dirty="0"/>
              <a:t>):</a:t>
            </a:r>
            <a:r>
              <a:rPr lang="pt-BR" dirty="0"/>
              <a:t> Inspirado no resfriamento de metais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885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que são </a:t>
            </a:r>
            <a:r>
              <a:rPr lang="pt-BR" b="1" dirty="0" err="1"/>
              <a:t>metaheurísticas</a:t>
            </a:r>
            <a:r>
              <a:rPr lang="pt-BR" b="1" dirty="0"/>
              <a:t>?</a:t>
            </a:r>
          </a:p>
          <a:p>
            <a:r>
              <a:rPr lang="pt-BR" dirty="0"/>
              <a:t>São algoritmos de busca inspirados em processos naturais, físicos ou sociais, projetados para:</a:t>
            </a:r>
          </a:p>
          <a:p>
            <a:pPr lvl="1"/>
            <a:r>
              <a:rPr lang="pt-BR" dirty="0"/>
              <a:t>explorar o espaço de soluções</a:t>
            </a:r>
          </a:p>
          <a:p>
            <a:pPr lvl="1"/>
            <a:r>
              <a:rPr lang="pt-BR" dirty="0"/>
              <a:t>evitar mínimos locais</a:t>
            </a:r>
          </a:p>
          <a:p>
            <a:pPr lvl="1"/>
            <a:r>
              <a:rPr lang="pt-BR" dirty="0"/>
              <a:t>encontrar soluções próximas do ótimo global</a:t>
            </a:r>
          </a:p>
          <a:p>
            <a:pPr lvl="1"/>
            <a:r>
              <a:rPr lang="pt-BR" dirty="0"/>
              <a:t>funcionar com pouca informação do problema</a:t>
            </a:r>
          </a:p>
          <a:p>
            <a:r>
              <a:rPr lang="pt-BR" dirty="0"/>
              <a:t>Elas </a:t>
            </a:r>
            <a:r>
              <a:rPr lang="pt-BR" b="1" dirty="0"/>
              <a:t>não aprendem padrões dos dados</a:t>
            </a:r>
            <a:r>
              <a:rPr lang="pt-BR" dirty="0"/>
              <a:t>, como ML faz.</a:t>
            </a:r>
            <a:br>
              <a:rPr lang="pt-BR" dirty="0"/>
            </a:br>
            <a:r>
              <a:rPr lang="pt-BR" dirty="0"/>
              <a:t>Em vez disso, </a:t>
            </a:r>
            <a:r>
              <a:rPr lang="pt-BR" b="1" dirty="0"/>
              <a:t>otimizam funções objetivo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31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Principais tipos de </a:t>
            </a:r>
            <a:r>
              <a:rPr lang="pt-BR" b="1" dirty="0" err="1"/>
              <a:t>metaheurísticas</a:t>
            </a:r>
            <a:endParaRPr lang="pt-BR" b="1" dirty="0"/>
          </a:p>
          <a:p>
            <a:r>
              <a:rPr lang="pt-BR" b="1" dirty="0"/>
              <a:t>1. Baseadas em evolução biológica</a:t>
            </a:r>
          </a:p>
          <a:p>
            <a:r>
              <a:rPr lang="pt-BR" dirty="0"/>
              <a:t>Inspiradas em seleção natural e genética.</a:t>
            </a:r>
          </a:p>
          <a:p>
            <a:r>
              <a:rPr lang="pt-BR" dirty="0"/>
              <a:t>Exemplos:</a:t>
            </a:r>
          </a:p>
          <a:p>
            <a:r>
              <a:rPr lang="pt-BR" dirty="0"/>
              <a:t>Algoritmos Genéticos (GA)</a:t>
            </a:r>
          </a:p>
          <a:p>
            <a:r>
              <a:rPr lang="pt-BR" dirty="0"/>
              <a:t>Programação Genética</a:t>
            </a:r>
          </a:p>
          <a:p>
            <a:r>
              <a:rPr lang="pt-BR" dirty="0"/>
              <a:t>Estratégias Evolutivas</a:t>
            </a:r>
          </a:p>
          <a:p>
            <a:r>
              <a:rPr lang="pt-BR" dirty="0" err="1"/>
              <a:t>Differential</a:t>
            </a:r>
            <a:r>
              <a:rPr lang="pt-BR" dirty="0"/>
              <a:t> </a:t>
            </a:r>
            <a:r>
              <a:rPr lang="pt-BR" dirty="0" err="1"/>
              <a:t>Evolution</a:t>
            </a:r>
            <a:endParaRPr lang="pt-BR" dirty="0"/>
          </a:p>
          <a:p>
            <a:r>
              <a:rPr lang="pt-BR" dirty="0"/>
              <a:t>Muito usadas em:</a:t>
            </a:r>
          </a:p>
          <a:p>
            <a:r>
              <a:rPr lang="pt-BR" dirty="0"/>
              <a:t>seleção de atributos</a:t>
            </a:r>
          </a:p>
          <a:p>
            <a:r>
              <a:rPr lang="pt-BR" dirty="0"/>
              <a:t>ajuste de </a:t>
            </a:r>
            <a:r>
              <a:rPr lang="pt-BR" dirty="0" err="1"/>
              <a:t>hiperparâmetros</a:t>
            </a:r>
            <a:endParaRPr lang="pt-BR" dirty="0"/>
          </a:p>
          <a:p>
            <a:r>
              <a:rPr lang="pt-BR" dirty="0"/>
              <a:t>projeto de antenas e </a:t>
            </a:r>
            <a:r>
              <a:rPr lang="pt-BR" dirty="0" smtClean="0"/>
              <a:t>redes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530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2. Baseadas em inteligência coletiva (</a:t>
            </a:r>
            <a:r>
              <a:rPr lang="pt-BR" b="1" dirty="0" err="1"/>
              <a:t>swarm</a:t>
            </a:r>
            <a:r>
              <a:rPr lang="pt-BR" b="1" dirty="0"/>
              <a:t> </a:t>
            </a:r>
            <a:r>
              <a:rPr lang="pt-BR" b="1" dirty="0" err="1"/>
              <a:t>intelligence</a:t>
            </a:r>
            <a:r>
              <a:rPr lang="pt-BR" b="1" dirty="0"/>
              <a:t>)</a:t>
            </a:r>
          </a:p>
          <a:p>
            <a:r>
              <a:rPr lang="pt-BR" dirty="0"/>
              <a:t>Inspiradas em comportamento de grupos naturais.</a:t>
            </a:r>
          </a:p>
          <a:p>
            <a:r>
              <a:rPr lang="pt-BR" dirty="0"/>
              <a:t>Exemplos:</a:t>
            </a:r>
          </a:p>
          <a:p>
            <a:r>
              <a:rPr lang="pt-BR" dirty="0" err="1"/>
              <a:t>Particle</a:t>
            </a:r>
            <a:r>
              <a:rPr lang="pt-BR" dirty="0"/>
              <a:t> </a:t>
            </a:r>
            <a:r>
              <a:rPr lang="pt-BR" dirty="0" err="1"/>
              <a:t>Swarm</a:t>
            </a:r>
            <a:r>
              <a:rPr lang="pt-BR" dirty="0"/>
              <a:t> </a:t>
            </a:r>
            <a:r>
              <a:rPr lang="pt-BR" dirty="0" err="1"/>
              <a:t>Optimization</a:t>
            </a:r>
            <a:r>
              <a:rPr lang="pt-BR" dirty="0"/>
              <a:t> (PSO)</a:t>
            </a:r>
          </a:p>
          <a:p>
            <a:r>
              <a:rPr lang="pt-BR" dirty="0" err="1"/>
              <a:t>Ant</a:t>
            </a:r>
            <a:r>
              <a:rPr lang="pt-BR" dirty="0"/>
              <a:t> </a:t>
            </a:r>
            <a:r>
              <a:rPr lang="pt-BR" dirty="0" err="1"/>
              <a:t>Colony</a:t>
            </a:r>
            <a:r>
              <a:rPr lang="pt-BR" dirty="0"/>
              <a:t> </a:t>
            </a:r>
            <a:r>
              <a:rPr lang="pt-BR" dirty="0" err="1"/>
              <a:t>Optimization</a:t>
            </a:r>
            <a:r>
              <a:rPr lang="pt-BR" dirty="0"/>
              <a:t> (ACO)</a:t>
            </a:r>
          </a:p>
          <a:p>
            <a:r>
              <a:rPr lang="pt-BR" dirty="0"/>
              <a:t>Artificial Bee </a:t>
            </a:r>
            <a:r>
              <a:rPr lang="pt-BR" dirty="0" err="1"/>
              <a:t>Colony</a:t>
            </a:r>
            <a:endParaRPr lang="pt-BR" dirty="0"/>
          </a:p>
          <a:p>
            <a:r>
              <a:rPr lang="pt-BR" dirty="0" err="1"/>
              <a:t>Firefly</a:t>
            </a:r>
            <a:r>
              <a:rPr lang="pt-BR" dirty="0"/>
              <a:t> </a:t>
            </a:r>
            <a:r>
              <a:rPr lang="pt-BR" dirty="0" err="1"/>
              <a:t>Algorithm</a:t>
            </a:r>
            <a:endParaRPr lang="pt-BR" dirty="0"/>
          </a:p>
          <a:p>
            <a:r>
              <a:rPr lang="pt-BR" dirty="0"/>
              <a:t>Aplicações comuns:</a:t>
            </a:r>
          </a:p>
          <a:p>
            <a:r>
              <a:rPr lang="pt-BR" dirty="0"/>
              <a:t>roteamento em redes</a:t>
            </a:r>
          </a:p>
          <a:p>
            <a:r>
              <a:rPr lang="pt-BR" dirty="0"/>
              <a:t>otimização de topologias</a:t>
            </a:r>
          </a:p>
          <a:p>
            <a:r>
              <a:rPr lang="pt-BR" dirty="0"/>
              <a:t>controle de sistemas distribuídos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746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3. Baseadas em processos físicos</a:t>
            </a:r>
          </a:p>
          <a:p>
            <a:r>
              <a:rPr lang="pt-BR" dirty="0"/>
              <a:t>Inspiradas em fenômenos naturais.</a:t>
            </a:r>
          </a:p>
          <a:p>
            <a:r>
              <a:rPr lang="pt-BR" dirty="0"/>
              <a:t>Exemplos:</a:t>
            </a:r>
          </a:p>
          <a:p>
            <a:r>
              <a:rPr lang="pt-BR" dirty="0" err="1"/>
              <a:t>Simulated</a:t>
            </a:r>
            <a:r>
              <a:rPr lang="pt-BR" dirty="0"/>
              <a:t> </a:t>
            </a:r>
            <a:r>
              <a:rPr lang="pt-BR" dirty="0" err="1"/>
              <a:t>Annealing</a:t>
            </a:r>
            <a:endParaRPr lang="pt-BR" dirty="0"/>
          </a:p>
          <a:p>
            <a:r>
              <a:rPr lang="pt-BR" dirty="0" err="1"/>
              <a:t>Harmony</a:t>
            </a:r>
            <a:r>
              <a:rPr lang="pt-BR" dirty="0"/>
              <a:t> </a:t>
            </a:r>
            <a:r>
              <a:rPr lang="pt-BR" dirty="0" err="1"/>
              <a:t>Search</a:t>
            </a:r>
            <a:endParaRPr lang="pt-BR" dirty="0"/>
          </a:p>
          <a:p>
            <a:r>
              <a:rPr lang="pt-BR" dirty="0" err="1"/>
              <a:t>Gravitational</a:t>
            </a:r>
            <a:r>
              <a:rPr lang="pt-BR" dirty="0"/>
              <a:t> </a:t>
            </a:r>
            <a:r>
              <a:rPr lang="pt-BR" dirty="0" err="1"/>
              <a:t>Search</a:t>
            </a:r>
            <a:r>
              <a:rPr lang="pt-BR" dirty="0"/>
              <a:t> </a:t>
            </a:r>
            <a:r>
              <a:rPr lang="pt-BR" dirty="0" err="1"/>
              <a:t>Algorithm</a:t>
            </a:r>
            <a:endParaRPr lang="pt-BR" dirty="0"/>
          </a:p>
          <a:p>
            <a:r>
              <a:rPr lang="pt-BR" dirty="0"/>
              <a:t>Usadas em:</a:t>
            </a:r>
          </a:p>
          <a:p>
            <a:r>
              <a:rPr lang="pt-BR" dirty="0"/>
              <a:t>otimização contínua</a:t>
            </a:r>
          </a:p>
          <a:p>
            <a:r>
              <a:rPr lang="pt-BR" dirty="0"/>
              <a:t>problemas combinatórios</a:t>
            </a:r>
          </a:p>
          <a:p>
            <a:r>
              <a:rPr lang="pt-BR"/>
              <a:t>planejamento e alocação de recursos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72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7918</TotalTime>
  <Words>357</Words>
  <Application>Microsoft Office PowerPoint</Application>
  <PresentationFormat>Widescreen</PresentationFormat>
  <Paragraphs>55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C24 – Inteligência Artificial: Metaheurísticas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1732</cp:revision>
  <dcterms:created xsi:type="dcterms:W3CDTF">2020-01-20T13:50:05Z</dcterms:created>
  <dcterms:modified xsi:type="dcterms:W3CDTF">2026-02-17T01:02:42Z</dcterms:modified>
</cp:coreProperties>
</file>