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84" r:id="rId3"/>
    <p:sldId id="397" r:id="rId4"/>
    <p:sldId id="258" r:id="rId5"/>
    <p:sldId id="294" r:id="rId6"/>
    <p:sldId id="286" r:id="rId7"/>
    <p:sldId id="285" r:id="rId8"/>
    <p:sldId id="401" r:id="rId9"/>
    <p:sldId id="287" r:id="rId10"/>
    <p:sldId id="400" r:id="rId11"/>
    <p:sldId id="296" r:id="rId12"/>
    <p:sldId id="413" r:id="rId13"/>
    <p:sldId id="414" r:id="rId14"/>
    <p:sldId id="415" r:id="rId15"/>
    <p:sldId id="298" r:id="rId16"/>
    <p:sldId id="290" r:id="rId17"/>
    <p:sldId id="291" r:id="rId18"/>
    <p:sldId id="417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292" r:id="rId27"/>
    <p:sldId id="299" r:id="rId28"/>
    <p:sldId id="419" r:id="rId29"/>
    <p:sldId id="420" r:id="rId30"/>
    <p:sldId id="421" r:id="rId31"/>
    <p:sldId id="422" r:id="rId32"/>
    <p:sldId id="423" r:id="rId33"/>
    <p:sldId id="418" r:id="rId34"/>
    <p:sldId id="411" r:id="rId35"/>
    <p:sldId id="293" r:id="rId36"/>
    <p:sldId id="300" r:id="rId37"/>
    <p:sldId id="398" r:id="rId38"/>
    <p:sldId id="338" r:id="rId39"/>
    <p:sldId id="395" r:id="rId40"/>
    <p:sldId id="396" r:id="rId41"/>
    <p:sldId id="306" r:id="rId42"/>
    <p:sldId id="265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5" autoAdjust="0"/>
    <p:restoredTop sz="85351" autoAdjust="0"/>
  </p:normalViewPr>
  <p:slideViewPr>
    <p:cSldViewPr snapToGrid="0">
      <p:cViewPr varScale="1">
        <p:scale>
          <a:sx n="94" d="100"/>
          <a:sy n="9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82C08-3EFC-4473-8294-F0E229C19EFF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0A2A4-8C14-4B1A-AD48-7B6401078BF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13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imoore/intro-to-exploratory-data-analysis-eda-in-python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9332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637E2-97BB-CFD3-DBB7-5EC561A4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7BD22-361E-0DCE-46D8-42A9C128E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5AE5E-1008-C289-F444-04515B31A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 </a:t>
            </a:r>
            <a:r>
              <a:rPr lang="pt-BR" b="1" dirty="0">
                <a:solidFill>
                  <a:srgbClr val="7030A0"/>
                </a:solidFill>
              </a:rPr>
              <a:t>descobrir propriedades úteis dos dados disponíveis</a:t>
            </a:r>
            <a:r>
              <a:rPr lang="pt-BR" dirty="0"/>
              <a:t>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5BAB2-4C6F-96F0-D4ED-0C66FFB48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298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</a:t>
            </a:r>
            <a:r>
              <a:rPr lang="pt-BR" b="1" dirty="0"/>
              <a:t>clusterização</a:t>
            </a:r>
            <a:r>
              <a:rPr lang="pt-BR" dirty="0"/>
              <a:t>, um </a:t>
            </a:r>
            <a:r>
              <a:rPr lang="pt-BR" b="1" dirty="0"/>
              <a:t>centroide</a:t>
            </a:r>
            <a:r>
              <a:rPr lang="pt-BR" dirty="0"/>
              <a:t> é o ponto central de um grupo (cluster) de dados. Ele representa a "média" das amostras dentro do cluster, sendo um ponto de referência que pode ser usado para definir a posição do cluster no espaço de características.</a:t>
            </a:r>
          </a:p>
          <a:p>
            <a:r>
              <a:rPr lang="pt-BR" b="1" dirty="0"/>
              <a:t>Características principais: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centroide é geralmente calculado como a </a:t>
            </a:r>
            <a:r>
              <a:rPr lang="pt-BR" b="1" dirty="0"/>
              <a:t>média aritmética</a:t>
            </a:r>
            <a:r>
              <a:rPr lang="pt-BR" dirty="0"/>
              <a:t> das coordenadas de todos os pontos do cluster.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No caso de algoritmos como </a:t>
            </a:r>
            <a:r>
              <a:rPr lang="pt-BR" b="1" dirty="0"/>
              <a:t>K-</a:t>
            </a:r>
            <a:r>
              <a:rPr lang="pt-BR" b="1" dirty="0" err="1"/>
              <a:t>Means</a:t>
            </a:r>
            <a:r>
              <a:rPr lang="pt-BR" dirty="0"/>
              <a:t>, os centroides são ajustados iterativamente até que os clusters se estabilizem ou atinjam um critério de parada.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centroide </a:t>
            </a:r>
            <a:r>
              <a:rPr lang="pt-BR" b="1" dirty="0"/>
              <a:t>não precisa ser um ponto real</a:t>
            </a:r>
            <a:r>
              <a:rPr lang="pt-BR" dirty="0"/>
              <a:t> no conjunto de dados; ele pode estar em uma posição intermediária entre os pontos.</a:t>
            </a:r>
          </a:p>
          <a:p>
            <a:r>
              <a:rPr lang="pt-BR" b="1" dirty="0"/>
              <a:t>Cálculo do centroide:</a:t>
            </a:r>
          </a:p>
          <a:p>
            <a:r>
              <a:rPr lang="pt-BR" dirty="0"/>
              <a:t>Se o cluster contém </a:t>
            </a:r>
            <a:r>
              <a:rPr lang="pt-BR" dirty="0" err="1"/>
              <a:t>nn</a:t>
            </a:r>
            <a:r>
              <a:rPr lang="pt-BR" dirty="0"/>
              <a:t> pontos de dimensão </a:t>
            </a:r>
            <a:r>
              <a:rPr lang="pt-BR" dirty="0" err="1"/>
              <a:t>dd</a:t>
            </a:r>
            <a:r>
              <a:rPr lang="pt-BR" dirty="0"/>
              <a:t>, as coordenadas do centroide são calculadas como:</a:t>
            </a:r>
          </a:p>
          <a:p>
            <a:r>
              <a:rPr lang="pt-BR" dirty="0"/>
              <a:t>Centroide=(1n∑i=1nxi1,1n∑i=1nxi2,…,1n∑i=1nxid)\</a:t>
            </a:r>
            <a:r>
              <a:rPr lang="pt-BR" dirty="0" err="1"/>
              <a:t>text</a:t>
            </a:r>
            <a:r>
              <a:rPr lang="pt-BR" dirty="0"/>
              <a:t>{Centroide} = \</a:t>
            </a:r>
            <a:r>
              <a:rPr lang="pt-BR" dirty="0" err="1"/>
              <a:t>left</a:t>
            </a:r>
            <a:r>
              <a:rPr lang="pt-BR" dirty="0"/>
              <a:t>( \</a:t>
            </a:r>
            <a:r>
              <a:rPr lang="pt-BR" dirty="0" err="1"/>
              <a:t>frac</a:t>
            </a:r>
            <a:r>
              <a:rPr lang="pt-BR" dirty="0"/>
              <a:t>{1}{n} \sum_{i=1}^{n} x_{i1}, \</a:t>
            </a:r>
            <a:r>
              <a:rPr lang="pt-BR" dirty="0" err="1"/>
              <a:t>frac</a:t>
            </a:r>
            <a:r>
              <a:rPr lang="pt-BR" dirty="0"/>
              <a:t>{1}{n} \sum_{i=1}^{n} x_{i2}, \</a:t>
            </a:r>
            <a:r>
              <a:rPr lang="pt-BR" dirty="0" err="1"/>
              <a:t>ldots</a:t>
            </a:r>
            <a:r>
              <a:rPr lang="pt-BR" dirty="0"/>
              <a:t>, \</a:t>
            </a:r>
            <a:r>
              <a:rPr lang="pt-BR" dirty="0" err="1"/>
              <a:t>frac</a:t>
            </a:r>
            <a:r>
              <a:rPr lang="pt-BR" dirty="0"/>
              <a:t>{1}{n} \sum_{i=1}^{n} x_{id} \</a:t>
            </a:r>
            <a:r>
              <a:rPr lang="pt-BR" dirty="0" err="1"/>
              <a:t>right</a:t>
            </a:r>
            <a:r>
              <a:rPr lang="pt-BR" dirty="0"/>
              <a:t>) </a:t>
            </a:r>
            <a:r>
              <a:rPr lang="pt-BR" b="1" dirty="0"/>
              <a:t>Aplicações: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Serve como ponto de referência para determinar quais amostras pertencem a um cluster (calculando distâncias em algoritmos como K-</a:t>
            </a:r>
            <a:r>
              <a:rPr lang="pt-BR" dirty="0" err="1"/>
              <a:t>Means</a:t>
            </a:r>
            <a:r>
              <a:rPr lang="pt-B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Ajuda na interpretação dos clusters ao indicar a "localização média" de seus elementos.</a:t>
            </a:r>
          </a:p>
          <a:p>
            <a:r>
              <a:rPr lang="pt-BR" b="1" dirty="0"/>
              <a:t>Observação:</a:t>
            </a:r>
          </a:p>
          <a:p>
            <a:r>
              <a:rPr lang="pt-BR" dirty="0"/>
              <a:t>Em algoritmos baseados em densidade, como </a:t>
            </a:r>
            <a:r>
              <a:rPr lang="pt-BR" b="1" dirty="0"/>
              <a:t>DBSCAN</a:t>
            </a:r>
            <a:r>
              <a:rPr lang="pt-BR" dirty="0"/>
              <a:t>, o conceito de centroide pode não ser tão relevante, já que esses métodos não dependem de cálculos baseados na média dos pontos, mas na densidade local.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</a:t>
            </a:r>
            <a:r>
              <a:rPr lang="pt-BR" dirty="0" err="1"/>
              <a:t>entros</a:t>
            </a:r>
            <a:r>
              <a:rPr lang="pt-BR" dirty="0"/>
              <a:t> para redes Bayesianas ou de </a:t>
            </a:r>
            <a:r>
              <a:rPr lang="en-US" dirty="0" err="1"/>
              <a:t>Função</a:t>
            </a:r>
            <a:r>
              <a:rPr lang="en-US" dirty="0"/>
              <a:t> de base radial (</a:t>
            </a:r>
            <a:r>
              <a:rPr lang="pt-BR" dirty="0"/>
              <a:t>RBF): Os classificadores bayesianos e as redes de função de base radial operam com centros,</a:t>
            </a:r>
            <a:r>
              <a:rPr lang="pt-BR" baseline="0" dirty="0"/>
              <a:t> pois utilizam distribuições gaussianas. </a:t>
            </a:r>
            <a:r>
              <a:rPr lang="pt-BR" dirty="0"/>
              <a:t>Geralmente, os centros são identificados com os vetores de atributos dos exemplos individuais.</a:t>
            </a:r>
            <a:r>
              <a:rPr lang="pt-BR" baseline="0" dirty="0"/>
              <a:t> </a:t>
            </a:r>
            <a:r>
              <a:rPr lang="pt-BR" dirty="0"/>
              <a:t>No entanto, isso levaria a classificadores impraticavelmente grandes em domínios com milhões de exemplos. O engenheiro então prefere dividir o conjunto de treinamento em N clusters e identificar os centros gaussianos com os </a:t>
            </a:r>
            <a:r>
              <a:rPr lang="pt-BR" dirty="0" err="1"/>
              <a:t>centróides</a:t>
            </a:r>
            <a:r>
              <a:rPr lang="pt-BR" dirty="0"/>
              <a:t> dos clusters.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Estimativas de valores de atributos desconhecidos 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casos onde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alguns valores de atributos às vezes são desconhecidos.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forma simples de lidar com esta questão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usar 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estimativa do valor ausente como sendo a média ou o valor mais frequente de um determinado cluster.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Esta é uma abordagem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sólida porque usa mais informações sobre a natureza do domínio.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ferramentas de visualização de dados multidimensionais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Auxiliares para criação de classificadores mais simples: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conhecimento de clusters de dados pode ser útil no aprendizado supervisionado. É bastante comum que todos (ou quase todos) os exemplos em um cluster pertençam à mesma classe. Nesse caso, o desenvolvedor de um software de aprendizado supervisionado pode decidir primeiro identificar os clusters e depois rotular cada cluster (todos os exemplos que pertencem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ao cluster)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sua classe dominante.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288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714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Se os atributos forem numéricos, o </a:t>
            </a:r>
            <a:r>
              <a:rPr lang="pt-BR" b="1" dirty="0">
                <a:solidFill>
                  <a:srgbClr val="7030A0"/>
                </a:solidFill>
              </a:rPr>
              <a:t>centroide</a:t>
            </a:r>
            <a:r>
              <a:rPr lang="pt-BR" dirty="0"/>
              <a:t> é obtido através das </a:t>
            </a:r>
            <a:r>
              <a:rPr lang="pt-BR" b="1" dirty="0">
                <a:solidFill>
                  <a:srgbClr val="00B050"/>
                </a:solidFill>
              </a:rPr>
              <a:t>médias individuais dos atributos</a:t>
            </a:r>
            <a:r>
              <a:rPr lang="pt-BR" dirty="0"/>
              <a:t>.</a:t>
            </a: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858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555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69D2-AA2F-1FAB-FC58-E17B9F05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A38404-D7C9-03F2-A7E5-10C0EFC8F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8313F1-5D52-52B4-46D0-20D6D6D51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Não se aplica clusterização a dados categóricos, mesmo que sejam ordinais:</a:t>
            </a:r>
          </a:p>
          <a:p>
            <a:r>
              <a:rPr lang="pt-BR" dirty="0"/>
              <a:t>Nós sabemos quem é maior ou menor, mas não “quanto maior” </a:t>
            </a:r>
          </a:p>
          <a:p>
            <a:r>
              <a:rPr lang="pt-BR" dirty="0"/>
              <a:t>Em dados ordinais, a diferença entre 1→2 pode não ser igual a 4→5</a:t>
            </a:r>
          </a:p>
          <a:p>
            <a:endParaRPr lang="pt-BR" dirty="0"/>
          </a:p>
          <a:p>
            <a:r>
              <a:rPr lang="pt-BR" b="1" dirty="0"/>
              <a:t>K-</a:t>
            </a:r>
            <a:r>
              <a:rPr lang="pt-BR" b="1" dirty="0" err="1"/>
              <a:t>prototypes</a:t>
            </a:r>
            <a:r>
              <a:rPr lang="pt-BR" dirty="0"/>
              <a:t> combina: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distância euclidiana (numérico)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distância de </a:t>
            </a:r>
            <a:r>
              <a:rPr lang="pt-BR" dirty="0" err="1"/>
              <a:t>Hamming</a:t>
            </a:r>
            <a:r>
              <a:rPr lang="pt-BR" dirty="0"/>
              <a:t> (categórico)</a:t>
            </a:r>
          </a:p>
          <a:p>
            <a:endParaRPr lang="pt-BR" dirty="0"/>
          </a:p>
          <a:p>
            <a:r>
              <a:rPr lang="pt-BR" b="1" dirty="0" err="1"/>
              <a:t>K-modes</a:t>
            </a: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usa “moda” em vez de média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mede dissimilaridade por diferenças</a:t>
            </a:r>
          </a:p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8A95A6-CC49-168A-C37A-1C6EB3B93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804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K-</a:t>
            </a:r>
            <a:r>
              <a:rPr lang="pt-BR" dirty="0" err="1"/>
              <a:t>Means</a:t>
            </a:r>
            <a:r>
              <a:rPr lang="pt-BR" dirty="0"/>
              <a:t> encerra o treinamento com base em </a:t>
            </a:r>
            <a:r>
              <a:rPr lang="pt-BR" b="1" dirty="0"/>
              <a:t>critérios de convergência</a:t>
            </a:r>
            <a:r>
              <a:rPr lang="pt-BR" dirty="0"/>
              <a:t> que indicam quando o algoritmo atingiu um estado estável ou suficiente para parar. Esses critérios incluem:</a:t>
            </a:r>
          </a:p>
          <a:p>
            <a:r>
              <a:rPr lang="pt-BR" b="1" dirty="0"/>
              <a:t>1. Estabilização dos Centroides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algoritmo para quando os </a:t>
            </a:r>
            <a:r>
              <a:rPr lang="pt-BR" b="1" dirty="0"/>
              <a:t>centroides não se movem mais significativamente</a:t>
            </a:r>
            <a:r>
              <a:rPr lang="pt-BR" dirty="0"/>
              <a:t> entre iterações.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Concretamente, isso significa que os deslocamentos dos centroides são menores que um limite pré-definido (ϵ\</a:t>
            </a:r>
            <a:r>
              <a:rPr lang="pt-BR" dirty="0" err="1"/>
              <a:t>epsilon</a:t>
            </a:r>
            <a:r>
              <a:rPr lang="pt-BR" dirty="0"/>
              <a:t>).</a:t>
            </a:r>
          </a:p>
          <a:p>
            <a:r>
              <a:rPr lang="pt-BR" dirty="0"/>
              <a:t>∥novo centroide−antigo centroide∥&lt;ϵ\|\</a:t>
            </a:r>
            <a:r>
              <a:rPr lang="pt-BR" dirty="0" err="1"/>
              <a:t>text</a:t>
            </a:r>
            <a:r>
              <a:rPr lang="pt-BR" dirty="0"/>
              <a:t>{novo centroide} - \</a:t>
            </a:r>
            <a:r>
              <a:rPr lang="pt-BR" dirty="0" err="1"/>
              <a:t>text</a:t>
            </a:r>
            <a:r>
              <a:rPr lang="pt-BR" dirty="0"/>
              <a:t>{antigo centroide}\| &lt; \</a:t>
            </a:r>
            <a:r>
              <a:rPr lang="pt-BR" dirty="0" err="1"/>
              <a:t>epsilon</a:t>
            </a:r>
            <a:r>
              <a:rPr lang="pt-BR" dirty="0"/>
              <a:t> </a:t>
            </a:r>
            <a:r>
              <a:rPr lang="pt-BR" b="1" dirty="0"/>
              <a:t>2. Estabilização das Atribuições de Cluster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 os pontos não mudarem de cluster entre iterações, o K-</a:t>
            </a:r>
            <a:r>
              <a:rPr lang="pt-BR" dirty="0" err="1"/>
              <a:t>Means</a:t>
            </a:r>
            <a:r>
              <a:rPr lang="pt-BR" dirty="0"/>
              <a:t> considera que atingiu a convergência.</a:t>
            </a:r>
          </a:p>
          <a:p>
            <a:r>
              <a:rPr lang="pt-BR" b="1" dirty="0"/>
              <a:t>3. Número Máximo de Iterações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limite máximo de iterações pode ser imposto (</a:t>
            </a:r>
            <a:r>
              <a:rPr lang="pt-BR" dirty="0" err="1"/>
              <a:t>max_itermax</a:t>
            </a:r>
            <a:r>
              <a:rPr lang="pt-BR" dirty="0"/>
              <a:t>\_iter) para evitar que o algoritmo continue indefinidamente, especialmente em casos em que a convergência é difícil de alcançar.</a:t>
            </a:r>
          </a:p>
          <a:p>
            <a:r>
              <a:rPr lang="pt-BR" b="1" dirty="0"/>
              <a:t>4. Convergência da Função Objetivo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algoritmo minimiza a </a:t>
            </a:r>
            <a:r>
              <a:rPr lang="pt-BR" b="1" dirty="0"/>
              <a:t>soma dos erros quadráticos </a:t>
            </a:r>
            <a:r>
              <a:rPr lang="pt-BR" b="1" dirty="0" err="1"/>
              <a:t>intra-cluster</a:t>
            </a:r>
            <a:r>
              <a:rPr lang="pt-BR" b="1" dirty="0"/>
              <a:t> (WSS)</a:t>
            </a:r>
            <a:r>
              <a:rPr lang="pt-BR" dirty="0"/>
              <a:t>, definida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WSS=∑i=1k∑x∈Ci∥x−μi∥2\</a:t>
            </a:r>
            <a:r>
              <a:rPr lang="pt-BR" dirty="0" err="1"/>
              <a:t>text</a:t>
            </a:r>
            <a:r>
              <a:rPr lang="pt-BR" dirty="0"/>
              <a:t>{WSS} = \sum_{i=1}^{k} \sum_{x \in </a:t>
            </a:r>
            <a:r>
              <a:rPr lang="pt-BR" dirty="0" err="1"/>
              <a:t>C_i</a:t>
            </a:r>
            <a:r>
              <a:rPr lang="pt-BR" dirty="0"/>
              <a:t>} \|\</a:t>
            </a:r>
            <a:r>
              <a:rPr lang="pt-BR" dirty="0" err="1"/>
              <a:t>mathbf</a:t>
            </a:r>
            <a:r>
              <a:rPr lang="pt-BR" dirty="0"/>
              <a:t>{x} - \</a:t>
            </a:r>
            <a:r>
              <a:rPr lang="pt-BR" dirty="0" err="1"/>
              <a:t>mu_i</a:t>
            </a:r>
            <a:r>
              <a:rPr lang="pt-BR" dirty="0"/>
              <a:t>\|^2 O K-</a:t>
            </a:r>
            <a:r>
              <a:rPr lang="pt-BR" dirty="0" err="1"/>
              <a:t>Means</a:t>
            </a:r>
            <a:r>
              <a:rPr lang="pt-BR" dirty="0"/>
              <a:t> para quando a redução no WSSWSS entre iterações consecutivas é menor que um limiar (Δ\Delta).</a:t>
            </a:r>
          </a:p>
          <a:p>
            <a:r>
              <a:rPr lang="pt-BR" b="1" dirty="0"/>
              <a:t>Processo Geral: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Inicialização</a:t>
            </a:r>
            <a:r>
              <a:rPr lang="pt-BR" dirty="0"/>
              <a:t>: Escolher </a:t>
            </a:r>
            <a:r>
              <a:rPr lang="pt-BR" dirty="0" err="1"/>
              <a:t>kk</a:t>
            </a:r>
            <a:r>
              <a:rPr lang="pt-BR" dirty="0"/>
              <a:t> centroides iniciais (aleatoriamente ou por métodos como K-</a:t>
            </a:r>
            <a:r>
              <a:rPr lang="pt-BR" dirty="0" err="1"/>
              <a:t>Means</a:t>
            </a:r>
            <a:r>
              <a:rPr lang="pt-BR" dirty="0"/>
              <a:t>++).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Passo de Atribuição</a:t>
            </a:r>
            <a:r>
              <a:rPr lang="pt-BR" dirty="0"/>
              <a:t>: Atribuir cada ponto ao cluster mais próximo (com base na distância, normalmente Euclidiana).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Passo de Atualização</a:t>
            </a:r>
            <a:r>
              <a:rPr lang="pt-BR" dirty="0"/>
              <a:t>: Recalcular os centroides como a média dos pontos atribuídos a cada cluster.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Verificação do Critério de Parada</a:t>
            </a:r>
            <a:r>
              <a:rPr lang="pt-BR" dirty="0"/>
              <a:t>: Verificar se algum dos critérios acima foi atendido. Caso contrário, repetir os passos 2 e 3.</a:t>
            </a:r>
          </a:p>
          <a:p>
            <a:r>
              <a:rPr lang="pt-BR" b="1" dirty="0"/>
              <a:t>Convergência e Garantias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K-</a:t>
            </a:r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b="1" dirty="0"/>
              <a:t>sempre converge</a:t>
            </a:r>
            <a:r>
              <a:rPr lang="pt-BR" dirty="0"/>
              <a:t>, mas pode parar em mínimos locais (não garante o ótimo global).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Para melhorar a convergência, pode-se: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Usar inicialização inteligente (como K-</a:t>
            </a:r>
            <a:r>
              <a:rPr lang="pt-BR" dirty="0" err="1"/>
              <a:t>Means</a:t>
            </a:r>
            <a:r>
              <a:rPr lang="pt-BR" dirty="0"/>
              <a:t>++).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Executar o algoritmo várias vezes com diferentes inicializações e escolher o melhor resultado.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659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9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560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https://colab.research.google.com/github/zz4fap/tp557-iot-ml/blob/main/examples/k_means_centros_de_distribui%C3%A7%C3%A3o.ipynb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769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dirty="0">
                <a:solidFill>
                  <a:srgbClr val="00B0F0"/>
                </a:solidFill>
              </a:rPr>
              <a:t>E</a:t>
            </a:r>
            <a:r>
              <a:rPr lang="pt-BR" dirty="0"/>
              <a:t>xemplo:</a:t>
            </a:r>
            <a:r>
              <a:rPr lang="pt-BR" baseline="0" dirty="0"/>
              <a:t> </a:t>
            </a:r>
            <a:r>
              <a:rPr lang="pt-BR" dirty="0"/>
              <a:t>https://colab.research.google.com/github/zz4fap/t320_aprendizado_de_maquina/blob/main/notebooks/clustering/kmeans_example.ipynb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dirty="0">
              <a:solidFill>
                <a:srgbClr val="00B0F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dirty="0">
              <a:solidFill>
                <a:srgbClr val="00B0F0"/>
              </a:solidFill>
            </a:endParaRPr>
          </a:p>
          <a:p>
            <a:r>
              <a:rPr lang="pt-BR" dirty="0"/>
              <a:t>Identificar o melhor número de clusters (</a:t>
            </a:r>
            <a:r>
              <a:rPr lang="pt-BR" dirty="0" err="1"/>
              <a:t>kk</a:t>
            </a:r>
            <a:r>
              <a:rPr lang="pt-BR" dirty="0"/>
              <a:t>) no K-</a:t>
            </a:r>
            <a:r>
              <a:rPr lang="pt-BR" dirty="0" err="1"/>
              <a:t>Means</a:t>
            </a:r>
            <a:r>
              <a:rPr lang="pt-BR" dirty="0"/>
              <a:t> é um passo fundamental para garantir a eficiência e a utilidade da clusterização. Existem várias abordagens para determinar o valor ideal de </a:t>
            </a:r>
            <a:r>
              <a:rPr lang="pt-BR" dirty="0" err="1"/>
              <a:t>kk</a:t>
            </a:r>
            <a:r>
              <a:rPr lang="pt-BR" dirty="0"/>
              <a:t>. As mais comuns incluem:</a:t>
            </a:r>
          </a:p>
          <a:p>
            <a:r>
              <a:rPr lang="pt-BR" b="1" dirty="0"/>
              <a:t>1. Método do Cotovelo (</a:t>
            </a:r>
            <a:r>
              <a:rPr lang="pt-BR" b="1" dirty="0" err="1"/>
              <a:t>Elbow</a:t>
            </a:r>
            <a:r>
              <a:rPr lang="pt-BR" b="1" dirty="0"/>
              <a:t> </a:t>
            </a:r>
            <a:r>
              <a:rPr lang="pt-BR" b="1" dirty="0" err="1"/>
              <a:t>Method</a:t>
            </a:r>
            <a:r>
              <a:rPr lang="pt-BR" b="1" dirty="0"/>
              <a:t>)</a:t>
            </a:r>
          </a:p>
          <a:p>
            <a:r>
              <a:rPr lang="pt-BR" dirty="0"/>
              <a:t>Este método analisa a variação da </a:t>
            </a:r>
            <a:r>
              <a:rPr lang="pt-BR" b="1" dirty="0"/>
              <a:t>inércia </a:t>
            </a:r>
            <a:r>
              <a:rPr lang="pt-BR" b="1" dirty="0" err="1"/>
              <a:t>intra-cluster</a:t>
            </a:r>
            <a:r>
              <a:rPr lang="pt-BR" dirty="0"/>
              <a:t> (ou soma dos erros quadráticos dentro dos clusters, WSSWSS) à medida que o número de clusters aumenta.</a:t>
            </a:r>
          </a:p>
          <a:p>
            <a:r>
              <a:rPr lang="pt-BR" b="1" dirty="0"/>
              <a:t>Passos:</a:t>
            </a:r>
          </a:p>
          <a:p>
            <a:pPr>
              <a:buFont typeface="+mj-lt"/>
              <a:buAutoNum type="arabicPeriod"/>
            </a:pPr>
            <a:r>
              <a:rPr lang="pt-BR" dirty="0"/>
              <a:t>Execute o K-</a:t>
            </a:r>
            <a:r>
              <a:rPr lang="pt-BR" dirty="0" err="1"/>
              <a:t>Means</a:t>
            </a:r>
            <a:r>
              <a:rPr lang="pt-BR" dirty="0"/>
              <a:t> com diferentes valores de </a:t>
            </a:r>
            <a:r>
              <a:rPr lang="pt-BR" dirty="0" err="1"/>
              <a:t>kk</a:t>
            </a:r>
            <a:r>
              <a:rPr lang="pt-BR" dirty="0"/>
              <a:t> (por exemplo, k=1k=1 a k=10k=10).</a:t>
            </a:r>
          </a:p>
          <a:p>
            <a:pPr>
              <a:buFont typeface="+mj-lt"/>
              <a:buAutoNum type="arabicPeriod"/>
            </a:pPr>
            <a:r>
              <a:rPr lang="pt-BR" dirty="0"/>
              <a:t>Calcule o WSSWSS para cada valor de </a:t>
            </a:r>
            <a:r>
              <a:rPr lang="pt-BR" dirty="0" err="1"/>
              <a:t>kk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Trace um gráfico do WSSWSS em função de </a:t>
            </a:r>
            <a:r>
              <a:rPr lang="pt-BR" dirty="0" err="1"/>
              <a:t>kk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Identifique o "cotovelo" no gráfico — o ponto onde a redução no WSSWSS se torna menos significativa.</a:t>
            </a:r>
          </a:p>
          <a:p>
            <a:r>
              <a:rPr lang="pt-BR" b="1" dirty="0"/>
              <a:t>Observação:</a:t>
            </a:r>
          </a:p>
          <a:p>
            <a:r>
              <a:rPr lang="pt-BR" dirty="0"/>
              <a:t>O "cotovelo" indica que aumentar </a:t>
            </a:r>
            <a:r>
              <a:rPr lang="pt-BR" dirty="0" err="1"/>
              <a:t>kk</a:t>
            </a:r>
            <a:r>
              <a:rPr lang="pt-BR" dirty="0"/>
              <a:t> além desse ponto não resulta em uma melhoria substancial na compactação dos clusters.</a:t>
            </a:r>
          </a:p>
          <a:p>
            <a:r>
              <a:rPr lang="pt-BR" b="1" dirty="0"/>
              <a:t>2. Coeficiente de Silhueta (</a:t>
            </a:r>
            <a:r>
              <a:rPr lang="pt-BR" b="1" dirty="0" err="1"/>
              <a:t>Silhouette</a:t>
            </a:r>
            <a:r>
              <a:rPr lang="pt-BR" b="1" dirty="0"/>
              <a:t> Score)</a:t>
            </a:r>
          </a:p>
          <a:p>
            <a:r>
              <a:rPr lang="pt-BR" dirty="0"/>
              <a:t>O coeficiente de silhueta avalia a </a:t>
            </a:r>
            <a:r>
              <a:rPr lang="pt-BR" b="1" dirty="0"/>
              <a:t>qualidade da clusterização</a:t>
            </a:r>
            <a:r>
              <a:rPr lang="pt-BR" dirty="0"/>
              <a:t>, considerando a coesão dentro dos clusters e a separação entre eles.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s=b−</a:t>
            </a:r>
            <a:r>
              <a:rPr lang="pt-BR" dirty="0" err="1"/>
              <a:t>amax</a:t>
            </a:r>
            <a:r>
              <a:rPr lang="pt-BR" dirty="0"/>
              <a:t>⁡(</a:t>
            </a:r>
            <a:r>
              <a:rPr lang="pt-BR" dirty="0" err="1"/>
              <a:t>a,b</a:t>
            </a:r>
            <a:r>
              <a:rPr lang="pt-BR" dirty="0"/>
              <a:t>)s = \</a:t>
            </a:r>
            <a:r>
              <a:rPr lang="pt-BR" dirty="0" err="1"/>
              <a:t>frac</a:t>
            </a:r>
            <a:r>
              <a:rPr lang="pt-BR" dirty="0"/>
              <a:t>{b - a}{\</a:t>
            </a:r>
            <a:r>
              <a:rPr lang="pt-BR" dirty="0" err="1"/>
              <a:t>max</a:t>
            </a:r>
            <a:r>
              <a:rPr lang="pt-BR" dirty="0"/>
              <a:t>(a, b)} aa: distância média de um ponto para os outros pontos do mesmo cluster.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bb</a:t>
            </a:r>
            <a:r>
              <a:rPr lang="pt-BR" dirty="0"/>
              <a:t>: distância média de um ponto para os pontos do cluster mais próximo.</a:t>
            </a:r>
          </a:p>
          <a:p>
            <a:r>
              <a:rPr lang="pt-BR" b="1" dirty="0"/>
              <a:t>Passos:</a:t>
            </a:r>
          </a:p>
          <a:p>
            <a:pPr>
              <a:buFont typeface="+mj-lt"/>
              <a:buAutoNum type="arabicPeriod"/>
            </a:pPr>
            <a:r>
              <a:rPr lang="pt-BR" dirty="0"/>
              <a:t>Execute o K-</a:t>
            </a:r>
            <a:r>
              <a:rPr lang="pt-BR" dirty="0" err="1"/>
              <a:t>Means</a:t>
            </a:r>
            <a:r>
              <a:rPr lang="pt-BR" dirty="0"/>
              <a:t> para diferentes valores de </a:t>
            </a:r>
            <a:r>
              <a:rPr lang="pt-BR" dirty="0" err="1"/>
              <a:t>kk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Calcule o coeficiente de silhueta para cada ponto e, em seguida, a média para o conjunto.</a:t>
            </a:r>
          </a:p>
          <a:p>
            <a:pPr>
              <a:buFont typeface="+mj-lt"/>
              <a:buAutoNum type="arabicPeriod"/>
            </a:pPr>
            <a:r>
              <a:rPr lang="pt-BR" dirty="0"/>
              <a:t>Escolha </a:t>
            </a:r>
            <a:r>
              <a:rPr lang="pt-BR" dirty="0" err="1"/>
              <a:t>kk</a:t>
            </a:r>
            <a:r>
              <a:rPr lang="pt-BR" dirty="0"/>
              <a:t> que maximize o valor médio do coeficiente de silhueta.</a:t>
            </a:r>
          </a:p>
          <a:p>
            <a:r>
              <a:rPr lang="pt-BR" b="1" dirty="0"/>
              <a:t>3. Critério Gap </a:t>
            </a:r>
            <a:r>
              <a:rPr lang="pt-BR" b="1" dirty="0" err="1"/>
              <a:t>Statistic</a:t>
            </a:r>
            <a:endParaRPr lang="pt-BR" b="1" dirty="0"/>
          </a:p>
          <a:p>
            <a:r>
              <a:rPr lang="pt-BR" dirty="0"/>
              <a:t>Este método compara a dispersão dos clusters no conjunto de dados com uma dispersão esperada de um conjunto de dados gerado aleatoriamente.</a:t>
            </a:r>
          </a:p>
          <a:p>
            <a:r>
              <a:rPr lang="pt-BR" b="1" dirty="0"/>
              <a:t>Passos:</a:t>
            </a:r>
          </a:p>
          <a:p>
            <a:pPr>
              <a:buFont typeface="+mj-lt"/>
              <a:buAutoNum type="arabicPeriod"/>
            </a:pPr>
            <a:r>
              <a:rPr lang="pt-BR" dirty="0"/>
              <a:t>Execute o K-</a:t>
            </a:r>
            <a:r>
              <a:rPr lang="pt-BR" dirty="0" err="1"/>
              <a:t>Means</a:t>
            </a:r>
            <a:r>
              <a:rPr lang="pt-BR" dirty="0"/>
              <a:t> para diferentes valores de </a:t>
            </a:r>
            <a:r>
              <a:rPr lang="pt-BR" dirty="0" err="1"/>
              <a:t>kk</a:t>
            </a:r>
            <a:r>
              <a:rPr lang="pt-BR" dirty="0"/>
              <a:t> no conjunto de dados real.</a:t>
            </a:r>
          </a:p>
          <a:p>
            <a:pPr>
              <a:buFont typeface="+mj-lt"/>
              <a:buAutoNum type="arabicPeriod"/>
            </a:pPr>
            <a:r>
              <a:rPr lang="pt-BR" dirty="0"/>
              <a:t>Gere um conjunto de dados aleatório com a mesma distribuição e calcule a dispersão dos clusters.</a:t>
            </a:r>
          </a:p>
          <a:p>
            <a:pPr>
              <a:buFont typeface="+mj-lt"/>
              <a:buAutoNum type="arabicPeriod"/>
            </a:pPr>
            <a:r>
              <a:rPr lang="pt-BR" dirty="0"/>
              <a:t>Compare as dispersões e encontre </a:t>
            </a:r>
            <a:r>
              <a:rPr lang="pt-BR" dirty="0" err="1"/>
              <a:t>kk</a:t>
            </a:r>
            <a:r>
              <a:rPr lang="pt-BR" dirty="0"/>
              <a:t> que maximize a diferença (gap) entre os dois conjuntos.</a:t>
            </a:r>
          </a:p>
          <a:p>
            <a:r>
              <a:rPr lang="pt-BR" b="1" dirty="0"/>
              <a:t>4. Validação Cruzada</a:t>
            </a:r>
          </a:p>
          <a:p>
            <a:r>
              <a:rPr lang="pt-BR" dirty="0"/>
              <a:t>Divida o conjunto de dados em subconjuntos e avalie a consistência dos clusters em diferentes amostras.</a:t>
            </a:r>
          </a:p>
          <a:p>
            <a:r>
              <a:rPr lang="pt-BR" b="1" dirty="0"/>
              <a:t>5. Métodos Automáticos, como X-</a:t>
            </a:r>
            <a:r>
              <a:rPr lang="pt-BR" b="1" dirty="0" err="1"/>
              <a:t>Means</a:t>
            </a:r>
            <a:r>
              <a:rPr lang="pt-BR" b="1" dirty="0"/>
              <a:t> e G-</a:t>
            </a:r>
            <a:r>
              <a:rPr lang="pt-BR" b="1" dirty="0" err="1"/>
              <a:t>Means</a:t>
            </a: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X-</a:t>
            </a:r>
            <a:r>
              <a:rPr lang="pt-BR" b="1" dirty="0" err="1"/>
              <a:t>Means</a:t>
            </a:r>
            <a:r>
              <a:rPr lang="pt-BR" dirty="0"/>
              <a:t>: Extensão do K-</a:t>
            </a:r>
            <a:r>
              <a:rPr lang="pt-BR" dirty="0" err="1"/>
              <a:t>Means</a:t>
            </a:r>
            <a:r>
              <a:rPr lang="pt-BR" dirty="0"/>
              <a:t> que escolhe automaticamente </a:t>
            </a:r>
            <a:r>
              <a:rPr lang="pt-BR" dirty="0" err="1"/>
              <a:t>kk</a:t>
            </a:r>
            <a:r>
              <a:rPr lang="pt-BR" dirty="0"/>
              <a:t> otimizando o critério Bayesiano.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G-</a:t>
            </a:r>
            <a:r>
              <a:rPr lang="pt-BR" b="1" dirty="0" err="1"/>
              <a:t>Means</a:t>
            </a:r>
            <a:r>
              <a:rPr lang="pt-BR" dirty="0"/>
              <a:t>: Usa testes estatísticos para determinar se os clusters seguem uma distribuição gaussiana.</a:t>
            </a:r>
          </a:p>
          <a:p>
            <a:r>
              <a:rPr lang="pt-BR" b="1" dirty="0"/>
              <a:t>Considerações: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Dimensão dos dados</a:t>
            </a:r>
            <a:r>
              <a:rPr lang="pt-BR" dirty="0"/>
              <a:t>: Em alta dimensionalidade, os métodos podem se tornar menos claros devido à maldição da dimensionalidade.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Interpretação</a:t>
            </a:r>
            <a:r>
              <a:rPr lang="pt-BR" dirty="0"/>
              <a:t>: O número de clusters deve fazer sentido no contexto do problema, além de ser estatisticamente válido.</a:t>
            </a:r>
          </a:p>
          <a:p>
            <a:r>
              <a:rPr lang="pt-BR" dirty="0"/>
              <a:t>Combinar múltiplos métodos pode ser útil para confirmar a escolha do melhor </a:t>
            </a:r>
            <a:r>
              <a:rPr lang="pt-BR" dirty="0" err="1"/>
              <a:t>kk</a:t>
            </a:r>
            <a:r>
              <a:rPr lang="pt-BR" dirty="0"/>
              <a:t>.</a:t>
            </a: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294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Referencias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144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14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21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66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96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41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25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59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06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95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58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D0464-8C8A-49C0-859F-777E51766A35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2E8FC-741C-4BF1-B071-7D772D706EF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github/zz4fap/t320_aprendizado_de_maquina/blob/main/notebooks/clustering/kmeans_example.ipynb" TargetMode="Externa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scikit-learn.org/1.5/auto_examples/cluster/plot_kmeans_silhouette_analysis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clustering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C24 - Inteligência Artificial:</a:t>
            </a:r>
            <a:br>
              <a:rPr lang="pt-BR" sz="7200" dirty="0"/>
            </a:br>
            <a:r>
              <a:rPr lang="pt-BR" sz="7200" b="1" i="1" dirty="0"/>
              <a:t>k-</a:t>
            </a:r>
            <a:r>
              <a:rPr lang="pt-BR" sz="7200" b="1" i="1" dirty="0" err="1"/>
              <a:t>Means</a:t>
            </a:r>
            <a:endParaRPr lang="pt-BR" sz="7200" b="1" i="1" dirty="0"/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Recapitulando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4"/>
            <a:ext cx="11223172" cy="5032376"/>
          </a:xfrm>
        </p:spPr>
        <p:txBody>
          <a:bodyPr>
            <a:normAutofit/>
          </a:bodyPr>
          <a:lstStyle/>
          <a:p>
            <a:r>
              <a:rPr lang="pt-BR" dirty="0"/>
              <a:t>Até o momento, todos os algoritmos que aprendemos seguiam o paradigma do aprendizado supervisionado.</a:t>
            </a:r>
          </a:p>
          <a:p>
            <a:r>
              <a:rPr lang="pt-BR" dirty="0"/>
              <a:t>Hoje, falaremos sobre </a:t>
            </a:r>
            <a:r>
              <a:rPr lang="pt-BR" b="1" i="1" dirty="0"/>
              <a:t>clustering</a:t>
            </a:r>
            <a:r>
              <a:rPr lang="pt-BR" dirty="0"/>
              <a:t>, que são algoritmos de </a:t>
            </a:r>
            <a:r>
              <a:rPr lang="pt-BR" b="1" dirty="0"/>
              <a:t>aprendizado não-supervisionado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Não temos rótulos, apenas atributos.</a:t>
            </a:r>
          </a:p>
          <a:p>
            <a:r>
              <a:rPr lang="pt-BR" dirty="0"/>
              <a:t>Eles visam criar agrupamentos de dados (chamados de </a:t>
            </a:r>
            <a:r>
              <a:rPr lang="pt-BR" b="1" i="1" dirty="0"/>
              <a:t>clusters</a:t>
            </a:r>
            <a:r>
              <a:rPr lang="pt-BR" b="1" dirty="0"/>
              <a:t> </a:t>
            </a:r>
            <a:r>
              <a:rPr lang="pt-BR" dirty="0"/>
              <a:t>ou</a:t>
            </a:r>
            <a:r>
              <a:rPr lang="pt-BR" b="1" dirty="0"/>
              <a:t> grupos</a:t>
            </a:r>
            <a:r>
              <a:rPr lang="pt-BR" dirty="0"/>
              <a:t>) segundo seu </a:t>
            </a:r>
            <a:r>
              <a:rPr lang="pt-BR" b="1" dirty="0">
                <a:solidFill>
                  <a:srgbClr val="00B050"/>
                </a:solidFill>
              </a:rPr>
              <a:t>grau de semelhança</a:t>
            </a:r>
            <a:r>
              <a:rPr lang="pt-BR" dirty="0"/>
              <a:t>. </a:t>
            </a:r>
          </a:p>
          <a:p>
            <a:r>
              <a:rPr lang="pt-BR" dirty="0"/>
              <a:t>Nesta aula, aprenderemos sobre o algoritmo chamado de </a:t>
            </a:r>
            <a:r>
              <a:rPr lang="pt-BR" b="1" dirty="0"/>
              <a:t>k-Médias</a:t>
            </a:r>
            <a:r>
              <a:rPr lang="pt-BR" dirty="0"/>
              <a:t> (ou </a:t>
            </a:r>
            <a:r>
              <a:rPr lang="pt-BR" b="1" i="1" dirty="0"/>
              <a:t>k-</a:t>
            </a:r>
            <a:r>
              <a:rPr lang="pt-BR" b="1" i="1" dirty="0" err="1"/>
              <a:t>Means</a:t>
            </a:r>
            <a:r>
              <a:rPr lang="pt-BR" dirty="0"/>
              <a:t>, em inglês) que é um dos algoritmos mais simples de </a:t>
            </a:r>
            <a:r>
              <a:rPr lang="pt-BR" b="1" i="1" dirty="0"/>
              <a:t>clustering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741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9955D7-EF0A-C073-CA9C-EC6A396485B8}"/>
              </a:ext>
            </a:extLst>
          </p:cNvPr>
          <p:cNvSpPr txBox="1"/>
          <p:nvPr/>
        </p:nvSpPr>
        <p:spPr>
          <a:xfrm>
            <a:off x="6574971" y="2814935"/>
            <a:ext cx="48985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A </a:t>
            </a:r>
            <a:r>
              <a:rPr lang="pt-BR" sz="2800" b="1" dirty="0"/>
              <a:t>clusterização</a:t>
            </a:r>
            <a:r>
              <a:rPr lang="pt-BR" sz="2800" dirty="0"/>
              <a:t> organiza dados como na figura: cada ponto encontra seu grupo mais próximo, formando </a:t>
            </a:r>
            <a:r>
              <a:rPr lang="pt-BR" sz="2800" i="1" dirty="0"/>
              <a:t>clusters.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3C601-9BD1-3DD0-9219-97CD9BA5DC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027" y="642219"/>
            <a:ext cx="3889829" cy="58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4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802087" y="1690688"/>
            <a:ext cx="6240978" cy="5036683"/>
          </a:xfrm>
        </p:spPr>
        <p:txBody>
          <a:bodyPr>
            <a:normAutofit/>
          </a:bodyPr>
          <a:lstStyle/>
          <a:p>
            <a:r>
              <a:rPr lang="pt-BR" dirty="0"/>
              <a:t>O que podemos fazer se não tivermos informações sobre as classes (i.e., rótulos) a que pertencem os exemplos de entrada?</a:t>
            </a:r>
          </a:p>
        </p:txBody>
      </p:sp>
      <p:pic>
        <p:nvPicPr>
          <p:cNvPr id="6" name="Picture 2" descr="K-Means Clustering using Python. Welcome back guys! Hope you had a great… |  by Luigi Fiori | Mediu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3709" r="55246" b="11854"/>
          <a:stretch/>
        </p:blipFill>
        <p:spPr bwMode="auto">
          <a:xfrm>
            <a:off x="1090832" y="2101933"/>
            <a:ext cx="3894188" cy="317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13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23F1A-965B-E657-4F46-B48EB78C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EC37-D651-72A5-0293-3FB911F6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C1A135-4B52-F54B-5BDE-7C6DA1069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027637"/>
            <a:ext cx="11353801" cy="283036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Veremos que informações úteis podem ser obtidas mesmo de exemplos cujas classes não são conhecidas.</a:t>
            </a:r>
          </a:p>
          <a:p>
            <a:r>
              <a:rPr lang="pt-BR" dirty="0"/>
              <a:t>Enquanto o </a:t>
            </a:r>
            <a:r>
              <a:rPr lang="pt-BR" b="1" dirty="0"/>
              <a:t>aprendizado supervisionado </a:t>
            </a:r>
            <a:r>
              <a:rPr lang="pt-BR" dirty="0"/>
              <a:t>se concentra na </a:t>
            </a:r>
            <a:r>
              <a:rPr lang="pt-BR" b="1" dirty="0">
                <a:solidFill>
                  <a:srgbClr val="00B050"/>
                </a:solidFill>
              </a:rPr>
              <a:t>indução de classificadores</a:t>
            </a:r>
            <a:r>
              <a:rPr lang="pt-BR" dirty="0"/>
              <a:t>, o </a:t>
            </a:r>
            <a:r>
              <a:rPr lang="pt-BR" b="1" dirty="0"/>
              <a:t>aprendizado não-supervisionado </a:t>
            </a:r>
            <a:r>
              <a:rPr lang="pt-BR" dirty="0"/>
              <a:t>está interessado em </a:t>
            </a:r>
            <a:r>
              <a:rPr lang="pt-BR" b="1" dirty="0">
                <a:solidFill>
                  <a:srgbClr val="7030A0"/>
                </a:solidFill>
              </a:rPr>
              <a:t>extrair estrutura e conhecimento de dados quando não existem rótulos</a:t>
            </a:r>
            <a:r>
              <a:rPr lang="pt-BR" dirty="0"/>
              <a:t>.</a:t>
            </a:r>
          </a:p>
          <a:p>
            <a:r>
              <a:rPr lang="pt-BR" i="1" dirty="0"/>
              <a:t>Clustering</a:t>
            </a:r>
            <a:r>
              <a:rPr lang="pt-BR" dirty="0"/>
              <a:t> tenta reproduzir como humanos organizam o mundo: agrupamos objetos por similaridade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D3AFEA6-16E8-D562-210E-DDE126CC469D}"/>
              </a:ext>
            </a:extLst>
          </p:cNvPr>
          <p:cNvGrpSpPr/>
          <p:nvPr/>
        </p:nvGrpSpPr>
        <p:grpSpPr>
          <a:xfrm>
            <a:off x="3115576" y="1690688"/>
            <a:ext cx="5960847" cy="2029172"/>
            <a:chOff x="3186691" y="4631401"/>
            <a:chExt cx="5960847" cy="2029172"/>
          </a:xfrm>
        </p:grpSpPr>
        <p:pic>
          <p:nvPicPr>
            <p:cNvPr id="6" name="Picture 2" descr="K-Means Clustering using Python. Welcome back guys! Hope you had a great… |  by Luigi Fiori | Medium">
              <a:extLst>
                <a:ext uri="{FF2B5EF4-FFF2-40B4-BE49-F238E27FC236}">
                  <a16:creationId xmlns:a16="http://schemas.microsoft.com/office/drawing/2014/main" id="{5EE61C46-3856-780A-E6BB-BC8EBB4234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9" t="3709" r="55246" b="11854"/>
            <a:stretch/>
          </p:blipFill>
          <p:spPr bwMode="auto">
            <a:xfrm>
              <a:off x="3186691" y="4631401"/>
              <a:ext cx="2486746" cy="2029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43AD3E7-A8FE-599D-36F8-EA8BA9682F1B}"/>
                </a:ext>
              </a:extLst>
            </p:cNvPr>
            <p:cNvSpPr txBox="1"/>
            <p:nvPr/>
          </p:nvSpPr>
          <p:spPr>
            <a:xfrm>
              <a:off x="5584396" y="5199404"/>
              <a:ext cx="1130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i="1" dirty="0" err="1"/>
                <a:t>clustering</a:t>
              </a:r>
              <a:endParaRPr lang="en-US" sz="1400" b="1" i="1" dirty="0"/>
            </a:p>
          </p:txBody>
        </p:sp>
        <p:pic>
          <p:nvPicPr>
            <p:cNvPr id="9" name="Picture 2" descr="K-Means Clustering using Python. Welcome back guys! Hope you had a great… |  by Luigi Fiori | Medium">
              <a:extLst>
                <a:ext uri="{FF2B5EF4-FFF2-40B4-BE49-F238E27FC236}">
                  <a16:creationId xmlns:a16="http://schemas.microsoft.com/office/drawing/2014/main" id="{E7C74A0F-F2DD-912F-E092-3530D068D4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84" t="3709" b="11854"/>
            <a:stretch/>
          </p:blipFill>
          <p:spPr bwMode="auto">
            <a:xfrm>
              <a:off x="6626158" y="4631401"/>
              <a:ext cx="2521380" cy="2029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Seta para a direita 9">
              <a:extLst>
                <a:ext uri="{FF2B5EF4-FFF2-40B4-BE49-F238E27FC236}">
                  <a16:creationId xmlns:a16="http://schemas.microsoft.com/office/drawing/2014/main" id="{88A77E2D-B8CF-1AE8-8196-DD8F94371FF0}"/>
                </a:ext>
              </a:extLst>
            </p:cNvPr>
            <p:cNvSpPr/>
            <p:nvPr/>
          </p:nvSpPr>
          <p:spPr>
            <a:xfrm>
              <a:off x="5802135" y="5507181"/>
              <a:ext cx="695325" cy="581891"/>
            </a:xfrm>
            <a:prstGeom prst="right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516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996543" y="1690688"/>
            <a:ext cx="7108371" cy="5167311"/>
          </a:xfrm>
        </p:spPr>
        <p:txBody>
          <a:bodyPr>
            <a:normAutofit/>
          </a:bodyPr>
          <a:lstStyle/>
          <a:p>
            <a:r>
              <a:rPr lang="pt-BR" dirty="0"/>
              <a:t>A tarefa mais popular dos algoritmos deste paradigma é a procura por </a:t>
            </a:r>
            <a:r>
              <a:rPr lang="pt-BR" b="1" dirty="0"/>
              <a:t>grupos</a:t>
            </a:r>
            <a:r>
              <a:rPr lang="pt-BR" dirty="0"/>
              <a:t> (chamados </a:t>
            </a:r>
            <a:r>
              <a:rPr lang="pt-BR" b="1" i="1" dirty="0">
                <a:solidFill>
                  <a:srgbClr val="7030A0"/>
                </a:solidFill>
              </a:rPr>
              <a:t>clusters</a:t>
            </a:r>
            <a:r>
              <a:rPr lang="pt-BR" dirty="0"/>
              <a:t>) de </a:t>
            </a:r>
            <a:r>
              <a:rPr lang="pt-BR" b="1" dirty="0">
                <a:solidFill>
                  <a:srgbClr val="7030A0"/>
                </a:solidFill>
              </a:rPr>
              <a:t>exemplos semelhantes</a:t>
            </a:r>
            <a:r>
              <a:rPr lang="pt-BR" dirty="0"/>
              <a:t>. </a:t>
            </a:r>
          </a:p>
          <a:p>
            <a:r>
              <a:rPr lang="pt-BR" dirty="0"/>
              <a:t>O </a:t>
            </a:r>
            <a:r>
              <a:rPr lang="pt-BR" b="1" i="1" dirty="0">
                <a:solidFill>
                  <a:schemeClr val="accent2"/>
                </a:solidFill>
              </a:rPr>
              <a:t>clustering </a:t>
            </a:r>
            <a:r>
              <a:rPr lang="pt-BR" dirty="0"/>
              <a:t>agrupa dados </a:t>
            </a:r>
            <a:r>
              <a:rPr lang="pt-BR" b="1" dirty="0"/>
              <a:t>com base em similaridade</a:t>
            </a:r>
            <a:r>
              <a:rPr lang="pt-BR" dirty="0"/>
              <a:t> sem precisar de supervisão.</a:t>
            </a:r>
          </a:p>
          <a:p>
            <a:r>
              <a:rPr lang="pt-BR" dirty="0"/>
              <a:t>A ideia mais importante é revelar a </a:t>
            </a:r>
            <a:r>
              <a:rPr lang="pt-BR" b="1" dirty="0"/>
              <a:t>estrutura intrínseca dos dados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padrões escondidos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subgrupos naturais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relações não explícitas</a:t>
            </a:r>
          </a:p>
        </p:txBody>
      </p:sp>
      <p:pic>
        <p:nvPicPr>
          <p:cNvPr id="2050" name="Picture 2" descr="K-means clustering on the digits dataset (PCA-reduced data) Centroids are marked with white cros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8" t="11622" r="9484" b="10196"/>
          <a:stretch/>
        </p:blipFill>
        <p:spPr bwMode="auto">
          <a:xfrm>
            <a:off x="838200" y="2471058"/>
            <a:ext cx="3780793" cy="283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970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Identificação</a:t>
            </a:r>
            <a:r>
              <a:rPr lang="en-US" dirty="0"/>
              <a:t> de </a:t>
            </a:r>
            <a:r>
              <a:rPr lang="en-US" i="1" dirty="0"/>
              <a:t>clusters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5"/>
            <a:ext cx="11277601" cy="5032376"/>
          </a:xfrm>
        </p:spPr>
        <p:txBody>
          <a:bodyPr/>
          <a:lstStyle/>
          <a:p>
            <a:r>
              <a:rPr lang="pt-BR" dirty="0"/>
              <a:t>A </a:t>
            </a:r>
            <a:r>
              <a:rPr lang="pt-BR" b="1" dirty="0">
                <a:solidFill>
                  <a:schemeClr val="accent2"/>
                </a:solidFill>
              </a:rPr>
              <a:t>tarefa fundamental </a:t>
            </a:r>
            <a:r>
              <a:rPr lang="pt-BR" dirty="0"/>
              <a:t>do </a:t>
            </a:r>
            <a:r>
              <a:rPr lang="pt-BR" b="1" dirty="0"/>
              <a:t>aprendizado não-supervisionado </a:t>
            </a:r>
            <a:r>
              <a:rPr lang="pt-BR" dirty="0"/>
              <a:t>é a </a:t>
            </a:r>
            <a:r>
              <a:rPr lang="pt-BR" b="1" dirty="0">
                <a:solidFill>
                  <a:srgbClr val="7030A0"/>
                </a:solidFill>
              </a:rPr>
              <a:t>identificação de </a:t>
            </a:r>
            <a:r>
              <a:rPr lang="pt-BR" b="1" i="1" dirty="0">
                <a:solidFill>
                  <a:srgbClr val="7030A0"/>
                </a:solidFill>
              </a:rPr>
              <a:t>clusters</a:t>
            </a:r>
            <a:r>
              <a:rPr lang="pt-BR" dirty="0"/>
              <a:t>. </a:t>
            </a:r>
          </a:p>
          <a:p>
            <a:r>
              <a:rPr lang="pt-BR" dirty="0"/>
              <a:t>Nessa tarefa, a </a:t>
            </a:r>
            <a:r>
              <a:rPr lang="pt-BR" b="1" dirty="0">
                <a:solidFill>
                  <a:srgbClr val="00B050"/>
                </a:solidFill>
              </a:rPr>
              <a:t>entrada</a:t>
            </a:r>
            <a:r>
              <a:rPr lang="pt-BR" dirty="0"/>
              <a:t> é um conjunto de </a:t>
            </a:r>
            <a:r>
              <a:rPr lang="pt-BR" b="1" dirty="0">
                <a:solidFill>
                  <a:srgbClr val="00B050"/>
                </a:solidFill>
              </a:rPr>
              <a:t>vetores de atributo </a:t>
            </a:r>
            <a:r>
              <a:rPr lang="pt-BR" dirty="0"/>
              <a:t>(i.e., exemplos), </a:t>
            </a:r>
            <a:r>
              <a:rPr lang="pt-BR" b="1" dirty="0">
                <a:solidFill>
                  <a:srgbClr val="FF0000"/>
                </a:solidFill>
              </a:rPr>
              <a:t>mas sem rótulos</a:t>
            </a:r>
            <a:r>
              <a:rPr lang="pt-BR" dirty="0"/>
              <a:t>. </a:t>
            </a:r>
          </a:p>
          <a:p>
            <a:r>
              <a:rPr lang="pt-BR" dirty="0"/>
              <a:t>A </a:t>
            </a:r>
            <a:r>
              <a:rPr lang="pt-BR" b="1" dirty="0">
                <a:solidFill>
                  <a:srgbClr val="00B050"/>
                </a:solidFill>
              </a:rPr>
              <a:t>saída</a:t>
            </a:r>
            <a:r>
              <a:rPr lang="pt-BR" dirty="0"/>
              <a:t> é um conjunto de </a:t>
            </a:r>
            <a:r>
              <a:rPr lang="pt-BR" b="1" i="1" dirty="0">
                <a:solidFill>
                  <a:srgbClr val="00B050"/>
                </a:solidFill>
              </a:rPr>
              <a:t>clusters</a:t>
            </a:r>
            <a:r>
              <a:rPr lang="pt-BR" dirty="0"/>
              <a:t> a que pertencem cada um dos exemplos do conjunto de treinamento.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1022928" y="4688303"/>
            <a:ext cx="5960847" cy="2029172"/>
            <a:chOff x="3186691" y="4631401"/>
            <a:chExt cx="5960847" cy="2029172"/>
          </a:xfrm>
        </p:grpSpPr>
        <p:pic>
          <p:nvPicPr>
            <p:cNvPr id="4" name="Picture 2" descr="K-Means Clustering using Python. Welcome back guys! Hope you had a great… |  by Luigi Fiori | Medium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9" t="3709" r="55246" b="11854"/>
            <a:stretch/>
          </p:blipFill>
          <p:spPr bwMode="auto">
            <a:xfrm>
              <a:off x="3186691" y="4631401"/>
              <a:ext cx="2486746" cy="2029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aixaDeTexto 4"/>
            <p:cNvSpPr txBox="1"/>
            <p:nvPr/>
          </p:nvSpPr>
          <p:spPr>
            <a:xfrm>
              <a:off x="5584396" y="5199404"/>
              <a:ext cx="1130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err="1"/>
                <a:t>clustering</a:t>
              </a:r>
              <a:endParaRPr lang="en-US" sz="1400" b="1" dirty="0"/>
            </a:p>
          </p:txBody>
        </p:sp>
        <p:pic>
          <p:nvPicPr>
            <p:cNvPr id="6" name="Picture 2" descr="K-Means Clustering using Python. Welcome back guys! Hope you had a great… |  by Luigi Fiori | Medium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84" t="3709" b="11854"/>
            <a:stretch/>
          </p:blipFill>
          <p:spPr bwMode="auto">
            <a:xfrm>
              <a:off x="6626158" y="4631401"/>
              <a:ext cx="2521380" cy="2029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eta para a direita 6"/>
            <p:cNvSpPr/>
            <p:nvPr/>
          </p:nvSpPr>
          <p:spPr>
            <a:xfrm>
              <a:off x="5802135" y="5507181"/>
              <a:ext cx="695325" cy="581891"/>
            </a:xfrm>
            <a:prstGeom prst="right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tângulo 8"/>
          <p:cNvSpPr/>
          <p:nvPr/>
        </p:nvSpPr>
        <p:spPr>
          <a:xfrm>
            <a:off x="7282335" y="5041169"/>
            <a:ext cx="42238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OBS</a:t>
            </a:r>
            <a:r>
              <a:rPr lang="pt-BR" sz="1600" dirty="0"/>
              <a:t>.: A identificação visual de clusters em um espaço bidimensional é fácil, mas em quatro ou mais dimensões isso já não é mais possível. Nesses casos, apenas algoritmos de identificação de clusters conseguem agrupar os dados. </a:t>
            </a:r>
          </a:p>
        </p:txBody>
      </p:sp>
    </p:spTree>
    <p:extLst>
      <p:ext uri="{BB962C8B-B14F-4D97-AF65-F5344CB8AC3E}">
        <p14:creationId xmlns:p14="http://schemas.microsoft.com/office/powerpoint/2010/main" val="1498689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FB42-0017-5ED1-7773-E084E5A0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9C266-04B6-6A8C-91F5-24FCD2CC3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42" y="1825624"/>
            <a:ext cx="6814457" cy="5032375"/>
          </a:xfrm>
        </p:spPr>
        <p:txBody>
          <a:bodyPr/>
          <a:lstStyle/>
          <a:p>
            <a:r>
              <a:rPr lang="en-US" dirty="0" err="1"/>
              <a:t>Redução</a:t>
            </a:r>
            <a:r>
              <a:rPr lang="en-US" dirty="0"/>
              <a:t> de </a:t>
            </a:r>
            <a:r>
              <a:rPr lang="en-US" dirty="0" err="1"/>
              <a:t>complexidade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substituir milhões de pontos por alguns grupos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resumir dados complexos</a:t>
            </a:r>
            <a:endParaRPr lang="en-US" dirty="0"/>
          </a:p>
          <a:p>
            <a:r>
              <a:rPr lang="en-US" dirty="0"/>
              <a:t>Pré-</a:t>
            </a:r>
            <a:r>
              <a:rPr lang="en-US" dirty="0" err="1"/>
              <a:t>processamento</a:t>
            </a:r>
            <a:r>
              <a:rPr lang="en-US" dirty="0"/>
              <a:t> para outros </a:t>
            </a:r>
            <a:r>
              <a:rPr lang="en-US" dirty="0" err="1"/>
              <a:t>modelos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criar features (cluster ID)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inicializar modelos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reduzir dimensionalidade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organizar dados antes de aprendizado supervisionado</a:t>
            </a:r>
          </a:p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padrões</a:t>
            </a:r>
            <a:r>
              <a:rPr lang="en-US" dirty="0"/>
              <a:t> </a:t>
            </a:r>
            <a:r>
              <a:rPr lang="en-US" dirty="0" err="1"/>
              <a:t>raros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detector de comportamento “normal”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tudo fora disso é considerado suspeito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2" descr="K-means clustering on the digits dataset (PCA-reduced data) Centroids are marked with white cross">
            <a:extLst>
              <a:ext uri="{FF2B5EF4-FFF2-40B4-BE49-F238E27FC236}">
                <a16:creationId xmlns:a16="http://schemas.microsoft.com/office/drawing/2014/main" id="{A7524CD6-9254-ABD9-EBBF-94136AAAE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8" t="11622" r="9484" b="10196"/>
          <a:stretch/>
        </p:blipFill>
        <p:spPr bwMode="auto">
          <a:xfrm>
            <a:off x="838200" y="2656115"/>
            <a:ext cx="3780793" cy="283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192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representar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i="1" dirty="0"/>
              <a:t>clusters</a:t>
            </a:r>
            <a:r>
              <a:rPr lang="en-US" dirty="0"/>
              <a:t>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257799" y="1825624"/>
            <a:ext cx="6825343" cy="5032375"/>
          </a:xfrm>
        </p:spPr>
        <p:txBody>
          <a:bodyPr>
            <a:normAutofit/>
          </a:bodyPr>
          <a:lstStyle/>
          <a:p>
            <a:r>
              <a:rPr lang="pt-BR" dirty="0"/>
              <a:t>Para realizar a identificação, temos que </a:t>
            </a:r>
            <a:r>
              <a:rPr lang="pt-BR" b="1" dirty="0">
                <a:solidFill>
                  <a:srgbClr val="00B050"/>
                </a:solidFill>
              </a:rPr>
              <a:t>decidir como os </a:t>
            </a:r>
            <a:r>
              <a:rPr lang="pt-BR" b="1" i="1" dirty="0">
                <a:solidFill>
                  <a:srgbClr val="00B050"/>
                </a:solidFill>
              </a:rPr>
              <a:t>clusters</a:t>
            </a:r>
            <a:r>
              <a:rPr lang="pt-BR" b="1" dirty="0">
                <a:solidFill>
                  <a:srgbClr val="00B050"/>
                </a:solidFill>
              </a:rPr>
              <a:t> serão representados</a:t>
            </a:r>
            <a:r>
              <a:rPr lang="pt-BR" dirty="0"/>
              <a:t>.</a:t>
            </a:r>
          </a:p>
          <a:p>
            <a:r>
              <a:rPr lang="pt-BR" dirty="0"/>
              <a:t>Existem algumas opções como a densidade, distribuição, hierarquia, etc.</a:t>
            </a:r>
          </a:p>
          <a:p>
            <a:r>
              <a:rPr lang="pt-BR" dirty="0"/>
              <a:t>Porém, a abordagem mais simples usa os </a:t>
            </a:r>
            <a:r>
              <a:rPr lang="pt-BR" b="1" dirty="0"/>
              <a:t>centroides </a:t>
            </a:r>
            <a:r>
              <a:rPr lang="pt-BR" dirty="0"/>
              <a:t>(i.e., centros) dos clusters.</a:t>
            </a:r>
          </a:p>
          <a:p>
            <a:r>
              <a:rPr lang="pt-BR" dirty="0"/>
              <a:t>O algoritmo conhecido como </a:t>
            </a:r>
            <a:r>
              <a:rPr lang="pt-BR" b="1" i="1" dirty="0"/>
              <a:t>k-</a:t>
            </a:r>
            <a:r>
              <a:rPr lang="pt-BR" b="1" i="1" dirty="0" err="1"/>
              <a:t>Means</a:t>
            </a:r>
            <a:r>
              <a:rPr lang="pt-BR" dirty="0"/>
              <a:t> implementa esta abordagem.</a:t>
            </a:r>
          </a:p>
          <a:p>
            <a:r>
              <a:rPr lang="pt-BR" dirty="0"/>
              <a:t>Vejamos então suas características e como funciona.</a:t>
            </a:r>
          </a:p>
        </p:txBody>
      </p:sp>
      <p:pic>
        <p:nvPicPr>
          <p:cNvPr id="1028" name="Picture 4" descr="K Means Clustering no Aprendizado de Máquinas — Aprendizado de Máquina —  DATA SCIENCE">
            <a:extLst>
              <a:ext uri="{FF2B5EF4-FFF2-40B4-BE49-F238E27FC236}">
                <a16:creationId xmlns:a16="http://schemas.microsoft.com/office/drawing/2014/main" id="{D99905E1-3749-BAAD-E01A-C9B3686C4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89" r="58743" b="36825"/>
          <a:stretch/>
        </p:blipFill>
        <p:spPr bwMode="auto">
          <a:xfrm>
            <a:off x="838200" y="2253343"/>
            <a:ext cx="3951287" cy="303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54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4507-EC77-45EC-8B3A-27BFC439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Centroide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EB374-1415-DA51-E59A-B5E50D17F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/>
          </a:bodyPr>
          <a:lstStyle/>
          <a:p>
            <a:r>
              <a:rPr lang="pt-BR" b="1" dirty="0"/>
              <a:t>Centroide</a:t>
            </a:r>
            <a:r>
              <a:rPr lang="pt-BR" dirty="0"/>
              <a:t> é o ponto central de um </a:t>
            </a:r>
            <a:r>
              <a:rPr lang="pt-BR" i="1" dirty="0"/>
              <a:t>cluster</a:t>
            </a:r>
            <a:r>
              <a:rPr lang="pt-BR" dirty="0"/>
              <a:t> de dados. </a:t>
            </a:r>
          </a:p>
          <a:p>
            <a:pPr lvl="1"/>
            <a:r>
              <a:rPr lang="pt-BR" dirty="0"/>
              <a:t>Representa a "média" das amostras dentro do cluster.</a:t>
            </a:r>
          </a:p>
          <a:p>
            <a:r>
              <a:rPr lang="pt-BR" dirty="0"/>
              <a:t>Os </a:t>
            </a:r>
            <a:r>
              <a:rPr lang="pt-BR" b="1" dirty="0">
                <a:solidFill>
                  <a:schemeClr val="accent2"/>
                </a:solidFill>
              </a:rPr>
              <a:t>centroides</a:t>
            </a:r>
            <a:r>
              <a:rPr lang="pt-BR" dirty="0"/>
              <a:t> podem ser usados ​​como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centros para inicializar redes neurais Bayesianas ou de </a:t>
            </a:r>
            <a:r>
              <a:rPr lang="en-US" dirty="0" err="1"/>
              <a:t>funções</a:t>
            </a:r>
            <a:r>
              <a:rPr lang="en-US" dirty="0"/>
              <a:t> de base radial (</a:t>
            </a:r>
            <a:r>
              <a:rPr lang="pt-BR" dirty="0"/>
              <a:t>RBF),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estimativas de valores de atributos ausentes.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forma de comprimir dados usando apenas o </a:t>
            </a:r>
            <a:r>
              <a:rPr lang="pt-BR" dirty="0" err="1"/>
              <a:t>centróide</a:t>
            </a:r>
            <a:r>
              <a:rPr lang="pt-BR" dirty="0"/>
              <a:t> mais próximo.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forma de visualizar dados multidimensionais.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dirty="0"/>
              <a:t>feature </a:t>
            </a:r>
            <a:r>
              <a:rPr lang="pt-BR" i="1" dirty="0" err="1"/>
              <a:t>engineering</a:t>
            </a:r>
            <a:r>
              <a:rPr lang="pt-BR" i="1" dirty="0"/>
              <a:t>:</a:t>
            </a:r>
            <a:r>
              <a:rPr lang="pt-BR" dirty="0"/>
              <a:t> o índice do </a:t>
            </a:r>
            <a:r>
              <a:rPr lang="pt-BR" dirty="0" err="1"/>
              <a:t>centróide</a:t>
            </a:r>
            <a:r>
              <a:rPr lang="pt-BR" dirty="0"/>
              <a:t> e a distância até os </a:t>
            </a:r>
            <a:r>
              <a:rPr lang="pt-BR" dirty="0" err="1"/>
              <a:t>centróides</a:t>
            </a:r>
            <a:r>
              <a:rPr lang="pt-BR" dirty="0"/>
              <a:t> podem ser novos atributos.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forma de detectar anomalias: distância alta ao </a:t>
            </a:r>
            <a:r>
              <a:rPr lang="pt-BR" dirty="0" err="1"/>
              <a:t>centróide</a:t>
            </a:r>
            <a:r>
              <a:rPr lang="pt-BR" dirty="0"/>
              <a:t> indica </a:t>
            </a:r>
            <a:r>
              <a:rPr lang="pt-BR" i="1" dirty="0"/>
              <a:t>outlier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forma de agrupar dados sem classes em problemas </a:t>
            </a:r>
            <a:r>
              <a:rPr lang="pt-BR" dirty="0" err="1"/>
              <a:t>semi-supervisionados</a:t>
            </a:r>
            <a:r>
              <a:rPr lang="pt-BR" dirty="0"/>
              <a:t>: os </a:t>
            </a:r>
            <a:r>
              <a:rPr lang="pt-BR" i="1" dirty="0"/>
              <a:t>clusters</a:t>
            </a:r>
            <a:r>
              <a:rPr lang="pt-BR" dirty="0"/>
              <a:t> são usados como classes e, consequentemente, rotular os dados.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952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0F73A-8390-7530-E708-9D3EBFB3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79880-5E02-1DB8-EA94-C8633079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representar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i="1" dirty="0"/>
              <a:t>clusters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72472E5-6211-3EFD-BA89-06782640C9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39641" y="1825624"/>
                <a:ext cx="745236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 exemplo, suponhamos os seguintes </a:t>
                </a:r>
                <a:r>
                  <a:rPr lang="pt-BR" b="1" dirty="0"/>
                  <a:t>vetores de atributos </a:t>
                </a:r>
                <a:r>
                  <a:rPr lang="pt-BR" dirty="0"/>
                  <a:t>em um espaço bidimensional,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i="1" dirty="0"/>
                  <a:t> </a:t>
                </a:r>
                <a:r>
                  <a:rPr lang="pt-BR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: (2, 5), (1, 4), (3, 6).</a:t>
                </a:r>
              </a:p>
              <a:p>
                <a:r>
                  <a:rPr lang="pt-BR" dirty="0"/>
                  <a:t>Nesse caso, se elas pertencem a um </a:t>
                </a:r>
                <a:r>
                  <a:rPr lang="pt-BR" i="1" dirty="0"/>
                  <a:t>cluster</a:t>
                </a:r>
                <a:r>
                  <a:rPr lang="pt-BR" dirty="0"/>
                  <a:t>, seu </a:t>
                </a:r>
                <a:r>
                  <a:rPr lang="pt-BR" b="1" dirty="0"/>
                  <a:t>centroide</a:t>
                </a:r>
                <a:r>
                  <a:rPr lang="pt-BR" dirty="0"/>
                  <a:t> é representado pelo vetor (2, 5), pois</a:t>
                </a:r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média do primeiro atributo é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2+1+3</m:t>
                        </m:r>
                      </m:num>
                      <m:den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b="0" i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b="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média do segundo atributo é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pt-BR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pt-BR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b="1" dirty="0">
                    <a:solidFill>
                      <a:srgbClr val="7030A0"/>
                    </a:solidFill>
                  </a:rPr>
                  <a:t>OBS</a:t>
                </a:r>
                <a:r>
                  <a:rPr lang="pt-BR" dirty="0"/>
                  <a:t>.: Em geral, aplicamos clusterização apenas a atributos numéricos.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Existem algoritmos de clusterização específicos para dados categóricos: </a:t>
                </a:r>
                <a:r>
                  <a:rPr lang="pt-BR" i="1" dirty="0"/>
                  <a:t>k-</a:t>
                </a:r>
                <a:r>
                  <a:rPr lang="pt-BR" i="1" dirty="0" err="1"/>
                  <a:t>modes</a:t>
                </a:r>
                <a:r>
                  <a:rPr lang="pt-BR" i="1" dirty="0"/>
                  <a:t> </a:t>
                </a:r>
                <a:r>
                  <a:rPr lang="pt-BR" dirty="0"/>
                  <a:t>e </a:t>
                </a:r>
                <a:r>
                  <a:rPr lang="en-US" i="1" dirty="0"/>
                  <a:t>k-prototypes</a:t>
                </a:r>
                <a:r>
                  <a:rPr lang="en-US" dirty="0"/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72472E5-6211-3EFD-BA89-06782640C9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9641" y="1825624"/>
                <a:ext cx="7452360" cy="5032375"/>
              </a:xfrm>
              <a:blipFill rotWithShape="0">
                <a:blip r:embed="rId3"/>
                <a:stretch>
                  <a:fillRect l="-1473" t="-1937" r="-6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K Means Clustering no Aprendizado de Máquinas — Aprendizado de Máquina —  DATA SCIENCE">
            <a:extLst>
              <a:ext uri="{FF2B5EF4-FFF2-40B4-BE49-F238E27FC236}">
                <a16:creationId xmlns:a16="http://schemas.microsoft.com/office/drawing/2014/main" id="{E728BEA3-C89C-08D5-CE28-8BD1C00DAD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03" t="18889" r="3388" b="36825"/>
          <a:stretch/>
        </p:blipFill>
        <p:spPr bwMode="auto">
          <a:xfrm>
            <a:off x="472440" y="2355669"/>
            <a:ext cx="3831771" cy="303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578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Quantos devem ser os </a:t>
            </a:r>
            <a:r>
              <a:rPr lang="pt-BR" i="1" dirty="0"/>
              <a:t>clusters</a:t>
            </a:r>
            <a:r>
              <a:rPr lang="pt-BR" dirty="0"/>
              <a:t>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34000" y="1690688"/>
            <a:ext cx="6858000" cy="5167311"/>
          </a:xfrm>
        </p:spPr>
        <p:txBody>
          <a:bodyPr>
            <a:normAutofit/>
          </a:bodyPr>
          <a:lstStyle/>
          <a:p>
            <a:r>
              <a:rPr lang="pt-BR" dirty="0"/>
              <a:t>Os </a:t>
            </a:r>
            <a:r>
              <a:rPr lang="pt-BR" i="1" dirty="0"/>
              <a:t>clusters</a:t>
            </a:r>
            <a:r>
              <a:rPr lang="pt-BR" dirty="0"/>
              <a:t> </a:t>
            </a:r>
            <a:r>
              <a:rPr lang="pt-BR" b="1" dirty="0"/>
              <a:t>não devem se sobrepor</a:t>
            </a:r>
            <a:r>
              <a:rPr lang="pt-BR" dirty="0"/>
              <a:t>.</a:t>
            </a:r>
          </a:p>
          <a:p>
            <a:r>
              <a:rPr lang="pt-BR" b="1" dirty="0">
                <a:solidFill>
                  <a:srgbClr val="00B050"/>
                </a:solidFill>
              </a:rPr>
              <a:t>Cada amostra </a:t>
            </a:r>
            <a:r>
              <a:rPr lang="pt-BR" dirty="0"/>
              <a:t>deve </a:t>
            </a:r>
            <a:r>
              <a:rPr lang="pt-BR" b="1" dirty="0">
                <a:solidFill>
                  <a:srgbClr val="00B050"/>
                </a:solidFill>
              </a:rPr>
              <a:t>pertencer</a:t>
            </a:r>
            <a:r>
              <a:rPr lang="pt-BR" dirty="0"/>
              <a:t> a </a:t>
            </a:r>
            <a:r>
              <a:rPr lang="pt-BR" b="1" dirty="0">
                <a:solidFill>
                  <a:srgbClr val="00B050"/>
                </a:solidFill>
              </a:rPr>
              <a:t>um e apenas um </a:t>
            </a:r>
            <a:r>
              <a:rPr lang="pt-BR" b="1" i="1" dirty="0">
                <a:solidFill>
                  <a:srgbClr val="00B050"/>
                </a:solidFill>
              </a:rPr>
              <a:t>cluster</a:t>
            </a:r>
            <a:r>
              <a:rPr lang="pt-BR" dirty="0"/>
              <a:t>. </a:t>
            </a:r>
          </a:p>
          <a:p>
            <a:r>
              <a:rPr lang="pt-BR" dirty="0"/>
              <a:t>Porém, </a:t>
            </a:r>
            <a:r>
              <a:rPr lang="pt-BR" b="1" dirty="0">
                <a:solidFill>
                  <a:srgbClr val="0070C0"/>
                </a:solidFill>
              </a:rPr>
              <a:t>dentro do mesmo cluster</a:t>
            </a:r>
            <a:r>
              <a:rPr lang="pt-BR" dirty="0"/>
              <a:t>, as </a:t>
            </a:r>
            <a:r>
              <a:rPr lang="pt-BR" b="1" dirty="0">
                <a:solidFill>
                  <a:srgbClr val="0070C0"/>
                </a:solidFill>
              </a:rPr>
              <a:t>amostras </a:t>
            </a:r>
            <a:r>
              <a:rPr lang="pt-BR" dirty="0"/>
              <a:t>devem estar relativamente </a:t>
            </a:r>
            <a:r>
              <a:rPr lang="pt-BR" b="1" dirty="0">
                <a:solidFill>
                  <a:srgbClr val="0070C0"/>
                </a:solidFill>
              </a:rPr>
              <a:t>próximas</a:t>
            </a:r>
            <a:r>
              <a:rPr lang="pt-BR" dirty="0"/>
              <a:t> umas das outras e </a:t>
            </a:r>
            <a:r>
              <a:rPr lang="pt-BR" b="1" dirty="0">
                <a:solidFill>
                  <a:srgbClr val="7030A0"/>
                </a:solidFill>
              </a:rPr>
              <a:t>distantes</a:t>
            </a:r>
            <a:r>
              <a:rPr lang="pt-BR" dirty="0"/>
              <a:t> das </a:t>
            </a:r>
            <a:r>
              <a:rPr lang="pt-BR" b="1" dirty="0">
                <a:solidFill>
                  <a:srgbClr val="7030A0"/>
                </a:solidFill>
              </a:rPr>
              <a:t>amostras dos outros </a:t>
            </a:r>
            <a:r>
              <a:rPr lang="pt-BR" b="1" i="1" dirty="0">
                <a:solidFill>
                  <a:srgbClr val="7030A0"/>
                </a:solidFill>
              </a:rPr>
              <a:t>clusters</a:t>
            </a:r>
            <a:r>
              <a:rPr lang="pt-BR" dirty="0"/>
              <a:t>.</a:t>
            </a:r>
          </a:p>
          <a:p>
            <a:r>
              <a:rPr lang="pt-BR" dirty="0"/>
              <a:t>Aí surge uma dúvida. </a:t>
            </a:r>
          </a:p>
          <a:p>
            <a:r>
              <a:rPr lang="pt-BR" dirty="0"/>
              <a:t>Quantos </a:t>
            </a:r>
            <a:r>
              <a:rPr lang="pt-BR" i="1" dirty="0"/>
              <a:t>clusters</a:t>
            </a:r>
            <a:r>
              <a:rPr lang="pt-BR" dirty="0"/>
              <a:t> um conjunto de dados contém?</a:t>
            </a:r>
          </a:p>
        </p:txBody>
      </p:sp>
      <p:pic>
        <p:nvPicPr>
          <p:cNvPr id="5" name="Picture 2" descr="K-Means Clustering using Python. Welcome back guys! Hope you had a great… |  by Luigi Fiori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12047" r="55246" b="11854"/>
          <a:stretch/>
        </p:blipFill>
        <p:spPr bwMode="auto">
          <a:xfrm>
            <a:off x="1045029" y="2388412"/>
            <a:ext cx="3798090" cy="279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532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FDFF-84F9-A395-CDB0-AC77470C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2907A-6417-D3C2-265A-0FFD5304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Quantos devem ser os </a:t>
            </a:r>
            <a:r>
              <a:rPr lang="pt-BR" i="1" dirty="0"/>
              <a:t>clusters</a:t>
            </a:r>
            <a:r>
              <a:rPr lang="pt-BR" dirty="0"/>
              <a:t>?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67761-7363-3966-1F66-B32029649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114" y="1690688"/>
            <a:ext cx="7121731" cy="5167311"/>
          </a:xfrm>
        </p:spPr>
        <p:txBody>
          <a:bodyPr>
            <a:normAutofit/>
          </a:bodyPr>
          <a:lstStyle/>
          <a:p>
            <a:r>
              <a:rPr lang="pt-BR" dirty="0"/>
              <a:t>Na figura conseguimos identificar visualmente três clusters. </a:t>
            </a:r>
          </a:p>
          <a:p>
            <a:r>
              <a:rPr lang="pt-BR" dirty="0"/>
              <a:t>No entanto, o número de opções existentes não se limita a essa única possibilidade: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em um extremo, todo o conjunto de dados pode ser pensado como formando um grande cluster;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no outro, cada exemplo pode ser visto como representando seu próprio cluster de um único exemplo.</a:t>
            </a:r>
          </a:p>
        </p:txBody>
      </p:sp>
      <p:pic>
        <p:nvPicPr>
          <p:cNvPr id="5" name="Picture 2" descr="K-Means Clustering using Python. Welcome back guys! Hope you had a great… |  by Luigi Fiori | Medium">
            <a:extLst>
              <a:ext uri="{FF2B5EF4-FFF2-40B4-BE49-F238E27FC236}">
                <a16:creationId xmlns:a16="http://schemas.microsoft.com/office/drawing/2014/main" id="{079377DD-55D2-BED3-3BB3-D573A6F13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12047" r="55246" b="11854"/>
          <a:stretch/>
        </p:blipFill>
        <p:spPr bwMode="auto">
          <a:xfrm>
            <a:off x="838200" y="2562584"/>
            <a:ext cx="3694477" cy="271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844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FDFF-84F9-A395-CDB0-AC77470C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2907A-6417-D3C2-265A-0FFD5304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Quantos devem ser os </a:t>
            </a:r>
            <a:r>
              <a:rPr lang="pt-BR" i="1" dirty="0"/>
              <a:t>clusters</a:t>
            </a:r>
            <a:r>
              <a:rPr lang="pt-BR" dirty="0"/>
              <a:t>?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67761-7363-3966-1F66-B32029649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1690688"/>
            <a:ext cx="7010400" cy="516731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7030A0"/>
                </a:solidFill>
              </a:rPr>
              <a:t>Implementações</a:t>
            </a:r>
            <a:r>
              <a:rPr lang="pt-BR" dirty="0"/>
              <a:t> práticas geralmente evitam esse problema pedindo ao </a:t>
            </a:r>
            <a:r>
              <a:rPr lang="pt-BR" b="1" dirty="0">
                <a:solidFill>
                  <a:srgbClr val="7030A0"/>
                </a:solidFill>
              </a:rPr>
              <a:t>usuário que forneça o número de </a:t>
            </a:r>
            <a:r>
              <a:rPr lang="pt-BR" b="1" i="1" dirty="0">
                <a:solidFill>
                  <a:srgbClr val="7030A0"/>
                </a:solidFill>
              </a:rPr>
              <a:t>clusters</a:t>
            </a:r>
            <a:r>
              <a:rPr lang="pt-BR" dirty="0"/>
              <a:t>.</a:t>
            </a:r>
          </a:p>
          <a:p>
            <a:r>
              <a:rPr lang="pt-BR" dirty="0"/>
              <a:t>Existem diversos métodos para otimizar o </a:t>
            </a:r>
            <a:r>
              <a:rPr lang="pt-BR" dirty="0" err="1"/>
              <a:t>hiperparâmetro</a:t>
            </a:r>
            <a:r>
              <a:rPr lang="pt-BR" dirty="0"/>
              <a:t> que define o número de </a:t>
            </a:r>
            <a:r>
              <a:rPr lang="pt-BR" i="1" dirty="0"/>
              <a:t>clusters</a:t>
            </a:r>
            <a:r>
              <a:rPr lang="pt-BR" dirty="0"/>
              <a:t>, dentre eles, o mais usado é o método do cotovelo.</a:t>
            </a:r>
          </a:p>
          <a:p>
            <a:r>
              <a:rPr lang="pt-BR" dirty="0"/>
              <a:t>Veremos como ele funciona em breve.</a:t>
            </a:r>
          </a:p>
          <a:p>
            <a:r>
              <a:rPr lang="pt-BR" dirty="0"/>
              <a:t>Porém, antes, precisamos entender como os </a:t>
            </a:r>
            <a:r>
              <a:rPr lang="pt-BR" i="1" dirty="0"/>
              <a:t>clusters</a:t>
            </a:r>
            <a:r>
              <a:rPr lang="pt-BR" dirty="0"/>
              <a:t> são criados.</a:t>
            </a:r>
          </a:p>
          <a:p>
            <a:endParaRPr lang="pt-BR" dirty="0"/>
          </a:p>
        </p:txBody>
      </p:sp>
      <p:pic>
        <p:nvPicPr>
          <p:cNvPr id="5" name="Picture 2" descr="K-Means Clustering using Python. Welcome back guys! Hope you had a great… |  by Luigi Fiori | Medium">
            <a:extLst>
              <a:ext uri="{FF2B5EF4-FFF2-40B4-BE49-F238E27FC236}">
                <a16:creationId xmlns:a16="http://schemas.microsoft.com/office/drawing/2014/main" id="{079377DD-55D2-BED3-3BB3-D573A6F13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12047" r="55246" b="11854"/>
          <a:stretch/>
        </p:blipFill>
        <p:spPr bwMode="auto">
          <a:xfrm>
            <a:off x="838200" y="2562584"/>
            <a:ext cx="3694477" cy="271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722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994D8-D711-9C2A-C202-7BAD7B93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36E4B-196C-922B-890C-6917F63A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Medindo</a:t>
            </a:r>
            <a:r>
              <a:rPr lang="en-US" dirty="0"/>
              <a:t> </a:t>
            </a:r>
            <a:r>
              <a:rPr lang="en-US" dirty="0" err="1"/>
              <a:t>distâncias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FCDFA83-D279-17E3-E2CD-6E304EAF63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79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Algoritmos para identificação de </a:t>
                </a:r>
                <a:r>
                  <a:rPr lang="pt-BR" i="1" dirty="0"/>
                  <a:t>clusters</a:t>
                </a:r>
                <a:r>
                  <a:rPr lang="pt-BR" dirty="0"/>
                  <a:t> precisam de uma </a:t>
                </a:r>
                <a:r>
                  <a:rPr lang="pt-BR" b="1" dirty="0">
                    <a:solidFill>
                      <a:srgbClr val="7030A0"/>
                    </a:solidFill>
                  </a:rPr>
                  <a:t>métrica para avaliar a </a:t>
                </a:r>
                <a:r>
                  <a:rPr lang="pt-BR" b="1" dirty="0">
                    <a:solidFill>
                      <a:srgbClr val="00B050"/>
                    </a:solidFill>
                  </a:rPr>
                  <a:t>distância</a:t>
                </a:r>
                <a:r>
                  <a:rPr lang="pt-BR" b="1" dirty="0">
                    <a:solidFill>
                      <a:srgbClr val="7030A0"/>
                    </a:solidFill>
                  </a:rPr>
                  <a:t> entre uma amostra e o centroide</a:t>
                </a:r>
                <a:r>
                  <a:rPr lang="pt-BR" dirty="0"/>
                  <a:t> de um </a:t>
                </a:r>
                <a:r>
                  <a:rPr lang="pt-BR" i="1" dirty="0"/>
                  <a:t>cluster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Uma forma de fazer isso é usar a </a:t>
                </a:r>
                <a:r>
                  <a:rPr lang="pt-BR" b="1" dirty="0">
                    <a:solidFill>
                      <a:srgbClr val="00B050"/>
                    </a:solidFill>
                  </a:rPr>
                  <a:t>distância euclidiana </a:t>
                </a:r>
                <a:r>
                  <a:rPr lang="pt-BR" dirty="0"/>
                  <a:t>entre os dois vetores</a:t>
                </a:r>
              </a:p>
              <a:p>
                <a:pPr marL="0" indent="0">
                  <a:buNone/>
                </a:pPr>
                <a:endParaRPr lang="pt-BR" sz="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pt-BR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dirty="0"/>
                  <a:t> é o número de atributos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são 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ésimos</a:t>
                </a:r>
                <a:r>
                  <a:rPr lang="pt-BR" dirty="0"/>
                  <a:t> elementos dos vetores tendo sua distância calculada.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1FCDFA83-D279-17E3-E2CD-6E304EAF6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799" cy="5032375"/>
              </a:xfrm>
              <a:blipFill rotWithShape="0">
                <a:blip r:embed="rId2"/>
                <a:stretch>
                  <a:fillRect l="-1128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7345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qual </a:t>
            </a:r>
            <a:r>
              <a:rPr lang="pt-BR" i="1" dirty="0"/>
              <a:t>cluster</a:t>
            </a:r>
            <a:r>
              <a:rPr lang="pt-BR" dirty="0"/>
              <a:t> um exemplo deve pertencer?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Vamos supor que existam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clusters cujos centroides são denotados pelo vetor,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Uma amostra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tem uma certa distância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para cada centroide.</a:t>
                </a:r>
              </a:p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a menor dessas distâncias, então, é natural colocarmos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como pertencente ao centroide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pt-BR" dirty="0"/>
                  <a:t>, ou seja, 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dirty="0"/>
                  <a:t>-ésimo cluster.</a:t>
                </a:r>
              </a:p>
              <a:p>
                <a:r>
                  <a:rPr lang="pt-BR" dirty="0"/>
                  <a:t>Portanto, escolhemos a </a:t>
                </a:r>
                <a:r>
                  <a:rPr lang="pt-BR" b="1" dirty="0">
                    <a:solidFill>
                      <a:schemeClr val="accent5"/>
                    </a:solidFill>
                  </a:rPr>
                  <a:t>menor distância </a:t>
                </a:r>
                <a:r>
                  <a:rPr lang="pt-BR" dirty="0"/>
                  <a:t>para </a:t>
                </a:r>
                <a:r>
                  <a:rPr lang="pt-BR" b="1" dirty="0">
                    <a:solidFill>
                      <a:schemeClr val="accent5"/>
                    </a:solidFill>
                  </a:rPr>
                  <a:t>definir a qual cluster um exemplo pertence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Agora, veremos como funciona o </a:t>
                </a:r>
                <a:r>
                  <a:rPr lang="pt-BR" dirty="0" err="1"/>
                  <a:t>algortimo</a:t>
                </a:r>
                <a:r>
                  <a:rPr lang="pt-BR" dirty="0"/>
                  <a:t> </a:t>
                </a:r>
                <a:r>
                  <a:rPr lang="pt-BR" i="1" dirty="0"/>
                  <a:t>k-</a:t>
                </a:r>
                <a:r>
                  <a:rPr lang="pt-BR" i="1" dirty="0" err="1"/>
                  <a:t>Means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6"/>
              </a:xfrm>
              <a:blipFill rotWithShape="0">
                <a:blip r:embed="rId2"/>
                <a:stretch>
                  <a:fillRect l="-913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787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k-</a:t>
            </a:r>
            <a:r>
              <a:rPr lang="pt-BR" i="1" dirty="0" err="1"/>
              <a:t>Means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"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pt-BR" dirty="0"/>
                  <a:t> é um </a:t>
                </a:r>
                <a:r>
                  <a:rPr lang="pt-BR" dirty="0" err="1"/>
                  <a:t>hiperparâmetro</a:t>
                </a:r>
                <a:r>
                  <a:rPr lang="pt-BR" dirty="0"/>
                  <a:t> que define o número de </a:t>
                </a:r>
                <a:r>
                  <a:rPr lang="pt-BR" i="1" dirty="0"/>
                  <a:t>clusters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 pseudocódigo do algoritmo é mostrado abaixo.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pt-BR" dirty="0"/>
                  <a:t>O algoritmo garantidamente chega a uma situação em que cada exemplo se encontra no </a:t>
                </a:r>
                <a:r>
                  <a:rPr lang="pt-BR" i="1" dirty="0"/>
                  <a:t>cluster</a:t>
                </a:r>
                <a:r>
                  <a:rPr lang="pt-BR" dirty="0"/>
                  <a:t> mais próximo, de modo que, a partir deste momento, os centroides não mudem mais.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 rotWithShape="0">
                <a:blip r:embed="rId3"/>
                <a:stretch>
                  <a:fillRect l="-913" t="-1937" r="-1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"/>
              <p:cNvSpPr txBox="1"/>
              <p:nvPr/>
            </p:nvSpPr>
            <p:spPr>
              <a:xfrm>
                <a:off x="1698214" y="2989982"/>
                <a:ext cx="9167906" cy="20313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Entradas</a:t>
                </a:r>
                <a:r>
                  <a:rPr lang="pt-BR" dirty="0"/>
                  <a:t>: conjunto de exemplos e número de </a:t>
                </a:r>
                <a:r>
                  <a:rPr lang="pt-BR" i="1" dirty="0"/>
                  <a:t>clusters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. </a:t>
                </a:r>
                <a:endParaRPr lang="pt-BR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b="1" dirty="0"/>
                  <a:t>Defina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centroides iniciais (geralmente, feito de forma aleatória).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b="1" dirty="0"/>
                  <a:t>Repita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pt-BR" dirty="0"/>
                  <a:t>Calcule a distância de cada exemplo,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para cada um dos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centroides e atribua cada exemplo ao </a:t>
                </a:r>
                <a:r>
                  <a:rPr lang="pt-BR" i="1" dirty="0"/>
                  <a:t>cluster</a:t>
                </a:r>
                <a:r>
                  <a:rPr lang="pt-BR" dirty="0"/>
                  <a:t> mais próximo.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pt-BR" dirty="0"/>
                  <a:t>Calcule o novo centroide de cada </a:t>
                </a:r>
                <a:r>
                  <a:rPr lang="pt-BR" i="1" dirty="0"/>
                  <a:t>cluster</a:t>
                </a:r>
                <a:r>
                  <a:rPr lang="pt-BR" dirty="0"/>
                  <a:t>*.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b="1" dirty="0"/>
                  <a:t>Enquanto </a:t>
                </a:r>
                <a:r>
                  <a:rPr lang="pt-BR" dirty="0"/>
                  <a:t>as posições dos centroides continuarem mudando.</a:t>
                </a:r>
              </a:p>
            </p:txBody>
          </p:sp>
        </mc:Choice>
        <mc:Fallback xmlns="">
          <p:sp>
            <p:nvSpPr>
              <p:cNvPr id="4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214" y="2989982"/>
                <a:ext cx="9167906" cy="2031325"/>
              </a:xfrm>
              <a:prstGeom prst="rect">
                <a:avLst/>
              </a:prstGeom>
              <a:blipFill rotWithShape="0">
                <a:blip r:embed="rId4"/>
                <a:stretch>
                  <a:fillRect l="-531" t="-1190" b="-32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/>
          <p:cNvSpPr/>
          <p:nvPr/>
        </p:nvSpPr>
        <p:spPr>
          <a:xfrm>
            <a:off x="1698214" y="5021307"/>
            <a:ext cx="91679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*os novos centroides são calculados como a média aritmética (centro geométrico) das amostras pertencentes a cada </a:t>
            </a:r>
            <a:r>
              <a:rPr lang="pt-BR" sz="1400" i="1" dirty="0">
                <a:solidFill>
                  <a:srgbClr val="000000"/>
                </a:solidFill>
                <a:latin typeface="Calibri" panose="020F0502020204030204" pitchFamily="34" charset="0"/>
              </a:rPr>
              <a:t>cluster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317123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29640" y="2892425"/>
            <a:ext cx="10515600" cy="9937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Vejamos um exemplo</a:t>
            </a:r>
          </a:p>
        </p:txBody>
      </p:sp>
    </p:spTree>
    <p:extLst>
      <p:ext uri="{BB962C8B-B14F-4D97-AF65-F5344CB8AC3E}">
        <p14:creationId xmlns:p14="http://schemas.microsoft.com/office/powerpoint/2010/main" val="2538123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 </a:t>
            </a:r>
            <a:r>
              <a:rPr lang="pt-BR" i="1" dirty="0"/>
              <a:t>k-</a:t>
            </a:r>
            <a:r>
              <a:rPr lang="pt-BR" i="1" dirty="0" err="1"/>
              <a:t>Means</a:t>
            </a:r>
            <a:endParaRPr lang="pt-BR" i="1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F98B536F-38AB-58C5-0FFB-41BDB557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422" y="1856677"/>
            <a:ext cx="6315956" cy="5001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04EA9FAE-D371-68E0-2CB7-9C8893491B3B}"/>
                  </a:ext>
                </a:extLst>
              </p:cNvPr>
              <p:cNvSpPr txBox="1"/>
              <p:nvPr/>
            </p:nvSpPr>
            <p:spPr>
              <a:xfrm>
                <a:off x="303430" y="2475186"/>
                <a:ext cx="25329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1. Define-se o número de clusters,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= 3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xmlns="" id="{04EA9FAE-D371-68E0-2CB7-9C8893491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30" y="2475186"/>
                <a:ext cx="2532992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2169" t="-4717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258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 </a:t>
            </a:r>
            <a:r>
              <a:rPr lang="pt-BR" i="1" dirty="0"/>
              <a:t>k-</a:t>
            </a:r>
            <a:r>
              <a:rPr lang="pt-BR" i="1" dirty="0" err="1"/>
              <a:t>Means</a:t>
            </a:r>
            <a:endParaRPr lang="pt-BR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69F3FE92-0D0B-AECE-B64E-FC9D2F3E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601" y="1913835"/>
            <a:ext cx="6258798" cy="4944165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5D947541-89EC-69EF-1918-6EFD56E0B3C2}"/>
              </a:ext>
            </a:extLst>
          </p:cNvPr>
          <p:cNvSpPr txBox="1"/>
          <p:nvPr/>
        </p:nvSpPr>
        <p:spPr>
          <a:xfrm>
            <a:off x="65746" y="2490952"/>
            <a:ext cx="2900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Escolhe</a:t>
            </a:r>
            <a:r>
              <a:rPr lang="en-US" dirty="0"/>
              <a:t>-se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centroides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cluster de forma </a:t>
            </a:r>
            <a:r>
              <a:rPr lang="en-US" dirty="0" err="1"/>
              <a:t>aleatória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9881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 </a:t>
            </a:r>
            <a:r>
              <a:rPr lang="pt-BR" i="1" dirty="0"/>
              <a:t>k-</a:t>
            </a:r>
            <a:r>
              <a:rPr lang="pt-BR" i="1" dirty="0" err="1"/>
              <a:t>Means</a:t>
            </a:r>
            <a:endParaRPr lang="pt-BR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1C0684BB-EFF7-DBA8-3519-25CE2A1A9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837" y="1885256"/>
            <a:ext cx="6268325" cy="4972744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38267D7C-379A-003E-4048-8D4DDD969EB6}"/>
              </a:ext>
            </a:extLst>
          </p:cNvPr>
          <p:cNvSpPr txBox="1"/>
          <p:nvPr/>
        </p:nvSpPr>
        <p:spPr>
          <a:xfrm>
            <a:off x="101600" y="2865735"/>
            <a:ext cx="26521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3. Atribui-se cada amostra ao centroide mais próximo com base na distância euclidiana.</a:t>
            </a:r>
            <a:br>
              <a:rPr lang="pt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554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 </a:t>
            </a:r>
            <a:r>
              <a:rPr lang="pt-BR" i="1" dirty="0"/>
              <a:t>k-</a:t>
            </a:r>
            <a:r>
              <a:rPr lang="pt-BR" i="1" dirty="0" err="1"/>
              <a:t>Means</a:t>
            </a:r>
            <a:endParaRPr lang="pt-BR" dirty="0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4A874BBD-11DB-833A-341F-F134DDD11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74" y="1913835"/>
            <a:ext cx="6277851" cy="4944165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FB63ADD3-D956-76C5-F130-F38465877D67}"/>
              </a:ext>
            </a:extLst>
          </p:cNvPr>
          <p:cNvSpPr txBox="1"/>
          <p:nvPr/>
        </p:nvSpPr>
        <p:spPr>
          <a:xfrm>
            <a:off x="101600" y="2577501"/>
            <a:ext cx="2998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4. Recalcula-se o centroide dos clusters.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901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 </a:t>
            </a:r>
            <a:r>
              <a:rPr lang="pt-BR" i="1" dirty="0"/>
              <a:t>k-</a:t>
            </a:r>
            <a:r>
              <a:rPr lang="pt-BR" i="1" dirty="0" err="1"/>
              <a:t>Means</a:t>
            </a:r>
            <a:endParaRPr lang="pt-BR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BE9E2474-44BE-43D0-EE2F-D03349050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422" y="1913835"/>
            <a:ext cx="6315956" cy="4944165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E7FEC406-7A7E-5D78-DF69-D2416A2375C3}"/>
              </a:ext>
            </a:extLst>
          </p:cNvPr>
          <p:cNvSpPr txBox="1"/>
          <p:nvPr/>
        </p:nvSpPr>
        <p:spPr>
          <a:xfrm>
            <a:off x="304800" y="2629284"/>
            <a:ext cx="2531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5. Repete-se os passos 3 e 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097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 </a:t>
            </a:r>
            <a:r>
              <a:rPr lang="pt-BR" i="1" dirty="0"/>
              <a:t>k-</a:t>
            </a:r>
            <a:r>
              <a:rPr lang="pt-BR" i="1" dirty="0" err="1"/>
              <a:t>Means</a:t>
            </a:r>
            <a:endParaRPr lang="pt-BR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D544109-9098-CA3C-766B-DFEB05AE1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290" y="1932888"/>
            <a:ext cx="6230219" cy="4925112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E7FEC406-7A7E-5D78-DF69-D2416A2375C3}"/>
              </a:ext>
            </a:extLst>
          </p:cNvPr>
          <p:cNvSpPr txBox="1"/>
          <p:nvPr/>
        </p:nvSpPr>
        <p:spPr>
          <a:xfrm>
            <a:off x="304800" y="2629284"/>
            <a:ext cx="2531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5. Repete-se os passos 3 e 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781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 </a:t>
            </a:r>
            <a:r>
              <a:rPr lang="pt-BR" i="1" dirty="0"/>
              <a:t>k-</a:t>
            </a:r>
            <a:r>
              <a:rPr lang="pt-BR" i="1" dirty="0" err="1"/>
              <a:t>Means</a:t>
            </a:r>
            <a:endParaRPr lang="pt-BR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9F08A47C-C93C-D40B-F5DC-3C29F2EEE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80" y="1961467"/>
            <a:ext cx="6201640" cy="4896533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4376C1A9-3731-8BF9-861E-3D686FEA4F43}"/>
              </a:ext>
            </a:extLst>
          </p:cNvPr>
          <p:cNvSpPr txBox="1"/>
          <p:nvPr/>
        </p:nvSpPr>
        <p:spPr>
          <a:xfrm>
            <a:off x="141890" y="2629285"/>
            <a:ext cx="29548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Repete-se os passos 3-4</a:t>
            </a:r>
            <a:r>
              <a:rPr lang="pt-BR" dirty="0"/>
              <a:t> </a:t>
            </a:r>
            <a:r>
              <a:rPr lang="pt-BR" b="0" i="0" dirty="0">
                <a:solidFill>
                  <a:srgbClr val="404040"/>
                </a:solidFill>
                <a:effectLst/>
              </a:rPr>
              <a:t>até que um dos casos abaixo ocorra: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0" i="0" dirty="0">
                <a:solidFill>
                  <a:srgbClr val="404040"/>
                </a:solidFill>
                <a:effectLst/>
              </a:rPr>
              <a:t>A soma das distâncias entre as amostras e o centroide correspondente seja minimizada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0" i="0" dirty="0">
                <a:solidFill>
                  <a:srgbClr val="404040"/>
                </a:solidFill>
                <a:effectLst/>
              </a:rPr>
              <a:t>Não haja alteração nos centroides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0" i="0" dirty="0">
                <a:solidFill>
                  <a:srgbClr val="404040"/>
                </a:solidFill>
                <a:effectLst/>
              </a:rPr>
              <a:t>O número máximo de iterações seja atingido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733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inicializar os centroides?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5242560" y="1825624"/>
                <a:ext cx="694944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procedimento mais simples para inicializar os centroides é </a:t>
                </a:r>
                <a:r>
                  <a:rPr lang="pt-BR" b="1" dirty="0">
                    <a:solidFill>
                      <a:schemeClr val="accent5"/>
                    </a:solidFill>
                  </a:rPr>
                  <a:t>escolher </a:t>
                </a:r>
                <a14:m>
                  <m:oMath xmlns:m="http://schemas.openxmlformats.org/officeDocument/2006/math">
                    <m:r>
                      <a:rPr lang="pt-BR" b="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b="1" dirty="0">
                    <a:solidFill>
                      <a:schemeClr val="accent5"/>
                    </a:solidFill>
                  </a:rPr>
                  <a:t> exemplos de treinamento aleatórios</a:t>
                </a:r>
                <a:r>
                  <a:rPr lang="pt-BR" dirty="0"/>
                  <a:t> e os considerar como os centroides iniciais.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Pode escolher pontos muito próximos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Rodar várias vezes e escolher o melhor resultado</a:t>
                </a:r>
              </a:p>
              <a:p>
                <a:r>
                  <a:rPr lang="pt-BR" dirty="0"/>
                  <a:t>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clusters</a:t>
                </a:r>
                <a:r>
                  <a:rPr lang="pt-BR" b="1" dirty="0">
                    <a:solidFill>
                      <a:srgbClr val="7030A0"/>
                    </a:solidFill>
                  </a:rPr>
                  <a:t> iniciais </a:t>
                </a:r>
                <a:r>
                  <a:rPr lang="pt-BR" dirty="0"/>
                  <a:t>são então criados associando cada um dos exemplos ao seu </a:t>
                </a:r>
                <a:r>
                  <a:rPr lang="pt-BR" b="1" dirty="0">
                    <a:solidFill>
                      <a:srgbClr val="00B050"/>
                    </a:solidFill>
                  </a:rPr>
                  <a:t>centroide mais próximo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Cada centroide define uma região e as amostras são distribuídas com base nisso.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2560" y="1825624"/>
                <a:ext cx="6949440" cy="5032375"/>
              </a:xfrm>
              <a:blipFill>
                <a:blip r:embed="rId2"/>
                <a:stretch>
                  <a:fillRect l="-1579" t="-1937" r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Quantum machine learning: distance estimation for k-means clustering | by  Sashwat Anagolum | Towards Data Science">
            <a:extLst>
              <a:ext uri="{FF2B5EF4-FFF2-40B4-BE49-F238E27FC236}">
                <a16:creationId xmlns:a16="http://schemas.microsoft.com/office/drawing/2014/main" id="{3663CA52-EDD8-4A35-5A6A-3A247A7891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11979" r="8929"/>
          <a:stretch/>
        </p:blipFill>
        <p:spPr bwMode="auto">
          <a:xfrm>
            <a:off x="369389" y="2253117"/>
            <a:ext cx="4487974" cy="339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627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1A926-A8C8-946A-0DCB-7DA6EAEC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E24AF-FE6E-7B0A-D179-EB49A1DE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inicializar os centroides? 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35406F-F929-EFBE-0B16-7CF919C6F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0" y="1825624"/>
            <a:ext cx="6756400" cy="5032375"/>
          </a:xfrm>
        </p:spPr>
        <p:txBody>
          <a:bodyPr>
            <a:normAutofit/>
          </a:bodyPr>
          <a:lstStyle/>
          <a:p>
            <a:r>
              <a:rPr lang="pt-BR" dirty="0"/>
              <a:t>Se os centroides iniciais mudam: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muda completamente a divisão inicial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muda quais amostras vão para qual </a:t>
            </a:r>
            <a:r>
              <a:rPr lang="pt-BR" i="1" dirty="0"/>
              <a:t>cluster</a:t>
            </a:r>
            <a:r>
              <a:rPr lang="pt-BR" dirty="0"/>
              <a:t> no início</a:t>
            </a:r>
          </a:p>
          <a:p>
            <a:r>
              <a:rPr lang="pt-BR" dirty="0"/>
              <a:t>O número de </a:t>
            </a:r>
            <a:r>
              <a:rPr lang="pt-BR" b="1" dirty="0">
                <a:solidFill>
                  <a:schemeClr val="accent2"/>
                </a:solidFill>
              </a:rPr>
              <a:t>transferências</a:t>
            </a:r>
            <a:r>
              <a:rPr lang="pt-BR" dirty="0"/>
              <a:t> de um exemplo </a:t>
            </a:r>
            <a:r>
              <a:rPr lang="pt-BR" b="1" dirty="0">
                <a:solidFill>
                  <a:schemeClr val="accent2"/>
                </a:solidFill>
              </a:rPr>
              <a:t>de um </a:t>
            </a:r>
            <a:r>
              <a:rPr lang="pt-BR" b="1" i="1" dirty="0">
                <a:solidFill>
                  <a:schemeClr val="accent2"/>
                </a:solidFill>
              </a:rPr>
              <a:t>cluster</a:t>
            </a:r>
            <a:r>
              <a:rPr lang="pt-BR" b="1" dirty="0">
                <a:solidFill>
                  <a:schemeClr val="accent2"/>
                </a:solidFill>
              </a:rPr>
              <a:t> para outro depende dos centroides iniciais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Todo o processo depende do ponto de partida.</a:t>
            </a:r>
          </a:p>
          <a:p>
            <a:r>
              <a:rPr lang="pt-BR" dirty="0"/>
              <a:t>Se os </a:t>
            </a:r>
            <a:r>
              <a:rPr lang="pt-BR" b="1" dirty="0">
                <a:solidFill>
                  <a:srgbClr val="7030A0"/>
                </a:solidFill>
              </a:rPr>
              <a:t>centroides iniciais </a:t>
            </a:r>
            <a:r>
              <a:rPr lang="pt-BR" dirty="0"/>
              <a:t>já forem </a:t>
            </a:r>
            <a:r>
              <a:rPr lang="pt-BR" b="1" dirty="0">
                <a:solidFill>
                  <a:srgbClr val="7030A0"/>
                </a:solidFill>
              </a:rPr>
              <a:t>perfeitos</a:t>
            </a:r>
            <a:r>
              <a:rPr lang="pt-BR" dirty="0"/>
              <a:t>, </a:t>
            </a:r>
            <a:r>
              <a:rPr lang="pt-BR" b="1" dirty="0">
                <a:solidFill>
                  <a:srgbClr val="7030A0"/>
                </a:solidFill>
              </a:rPr>
              <a:t>nenhum exemplo precisa ser atribuído a outro </a:t>
            </a:r>
            <a:r>
              <a:rPr lang="pt-BR" b="1" i="1" dirty="0">
                <a:solidFill>
                  <a:srgbClr val="7030A0"/>
                </a:solidFill>
              </a:rPr>
              <a:t>cluster</a:t>
            </a:r>
            <a:r>
              <a:rPr lang="pt-BR" dirty="0"/>
              <a:t> e o algoritmo é encerado.</a:t>
            </a:r>
          </a:p>
        </p:txBody>
      </p:sp>
      <p:pic>
        <p:nvPicPr>
          <p:cNvPr id="4" name="Picture 2" descr="Quantum machine learning: distance estimation for k-means clustering | by  Sashwat Anagolum | Towards Data Science">
            <a:extLst>
              <a:ext uri="{FF2B5EF4-FFF2-40B4-BE49-F238E27FC236}">
                <a16:creationId xmlns:a16="http://schemas.microsoft.com/office/drawing/2014/main" id="{375C1022-A6C8-5B17-2FC3-13794270B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11979" r="8929"/>
          <a:stretch/>
        </p:blipFill>
        <p:spPr bwMode="auto">
          <a:xfrm>
            <a:off x="511629" y="2202317"/>
            <a:ext cx="4487974" cy="339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848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61F7-2166-8305-B7FE-ACE2323DF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19064-8E96-0B34-B387-5724815C4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inicializar os centroides? 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AB57C6-5307-315D-C613-2F33992F1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86" y="1825624"/>
            <a:ext cx="6770914" cy="5032375"/>
          </a:xfrm>
        </p:spPr>
        <p:txBody>
          <a:bodyPr>
            <a:normAutofit/>
          </a:bodyPr>
          <a:lstStyle/>
          <a:p>
            <a:r>
              <a:rPr lang="pt-BR" dirty="0"/>
              <a:t>Portanto, a </a:t>
            </a:r>
            <a:r>
              <a:rPr lang="pt-BR" b="1" dirty="0">
                <a:solidFill>
                  <a:srgbClr val="00B050"/>
                </a:solidFill>
              </a:rPr>
              <a:t>inicialização é importante </a:t>
            </a:r>
            <a:r>
              <a:rPr lang="pt-BR" dirty="0"/>
              <a:t>no sentido de que </a:t>
            </a:r>
            <a:r>
              <a:rPr lang="pt-BR" b="1" dirty="0">
                <a:solidFill>
                  <a:srgbClr val="00B050"/>
                </a:solidFill>
              </a:rPr>
              <a:t>um ponto de partida melhor</a:t>
            </a:r>
            <a:r>
              <a:rPr lang="pt-BR" dirty="0"/>
              <a:t> garante que a </a:t>
            </a:r>
            <a:r>
              <a:rPr lang="pt-BR" b="1" dirty="0">
                <a:solidFill>
                  <a:srgbClr val="00B050"/>
                </a:solidFill>
              </a:rPr>
              <a:t>solução seja encontrada mais rápido</a:t>
            </a:r>
            <a:r>
              <a:rPr lang="pt-BR" dirty="0"/>
              <a:t>.</a:t>
            </a:r>
          </a:p>
          <a:p>
            <a:r>
              <a:rPr lang="pt-BR" dirty="0"/>
              <a:t>Ou seja, o </a:t>
            </a:r>
            <a:r>
              <a:rPr lang="pt-BR" b="1" dirty="0">
                <a:solidFill>
                  <a:srgbClr val="FF0000"/>
                </a:solidFill>
              </a:rPr>
              <a:t>tempo de convergência </a:t>
            </a:r>
            <a:r>
              <a:rPr lang="pt-BR" dirty="0"/>
              <a:t>do algoritmo </a:t>
            </a:r>
            <a:r>
              <a:rPr lang="pt-BR" b="1" dirty="0">
                <a:solidFill>
                  <a:srgbClr val="FF0000"/>
                </a:solidFill>
              </a:rPr>
              <a:t>depende da inicialização</a:t>
            </a:r>
            <a:r>
              <a:rPr lang="pt-BR" dirty="0"/>
              <a:t>.</a:t>
            </a:r>
          </a:p>
          <a:p>
            <a:r>
              <a:rPr lang="pt-BR" dirty="0"/>
              <a:t>O algoritmo é </a:t>
            </a:r>
            <a:r>
              <a:rPr lang="pt-BR" b="1" dirty="0"/>
              <a:t>altamente sensível à escolha inicial dos centroides.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2" descr="Quantum machine learning: distance estimation for k-means clustering | by  Sashwat Anagolum | Towards Data Science">
            <a:extLst>
              <a:ext uri="{FF2B5EF4-FFF2-40B4-BE49-F238E27FC236}">
                <a16:creationId xmlns:a16="http://schemas.microsoft.com/office/drawing/2014/main" id="{9210F1A3-8D21-F13E-A400-833A1EDE2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t="11979" r="8929"/>
          <a:stretch/>
        </p:blipFill>
        <p:spPr bwMode="auto">
          <a:xfrm>
            <a:off x="511629" y="2202317"/>
            <a:ext cx="4487974" cy="339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400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B77C4-9B17-7A8C-9D74-1E6EDF9D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358A61-5705-A1F7-E051-797E22A8C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4292"/>
            <a:ext cx="10515600" cy="18659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Como definimos o número de </a:t>
            </a:r>
            <a:r>
              <a:rPr lang="pt-BR" sz="5400" i="1" dirty="0"/>
              <a:t>clusters</a:t>
            </a:r>
            <a:r>
              <a:rPr lang="pt-BR" sz="5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28297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74C0-6E04-C0DD-EAA0-CBB82A39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do cotovelo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D5BC8-7DE0-62E2-804E-33545D8762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3600" y="1825624"/>
                <a:ext cx="6248400" cy="5032375"/>
              </a:xfrm>
            </p:spPr>
            <p:txBody>
              <a:bodyPr/>
              <a:lstStyle/>
              <a:p>
                <a:r>
                  <a:rPr lang="pt-BR" dirty="0"/>
                  <a:t>O método busca o ponto onde </a:t>
                </a:r>
                <a:r>
                  <a:rPr lang="pt-BR" b="1" dirty="0"/>
                  <a:t>a melhoria do aumento de </a:t>
                </a:r>
                <a:r>
                  <a:rPr lang="pt-BR" b="1" i="1" dirty="0"/>
                  <a:t>clusters</a:t>
                </a:r>
                <a:r>
                  <a:rPr lang="pt-BR" b="1" dirty="0"/>
                  <a:t> começa a diminuir significativamente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Ou seja, aumentar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sempre melhora o ajuste, mas chega um ponto em que o ganho é </a:t>
                </a:r>
                <a:r>
                  <a:rPr lang="pt-BR" b="1" dirty="0"/>
                  <a:t>marginal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Esse ponto é o “</a:t>
                </a:r>
                <a:r>
                  <a:rPr lang="pt-BR" b="1" dirty="0"/>
                  <a:t>cotovelo” da curva.</a:t>
                </a:r>
              </a:p>
              <a:p>
                <a:r>
                  <a:rPr lang="pt-BR" dirty="0"/>
                  <a:t>Que métrica usamos para plotar a curva?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D5BC8-7DE0-62E2-804E-33545D8762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3600" y="1825624"/>
                <a:ext cx="6248400" cy="5032375"/>
              </a:xfrm>
              <a:blipFill>
                <a:blip r:embed="rId2"/>
                <a:stretch>
                  <a:fillRect l="-1756" t="-1937" r="-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K-Means: Getting the Optimal Number of Clusters- Analytics Vidhya">
            <a:extLst>
              <a:ext uri="{FF2B5EF4-FFF2-40B4-BE49-F238E27FC236}">
                <a16:creationId xmlns:a16="http://schemas.microsoft.com/office/drawing/2014/main" id="{5704EB20-2972-D237-4FE5-23EBC8E55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316480"/>
            <a:ext cx="4521890" cy="332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543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8164-8DED-57E8-103F-9479D1C1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9F49-61D7-0208-3364-6E7A9D64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dos quadrados </a:t>
            </a:r>
            <a:r>
              <a:rPr lang="pt-BR" dirty="0" err="1"/>
              <a:t>intra-</a:t>
            </a:r>
            <a:r>
              <a:rPr lang="pt-BR" i="1" dirty="0" err="1"/>
              <a:t>clusters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BBDDAA-8E03-1533-DC27-B212B34350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3600" y="1825624"/>
                <a:ext cx="62484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Usa-se a soma dos quadrados </a:t>
                </a:r>
                <a:r>
                  <a:rPr lang="pt-BR" dirty="0" err="1"/>
                  <a:t>intra-</a:t>
                </a:r>
                <a:r>
                  <a:rPr lang="pt-BR" i="1" dirty="0" err="1"/>
                  <a:t>clusters</a:t>
                </a:r>
                <a:r>
                  <a:rPr lang="pt-BR" dirty="0"/>
                  <a:t>, também conhecida como inércia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é o centroide 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-ésimo </a:t>
                </a:r>
                <a:r>
                  <a:rPr lang="pt-BR" i="1" dirty="0"/>
                  <a:t>cluster</a:t>
                </a:r>
                <a:r>
                  <a:rPr lang="pt-BR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 é a distância </a:t>
                </a:r>
                <a:r>
                  <a:rPr lang="pt-BR"/>
                  <a:t>até esse </a:t>
                </a:r>
                <a:r>
                  <a:rPr lang="pt-BR" i="1" dirty="0"/>
                  <a:t>cluster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Ela mede o quão “compactos” são os </a:t>
                </a:r>
                <a:r>
                  <a:rPr lang="pt-BR" i="1" dirty="0"/>
                  <a:t>clusters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quanto menor → melhor</a:t>
                </a:r>
                <a:endParaRPr lang="en-US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BBDDAA-8E03-1533-DC27-B212B3435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3600" y="1825624"/>
                <a:ext cx="6248400" cy="5032375"/>
              </a:xfrm>
              <a:blipFill>
                <a:blip r:embed="rId3"/>
                <a:stretch>
                  <a:fillRect l="-1951" t="-1937" r="-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K-Means: Getting the Optimal Number of Clusters- Analytics Vidhya">
            <a:extLst>
              <a:ext uri="{FF2B5EF4-FFF2-40B4-BE49-F238E27FC236}">
                <a16:creationId xmlns:a16="http://schemas.microsoft.com/office/drawing/2014/main" id="{6CFEC85E-0DF3-CC25-5FF3-CFFD6DEE2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316480"/>
            <a:ext cx="4521890" cy="332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617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1F28-4876-5B0D-7F6C-0F152E330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25F9-4CBE-8456-1A61-B7A51F1F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dos quadrados </a:t>
            </a:r>
            <a:r>
              <a:rPr lang="pt-BR" dirty="0" err="1"/>
              <a:t>intra-</a:t>
            </a:r>
            <a:r>
              <a:rPr lang="pt-BR" i="1" dirty="0" err="1"/>
              <a:t>clusters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65B5D-EAEC-B338-BC6A-DAC5DA0B1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3600" y="1825624"/>
                <a:ext cx="62484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curva quantifica o quão próximos os pontos de um cluster estão do seu </a:t>
                </a:r>
                <a:r>
                  <a:rPr lang="pt-BR" dirty="0" err="1"/>
                  <a:t>centróide</a:t>
                </a:r>
                <a:r>
                  <a:rPr lang="pt-BR" dirty="0"/>
                  <a:t> (centro do cluster).</a:t>
                </a:r>
              </a:p>
              <a:p>
                <a:r>
                  <a:rPr lang="pt-BR" dirty="0"/>
                  <a:t>analisa a curva de WSS em função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65B5D-EAEC-B338-BC6A-DAC5DA0B1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3600" y="1825624"/>
                <a:ext cx="6248400" cy="5032375"/>
              </a:xfrm>
              <a:blipFill>
                <a:blip r:embed="rId2"/>
                <a:stretch>
                  <a:fillRect l="-1756" t="-1937" r="-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K-Means: Getting the Optimal Number of Clusters- Analytics Vidhya">
            <a:extLst>
              <a:ext uri="{FF2B5EF4-FFF2-40B4-BE49-F238E27FC236}">
                <a16:creationId xmlns:a16="http://schemas.microsoft.com/office/drawing/2014/main" id="{8E934D73-7290-09A0-C88B-24CA35D92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316480"/>
            <a:ext cx="4521890" cy="332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783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6E31-B0DF-F3EC-D348-0D4E93DD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7CCEC-CA32-01B4-A9B5-F81A83FF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5400" b="1" dirty="0">
                <a:solidFill>
                  <a:srgbClr val="FF0000"/>
                </a:solidFill>
              </a:rPr>
              <a:t>PAREI </a:t>
            </a:r>
            <a:r>
              <a:rPr lang="pt-BR" sz="5400" b="1" dirty="0" err="1">
                <a:solidFill>
                  <a:srgbClr val="FF0000"/>
                </a:solidFill>
              </a:rPr>
              <a:t>AQUi</a:t>
            </a:r>
            <a:r>
              <a:rPr lang="pt-BR" sz="5400" b="1" dirty="0">
                <a:solidFill>
                  <a:srgbClr val="FF0000"/>
                </a:solidFill>
              </a:rPr>
              <a:t>!!!!</a:t>
            </a:r>
            <a:endParaRPr 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2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do cotovelo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293186" y="1825624"/>
            <a:ext cx="4898814" cy="5032375"/>
          </a:xfrm>
        </p:spPr>
        <p:txBody>
          <a:bodyPr>
            <a:normAutofit fontScale="32500" lnSpcReduction="20000"/>
          </a:bodyPr>
          <a:lstStyle/>
          <a:p>
            <a:r>
              <a:rPr lang="pt-BR" dirty="0"/>
              <a:t>Essa abordagem utiliza a Soma dos Quadrados </a:t>
            </a:r>
            <a:r>
              <a:rPr lang="pt-BR" dirty="0" err="1"/>
              <a:t>Intra-Clusters</a:t>
            </a:r>
            <a:r>
              <a:rPr lang="pt-BR" dirty="0"/>
              <a:t> (WSS - </a:t>
            </a:r>
            <a:r>
              <a:rPr lang="pt-BR" dirty="0" err="1"/>
              <a:t>Within</a:t>
            </a:r>
            <a:r>
              <a:rPr lang="pt-BR" dirty="0"/>
              <a:t>-Cluster Sum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Squares</a:t>
            </a:r>
            <a:r>
              <a:rPr lang="pt-BR" dirty="0"/>
              <a:t>), também conhecido como inércia, e analisa a curva de WSS em função de</a:t>
            </a:r>
          </a:p>
          <a:p>
            <a:r>
              <a:rPr lang="pt-BR" dirty="0"/>
              <a:t>$k$.</a:t>
            </a:r>
          </a:p>
          <a:p>
            <a:br>
              <a:rPr lang="pt-BR" dirty="0"/>
            </a:br>
            <a:r>
              <a:rPr lang="pt-BR" dirty="0"/>
              <a:t>A curva quantifica o quão próximos os pontos de um cluster estão do seu </a:t>
            </a:r>
            <a:r>
              <a:rPr lang="pt-BR" dirty="0" err="1"/>
              <a:t>centróide</a:t>
            </a:r>
            <a:r>
              <a:rPr lang="pt-BR" dirty="0"/>
              <a:t> (centro do cluster).</a:t>
            </a:r>
          </a:p>
          <a:p>
            <a:br>
              <a:rPr lang="pt-BR" dirty="0"/>
            </a:br>
            <a:r>
              <a:rPr lang="pt-BR" dirty="0"/>
              <a:t>Quanto menor o WSS, mais coesos são os clusters (os pontos dentro de um cluster estão fortemente agrupados, próximos entre si e do </a:t>
            </a:r>
            <a:r>
              <a:rPr lang="pt-BR" dirty="0" err="1"/>
              <a:t>centróide</a:t>
            </a:r>
            <a:r>
              <a:rPr lang="pt-BR" dirty="0"/>
              <a:t>).</a:t>
            </a:r>
          </a:p>
          <a:p>
            <a:br>
              <a:rPr lang="pt-BR" dirty="0"/>
            </a:br>
            <a:r>
              <a:rPr lang="pt-BR" dirty="0"/>
              <a:t>A equação do </a:t>
            </a:r>
            <a:r>
              <a:rPr lang="pt-BR" b="1" dirty="0"/>
              <a:t>**</a:t>
            </a:r>
            <a:r>
              <a:rPr lang="pt-BR" b="1" dirty="0" err="1"/>
              <a:t>Within</a:t>
            </a:r>
            <a:r>
              <a:rPr lang="pt-BR" b="1" dirty="0"/>
              <a:t>-Cluster Sum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Squares</a:t>
            </a:r>
            <a:r>
              <a:rPr lang="pt-BR" b="1" dirty="0"/>
              <a:t> (WSS)**</a:t>
            </a:r>
            <a:r>
              <a:rPr lang="pt-BR" dirty="0"/>
              <a:t> é:</a:t>
            </a:r>
          </a:p>
          <a:p>
            <a:r>
              <a:rPr lang="pt-BR" dirty="0"/>
              <a:t>$$WSS = \sum</a:t>
            </a:r>
            <a:r>
              <a:rPr lang="pt-BR" i="1" dirty="0"/>
              <a:t>_{i=1}^{k} \sum_</a:t>
            </a:r>
            <a:r>
              <a:rPr lang="pt-BR" dirty="0"/>
              <a:t>{x \in </a:t>
            </a:r>
            <a:r>
              <a:rPr lang="pt-BR" dirty="0" err="1"/>
              <a:t>C_i</a:t>
            </a:r>
            <a:r>
              <a:rPr lang="pt-BR" dirty="0"/>
              <a:t>} \|x - \</a:t>
            </a:r>
            <a:r>
              <a:rPr lang="pt-BR" dirty="0" err="1"/>
              <a:t>mu_i</a:t>
            </a:r>
            <a:r>
              <a:rPr lang="pt-BR" dirty="0"/>
              <a:t>\|^2$$,</a:t>
            </a:r>
          </a:p>
          <a:p>
            <a:r>
              <a:rPr lang="pt-BR" dirty="0"/>
              <a:t>onde:</a:t>
            </a:r>
          </a:p>
          <a:p>
            <a:r>
              <a:rPr lang="pt-BR" dirty="0"/>
              <a:t>- $k$ -&gt; número de clusters,</a:t>
            </a:r>
          </a:p>
          <a:p>
            <a:r>
              <a:rPr lang="pt-BR" dirty="0"/>
              <a:t>- $</a:t>
            </a:r>
            <a:r>
              <a:rPr lang="pt-BR" dirty="0" err="1"/>
              <a:t>C_i</a:t>
            </a:r>
            <a:r>
              <a:rPr lang="pt-BR" dirty="0"/>
              <a:t>$ -&gt; conjunto de pontos no cluster \( i \),</a:t>
            </a:r>
          </a:p>
          <a:p>
            <a:r>
              <a:rPr lang="pt-BR" dirty="0"/>
              <a:t>- $</a:t>
            </a:r>
            <a:r>
              <a:rPr lang="pt-BR" dirty="0" err="1"/>
              <a:t>mu_i</a:t>
            </a:r>
            <a:r>
              <a:rPr lang="pt-BR" dirty="0"/>
              <a:t>$ = </a:t>
            </a:r>
            <a:r>
              <a:rPr lang="pt-BR" dirty="0" err="1"/>
              <a:t>centróide</a:t>
            </a:r>
            <a:r>
              <a:rPr lang="pt-BR" dirty="0"/>
              <a:t> (média) do cluster \( i \),</a:t>
            </a:r>
          </a:p>
          <a:p>
            <a:r>
              <a:rPr lang="pt-BR" dirty="0"/>
              <a:t>- $ \|x - \</a:t>
            </a:r>
            <a:r>
              <a:rPr lang="pt-BR" dirty="0" err="1"/>
              <a:t>mu_i</a:t>
            </a:r>
            <a:r>
              <a:rPr lang="pt-BR" dirty="0"/>
              <a:t>\|^2 $ -&gt; distância quadrada (Euclidiana) entre um ponto $x$ e seu </a:t>
            </a:r>
            <a:r>
              <a:rPr lang="pt-BR" dirty="0" err="1"/>
              <a:t>centróide</a:t>
            </a:r>
            <a:r>
              <a:rPr lang="pt-BR" dirty="0"/>
              <a:t>.</a:t>
            </a:r>
          </a:p>
          <a:p>
            <a:br>
              <a:rPr lang="pt-BR" dirty="0"/>
            </a:br>
            <a:br>
              <a:rPr lang="pt-BR" dirty="0"/>
            </a:br>
            <a:r>
              <a:rPr lang="pt-BR" b="1" dirty="0"/>
              <a:t>**O objetivo é encontrar um $k$ onde aumentar o número de clusters não reduz significativamente o WSS. Isso ocorre a partir do cotovelo da curva.**</a:t>
            </a:r>
            <a:endParaRPr lang="pt-BR" dirty="0"/>
          </a:p>
          <a:p>
            <a:br>
              <a:rPr lang="pt-BR" dirty="0"/>
            </a:br>
            <a:r>
              <a:rPr lang="pt-BR" dirty="0"/>
              <a:t>Assim, o valor ideal de $k$ é encontrando localizando-se o cotovelo na curva.</a:t>
            </a:r>
          </a:p>
          <a:p>
            <a:br>
              <a:rPr lang="pt-BR" dirty="0"/>
            </a:br>
            <a:r>
              <a:rPr lang="pt-BR" dirty="0"/>
              <a:t>Quando o cotovelo na curva não é claramente visível, uma técnica comum é traçar uma reta conectando os pontos extremos da curva e identificar o ponto mais distante dessa reta como o "cotovelo" ideal.</a:t>
            </a:r>
          </a:p>
          <a:p>
            <a:endParaRPr lang="pt-BR" dirty="0"/>
          </a:p>
        </p:txBody>
      </p:sp>
      <p:pic>
        <p:nvPicPr>
          <p:cNvPr id="4" name="Picture 2" descr="Base Teórica do K-Means! Aprenda a Lógica desse Algoritmo Hoje!">
            <a:extLst>
              <a:ext uri="{FF2B5EF4-FFF2-40B4-BE49-F238E27FC236}">
                <a16:creationId xmlns:a16="http://schemas.microsoft.com/office/drawing/2014/main" id="{0694ADFD-EB2E-2BF0-18BE-B07E4CD60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6699" y="2565319"/>
            <a:ext cx="7549885" cy="344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F69E85-6440-34FE-5C8A-A5F37765D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963" y="3894857"/>
            <a:ext cx="2377646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08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SciKit-Learn</a:t>
            </a:r>
            <a:r>
              <a:rPr lang="pt-BR" dirty="0"/>
              <a:t>: k-</a:t>
            </a:r>
            <a:r>
              <a:rPr lang="pt-BR" dirty="0" err="1"/>
              <a:t>Means</a:t>
            </a:r>
            <a:endParaRPr lang="en-US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75" r="9212"/>
          <a:stretch/>
        </p:blipFill>
        <p:spPr>
          <a:xfrm>
            <a:off x="645742" y="2410691"/>
            <a:ext cx="4248376" cy="277414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9" r="9402"/>
          <a:stretch/>
        </p:blipFill>
        <p:spPr>
          <a:xfrm>
            <a:off x="6722898" y="2410691"/>
            <a:ext cx="4239511" cy="276528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5091120" y="2905640"/>
            <a:ext cx="157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k-</a:t>
            </a:r>
            <a:r>
              <a:rPr lang="pt-BR" sz="2000" b="1" dirty="0" err="1"/>
              <a:t>Means</a:t>
            </a:r>
            <a:endParaRPr lang="en-US" sz="2000" b="1" dirty="0"/>
          </a:p>
        </p:txBody>
      </p:sp>
      <p:sp>
        <p:nvSpPr>
          <p:cNvPr id="9" name="Seta para a direita 8"/>
          <p:cNvSpPr/>
          <p:nvPr/>
        </p:nvSpPr>
        <p:spPr>
          <a:xfrm>
            <a:off x="5416920" y="3305750"/>
            <a:ext cx="921721" cy="623453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/>
          <p:cNvSpPr/>
          <p:nvPr/>
        </p:nvSpPr>
        <p:spPr>
          <a:xfrm>
            <a:off x="4312228" y="5711308"/>
            <a:ext cx="3314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pt-BR" dirty="0">
                <a:hlinkClick r:id="rId5"/>
              </a:rPr>
              <a:t>Exemplo: </a:t>
            </a:r>
            <a:r>
              <a:rPr lang="pt-BR" dirty="0" err="1">
                <a:hlinkClick r:id="rId5"/>
              </a:rPr>
              <a:t>kmeans_example.ipynb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467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EC41E-A91F-2BE6-4481-EFFD64DC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escolher o número ideal de clusters?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C91871B-A0D0-6F26-D59B-6230818E62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014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Existem várias abordagens para determinar o valor ideal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. </a:t>
                </a:r>
              </a:p>
              <a:p>
                <a:r>
                  <a:rPr lang="pt-BR" dirty="0"/>
                  <a:t>A mais comum é o método da silhueta.</a:t>
                </a:r>
              </a:p>
              <a:p>
                <a:r>
                  <a:rPr lang="pt-BR" dirty="0"/>
                  <a:t>O coeficiente de silhueta avalia a </a:t>
                </a:r>
                <a:r>
                  <a:rPr lang="pt-BR" b="1" dirty="0"/>
                  <a:t>qualidade da clusterização</a:t>
                </a:r>
                <a:r>
                  <a:rPr lang="pt-BR" dirty="0"/>
                  <a:t>, considerando a </a:t>
                </a:r>
                <a:r>
                  <a:rPr lang="pt-BR" b="1" dirty="0">
                    <a:solidFill>
                      <a:schemeClr val="accent5"/>
                    </a:solidFill>
                  </a:rPr>
                  <a:t>coesão dentro dos clusters e a separação entre eles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Escolhemos o número de clusters que maximiza o coeficiente.</a:t>
                </a:r>
              </a:p>
              <a:p>
                <a:r>
                  <a:rPr lang="pt-BR" dirty="0"/>
                  <a:t>A documentação da biblioteca </a:t>
                </a:r>
                <a:r>
                  <a:rPr lang="pt-BR" dirty="0" err="1"/>
                  <a:t>SciKit-Learn</a:t>
                </a:r>
                <a:r>
                  <a:rPr lang="pt-BR" dirty="0"/>
                  <a:t> contém um exemplo de como usar a coeficiente de silhueta para definir o melhor número de clusters.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>
                    <a:hlinkClick r:id="rId2"/>
                  </a:rPr>
                  <a:t>https://scikit-learn.org/1.5/auto_examples/cluster/plot_kmeans_silhouette_analysis.html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C91871B-A0D0-6F26-D59B-6230818E6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01400" cy="5032375"/>
              </a:xfrm>
              <a:blipFill>
                <a:blip r:embed="rId3"/>
                <a:stretch>
                  <a:fillRect l="-980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590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C804B-5A43-5C89-0C42-420DDBB1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Outros algoritmos de </a:t>
            </a:r>
            <a:r>
              <a:rPr lang="pt-BR" i="1" dirty="0"/>
              <a:t>clustering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7DCE-B5C5-82F5-CC2A-E963BDDE0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DBSCAN</a:t>
            </a:r>
          </a:p>
          <a:p>
            <a:r>
              <a:rPr lang="pt-BR" dirty="0"/>
              <a:t>HDBSCAN</a:t>
            </a:r>
          </a:p>
          <a:p>
            <a:r>
              <a:rPr lang="pt-BR" dirty="0" err="1"/>
              <a:t>Gaussian</a:t>
            </a:r>
            <a:r>
              <a:rPr lang="pt-BR" dirty="0"/>
              <a:t> </a:t>
            </a:r>
            <a:r>
              <a:rPr lang="pt-BR" dirty="0" err="1"/>
              <a:t>mixtrures</a:t>
            </a:r>
            <a:endParaRPr lang="pt-BR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https://scikit-learn.org/stable/modules/clustering.html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081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</a:t>
            </a:r>
            <a:r>
              <a:rPr lang="pt-BR" dirty="0" err="1"/>
              <a:t>kmeans.ipynb</a:t>
            </a:r>
            <a:endParaRPr lang="en-US" dirty="0"/>
          </a:p>
          <a:p>
            <a:pPr marL="0" indent="0">
              <a:buNone/>
            </a:pPr>
            <a:endParaRPr lang="pt-BR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7C64FD-88E0-EC8E-2A34-0D5737B4C854}"/>
              </a:ext>
            </a:extLst>
          </p:cNvPr>
          <p:cNvGrpSpPr/>
          <p:nvPr/>
        </p:nvGrpSpPr>
        <p:grpSpPr>
          <a:xfrm>
            <a:off x="1752685" y="2681262"/>
            <a:ext cx="8371070" cy="2659743"/>
            <a:chOff x="1752685" y="2681262"/>
            <a:chExt cx="8371070" cy="2659743"/>
          </a:xfrm>
        </p:grpSpPr>
        <p:pic>
          <p:nvPicPr>
            <p:cNvPr id="12" name="Picture 4" descr="Project Jupyter | Try Jupyter">
              <a:extLst>
                <a:ext uri="{FF2B5EF4-FFF2-40B4-BE49-F238E27FC236}">
                  <a16:creationId xmlns:a16="http://schemas.microsoft.com/office/drawing/2014/main" id="{FF92EA36-91E7-292B-D7A0-2D4D83A10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1027" y="3102450"/>
              <a:ext cx="3461657" cy="1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Google Colaboratory Colab - Guía Completa Español - Marketing Branding">
              <a:extLst>
                <a:ext uri="{FF2B5EF4-FFF2-40B4-BE49-F238E27FC236}">
                  <a16:creationId xmlns:a16="http://schemas.microsoft.com/office/drawing/2014/main" id="{46F1718A-89E6-9E63-E40B-2B19852D6A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5" r="10641"/>
            <a:stretch/>
          </p:blipFill>
          <p:spPr bwMode="auto">
            <a:xfrm>
              <a:off x="6792684" y="2681262"/>
              <a:ext cx="3331071" cy="2659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IT12A01: FUNDAMENTALS OF PYTHON PROGRAMMING (SF) (SYNCHRONOUS E-LEARNING) -  NTUC LearningHub">
              <a:extLst>
                <a:ext uri="{FF2B5EF4-FFF2-40B4-BE49-F238E27FC236}">
                  <a16:creationId xmlns:a16="http://schemas.microsoft.com/office/drawing/2014/main" id="{33F6B1B4-9B79-D634-3E35-33F24609C8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19" r="20198"/>
            <a:stretch/>
          </p:blipFill>
          <p:spPr bwMode="auto">
            <a:xfrm>
              <a:off x="1752685" y="3176833"/>
              <a:ext cx="1894114" cy="18779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Sinal de Adição 7">
              <a:extLst>
                <a:ext uri="{FF2B5EF4-FFF2-40B4-BE49-F238E27FC236}">
                  <a16:creationId xmlns:a16="http://schemas.microsoft.com/office/drawing/2014/main" id="{6959EE6C-DCDB-E78B-5C50-EBD3FF304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6799" y="3545037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Sinal de Adição 10">
              <a:extLst>
                <a:ext uri="{FF2B5EF4-FFF2-40B4-BE49-F238E27FC236}">
                  <a16:creationId xmlns:a16="http://schemas.microsoft.com/office/drawing/2014/main" id="{30A21FDB-ABA6-9FD5-49EF-7762414AE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6043" y="3467980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908608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0E11-3B37-4336-5BF0-C8C03335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B14AB-72E4-05EB-962C-F8B4618D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Lista #13 – </a:t>
            </a:r>
            <a:r>
              <a:rPr lang="pt-BR" dirty="0" err="1"/>
              <a:t>kmeans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356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REE DIVING INTO K-MEANS. Content Contributors: Shray Khanna… | by Honghui  wang | SFU Professional Computer Science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47" y="415635"/>
            <a:ext cx="2656609" cy="265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penAlchemy no Twitter: &quot;Sunday Funday! Pool day with some mean algorithms,  K? #machinelearning #deeplearning #kmeans #sundayfunday #ml #ai  #artificialintelligence #memes #meme #memesdaily #openalchemy #nlp #cv  #aimemes #funny #math #statistics https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8" r="22192"/>
          <a:stretch/>
        </p:blipFill>
        <p:spPr bwMode="auto">
          <a:xfrm>
            <a:off x="4732121" y="1225261"/>
            <a:ext cx="2358736" cy="421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Meme Creator - Funny K-Means Cluster All the things Meme Generator at  MemeCreator.org!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045" y="186170"/>
            <a:ext cx="3239366" cy="323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Brace yourself K-Means is coming - Brace Yourself - Game of Thrones Meme |  Make a Mem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319" y="3805080"/>
            <a:ext cx="3166340" cy="289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Still running... first K-means iteration - Skeleton computer | Meme  Generato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62" y="3425536"/>
            <a:ext cx="3108471" cy="310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790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9348</TotalTime>
  <Words>3747</Words>
  <Application>Microsoft Office PowerPoint</Application>
  <PresentationFormat>Widescreen</PresentationFormat>
  <Paragraphs>304</Paragraphs>
  <Slides>42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Wingdings</vt:lpstr>
      <vt:lpstr>Office Theme</vt:lpstr>
      <vt:lpstr>C24 - Inteligência Artificial: k-Means</vt:lpstr>
      <vt:lpstr>Recapitulando</vt:lpstr>
      <vt:lpstr>PowerPoint Presentation</vt:lpstr>
      <vt:lpstr>Motivação</vt:lpstr>
      <vt:lpstr>Motivação</vt:lpstr>
      <vt:lpstr>Motivação</vt:lpstr>
      <vt:lpstr>Identificação de clusters</vt:lpstr>
      <vt:lpstr>Aplicações</vt:lpstr>
      <vt:lpstr>Como representar os clusters?</vt:lpstr>
      <vt:lpstr>Centroide</vt:lpstr>
      <vt:lpstr>Como representar os clusters?</vt:lpstr>
      <vt:lpstr>Quantos devem ser os clusters?</vt:lpstr>
      <vt:lpstr>Quantos devem ser os clusters?</vt:lpstr>
      <vt:lpstr>Quantos devem ser os clusters?</vt:lpstr>
      <vt:lpstr>Medindo distâncias</vt:lpstr>
      <vt:lpstr>A qual cluster um exemplo deve pertencer?</vt:lpstr>
      <vt:lpstr>k-Means</vt:lpstr>
      <vt:lpstr>PowerPoint Presentation</vt:lpstr>
      <vt:lpstr>Funcionamento do k-Means</vt:lpstr>
      <vt:lpstr>Funcionamento do k-Means</vt:lpstr>
      <vt:lpstr>Funcionamento do k-Means</vt:lpstr>
      <vt:lpstr>Funcionamento do k-Means</vt:lpstr>
      <vt:lpstr>Funcionamento do k-Means</vt:lpstr>
      <vt:lpstr>Funcionamento do k-Means</vt:lpstr>
      <vt:lpstr>Funcionamento do k-Means</vt:lpstr>
      <vt:lpstr>Como inicializar os centroides? </vt:lpstr>
      <vt:lpstr>Como inicializar os centroides? </vt:lpstr>
      <vt:lpstr>Como inicializar os centroides? </vt:lpstr>
      <vt:lpstr>PowerPoint Presentation</vt:lpstr>
      <vt:lpstr>Método do cotovelo</vt:lpstr>
      <vt:lpstr>Soma dos quadrados intra-clusters</vt:lpstr>
      <vt:lpstr>Soma dos quadrados intra-clusters</vt:lpstr>
      <vt:lpstr>PowerPoint Presentation</vt:lpstr>
      <vt:lpstr>Método do cotovelo</vt:lpstr>
      <vt:lpstr>SciKit-Learn: k-Means</vt:lpstr>
      <vt:lpstr>Como escolher o número ideal de clusters?</vt:lpstr>
      <vt:lpstr>Outros algoritmos de clustering</vt:lpstr>
      <vt:lpstr>Exemplo</vt:lpstr>
      <vt:lpstr>Lista de exercícios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Felipe Augusto Pereira de Figueiredo</cp:lastModifiedBy>
  <cp:revision>842</cp:revision>
  <dcterms:created xsi:type="dcterms:W3CDTF">2020-04-06T23:46:10Z</dcterms:created>
  <dcterms:modified xsi:type="dcterms:W3CDTF">2026-04-09T20:19:32Z</dcterms:modified>
</cp:coreProperties>
</file>