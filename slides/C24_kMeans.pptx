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84" r:id="rId3"/>
    <p:sldId id="397" r:id="rId4"/>
    <p:sldId id="258" r:id="rId5"/>
    <p:sldId id="294" r:id="rId6"/>
    <p:sldId id="286" r:id="rId7"/>
    <p:sldId id="285" r:id="rId8"/>
    <p:sldId id="287" r:id="rId9"/>
    <p:sldId id="296" r:id="rId10"/>
    <p:sldId id="288" r:id="rId11"/>
    <p:sldId id="297" r:id="rId12"/>
    <p:sldId id="298" r:id="rId13"/>
    <p:sldId id="289" r:id="rId14"/>
    <p:sldId id="290" r:id="rId15"/>
    <p:sldId id="291" r:id="rId16"/>
    <p:sldId id="292" r:id="rId17"/>
    <p:sldId id="299" r:id="rId18"/>
    <p:sldId id="293" r:id="rId19"/>
    <p:sldId id="300" r:id="rId20"/>
    <p:sldId id="398" r:id="rId21"/>
    <p:sldId id="338" r:id="rId22"/>
    <p:sldId id="395" r:id="rId23"/>
    <p:sldId id="396" r:id="rId24"/>
    <p:sldId id="306" r:id="rId25"/>
    <p:sldId id="265" r:id="rId2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45" autoAdjust="0"/>
    <p:restoredTop sz="79533" autoAdjust="0"/>
  </p:normalViewPr>
  <p:slideViewPr>
    <p:cSldViewPr snapToGrid="0">
      <p:cViewPr varScale="1">
        <p:scale>
          <a:sx n="88" d="100"/>
          <a:sy n="88" d="100"/>
        </p:scale>
        <p:origin x="81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659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dirty="0">
                <a:solidFill>
                  <a:srgbClr val="00B0F0"/>
                </a:solidFill>
              </a:rPr>
              <a:t>E</a:t>
            </a:r>
            <a:r>
              <a:rPr lang="pt-BR" dirty="0"/>
              <a:t>xemplo: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https://colab.research.google.com/github/zz4fap/t320_aprendizado_de_maquina/blob/main/notebooks/clustering/kmeans_example.ipynb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r>
              <a:rPr lang="pt-BR" dirty="0"/>
              <a:t>Identificar o melhor número de clusters (</a:t>
            </a:r>
            <a:r>
              <a:rPr lang="pt-BR" dirty="0" err="1"/>
              <a:t>kk</a:t>
            </a:r>
            <a:r>
              <a:rPr lang="pt-BR" dirty="0"/>
              <a:t>) no K-</a:t>
            </a:r>
            <a:r>
              <a:rPr lang="pt-BR" dirty="0" err="1"/>
              <a:t>Means</a:t>
            </a:r>
            <a:r>
              <a:rPr lang="pt-BR" dirty="0"/>
              <a:t> é um passo fundamental para garantir a eficiência e a utilidade da clusterização. Existem várias abordagens para determinar o valor ideal de </a:t>
            </a:r>
            <a:r>
              <a:rPr lang="pt-BR" dirty="0" err="1"/>
              <a:t>kk</a:t>
            </a:r>
            <a:r>
              <a:rPr lang="pt-BR" dirty="0"/>
              <a:t>. As mais comuns incluem:</a:t>
            </a:r>
          </a:p>
          <a:p>
            <a:r>
              <a:rPr lang="pt-BR" b="1" dirty="0"/>
              <a:t>1. Método do Cotovelo (</a:t>
            </a:r>
            <a:r>
              <a:rPr lang="pt-BR" b="1" dirty="0" err="1"/>
              <a:t>Elbow</a:t>
            </a:r>
            <a:r>
              <a:rPr lang="pt-BR" b="1" dirty="0"/>
              <a:t> </a:t>
            </a:r>
            <a:r>
              <a:rPr lang="pt-BR" b="1" dirty="0" err="1"/>
              <a:t>Method</a:t>
            </a:r>
            <a:r>
              <a:rPr lang="pt-BR" b="1" dirty="0"/>
              <a:t>)</a:t>
            </a:r>
          </a:p>
          <a:p>
            <a:r>
              <a:rPr lang="pt-BR" dirty="0"/>
              <a:t>Este método analisa a variação da </a:t>
            </a:r>
            <a:r>
              <a:rPr lang="pt-BR" b="1" dirty="0"/>
              <a:t>inércia </a:t>
            </a:r>
            <a:r>
              <a:rPr lang="pt-BR" b="1" dirty="0" err="1"/>
              <a:t>intra-cluster</a:t>
            </a:r>
            <a:r>
              <a:rPr lang="pt-BR" dirty="0"/>
              <a:t> (ou soma dos erros quadráticos dentro dos clusters, WSSWSS) à medida que o número de clusters aumenta.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com diferentes valores de </a:t>
            </a:r>
            <a:r>
              <a:rPr lang="pt-BR" dirty="0" err="1"/>
              <a:t>kk</a:t>
            </a:r>
            <a:r>
              <a:rPr lang="pt-BR" dirty="0"/>
              <a:t> (por exemplo, k=1k=1 a k=10k=10).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WSSWSS para cada valor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Trace um gráfico do WSSWSS em função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Identifique o "cotovelo" no gráfico — o ponto onde a redução no WSSWSS se torna menos significativa.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O "cotovelo" indica que aumentar </a:t>
            </a:r>
            <a:r>
              <a:rPr lang="pt-BR" dirty="0" err="1"/>
              <a:t>kk</a:t>
            </a:r>
            <a:r>
              <a:rPr lang="pt-BR" dirty="0"/>
              <a:t> além desse ponto não resulta em uma melhoria substancial na compactação dos clusters.</a:t>
            </a:r>
          </a:p>
          <a:p>
            <a:r>
              <a:rPr lang="pt-BR" b="1" dirty="0"/>
              <a:t>2. Coeficiente de Silhueta (</a:t>
            </a:r>
            <a:r>
              <a:rPr lang="pt-BR" b="1" dirty="0" err="1"/>
              <a:t>Silhouette</a:t>
            </a:r>
            <a:r>
              <a:rPr lang="pt-BR" b="1" dirty="0"/>
              <a:t> Score)</a:t>
            </a:r>
          </a:p>
          <a:p>
            <a:r>
              <a:rPr lang="pt-BR" dirty="0"/>
              <a:t>O coeficiente de silhueta avalia a </a:t>
            </a:r>
            <a:r>
              <a:rPr lang="pt-BR" b="1" dirty="0"/>
              <a:t>qualidade da clusterização</a:t>
            </a:r>
            <a:r>
              <a:rPr lang="pt-BR" dirty="0"/>
              <a:t>, considerando a coesão dentro dos clusters e a separação entre eles.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s=b−</a:t>
            </a:r>
            <a:r>
              <a:rPr lang="pt-BR" dirty="0" err="1"/>
              <a:t>amax</a:t>
            </a:r>
            <a:r>
              <a:rPr lang="pt-BR" dirty="0"/>
              <a:t>⁡(</a:t>
            </a:r>
            <a:r>
              <a:rPr lang="pt-BR" dirty="0" err="1"/>
              <a:t>a,b</a:t>
            </a:r>
            <a:r>
              <a:rPr lang="pt-BR" dirty="0"/>
              <a:t>)s = \</a:t>
            </a:r>
            <a:r>
              <a:rPr lang="pt-BR" dirty="0" err="1"/>
              <a:t>frac</a:t>
            </a:r>
            <a:r>
              <a:rPr lang="pt-BR" dirty="0"/>
              <a:t>{b - a}{\</a:t>
            </a:r>
            <a:r>
              <a:rPr lang="pt-BR" dirty="0" err="1"/>
              <a:t>max</a:t>
            </a:r>
            <a:r>
              <a:rPr lang="pt-BR" dirty="0"/>
              <a:t>(a, b)} aa: distância média de um ponto para os outros pontos do mesmo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 err="1"/>
              <a:t>bb</a:t>
            </a:r>
            <a:r>
              <a:rPr lang="pt-BR" dirty="0"/>
              <a:t>: distância média de um ponto para os pontos do cluster mais próximo.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coeficiente de silhueta para cada ponto e, em seguida, a média para o conjunto.</a:t>
            </a:r>
          </a:p>
          <a:p>
            <a:pPr>
              <a:buFont typeface="+mj-lt"/>
              <a:buAutoNum type="arabicPeriod"/>
            </a:pPr>
            <a:r>
              <a:rPr lang="pt-BR" dirty="0"/>
              <a:t>Escolha </a:t>
            </a:r>
            <a:r>
              <a:rPr lang="pt-BR" dirty="0" err="1"/>
              <a:t>kk</a:t>
            </a:r>
            <a:r>
              <a:rPr lang="pt-BR" dirty="0"/>
              <a:t> que maximize o valor médio do coeficiente de silhueta.</a:t>
            </a:r>
          </a:p>
          <a:p>
            <a:r>
              <a:rPr lang="pt-BR" b="1" dirty="0"/>
              <a:t>3. Critério Gap </a:t>
            </a:r>
            <a:r>
              <a:rPr lang="pt-BR" b="1" dirty="0" err="1"/>
              <a:t>Statistic</a:t>
            </a:r>
            <a:endParaRPr lang="pt-BR" b="1" dirty="0"/>
          </a:p>
          <a:p>
            <a:r>
              <a:rPr lang="pt-BR" dirty="0"/>
              <a:t>Este método compara a dispersão dos clusters no conjunto de dados com uma dispersão esperada de um conjunto de dados gerado aleatoriamente.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 no conjunto de dados real.</a:t>
            </a:r>
          </a:p>
          <a:p>
            <a:pPr>
              <a:buFont typeface="+mj-lt"/>
              <a:buAutoNum type="arabicPeriod"/>
            </a:pPr>
            <a:r>
              <a:rPr lang="pt-BR" dirty="0"/>
              <a:t>Gere um conjunto de dados aleatório com a mesma distribuição e calcule a dispersão dos clusters.</a:t>
            </a:r>
          </a:p>
          <a:p>
            <a:pPr>
              <a:buFont typeface="+mj-lt"/>
              <a:buAutoNum type="arabicPeriod"/>
            </a:pPr>
            <a:r>
              <a:rPr lang="pt-BR" dirty="0"/>
              <a:t>Compare as dispersões e encontre </a:t>
            </a:r>
            <a:r>
              <a:rPr lang="pt-BR" dirty="0" err="1"/>
              <a:t>kk</a:t>
            </a:r>
            <a:r>
              <a:rPr lang="pt-BR" dirty="0"/>
              <a:t> que maximize a diferença (gap) entre os dois conjuntos.</a:t>
            </a:r>
          </a:p>
          <a:p>
            <a:r>
              <a:rPr lang="pt-BR" b="1" dirty="0"/>
              <a:t>4. Validação Cruzada</a:t>
            </a:r>
          </a:p>
          <a:p>
            <a:r>
              <a:rPr lang="pt-BR" dirty="0"/>
              <a:t>Divida o conjunto de dados em subconjuntos e avalie a consistência dos clusters em diferentes amostras.</a:t>
            </a:r>
          </a:p>
          <a:p>
            <a:r>
              <a:rPr lang="pt-BR" b="1" dirty="0"/>
              <a:t>5. Métodos Automáticos, como X-</a:t>
            </a:r>
            <a:r>
              <a:rPr lang="pt-BR" b="1" dirty="0" err="1"/>
              <a:t>Means</a:t>
            </a:r>
            <a:r>
              <a:rPr lang="pt-BR" b="1" dirty="0"/>
              <a:t> e G-</a:t>
            </a:r>
            <a:r>
              <a:rPr lang="pt-BR" b="1" dirty="0" err="1"/>
              <a:t>Means</a:t>
            </a:r>
            <a:endParaRPr lang="pt-BR" b="1" dirty="0"/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X-</a:t>
            </a:r>
            <a:r>
              <a:rPr lang="pt-BR" b="1" dirty="0" err="1"/>
              <a:t>Means</a:t>
            </a:r>
            <a:r>
              <a:rPr lang="pt-BR" dirty="0"/>
              <a:t>: Extensão do K-</a:t>
            </a:r>
            <a:r>
              <a:rPr lang="pt-BR" dirty="0" err="1"/>
              <a:t>Means</a:t>
            </a:r>
            <a:r>
              <a:rPr lang="pt-BR" dirty="0"/>
              <a:t> que escolhe automaticamente </a:t>
            </a:r>
            <a:r>
              <a:rPr lang="pt-BR" dirty="0" err="1"/>
              <a:t>kk</a:t>
            </a:r>
            <a:r>
              <a:rPr lang="pt-BR" dirty="0"/>
              <a:t> otimizando o critério Bayesiano.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G-</a:t>
            </a:r>
            <a:r>
              <a:rPr lang="pt-BR" b="1" dirty="0" err="1"/>
              <a:t>Means</a:t>
            </a:r>
            <a:r>
              <a:rPr lang="pt-BR" dirty="0"/>
              <a:t>: Usa testes estatísticos para determinar se os clusters seguem uma distribuição gaussiana.</a:t>
            </a:r>
          </a:p>
          <a:p>
            <a:r>
              <a:rPr lang="pt-BR" b="1" dirty="0"/>
              <a:t>Considerações: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Dimensão dos dados</a:t>
            </a:r>
            <a:r>
              <a:rPr lang="pt-BR" dirty="0"/>
              <a:t>: Em alta dimensionalidade, os métodos podem se tornar menos claros devido à maldição da dimensionalidade.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Interpretação</a:t>
            </a:r>
            <a:r>
              <a:rPr lang="pt-BR" dirty="0"/>
              <a:t>: O número de clusters deve fazer sentido no contexto do problema, além de ser estatisticamente válido.</a:t>
            </a:r>
          </a:p>
          <a:p>
            <a:r>
              <a:rPr lang="pt-BR" dirty="0"/>
              <a:t>Combinar múltiplos métodos pode ser útil para confirmar a escolha do melhor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22941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20_aprendizado_de_maquina/blob/main/notebooks/clustering/kmeans_example.ipynb" TargetMode="Externa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scikit-learn.org/1.5/auto_examples/cluster/plot_kmeans_silhouette_analysis.html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clustering.html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jpe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jpeg"/><Relationship Id="rId5" Type="http://schemas.openxmlformats.org/officeDocument/2006/relationships/image" Target="../media/image21.jpeg"/><Relationship Id="rId4" Type="http://schemas.openxmlformats.org/officeDocument/2006/relationships/image" Target="../media/image2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k-</a:t>
            </a:r>
            <a:r>
              <a:rPr lang="pt-BR" sz="7200" b="1" i="1" dirty="0" err="1"/>
              <a:t>Means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aprendizado supervisionado.</a:t>
            </a:r>
          </a:p>
          <a:p>
            <a:r>
              <a:rPr lang="pt-BR" dirty="0"/>
              <a:t>Hoje, falaremos sobre </a:t>
            </a:r>
            <a:r>
              <a:rPr lang="pt-BR" b="1" i="1" dirty="0"/>
              <a:t>clustering</a:t>
            </a:r>
            <a:r>
              <a:rPr lang="pt-BR" dirty="0"/>
              <a:t>, que são algoritmos de </a:t>
            </a:r>
            <a:r>
              <a:rPr lang="pt-BR" b="1" dirty="0"/>
              <a:t>aprendizado não-supervisionado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temos rótulos, apenas atributos.</a:t>
            </a:r>
          </a:p>
          <a:p>
            <a:r>
              <a:rPr lang="pt-BR" dirty="0"/>
              <a:t>Eles visam criar agrupamentos de dados (chamados de </a:t>
            </a:r>
            <a:r>
              <a:rPr lang="pt-BR" b="1" i="1" dirty="0"/>
              <a:t>clusters</a:t>
            </a:r>
            <a:r>
              <a:rPr lang="pt-BR" b="1" dirty="0"/>
              <a:t> </a:t>
            </a:r>
            <a:r>
              <a:rPr lang="pt-BR" dirty="0"/>
              <a:t>ou</a:t>
            </a:r>
            <a:r>
              <a:rPr lang="pt-BR" b="1" dirty="0"/>
              <a:t> grupos</a:t>
            </a:r>
            <a:r>
              <a:rPr lang="pt-BR" dirty="0"/>
              <a:t>) segundo seu </a:t>
            </a:r>
            <a:r>
              <a:rPr lang="pt-BR" b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Nesta aula, aprenderemos sobre o algoritmo chamado de </a:t>
            </a:r>
            <a:r>
              <a:rPr lang="pt-BR" b="1" dirty="0"/>
              <a:t>k-Médias</a:t>
            </a:r>
            <a:r>
              <a:rPr lang="pt-BR" dirty="0"/>
              <a:t> (ou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i="1" dirty="0"/>
              <a:t>clustering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>
            <a:extLst>
              <a:ext uri="{FF2B5EF4-FFF2-40B4-BE49-F238E27FC236}">
                <a16:creationId xmlns:a16="http://schemas.microsoft.com/office/drawing/2014/main" id="{37E0D542-AEF0-704D-B767-771A0D88CE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2413464" y="433788"/>
            <a:ext cx="3519251" cy="6287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9955D7-EF0A-C073-CA9C-EC6A396485B8}"/>
              </a:ext>
            </a:extLst>
          </p:cNvPr>
          <p:cNvSpPr txBox="1"/>
          <p:nvPr/>
        </p:nvSpPr>
        <p:spPr>
          <a:xfrm>
            <a:off x="6574971" y="2814935"/>
            <a:ext cx="489857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i="1" dirty="0"/>
              <a:t>K-</a:t>
            </a:r>
            <a:r>
              <a:rPr lang="pt-BR" sz="2800" i="1" dirty="0" err="1"/>
              <a:t>means</a:t>
            </a:r>
            <a:r>
              <a:rPr lang="pt-BR" sz="2800" dirty="0"/>
              <a:t> organiza dados como na figura: cada ponto encontra seu grupo mais próximo, formando clusters de forma simples e iterativa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3944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036683"/>
          </a:xfrm>
        </p:spPr>
        <p:txBody>
          <a:bodyPr>
            <a:normAutofit/>
          </a:bodyPr>
          <a:lstStyle/>
          <a:p>
            <a:r>
              <a:rPr lang="pt-BR" dirty="0"/>
              <a:t>O que podemos fazer se não tivermos informações sobre as classes (i.e., rótulos) a que pertencem os exemplos de entrada?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052457"/>
            <a:ext cx="11204865" cy="2674914"/>
          </a:xfrm>
        </p:spPr>
        <p:txBody>
          <a:bodyPr>
            <a:normAutofit/>
          </a:bodyPr>
          <a:lstStyle/>
          <a:p>
            <a:r>
              <a:rPr lang="pt-BR" dirty="0"/>
              <a:t>Veremos que informações úteis podem ser obtidas mesmo de exemplos cujas classes não são conhecidas.</a:t>
            </a:r>
          </a:p>
          <a:p>
            <a:r>
              <a:rPr lang="pt-BR" dirty="0"/>
              <a:t>Enquanto o </a:t>
            </a:r>
            <a:r>
              <a:rPr lang="pt-BR" b="1" dirty="0"/>
              <a:t>aprendizado supervisionado </a:t>
            </a:r>
            <a:r>
              <a:rPr lang="pt-BR" dirty="0"/>
              <a:t>se concentra na </a:t>
            </a:r>
            <a:r>
              <a:rPr lang="pt-BR" b="1" dirty="0">
                <a:solidFill>
                  <a:srgbClr val="00B050"/>
                </a:solidFill>
              </a:rPr>
              <a:t>indução de classificadores</a:t>
            </a:r>
            <a:r>
              <a:rPr lang="pt-BR" dirty="0"/>
              <a:t>, o </a:t>
            </a:r>
            <a:r>
              <a:rPr lang="pt-BR" b="1" dirty="0"/>
              <a:t>aprendizado não-supervisionado </a:t>
            </a:r>
            <a:r>
              <a:rPr lang="pt-BR" dirty="0"/>
              <a:t>está interessado em </a:t>
            </a:r>
            <a:r>
              <a:rPr lang="pt-BR" b="1" dirty="0">
                <a:solidFill>
                  <a:srgbClr val="7030A0"/>
                </a:solidFill>
              </a:rPr>
              <a:t>descobrir propriedades úteis dos dados disponíveis</a:t>
            </a:r>
            <a:r>
              <a:rPr lang="pt-BR" dirty="0"/>
              <a:t>.</a:t>
            </a:r>
            <a:endParaRPr lang="en-US" dirty="0"/>
          </a:p>
          <a:p>
            <a:endParaRPr lang="pt-BR" dirty="0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FD3AFEA6-16E8-D562-210E-DDE126CC469D}"/>
              </a:ext>
            </a:extLst>
          </p:cNvPr>
          <p:cNvGrpSpPr/>
          <p:nvPr/>
        </p:nvGrpSpPr>
        <p:grpSpPr>
          <a:xfrm>
            <a:off x="3115576" y="1690688"/>
            <a:ext cx="5960847" cy="2029172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:a16="http://schemas.microsoft.com/office/drawing/2014/main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046521" cy="5167311"/>
          </a:xfrm>
        </p:spPr>
        <p:txBody>
          <a:bodyPr>
            <a:normAutofit/>
          </a:bodyPr>
          <a:lstStyle/>
          <a:p>
            <a:r>
              <a:rPr lang="pt-BR" dirty="0"/>
              <a:t>A tarefa mais popular dos algoritmos deste paradigma é a procura por </a:t>
            </a:r>
            <a:r>
              <a:rPr lang="pt-BR" b="1" dirty="0"/>
              <a:t>grupos</a:t>
            </a:r>
            <a:r>
              <a:rPr lang="pt-BR" dirty="0"/>
              <a:t> (chamados </a:t>
            </a:r>
            <a:r>
              <a:rPr lang="pt-BR" b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) de </a:t>
            </a:r>
            <a:r>
              <a:rPr lang="pt-BR" b="1" dirty="0">
                <a:solidFill>
                  <a:srgbClr val="7030A0"/>
                </a:solidFill>
              </a:rPr>
              <a:t>exemplos semelhantes</a:t>
            </a:r>
            <a:r>
              <a:rPr lang="pt-BR" dirty="0"/>
              <a:t>. 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desses </a:t>
            </a:r>
            <a:r>
              <a:rPr lang="pt-BR" b="1" dirty="0"/>
              <a:t>clusters</a:t>
            </a:r>
            <a:r>
              <a:rPr lang="pt-BR" dirty="0"/>
              <a:t> podem então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desconhecidos (ou ausentes),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ferramentas de visualização de dados multidimensionais,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auxiliares para criação de classificadores mais simples.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8983938C-72D4-9E58-2CE8-D43E36E7012F}"/>
              </a:ext>
            </a:extLst>
          </p:cNvPr>
          <p:cNvSpPr txBox="1"/>
          <p:nvPr/>
        </p:nvSpPr>
        <p:spPr>
          <a:xfrm>
            <a:off x="838200" y="5292546"/>
            <a:ext cx="37807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centroide</a:t>
            </a:r>
            <a:r>
              <a:rPr lang="pt-BR" dirty="0"/>
              <a:t> é o ponto central de um cluster de dados. Representa a "média" das amostras dentro do cluster.</a:t>
            </a:r>
          </a:p>
        </p:txBody>
      </p:sp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194473" cy="5032376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tarefa fundamental </a:t>
            </a:r>
            <a:r>
              <a:rPr lang="pt-BR" dirty="0"/>
              <a:t>do </a:t>
            </a:r>
            <a:r>
              <a:rPr lang="pt-BR" b="1" dirty="0"/>
              <a:t>aprendizado não-supervisionado </a:t>
            </a:r>
            <a:r>
              <a:rPr lang="pt-BR" dirty="0"/>
              <a:t>é a </a:t>
            </a:r>
            <a:r>
              <a:rPr lang="pt-BR" b="1" dirty="0">
                <a:solidFill>
                  <a:srgbClr val="7030A0"/>
                </a:solidFill>
              </a:rPr>
              <a:t>identificação de clusters</a:t>
            </a:r>
            <a:r>
              <a:rPr lang="pt-BR" dirty="0"/>
              <a:t>. </a:t>
            </a:r>
          </a:p>
          <a:p>
            <a:r>
              <a:rPr lang="pt-BR" dirty="0"/>
              <a:t>Nessa tarefa, a </a:t>
            </a:r>
            <a:r>
              <a:rPr lang="pt-BR" b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exemplos), </a:t>
            </a:r>
            <a:r>
              <a:rPr lang="pt-BR" b="1" dirty="0">
                <a:solidFill>
                  <a:srgbClr val="FF0000"/>
                </a:solidFill>
              </a:rPr>
              <a:t>mas 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saída</a:t>
            </a:r>
            <a:r>
              <a:rPr lang="pt-BR" dirty="0"/>
              <a:t> é um conjunto com os </a:t>
            </a:r>
            <a:r>
              <a:rPr lang="pt-BR" b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 a que pertencem cada um dos exemplos.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1078958" y="4579446"/>
            <a:ext cx="5960847" cy="2029172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168503" y="4854292"/>
            <a:ext cx="4839707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OBS</a:t>
            </a:r>
            <a:r>
              <a:rPr lang="pt-BR" dirty="0"/>
              <a:t>.: A identificação visual de clusters em um espaço bidimensional é fácil, mas em quatro ou mais dimensões isso já não é mais possível. Nesses casos, apenas algoritmos de identificação de clusters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clusters?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57800" y="1825624"/>
            <a:ext cx="6712526" cy="5032375"/>
          </a:xfrm>
        </p:spPr>
        <p:txBody>
          <a:bodyPr>
            <a:normAutofit/>
          </a:bodyPr>
          <a:lstStyle/>
          <a:p>
            <a:r>
              <a:rPr lang="pt-BR" dirty="0"/>
              <a:t>Para realizar a identificação, temos que </a:t>
            </a:r>
            <a:r>
              <a:rPr lang="pt-BR" b="1" dirty="0">
                <a:solidFill>
                  <a:srgbClr val="00B050"/>
                </a:solidFill>
              </a:rPr>
              <a:t>decidir como os clusters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densidade, distribuição, hierarquia, etc.</a:t>
            </a:r>
          </a:p>
          <a:p>
            <a:r>
              <a:rPr lang="pt-BR" dirty="0"/>
              <a:t>Porém, a abordagem mais simples usa os </a:t>
            </a:r>
            <a:r>
              <a:rPr lang="pt-BR" b="1" dirty="0"/>
              <a:t>centroides </a:t>
            </a:r>
            <a:r>
              <a:rPr lang="pt-BR" dirty="0"/>
              <a:t>(i.e., centros) dos clusters.</a:t>
            </a:r>
          </a:p>
          <a:p>
            <a:r>
              <a:rPr lang="pt-BR" dirty="0"/>
              <a:t>Se os atributos forem numéricos, o </a:t>
            </a:r>
            <a:r>
              <a:rPr lang="pt-BR" b="1" dirty="0">
                <a:solidFill>
                  <a:srgbClr val="7030A0"/>
                </a:solidFill>
              </a:rPr>
              <a:t>centroide</a:t>
            </a:r>
            <a:r>
              <a:rPr lang="pt-BR" dirty="0"/>
              <a:t> é obtido através das </a:t>
            </a:r>
            <a:r>
              <a:rPr lang="pt-BR" b="1" dirty="0">
                <a:solidFill>
                  <a:srgbClr val="00B050"/>
                </a:solidFill>
              </a:rPr>
              <a:t>médias individuais dos atributos</a:t>
            </a:r>
            <a:r>
              <a:rPr lang="pt-BR" dirty="0"/>
              <a:t>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838200" y="2253343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clusters?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72743" y="1825624"/>
                <a:ext cx="6897583" cy="5032375"/>
              </a:xfrm>
            </p:spPr>
            <p:txBody>
              <a:bodyPr>
                <a:normAutofit/>
              </a:bodyPr>
              <a:lstStyle/>
              <a:p>
                <a:r>
                  <a:rPr lang="pt-BR" i="1" dirty="0"/>
                  <a:t>Por exemplo, suponhamos os seguintes </a:t>
                </a:r>
                <a:r>
                  <a:rPr lang="pt-BR" b="1" i="1" dirty="0"/>
                  <a:t>vetores de atributos </a:t>
                </a:r>
                <a:r>
                  <a:rPr lang="pt-BR" i="1" dirty="0"/>
                  <a:t>em um espaço bidimensional,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i="1" dirty="0"/>
                  <a:t>: (2, 5), (1, 4), (3, 6).</a:t>
                </a:r>
              </a:p>
              <a:p>
                <a:r>
                  <a:rPr lang="pt-BR" i="1" dirty="0"/>
                  <a:t>Nesse caso, o </a:t>
                </a:r>
                <a:r>
                  <a:rPr lang="pt-BR" b="1" i="1" dirty="0"/>
                  <a:t>centroide</a:t>
                </a:r>
                <a:r>
                  <a:rPr lang="pt-BR" i="1" dirty="0"/>
                  <a:t> é representado pelo vetor (2, 5), pois</a:t>
                </a:r>
                <a:endParaRPr lang="en-US" i="1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i="1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i="1" dirty="0"/>
                  <a:t>.</a:t>
                </a:r>
              </a:p>
              <a:p>
                <a:r>
                  <a:rPr lang="pt-BR" i="1" dirty="0"/>
                  <a:t>Se os atributos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forem numéricos</a:t>
                </a:r>
                <a:r>
                  <a:rPr lang="pt-BR" i="1" dirty="0"/>
                  <a:t>, devemos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transformá-los em numéricos</a:t>
                </a:r>
                <a:r>
                  <a:rPr lang="pt-BR" i="1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72743" y="1825624"/>
                <a:ext cx="6897583" cy="5032375"/>
              </a:xfrm>
              <a:blipFill>
                <a:blip r:embed="rId3"/>
                <a:stretch>
                  <a:fillRect l="-1590" t="-1937" r="-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1340B874-C37C-46C8-FA71-6364C1463C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838200" y="211182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clusters?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729845" cy="5167311"/>
          </a:xfrm>
        </p:spPr>
        <p:txBody>
          <a:bodyPr>
            <a:normAutofit/>
          </a:bodyPr>
          <a:lstStyle/>
          <a:p>
            <a:r>
              <a:rPr lang="pt-BR" i="1" dirty="0"/>
              <a:t>Os clusters </a:t>
            </a:r>
            <a:r>
              <a:rPr lang="pt-BR" b="1" i="1" dirty="0"/>
              <a:t>não devem se sobrepor</a:t>
            </a:r>
            <a:r>
              <a:rPr lang="pt-BR" i="1" dirty="0"/>
              <a:t>: </a:t>
            </a:r>
            <a:r>
              <a:rPr lang="pt-BR" b="1" i="1" dirty="0">
                <a:solidFill>
                  <a:srgbClr val="00B050"/>
                </a:solidFill>
              </a:rPr>
              <a:t>cada exemplo</a:t>
            </a:r>
            <a:r>
              <a:rPr lang="pt-BR" i="1" dirty="0"/>
              <a:t> deve </a:t>
            </a:r>
            <a:r>
              <a:rPr lang="pt-BR" b="1" i="1" dirty="0">
                <a:solidFill>
                  <a:srgbClr val="00B050"/>
                </a:solidFill>
              </a:rPr>
              <a:t>pertencer</a:t>
            </a:r>
            <a:r>
              <a:rPr lang="pt-BR" i="1" dirty="0"/>
              <a:t> a </a:t>
            </a:r>
            <a:r>
              <a:rPr lang="pt-BR" b="1" i="1" dirty="0">
                <a:solidFill>
                  <a:srgbClr val="00B050"/>
                </a:solidFill>
              </a:rPr>
              <a:t>um e apenas a um cluster</a:t>
            </a:r>
            <a:r>
              <a:rPr lang="pt-BR" i="1" dirty="0"/>
              <a:t>. </a:t>
            </a:r>
          </a:p>
          <a:p>
            <a:r>
              <a:rPr lang="pt-BR" i="1" dirty="0"/>
              <a:t>Porém, </a:t>
            </a:r>
            <a:r>
              <a:rPr lang="pt-BR" b="1" i="1" dirty="0">
                <a:solidFill>
                  <a:srgbClr val="0070C0"/>
                </a:solidFill>
              </a:rPr>
              <a:t>dentro do mesmo cluster</a:t>
            </a:r>
            <a:r>
              <a:rPr lang="pt-BR" i="1" dirty="0"/>
              <a:t>, os </a:t>
            </a:r>
            <a:r>
              <a:rPr lang="pt-BR" b="1" i="1" dirty="0">
                <a:solidFill>
                  <a:srgbClr val="0070C0"/>
                </a:solidFill>
              </a:rPr>
              <a:t>exemplos</a:t>
            </a:r>
            <a:r>
              <a:rPr lang="pt-BR" i="1" dirty="0"/>
              <a:t> devem estar relativamente </a:t>
            </a:r>
            <a:r>
              <a:rPr lang="pt-BR" b="1" i="1" dirty="0">
                <a:solidFill>
                  <a:srgbClr val="0070C0"/>
                </a:solidFill>
              </a:rPr>
              <a:t>próximos</a:t>
            </a:r>
            <a:r>
              <a:rPr lang="pt-BR" i="1" dirty="0"/>
              <a:t> uns dos outros e </a:t>
            </a:r>
            <a:r>
              <a:rPr lang="pt-BR" b="1" i="1" dirty="0">
                <a:solidFill>
                  <a:srgbClr val="7030A0"/>
                </a:solidFill>
              </a:rPr>
              <a:t>distantes</a:t>
            </a:r>
            <a:r>
              <a:rPr lang="pt-BR" i="1" dirty="0"/>
              <a:t> dos </a:t>
            </a:r>
            <a:r>
              <a:rPr lang="pt-BR" b="1" i="1" dirty="0">
                <a:solidFill>
                  <a:srgbClr val="7030A0"/>
                </a:solidFill>
              </a:rPr>
              <a:t>exemplos dos outros clusters</a:t>
            </a:r>
            <a:r>
              <a:rPr lang="pt-BR" i="1" dirty="0"/>
              <a:t>.</a:t>
            </a:r>
          </a:p>
          <a:p>
            <a:r>
              <a:rPr lang="pt-BR" i="1" dirty="0"/>
              <a:t>Aí surge uma dúvida. </a:t>
            </a:r>
          </a:p>
          <a:p>
            <a:r>
              <a:rPr lang="pt-BR" i="1" dirty="0"/>
              <a:t>Quantos clusters um conjunto de exemplos contém?</a:t>
            </a:r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614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clusters?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clusters.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cluster;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outro, cada exemplo pode ser visto como representando seu próprio cluster de um único exemplo.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Implementações</a:t>
            </a:r>
            <a:r>
              <a:rPr lang="pt-BR" dirty="0"/>
              <a:t> práticas geralmente evitam esse problema pedindo ao </a:t>
            </a:r>
            <a:r>
              <a:rPr lang="pt-BR" b="1" dirty="0">
                <a:solidFill>
                  <a:srgbClr val="7030A0"/>
                </a:solidFill>
              </a:rPr>
              <a:t>usuário que forneça o número de clusters</a:t>
            </a:r>
            <a:r>
              <a:rPr lang="pt-BR" dirty="0"/>
              <a:t>.</a:t>
            </a:r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47306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CDFA83-D279-17E3-E2CD-6E304EAF6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429" y="1825624"/>
            <a:ext cx="6263244" cy="5032375"/>
          </a:xfrm>
        </p:spPr>
        <p:txBody>
          <a:bodyPr>
            <a:normAutofit/>
          </a:bodyPr>
          <a:lstStyle/>
          <a:p>
            <a:r>
              <a:rPr lang="pt-BR" dirty="0"/>
              <a:t>Algoritmos para identificação de clusters geralmente precisam de uma </a:t>
            </a:r>
            <a:r>
              <a:rPr lang="pt-BR" b="1" dirty="0">
                <a:solidFill>
                  <a:srgbClr val="7030A0"/>
                </a:solidFill>
              </a:rPr>
              <a:t>métrica para avaliar a </a:t>
            </a:r>
            <a:r>
              <a:rPr lang="pt-BR" b="1" dirty="0">
                <a:solidFill>
                  <a:srgbClr val="00B050"/>
                </a:solidFill>
              </a:rPr>
              <a:t>distância</a:t>
            </a:r>
            <a:r>
              <a:rPr lang="pt-BR" b="1" dirty="0">
                <a:solidFill>
                  <a:srgbClr val="7030A0"/>
                </a:solidFill>
              </a:rPr>
              <a:t> entre um exemplo e o centroide</a:t>
            </a:r>
            <a:r>
              <a:rPr lang="pt-BR" dirty="0"/>
              <a:t> de um cluster. </a:t>
            </a:r>
          </a:p>
          <a:p>
            <a:r>
              <a:rPr lang="pt-BR" dirty="0"/>
              <a:t>Uma forma de fazer isso quando os atributos são </a:t>
            </a:r>
            <a:r>
              <a:rPr lang="pt-BR" b="1" dirty="0">
                <a:solidFill>
                  <a:schemeClr val="accent5"/>
                </a:solidFill>
              </a:rPr>
              <a:t>contínuos ou discretos </a:t>
            </a:r>
            <a:r>
              <a:rPr lang="pt-BR" dirty="0"/>
              <a:t>é usar a </a:t>
            </a:r>
            <a:r>
              <a:rPr lang="pt-BR" b="1" dirty="0">
                <a:solidFill>
                  <a:srgbClr val="00B050"/>
                </a:solidFill>
              </a:rPr>
              <a:t>distância euclidiana </a:t>
            </a:r>
            <a:r>
              <a:rPr lang="pt-BR" dirty="0"/>
              <a:t>entre os dois vetores.</a:t>
            </a:r>
          </a:p>
        </p:txBody>
      </p:sp>
      <p:pic>
        <p:nvPicPr>
          <p:cNvPr id="307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EE37D2FB-B661-E3F3-5FAE-2D65997FAF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838200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3455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46914" y="1825624"/>
                <a:ext cx="678575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Para exemplos com atributos contínuos e discretos ou uma mistura com categóricos, usamos uma equação mais geral para calcular as distâncias: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sz="2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rad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para atributos contínuos e discretos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pt-BR" b="0" smtClean="0">
                        <a:latin typeface="Cambria Math" panose="02040503050406030204" pitchFamily="18" charset="0"/>
                      </a:rPr>
                      <m:t>se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mtClean="0">
                        <a:latin typeface="Cambria Math" panose="02040503050406030204" pitchFamily="18" charset="0"/>
                      </a:rPr>
                      <m:t>se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para atributos categóricos, mas transformados em </a:t>
                </a:r>
                <a:r>
                  <a:rPr lang="pt-BR" dirty="0" err="1"/>
                  <a:t>numércos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6914" y="1825624"/>
                <a:ext cx="6785759" cy="5032375"/>
              </a:xfrm>
              <a:blipFill>
                <a:blip r:embed="rId2"/>
                <a:stretch>
                  <a:fillRect l="-1887" t="-2663" r="-1797" b="-32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22ACC8D3-8B80-BBE4-31ED-C31E6E11B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2384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cluster um exemplo deve pertencer?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924309" cy="471025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clusters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 exemplo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é natural colocarmos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cluster.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cluster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o k-</a:t>
                </a:r>
                <a:r>
                  <a:rPr lang="pt-BR" dirty="0" err="1"/>
                  <a:t>Means</a:t>
                </a:r>
                <a:r>
                  <a:rPr lang="pt-BR" dirty="0"/>
                  <a:t>, um dos algoritmos de clusterização (i.e., identificação de clusters) mais simples.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924309" cy="4710257"/>
              </a:xfrm>
              <a:blipFill>
                <a:blip r:embed="rId2"/>
                <a:stretch>
                  <a:fillRect l="-948" t="-20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7874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290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no nome denota o número </a:t>
                </a:r>
                <a:r>
                  <a:rPr lang="pt-BR" b="1" dirty="0"/>
                  <a:t>pré-definido</a:t>
                </a:r>
                <a:r>
                  <a:rPr lang="pt-BR" dirty="0"/>
                  <a:t> de clusters, i.e., o número de clusters é um parâmetro definido pelo usuário.</a:t>
                </a:r>
              </a:p>
              <a:p>
                <a:r>
                  <a:rPr lang="pt-BR" dirty="0"/>
                  <a:t>O 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O algoritmo garantidamente chega a uma situação em que cada exemplo se encontra no cluster mais próximo, de modo que, a partir deste momento, os centroides não mudem mais.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2909" cy="5032375"/>
              </a:xfrm>
              <a:blipFill>
                <a:blip r:embed="rId3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/>
              <p:cNvSpPr txBox="1"/>
              <p:nvPr/>
            </p:nvSpPr>
            <p:spPr>
              <a:xfrm>
                <a:off x="2079214" y="3325262"/>
                <a:ext cx="8670878" cy="181588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Entradas</a:t>
                </a:r>
                <a:r>
                  <a:rPr lang="pt-BR" sz="16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600" dirty="0"/>
                  <a:t>. </a:t>
                </a:r>
                <a:endParaRPr lang="pt-BR" sz="16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1600" b="1" dirty="0"/>
                  <a:t>Defina</a:t>
                </a:r>
                <a:r>
                  <a:rPr lang="pt-BR" sz="1600" dirty="0"/>
                  <a:t>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6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16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16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16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16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600" dirty="0"/>
                  <a:t>para cada um dos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6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1600" dirty="0"/>
                  <a:t>Calcule o novo centroide de cada cluster.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1600" b="1" dirty="0"/>
                  <a:t>Enquanto </a:t>
                </a:r>
                <a:r>
                  <a:rPr lang="pt-BR" sz="1600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9214" y="3325262"/>
                <a:ext cx="8670878" cy="1815882"/>
              </a:xfrm>
              <a:prstGeom prst="rect">
                <a:avLst/>
              </a:prstGeom>
              <a:blipFill>
                <a:blip r:embed="rId4"/>
                <a:stretch>
                  <a:fillRect l="-281" t="-667" b="-3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71235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14257" y="1825624"/>
                <a:ext cx="677685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procedimento mais simples para inicializar os centroides é </a:t>
                </a:r>
                <a:r>
                  <a:rPr lang="pt-BR" b="1" dirty="0">
                    <a:solidFill>
                      <a:schemeClr val="accent5"/>
                    </a:solidFill>
                  </a:rPr>
                  <a:t>escolher </a:t>
                </a:r>
                <a14:m>
                  <m:oMath xmlns:m="http://schemas.openxmlformats.org/officeDocument/2006/math">
                    <m:r>
                      <a:rPr lang="pt-BR" b="1" i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𝐤</m:t>
                    </m:r>
                  </m:oMath>
                </a14:m>
                <a:r>
                  <a:rPr lang="pt-BR" b="1" dirty="0">
                    <a:solidFill>
                      <a:schemeClr val="accent5"/>
                    </a:solidFill>
                  </a:rPr>
                  <a:t> exemplos de treinamento aleatórios</a:t>
                </a:r>
                <a:r>
                  <a:rPr lang="pt-BR" dirty="0"/>
                  <a:t> e os considerar como os centroides iniciais.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7030A0"/>
                    </a:solidFill>
                  </a:rPr>
                  <a:t>clusters iniciais </a:t>
                </a:r>
                <a:r>
                  <a:rPr lang="pt-BR" dirty="0"/>
                  <a:t>são então criados associando cada um dos exemplos ao seu </a:t>
                </a:r>
                <a:r>
                  <a:rPr lang="pt-BR" b="1" dirty="0">
                    <a:solidFill>
                      <a:srgbClr val="00B050"/>
                    </a:solidFill>
                  </a:rPr>
                  <a:t>centroide mais próximo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número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transferências</a:t>
                </a:r>
                <a:r>
                  <a:rPr lang="pt-BR" dirty="0"/>
                  <a:t> de um exemplo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 um cluster para outro depende dos centroides iniciais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4257" y="1825624"/>
                <a:ext cx="6776851" cy="5032375"/>
              </a:xfrm>
              <a:blipFill>
                <a:blip r:embed="rId2"/>
                <a:stretch>
                  <a:fillRect l="-1619" t="-1937" r="-26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570022" cy="5032375"/>
          </a:xfrm>
        </p:spPr>
        <p:txBody>
          <a:bodyPr>
            <a:normAutofit/>
          </a:bodyPr>
          <a:lstStyle/>
          <a:p>
            <a:r>
              <a:rPr lang="pt-BR" dirty="0"/>
              <a:t>Se os </a:t>
            </a:r>
            <a:r>
              <a:rPr lang="pt-BR" b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nenhum exemplo precisa ser atribuído a outro cluster</a:t>
            </a:r>
            <a:r>
              <a:rPr lang="pt-BR" dirty="0"/>
              <a:t> e o algoritmo é encerado.</a:t>
            </a:r>
          </a:p>
          <a:p>
            <a:r>
              <a:rPr lang="pt-BR" dirty="0"/>
              <a:t>Portanto, a </a:t>
            </a:r>
            <a:r>
              <a:rPr lang="pt-BR" b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a </a:t>
            </a:r>
            <a:r>
              <a:rPr lang="pt-BR" b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dirty="0">
                <a:solidFill>
                  <a:srgbClr val="FF0000"/>
                </a:solidFill>
              </a:rPr>
              <a:t>tempo de convergência </a:t>
            </a:r>
            <a:r>
              <a:rPr lang="pt-BR" dirty="0"/>
              <a:t>do algoritmo </a:t>
            </a:r>
            <a:r>
              <a:rPr lang="pt-BR" b="1" dirty="0">
                <a:solidFill>
                  <a:srgbClr val="FF0000"/>
                </a:solidFill>
              </a:rPr>
              <a:t>depende da inicialização</a:t>
            </a:r>
            <a:r>
              <a:rPr lang="pt-BR" dirty="0"/>
              <a:t>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SciKit-Learn</a:t>
            </a:r>
            <a:r>
              <a:rPr lang="pt-BR" dirty="0"/>
              <a:t>: k-</a:t>
            </a:r>
            <a:r>
              <a:rPr lang="pt-BR" dirty="0" err="1"/>
              <a:t>Means</a:t>
            </a:r>
            <a:endParaRPr lang="en-US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075" r="9212"/>
          <a:stretch/>
        </p:blipFill>
        <p:spPr>
          <a:xfrm>
            <a:off x="645742" y="2410691"/>
            <a:ext cx="4248376" cy="2774144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9" r="9402"/>
          <a:stretch/>
        </p:blipFill>
        <p:spPr>
          <a:xfrm>
            <a:off x="6722898" y="2410691"/>
            <a:ext cx="4239511" cy="2765280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5091120" y="2905640"/>
            <a:ext cx="157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b="1" dirty="0"/>
              <a:t>k-</a:t>
            </a:r>
            <a:r>
              <a:rPr lang="pt-BR" sz="2000" b="1" dirty="0" err="1"/>
              <a:t>Means</a:t>
            </a:r>
            <a:endParaRPr lang="en-US" sz="2000" b="1" dirty="0"/>
          </a:p>
        </p:txBody>
      </p:sp>
      <p:sp>
        <p:nvSpPr>
          <p:cNvPr id="9" name="Seta para a direita 8"/>
          <p:cNvSpPr/>
          <p:nvPr/>
        </p:nvSpPr>
        <p:spPr>
          <a:xfrm>
            <a:off x="5416920" y="3305750"/>
            <a:ext cx="921721" cy="623453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/>
          <p:cNvSpPr/>
          <p:nvPr/>
        </p:nvSpPr>
        <p:spPr>
          <a:xfrm>
            <a:off x="4312228" y="5711308"/>
            <a:ext cx="33148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pt-BR" dirty="0">
                <a:hlinkClick r:id="rId5"/>
              </a:rPr>
              <a:t>Exemplo: </a:t>
            </a:r>
            <a:r>
              <a:rPr lang="pt-BR" dirty="0" err="1">
                <a:hlinkClick r:id="rId5"/>
              </a:rPr>
              <a:t>kmeans_example.ipynb</a:t>
            </a:r>
            <a:endParaRPr lang="pt-BR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4673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4EC41E-A91F-2BE6-4481-EFFD64DC2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escolher o número ideal de clusters?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91871B-A0D0-6F26-D59B-6230818E62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Existem várias abordagens para determinar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A mais comum é o método da silhueta.</a:t>
                </a:r>
              </a:p>
              <a:p>
                <a:r>
                  <a:rPr lang="pt-BR" dirty="0"/>
                  <a:t>O coeficiente de silhueta avalia a </a:t>
                </a:r>
                <a:r>
                  <a:rPr lang="pt-BR" b="1" dirty="0"/>
                  <a:t>qualidade da clusterização</a:t>
                </a:r>
                <a:r>
                  <a:rPr lang="pt-BR" dirty="0"/>
                  <a:t>, considerando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coesão dentro dos clusters e a separação entre eles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Escolhemos o número de clusters que maximiza o coeficiente.</a:t>
                </a:r>
              </a:p>
              <a:p>
                <a:r>
                  <a:rPr lang="pt-BR" dirty="0"/>
                  <a:t>A documentação da biblioteca </a:t>
                </a:r>
                <a:r>
                  <a:rPr lang="pt-BR" dirty="0" err="1"/>
                  <a:t>SciKit-Learn</a:t>
                </a:r>
                <a:r>
                  <a:rPr lang="pt-BR" dirty="0"/>
                  <a:t> contém um exemplo de como usar a coeficiente de silhueta para definir o melhor número de clusters.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hlinkClick r:id="rId2"/>
                  </a:rPr>
                  <a:t>https://scikit-learn.org/1.5/auto_examples/cluster/plot_kmeans_silhouette_analysis.html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91871B-A0D0-6F26-D59B-6230818E62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5590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804B-5A43-5C89-0C42-420DDBB1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A7DCE-B5C5-82F5-CC2A-E963BDDE0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DBSCAN</a:t>
            </a:r>
          </a:p>
          <a:p>
            <a:r>
              <a:rPr lang="pt-BR" dirty="0"/>
              <a:t>HDBSCAN</a:t>
            </a:r>
          </a:p>
          <a:p>
            <a:r>
              <a:rPr lang="pt-BR" dirty="0" err="1"/>
              <a:t>Gaussian</a:t>
            </a:r>
            <a:r>
              <a:rPr lang="pt-BR" dirty="0"/>
              <a:t> </a:t>
            </a:r>
            <a:r>
              <a:rPr lang="pt-BR" dirty="0" err="1"/>
              <a:t>mixtrures</a:t>
            </a:r>
            <a:endParaRPr lang="pt-BR" dirty="0"/>
          </a:p>
          <a:p>
            <a:endParaRPr lang="en-US" dirty="0"/>
          </a:p>
          <a:p>
            <a:r>
              <a:rPr lang="en-US" dirty="0">
                <a:hlinkClick r:id="rId2"/>
              </a:rPr>
              <a:t>https://scikit-learn.org/stable/modules/clustering.html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0812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err="1"/>
              <a:t>kmeans.ipynb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#13 – </a:t>
            </a:r>
            <a:r>
              <a:rPr lang="pt-BR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9131</TotalTime>
  <Words>2799</Words>
  <Application>Microsoft Office PowerPoint</Application>
  <PresentationFormat>Widescreen</PresentationFormat>
  <Paragraphs>196</Paragraphs>
  <Slides>25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Wingdings</vt:lpstr>
      <vt:lpstr>Office Theme</vt:lpstr>
      <vt:lpstr>C24 - Inteligência Artificial: k-Means</vt:lpstr>
      <vt:lpstr>Recapitulando</vt:lpstr>
      <vt:lpstr>PowerPoint Presentation</vt:lpstr>
      <vt:lpstr>Motivação</vt:lpstr>
      <vt:lpstr>Motivação</vt:lpstr>
      <vt:lpstr>Motivação</vt:lpstr>
      <vt:lpstr>Identificação de clusters</vt:lpstr>
      <vt:lpstr>Como representar os clusters?</vt:lpstr>
      <vt:lpstr>Como representar os clusters?</vt:lpstr>
      <vt:lpstr>Quantos devem ser os clusters?</vt:lpstr>
      <vt:lpstr>Quantos devem ser os clusters?</vt:lpstr>
      <vt:lpstr>Medindo distâncias</vt:lpstr>
      <vt:lpstr>Medindo distâncias</vt:lpstr>
      <vt:lpstr>A qual cluster um exemplo deve pertencer?</vt:lpstr>
      <vt:lpstr>k-Means</vt:lpstr>
      <vt:lpstr>Como inicializar os centroides? </vt:lpstr>
      <vt:lpstr>Como inicializar os centroides? </vt:lpstr>
      <vt:lpstr>SciKit-Learn: k-Means</vt:lpstr>
      <vt:lpstr>Como escolher o número ideal de clusters?</vt:lpstr>
      <vt:lpstr>Outros algoritmos de clustering</vt:lpstr>
      <vt:lpstr>Exemplo</vt:lpstr>
      <vt:lpstr>Lista de exercícios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793</cp:revision>
  <dcterms:created xsi:type="dcterms:W3CDTF">2020-04-06T23:46:10Z</dcterms:created>
  <dcterms:modified xsi:type="dcterms:W3CDTF">2026-04-04T14:19:53Z</dcterms:modified>
</cp:coreProperties>
</file>