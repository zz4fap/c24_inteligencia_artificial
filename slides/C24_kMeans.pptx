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287" r:id="rId10"/>
    <p:sldId id="400" r:id="rId11"/>
    <p:sldId id="296" r:id="rId12"/>
    <p:sldId id="399" r:id="rId13"/>
    <p:sldId id="288" r:id="rId14"/>
    <p:sldId id="402" r:id="rId15"/>
    <p:sldId id="297" r:id="rId16"/>
    <p:sldId id="298" r:id="rId17"/>
    <p:sldId id="289" r:id="rId18"/>
    <p:sldId id="290" r:id="rId19"/>
    <p:sldId id="291" r:id="rId20"/>
    <p:sldId id="292" r:id="rId21"/>
    <p:sldId id="299" r:id="rId22"/>
    <p:sldId id="293" r:id="rId23"/>
    <p:sldId id="300" r:id="rId24"/>
    <p:sldId id="398" r:id="rId25"/>
    <p:sldId id="338" r:id="rId26"/>
    <p:sldId id="395" r:id="rId27"/>
    <p:sldId id="396" r:id="rId28"/>
    <p:sldId id="306" r:id="rId29"/>
    <p:sldId id="265" r:id="rId3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45" autoAdjust="0"/>
    <p:restoredTop sz="85351" autoAdjust="0"/>
  </p:normalViewPr>
  <p:slideViewPr>
    <p:cSldViewPr snapToGrid="0">
      <p:cViewPr varScale="1">
        <p:scale>
          <a:sx n="94" d="100"/>
          <a:sy n="94" d="100"/>
        </p:scale>
        <p:origin x="12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clustering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grupo mais próximo,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27637"/>
            <a:ext cx="11353801" cy="2830362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extrair estrutura e conhecimento de dados quando não existem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reproduzir como humanos organizam o mundo: agrupamos objetos por similaridade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similaridade</a:t>
            </a:r>
            <a:r>
              <a:rPr lang="pt-BR" dirty="0"/>
              <a:t> sem precisar de supervisão.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282335" y="5041169"/>
            <a:ext cx="422386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2" y="1825624"/>
            <a:ext cx="6814457" cy="5032375"/>
          </a:xfrm>
        </p:spPr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substituir milhões de pontos por alguns grupos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resumir dados complexos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features (cluster ID)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dimensionalidade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de aprendizado supervisionado</a:t>
            </a:r>
          </a:p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O algoritmo conhecido como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/>
            <a:r>
              <a:rPr lang="pt-BR" dirty="0"/>
              <a:t>Representa a "média" das amostras dentro do cluster.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visualizar dados multidimensionais.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2743" y="1825624"/>
                <a:ext cx="71192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o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aplicamos clusterização apenas a atributos numéricos.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2743" y="1825624"/>
                <a:ext cx="7119257" cy="5032375"/>
              </a:xfrm>
              <a:blipFill>
                <a:blip r:embed="rId3"/>
                <a:stretch>
                  <a:fillRect l="-15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838200" y="211182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F6E31-B0DF-F3EC-D348-0D4E93DD1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7CCEC-CA32-01B4-A9B5-F81A83FF3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</a:t>
            </a:r>
            <a:r>
              <a:rPr lang="pt-BR" sz="5400" b="1" dirty="0" err="1">
                <a:solidFill>
                  <a:srgbClr val="FF0000"/>
                </a:solidFill>
              </a:rPr>
              <a:t>AQUi</a:t>
            </a:r>
            <a:r>
              <a:rPr lang="pt-BR" sz="5400" b="1" dirty="0">
                <a:solidFill>
                  <a:srgbClr val="FF0000"/>
                </a:solidFill>
              </a:rPr>
              <a:t>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45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729845" cy="5167311"/>
          </a:xfrm>
        </p:spPr>
        <p:txBody>
          <a:bodyPr>
            <a:normAutofit/>
          </a:bodyPr>
          <a:lstStyle/>
          <a:p>
            <a:r>
              <a:rPr lang="pt-BR" dirty="0"/>
              <a:t>Os clusters </a:t>
            </a:r>
            <a:r>
              <a:rPr lang="pt-BR" b="1" dirty="0"/>
              <a:t>não devem se sobrepor</a:t>
            </a:r>
            <a:r>
              <a:rPr lang="pt-BR" dirty="0"/>
              <a:t>: </a:t>
            </a:r>
            <a:r>
              <a:rPr lang="pt-BR" b="1" dirty="0">
                <a:solidFill>
                  <a:srgbClr val="00B050"/>
                </a:solidFill>
              </a:rPr>
              <a:t>cada exemplo</a:t>
            </a:r>
            <a:r>
              <a:rPr lang="pt-BR" dirty="0"/>
              <a:t> 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um e apenas a um </a:t>
            </a:r>
            <a:r>
              <a:rPr lang="pt-BR" b="1" i="1" dirty="0">
                <a:solidFill>
                  <a:srgbClr val="00B050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os </a:t>
            </a:r>
            <a:r>
              <a:rPr lang="pt-BR" b="1" dirty="0">
                <a:solidFill>
                  <a:srgbClr val="0070C0"/>
                </a:solidFill>
              </a:rPr>
              <a:t>exemplos</a:t>
            </a:r>
            <a:r>
              <a:rPr lang="pt-BR" dirty="0"/>
              <a:t> devem estar relativamente </a:t>
            </a:r>
            <a:r>
              <a:rPr lang="pt-BR" b="1" dirty="0">
                <a:solidFill>
                  <a:srgbClr val="0070C0"/>
                </a:solidFill>
              </a:rPr>
              <a:t>próximos</a:t>
            </a:r>
            <a:r>
              <a:rPr lang="pt-BR" dirty="0"/>
              <a:t> uns dos outros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dos </a:t>
            </a:r>
            <a:r>
              <a:rPr lang="pt-BR" b="1" dirty="0">
                <a:solidFill>
                  <a:srgbClr val="7030A0"/>
                </a:solidFill>
              </a:rPr>
              <a:t>exemplos dos outros 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clusters um conjunto de exemplos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141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C974-9A37-ED60-45B8-7CF90E038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2A04D-0F4A-CB81-D7DF-C4B0B1316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000" b="1" dirty="0">
                <a:solidFill>
                  <a:srgbClr val="FF0000"/>
                </a:solidFill>
              </a:rPr>
              <a:t>Quais as formas usadas para definir o melhor número de </a:t>
            </a:r>
            <a:r>
              <a:rPr lang="pt-BR" sz="6000" b="1" dirty="0" err="1">
                <a:solidFill>
                  <a:srgbClr val="FF0000"/>
                </a:solidFill>
              </a:rPr>
              <a:t>clsuters</a:t>
            </a:r>
            <a:r>
              <a:rPr lang="pt-BR" sz="6000" b="1" dirty="0">
                <a:solidFill>
                  <a:srgbClr val="FF0000"/>
                </a:solidFill>
              </a:rPr>
              <a:t>???</a:t>
            </a:r>
            <a:endParaRPr lang="en-US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513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clusters</a:t>
            </a:r>
            <a:r>
              <a:rPr lang="pt-BR" dirty="0"/>
              <a:t>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306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CDFA83-D279-17E3-E2CD-6E304EAF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29" y="1825624"/>
            <a:ext cx="6263244" cy="5032375"/>
          </a:xfrm>
        </p:spPr>
        <p:txBody>
          <a:bodyPr>
            <a:normAutofit/>
          </a:bodyPr>
          <a:lstStyle/>
          <a:p>
            <a:r>
              <a:rPr lang="pt-BR" dirty="0"/>
              <a:t>Algoritmos para identificação de clusters geralmente precisam de uma </a:t>
            </a:r>
            <a:r>
              <a:rPr lang="pt-BR" b="1" dirty="0">
                <a:solidFill>
                  <a:srgbClr val="7030A0"/>
                </a:solidFill>
              </a:rPr>
              <a:t>métrica para avaliar a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b="1" dirty="0">
                <a:solidFill>
                  <a:srgbClr val="7030A0"/>
                </a:solidFill>
              </a:rPr>
              <a:t> entre um exemplo e o centroide</a:t>
            </a:r>
            <a:r>
              <a:rPr lang="pt-BR" dirty="0"/>
              <a:t> de um cluster. </a:t>
            </a:r>
          </a:p>
          <a:p>
            <a:r>
              <a:rPr lang="pt-BR" dirty="0"/>
              <a:t>Uma forma de fazer isso quando os atributos são </a:t>
            </a:r>
            <a:r>
              <a:rPr lang="pt-BR" b="1" dirty="0">
                <a:solidFill>
                  <a:schemeClr val="accent5"/>
                </a:solidFill>
              </a:rPr>
              <a:t>contínuos ou discretos </a:t>
            </a:r>
            <a:r>
              <a:rPr lang="pt-BR" dirty="0"/>
              <a:t>é usar a </a:t>
            </a:r>
            <a:r>
              <a:rPr lang="pt-BR" b="1" dirty="0">
                <a:solidFill>
                  <a:srgbClr val="00B050"/>
                </a:solidFill>
              </a:rPr>
              <a:t>distância euclidiana </a:t>
            </a:r>
            <a:r>
              <a:rPr lang="pt-BR" dirty="0"/>
              <a:t>entre os dois vetores.</a:t>
            </a:r>
          </a:p>
        </p:txBody>
      </p:sp>
      <p:pic>
        <p:nvPicPr>
          <p:cNvPr id="307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EE37D2FB-B661-E3F3-5FAE-2D65997FAF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838200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exemplos com atributos contínuos e discretos ou uma mistura com categóricos, usamos uma equação mais geral para calcular as distâncias: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ra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para atributos contínuos e discretos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pt-BR" b="0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para atributos categóricos, mas transformados em </a:t>
                </a:r>
                <a:r>
                  <a:rPr lang="pt-BR" dirty="0" err="1"/>
                  <a:t>numércos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  <a:blipFill>
                <a:blip r:embed="rId2"/>
                <a:stretch>
                  <a:fillRect l="-1887" t="-2663" r="-1797" b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22ACC8D3-8B80-BBE4-31ED-C31E6E11B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238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cluster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 exemplo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k-</a:t>
                </a:r>
                <a:r>
                  <a:rPr lang="pt-BR" dirty="0" err="1"/>
                  <a:t>Means</a:t>
                </a:r>
                <a:r>
                  <a:rPr lang="pt-BR" dirty="0"/>
                  <a:t>, um dos algoritmos de clusterização (i.e., identificação de clusters) mais simples.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  <a:blipFill>
                <a:blip r:embed="rId2"/>
                <a:stretch>
                  <a:fillRect l="-948" t="-2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no nome denota o número </a:t>
                </a:r>
                <a:r>
                  <a:rPr lang="pt-BR" b="1" dirty="0"/>
                  <a:t>pré-definido</a:t>
                </a:r>
                <a:r>
                  <a:rPr lang="pt-BR" dirty="0"/>
                  <a:t> de clusters, i.e., o número de clusters é um parâmetro definido pelo usuário.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cluster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  <a:blipFill>
                <a:blip r:embed="rId3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Entradas</a:t>
                </a:r>
                <a:r>
                  <a:rPr lang="pt-BR" sz="16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. </a:t>
                </a:r>
                <a:endParaRPr lang="pt-BR" sz="16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Defina</a:t>
                </a:r>
                <a:r>
                  <a:rPr lang="pt-BR" sz="1600" dirty="0"/>
                  <a:t>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600" dirty="0"/>
                  <a:t>para cada um dos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Enquanto </a:t>
                </a:r>
                <a:r>
                  <a:rPr lang="pt-BR" sz="16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blipFill>
                <a:blip r:embed="rId4"/>
                <a:stretch>
                  <a:fillRect l="-281" t="-667" b="-3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1" i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de um exemplo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  <a:blipFill>
                <a:blip r:embed="rId2"/>
                <a:stretch>
                  <a:fillRect l="-1619" t="-1937" r="-2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570022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clusters que maximiza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</a:t>
            </a:r>
          </a:p>
          <a:p>
            <a:r>
              <a:rPr lang="pt-BR" dirty="0"/>
              <a:t>HDBSCAN</a:t>
            </a:r>
          </a:p>
          <a:p>
            <a:r>
              <a:rPr lang="pt-BR" dirty="0" err="1"/>
              <a:t>Gaussian</a:t>
            </a:r>
            <a:r>
              <a:rPr lang="pt-BR" dirty="0"/>
              <a:t> </a:t>
            </a:r>
            <a:r>
              <a:rPr lang="pt-BR" dirty="0" err="1"/>
              <a:t>mixtrures</a:t>
            </a:r>
            <a:endParaRPr lang="pt-BR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9230</TotalTime>
  <Words>3078</Words>
  <Application>Microsoft Office PowerPoint</Application>
  <PresentationFormat>Widescreen</PresentationFormat>
  <Paragraphs>238</Paragraphs>
  <Slides>29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PowerPoint Presentation</vt:lpstr>
      <vt:lpstr>Motivação</vt:lpstr>
      <vt:lpstr>Motivação</vt:lpstr>
      <vt:lpstr>Motivação</vt:lpstr>
      <vt:lpstr>Identificação de clusters</vt:lpstr>
      <vt:lpstr>Aplicações</vt:lpstr>
      <vt:lpstr>Como representar os clusters?</vt:lpstr>
      <vt:lpstr>Centroide</vt:lpstr>
      <vt:lpstr>Como representar os clusters?</vt:lpstr>
      <vt:lpstr>PowerPoint Presentation</vt:lpstr>
      <vt:lpstr>Quantos devem ser os clusters?</vt:lpstr>
      <vt:lpstr>PowerPoint Presentation</vt:lpstr>
      <vt:lpstr>Quantos devem ser os clusters?</vt:lpstr>
      <vt:lpstr>Medindo distâncias</vt:lpstr>
      <vt:lpstr>Medindo distâncias</vt:lpstr>
      <vt:lpstr>A qual cluster um exemplo deve pertencer?</vt:lpstr>
      <vt:lpstr>k-Means</vt:lpstr>
      <vt:lpstr>Como inicializar os centroides? </vt:lpstr>
      <vt:lpstr>Como inicializar os centroides? </vt:lpstr>
      <vt:lpstr>SciKit-Learn: k-Means</vt:lpstr>
      <vt:lpstr>Como escolher o número ideal de clusters?</vt:lpstr>
      <vt:lpstr>Outros algoritmos de clustering</vt:lpstr>
      <vt:lpstr>Exemplo</vt:lpstr>
      <vt:lpstr>Lista de exercícios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812</cp:revision>
  <dcterms:created xsi:type="dcterms:W3CDTF">2020-04-06T23:46:10Z</dcterms:created>
  <dcterms:modified xsi:type="dcterms:W3CDTF">2026-04-05T15:20:57Z</dcterms:modified>
</cp:coreProperties>
</file>