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84" r:id="rId3"/>
    <p:sldId id="397" r:id="rId4"/>
    <p:sldId id="258" r:id="rId5"/>
    <p:sldId id="294" r:id="rId6"/>
    <p:sldId id="286" r:id="rId7"/>
    <p:sldId id="285" r:id="rId8"/>
    <p:sldId id="401" r:id="rId9"/>
    <p:sldId id="287" r:id="rId10"/>
    <p:sldId id="400" r:id="rId11"/>
    <p:sldId id="296" r:id="rId12"/>
    <p:sldId id="399" r:id="rId13"/>
    <p:sldId id="288" r:id="rId14"/>
    <p:sldId id="402" r:id="rId15"/>
    <p:sldId id="297" r:id="rId16"/>
    <p:sldId id="298" r:id="rId17"/>
    <p:sldId id="289" r:id="rId18"/>
    <p:sldId id="290" r:id="rId19"/>
    <p:sldId id="291" r:id="rId20"/>
    <p:sldId id="292" r:id="rId21"/>
    <p:sldId id="299" r:id="rId22"/>
    <p:sldId id="293" r:id="rId23"/>
    <p:sldId id="300" r:id="rId24"/>
    <p:sldId id="398" r:id="rId25"/>
    <p:sldId id="338" r:id="rId26"/>
    <p:sldId id="395" r:id="rId27"/>
    <p:sldId id="396" r:id="rId28"/>
    <p:sldId id="306" r:id="rId29"/>
    <p:sldId id="265" r:id="rId3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85351" autoAdjust="0"/>
  </p:normalViewPr>
  <p:slideViewPr>
    <p:cSldViewPr snapToGrid="0">
      <p:cViewPr varScale="1">
        <p:scale>
          <a:sx n="94" d="100"/>
          <a:sy n="94" d="100"/>
        </p:scale>
        <p:origin x="12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6714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7555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Não se aplica clusterização a dados categóricos, mesmo que sejam ordinais:</a:t>
            </a:r>
          </a:p>
          <a:p>
            <a:r>
              <a:rPr lang="pt-BR" dirty="0"/>
              <a:t>Nós sabemos quem é maior ou menor, mas não “quanto maior” </a:t>
            </a:r>
          </a:p>
          <a:p>
            <a:r>
              <a:rPr lang="pt-BR" dirty="0"/>
              <a:t>Em dados ordinais, a diferença entre 1→2 pode não ser igual a 4→5</a:t>
            </a:r>
          </a:p>
          <a:p>
            <a:endParaRPr lang="pt-BR" dirty="0"/>
          </a:p>
          <a:p>
            <a:r>
              <a:rPr lang="pt-BR" b="1" dirty="0"/>
              <a:t>K-</a:t>
            </a:r>
            <a:r>
              <a:rPr lang="pt-BR" b="1" dirty="0" err="1"/>
              <a:t>prototypes</a:t>
            </a:r>
            <a:r>
              <a:rPr lang="pt-BR" dirty="0"/>
              <a:t> combina: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euclidiana (numérico)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distância de </a:t>
            </a:r>
            <a:r>
              <a:rPr lang="pt-BR" dirty="0" err="1"/>
              <a:t>Hamming</a:t>
            </a:r>
            <a:r>
              <a:rPr lang="pt-BR" dirty="0"/>
              <a:t> (categórico)</a:t>
            </a:r>
          </a:p>
          <a:p>
            <a:endParaRPr lang="pt-BR" dirty="0"/>
          </a:p>
          <a:p>
            <a:r>
              <a:rPr lang="pt-BR" b="1" dirty="0" err="1"/>
              <a:t>K-modes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 “moda” em vez de média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mede dissimilaridade por diferenças</a:t>
            </a:r>
          </a:p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05/04/2026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clustering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i="1" dirty="0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temos rótulos, apenas atributos.</a:t>
            </a:r>
          </a:p>
          <a:p>
            <a:r>
              <a:rPr lang="pt-BR" dirty="0"/>
              <a:t>Eles visam criar agrupamentos de dados (chamados de </a:t>
            </a:r>
            <a:r>
              <a:rPr lang="pt-BR" b="1" i="1" dirty="0"/>
              <a:t>clusters</a:t>
            </a:r>
            <a:r>
              <a:rPr lang="pt-BR" b="1" dirty="0"/>
              <a:t>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Nesta aula,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i="1" dirty="0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9955D7-EF0A-C073-CA9C-EC6A396485B8}"/>
              </a:ext>
            </a:extLst>
          </p:cNvPr>
          <p:cNvSpPr txBox="1"/>
          <p:nvPr/>
        </p:nvSpPr>
        <p:spPr>
          <a:xfrm>
            <a:off x="6574971" y="2814935"/>
            <a:ext cx="489857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A </a:t>
            </a:r>
            <a:r>
              <a:rPr lang="pt-BR" sz="2800" b="1" dirty="0"/>
              <a:t>clusterização</a:t>
            </a:r>
            <a:r>
              <a:rPr lang="pt-BR" sz="2800" dirty="0"/>
              <a:t> organiza dados como na figura: cada ponto encontra seu grupo mais próximo, formando </a:t>
            </a:r>
            <a:r>
              <a:rPr lang="pt-BR" sz="2800" i="1" dirty="0"/>
              <a:t>clusters.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3C601-9BD1-3DD0-9219-97CD9BA5DC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027" y="642219"/>
            <a:ext cx="3889829" cy="5834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27637"/>
            <a:ext cx="11353801" cy="2830362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extrair estrutura e conhecimento de dados quando não existem rótulos</a:t>
            </a:r>
            <a:r>
              <a:rPr lang="pt-BR" dirty="0"/>
              <a:t>.</a:t>
            </a:r>
          </a:p>
          <a:p>
            <a:r>
              <a:rPr lang="pt-BR" i="1" dirty="0"/>
              <a:t>Clustering</a:t>
            </a:r>
            <a:r>
              <a:rPr lang="pt-BR" dirty="0"/>
              <a:t> tenta reproduzir como humanos organizam o mundo: agrupamos objetos por similaridade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i="1" dirty="0" err="1"/>
                <a:t>clustering</a:t>
              </a:r>
              <a:endParaRPr lang="en-US" sz="1400" b="1" i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10837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clustering </a:t>
            </a:r>
            <a:r>
              <a:rPr lang="pt-BR" dirty="0"/>
              <a:t>agrupa dados </a:t>
            </a:r>
            <a:r>
              <a:rPr lang="pt-BR" b="1" dirty="0"/>
              <a:t>com base em similaridade</a:t>
            </a:r>
            <a:r>
              <a:rPr lang="pt-BR" dirty="0"/>
              <a:t> sem precisar de supervisão.</a:t>
            </a:r>
          </a:p>
          <a:p>
            <a:r>
              <a:rPr lang="pt-BR" dirty="0"/>
              <a:t>A ideia mais importante é revelar a </a:t>
            </a:r>
            <a:r>
              <a:rPr lang="pt-BR" b="1" dirty="0"/>
              <a:t>estrutura intrínseca dos dados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escondidos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subgrupos naturais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 explícitas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</a:t>
            </a:r>
            <a:r>
              <a:rPr lang="en-US" i="1" dirty="0"/>
              <a:t>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277601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</a:t>
            </a:r>
            <a:r>
              <a:rPr lang="pt-BR" b="1" i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de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 do conjunto de treinamento.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22928" y="4688303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282335" y="5041169"/>
            <a:ext cx="422386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dirty="0"/>
              <a:t>OBS</a:t>
            </a:r>
            <a:r>
              <a:rPr lang="pt-BR" sz="1600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BFB42-0017-5ED1-7773-E084E5A0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9C266-04B6-6A8C-91F5-24FCD2CC3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7542" y="1825624"/>
            <a:ext cx="6814457" cy="5032375"/>
          </a:xfrm>
        </p:spPr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complexidade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substituir milhões de pontos por alguns grupos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resumir dados complexos</a:t>
            </a:r>
            <a:endParaRPr lang="en-US" dirty="0"/>
          </a:p>
          <a:p>
            <a:r>
              <a:rPr lang="en-US" dirty="0"/>
              <a:t>Pré-</a:t>
            </a:r>
            <a:r>
              <a:rPr lang="en-US" dirty="0" err="1"/>
              <a:t>processamento</a:t>
            </a:r>
            <a:r>
              <a:rPr lang="en-US" dirty="0"/>
              <a:t> para outros </a:t>
            </a:r>
            <a:r>
              <a:rPr lang="en-US" dirty="0" err="1"/>
              <a:t>modelos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features (cluster ID)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inicializar modelos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dimensionalidade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organizar dados antes de aprendizado supervisionado</a:t>
            </a:r>
          </a:p>
          <a:p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raros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detector de comportamento “normal”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tudo fora disso é considerado suspeito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A7524CD6-9254-ABD9-EBBF-94136AAAED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656115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192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799" y="1825624"/>
            <a:ext cx="6825343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</a:t>
            </a:r>
            <a:r>
              <a:rPr lang="pt-BR" b="1" i="1" dirty="0">
                <a:solidFill>
                  <a:srgbClr val="00B050"/>
                </a:solidFill>
              </a:rPr>
              <a:t>clusters</a:t>
            </a:r>
            <a:r>
              <a:rPr lang="pt-BR" b="1" dirty="0">
                <a:solidFill>
                  <a:srgbClr val="00B050"/>
                </a:solidFill>
              </a:rPr>
              <a:t>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O algoritmo conhecido como </a:t>
            </a:r>
            <a:r>
              <a:rPr lang="pt-BR" b="1" i="1" dirty="0"/>
              <a:t>k-</a:t>
            </a:r>
            <a:r>
              <a:rPr lang="pt-BR" b="1" i="1" dirty="0" err="1"/>
              <a:t>Means</a:t>
            </a:r>
            <a:r>
              <a:rPr lang="pt-BR" dirty="0"/>
              <a:t> implementa esta abordagem.</a:t>
            </a:r>
          </a:p>
          <a:p>
            <a:r>
              <a:rPr lang="pt-BR" dirty="0"/>
              <a:t>Vejamos então suas características e como funciona.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84507-EC77-45EC-8B3A-27BFC439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Centroide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EB374-1415-DA51-E59A-B5E50D17F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Centroide</a:t>
            </a:r>
            <a:r>
              <a:rPr lang="pt-BR" dirty="0"/>
              <a:t> é o ponto central de um </a:t>
            </a:r>
            <a:r>
              <a:rPr lang="pt-BR" i="1" dirty="0"/>
              <a:t>cluster</a:t>
            </a:r>
            <a:r>
              <a:rPr lang="pt-BR" dirty="0"/>
              <a:t> de dados. </a:t>
            </a:r>
          </a:p>
          <a:p>
            <a:pPr lvl="1"/>
            <a:r>
              <a:rPr lang="pt-BR" dirty="0"/>
              <a:t>Representa a "média" das amostras dentro do cluster.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podem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inicializar redes neurais Bayesianas ou de </a:t>
            </a:r>
            <a:r>
              <a:rPr lang="en-US" dirty="0" err="1"/>
              <a:t>funções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ausentes.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comprimir dados usando apenas o </a:t>
            </a:r>
            <a:r>
              <a:rPr lang="pt-BR" dirty="0" err="1"/>
              <a:t>centróide</a:t>
            </a:r>
            <a:r>
              <a:rPr lang="pt-BR" dirty="0"/>
              <a:t> mais próximo.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visualizar dados multidimensionais.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feature </a:t>
            </a:r>
            <a:r>
              <a:rPr lang="pt-BR" i="1" dirty="0" err="1"/>
              <a:t>engineering</a:t>
            </a:r>
            <a:r>
              <a:rPr lang="pt-BR" i="1" dirty="0"/>
              <a:t>:</a:t>
            </a:r>
            <a:r>
              <a:rPr lang="pt-BR" dirty="0"/>
              <a:t> o índice do </a:t>
            </a:r>
            <a:r>
              <a:rPr lang="pt-BR" dirty="0" err="1"/>
              <a:t>centróide</a:t>
            </a:r>
            <a:r>
              <a:rPr lang="pt-BR" dirty="0"/>
              <a:t> e a distância até os </a:t>
            </a:r>
            <a:r>
              <a:rPr lang="pt-BR" dirty="0" err="1"/>
              <a:t>centróides</a:t>
            </a:r>
            <a:r>
              <a:rPr lang="pt-BR" dirty="0"/>
              <a:t> podem ser novos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detectar anomalias: distância alta ao </a:t>
            </a:r>
            <a:r>
              <a:rPr lang="pt-BR" dirty="0" err="1"/>
              <a:t>centróide</a:t>
            </a:r>
            <a:r>
              <a:rPr lang="pt-BR" dirty="0"/>
              <a:t> indica </a:t>
            </a:r>
            <a:r>
              <a:rPr lang="pt-BR" i="1" dirty="0"/>
              <a:t>outlier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forma de agrupar dados sem classes em problemas </a:t>
            </a:r>
            <a:r>
              <a:rPr lang="pt-BR" dirty="0" err="1"/>
              <a:t>semi-supervisionados</a:t>
            </a:r>
            <a:r>
              <a:rPr lang="pt-BR" dirty="0"/>
              <a:t>: os </a:t>
            </a:r>
            <a:r>
              <a:rPr lang="pt-BR" i="1" dirty="0"/>
              <a:t>clusters</a:t>
            </a:r>
            <a:r>
              <a:rPr lang="pt-BR" dirty="0"/>
              <a:t> são usados como classes e, consequentemente, rotular os dados.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952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i="1" dirty="0"/>
              <a:t>clusters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2743" y="1825624"/>
                <a:ext cx="71192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exemplo, suponhamos os seguintes </a:t>
                </a:r>
                <a:r>
                  <a:rPr lang="pt-BR" b="1" dirty="0"/>
                  <a:t>vetores de atributos </a:t>
                </a:r>
                <a:r>
                  <a:rPr lang="pt-BR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: (2, 5), (1, 4), (3, 6).</a:t>
                </a:r>
              </a:p>
              <a:p>
                <a:r>
                  <a:rPr lang="pt-BR" dirty="0"/>
                  <a:t>Nesse caso, o </a:t>
                </a:r>
                <a:r>
                  <a:rPr lang="pt-BR" b="1" dirty="0"/>
                  <a:t>centroide</a:t>
                </a:r>
                <a:r>
                  <a:rPr lang="pt-BR" dirty="0"/>
                  <a:t> é representado pelo vetor (2, 5), pois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OBS</a:t>
                </a:r>
                <a:r>
                  <a:rPr lang="pt-BR" dirty="0"/>
                  <a:t>.: Em geral, aplicamos clusterização apenas a atributos numéricos.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Existem algoritmos de clusterização específicos para dados categóricos: </a:t>
                </a:r>
                <a:r>
                  <a:rPr lang="pt-BR" i="1" dirty="0"/>
                  <a:t>k-</a:t>
                </a:r>
                <a:r>
                  <a:rPr lang="pt-BR" i="1" dirty="0" err="1"/>
                  <a:t>modes</a:t>
                </a:r>
                <a:r>
                  <a:rPr lang="pt-BR" i="1" dirty="0"/>
                  <a:t> </a:t>
                </a:r>
                <a:r>
                  <a:rPr lang="pt-BR" dirty="0"/>
                  <a:t>e </a:t>
                </a:r>
                <a:r>
                  <a:rPr lang="en-US" i="1" dirty="0"/>
                  <a:t>k-prototypes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2743" y="1825624"/>
                <a:ext cx="7119257" cy="5032375"/>
              </a:xfrm>
              <a:blipFill>
                <a:blip r:embed="rId3"/>
                <a:stretch>
                  <a:fillRect l="-15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E728BEA3-C89C-08D5-CE28-8BD1C00DAD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838200" y="211182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F6E31-B0DF-F3EC-D348-0D4E93DD1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CCEC-CA32-01B4-A9B5-F81A83FF3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</a:t>
            </a:r>
            <a:r>
              <a:rPr lang="pt-BR" sz="5400" b="1" dirty="0" err="1">
                <a:solidFill>
                  <a:srgbClr val="FF0000"/>
                </a:solidFill>
              </a:rPr>
              <a:t>AQUi</a:t>
            </a:r>
            <a:r>
              <a:rPr lang="pt-BR" sz="5400" b="1" dirty="0">
                <a:solidFill>
                  <a:srgbClr val="FF0000"/>
                </a:solidFill>
              </a:rPr>
              <a:t>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2245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</a:t>
            </a:r>
            <a:r>
              <a:rPr lang="pt-BR" i="1" dirty="0"/>
              <a:t>clusters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729845" cy="5167311"/>
          </a:xfrm>
        </p:spPr>
        <p:txBody>
          <a:bodyPr>
            <a:normAutofit/>
          </a:bodyPr>
          <a:lstStyle/>
          <a:p>
            <a:r>
              <a:rPr lang="pt-BR" dirty="0"/>
              <a:t>Os clusters </a:t>
            </a:r>
            <a:r>
              <a:rPr lang="pt-BR" b="1" dirty="0"/>
              <a:t>não devem se sobrepor</a:t>
            </a:r>
            <a:r>
              <a:rPr lang="pt-BR" dirty="0"/>
              <a:t>: </a:t>
            </a:r>
            <a:r>
              <a:rPr lang="pt-BR" b="1" dirty="0">
                <a:solidFill>
                  <a:srgbClr val="00B050"/>
                </a:solidFill>
              </a:rPr>
              <a:t>cada exemplo</a:t>
            </a:r>
            <a:r>
              <a:rPr lang="pt-BR" dirty="0"/>
              <a:t> deve </a:t>
            </a:r>
            <a:r>
              <a:rPr lang="pt-BR" b="1" dirty="0">
                <a:solidFill>
                  <a:srgbClr val="00B050"/>
                </a:solidFill>
              </a:rPr>
              <a:t>pertencer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um e apenas a um </a:t>
            </a:r>
            <a:r>
              <a:rPr lang="pt-BR" b="1" i="1" dirty="0">
                <a:solidFill>
                  <a:srgbClr val="00B050"/>
                </a:solidFill>
              </a:rPr>
              <a:t>cluster</a:t>
            </a:r>
            <a:r>
              <a:rPr lang="pt-BR" dirty="0"/>
              <a:t>. </a:t>
            </a:r>
          </a:p>
          <a:p>
            <a:r>
              <a:rPr lang="pt-BR" dirty="0"/>
              <a:t>Porém, </a:t>
            </a:r>
            <a:r>
              <a:rPr lang="pt-BR" b="1" dirty="0">
                <a:solidFill>
                  <a:srgbClr val="0070C0"/>
                </a:solidFill>
              </a:rPr>
              <a:t>dentro do mesmo cluster</a:t>
            </a:r>
            <a:r>
              <a:rPr lang="pt-BR" dirty="0"/>
              <a:t>, os </a:t>
            </a:r>
            <a:r>
              <a:rPr lang="pt-BR" b="1" dirty="0">
                <a:solidFill>
                  <a:srgbClr val="0070C0"/>
                </a:solidFill>
              </a:rPr>
              <a:t>exemplos</a:t>
            </a:r>
            <a:r>
              <a:rPr lang="pt-BR" dirty="0"/>
              <a:t> devem estar relativamente </a:t>
            </a:r>
            <a:r>
              <a:rPr lang="pt-BR" b="1" dirty="0">
                <a:solidFill>
                  <a:srgbClr val="0070C0"/>
                </a:solidFill>
              </a:rPr>
              <a:t>próximos</a:t>
            </a:r>
            <a:r>
              <a:rPr lang="pt-BR" dirty="0"/>
              <a:t> uns dos outros e </a:t>
            </a:r>
            <a:r>
              <a:rPr lang="pt-BR" b="1" dirty="0">
                <a:solidFill>
                  <a:srgbClr val="7030A0"/>
                </a:solidFill>
              </a:rPr>
              <a:t>distantes</a:t>
            </a:r>
            <a:r>
              <a:rPr lang="pt-BR" dirty="0"/>
              <a:t> dos </a:t>
            </a:r>
            <a:r>
              <a:rPr lang="pt-BR" b="1" dirty="0">
                <a:solidFill>
                  <a:srgbClr val="7030A0"/>
                </a:solidFill>
              </a:rPr>
              <a:t>exemplos dos outros clusters</a:t>
            </a:r>
            <a:r>
              <a:rPr lang="pt-BR" dirty="0"/>
              <a:t>.</a:t>
            </a:r>
          </a:p>
          <a:p>
            <a:r>
              <a:rPr lang="pt-BR" dirty="0"/>
              <a:t>Aí surge uma dúvida. </a:t>
            </a:r>
          </a:p>
          <a:p>
            <a:r>
              <a:rPr lang="pt-BR" dirty="0"/>
              <a:t>Quantos clusters um conjunto de exemplos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C974-9A37-ED60-45B8-7CF90E038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2A04D-0F4A-CB81-D7DF-C4B0B1316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000" b="1" dirty="0">
                <a:solidFill>
                  <a:srgbClr val="FF0000"/>
                </a:solidFill>
              </a:rPr>
              <a:t>Quais as formas usadas para definir o melhor número de </a:t>
            </a:r>
            <a:r>
              <a:rPr lang="pt-BR" sz="6000" b="1" dirty="0" err="1">
                <a:solidFill>
                  <a:srgbClr val="FF0000"/>
                </a:solidFill>
              </a:rPr>
              <a:t>clsuters</a:t>
            </a:r>
            <a:r>
              <a:rPr lang="pt-BR" sz="6000" b="1" dirty="0">
                <a:solidFill>
                  <a:srgbClr val="FF0000"/>
                </a:solidFill>
              </a:rPr>
              <a:t>???</a:t>
            </a:r>
            <a:endParaRPr lang="en-US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513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clusters</a:t>
            </a:r>
            <a:r>
              <a:rPr lang="pt-BR" dirty="0"/>
              <a:t>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9" y="1825624"/>
            <a:ext cx="6263244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clusters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exemplos com 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err="1"/>
                  <a:t>numércos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  <a:blipFill>
                <a:blip r:embed="rId2"/>
                <a:stretch>
                  <a:fillRect l="-1887" t="-2663" r="-1797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22ACC8D3-8B80-BBE4-31ED-C31E6E11B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k-</a:t>
                </a:r>
                <a:r>
                  <a:rPr lang="pt-BR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no nome denota o número </a:t>
                </a:r>
                <a:r>
                  <a:rPr lang="pt-BR" b="1" dirty="0"/>
                  <a:t>pré-definido</a:t>
                </a:r>
                <a:r>
                  <a:rPr lang="pt-BR" dirty="0"/>
                  <a:t> de clusters, i.e., o número de clusters é um parâmetro definido pelo usuário.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cluster mais próximo, de modo que, a partir deste momento, os centroides não mudem mais.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  <a:blipFill>
                <a:blip r:embed="rId3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Entradas</a:t>
                </a:r>
                <a:r>
                  <a:rPr lang="pt-BR" sz="16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. </a:t>
                </a:r>
                <a:endParaRPr lang="pt-BR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Defina</a:t>
                </a:r>
                <a:r>
                  <a:rPr lang="pt-BR" sz="1600" dirty="0"/>
                  <a:t>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600" dirty="0"/>
                  <a:t>para cada um dos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Enquanto </a:t>
                </a:r>
                <a:r>
                  <a:rPr lang="pt-BR" sz="16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blipFill>
                <a:blip r:embed="rId4"/>
                <a:stretch>
                  <a:fillRect l="-281" t="-667" b="-3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804B-5A43-5C89-0C42-420DDBB1C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Outros algoritmos de </a:t>
            </a:r>
            <a:r>
              <a:rPr lang="pt-BR" i="1" dirty="0"/>
              <a:t>clustering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A7DCE-B5C5-82F5-CC2A-E963BDDE0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DBSCAN</a:t>
            </a:r>
          </a:p>
          <a:p>
            <a:r>
              <a:rPr lang="pt-BR" dirty="0"/>
              <a:t>HDBSCAN</a:t>
            </a:r>
          </a:p>
          <a:p>
            <a:r>
              <a:rPr lang="pt-BR" dirty="0" err="1"/>
              <a:t>Gaussian</a:t>
            </a:r>
            <a:r>
              <a:rPr lang="pt-BR" dirty="0"/>
              <a:t> </a:t>
            </a:r>
            <a:r>
              <a:rPr lang="pt-BR" dirty="0" err="1"/>
              <a:t>mixtrures</a:t>
            </a:r>
            <a:endParaRPr lang="pt-BR" dirty="0"/>
          </a:p>
          <a:p>
            <a:endParaRPr lang="en-US" dirty="0"/>
          </a:p>
          <a:p>
            <a:r>
              <a:rPr lang="en-US" dirty="0">
                <a:hlinkClick r:id="rId2"/>
              </a:rPr>
              <a:t>https://scikit-learn.org/stable/modules/clustering.html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081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9230</TotalTime>
  <Words>3078</Words>
  <Application>Microsoft Office PowerPoint</Application>
  <PresentationFormat>Widescreen</PresentationFormat>
  <Paragraphs>238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PowerPoint Presentation</vt:lpstr>
      <vt:lpstr>Motivação</vt:lpstr>
      <vt:lpstr>Motivação</vt:lpstr>
      <vt:lpstr>Motivação</vt:lpstr>
      <vt:lpstr>Identificação de clusters</vt:lpstr>
      <vt:lpstr>Aplicações</vt:lpstr>
      <vt:lpstr>Como representar os clusters?</vt:lpstr>
      <vt:lpstr>Centroide</vt:lpstr>
      <vt:lpstr>Como representar os clusters?</vt:lpstr>
      <vt:lpstr>PowerPoint Presentation</vt:lpstr>
      <vt:lpstr>Quantos devem ser os clusters?</vt:lpstr>
      <vt:lpstr>PowerPoint Presentation</vt:lpstr>
      <vt:lpstr>Quantos devem ser os clusters?</vt:lpstr>
      <vt:lpstr>Medindo distâncias</vt:lpstr>
      <vt:lpstr>Medindo distâncias</vt:lpstr>
      <vt:lpstr>A qual cluster um exemplo deve pertencer?</vt:lpstr>
      <vt:lpstr>k-Means</vt:lpstr>
      <vt:lpstr>Como inicializar os centroides? </vt:lpstr>
      <vt:lpstr>Como inicializar os centroides? </vt:lpstr>
      <vt:lpstr>SciKit-Learn: k-Means</vt:lpstr>
      <vt:lpstr>Como escolher o número ideal de clusters?</vt:lpstr>
      <vt:lpstr>Outros algoritmos de clustering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812</cp:revision>
  <dcterms:created xsi:type="dcterms:W3CDTF">2020-04-06T23:46:10Z</dcterms:created>
  <dcterms:modified xsi:type="dcterms:W3CDTF">2026-04-05T15:46:11Z</dcterms:modified>
</cp:coreProperties>
</file>