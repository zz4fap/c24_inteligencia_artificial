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413" r:id="rId13"/>
    <p:sldId id="414" r:id="rId14"/>
    <p:sldId id="415" r:id="rId15"/>
    <p:sldId id="298" r:id="rId16"/>
    <p:sldId id="290" r:id="rId17"/>
    <p:sldId id="291" r:id="rId18"/>
    <p:sldId id="417" r:id="rId19"/>
    <p:sldId id="404" r:id="rId20"/>
    <p:sldId id="405" r:id="rId21"/>
    <p:sldId id="406" r:id="rId22"/>
    <p:sldId id="407" r:id="rId23"/>
    <p:sldId id="408" r:id="rId24"/>
    <p:sldId id="409" r:id="rId25"/>
    <p:sldId id="410" r:id="rId26"/>
    <p:sldId id="292" r:id="rId27"/>
    <p:sldId id="299" r:id="rId28"/>
    <p:sldId id="419" r:id="rId29"/>
    <p:sldId id="420" r:id="rId30"/>
    <p:sldId id="421" r:id="rId31"/>
    <p:sldId id="422" r:id="rId32"/>
    <p:sldId id="423" r:id="rId33"/>
    <p:sldId id="424" r:id="rId34"/>
    <p:sldId id="398" r:id="rId35"/>
    <p:sldId id="425" r:id="rId36"/>
    <p:sldId id="338" r:id="rId37"/>
    <p:sldId id="395" r:id="rId38"/>
    <p:sldId id="396" r:id="rId39"/>
    <p:sldId id="306" r:id="rId40"/>
    <p:sldId id="265" r:id="rId4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12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(ID)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se elas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 rotWithShape="0">
                <a:blip r:embed="rId3"/>
                <a:stretch>
                  <a:fillRect l="-1473" t="-1937" r="-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apenas 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otimizar o </a:t>
            </a:r>
            <a:r>
              <a:rPr lang="pt-BR" dirty="0" err="1"/>
              <a:t>hiperparâmetro</a:t>
            </a:r>
            <a:r>
              <a:rPr lang="pt-BR" dirty="0"/>
              <a:t> que define o número de </a:t>
            </a:r>
            <a:r>
              <a:rPr lang="pt-BR" i="1" dirty="0"/>
              <a:t>clusters</a:t>
            </a:r>
            <a:r>
              <a:rPr lang="pt-BR" dirty="0"/>
              <a:t>, dentre eles, o mais usado é o método do cotovelo.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 rotWithShape="0"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centroide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escolher pontos muito próximos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Rodar várias vezes e escolher o melhor resultado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b="1" dirty="0">
                    <a:solidFill>
                      <a:srgbClr val="7030A0"/>
                    </a:solidFill>
                  </a:rPr>
                  <a:t>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centroide define uma região e as amostras são distribuídas com base nisso.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  <a:blipFill>
                <a:blip r:embed="rId2"/>
                <a:stretch>
                  <a:fillRect l="-1579" t="-1937" r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080" y="1825624"/>
            <a:ext cx="672592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Se os centroides iniciais mudam: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completamente a divisão inicial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quais amostras vão para qual </a:t>
            </a:r>
            <a:r>
              <a:rPr lang="pt-BR" i="1" dirty="0"/>
              <a:t>cluster</a:t>
            </a:r>
            <a:r>
              <a:rPr lang="pt-BR" dirty="0"/>
              <a:t> no início.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convergir para agrupamentos diferentes para cada execução.</a:t>
            </a:r>
          </a:p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depende dos centroides iniciais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Todo o processo depende do ponto de partida.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420189" y="249695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</p:spPr>
            <p:txBody>
              <a:bodyPr/>
              <a:lstStyle/>
              <a:p>
                <a:r>
                  <a:rPr lang="pt-BR" dirty="0"/>
                  <a:t>O método busca o ponto onde </a:t>
                </a:r>
                <a:r>
                  <a:rPr lang="pt-BR" b="1" dirty="0"/>
                  <a:t>a melhoria do aumento de </a:t>
                </a:r>
                <a:r>
                  <a:rPr lang="pt-BR" b="1" i="1" dirty="0"/>
                  <a:t>clusters</a:t>
                </a:r>
                <a:r>
                  <a:rPr lang="pt-BR" b="1" dirty="0"/>
                  <a:t> começa a diminuir significativamente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sempre melhora o ajuste, mas chega um ponto em que o ganho é </a:t>
                </a:r>
                <a:r>
                  <a:rPr lang="pt-BR" b="1" dirty="0"/>
                  <a:t>marginal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No limite,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igual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</a:t>
                </a:r>
                <a:r>
                  <a:rPr lang="en-US" dirty="0"/>
                  <a:t>a </a:t>
                </a:r>
                <a:r>
                  <a:rPr lang="en-US" dirty="0" err="1"/>
                  <a:t>inércia</a:t>
                </a:r>
                <a:r>
                  <a:rPr lang="en-US" dirty="0"/>
                  <a:t> é 0 (</a:t>
                </a:r>
                <a:r>
                  <a:rPr lang="en-US" dirty="0" err="1"/>
                  <a:t>mínima</a:t>
                </a:r>
                <a:r>
                  <a:rPr lang="en-US" dirty="0"/>
                  <a:t> </a:t>
                </a:r>
                <a:r>
                  <a:rPr lang="en-US" dirty="0" err="1"/>
                  <a:t>possível</a:t>
                </a:r>
                <a:r>
                  <a:rPr lang="en-US" dirty="0"/>
                  <a:t>), mas 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dirty="0" err="1"/>
                  <a:t>será</a:t>
                </a:r>
                <a:r>
                  <a:rPr lang="en-US" dirty="0"/>
                  <a:t> </a:t>
                </a:r>
                <a:r>
                  <a:rPr lang="en-US" dirty="0" err="1"/>
                  <a:t>extremamente</a:t>
                </a:r>
                <a:r>
                  <a:rPr lang="en-US" dirty="0"/>
                  <a:t> </a:t>
                </a:r>
                <a:r>
                  <a:rPr lang="en-US" dirty="0" err="1"/>
                  <a:t>complexo</a:t>
                </a:r>
                <a:r>
                  <a:rPr lang="en-US" dirty="0"/>
                  <a:t> (overfitting).</a:t>
                </a:r>
                <a:endParaRPr lang="pt-BR" dirty="0"/>
              </a:p>
              <a:p>
                <a:r>
                  <a:rPr lang="pt-BR" dirty="0"/>
                  <a:t>Esse ponto é o “</a:t>
                </a:r>
                <a:r>
                  <a:rPr lang="pt-BR" b="1" dirty="0"/>
                  <a:t>cotovelo” da curva.</a:t>
                </a:r>
              </a:p>
              <a:p>
                <a:r>
                  <a:rPr lang="pt-BR" dirty="0"/>
                  <a:t>Que métrica usamos para plotar a curva?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  <a:blipFill>
                <a:blip r:embed="rId2"/>
                <a:stretch>
                  <a:fillRect l="-169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Usa-se a soma dos quadrados </a:t>
                </a:r>
                <a:r>
                  <a:rPr lang="pt-BR" dirty="0" err="1"/>
                  <a:t>intra-</a:t>
                </a:r>
                <a:r>
                  <a:rPr lang="pt-BR" i="1" dirty="0" err="1"/>
                  <a:t>clusters</a:t>
                </a:r>
                <a:r>
                  <a:rPr lang="pt-BR" dirty="0"/>
                  <a:t>, também conhecida como 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quão “compactos”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melhor</a:t>
                </a: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890" t="-1937" r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Plota-se o valor da inércia para um intervalo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o quão próximos os pontos de um cluster estão do seu centroide.</a:t>
                </a:r>
              </a:p>
              <a:p>
                <a:r>
                  <a:rPr lang="pt-BR" dirty="0"/>
                  <a:t>Quanto menor a inércia, mais coesos são os </a:t>
                </a:r>
                <a:r>
                  <a:rPr lang="pt-BR" i="1" dirty="0"/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próximos entre si e do centroide.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1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cotovelo na curva.</a:t>
                </a:r>
              </a:p>
              <a:p>
                <a:r>
                  <a:rPr lang="pt-BR" dirty="0"/>
                  <a:t>Quando o cotovelo não é visível (transição suave), uma técnica comum é traçar uma reta conectando os pontos extremos da curva e identificar o ponto mais distante dessa reta como o "cotovelo" ideal.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DBSCAN: clusterização baseada em </a:t>
            </a:r>
            <a:r>
              <a:rPr lang="en-US" dirty="0" err="1"/>
              <a:t>densidade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são regiões </a:t>
            </a:r>
            <a:r>
              <a:rPr lang="pt-BR" b="1" dirty="0"/>
              <a:t>densas</a:t>
            </a:r>
            <a:r>
              <a:rPr lang="pt-BR" dirty="0"/>
              <a:t> separadas por regiões vazias.</a:t>
            </a:r>
          </a:p>
          <a:p>
            <a:r>
              <a:rPr lang="pt-BR" dirty="0"/>
              <a:t>HDBSCAN: Extensão do DBSCAN que constrói uma </a:t>
            </a:r>
            <a:r>
              <a:rPr lang="pt-BR" b="1" dirty="0"/>
              <a:t>hierarquia de densidades.</a:t>
            </a:r>
            <a:endParaRPr lang="pt-BR" dirty="0"/>
          </a:p>
          <a:p>
            <a:r>
              <a:rPr lang="pt-BR" i="1" dirty="0" err="1"/>
              <a:t>Gaussian</a:t>
            </a:r>
            <a:r>
              <a:rPr lang="pt-BR" i="1" dirty="0"/>
              <a:t> </a:t>
            </a:r>
            <a:r>
              <a:rPr lang="pt-BR" i="1" dirty="0" err="1"/>
              <a:t>mixtures</a:t>
            </a:r>
            <a:r>
              <a:rPr lang="pt-BR" dirty="0"/>
              <a:t>: Assume que os dados vêm de uma mistura de </a:t>
            </a:r>
            <a:r>
              <a:rPr lang="pt-BR" b="1" dirty="0"/>
              <a:t>distribuições gaussianas.</a:t>
            </a:r>
            <a:endParaRPr lang="en-US" dirty="0"/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61470-7062-5DCF-6407-C45E5BF6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detecção de anomalias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85168-BBA5-1819-2A3F-16AFDD60A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440" y="1825624"/>
            <a:ext cx="6512560" cy="5032375"/>
          </a:xfrm>
        </p:spPr>
        <p:txBody>
          <a:bodyPr>
            <a:normAutofit/>
          </a:bodyPr>
          <a:lstStyle/>
          <a:p>
            <a:r>
              <a:rPr lang="pt-BR" dirty="0"/>
              <a:t>Nessa aplicação, encontramos os centroides e a área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 área é definida por um valor de raio que faça com que 97% das amostras tenham distância ao centroide mais próximo menor ou igual a esse valor.</a:t>
            </a:r>
          </a:p>
          <a:p>
            <a:r>
              <a:rPr lang="pt-BR" dirty="0"/>
              <a:t>Uma amostra é classificada como anomalia se a distância entre ela e o centroide mais próximo for significativamente alta.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se ela estiver fora da área do </a:t>
            </a:r>
            <a:r>
              <a:rPr lang="pt-BR" i="1" dirty="0"/>
              <a:t>cluster</a:t>
            </a:r>
            <a:r>
              <a:rPr lang="pt-BR" dirty="0"/>
              <a:t>.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44AA9B-6E70-9E5C-102F-FC9BEDBA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519680"/>
            <a:ext cx="4258504" cy="326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29611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9424</TotalTime>
  <Words>3052</Words>
  <Application>Microsoft Office PowerPoint</Application>
  <PresentationFormat>Widescreen</PresentationFormat>
  <Paragraphs>253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PowerPoint Presentation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PowerPoint Presentation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PowerPoint Presentation</vt:lpstr>
      <vt:lpstr>Método do cotovelo</vt:lpstr>
      <vt:lpstr>Soma dos quadrados intra-clusters</vt:lpstr>
      <vt:lpstr>Soma dos quadrados intra-clusters</vt:lpstr>
      <vt:lpstr>Soma dos quadrados intra-clusters</vt:lpstr>
      <vt:lpstr>Outros algoritmos de clustering</vt:lpstr>
      <vt:lpstr>Aplicação: detecção de anomalias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860</cp:revision>
  <dcterms:created xsi:type="dcterms:W3CDTF">2020-04-06T23:46:10Z</dcterms:created>
  <dcterms:modified xsi:type="dcterms:W3CDTF">2026-04-10T14:32:12Z</dcterms:modified>
</cp:coreProperties>
</file>