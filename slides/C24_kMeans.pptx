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287" r:id="rId10"/>
    <p:sldId id="400" r:id="rId11"/>
    <p:sldId id="296" r:id="rId12"/>
    <p:sldId id="399" r:id="rId13"/>
    <p:sldId id="288" r:id="rId14"/>
    <p:sldId id="297" r:id="rId15"/>
    <p:sldId id="403" r:id="rId16"/>
    <p:sldId id="402" r:id="rId17"/>
    <p:sldId id="298" r:id="rId18"/>
    <p:sldId id="289" r:id="rId19"/>
    <p:sldId id="290" r:id="rId20"/>
    <p:sldId id="291" r:id="rId21"/>
    <p:sldId id="404" r:id="rId22"/>
    <p:sldId id="405" r:id="rId23"/>
    <p:sldId id="406" r:id="rId24"/>
    <p:sldId id="407" r:id="rId25"/>
    <p:sldId id="408" r:id="rId26"/>
    <p:sldId id="409" r:id="rId27"/>
    <p:sldId id="410" r:id="rId28"/>
    <p:sldId id="292" r:id="rId29"/>
    <p:sldId id="299" r:id="rId30"/>
    <p:sldId id="411" r:id="rId31"/>
    <p:sldId id="293" r:id="rId32"/>
    <p:sldId id="300" r:id="rId33"/>
    <p:sldId id="398" r:id="rId34"/>
    <p:sldId id="338" r:id="rId35"/>
    <p:sldId id="395" r:id="rId36"/>
    <p:sldId id="396" r:id="rId37"/>
    <p:sldId id="306" r:id="rId38"/>
    <p:sldId id="265" r:id="rId3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45" autoAdjust="0"/>
    <p:restoredTop sz="85351" autoAdjust="0"/>
  </p:normalViewPr>
  <p:slideViewPr>
    <p:cSldViewPr snapToGrid="0">
      <p:cViewPr varScale="1">
        <p:scale>
          <a:sx n="63" d="100"/>
          <a:sy n="63" d="100"/>
        </p:scale>
        <p:origin x="102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mtClean="0"/>
              <a:t>https://colab.research.google.com/github/zz4fap/tp557-iot-ml/blob/main/examples/k_means_centros_de_distribui%C3%A7%C3%A3o.ipynb</a:t>
            </a:r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7769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clustering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jpe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eg"/><Relationship Id="rId5" Type="http://schemas.openxmlformats.org/officeDocument/2006/relationships/image" Target="../media/image30.jpeg"/><Relationship Id="rId4" Type="http://schemas.openxmlformats.org/officeDocument/2006/relationships/image" Target="../media/image2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grupo mais próximo,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27637"/>
            <a:ext cx="11353801" cy="2830362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extrair estrutura e conhecimento de dados quando não existem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reproduzir como humanos organizam o mundo: agrupamos objetos por similaridade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xmlns="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xmlns="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xmlns="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similaridade</a:t>
            </a:r>
            <a:r>
              <a:rPr lang="pt-BR" dirty="0"/>
              <a:t> sem precisar de supervisão.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282335" y="5041169"/>
            <a:ext cx="422386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2" y="1825624"/>
            <a:ext cx="6814457" cy="5032375"/>
          </a:xfrm>
        </p:spPr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substituir milhões de pontos por alguns grupos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resumir dados complexos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features (cluster ID)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dimensionalidade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de aprendizado supervisionado</a:t>
            </a:r>
          </a:p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xmlns="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O algoritmo conhecido como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/>
            <a:r>
              <a:rPr lang="pt-BR" dirty="0"/>
              <a:t>Representa a "média" das amostras dentro do cluster.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visualizar dados multidimensionais.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</a:t>
                </a:r>
                <a:r>
                  <a:rPr lang="pt-BR" dirty="0" smtClean="0"/>
                  <a:t>se elas pertencem a um </a:t>
                </a:r>
                <a:r>
                  <a:rPr lang="pt-BR" i="1" dirty="0" smtClean="0"/>
                  <a:t>cluster</a:t>
                </a:r>
                <a:r>
                  <a:rPr lang="pt-BR" dirty="0" smtClean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aplicamos clusterização apenas a atributos numéricos.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 rotWithShape="0">
                <a:blip r:embed="rId3"/>
                <a:stretch>
                  <a:fillRect l="-1473" t="-1937" r="-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87F6E31-B0DF-F3EC-D348-0D4E93DD1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007CCEC-CA32-01B4-A9B5-F81A83FF3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</a:t>
            </a:r>
            <a:r>
              <a:rPr lang="pt-BR" sz="5400" b="1" dirty="0" err="1">
                <a:solidFill>
                  <a:srgbClr val="FF0000"/>
                </a:solidFill>
              </a:rPr>
              <a:t>AQUi</a:t>
            </a:r>
            <a:r>
              <a:rPr lang="pt-BR" sz="5400" b="1" dirty="0">
                <a:solidFill>
                  <a:srgbClr val="FF0000"/>
                </a:solidFill>
              </a:rPr>
              <a:t>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45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</a:t>
            </a:r>
            <a:r>
              <a:rPr lang="pt-BR" b="1" dirty="0" smtClean="0"/>
              <a:t>sobrepor</a:t>
            </a:r>
            <a:r>
              <a:rPr lang="pt-BR" dirty="0" smtClean="0"/>
              <a:t>.</a:t>
            </a:r>
          </a:p>
          <a:p>
            <a:r>
              <a:rPr lang="pt-BR" b="1" dirty="0" smtClean="0">
                <a:solidFill>
                  <a:srgbClr val="00B050"/>
                </a:solidFill>
              </a:rPr>
              <a:t>Cada amostra </a:t>
            </a:r>
            <a:r>
              <a:rPr lang="pt-BR" dirty="0" smtClean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um e </a:t>
            </a:r>
            <a:r>
              <a:rPr lang="pt-BR" b="1" dirty="0" smtClean="0">
                <a:solidFill>
                  <a:srgbClr val="00B050"/>
                </a:solidFill>
              </a:rPr>
              <a:t>apenas </a:t>
            </a:r>
            <a:r>
              <a:rPr lang="pt-BR" b="1" dirty="0">
                <a:solidFill>
                  <a:srgbClr val="00B050"/>
                </a:solidFill>
              </a:rPr>
              <a:t>um </a:t>
            </a:r>
            <a:r>
              <a:rPr lang="pt-BR" b="1" i="1" dirty="0">
                <a:solidFill>
                  <a:srgbClr val="00B050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</a:t>
            </a:r>
            <a:r>
              <a:rPr lang="pt-BR" dirty="0" smtClean="0"/>
              <a:t>as </a:t>
            </a:r>
            <a:r>
              <a:rPr lang="pt-BR" b="1" dirty="0" smtClean="0">
                <a:solidFill>
                  <a:srgbClr val="0070C0"/>
                </a:solidFill>
              </a:rPr>
              <a:t>amostras </a:t>
            </a:r>
            <a:r>
              <a:rPr lang="pt-BR" dirty="0" smtClean="0"/>
              <a:t>devem </a:t>
            </a:r>
            <a:r>
              <a:rPr lang="pt-BR" dirty="0"/>
              <a:t>estar relativamente </a:t>
            </a:r>
            <a:r>
              <a:rPr lang="pt-BR" b="1" dirty="0">
                <a:solidFill>
                  <a:srgbClr val="0070C0"/>
                </a:solidFill>
              </a:rPr>
              <a:t>próximos</a:t>
            </a:r>
            <a:r>
              <a:rPr lang="pt-BR" dirty="0"/>
              <a:t> </a:t>
            </a:r>
            <a:r>
              <a:rPr lang="pt-BR" dirty="0" smtClean="0"/>
              <a:t>umas das outras </a:t>
            </a:r>
            <a:r>
              <a:rPr lang="pt-BR" dirty="0"/>
              <a:t>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</a:t>
            </a:r>
            <a:r>
              <a:rPr lang="pt-BR" dirty="0" smtClean="0"/>
              <a:t>das </a:t>
            </a:r>
            <a:r>
              <a:rPr lang="pt-BR" b="1" dirty="0" smtClean="0">
                <a:solidFill>
                  <a:srgbClr val="7030A0"/>
                </a:solidFill>
              </a:rPr>
              <a:t>amostras dos </a:t>
            </a:r>
            <a:r>
              <a:rPr lang="pt-BR" b="1" dirty="0">
                <a:solidFill>
                  <a:srgbClr val="7030A0"/>
                </a:solidFill>
              </a:rPr>
              <a:t>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</a:t>
            </a:r>
            <a:r>
              <a:rPr lang="pt-BR" dirty="0" smtClean="0"/>
              <a:t>dados contém</a:t>
            </a:r>
            <a:r>
              <a:rPr lang="pt-BR" dirty="0"/>
              <a:t>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141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306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130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19C974-9A37-ED60-45B8-7CF90E038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12A04D-0F4A-CB81-D7DF-C4B0B1316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000" b="1" dirty="0">
                <a:solidFill>
                  <a:srgbClr val="FF0000"/>
                </a:solidFill>
              </a:rPr>
              <a:t>Quais as formas usadas para definir o melhor número de </a:t>
            </a:r>
            <a:r>
              <a:rPr lang="pt-BR" sz="6000" b="1" dirty="0" err="1">
                <a:solidFill>
                  <a:srgbClr val="FF0000"/>
                </a:solidFill>
              </a:rPr>
              <a:t>clsuters</a:t>
            </a:r>
            <a:r>
              <a:rPr lang="pt-BR" sz="6000" b="1" dirty="0">
                <a:solidFill>
                  <a:srgbClr val="FF0000"/>
                </a:solidFill>
              </a:rPr>
              <a:t>???</a:t>
            </a:r>
            <a:endParaRPr lang="en-US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513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1FCDFA83-D279-17E3-E2CD-6E304EAF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28" y="1825624"/>
            <a:ext cx="6422571" cy="5032375"/>
          </a:xfrm>
        </p:spPr>
        <p:txBody>
          <a:bodyPr>
            <a:normAutofit/>
          </a:bodyPr>
          <a:lstStyle/>
          <a:p>
            <a:r>
              <a:rPr lang="pt-BR" dirty="0"/>
              <a:t>Algoritmos para identificação de </a:t>
            </a:r>
            <a:r>
              <a:rPr lang="pt-BR" i="1" dirty="0"/>
              <a:t>clusters</a:t>
            </a:r>
            <a:r>
              <a:rPr lang="pt-BR" dirty="0"/>
              <a:t> geralmente precisam de uma </a:t>
            </a:r>
            <a:r>
              <a:rPr lang="pt-BR" b="1" dirty="0">
                <a:solidFill>
                  <a:srgbClr val="7030A0"/>
                </a:solidFill>
              </a:rPr>
              <a:t>métrica para avaliar a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b="1" dirty="0">
                <a:solidFill>
                  <a:srgbClr val="7030A0"/>
                </a:solidFill>
              </a:rPr>
              <a:t> entre um exemplo e o centroide</a:t>
            </a:r>
            <a:r>
              <a:rPr lang="pt-BR" dirty="0"/>
              <a:t> de um cluster. </a:t>
            </a:r>
          </a:p>
          <a:p>
            <a:r>
              <a:rPr lang="pt-BR" dirty="0"/>
              <a:t>Uma forma de fazer isso quando os atributos são </a:t>
            </a:r>
            <a:r>
              <a:rPr lang="pt-BR" b="1" dirty="0">
                <a:solidFill>
                  <a:schemeClr val="accent5"/>
                </a:solidFill>
              </a:rPr>
              <a:t>contínuos ou discretos </a:t>
            </a:r>
            <a:r>
              <a:rPr lang="pt-BR" dirty="0"/>
              <a:t>é usar a </a:t>
            </a:r>
            <a:r>
              <a:rPr lang="pt-BR" b="1" dirty="0">
                <a:solidFill>
                  <a:srgbClr val="00B050"/>
                </a:solidFill>
              </a:rPr>
              <a:t>distância euclidiana </a:t>
            </a:r>
            <a:r>
              <a:rPr lang="pt-BR" dirty="0"/>
              <a:t>entre os dois vetores.</a:t>
            </a:r>
          </a:p>
        </p:txBody>
      </p:sp>
      <p:pic>
        <p:nvPicPr>
          <p:cNvPr id="307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EE37D2FB-B661-E3F3-5FAE-2D65997FAF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838200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smtClean="0"/>
                  <a:t>dados com </a:t>
                </a:r>
                <a:r>
                  <a:rPr lang="pt-BR" dirty="0"/>
                  <a:t>atributos contínuos e discretos ou uma mistura com categóricos, usamos uma equação mais geral para calcular as distâncias: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ra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para atributos contínuos e discretos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pt-BR" b="0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para atributos categóricos, mas transformados em </a:t>
                </a:r>
                <a:r>
                  <a:rPr lang="pt-BR" dirty="0" smtClean="0"/>
                  <a:t>numéricos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2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238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cluster um exemplo deve pertencer?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 exemplo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, um dos algoritmos de clusterização (i.e., identificação de clusters) mais simples.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  <a:blipFill rotWithShape="0">
                <a:blip r:embed="rId2"/>
                <a:stretch>
                  <a:fillRect l="-948" t="-207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</a:t>
                </a:r>
                <a:r>
                  <a:rPr lang="pt-BR" dirty="0"/>
                  <a:t>é </a:t>
                </a:r>
                <a:r>
                  <a:rPr lang="pt-BR" dirty="0" smtClean="0"/>
                  <a:t>um parâmetro </a:t>
                </a:r>
                <a:r>
                  <a:rPr lang="pt-BR" dirty="0"/>
                  <a:t>definido pelo usuário </a:t>
                </a:r>
                <a:r>
                  <a:rPr lang="pt-BR" dirty="0" smtClean="0"/>
                  <a:t>e define o</a:t>
                </a:r>
                <a:r>
                  <a:rPr lang="pt-BR" dirty="0" smtClean="0"/>
                  <a:t> número de </a:t>
                </a:r>
                <a:r>
                  <a:rPr lang="pt-BR" i="1" dirty="0" smtClean="0"/>
                  <a:t>clusters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 </a:t>
                </a:r>
                <a:r>
                  <a:rPr lang="pt-BR" dirty="0"/>
                  <a:t>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 smtClean="0"/>
              </a:p>
              <a:p>
                <a:r>
                  <a:rPr lang="pt-BR" dirty="0" smtClean="0"/>
                  <a:t>O </a:t>
                </a:r>
                <a:r>
                  <a:rPr lang="pt-BR" dirty="0"/>
                  <a:t>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e atribua cada exemplo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 smtClean="0"/>
                  <a:t>cluster</a:t>
                </a:r>
                <a:r>
                  <a:rPr lang="pt-BR" dirty="0" smtClean="0"/>
                  <a:t>*.</a:t>
                </a:r>
                <a:endParaRPr lang="pt-BR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 rotWithShape="0"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Funcionamento do </a:t>
            </a:r>
            <a:r>
              <a:rPr lang="pt-BR" i="1" dirty="0" smtClean="0"/>
              <a:t>k-</a:t>
            </a:r>
            <a:r>
              <a:rPr lang="pt-BR" i="1" dirty="0" err="1" smtClean="0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xmlns="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centroide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xmlns="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1" i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de um exemplo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  <a:blipFill>
                <a:blip r:embed="rId2"/>
                <a:stretch>
                  <a:fillRect l="-1619" t="-1937" r="-2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570022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Método do cotovelo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293186" y="1825624"/>
            <a:ext cx="4898814" cy="5032375"/>
          </a:xfrm>
        </p:spPr>
        <p:txBody>
          <a:bodyPr>
            <a:normAutofit fontScale="32500" lnSpcReduction="20000"/>
          </a:bodyPr>
          <a:lstStyle/>
          <a:p>
            <a:r>
              <a:rPr lang="pt-BR" dirty="0"/>
              <a:t>Essa abordagem utiliza a Soma dos Quadrados </a:t>
            </a:r>
            <a:r>
              <a:rPr lang="pt-BR" dirty="0" err="1"/>
              <a:t>Intra-Clusters</a:t>
            </a:r>
            <a:r>
              <a:rPr lang="pt-BR" dirty="0"/>
              <a:t> (WSS - </a:t>
            </a:r>
            <a:r>
              <a:rPr lang="pt-BR" dirty="0" err="1"/>
              <a:t>Within</a:t>
            </a:r>
            <a:r>
              <a:rPr lang="pt-BR" dirty="0"/>
              <a:t>-Cluster Sum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Squares</a:t>
            </a:r>
            <a:r>
              <a:rPr lang="pt-BR" dirty="0"/>
              <a:t>), também conhecido como inércia, e analisa a curva de WSS em função de</a:t>
            </a:r>
          </a:p>
          <a:p>
            <a:r>
              <a:rPr lang="pt-BR" dirty="0"/>
              <a:t>$k$.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 curva quantifica o quão próximos os pontos de um cluster estão do seu </a:t>
            </a:r>
            <a:r>
              <a:rPr lang="pt-BR" dirty="0" err="1"/>
              <a:t>centróide</a:t>
            </a:r>
            <a:r>
              <a:rPr lang="pt-BR" dirty="0"/>
              <a:t> (centro do cluster).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Quanto menor o WSS, mais coesos são os clusters (os pontos dentro de um cluster estão fortemente agrupados, próximos entre si e do </a:t>
            </a:r>
            <a:r>
              <a:rPr lang="pt-BR" dirty="0" err="1"/>
              <a:t>centróide</a:t>
            </a:r>
            <a:r>
              <a:rPr lang="pt-BR" dirty="0"/>
              <a:t>).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 equação do </a:t>
            </a:r>
            <a:r>
              <a:rPr lang="pt-BR" b="1" dirty="0"/>
              <a:t>**</a:t>
            </a:r>
            <a:r>
              <a:rPr lang="pt-BR" b="1" dirty="0" err="1"/>
              <a:t>Within</a:t>
            </a:r>
            <a:r>
              <a:rPr lang="pt-BR" b="1" dirty="0"/>
              <a:t>-Cluster Sum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Squares</a:t>
            </a:r>
            <a:r>
              <a:rPr lang="pt-BR" b="1" dirty="0"/>
              <a:t> (WSS)**</a:t>
            </a:r>
            <a:r>
              <a:rPr lang="pt-BR" dirty="0"/>
              <a:t> é:</a:t>
            </a:r>
          </a:p>
          <a:p>
            <a:r>
              <a:rPr lang="pt-BR" dirty="0"/>
              <a:t>$$WSS = \sum</a:t>
            </a:r>
            <a:r>
              <a:rPr lang="pt-BR" i="1" dirty="0"/>
              <a:t>_{i=1}^{k} \sum_</a:t>
            </a:r>
            <a:r>
              <a:rPr lang="pt-BR" dirty="0"/>
              <a:t>{x \in </a:t>
            </a:r>
            <a:r>
              <a:rPr lang="pt-BR" dirty="0" err="1"/>
              <a:t>C_i</a:t>
            </a:r>
            <a:r>
              <a:rPr lang="pt-BR" dirty="0"/>
              <a:t>} \|x - \</a:t>
            </a:r>
            <a:r>
              <a:rPr lang="pt-BR" dirty="0" err="1"/>
              <a:t>mu_i</a:t>
            </a:r>
            <a:r>
              <a:rPr lang="pt-BR" dirty="0"/>
              <a:t>\|^2$$,</a:t>
            </a:r>
          </a:p>
          <a:p>
            <a:r>
              <a:rPr lang="pt-BR" dirty="0"/>
              <a:t>onde:</a:t>
            </a:r>
          </a:p>
          <a:p>
            <a:r>
              <a:rPr lang="pt-BR" dirty="0"/>
              <a:t>- $k$ -&gt; número de clusters,</a:t>
            </a:r>
          </a:p>
          <a:p>
            <a:r>
              <a:rPr lang="pt-BR" dirty="0"/>
              <a:t>- $</a:t>
            </a:r>
            <a:r>
              <a:rPr lang="pt-BR" dirty="0" err="1"/>
              <a:t>C_i</a:t>
            </a:r>
            <a:r>
              <a:rPr lang="pt-BR" dirty="0"/>
              <a:t>$ -&gt; conjunto de pontos no cluster \( i \),</a:t>
            </a:r>
          </a:p>
          <a:p>
            <a:r>
              <a:rPr lang="pt-BR" dirty="0"/>
              <a:t>- $</a:t>
            </a:r>
            <a:r>
              <a:rPr lang="pt-BR" dirty="0" err="1"/>
              <a:t>mu_i</a:t>
            </a:r>
            <a:r>
              <a:rPr lang="pt-BR" dirty="0"/>
              <a:t>$ = </a:t>
            </a:r>
            <a:r>
              <a:rPr lang="pt-BR" dirty="0" err="1"/>
              <a:t>centróide</a:t>
            </a:r>
            <a:r>
              <a:rPr lang="pt-BR" dirty="0"/>
              <a:t> (média) do cluster \( i \),</a:t>
            </a:r>
          </a:p>
          <a:p>
            <a:r>
              <a:rPr lang="pt-BR" dirty="0"/>
              <a:t>- $ \|x - \</a:t>
            </a:r>
            <a:r>
              <a:rPr lang="pt-BR" dirty="0" err="1"/>
              <a:t>mu_i</a:t>
            </a:r>
            <a:r>
              <a:rPr lang="pt-BR" dirty="0"/>
              <a:t>\|^2 $ -&gt; distância quadrada (Euclidiana) entre um ponto $x$ e seu </a:t>
            </a:r>
            <a:r>
              <a:rPr lang="pt-BR" dirty="0" err="1"/>
              <a:t>centróide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b="1" dirty="0"/>
              <a:t>**O objetivo é encontrar um $k$ onde aumentar o número de clusters não reduz significativamente o WSS. Isso ocorre a partir do cotovelo da curva.**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Assim, o valor ideal de $k$ é encontrando localizando-se o cotovelo na curva.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Quando o cotovelo na curva não é claramente visível, uma técnica comum é traçar uma reta conectando os pontos extremos da curva e identificar o ponto mais distante dessa reta como o "cotovelo" ideal.</a:t>
            </a:r>
          </a:p>
          <a:p>
            <a:endParaRPr lang="pt-BR" dirty="0"/>
          </a:p>
        </p:txBody>
      </p:sp>
      <p:pic>
        <p:nvPicPr>
          <p:cNvPr id="4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xmlns="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6699" y="2565319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963" y="3894857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2084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clusters que maximiza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</a:t>
            </a:r>
          </a:p>
          <a:p>
            <a:r>
              <a:rPr lang="pt-BR" dirty="0"/>
              <a:t>HDBSCAN</a:t>
            </a:r>
          </a:p>
          <a:p>
            <a:r>
              <a:rPr lang="pt-BR" dirty="0" err="1"/>
              <a:t>Gaussian</a:t>
            </a:r>
            <a:r>
              <a:rPr lang="pt-BR" dirty="0"/>
              <a:t> </a:t>
            </a:r>
            <a:r>
              <a:rPr lang="pt-BR" dirty="0" err="1"/>
              <a:t>mixtrures</a:t>
            </a:r>
            <a:endParaRPr lang="pt-BR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9265</TotalTime>
  <Words>2604</Words>
  <Application>Microsoft Office PowerPoint</Application>
  <PresentationFormat>Widescreen</PresentationFormat>
  <Paragraphs>276</Paragraphs>
  <Slides>38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Apresentação do PowerPoint</vt:lpstr>
      <vt:lpstr>Motivação</vt:lpstr>
      <vt:lpstr>Motivação</vt:lpstr>
      <vt:lpstr>Motivação</vt:lpstr>
      <vt:lpstr>Identificação de clusters</vt:lpstr>
      <vt:lpstr>Aplicações</vt:lpstr>
      <vt:lpstr>Como representar os clusters?</vt:lpstr>
      <vt:lpstr>Centroide</vt:lpstr>
      <vt:lpstr>Como representar os clusters?</vt:lpstr>
      <vt:lpstr>Apresentação do PowerPoint</vt:lpstr>
      <vt:lpstr>Quantos devem ser os clusters?</vt:lpstr>
      <vt:lpstr>Quantos devem ser os clusters?</vt:lpstr>
      <vt:lpstr>Quantos devem ser os clusters?</vt:lpstr>
      <vt:lpstr>Apresentação do PowerPoint</vt:lpstr>
      <vt:lpstr>Medindo distâncias</vt:lpstr>
      <vt:lpstr>Medindo distâncias</vt:lpstr>
      <vt:lpstr>A qual cluster um exemplo deve pertencer?</vt:lpstr>
      <vt:lpstr>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Método do cotovelo</vt:lpstr>
      <vt:lpstr>SciKit-Learn: k-Means</vt:lpstr>
      <vt:lpstr>Como escolher o número ideal de clusters?</vt:lpstr>
      <vt:lpstr>Outros algoritmos de clustering</vt:lpstr>
      <vt:lpstr>Exemplo</vt:lpstr>
      <vt:lpstr>Lista de exercícios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826</cp:revision>
  <dcterms:created xsi:type="dcterms:W3CDTF">2020-04-06T23:46:10Z</dcterms:created>
  <dcterms:modified xsi:type="dcterms:W3CDTF">2026-04-06T01:01:13Z</dcterms:modified>
</cp:coreProperties>
</file>