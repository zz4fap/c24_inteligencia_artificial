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84" r:id="rId3"/>
    <p:sldId id="397" r:id="rId4"/>
    <p:sldId id="258" r:id="rId5"/>
    <p:sldId id="294" r:id="rId6"/>
    <p:sldId id="286" r:id="rId7"/>
    <p:sldId id="285" r:id="rId8"/>
    <p:sldId id="401" r:id="rId9"/>
    <p:sldId id="426" r:id="rId10"/>
    <p:sldId id="287" r:id="rId11"/>
    <p:sldId id="400" r:id="rId12"/>
    <p:sldId id="296" r:id="rId13"/>
    <p:sldId id="413" r:id="rId14"/>
    <p:sldId id="414" r:id="rId15"/>
    <p:sldId id="415" r:id="rId16"/>
    <p:sldId id="298" r:id="rId17"/>
    <p:sldId id="290" r:id="rId18"/>
    <p:sldId id="291" r:id="rId19"/>
    <p:sldId id="417" r:id="rId20"/>
    <p:sldId id="404" r:id="rId21"/>
    <p:sldId id="405" r:id="rId22"/>
    <p:sldId id="406" r:id="rId23"/>
    <p:sldId id="407" r:id="rId24"/>
    <p:sldId id="408" r:id="rId25"/>
    <p:sldId id="409" r:id="rId26"/>
    <p:sldId id="410" r:id="rId27"/>
    <p:sldId id="292" r:id="rId28"/>
    <p:sldId id="299" r:id="rId29"/>
    <p:sldId id="419" r:id="rId30"/>
    <p:sldId id="420" r:id="rId31"/>
    <p:sldId id="421" r:id="rId32"/>
    <p:sldId id="422" r:id="rId33"/>
    <p:sldId id="423" r:id="rId34"/>
    <p:sldId id="424" r:id="rId35"/>
    <p:sldId id="398" r:id="rId36"/>
    <p:sldId id="425" r:id="rId37"/>
    <p:sldId id="338" r:id="rId38"/>
    <p:sldId id="395" r:id="rId39"/>
    <p:sldId id="396" r:id="rId40"/>
    <p:sldId id="306" r:id="rId41"/>
    <p:sldId id="265" r:id="rId4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45" autoAdjust="0"/>
    <p:restoredTop sz="85351" autoAdjust="0"/>
  </p:normalViewPr>
  <p:slideViewPr>
    <p:cSldViewPr snapToGrid="0">
      <p:cViewPr varScale="1">
        <p:scale>
          <a:sx n="63" d="100"/>
          <a:sy n="63" d="100"/>
        </p:scale>
        <p:origin x="102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93322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FE637E2-97BB-CFD3-DBB7-5EC561A4F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4ED7BD22-361E-0DCE-46D8-42A9C128E5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845AE5E-1008-C289-F444-04515B31A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descobrir propriedades úteis dos dados disponíveis</a:t>
            </a:r>
            <a:r>
              <a:rPr lang="pt-BR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4C5BAB2-4C6F-96F0-D4ED-0C66FFB487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2982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</a:t>
            </a:r>
            <a:r>
              <a:rPr lang="pt-BR" b="1" dirty="0"/>
              <a:t>clusterização</a:t>
            </a:r>
            <a:r>
              <a:rPr lang="pt-BR" dirty="0"/>
              <a:t>, um </a:t>
            </a:r>
            <a:r>
              <a:rPr lang="pt-BR" b="1" dirty="0"/>
              <a:t>centroide</a:t>
            </a:r>
            <a:r>
              <a:rPr lang="pt-BR" dirty="0"/>
              <a:t> é o ponto central de um grupo (cluster) de dados. Ele representa a "média" das amostras dentro do cluster, sendo um ponto de referência que pode ser usado para definir a posição do cluster no espaço de características.</a:t>
            </a:r>
          </a:p>
          <a:p>
            <a:r>
              <a:rPr lang="pt-BR" b="1" dirty="0"/>
              <a:t>Características principais: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é geralmente calculado como a </a:t>
            </a:r>
            <a:r>
              <a:rPr lang="pt-BR" b="1" dirty="0"/>
              <a:t>média aritmética</a:t>
            </a:r>
            <a:r>
              <a:rPr lang="pt-BR" dirty="0"/>
              <a:t> das coordenadas de todos os pontos do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No caso de algoritmos como </a:t>
            </a:r>
            <a:r>
              <a:rPr lang="pt-BR" b="1" dirty="0"/>
              <a:t>K-</a:t>
            </a:r>
            <a:r>
              <a:rPr lang="pt-BR" b="1" dirty="0" err="1"/>
              <a:t>Means</a:t>
            </a:r>
            <a:r>
              <a:rPr lang="pt-BR" dirty="0"/>
              <a:t>, os centroides são ajustados iterativamente até que os clusters se estabilizem ou atinjam um critério de parada.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</a:t>
            </a:r>
            <a:r>
              <a:rPr lang="pt-BR" b="1" dirty="0"/>
              <a:t>não precisa ser um ponto real</a:t>
            </a:r>
            <a:r>
              <a:rPr lang="pt-BR" dirty="0"/>
              <a:t> no conjunto de dados; ele pode estar em uma posição intermediária entre os pontos.</a:t>
            </a:r>
          </a:p>
          <a:p>
            <a:r>
              <a:rPr lang="pt-BR" b="1" dirty="0"/>
              <a:t>Cálculo do centroide:</a:t>
            </a:r>
          </a:p>
          <a:p>
            <a:r>
              <a:rPr lang="pt-BR" dirty="0"/>
              <a:t>Se o cluster contém </a:t>
            </a:r>
            <a:r>
              <a:rPr lang="pt-BR" dirty="0" err="1"/>
              <a:t>nn</a:t>
            </a:r>
            <a:r>
              <a:rPr lang="pt-BR" dirty="0"/>
              <a:t> pontos de dimensão </a:t>
            </a:r>
            <a:r>
              <a:rPr lang="pt-BR" dirty="0" err="1"/>
              <a:t>dd</a:t>
            </a:r>
            <a:r>
              <a:rPr lang="pt-BR" dirty="0"/>
              <a:t>, as coordenadas do centroide são calculadas como:</a:t>
            </a:r>
          </a:p>
          <a:p>
            <a:r>
              <a:rPr lang="pt-BR" dirty="0"/>
              <a:t>Centroide=(1n∑i=1nxi1,1n∑i=1nxi2,…,1n∑i=1nxid)\</a:t>
            </a:r>
            <a:r>
              <a:rPr lang="pt-BR" dirty="0" err="1"/>
              <a:t>text</a:t>
            </a:r>
            <a:r>
              <a:rPr lang="pt-BR" dirty="0"/>
              <a:t>{Centroide} = \</a:t>
            </a:r>
            <a:r>
              <a:rPr lang="pt-BR" dirty="0" err="1"/>
              <a:t>left</a:t>
            </a:r>
            <a:r>
              <a:rPr lang="pt-BR" dirty="0"/>
              <a:t>( \</a:t>
            </a:r>
            <a:r>
              <a:rPr lang="pt-BR" dirty="0" err="1"/>
              <a:t>frac</a:t>
            </a:r>
            <a:r>
              <a:rPr lang="pt-BR" dirty="0"/>
              <a:t>{1}{n} \sum_{i=1}^{n} x_{i1}, \</a:t>
            </a:r>
            <a:r>
              <a:rPr lang="pt-BR" dirty="0" err="1"/>
              <a:t>frac</a:t>
            </a:r>
            <a:r>
              <a:rPr lang="pt-BR" dirty="0"/>
              <a:t>{1}{n} \sum_{i=1}^{n} x_{i2}, \</a:t>
            </a:r>
            <a:r>
              <a:rPr lang="pt-BR" dirty="0" err="1"/>
              <a:t>ldots</a:t>
            </a:r>
            <a:r>
              <a:rPr lang="pt-BR" dirty="0"/>
              <a:t>, \</a:t>
            </a:r>
            <a:r>
              <a:rPr lang="pt-BR" dirty="0" err="1"/>
              <a:t>frac</a:t>
            </a:r>
            <a:r>
              <a:rPr lang="pt-BR" dirty="0"/>
              <a:t>{1}{n} \sum_{i=1}^{n} x_{id} \</a:t>
            </a:r>
            <a:r>
              <a:rPr lang="pt-BR" dirty="0" err="1"/>
              <a:t>right</a:t>
            </a:r>
            <a:r>
              <a:rPr lang="pt-BR" dirty="0"/>
              <a:t>) </a:t>
            </a:r>
            <a:r>
              <a:rPr lang="pt-BR" b="1" dirty="0"/>
              <a:t>Aplicações: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Serve como ponto de referência para determinar quais amostras pertencem a um cluster (calculando distâncias em algoritmos como K-</a:t>
            </a:r>
            <a:r>
              <a:rPr lang="pt-BR" dirty="0" err="1"/>
              <a:t>Means</a:t>
            </a:r>
            <a:r>
              <a:rPr lang="pt-BR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Ajuda na interpretação dos clusters ao indicar a "localização média" de seus elementos.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Em algoritmos baseados em densidade, como </a:t>
            </a:r>
            <a:r>
              <a:rPr lang="pt-BR" b="1" dirty="0"/>
              <a:t>DBSCAN</a:t>
            </a:r>
            <a:r>
              <a:rPr lang="pt-BR" dirty="0"/>
              <a:t>, o conceito de centroide pode não ser tão relevante, já que esses métodos não dependem de cálculos baseados na média dos pontos, mas na densidade local.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</a:t>
            </a:r>
            <a:r>
              <a:rPr lang="pt-BR" dirty="0" err="1"/>
              <a:t>entros</a:t>
            </a:r>
            <a:r>
              <a:rPr lang="pt-BR" dirty="0"/>
              <a:t> para redes Bayesianas ou de </a:t>
            </a:r>
            <a:r>
              <a:rPr lang="en-US" dirty="0" err="1"/>
              <a:t>Função</a:t>
            </a:r>
            <a:r>
              <a:rPr lang="en-US" dirty="0"/>
              <a:t> de base radial (</a:t>
            </a:r>
            <a:r>
              <a:rPr lang="pt-BR" dirty="0"/>
              <a:t>RBF): Os classificadores bayesianos e as redes de função de base radial operam com centros,</a:t>
            </a:r>
            <a:r>
              <a:rPr lang="pt-BR" baseline="0" dirty="0"/>
              <a:t> pois utilizam distribuições gaussianas. </a:t>
            </a:r>
            <a:r>
              <a:rPr lang="pt-BR" dirty="0"/>
              <a:t>Geralmente, os centros são identificados com os vetores de atributos dos exemplos individuais.</a:t>
            </a:r>
            <a:r>
              <a:rPr lang="pt-BR" baseline="0" dirty="0"/>
              <a:t> </a:t>
            </a:r>
            <a:r>
              <a:rPr lang="pt-BR" dirty="0"/>
              <a:t>No entanto, isso levaria a classificadores impraticavelmente grandes em domínios com milhões de exemplos. O engenheiro então prefere dividir o conjunto de treinamento em N clusters e identificar os centros gaussianos com os </a:t>
            </a:r>
            <a:r>
              <a:rPr lang="pt-BR" dirty="0" err="1"/>
              <a:t>centróides</a:t>
            </a:r>
            <a:r>
              <a:rPr lang="pt-BR" dirty="0"/>
              <a:t> dos clusters.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Estimativas de valores de atributos desconhecidos 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casos onde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alguns valores de atributos às vezes são desconhecidos.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forma simples de lidar com esta questão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usar 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estimativa do valor ausente como sendo a média ou o valor mais frequente de um determinado cluster.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Esta é uma abordagem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mais sólida porque usa mais informações sobre a natureza do domínio.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ferramentas de visualização de dados multidimensionais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Auxiliares para criação de classificadores mais simples: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conhecimento de clusters de dados pode ser útil no aprendizado supervisionado. É bastante comum que todos (ou quase todos) os exemplos em um cluster pertençam à mesma classe. Nesse caso, o desenvolvedor de um software de aprendizado supervisionado pode decidir primeiro identificar os clusters e depois rotular cada cluster (todos os exemplos que pertencem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ao cluster)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sua classe dominante.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886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67149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09F23C5-D79E-FEA4-B74E-098BF94B1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D909D08-D934-578A-D3C6-F349020FC9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854B9EF-FF47-6D40-8F4E-85E653BECF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Um outlier é uma observação anormal em relação ao conjunto de dados</a:t>
            </a:r>
            <a:r>
              <a:rPr lang="pt-BR" dirty="0"/>
              <a:t>, </a:t>
            </a:r>
          </a:p>
          <a:p>
            <a:endParaRPr lang="pt-BR" dirty="0"/>
          </a:p>
          <a:p>
            <a:r>
              <a:rPr lang="pt-BR" b="1" dirty="0"/>
              <a:t>Um padrão raro pode representar um comportamento legítimo, porém pouco frequente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3CC5A4E-3D9D-7285-8F3F-C33B2C50E4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14268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os atributos forem numéricos, o </a:t>
            </a:r>
            <a:r>
              <a:rPr lang="pt-BR" b="1" dirty="0">
                <a:solidFill>
                  <a:srgbClr val="7030A0"/>
                </a:solidFill>
              </a:rPr>
              <a:t>centroide</a:t>
            </a:r>
            <a:r>
              <a:rPr lang="pt-BR" dirty="0"/>
              <a:t> é obtido através das </a:t>
            </a:r>
            <a:r>
              <a:rPr lang="pt-BR" b="1" dirty="0">
                <a:solidFill>
                  <a:srgbClr val="00B050"/>
                </a:solidFill>
              </a:rPr>
              <a:t>médias individuais dos atributos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8582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75559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98F69D2-AA2F-1FAB-FC58-E17B9F051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BFA38404-D7C9-03F2-A7E5-10C0EFC8F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5A8313F1-5D52-52B4-46D0-20D6D6D51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Não se aplica clusterização a dados categóricos, mesmo que sejam ordinais:</a:t>
            </a:r>
          </a:p>
          <a:p>
            <a:r>
              <a:rPr lang="pt-BR" dirty="0"/>
              <a:t>Nós sabemos quem é maior ou menor, mas não “quanto maior” </a:t>
            </a:r>
          </a:p>
          <a:p>
            <a:r>
              <a:rPr lang="pt-BR" dirty="0"/>
              <a:t>Em dados ordinais, a diferença entre 1→2 pode não ser igual a 4→5</a:t>
            </a:r>
          </a:p>
          <a:p>
            <a:endParaRPr lang="pt-BR" dirty="0"/>
          </a:p>
          <a:p>
            <a:r>
              <a:rPr lang="pt-BR" b="1" dirty="0"/>
              <a:t>K-</a:t>
            </a:r>
            <a:r>
              <a:rPr lang="pt-BR" b="1" dirty="0" err="1"/>
              <a:t>prototypes</a:t>
            </a:r>
            <a:r>
              <a:rPr lang="pt-BR" dirty="0"/>
              <a:t> combina: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euclidiana (numérico)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de </a:t>
            </a:r>
            <a:r>
              <a:rPr lang="pt-BR" dirty="0" err="1"/>
              <a:t>Hamming</a:t>
            </a:r>
            <a:r>
              <a:rPr lang="pt-BR" dirty="0"/>
              <a:t> (categórico)</a:t>
            </a:r>
          </a:p>
          <a:p>
            <a:endParaRPr lang="pt-BR" dirty="0"/>
          </a:p>
          <a:p>
            <a:r>
              <a:rPr lang="pt-BR" b="1" dirty="0" err="1"/>
              <a:t>K-modes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 “moda” em vez de média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mede dissimilaridade por diferenças</a:t>
            </a:r>
          </a:p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8A95A6-CC49-168A-C37A-1C6EB3B932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58045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encerra o treinamento com base em </a:t>
            </a:r>
            <a:r>
              <a:rPr lang="pt-BR" b="1" dirty="0"/>
              <a:t>critérios de convergência</a:t>
            </a:r>
            <a:r>
              <a:rPr lang="pt-BR" dirty="0"/>
              <a:t> que indicam quando o algoritmo atingiu um estado estável ou suficiente para parar. Esses critérios incluem:</a:t>
            </a:r>
          </a:p>
          <a:p>
            <a:r>
              <a:rPr lang="pt-BR" b="1" dirty="0"/>
              <a:t>1. Estabilização dos Centroides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para quando os </a:t>
            </a:r>
            <a:r>
              <a:rPr lang="pt-BR" b="1" dirty="0"/>
              <a:t>centroides não se movem mais significativamente</a:t>
            </a:r>
            <a:r>
              <a:rPr lang="pt-BR" dirty="0"/>
              <a:t> entre iterações.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Concretamente, isso significa que os deslocamentos dos centroides são menores que um limite pré-definido (ϵ\</a:t>
            </a:r>
            <a:r>
              <a:rPr lang="pt-BR" dirty="0" err="1"/>
              <a:t>epsilon</a:t>
            </a:r>
            <a:r>
              <a:rPr lang="pt-BR" dirty="0"/>
              <a:t>).</a:t>
            </a:r>
          </a:p>
          <a:p>
            <a:r>
              <a:rPr lang="pt-BR" dirty="0"/>
              <a:t>∥novo centroide−antigo centroide∥&lt;ϵ\|\</a:t>
            </a:r>
            <a:r>
              <a:rPr lang="pt-BR" dirty="0" err="1"/>
              <a:t>text</a:t>
            </a:r>
            <a:r>
              <a:rPr lang="pt-BR" dirty="0"/>
              <a:t>{novo centroide} - \</a:t>
            </a:r>
            <a:r>
              <a:rPr lang="pt-BR" dirty="0" err="1"/>
              <a:t>text</a:t>
            </a:r>
            <a:r>
              <a:rPr lang="pt-BR" dirty="0"/>
              <a:t>{antigo centroide}\| &lt; \</a:t>
            </a:r>
            <a:r>
              <a:rPr lang="pt-BR" dirty="0" err="1"/>
              <a:t>epsilon</a:t>
            </a:r>
            <a:r>
              <a:rPr lang="pt-BR" dirty="0"/>
              <a:t> </a:t>
            </a:r>
            <a:r>
              <a:rPr lang="pt-BR" b="1" dirty="0"/>
              <a:t>2. Estabilização das Atribuições de Cluster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 os pontos não mudarem de cluster entre iterações, o K-</a:t>
            </a:r>
            <a:r>
              <a:rPr lang="pt-BR" dirty="0" err="1"/>
              <a:t>Means</a:t>
            </a:r>
            <a:r>
              <a:rPr lang="pt-BR" dirty="0"/>
              <a:t> considera que atingiu a convergência.</a:t>
            </a:r>
          </a:p>
          <a:p>
            <a:r>
              <a:rPr lang="pt-BR" b="1" dirty="0"/>
              <a:t>3. Número Máximo de Iterações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Um limite máximo de iterações pode ser imposto (</a:t>
            </a:r>
            <a:r>
              <a:rPr lang="pt-BR" dirty="0" err="1"/>
              <a:t>max_itermax</a:t>
            </a:r>
            <a:r>
              <a:rPr lang="pt-BR" dirty="0"/>
              <a:t>\_iter) para evitar que o algoritmo continue indefinidamente, especialmente em casos em que a convergência é difícil de alcançar.</a:t>
            </a:r>
          </a:p>
          <a:p>
            <a:r>
              <a:rPr lang="pt-BR" b="1" dirty="0"/>
              <a:t>4. Convergência da Função Objetivo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minimiza a </a:t>
            </a:r>
            <a:r>
              <a:rPr lang="pt-BR" b="1" dirty="0"/>
              <a:t>soma dos erros quadráticos </a:t>
            </a:r>
            <a:r>
              <a:rPr lang="pt-BR" b="1" dirty="0" err="1"/>
              <a:t>intra-cluster</a:t>
            </a:r>
            <a:r>
              <a:rPr lang="pt-BR" b="1" dirty="0"/>
              <a:t> (WSS)</a:t>
            </a:r>
            <a:r>
              <a:rPr lang="pt-BR" dirty="0"/>
              <a:t>, definida como: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WSS=∑i=1k∑x∈Ci∥x−μi∥2\</a:t>
            </a:r>
            <a:r>
              <a:rPr lang="pt-BR" dirty="0" err="1"/>
              <a:t>text</a:t>
            </a:r>
            <a:r>
              <a:rPr lang="pt-BR" dirty="0"/>
              <a:t>{WSS} = \sum_{i=1}^{k} \sum_{x \in </a:t>
            </a:r>
            <a:r>
              <a:rPr lang="pt-BR" dirty="0" err="1"/>
              <a:t>C_i</a:t>
            </a:r>
            <a:r>
              <a:rPr lang="pt-BR" dirty="0"/>
              <a:t>} \|\</a:t>
            </a:r>
            <a:r>
              <a:rPr lang="pt-BR" dirty="0" err="1"/>
              <a:t>mathbf</a:t>
            </a:r>
            <a:r>
              <a:rPr lang="pt-BR" dirty="0"/>
              <a:t>{x} - \</a:t>
            </a:r>
            <a:r>
              <a:rPr lang="pt-BR" dirty="0" err="1"/>
              <a:t>mu_i</a:t>
            </a:r>
            <a:r>
              <a:rPr lang="pt-BR" dirty="0"/>
              <a:t>\|^2 O K-</a:t>
            </a:r>
            <a:r>
              <a:rPr lang="pt-BR" dirty="0" err="1"/>
              <a:t>Means</a:t>
            </a:r>
            <a:r>
              <a:rPr lang="pt-BR" dirty="0"/>
              <a:t> para quando a redução no WSSWSS entre iterações consecutivas é menor que um limiar (Δ\Delta).</a:t>
            </a:r>
          </a:p>
          <a:p>
            <a:r>
              <a:rPr lang="pt-BR" b="1" dirty="0"/>
              <a:t>Processo Geral: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Inicialização</a:t>
            </a:r>
            <a:r>
              <a:rPr lang="pt-BR" dirty="0"/>
              <a:t>: Escolher </a:t>
            </a:r>
            <a:r>
              <a:rPr lang="pt-BR" dirty="0" err="1"/>
              <a:t>kk</a:t>
            </a:r>
            <a:r>
              <a:rPr lang="pt-BR" dirty="0"/>
              <a:t> centroides iniciais (aleatoriamente ou por métodos 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Atribuição</a:t>
            </a:r>
            <a:r>
              <a:rPr lang="pt-BR" dirty="0"/>
              <a:t>: Atribuir cada ponto ao cluster mais próximo (com base na distância, normalmente Euclidiana).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Atualização</a:t>
            </a:r>
            <a:r>
              <a:rPr lang="pt-BR" dirty="0"/>
              <a:t>: Recalcular os centroides como a média dos pontos atribuídos a cada cluster.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Verificação do Critério de Parada</a:t>
            </a:r>
            <a:r>
              <a:rPr lang="pt-BR" dirty="0"/>
              <a:t>: Verificar se algum dos critérios acima foi atendido. Caso contrário, repetir os passos 2 e 3.</a:t>
            </a:r>
          </a:p>
          <a:p>
            <a:r>
              <a:rPr lang="pt-BR" b="1" dirty="0"/>
              <a:t>Convergência e Garantias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</a:t>
            </a:r>
            <a:r>
              <a:rPr lang="pt-BR" b="1" dirty="0"/>
              <a:t>sempre converge</a:t>
            </a:r>
            <a:r>
              <a:rPr lang="pt-BR" dirty="0"/>
              <a:t>, mas pode parar em mínimos locais (não garante o ótimo global).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Para melhorar a convergência, pode-se: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Usar inicialização inteligente (como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Executar o algoritmo várias vezes com diferentes inicializações e escolher o melhor resultado.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6593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399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85605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70948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https://colab.research.google.com/github/zz4fap/c24_inteligencia_artificial/blob/master/notebooks/kmeans.ipynb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kmeans.ipynb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jpeg"/><Relationship Id="rId4" Type="http://schemas.openxmlformats.org/officeDocument/2006/relationships/image" Target="../media/image2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13%20-%20k-Means.pdf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jpeg"/><Relationship Id="rId5" Type="http://schemas.openxmlformats.org/officeDocument/2006/relationships/image" Target="../media/image34.jpeg"/><Relationship Id="rId4" Type="http://schemas.openxmlformats.org/officeDocument/2006/relationships/image" Target="../media/image3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k-</a:t>
            </a:r>
            <a:r>
              <a:rPr lang="pt-BR" sz="7200" b="1" i="1" dirty="0" err="1"/>
              <a:t>Means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6"/>
          </a:xfrm>
        </p:spPr>
        <p:txBody>
          <a:bodyPr>
            <a:normAutofit/>
          </a:bodyPr>
          <a:lstStyle/>
          <a:p>
            <a:r>
              <a:rPr lang="pt-BR" dirty="0"/>
              <a:t>Até o momento, todos os algoritmos que aprendemos seguiam o paradigma do </a:t>
            </a:r>
            <a:r>
              <a:rPr lang="pt-BR" b="1" dirty="0">
                <a:solidFill>
                  <a:schemeClr val="accent2"/>
                </a:solidFill>
              </a:rPr>
              <a:t>aprendizado supervisionado</a:t>
            </a:r>
            <a:r>
              <a:rPr lang="pt-BR" dirty="0"/>
              <a:t>.</a:t>
            </a:r>
          </a:p>
          <a:p>
            <a:r>
              <a:rPr lang="pt-BR" dirty="0"/>
              <a:t>Hoje, falaremos sobre </a:t>
            </a:r>
            <a:r>
              <a:rPr lang="pt-BR" b="1" i="1" dirty="0"/>
              <a:t>clustering</a:t>
            </a:r>
            <a:r>
              <a:rPr lang="pt-BR" dirty="0"/>
              <a:t>, que são algoritmos de </a:t>
            </a:r>
            <a:r>
              <a:rPr lang="pt-BR" b="1" dirty="0"/>
              <a:t>aprendizado não-supervisionado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Não temos rótulos</a:t>
            </a:r>
            <a:r>
              <a:rPr lang="pt-BR" dirty="0"/>
              <a:t>, apenas atributos.</a:t>
            </a:r>
          </a:p>
          <a:p>
            <a:r>
              <a:rPr lang="pt-BR" dirty="0"/>
              <a:t>Eles visam criar </a:t>
            </a:r>
            <a:r>
              <a:rPr lang="pt-BR" b="1" dirty="0">
                <a:solidFill>
                  <a:srgbClr val="7030A0"/>
                </a:solidFill>
              </a:rPr>
              <a:t>agrupamentos</a:t>
            </a:r>
            <a:r>
              <a:rPr lang="pt-BR" dirty="0"/>
              <a:t> de dados (chamados de </a:t>
            </a:r>
            <a:r>
              <a:rPr lang="pt-BR" b="1" i="1" dirty="0"/>
              <a:t>clusters</a:t>
            </a:r>
            <a:r>
              <a:rPr lang="pt-BR" b="1" dirty="0"/>
              <a:t> </a:t>
            </a:r>
            <a:r>
              <a:rPr lang="pt-BR" dirty="0"/>
              <a:t>ou</a:t>
            </a:r>
            <a:r>
              <a:rPr lang="pt-BR" b="1" dirty="0"/>
              <a:t> grupos</a:t>
            </a:r>
            <a:r>
              <a:rPr lang="pt-BR" dirty="0"/>
              <a:t>) segundo seu </a:t>
            </a:r>
            <a:r>
              <a:rPr lang="pt-BR" b="1" dirty="0">
                <a:solidFill>
                  <a:srgbClr val="00B050"/>
                </a:solidFill>
              </a:rPr>
              <a:t>grau de semelhança</a:t>
            </a:r>
            <a:r>
              <a:rPr lang="pt-BR" dirty="0"/>
              <a:t>. </a:t>
            </a:r>
          </a:p>
          <a:p>
            <a:r>
              <a:rPr lang="pt-BR" dirty="0"/>
              <a:t>Nesta aula, aprenderemos sobre o algoritmo chamado de </a:t>
            </a:r>
            <a:r>
              <a:rPr lang="pt-BR" b="1" dirty="0"/>
              <a:t>k-Médias</a:t>
            </a:r>
            <a:r>
              <a:rPr lang="pt-BR" dirty="0"/>
              <a:t> (ou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, em inglês) que é um dos algoritmos mais simples de </a:t>
            </a:r>
            <a:r>
              <a:rPr lang="pt-BR" b="1" i="1" dirty="0"/>
              <a:t>clustering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27415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7A9955D7-EF0A-C073-CA9C-EC6A396485B8}"/>
              </a:ext>
            </a:extLst>
          </p:cNvPr>
          <p:cNvSpPr txBox="1"/>
          <p:nvPr/>
        </p:nvSpPr>
        <p:spPr>
          <a:xfrm>
            <a:off x="6574971" y="2814935"/>
            <a:ext cx="489857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A </a:t>
            </a:r>
            <a:r>
              <a:rPr lang="pt-BR" sz="2800" b="1" dirty="0"/>
              <a:t>clusterização</a:t>
            </a:r>
            <a:r>
              <a:rPr lang="pt-BR" sz="2800" dirty="0"/>
              <a:t> organiza dados como na figura: cada ponto encontra seu </a:t>
            </a:r>
            <a:r>
              <a:rPr lang="pt-BR" sz="2800" b="1" dirty="0">
                <a:solidFill>
                  <a:srgbClr val="7030A0"/>
                </a:solidFill>
              </a:rPr>
              <a:t>grupo</a:t>
            </a:r>
            <a:r>
              <a:rPr lang="pt-BR" sz="2800" b="1" dirty="0">
                <a:solidFill>
                  <a:schemeClr val="accent2"/>
                </a:solidFill>
              </a:rPr>
              <a:t> mais próximo</a:t>
            </a:r>
            <a:r>
              <a:rPr lang="pt-BR" sz="2800" dirty="0"/>
              <a:t>, formando </a:t>
            </a:r>
            <a:r>
              <a:rPr lang="pt-BR" sz="2800" i="1" dirty="0"/>
              <a:t>clusters.</a:t>
            </a:r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9863C601-9BD1-3DD0-9219-97CD9BA5DC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027" y="642219"/>
            <a:ext cx="3889829" cy="5834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447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5802087" y="1690688"/>
            <a:ext cx="6240978" cy="5167312"/>
          </a:xfrm>
        </p:spPr>
        <p:txBody>
          <a:bodyPr>
            <a:normAutofit/>
          </a:bodyPr>
          <a:lstStyle/>
          <a:p>
            <a:r>
              <a:rPr lang="pt-BR" dirty="0"/>
              <a:t>O que podemos fazer se </a:t>
            </a:r>
            <a:r>
              <a:rPr lang="pt-BR" b="1" dirty="0">
                <a:solidFill>
                  <a:schemeClr val="accent2"/>
                </a:solidFill>
              </a:rPr>
              <a:t>não tivermos informações sobre as classes </a:t>
            </a:r>
            <a:r>
              <a:rPr lang="pt-BR" dirty="0"/>
              <a:t>(i.e., rótulos) a que pertencem os </a:t>
            </a:r>
            <a:r>
              <a:rPr lang="pt-BR" dirty="0" smtClean="0"/>
              <a:t>exemplos?</a:t>
            </a:r>
          </a:p>
          <a:p>
            <a:r>
              <a:rPr lang="pt-BR" dirty="0" smtClean="0"/>
              <a:t>Conseguimos extrair alguma informação útil?</a:t>
            </a:r>
            <a:endParaRPr lang="pt-BR" dirty="0"/>
          </a:p>
        </p:txBody>
      </p:sp>
      <p:pic>
        <p:nvPicPr>
          <p:cNvPr id="6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3709" r="55246" b="11854"/>
          <a:stretch/>
        </p:blipFill>
        <p:spPr bwMode="auto">
          <a:xfrm>
            <a:off x="1090832" y="2101933"/>
            <a:ext cx="3894188" cy="3177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1130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5F23F1A-965B-E657-4F46-B48EB78CF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D2CEC37-D651-72A5-0293-3FB911F6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xmlns="" id="{B3C1A135-4B52-F54B-5BDE-7C6DA1069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828825"/>
            <a:ext cx="11211561" cy="2029173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/>
              <a:t>aprendizado não-supervisionado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extrai estrutura e informações úteis de dados sem rótulos</a:t>
            </a:r>
            <a:r>
              <a:rPr lang="pt-BR" dirty="0"/>
              <a:t>.</a:t>
            </a:r>
          </a:p>
          <a:p>
            <a:r>
              <a:rPr lang="pt-BR" dirty="0" smtClean="0"/>
              <a:t>O </a:t>
            </a:r>
            <a:r>
              <a:rPr lang="pt-BR" i="1" dirty="0" err="1" smtClean="0"/>
              <a:t>clustering</a:t>
            </a:r>
            <a:r>
              <a:rPr lang="pt-BR" dirty="0" smtClean="0"/>
              <a:t> </a:t>
            </a:r>
            <a:r>
              <a:rPr lang="pt-BR" dirty="0"/>
              <a:t>tenta </a:t>
            </a:r>
            <a:r>
              <a:rPr lang="pt-BR" b="1" dirty="0">
                <a:solidFill>
                  <a:srgbClr val="00B050"/>
                </a:solidFill>
              </a:rPr>
              <a:t>reproduzir como humanos organizam o mundo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agrupamos</a:t>
            </a:r>
            <a:r>
              <a:rPr lang="pt-BR" dirty="0"/>
              <a:t> objetos </a:t>
            </a:r>
            <a:r>
              <a:rPr lang="pt-BR" b="1" dirty="0">
                <a:solidFill>
                  <a:schemeClr val="accent2"/>
                </a:solidFill>
              </a:rPr>
              <a:t>por similaridade.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xmlns="" id="{FD3AFEA6-16E8-D562-210E-DDE126CC469D}"/>
              </a:ext>
            </a:extLst>
          </p:cNvPr>
          <p:cNvGrpSpPr/>
          <p:nvPr/>
        </p:nvGrpSpPr>
        <p:grpSpPr>
          <a:xfrm>
            <a:off x="2543308" y="1690688"/>
            <a:ext cx="7105384" cy="2759392"/>
            <a:chOff x="3186691" y="4631401"/>
            <a:chExt cx="5960847" cy="2029172"/>
          </a:xfrm>
        </p:grpSpPr>
        <p:pic>
          <p:nvPicPr>
            <p:cNvPr id="6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xmlns="" id="{5EE61C46-3856-780A-E6BB-BC8EBB4234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xmlns="" id="{843AD3E7-A8FE-599D-36F8-EA8BA9682F1B}"/>
                </a:ext>
              </a:extLst>
            </p:cNvPr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i="1" dirty="0" err="1"/>
                <a:t>clustering</a:t>
              </a:r>
              <a:endParaRPr lang="en-US" sz="1400" b="1" i="1" dirty="0"/>
            </a:p>
          </p:txBody>
        </p:sp>
        <p:pic>
          <p:nvPicPr>
            <p:cNvPr id="9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xmlns="" id="{E7C74A0F-F2DD-912F-E092-3530D068D40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Seta para a direita 9">
              <a:extLst>
                <a:ext uri="{FF2B5EF4-FFF2-40B4-BE49-F238E27FC236}">
                  <a16:creationId xmlns:a16="http://schemas.microsoft.com/office/drawing/2014/main" xmlns="" id="{88A77E2D-B8CF-1AE8-8196-DD8F94371FF0}"/>
                </a:ext>
              </a:extLst>
            </p:cNvPr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5167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996543" y="1690688"/>
            <a:ext cx="7108371" cy="5167311"/>
          </a:xfrm>
        </p:spPr>
        <p:txBody>
          <a:bodyPr>
            <a:normAutofit/>
          </a:bodyPr>
          <a:lstStyle/>
          <a:p>
            <a:r>
              <a:rPr lang="pt-BR" dirty="0" smtClean="0"/>
              <a:t>O </a:t>
            </a:r>
            <a:r>
              <a:rPr lang="pt-BR" b="1" i="1" dirty="0">
                <a:solidFill>
                  <a:schemeClr val="accent2"/>
                </a:solidFill>
              </a:rPr>
              <a:t>clustering </a:t>
            </a:r>
            <a:r>
              <a:rPr lang="pt-BR" dirty="0"/>
              <a:t>agrupa dados </a:t>
            </a:r>
            <a:r>
              <a:rPr lang="pt-BR" b="1" dirty="0"/>
              <a:t>com base em </a:t>
            </a:r>
            <a:r>
              <a:rPr lang="pt-BR" b="1" dirty="0">
                <a:solidFill>
                  <a:srgbClr val="00B050"/>
                </a:solidFill>
              </a:rPr>
              <a:t>similaridade</a:t>
            </a:r>
            <a:r>
              <a:rPr lang="pt-BR" dirty="0"/>
              <a:t> </a:t>
            </a:r>
            <a:r>
              <a:rPr lang="pt-BR" b="1" dirty="0"/>
              <a:t>sem precisar de supervisão</a:t>
            </a:r>
            <a:r>
              <a:rPr lang="pt-BR" dirty="0"/>
              <a:t>.</a:t>
            </a:r>
          </a:p>
          <a:p>
            <a:r>
              <a:rPr lang="pt-BR" dirty="0"/>
              <a:t>A ideia mais importante é revelar a </a:t>
            </a:r>
            <a:r>
              <a:rPr lang="pt-BR" b="1" dirty="0"/>
              <a:t>estrutura intrínseca dos dados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padrões escondidos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subgrupos naturais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 explícitas</a:t>
            </a:r>
          </a:p>
        </p:txBody>
      </p:sp>
      <p:pic>
        <p:nvPicPr>
          <p:cNvPr id="2050" name="Picture 2" descr="K-means clustering on the digits dataset (PCA-reduced data) Centroids are marked with white cross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471058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970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Identificação</a:t>
            </a:r>
            <a:r>
              <a:rPr lang="en-US" dirty="0"/>
              <a:t> de </a:t>
            </a:r>
            <a:r>
              <a:rPr lang="en-US" i="1" dirty="0"/>
              <a:t>clusters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5"/>
            <a:ext cx="11277601" cy="5032376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tarefa fundamental </a:t>
            </a:r>
            <a:r>
              <a:rPr lang="pt-BR" dirty="0"/>
              <a:t>do </a:t>
            </a:r>
            <a:r>
              <a:rPr lang="pt-BR" b="1" dirty="0"/>
              <a:t>aprendizado não-supervisionado </a:t>
            </a:r>
            <a:r>
              <a:rPr lang="pt-BR" dirty="0"/>
              <a:t>é a </a:t>
            </a:r>
            <a:r>
              <a:rPr lang="pt-BR" b="1" dirty="0">
                <a:solidFill>
                  <a:srgbClr val="7030A0"/>
                </a:solidFill>
              </a:rPr>
              <a:t>identificação de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 </a:t>
            </a:r>
          </a:p>
          <a:p>
            <a:r>
              <a:rPr lang="pt-BR" dirty="0"/>
              <a:t>Nessa tarefa, a </a:t>
            </a:r>
            <a:r>
              <a:rPr lang="pt-BR" b="1" dirty="0">
                <a:solidFill>
                  <a:srgbClr val="00B050"/>
                </a:solidFill>
              </a:rPr>
              <a:t>entrada</a:t>
            </a:r>
            <a:r>
              <a:rPr lang="pt-BR" dirty="0"/>
              <a:t> é um conjunto de </a:t>
            </a:r>
            <a:r>
              <a:rPr lang="pt-BR" b="1" dirty="0">
                <a:solidFill>
                  <a:srgbClr val="00B050"/>
                </a:solidFill>
              </a:rPr>
              <a:t>vetores de atributo </a:t>
            </a:r>
            <a:r>
              <a:rPr lang="pt-BR" dirty="0"/>
              <a:t>(i.e., exemplos), </a:t>
            </a:r>
            <a:r>
              <a:rPr lang="pt-BR" b="1" dirty="0">
                <a:solidFill>
                  <a:srgbClr val="FF0000"/>
                </a:solidFill>
              </a:rPr>
              <a:t>mas sem rótulos</a:t>
            </a:r>
            <a:r>
              <a:rPr lang="pt-BR" dirty="0"/>
              <a:t>. 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saída</a:t>
            </a:r>
            <a:r>
              <a:rPr lang="pt-BR" dirty="0"/>
              <a:t> </a:t>
            </a:r>
            <a:r>
              <a:rPr lang="pt-BR" dirty="0" smtClean="0"/>
              <a:t>são os </a:t>
            </a:r>
            <a:r>
              <a:rPr lang="pt-BR" b="1" dirty="0" smtClean="0">
                <a:solidFill>
                  <a:srgbClr val="00B050"/>
                </a:solidFill>
              </a:rPr>
              <a:t>centroides</a:t>
            </a:r>
            <a:r>
              <a:rPr lang="pt-BR" dirty="0" smtClean="0"/>
              <a:t> e os </a:t>
            </a:r>
            <a:r>
              <a:rPr lang="pt-BR" b="1" dirty="0" smtClean="0">
                <a:solidFill>
                  <a:srgbClr val="00B050"/>
                </a:solidFill>
              </a:rPr>
              <a:t>índices dos </a:t>
            </a:r>
            <a:r>
              <a:rPr lang="pt-BR" b="1" i="1" dirty="0" smtClean="0">
                <a:solidFill>
                  <a:srgbClr val="00B050"/>
                </a:solidFill>
              </a:rPr>
              <a:t>clusters</a:t>
            </a:r>
            <a:r>
              <a:rPr lang="pt-BR" b="1" dirty="0" smtClean="0">
                <a:solidFill>
                  <a:srgbClr val="00B050"/>
                </a:solidFill>
              </a:rPr>
              <a:t> </a:t>
            </a:r>
            <a:r>
              <a:rPr lang="pt-BR" dirty="0"/>
              <a:t>a que pertencem cada um dos exemplos do conjunto de treinamento.</a:t>
            </a:r>
          </a:p>
        </p:txBody>
      </p:sp>
      <p:grpSp>
        <p:nvGrpSpPr>
          <p:cNvPr id="8" name="Grupo 7"/>
          <p:cNvGrpSpPr/>
          <p:nvPr/>
        </p:nvGrpSpPr>
        <p:grpSpPr>
          <a:xfrm>
            <a:off x="1022928" y="4688303"/>
            <a:ext cx="5960847" cy="2029172"/>
            <a:chOff x="3186691" y="4631401"/>
            <a:chExt cx="5960847" cy="2029172"/>
          </a:xfrm>
        </p:grpSpPr>
        <p:pic>
          <p:nvPicPr>
            <p:cNvPr id="4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CaixaDeTexto 4"/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err="1"/>
                <a:t>clustering</a:t>
              </a:r>
              <a:endParaRPr lang="en-US" sz="1400" b="1" dirty="0"/>
            </a:p>
          </p:txBody>
        </p:sp>
        <p:pic>
          <p:nvPicPr>
            <p:cNvPr id="6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Seta para a direita 6"/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Retângulo 8"/>
          <p:cNvSpPr/>
          <p:nvPr/>
        </p:nvSpPr>
        <p:spPr>
          <a:xfrm>
            <a:off x="7328635" y="5041169"/>
            <a:ext cx="4442305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OBS</a:t>
            </a:r>
            <a:r>
              <a:rPr lang="pt-BR" sz="1600" dirty="0"/>
              <a:t>.: A identificação visual de </a:t>
            </a:r>
            <a:r>
              <a:rPr lang="pt-BR" sz="1600" i="1" dirty="0"/>
              <a:t>clusters</a:t>
            </a:r>
            <a:r>
              <a:rPr lang="pt-BR" sz="1600" dirty="0"/>
              <a:t> em um espaço bi ou tridimensional é fácil, mas em quatro ou mais dimensões isso já não é mais possível. Nesses casos, apenas algoritmos de identificação de </a:t>
            </a:r>
            <a:r>
              <a:rPr lang="pt-BR" sz="1600" i="1" dirty="0"/>
              <a:t>clusters</a:t>
            </a:r>
            <a:r>
              <a:rPr lang="pt-BR" sz="1600" dirty="0"/>
              <a:t> conseguem agrupar os dados. </a:t>
            </a:r>
          </a:p>
        </p:txBody>
      </p:sp>
    </p:spTree>
    <p:extLst>
      <p:ext uri="{BB962C8B-B14F-4D97-AF65-F5344CB8AC3E}">
        <p14:creationId xmlns:p14="http://schemas.microsoft.com/office/powerpoint/2010/main" val="1498689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36BFB42-0017-5ED1-7773-E084E5A01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299C266-04B6-6A8C-91F5-24FCD2CC31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1440" y="1825624"/>
            <a:ext cx="7020559" cy="5032375"/>
          </a:xfrm>
        </p:spPr>
        <p:txBody>
          <a:bodyPr>
            <a:normAutofit/>
          </a:bodyPr>
          <a:lstStyle/>
          <a:p>
            <a:r>
              <a:rPr lang="en-US" dirty="0" err="1"/>
              <a:t>Redução</a:t>
            </a:r>
            <a:r>
              <a:rPr lang="en-US" dirty="0"/>
              <a:t> de </a:t>
            </a:r>
            <a:r>
              <a:rPr lang="en-US" dirty="0" err="1"/>
              <a:t>complexidade</a:t>
            </a:r>
            <a:r>
              <a:rPr lang="en-US" dirty="0"/>
              <a:t> e</a:t>
            </a:r>
            <a:r>
              <a:rPr lang="pt-BR" dirty="0"/>
              <a:t> dimensionalidade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um </a:t>
            </a:r>
            <a:r>
              <a:rPr lang="pt-BR" b="1" dirty="0">
                <a:solidFill>
                  <a:schemeClr val="accent2"/>
                </a:solidFill>
              </a:rPr>
              <a:t>conjunto muito grande de dados</a:t>
            </a:r>
            <a:r>
              <a:rPr lang="pt-BR" dirty="0"/>
              <a:t>, podemos </a:t>
            </a:r>
            <a:r>
              <a:rPr lang="pt-BR" b="1" dirty="0">
                <a:solidFill>
                  <a:schemeClr val="accent2"/>
                </a:solidFill>
              </a:rPr>
              <a:t>armazenar os centroides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e/ou os índices correspondentes aos vetores de atributo</a:t>
            </a:r>
            <a:r>
              <a:rPr lang="pt-BR" dirty="0"/>
              <a:t> ao invés de todos os vetores de atributo.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Pode ser usado para comprimir imagens.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Vetores de atributo muito longos </a:t>
            </a:r>
            <a:r>
              <a:rPr lang="pt-BR" dirty="0"/>
              <a:t>podem ser representados por um </a:t>
            </a:r>
            <a:r>
              <a:rPr lang="pt-BR" b="1" dirty="0">
                <a:solidFill>
                  <a:srgbClr val="7030A0"/>
                </a:solidFill>
              </a:rPr>
              <a:t>vetor com as distâncias a um conjunto de centroides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xmlns="" id="{A7524CD6-9254-ABD9-EBBF-94136AAAED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656115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8192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A831676-6BED-CA70-6524-D513003AA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4A038D5-B823-B9FD-D23F-5029CC44B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A9B68C4-7FDA-1A4B-497F-F6FD37E354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240" y="1825624"/>
            <a:ext cx="8239760" cy="5032375"/>
          </a:xfrm>
        </p:spPr>
        <p:txBody>
          <a:bodyPr>
            <a:normAutofit/>
          </a:bodyPr>
          <a:lstStyle/>
          <a:p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padrões</a:t>
            </a:r>
            <a:r>
              <a:rPr lang="en-US" dirty="0"/>
              <a:t> </a:t>
            </a:r>
            <a:r>
              <a:rPr lang="en-US" dirty="0" err="1"/>
              <a:t>raros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detector de comportamento “normal”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tudo fora disso é considerado suspeito</a:t>
            </a:r>
            <a:endParaRPr lang="en-US" dirty="0"/>
          </a:p>
          <a:p>
            <a:r>
              <a:rPr lang="en-US" dirty="0"/>
              <a:t>Pré-</a:t>
            </a:r>
            <a:r>
              <a:rPr lang="en-US" dirty="0" err="1"/>
              <a:t>processamento</a:t>
            </a:r>
            <a:r>
              <a:rPr lang="en-US" dirty="0"/>
              <a:t> para outros </a:t>
            </a:r>
            <a:r>
              <a:rPr lang="en-US" dirty="0" err="1"/>
              <a:t>modelos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criar novos atributos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e.g., o índice do </a:t>
            </a:r>
            <a:r>
              <a:rPr lang="pt-BR" i="1" dirty="0"/>
              <a:t>cluster</a:t>
            </a:r>
            <a:r>
              <a:rPr lang="pt-BR" dirty="0"/>
              <a:t>, distâncias até os </a:t>
            </a:r>
            <a:r>
              <a:rPr lang="pt-BR" i="1" dirty="0"/>
              <a:t>clusters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inicializar modelos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Muitos algoritmos (e.g., GMM) precisam definir centros iniciais.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organizar dados antes do treinamento de modelos de aprendizado supervisionado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Identificar subgrupos implícitos (e.g., para treinar um modelo específico para cada subgrupo)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Detecção de </a:t>
            </a:r>
            <a:r>
              <a:rPr lang="pt-BR" i="1" dirty="0"/>
              <a:t>outliers</a:t>
            </a:r>
          </a:p>
        </p:txBody>
      </p:sp>
      <p:pic>
        <p:nvPicPr>
          <p:cNvPr id="5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xmlns="" id="{900BE683-11F2-C00F-2CDC-3D7D2CF03B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299721" y="2907700"/>
            <a:ext cx="3271456" cy="2451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9862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257799" y="1825624"/>
            <a:ext cx="6825343" cy="5032375"/>
          </a:xfrm>
        </p:spPr>
        <p:txBody>
          <a:bodyPr>
            <a:normAutofit/>
          </a:bodyPr>
          <a:lstStyle/>
          <a:p>
            <a:r>
              <a:rPr lang="pt-BR" dirty="0"/>
              <a:t>Para identificar </a:t>
            </a:r>
            <a:r>
              <a:rPr lang="pt-BR" i="1" dirty="0"/>
              <a:t>clusters</a:t>
            </a:r>
            <a:r>
              <a:rPr lang="pt-BR" dirty="0"/>
              <a:t>, temos que primeiro </a:t>
            </a:r>
            <a:r>
              <a:rPr lang="pt-BR" b="1" dirty="0">
                <a:solidFill>
                  <a:srgbClr val="00B050"/>
                </a:solidFill>
              </a:rPr>
              <a:t>decidir como eles serão representados</a:t>
            </a:r>
            <a:r>
              <a:rPr lang="pt-BR" dirty="0"/>
              <a:t>.</a:t>
            </a:r>
          </a:p>
          <a:p>
            <a:r>
              <a:rPr lang="pt-BR" dirty="0"/>
              <a:t>Existem algumas opções como a </a:t>
            </a:r>
            <a:r>
              <a:rPr lang="pt-BR" b="1" dirty="0">
                <a:solidFill>
                  <a:schemeClr val="accent2"/>
                </a:solidFill>
              </a:rPr>
              <a:t>densidade</a:t>
            </a:r>
            <a:r>
              <a:rPr lang="pt-BR" dirty="0"/>
              <a:t>, </a:t>
            </a:r>
            <a:r>
              <a:rPr lang="pt-BR" b="1" dirty="0">
                <a:solidFill>
                  <a:schemeClr val="accent2"/>
                </a:solidFill>
              </a:rPr>
              <a:t>distribuição</a:t>
            </a:r>
            <a:r>
              <a:rPr lang="pt-BR" dirty="0"/>
              <a:t>, </a:t>
            </a:r>
            <a:r>
              <a:rPr lang="pt-BR" b="1" dirty="0">
                <a:solidFill>
                  <a:schemeClr val="accent2"/>
                </a:solidFill>
              </a:rPr>
              <a:t>hierarquia</a:t>
            </a:r>
            <a:r>
              <a:rPr lang="pt-BR" dirty="0"/>
              <a:t>, etc.</a:t>
            </a:r>
          </a:p>
          <a:p>
            <a:r>
              <a:rPr lang="pt-BR" dirty="0"/>
              <a:t>Porém, a abordagem mais simples usa os </a:t>
            </a:r>
            <a:r>
              <a:rPr lang="pt-BR" b="1" dirty="0"/>
              <a:t>centroides </a:t>
            </a:r>
            <a:r>
              <a:rPr lang="pt-BR" dirty="0"/>
              <a:t>(i.e., centros) dos </a:t>
            </a:r>
            <a:r>
              <a:rPr lang="pt-BR" i="1" dirty="0"/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O algoritmo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 implementa esta abordagem.</a:t>
            </a:r>
          </a:p>
          <a:p>
            <a:r>
              <a:rPr lang="pt-BR" dirty="0"/>
              <a:t>Vejamos então suas características e como funciona.</a:t>
            </a:r>
          </a:p>
        </p:txBody>
      </p:sp>
      <p:pic>
        <p:nvPicPr>
          <p:cNvPr id="1028" name="Picture 4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xmlns="" id="{D99905E1-3749-BAAD-E01A-C9B3686C47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9" r="58743" b="36825"/>
          <a:stretch/>
        </p:blipFill>
        <p:spPr bwMode="auto">
          <a:xfrm>
            <a:off x="838200" y="2253343"/>
            <a:ext cx="3951287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3545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FE84507-EC77-45EC-8B3A-27BFC439A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Centroide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4FEB374-1415-DA51-E59A-B5E50D17F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Centroide</a:t>
            </a:r>
            <a:r>
              <a:rPr lang="pt-BR" dirty="0"/>
              <a:t> é o ponto central de um </a:t>
            </a:r>
            <a:r>
              <a:rPr lang="pt-BR" i="1" dirty="0"/>
              <a:t>cluster</a:t>
            </a:r>
            <a:r>
              <a:rPr lang="pt-BR" dirty="0"/>
              <a:t> de dados.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Representa a </a:t>
            </a:r>
            <a:r>
              <a:rPr lang="pt-BR" b="1" dirty="0">
                <a:solidFill>
                  <a:srgbClr val="7030A0"/>
                </a:solidFill>
              </a:rPr>
              <a:t>"média" das amostras </a:t>
            </a:r>
            <a:r>
              <a:rPr lang="pt-BR" b="1" dirty="0" smtClean="0">
                <a:solidFill>
                  <a:srgbClr val="7030A0"/>
                </a:solidFill>
              </a:rPr>
              <a:t>que pertencem a </a:t>
            </a:r>
            <a:r>
              <a:rPr lang="pt-BR" b="1" dirty="0">
                <a:solidFill>
                  <a:srgbClr val="7030A0"/>
                </a:solidFill>
              </a:rPr>
              <a:t>um </a:t>
            </a:r>
            <a:r>
              <a:rPr lang="pt-BR" b="1" i="1" dirty="0">
                <a:solidFill>
                  <a:srgbClr val="7030A0"/>
                </a:solidFill>
              </a:rPr>
              <a:t>cluster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centroides</a:t>
            </a:r>
            <a:r>
              <a:rPr lang="pt-BR" dirty="0"/>
              <a:t> podem ser usados ​​como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centros para inicializar </a:t>
            </a:r>
            <a:r>
              <a:rPr lang="pt-BR" dirty="0" err="1"/>
              <a:t>GMMs</a:t>
            </a:r>
            <a:r>
              <a:rPr lang="pt-BR" dirty="0"/>
              <a:t>, redes neurais Bayesianas ou de </a:t>
            </a:r>
            <a:r>
              <a:rPr lang="en-US" dirty="0" err="1"/>
              <a:t>funções</a:t>
            </a:r>
            <a:r>
              <a:rPr lang="en-US" dirty="0"/>
              <a:t> de base radial (</a:t>
            </a:r>
            <a:r>
              <a:rPr lang="pt-BR" dirty="0"/>
              <a:t>RBF),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estimativas de valores de atributos ausentes.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comprimir dados usando apenas o </a:t>
            </a:r>
            <a:r>
              <a:rPr lang="pt-BR" dirty="0" smtClean="0"/>
              <a:t>índice do </a:t>
            </a:r>
            <a:r>
              <a:rPr lang="pt-BR" dirty="0" err="1" smtClean="0"/>
              <a:t>centróide</a:t>
            </a:r>
            <a:r>
              <a:rPr lang="pt-BR" dirty="0" smtClean="0"/>
              <a:t> </a:t>
            </a:r>
            <a:r>
              <a:rPr lang="pt-BR" dirty="0"/>
              <a:t>mais próximo.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feature </a:t>
            </a:r>
            <a:r>
              <a:rPr lang="pt-BR" i="1" dirty="0" err="1"/>
              <a:t>engineering</a:t>
            </a:r>
            <a:r>
              <a:rPr lang="pt-BR" i="1" dirty="0"/>
              <a:t>:</a:t>
            </a:r>
            <a:r>
              <a:rPr lang="pt-BR" dirty="0"/>
              <a:t> o índice do </a:t>
            </a:r>
            <a:r>
              <a:rPr lang="pt-BR" dirty="0" err="1"/>
              <a:t>centróide</a:t>
            </a:r>
            <a:r>
              <a:rPr lang="pt-BR" dirty="0"/>
              <a:t> (ID) e a distância até os </a:t>
            </a:r>
            <a:r>
              <a:rPr lang="pt-BR" dirty="0" err="1"/>
              <a:t>centróides</a:t>
            </a:r>
            <a:r>
              <a:rPr lang="pt-BR" dirty="0"/>
              <a:t> podem ser novos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detectar anomalias: distância alta </a:t>
            </a:r>
            <a:r>
              <a:rPr lang="pt-BR" dirty="0" smtClean="0"/>
              <a:t>até o </a:t>
            </a:r>
            <a:r>
              <a:rPr lang="pt-BR" dirty="0" err="1" smtClean="0"/>
              <a:t>centróide</a:t>
            </a:r>
            <a:r>
              <a:rPr lang="pt-BR" dirty="0" smtClean="0"/>
              <a:t> pode indicar </a:t>
            </a:r>
            <a:r>
              <a:rPr lang="pt-BR" i="1" dirty="0"/>
              <a:t>outlier</a:t>
            </a:r>
            <a:r>
              <a:rPr lang="pt-BR" dirty="0"/>
              <a:t> ou dado que foge do </a:t>
            </a:r>
            <a:r>
              <a:rPr lang="pt-BR" dirty="0" smtClean="0"/>
              <a:t>padrão (evento raro).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agrupar dados sem classes em problemas </a:t>
            </a:r>
            <a:r>
              <a:rPr lang="pt-BR" dirty="0" err="1"/>
              <a:t>semi-supervisionados</a:t>
            </a:r>
            <a:r>
              <a:rPr lang="pt-BR" dirty="0"/>
              <a:t>: os </a:t>
            </a:r>
            <a:r>
              <a:rPr lang="pt-BR" i="1" dirty="0"/>
              <a:t>clusters</a:t>
            </a:r>
            <a:r>
              <a:rPr lang="pt-BR" dirty="0"/>
              <a:t> são usados como classes e, consequentemente, rotular os dados.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952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B00F73A-8390-7530-E708-9D3EBFB35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7779880-5E02-1DB8-EA94-C86330794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A72472E5-6211-3EFD-BA89-06782640C9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9641" y="1825624"/>
                <a:ext cx="745236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exemplo, suponhamos os seguintes </a:t>
                </a:r>
                <a:r>
                  <a:rPr lang="pt-BR" b="1" dirty="0"/>
                  <a:t>vetores de atributos </a:t>
                </a:r>
                <a:r>
                  <a:rPr lang="pt-BR" dirty="0"/>
                  <a:t>em um espaço bidimensional formado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: (2, 5), (1, 4), (3, 6).</a:t>
                </a:r>
              </a:p>
              <a:p>
                <a:r>
                  <a:rPr lang="pt-BR" dirty="0"/>
                  <a:t>Se eles pertencem a um </a:t>
                </a:r>
                <a:r>
                  <a:rPr lang="pt-BR" i="1" dirty="0"/>
                  <a:t>cluster</a:t>
                </a:r>
                <a:r>
                  <a:rPr lang="pt-BR" dirty="0"/>
                  <a:t>, seu </a:t>
                </a:r>
                <a:r>
                  <a:rPr lang="pt-BR" b="1" dirty="0"/>
                  <a:t>centroide</a:t>
                </a:r>
                <a:r>
                  <a:rPr lang="pt-BR" dirty="0"/>
                  <a:t> é representado pelo vetor (2, 5), pois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primeiro atributo é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2+1+3</m:t>
                        </m:r>
                      </m:num>
                      <m:den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b="0" i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segundo atributo é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pt-BR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>
                    <a:solidFill>
                      <a:srgbClr val="7030A0"/>
                    </a:solidFill>
                  </a:rPr>
                  <a:t>OBS</a:t>
                </a:r>
                <a:r>
                  <a:rPr lang="pt-BR" dirty="0"/>
                  <a:t>.: Em geral,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aplicamos clusterização apenas a atributos numéricos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Existem algoritmos de clusterização específicos para dados categóricos: </a:t>
                </a:r>
                <a:r>
                  <a:rPr lang="pt-BR" i="1" dirty="0"/>
                  <a:t>k-</a:t>
                </a:r>
                <a:r>
                  <a:rPr lang="pt-BR" i="1" dirty="0" err="1"/>
                  <a:t>modes</a:t>
                </a:r>
                <a:r>
                  <a:rPr lang="pt-BR" i="1" dirty="0"/>
                  <a:t> </a:t>
                </a:r>
                <a:r>
                  <a:rPr lang="pt-BR" dirty="0"/>
                  <a:t>e </a:t>
                </a:r>
                <a:r>
                  <a:rPr lang="en-US" i="1" dirty="0"/>
                  <a:t>k-prototypes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72472E5-6211-3EFD-BA89-06782640C9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9641" y="1825624"/>
                <a:ext cx="7452360" cy="5032375"/>
              </a:xfrm>
              <a:blipFill>
                <a:blip r:embed="rId3"/>
                <a:stretch>
                  <a:fillRect l="-1473" t="-1937" r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xmlns="" id="{E728BEA3-C89C-08D5-CE28-8BD1C00DAD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03" t="18889" r="3388" b="36825"/>
          <a:stretch/>
        </p:blipFill>
        <p:spPr bwMode="auto">
          <a:xfrm>
            <a:off x="472440" y="2355669"/>
            <a:ext cx="3831771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578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34000" y="1690688"/>
            <a:ext cx="6858000" cy="5167311"/>
          </a:xfrm>
        </p:spPr>
        <p:txBody>
          <a:bodyPr>
            <a:normAutofit/>
          </a:bodyPr>
          <a:lstStyle/>
          <a:p>
            <a:r>
              <a:rPr lang="pt-BR" dirty="0"/>
              <a:t>Os </a:t>
            </a:r>
            <a:r>
              <a:rPr lang="pt-BR" i="1" dirty="0"/>
              <a:t>clusters</a:t>
            </a:r>
            <a:r>
              <a:rPr lang="pt-BR" dirty="0"/>
              <a:t> </a:t>
            </a:r>
            <a:r>
              <a:rPr lang="pt-BR" b="1" dirty="0"/>
              <a:t>não devem se sobrepor</a:t>
            </a:r>
            <a:r>
              <a:rPr lang="pt-BR" dirty="0"/>
              <a:t>.</a:t>
            </a:r>
          </a:p>
          <a:p>
            <a:r>
              <a:rPr lang="pt-BR" b="1" dirty="0">
                <a:solidFill>
                  <a:srgbClr val="00B050"/>
                </a:solidFill>
              </a:rPr>
              <a:t>Cada amostra </a:t>
            </a:r>
            <a:r>
              <a:rPr lang="pt-BR" dirty="0"/>
              <a:t>deve </a:t>
            </a:r>
            <a:r>
              <a:rPr lang="pt-BR" b="1" dirty="0">
                <a:solidFill>
                  <a:srgbClr val="00B050"/>
                </a:solidFill>
              </a:rPr>
              <a:t>pertencer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a um e apenas um </a:t>
            </a:r>
            <a:r>
              <a:rPr lang="pt-BR" b="1" i="1" dirty="0">
                <a:solidFill>
                  <a:schemeClr val="accent2"/>
                </a:solidFill>
              </a:rPr>
              <a:t>cluster</a:t>
            </a:r>
            <a:r>
              <a:rPr lang="pt-BR" dirty="0"/>
              <a:t>. </a:t>
            </a:r>
          </a:p>
          <a:p>
            <a:r>
              <a:rPr lang="pt-BR" dirty="0"/>
              <a:t>Porém, </a:t>
            </a:r>
            <a:r>
              <a:rPr lang="pt-BR" b="1" dirty="0">
                <a:solidFill>
                  <a:srgbClr val="0070C0"/>
                </a:solidFill>
              </a:rPr>
              <a:t>dentro do mesmo </a:t>
            </a:r>
            <a:r>
              <a:rPr lang="pt-BR" b="1" i="1" dirty="0">
                <a:solidFill>
                  <a:srgbClr val="0070C0"/>
                </a:solidFill>
              </a:rPr>
              <a:t>cluster</a:t>
            </a:r>
            <a:r>
              <a:rPr lang="pt-BR" dirty="0"/>
              <a:t>, as </a:t>
            </a:r>
            <a:r>
              <a:rPr lang="pt-BR" b="1" dirty="0">
                <a:solidFill>
                  <a:srgbClr val="0070C0"/>
                </a:solidFill>
              </a:rPr>
              <a:t>amostras </a:t>
            </a:r>
            <a:r>
              <a:rPr lang="pt-BR" dirty="0"/>
              <a:t>devem estar relativamente </a:t>
            </a:r>
            <a:r>
              <a:rPr lang="pt-BR" b="1" dirty="0">
                <a:solidFill>
                  <a:srgbClr val="0070C0"/>
                </a:solidFill>
              </a:rPr>
              <a:t>próximas</a:t>
            </a:r>
            <a:r>
              <a:rPr lang="pt-BR" dirty="0"/>
              <a:t> umas das outras e </a:t>
            </a:r>
            <a:r>
              <a:rPr lang="pt-BR" b="1" dirty="0">
                <a:solidFill>
                  <a:srgbClr val="7030A0"/>
                </a:solidFill>
              </a:rPr>
              <a:t>distantes</a:t>
            </a:r>
            <a:r>
              <a:rPr lang="pt-BR" dirty="0"/>
              <a:t> das </a:t>
            </a:r>
            <a:r>
              <a:rPr lang="pt-BR" b="1" dirty="0">
                <a:solidFill>
                  <a:srgbClr val="7030A0"/>
                </a:solidFill>
              </a:rPr>
              <a:t>amostras dos outros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Aí surge uma dúvida. </a:t>
            </a:r>
          </a:p>
          <a:p>
            <a:pPr marL="0" indent="0" algn="ctr">
              <a:buNone/>
            </a:pPr>
            <a:r>
              <a:rPr lang="pt-BR" dirty="0"/>
              <a:t>Quantos </a:t>
            </a:r>
            <a:r>
              <a:rPr lang="pt-BR" i="1" dirty="0"/>
              <a:t>clusters</a:t>
            </a:r>
            <a:r>
              <a:rPr lang="pt-BR" dirty="0"/>
              <a:t> um conjunto de dados contém?</a:t>
            </a:r>
          </a:p>
        </p:txBody>
      </p:sp>
      <p:pic>
        <p:nvPicPr>
          <p:cNvPr id="5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1045029" y="2388412"/>
            <a:ext cx="3798090" cy="2793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35327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2114" y="1690688"/>
            <a:ext cx="7121731" cy="5167311"/>
          </a:xfrm>
        </p:spPr>
        <p:txBody>
          <a:bodyPr>
            <a:normAutofit/>
          </a:bodyPr>
          <a:lstStyle/>
          <a:p>
            <a:r>
              <a:rPr lang="pt-BR" dirty="0"/>
              <a:t>Na figura conseguimos identificar visualmente três </a:t>
            </a:r>
            <a:r>
              <a:rPr lang="pt-BR" i="1" dirty="0"/>
              <a:t>clusters</a:t>
            </a:r>
            <a:r>
              <a:rPr lang="pt-BR" dirty="0"/>
              <a:t>. </a:t>
            </a:r>
          </a:p>
          <a:p>
            <a:r>
              <a:rPr lang="pt-BR" dirty="0"/>
              <a:t>No entanto, o número de opções existentes não se limita a essa única possibilidade: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um extremo, todo o conjunto de dados pode ser pensado como formando um grande </a:t>
            </a:r>
            <a:r>
              <a:rPr lang="pt-BR" i="1" dirty="0"/>
              <a:t>cluster</a:t>
            </a:r>
            <a:r>
              <a:rPr lang="pt-BR" dirty="0"/>
              <a:t>;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outro extremo, cada exemplo pode ser visto como representando seu próprio </a:t>
            </a:r>
            <a:r>
              <a:rPr lang="pt-BR" i="1" dirty="0"/>
              <a:t>cluster</a:t>
            </a:r>
            <a:r>
              <a:rPr lang="pt-BR" dirty="0"/>
              <a:t> de um único exemplo.</a:t>
            </a:r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xmlns="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4844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1690688"/>
            <a:ext cx="7010400" cy="516731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7030A0"/>
                </a:solidFill>
              </a:rPr>
              <a:t>Implementações</a:t>
            </a:r>
            <a:r>
              <a:rPr lang="pt-BR" dirty="0"/>
              <a:t> práticas geralmente evitam esse problema </a:t>
            </a:r>
            <a:r>
              <a:rPr lang="pt-BR" b="1" dirty="0">
                <a:solidFill>
                  <a:schemeClr val="accent2"/>
                </a:solidFill>
              </a:rPr>
              <a:t>pedindo</a:t>
            </a:r>
            <a:r>
              <a:rPr lang="pt-BR" dirty="0"/>
              <a:t> ao </a:t>
            </a:r>
            <a:r>
              <a:rPr lang="pt-BR" b="1" dirty="0">
                <a:solidFill>
                  <a:srgbClr val="7030A0"/>
                </a:solidFill>
              </a:rPr>
              <a:t>usuário que forneça o número de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Existem diversos métodos para </a:t>
            </a:r>
            <a:r>
              <a:rPr lang="pt-BR" b="1" dirty="0">
                <a:solidFill>
                  <a:srgbClr val="00B050"/>
                </a:solidFill>
              </a:rPr>
              <a:t>otimizar o </a:t>
            </a:r>
            <a:r>
              <a:rPr lang="pt-BR" b="1" dirty="0" err="1">
                <a:solidFill>
                  <a:srgbClr val="00B050"/>
                </a:solidFill>
              </a:rPr>
              <a:t>hiperparâmetro</a:t>
            </a:r>
            <a:r>
              <a:rPr lang="pt-BR" b="1" dirty="0">
                <a:solidFill>
                  <a:srgbClr val="00B050"/>
                </a:solidFill>
              </a:rPr>
              <a:t> que define o número de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dirty="0"/>
              <a:t>, dentre eles, o mais usado é o </a:t>
            </a:r>
            <a:r>
              <a:rPr lang="pt-BR" b="1" dirty="0">
                <a:solidFill>
                  <a:schemeClr val="accent5"/>
                </a:solidFill>
              </a:rPr>
              <a:t>método do cotovelo</a:t>
            </a:r>
            <a:r>
              <a:rPr lang="pt-BR" dirty="0"/>
              <a:t>.</a:t>
            </a:r>
          </a:p>
          <a:p>
            <a:r>
              <a:rPr lang="pt-BR" dirty="0"/>
              <a:t>Veremos como ele funciona em breve.</a:t>
            </a:r>
          </a:p>
          <a:p>
            <a:r>
              <a:rPr lang="pt-BR" dirty="0"/>
              <a:t>Porém, antes, precisamos entender como os </a:t>
            </a:r>
            <a:r>
              <a:rPr lang="pt-BR" i="1" dirty="0"/>
              <a:t>clusters</a:t>
            </a:r>
            <a:r>
              <a:rPr lang="pt-BR" dirty="0"/>
              <a:t> são criados.</a:t>
            </a:r>
          </a:p>
          <a:p>
            <a:endParaRPr lang="pt-BR" dirty="0"/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xmlns="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57226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54994D8-D711-9C2A-C202-7BAD7B9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A636E4B-196C-922B-890C-6917F63A0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Medindo</a:t>
            </a:r>
            <a:r>
              <a:rPr lang="en-US" dirty="0"/>
              <a:t> </a:t>
            </a:r>
            <a:r>
              <a:rPr lang="en-US" dirty="0" err="1"/>
              <a:t>distâncias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FCDFA83-D279-17E3-E2CD-6E304EAF63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79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Algoritmos para identificação de </a:t>
                </a:r>
                <a:r>
                  <a:rPr lang="pt-BR" i="1" dirty="0"/>
                  <a:t>clusters</a:t>
                </a:r>
                <a:r>
                  <a:rPr lang="pt-BR" dirty="0"/>
                  <a:t> precisam de uma </a:t>
                </a:r>
                <a:r>
                  <a:rPr lang="pt-BR" b="1" dirty="0">
                    <a:solidFill>
                      <a:srgbClr val="7030A0"/>
                    </a:solidFill>
                  </a:rPr>
                  <a:t>métrica para avaliar a </a:t>
                </a:r>
                <a:r>
                  <a:rPr lang="pt-BR" b="1" dirty="0">
                    <a:solidFill>
                      <a:srgbClr val="00B050"/>
                    </a:solidFill>
                  </a:rPr>
                  <a:t>distância</a:t>
                </a:r>
                <a:r>
                  <a:rPr lang="pt-BR" b="1" dirty="0">
                    <a:solidFill>
                      <a:srgbClr val="7030A0"/>
                    </a:solidFill>
                  </a:rPr>
                  <a:t> entre uma amostra e o centroide</a:t>
                </a:r>
                <a:r>
                  <a:rPr lang="pt-BR" dirty="0"/>
                  <a:t> de um </a:t>
                </a:r>
                <a:r>
                  <a:rPr lang="pt-BR" i="1" dirty="0"/>
                  <a:t>cluster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Uma forma de fazer isso é usar a </a:t>
                </a:r>
                <a:r>
                  <a:rPr lang="pt-BR" b="1" dirty="0">
                    <a:solidFill>
                      <a:srgbClr val="00B050"/>
                    </a:solidFill>
                  </a:rPr>
                  <a:t>distância euclidiana </a:t>
                </a:r>
                <a:r>
                  <a:rPr lang="pt-BR" dirty="0"/>
                  <a:t>entre os dois vetores</a:t>
                </a:r>
              </a:p>
              <a:p>
                <a:pPr marL="0" indent="0">
                  <a:buNone/>
                </a:pPr>
                <a:endParaRPr lang="pt-BR" sz="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é o número de atributos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são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ésimos</a:t>
                </a:r>
                <a:r>
                  <a:rPr lang="pt-BR" dirty="0"/>
                  <a:t> elementos dos vetores tendo sua distância calculada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Outras </a:t>
                </a:r>
                <a:r>
                  <a:rPr lang="pt-BR" dirty="0"/>
                  <a:t>medidas de distância: </a:t>
                </a:r>
                <a:r>
                  <a:rPr lang="pt-BR" dirty="0" err="1" smtClean="0"/>
                  <a:t>Minkowski</a:t>
                </a:r>
                <a:r>
                  <a:rPr lang="pt-BR" dirty="0" smtClean="0"/>
                  <a:t>, cosseno</a:t>
                </a:r>
                <a:r>
                  <a:rPr lang="pt-BR" dirty="0"/>
                  <a:t>, Manhattan e </a:t>
                </a:r>
                <a:r>
                  <a:rPr lang="pt-BR" dirty="0" err="1" smtClean="0"/>
                  <a:t>Mahalanobis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1FCDFA83-D279-17E3-E2CD-6E304EAF63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799" cy="5032375"/>
              </a:xfrm>
              <a:blipFill rotWithShape="0">
                <a:blip r:embed="rId2"/>
                <a:stretch>
                  <a:fillRect l="-1128" t="-1937" b="-1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7345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qual </a:t>
            </a:r>
            <a:r>
              <a:rPr lang="pt-BR" i="1" dirty="0"/>
              <a:t>cluster</a:t>
            </a:r>
            <a:r>
              <a:rPr lang="pt-BR" dirty="0"/>
              <a:t> um exemplo deve pertencer?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existam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</a:t>
                </a:r>
                <a:r>
                  <a:rPr lang="pt-BR" i="1" dirty="0"/>
                  <a:t>clusters</a:t>
                </a:r>
                <a:r>
                  <a:rPr lang="pt-BR" dirty="0"/>
                  <a:t> cujos centroides são denotados pelo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Uma amostra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tem uma certa distância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para cada centroide.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a menor dessas distâncias, então, colocarmos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como pertencente ao centroide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pt-BR" dirty="0"/>
                  <a:t>, ou seja,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i="1" dirty="0"/>
                  <a:t>cluster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Portanto, escolhemos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menor distância </a:t>
                </a:r>
                <a:r>
                  <a:rPr lang="pt-BR" dirty="0"/>
                  <a:t>para </a:t>
                </a:r>
                <a:r>
                  <a:rPr lang="pt-BR" b="1" dirty="0">
                    <a:solidFill>
                      <a:schemeClr val="accent5"/>
                    </a:solidFill>
                  </a:rPr>
                  <a:t>definir a qual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cluster</a:t>
                </a:r>
                <a:r>
                  <a:rPr lang="pt-BR" b="1" dirty="0">
                    <a:solidFill>
                      <a:schemeClr val="accent5"/>
                    </a:solidFill>
                  </a:rPr>
                  <a:t> um exemplo pertence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Agora, veremos como funciona o </a:t>
                </a:r>
                <a:r>
                  <a:rPr lang="pt-BR" dirty="0" err="1"/>
                  <a:t>algortimo</a:t>
                </a:r>
                <a:r>
                  <a:rPr lang="pt-BR" dirty="0"/>
                  <a:t> </a:t>
                </a:r>
                <a:r>
                  <a:rPr lang="pt-BR" i="1" dirty="0"/>
                  <a:t>k-</a:t>
                </a:r>
                <a:r>
                  <a:rPr lang="pt-BR" i="1" dirty="0" err="1"/>
                  <a:t>Means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97874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k-</a:t>
            </a:r>
            <a:r>
              <a:rPr lang="pt-BR" i="1" dirty="0" err="1"/>
              <a:t>Means</a:t>
            </a:r>
            <a:endParaRPr lang="en-US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"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"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que define o número de </a:t>
                </a:r>
                <a:r>
                  <a:rPr lang="pt-BR" i="1" dirty="0"/>
                  <a:t>clusters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pseudocódigo do algoritmo é mostrado abaixo.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O algoritmo garantidamente chega a uma situação em que cada exemplo se encontra no </a:t>
                </a:r>
                <a:r>
                  <a:rPr lang="pt-BR" i="1" dirty="0"/>
                  <a:t>cluster</a:t>
                </a:r>
                <a:r>
                  <a:rPr lang="pt-BR" dirty="0"/>
                  <a:t> mais próximo, de modo que, a partir deste momento, os centroides não mudem mais.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 r="-1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4"/>
              <p:cNvSpPr txBox="1"/>
              <p:nvPr/>
            </p:nvSpPr>
            <p:spPr>
              <a:xfrm>
                <a:off x="1698214" y="2989982"/>
                <a:ext cx="9167906" cy="203132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b="1" dirty="0"/>
                  <a:t>Entradas</a:t>
                </a:r>
                <a:r>
                  <a:rPr lang="pt-BR" dirty="0"/>
                  <a:t>: conjunto de exemplos e número de </a:t>
                </a:r>
                <a:r>
                  <a:rPr lang="pt-BR" i="1" dirty="0"/>
                  <a:t>clusters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 </a:t>
                </a:r>
                <a:endParaRPr lang="pt-BR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Defina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centroides iniciais (geralmente, definidos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para cada um dos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centroides e atribua cada exemplo ao </a:t>
                </a:r>
                <a:r>
                  <a:rPr lang="pt-BR" i="1" dirty="0"/>
                  <a:t>cluster</a:t>
                </a:r>
                <a:r>
                  <a:rPr lang="pt-BR" dirty="0"/>
                  <a:t>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Calcule o novo centroide de cada </a:t>
                </a:r>
                <a:r>
                  <a:rPr lang="pt-BR" i="1" dirty="0"/>
                  <a:t>cluster</a:t>
                </a:r>
                <a:r>
                  <a:rPr lang="pt-BR" dirty="0"/>
                  <a:t>*.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Enquanto </a:t>
                </a:r>
                <a:r>
                  <a:rPr lang="pt-BR" dirty="0"/>
                  <a:t>as posições dos centroides continuarem mudando.</a:t>
                </a:r>
              </a:p>
            </p:txBody>
          </p:sp>
        </mc:Choice>
        <mc:Fallback xmlns="">
          <p:sp>
            <p:nvSpPr>
              <p:cNvPr id="4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8214" y="2989982"/>
                <a:ext cx="9167906" cy="2031325"/>
              </a:xfrm>
              <a:prstGeom prst="rect">
                <a:avLst/>
              </a:prstGeom>
              <a:blipFill>
                <a:blip r:embed="rId4"/>
                <a:stretch>
                  <a:fillRect l="-531" t="-1190" b="-327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/>
          <p:cNvSpPr/>
          <p:nvPr/>
        </p:nvSpPr>
        <p:spPr>
          <a:xfrm>
            <a:off x="1698214" y="5021307"/>
            <a:ext cx="916790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*os novos centroides são calculados como a média aritmética (centro geométrico) das amostras pertencentes a cada </a:t>
            </a:r>
            <a:r>
              <a:rPr lang="pt-BR" sz="1400" i="1" dirty="0">
                <a:solidFill>
                  <a:srgbClr val="000000"/>
                </a:solidFill>
                <a:latin typeface="Calibri" panose="020F0502020204030204" pitchFamily="34" charset="0"/>
              </a:rPr>
              <a:t>cluster</a:t>
            </a:r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.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3171235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29640" y="2892425"/>
            <a:ext cx="10515600" cy="9937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Vejamos um exemplo</a:t>
            </a:r>
          </a:p>
        </p:txBody>
      </p:sp>
    </p:spTree>
    <p:extLst>
      <p:ext uri="{BB962C8B-B14F-4D97-AF65-F5344CB8AC3E}">
        <p14:creationId xmlns:p14="http://schemas.microsoft.com/office/powerpoint/2010/main" val="25381236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i="1" dirty="0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xmlns="" id="{F98B536F-38AB-58C5-0FFB-41BDB557E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422" y="1856677"/>
            <a:ext cx="6315956" cy="50013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7">
                <a:extLst>
                  <a:ext uri="{FF2B5EF4-FFF2-40B4-BE49-F238E27FC236}">
                    <a16:creationId xmlns:a16="http://schemas.microsoft.com/office/drawing/2014/main" xmlns="" id="{04EA9FAE-D371-68E0-2CB7-9C8893491B3B}"/>
                  </a:ext>
                </a:extLst>
              </p:cNvPr>
              <p:cNvSpPr txBox="1"/>
              <p:nvPr/>
            </p:nvSpPr>
            <p:spPr>
              <a:xfrm>
                <a:off x="303430" y="2475186"/>
                <a:ext cx="253299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1. Define-se o número de clusters,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= 3</a:t>
                </a:r>
                <a:endParaRPr lang="en-US" dirty="0"/>
              </a:p>
            </p:txBody>
          </p:sp>
        </mc:Choice>
        <mc:Fallback xmlns="">
          <p:sp>
            <p:nvSpPr>
              <p:cNvPr id="5" name="TextBox 7">
                <a:extLst>
                  <a:ext uri="{FF2B5EF4-FFF2-40B4-BE49-F238E27FC236}">
                    <a16:creationId xmlns:a16="http://schemas.microsoft.com/office/drawing/2014/main" xmlns="" id="{04EA9FAE-D371-68E0-2CB7-9C8893491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430" y="2475186"/>
                <a:ext cx="2532992" cy="646331"/>
              </a:xfrm>
              <a:prstGeom prst="rect">
                <a:avLst/>
              </a:prstGeom>
              <a:blipFill rotWithShape="0">
                <a:blip r:embed="rId3"/>
                <a:stretch>
                  <a:fillRect l="-2169"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72583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69F3FE92-0D0B-AECE-B64E-FC9D2F3EA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xmlns="" id="{5D947541-89EC-69EF-1918-6EFD56E0B3C2}"/>
              </a:ext>
            </a:extLst>
          </p:cNvPr>
          <p:cNvSpPr txBox="1"/>
          <p:nvPr/>
        </p:nvSpPr>
        <p:spPr>
          <a:xfrm>
            <a:off x="65746" y="2490952"/>
            <a:ext cx="2900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</a:t>
            </a:r>
            <a:r>
              <a:rPr lang="en-US" dirty="0" err="1"/>
              <a:t>Escolhe</a:t>
            </a:r>
            <a:r>
              <a:rPr lang="en-US" dirty="0"/>
              <a:t>-se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centroides</a:t>
            </a:r>
            <a:r>
              <a:rPr lang="en-US" dirty="0"/>
              <a:t> para </a:t>
            </a:r>
            <a:r>
              <a:rPr lang="en-US" dirty="0" err="1"/>
              <a:t>cada</a:t>
            </a:r>
            <a:r>
              <a:rPr lang="en-US" dirty="0"/>
              <a:t> cluster de forma </a:t>
            </a:r>
            <a:r>
              <a:rPr lang="en-US" dirty="0" err="1"/>
              <a:t>aleatória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898816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1C0684BB-EFF7-DBA8-3519-25CE2A1A9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1837" y="1885256"/>
            <a:ext cx="6268325" cy="4972744"/>
          </a:xfrm>
          <a:prstGeom prst="rect">
            <a:avLst/>
          </a:prstGeom>
        </p:spPr>
      </p:pic>
      <p:sp>
        <p:nvSpPr>
          <p:cNvPr id="4" name="TextBox 8">
            <a:extLst>
              <a:ext uri="{FF2B5EF4-FFF2-40B4-BE49-F238E27FC236}">
                <a16:creationId xmlns:a16="http://schemas.microsoft.com/office/drawing/2014/main" xmlns="" id="{38267D7C-379A-003E-4048-8D4DDD969EB6}"/>
              </a:ext>
            </a:extLst>
          </p:cNvPr>
          <p:cNvSpPr txBox="1"/>
          <p:nvPr/>
        </p:nvSpPr>
        <p:spPr>
          <a:xfrm>
            <a:off x="101600" y="2865735"/>
            <a:ext cx="26521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3. Atribui-se cada amostra ao centroide mais próximo com base na distância euclidiana.</a:t>
            </a:r>
            <a:r>
              <a:rPr lang="pt-BR" dirty="0"/>
              <a:t/>
            </a:r>
            <a:br>
              <a:rPr lang="pt-B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5543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7">
            <a:extLst>
              <a:ext uri="{FF2B5EF4-FFF2-40B4-BE49-F238E27FC236}">
                <a16:creationId xmlns:a16="http://schemas.microsoft.com/office/drawing/2014/main" xmlns="" id="{4A874BBD-11DB-833A-341F-F134DDD11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7074" y="1913835"/>
            <a:ext cx="6277851" cy="4944165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xmlns="" id="{FB63ADD3-D956-76C5-F130-F38465877D67}"/>
              </a:ext>
            </a:extLst>
          </p:cNvPr>
          <p:cNvSpPr txBox="1"/>
          <p:nvPr/>
        </p:nvSpPr>
        <p:spPr>
          <a:xfrm>
            <a:off x="101600" y="2577501"/>
            <a:ext cx="2998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4. Recalcula-se o centroide dos clusters.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49014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BE9E2474-44BE-43D0-EE2F-D03349050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422" y="1913835"/>
            <a:ext cx="6315956" cy="4944165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xmlns="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80972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CD544109-9098-CA3C-766B-DFEB05AE1F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290" y="1932888"/>
            <a:ext cx="6230219" cy="4925112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xmlns="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47814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9F08A47C-C93C-D40B-F5DC-3C29F2EEE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180" y="1961467"/>
            <a:ext cx="6201640" cy="4896533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xmlns="" id="{4376C1A9-3731-8BF9-861E-3D686FEA4F43}"/>
              </a:ext>
            </a:extLst>
          </p:cNvPr>
          <p:cNvSpPr txBox="1"/>
          <p:nvPr/>
        </p:nvSpPr>
        <p:spPr>
          <a:xfrm>
            <a:off x="141890" y="2629285"/>
            <a:ext cx="295489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Repete-se os passos 3-4</a:t>
            </a:r>
            <a:r>
              <a:rPr lang="pt-BR" dirty="0"/>
              <a:t>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até que um dos casos abaixo ocorra: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A soma das distâncias entre as amostras e o centroide correspondente seja minimizada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Não haja alteração nos centroides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O número máximo de iterações seja atingido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67333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242560" y="1825624"/>
                <a:ext cx="694944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procedimento mais simples para inicializar os centroides é </a:t>
                </a:r>
                <a:r>
                  <a:rPr lang="pt-BR" b="1" dirty="0">
                    <a:solidFill>
                      <a:schemeClr val="accent5"/>
                    </a:solidFill>
                  </a:rPr>
                  <a:t>escolher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b="1" dirty="0">
                    <a:solidFill>
                      <a:schemeClr val="accent5"/>
                    </a:solidFill>
                  </a:rPr>
                  <a:t> exemplos de treinamento aleatórios</a:t>
                </a:r>
                <a:r>
                  <a:rPr lang="pt-BR" dirty="0"/>
                  <a:t> e os considerar como os centroides iniciais.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escolher pontos muito próximos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Rodar várias vezes e escolher o melhor resultado</a:t>
                </a:r>
              </a:p>
              <a:p>
                <a:r>
                  <a:rPr lang="pt-BR" dirty="0"/>
                  <a:t>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clusters</a:t>
                </a:r>
                <a:r>
                  <a:rPr lang="pt-BR" b="1" dirty="0">
                    <a:solidFill>
                      <a:srgbClr val="7030A0"/>
                    </a:solidFill>
                  </a:rPr>
                  <a:t> iniciais </a:t>
                </a:r>
                <a:r>
                  <a:rPr lang="pt-BR" dirty="0"/>
                  <a:t>são então criados associando cada um dos exemplos ao seu </a:t>
                </a:r>
                <a:r>
                  <a:rPr lang="pt-BR" b="1" dirty="0">
                    <a:solidFill>
                      <a:srgbClr val="00B050"/>
                    </a:solidFill>
                  </a:rPr>
                  <a:t>centroide mais próximo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Cada centroide define uma região e as amostras são distribuídas com base nisso.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2560" y="1825624"/>
                <a:ext cx="6949440" cy="5032375"/>
              </a:xfrm>
              <a:blipFill>
                <a:blip r:embed="rId2"/>
                <a:stretch>
                  <a:fillRect l="-1579" t="-1937" r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xmlns="" id="{3663CA52-EDD8-4A35-5A6A-3A247A7891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369389" y="22531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56275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7B1A926-A8C8-946A-0DCB-7DA6EAEC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02E24AF-FE6E-7B0A-D179-EB49A1DEB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E35406F-F929-EFBE-0B16-7CF919C6F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080" y="1825624"/>
            <a:ext cx="6725920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Se os centroides iniciais mudam: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muda completamente a divisão inicial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muda quais amostras vão para qual </a:t>
            </a:r>
            <a:r>
              <a:rPr lang="pt-BR" i="1" dirty="0"/>
              <a:t>cluster</a:t>
            </a:r>
            <a:r>
              <a:rPr lang="pt-BR" dirty="0"/>
              <a:t> no início.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convergir para agrupamentos diferentes para cada execução.</a:t>
            </a:r>
          </a:p>
          <a:p>
            <a:r>
              <a:rPr lang="pt-BR" dirty="0"/>
              <a:t>O número de </a:t>
            </a:r>
            <a:r>
              <a:rPr lang="pt-BR" b="1" dirty="0">
                <a:solidFill>
                  <a:schemeClr val="accent2"/>
                </a:solidFill>
              </a:rPr>
              <a:t>transferências</a:t>
            </a:r>
            <a:r>
              <a:rPr lang="pt-BR" dirty="0"/>
              <a:t> de um exemplo </a:t>
            </a:r>
            <a:r>
              <a:rPr lang="pt-BR" b="1" dirty="0">
                <a:solidFill>
                  <a:schemeClr val="accent2"/>
                </a:solidFill>
              </a:rPr>
              <a:t>de um </a:t>
            </a:r>
            <a:r>
              <a:rPr lang="pt-BR" b="1" i="1" dirty="0">
                <a:solidFill>
                  <a:schemeClr val="accent2"/>
                </a:solidFill>
              </a:rPr>
              <a:t>cluster</a:t>
            </a:r>
            <a:r>
              <a:rPr lang="pt-BR" b="1" dirty="0">
                <a:solidFill>
                  <a:schemeClr val="accent2"/>
                </a:solidFill>
              </a:rPr>
              <a:t> para outro depende dos centroides iniciais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Todo o processo depende do ponto de partida.</a:t>
            </a:r>
          </a:p>
          <a:p>
            <a:r>
              <a:rPr lang="pt-BR" dirty="0"/>
              <a:t>Se os </a:t>
            </a:r>
            <a:r>
              <a:rPr lang="pt-BR" b="1" dirty="0">
                <a:solidFill>
                  <a:srgbClr val="7030A0"/>
                </a:solidFill>
              </a:rPr>
              <a:t>centroides iniciais </a:t>
            </a:r>
            <a:r>
              <a:rPr lang="pt-BR" dirty="0"/>
              <a:t>já forem </a:t>
            </a:r>
            <a:r>
              <a:rPr lang="pt-BR" b="1" dirty="0">
                <a:solidFill>
                  <a:srgbClr val="7030A0"/>
                </a:solidFill>
              </a:rPr>
              <a:t>perfeitos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nenhum exemplo precisa ser atribuído a outro </a:t>
            </a:r>
            <a:r>
              <a:rPr lang="pt-BR" b="1" i="1" dirty="0">
                <a:solidFill>
                  <a:srgbClr val="7030A0"/>
                </a:solidFill>
              </a:rPr>
              <a:t>cluster</a:t>
            </a:r>
            <a:r>
              <a:rPr lang="pt-BR" dirty="0"/>
              <a:t> e o algoritmo é encerado.</a:t>
            </a:r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xmlns="" id="{375C1022-A6C8-5B17-2FC3-13794270B2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420189" y="249695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8480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E9261F7-2166-8305-B7FE-ACE2323DF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B419064-8E96-0B34-B387-5724815C4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DAB57C6-5307-315D-C613-2F33992F1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1086" y="1825624"/>
            <a:ext cx="6770914" cy="5032375"/>
          </a:xfrm>
        </p:spPr>
        <p:txBody>
          <a:bodyPr>
            <a:normAutofit/>
          </a:bodyPr>
          <a:lstStyle/>
          <a:p>
            <a:r>
              <a:rPr lang="pt-BR" dirty="0"/>
              <a:t>Portanto, a </a:t>
            </a:r>
            <a:r>
              <a:rPr lang="pt-BR" b="1" dirty="0">
                <a:solidFill>
                  <a:srgbClr val="00B050"/>
                </a:solidFill>
              </a:rPr>
              <a:t>inicialização é importante </a:t>
            </a:r>
            <a:r>
              <a:rPr lang="pt-BR" dirty="0"/>
              <a:t>no sentido de que </a:t>
            </a:r>
            <a:r>
              <a:rPr lang="pt-BR" b="1" dirty="0">
                <a:solidFill>
                  <a:srgbClr val="00B050"/>
                </a:solidFill>
              </a:rPr>
              <a:t>um ponto de partida melhor</a:t>
            </a:r>
            <a:r>
              <a:rPr lang="pt-BR" dirty="0"/>
              <a:t> garante que a </a:t>
            </a:r>
            <a:r>
              <a:rPr lang="pt-BR" b="1" dirty="0">
                <a:solidFill>
                  <a:srgbClr val="00B050"/>
                </a:solidFill>
              </a:rPr>
              <a:t>solução seja encontrada mais rápido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dirty="0">
                <a:solidFill>
                  <a:srgbClr val="FF0000"/>
                </a:solidFill>
              </a:rPr>
              <a:t>tempo de convergência </a:t>
            </a:r>
            <a:r>
              <a:rPr lang="pt-BR" dirty="0"/>
              <a:t>do algoritmo </a:t>
            </a:r>
            <a:r>
              <a:rPr lang="pt-BR" b="1" dirty="0">
                <a:solidFill>
                  <a:srgbClr val="FF0000"/>
                </a:solidFill>
              </a:rPr>
              <a:t>depende da inicialização</a:t>
            </a:r>
            <a:r>
              <a:rPr lang="pt-BR" dirty="0"/>
              <a:t>.</a:t>
            </a:r>
          </a:p>
          <a:p>
            <a:r>
              <a:rPr lang="pt-BR" dirty="0"/>
              <a:t>O algoritmo é </a:t>
            </a:r>
            <a:r>
              <a:rPr lang="pt-BR" b="1" dirty="0"/>
              <a:t>altamente sensível à escolha inicial dos centroides.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xmlns="" id="{9210F1A3-8D21-F13E-A400-833A1EDE29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24001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B1B77C4-9B17-7A8C-9D74-1E6EDF9D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33358A61-5705-A1F7-E051-797E22A8C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94292"/>
            <a:ext cx="10515600" cy="186594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Como definimos o número de </a:t>
            </a:r>
            <a:r>
              <a:rPr lang="pt-BR" sz="5400" i="1" dirty="0"/>
              <a:t>clusters</a:t>
            </a:r>
            <a:r>
              <a:rPr lang="pt-BR" sz="54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8282970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33574C0-6E04-C0DD-EAA0-CBB82A39C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do cotovelo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BBD5BC8-7DE0-62E2-804E-33545D8762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30240" y="1825624"/>
                <a:ext cx="6461760" cy="5032375"/>
              </a:xfrm>
            </p:spPr>
            <p:txBody>
              <a:bodyPr/>
              <a:lstStyle/>
              <a:p>
                <a:r>
                  <a:rPr lang="pt-BR" dirty="0"/>
                  <a:t>O método busca o ponto onde </a:t>
                </a:r>
                <a:r>
                  <a:rPr lang="pt-BR" b="1" dirty="0"/>
                  <a:t>a melhoria do aumento de </a:t>
                </a:r>
                <a:r>
                  <a:rPr lang="pt-BR" b="1" i="1" dirty="0"/>
                  <a:t>clusters</a:t>
                </a:r>
                <a:r>
                  <a:rPr lang="pt-BR" b="1" dirty="0"/>
                  <a:t> começa a diminuir significativamente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Ou seja, aumentar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sempre melhora o ajuste, mas chega um ponto em que o ganho é </a:t>
                </a:r>
                <a:r>
                  <a:rPr lang="pt-BR" b="1" dirty="0"/>
                  <a:t>marginal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No limite,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igual 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, </a:t>
                </a:r>
                <a:r>
                  <a:rPr lang="en-US" dirty="0"/>
                  <a:t>a </a:t>
                </a:r>
                <a:r>
                  <a:rPr lang="en-US" dirty="0" err="1"/>
                  <a:t>inércia</a:t>
                </a:r>
                <a:r>
                  <a:rPr lang="en-US" dirty="0"/>
                  <a:t> é 0 (</a:t>
                </a:r>
                <a:r>
                  <a:rPr lang="en-US" dirty="0" err="1"/>
                  <a:t>mínima</a:t>
                </a:r>
                <a:r>
                  <a:rPr lang="en-US" dirty="0"/>
                  <a:t> </a:t>
                </a:r>
                <a:r>
                  <a:rPr lang="en-US" dirty="0" err="1"/>
                  <a:t>possível</a:t>
                </a:r>
                <a:r>
                  <a:rPr lang="en-US" dirty="0"/>
                  <a:t>), mas 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dirty="0" err="1"/>
                  <a:t>será</a:t>
                </a:r>
                <a:r>
                  <a:rPr lang="en-US" dirty="0"/>
                  <a:t> </a:t>
                </a:r>
                <a:r>
                  <a:rPr lang="en-US" dirty="0" err="1"/>
                  <a:t>extremamente</a:t>
                </a:r>
                <a:r>
                  <a:rPr lang="en-US" dirty="0"/>
                  <a:t> </a:t>
                </a:r>
                <a:r>
                  <a:rPr lang="en-US" dirty="0" err="1"/>
                  <a:t>complexo</a:t>
                </a:r>
                <a:r>
                  <a:rPr lang="en-US" dirty="0"/>
                  <a:t> (overfitting).</a:t>
                </a:r>
                <a:endParaRPr lang="pt-BR" dirty="0"/>
              </a:p>
              <a:p>
                <a:r>
                  <a:rPr lang="pt-BR" dirty="0"/>
                  <a:t>Esse ponto é o “</a:t>
                </a:r>
                <a:r>
                  <a:rPr lang="pt-BR" b="1" dirty="0"/>
                  <a:t>cotovelo” da curva.</a:t>
                </a:r>
              </a:p>
              <a:p>
                <a:r>
                  <a:rPr lang="pt-BR" dirty="0"/>
                  <a:t>Que métrica usamos para plotar a curva?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BD5BC8-7DE0-62E2-804E-33545D8762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30240" y="1825624"/>
                <a:ext cx="6461760" cy="5032375"/>
              </a:xfrm>
              <a:blipFill>
                <a:blip r:embed="rId2"/>
                <a:stretch>
                  <a:fillRect l="-169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xmlns="" id="{5704EB20-2972-D237-4FE5-23EBC8E55F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5439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7908164-8DED-57E8-103F-9479D1C1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5A49F49-61D7-0208-3364-6E7A9D643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Soma dos quadrados </a:t>
            </a:r>
            <a:r>
              <a:rPr lang="pt-BR" dirty="0" err="1"/>
              <a:t>intra-</a:t>
            </a:r>
            <a:r>
              <a:rPr lang="pt-BR" i="1" dirty="0" err="1"/>
              <a:t>clusters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62BBDDAA-8E03-1533-DC27-B212B34350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8800" y="1825624"/>
                <a:ext cx="64516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Usa-se a soma dos quadrados </a:t>
                </a:r>
                <a:r>
                  <a:rPr lang="pt-BR" dirty="0" err="1"/>
                  <a:t>intra-</a:t>
                </a:r>
                <a:r>
                  <a:rPr lang="pt-BR" i="1" dirty="0" err="1"/>
                  <a:t>clusters</a:t>
                </a:r>
                <a:r>
                  <a:rPr lang="pt-BR" dirty="0"/>
                  <a:t>, também conhecida como inércia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é o centroide 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i="1" dirty="0"/>
                  <a:t>cluster,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é conjunto de amostras no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i="1" dirty="0"/>
                  <a:t>cluster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é a distância até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Ela mede o quão “compactos” são os </a:t>
                </a:r>
                <a:r>
                  <a:rPr lang="pt-BR" i="1" dirty="0"/>
                  <a:t>clusters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menor → melhor</a:t>
                </a:r>
                <a:endParaRPr lang="en-US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BBDDAA-8E03-1533-DC27-B212B34350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8800" y="1825624"/>
                <a:ext cx="6451600" cy="5032375"/>
              </a:xfrm>
              <a:blipFill>
                <a:blip r:embed="rId3"/>
                <a:stretch>
                  <a:fillRect l="-1890" t="-1937" r="-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xmlns="" id="{6CFEC85E-0DF3-CC25-5FF3-CFFD6DEE2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26172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0E41F28-4876-5B0D-7F6C-0F152E330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C9425F9-4CBE-8456-1A61-B7A51F1FA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Soma dos quadrados </a:t>
            </a:r>
            <a:r>
              <a:rPr lang="pt-BR" dirty="0" err="1"/>
              <a:t>intra-</a:t>
            </a:r>
            <a:r>
              <a:rPr lang="pt-BR" i="1" dirty="0" err="1"/>
              <a:t>clusters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26A65B5D-EAEC-B338-BC6A-DAC5DA0B13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43600" y="1825624"/>
                <a:ext cx="6248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Plota-se o valor da inércia para um intervalo de valores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curva resultante quantifica o quão próximos os pontos de um cluster estão do seu centroide.</a:t>
                </a:r>
              </a:p>
              <a:p>
                <a:r>
                  <a:rPr lang="pt-BR" dirty="0"/>
                  <a:t>Quanto menor a inércia, mais coesos são os </a:t>
                </a:r>
                <a:r>
                  <a:rPr lang="pt-BR" i="1" dirty="0"/>
                  <a:t>clusters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pontos dentro de um </a:t>
                </a:r>
                <a:r>
                  <a:rPr lang="pt-BR" i="1" dirty="0"/>
                  <a:t>cluster</a:t>
                </a:r>
                <a:r>
                  <a:rPr lang="pt-BR" dirty="0"/>
                  <a:t> estão fortemente agrupados, próximos entre si e do centroide.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A65B5D-EAEC-B338-BC6A-DAC5DA0B13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43600" y="1825624"/>
                <a:ext cx="6248400" cy="5032375"/>
              </a:xfrm>
              <a:blipFill>
                <a:blip r:embed="rId2"/>
                <a:stretch>
                  <a:fillRect l="-1756" t="-1937" r="-1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xmlns="" id="{8E934D73-7290-09A0-C88B-24CA35D92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67839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7B07C05-733D-F365-8063-0C296100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CA87339-937F-71D3-5575-377273E70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Soma dos quadrados </a:t>
            </a:r>
            <a:r>
              <a:rPr lang="pt-BR" dirty="0" err="1"/>
              <a:t>intra-</a:t>
            </a:r>
            <a:r>
              <a:rPr lang="pt-BR" i="1" dirty="0" err="1"/>
              <a:t>clusters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574CDA6D-9D3D-7343-173D-1326829D74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43600" y="1825624"/>
                <a:ext cx="615696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Assim, o valor ideal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é encontrando localizando-se o cotovelo na curva.</a:t>
                </a:r>
              </a:p>
              <a:p>
                <a:r>
                  <a:rPr lang="pt-BR" dirty="0"/>
                  <a:t>Quando o cotovelo não é visível (transição suave), uma técnica comum é traçar uma reta conectando os pontos extremos da curva e identificar o ponto mais distante dessa reta como o "cotovelo" ideal.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4CDA6D-9D3D-7343-173D-1326829D74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43600" y="1825624"/>
                <a:ext cx="6156960" cy="5032375"/>
              </a:xfrm>
              <a:blipFill>
                <a:blip r:embed="rId2"/>
                <a:stretch>
                  <a:fillRect l="-1782" t="-1937" r="-26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xmlns="" id="{E3714189-5C25-70A9-3FD4-7F7A02D9BA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94106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07C804B-5A43-5C89-0C42-420DDBB1C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Outros algoritmos de </a:t>
            </a:r>
            <a:r>
              <a:rPr lang="pt-BR" i="1" dirty="0"/>
              <a:t>clustering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88A7DCE-B5C5-82F5-CC2A-E963BDDE0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DBSCAN: clusterização baseada em </a:t>
            </a:r>
            <a:r>
              <a:rPr lang="en-US" dirty="0" err="1"/>
              <a:t>densidade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são regiões </a:t>
            </a:r>
            <a:r>
              <a:rPr lang="pt-BR" b="1" dirty="0"/>
              <a:t>densas</a:t>
            </a:r>
            <a:r>
              <a:rPr lang="pt-BR" dirty="0"/>
              <a:t> separadas por regiões vazias.</a:t>
            </a:r>
          </a:p>
          <a:p>
            <a:r>
              <a:rPr lang="pt-BR" dirty="0"/>
              <a:t>HDBSCAN: Extensão do DBSCAN que constrói uma </a:t>
            </a:r>
            <a:r>
              <a:rPr lang="pt-BR" b="1" dirty="0"/>
              <a:t>hierarquia de densidades.</a:t>
            </a:r>
            <a:endParaRPr lang="pt-BR" dirty="0"/>
          </a:p>
          <a:p>
            <a:r>
              <a:rPr lang="pt-BR" i="1" dirty="0" err="1"/>
              <a:t>Gaussian</a:t>
            </a:r>
            <a:r>
              <a:rPr lang="pt-BR" i="1" dirty="0"/>
              <a:t> </a:t>
            </a:r>
            <a:r>
              <a:rPr lang="pt-BR" i="1" dirty="0" err="1"/>
              <a:t>mixtures</a:t>
            </a:r>
            <a:r>
              <a:rPr lang="pt-BR" dirty="0"/>
              <a:t>: Assume que os dados vêm de uma mistura de </a:t>
            </a:r>
            <a:r>
              <a:rPr lang="pt-BR" b="1" dirty="0"/>
              <a:t>distribuições gaussianas.</a:t>
            </a:r>
            <a:endParaRPr lang="en-US" dirty="0"/>
          </a:p>
          <a:p>
            <a:r>
              <a:rPr lang="en-US" dirty="0" err="1"/>
              <a:t>Documentação</a:t>
            </a:r>
            <a:r>
              <a:rPr lang="en-US" dirty="0"/>
              <a:t> da </a:t>
            </a:r>
            <a:r>
              <a:rPr lang="en-US" dirty="0" err="1"/>
              <a:t>biblioteca</a:t>
            </a:r>
            <a:r>
              <a:rPr lang="en-US" dirty="0"/>
              <a:t> </a:t>
            </a:r>
            <a:r>
              <a:rPr lang="en-US" i="1" dirty="0"/>
              <a:t>scikit-learn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</a:t>
            </a:r>
            <a:r>
              <a:rPr lang="en-US" dirty="0" err="1"/>
              <a:t>clusterização</a:t>
            </a:r>
            <a:r>
              <a:rPr lang="en-US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hlinkClick r:id="rId3"/>
              </a:rPr>
              <a:t>https://scikit-learn.org/stable/modules/clustering.html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0812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FD61470-7062-5DCF-6407-C45E5BF63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detecção de anomalias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6C85168-BBA5-1819-2A3F-16AFDD60A6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9440" y="1825624"/>
            <a:ext cx="6512560" cy="5032375"/>
          </a:xfrm>
        </p:spPr>
        <p:txBody>
          <a:bodyPr>
            <a:normAutofit/>
          </a:bodyPr>
          <a:lstStyle/>
          <a:p>
            <a:r>
              <a:rPr lang="pt-BR" dirty="0"/>
              <a:t>Nessa aplicação, encontramos os centroides e a área dos </a:t>
            </a:r>
            <a:r>
              <a:rPr lang="pt-BR" i="1" dirty="0"/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A área é definida por um valor de raio que faça com que 97% das amostras tenham distância ao centroide mais próximo menor ou igual a esse valor.</a:t>
            </a:r>
          </a:p>
          <a:p>
            <a:r>
              <a:rPr lang="pt-BR" dirty="0"/>
              <a:t>Uma amostra é classificada como anomalia se a distância entre ela e o centroide mais próximo for significativamente alta.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seja, se ela estiver fora da área do </a:t>
            </a:r>
            <a:r>
              <a:rPr lang="pt-BR" i="1" dirty="0"/>
              <a:t>cluster</a:t>
            </a:r>
            <a:r>
              <a:rPr lang="pt-BR" dirty="0"/>
              <a:t>. 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xmlns="" id="{7F44AA9B-6E70-9E5C-102F-FC9BEDBA2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519680"/>
            <a:ext cx="4258504" cy="326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296115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kmeans.ipynb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#13 – </a:t>
            </a:r>
            <a:r>
              <a:rPr lang="pt-BR" dirty="0" err="1">
                <a:hlinkClick r:id="rId2"/>
              </a:rPr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FREE DIVING INTO K-MEANS. Content Contributors: Shray Khanna… | by Honghui  wang | SFU Professional Computer Science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47" y="415635"/>
            <a:ext cx="2656609" cy="265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openAlchemy no Twitter: &quot;Sunday Funday! Pool day with some mean algorithms,  K? #machinelearning #deeplearning #kmeans #sundayfunday #ml #ai  #artificialintelligence #memes #meme #memesdaily #openalchemy #nlp #cv  #aimemes #funny #math #statistics https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8" r="22192"/>
          <a:stretch/>
        </p:blipFill>
        <p:spPr bwMode="auto">
          <a:xfrm>
            <a:off x="4732121" y="1225261"/>
            <a:ext cx="2358736" cy="421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Meme Creator - Funny K-Means Cluster All the things Meme Generator at  MemeCreator.org!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9045" y="186170"/>
            <a:ext cx="3239366" cy="3239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Brace yourself K-Means is coming - Brace Yourself - Game of Thrones Meme |  Make a Meme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0319" y="3805080"/>
            <a:ext cx="3166340" cy="2897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Still running... first K-means iteration - Skeleton computer | Meme  Generato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462" y="3425536"/>
            <a:ext cx="3108471" cy="3108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6790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9510</TotalTime>
  <Words>2521</Words>
  <Application>Microsoft Office PowerPoint</Application>
  <PresentationFormat>Widescreen</PresentationFormat>
  <Paragraphs>261</Paragraphs>
  <Slides>41</Slides>
  <Notes>14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41</vt:i4>
      </vt:variant>
    </vt:vector>
  </HeadingPairs>
  <TitlesOfParts>
    <vt:vector size="48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C24 - Inteligência Artificial: k-Means</vt:lpstr>
      <vt:lpstr>Recapitulando</vt:lpstr>
      <vt:lpstr>Apresentação do PowerPoint</vt:lpstr>
      <vt:lpstr>Motivação</vt:lpstr>
      <vt:lpstr>Motivação</vt:lpstr>
      <vt:lpstr>Motivação</vt:lpstr>
      <vt:lpstr>Identificação de clusters</vt:lpstr>
      <vt:lpstr>Aplicações</vt:lpstr>
      <vt:lpstr>Aplicações</vt:lpstr>
      <vt:lpstr>Como representar os clusters?</vt:lpstr>
      <vt:lpstr>Centroide</vt:lpstr>
      <vt:lpstr>Como representar os clusters?</vt:lpstr>
      <vt:lpstr>Quantos devem ser os clusters?</vt:lpstr>
      <vt:lpstr>Quantos devem ser os clusters?</vt:lpstr>
      <vt:lpstr>Quantos devem ser os clusters?</vt:lpstr>
      <vt:lpstr>Medindo distâncias</vt:lpstr>
      <vt:lpstr>A qual cluster um exemplo deve pertencer?</vt:lpstr>
      <vt:lpstr>k-Means</vt:lpstr>
      <vt:lpstr>Apresentação do PowerPoint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Como inicializar os centroides? </vt:lpstr>
      <vt:lpstr>Como inicializar os centroides? </vt:lpstr>
      <vt:lpstr>Como inicializar os centroides? </vt:lpstr>
      <vt:lpstr>Apresentação do PowerPoint</vt:lpstr>
      <vt:lpstr>Método do cotovelo</vt:lpstr>
      <vt:lpstr>Soma dos quadrados intra-clusters</vt:lpstr>
      <vt:lpstr>Soma dos quadrados intra-clusters</vt:lpstr>
      <vt:lpstr>Soma dos quadrados intra-clusters</vt:lpstr>
      <vt:lpstr>Outros algoritmos de clustering</vt:lpstr>
      <vt:lpstr>Aplicação: detecção de anomalias</vt:lpstr>
      <vt:lpstr>Exemplo</vt:lpstr>
      <vt:lpstr>Lista de exercícios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885</cp:revision>
  <dcterms:created xsi:type="dcterms:W3CDTF">2020-04-06T23:46:10Z</dcterms:created>
  <dcterms:modified xsi:type="dcterms:W3CDTF">2026-06-01T21:59:21Z</dcterms:modified>
</cp:coreProperties>
</file>