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426" r:id="rId10"/>
    <p:sldId id="287" r:id="rId11"/>
    <p:sldId id="400" r:id="rId12"/>
    <p:sldId id="296" r:id="rId13"/>
    <p:sldId id="413" r:id="rId14"/>
    <p:sldId id="414" r:id="rId15"/>
    <p:sldId id="415" r:id="rId16"/>
    <p:sldId id="298" r:id="rId17"/>
    <p:sldId id="290" r:id="rId18"/>
    <p:sldId id="291" r:id="rId19"/>
    <p:sldId id="417" r:id="rId20"/>
    <p:sldId id="404" r:id="rId21"/>
    <p:sldId id="432" r:id="rId22"/>
    <p:sldId id="405" r:id="rId23"/>
    <p:sldId id="427" r:id="rId24"/>
    <p:sldId id="406" r:id="rId25"/>
    <p:sldId id="407" r:id="rId26"/>
    <p:sldId id="408" r:id="rId27"/>
    <p:sldId id="409" r:id="rId28"/>
    <p:sldId id="410" r:id="rId29"/>
    <p:sldId id="292" r:id="rId30"/>
    <p:sldId id="299" r:id="rId31"/>
    <p:sldId id="419" r:id="rId32"/>
    <p:sldId id="428" r:id="rId33"/>
    <p:sldId id="420" r:id="rId34"/>
    <p:sldId id="421" r:id="rId35"/>
    <p:sldId id="422" r:id="rId36"/>
    <p:sldId id="429" r:id="rId37"/>
    <p:sldId id="423" r:id="rId38"/>
    <p:sldId id="424" r:id="rId39"/>
    <p:sldId id="398" r:id="rId40"/>
    <p:sldId id="431" r:id="rId41"/>
    <p:sldId id="430" r:id="rId42"/>
    <p:sldId id="425" r:id="rId43"/>
    <p:sldId id="338" r:id="rId44"/>
    <p:sldId id="395" r:id="rId45"/>
    <p:sldId id="396" r:id="rId46"/>
    <p:sldId id="306" r:id="rId47"/>
    <p:sldId id="265" r:id="rId4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45" autoAdjust="0"/>
    <p:restoredTop sz="85351" autoAdjust="0"/>
  </p:normalViewPr>
  <p:slideViewPr>
    <p:cSldViewPr snapToGrid="0">
      <p:cViewPr varScale="1">
        <p:scale>
          <a:sx n="63" d="100"/>
          <a:sy n="63" d="100"/>
        </p:scale>
        <p:origin x="102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9F23C5-D79E-FEA4-B74E-098BF94B1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D909D08-D934-578A-D3C6-F349020FC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854B9EF-FF47-6D40-8F4E-85E653BEC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Um outlier é uma observação anormal em relação ao conjunto de dados</a:t>
            </a:r>
            <a:r>
              <a:rPr lang="pt-BR" dirty="0"/>
              <a:t>, </a:t>
            </a:r>
          </a:p>
          <a:p>
            <a:endParaRPr lang="pt-BR" dirty="0"/>
          </a:p>
          <a:p>
            <a:r>
              <a:rPr lang="pt-BR" b="1" dirty="0"/>
              <a:t>Um padrão raro pode representar um comportamento legítimo, porém pouco frequente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CC5A4E-3D9D-7285-8F3F-C33B2C50E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26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 err="1"/>
                  <a:t>Os</a:t>
                </a:r>
                <a:r>
                  <a:rPr lang="en-US" b="1" dirty="0"/>
                  <a:t> </a:t>
                </a:r>
                <a:r>
                  <a:rPr lang="en-US" b="1" dirty="0" err="1"/>
                  <a:t>centróides</a:t>
                </a:r>
                <a:r>
                  <a:rPr lang="en-US" b="1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mais</a:t>
                </a:r>
                <a:r>
                  <a:rPr lang="en-US" b="1" dirty="0"/>
                  <a:t> (</a:t>
                </a:r>
                <a:r>
                  <a:rPr lang="en-US" b="1" dirty="0" err="1"/>
                  <a:t>ou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muito</a:t>
                </a:r>
                <a:r>
                  <a:rPr lang="en-US" b="1" dirty="0"/>
                  <a:t> </a:t>
                </a:r>
                <a:r>
                  <a:rPr lang="en-US" b="1" dirty="0" err="1"/>
                  <a:t>pouco</a:t>
                </a:r>
                <a:r>
                  <a:rPr lang="en-US" b="1" dirty="0"/>
                  <a:t>)</a:t>
                </a:r>
                <a:r>
                  <a:rPr lang="en-US" dirty="0"/>
                  <a:t/>
                </a:r>
                <a:br>
                  <a:rPr lang="en-US" dirty="0"/>
                </a:br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para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posição</a:t>
                </a:r>
                <a:r>
                  <a:rPr lang="en-US" dirty="0"/>
                  <a:t> dos </a:t>
                </a:r>
                <a:r>
                  <a:rPr lang="en-US" dirty="0" err="1"/>
                  <a:t>centróides</a:t>
                </a:r>
                <a:r>
                  <a:rPr lang="en-US" dirty="0"/>
                  <a:t> entre duas </a:t>
                </a:r>
                <a:r>
                  <a:rPr lang="en-US" dirty="0" err="1"/>
                  <a:t>iterações</a:t>
                </a:r>
                <a:r>
                  <a:rPr lang="en-US" dirty="0"/>
                  <a:t> </a:t>
                </a:r>
                <a:r>
                  <a:rPr lang="en-US" dirty="0" err="1"/>
                  <a:t>consecutivas</a:t>
                </a:r>
                <a:r>
                  <a:rPr lang="en-US" dirty="0"/>
                  <a:t> é </a:t>
                </a:r>
                <a:r>
                  <a:rPr lang="en-US" dirty="0" err="1"/>
                  <a:t>igual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inferior a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tolerância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𝜀</m:t>
                    </m:r>
                  </m:oMath>
                </a14:m>
                <a:r>
                  <a:rPr lang="en-US" dirty="0"/>
                  <a:t>. Este é o </a:t>
                </a:r>
                <a:r>
                  <a:rPr lang="en-US" dirty="0" err="1"/>
                  <a:t>critério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utilizado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 </a:t>
                </a:r>
                <a:r>
                  <a:rPr lang="en-US" b="1" dirty="0" err="1"/>
                  <a:t>redução</a:t>
                </a:r>
                <a:r>
                  <a:rPr lang="en-US" b="1" dirty="0"/>
                  <a:t> da </a:t>
                </a:r>
                <a:r>
                  <a:rPr lang="en-US" b="1" dirty="0" err="1"/>
                  <a:t>função</a:t>
                </a:r>
                <a:r>
                  <a:rPr lang="en-US" b="1" dirty="0"/>
                  <a:t> </a:t>
                </a:r>
                <a:r>
                  <a:rPr lang="en-US" b="1" dirty="0" err="1"/>
                  <a:t>objetivo</a:t>
                </a:r>
                <a:r>
                  <a:rPr lang="en-US" b="1" dirty="0"/>
                  <a:t> </a:t>
                </a:r>
                <a:r>
                  <a:rPr lang="en-US" b="1" dirty="0" err="1"/>
                  <a:t>torna</a:t>
                </a:r>
                <a:r>
                  <a:rPr lang="en-US" b="1" dirty="0"/>
                  <a:t>-se </a:t>
                </a:r>
                <a:r>
                  <a:rPr lang="en-US" b="1" dirty="0" err="1"/>
                  <a:t>desprezível</a:t>
                </a:r>
                <a:r>
                  <a:rPr lang="en-US" dirty="0"/>
                  <a:t/>
                </a:r>
                <a:br>
                  <a:rPr lang="en-US" dirty="0"/>
                </a:br>
                <a:r>
                  <a:rPr lang="en-US" dirty="0"/>
                  <a:t>O K-means </a:t>
                </a:r>
                <a:r>
                  <a:rPr lang="en-US" dirty="0" err="1"/>
                  <a:t>minimiza</a:t>
                </a:r>
                <a:r>
                  <a:rPr lang="en-US" dirty="0"/>
                  <a:t> a soma dos </a:t>
                </a:r>
                <a:r>
                  <a:rPr lang="en-US" dirty="0" err="1"/>
                  <a:t>erros</a:t>
                </a:r>
                <a:r>
                  <a:rPr lang="en-US" dirty="0"/>
                  <a:t> </a:t>
                </a:r>
                <a:r>
                  <a:rPr lang="en-US" dirty="0" err="1"/>
                  <a:t>quadráticos</a:t>
                </a:r>
                <a:r>
                  <a:rPr lang="en-US" dirty="0"/>
                  <a:t> </a:t>
                </a:r>
                <a:r>
                  <a:rPr lang="en-US" dirty="0" err="1"/>
                  <a:t>intracluster</a:t>
                </a:r>
                <a:r>
                  <a:rPr lang="en-US" dirty="0"/>
                  <a:t> (Within-Cluster Sum of Squares – WCSS):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𝐽</m:t>
                      </m:r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𝐾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sSub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𝜇</m:t>
                          </m:r>
                        </m:e>
                        <m:sub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</m:sSub>
                      <m:sSup>
                        <m:sSup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∥</m:t>
                          </m:r>
                        </m:e>
                        <m:sup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ser </a:t>
                </a:r>
                <a:r>
                  <a:rPr lang="en-US" dirty="0" err="1"/>
                  <a:t>interrompido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∣</m:t>
                      </m:r>
                      <m:sSup>
                        <m:sSup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𝐽</m:t>
                          </m:r>
                        </m:e>
                        <m:sup>
                          <m:d>
                            <m:dPr>
                              <m:ctrlP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p>
                        <m:sSupPr>
                          <m:ctrlP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𝐽</m:t>
                          </m:r>
                        </m:e>
                        <m:sup>
                          <m:d>
                            <m:dPr>
                              <m:ctrlP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lang="en-US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𝑡</m:t>
                              </m:r>
                              <m: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−1</m:t>
                              </m:r>
                            </m:e>
                          </m:d>
                        </m:sup>
                      </m:sSup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∣&lt;</m:t>
                      </m:r>
                      <m:r>
                        <a:rPr lang="en-US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redução</a:t>
                </a:r>
                <a:r>
                  <a:rPr lang="en-US" dirty="0"/>
                  <a:t> </a:t>
                </a:r>
                <a:r>
                  <a:rPr lang="en-US" dirty="0" err="1"/>
                  <a:t>relativa</a:t>
                </a:r>
                <a:r>
                  <a:rPr lang="en-US" dirty="0"/>
                  <a:t> da </a:t>
                </a:r>
                <a:r>
                  <a:rPr lang="en-US" dirty="0" err="1"/>
                  <a:t>função</a:t>
                </a:r>
                <a:r>
                  <a:rPr lang="en-US" dirty="0"/>
                  <a:t> </a:t>
                </a:r>
                <a:r>
                  <a:rPr lang="en-US" dirty="0" err="1"/>
                  <a:t>custo</a:t>
                </a:r>
                <a:r>
                  <a:rPr lang="en-US" dirty="0"/>
                  <a:t> </a:t>
                </a:r>
                <a:r>
                  <a:rPr lang="en-US" dirty="0" err="1"/>
                  <a:t>fica</a:t>
                </a:r>
                <a:r>
                  <a:rPr lang="en-US" dirty="0"/>
                  <a:t> </a:t>
                </a:r>
                <a:r>
                  <a:rPr lang="en-US" dirty="0" err="1"/>
                  <a:t>abaixo</a:t>
                </a:r>
                <a:r>
                  <a:rPr lang="en-US" dirty="0"/>
                  <a:t> de um </a:t>
                </a:r>
                <a:r>
                  <a:rPr lang="en-US" dirty="0" err="1"/>
                  <a:t>limiar</a:t>
                </a:r>
                <a:r>
                  <a:rPr lang="en-US" dirty="0"/>
                  <a:t> </a:t>
                </a:r>
                <a:r>
                  <a:rPr lang="en-US" dirty="0" err="1"/>
                  <a:t>pré-definido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 err="1"/>
                  <a:t>Os</a:t>
                </a:r>
                <a:r>
                  <a:rPr lang="en-US" b="1" dirty="0"/>
                  <a:t> </a:t>
                </a:r>
                <a:r>
                  <a:rPr lang="en-US" b="1" dirty="0" err="1"/>
                  <a:t>centróides</a:t>
                </a:r>
                <a:r>
                  <a:rPr lang="en-US" b="1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mais</a:t>
                </a:r>
                <a:r>
                  <a:rPr lang="en-US" b="1" dirty="0"/>
                  <a:t> (</a:t>
                </a:r>
                <a:r>
                  <a:rPr lang="en-US" b="1" dirty="0" err="1"/>
                  <a:t>ou</a:t>
                </a:r>
                <a:r>
                  <a:rPr lang="en-US" b="1" dirty="0"/>
                  <a:t> </a:t>
                </a:r>
                <a:r>
                  <a:rPr lang="en-US" b="1" dirty="0" err="1"/>
                  <a:t>mudam</a:t>
                </a:r>
                <a:r>
                  <a:rPr lang="en-US" b="1" dirty="0"/>
                  <a:t> </a:t>
                </a:r>
                <a:r>
                  <a:rPr lang="en-US" b="1" dirty="0" err="1"/>
                  <a:t>muito</a:t>
                </a:r>
                <a:r>
                  <a:rPr lang="en-US" b="1" dirty="0"/>
                  <a:t> </a:t>
                </a:r>
                <a:r>
                  <a:rPr lang="en-US" b="1" dirty="0" err="1"/>
                  <a:t>pouco</a:t>
                </a:r>
                <a:r>
                  <a:rPr lang="en-US" b="1" dirty="0"/>
                  <a:t>)</a:t>
                </a:r>
                <a:br>
                  <a:rPr lang="en-US" dirty="0"/>
                </a:br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para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posição</a:t>
                </a:r>
                <a:r>
                  <a:rPr lang="en-US" dirty="0"/>
                  <a:t> dos </a:t>
                </a:r>
                <a:r>
                  <a:rPr lang="en-US" dirty="0" err="1"/>
                  <a:t>centróides</a:t>
                </a:r>
                <a:r>
                  <a:rPr lang="en-US" dirty="0"/>
                  <a:t> entre duas </a:t>
                </a:r>
                <a:r>
                  <a:rPr lang="en-US" dirty="0" err="1"/>
                  <a:t>iterações</a:t>
                </a:r>
                <a:r>
                  <a:rPr lang="en-US" dirty="0"/>
                  <a:t> </a:t>
                </a:r>
                <a:r>
                  <a:rPr lang="en-US" dirty="0" err="1"/>
                  <a:t>consecutivas</a:t>
                </a:r>
                <a:r>
                  <a:rPr lang="en-US" dirty="0"/>
                  <a:t> é </a:t>
                </a:r>
                <a:r>
                  <a:rPr lang="en-US" dirty="0" err="1"/>
                  <a:t>igual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inferior a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tolerância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𝜀</a:t>
                </a:r>
                <a:r>
                  <a:rPr lang="en-US" dirty="0"/>
                  <a:t>. Este é o </a:t>
                </a:r>
                <a:r>
                  <a:rPr lang="en-US" dirty="0" err="1"/>
                  <a:t>critério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utilizado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 </a:t>
                </a:r>
                <a:r>
                  <a:rPr lang="en-US" b="1" dirty="0" err="1"/>
                  <a:t>redução</a:t>
                </a:r>
                <a:r>
                  <a:rPr lang="en-US" b="1" dirty="0"/>
                  <a:t> da </a:t>
                </a:r>
                <a:r>
                  <a:rPr lang="en-US" b="1" dirty="0" err="1"/>
                  <a:t>função</a:t>
                </a:r>
                <a:r>
                  <a:rPr lang="en-US" b="1" dirty="0"/>
                  <a:t> </a:t>
                </a:r>
                <a:r>
                  <a:rPr lang="en-US" b="1" dirty="0" err="1"/>
                  <a:t>objetivo</a:t>
                </a:r>
                <a:r>
                  <a:rPr lang="en-US" b="1" dirty="0"/>
                  <a:t> </a:t>
                </a:r>
                <a:r>
                  <a:rPr lang="en-US" b="1" dirty="0" err="1"/>
                  <a:t>torna</a:t>
                </a:r>
                <a:r>
                  <a:rPr lang="en-US" b="1" dirty="0"/>
                  <a:t>-se </a:t>
                </a:r>
                <a:r>
                  <a:rPr lang="en-US" b="1" dirty="0" err="1"/>
                  <a:t>desprezível</a:t>
                </a:r>
                <a:br>
                  <a:rPr lang="en-US" dirty="0"/>
                </a:br>
                <a:r>
                  <a:rPr lang="en-US" dirty="0"/>
                  <a:t>O K-means </a:t>
                </a:r>
                <a:r>
                  <a:rPr lang="en-US" dirty="0" err="1"/>
                  <a:t>minimiza</a:t>
                </a:r>
                <a:r>
                  <a:rPr lang="en-US" dirty="0"/>
                  <a:t> a soma dos </a:t>
                </a:r>
                <a:r>
                  <a:rPr lang="en-US" dirty="0" err="1"/>
                  <a:t>erros</a:t>
                </a:r>
                <a:r>
                  <a:rPr lang="en-US" dirty="0"/>
                  <a:t> </a:t>
                </a:r>
                <a:r>
                  <a:rPr lang="en-US" dirty="0" err="1"/>
                  <a:t>quadráticos</a:t>
                </a:r>
                <a:r>
                  <a:rPr lang="en-US" dirty="0"/>
                  <a:t> </a:t>
                </a:r>
                <a:r>
                  <a:rPr lang="en-US" dirty="0" err="1"/>
                  <a:t>intracluster</a:t>
                </a:r>
                <a:r>
                  <a:rPr lang="en-US" dirty="0"/>
                  <a:t> (Within-Cluster Sum of Squares – WCSS):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𝐽=∑130_(𝑘=1)^𝐾▒∑1_(𝑥_𝑖∈𝐶_𝑘)▒∥ 𝑥_𝑖−𝜇_𝑘 ∥^2</a:t>
                </a:r>
                <a:endParaRPr lang="en-US" dirty="0"/>
              </a:p>
              <a:p>
                <a:r>
                  <a:rPr lang="en-US" dirty="0"/>
                  <a:t>O </a:t>
                </a:r>
                <a:r>
                  <a:rPr lang="en-US" dirty="0" err="1"/>
                  <a:t>algoritmo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ser </a:t>
                </a:r>
                <a:r>
                  <a:rPr lang="en-US" dirty="0" err="1"/>
                  <a:t>interrompido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∣𝐽^((𝑡) )−𝐽^((𝑡−1) )∣&lt;𝜀</a:t>
                </a:r>
                <a:endParaRPr lang="en-US" dirty="0"/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 a </a:t>
                </a:r>
                <a:r>
                  <a:rPr lang="en-US" dirty="0" err="1"/>
                  <a:t>redução</a:t>
                </a:r>
                <a:r>
                  <a:rPr lang="en-US" dirty="0"/>
                  <a:t> </a:t>
                </a:r>
                <a:r>
                  <a:rPr lang="en-US" dirty="0" err="1"/>
                  <a:t>relativa</a:t>
                </a:r>
                <a:r>
                  <a:rPr lang="en-US" dirty="0"/>
                  <a:t> da </a:t>
                </a:r>
                <a:r>
                  <a:rPr lang="en-US" dirty="0" err="1"/>
                  <a:t>função</a:t>
                </a:r>
                <a:r>
                  <a:rPr lang="en-US" dirty="0"/>
                  <a:t> </a:t>
                </a:r>
                <a:r>
                  <a:rPr lang="en-US" dirty="0" err="1"/>
                  <a:t>custo</a:t>
                </a:r>
                <a:r>
                  <a:rPr lang="en-US" dirty="0"/>
                  <a:t> </a:t>
                </a:r>
                <a:r>
                  <a:rPr lang="en-US" dirty="0" err="1"/>
                  <a:t>fica</a:t>
                </a:r>
                <a:r>
                  <a:rPr lang="en-US" dirty="0"/>
                  <a:t> </a:t>
                </a:r>
                <a:r>
                  <a:rPr lang="en-US" dirty="0" err="1"/>
                  <a:t>abaixo</a:t>
                </a:r>
                <a:r>
                  <a:rPr lang="en-US" dirty="0"/>
                  <a:t> de um </a:t>
                </a:r>
                <a:r>
                  <a:rPr lang="en-US" dirty="0" err="1"/>
                  <a:t>limiar</a:t>
                </a:r>
                <a:r>
                  <a:rPr lang="en-US" dirty="0"/>
                  <a:t> </a:t>
                </a:r>
                <a:r>
                  <a:rPr lang="en-US" dirty="0" err="1"/>
                  <a:t>pré-definido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574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</a:t>
            </a:r>
            <a:r>
              <a:rPr lang="en-US" dirty="0" err="1"/>
              <a:t>você</a:t>
            </a:r>
            <a:r>
              <a:rPr lang="en-US" dirty="0"/>
              <a:t> </a:t>
            </a:r>
            <a:r>
              <a:rPr lang="en-US" dirty="0" err="1"/>
              <a:t>executar</a:t>
            </a:r>
            <a:r>
              <a:rPr lang="en-US" dirty="0"/>
              <a:t> o K-means </a:t>
            </a:r>
            <a:r>
              <a:rPr lang="en-US" dirty="0" err="1"/>
              <a:t>várias</a:t>
            </a:r>
            <a:r>
              <a:rPr lang="en-US" dirty="0"/>
              <a:t> </a:t>
            </a:r>
            <a:r>
              <a:rPr lang="en-US" dirty="0" err="1"/>
              <a:t>vezes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o </a:t>
            </a:r>
            <a:r>
              <a:rPr lang="en-US" b="1" dirty="0" err="1"/>
              <a:t>mesmo</a:t>
            </a:r>
            <a:r>
              <a:rPr lang="en-US" b="1" dirty="0"/>
              <a:t> conjunto de dados</a:t>
            </a:r>
            <a:r>
              <a:rPr lang="en-US" dirty="0"/>
              <a:t>, mas com </a:t>
            </a:r>
            <a:r>
              <a:rPr lang="en-US" b="1" dirty="0" err="1"/>
              <a:t>inicializações</a:t>
            </a:r>
            <a:r>
              <a:rPr lang="en-US" b="1" dirty="0"/>
              <a:t> </a:t>
            </a:r>
            <a:r>
              <a:rPr lang="en-US" b="1" dirty="0" err="1"/>
              <a:t>aleatórias</a:t>
            </a:r>
            <a:r>
              <a:rPr lang="en-US" b="1" dirty="0"/>
              <a:t> </a:t>
            </a:r>
            <a:r>
              <a:rPr lang="en-US" b="1" dirty="0" err="1"/>
              <a:t>diferentes</a:t>
            </a:r>
            <a:r>
              <a:rPr lang="en-US" dirty="0"/>
              <a:t>, o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convergir</a:t>
            </a:r>
            <a:r>
              <a:rPr lang="en-US" dirty="0"/>
              <a:t> para </a:t>
            </a:r>
            <a:r>
              <a:rPr lang="en-US" b="1" dirty="0" err="1"/>
              <a:t>centróides</a:t>
            </a:r>
            <a:r>
              <a:rPr lang="en-US" b="1" dirty="0"/>
              <a:t> </a:t>
            </a:r>
            <a:r>
              <a:rPr lang="en-US" b="1" dirty="0" err="1"/>
              <a:t>finais</a:t>
            </a:r>
            <a:r>
              <a:rPr lang="en-US" b="1" dirty="0"/>
              <a:t> </a:t>
            </a:r>
            <a:r>
              <a:rPr lang="en-US" b="1" dirty="0" err="1"/>
              <a:t>diferentes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posições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, e </a:t>
            </a:r>
            <a:r>
              <a:rPr lang="en-US" dirty="0" err="1"/>
              <a:t>até</a:t>
            </a:r>
            <a:r>
              <a:rPr lang="en-US" dirty="0"/>
              <a:t>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produzir</a:t>
            </a:r>
            <a:r>
              <a:rPr lang="en-US" dirty="0"/>
              <a:t> </a:t>
            </a:r>
            <a:r>
              <a:rPr lang="en-US" dirty="0" err="1"/>
              <a:t>partições</a:t>
            </a:r>
            <a:r>
              <a:rPr lang="en-US" dirty="0"/>
              <a:t> </a:t>
            </a:r>
            <a:r>
              <a:rPr lang="en-US" dirty="0" err="1"/>
              <a:t>distintas</a:t>
            </a:r>
            <a:r>
              <a:rPr lang="en-US" dirty="0"/>
              <a:t> dos dados.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ocorre</a:t>
            </a:r>
            <a:r>
              <a:rPr lang="en-US" dirty="0"/>
              <a:t> </a:t>
            </a:r>
            <a:r>
              <a:rPr lang="en-US" dirty="0" err="1"/>
              <a:t>porque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dirty="0" err="1"/>
              <a:t>objetivo</a:t>
            </a:r>
            <a:r>
              <a:rPr lang="en-US" dirty="0"/>
              <a:t> do K-means é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convexa</a:t>
            </a:r>
            <a:r>
              <a:rPr lang="en-US" dirty="0"/>
              <a:t> e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diversos</a:t>
            </a:r>
            <a:r>
              <a:rPr lang="en-US" dirty="0"/>
              <a:t> </a:t>
            </a:r>
            <a:r>
              <a:rPr lang="en-US" b="1" dirty="0" err="1"/>
              <a:t>mínimos</a:t>
            </a:r>
            <a:r>
              <a:rPr lang="en-US" b="1" dirty="0"/>
              <a:t> </a:t>
            </a:r>
            <a:r>
              <a:rPr lang="en-US" b="1" dirty="0" err="1"/>
              <a:t>locais</a:t>
            </a:r>
            <a:r>
              <a:rPr lang="en-US" dirty="0"/>
              <a:t>. </a:t>
            </a:r>
            <a:r>
              <a:rPr lang="en-US" dirty="0" err="1"/>
              <a:t>Dependendo</a:t>
            </a:r>
            <a:r>
              <a:rPr lang="en-US" dirty="0"/>
              <a:t> do </a:t>
            </a:r>
            <a:r>
              <a:rPr lang="en-US" dirty="0" err="1"/>
              <a:t>ponto</a:t>
            </a:r>
            <a:r>
              <a:rPr lang="en-US" dirty="0"/>
              <a:t> de </a:t>
            </a:r>
            <a:r>
              <a:rPr lang="en-US" dirty="0" err="1"/>
              <a:t>partida</a:t>
            </a:r>
            <a:r>
              <a:rPr lang="en-US" dirty="0"/>
              <a:t>, o </a:t>
            </a:r>
            <a:r>
              <a:rPr lang="en-US" dirty="0" err="1"/>
              <a:t>algoritmo</a:t>
            </a:r>
            <a:r>
              <a:rPr lang="en-US" dirty="0"/>
              <a:t> de Lloyd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convergir</a:t>
            </a:r>
            <a:r>
              <a:rPr lang="en-US" dirty="0"/>
              <a:t> para </a:t>
            </a:r>
            <a:r>
              <a:rPr lang="en-US" dirty="0" err="1"/>
              <a:t>soluções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163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9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54834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23284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Interpretação</a:t>
            </a:r>
          </a:p>
          <a:p>
            <a:r>
              <a:rPr lang="pt-BR" dirty="0" smtClean="0"/>
              <a:t>Quando KKK aumenta, o WCSS sempre diminui. </a:t>
            </a:r>
          </a:p>
          <a:p>
            <a:r>
              <a:rPr lang="pt-BR" dirty="0" smtClean="0"/>
              <a:t>Inicialmente, a redução é grande. </a:t>
            </a:r>
          </a:p>
          <a:p>
            <a:r>
              <a:rPr lang="pt-BR" dirty="0" smtClean="0"/>
              <a:t>Após certo ponto, adicionar novos clusters produz apenas pequenas melhorias. </a:t>
            </a:r>
          </a:p>
          <a:p>
            <a:r>
              <a:rPr lang="pt-BR" dirty="0" smtClean="0"/>
              <a:t>O ponto de transição ("cotovelo") é escolhido como o valor adequado de KKK.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5605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BFBD800-01D7-A39D-E846-C72D571F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01EBC9F-B5E3-BEC3-6A71-51DF0B468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AF5EA39-9E7E-D2B5-F484-0F0F8EAFE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463EA5E-3249-B642-7821-23B1956811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36791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7094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2EC8DCE-580C-2F9B-DF93-13AF21CDB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1806667-3C3D-BBFD-E722-236A60B9F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6F46484-F59D-5D1E-9E45-354EC353F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DA842C5-AFF6-0C16-1C6E-4863960E8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8150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2B3B1D1-6413-D653-7A60-836376734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3CA87F6-A2F4-78FD-E0E9-0EC825294E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C1A12C-F471-DFC3-36FF-9A5E37C18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Gaussian Mixture Model (GMM)</a:t>
            </a:r>
            <a:r>
              <a:rPr lang="en-US" dirty="0"/>
              <a:t> é um </a:t>
            </a:r>
            <a:r>
              <a:rPr lang="en-US" dirty="0" err="1"/>
              <a:t>método</a:t>
            </a:r>
            <a:r>
              <a:rPr lang="en-US" dirty="0"/>
              <a:t> </a:t>
            </a:r>
            <a:r>
              <a:rPr lang="en-US" dirty="0" err="1"/>
              <a:t>probabilístico</a:t>
            </a:r>
            <a:r>
              <a:rPr lang="en-US" dirty="0"/>
              <a:t> de </a:t>
            </a:r>
            <a:r>
              <a:rPr lang="en-US" dirty="0" err="1"/>
              <a:t>agrupamento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combinação</a:t>
            </a:r>
            <a:r>
              <a:rPr lang="en-US" dirty="0"/>
              <a:t> de </a:t>
            </a:r>
            <a:r>
              <a:rPr lang="en-US" dirty="0" err="1"/>
              <a:t>múltiplas</a:t>
            </a:r>
            <a:r>
              <a:rPr lang="en-US" dirty="0"/>
              <a:t> </a:t>
            </a:r>
            <a:r>
              <a:rPr lang="en-US" dirty="0" err="1"/>
              <a:t>distribuições</a:t>
            </a:r>
            <a:r>
              <a:rPr lang="en-US" dirty="0"/>
              <a:t> </a:t>
            </a:r>
            <a:r>
              <a:rPr lang="en-US" dirty="0" err="1"/>
              <a:t>Gaussianas</a:t>
            </a:r>
            <a:r>
              <a:rPr lang="en-US" dirty="0"/>
              <a:t>. </a:t>
            </a:r>
            <a:r>
              <a:rPr lang="en-US" dirty="0" err="1"/>
              <a:t>Diferentemente</a:t>
            </a:r>
            <a:r>
              <a:rPr lang="en-US" dirty="0"/>
              <a:t> do K-means, </a:t>
            </a:r>
            <a:r>
              <a:rPr lang="en-US" dirty="0" err="1"/>
              <a:t>fornece</a:t>
            </a:r>
            <a:r>
              <a:rPr lang="en-US" dirty="0"/>
              <a:t> </a:t>
            </a:r>
            <a:r>
              <a:rPr lang="en-US" dirty="0" err="1"/>
              <a:t>probabilidades</a:t>
            </a:r>
            <a:r>
              <a:rPr lang="en-US" dirty="0"/>
              <a:t> de </a:t>
            </a:r>
            <a:r>
              <a:rPr lang="en-US" dirty="0" err="1"/>
              <a:t>pertencimento</a:t>
            </a:r>
            <a:r>
              <a:rPr lang="en-US" dirty="0"/>
              <a:t> </a:t>
            </a:r>
            <a:r>
              <a:rPr lang="en-US" dirty="0" err="1"/>
              <a:t>aos</a:t>
            </a:r>
            <a:r>
              <a:rPr lang="en-US" dirty="0"/>
              <a:t> clusters (soft clustering) e </a:t>
            </a:r>
            <a:r>
              <a:rPr lang="en-US" dirty="0" err="1"/>
              <a:t>consegue</a:t>
            </a:r>
            <a:r>
              <a:rPr lang="en-US" dirty="0"/>
              <a:t>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grupos</a:t>
            </a:r>
            <a:r>
              <a:rPr lang="en-US" dirty="0"/>
              <a:t> com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elípticos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meio</a:t>
            </a:r>
            <a:r>
              <a:rPr lang="en-US" dirty="0"/>
              <a:t> das </a:t>
            </a:r>
            <a:r>
              <a:rPr lang="en-US" dirty="0" err="1"/>
              <a:t>matrizes</a:t>
            </a:r>
            <a:r>
              <a:rPr lang="en-US" dirty="0"/>
              <a:t> de </a:t>
            </a:r>
            <a:r>
              <a:rPr lang="en-US" dirty="0" err="1"/>
              <a:t>covariância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A34F87-060F-2F08-5989-3D2AAB512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8645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https://colab.research.google.com/github/zz4fap/c24_inteligencia_artificial/blob/master/notebooks/kmeans.ipynb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kmeans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jpeg"/><Relationship Id="rId4" Type="http://schemas.openxmlformats.org/officeDocument/2006/relationships/image" Target="../media/image4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3%20-%20k-Means.pdf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5" Type="http://schemas.openxmlformats.org/officeDocument/2006/relationships/image" Target="../media/image47.jpeg"/><Relationship Id="rId4" Type="http://schemas.openxmlformats.org/officeDocument/2006/relationships/image" Target="../media/image4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</a:t>
            </a:r>
            <a:r>
              <a:rPr lang="pt-BR" b="1" dirty="0">
                <a:solidFill>
                  <a:schemeClr val="accent2"/>
                </a:solidFill>
              </a:rPr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Não temos rótulos</a:t>
            </a:r>
            <a:r>
              <a:rPr lang="pt-BR" dirty="0"/>
              <a:t>, apenas atributos.</a:t>
            </a:r>
          </a:p>
          <a:p>
            <a:r>
              <a:rPr lang="pt-BR" dirty="0"/>
              <a:t>Eles visam criar </a:t>
            </a:r>
            <a:r>
              <a:rPr lang="pt-BR" b="1" dirty="0">
                <a:solidFill>
                  <a:srgbClr val="7030A0"/>
                </a:solidFill>
              </a:rPr>
              <a:t>agrupamentos</a:t>
            </a:r>
            <a:r>
              <a:rPr lang="pt-BR" dirty="0"/>
              <a:t>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Agrupamentos, grupos ou </a:t>
            </a:r>
            <a:r>
              <a:rPr lang="pt-BR" i="1" dirty="0"/>
              <a:t>clusters</a:t>
            </a:r>
            <a:r>
              <a:rPr lang="pt-BR" dirty="0"/>
              <a:t> são sinônimos neste contexto.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</a:t>
            </a:r>
            <a:r>
              <a:rPr lang="pt-BR" sz="2800" b="1" dirty="0">
                <a:solidFill>
                  <a:srgbClr val="7030A0"/>
                </a:solidFill>
              </a:rPr>
              <a:t>grupo</a:t>
            </a:r>
            <a:r>
              <a:rPr lang="pt-BR" sz="2800" b="1" dirty="0">
                <a:solidFill>
                  <a:schemeClr val="accent2"/>
                </a:solidFill>
              </a:rPr>
              <a:t> mais próximo</a:t>
            </a:r>
            <a:r>
              <a:rPr lang="pt-BR" sz="2800" dirty="0"/>
              <a:t>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167312"/>
          </a:xfrm>
        </p:spPr>
        <p:txBody>
          <a:bodyPr>
            <a:normAutofit/>
          </a:bodyPr>
          <a:lstStyle/>
          <a:p>
            <a:r>
              <a:rPr lang="pt-BR" dirty="0"/>
              <a:t>O que podemos fazer se </a:t>
            </a:r>
            <a:r>
              <a:rPr lang="pt-BR" b="1" dirty="0">
                <a:solidFill>
                  <a:schemeClr val="accent2"/>
                </a:solidFill>
              </a:rPr>
              <a:t>não tivermos informações sobre as classes </a:t>
            </a:r>
            <a:r>
              <a:rPr lang="pt-BR" dirty="0"/>
              <a:t>(i.e., rótulos) a que pertencem os exemplos?</a:t>
            </a:r>
          </a:p>
          <a:p>
            <a:r>
              <a:rPr lang="pt-BR" dirty="0"/>
              <a:t>Conseguimos extrair alguma informação útil?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828825"/>
            <a:ext cx="11211561" cy="2029173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aprendizado não-supervisionado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extrai estrutura e informações úteis de dados sem rótulos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i="1" dirty="0" err="1"/>
              <a:t>clustering</a:t>
            </a:r>
            <a:r>
              <a:rPr lang="pt-BR" dirty="0"/>
              <a:t> tenta </a:t>
            </a:r>
            <a:r>
              <a:rPr lang="pt-BR" b="1" dirty="0">
                <a:solidFill>
                  <a:srgbClr val="00B050"/>
                </a:solidFill>
              </a:rPr>
              <a:t>reproduzir como humanos organizam o mundo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agrupamos</a:t>
            </a:r>
            <a:r>
              <a:rPr lang="pt-BR" dirty="0"/>
              <a:t> objetos </a:t>
            </a:r>
            <a:r>
              <a:rPr lang="pt-BR" b="1" dirty="0">
                <a:solidFill>
                  <a:schemeClr val="accent2"/>
                </a:solidFill>
              </a:rPr>
              <a:t>por similaridade.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xmlns="" id="{FD3AFEA6-16E8-D562-210E-DDE126CC469D}"/>
              </a:ext>
            </a:extLst>
          </p:cNvPr>
          <p:cNvGrpSpPr/>
          <p:nvPr/>
        </p:nvGrpSpPr>
        <p:grpSpPr>
          <a:xfrm>
            <a:off x="2543308" y="1690688"/>
            <a:ext cx="7105384" cy="275939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xmlns="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xmlns="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xmlns="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</a:t>
            </a:r>
            <a:r>
              <a:rPr lang="pt-BR" b="1" dirty="0">
                <a:solidFill>
                  <a:srgbClr val="00B050"/>
                </a:solidFill>
              </a:rPr>
              <a:t>similaridade</a:t>
            </a:r>
            <a:r>
              <a:rPr lang="pt-BR" dirty="0"/>
              <a:t> </a:t>
            </a:r>
            <a:r>
              <a:rPr lang="pt-BR" b="1" dirty="0"/>
              <a:t>sem precisar de supervisão</a:t>
            </a:r>
            <a:r>
              <a:rPr lang="pt-BR" dirty="0"/>
              <a:t>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são os </a:t>
            </a:r>
            <a:r>
              <a:rPr lang="pt-BR" b="1" dirty="0">
                <a:solidFill>
                  <a:srgbClr val="00B050"/>
                </a:solidFill>
              </a:rPr>
              <a:t>centroides</a:t>
            </a:r>
            <a:r>
              <a:rPr lang="pt-BR" dirty="0"/>
              <a:t> e os </a:t>
            </a:r>
            <a:r>
              <a:rPr lang="pt-BR" b="1" dirty="0">
                <a:solidFill>
                  <a:srgbClr val="00B050"/>
                </a:solidFill>
              </a:rPr>
              <a:t>índices dos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328635" y="5041169"/>
            <a:ext cx="444230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</a:t>
            </a:r>
            <a:r>
              <a:rPr lang="pt-BR" sz="1600" i="1" dirty="0"/>
              <a:t>clusters</a:t>
            </a:r>
            <a:r>
              <a:rPr lang="pt-BR" sz="1600" dirty="0"/>
              <a:t> em um espaço bi ou tridimensional é fácil, mas em quatro ou mais dimensões isso já não é mais possível. Nesses casos, apenas algoritmos de identificação de </a:t>
            </a:r>
            <a:r>
              <a:rPr lang="pt-BR" sz="1600" i="1" dirty="0"/>
              <a:t>clusters</a:t>
            </a:r>
            <a:r>
              <a:rPr lang="pt-BR" sz="1600" dirty="0"/>
              <a:t>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1440" y="1825624"/>
            <a:ext cx="7020559" cy="5032375"/>
          </a:xfrm>
        </p:spPr>
        <p:txBody>
          <a:bodyPr>
            <a:normAutofit/>
          </a:bodyPr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r>
              <a:rPr lang="en-US" dirty="0"/>
              <a:t> e</a:t>
            </a:r>
            <a:r>
              <a:rPr lang="pt-BR" dirty="0"/>
              <a:t> dimensionalidade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</a:t>
            </a:r>
            <a:r>
              <a:rPr lang="pt-BR" b="1" dirty="0">
                <a:solidFill>
                  <a:schemeClr val="accent2"/>
                </a:solidFill>
              </a:rPr>
              <a:t>conjunto muito grande de dados</a:t>
            </a:r>
            <a:r>
              <a:rPr lang="pt-BR" dirty="0"/>
              <a:t>, podemos </a:t>
            </a:r>
            <a:r>
              <a:rPr lang="pt-BR" b="1" dirty="0">
                <a:solidFill>
                  <a:schemeClr val="accent2"/>
                </a:solidFill>
              </a:rPr>
              <a:t>armazenar os centroides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e/ou os índices correspondentes aos vetores de atributo</a:t>
            </a:r>
            <a:r>
              <a:rPr lang="pt-BR" dirty="0"/>
              <a:t> ao invés de todos os vetores de atributo.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ser usado para comprimir imagens.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Vetores de atributo muito longos </a:t>
            </a:r>
            <a:r>
              <a:rPr lang="pt-BR" dirty="0"/>
              <a:t>podem ser representados por um </a:t>
            </a:r>
            <a:r>
              <a:rPr lang="pt-BR" b="1" dirty="0">
                <a:solidFill>
                  <a:srgbClr val="7030A0"/>
                </a:solidFill>
              </a:rPr>
              <a:t>vetor com as distâncias a um conjunto de centroides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xmlns="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831676-6BED-CA70-6524-D513003A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4A038D5-B823-B9FD-D23F-5029CC4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9B68C4-7FDA-1A4B-497F-F6FD37E35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240" y="1825624"/>
            <a:ext cx="8239760" cy="5032375"/>
          </a:xfrm>
        </p:spPr>
        <p:txBody>
          <a:bodyPr>
            <a:normAutofit/>
          </a:bodyPr>
          <a:lstStyle/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novos atributos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e.g., o índice do </a:t>
            </a:r>
            <a:r>
              <a:rPr lang="pt-BR" i="1" dirty="0"/>
              <a:t>cluster</a:t>
            </a:r>
            <a:r>
              <a:rPr lang="pt-BR" dirty="0"/>
              <a:t>, distâncias até os </a:t>
            </a:r>
            <a:r>
              <a:rPr lang="pt-BR" i="1" dirty="0"/>
              <a:t>clusters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Muitos algoritmos (e.g., GMM) precisam definir centros iniciais.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do treinamento de modelos de aprendizado supervisionado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Identificar subgrupos implícitos (e.g., para treinar um modelo específico para cada subgrupo)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Detecção de </a:t>
            </a:r>
            <a:r>
              <a:rPr lang="pt-BR" i="1" dirty="0"/>
              <a:t>outliers</a:t>
            </a:r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xmlns="" id="{900BE683-11F2-C00F-2CDC-3D7D2CF03B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299721" y="2907700"/>
            <a:ext cx="3271456" cy="2451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986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identificar </a:t>
            </a:r>
            <a:r>
              <a:rPr lang="pt-BR" i="1" dirty="0"/>
              <a:t>clusters</a:t>
            </a:r>
            <a:r>
              <a:rPr lang="pt-BR" dirty="0"/>
              <a:t>, temos que primeiro </a:t>
            </a:r>
            <a:r>
              <a:rPr lang="pt-BR" b="1" dirty="0">
                <a:solidFill>
                  <a:srgbClr val="00B050"/>
                </a:solidFill>
              </a:rPr>
              <a:t>decidir como eles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</a:t>
            </a:r>
            <a:r>
              <a:rPr lang="pt-BR" b="1" dirty="0">
                <a:solidFill>
                  <a:schemeClr val="accent2"/>
                </a:solidFill>
              </a:rPr>
              <a:t>densidade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distribuição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hierarquia</a:t>
            </a:r>
            <a:r>
              <a:rPr lang="pt-BR" dirty="0"/>
              <a:t>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O algoritmo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Representa a </a:t>
            </a:r>
            <a:r>
              <a:rPr lang="pt-BR" b="1" dirty="0">
                <a:solidFill>
                  <a:srgbClr val="7030A0"/>
                </a:solidFill>
              </a:rPr>
              <a:t>"média" das amostras que pertencem a um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</a:t>
            </a:r>
            <a:r>
              <a:rPr lang="pt-BR" dirty="0" err="1"/>
              <a:t>GMMs</a:t>
            </a:r>
            <a:r>
              <a:rPr lang="pt-BR" dirty="0"/>
              <a:t>,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índice do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(ID)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até o </a:t>
            </a:r>
            <a:r>
              <a:rPr lang="pt-BR" dirty="0" err="1"/>
              <a:t>centróide</a:t>
            </a:r>
            <a:r>
              <a:rPr lang="pt-BR" dirty="0"/>
              <a:t> pode indicar </a:t>
            </a:r>
            <a:r>
              <a:rPr lang="pt-BR" i="1" dirty="0"/>
              <a:t>outlier</a:t>
            </a:r>
            <a:r>
              <a:rPr lang="pt-BR" dirty="0"/>
              <a:t> ou dado que foge do padrão (evento raro).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Se eles pertencem a um </a:t>
                </a:r>
                <a:r>
                  <a:rPr lang="pt-BR" i="1" dirty="0"/>
                  <a:t>cluster</a:t>
                </a:r>
                <a:r>
                  <a:rPr lang="pt-BR" dirty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aplicamos clusterização apenas a atributos numéricos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>
                <a:blip r:embed="rId3"/>
                <a:stretch>
                  <a:fillRect l="-1473" t="-1937" r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xmlns="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sobrepor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Cada amostra </a:t>
            </a:r>
            <a:r>
              <a:rPr lang="pt-BR" dirty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a um e apenas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</a:t>
            </a:r>
            <a:r>
              <a:rPr lang="pt-BR" b="1" i="1" dirty="0">
                <a:solidFill>
                  <a:srgbClr val="0070C0"/>
                </a:solidFill>
              </a:rPr>
              <a:t>cluster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amostras </a:t>
            </a:r>
            <a:r>
              <a:rPr lang="pt-BR" dirty="0"/>
              <a:t>devem estar relativamente </a:t>
            </a:r>
            <a:r>
              <a:rPr lang="pt-BR" b="1" dirty="0">
                <a:solidFill>
                  <a:srgbClr val="0070C0"/>
                </a:solidFill>
              </a:rPr>
              <a:t>próximas</a:t>
            </a:r>
            <a:r>
              <a:rPr lang="pt-BR" dirty="0"/>
              <a:t> umas das outras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das </a:t>
            </a:r>
            <a:r>
              <a:rPr lang="pt-BR" b="1" dirty="0">
                <a:solidFill>
                  <a:srgbClr val="7030A0"/>
                </a:solidFill>
              </a:rPr>
              <a:t>amostras dos 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pPr marL="0" indent="0" algn="ctr">
              <a:buNone/>
            </a:pPr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3532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</a:t>
            </a:r>
            <a:r>
              <a:rPr lang="pt-BR" i="1" dirty="0"/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</a:t>
            </a:r>
            <a:r>
              <a:rPr lang="pt-BR" i="1" dirty="0"/>
              <a:t>cluster</a:t>
            </a:r>
            <a:r>
              <a:rPr lang="pt-BR" dirty="0"/>
              <a:t>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 extremo, cada exemplo pode ser visto como representando seu próprio </a:t>
            </a:r>
            <a:r>
              <a:rPr lang="pt-BR" i="1" dirty="0"/>
              <a:t>cluster</a:t>
            </a:r>
            <a:r>
              <a:rPr lang="pt-BR" dirty="0"/>
              <a:t> de um único exemplo.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4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690688"/>
            <a:ext cx="7010400" cy="516731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</a:t>
            </a:r>
            <a:r>
              <a:rPr lang="pt-BR" b="1" dirty="0">
                <a:solidFill>
                  <a:schemeClr val="accent2"/>
                </a:solidFill>
              </a:rPr>
              <a:t>pedindo</a:t>
            </a:r>
            <a:r>
              <a:rPr lang="pt-BR" dirty="0"/>
              <a:t>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Existem diversos métodos para </a:t>
            </a:r>
            <a:r>
              <a:rPr lang="pt-BR" b="1" dirty="0">
                <a:solidFill>
                  <a:srgbClr val="00B050"/>
                </a:solidFill>
              </a:rPr>
              <a:t>otimizar o </a:t>
            </a:r>
            <a:r>
              <a:rPr lang="pt-BR" b="1" dirty="0" err="1">
                <a:solidFill>
                  <a:srgbClr val="00B050"/>
                </a:solidFill>
              </a:rPr>
              <a:t>hiperparâmetro</a:t>
            </a:r>
            <a:r>
              <a:rPr lang="pt-BR" b="1" dirty="0">
                <a:solidFill>
                  <a:srgbClr val="00B050"/>
                </a:solidFill>
              </a:rPr>
              <a:t> que define o número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, dentre eles, o mais usado é o </a:t>
            </a:r>
            <a:r>
              <a:rPr lang="pt-BR" b="1" dirty="0">
                <a:solidFill>
                  <a:schemeClr val="accent5"/>
                </a:solidFill>
              </a:rPr>
              <a:t>método do cotovelo</a:t>
            </a:r>
            <a:r>
              <a:rPr lang="pt-BR" dirty="0"/>
              <a:t>.</a:t>
            </a:r>
          </a:p>
          <a:p>
            <a:r>
              <a:rPr lang="pt-BR" dirty="0"/>
              <a:t>Veremos como ele funciona em breve.</a:t>
            </a:r>
          </a:p>
          <a:p>
            <a:r>
              <a:rPr lang="pt-BR" dirty="0"/>
              <a:t>Porém, antes, precisamos entender como os </a:t>
            </a:r>
            <a:r>
              <a:rPr lang="pt-BR" i="1" dirty="0"/>
              <a:t>clusters</a:t>
            </a:r>
            <a:r>
              <a:rPr lang="pt-BR" dirty="0"/>
              <a:t> são criados.</a:t>
            </a:r>
          </a:p>
          <a:p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xmlns="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5722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precisam 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uma amostra e 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é 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vetores</a:t>
                </a:r>
              </a:p>
              <a:p>
                <a:pPr marL="0" indent="0">
                  <a:buNone/>
                </a:pPr>
                <a:endParaRPr lang="pt-BR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são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ésimos</a:t>
                </a:r>
                <a:r>
                  <a:rPr lang="pt-BR" dirty="0"/>
                  <a:t> elementos dos vetores tendo sua distância calculada.</a:t>
                </a:r>
              </a:p>
              <a:p>
                <a:r>
                  <a:rPr lang="pt-BR" dirty="0"/>
                  <a:t>Outras medidas de distância: </a:t>
                </a:r>
                <a:r>
                  <a:rPr lang="pt-BR" dirty="0" err="1"/>
                  <a:t>Minkowski</a:t>
                </a:r>
                <a:r>
                  <a:rPr lang="pt-BR" dirty="0"/>
                  <a:t>, cosseno, Manhattan e </a:t>
                </a:r>
                <a:r>
                  <a:rPr lang="pt-BR" dirty="0" err="1"/>
                  <a:t>Mahalanobis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</a:t>
                </a:r>
                <a:r>
                  <a:rPr lang="pt-BR" i="1" dirty="0"/>
                  <a:t>clusters</a:t>
                </a:r>
                <a:r>
                  <a:rPr lang="pt-BR" dirty="0"/>
                  <a:t>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amostra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cluster</a:t>
                </a:r>
                <a:r>
                  <a:rPr lang="pt-BR" b="1" dirty="0">
                    <a:solidFill>
                      <a:schemeClr val="accent5"/>
                    </a:solidFill>
                  </a:rPr>
                  <a:t>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dirty="0" err="1"/>
                  <a:t>algortimo</a:t>
                </a:r>
                <a:r>
                  <a:rPr lang="pt-BR" dirty="0"/>
                  <a:t>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que define o número de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escolhidos do </a:t>
                </a:r>
                <a:r>
                  <a:rPr lang="pt-BR" i="1" dirty="0"/>
                  <a:t>dataset</a:t>
                </a:r>
                <a:r>
                  <a:rPr lang="pt-BR" dirty="0"/>
                  <a:t>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Atribua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 (menor distância).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/>
                  <a:t>cluster</a:t>
                </a:r>
                <a:r>
                  <a:rPr lang="pt-BR" dirty="0"/>
                  <a:t>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29640" y="2892425"/>
            <a:ext cx="10515600" cy="9937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Vejamos um exemplo</a:t>
            </a:r>
          </a:p>
        </p:txBody>
      </p:sp>
    </p:spTree>
    <p:extLst>
      <p:ext uri="{BB962C8B-B14F-4D97-AF65-F5344CB8AC3E}">
        <p14:creationId xmlns:p14="http://schemas.microsoft.com/office/powerpoint/2010/main" val="2538123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xmlns:a14="http://schemas.microsoft.com/office/drawing/2010/main" xmlns:mc="http://schemas.openxmlformats.org/markup-compatibility/2006" xmlns="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Quais são os </a:t>
            </a:r>
            <a:r>
              <a:rPr lang="pt-BR" i="1" dirty="0" smtClean="0"/>
              <a:t>clusters</a:t>
            </a:r>
            <a:r>
              <a:rPr lang="pt-BR" dirty="0" smtClean="0"/>
              <a:t> para os dados ao lado?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9394829D-4B20-87E4-723D-060131B1A09F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394829D-4B20-87E4-723D-060131B1A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8E080567-D2AB-8C1E-406B-08C7B8BE3295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E080567-D2AB-8C1E-406B-08C7B8BE3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/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1. Define-se o número de clusters,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7">
                <a:extLst>
                  <a:ext uri="{FF2B5EF4-FFF2-40B4-BE49-F238E27FC236}">
                    <a16:creationId xmlns:a16="http://schemas.microsoft.com/office/drawing/2014/main" xmlns="" id="{04EA9FAE-D371-68E0-2CB7-9C8893491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30" y="2475186"/>
                <a:ext cx="253299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2169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7">
                <a:extLst>
                  <a:ext uri="{FF2B5EF4-FFF2-40B4-BE49-F238E27FC236}">
                    <a16:creationId xmlns:a16="http://schemas.microsoft.com/office/drawing/2014/main" xmlns="" id="{94261EAA-BD9C-FEF4-0DB3-0E9FAB8B504D}"/>
                  </a:ext>
                </a:extLst>
              </p:cNvPr>
              <p:cNvSpPr txBox="1"/>
              <p:nvPr/>
            </p:nvSpPr>
            <p:spPr>
              <a:xfrm>
                <a:off x="253521" y="4100786"/>
                <a:ext cx="263281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 pode não ser o valor ideal.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Para encontrar o valor ideal, pode-se usar o método do cotovelo.</a:t>
                </a:r>
                <a:endParaRPr lang="en-US" dirty="0"/>
              </a:p>
            </p:txBody>
          </p:sp>
        </mc:Choice>
        <mc:Fallback xmlns="">
          <p:sp>
            <p:nvSpPr>
              <p:cNvPr id="3" name="TextBox 7">
                <a:extLst>
                  <a:ext uri="{FF2B5EF4-FFF2-40B4-BE49-F238E27FC236}">
                    <a16:creationId xmlns:a16="http://schemas.microsoft.com/office/drawing/2014/main" id="{94261EAA-BD9C-FEF4-0DB3-0E9FAB8B5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521" y="4100786"/>
                <a:ext cx="2632810" cy="1477328"/>
              </a:xfrm>
              <a:prstGeom prst="rect">
                <a:avLst/>
              </a:prstGeom>
              <a:blipFill>
                <a:blip r:embed="rId4"/>
                <a:stretch>
                  <a:fillRect l="-162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9394829D-4B20-87E4-723D-060131B1A09F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394829D-4B20-87E4-723D-060131B1A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8E080567-D2AB-8C1E-406B-08C7B8BE3295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E080567-D2AB-8C1E-406B-08C7B8BE3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897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7">
                <a:extLst>
                  <a:ext uri="{FF2B5EF4-FFF2-40B4-BE49-F238E27FC236}">
                    <a16:creationId xmlns:a16="http://schemas.microsoft.com/office/drawing/2014/main" xmlns="" id="{5D947541-89EC-69EF-1918-6EFD56E0B3C2}"/>
                  </a:ext>
                </a:extLst>
              </p:cNvPr>
              <p:cNvSpPr txBox="1"/>
              <p:nvPr/>
            </p:nvSpPr>
            <p:spPr>
              <a:xfrm>
                <a:off x="65746" y="2490952"/>
                <a:ext cx="29008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2. </a:t>
                </a:r>
                <a:r>
                  <a:rPr lang="en-US" dirty="0" err="1"/>
                  <a:t>Escolhe</a:t>
                </a:r>
                <a:r>
                  <a:rPr lang="en-US" dirty="0"/>
                  <a:t>-se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= 3 </a:t>
                </a:r>
                <a:r>
                  <a:rPr lang="en-US" dirty="0" err="1"/>
                  <a:t>centroides</a:t>
                </a:r>
                <a:r>
                  <a:rPr lang="en-US" dirty="0"/>
                  <a:t> (</a:t>
                </a:r>
                <a:r>
                  <a:rPr lang="en-US" dirty="0" err="1"/>
                  <a:t>cruzes</a:t>
                </a:r>
                <a:r>
                  <a:rPr lang="en-US" dirty="0"/>
                  <a:t> </a:t>
                </a:r>
                <a:r>
                  <a:rPr lang="en-US" dirty="0" err="1"/>
                  <a:t>coloridas</a:t>
                </a:r>
                <a:r>
                  <a:rPr lang="en-US" dirty="0"/>
                  <a:t>) para </a:t>
                </a:r>
                <a:r>
                  <a:rPr lang="en-US" dirty="0" err="1"/>
                  <a:t>cada</a:t>
                </a:r>
                <a:r>
                  <a:rPr lang="en-US" dirty="0"/>
                  <a:t> cluster de forma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aleatória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Box 7">
                <a:extLst>
                  <a:ext uri="{FF2B5EF4-FFF2-40B4-BE49-F238E27FC236}">
                    <a16:creationId xmlns:a16="http://schemas.microsoft.com/office/drawing/2014/main" id="{5D947541-89EC-69EF-1918-6EFD56E0B3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46" y="2490952"/>
                <a:ext cx="2900855" cy="1200329"/>
              </a:xfrm>
              <a:prstGeom prst="rect">
                <a:avLst/>
              </a:prstGeom>
              <a:blipFill>
                <a:blip r:embed="rId3"/>
                <a:stretch>
                  <a:fillRect l="-1891" t="-3046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7">
            <a:extLst>
              <a:ext uri="{FF2B5EF4-FFF2-40B4-BE49-F238E27FC236}">
                <a16:creationId xmlns:a16="http://schemas.microsoft.com/office/drawing/2014/main" xmlns="" id="{15C593E3-E791-E720-8381-43B9961E52D8}"/>
              </a:ext>
            </a:extLst>
          </p:cNvPr>
          <p:cNvSpPr txBox="1"/>
          <p:nvPr/>
        </p:nvSpPr>
        <p:spPr>
          <a:xfrm>
            <a:off x="253521" y="4100786"/>
            <a:ext cx="2632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No caso desse exemplo, os centroides são vetores bidimensionais.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E5331C65-AAE5-E2AD-B6DD-576B355B6874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E5331C65-AAE5-E2AD-B6DD-576B355B6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86008807-F6C3-2E5C-872D-2AE7E0F51759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86008807-F6C3-2E5C-872D-2AE7E0F51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8DA98CE-9EF5-3AD6-65F9-FD33EF5B8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F5C7894-C1F5-A1F1-009D-36B5B378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8983368B-E268-9198-467D-F5018D6F2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DCB1D521-B224-771D-3581-F3E43D318FD1}"/>
              </a:ext>
            </a:extLst>
          </p:cNvPr>
          <p:cNvSpPr txBox="1"/>
          <p:nvPr/>
        </p:nvSpPr>
        <p:spPr>
          <a:xfrm>
            <a:off x="65746" y="2490952"/>
            <a:ext cx="29008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</a:t>
            </a:r>
            <a:r>
              <a:rPr lang="en-US" dirty="0" err="1"/>
              <a:t>Calcula</a:t>
            </a:r>
            <a:r>
              <a:rPr lang="en-US" dirty="0"/>
              <a:t>-se a </a:t>
            </a:r>
            <a:r>
              <a:rPr lang="en-US" b="1" dirty="0" err="1">
                <a:solidFill>
                  <a:schemeClr val="accent2"/>
                </a:solidFill>
              </a:rPr>
              <a:t>distância</a:t>
            </a:r>
            <a:r>
              <a:rPr lang="en-US" dirty="0"/>
              <a:t> de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amostra</a:t>
            </a:r>
            <a:r>
              <a:rPr lang="en-US" dirty="0"/>
              <a:t> (</a:t>
            </a:r>
            <a:r>
              <a:rPr lang="en-US" dirty="0" err="1"/>
              <a:t>círculos</a:t>
            </a:r>
            <a:r>
              <a:rPr lang="en-US" dirty="0"/>
              <a:t> </a:t>
            </a:r>
            <a:r>
              <a:rPr lang="en-US" dirty="0" err="1"/>
              <a:t>cinzas</a:t>
            </a:r>
            <a:r>
              <a:rPr lang="en-US" dirty="0"/>
              <a:t>) para </a:t>
            </a:r>
            <a:r>
              <a:rPr lang="en-US" dirty="0" err="1"/>
              <a:t>cada</a:t>
            </a:r>
            <a:r>
              <a:rPr lang="en-US" dirty="0"/>
              <a:t> um dos 3 </a:t>
            </a:r>
            <a:r>
              <a:rPr lang="en-US" dirty="0" err="1"/>
              <a:t>centroides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4D5F6EB-1EDE-2182-F0D4-0AC792F8F92D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4D5F6EB-1EDE-2182-F0D4-0AC792F8F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545CD790-04F0-515F-1167-59E7615D90A7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545CD790-04F0-515F-1167-59E7615D9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xmlns="" id="{62713A92-C724-CE92-1ADF-A1638940BFAB}"/>
              </a:ext>
            </a:extLst>
          </p:cNvPr>
          <p:cNvCxnSpPr>
            <a:cxnSpLocks/>
          </p:cNvCxnSpPr>
          <p:nvPr/>
        </p:nvCxnSpPr>
        <p:spPr>
          <a:xfrm flipH="1" flipV="1">
            <a:off x="4276725" y="3024188"/>
            <a:ext cx="1181100" cy="74612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xmlns="" id="{731B1510-EE7C-4E3B-9E3E-622FF00589E1}"/>
              </a:ext>
            </a:extLst>
          </p:cNvPr>
          <p:cNvCxnSpPr>
            <a:cxnSpLocks/>
          </p:cNvCxnSpPr>
          <p:nvPr/>
        </p:nvCxnSpPr>
        <p:spPr>
          <a:xfrm flipH="1">
            <a:off x="5457825" y="2804160"/>
            <a:ext cx="1014095" cy="29464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xmlns="" id="{B9582103-8E0A-C6AD-8808-F36BE36FEAF3}"/>
              </a:ext>
            </a:extLst>
          </p:cNvPr>
          <p:cNvCxnSpPr>
            <a:cxnSpLocks/>
          </p:cNvCxnSpPr>
          <p:nvPr/>
        </p:nvCxnSpPr>
        <p:spPr>
          <a:xfrm flipH="1" flipV="1">
            <a:off x="5457825" y="3098800"/>
            <a:ext cx="109855" cy="2997200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xmlns="" id="{BDB6C656-8E3A-C1CC-E96B-7694442FF83E}"/>
                  </a:ext>
                </a:extLst>
              </p:cNvPr>
              <p:cNvSpPr txBox="1"/>
              <p:nvPr/>
            </p:nvSpPr>
            <p:spPr>
              <a:xfrm>
                <a:off x="4627294" y="2654856"/>
                <a:ext cx="472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BDB6C656-8E3A-C1CC-E96B-7694442F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294" y="2654856"/>
                <a:ext cx="47263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xmlns="" id="{DA52AC4A-53E2-EA09-A858-8517D44303EF}"/>
                  </a:ext>
                </a:extLst>
              </p:cNvPr>
              <p:cNvSpPr txBox="1"/>
              <p:nvPr/>
            </p:nvSpPr>
            <p:spPr>
              <a:xfrm>
                <a:off x="5567680" y="2585958"/>
                <a:ext cx="477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DA52AC4A-53E2-EA09-A858-8517D4430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7680" y="2585958"/>
                <a:ext cx="4779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xmlns="" id="{6D87A4D6-505A-8442-E1E7-131D3FDE4794}"/>
                  </a:ext>
                </a:extLst>
              </p:cNvPr>
              <p:cNvSpPr txBox="1"/>
              <p:nvPr/>
            </p:nvSpPr>
            <p:spPr>
              <a:xfrm>
                <a:off x="5492242" y="5131356"/>
                <a:ext cx="477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6D87A4D6-505A-8442-E1E7-131D3FDE4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2242" y="5131356"/>
                <a:ext cx="4779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6372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4</a:t>
            </a:r>
            <a:r>
              <a:rPr lang="pt-BR" b="0" i="0" dirty="0">
                <a:effectLst/>
              </a:rPr>
              <a:t>. Atribui-se cada amostra ao centroide 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78E95116-5D09-D006-AF8C-01BA9B4576F4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8E95116-5D09-D006-AF8C-01BA9B457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90A00675-B65E-F1F4-C6FE-54445E99E783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0A00675-B65E-F1F4-C6FE-54445E99E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5B4902D-D874-6983-8D28-B7D7A1CDE08B}"/>
              </a:ext>
            </a:extLst>
          </p:cNvPr>
          <p:cNvSpPr txBox="1"/>
          <p:nvPr/>
        </p:nvSpPr>
        <p:spPr>
          <a:xfrm>
            <a:off x="666750" y="4715808"/>
            <a:ext cx="1866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Cada centroide define uma região.</a:t>
            </a:r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xmlns="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404040"/>
                </a:solidFill>
              </a:rPr>
              <a:t>5</a:t>
            </a:r>
            <a:r>
              <a:rPr lang="pt-BR" b="0" i="0" dirty="0">
                <a:solidFill>
                  <a:srgbClr val="404040"/>
                </a:solidFill>
                <a:effectLst/>
              </a:rPr>
              <a:t>. Calcula-se o novo centroide de cada </a:t>
            </a:r>
            <a:r>
              <a:rPr lang="pt-BR" b="0" i="1" dirty="0">
                <a:solidFill>
                  <a:srgbClr val="404040"/>
                </a:solidFill>
                <a:effectLst/>
              </a:rPr>
              <a:t>cluster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usando-se a média das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amostras que pertencem a ele.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0C6ACB57-D239-9466-9CB2-D2D5D29640A8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C6ACB57-D239-9466-9CB2-D2D5D296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52AAA0DA-6F63-3A71-192E-C21A1F7F8984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2AAA0DA-6F63-3A71-192E-C21A1F7F8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xmlns="" id="{132849C2-FE58-8CDA-FEE0-77AC4DCF0F05}"/>
              </a:ext>
            </a:extLst>
          </p:cNvPr>
          <p:cNvSpPr txBox="1"/>
          <p:nvPr/>
        </p:nvSpPr>
        <p:spPr>
          <a:xfrm>
            <a:off x="162720" y="4180061"/>
            <a:ext cx="23614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Os centroides são os </a:t>
            </a:r>
            <a:r>
              <a:rPr lang="pt-BR" b="1" dirty="0">
                <a:solidFill>
                  <a:schemeClr val="accent2"/>
                </a:solidFill>
              </a:rPr>
              <a:t>centros geométricos</a:t>
            </a:r>
            <a:r>
              <a:rPr lang="pt-BR" dirty="0"/>
              <a:t> de cada </a:t>
            </a:r>
            <a:r>
              <a:rPr lang="pt-BR" i="1" dirty="0"/>
              <a:t>cluster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6. Repete-se os passos 3, 4 e 5.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60096C69-8085-B3E2-C37E-D817E99EDB92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60096C69-8085-B3E2-C37E-D817E99ED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73B01896-536C-FF3D-BD3E-69A81D1AD994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3B01896-536C-FF3D-BD3E-69A81D1AD9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404040"/>
                </a:solidFill>
              </a:rPr>
              <a:t>7</a:t>
            </a:r>
            <a:r>
              <a:rPr lang="pt-BR" b="0" i="0" dirty="0">
                <a:solidFill>
                  <a:srgbClr val="404040"/>
                </a:solidFill>
                <a:effectLst/>
              </a:rPr>
              <a:t>. Repete-se os passos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3, 4</a:t>
            </a:r>
            <a:r>
              <a:rPr lang="pt-BR" dirty="0">
                <a:solidFill>
                  <a:srgbClr val="404040"/>
                </a:solidFill>
              </a:rPr>
              <a:t> </a:t>
            </a:r>
            <a:r>
              <a:rPr lang="pt-BR" dirty="0" smtClean="0">
                <a:solidFill>
                  <a:srgbClr val="404040"/>
                </a:solidFill>
              </a:rPr>
              <a:t>e 5.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C109775A-C499-C3C4-E79E-01495E781EF7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109775A-C499-C3C4-E79E-01495E781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2AFF475B-F76C-02F7-444D-681E49B85A06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2AFF475B-F76C-02F7-444D-681E49B85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xmlns="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4376C1A9-3731-8BF9-861E-3D686FEA4F43}"/>
              </a:ext>
            </a:extLst>
          </p:cNvPr>
          <p:cNvSpPr txBox="1"/>
          <p:nvPr/>
        </p:nvSpPr>
        <p:spPr>
          <a:xfrm>
            <a:off x="40290" y="1968560"/>
            <a:ext cx="308391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noProof="0" dirty="0">
                <a:effectLst/>
              </a:rPr>
              <a:t>Repete-se os passos </a:t>
            </a:r>
            <a:r>
              <a:rPr lang="pt-BR" noProof="0" dirty="0"/>
              <a:t>3 à 5 </a:t>
            </a:r>
            <a:r>
              <a:rPr lang="pt-BR" b="0" i="0" noProof="0" dirty="0">
                <a:effectLst/>
              </a:rPr>
              <a:t>até que um dos casos abaixo ocorra:</a:t>
            </a:r>
            <a:endParaRPr lang="pt-BR" noProof="0" dirty="0"/>
          </a:p>
          <a:p>
            <a:pPr marL="342900" indent="-342900">
              <a:buFont typeface="+mj-lt"/>
              <a:buAutoNum type="arabicPeriod"/>
            </a:pPr>
            <a:r>
              <a:rPr lang="pt-BR" noProof="0" dirty="0"/>
              <a:t>Os centroides não mudem mais (ou mudem muito pouco),</a:t>
            </a:r>
            <a:endParaRPr lang="pt-BR" b="0" i="0" noProof="0" dirty="0">
              <a:effectLst/>
            </a:endParaRPr>
          </a:p>
          <a:p>
            <a:pPr marL="342900" indent="-342900">
              <a:buFont typeface="+mj-lt"/>
              <a:buAutoNum type="arabicPeriod"/>
            </a:pPr>
            <a:r>
              <a:rPr lang="pt-BR" b="0" i="0" noProof="0" dirty="0">
                <a:effectLst/>
              </a:rPr>
              <a:t>A soma das distâncias entre as amostras e o centroide correspondente seja minimizada (e permaneça praticamente constante</a:t>
            </a:r>
            <a:r>
              <a:rPr lang="pt-BR" b="0" i="0" noProof="0" dirty="0" smtClean="0">
                <a:effectLst/>
              </a:rPr>
              <a:t>),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pt-BR" dirty="0" smtClean="0"/>
              <a:t>Distancia </a:t>
            </a:r>
            <a:r>
              <a:rPr lang="pt-BR" i="1" dirty="0" err="1" smtClean="0"/>
              <a:t>intra-cluster</a:t>
            </a:r>
            <a:endParaRPr lang="pt-BR" i="1" noProof="0" dirty="0"/>
          </a:p>
          <a:p>
            <a:pPr marL="342900" indent="-342900">
              <a:buFont typeface="+mj-lt"/>
              <a:buAutoNum type="arabicPeriod"/>
            </a:pPr>
            <a:r>
              <a:rPr lang="pt-BR" b="0" i="0" noProof="0" dirty="0">
                <a:effectLst/>
              </a:rPr>
              <a:t>O número máximo de iterações seja atingido.</a:t>
            </a:r>
            <a:endParaRPr lang="pt-B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E5AB75DE-BA99-68D6-B1F0-5B51B6E4323B}"/>
                  </a:ext>
                </a:extLst>
              </p:cNvPr>
              <p:cNvSpPr txBox="1"/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5AB75DE-BA99-68D6-B1F0-5B51B6E43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533" y="6308209"/>
                <a:ext cx="4607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8B47F7AC-AF19-FB59-F5BA-3C2889223118}"/>
                  </a:ext>
                </a:extLst>
              </p:cNvPr>
              <p:cNvSpPr txBox="1"/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8B47F7AC-AF19-FB59-F5BA-3C28892231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182" y="1528939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2560" y="1825624"/>
                <a:ext cx="68637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inicialização mais simples é </a:t>
                </a:r>
                <a:r>
                  <a:rPr lang="pt-BR" b="1" dirty="0" smtClean="0">
                    <a:solidFill>
                      <a:schemeClr val="accent5"/>
                    </a:solidFill>
                  </a:rPr>
                  <a:t>escolher aleatoriamente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</a:t>
                </a:r>
                <a:r>
                  <a:rPr lang="pt-BR" dirty="0" smtClean="0"/>
                  <a:t>como </a:t>
                </a:r>
                <a:r>
                  <a:rPr lang="pt-BR" dirty="0"/>
                  <a:t>os centroides iniciais.</a:t>
                </a:r>
              </a:p>
              <a:p>
                <a:r>
                  <a:rPr lang="pt-BR" dirty="0"/>
                  <a:t>Porém, existem algumas desvantagens.</a:t>
                </a:r>
              </a:p>
              <a:p>
                <a:r>
                  <a:rPr lang="pt-BR" dirty="0"/>
                  <a:t>Se os centroides iniciais mudam: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</a:t>
                </a:r>
                <a:r>
                  <a:rPr lang="pt-BR" i="1" dirty="0"/>
                  <a:t>clusters</a:t>
                </a:r>
                <a:r>
                  <a:rPr lang="pt-BR" dirty="0"/>
                  <a:t> iniciais podem mudar completamente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fazendo com que o algoritmo convirja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clusters</a:t>
                </a:r>
                <a:r>
                  <a:rPr lang="pt-BR" b="1" dirty="0">
                    <a:solidFill>
                      <a:srgbClr val="7030A0"/>
                    </a:solidFill>
                  </a:rPr>
                  <a:t> diferentes a cada execução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inicialização aleatória </a:t>
                </a:r>
                <a:r>
                  <a:rPr lang="pt-BR" dirty="0"/>
                  <a:t>pode resultar 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centroides finais diferentes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desempenho pode variar com a inicialização.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2560" y="1825624"/>
                <a:ext cx="6863715" cy="5032375"/>
              </a:xfrm>
              <a:blipFill rotWithShape="0">
                <a:blip r:embed="rId3"/>
                <a:stretch>
                  <a:fillRect l="-1599" t="-1937" r="-2575" b="-20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369389" y="22531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080" y="1825624"/>
            <a:ext cx="6725920" cy="5032375"/>
          </a:xfrm>
        </p:spPr>
        <p:txBody>
          <a:bodyPr>
            <a:normAutofit/>
          </a:bodyPr>
          <a:lstStyle/>
          <a:p>
            <a:r>
              <a:rPr lang="pt-BR" dirty="0"/>
              <a:t>O número de </a:t>
            </a:r>
            <a:r>
              <a:rPr lang="pt-BR" b="1" dirty="0">
                <a:solidFill>
                  <a:schemeClr val="accent2"/>
                </a:solidFill>
              </a:rPr>
              <a:t>transferências</a:t>
            </a:r>
            <a:r>
              <a:rPr lang="pt-BR" dirty="0"/>
              <a:t> de um exemplo </a:t>
            </a:r>
            <a:r>
              <a:rPr lang="pt-BR" b="1" dirty="0">
                <a:solidFill>
                  <a:schemeClr val="accent2"/>
                </a:solidFill>
              </a:rPr>
              <a:t>de um </a:t>
            </a:r>
            <a:r>
              <a:rPr lang="pt-BR" b="1" i="1" dirty="0">
                <a:solidFill>
                  <a:schemeClr val="accent2"/>
                </a:solidFill>
              </a:rPr>
              <a:t>cluster</a:t>
            </a:r>
            <a:r>
              <a:rPr lang="pt-BR" b="1" dirty="0">
                <a:solidFill>
                  <a:schemeClr val="accent2"/>
                </a:solidFill>
              </a:rPr>
              <a:t> para outro </a:t>
            </a:r>
            <a:r>
              <a:rPr lang="pt-BR" b="1" dirty="0">
                <a:solidFill>
                  <a:srgbClr val="00B050"/>
                </a:solidFill>
              </a:rPr>
              <a:t>depende dos centroides iniciais</a:t>
            </a:r>
            <a:r>
              <a:rPr lang="pt-BR" dirty="0"/>
              <a:t>.</a:t>
            </a:r>
          </a:p>
          <a:p>
            <a:r>
              <a:rPr lang="pt-BR" dirty="0"/>
              <a:t>Se os </a:t>
            </a:r>
            <a:r>
              <a:rPr lang="pt-BR" b="1" dirty="0">
                <a:solidFill>
                  <a:srgbClr val="0070C0"/>
                </a:solidFill>
              </a:rPr>
              <a:t>centroides iniciais </a:t>
            </a:r>
            <a:r>
              <a:rPr lang="pt-BR" dirty="0"/>
              <a:t>forem </a:t>
            </a:r>
            <a:r>
              <a:rPr lang="pt-BR" b="1" dirty="0">
                <a:solidFill>
                  <a:srgbClr val="0070C0"/>
                </a:solidFill>
              </a:rPr>
              <a:t>muito próximos</a:t>
            </a:r>
            <a:r>
              <a:rPr lang="pt-BR" dirty="0"/>
              <a:t>, o tempo (de treinamento) para encontrar os melhores </a:t>
            </a:r>
            <a:r>
              <a:rPr lang="pt-BR" i="1" dirty="0"/>
              <a:t>clusters</a:t>
            </a:r>
            <a:r>
              <a:rPr lang="pt-BR" dirty="0"/>
              <a:t> pode ser alto (i.e., muitas transferências).</a:t>
            </a:r>
          </a:p>
          <a:p>
            <a:r>
              <a:rPr lang="pt-BR" dirty="0"/>
              <a:t>Por outro lado, 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é transferido para outro </a:t>
            </a:r>
            <a:r>
              <a:rPr lang="pt-BR" b="1" i="1" dirty="0">
                <a:solidFill>
                  <a:srgbClr val="7030A0"/>
                </a:solidFill>
              </a:rPr>
              <a:t>cluster</a:t>
            </a:r>
            <a:r>
              <a:rPr lang="pt-BR" dirty="0"/>
              <a:t> e o algoritmo é encerado.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420189" y="249695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E9261F7-2166-8305-B7FE-ACE2323DF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B419064-8E96-0B34-B387-5724815C4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DAB57C6-5307-315D-C613-2F33992F1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77091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(e o desempenho) </a:t>
            </a:r>
            <a:r>
              <a:rPr lang="pt-BR" dirty="0"/>
              <a:t>do algoritmo </a:t>
            </a:r>
            <a:r>
              <a:rPr lang="pt-BR" b="1" dirty="0" smtClean="0">
                <a:solidFill>
                  <a:srgbClr val="FF0000"/>
                </a:solidFill>
              </a:rPr>
              <a:t>depende(m) </a:t>
            </a:r>
            <a:r>
              <a:rPr lang="pt-BR" b="1" dirty="0">
                <a:solidFill>
                  <a:srgbClr val="FF0000"/>
                </a:solidFill>
              </a:rPr>
              <a:t>da inicialização</a:t>
            </a:r>
            <a:r>
              <a:rPr lang="pt-BR" dirty="0"/>
              <a:t>.</a:t>
            </a:r>
          </a:p>
          <a:p>
            <a:r>
              <a:rPr lang="pt-BR" dirty="0"/>
              <a:t>O algoritmo é </a:t>
            </a:r>
            <a:r>
              <a:rPr lang="pt-BR" b="1" dirty="0"/>
              <a:t>altamente sensível à escolha inicial dos centroides.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9210F1A3-8D21-F13E-A400-833A1EDE2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24001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A7C1863-7C97-79AC-2F35-9281336A5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CF5F738-0911-4080-7C0B-00C85429D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0725" y="1825624"/>
            <a:ext cx="6276975" cy="5032375"/>
          </a:xfrm>
        </p:spPr>
        <p:txBody>
          <a:bodyPr/>
          <a:lstStyle/>
          <a:p>
            <a:r>
              <a:rPr lang="pt-BR" dirty="0"/>
              <a:t>Em resumo, todo o processo </a:t>
            </a:r>
            <a:r>
              <a:rPr lang="pt-BR" b="1" dirty="0">
                <a:solidFill>
                  <a:schemeClr val="accent2"/>
                </a:solidFill>
              </a:rPr>
              <a:t>depende do ponto de partida</a:t>
            </a:r>
            <a:r>
              <a:rPr lang="pt-BR" dirty="0"/>
              <a:t>.</a:t>
            </a:r>
          </a:p>
          <a:p>
            <a:r>
              <a:rPr lang="pt-BR" dirty="0"/>
              <a:t>Portanto, como encontramos os melhores </a:t>
            </a:r>
            <a:r>
              <a:rPr lang="pt-BR" i="1" dirty="0"/>
              <a:t>clusters</a:t>
            </a:r>
            <a:r>
              <a:rPr lang="pt-BR" dirty="0"/>
              <a:t>?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Inicializamos o algoritmo aleatoriamente diversas vezes e escolhemos o </a:t>
            </a:r>
            <a:r>
              <a:rPr lang="pt-BR" b="1" dirty="0">
                <a:solidFill>
                  <a:srgbClr val="0070C0"/>
                </a:solidFill>
              </a:rPr>
              <a:t>melhor resultado</a:t>
            </a:r>
            <a:r>
              <a:rPr lang="pt-BR" dirty="0"/>
              <a:t>*.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xmlns="" id="{041411F5-12C8-E07A-BDDC-6F27AEAA64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696414" y="2392182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9ACF3B1F-984C-3937-9E90-44AF3710C1EC}"/>
              </a:ext>
            </a:extLst>
          </p:cNvPr>
          <p:cNvSpPr txBox="1"/>
          <p:nvPr/>
        </p:nvSpPr>
        <p:spPr>
          <a:xfrm>
            <a:off x="7111365" y="6492875"/>
            <a:ext cx="506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*O resultado que minimiza a distância </a:t>
            </a:r>
            <a:r>
              <a:rPr lang="pt-BR" i="1" dirty="0" err="1" smtClean="0"/>
              <a:t>intra-clusters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1340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B1B77C4-9B17-7A8C-9D74-1E6EDF9D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33358A61-5705-A1F7-E051-797E22A8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4292"/>
            <a:ext cx="10515600" cy="18659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Como definimos o número de </a:t>
            </a:r>
            <a:r>
              <a:rPr lang="pt-BR" sz="5400" i="1" dirty="0"/>
              <a:t>clusters</a:t>
            </a:r>
            <a:r>
              <a:rPr lang="pt-BR" sz="5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282970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3574C0-6E04-C0DD-EAA0-CBB82A39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do cotovelo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BD5BC8-7DE0-62E2-804E-33545D8762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</p:spPr>
            <p:txBody>
              <a:bodyPr/>
              <a:lstStyle/>
              <a:p>
                <a:r>
                  <a:rPr lang="pt-BR" noProof="0" dirty="0"/>
                  <a:t>O método busca o ponto (i.</a:t>
                </a:r>
                <a:r>
                  <a:rPr lang="pt-BR" dirty="0"/>
                  <a:t>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noProof="0" dirty="0"/>
                  <a:t>) onde </a:t>
                </a:r>
                <a:r>
                  <a:rPr lang="pt-BR" b="1" noProof="0" dirty="0"/>
                  <a:t>a melhoria </a:t>
                </a:r>
                <a:r>
                  <a:rPr lang="pt-BR" b="1" dirty="0"/>
                  <a:t>trazida pelo</a:t>
                </a:r>
                <a:r>
                  <a:rPr lang="pt-BR" b="1" noProof="0" dirty="0"/>
                  <a:t> aumento de </a:t>
                </a:r>
                <a:r>
                  <a:rPr lang="pt-BR" b="1" i="1" noProof="0" dirty="0"/>
                  <a:t>clusters</a:t>
                </a:r>
                <a:r>
                  <a:rPr lang="pt-BR" b="1" noProof="0" dirty="0"/>
                  <a:t> começa a diminuir significativamente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Ou seja, aumentar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noProof="0" dirty="0"/>
                  <a:t> sempre melhora o desempenho, mas chega um ponto em que o ganho é </a:t>
                </a:r>
                <a:r>
                  <a:rPr lang="pt-BR" b="1" noProof="0" dirty="0"/>
                  <a:t>mínimo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Esse ponto é chamado de “</a:t>
                </a:r>
                <a:r>
                  <a:rPr lang="pt-BR" b="1" noProof="0" dirty="0"/>
                  <a:t>cotovelo”.</a:t>
                </a:r>
              </a:p>
              <a:p>
                <a:r>
                  <a:rPr lang="pt-BR" noProof="0" dirty="0"/>
                  <a:t>Que métrica usamos para plotar a </a:t>
                </a:r>
                <a:r>
                  <a:rPr lang="pt-BR" noProof="0" dirty="0" smtClean="0"/>
                  <a:t>curva ao lado </a:t>
                </a:r>
                <a:r>
                  <a:rPr lang="pt-BR" noProof="0" dirty="0"/>
                  <a:t>e encontrar o cotovelo?</a:t>
                </a:r>
              </a:p>
              <a:p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BBD5BC8-7DE0-62E2-804E-33545D8762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30240" y="1825624"/>
                <a:ext cx="6461760" cy="5032375"/>
              </a:xfrm>
              <a:blipFill rotWithShape="0">
                <a:blip r:embed="rId3"/>
                <a:stretch>
                  <a:fillRect l="-169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5704EB20-2972-D237-4FE5-23EBC8E5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5439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7908164-8DED-57E8-103F-9479D1C1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5A49F49-61D7-0208-3364-6E7A9D643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2BBDDAA-8E03-1533-DC27-B212B34350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4975" y="1825624"/>
                <a:ext cx="65754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 smtClean="0"/>
                  <a:t>Usa-se a </a:t>
                </a:r>
                <a:r>
                  <a:rPr lang="pt-BR" b="1" noProof="0" dirty="0" smtClean="0">
                    <a:solidFill>
                      <a:srgbClr val="00B050"/>
                    </a:solidFill>
                  </a:rPr>
                  <a:t>soma dos quadrados das distâncias </a:t>
                </a:r>
                <a:r>
                  <a:rPr lang="pt-BR" b="1" noProof="0" dirty="0" err="1" smtClean="0">
                    <a:solidFill>
                      <a:srgbClr val="00B050"/>
                    </a:solidFill>
                  </a:rPr>
                  <a:t>intra-</a:t>
                </a:r>
                <a:r>
                  <a:rPr lang="pt-BR" b="1" i="1" noProof="0" dirty="0" err="1" smtClean="0">
                    <a:solidFill>
                      <a:srgbClr val="00B050"/>
                    </a:solidFill>
                  </a:rPr>
                  <a:t>clusters</a:t>
                </a:r>
                <a:r>
                  <a:rPr lang="pt-BR" noProof="0" dirty="0"/>
                  <a:t>, também conhecida como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inércia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pt-BR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b="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noProof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b="0" i="1" noProof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 noProof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 noProof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noProof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noProof="0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noProof="0" dirty="0"/>
                  <a:t> é o centroide do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noProof="0" dirty="0"/>
                  <a:t>-ésimo </a:t>
                </a:r>
                <a:r>
                  <a:rPr lang="pt-BR" i="1" noProof="0" dirty="0"/>
                  <a:t>cluster,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noProof="0" dirty="0"/>
                  <a:t> é conjunto de amostras no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noProof="0" dirty="0"/>
                  <a:t>-ésimo </a:t>
                </a:r>
                <a:r>
                  <a:rPr lang="pt-BR" i="1" noProof="0" dirty="0"/>
                  <a:t>cluster</a:t>
                </a:r>
                <a:r>
                  <a:rPr lang="pt-BR" noProof="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t-BR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noProof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noProof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noProof="0" dirty="0"/>
                  <a:t> é a distância até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noProof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noProof="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2BBDDAA-8E03-1533-DC27-B212B34350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975" y="1825624"/>
                <a:ext cx="6575425" cy="5032375"/>
              </a:xfrm>
              <a:blipFill rotWithShape="0">
                <a:blip r:embed="rId3"/>
                <a:stretch>
                  <a:fillRect l="-1948" t="-1937" r="-194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6CFEC85E-0DF3-CC25-5FF3-CFFD6DEE2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617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7DFA626-DD2F-2FAE-B6DB-E3A8F4CF8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7352CA9-0A26-4AAF-CC50-88C9A6412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2384B4F-7F1C-F6F4-111C-53CD600364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Ela mede o quão “</a:t>
                </a:r>
                <a:r>
                  <a:rPr lang="pt-BR" b="1" dirty="0">
                    <a:solidFill>
                      <a:srgbClr val="0070C0"/>
                    </a:solidFill>
                  </a:rPr>
                  <a:t>compactos</a:t>
                </a:r>
                <a:r>
                  <a:rPr lang="pt-BR" dirty="0"/>
                  <a:t>” são os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→ mais próximas as amostras estão de seus centroides.</a:t>
                </a:r>
              </a:p>
              <a:p>
                <a:r>
                  <a:rPr lang="pt-BR" dirty="0"/>
                  <a:t>No limite,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a inércia é 0 (mínima possível), mas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modelo será extremamente complexo </a:t>
                </a:r>
                <a:r>
                  <a:rPr lang="pt-BR" dirty="0"/>
                  <a:t>e poderá se </a:t>
                </a:r>
                <a:r>
                  <a:rPr lang="pt-BR" b="1" dirty="0">
                    <a:solidFill>
                      <a:srgbClr val="7030A0"/>
                    </a:solidFill>
                  </a:rPr>
                  <a:t>sobreajustar</a:t>
                </a:r>
                <a:r>
                  <a:rPr lang="pt-BR" dirty="0"/>
                  <a:t> aos dados de treinamento.</a:t>
                </a:r>
              </a:p>
              <a:p>
                <a:r>
                  <a:rPr lang="pt-BR" dirty="0"/>
                  <a:t>Então como encontramos o cotovelo?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384B4F-7F1C-F6F4-111C-53CD600364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8800" y="1825624"/>
                <a:ext cx="6451600" cy="5032375"/>
              </a:xfrm>
              <a:blipFill>
                <a:blip r:embed="rId3"/>
                <a:stretch>
                  <a:fillRect l="-1701" t="-1937" r="-1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6A39DB7C-77E9-9B78-DDB1-E282620D56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89643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E41F28-4876-5B0D-7F6C-0F152E33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C9425F9-4CBE-8456-1A61-B7A51F1F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6A65B5D-EAEC-B338-BC6A-DAC5DA0B13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Calcula-se e plota-se o </a:t>
                </a:r>
                <a:r>
                  <a:rPr lang="pt-BR" b="1" dirty="0">
                    <a:solidFill>
                      <a:schemeClr val="accent5"/>
                    </a:solidFill>
                  </a:rPr>
                  <a:t>valor da inércia para um intervalo</a:t>
                </a:r>
                <a:r>
                  <a:rPr lang="pt-BR" dirty="0"/>
                  <a:t> de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curva resultante quantifica </a:t>
                </a:r>
                <a:r>
                  <a:rPr lang="pt-BR" b="1" dirty="0">
                    <a:solidFill>
                      <a:srgbClr val="7030A0"/>
                    </a:solidFill>
                  </a:rPr>
                  <a:t>o quão próximos os pontos 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</a:t>
                </a:r>
                <a:r>
                  <a:rPr lang="pt-BR" b="1" dirty="0">
                    <a:solidFill>
                      <a:srgbClr val="7030A0"/>
                    </a:solidFill>
                  </a:rPr>
                  <a:t> estão do seu centroide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Quanto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a inércia, mais coesos são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clusters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pontos dentro de um </a:t>
                </a:r>
                <a:r>
                  <a:rPr lang="pt-BR" i="1" dirty="0"/>
                  <a:t>cluster</a:t>
                </a:r>
                <a:r>
                  <a:rPr lang="pt-BR" dirty="0"/>
                  <a:t> estão fortemente agrupados, </a:t>
                </a:r>
                <a:r>
                  <a:rPr lang="pt-BR" b="1" dirty="0">
                    <a:solidFill>
                      <a:srgbClr val="00B050"/>
                    </a:solidFill>
                  </a:rPr>
                  <a:t>próximos entre si e do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centroide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</a:t>
                </a:r>
                <a:r>
                  <a:rPr lang="pt-BR" dirty="0" smtClean="0"/>
                  <a:t> </a:t>
                </a:r>
                <a:r>
                  <a:rPr lang="pt-BR" b="1" dirty="0" smtClean="0">
                    <a:solidFill>
                      <a:schemeClr val="accent5"/>
                    </a:solidFill>
                  </a:rPr>
                  <a:t>distantes dos outros </a:t>
                </a:r>
                <a:r>
                  <a:rPr lang="pt-BR" b="1" i="1" dirty="0" smtClean="0">
                    <a:solidFill>
                      <a:schemeClr val="accent5"/>
                    </a:solidFill>
                  </a:rPr>
                  <a:t>clusters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6A65B5D-EAEC-B338-BC6A-DAC5DA0B1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248400" cy="5032375"/>
              </a:xfrm>
              <a:blipFill rotWithShape="0">
                <a:blip r:embed="rId2"/>
                <a:stretch>
                  <a:fillRect l="-1756" t="-1937" r="-18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8E934D73-7290-09A0-C88B-24CA35D92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67839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7B07C05-733D-F365-8063-0C296100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A87339-937F-71D3-5575-377273E7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Soma dos quadrados </a:t>
            </a:r>
            <a:r>
              <a:rPr lang="pt-BR" dirty="0" err="1"/>
              <a:t>intra-</a:t>
            </a:r>
            <a:r>
              <a:rPr lang="pt-BR" i="1" dirty="0" err="1"/>
              <a:t>clusters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74CDA6D-9D3D-7343-173D-1326829D74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encontrando localizando-se o </a:t>
                </a:r>
                <a:r>
                  <a:rPr lang="pt-BR" b="1" dirty="0">
                    <a:solidFill>
                      <a:srgbClr val="00B050"/>
                    </a:solidFill>
                  </a:rPr>
                  <a:t>cotovelo na curva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Quando o </a:t>
                </a:r>
                <a:r>
                  <a:rPr lang="pt-BR" b="1" dirty="0"/>
                  <a:t>cotovelo não é visível </a:t>
                </a:r>
                <a:r>
                  <a:rPr lang="pt-BR" dirty="0"/>
                  <a:t>(transição suave), uma técnica comum é traçar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reta conectando os pontos extremos da curva </a:t>
                </a:r>
                <a:r>
                  <a:rPr lang="pt-BR" dirty="0"/>
                  <a:t>e identificar o </a:t>
                </a:r>
                <a:r>
                  <a:rPr lang="pt-BR" b="1" dirty="0">
                    <a:solidFill>
                      <a:srgbClr val="7030A0"/>
                    </a:solidFill>
                  </a:rPr>
                  <a:t>ponto mais distante </a:t>
                </a:r>
                <a:r>
                  <a:rPr lang="pt-BR" dirty="0"/>
                  <a:t>dessa reta como o "</a:t>
                </a:r>
                <a:r>
                  <a:rPr lang="pt-BR" b="1" dirty="0">
                    <a:solidFill>
                      <a:schemeClr val="accent5"/>
                    </a:solidFill>
                  </a:rPr>
                  <a:t>cotovelo</a:t>
                </a:r>
                <a:r>
                  <a:rPr lang="pt-BR" dirty="0"/>
                  <a:t>" ideal.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74CDA6D-9D3D-7343-173D-1326829D74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3600" y="1825624"/>
                <a:ext cx="6156960" cy="5032375"/>
              </a:xfrm>
              <a:blipFill rotWithShape="0">
                <a:blip r:embed="rId2"/>
                <a:stretch>
                  <a:fillRect l="-1782" t="-1937" r="-26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-Means: Getting the Optimal Number of Clusters- Analytics Vidhya">
            <a:extLst>
              <a:ext uri="{FF2B5EF4-FFF2-40B4-BE49-F238E27FC236}">
                <a16:creationId xmlns:a16="http://schemas.microsoft.com/office/drawing/2014/main" xmlns="" id="{E3714189-5C25-70A9-3FD4-7F7A02D9B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316480"/>
            <a:ext cx="4521890" cy="332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4106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88A7DCE-B5C5-82F5-CC2A-E963BDDE03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2360" cy="5032375"/>
              </a:xfrm>
            </p:spPr>
            <p:txBody>
              <a:bodyPr>
                <a:normAutofit/>
              </a:bodyPr>
              <a:lstStyle/>
              <a:p>
                <a:r>
                  <a:rPr lang="en-US" i="1" dirty="0"/>
                  <a:t>Density-based spatial clustering of applications with noise</a:t>
                </a:r>
                <a:r>
                  <a:rPr lang="en-US" dirty="0"/>
                  <a:t> (DBSCAN)</a:t>
                </a:r>
                <a:r>
                  <a:rPr lang="pt-BR" dirty="0"/>
                  <a:t>: o </a:t>
                </a:r>
                <a:r>
                  <a:rPr lang="en-US" dirty="0" err="1"/>
                  <a:t>agrupamento</a:t>
                </a:r>
                <a:r>
                  <a:rPr lang="en-US" dirty="0"/>
                  <a:t> é </a:t>
                </a:r>
                <a:r>
                  <a:rPr lang="en-US" dirty="0" err="1"/>
                  <a:t>baseado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densidade</a:t>
                </a:r>
                <a:r>
                  <a:rPr lang="en-US" dirty="0"/>
                  <a:t>, </a:t>
                </a:r>
                <a:r>
                  <a:rPr lang="en-US" dirty="0" err="1"/>
                  <a:t>enquanto</a:t>
                </a:r>
                <a:r>
                  <a:rPr lang="en-US" dirty="0"/>
                  <a:t>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i="1" dirty="0"/>
                  <a:t>means</a:t>
                </a:r>
                <a:r>
                  <a:rPr lang="en-US" dirty="0"/>
                  <a:t> é </a:t>
                </a:r>
                <a:r>
                  <a:rPr lang="en-US" dirty="0" err="1"/>
                  <a:t>baseado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centróides</a:t>
                </a:r>
                <a:r>
                  <a:rPr lang="en-US" b="1" dirty="0"/>
                  <a:t>.</a:t>
                </a:r>
              </a:p>
              <a:p>
                <a:r>
                  <a:rPr lang="en-US" b="1" dirty="0" err="1"/>
                  <a:t>Não</a:t>
                </a:r>
                <a:r>
                  <a:rPr lang="en-US" dirty="0"/>
                  <a:t> é </a:t>
                </a:r>
                <a:r>
                  <a:rPr lang="en-US" dirty="0" err="1"/>
                  <a:t>necessário</a:t>
                </a:r>
                <a:r>
                  <a:rPr lang="en-US" dirty="0"/>
                  <a:t> </a:t>
                </a:r>
                <a:r>
                  <a:rPr lang="en-US" dirty="0" err="1"/>
                  <a:t>definir</a:t>
                </a:r>
                <a:r>
                  <a:rPr lang="en-US" dirty="0"/>
                  <a:t> o </a:t>
                </a:r>
                <a:r>
                  <a:rPr lang="en-US" dirty="0" err="1"/>
                  <a:t>número</a:t>
                </a:r>
                <a:r>
                  <a:rPr lang="en-US" dirty="0"/>
                  <a:t> de </a:t>
                </a:r>
                <a:r>
                  <a:rPr lang="en-US" i="1" dirty="0"/>
                  <a:t>clusters</a:t>
                </a:r>
                <a:r>
                  <a:rPr lang="en-US" dirty="0"/>
                  <a:t> </a:t>
                </a:r>
                <a:r>
                  <a:rPr lang="en-US" dirty="0" err="1"/>
                  <a:t>previamente</a:t>
                </a:r>
                <a:r>
                  <a:rPr lang="en-US" dirty="0"/>
                  <a:t>.</a:t>
                </a:r>
                <a:endParaRPr lang="en-US" b="1" dirty="0"/>
              </a:p>
              <a:p>
                <a:r>
                  <a:rPr lang="en-US" dirty="0"/>
                  <a:t>Ele </a:t>
                </a:r>
                <a:r>
                  <a:rPr lang="en-US" dirty="0" err="1"/>
                  <a:t>busca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regiões</a:t>
                </a:r>
                <a:r>
                  <a:rPr lang="en-US" b="1" dirty="0">
                    <a:solidFill>
                      <a:schemeClr val="accent5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alta</a:t>
                </a:r>
                <a:r>
                  <a:rPr lang="en-US" b="1" dirty="0">
                    <a:solidFill>
                      <a:schemeClr val="accent5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densidade</a:t>
                </a:r>
                <a:r>
                  <a:rPr lang="en-US" dirty="0"/>
                  <a:t> para </a:t>
                </a:r>
                <a:r>
                  <a:rPr lang="en-US" dirty="0" err="1"/>
                  <a:t>criar</a:t>
                </a:r>
                <a:r>
                  <a:rPr lang="en-US" dirty="0"/>
                  <a:t> </a:t>
                </a:r>
                <a:r>
                  <a:rPr lang="en-US" i="1" dirty="0"/>
                  <a:t>clusters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Possui</a:t>
                </a:r>
                <a:r>
                  <a:rPr lang="en-US" dirty="0"/>
                  <a:t> </a:t>
                </a:r>
                <a:r>
                  <a:rPr lang="en-US" dirty="0" err="1"/>
                  <a:t>dois</a:t>
                </a:r>
                <a:r>
                  <a:rPr lang="en-US" dirty="0"/>
                  <a:t> </a:t>
                </a:r>
                <a:r>
                  <a:rPr lang="en-US" dirty="0" err="1"/>
                  <a:t>parâmetros</a:t>
                </a:r>
                <a:r>
                  <a:rPr lang="en-US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(epsilon): </a:t>
                </a:r>
                <a:r>
                  <a:rPr lang="en-US" dirty="0" err="1"/>
                  <a:t>raio</a:t>
                </a:r>
                <a:r>
                  <a:rPr lang="en-US" dirty="0"/>
                  <a:t> da </a:t>
                </a:r>
                <a:r>
                  <a:rPr lang="en-US" dirty="0" err="1"/>
                  <a:t>vizinhança</a:t>
                </a:r>
                <a:r>
                  <a:rPr lang="en-US" dirty="0"/>
                  <a:t>;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MinPts</a:t>
                </a:r>
                <a:r>
                  <a:rPr lang="en-US" dirty="0"/>
                  <a:t>: </a:t>
                </a:r>
                <a:r>
                  <a:rPr lang="en-US" dirty="0" err="1"/>
                  <a:t>número</a:t>
                </a:r>
                <a:r>
                  <a:rPr lang="en-US" dirty="0"/>
                  <a:t> </a:t>
                </a:r>
                <a:r>
                  <a:rPr lang="en-US" dirty="0" err="1"/>
                  <a:t>mínimo</a:t>
                </a:r>
                <a:r>
                  <a:rPr lang="en-US" dirty="0"/>
                  <a:t> de </a:t>
                </a:r>
                <a:r>
                  <a:rPr lang="en-US" dirty="0" err="1"/>
                  <a:t>pontos</a:t>
                </a:r>
                <a:r>
                  <a:rPr lang="en-US" dirty="0"/>
                  <a:t> </a:t>
                </a:r>
                <a:r>
                  <a:rPr lang="en-US" dirty="0" err="1"/>
                  <a:t>dentro</a:t>
                </a:r>
                <a:r>
                  <a:rPr lang="en-US" dirty="0"/>
                  <a:t> </a:t>
                </a:r>
                <a:r>
                  <a:rPr lang="en-US" dirty="0" err="1"/>
                  <a:t>desse</a:t>
                </a:r>
                <a:r>
                  <a:rPr lang="en-US" dirty="0"/>
                  <a:t> </a:t>
                </a:r>
                <a:r>
                  <a:rPr lang="en-US" dirty="0" err="1"/>
                  <a:t>raio</a:t>
                </a:r>
                <a:r>
                  <a:rPr lang="en-US" dirty="0"/>
                  <a:t> para </a:t>
                </a:r>
                <a:r>
                  <a:rPr lang="en-US" dirty="0" err="1"/>
                  <a:t>caracterizar</a:t>
                </a:r>
                <a:r>
                  <a:rPr lang="en-US" dirty="0"/>
                  <a:t>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região</a:t>
                </a:r>
                <a:r>
                  <a:rPr lang="en-US" dirty="0"/>
                  <a:t> </a:t>
                </a:r>
                <a:r>
                  <a:rPr lang="en-US" dirty="0" err="1"/>
                  <a:t>densa</a:t>
                </a:r>
                <a:r>
                  <a:rPr lang="en-US" dirty="0"/>
                  <a:t>.</a:t>
                </a:r>
              </a:p>
              <a:p>
                <a:r>
                  <a:rPr lang="en-US" b="1" dirty="0" err="1"/>
                  <a:t>Problema</a:t>
                </a:r>
                <a:r>
                  <a:rPr lang="en-US" dirty="0"/>
                  <a:t>: um </a:t>
                </a:r>
                <a:r>
                  <a:rPr lang="en-US" dirty="0" err="1"/>
                  <a:t>único</a:t>
                </a:r>
                <a:r>
                  <a:rPr lang="en-US" dirty="0"/>
                  <a:t> valor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raramente</a:t>
                </a:r>
                <a:r>
                  <a:rPr lang="en-US" dirty="0"/>
                  <a:t> </a:t>
                </a:r>
                <a:r>
                  <a:rPr lang="en-US" dirty="0" err="1"/>
                  <a:t>funciona</a:t>
                </a:r>
                <a:r>
                  <a:rPr lang="en-US" dirty="0"/>
                  <a:t> </a:t>
                </a:r>
                <a:r>
                  <a:rPr lang="en-US" dirty="0" err="1"/>
                  <a:t>bem</a:t>
                </a:r>
                <a:r>
                  <a:rPr lang="en-US" dirty="0"/>
                  <a:t> </a:t>
                </a:r>
                <a:r>
                  <a:rPr lang="en-US" dirty="0" err="1"/>
                  <a:t>quando</a:t>
                </a:r>
                <a:r>
                  <a:rPr lang="en-US" dirty="0"/>
                  <a:t> </a:t>
                </a:r>
                <a:r>
                  <a:rPr lang="en-US" dirty="0" err="1"/>
                  <a:t>diferentes</a:t>
                </a:r>
                <a:r>
                  <a:rPr lang="en-US" dirty="0"/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clusters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possuem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densidades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diferentes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88A7DCE-B5C5-82F5-CC2A-E963BDDE03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2360" cy="5032375"/>
              </a:xfrm>
              <a:blipFill rotWithShape="0">
                <a:blip r:embed="rId3"/>
                <a:stretch>
                  <a:fillRect l="-975" t="-1937" r="-7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BB8D935-B229-ABED-0162-993DF59C1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4C7204-534B-1F0D-77A7-A0DCF0D54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CB4EA62-3EE8-902F-04AE-D82CB62A40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74080" y="1825624"/>
                <a:ext cx="621792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Enquanto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i="1" dirty="0"/>
                  <a:t>means</a:t>
                </a:r>
                <a:r>
                  <a:rPr lang="en-US" dirty="0"/>
                  <a:t> </a:t>
                </a:r>
                <a:r>
                  <a:rPr lang="en-US" dirty="0" err="1"/>
                  <a:t>responde</a:t>
                </a:r>
                <a:r>
                  <a:rPr lang="en-US" dirty="0"/>
                  <a:t> a </a:t>
                </a:r>
                <a:r>
                  <a:rPr lang="en-US" dirty="0" err="1"/>
                  <a:t>pergunta</a:t>
                </a:r>
                <a:endParaRPr lang="pt-BR" dirty="0"/>
              </a:p>
              <a:p>
                <a:pPr marL="0" indent="0" algn="ctr">
                  <a:buNone/>
                </a:pPr>
                <a:r>
                  <a:rPr lang="en-US" i="1" dirty="0" err="1" smtClean="0"/>
                  <a:t>Onde</a:t>
                </a:r>
                <a:r>
                  <a:rPr lang="en-US" i="1" dirty="0" smtClean="0"/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i="1" dirty="0" err="1"/>
                  <a:t>centróides</a:t>
                </a:r>
                <a:r>
                  <a:rPr lang="en-US" i="1" dirty="0"/>
                  <a:t> </a:t>
                </a:r>
                <a:r>
                  <a:rPr lang="en-US" i="1" dirty="0" err="1" smtClean="0"/>
                  <a:t>devem</a:t>
                </a:r>
                <a:r>
                  <a:rPr lang="en-US" i="1" dirty="0" smtClean="0"/>
                  <a:t> </a:t>
                </a:r>
                <a:r>
                  <a:rPr lang="en-US" i="1" dirty="0" err="1" smtClean="0"/>
                  <a:t>ficar</a:t>
                </a:r>
                <a:r>
                  <a:rPr lang="en-US" i="1" dirty="0" smtClean="0"/>
                  <a:t> para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minimizar</a:t>
                </a:r>
                <a:r>
                  <a:rPr lang="en-US" b="1" i="1" dirty="0">
                    <a:solidFill>
                      <a:srgbClr val="00B050"/>
                    </a:solidFill>
                  </a:rPr>
                  <a:t> a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distância</a:t>
                </a:r>
                <a:r>
                  <a:rPr lang="en-US" b="1" i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i="1" dirty="0" smtClean="0">
                    <a:solidFill>
                      <a:srgbClr val="00B050"/>
                    </a:solidFill>
                  </a:rPr>
                  <a:t>intra-cluster</a:t>
                </a:r>
                <a:r>
                  <a:rPr lang="en-US" i="1" dirty="0" smtClean="0"/>
                  <a:t>?</a:t>
                </a:r>
                <a:endParaRPr lang="pt-BR" i="1" dirty="0"/>
              </a:p>
              <a:p>
                <a:r>
                  <a:rPr lang="pt-BR" dirty="0"/>
                  <a:t>O DBSCAN responde a pergunta:</a:t>
                </a:r>
              </a:p>
              <a:p>
                <a:pPr marL="0" indent="0" algn="ctr">
                  <a:buNone/>
                </a:pPr>
                <a:r>
                  <a:rPr lang="en-US" i="1" dirty="0"/>
                  <a:t>Quais </a:t>
                </a:r>
                <a:r>
                  <a:rPr lang="en-US" i="1" dirty="0" err="1"/>
                  <a:t>regiões</a:t>
                </a:r>
                <a:r>
                  <a:rPr lang="en-US" i="1" dirty="0"/>
                  <a:t> do </a:t>
                </a:r>
                <a:r>
                  <a:rPr lang="en-US" i="1" dirty="0" err="1"/>
                  <a:t>espaço</a:t>
                </a:r>
                <a:r>
                  <a:rPr lang="en-US" i="1" dirty="0"/>
                  <a:t> </a:t>
                </a:r>
                <a:r>
                  <a:rPr lang="en-US" i="1" dirty="0" err="1"/>
                  <a:t>possuem</a:t>
                </a:r>
                <a:r>
                  <a:rPr lang="en-US" i="1" dirty="0"/>
                  <a:t> </a:t>
                </a:r>
                <a:r>
                  <a:rPr lang="en-US" b="1" i="1" dirty="0" err="1">
                    <a:solidFill>
                      <a:srgbClr val="7030A0"/>
                    </a:solidFill>
                  </a:rPr>
                  <a:t>densidade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i="1" dirty="0" err="1">
                    <a:solidFill>
                      <a:srgbClr val="7030A0"/>
                    </a:solidFill>
                  </a:rPr>
                  <a:t>suficiente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 </a:t>
                </a:r>
                <a:r>
                  <a:rPr lang="en-US" i="1" dirty="0"/>
                  <a:t>para </a:t>
                </a:r>
                <a:r>
                  <a:rPr lang="en-US" i="1" dirty="0" err="1"/>
                  <a:t>serem</a:t>
                </a:r>
                <a:r>
                  <a:rPr lang="en-US" i="1" dirty="0"/>
                  <a:t> </a:t>
                </a:r>
                <a:r>
                  <a:rPr lang="en-US" b="1" i="1" dirty="0" err="1">
                    <a:solidFill>
                      <a:srgbClr val="7030A0"/>
                    </a:solidFill>
                  </a:rPr>
                  <a:t>consideradas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 clusters</a:t>
                </a:r>
                <a:r>
                  <a:rPr lang="en-US" i="1" dirty="0"/>
                  <a:t>?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b="1" dirty="0">
                    <a:solidFill>
                      <a:schemeClr val="accent5"/>
                    </a:solidFill>
                  </a:rPr>
                  <a:t>-</a:t>
                </a:r>
                <a:r>
                  <a:rPr lang="en-US" b="1" i="1" dirty="0">
                    <a:solidFill>
                      <a:schemeClr val="accent5"/>
                    </a:solidFill>
                  </a:rPr>
                  <a:t>means</a:t>
                </a:r>
                <a:r>
                  <a:rPr lang="en-US" dirty="0"/>
                  <a:t> </a:t>
                </a:r>
                <a:r>
                  <a:rPr lang="en-US" dirty="0" err="1"/>
                  <a:t>funciona</a:t>
                </a:r>
                <a:r>
                  <a:rPr lang="en-US" dirty="0"/>
                  <a:t> </a:t>
                </a:r>
                <a:r>
                  <a:rPr lang="en-US" dirty="0" err="1"/>
                  <a:t>bem</a:t>
                </a:r>
                <a:r>
                  <a:rPr lang="en-US" dirty="0"/>
                  <a:t> com </a:t>
                </a:r>
                <a:r>
                  <a:rPr lang="en-US" b="1" i="1" dirty="0">
                    <a:solidFill>
                      <a:schemeClr val="accent5"/>
                    </a:solidFill>
                  </a:rPr>
                  <a:t>clusters</a:t>
                </a:r>
                <a:r>
                  <a:rPr lang="en-US" b="1" dirty="0">
                    <a:solidFill>
                      <a:schemeClr val="accent5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aproximadamente</a:t>
                </a:r>
                <a:r>
                  <a:rPr lang="en-US" b="1" dirty="0">
                    <a:solidFill>
                      <a:schemeClr val="accent5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5"/>
                    </a:solidFill>
                  </a:rPr>
                  <a:t>esféricos</a:t>
                </a:r>
                <a:r>
                  <a:rPr lang="en-US" dirty="0"/>
                  <a:t>, </a:t>
                </a:r>
                <a:r>
                  <a:rPr lang="en-US" dirty="0" err="1"/>
                  <a:t>já</a:t>
                </a:r>
                <a:r>
                  <a:rPr lang="en-US" dirty="0"/>
                  <a:t> o </a:t>
                </a:r>
                <a:r>
                  <a:rPr lang="en-US" b="1" dirty="0">
                    <a:solidFill>
                      <a:schemeClr val="accent2"/>
                    </a:solidFill>
                  </a:rPr>
                  <a:t>DBSCAN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detecta</a:t>
                </a:r>
                <a:r>
                  <a:rPr lang="en-US" b="1" dirty="0">
                    <a:solidFill>
                      <a:schemeClr val="accent2"/>
                    </a:solidFill>
                  </a:rPr>
                  <a:t> formas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arbitrárias</a:t>
                </a:r>
                <a:r>
                  <a:rPr lang="en-US" dirty="0"/>
                  <a:t>.</a:t>
                </a:r>
                <a:endParaRPr lang="en-US" i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CB4EA62-3EE8-902F-04AE-D82CB62A40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74080" y="1825624"/>
                <a:ext cx="6217920" cy="5032375"/>
              </a:xfrm>
              <a:blipFill rotWithShape="0">
                <a:blip r:embed="rId3"/>
                <a:stretch>
                  <a:fillRect l="-176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 descr="Frontiers | A fast parallelized DBSCAN algorithm based on OpenMp for  detection of criminals on streaming services">
            <a:extLst>
              <a:ext uri="{FF2B5EF4-FFF2-40B4-BE49-F238E27FC236}">
                <a16:creationId xmlns:a16="http://schemas.microsoft.com/office/drawing/2014/main" xmlns="" id="{1EE39F38-A35D-1695-90CC-E32AE4A44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" y="2448560"/>
            <a:ext cx="5714196" cy="31940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B2957CE3-F17D-B95C-04CD-777B6E52D0C6}"/>
                  </a:ext>
                </a:extLst>
              </p:cNvPr>
              <p:cNvSpPr txBox="1"/>
              <p:nvPr/>
            </p:nvSpPr>
            <p:spPr>
              <a:xfrm>
                <a:off x="4511040" y="5110758"/>
                <a:ext cx="8005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B2957CE3-F17D-B95C-04CD-777B6E52D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1040" y="5110758"/>
                <a:ext cx="80054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0345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D5C8E66-2680-D18B-377A-23C180E28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922C354-C54E-3199-8E70-B0FEAC543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9772337-3C92-B2F0-5BA1-2C7C27214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en-US" dirty="0"/>
              <a:t>Hierarchical </a:t>
            </a:r>
            <a:r>
              <a:rPr lang="pt-BR" dirty="0"/>
              <a:t>DBSCAN: É uma extensão do DBSCAN que constrói uma </a:t>
            </a:r>
            <a:r>
              <a:rPr lang="pt-BR" b="1" dirty="0"/>
              <a:t>hierarquia de densidades.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Minimiza o problema do DBSCAN usando </a:t>
            </a:r>
            <a:r>
              <a:rPr lang="en-US" dirty="0" err="1"/>
              <a:t>uma</a:t>
            </a:r>
            <a:r>
              <a:rPr lang="en-US" dirty="0"/>
              <a:t> grande </a:t>
            </a:r>
            <a:r>
              <a:rPr lang="en-US" dirty="0" err="1"/>
              <a:t>faixa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de </a:t>
            </a:r>
            <a:r>
              <a:rPr lang="en-US" dirty="0" err="1"/>
              <a:t>densidade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Procura </a:t>
            </a:r>
            <a:r>
              <a:rPr lang="en-US" dirty="0" err="1"/>
              <a:t>regiões</a:t>
            </a:r>
            <a:r>
              <a:rPr lang="en-US" dirty="0"/>
              <a:t> </a:t>
            </a:r>
            <a:r>
              <a:rPr lang="en-US" dirty="0" err="1"/>
              <a:t>densas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múltiplos</a:t>
            </a:r>
            <a:r>
              <a:rPr lang="en-US" dirty="0"/>
              <a:t> </a:t>
            </a:r>
            <a:r>
              <a:rPr lang="en-US" dirty="0" err="1"/>
              <a:t>níveis</a:t>
            </a:r>
            <a:r>
              <a:rPr lang="en-US" dirty="0"/>
              <a:t> de </a:t>
            </a:r>
            <a:r>
              <a:rPr lang="en-US" dirty="0" err="1"/>
              <a:t>densidade</a:t>
            </a:r>
            <a:r>
              <a:rPr lang="en-US" dirty="0"/>
              <a:t> e </a:t>
            </a:r>
            <a:r>
              <a:rPr lang="en-US" dirty="0" err="1"/>
              <a:t>seleciona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agrupamentos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estáveis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Misturas de Gaussianas: Assume que os dados foram gerados por uma mistura de várias </a:t>
            </a:r>
            <a:r>
              <a:rPr lang="pt-BR" b="1" dirty="0"/>
              <a:t>distribuições gaussianas</a:t>
            </a:r>
            <a:r>
              <a:rPr lang="pt-BR" dirty="0"/>
              <a:t>,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b="1" dirty="0" err="1">
                <a:solidFill>
                  <a:schemeClr val="accent2"/>
                </a:solidFill>
              </a:rPr>
              <a:t>representando</a:t>
            </a:r>
            <a:r>
              <a:rPr lang="en-US" b="1" dirty="0">
                <a:solidFill>
                  <a:schemeClr val="accent2"/>
                </a:solidFill>
              </a:rPr>
              <a:t> um </a:t>
            </a:r>
            <a:r>
              <a:rPr lang="en-US" b="1" i="1" dirty="0">
                <a:solidFill>
                  <a:schemeClr val="accent2"/>
                </a:solidFill>
              </a:rPr>
              <a:t>cluster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</a:t>
            </a:r>
            <a:r>
              <a:rPr lang="en-US" dirty="0"/>
              <a:t> </a:t>
            </a:r>
            <a:r>
              <a:rPr lang="en-US" dirty="0" err="1"/>
              <a:t>probabilístico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fornece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probabilidades</a:t>
            </a:r>
            <a:r>
              <a:rPr lang="en-US" b="1" dirty="0">
                <a:solidFill>
                  <a:srgbClr val="7030A0"/>
                </a:solidFill>
              </a:rPr>
              <a:t> de </a:t>
            </a:r>
            <a:r>
              <a:rPr lang="en-US" b="1" dirty="0" err="1">
                <a:solidFill>
                  <a:srgbClr val="7030A0"/>
                </a:solidFill>
              </a:rPr>
              <a:t>pertencimento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 err="1">
                <a:solidFill>
                  <a:srgbClr val="7030A0"/>
                </a:solidFill>
              </a:rPr>
              <a:t>aos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i="1" dirty="0">
                <a:solidFill>
                  <a:srgbClr val="7030A0"/>
                </a:solidFill>
              </a:rPr>
              <a:t>clusters</a:t>
            </a:r>
            <a:r>
              <a:rPr lang="en-US" dirty="0"/>
              <a:t>.</a:t>
            </a:r>
          </a:p>
          <a:p>
            <a:r>
              <a:rPr lang="en-US" dirty="0" err="1"/>
              <a:t>Documentação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en-US" dirty="0"/>
              <a:t> </a:t>
            </a:r>
            <a:r>
              <a:rPr lang="en-US" i="1" dirty="0"/>
              <a:t>scikit-learn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clusterização</a:t>
            </a:r>
            <a:r>
              <a:rPr lang="en-US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hlinkClick r:id="rId3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068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9FD61470-7062-5DCF-6407-C45E5BF63D3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Aplicação: detecção de anomalias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i="1" dirty="0"/>
                  <a:t>means</a:t>
                </a:r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D61470-7062-5DCF-6407-C45E5BF63D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6C85168-BBA5-1819-2A3F-16AFDD60A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6240" y="1825624"/>
            <a:ext cx="6715760" cy="5032375"/>
          </a:xfrm>
        </p:spPr>
        <p:txBody>
          <a:bodyPr>
            <a:normAutofit/>
          </a:bodyPr>
          <a:lstStyle/>
          <a:p>
            <a:r>
              <a:rPr lang="pt-BR" dirty="0"/>
              <a:t>Nessa aplicação, </a:t>
            </a:r>
            <a:r>
              <a:rPr lang="pt-BR" dirty="0" smtClean="0"/>
              <a:t>precisamos encontrar os </a:t>
            </a:r>
            <a:r>
              <a:rPr lang="pt-BR" b="1" dirty="0">
                <a:solidFill>
                  <a:srgbClr val="7030A0"/>
                </a:solidFill>
              </a:rPr>
              <a:t>centroides e a área 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área</a:t>
            </a:r>
            <a:r>
              <a:rPr lang="pt-BR" dirty="0"/>
              <a:t> é definida por um valor de </a:t>
            </a:r>
            <a:r>
              <a:rPr lang="pt-BR" b="1" dirty="0">
                <a:solidFill>
                  <a:schemeClr val="accent2"/>
                </a:solidFill>
              </a:rPr>
              <a:t>raio</a:t>
            </a:r>
            <a:r>
              <a:rPr lang="pt-BR" dirty="0"/>
              <a:t> que faça com que </a:t>
            </a:r>
            <a:r>
              <a:rPr lang="pt-BR" b="1" dirty="0">
                <a:solidFill>
                  <a:schemeClr val="accent2"/>
                </a:solidFill>
              </a:rPr>
              <a:t>uma dada porcentagem* das amostras</a:t>
            </a:r>
            <a:r>
              <a:rPr lang="pt-BR" dirty="0"/>
              <a:t> tenham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dirty="0"/>
              <a:t> ao centroide mais próximo </a:t>
            </a:r>
            <a:r>
              <a:rPr lang="pt-BR" b="1" dirty="0">
                <a:solidFill>
                  <a:srgbClr val="00B050"/>
                </a:solidFill>
              </a:rPr>
              <a:t>menor ou igual a esse valor</a:t>
            </a:r>
            <a:r>
              <a:rPr lang="pt-BR" dirty="0"/>
              <a:t>.</a:t>
            </a:r>
          </a:p>
          <a:p>
            <a:r>
              <a:rPr lang="pt-BR" dirty="0"/>
              <a:t>Assim, uma amostra é classificada como </a:t>
            </a:r>
            <a:r>
              <a:rPr lang="pt-BR" b="1" dirty="0">
                <a:solidFill>
                  <a:schemeClr val="accent5"/>
                </a:solidFill>
              </a:rPr>
              <a:t>anomalia</a:t>
            </a:r>
            <a:r>
              <a:rPr lang="pt-BR" dirty="0"/>
              <a:t> se a </a:t>
            </a:r>
            <a:r>
              <a:rPr lang="pt-BR" b="1" dirty="0">
                <a:solidFill>
                  <a:schemeClr val="accent5"/>
                </a:solidFill>
              </a:rPr>
              <a:t>distância</a:t>
            </a:r>
            <a:r>
              <a:rPr lang="pt-BR" dirty="0"/>
              <a:t> </a:t>
            </a:r>
            <a:r>
              <a:rPr lang="pt-BR" b="1" dirty="0">
                <a:solidFill>
                  <a:schemeClr val="accent5"/>
                </a:solidFill>
              </a:rPr>
              <a:t>entre ela e o centroide</a:t>
            </a:r>
            <a:r>
              <a:rPr lang="pt-BR" dirty="0"/>
              <a:t> mais próximo </a:t>
            </a:r>
            <a:r>
              <a:rPr lang="pt-BR" b="1" dirty="0">
                <a:solidFill>
                  <a:srgbClr val="7030A0"/>
                </a:solidFill>
              </a:rPr>
              <a:t>for maior do que o raio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se ela estiver fora da área do </a:t>
            </a:r>
            <a:r>
              <a:rPr lang="pt-BR" i="1" dirty="0"/>
              <a:t>cluster</a:t>
            </a:r>
            <a:r>
              <a:rPr lang="pt-BR" dirty="0"/>
              <a:t>. 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7F44AA9B-6E70-9E5C-102F-FC9BEDBA2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519680"/>
            <a:ext cx="4258504" cy="326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5743B3A5-B8E2-5133-40EE-7ED25A2F18DC}"/>
              </a:ext>
            </a:extLst>
          </p:cNvPr>
          <p:cNvSpPr txBox="1"/>
          <p:nvPr/>
        </p:nvSpPr>
        <p:spPr>
          <a:xfrm>
            <a:off x="0" y="6550223"/>
            <a:ext cx="6151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* Em geral, usa-se um valor </a:t>
            </a:r>
            <a:r>
              <a:rPr lang="pt-BR" sz="1400" dirty="0" smtClean="0"/>
              <a:t>igual ou acima </a:t>
            </a:r>
            <a:r>
              <a:rPr lang="pt-BR" sz="1400" dirty="0"/>
              <a:t>de 95%.</a:t>
            </a:r>
          </a:p>
        </p:txBody>
      </p:sp>
    </p:spTree>
    <p:extLst>
      <p:ext uri="{BB962C8B-B14F-4D97-AF65-F5344CB8AC3E}">
        <p14:creationId xmlns:p14="http://schemas.microsoft.com/office/powerpoint/2010/main" val="34529611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#13 – </a:t>
            </a:r>
            <a:r>
              <a:rPr lang="pt-BR" dirty="0" err="1">
                <a:hlinkClick r:id="rId2"/>
              </a:rPr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9775</TotalTime>
  <Words>3082</Words>
  <Application>Microsoft Office PowerPoint</Application>
  <PresentationFormat>Widescreen</PresentationFormat>
  <Paragraphs>339</Paragraphs>
  <Slides>47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47</vt:i4>
      </vt:variant>
    </vt:vector>
  </HeadingPairs>
  <TitlesOfParts>
    <vt:vector size="54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C24 - Inteligência Artificial: k-Means</vt:lpstr>
      <vt:lpstr>Recapitulando</vt:lpstr>
      <vt:lpstr>Apresentação do PowerPoint</vt:lpstr>
      <vt:lpstr>Motivação</vt:lpstr>
      <vt:lpstr>Motivação</vt:lpstr>
      <vt:lpstr>Motivação</vt:lpstr>
      <vt:lpstr>Identificação de clusters</vt:lpstr>
      <vt:lpstr>Aplicações</vt:lpstr>
      <vt:lpstr>Aplicações</vt:lpstr>
      <vt:lpstr>Como representar os clusters?</vt:lpstr>
      <vt:lpstr>Centroide</vt:lpstr>
      <vt:lpstr>Como representar os clusters?</vt:lpstr>
      <vt:lpstr>Quantos devem ser os clusters?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Apresentação do PowerPoint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Como inicializar os centroides? </vt:lpstr>
      <vt:lpstr>Como inicializar os centroides? </vt:lpstr>
      <vt:lpstr>Apresentação do PowerPoint</vt:lpstr>
      <vt:lpstr>Método do cotovelo</vt:lpstr>
      <vt:lpstr>Soma dos quadrados intra-clusters</vt:lpstr>
      <vt:lpstr>Soma dos quadrados intra-clusters</vt:lpstr>
      <vt:lpstr>Soma dos quadrados intra-clusters</vt:lpstr>
      <vt:lpstr>Soma dos quadrados intra-clusters</vt:lpstr>
      <vt:lpstr>Outros algoritmos de clustering</vt:lpstr>
      <vt:lpstr>Outros algoritmos de clustering</vt:lpstr>
      <vt:lpstr>Outros algoritmos de clustering</vt:lpstr>
      <vt:lpstr>Aplicação: detecção de anomalias com k-means </vt:lpstr>
      <vt:lpstr>Exemplo</vt:lpstr>
      <vt:lpstr>Lista de exercícios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948</cp:revision>
  <dcterms:created xsi:type="dcterms:W3CDTF">2020-04-06T23:46:10Z</dcterms:created>
  <dcterms:modified xsi:type="dcterms:W3CDTF">2026-06-08T21:52:18Z</dcterms:modified>
</cp:coreProperties>
</file>