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401" r:id="rId9"/>
    <p:sldId id="287" r:id="rId10"/>
    <p:sldId id="400" r:id="rId11"/>
    <p:sldId id="296" r:id="rId12"/>
    <p:sldId id="413" r:id="rId13"/>
    <p:sldId id="414" r:id="rId14"/>
    <p:sldId id="415" r:id="rId15"/>
    <p:sldId id="298" r:id="rId16"/>
    <p:sldId id="290" r:id="rId17"/>
    <p:sldId id="291" r:id="rId18"/>
    <p:sldId id="417" r:id="rId19"/>
    <p:sldId id="404" r:id="rId20"/>
    <p:sldId id="405" r:id="rId21"/>
    <p:sldId id="406" r:id="rId22"/>
    <p:sldId id="407" r:id="rId23"/>
    <p:sldId id="408" r:id="rId24"/>
    <p:sldId id="409" r:id="rId25"/>
    <p:sldId id="410" r:id="rId26"/>
    <p:sldId id="418" r:id="rId27"/>
    <p:sldId id="292" r:id="rId28"/>
    <p:sldId id="299" r:id="rId29"/>
    <p:sldId id="412" r:id="rId30"/>
    <p:sldId id="416" r:id="rId31"/>
    <p:sldId id="411" r:id="rId32"/>
    <p:sldId id="293" r:id="rId33"/>
    <p:sldId id="300" r:id="rId34"/>
    <p:sldId id="398" r:id="rId35"/>
    <p:sldId id="338" r:id="rId36"/>
    <p:sldId id="395" r:id="rId37"/>
    <p:sldId id="396" r:id="rId38"/>
    <p:sldId id="306" r:id="rId39"/>
    <p:sldId id="265" r:id="rId4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45" autoAdjust="0"/>
    <p:restoredTop sz="85351" autoAdjust="0"/>
  </p:normalViewPr>
  <p:slideViewPr>
    <p:cSldViewPr snapToGrid="0">
      <p:cViewPr varScale="1">
        <p:scale>
          <a:sx n="63" d="100"/>
          <a:sy n="63" d="100"/>
        </p:scale>
        <p:origin x="102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714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555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Não se aplica clusterização a dados categóricos, mesmo que sejam ordinais:</a:t>
            </a:r>
          </a:p>
          <a:p>
            <a:r>
              <a:rPr lang="pt-BR" dirty="0"/>
              <a:t>Nós sabemos quem é maior ou menor, mas não “quanto maior” </a:t>
            </a:r>
          </a:p>
          <a:p>
            <a:r>
              <a:rPr lang="pt-BR" dirty="0"/>
              <a:t>Em dados ordinais, a diferença entre 1→2 pode não ser igual a 4→5</a:t>
            </a:r>
          </a:p>
          <a:p>
            <a:endParaRPr lang="pt-BR" dirty="0"/>
          </a:p>
          <a:p>
            <a:r>
              <a:rPr lang="pt-BR" b="1" dirty="0"/>
              <a:t>K-</a:t>
            </a:r>
            <a:r>
              <a:rPr lang="pt-BR" b="1" dirty="0" err="1"/>
              <a:t>prototypes</a:t>
            </a:r>
            <a:r>
              <a:rPr lang="pt-BR" dirty="0"/>
              <a:t> combina: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euclidiana (numérico)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de </a:t>
            </a:r>
            <a:r>
              <a:rPr lang="pt-BR" dirty="0" err="1"/>
              <a:t>Hamming</a:t>
            </a:r>
            <a:r>
              <a:rPr lang="pt-BR" dirty="0"/>
              <a:t> (categórico)</a:t>
            </a:r>
          </a:p>
          <a:p>
            <a:endParaRPr lang="pt-BR" dirty="0"/>
          </a:p>
          <a:p>
            <a:r>
              <a:rPr lang="pt-BR" b="1" dirty="0" err="1"/>
              <a:t>K-modes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 “moda” em vez de média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mede dissimilaridade por diferenças</a:t>
            </a:r>
          </a:p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mtClean="0"/>
              <a:t>https://colab.research.google.com/github/zz4fap/tp557-iot-ml/blob/main/examples/k_means_centros_de_distribui%C3%A7%C3%A3o.ipynb</a:t>
            </a:r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77696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dirty="0">
                <a:solidFill>
                  <a:srgbClr val="00B0F0"/>
                </a:solidFill>
              </a:rPr>
              <a:t>E</a:t>
            </a:r>
            <a:r>
              <a:rPr lang="pt-BR" dirty="0"/>
              <a:t>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https://colab.research.google.com/github/zz4fap/t320_aprendizado_de_maquina/blob/main/notebooks/clustering/kmeans_example.ipynb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r>
              <a:rPr lang="pt-BR" dirty="0"/>
              <a:t>Identificar o melhor número de clusters (</a:t>
            </a:r>
            <a:r>
              <a:rPr lang="pt-BR" dirty="0" err="1"/>
              <a:t>kk</a:t>
            </a:r>
            <a:r>
              <a:rPr lang="pt-BR" dirty="0"/>
              <a:t>) no K-</a:t>
            </a:r>
            <a:r>
              <a:rPr lang="pt-BR" dirty="0" err="1"/>
              <a:t>Means</a:t>
            </a:r>
            <a:r>
              <a:rPr lang="pt-BR" dirty="0"/>
              <a:t> é um passo fundamental para garantir a eficiência e a utilidade da clusterização. Existem várias abordagens para determinar o valor ideal de </a:t>
            </a:r>
            <a:r>
              <a:rPr lang="pt-BR" dirty="0" err="1"/>
              <a:t>kk</a:t>
            </a:r>
            <a:r>
              <a:rPr lang="pt-BR" dirty="0"/>
              <a:t>. As mais comuns incluem:</a:t>
            </a:r>
          </a:p>
          <a:p>
            <a:r>
              <a:rPr lang="pt-BR" b="1" dirty="0"/>
              <a:t>1. Método do Cotovelo (</a:t>
            </a:r>
            <a:r>
              <a:rPr lang="pt-BR" b="1" dirty="0" err="1"/>
              <a:t>Elbow</a:t>
            </a:r>
            <a:r>
              <a:rPr lang="pt-BR" b="1" dirty="0"/>
              <a:t> </a:t>
            </a:r>
            <a:r>
              <a:rPr lang="pt-BR" b="1" dirty="0" err="1"/>
              <a:t>Method</a:t>
            </a:r>
            <a:r>
              <a:rPr lang="pt-BR" b="1" dirty="0"/>
              <a:t>)</a:t>
            </a:r>
          </a:p>
          <a:p>
            <a:r>
              <a:rPr lang="pt-BR" dirty="0"/>
              <a:t>Este método analisa a variação da </a:t>
            </a:r>
            <a:r>
              <a:rPr lang="pt-BR" b="1" dirty="0"/>
              <a:t>inércia </a:t>
            </a:r>
            <a:r>
              <a:rPr lang="pt-BR" b="1" dirty="0" err="1"/>
              <a:t>intra-cluster</a:t>
            </a:r>
            <a:r>
              <a:rPr lang="pt-BR" dirty="0"/>
              <a:t> (ou soma dos erros quadráticos dentro dos clusters, WSSWSS) à medida que o número de clusters aumenta.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com diferentes valores de </a:t>
            </a:r>
            <a:r>
              <a:rPr lang="pt-BR" dirty="0" err="1"/>
              <a:t>kk</a:t>
            </a:r>
            <a:r>
              <a:rPr lang="pt-BR" dirty="0"/>
              <a:t> (por exemplo, k=1k=1 a k=10k=10).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WSSWSS para cada valor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Trace um gráfico do WSSWSS em função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Identifique o "cotovelo" no gráfico — o ponto onde a redução no WSSWSS se torna menos significativa.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O "cotovelo" indica que aumentar </a:t>
            </a:r>
            <a:r>
              <a:rPr lang="pt-BR" dirty="0" err="1"/>
              <a:t>kk</a:t>
            </a:r>
            <a:r>
              <a:rPr lang="pt-BR" dirty="0"/>
              <a:t> além desse ponto não resulta em uma melhoria substancial na compactação dos clusters.</a:t>
            </a:r>
          </a:p>
          <a:p>
            <a:r>
              <a:rPr lang="pt-BR" b="1" dirty="0"/>
              <a:t>2. Coeficiente de Silhueta (</a:t>
            </a:r>
            <a:r>
              <a:rPr lang="pt-BR" b="1" dirty="0" err="1"/>
              <a:t>Silhouette</a:t>
            </a:r>
            <a:r>
              <a:rPr lang="pt-BR" b="1" dirty="0"/>
              <a:t> Score)</a:t>
            </a:r>
          </a:p>
          <a:p>
            <a:r>
              <a:rPr lang="pt-BR" dirty="0"/>
              <a:t>O coeficiente de silhueta avalia a </a:t>
            </a:r>
            <a:r>
              <a:rPr lang="pt-BR" b="1" dirty="0"/>
              <a:t>qualidade da clusterização</a:t>
            </a:r>
            <a:r>
              <a:rPr lang="pt-BR" dirty="0"/>
              <a:t>, considerando a coesão dentro dos clusters e a separação entre eles.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s=b−</a:t>
            </a:r>
            <a:r>
              <a:rPr lang="pt-BR" dirty="0" err="1"/>
              <a:t>amax</a:t>
            </a:r>
            <a:r>
              <a:rPr lang="pt-BR" dirty="0"/>
              <a:t>⁡(</a:t>
            </a:r>
            <a:r>
              <a:rPr lang="pt-BR" dirty="0" err="1"/>
              <a:t>a,b</a:t>
            </a:r>
            <a:r>
              <a:rPr lang="pt-BR" dirty="0"/>
              <a:t>)s = \</a:t>
            </a:r>
            <a:r>
              <a:rPr lang="pt-BR" dirty="0" err="1"/>
              <a:t>frac</a:t>
            </a:r>
            <a:r>
              <a:rPr lang="pt-BR" dirty="0"/>
              <a:t>{b - a}{\</a:t>
            </a:r>
            <a:r>
              <a:rPr lang="pt-BR" dirty="0" err="1"/>
              <a:t>max</a:t>
            </a:r>
            <a:r>
              <a:rPr lang="pt-BR" dirty="0"/>
              <a:t>(a, b)} aa: distância média de um ponto para os outros pontos do mesmo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 err="1"/>
              <a:t>bb</a:t>
            </a:r>
            <a:r>
              <a:rPr lang="pt-BR" dirty="0"/>
              <a:t>: distância média de um ponto para os pontos do cluster mais próximo.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coeficiente de silhueta para cada ponto e, em seguida, a média para o conjunto.</a:t>
            </a:r>
          </a:p>
          <a:p>
            <a:pPr>
              <a:buFont typeface="+mj-lt"/>
              <a:buAutoNum type="arabicPeriod"/>
            </a:pPr>
            <a:r>
              <a:rPr lang="pt-BR" dirty="0"/>
              <a:t>Escolha </a:t>
            </a:r>
            <a:r>
              <a:rPr lang="pt-BR" dirty="0" err="1"/>
              <a:t>kk</a:t>
            </a:r>
            <a:r>
              <a:rPr lang="pt-BR" dirty="0"/>
              <a:t> que maximize o valor médio do coeficiente de silhueta.</a:t>
            </a:r>
          </a:p>
          <a:p>
            <a:r>
              <a:rPr lang="pt-BR" b="1" dirty="0"/>
              <a:t>3. Critério Gap </a:t>
            </a:r>
            <a:r>
              <a:rPr lang="pt-BR" b="1" dirty="0" err="1"/>
              <a:t>Statistic</a:t>
            </a:r>
            <a:endParaRPr lang="pt-BR" b="1" dirty="0"/>
          </a:p>
          <a:p>
            <a:r>
              <a:rPr lang="pt-BR" dirty="0"/>
              <a:t>Este método compara a dispersão dos clusters no conjunto de dados com uma dispersão esperada de um conjunto de dados gerado aleatoriamente.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 no conjunto de dados real.</a:t>
            </a:r>
          </a:p>
          <a:p>
            <a:pPr>
              <a:buFont typeface="+mj-lt"/>
              <a:buAutoNum type="arabicPeriod"/>
            </a:pPr>
            <a:r>
              <a:rPr lang="pt-BR" dirty="0"/>
              <a:t>Gere um conjunto de dados aleatório com a mesma distribuição e calcule a dispersão dos clusters.</a:t>
            </a:r>
          </a:p>
          <a:p>
            <a:pPr>
              <a:buFont typeface="+mj-lt"/>
              <a:buAutoNum type="arabicPeriod"/>
            </a:pPr>
            <a:r>
              <a:rPr lang="pt-BR" dirty="0"/>
              <a:t>Compare as dispersões e encontre </a:t>
            </a:r>
            <a:r>
              <a:rPr lang="pt-BR" dirty="0" err="1"/>
              <a:t>kk</a:t>
            </a:r>
            <a:r>
              <a:rPr lang="pt-BR" dirty="0"/>
              <a:t> que maximize a diferença (gap) entre os dois conjuntos.</a:t>
            </a:r>
          </a:p>
          <a:p>
            <a:r>
              <a:rPr lang="pt-BR" b="1" dirty="0"/>
              <a:t>4. Validação Cruzada</a:t>
            </a:r>
          </a:p>
          <a:p>
            <a:r>
              <a:rPr lang="pt-BR" dirty="0"/>
              <a:t>Divida o conjunto de dados em subconjuntos e avalie a consistência dos clusters em diferentes amostras.</a:t>
            </a:r>
          </a:p>
          <a:p>
            <a:r>
              <a:rPr lang="pt-BR" b="1" dirty="0"/>
              <a:t>5. Métodos Automáticos, como X-</a:t>
            </a:r>
            <a:r>
              <a:rPr lang="pt-BR" b="1" dirty="0" err="1"/>
              <a:t>Means</a:t>
            </a:r>
            <a:r>
              <a:rPr lang="pt-BR" b="1" dirty="0"/>
              <a:t> e G-</a:t>
            </a:r>
            <a:r>
              <a:rPr lang="pt-BR" b="1" dirty="0" err="1"/>
              <a:t>Means</a:t>
            </a:r>
            <a:endParaRPr lang="pt-BR" b="1" dirty="0"/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X-</a:t>
            </a:r>
            <a:r>
              <a:rPr lang="pt-BR" b="1" dirty="0" err="1"/>
              <a:t>Means</a:t>
            </a:r>
            <a:r>
              <a:rPr lang="pt-BR" dirty="0"/>
              <a:t>: Extensão do K-</a:t>
            </a:r>
            <a:r>
              <a:rPr lang="pt-BR" dirty="0" err="1"/>
              <a:t>Means</a:t>
            </a:r>
            <a:r>
              <a:rPr lang="pt-BR" dirty="0"/>
              <a:t> que escolhe automaticamente </a:t>
            </a:r>
            <a:r>
              <a:rPr lang="pt-BR" dirty="0" err="1"/>
              <a:t>kk</a:t>
            </a:r>
            <a:r>
              <a:rPr lang="pt-BR" dirty="0"/>
              <a:t> otimizando o critério Bayesiano.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G-</a:t>
            </a:r>
            <a:r>
              <a:rPr lang="pt-BR" b="1" dirty="0" err="1"/>
              <a:t>Means</a:t>
            </a:r>
            <a:r>
              <a:rPr lang="pt-BR" dirty="0"/>
              <a:t>: Usa testes estatísticos para determinar se os clusters seguem uma distribuição gaussiana.</a:t>
            </a:r>
          </a:p>
          <a:p>
            <a:r>
              <a:rPr lang="pt-BR" b="1" dirty="0"/>
              <a:t>Considerações: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Dimensão dos dados</a:t>
            </a:r>
            <a:r>
              <a:rPr lang="pt-BR" dirty="0"/>
              <a:t>: Em alta dimensionalidade, os métodos podem se tornar menos claros devido à maldição da dimensionalidade.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Interpretação</a:t>
            </a:r>
            <a:r>
              <a:rPr lang="pt-BR" dirty="0"/>
              <a:t>: O número de clusters deve fazer sentido no contexto do problema, além de ser estatisticamente válido.</a:t>
            </a:r>
          </a:p>
          <a:p>
            <a:r>
              <a:rPr lang="pt-BR" dirty="0"/>
              <a:t>Combinar múltiplos métodos pode ser útil para confirmar a escolha do melhor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22941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20_aprendizado_de_maquina/blob/main/notebooks/clustering/kmeans_example.ipynb" TargetMode="Externa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hyperlink" Target="https://scikit-learn.org/1.5/auto_examples/cluster/plot_kmeans_silhouette_analysis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clustering.html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jpeg"/><Relationship Id="rId5" Type="http://schemas.openxmlformats.org/officeDocument/2006/relationships/image" Target="../media/image32.jpeg"/><Relationship Id="rId4" Type="http://schemas.openxmlformats.org/officeDocument/2006/relationships/image" Target="../media/image3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aprendizado supervisionado.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temos rótulos, apenas atributos.</a:t>
            </a:r>
          </a:p>
          <a:p>
            <a:r>
              <a:rPr lang="pt-BR" dirty="0"/>
              <a:t>Eles visam criar agrupamentos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A </a:t>
            </a:r>
            <a:r>
              <a:rPr lang="pt-BR" sz="2800" b="1" dirty="0"/>
              <a:t>clusterização</a:t>
            </a:r>
            <a:r>
              <a:rPr lang="pt-BR" sz="2800" dirty="0"/>
              <a:t> organiza dados como na figura: cada ponto encontra seu grupo mais próximo, formando </a:t>
            </a:r>
            <a:r>
              <a:rPr lang="pt-BR" sz="2800" i="1" dirty="0"/>
              <a:t>clusters.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9863C601-9BD1-3DD0-9219-97CD9BA5D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027" y="642219"/>
            <a:ext cx="3889829" cy="583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O que podemos fazer se não tivermos informações sobre as classes (i.e., rótulos) a que pertencem os exemplos de entrada?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027637"/>
            <a:ext cx="11353801" cy="2830362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Veremos que informações úteis podem ser obtidas mesmo de exemplos cujas classes não são conhecidas.</a:t>
            </a:r>
          </a:p>
          <a:p>
            <a:r>
              <a:rPr lang="pt-BR" dirty="0"/>
              <a:t>Enquanto o </a:t>
            </a:r>
            <a:r>
              <a:rPr lang="pt-BR" b="1" dirty="0"/>
              <a:t>aprendizado supervisionado </a:t>
            </a:r>
            <a:r>
              <a:rPr lang="pt-BR" dirty="0"/>
              <a:t>se concentra na </a:t>
            </a:r>
            <a:r>
              <a:rPr lang="pt-BR" b="1" dirty="0">
                <a:solidFill>
                  <a:srgbClr val="00B050"/>
                </a:solidFill>
              </a:rPr>
              <a:t>indução de classificadores</a:t>
            </a:r>
            <a:r>
              <a:rPr lang="pt-BR" dirty="0"/>
              <a:t>, o </a:t>
            </a:r>
            <a:r>
              <a:rPr lang="pt-BR" b="1" dirty="0"/>
              <a:t>aprendizado não-supervisionado </a:t>
            </a:r>
            <a:r>
              <a:rPr lang="pt-BR" dirty="0"/>
              <a:t>está interessado em </a:t>
            </a:r>
            <a:r>
              <a:rPr lang="pt-BR" b="1" dirty="0">
                <a:solidFill>
                  <a:srgbClr val="7030A0"/>
                </a:solidFill>
              </a:rPr>
              <a:t>extrair estrutura e conhecimento de dados quando não existem rótulos</a:t>
            </a:r>
            <a:r>
              <a:rPr lang="pt-BR" dirty="0"/>
              <a:t>.</a:t>
            </a:r>
          </a:p>
          <a:p>
            <a:r>
              <a:rPr lang="pt-BR" i="1" dirty="0"/>
              <a:t>Clustering</a:t>
            </a:r>
            <a:r>
              <a:rPr lang="pt-BR" dirty="0"/>
              <a:t> tenta reproduzir como humanos organizam o mundo: agrupamos objetos por similaridade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xmlns="" id="{FD3AFEA6-16E8-D562-210E-DDE126CC469D}"/>
              </a:ext>
            </a:extLst>
          </p:cNvPr>
          <p:cNvGrpSpPr/>
          <p:nvPr/>
        </p:nvGrpSpPr>
        <p:grpSpPr>
          <a:xfrm>
            <a:off x="3115576" y="1690688"/>
            <a:ext cx="5960847" cy="202917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xmlns="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xmlns="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xmlns="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xmlns="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08371" cy="5167311"/>
          </a:xfrm>
        </p:spPr>
        <p:txBody>
          <a:bodyPr>
            <a:normAutofit/>
          </a:bodyPr>
          <a:lstStyle/>
          <a:p>
            <a:r>
              <a:rPr lang="pt-BR" dirty="0"/>
              <a:t>A tarefa mais popular dos algoritmos deste paradigma é a procura por </a:t>
            </a:r>
            <a:r>
              <a:rPr lang="pt-BR" b="1" dirty="0"/>
              <a:t>grupos</a:t>
            </a:r>
            <a:r>
              <a:rPr lang="pt-BR" dirty="0"/>
              <a:t> (chamados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) de </a:t>
            </a:r>
            <a:r>
              <a:rPr lang="pt-BR" b="1" dirty="0">
                <a:solidFill>
                  <a:srgbClr val="7030A0"/>
                </a:solidFill>
              </a:rPr>
              <a:t>exemplos semelhantes</a:t>
            </a:r>
            <a:r>
              <a:rPr lang="pt-BR" dirty="0"/>
              <a:t>. 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clustering </a:t>
            </a:r>
            <a:r>
              <a:rPr lang="pt-BR" dirty="0"/>
              <a:t>agrupa dados </a:t>
            </a:r>
            <a:r>
              <a:rPr lang="pt-BR" b="1" dirty="0"/>
              <a:t>com base em similaridade</a:t>
            </a:r>
            <a:r>
              <a:rPr lang="pt-BR" dirty="0"/>
              <a:t> sem precisar de supervisão.</a:t>
            </a:r>
          </a:p>
          <a:p>
            <a:r>
              <a:rPr lang="pt-BR" dirty="0"/>
              <a:t>A ideia mais importante é revelar a </a:t>
            </a:r>
            <a:r>
              <a:rPr lang="pt-BR" b="1" dirty="0"/>
              <a:t>estrutura intrínseca dos dados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escondidos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subgrupos naturais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 explícitas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</a:t>
            </a:r>
            <a:r>
              <a:rPr lang="en-US" i="1" dirty="0"/>
              <a:t>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77601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é um conjunto de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 a que pertencem cada um dos exemplos do conjunto de treinamento.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22928" y="4688303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282335" y="5041169"/>
            <a:ext cx="422386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OBS</a:t>
            </a:r>
            <a:r>
              <a:rPr lang="pt-BR" sz="1600" dirty="0"/>
              <a:t>.: A identificação visual de clusters em um espaço bidimensional é fácil, mas em quatro ou mais dimensões isso já não é mais possível. Nesses casos, apenas algoritmos de identificação de clusters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36BFB42-0017-5ED1-7773-E084E5A0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299C266-04B6-6A8C-91F5-24FCD2CC3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7542" y="1825624"/>
            <a:ext cx="6814457" cy="5032375"/>
          </a:xfrm>
        </p:spPr>
        <p:txBody>
          <a:bodyPr/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complexidade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substituir milhões de pontos por alguns grupos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resumir dados complexos</a:t>
            </a:r>
            <a:endParaRPr lang="en-US" dirty="0"/>
          </a:p>
          <a:p>
            <a:r>
              <a:rPr lang="en-US" dirty="0"/>
              <a:t>Pré-</a:t>
            </a:r>
            <a:r>
              <a:rPr lang="en-US" dirty="0" err="1"/>
              <a:t>processamento</a:t>
            </a:r>
            <a:r>
              <a:rPr lang="en-US" dirty="0"/>
              <a:t> para outros </a:t>
            </a:r>
            <a:r>
              <a:rPr lang="en-US" dirty="0" err="1"/>
              <a:t>modelos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features (cluster ID)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inicializar modelos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dimensionalidade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organizar dados antes de aprendizado supervisionado</a:t>
            </a:r>
          </a:p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raros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detector de comportamento “normal”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tudo fora disso é considerado suspeito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xmlns="" id="{A7524CD6-9254-ABD9-EBBF-94136AAAE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656115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192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799" y="1825624"/>
            <a:ext cx="6825343" cy="5032375"/>
          </a:xfrm>
        </p:spPr>
        <p:txBody>
          <a:bodyPr>
            <a:normAutofit/>
          </a:bodyPr>
          <a:lstStyle/>
          <a:p>
            <a:r>
              <a:rPr lang="pt-BR" dirty="0"/>
              <a:t>Para realizar a identificação, temos que </a:t>
            </a:r>
            <a:r>
              <a:rPr lang="pt-BR" b="1" dirty="0">
                <a:solidFill>
                  <a:srgbClr val="00B050"/>
                </a:solidFill>
              </a:rPr>
              <a:t>decidir como os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b="1" dirty="0">
                <a:solidFill>
                  <a:srgbClr val="00B050"/>
                </a:solidFill>
              </a:rPr>
              <a:t>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densidade, distribuição, hierarquia,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clusters.</a:t>
            </a:r>
          </a:p>
          <a:p>
            <a:r>
              <a:rPr lang="pt-BR" dirty="0"/>
              <a:t>O algoritmo conhecido como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 implementa esta abordagem.</a:t>
            </a:r>
          </a:p>
          <a:p>
            <a:r>
              <a:rPr lang="pt-BR" dirty="0"/>
              <a:t>Vejamos então suas características e como funciona.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xmlns="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E84507-EC77-45EC-8B3A-27BFC439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Centroide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4FEB374-1415-DA51-E59A-B5E50D17F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Centroide</a:t>
            </a:r>
            <a:r>
              <a:rPr lang="pt-BR" dirty="0"/>
              <a:t> é o ponto central de um </a:t>
            </a:r>
            <a:r>
              <a:rPr lang="pt-BR" i="1" dirty="0"/>
              <a:t>cluster</a:t>
            </a:r>
            <a:r>
              <a:rPr lang="pt-BR" dirty="0"/>
              <a:t> de dados. </a:t>
            </a:r>
          </a:p>
          <a:p>
            <a:pPr lvl="1"/>
            <a:r>
              <a:rPr lang="pt-BR" dirty="0"/>
              <a:t>Representa a "média" das amostras dentro do cluster.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inicializar redes neurais Bayesianas ou de </a:t>
            </a:r>
            <a:r>
              <a:rPr lang="en-US" dirty="0" err="1"/>
              <a:t>funções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dados usando apenas o </a:t>
            </a:r>
            <a:r>
              <a:rPr lang="pt-BR" dirty="0" err="1"/>
              <a:t>centróide</a:t>
            </a:r>
            <a:r>
              <a:rPr lang="pt-BR" dirty="0"/>
              <a:t> mais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visualizar dados multidimensionais.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feature </a:t>
            </a:r>
            <a:r>
              <a:rPr lang="pt-BR" i="1" dirty="0" err="1"/>
              <a:t>engineering</a:t>
            </a:r>
            <a:r>
              <a:rPr lang="pt-BR" i="1" dirty="0"/>
              <a:t>:</a:t>
            </a:r>
            <a:r>
              <a:rPr lang="pt-BR" dirty="0"/>
              <a:t> o índice do </a:t>
            </a:r>
            <a:r>
              <a:rPr lang="pt-BR" dirty="0" err="1"/>
              <a:t>centróide</a:t>
            </a:r>
            <a:r>
              <a:rPr lang="pt-BR" dirty="0"/>
              <a:t> e a distância até os </a:t>
            </a:r>
            <a:r>
              <a:rPr lang="pt-BR" dirty="0" err="1"/>
              <a:t>centróides</a:t>
            </a:r>
            <a:r>
              <a:rPr lang="pt-BR" dirty="0"/>
              <a:t> podem ser novos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anomalias: distância alta ao </a:t>
            </a:r>
            <a:r>
              <a:rPr lang="pt-BR" dirty="0" err="1"/>
              <a:t>centróide</a:t>
            </a:r>
            <a:r>
              <a:rPr lang="pt-BR" dirty="0"/>
              <a:t> indica </a:t>
            </a:r>
            <a:r>
              <a:rPr lang="pt-BR" i="1" dirty="0"/>
              <a:t>outlier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agrupar dados sem classes em problemas </a:t>
            </a:r>
            <a:r>
              <a:rPr lang="pt-BR" dirty="0" err="1"/>
              <a:t>semi-supervisionados</a:t>
            </a:r>
            <a:r>
              <a:rPr lang="pt-BR" dirty="0"/>
              <a:t>: os </a:t>
            </a:r>
            <a:r>
              <a:rPr lang="pt-BR" i="1" dirty="0"/>
              <a:t>clusters</a:t>
            </a:r>
            <a:r>
              <a:rPr lang="pt-BR" dirty="0"/>
              <a:t> são usados como classes e, consequentemente, rotular os dados.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952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dirty="0"/>
                  <a:t>vetores de atributos </a:t>
                </a:r>
                <a:r>
                  <a:rPr lang="pt-BR" dirty="0"/>
                  <a:t>em um espaço bidimensional,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Nesse caso, </a:t>
                </a:r>
                <a:r>
                  <a:rPr lang="pt-BR" dirty="0" smtClean="0"/>
                  <a:t>se elas pertencem a um </a:t>
                </a:r>
                <a:r>
                  <a:rPr lang="pt-BR" i="1" dirty="0" smtClean="0"/>
                  <a:t>cluster</a:t>
                </a:r>
                <a:r>
                  <a:rPr lang="pt-BR" dirty="0" smtClean="0"/>
                  <a:t>, seu </a:t>
                </a:r>
                <a:r>
                  <a:rPr lang="pt-BR" b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OBS</a:t>
                </a:r>
                <a:r>
                  <a:rPr lang="pt-BR" dirty="0"/>
                  <a:t>.: Em geral, aplicamos clusterização apenas a atributos numéricos.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Existem algoritmos de clusterização específicos para dados categóricos: </a:t>
                </a:r>
                <a:r>
                  <a:rPr lang="pt-BR" i="1" dirty="0"/>
                  <a:t>k-</a:t>
                </a:r>
                <a:r>
                  <a:rPr lang="pt-BR" i="1" dirty="0" err="1"/>
                  <a:t>modes</a:t>
                </a:r>
                <a:r>
                  <a:rPr lang="pt-BR" i="1" dirty="0"/>
                  <a:t> </a:t>
                </a:r>
                <a:r>
                  <a:rPr lang="pt-BR" dirty="0"/>
                  <a:t>e </a:t>
                </a:r>
                <a:r>
                  <a:rPr lang="en-US" i="1" dirty="0"/>
                  <a:t>k-prototypes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  <a:blipFill rotWithShape="0">
                <a:blip r:embed="rId3"/>
                <a:stretch>
                  <a:fillRect l="-1473" t="-1937" r="-6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xmlns="" id="{E728BEA3-C89C-08D5-CE28-8BD1C00DA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472440" y="235566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858000" cy="5167311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i="1" dirty="0"/>
              <a:t>clusters</a:t>
            </a:r>
            <a:r>
              <a:rPr lang="pt-BR" dirty="0"/>
              <a:t> </a:t>
            </a:r>
            <a:r>
              <a:rPr lang="pt-BR" b="1" dirty="0"/>
              <a:t>não devem se </a:t>
            </a:r>
            <a:r>
              <a:rPr lang="pt-BR" b="1" dirty="0" smtClean="0"/>
              <a:t>sobrepor</a:t>
            </a:r>
            <a:r>
              <a:rPr lang="pt-BR" dirty="0" smtClean="0"/>
              <a:t>.</a:t>
            </a:r>
          </a:p>
          <a:p>
            <a:r>
              <a:rPr lang="pt-BR" b="1" dirty="0" smtClean="0">
                <a:solidFill>
                  <a:srgbClr val="00B050"/>
                </a:solidFill>
              </a:rPr>
              <a:t>Cada amostra </a:t>
            </a:r>
            <a:r>
              <a:rPr lang="pt-BR" dirty="0" smtClean="0"/>
              <a:t>deve </a:t>
            </a:r>
            <a:r>
              <a:rPr lang="pt-BR" b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um e </a:t>
            </a:r>
            <a:r>
              <a:rPr lang="pt-BR" b="1" dirty="0" smtClean="0">
                <a:solidFill>
                  <a:srgbClr val="00B050"/>
                </a:solidFill>
              </a:rPr>
              <a:t>apenas </a:t>
            </a:r>
            <a:r>
              <a:rPr lang="pt-BR" b="1" dirty="0">
                <a:solidFill>
                  <a:srgbClr val="00B050"/>
                </a:solidFill>
              </a:rPr>
              <a:t>um </a:t>
            </a:r>
            <a:r>
              <a:rPr lang="pt-BR" b="1" i="1" dirty="0">
                <a:solidFill>
                  <a:srgbClr val="00B050"/>
                </a:solidFill>
              </a:rPr>
              <a:t>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dirty="0">
                <a:solidFill>
                  <a:srgbClr val="0070C0"/>
                </a:solidFill>
              </a:rPr>
              <a:t>dentro do mesmo cluster</a:t>
            </a:r>
            <a:r>
              <a:rPr lang="pt-BR" dirty="0"/>
              <a:t>, </a:t>
            </a:r>
            <a:r>
              <a:rPr lang="pt-BR" dirty="0" smtClean="0"/>
              <a:t>as </a:t>
            </a:r>
            <a:r>
              <a:rPr lang="pt-BR" b="1" dirty="0" smtClean="0">
                <a:solidFill>
                  <a:srgbClr val="0070C0"/>
                </a:solidFill>
              </a:rPr>
              <a:t>amostras </a:t>
            </a:r>
            <a:r>
              <a:rPr lang="pt-BR" dirty="0" smtClean="0"/>
              <a:t>devem </a:t>
            </a:r>
            <a:r>
              <a:rPr lang="pt-BR" dirty="0"/>
              <a:t>estar relativamente </a:t>
            </a:r>
            <a:r>
              <a:rPr lang="pt-BR" b="1" dirty="0" smtClean="0">
                <a:solidFill>
                  <a:srgbClr val="0070C0"/>
                </a:solidFill>
              </a:rPr>
              <a:t>próximas</a:t>
            </a:r>
            <a:r>
              <a:rPr lang="pt-BR" dirty="0" smtClean="0"/>
              <a:t> umas das outras </a:t>
            </a:r>
            <a:r>
              <a:rPr lang="pt-BR" dirty="0"/>
              <a:t>e </a:t>
            </a:r>
            <a:r>
              <a:rPr lang="pt-BR" b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</a:t>
            </a:r>
            <a:r>
              <a:rPr lang="pt-BR" dirty="0" smtClean="0"/>
              <a:t>das </a:t>
            </a:r>
            <a:r>
              <a:rPr lang="pt-BR" b="1" dirty="0" smtClean="0">
                <a:solidFill>
                  <a:srgbClr val="7030A0"/>
                </a:solidFill>
              </a:rPr>
              <a:t>amostras dos </a:t>
            </a:r>
            <a:r>
              <a:rPr lang="pt-BR" b="1" dirty="0">
                <a:solidFill>
                  <a:srgbClr val="7030A0"/>
                </a:solidFill>
              </a:rPr>
              <a:t>outros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 smtClean="0"/>
              <a:t>.</a:t>
            </a:r>
          </a:p>
          <a:p>
            <a:r>
              <a:rPr lang="pt-BR" dirty="0"/>
              <a:t>Aí surge uma dúvida. </a:t>
            </a:r>
          </a:p>
          <a:p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dados contém</a:t>
            </a:r>
            <a:r>
              <a:rPr lang="pt-BR" dirty="0" smtClean="0"/>
              <a:t>?</a:t>
            </a:r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3532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clusters.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cluster;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outro, cada exemplo pode ser visto como representando seu próprio cluster de um único exemplo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xmlns="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48443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xmlns:a14="http://schemas.microsoft.com/office/drawing/2010/main" xmlns:mc="http://schemas.openxmlformats.org/markup-compatibility/2006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690688"/>
            <a:ext cx="7010400" cy="5167311"/>
          </a:xfrm>
        </p:spPr>
        <p:txBody>
          <a:bodyPr>
            <a:normAutofit/>
          </a:bodyPr>
          <a:lstStyle/>
          <a:p>
            <a:r>
              <a:rPr lang="pt-BR" b="1" dirty="0" smtClean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pedindo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 smtClean="0"/>
              <a:t>.</a:t>
            </a:r>
          </a:p>
          <a:p>
            <a:r>
              <a:rPr lang="pt-BR" dirty="0" smtClean="0"/>
              <a:t>Existem diversos métodos para otimizar o </a:t>
            </a:r>
            <a:r>
              <a:rPr lang="pt-BR" dirty="0" err="1" smtClean="0"/>
              <a:t>hiperparâmetro</a:t>
            </a:r>
            <a:r>
              <a:rPr lang="pt-BR" dirty="0" smtClean="0"/>
              <a:t> que defin</a:t>
            </a:r>
            <a:r>
              <a:rPr lang="pt-BR" dirty="0" smtClean="0"/>
              <a:t>e o número de </a:t>
            </a:r>
            <a:r>
              <a:rPr lang="pt-BR" i="1" dirty="0" smtClean="0"/>
              <a:t>clusters</a:t>
            </a:r>
            <a:r>
              <a:rPr lang="pt-BR" dirty="0" smtClean="0"/>
              <a:t>, </a:t>
            </a:r>
            <a:r>
              <a:rPr lang="pt-BR" dirty="0" smtClean="0"/>
              <a:t>dentre eles, o mais usado é o método do cotovelo.</a:t>
            </a:r>
          </a:p>
          <a:p>
            <a:r>
              <a:rPr lang="pt-BR" dirty="0" smtClean="0"/>
              <a:t>Veremos como ele funciona em breve</a:t>
            </a:r>
            <a:r>
              <a:rPr lang="pt-BR" dirty="0" smtClean="0"/>
              <a:t>.</a:t>
            </a:r>
          </a:p>
          <a:p>
            <a:r>
              <a:rPr lang="pt-BR" dirty="0" smtClean="0"/>
              <a:t>Porém, antes, precisamos entender como os </a:t>
            </a:r>
            <a:r>
              <a:rPr lang="pt-BR" i="1" dirty="0" smtClean="0"/>
              <a:t>clusters</a:t>
            </a:r>
            <a:r>
              <a:rPr lang="pt-BR" dirty="0" smtClean="0"/>
              <a:t> são criados.</a:t>
            </a:r>
            <a:endParaRPr lang="pt-BR" dirty="0"/>
          </a:p>
          <a:p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xmlns="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5722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FCDFA83-D279-17E3-E2CD-6E304EAF63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Algoritmos para identificação de </a:t>
                </a:r>
                <a:r>
                  <a:rPr lang="pt-BR" i="1" dirty="0"/>
                  <a:t>clusters</a:t>
                </a:r>
                <a:r>
                  <a:rPr lang="pt-BR" dirty="0"/>
                  <a:t> </a:t>
                </a:r>
                <a:r>
                  <a:rPr lang="pt-BR" dirty="0" smtClean="0"/>
                  <a:t>precisam </a:t>
                </a:r>
                <a:r>
                  <a:rPr lang="pt-BR" dirty="0"/>
                  <a:t>de uma </a:t>
                </a:r>
                <a:r>
                  <a:rPr lang="pt-BR" b="1" dirty="0">
                    <a:solidFill>
                      <a:srgbClr val="7030A0"/>
                    </a:solidFill>
                  </a:rPr>
                  <a:t>métrica para avaliar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</a:t>
                </a:r>
                <a:r>
                  <a:rPr lang="pt-BR" b="1" dirty="0">
                    <a:solidFill>
                      <a:srgbClr val="7030A0"/>
                    </a:solidFill>
                  </a:rPr>
                  <a:t> entre </a:t>
                </a:r>
                <a:r>
                  <a:rPr lang="pt-BR" b="1" dirty="0" smtClean="0">
                    <a:solidFill>
                      <a:srgbClr val="7030A0"/>
                    </a:solidFill>
                  </a:rPr>
                  <a:t>uma amostra e </a:t>
                </a:r>
                <a:r>
                  <a:rPr lang="pt-BR" b="1" dirty="0">
                    <a:solidFill>
                      <a:srgbClr val="7030A0"/>
                    </a:solidFill>
                  </a:rPr>
                  <a:t>o centroide</a:t>
                </a:r>
                <a:r>
                  <a:rPr lang="pt-BR" dirty="0"/>
                  <a:t> de um </a:t>
                </a:r>
                <a:r>
                  <a:rPr lang="pt-BR" i="1" dirty="0"/>
                  <a:t>cluster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Uma forma de fazer isso </a:t>
                </a:r>
                <a:r>
                  <a:rPr lang="pt-BR" dirty="0" smtClean="0"/>
                  <a:t>é </a:t>
                </a:r>
                <a:r>
                  <a:rPr lang="pt-BR" dirty="0"/>
                  <a:t>usar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 euclidiana </a:t>
                </a:r>
                <a:r>
                  <a:rPr lang="pt-BR" dirty="0"/>
                  <a:t>entre os dois </a:t>
                </a:r>
                <a:r>
                  <a:rPr lang="pt-BR" dirty="0" smtClean="0"/>
                  <a:t>vetores</a:t>
                </a:r>
              </a:p>
              <a:p>
                <a:pPr marL="0" indent="0">
                  <a:buNone/>
                </a:pPr>
                <a:endParaRPr lang="pt-BR" sz="60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</a:t>
                </a:r>
                <a:r>
                  <a:rPr lang="pt-BR" dirty="0" smtClean="0"/>
                  <a:t>atributos</a:t>
                </a:r>
                <a:r>
                  <a:rPr lang="pt-BR" dirty="0"/>
                  <a:t> </a:t>
                </a:r>
                <a:r>
                  <a:rPr lang="pt-BR" dirty="0" smtClean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 smtClean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 smtClean="0"/>
                  <a:t> são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 smtClean="0"/>
                  <a:t>-</a:t>
                </a:r>
                <a:r>
                  <a:rPr lang="pt-BR" dirty="0" err="1" smtClean="0"/>
                  <a:t>ésimos</a:t>
                </a:r>
                <a:r>
                  <a:rPr lang="pt-BR" dirty="0" smtClean="0"/>
                  <a:t> elementos dos vetores tendo sua distância calculada.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FCDFA83-D279-17E3-E2CD-6E304EAF63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  <a:blipFill rotWithShape="0">
                <a:blip r:embed="rId2"/>
                <a:stretch>
                  <a:fillRect l="-112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</a:t>
            </a:r>
            <a:r>
              <a:rPr lang="pt-BR" i="1" dirty="0"/>
              <a:t>cluster</a:t>
            </a:r>
            <a:r>
              <a:rPr lang="pt-BR" dirty="0"/>
              <a:t> um exemplo deve pertencer?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clusters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 smtClean="0"/>
                  <a:t>Uma </a:t>
                </a:r>
                <a:r>
                  <a:rPr lang="pt-BR" dirty="0"/>
                  <a:t>a</a:t>
                </a:r>
                <a:r>
                  <a:rPr lang="pt-BR" dirty="0" smtClean="0"/>
                  <a:t>mostra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é natural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cluster.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cluster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</a:t>
                </a:r>
                <a:r>
                  <a:rPr lang="pt-BR" dirty="0" smtClean="0"/>
                  <a:t>o </a:t>
                </a:r>
                <a:r>
                  <a:rPr lang="pt-BR" dirty="0" err="1" smtClean="0"/>
                  <a:t>algortimo</a:t>
                </a:r>
                <a:r>
                  <a:rPr lang="pt-BR" dirty="0" smtClean="0"/>
                  <a:t> </a:t>
                </a:r>
                <a:r>
                  <a:rPr lang="pt-BR" i="1" dirty="0" smtClean="0"/>
                  <a:t>k-</a:t>
                </a:r>
                <a:r>
                  <a:rPr lang="pt-BR" i="1" dirty="0" err="1" smtClean="0"/>
                  <a:t>Means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 rotWithShape="0"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k-</a:t>
            </a:r>
            <a:r>
              <a:rPr lang="pt-BR" i="1" dirty="0" err="1"/>
              <a:t>Means</a:t>
            </a:r>
            <a:endParaRPr lang="en-US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é </a:t>
                </a:r>
                <a:r>
                  <a:rPr lang="pt-BR" dirty="0" smtClean="0"/>
                  <a:t>um </a:t>
                </a:r>
                <a:r>
                  <a:rPr lang="pt-BR" dirty="0" err="1" smtClean="0"/>
                  <a:t>hiperparâmetro</a:t>
                </a:r>
                <a:r>
                  <a:rPr lang="pt-BR" dirty="0" smtClean="0"/>
                  <a:t> que define </a:t>
                </a:r>
                <a:r>
                  <a:rPr lang="pt-BR" dirty="0" smtClean="0"/>
                  <a:t>o número de </a:t>
                </a:r>
                <a:r>
                  <a:rPr lang="pt-BR" i="1" dirty="0" smtClean="0"/>
                  <a:t>clusters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O </a:t>
                </a:r>
                <a:r>
                  <a:rPr lang="pt-BR" dirty="0"/>
                  <a:t>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 smtClean="0"/>
              </a:p>
              <a:p>
                <a:r>
                  <a:rPr lang="pt-BR" dirty="0" smtClean="0"/>
                  <a:t>O </a:t>
                </a:r>
                <a:r>
                  <a:rPr lang="pt-BR" dirty="0"/>
                  <a:t>algoritmo garantidamente chega a uma situação em que cada exemplo se encontra no </a:t>
                </a:r>
                <a:r>
                  <a:rPr lang="pt-BR" i="1" dirty="0"/>
                  <a:t>cluster</a:t>
                </a:r>
                <a:r>
                  <a:rPr lang="pt-BR" dirty="0"/>
                  <a:t> mais próximo, de modo que, a partir deste momento, os centroides não mudem mais.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 r="-1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b="1" dirty="0"/>
                  <a:t>Entradas</a:t>
                </a:r>
                <a:r>
                  <a:rPr lang="pt-BR" dirty="0"/>
                  <a:t>: conjunto de exemplos e número de </a:t>
                </a:r>
                <a:r>
                  <a:rPr lang="pt-BR" i="1" dirty="0"/>
                  <a:t>clusters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  <a:endParaRPr lang="pt-BR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Defina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para cada um dos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e atribua cada exemplo ao </a:t>
                </a:r>
                <a:r>
                  <a:rPr lang="pt-BR" i="1" dirty="0"/>
                  <a:t>cluster</a:t>
                </a:r>
                <a:r>
                  <a:rPr lang="pt-BR" dirty="0"/>
                  <a:t>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o novo centroide de cada </a:t>
                </a:r>
                <a:r>
                  <a:rPr lang="pt-BR" i="1" dirty="0" smtClean="0"/>
                  <a:t>cluster</a:t>
                </a:r>
                <a:r>
                  <a:rPr lang="pt-BR" dirty="0" smtClean="0"/>
                  <a:t>*.</a:t>
                </a:r>
                <a:endParaRPr lang="pt-BR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Enquanto </a:t>
                </a:r>
                <a:r>
                  <a:rPr lang="pt-BR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blipFill rotWithShape="0">
                <a:blip r:embed="rId4"/>
                <a:stretch>
                  <a:fillRect l="-531" t="-1190" b="-32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/>
          <p:cNvSpPr/>
          <p:nvPr/>
        </p:nvSpPr>
        <p:spPr>
          <a:xfrm>
            <a:off x="1698214" y="5021307"/>
            <a:ext cx="916790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*os novos centroides são calculados como a média aritmética (centro geométrico) das amostras pertencentes a cada </a:t>
            </a:r>
            <a:r>
              <a:rPr lang="pt-BR" sz="1400" i="1" dirty="0">
                <a:solidFill>
                  <a:srgbClr val="000000"/>
                </a:solidFill>
                <a:latin typeface="Calibri" panose="020F0502020204030204" pitchFamily="34" charset="0"/>
              </a:rPr>
              <a:t>cluster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29640" y="2892425"/>
            <a:ext cx="10515600" cy="9937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 smtClean="0"/>
              <a:t>Vejamos um exemplo</a:t>
            </a:r>
            <a:endParaRPr lang="pt-BR" sz="5400" dirty="0"/>
          </a:p>
        </p:txBody>
      </p:sp>
    </p:spTree>
    <p:extLst>
      <p:ext uri="{BB962C8B-B14F-4D97-AF65-F5344CB8AC3E}">
        <p14:creationId xmlns:p14="http://schemas.microsoft.com/office/powerpoint/2010/main" val="2538123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Funcionamento do </a:t>
            </a:r>
            <a:r>
              <a:rPr lang="pt-BR" i="1" dirty="0" smtClean="0"/>
              <a:t>k-</a:t>
            </a:r>
            <a:r>
              <a:rPr lang="pt-BR" i="1" dirty="0" err="1" smtClean="0"/>
              <a:t>Means</a:t>
            </a:r>
            <a:endParaRPr lang="pt-BR" i="1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xmlns="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xmlns="" id="{04EA9FAE-D371-68E0-2CB7-9C8893491B3B}"/>
                  </a:ext>
                </a:extLst>
              </p:cNvPr>
              <p:cNvSpPr txBox="1"/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 smtClean="0"/>
                  <a:t>1. Define-se o número de clusters,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= 3</a:t>
                </a:r>
                <a:endParaRPr lang="en-US" dirty="0"/>
              </a:p>
            </p:txBody>
          </p:sp>
        </mc:Choice>
        <mc:Fallback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xmlns="" id="{04EA9FAE-D371-68E0-2CB7-9C8893491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2169"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7258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xmlns="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98816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</a:t>
            </a:r>
            <a:r>
              <a:rPr lang="pt-BR" b="0" i="0" dirty="0" smtClean="0">
                <a:solidFill>
                  <a:srgbClr val="404040"/>
                </a:solidFill>
                <a:effectLst/>
              </a:rPr>
              <a:t>centroide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mais próximo com base na distância euclidiana.</a:t>
            </a:r>
            <a:r>
              <a:rPr lang="pt-BR" dirty="0"/>
              <a:t/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554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xmlns="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dos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901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80972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7814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xmlns="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casos abaixo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as amostras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7333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87F6E31-B0DF-F3EC-D348-0D4E93DD1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007CCEC-CA32-01B4-A9B5-F81A83FF3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</a:t>
            </a:r>
            <a:r>
              <a:rPr lang="pt-BR" sz="5400" b="1" dirty="0" err="1">
                <a:solidFill>
                  <a:srgbClr val="FF0000"/>
                </a:solidFill>
              </a:rPr>
              <a:t>AQUi</a:t>
            </a:r>
            <a:r>
              <a:rPr lang="pt-BR" sz="5400" b="1" dirty="0">
                <a:solidFill>
                  <a:srgbClr val="FF0000"/>
                </a:solidFill>
              </a:rPr>
              <a:t>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8932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14257" y="1825624"/>
                <a:ext cx="69777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procedimento mais simples para inicializar os centroides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7030A0"/>
                    </a:solidFill>
                  </a:rPr>
                  <a:t>clusters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número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transferências</a:t>
                </a:r>
                <a:r>
                  <a:rPr lang="pt-BR" dirty="0"/>
                  <a:t> de um exemplo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 um cluster para outro depende dos centroides iniciais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4257" y="1825624"/>
                <a:ext cx="6977743" cy="5032375"/>
              </a:xfrm>
              <a:blipFill rotWithShape="0">
                <a:blip r:embed="rId2"/>
                <a:stretch>
                  <a:fillRect l="-1572" t="-1937" r="-27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570022" cy="5032375"/>
          </a:xfrm>
        </p:spPr>
        <p:txBody>
          <a:bodyPr>
            <a:normAutofit/>
          </a:bodyPr>
          <a:lstStyle/>
          <a:p>
            <a:r>
              <a:rPr lang="pt-BR" dirty="0"/>
              <a:t>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precisa ser atribuído a outro cluster</a:t>
            </a:r>
            <a:r>
              <a:rPr lang="pt-BR" dirty="0"/>
              <a:t> e o algoritmo é encerado.</a:t>
            </a:r>
          </a:p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Aí surge uma dúvida. </a:t>
            </a:r>
          </a:p>
          <a:p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dados contém?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503170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19C974-9A37-ED60-45B8-7CF90E038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812A04D-0F4A-CB81-D7DF-C4B0B1316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6000" b="1" dirty="0">
                <a:solidFill>
                  <a:srgbClr val="FF0000"/>
                </a:solidFill>
              </a:rPr>
              <a:t>Quais as formas usadas para definir o melhor número de </a:t>
            </a:r>
            <a:r>
              <a:rPr lang="pt-BR" sz="6000" b="1" dirty="0" err="1">
                <a:solidFill>
                  <a:srgbClr val="FF0000"/>
                </a:solidFill>
              </a:rPr>
              <a:t>clsuters</a:t>
            </a:r>
            <a:r>
              <a:rPr lang="pt-BR" sz="6000" b="1" dirty="0">
                <a:solidFill>
                  <a:srgbClr val="FF0000"/>
                </a:solidFill>
              </a:rPr>
              <a:t>???</a:t>
            </a:r>
            <a:endParaRPr lang="en-US" sz="6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14034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Método do cotovelo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293186" y="1825624"/>
            <a:ext cx="4898814" cy="5032375"/>
          </a:xfrm>
        </p:spPr>
        <p:txBody>
          <a:bodyPr>
            <a:normAutofit fontScale="32500" lnSpcReduction="20000"/>
          </a:bodyPr>
          <a:lstStyle/>
          <a:p>
            <a:r>
              <a:rPr lang="pt-BR" dirty="0"/>
              <a:t>Essa abordagem utiliza a Soma dos Quadrados </a:t>
            </a:r>
            <a:r>
              <a:rPr lang="pt-BR" dirty="0" err="1"/>
              <a:t>Intra-Clusters</a:t>
            </a:r>
            <a:r>
              <a:rPr lang="pt-BR" dirty="0"/>
              <a:t> (WSS - </a:t>
            </a:r>
            <a:r>
              <a:rPr lang="pt-BR" dirty="0" err="1"/>
              <a:t>Within</a:t>
            </a:r>
            <a:r>
              <a:rPr lang="pt-BR" dirty="0"/>
              <a:t>-Cluster Sum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Squares</a:t>
            </a:r>
            <a:r>
              <a:rPr lang="pt-BR" dirty="0"/>
              <a:t>), também conhecido como inércia, e analisa a curva de WSS em função de</a:t>
            </a:r>
          </a:p>
          <a:p>
            <a:r>
              <a:rPr lang="pt-BR" dirty="0"/>
              <a:t>$k$.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A curva quantifica o quão próximos os pontos de um cluster estão do seu </a:t>
            </a:r>
            <a:r>
              <a:rPr lang="pt-BR" dirty="0" err="1"/>
              <a:t>centróide</a:t>
            </a:r>
            <a:r>
              <a:rPr lang="pt-BR" dirty="0"/>
              <a:t> (centro do cluster).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Quanto menor o WSS, mais coesos são os clusters (os pontos dentro de um cluster estão fortemente agrupados, próximos entre si e do </a:t>
            </a:r>
            <a:r>
              <a:rPr lang="pt-BR" dirty="0" err="1"/>
              <a:t>centróide</a:t>
            </a:r>
            <a:r>
              <a:rPr lang="pt-BR" dirty="0"/>
              <a:t>).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A equação do </a:t>
            </a:r>
            <a:r>
              <a:rPr lang="pt-BR" b="1" dirty="0"/>
              <a:t>**</a:t>
            </a:r>
            <a:r>
              <a:rPr lang="pt-BR" b="1" dirty="0" err="1"/>
              <a:t>Within</a:t>
            </a:r>
            <a:r>
              <a:rPr lang="pt-BR" b="1" dirty="0"/>
              <a:t>-Cluster Sum </a:t>
            </a:r>
            <a:r>
              <a:rPr lang="pt-BR" b="1" dirty="0" err="1"/>
              <a:t>of</a:t>
            </a:r>
            <a:r>
              <a:rPr lang="pt-BR" b="1" dirty="0"/>
              <a:t> </a:t>
            </a:r>
            <a:r>
              <a:rPr lang="pt-BR" b="1" dirty="0" err="1"/>
              <a:t>Squares</a:t>
            </a:r>
            <a:r>
              <a:rPr lang="pt-BR" b="1" dirty="0"/>
              <a:t> (WSS)**</a:t>
            </a:r>
            <a:r>
              <a:rPr lang="pt-BR" dirty="0"/>
              <a:t> é:</a:t>
            </a:r>
          </a:p>
          <a:p>
            <a:r>
              <a:rPr lang="pt-BR" dirty="0"/>
              <a:t>$$WSS = \sum</a:t>
            </a:r>
            <a:r>
              <a:rPr lang="pt-BR" i="1" dirty="0"/>
              <a:t>_{i=1}^{k} \sum_</a:t>
            </a:r>
            <a:r>
              <a:rPr lang="pt-BR" dirty="0"/>
              <a:t>{x \in </a:t>
            </a:r>
            <a:r>
              <a:rPr lang="pt-BR" dirty="0" err="1"/>
              <a:t>C_i</a:t>
            </a:r>
            <a:r>
              <a:rPr lang="pt-BR" dirty="0"/>
              <a:t>} \|x - \</a:t>
            </a:r>
            <a:r>
              <a:rPr lang="pt-BR" dirty="0" err="1"/>
              <a:t>mu_i</a:t>
            </a:r>
            <a:r>
              <a:rPr lang="pt-BR" dirty="0"/>
              <a:t>\|^2$$,</a:t>
            </a:r>
          </a:p>
          <a:p>
            <a:r>
              <a:rPr lang="pt-BR" dirty="0"/>
              <a:t>onde:</a:t>
            </a:r>
          </a:p>
          <a:p>
            <a:r>
              <a:rPr lang="pt-BR" dirty="0"/>
              <a:t>- $k$ -&gt; número de clusters,</a:t>
            </a:r>
          </a:p>
          <a:p>
            <a:r>
              <a:rPr lang="pt-BR" dirty="0"/>
              <a:t>- $</a:t>
            </a:r>
            <a:r>
              <a:rPr lang="pt-BR" dirty="0" err="1"/>
              <a:t>C_i</a:t>
            </a:r>
            <a:r>
              <a:rPr lang="pt-BR" dirty="0"/>
              <a:t>$ -&gt; conjunto de pontos no cluster \( i \),</a:t>
            </a:r>
          </a:p>
          <a:p>
            <a:r>
              <a:rPr lang="pt-BR" dirty="0"/>
              <a:t>- $</a:t>
            </a:r>
            <a:r>
              <a:rPr lang="pt-BR" dirty="0" err="1"/>
              <a:t>mu_i</a:t>
            </a:r>
            <a:r>
              <a:rPr lang="pt-BR" dirty="0"/>
              <a:t>$ = </a:t>
            </a:r>
            <a:r>
              <a:rPr lang="pt-BR" dirty="0" err="1"/>
              <a:t>centróide</a:t>
            </a:r>
            <a:r>
              <a:rPr lang="pt-BR" dirty="0"/>
              <a:t> (média) do cluster \( i \),</a:t>
            </a:r>
          </a:p>
          <a:p>
            <a:r>
              <a:rPr lang="pt-BR" dirty="0"/>
              <a:t>- $ \|x - \</a:t>
            </a:r>
            <a:r>
              <a:rPr lang="pt-BR" dirty="0" err="1"/>
              <a:t>mu_i</a:t>
            </a:r>
            <a:r>
              <a:rPr lang="pt-BR" dirty="0"/>
              <a:t>\|^2 $ -&gt; distância quadrada (Euclidiana) entre um ponto $x$ e seu </a:t>
            </a:r>
            <a:r>
              <a:rPr lang="pt-BR" dirty="0" err="1"/>
              <a:t>centróide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b="1" dirty="0"/>
              <a:t>**O objetivo é encontrar um $k$ onde aumentar o número de clusters não reduz significativamente o WSS. Isso ocorre a partir do cotovelo da curva.**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Assim, o valor ideal de $k$ é encontrando localizando-se o cotovelo na curva.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Quando o cotovelo na curva não é claramente visível, uma técnica comum é traçar uma reta conectando os pontos extremos da curva e identificar o ponto mais distante dessa reta como o "cotovelo" ideal.</a:t>
            </a:r>
          </a:p>
          <a:p>
            <a:endParaRPr lang="pt-BR" dirty="0"/>
          </a:p>
        </p:txBody>
      </p:sp>
      <p:pic>
        <p:nvPicPr>
          <p:cNvPr id="4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xmlns="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6699" y="2565319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963" y="3894857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2084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SciKit-Learn</a:t>
            </a:r>
            <a:r>
              <a:rPr lang="pt-BR" dirty="0"/>
              <a:t>: k-</a:t>
            </a:r>
            <a:r>
              <a:rPr lang="pt-BR" dirty="0" err="1"/>
              <a:t>Means</a:t>
            </a:r>
            <a:endParaRPr lang="en-US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075" r="9212"/>
          <a:stretch/>
        </p:blipFill>
        <p:spPr>
          <a:xfrm>
            <a:off x="645742" y="2410691"/>
            <a:ext cx="4248376" cy="2774144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9" r="9402"/>
          <a:stretch/>
        </p:blipFill>
        <p:spPr>
          <a:xfrm>
            <a:off x="6722898" y="2410691"/>
            <a:ext cx="4239511" cy="2765280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5091120" y="2905640"/>
            <a:ext cx="157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/>
              <a:t>k-</a:t>
            </a:r>
            <a:r>
              <a:rPr lang="pt-BR" sz="2000" b="1" dirty="0" err="1"/>
              <a:t>Means</a:t>
            </a:r>
            <a:endParaRPr lang="en-US" sz="2000" b="1" dirty="0"/>
          </a:p>
        </p:txBody>
      </p:sp>
      <p:sp>
        <p:nvSpPr>
          <p:cNvPr id="9" name="Seta para a direita 8"/>
          <p:cNvSpPr/>
          <p:nvPr/>
        </p:nvSpPr>
        <p:spPr>
          <a:xfrm>
            <a:off x="5416920" y="3305750"/>
            <a:ext cx="921721" cy="623453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/>
          <p:cNvSpPr/>
          <p:nvPr/>
        </p:nvSpPr>
        <p:spPr>
          <a:xfrm>
            <a:off x="4312228" y="5711308"/>
            <a:ext cx="33148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pt-BR" dirty="0">
                <a:hlinkClick r:id="rId5"/>
              </a:rPr>
              <a:t>Exemplo: </a:t>
            </a:r>
            <a:r>
              <a:rPr lang="pt-BR" dirty="0" err="1">
                <a:hlinkClick r:id="rId5"/>
              </a:rPr>
              <a:t>kmeans_example.ipynb</a:t>
            </a:r>
            <a:endParaRPr lang="pt-B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4673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54EC41E-A91F-2BE6-4481-EFFD64DC2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escolher o número ideal de clusters?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C91871B-A0D0-6F26-D59B-6230818E62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Existem várias abordagens para determinar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 mais comum é o método da silhueta.</a:t>
                </a:r>
              </a:p>
              <a:p>
                <a:r>
                  <a:rPr lang="pt-BR" dirty="0"/>
                  <a:t>O coeficiente de silhueta avalia a </a:t>
                </a:r>
                <a:r>
                  <a:rPr lang="pt-BR" b="1" dirty="0"/>
                  <a:t>qualidade da clusterização</a:t>
                </a:r>
                <a:r>
                  <a:rPr lang="pt-BR" dirty="0"/>
                  <a:t>, considerando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coesão dentro dos clusters e a separação entre eles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Escolhemos o número de clusters que maximiza o coeficiente.</a:t>
                </a:r>
              </a:p>
              <a:p>
                <a:r>
                  <a:rPr lang="pt-BR" dirty="0"/>
                  <a:t>A documentação da biblioteca </a:t>
                </a:r>
                <a:r>
                  <a:rPr lang="pt-BR" dirty="0" err="1"/>
                  <a:t>SciKit-Learn</a:t>
                </a:r>
                <a:r>
                  <a:rPr lang="pt-BR" dirty="0"/>
                  <a:t> contém um exemplo de como usar a coeficiente de silhueta para definir o melhor número de clusters.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hlinkClick r:id="rId2"/>
                  </a:rPr>
                  <a:t>https://scikit-learn.org/1.5/auto_examples/cluster/plot_kmeans_silhouette_analysis.html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55906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88A7DCE-B5C5-82F5-CC2A-E963BDDE0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DBSCAN</a:t>
            </a:r>
          </a:p>
          <a:p>
            <a:r>
              <a:rPr lang="pt-BR" dirty="0"/>
              <a:t>HDBSCAN</a:t>
            </a:r>
          </a:p>
          <a:p>
            <a:r>
              <a:rPr lang="pt-BR" dirty="0" err="1"/>
              <a:t>Gaussian</a:t>
            </a:r>
            <a:r>
              <a:rPr lang="pt-BR" dirty="0"/>
              <a:t> </a:t>
            </a:r>
            <a:r>
              <a:rPr lang="pt-BR" dirty="0" err="1"/>
              <a:t>mixtrures</a:t>
            </a:r>
            <a:endParaRPr lang="pt-BR" dirty="0"/>
          </a:p>
          <a:p>
            <a:endParaRPr lang="en-US" dirty="0"/>
          </a:p>
          <a:p>
            <a:r>
              <a:rPr lang="en-US" dirty="0">
                <a:hlinkClick r:id="rId2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err="1"/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#13 – </a:t>
            </a:r>
            <a:r>
              <a:rPr lang="pt-BR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9299</TotalTime>
  <Words>2628</Words>
  <Application>Microsoft Office PowerPoint</Application>
  <PresentationFormat>Widescreen</PresentationFormat>
  <Paragraphs>281</Paragraphs>
  <Slides>39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C24 - Inteligência Artificial: k-Means</vt:lpstr>
      <vt:lpstr>Recapitulando</vt:lpstr>
      <vt:lpstr>Apresentação do PowerPoint</vt:lpstr>
      <vt:lpstr>Motivação</vt:lpstr>
      <vt:lpstr>Motivação</vt:lpstr>
      <vt:lpstr>Motivação</vt:lpstr>
      <vt:lpstr>Identificação de clusters</vt:lpstr>
      <vt:lpstr>Aplicações</vt:lpstr>
      <vt:lpstr>Como representar os clusters?</vt:lpstr>
      <vt:lpstr>Centroide</vt:lpstr>
      <vt:lpstr>Como representar os clusters?</vt:lpstr>
      <vt:lpstr>Quantos devem ser os clusters?</vt:lpstr>
      <vt:lpstr>Quantos devem ser os clusters?</vt:lpstr>
      <vt:lpstr>Quantos devem ser os clusters?</vt:lpstr>
      <vt:lpstr>Medindo distâncias</vt:lpstr>
      <vt:lpstr>A qual cluster um exemplo deve pertencer?</vt:lpstr>
      <vt:lpstr>k-Means</vt:lpstr>
      <vt:lpstr>Apresentação do PowerPoint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Apresentação do PowerPoint</vt:lpstr>
      <vt:lpstr>Como inicializar os centroides? </vt:lpstr>
      <vt:lpstr>Como inicializar os centroides? </vt:lpstr>
      <vt:lpstr>Apresentação do PowerPoint</vt:lpstr>
      <vt:lpstr>Apresentação do PowerPoint</vt:lpstr>
      <vt:lpstr>Método do cotovelo</vt:lpstr>
      <vt:lpstr>SciKit-Learn: k-Means</vt:lpstr>
      <vt:lpstr>Como escolher o número ideal de clusters?</vt:lpstr>
      <vt:lpstr>Outros algoritmos de clustering</vt:lpstr>
      <vt:lpstr>Exemplo</vt:lpstr>
      <vt:lpstr>Lista de exercícios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835</cp:revision>
  <dcterms:created xsi:type="dcterms:W3CDTF">2020-04-06T23:46:10Z</dcterms:created>
  <dcterms:modified xsi:type="dcterms:W3CDTF">2026-04-09T00:35:06Z</dcterms:modified>
</cp:coreProperties>
</file>