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6" r:id="rId2"/>
    <p:sldId id="307" r:id="rId3"/>
    <p:sldId id="316" r:id="rId4"/>
    <p:sldId id="315" r:id="rId5"/>
    <p:sldId id="308" r:id="rId6"/>
    <p:sldId id="309" r:id="rId7"/>
    <p:sldId id="310" r:id="rId8"/>
    <p:sldId id="311" r:id="rId9"/>
    <p:sldId id="312" r:id="rId10"/>
    <p:sldId id="313" r:id="rId11"/>
    <p:sldId id="293" r:id="rId12"/>
    <p:sldId id="314" r:id="rId13"/>
    <p:sldId id="306" r:id="rId1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7/01/2026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2396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07/01/2026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Informações gerais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Carga</a:t>
            </a:r>
            <a:r>
              <a:rPr lang="en-US" b="1" dirty="0"/>
              <a:t> </a:t>
            </a:r>
            <a:r>
              <a:rPr lang="en-US" b="1" dirty="0" err="1"/>
              <a:t>horária</a:t>
            </a:r>
            <a:r>
              <a:rPr lang="en-US" dirty="0"/>
              <a:t>: </a:t>
            </a:r>
            <a:r>
              <a:rPr lang="en-US" dirty="0" smtClean="0"/>
              <a:t>2h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 smtClean="0"/>
              <a:t>semana</a:t>
            </a:r>
            <a:r>
              <a:rPr lang="en-US" dirty="0" smtClean="0"/>
              <a:t> (</a:t>
            </a: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teóricas</a:t>
            </a:r>
            <a:r>
              <a:rPr lang="en-US" dirty="0" smtClean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 smtClean="0"/>
              <a:t>Aulas</a:t>
            </a:r>
            <a:r>
              <a:rPr lang="en-US" dirty="0" smtClean="0"/>
              <a:t> </a:t>
            </a:r>
            <a:r>
              <a:rPr lang="en-US" dirty="0" err="1" smtClean="0"/>
              <a:t>práticas</a:t>
            </a:r>
            <a:r>
              <a:rPr lang="en-US" dirty="0" smtClean="0"/>
              <a:t>: 2h </a:t>
            </a:r>
            <a:r>
              <a:rPr lang="en-US" dirty="0" err="1" smtClean="0"/>
              <a:t>por</a:t>
            </a:r>
            <a:r>
              <a:rPr lang="en-US" dirty="0" smtClean="0"/>
              <a:t> </a:t>
            </a:r>
            <a:r>
              <a:rPr lang="en-US" dirty="0" err="1" smtClean="0"/>
              <a:t>semana</a:t>
            </a:r>
            <a:endParaRPr lang="en-US" dirty="0"/>
          </a:p>
          <a:p>
            <a:r>
              <a:rPr lang="pt-BR" b="1" dirty="0" smtClean="0"/>
              <a:t>Horário de atendimento</a:t>
            </a:r>
            <a:r>
              <a:rPr lang="pt-BR" dirty="0" smtClean="0"/>
              <a:t>: à definir.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Cronograma</a:t>
            </a:r>
            <a:endParaRPr lang="pt-BR" dirty="0"/>
          </a:p>
        </p:txBody>
      </p:sp>
      <p:graphicFrame>
        <p:nvGraphicFramePr>
          <p:cNvPr id="4" name="Espaço Reservado para Conteú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0954762"/>
              </p:ext>
            </p:extLst>
          </p:nvPr>
        </p:nvGraphicFramePr>
        <p:xfrm>
          <a:off x="2405149" y="1338350"/>
          <a:ext cx="6605848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297"/>
                <a:gridCol w="903803"/>
                <a:gridCol w="1012927"/>
                <a:gridCol w="4158821"/>
              </a:tblGrid>
              <a:tr h="270945">
                <a:tc gridSpan="4">
                  <a:txBody>
                    <a:bodyPr/>
                    <a:lstStyle/>
                    <a:p>
                      <a:pPr algn="ctr"/>
                      <a:r>
                        <a:rPr lang="pt-BR" sz="1400" dirty="0" smtClean="0">
                          <a:solidFill>
                            <a:schemeClr val="tx1"/>
                          </a:solidFill>
                        </a:rPr>
                        <a:t>C24</a:t>
                      </a:r>
                      <a:endParaRPr lang="pt-B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09/02/26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Segunda-feira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100" dirty="0" smtClean="0"/>
                        <a:t>Inteligência Artificial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23/02/26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dirty="0">
                          <a:effectLst/>
                        </a:rPr>
                        <a:t>02/03/26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09/03/26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16/03/26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23/03/26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30/03/26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9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06/04/26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10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>
                          <a:effectLst/>
                        </a:rPr>
                        <a:t>13/04/26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Segunda-feira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b="1" dirty="0" smtClean="0"/>
                        <a:t>Prova #1</a:t>
                      </a:r>
                      <a:endParaRPr lang="pt-BR" sz="11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11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20/04/26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12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27/04/26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13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04/05/26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14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11/05/26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15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18/05/26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16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25/05/26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17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01/06/26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18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>
                          <a:effectLst/>
                        </a:rPr>
                        <a:t>08/06/26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Segunda-feira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100" dirty="0" smtClean="0"/>
                        <a:t>Inteligência Artificial</a:t>
                      </a:r>
                      <a:endParaRPr lang="pt-BR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19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15/06/26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#2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221683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20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pt-BR" sz="1100" b="1" dirty="0">
                          <a:effectLst/>
                        </a:rPr>
                        <a:t>22/06/26</a:t>
                      </a:r>
                    </a:p>
                  </a:txBody>
                  <a:tcPr marL="28575" marR="28575" marT="19050" marB="1905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dirty="0" smtClean="0"/>
                        <a:t>Segunda-feira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100" b="1" kern="120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Prova #3</a:t>
                      </a:r>
                      <a:endParaRPr lang="pt-BR" sz="11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0230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Avaliações</a:t>
            </a:r>
            <a:endParaRPr lang="pt-BR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DA84068-671A-9D40-4F76-2C57E4F720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9336578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fontAlgn="base"/>
                <a:r>
                  <a:rPr lang="pt-BR" dirty="0" smtClean="0"/>
                  <a:t>NP1 (1ª prova teórica/prática): a definir </a:t>
                </a:r>
                <a:r>
                  <a:rPr lang="pt-BR" dirty="0"/>
                  <a:t>→</a:t>
                </a:r>
                <a:r>
                  <a:rPr lang="pt-BR" dirty="0" smtClean="0"/>
                  <a:t> </a:t>
                </a:r>
                <a:r>
                  <a:rPr lang="pt-BR" dirty="0"/>
                  <a:t>sugestão: </a:t>
                </a:r>
                <a:r>
                  <a:rPr lang="pt-BR" dirty="0" smtClean="0"/>
                  <a:t>13/04/2026</a:t>
                </a:r>
                <a:r>
                  <a:rPr lang="en-US" dirty="0" smtClean="0"/>
                  <a:t>​</a:t>
                </a:r>
                <a:endParaRPr lang="en-US" dirty="0"/>
              </a:p>
              <a:p>
                <a:pPr fontAlgn="base"/>
                <a:r>
                  <a:rPr lang="pt-BR" dirty="0"/>
                  <a:t>NP2 (2ª prova teórica/prática): a definir </a:t>
                </a:r>
                <a:r>
                  <a:rPr lang="pt-BR" dirty="0"/>
                  <a:t>→ sugestão</a:t>
                </a:r>
                <a:r>
                  <a:rPr lang="pt-BR" dirty="0"/>
                  <a:t>: </a:t>
                </a:r>
                <a:r>
                  <a:rPr lang="pt-BR" dirty="0" smtClean="0"/>
                  <a:t>15</a:t>
                </a:r>
                <a:r>
                  <a:rPr lang="pt-BR" dirty="0" smtClean="0"/>
                  <a:t>/06/2026​</a:t>
                </a:r>
                <a:endParaRPr lang="pt-BR" dirty="0"/>
              </a:p>
              <a:p>
                <a:pPr fontAlgn="base"/>
                <a:r>
                  <a:rPr lang="pt-BR" dirty="0"/>
                  <a:t>NP3 (3ª prova teórica/prática): a definir </a:t>
                </a:r>
                <a:r>
                  <a:rPr lang="pt-BR" dirty="0"/>
                  <a:t>→ sugestão</a:t>
                </a:r>
                <a:r>
                  <a:rPr lang="pt-BR" dirty="0"/>
                  <a:t>: </a:t>
                </a:r>
                <a:r>
                  <a:rPr lang="pt-BR" dirty="0" smtClean="0"/>
                  <a:t>22</a:t>
                </a:r>
                <a:r>
                  <a:rPr lang="pt-BR" dirty="0" smtClean="0"/>
                  <a:t>/06/2026​</a:t>
                </a:r>
                <a:endParaRPr lang="pt-BR" dirty="0"/>
              </a:p>
              <a:p>
                <a:pPr fontAlgn="base"/>
                <a:r>
                  <a:rPr lang="pt-BR" dirty="0"/>
                  <a:t>NPA = (NP1 + NP2) / 2</a:t>
                </a:r>
                <a:r>
                  <a:rPr lang="en-US" dirty="0"/>
                  <a:t>​</a:t>
                </a:r>
              </a:p>
              <a:p>
                <a:pPr fontAlgn="base"/>
                <a:r>
                  <a:rPr lang="pt-BR" dirty="0"/>
                  <a:t>NFA </a:t>
                </a:r>
                <a:r>
                  <a:rPr lang="pt-BR" dirty="0" smtClean="0"/>
                  <a:t>=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 smtClean="0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&gt;= 60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if</m:t>
                        </m:r>
                      </m:lim>
                    </m:limLow>
                  </m:oMath>
                </a14:m>
                <a:r>
                  <a:rPr lang="pt-BR" dirty="0" smtClean="0"/>
                  <a:t> ?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then</m:t>
                        </m:r>
                      </m:lim>
                    </m:limLow>
                  </m:oMath>
                </a14:m>
                <a:r>
                  <a:rPr lang="pt-BR" dirty="0" smtClean="0"/>
                  <a:t>: </a:t>
                </a:r>
                <a14:m>
                  <m:oMath xmlns:m="http://schemas.openxmlformats.org/officeDocument/2006/math">
                    <m:limLow>
                      <m:limLowPr>
                        <m:ctrlPr>
                          <a:rPr lang="pt-BR" sz="2600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pt-BR" sz="2600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r>
                              <m:rPr>
                                <m:nor/>
                              </m:rPr>
                              <a:rPr lang="pt-BR" sz="2600" dirty="0"/>
                              <m:t>(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NPA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 + 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NP</m:t>
                            </m:r>
                            <m:r>
                              <m:rPr>
                                <m:nor/>
                              </m:rPr>
                              <a:rPr lang="pt-BR" sz="2600" dirty="0"/>
                              <m:t>3) / 2</m:t>
                            </m:r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 sz="2600" dirty="0">
                            <a:latin typeface="Consolas" panose="020B0609020204030204" pitchFamily="49" charset="0"/>
                          </a:rPr>
                          <m:t>else</m:t>
                        </m:r>
                      </m:lim>
                    </m:limLow>
                  </m:oMath>
                </a14:m>
                <a:r>
                  <a:rPr lang="pt-BR" dirty="0" smtClean="0"/>
                  <a:t> </a:t>
                </a:r>
                <a:r>
                  <a:rPr lang="en-US" dirty="0" smtClean="0"/>
                  <a:t>​</a:t>
                </a:r>
                <a:endParaRPr lang="en-US" dirty="0" smtClean="0">
                  <a:latin typeface="Consolas" panose="020B0609020204030204" pitchFamily="49" charset="0"/>
                </a:endParaRPr>
              </a:p>
              <a:p>
                <a:pPr marL="0" indent="0" fontAlgn="base">
                  <a:buNone/>
                </a:pPr>
                <a:endParaRPr lang="pt-BR" dirty="0"/>
              </a:p>
              <a:p>
                <a:pPr fontAlgn="base"/>
                <a:r>
                  <a:rPr lang="pt-BR" dirty="0"/>
                  <a:t>Prova </a:t>
                </a:r>
                <a:r>
                  <a:rPr lang="pt-BR" dirty="0" smtClean="0"/>
                  <a:t>substitutiva: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Substitui </a:t>
                </a:r>
                <a:r>
                  <a:rPr lang="pt-BR" dirty="0"/>
                  <a:t>NP1 ou NP2, via NP3.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Solicitação por requerimento no CRA.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Prova com o conteúdo de todo o semestre.</a:t>
                </a:r>
                <a:r>
                  <a:rPr lang="en-US" dirty="0"/>
                  <a:t>​</a:t>
                </a:r>
              </a:p>
              <a:p>
                <a:pPr lvl="1" fontAlgn="base">
                  <a:buFont typeface="Wingdings" panose="05000000000000000000" pitchFamily="2" charset="2"/>
                  <a:buChar char="§"/>
                </a:pPr>
                <a:r>
                  <a:rPr lang="pt-BR" dirty="0"/>
                  <a:t>Caso </a:t>
                </a:r>
                <a:r>
                  <a:rPr lang="pt-BR" dirty="0" smtClean="0"/>
                  <a:t>não </a:t>
                </a:r>
                <a:r>
                  <a:rPr lang="pt-BR" dirty="0"/>
                  <a:t>seja aprovado, será feita outra prova como NP3 (PVS).</a:t>
                </a:r>
                <a:r>
                  <a:rPr lang="pt-BR" dirty="0" smtClean="0"/>
                  <a:t>​</a:t>
                </a:r>
                <a:r>
                  <a:rPr lang="pt-BR" dirty="0"/>
                  <a:t> </a:t>
                </a:r>
              </a:p>
            </p:txBody>
          </p:sp>
        </mc:Choice>
        <mc:Fallback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id="{7DA84068-671A-9D40-4F76-2C57E4F720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9336578" cy="5032375"/>
              </a:xfrm>
              <a:blipFill rotWithShape="0">
                <a:blip r:embed="rId2"/>
                <a:stretch>
                  <a:fillRect l="-1045" t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Expanding Brain - Exam Meme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5759" y="3243781"/>
            <a:ext cx="2626612" cy="36142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88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Calendário e feriados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 smtClean="0"/>
              <a:t>Calendário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Disponível no site do Inatel</a:t>
            </a:r>
          </a:p>
          <a:p>
            <a:r>
              <a:rPr lang="pt-BR" dirty="0" smtClean="0"/>
              <a:t>Feriados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smtClean="0"/>
              <a:t>16/02/2026 (Carnaval)</a:t>
            </a:r>
          </a:p>
          <a:p>
            <a:r>
              <a:rPr lang="pt-BR" b="1" dirty="0">
                <a:solidFill>
                  <a:srgbClr val="FF0000"/>
                </a:solidFill>
              </a:rPr>
              <a:t>Atentem-se às reposições de aula no portal acadêmico (se houver).</a:t>
            </a:r>
            <a:r>
              <a:rPr lang="en-US" b="1" dirty="0" smtClean="0">
                <a:solidFill>
                  <a:srgbClr val="FF0000"/>
                </a:solidFill>
              </a:rPr>
              <a:t>​</a:t>
            </a:r>
            <a:endParaRPr 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Referências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206239"/>
            <a:ext cx="11032375" cy="2651761"/>
          </a:xfrm>
        </p:spPr>
        <p:txBody>
          <a:bodyPr>
            <a:normAutofit fontScale="85000" lnSpcReduction="20000"/>
          </a:bodyPr>
          <a:lstStyle/>
          <a:p>
            <a:r>
              <a:rPr lang="pt-BR" dirty="0"/>
              <a:t>RUSSELL, Stuart; NORVIG, </a:t>
            </a:r>
            <a:r>
              <a:rPr lang="pt-BR" dirty="0" smtClean="0"/>
              <a:t>Peter; </a:t>
            </a:r>
            <a:r>
              <a:rPr lang="pt-BR" dirty="0"/>
              <a:t>SOUZA, </a:t>
            </a:r>
            <a:r>
              <a:rPr lang="pt-BR" dirty="0" err="1"/>
              <a:t>Vandenberg</a:t>
            </a:r>
            <a:r>
              <a:rPr lang="pt-BR" dirty="0"/>
              <a:t> Dantas De, Inteligência artificial. Rio de Janeiro, RJ: Editora Campus, 2004 - 2013, ISBN 978-85-352-1177-1 / 978-85-352-3701-6</a:t>
            </a:r>
            <a:r>
              <a:rPr lang="pt-BR" dirty="0" smtClean="0"/>
              <a:t>.</a:t>
            </a:r>
          </a:p>
          <a:p>
            <a:r>
              <a:rPr lang="pt-BR" dirty="0" smtClean="0"/>
              <a:t>GÉRON, </a:t>
            </a:r>
            <a:r>
              <a:rPr lang="pt-BR" dirty="0" err="1" smtClean="0"/>
              <a:t>Aurélien</a:t>
            </a:r>
            <a:r>
              <a:rPr lang="pt-BR" dirty="0" smtClean="0"/>
              <a:t>, Mãos </a:t>
            </a:r>
            <a:r>
              <a:rPr lang="pt-BR" dirty="0"/>
              <a:t>à Obra: Aprendizado de Máquina com Scikit-Learn, Keras &amp; TensorFlow: Conceitos, Ferramentas e Técnicas Para a Construção de Sistemas </a:t>
            </a:r>
            <a:r>
              <a:rPr lang="pt-BR" dirty="0" smtClean="0"/>
              <a:t>Inteligentes. </a:t>
            </a:r>
            <a:r>
              <a:rPr lang="pt-BR" dirty="0"/>
              <a:t>Alta </a:t>
            </a:r>
            <a:r>
              <a:rPr lang="pt-BR" dirty="0" smtClean="0"/>
              <a:t>Books, 2021, ISBN 855-08-154-89</a:t>
            </a:r>
          </a:p>
          <a:p>
            <a:r>
              <a:rPr lang="pt-BR" dirty="0"/>
              <a:t>HAYKIN, Simon S.; ENGEL, Paulo </a:t>
            </a:r>
            <a:r>
              <a:rPr lang="pt-BR" dirty="0" smtClean="0"/>
              <a:t>Martins, </a:t>
            </a:r>
            <a:r>
              <a:rPr lang="pt-BR" dirty="0"/>
              <a:t>Redes neurais: Princípios e práticas. 2 ed. São Paulo, SP: Editora </a:t>
            </a:r>
            <a:r>
              <a:rPr lang="pt-BR" dirty="0" err="1"/>
              <a:t>Bookman</a:t>
            </a:r>
            <a:r>
              <a:rPr lang="pt-BR" dirty="0"/>
              <a:t>, 2001, 900 p. ISBN 978-85-7307-718-6.</a:t>
            </a:r>
          </a:p>
          <a:p>
            <a:endParaRPr lang="pt-BR" dirty="0"/>
          </a:p>
        </p:txBody>
      </p:sp>
      <p:pic>
        <p:nvPicPr>
          <p:cNvPr id="1032" name="Picture 8" descr="Livro: Inteligência Artificial - Peter Norvig | Estante Virtua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2481" y="1601643"/>
            <a:ext cx="1828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Mãos à Obra: Aprendizado de Máquina com Scikit-Learn, Keras &amp;amp; TensorFlow: Conceitos, Ferramentas e Técnicas Para a Construção de Sistemas Inteligente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2954" y="1538459"/>
            <a:ext cx="1732510" cy="2443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Neural Networks: A Comprehensive Foundation: United States Edition : Haykin,  Simon O.: Amazon.com.au: Book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7137" y="1601643"/>
            <a:ext cx="1835972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8031</TotalTime>
  <Words>352</Words>
  <Application>Microsoft Office PowerPoint</Application>
  <PresentationFormat>Widescreen</PresentationFormat>
  <Paragraphs>120</Paragraphs>
  <Slides>13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20" baseType="lpstr">
      <vt:lpstr>Arial</vt:lpstr>
      <vt:lpstr>Calibri</vt:lpstr>
      <vt:lpstr>Calibri Light</vt:lpstr>
      <vt:lpstr>Cambria Math</vt:lpstr>
      <vt:lpstr>Consolas</vt:lpstr>
      <vt:lpstr>Wingdings</vt:lpstr>
      <vt:lpstr>Tema do Office</vt:lpstr>
      <vt:lpstr>C24 – Inteligência Artificial: Introdução</vt:lpstr>
      <vt:lpstr>Informações gerais</vt:lpstr>
      <vt:lpstr>Cronograma</vt:lpstr>
      <vt:lpstr>Avaliações</vt:lpstr>
      <vt:lpstr>Calendário e feriados</vt:lpstr>
      <vt:lpstr>Referências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1743</cp:revision>
  <dcterms:created xsi:type="dcterms:W3CDTF">2020-01-20T13:50:05Z</dcterms:created>
  <dcterms:modified xsi:type="dcterms:W3CDTF">2026-01-07T17:21:16Z</dcterms:modified>
</cp:coreProperties>
</file>