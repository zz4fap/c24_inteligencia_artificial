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6" r:id="rId2"/>
    <p:sldId id="307" r:id="rId3"/>
    <p:sldId id="316" r:id="rId4"/>
    <p:sldId id="315" r:id="rId5"/>
    <p:sldId id="308" r:id="rId6"/>
    <p:sldId id="318" r:id="rId7"/>
    <p:sldId id="309" r:id="rId8"/>
    <p:sldId id="310" r:id="rId9"/>
    <p:sldId id="317" r:id="rId10"/>
    <p:sldId id="311" r:id="rId11"/>
    <p:sldId id="321" r:id="rId12"/>
    <p:sldId id="319" r:id="rId13"/>
    <p:sldId id="320" r:id="rId14"/>
    <p:sldId id="322" r:id="rId15"/>
    <p:sldId id="323" r:id="rId16"/>
    <p:sldId id="324" r:id="rId17"/>
    <p:sldId id="312" r:id="rId18"/>
    <p:sldId id="313" r:id="rId19"/>
    <p:sldId id="293" r:id="rId20"/>
    <p:sldId id="314" r:id="rId21"/>
    <p:sldId id="306" r:id="rId2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8/01/2026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2396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"A gente vê o </a:t>
            </a:r>
            <a:r>
              <a:rPr lang="pt-BR" dirty="0" err="1" smtClean="0"/>
              <a:t>ChatGPT</a:t>
            </a:r>
            <a:r>
              <a:rPr lang="pt-BR" dirty="0" smtClean="0"/>
              <a:t> escrevendo poemas e fica assustado, achando que a Matrix vai começar amanhã. Mas fiquem tranquilos: se vocês morarem em um sobrado, a revolução das máquinas vai demorar um pouco para chegar no andar de cima, porque subir degraus ainda é um pesadelo para os algoritmos de locomoção!“</a:t>
            </a:r>
          </a:p>
          <a:p>
            <a:endParaRPr lang="pt-BR" dirty="0" smtClean="0"/>
          </a:p>
          <a:p>
            <a:r>
              <a:rPr lang="pt-BR" b="1" dirty="0" smtClean="0"/>
              <a:t>O que é difícil para humanos é fácil para a IA:</a:t>
            </a:r>
            <a:r>
              <a:rPr lang="pt-BR" dirty="0" smtClean="0"/>
              <a:t> Fazer cálculos matemáticos complexos, jogar xadrez em nível mundial ou analisar milhões de linhas de código.</a:t>
            </a:r>
          </a:p>
          <a:p>
            <a:r>
              <a:rPr lang="pt-BR" b="1" dirty="0" smtClean="0"/>
              <a:t>O que é fácil para humanos é difícil para a IA:</a:t>
            </a:r>
            <a:r>
              <a:rPr lang="pt-BR" dirty="0" smtClean="0"/>
              <a:t> Andar, reconhecer um rosto na multidão, manter o equilíbrio em terreno irregular ou ter percepção sensorial básica.</a:t>
            </a:r>
          </a:p>
          <a:p>
            <a:endParaRPr lang="pt-BR" dirty="0" smtClean="0"/>
          </a:p>
          <a:p>
            <a:r>
              <a:rPr lang="pt-BR" dirty="0" smtClean="0"/>
              <a:t>Processar dados (o "cérebro" da IA) evoluiu muito mais rápido do que a interação física com o mundo (o "corpo" da IA / Robótica).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5882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13800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Definição formal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Capacidade de uma</a:t>
            </a:r>
            <a:r>
              <a:rPr lang="pt-B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 de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receber estímulos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vindos do</a:t>
            </a:r>
            <a:r>
              <a:rPr lang="pt-B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ambiente,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interpretá-los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aprender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</a:t>
            </a:r>
            <a:r>
              <a:rPr lang="pt-B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eles e usar o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conhecimento adquirido</a:t>
            </a:r>
            <a:r>
              <a:rPr lang="pt-BR" sz="1200" b="1" i="1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tomar decisões e resolver</a:t>
            </a:r>
            <a:r>
              <a:rPr lang="pt-BR" sz="1200" b="1" i="1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interagindo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ambiente</a:t>
            </a:r>
            <a:r>
              <a:rPr lang="pt-BR" dirty="0" smtClean="0"/>
              <a:t> </a:t>
            </a:r>
            <a:br>
              <a:rPr lang="pt-BR" dirty="0" smtClean="0"/>
            </a:b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8182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Turing descreve o teste originalmente com três pessoas: um homem (A), uma mulher (B) e um interrogador (C). O interrogador deve descobrir quem é o homem e quem é a mulher apenas por perguntas escritas.</a:t>
            </a:r>
          </a:p>
          <a:p>
            <a:r>
              <a:rPr lang="pt-BR" dirty="0" smtClean="0"/>
              <a:t>Depois, ele substitui um dos participantes por uma máquina. Se o interrogador errar tanto quanto errava com humanos, a máquina "venceu".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5878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7266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 smtClean="0"/>
              <a:t>O Resultado:</a:t>
            </a:r>
            <a:r>
              <a:rPr lang="pt-BR" dirty="0" smtClean="0"/>
              <a:t> Em um estudo da Universidade da Califórnia (San Diego) em 2025, o </a:t>
            </a:r>
            <a:r>
              <a:rPr lang="pt-BR" b="1" dirty="0" smtClean="0"/>
              <a:t>GPT-4.5</a:t>
            </a:r>
            <a:r>
              <a:rPr lang="pt-BR" dirty="0" smtClean="0"/>
              <a:t> enganou humanos em </a:t>
            </a:r>
            <a:r>
              <a:rPr lang="pt-BR" b="1" dirty="0" smtClean="0"/>
              <a:t>73% das vezes</a:t>
            </a:r>
            <a:r>
              <a:rPr lang="pt-BR" dirty="0" smtClean="0"/>
              <a:t>.</a:t>
            </a:r>
          </a:p>
          <a:p>
            <a:r>
              <a:rPr lang="pt-BR" b="1" dirty="0" smtClean="0"/>
              <a:t>Curiosidade:</a:t>
            </a:r>
            <a:r>
              <a:rPr lang="pt-BR" dirty="0" smtClean="0"/>
              <a:t> Nesse mesmo teste, seres humanos reais conseguiram convencer os juízes de que eram humanos em apenas cerca de 66% das vezes. Ou seja, a IA foi considerada </a:t>
            </a:r>
            <a:r>
              <a:rPr lang="pt-BR" b="1" dirty="0" smtClean="0"/>
              <a:t>mais humana que os próprios humanos</a:t>
            </a:r>
            <a:r>
              <a:rPr lang="pt-BR" dirty="0" smtClean="0"/>
              <a:t>!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15011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1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1.globo.com/tecnologia/noticia/2014/06/computador-convence-juizes-que-e-garoto-de-13-anos-em-teste-de-turing.html" TargetMode="External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tecnoblog.net/noticias/gpt-4-5-da-openai-passa-no-teste-de-turing-e-engana-humanos-mostra-estudo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 smtClean="0"/>
              <a:t>C24 -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 smtClean="0"/>
              <a:t>Introdução</a:t>
            </a:r>
            <a:endParaRPr lang="pt-BR" sz="7200" b="1" i="1" dirty="0"/>
          </a:p>
        </p:txBody>
      </p:sp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 smtClean="0"/>
              <a:t>Felipe A. P. de Figueiredo</a:t>
            </a:r>
            <a:endParaRPr lang="pt-BR" sz="2000" dirty="0"/>
          </a:p>
          <a:p>
            <a:r>
              <a:rPr lang="pt-BR" dirty="0">
                <a:hlinkClick r:id="rId3"/>
              </a:rPr>
              <a:t>f</a:t>
            </a:r>
            <a:r>
              <a:rPr lang="pt-BR" dirty="0" smtClean="0">
                <a:hlinkClick r:id="rId3"/>
              </a:rPr>
              <a:t>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Informações gerais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65625" cy="4351338"/>
          </a:xfrm>
        </p:spPr>
        <p:txBody>
          <a:bodyPr/>
          <a:lstStyle/>
          <a:p>
            <a:r>
              <a:rPr lang="en-US" b="1" dirty="0" err="1"/>
              <a:t>Carga</a:t>
            </a:r>
            <a:r>
              <a:rPr lang="en-US" b="1" dirty="0"/>
              <a:t> </a:t>
            </a:r>
            <a:r>
              <a:rPr lang="en-US" b="1" dirty="0" err="1"/>
              <a:t>horária</a:t>
            </a:r>
            <a:r>
              <a:rPr lang="en-US" dirty="0"/>
              <a:t>: </a:t>
            </a:r>
            <a:r>
              <a:rPr lang="en-US" dirty="0" smtClean="0"/>
              <a:t>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 smtClean="0"/>
              <a:t>semana</a:t>
            </a:r>
            <a:r>
              <a:rPr lang="en-US" dirty="0" smtClean="0"/>
              <a:t> (</a:t>
            </a:r>
            <a:r>
              <a:rPr lang="en-US" dirty="0" err="1" smtClean="0"/>
              <a:t>aulas</a:t>
            </a:r>
            <a:r>
              <a:rPr lang="en-US" dirty="0" smtClean="0"/>
              <a:t> </a:t>
            </a:r>
            <a:r>
              <a:rPr lang="en-US" dirty="0" err="1" smtClean="0"/>
              <a:t>teóricas</a:t>
            </a:r>
            <a:r>
              <a:rPr lang="en-US" dirty="0" smtClean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 smtClean="0"/>
              <a:t>Aulas</a:t>
            </a:r>
            <a:r>
              <a:rPr lang="en-US" dirty="0" smtClean="0"/>
              <a:t> </a:t>
            </a:r>
            <a:r>
              <a:rPr lang="en-US" dirty="0" err="1" smtClean="0"/>
              <a:t>práticas</a:t>
            </a:r>
            <a:r>
              <a:rPr lang="en-US" dirty="0" smtClean="0"/>
              <a:t>: 2h </a:t>
            </a:r>
            <a:r>
              <a:rPr lang="en-US" dirty="0" err="1" smtClean="0"/>
              <a:t>por</a:t>
            </a:r>
            <a:r>
              <a:rPr lang="en-US" dirty="0" smtClean="0"/>
              <a:t> </a:t>
            </a:r>
            <a:r>
              <a:rPr lang="en-US" dirty="0" err="1" smtClean="0"/>
              <a:t>semana</a:t>
            </a:r>
            <a:endParaRPr lang="en-US" dirty="0"/>
          </a:p>
          <a:p>
            <a:r>
              <a:rPr lang="pt-BR" b="1" dirty="0" smtClean="0"/>
              <a:t>Horário de atendimento</a:t>
            </a:r>
            <a:r>
              <a:rPr lang="pt-BR" dirty="0" smtClean="0"/>
              <a:t>: à definir.</a:t>
            </a:r>
          </a:p>
          <a:p>
            <a:r>
              <a:rPr lang="pt-BR" b="1" dirty="0" smtClean="0"/>
              <a:t>Material </a:t>
            </a:r>
            <a:r>
              <a:rPr lang="pt-BR" b="1" dirty="0"/>
              <a:t>do curso</a:t>
            </a:r>
            <a:r>
              <a:rPr lang="pt-BR" dirty="0"/>
              <a:t>: </a:t>
            </a:r>
            <a:r>
              <a:rPr lang="pt-BR" dirty="0">
                <a:hlinkClick r:id="rId2"/>
              </a:rPr>
              <a:t>https://</a:t>
            </a:r>
            <a:r>
              <a:rPr lang="pt-BR" dirty="0" smtClean="0">
                <a:hlinkClick r:id="rId2"/>
              </a:rPr>
              <a:t>github.com/zz4fap/c24_inteligencia_artificial</a:t>
            </a:r>
            <a:endParaRPr lang="pt-BR" dirty="0" smtClean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Cronograma</a:t>
            </a:r>
            <a:endParaRPr lang="pt-BR" dirty="0"/>
          </a:p>
        </p:txBody>
      </p:sp>
      <p:graphicFrame>
        <p:nvGraphicFramePr>
          <p:cNvPr id="4" name="Espaço Reservado para Conteú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0954762"/>
              </p:ext>
            </p:extLst>
          </p:nvPr>
        </p:nvGraphicFramePr>
        <p:xfrm>
          <a:off x="2405149" y="1338350"/>
          <a:ext cx="6605848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297"/>
                <a:gridCol w="903803"/>
                <a:gridCol w="1012927"/>
                <a:gridCol w="4158821"/>
              </a:tblGrid>
              <a:tr h="270945">
                <a:tc gridSpan="4">
                  <a:txBody>
                    <a:bodyPr/>
                    <a:lstStyle/>
                    <a:p>
                      <a:pPr algn="ctr"/>
                      <a:r>
                        <a:rPr lang="pt-BR" sz="1400" dirty="0" smtClean="0">
                          <a:solidFill>
                            <a:schemeClr val="tx1"/>
                          </a:solidFill>
                        </a:rPr>
                        <a:t>C24</a:t>
                      </a:r>
                      <a:endParaRPr lang="pt-B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09/02/26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2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 smtClean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 smtClean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3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4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02/03/26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5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09/03/26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6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7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8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30/03/26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9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06/04/26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10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>
                          <a:effectLst/>
                        </a:rPr>
                        <a:t>13/04/26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Segunda-feira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Prova #1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11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20/04/26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12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27/04/26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13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04/05/26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14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11/05/26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15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18/05/26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16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25/05/26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17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01/06/26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18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08/06/26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15/06/26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 smtClean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#2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22/06/26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 smtClean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#3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0230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Avaliações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7DA84068-671A-9D40-4F76-2C57E4F720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9103822" cy="5032375"/>
              </a:xfrm>
            </p:spPr>
            <p:txBody>
              <a:bodyPr>
                <a:normAutofit fontScale="92500" lnSpcReduction="10000"/>
              </a:bodyPr>
              <a:lstStyle/>
              <a:p>
                <a:pPr fontAlgn="base"/>
                <a:r>
                  <a:rPr lang="pt-BR" dirty="0" smtClean="0"/>
                  <a:t>NP1 (1ª prova teórica/prática): a definir </a:t>
                </a:r>
                <a:r>
                  <a:rPr lang="pt-BR" dirty="0"/>
                  <a:t>→</a:t>
                </a:r>
                <a:r>
                  <a:rPr lang="pt-BR" dirty="0" smtClean="0"/>
                  <a:t> </a:t>
                </a:r>
                <a:r>
                  <a:rPr lang="pt-BR" dirty="0"/>
                  <a:t>sugestão: </a:t>
                </a:r>
                <a:r>
                  <a:rPr lang="pt-BR" dirty="0" smtClean="0"/>
                  <a:t>13/04/2026</a:t>
                </a:r>
                <a:r>
                  <a:rPr lang="en-US" dirty="0" smtClean="0"/>
                  <a:t>​</a:t>
                </a:r>
                <a:endParaRPr lang="en-US" dirty="0"/>
              </a:p>
              <a:p>
                <a:pPr fontAlgn="base"/>
                <a:r>
                  <a:rPr lang="pt-BR" dirty="0"/>
                  <a:t>NP2 (2ª prova teórica/prática): a definir → sugestão: </a:t>
                </a:r>
                <a:r>
                  <a:rPr lang="pt-BR" dirty="0" smtClean="0"/>
                  <a:t>15/06/2026​</a:t>
                </a:r>
                <a:endParaRPr lang="pt-BR" dirty="0"/>
              </a:p>
              <a:p>
                <a:pPr fontAlgn="base"/>
                <a:r>
                  <a:rPr lang="pt-BR" dirty="0"/>
                  <a:t>NP3 (3ª prova teórica/prática): a definir → sugestão: </a:t>
                </a:r>
                <a:r>
                  <a:rPr lang="pt-BR" dirty="0" smtClean="0"/>
                  <a:t>22/06/2026​</a:t>
                </a:r>
                <a:endParaRPr lang="pt-BR" dirty="0"/>
              </a:p>
              <a:p>
                <a:pPr fontAlgn="base"/>
                <a:r>
                  <a:rPr lang="pt-BR" dirty="0"/>
                  <a:t>NPA = (NP1 + NP2) / 2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pt-BR" dirty="0"/>
                  <a:t>NFA </a:t>
                </a:r>
                <a:r>
                  <a:rPr lang="pt-BR" dirty="0" smtClean="0"/>
                  <a:t>=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pt-BR" sz="260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pt-BR" sz="260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m:rPr>
                                <m:nor/>
                              </m:rPr>
                              <a:rPr lang="pt-BR" sz="2600" dirty="0"/>
                              <m:t>NPA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 &gt;= 60</m:t>
                            </m:r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sz="2600" dirty="0">
                            <a:latin typeface="Consolas" panose="020B0609020204030204" pitchFamily="49" charset="0"/>
                          </a:rPr>
                          <m:t>if</m:t>
                        </m:r>
                      </m:lim>
                    </m:limLow>
                  </m:oMath>
                </a14:m>
                <a:r>
                  <a:rPr lang="pt-BR" dirty="0" smtClean="0"/>
                  <a:t> ?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pt-BR" sz="26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pt-BR" sz="2600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m:rPr>
                                <m:nor/>
                              </m:rPr>
                              <a:rPr lang="pt-BR" sz="2600" dirty="0"/>
                              <m:t>NPA</m:t>
                            </m:r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sz="2600" dirty="0">
                            <a:latin typeface="Consolas" panose="020B0609020204030204" pitchFamily="49" charset="0"/>
                          </a:rPr>
                          <m:t>then</m:t>
                        </m:r>
                      </m:lim>
                    </m:limLow>
                  </m:oMath>
                </a14:m>
                <a:r>
                  <a:rPr lang="pt-BR" dirty="0" smtClean="0"/>
                  <a:t>: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pt-BR" sz="26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pt-BR" sz="2600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m:rPr>
                                <m:nor/>
                              </m:rPr>
                              <a:rPr lang="pt-BR" sz="2600" dirty="0"/>
                              <m:t>(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NPA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 + 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NP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3) / 2</m:t>
                            </m:r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sz="2600" dirty="0">
                            <a:latin typeface="Consolas" panose="020B0609020204030204" pitchFamily="49" charset="0"/>
                          </a:rPr>
                          <m:t>else</m:t>
                        </m:r>
                      </m:lim>
                    </m:limLow>
                  </m:oMath>
                </a14:m>
                <a:r>
                  <a:rPr lang="pt-BR" dirty="0" smtClean="0"/>
                  <a:t> </a:t>
                </a:r>
                <a:r>
                  <a:rPr lang="en-US" dirty="0" smtClean="0"/>
                  <a:t>​</a:t>
                </a:r>
                <a:endParaRPr lang="en-US" dirty="0" smtClean="0">
                  <a:latin typeface="Consolas" panose="020B0609020204030204" pitchFamily="49" charset="0"/>
                </a:endParaRPr>
              </a:p>
              <a:p>
                <a:pPr marL="0" indent="0" fontAlgn="base">
                  <a:buNone/>
                </a:pPr>
                <a:endParaRPr lang="pt-BR" dirty="0"/>
              </a:p>
              <a:p>
                <a:pPr fontAlgn="base"/>
                <a:r>
                  <a:rPr lang="pt-BR" dirty="0"/>
                  <a:t>Prova </a:t>
                </a:r>
                <a:r>
                  <a:rPr lang="pt-BR" dirty="0" smtClean="0"/>
                  <a:t>substitutiva: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Substitui </a:t>
                </a:r>
                <a:r>
                  <a:rPr lang="pt-BR" dirty="0"/>
                  <a:t>NP1 ou NP2, via NP3.</a:t>
                </a:r>
                <a:r>
                  <a:rPr lang="en-US" dirty="0"/>
                  <a:t>​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/>
                  <a:t>Solicitação por requerimento no CRA.</a:t>
                </a:r>
                <a:r>
                  <a:rPr lang="en-US" dirty="0"/>
                  <a:t>​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/>
                  <a:t>Prova com o conteúdo de todo o semestre.</a:t>
                </a:r>
                <a:r>
                  <a:rPr lang="en-US" dirty="0"/>
                  <a:t>​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/>
                  <a:t>Caso </a:t>
                </a:r>
                <a:r>
                  <a:rPr lang="pt-BR" dirty="0" smtClean="0"/>
                  <a:t>não </a:t>
                </a:r>
                <a:r>
                  <a:rPr lang="pt-BR" dirty="0"/>
                  <a:t>seja aprovado, será feita outra prova como NP3 (PVS).</a:t>
                </a:r>
                <a:r>
                  <a:rPr lang="pt-BR" dirty="0" smtClean="0"/>
                  <a:t>​</a:t>
                </a:r>
                <a:r>
                  <a:rPr lang="pt-BR" dirty="0"/>
                  <a:t> 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7DA84068-671A-9D40-4F76-2C57E4F720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9103822" cy="5032375"/>
              </a:xfrm>
              <a:blipFill rotWithShape="0">
                <a:blip r:embed="rId2"/>
                <a:stretch>
                  <a:fillRect l="-1072" t="-2421" r="-8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Expanding Brain - Exam Me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5759" y="3243781"/>
            <a:ext cx="2626612" cy="3614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2881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Calendário e feriados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Calendário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Disponível no site do Inatel</a:t>
            </a:r>
          </a:p>
          <a:p>
            <a:r>
              <a:rPr lang="pt-BR" dirty="0" smtClean="0"/>
              <a:t>Feriados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16/02/2026 (Carnaval)</a:t>
            </a:r>
          </a:p>
          <a:p>
            <a:r>
              <a:rPr lang="pt-BR" b="1" dirty="0">
                <a:solidFill>
                  <a:srgbClr val="FF0000"/>
                </a:solidFill>
              </a:rPr>
              <a:t>Atentem-se às reposições de aula no portal acadêmico (se houver).</a:t>
            </a:r>
            <a:r>
              <a:rPr lang="en-US" b="1" dirty="0" smtClean="0">
                <a:solidFill>
                  <a:srgbClr val="FF0000"/>
                </a:solidFill>
              </a:rPr>
              <a:t>​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O que é essa tal de IA?</a:t>
            </a:r>
          </a:p>
        </p:txBody>
      </p:sp>
    </p:spTree>
    <p:extLst>
      <p:ext uri="{BB962C8B-B14F-4D97-AF65-F5344CB8AC3E}">
        <p14:creationId xmlns:p14="http://schemas.microsoft.com/office/powerpoint/2010/main" val="12838042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Referências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206239"/>
            <a:ext cx="11032375" cy="2651761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RUSSELL, Stuart; NORVIG, </a:t>
            </a:r>
            <a:r>
              <a:rPr lang="pt-BR" dirty="0" smtClean="0"/>
              <a:t>Peter; </a:t>
            </a:r>
            <a:r>
              <a:rPr lang="pt-BR" dirty="0"/>
              <a:t>SOUZA, </a:t>
            </a:r>
            <a:r>
              <a:rPr lang="pt-BR" dirty="0" err="1"/>
              <a:t>Vandenberg</a:t>
            </a:r>
            <a:r>
              <a:rPr lang="pt-BR" dirty="0"/>
              <a:t> Dantas De, Inteligência artificial. Rio de Janeiro, RJ: Editora Campus, 2004 - 2013, ISBN 978-85-352-1177-1 / 978-85-352-3701-6</a:t>
            </a:r>
            <a:r>
              <a:rPr lang="pt-BR" dirty="0" smtClean="0"/>
              <a:t>.</a:t>
            </a:r>
          </a:p>
          <a:p>
            <a:r>
              <a:rPr lang="pt-BR" dirty="0" smtClean="0"/>
              <a:t>GÉRON, </a:t>
            </a:r>
            <a:r>
              <a:rPr lang="pt-BR" dirty="0" err="1" smtClean="0"/>
              <a:t>Aurélien</a:t>
            </a:r>
            <a:r>
              <a:rPr lang="pt-BR" dirty="0" smtClean="0"/>
              <a:t>, Mãos </a:t>
            </a:r>
            <a:r>
              <a:rPr lang="pt-BR" dirty="0"/>
              <a:t>à Obra: Aprendizado de Máquina com Scikit-Learn, Keras &amp; TensorFlow: Conceitos, Ferramentas e Técnicas Para a Construção de Sistemas </a:t>
            </a:r>
            <a:r>
              <a:rPr lang="pt-BR" dirty="0" smtClean="0"/>
              <a:t>Inteligentes. </a:t>
            </a:r>
            <a:r>
              <a:rPr lang="pt-BR" dirty="0"/>
              <a:t>Alta </a:t>
            </a:r>
            <a:r>
              <a:rPr lang="pt-BR" dirty="0" smtClean="0"/>
              <a:t>Books, 2021, ISBN 855-08-154-89</a:t>
            </a:r>
          </a:p>
          <a:p>
            <a:r>
              <a:rPr lang="pt-BR" dirty="0"/>
              <a:t>HAYKIN, Simon S.; ENGEL, Paulo </a:t>
            </a:r>
            <a:r>
              <a:rPr lang="pt-BR" dirty="0" smtClean="0"/>
              <a:t>Martins, </a:t>
            </a:r>
            <a:r>
              <a:rPr lang="pt-BR" dirty="0"/>
              <a:t>Redes neurais: Princípios e práticas. 2 ed. São Paulo, SP: Editora </a:t>
            </a:r>
            <a:r>
              <a:rPr lang="pt-BR" dirty="0" err="1"/>
              <a:t>Bookman</a:t>
            </a:r>
            <a:r>
              <a:rPr lang="pt-BR" dirty="0"/>
              <a:t>, 2001, 900 p. ISBN 978-85-7307-718-6.</a:t>
            </a:r>
          </a:p>
          <a:p>
            <a:endParaRPr lang="pt-BR" dirty="0"/>
          </a:p>
        </p:txBody>
      </p:sp>
      <p:pic>
        <p:nvPicPr>
          <p:cNvPr id="1032" name="Picture 8" descr="Livro: Inteligência Artificial - Peter Norvig | Estante Virtua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2481" y="1601643"/>
            <a:ext cx="18288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ãos à Obra: Aprendizado de Máquina com Scikit-Learn, Keras &amp;amp; TensorFlow: Conceitos, Ferramentas e Técnicas Para a Construção de Sistemas Inteligen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2954" y="1538459"/>
            <a:ext cx="1732510" cy="244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Neural Networks: A Comprehensive Foundation: United States Edition : Haykin,  Simon O.: Amazon.com.au: Boo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137" y="1601643"/>
            <a:ext cx="1835972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Expectativa vs. </a:t>
            </a:r>
            <a:r>
              <a:rPr lang="pt-BR" dirty="0" smtClean="0"/>
              <a:t>realidade</a:t>
            </a:r>
            <a:endParaRPr lang="pt-BR" dirty="0"/>
          </a:p>
        </p:txBody>
      </p:sp>
      <p:pic>
        <p:nvPicPr>
          <p:cNvPr id="1026" name="Picture 2" descr="a man stands next to a robot in front of an idol sign"/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2456" y="4177580"/>
            <a:ext cx="2377441" cy="2478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 robot is standing on a set of stairs in front of a television"/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59" y="1690688"/>
            <a:ext cx="2486891" cy="2486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Espaço Reservado para Conteúdo 2">
            <a:extLst>
              <a:ext uri="{FF2B5EF4-FFF2-40B4-BE49-F238E27FC236}">
                <a16:creationId xmlns=""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3927" y="1825624"/>
            <a:ext cx="5486399" cy="5032375"/>
          </a:xfrm>
        </p:spPr>
        <p:txBody>
          <a:bodyPr>
            <a:normAutofit/>
          </a:bodyPr>
          <a:lstStyle/>
          <a:p>
            <a:r>
              <a:rPr lang="pt-BR" altLang="pt-BR" dirty="0"/>
              <a:t>O que </a:t>
            </a:r>
            <a:r>
              <a:rPr lang="pt-BR" altLang="pt-BR" dirty="0" smtClean="0"/>
              <a:t>a ficção prometeu </a:t>
            </a:r>
            <a:r>
              <a:rPr lang="pt-BR" altLang="pt-BR" dirty="0"/>
              <a:t>vs. o</a:t>
            </a:r>
            <a:r>
              <a:rPr lang="pt-BR" altLang="pt-BR" dirty="0" smtClean="0"/>
              <a:t> que </a:t>
            </a:r>
            <a:r>
              <a:rPr lang="pt-BR" altLang="pt-BR" dirty="0"/>
              <a:t>temos hoje</a:t>
            </a:r>
            <a:r>
              <a:rPr lang="pt-BR" altLang="pt-BR" dirty="0" smtClean="0"/>
              <a:t>.</a:t>
            </a:r>
          </a:p>
          <a:p>
            <a:r>
              <a:rPr lang="pt-BR" dirty="0" smtClean="0"/>
              <a:t>Processar </a:t>
            </a:r>
            <a:r>
              <a:rPr lang="pt-BR" dirty="0"/>
              <a:t>dados (o "cérebro" da IA) evoluiu muito mais rápido do que a interação física com o mundo (o "corpo" da IA / Robótica</a:t>
            </a:r>
            <a:r>
              <a:rPr lang="pt-BR" dirty="0" smtClean="0"/>
              <a:t>).</a:t>
            </a:r>
          </a:p>
          <a:p>
            <a:r>
              <a:rPr lang="pt-BR" dirty="0"/>
              <a:t>O que é difícil para </a:t>
            </a:r>
            <a:r>
              <a:rPr lang="pt-BR" dirty="0" smtClean="0"/>
              <a:t>humanos (e.g., cálculos complexos) </a:t>
            </a:r>
            <a:r>
              <a:rPr lang="pt-BR" dirty="0"/>
              <a:t>é fácil para a </a:t>
            </a:r>
            <a:r>
              <a:rPr lang="pt-BR" dirty="0" smtClean="0"/>
              <a:t>IA e vice versa (e.g., andar e reconhecer rostos).</a:t>
            </a:r>
          </a:p>
          <a:p>
            <a:endParaRPr lang="pt-BR" altLang="pt-BR" dirty="0"/>
          </a:p>
          <a:p>
            <a:endParaRPr lang="pt-BR" dirty="0"/>
          </a:p>
        </p:txBody>
      </p:sp>
      <p:sp>
        <p:nvSpPr>
          <p:cNvPr id="3" name="Retângulo 2"/>
          <p:cNvSpPr/>
          <p:nvPr/>
        </p:nvSpPr>
        <p:spPr>
          <a:xfrm>
            <a:off x="3042456" y="2472469"/>
            <a:ext cx="280416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A revolução das máquinas parou na dificuldade de subir degraus</a:t>
            </a:r>
            <a:r>
              <a:rPr lang="pt-BR" dirty="0" smtClean="0"/>
              <a:t>.....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 que vocês acham que é IA?</a:t>
            </a:r>
            <a:endParaRPr lang="pt-BR" dirty="0"/>
          </a:p>
        </p:txBody>
      </p:sp>
      <p:pic>
        <p:nvPicPr>
          <p:cNvPr id="3074" name="Picture 2" descr="O Exterminador do Futuro': James Cameron revela o que considera “digno de  vergonha”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035" y="1869380"/>
            <a:ext cx="3763153" cy="211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WALL-E – Wikipédia, a enciclopédia livr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483" y="1869380"/>
            <a:ext cx="2122207" cy="3149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Metatrend #4: “JARVIS” is Coming... a Software Interface to Improve Our  Live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053" y="1869380"/>
            <a:ext cx="4454987" cy="2054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6208" y="4102245"/>
            <a:ext cx="3250161" cy="2437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obôs e IA: Conheça 8 filmes marcantes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209" y="4454279"/>
            <a:ext cx="3162756" cy="2085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4407188" y="5795228"/>
            <a:ext cx="414458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IA não é só robô assassino ou mordomo digital. É matemática aplicada com muito marketing.</a:t>
            </a:r>
          </a:p>
        </p:txBody>
      </p:sp>
    </p:spTree>
    <p:extLst>
      <p:ext uri="{BB962C8B-B14F-4D97-AF65-F5344CB8AC3E}">
        <p14:creationId xmlns:p14="http://schemas.microsoft.com/office/powerpoint/2010/main" val="27143487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 que é IA?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9863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altLang="pt-BR" b="1" dirty="0" smtClean="0"/>
              <a:t>Algumas definições</a:t>
            </a:r>
            <a:r>
              <a:rPr lang="pt-BR" altLang="pt-BR" dirty="0" smtClean="0"/>
              <a:t>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John McCarthy (1955</a:t>
            </a:r>
            <a:r>
              <a:rPr lang="pt-BR" altLang="pt-BR" b="1" dirty="0" smtClean="0"/>
              <a:t>)</a:t>
            </a:r>
            <a:endParaRPr lang="pt-BR" altLang="pt-BR" dirty="0" smtClean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 smtClean="0"/>
              <a:t>"</a:t>
            </a:r>
            <a:r>
              <a:rPr lang="pt-BR" altLang="pt-BR" i="1" dirty="0"/>
              <a:t>A ciência e engenharia de criar máquinas inteligentes, especialmente programas de computador inteligentes</a:t>
            </a:r>
            <a:r>
              <a:rPr lang="pt-BR" altLang="pt-BR" i="1" dirty="0" smtClean="0"/>
              <a:t>.“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 smtClean="0"/>
              <a:t>Marvin </a:t>
            </a:r>
            <a:r>
              <a:rPr lang="pt-BR" altLang="pt-BR" b="1" dirty="0" err="1"/>
              <a:t>Minsky</a:t>
            </a:r>
            <a:r>
              <a:rPr lang="pt-BR" altLang="pt-BR" b="1" dirty="0"/>
              <a:t> (1968</a:t>
            </a:r>
            <a:r>
              <a:rPr lang="pt-BR" altLang="pt-BR" b="1" dirty="0" smtClean="0"/>
              <a:t>)</a:t>
            </a:r>
            <a:endParaRPr lang="pt-BR" altLang="pt-BR" dirty="0" smtClean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 smtClean="0"/>
              <a:t>"</a:t>
            </a:r>
            <a:r>
              <a:rPr lang="pt-BR" altLang="pt-BR" i="1" dirty="0"/>
              <a:t>IA é a ciência de fazer as máquinas fazerem coisas que exigiriam inteligência se fossem feitas por </a:t>
            </a:r>
            <a:r>
              <a:rPr lang="pt-BR" altLang="pt-BR" i="1" dirty="0" smtClean="0"/>
              <a:t>humanos.“</a:t>
            </a:r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5"/>
            <a:ext cx="1084949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Stuart Russell &amp; Peter </a:t>
            </a:r>
            <a:r>
              <a:rPr lang="pt-BR" altLang="pt-BR" b="1" dirty="0" err="1"/>
              <a:t>Norvig</a:t>
            </a:r>
            <a:r>
              <a:rPr lang="pt-BR" altLang="pt-BR" b="1" dirty="0"/>
              <a:t> (2003)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"O estudo de agentes que recebem percepções do ambiente e executam ações</a:t>
            </a:r>
            <a:r>
              <a:rPr lang="pt-BR" altLang="pt-BR" i="1" dirty="0" smtClean="0"/>
              <a:t>."</a:t>
            </a:r>
            <a:endParaRPr lang="pt-BR" altLang="pt-BR" i="1" dirty="0"/>
          </a:p>
        </p:txBody>
      </p:sp>
      <p:grpSp>
        <p:nvGrpSpPr>
          <p:cNvPr id="20" name="Grupo 19"/>
          <p:cNvGrpSpPr/>
          <p:nvPr/>
        </p:nvGrpSpPr>
        <p:grpSpPr>
          <a:xfrm>
            <a:off x="4123113" y="2776451"/>
            <a:ext cx="3981987" cy="2176953"/>
            <a:chOff x="838200" y="2500541"/>
            <a:chExt cx="5690291" cy="3001503"/>
          </a:xfrm>
        </p:grpSpPr>
        <p:sp>
          <p:nvSpPr>
            <p:cNvPr id="4" name="Retângulo de cantos arredondados 3"/>
            <p:cNvSpPr/>
            <p:nvPr/>
          </p:nvSpPr>
          <p:spPr>
            <a:xfrm>
              <a:off x="838200" y="2500543"/>
              <a:ext cx="2959331" cy="300150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Retângulo 4"/>
            <p:cNvSpPr/>
            <p:nvPr/>
          </p:nvSpPr>
          <p:spPr>
            <a:xfrm>
              <a:off x="1735974" y="3436027"/>
              <a:ext cx="1163782" cy="1130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4400" b="1" dirty="0" smtClean="0">
                  <a:solidFill>
                    <a:schemeClr val="tx1"/>
                  </a:solidFill>
                </a:rPr>
                <a:t>?</a:t>
              </a:r>
              <a:endParaRPr lang="pt-BR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Retângulo de cantos arredondados 6"/>
            <p:cNvSpPr/>
            <p:nvPr/>
          </p:nvSpPr>
          <p:spPr>
            <a:xfrm rot="5400000">
              <a:off x="4491694" y="3465245"/>
              <a:ext cx="3001502" cy="107209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3200" dirty="0" smtClean="0"/>
                <a:t>Ambiente</a:t>
              </a:r>
              <a:endParaRPr lang="pt-BR" sz="3200" dirty="0"/>
            </a:p>
          </p:txBody>
        </p:sp>
        <p:cxnSp>
          <p:nvCxnSpPr>
            <p:cNvPr id="8" name="Conector de seta reta 7"/>
            <p:cNvCxnSpPr/>
            <p:nvPr/>
          </p:nvCxnSpPr>
          <p:spPr>
            <a:xfrm flipH="1">
              <a:off x="3267784" y="2820886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2"/>
            <p:cNvCxnSpPr/>
            <p:nvPr/>
          </p:nvCxnSpPr>
          <p:spPr>
            <a:xfrm>
              <a:off x="3267784" y="5320058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/>
            <p:nvPr/>
          </p:nvCxnSpPr>
          <p:spPr>
            <a:xfrm rot="16200000" flipH="1">
              <a:off x="2101866" y="322002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14"/>
            <p:cNvCxnSpPr/>
            <p:nvPr/>
          </p:nvCxnSpPr>
          <p:spPr>
            <a:xfrm rot="16200000" flipH="1">
              <a:off x="2101864" y="478255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CaixaDeTexto 11"/>
            <p:cNvSpPr txBox="1"/>
            <p:nvPr/>
          </p:nvSpPr>
          <p:spPr>
            <a:xfrm>
              <a:off x="3788777" y="2850694"/>
              <a:ext cx="1248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 smtClean="0"/>
                <a:t>Percepções</a:t>
              </a:r>
              <a:endParaRPr lang="pt-BR" dirty="0"/>
            </a:p>
          </p:txBody>
        </p:sp>
        <p:sp>
          <p:nvSpPr>
            <p:cNvPr id="17" name="CaixaDeTexto 16"/>
            <p:cNvSpPr txBox="1"/>
            <p:nvPr/>
          </p:nvSpPr>
          <p:spPr>
            <a:xfrm>
              <a:off x="4114125" y="4857053"/>
              <a:ext cx="74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 smtClean="0"/>
                <a:t>Ações</a:t>
              </a:r>
              <a:endParaRPr lang="pt-BR" dirty="0"/>
            </a:p>
          </p:txBody>
        </p:sp>
        <p:sp>
          <p:nvSpPr>
            <p:cNvPr id="18" name="CaixaDeTexto 17"/>
            <p:cNvSpPr txBox="1"/>
            <p:nvPr/>
          </p:nvSpPr>
          <p:spPr>
            <a:xfrm>
              <a:off x="1735778" y="2534485"/>
              <a:ext cx="10216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 smtClean="0"/>
                <a:t>Sensores</a:t>
              </a:r>
            </a:p>
          </p:txBody>
        </p:sp>
        <p:sp>
          <p:nvSpPr>
            <p:cNvPr id="19" name="CaixaDeTexto 18"/>
            <p:cNvSpPr txBox="1"/>
            <p:nvPr/>
          </p:nvSpPr>
          <p:spPr>
            <a:xfrm>
              <a:off x="1670719" y="5065635"/>
              <a:ext cx="1147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 smtClean="0"/>
                <a:t>Atuadores</a:t>
              </a:r>
            </a:p>
          </p:txBody>
        </p:sp>
        <p:sp>
          <p:nvSpPr>
            <p:cNvPr id="16" name="Retângulo 15"/>
            <p:cNvSpPr/>
            <p:nvPr/>
          </p:nvSpPr>
          <p:spPr>
            <a:xfrm rot="16200000">
              <a:off x="542479" y="3723283"/>
              <a:ext cx="1365695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3200" dirty="0" smtClean="0">
                  <a:solidFill>
                    <a:schemeClr val="bg1"/>
                  </a:solidFill>
                </a:rPr>
                <a:t>Agente</a:t>
              </a:r>
              <a:endParaRPr lang="pt-BR" sz="32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1030" name="Picture 6" descr="Artificial intelligence (AI) | Definition, Examples, Types, Applications,  Companies, &amp; Facts | Britannica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2594" y="5081845"/>
            <a:ext cx="1635527" cy="1635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3547" y="5242888"/>
            <a:ext cx="1880278" cy="1410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78924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 smtClean="0"/>
              <a:t>Breve história </a:t>
            </a:r>
            <a:r>
              <a:rPr lang="pt-BR" sz="6600" dirty="0"/>
              <a:t>e e</a:t>
            </a:r>
            <a:r>
              <a:rPr lang="pt-BR" sz="6600" dirty="0" smtClean="0"/>
              <a:t>volução</a:t>
            </a:r>
            <a:endParaRPr lang="pt-BR" sz="6600" dirty="0"/>
          </a:p>
        </p:txBody>
      </p:sp>
    </p:spTree>
    <p:extLst>
      <p:ext uri="{BB962C8B-B14F-4D97-AF65-F5344CB8AC3E}">
        <p14:creationId xmlns:p14="http://schemas.microsoft.com/office/powerpoint/2010/main" val="10014705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</a:t>
            </a:r>
            <a:r>
              <a:rPr lang="pt-BR" smtClean="0"/>
              <a:t>teste </a:t>
            </a:r>
            <a:r>
              <a:rPr lang="pt-BR" dirty="0"/>
              <a:t>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18909" y="1825624"/>
            <a:ext cx="6184670" cy="5032375"/>
          </a:xfrm>
        </p:spPr>
        <p:txBody>
          <a:bodyPr>
            <a:normAutofit/>
          </a:bodyPr>
          <a:lstStyle/>
          <a:p>
            <a:r>
              <a:rPr lang="pt-BR" dirty="0"/>
              <a:t>Alan Turing </a:t>
            </a:r>
            <a:r>
              <a:rPr lang="pt-BR" dirty="0" smtClean="0"/>
              <a:t>inicia seu artigo </a:t>
            </a:r>
            <a:r>
              <a:rPr lang="pt-BR" i="1" dirty="0" smtClean="0"/>
              <a:t>"</a:t>
            </a:r>
            <a:r>
              <a:rPr lang="pt-BR" i="1" dirty="0" err="1" smtClean="0"/>
              <a:t>Computing</a:t>
            </a:r>
            <a:r>
              <a:rPr lang="pt-BR" i="1" dirty="0" smtClean="0"/>
              <a:t> </a:t>
            </a:r>
            <a:r>
              <a:rPr lang="pt-BR" i="1" dirty="0" err="1"/>
              <a:t>Machinery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 smtClean="0"/>
              <a:t>Intelligence</a:t>
            </a:r>
            <a:r>
              <a:rPr lang="pt-BR" i="1" dirty="0" smtClean="0"/>
              <a:t>“</a:t>
            </a:r>
            <a:r>
              <a:rPr lang="pt-BR" dirty="0"/>
              <a:t> </a:t>
            </a:r>
            <a:r>
              <a:rPr lang="pt-BR" dirty="0" smtClean="0"/>
              <a:t>com a pergunta: </a:t>
            </a:r>
            <a:r>
              <a:rPr lang="pt-BR" b="1" dirty="0" smtClean="0">
                <a:solidFill>
                  <a:srgbClr val="00B0F0"/>
                </a:solidFill>
              </a:rPr>
              <a:t>máquinas podem pensar?</a:t>
            </a:r>
            <a:endParaRPr lang="pt-BR" dirty="0" smtClean="0"/>
          </a:p>
          <a:p>
            <a:r>
              <a:rPr lang="pt-BR" dirty="0" smtClean="0"/>
              <a:t>Porém, como as </a:t>
            </a:r>
            <a:r>
              <a:rPr lang="pt-BR" dirty="0"/>
              <a:t>definições de "máquina" e "pensar" são </a:t>
            </a:r>
            <a:r>
              <a:rPr lang="pt-BR" dirty="0" smtClean="0"/>
              <a:t>muito subjetivas</a:t>
            </a:r>
            <a:r>
              <a:rPr lang="pt-BR" dirty="0"/>
              <a:t>, para uma discussão científica </a:t>
            </a:r>
            <a:r>
              <a:rPr lang="pt-BR" dirty="0" smtClean="0"/>
              <a:t>rigorosa, ele muda a pergunta:</a:t>
            </a:r>
            <a:r>
              <a:rPr lang="pt-BR" b="1" dirty="0">
                <a:solidFill>
                  <a:srgbClr val="00B0F0"/>
                </a:solidFill>
              </a:rPr>
              <a:t> as máquinas podem nos enganar</a:t>
            </a:r>
            <a:r>
              <a:rPr lang="pt-BR" b="1" dirty="0" smtClean="0">
                <a:solidFill>
                  <a:srgbClr val="00B0F0"/>
                </a:solidFill>
              </a:rPr>
              <a:t>?</a:t>
            </a:r>
          </a:p>
          <a:p>
            <a:r>
              <a:rPr lang="pt-BR" dirty="0" smtClean="0"/>
              <a:t>Para testar, ele propôs o “</a:t>
            </a:r>
            <a:r>
              <a:rPr lang="pt-BR" b="1" dirty="0" smtClean="0"/>
              <a:t>jogo da imitação</a:t>
            </a:r>
            <a:r>
              <a:rPr lang="pt-BR" dirty="0" smtClean="0"/>
              <a:t>”, também conhecido como “</a:t>
            </a:r>
            <a:r>
              <a:rPr lang="pt-BR" b="1" dirty="0" smtClean="0"/>
              <a:t>teste de Turing</a:t>
            </a:r>
            <a:r>
              <a:rPr lang="pt-BR" dirty="0" smtClean="0"/>
              <a:t>”.</a:t>
            </a:r>
            <a:endParaRPr lang="pt-BR" dirty="0"/>
          </a:p>
        </p:txBody>
      </p:sp>
      <p:pic>
        <p:nvPicPr>
          <p:cNvPr id="2050" name="Picture 2" descr="Alan Turing Test and the Imitation Ga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03383"/>
            <a:ext cx="4705005" cy="3241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1070956" y="5774774"/>
            <a:ext cx="4239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 smtClean="0"/>
              <a:t>Se não conseguimos </a:t>
            </a:r>
            <a:r>
              <a:rPr lang="pt-BR" dirty="0"/>
              <a:t>distinguir a máquina de um humano, </a:t>
            </a:r>
            <a:r>
              <a:rPr lang="pt-BR" dirty="0" smtClean="0"/>
              <a:t>então ela </a:t>
            </a:r>
            <a:r>
              <a:rPr lang="pt-BR" dirty="0"/>
              <a:t>é inteligente.</a:t>
            </a:r>
          </a:p>
        </p:txBody>
      </p:sp>
    </p:spTree>
    <p:extLst>
      <p:ext uri="{BB962C8B-B14F-4D97-AF65-F5344CB8AC3E}">
        <p14:creationId xmlns:p14="http://schemas.microsoft.com/office/powerpoint/2010/main" val="22101389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</a:t>
            </a:r>
            <a:r>
              <a:rPr lang="pt-BR" dirty="0" smtClean="0"/>
              <a:t>teste </a:t>
            </a:r>
            <a:r>
              <a:rPr lang="pt-BR" dirty="0"/>
              <a:t>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6537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 smtClean="0"/>
              <a:t>Para passar no teste, a máquina deve ter as seguintes capacidades:</a:t>
            </a:r>
            <a:endParaRPr lang="pt-BR" dirty="0"/>
          </a:p>
          <a:p>
            <a:pPr fontAlgn="base"/>
            <a:r>
              <a:rPr lang="pt-BR" b="1" dirty="0"/>
              <a:t>Processamento de linguagem natural: </a:t>
            </a:r>
            <a:r>
              <a:rPr lang="pt-BR" dirty="0"/>
              <a:t>comunicar-se em um idioma </a:t>
            </a:r>
            <a:r>
              <a:rPr lang="pt-BR" dirty="0" smtClean="0"/>
              <a:t>natural </a:t>
            </a:r>
          </a:p>
          <a:p>
            <a:pPr lvl="1" fontAlgn="base"/>
            <a:r>
              <a:rPr lang="pt-BR" dirty="0" smtClean="0"/>
              <a:t>OBS.: O teste de Turing original considera apenas linguagem escrita, mas versões atuais incorporam a linguagem falada.</a:t>
            </a:r>
            <a:r>
              <a:rPr lang="en-US" dirty="0" smtClean="0"/>
              <a:t>​</a:t>
            </a:r>
            <a:endParaRPr lang="pt-BR" dirty="0"/>
          </a:p>
          <a:p>
            <a:pPr fontAlgn="base"/>
            <a:r>
              <a:rPr lang="pt-BR" b="1" dirty="0"/>
              <a:t>Representação de conhecimento: </a:t>
            </a:r>
            <a:r>
              <a:rPr lang="pt-BR" dirty="0"/>
              <a:t>armazenar o que </a:t>
            </a:r>
            <a:r>
              <a:rPr lang="pt-BR" dirty="0" smtClean="0"/>
              <a:t>sabe, lê </a:t>
            </a:r>
            <a:r>
              <a:rPr lang="pt-BR" dirty="0"/>
              <a:t>ou ouve.</a:t>
            </a:r>
            <a:r>
              <a:rPr lang="en-US" dirty="0" smtClean="0"/>
              <a:t>​</a:t>
            </a:r>
            <a:endParaRPr lang="pt-BR" dirty="0"/>
          </a:p>
          <a:p>
            <a:pPr fontAlgn="base"/>
            <a:r>
              <a:rPr lang="pt-BR" b="1" dirty="0"/>
              <a:t>Raciocínio automatizado: </a:t>
            </a:r>
            <a:r>
              <a:rPr lang="pt-BR" dirty="0"/>
              <a:t>usar o conhecimento armazenado para chegar a novas conclusões.</a:t>
            </a:r>
            <a:r>
              <a:rPr lang="en-US" dirty="0" smtClean="0"/>
              <a:t>​</a:t>
            </a:r>
            <a:endParaRPr lang="pt-BR" dirty="0"/>
          </a:p>
          <a:p>
            <a:pPr fontAlgn="base"/>
            <a:r>
              <a:rPr lang="pt-BR" b="1" dirty="0"/>
              <a:t>Aprendizado de máquina: </a:t>
            </a:r>
            <a:r>
              <a:rPr lang="pt-BR" dirty="0"/>
              <a:t>adaptar-se a novas situações e reconhecer padrões</a:t>
            </a:r>
            <a:r>
              <a:rPr lang="pt-BR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7156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</a:t>
            </a:r>
            <a:r>
              <a:rPr lang="pt-BR" dirty="0" smtClean="0"/>
              <a:t>Turing: Eugene </a:t>
            </a:r>
            <a:r>
              <a:rPr lang="pt-BR" dirty="0" err="1" smtClean="0"/>
              <a:t>Goostman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02284" y="1825624"/>
            <a:ext cx="6217920" cy="4997669"/>
          </a:xfrm>
        </p:spPr>
        <p:txBody>
          <a:bodyPr>
            <a:normAutofit/>
          </a:bodyPr>
          <a:lstStyle/>
          <a:p>
            <a:r>
              <a:rPr lang="pt-BR" dirty="0" smtClean="0"/>
              <a:t>Em 2014, </a:t>
            </a:r>
            <a:r>
              <a:rPr lang="pt-BR" dirty="0" smtClean="0"/>
              <a:t>durante um evento no reino unido, u</a:t>
            </a:r>
            <a:r>
              <a:rPr lang="pt-BR" dirty="0" smtClean="0"/>
              <a:t>m </a:t>
            </a:r>
            <a:r>
              <a:rPr lang="pt-BR" i="1" dirty="0" err="1"/>
              <a:t>chatbot</a:t>
            </a:r>
            <a:r>
              <a:rPr lang="pt-BR" dirty="0"/>
              <a:t> chamado Eugene </a:t>
            </a:r>
            <a:r>
              <a:rPr lang="pt-BR" dirty="0" err="1"/>
              <a:t>Goostman</a:t>
            </a:r>
            <a:r>
              <a:rPr lang="pt-BR" dirty="0"/>
              <a:t>, c</a:t>
            </a:r>
            <a:r>
              <a:rPr lang="pt-BR" b="1" dirty="0" smtClean="0"/>
              <a:t>onvenceu 10 de 30 </a:t>
            </a:r>
            <a:r>
              <a:rPr lang="pt-BR" b="1" dirty="0"/>
              <a:t>juízes de que </a:t>
            </a:r>
            <a:r>
              <a:rPr lang="pt-BR" b="1" dirty="0" smtClean="0"/>
              <a:t>era um menino ucraniano de </a:t>
            </a:r>
            <a:r>
              <a:rPr lang="pt-BR" b="1" dirty="0"/>
              <a:t>13 anos</a:t>
            </a:r>
            <a:r>
              <a:rPr lang="en-US" dirty="0" smtClean="0"/>
              <a:t>​.</a:t>
            </a:r>
            <a:endParaRPr lang="pt-BR" dirty="0" smtClean="0"/>
          </a:p>
          <a:p>
            <a:r>
              <a:rPr lang="pt-BR" dirty="0"/>
              <a:t>O evento exigia </a:t>
            </a:r>
            <a:r>
              <a:rPr lang="pt-BR" dirty="0" smtClean="0"/>
              <a:t>que apenas </a:t>
            </a:r>
            <a:r>
              <a:rPr lang="pt-BR" dirty="0"/>
              <a:t>que 30% dos juízes ficassem convencidos de que </a:t>
            </a:r>
            <a:r>
              <a:rPr lang="pt-BR" dirty="0" smtClean="0"/>
              <a:t>um participante fosse </a:t>
            </a:r>
            <a:r>
              <a:rPr lang="pt-BR" dirty="0"/>
              <a:t>um </a:t>
            </a:r>
            <a:r>
              <a:rPr lang="pt-BR" dirty="0" smtClean="0"/>
              <a:t>humano.</a:t>
            </a:r>
          </a:p>
          <a:p>
            <a:r>
              <a:rPr lang="pt-BR" dirty="0"/>
              <a:t>O </a:t>
            </a:r>
            <a:r>
              <a:rPr lang="pt-BR" i="1" dirty="0" err="1" smtClean="0"/>
              <a:t>bot</a:t>
            </a:r>
            <a:r>
              <a:rPr lang="pt-BR" dirty="0" smtClean="0"/>
              <a:t> fingiu </a:t>
            </a:r>
            <a:r>
              <a:rPr lang="pt-BR" dirty="0"/>
              <a:t>ser uma criança </a:t>
            </a:r>
            <a:r>
              <a:rPr lang="pt-BR" dirty="0" smtClean="0"/>
              <a:t>estrangeira para </a:t>
            </a:r>
            <a:r>
              <a:rPr lang="pt-BR" dirty="0"/>
              <a:t>que seus erros fossem perdoados pelos juízes.</a:t>
            </a:r>
            <a:endParaRPr lang="en-US" dirty="0"/>
          </a:p>
        </p:txBody>
      </p:sp>
      <p:pic>
        <p:nvPicPr>
          <p:cNvPr id="3074" name="Picture 2" descr="Computer chatbot 'Eugene Goostman' passes the Turing test | ZDNET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98" y="2499020"/>
            <a:ext cx="5244501" cy="2954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 smtClean="0"/>
              <a:t>Fonte: </a:t>
            </a:r>
            <a:r>
              <a:rPr lang="pt-BR" sz="1400" dirty="0" smtClean="0">
                <a:hlinkClick r:id="rId3"/>
              </a:rPr>
              <a:t>https</a:t>
            </a:r>
            <a:r>
              <a:rPr lang="pt-BR" sz="1400" dirty="0">
                <a:hlinkClick r:id="rId3"/>
              </a:rPr>
              <a:t>://g1.globo.com/tecnologia/noticia/2014/06/computador-convence-juizes-que-e-garoto-de-13-anos-em-teste-de-turing.html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121559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</a:t>
            </a:r>
            <a:r>
              <a:rPr lang="pt-BR" dirty="0" smtClean="0"/>
              <a:t>Turing: </a:t>
            </a:r>
            <a:r>
              <a:rPr lang="pt-BR" dirty="0" smtClean="0"/>
              <a:t>GPT-4.5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02284" y="1825624"/>
            <a:ext cx="6217920" cy="4997669"/>
          </a:xfrm>
        </p:spPr>
        <p:txBody>
          <a:bodyPr>
            <a:normAutofit/>
          </a:bodyPr>
          <a:lstStyle/>
          <a:p>
            <a:r>
              <a:rPr lang="pt-BR" dirty="0"/>
              <a:t>Com o avanço das </a:t>
            </a:r>
            <a:r>
              <a:rPr lang="pt-BR" dirty="0" err="1" smtClean="0"/>
              <a:t>LLMs</a:t>
            </a:r>
            <a:r>
              <a:rPr lang="pt-BR" dirty="0" smtClean="0"/>
              <a:t>, o </a:t>
            </a:r>
            <a:r>
              <a:rPr lang="pt-BR" dirty="0"/>
              <a:t>teste de Turing "clássico" ficou fácil demais. </a:t>
            </a:r>
            <a:endParaRPr lang="pt-BR" dirty="0" smtClean="0"/>
          </a:p>
          <a:p>
            <a:r>
              <a:rPr lang="pt-BR" dirty="0" smtClean="0"/>
              <a:t>Em </a:t>
            </a:r>
            <a:r>
              <a:rPr lang="pt-BR" dirty="0"/>
              <a:t>um estudo da Universidade da Califórnia </a:t>
            </a:r>
            <a:r>
              <a:rPr lang="pt-BR" dirty="0" smtClean="0"/>
              <a:t>em </a:t>
            </a:r>
            <a:r>
              <a:rPr lang="pt-BR" dirty="0"/>
              <a:t>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dirty="0" smtClean="0"/>
              <a:t>Nesse </a:t>
            </a:r>
            <a:r>
              <a:rPr lang="pt-BR" dirty="0"/>
              <a:t>mesmo teste, seres </a:t>
            </a:r>
            <a:r>
              <a:rPr lang="pt-BR" dirty="0" smtClean="0"/>
              <a:t>humanos conseguiram </a:t>
            </a:r>
            <a:r>
              <a:rPr lang="pt-BR" dirty="0"/>
              <a:t>convencer os juízes de que eram humanos em apenas cerca de 66% das vezes. </a:t>
            </a:r>
            <a:endParaRPr lang="pt-BR" dirty="0" smtClean="0"/>
          </a:p>
          <a:p>
            <a:r>
              <a:rPr lang="pt-BR" dirty="0" smtClean="0"/>
              <a:t>Ou </a:t>
            </a:r>
            <a:r>
              <a:rPr lang="pt-BR" dirty="0"/>
              <a:t>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</p:txBody>
      </p:sp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3"/>
              </a:rPr>
              <a:t>https://tecnoblog.net/noticias/gpt-4-5-da-openai-passa-no-teste-de-turing-e-engana-humanos-mostra-estudo/</a:t>
            </a:r>
            <a:endParaRPr lang="pt-BR" sz="1400" dirty="0"/>
          </a:p>
        </p:txBody>
      </p:sp>
      <p:pic>
        <p:nvPicPr>
          <p:cNvPr id="1036" name="Picture 12" descr="5 Ways to Detect Texts Written by ChatGPT and Other AI Chatbots -  En.tempo.c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884" y="2576945"/>
            <a:ext cx="5197659" cy="2923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5231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 nascimento </a:t>
            </a:r>
            <a:r>
              <a:rPr lang="pt-BR" dirty="0"/>
              <a:t>da IA (</a:t>
            </a:r>
            <a:r>
              <a:rPr lang="pt-BR" dirty="0" smtClean="0"/>
              <a:t>1956)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15502" cy="4351338"/>
          </a:xfrm>
        </p:spPr>
        <p:txBody>
          <a:bodyPr>
            <a:normAutofit/>
          </a:bodyPr>
          <a:lstStyle/>
          <a:p>
            <a:r>
              <a:rPr lang="pt-BR" dirty="0"/>
              <a:t>Em 1956, o cientista da computação, John McCarthy sugeriu o </a:t>
            </a:r>
            <a:r>
              <a:rPr lang="pt-BR" dirty="0" smtClean="0"/>
              <a:t>nome </a:t>
            </a:r>
            <a:r>
              <a:rPr lang="pt-BR" b="1" dirty="0" smtClean="0"/>
              <a:t>Inteligência </a:t>
            </a:r>
            <a:r>
              <a:rPr lang="pt-BR" b="1" dirty="0"/>
              <a:t>Artificial</a:t>
            </a:r>
            <a:r>
              <a:rPr lang="pt-BR" dirty="0"/>
              <a:t> </a:t>
            </a:r>
            <a:r>
              <a:rPr lang="pt-BR" dirty="0" smtClean="0"/>
              <a:t>para o novo campo de estudo apresentado em um </a:t>
            </a:r>
            <a:r>
              <a:rPr lang="pt-BR" i="1" dirty="0" smtClean="0"/>
              <a:t>workshop</a:t>
            </a:r>
            <a:r>
              <a:rPr lang="pt-BR" dirty="0" smtClean="0"/>
              <a:t> na faculdade de </a:t>
            </a:r>
            <a:r>
              <a:rPr lang="pt-BR" i="1" dirty="0" err="1" smtClean="0"/>
              <a:t>Dartmouth</a:t>
            </a:r>
            <a:r>
              <a:rPr lang="pt-BR" dirty="0"/>
              <a:t>. </a:t>
            </a:r>
            <a:endParaRPr lang="pt-BR" dirty="0" smtClean="0"/>
          </a:p>
          <a:p>
            <a:r>
              <a:rPr lang="pt-BR" dirty="0" smtClean="0"/>
              <a:t>Foi </a:t>
            </a:r>
            <a:r>
              <a:rPr lang="pt-BR" dirty="0"/>
              <a:t>a primeira vez que o termo foi utilizado e fixou-se desde então.​</a:t>
            </a:r>
          </a:p>
        </p:txBody>
      </p:sp>
      <p:pic>
        <p:nvPicPr>
          <p:cNvPr id="2052" name="Picture 4" descr="Morre John McCarthy, um dos mestres da Inteligência Artificial e criador do  Lisp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2293" y="3735698"/>
            <a:ext cx="200946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he Meeting of the Minds That Launched AI - IEEE Spectru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5851" y="3735698"/>
            <a:ext cx="555053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Os invernos da IA (anos 70-80)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5286" y="1825625"/>
            <a:ext cx="5418513" cy="4351338"/>
          </a:xfrm>
        </p:spPr>
        <p:txBody>
          <a:bodyPr/>
          <a:lstStyle/>
          <a:p>
            <a:r>
              <a:rPr lang="pt-BR" dirty="0" smtClean="0"/>
              <a:t>Houveram promessas </a:t>
            </a:r>
            <a:r>
              <a:rPr lang="pt-BR" dirty="0"/>
              <a:t>demais, resultados de menos</a:t>
            </a:r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8218</TotalTime>
  <Words>1305</Words>
  <Application>Microsoft Office PowerPoint</Application>
  <PresentationFormat>Widescreen</PresentationFormat>
  <Paragraphs>187</Paragraphs>
  <Slides>21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8" baseType="lpstr">
      <vt:lpstr>Arial</vt:lpstr>
      <vt:lpstr>Calibri</vt:lpstr>
      <vt:lpstr>Calibri Light</vt:lpstr>
      <vt:lpstr>Cambria Math</vt:lpstr>
      <vt:lpstr>Consolas</vt:lpstr>
      <vt:lpstr>Wingdings</vt:lpstr>
      <vt:lpstr>Tema do Office</vt:lpstr>
      <vt:lpstr>C24 - Inteligência Artificial: Introdução</vt:lpstr>
      <vt:lpstr>Informações gerais</vt:lpstr>
      <vt:lpstr>Cronograma</vt:lpstr>
      <vt:lpstr>Avaliações</vt:lpstr>
      <vt:lpstr>Calendário e feriados</vt:lpstr>
      <vt:lpstr>Apresentação do PowerPoint</vt:lpstr>
      <vt:lpstr>Referências</vt:lpstr>
      <vt:lpstr>Expectativa vs. realidade</vt:lpstr>
      <vt:lpstr>O que vocês acham que é IA?</vt:lpstr>
      <vt:lpstr>O que é IA?</vt:lpstr>
      <vt:lpstr>O que é IA?</vt:lpstr>
      <vt:lpstr>Apresentação do PowerPoint</vt:lpstr>
      <vt:lpstr>O teste de Turing (1950)</vt:lpstr>
      <vt:lpstr>O teste de Turing (1950)</vt:lpstr>
      <vt:lpstr>O teste de Turing: Eugene Goostman</vt:lpstr>
      <vt:lpstr>O teste de Turing: GPT-4.5</vt:lpstr>
      <vt:lpstr>O nascimento da IA (1956)</vt:lpstr>
      <vt:lpstr>Os invernos da IA (anos 70-80)</vt:lpstr>
      <vt:lpstr>Apresentação do PowerPoint</vt:lpstr>
      <vt:lpstr>Referências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1777</cp:revision>
  <dcterms:created xsi:type="dcterms:W3CDTF">2020-01-20T13:50:05Z</dcterms:created>
  <dcterms:modified xsi:type="dcterms:W3CDTF">2026-01-08T20:20:00Z</dcterms:modified>
</cp:coreProperties>
</file>