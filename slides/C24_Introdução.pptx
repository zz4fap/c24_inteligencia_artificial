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gif" ContentType="image/gif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changesInfos/changesInfo1.xml" ContentType="application/vnd.ms-powerpoint.changesinfo+xml"/>
  <Override PartName="/ppt/revisionInfo.xml" ContentType="application/vnd.ms-powerpoint.revisioninfo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2"/>
  </p:notesMasterIdLst>
  <p:handoutMasterIdLst>
    <p:handoutMasterId r:id="rId23"/>
  </p:handoutMasterIdLst>
  <p:sldIdLst>
    <p:sldId id="256" r:id="rId2"/>
    <p:sldId id="307" r:id="rId3"/>
    <p:sldId id="316" r:id="rId4"/>
    <p:sldId id="315" r:id="rId5"/>
    <p:sldId id="308" r:id="rId6"/>
    <p:sldId id="318" r:id="rId7"/>
    <p:sldId id="309" r:id="rId8"/>
    <p:sldId id="310" r:id="rId9"/>
    <p:sldId id="317" r:id="rId10"/>
    <p:sldId id="311" r:id="rId11"/>
    <p:sldId id="321" r:id="rId12"/>
    <p:sldId id="319" r:id="rId13"/>
    <p:sldId id="320" r:id="rId14"/>
    <p:sldId id="322" r:id="rId15"/>
    <p:sldId id="323" r:id="rId16"/>
    <p:sldId id="312" r:id="rId17"/>
    <p:sldId id="313" r:id="rId18"/>
    <p:sldId id="293" r:id="rId19"/>
    <p:sldId id="314" r:id="rId20"/>
    <p:sldId id="306" r:id="rId21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1F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3FCA41B-7398-400B-83DC-FDE8722EB923}" v="79" dt="2020-02-09T01:28:39.66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78" autoAdjust="0"/>
    <p:restoredTop sz="79540" autoAdjust="0"/>
  </p:normalViewPr>
  <p:slideViewPr>
    <p:cSldViewPr snapToGrid="0">
      <p:cViewPr varScale="1">
        <p:scale>
          <a:sx n="58" d="100"/>
          <a:sy n="58" d="100"/>
        </p:scale>
        <p:origin x="1380" y="72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handoutMaster" Target="handoutMasters/handoutMaster1.xml"/><Relationship Id="rId28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Relationship Id="rId27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elipe Augusto Pereira de Figueiredo" userId="e1771b70d906f94b" providerId="Windows Live" clId="Web-{B3FCA41B-7398-400B-83DC-FDE8722EB923}"/>
    <pc:docChg chg="modSld">
      <pc:chgData name="Felipe Augusto Pereira de Figueiredo" userId="e1771b70d906f94b" providerId="Windows Live" clId="Web-{B3FCA41B-7398-400B-83DC-FDE8722EB923}" dt="2020-02-09T01:40:38.055" v="257"/>
      <pc:docMkLst>
        <pc:docMk/>
      </pc:docMkLst>
      <pc:sldChg chg="modSp modNotes">
        <pc:chgData name="Felipe Augusto Pereira de Figueiredo" userId="e1771b70d906f94b" providerId="Windows Live" clId="Web-{B3FCA41B-7398-400B-83DC-FDE8722EB923}" dt="2020-02-09T01:26:20.191" v="45"/>
        <pc:sldMkLst>
          <pc:docMk/>
          <pc:sldMk cId="636059476" sldId="259"/>
        </pc:sldMkLst>
        <pc:spChg chg="mod">
          <ac:chgData name="Felipe Augusto Pereira de Figueiredo" userId="e1771b70d906f94b" providerId="Windows Live" clId="Web-{B3FCA41B-7398-400B-83DC-FDE8722EB923}" dt="2020-02-09T01:22:23.081" v="18" actId="1076"/>
          <ac:spMkLst>
            <pc:docMk/>
            <pc:sldMk cId="636059476" sldId="259"/>
            <ac:spMk id="3" creationId="{979D29AC-E01B-406F-AC75-55866B75A7CC}"/>
          </ac:spMkLst>
        </pc:spChg>
      </pc:sldChg>
      <pc:sldChg chg="modNotes">
        <pc:chgData name="Felipe Augusto Pereira de Figueiredo" userId="e1771b70d906f94b" providerId="Windows Live" clId="Web-{B3FCA41B-7398-400B-83DC-FDE8722EB923}" dt="2020-02-09T01:21:46.721" v="16"/>
        <pc:sldMkLst>
          <pc:docMk/>
          <pc:sldMk cId="248504461" sldId="267"/>
        </pc:sldMkLst>
      </pc:sldChg>
      <pc:sldChg chg="modSp modNotes">
        <pc:chgData name="Felipe Augusto Pereira de Figueiredo" userId="e1771b70d906f94b" providerId="Windows Live" clId="Web-{B3FCA41B-7398-400B-83DC-FDE8722EB923}" dt="2020-02-09T01:40:38.055" v="257"/>
        <pc:sldMkLst>
          <pc:docMk/>
          <pc:sldMk cId="2076219387" sldId="277"/>
        </pc:sldMkLst>
        <pc:spChg chg="mod">
          <ac:chgData name="Felipe Augusto Pereira de Figueiredo" userId="e1771b70d906f94b" providerId="Windows Live" clId="Web-{B3FCA41B-7398-400B-83DC-FDE8722EB923}" dt="2020-02-09T01:28:39.664" v="120" actId="14100"/>
          <ac:spMkLst>
            <pc:docMk/>
            <pc:sldMk cId="2076219387" sldId="277"/>
            <ac:spMk id="3" creationId="{5E0262E2-3A0F-4805-BCCB-6745237D1574}"/>
          </ac:spMkLst>
        </pc:spChg>
      </pc:sldChg>
    </pc:docChg>
  </pc:docChgLst>
  <pc:docChgLst>
    <pc:chgData name="Felipe Augusto Pereira de Figueiredo" userId="e1771b70d906f94b" providerId="Windows Live" clId="Web-{1FA475AF-6444-47C2-89B1-9776BABC0E66}"/>
    <pc:docChg chg="modSld">
      <pc:chgData name="Felipe Augusto Pereira de Figueiredo" userId="e1771b70d906f94b" providerId="Windows Live" clId="Web-{1FA475AF-6444-47C2-89B1-9776BABC0E66}" dt="2020-02-09T18:53:52.767" v="85"/>
      <pc:docMkLst>
        <pc:docMk/>
      </pc:docMkLst>
      <pc:sldChg chg="modNotes">
        <pc:chgData name="Felipe Augusto Pereira de Figueiredo" userId="e1771b70d906f94b" providerId="Windows Live" clId="Web-{1FA475AF-6444-47C2-89B1-9776BABC0E66}" dt="2020-02-09T18:53:52.767" v="85"/>
        <pc:sldMkLst>
          <pc:docMk/>
          <pc:sldMk cId="248504461" sldId="267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8/01/2026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08/01/2026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323960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 smtClean="0"/>
              <a:t>"A gente vê o </a:t>
            </a:r>
            <a:r>
              <a:rPr lang="pt-BR" dirty="0" err="1" smtClean="0"/>
              <a:t>ChatGPT</a:t>
            </a:r>
            <a:r>
              <a:rPr lang="pt-BR" dirty="0" smtClean="0"/>
              <a:t> escrevendo poemas e fica assustado, achando que a Matrix vai começar amanhã. Mas fiquem tranquilos: se vocês morarem em um sobrado, a revolução das máquinas vai demorar um pouco para chegar no andar de cima, porque subir degraus ainda é um pesadelo para os algoritmos de locomoção!“</a:t>
            </a:r>
          </a:p>
          <a:p>
            <a:endParaRPr lang="pt-BR" dirty="0" smtClean="0"/>
          </a:p>
          <a:p>
            <a:r>
              <a:rPr lang="pt-BR" b="1" dirty="0" smtClean="0"/>
              <a:t>O que é difícil para humanos é fácil para a IA:</a:t>
            </a:r>
            <a:r>
              <a:rPr lang="pt-BR" dirty="0" smtClean="0"/>
              <a:t> Fazer cálculos matemáticos complexos, jogar xadrez em nível mundial ou analisar milhões de linhas de código.</a:t>
            </a:r>
          </a:p>
          <a:p>
            <a:r>
              <a:rPr lang="pt-BR" b="1" dirty="0" smtClean="0"/>
              <a:t>O que é fácil para humanos é difícil para a IA:</a:t>
            </a:r>
            <a:r>
              <a:rPr lang="pt-BR" dirty="0" smtClean="0"/>
              <a:t> Andar, reconhecer um rosto na multidão, manter o equilíbrio em terreno irregular ou ter percepção sensorial básica.</a:t>
            </a:r>
          </a:p>
          <a:p>
            <a:endParaRPr lang="pt-BR" dirty="0" smtClean="0"/>
          </a:p>
          <a:p>
            <a:r>
              <a:rPr lang="pt-BR" dirty="0" smtClean="0"/>
              <a:t>Processar dados (o "cérebro" da IA) evoluiu muito mais rápido do que a interação física com o mundo (o "corpo" da IA / Robótica).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7588298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3138005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1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Definição formal</a:t>
            </a:r>
            <a:r>
              <a:rPr lang="pt-BR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Capacidade de uma</a:t>
            </a:r>
            <a:r>
              <a:rPr lang="pt-BR" sz="1200" b="0" i="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máquina de </a:t>
            </a:r>
            <a:r>
              <a:rPr lang="pt-BR" sz="1200" b="1" i="1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receber estímulos </a:t>
            </a:r>
            <a:r>
              <a:rPr lang="pt-BR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vindos do</a:t>
            </a:r>
            <a:r>
              <a:rPr lang="pt-BR" sz="1200" b="0" i="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ambiente, </a:t>
            </a:r>
            <a:r>
              <a:rPr lang="pt-BR" sz="1200" b="1" i="1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interpretá-los</a:t>
            </a:r>
            <a:r>
              <a:rPr lang="pt-BR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pt-BR" sz="1200" b="1" i="1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aprender </a:t>
            </a:r>
            <a:r>
              <a:rPr lang="pt-BR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</a:t>
            </a:r>
            <a:r>
              <a:rPr lang="pt-BR" sz="1200" b="0" i="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eles e usar o </a:t>
            </a:r>
            <a:r>
              <a:rPr lang="pt-BR" sz="1200" b="1" i="1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conhecimento adquirido</a:t>
            </a:r>
            <a:r>
              <a:rPr lang="pt-BR" sz="1200" b="1" i="1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para </a:t>
            </a:r>
            <a:r>
              <a:rPr lang="pt-BR" sz="1200" b="1" i="1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tomar decisões e resolver</a:t>
            </a:r>
            <a:r>
              <a:rPr lang="pt-BR" sz="1200" b="1" i="1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1" i="1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problemas</a:t>
            </a:r>
            <a:r>
              <a:rPr lang="pt-BR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pt-BR" sz="1200" b="1" i="1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interagindo </a:t>
            </a:r>
            <a:r>
              <a:rPr lang="pt-BR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 o ambiente</a:t>
            </a:r>
            <a:r>
              <a:rPr lang="pt-BR" dirty="0" smtClean="0"/>
              <a:t> </a:t>
            </a:r>
            <a:br>
              <a:rPr lang="pt-BR" dirty="0" smtClean="0"/>
            </a:b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0781822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 smtClean="0"/>
              <a:t>Turing descreve o teste originalmente com três pessoas: um homem (A), uma mulher (B) e um interrogador (C). O interrogador deve descobrir quem é o homem e quem é a mulher apenas por perguntas escritas.</a:t>
            </a:r>
          </a:p>
          <a:p>
            <a:r>
              <a:rPr lang="pt-BR" dirty="0" smtClean="0"/>
              <a:t>Depois, ele substitui um dos participantes por uma máquina. Se o interrogador errar tanto quanto errava com humanos, a máquina "venceu".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2758788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2672664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xmlns="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08/01/2026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08/01/2026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xmlns="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08/01/2026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xmlns="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08/01/2026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xmlns="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xmlns="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xmlns="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xmlns="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xmlns="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xmlns="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08/01/2026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xmlns="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xmlns="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xmlns="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08/01/2026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xmlns="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xmlns="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xmlns="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08/01/2026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xmlns="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xmlns="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xmlns="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xmlns="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08/01/2026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xmlns="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xmlns="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xmlns="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xmlns="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xmlns="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08/01/2026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xmlns="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xmlns="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xmlns="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08/01/2026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xmlns="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xmlns="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08/01/2026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xmlns="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xmlns="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08/01/2026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felipe.figueiredo@Inatel.br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jpe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zz4fap/c24_inteligencia_artificial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jpe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gif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gif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7" Type="http://schemas.openxmlformats.org/officeDocument/2006/relationships/image" Target="../media/image13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jpeg"/><Relationship Id="rId5" Type="http://schemas.openxmlformats.org/officeDocument/2006/relationships/image" Target="../media/image11.jpeg"/><Relationship Id="rId4" Type="http://schemas.openxmlformats.org/officeDocument/2006/relationships/image" Target="../media/image10.jpe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1767" y="836433"/>
            <a:ext cx="10906298" cy="2690156"/>
          </a:xfrm>
        </p:spPr>
        <p:txBody>
          <a:bodyPr anchor="ctr">
            <a:noAutofit/>
          </a:bodyPr>
          <a:lstStyle/>
          <a:p>
            <a:r>
              <a:rPr lang="pt-BR" sz="6600" dirty="0" smtClean="0"/>
              <a:t>C24 - Inteligência Artificial:</a:t>
            </a:r>
            <a:r>
              <a:rPr lang="pt-BR" sz="7200" dirty="0"/>
              <a:t/>
            </a:r>
            <a:br>
              <a:rPr lang="pt-BR" sz="7200" dirty="0"/>
            </a:br>
            <a:r>
              <a:rPr lang="pt-BR" sz="7200" b="1" i="1" dirty="0" smtClean="0"/>
              <a:t>Introdução</a:t>
            </a:r>
            <a:endParaRPr lang="pt-BR" sz="7200" b="1" i="1" dirty="0"/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xmlns="" id="{430EB894-B7D4-434C-9D1A-A14094D9BEEC}"/>
              </a:ext>
            </a:extLst>
          </p:cNvPr>
          <p:cNvSpPr txBox="1"/>
          <p:nvPr/>
        </p:nvSpPr>
        <p:spPr>
          <a:xfrm>
            <a:off x="7915801" y="57806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 smtClean="0"/>
              <a:t>Felipe A. P. de Figueiredo</a:t>
            </a:r>
            <a:endParaRPr lang="pt-BR" sz="2000" dirty="0"/>
          </a:p>
          <a:p>
            <a:r>
              <a:rPr lang="pt-BR" dirty="0">
                <a:hlinkClick r:id="rId3"/>
              </a:rPr>
              <a:t>f</a:t>
            </a:r>
            <a:r>
              <a:rPr lang="pt-BR" dirty="0" smtClean="0">
                <a:hlinkClick r:id="rId3"/>
              </a:rPr>
              <a:t>elipe.figueiredo@Inatel.br</a:t>
            </a:r>
            <a:endParaRPr lang="pt-BR" dirty="0"/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xmlns="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xmlns="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4965305" y="3439886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7F5FF925-67DE-CC62-E869-C6E3C1D771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Informações gerais</a:t>
            </a:r>
            <a:endParaRPr lang="pt-BR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7DA84068-671A-9D40-4F76-2C57E4F720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065625" cy="4351338"/>
          </a:xfrm>
        </p:spPr>
        <p:txBody>
          <a:bodyPr/>
          <a:lstStyle/>
          <a:p>
            <a:r>
              <a:rPr lang="en-US" b="1" dirty="0" err="1"/>
              <a:t>Carga</a:t>
            </a:r>
            <a:r>
              <a:rPr lang="en-US" b="1" dirty="0"/>
              <a:t> </a:t>
            </a:r>
            <a:r>
              <a:rPr lang="en-US" b="1" dirty="0" err="1"/>
              <a:t>horária</a:t>
            </a:r>
            <a:r>
              <a:rPr lang="en-US" dirty="0"/>
              <a:t>: </a:t>
            </a:r>
            <a:r>
              <a:rPr lang="en-US" dirty="0" smtClean="0"/>
              <a:t>2h </a:t>
            </a:r>
            <a:r>
              <a:rPr lang="en-US" dirty="0" err="1"/>
              <a:t>por</a:t>
            </a:r>
            <a:r>
              <a:rPr lang="en-US" dirty="0"/>
              <a:t> </a:t>
            </a:r>
            <a:r>
              <a:rPr lang="en-US" dirty="0" err="1" smtClean="0"/>
              <a:t>semana</a:t>
            </a:r>
            <a:r>
              <a:rPr lang="en-US" dirty="0" smtClean="0"/>
              <a:t> (</a:t>
            </a:r>
            <a:r>
              <a:rPr lang="en-US" dirty="0" err="1" smtClean="0"/>
              <a:t>aulas</a:t>
            </a:r>
            <a:r>
              <a:rPr lang="en-US" dirty="0" smtClean="0"/>
              <a:t> </a:t>
            </a:r>
            <a:r>
              <a:rPr lang="en-US" dirty="0" err="1" smtClean="0"/>
              <a:t>teóricas</a:t>
            </a:r>
            <a:r>
              <a:rPr lang="en-US" dirty="0" smtClean="0"/>
              <a:t>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 smtClean="0"/>
              <a:t>Aulas</a:t>
            </a:r>
            <a:r>
              <a:rPr lang="en-US" dirty="0" smtClean="0"/>
              <a:t> </a:t>
            </a:r>
            <a:r>
              <a:rPr lang="en-US" dirty="0" err="1" smtClean="0"/>
              <a:t>práticas</a:t>
            </a:r>
            <a:r>
              <a:rPr lang="en-US" dirty="0" smtClean="0"/>
              <a:t>: 2h </a:t>
            </a:r>
            <a:r>
              <a:rPr lang="en-US" dirty="0" err="1" smtClean="0"/>
              <a:t>por</a:t>
            </a:r>
            <a:r>
              <a:rPr lang="en-US" dirty="0" smtClean="0"/>
              <a:t> </a:t>
            </a:r>
            <a:r>
              <a:rPr lang="en-US" dirty="0" err="1" smtClean="0"/>
              <a:t>semana</a:t>
            </a:r>
            <a:endParaRPr lang="en-US" dirty="0"/>
          </a:p>
          <a:p>
            <a:r>
              <a:rPr lang="pt-BR" b="1" dirty="0" smtClean="0"/>
              <a:t>Horário de atendimento</a:t>
            </a:r>
            <a:r>
              <a:rPr lang="pt-BR" dirty="0" smtClean="0"/>
              <a:t>: à definir.</a:t>
            </a:r>
          </a:p>
          <a:p>
            <a:r>
              <a:rPr lang="pt-BR" b="1" dirty="0" smtClean="0"/>
              <a:t>Material </a:t>
            </a:r>
            <a:r>
              <a:rPr lang="pt-BR" b="1" dirty="0"/>
              <a:t>do curso</a:t>
            </a:r>
            <a:r>
              <a:rPr lang="pt-BR" dirty="0"/>
              <a:t>: </a:t>
            </a:r>
            <a:r>
              <a:rPr lang="pt-BR" dirty="0">
                <a:hlinkClick r:id="rId2"/>
              </a:rPr>
              <a:t>https://</a:t>
            </a:r>
            <a:r>
              <a:rPr lang="pt-BR" dirty="0" smtClean="0">
                <a:hlinkClick r:id="rId2"/>
              </a:rPr>
              <a:t>github.com/zz4fap/c24_inteligencia_artificial</a:t>
            </a:r>
            <a:endParaRPr lang="pt-BR" dirty="0" smtClean="0"/>
          </a:p>
          <a:p>
            <a:pPr marL="0" indent="0">
              <a:buNone/>
            </a:pP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6411824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7F5FF925-67DE-CC62-E869-C6E3C1D771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Cronograma</a:t>
            </a:r>
            <a:endParaRPr lang="pt-BR" dirty="0"/>
          </a:p>
        </p:txBody>
      </p:sp>
      <p:graphicFrame>
        <p:nvGraphicFramePr>
          <p:cNvPr id="4" name="Espaço Reservado para Conteúdo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630954762"/>
              </p:ext>
            </p:extLst>
          </p:nvPr>
        </p:nvGraphicFramePr>
        <p:xfrm>
          <a:off x="2405149" y="1338350"/>
          <a:ext cx="6605848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0297"/>
                <a:gridCol w="903803"/>
                <a:gridCol w="1012927"/>
                <a:gridCol w="4158821"/>
              </a:tblGrid>
              <a:tr h="270945">
                <a:tc gridSpan="4">
                  <a:txBody>
                    <a:bodyPr/>
                    <a:lstStyle/>
                    <a:p>
                      <a:pPr algn="ctr"/>
                      <a:r>
                        <a:rPr lang="pt-BR" sz="1400" dirty="0" smtClean="0">
                          <a:solidFill>
                            <a:schemeClr val="tx1"/>
                          </a:solidFill>
                        </a:rPr>
                        <a:t>C24</a:t>
                      </a:r>
                      <a:endParaRPr lang="pt-BR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pt-BR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BR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BR" dirty="0"/>
                    </a:p>
                  </a:txBody>
                  <a:tcPr/>
                </a:tc>
              </a:tr>
              <a:tr h="221683"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1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pt-BR" sz="1100" dirty="0">
                          <a:effectLst/>
                        </a:rPr>
                        <a:t>09/02/26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Segunda-feira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Inteligência Artificial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21683"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2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pt-BR" sz="1100">
                          <a:effectLst/>
                        </a:rPr>
                        <a:t>16/02/26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1100" dirty="0" smtClean="0"/>
                        <a:t>Segunda-feira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1100" dirty="0" smtClean="0"/>
                        <a:t>Inteligência Artificial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21683"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3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pt-BR" sz="1100">
                          <a:effectLst/>
                        </a:rPr>
                        <a:t>23/02/26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Segunda-feira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Inteligência Artificial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21683"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4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pt-BR" sz="1100" dirty="0">
                          <a:effectLst/>
                        </a:rPr>
                        <a:t>02/03/26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Segunda-feira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Inteligência Artificial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21683"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5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pt-BR" sz="1100">
                          <a:effectLst/>
                        </a:rPr>
                        <a:t>09/03/26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Segunda-feira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Inteligência Artificial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21683"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6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pt-BR" sz="1100">
                          <a:effectLst/>
                        </a:rPr>
                        <a:t>16/03/26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Segunda-feira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Inteligência Artificial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21683"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7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pt-BR" sz="1100">
                          <a:effectLst/>
                        </a:rPr>
                        <a:t>23/03/26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Segunda-feira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Inteligência Artificial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21683"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8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pt-BR" sz="1100">
                          <a:effectLst/>
                        </a:rPr>
                        <a:t>30/03/26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Segunda-feira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Inteligência Artificial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21683"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9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pt-BR" sz="1100">
                          <a:effectLst/>
                        </a:rPr>
                        <a:t>06/04/26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Segunda-feira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Inteligência Artificial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21683">
                <a:tc>
                  <a:txBody>
                    <a:bodyPr/>
                    <a:lstStyle/>
                    <a:p>
                      <a:pPr algn="ctr"/>
                      <a:r>
                        <a:rPr lang="pt-BR" sz="1100" b="1" dirty="0" smtClean="0"/>
                        <a:t>10</a:t>
                      </a:r>
                      <a:endParaRPr lang="pt-BR" sz="11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pt-BR" sz="1100" b="1">
                          <a:effectLst/>
                        </a:rPr>
                        <a:t>13/04/26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b="1" dirty="0" smtClean="0"/>
                        <a:t>Segunda-feira</a:t>
                      </a:r>
                      <a:endParaRPr lang="pt-BR" sz="11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b="1" dirty="0" smtClean="0"/>
                        <a:t>Prova #1</a:t>
                      </a:r>
                      <a:endParaRPr lang="pt-BR" sz="11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</a:tr>
              <a:tr h="221683"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11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pt-BR" sz="1100">
                          <a:effectLst/>
                        </a:rPr>
                        <a:t>20/04/26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Segunda-feira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Inteligência Artificial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21683"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12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pt-BR" sz="1100">
                          <a:effectLst/>
                        </a:rPr>
                        <a:t>27/04/26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Segunda-feira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Inteligência Artificial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21683"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13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pt-BR" sz="1100">
                          <a:effectLst/>
                        </a:rPr>
                        <a:t>04/05/26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Segunda-feira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Inteligência Artificial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21683"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14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pt-BR" sz="1100">
                          <a:effectLst/>
                        </a:rPr>
                        <a:t>11/05/26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Segunda-feira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Inteligência Artificial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21683"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15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pt-BR" sz="1100">
                          <a:effectLst/>
                        </a:rPr>
                        <a:t>18/05/26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Segunda-feira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Inteligência Artificial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21683"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16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pt-BR" sz="1100">
                          <a:effectLst/>
                        </a:rPr>
                        <a:t>25/05/26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Segunda-feira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Inteligência Artificial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21683"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17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pt-BR" sz="1100">
                          <a:effectLst/>
                        </a:rPr>
                        <a:t>01/06/26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Segunda-feira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Inteligência Artificial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21683"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18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pt-BR" sz="1100">
                          <a:effectLst/>
                        </a:rPr>
                        <a:t>08/06/26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Segunda-feira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Inteligência Artificial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21683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100" b="1" kern="120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19</a:t>
                      </a:r>
                      <a:endParaRPr lang="pt-BR" sz="11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pt-BR" sz="1100" b="1" dirty="0">
                          <a:effectLst/>
                        </a:rPr>
                        <a:t>15/06/26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 smtClean="0"/>
                        <a:t>Segunda-feira</a:t>
                      </a:r>
                      <a:endParaRPr lang="pt-BR" sz="11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100" b="1" kern="120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Prova #2</a:t>
                      </a:r>
                      <a:endParaRPr lang="pt-BR" sz="11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</a:tr>
              <a:tr h="221683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100" b="1" kern="120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20</a:t>
                      </a:r>
                      <a:endParaRPr lang="pt-BR" sz="11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pt-BR" sz="1100" b="1" dirty="0">
                          <a:effectLst/>
                        </a:rPr>
                        <a:t>22/06/26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 smtClean="0"/>
                        <a:t>Segunda-feira</a:t>
                      </a:r>
                      <a:endParaRPr lang="pt-BR" sz="11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100" b="1" kern="120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Prova #3</a:t>
                      </a:r>
                      <a:endParaRPr lang="pt-BR" sz="11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1023008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7F5FF925-67DE-CC62-E869-C6E3C1D771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Avaliações</a:t>
            </a:r>
            <a:endParaRPr lang="pt-BR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7DA84068-671A-9D40-4F76-2C57E4F720C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9103822" cy="5032375"/>
              </a:xfrm>
            </p:spPr>
            <p:txBody>
              <a:bodyPr>
                <a:normAutofit fontScale="92500" lnSpcReduction="10000"/>
              </a:bodyPr>
              <a:lstStyle/>
              <a:p>
                <a:pPr fontAlgn="base"/>
                <a:r>
                  <a:rPr lang="pt-BR" dirty="0" smtClean="0"/>
                  <a:t>NP1 (1ª prova teórica/prática): a definir </a:t>
                </a:r>
                <a:r>
                  <a:rPr lang="pt-BR" dirty="0"/>
                  <a:t>→</a:t>
                </a:r>
                <a:r>
                  <a:rPr lang="pt-BR" dirty="0" smtClean="0"/>
                  <a:t> </a:t>
                </a:r>
                <a:r>
                  <a:rPr lang="pt-BR" dirty="0"/>
                  <a:t>sugestão: </a:t>
                </a:r>
                <a:r>
                  <a:rPr lang="pt-BR" dirty="0" smtClean="0"/>
                  <a:t>13/04/2026</a:t>
                </a:r>
                <a:r>
                  <a:rPr lang="en-US" dirty="0" smtClean="0"/>
                  <a:t>​</a:t>
                </a:r>
                <a:endParaRPr lang="en-US" dirty="0"/>
              </a:p>
              <a:p>
                <a:pPr fontAlgn="base"/>
                <a:r>
                  <a:rPr lang="pt-BR" dirty="0"/>
                  <a:t>NP2 (2ª prova teórica/prática): a definir → sugestão: </a:t>
                </a:r>
                <a:r>
                  <a:rPr lang="pt-BR" dirty="0" smtClean="0"/>
                  <a:t>15/06/2026​</a:t>
                </a:r>
                <a:endParaRPr lang="pt-BR" dirty="0"/>
              </a:p>
              <a:p>
                <a:pPr fontAlgn="base"/>
                <a:r>
                  <a:rPr lang="pt-BR" dirty="0"/>
                  <a:t>NP3 (3ª prova teórica/prática): a definir → sugestão: </a:t>
                </a:r>
                <a:r>
                  <a:rPr lang="pt-BR" dirty="0" smtClean="0"/>
                  <a:t>22/06/2026​</a:t>
                </a:r>
                <a:endParaRPr lang="pt-BR" dirty="0"/>
              </a:p>
              <a:p>
                <a:pPr fontAlgn="base"/>
                <a:r>
                  <a:rPr lang="pt-BR" dirty="0"/>
                  <a:t>NPA = (NP1 + NP2) / 2</a:t>
                </a:r>
                <a:r>
                  <a:rPr lang="en-US" dirty="0"/>
                  <a:t>​</a:t>
                </a:r>
              </a:p>
              <a:p>
                <a:pPr fontAlgn="base"/>
                <a:r>
                  <a:rPr lang="pt-BR" dirty="0"/>
                  <a:t>NFA </a:t>
                </a:r>
                <a:r>
                  <a:rPr lang="pt-BR" dirty="0" smtClean="0"/>
                  <a:t>= </a:t>
                </a:r>
                <a14:m>
                  <m:oMath xmlns:m="http://schemas.openxmlformats.org/officeDocument/2006/math">
                    <m:limLow>
                      <m:limLowPr>
                        <m:ctrlPr>
                          <a:rPr lang="pt-BR" sz="2600" i="1" smtClean="0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groupChr>
                          <m:groupChrPr>
                            <m:chr m:val="⏟"/>
                            <m:ctrlPr>
                              <a:rPr lang="pt-BR" sz="2600" i="1" smtClean="0">
                                <a:latin typeface="Cambria Math" panose="02040503050406030204" pitchFamily="18" charset="0"/>
                              </a:rPr>
                            </m:ctrlPr>
                          </m:groupChrPr>
                          <m:e>
                            <m:r>
                              <m:rPr>
                                <m:nor/>
                              </m:rPr>
                              <a:rPr lang="pt-BR" sz="2600" dirty="0"/>
                              <m:t>NPA</m:t>
                            </m:r>
                            <m:r>
                              <m:rPr>
                                <m:nor/>
                              </m:rPr>
                              <a:rPr lang="pt-BR" sz="2600" dirty="0"/>
                              <m:t> &gt;= 60</m:t>
                            </m:r>
                          </m:e>
                        </m:groupChr>
                      </m:e>
                      <m:lim>
                        <m:r>
                          <m:rPr>
                            <m:nor/>
                          </m:rPr>
                          <a:rPr lang="en-US" sz="2600" dirty="0">
                            <a:latin typeface="Consolas" panose="020B0609020204030204" pitchFamily="49" charset="0"/>
                          </a:rPr>
                          <m:t>if</m:t>
                        </m:r>
                      </m:lim>
                    </m:limLow>
                  </m:oMath>
                </a14:m>
                <a:r>
                  <a:rPr lang="pt-BR" dirty="0" smtClean="0"/>
                  <a:t> ? </a:t>
                </a:r>
                <a14:m>
                  <m:oMath xmlns:m="http://schemas.openxmlformats.org/officeDocument/2006/math">
                    <m:limLow>
                      <m:limLowPr>
                        <m:ctrlPr>
                          <a:rPr lang="pt-BR" sz="2600" i="1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groupChr>
                          <m:groupChrPr>
                            <m:chr m:val="⏟"/>
                            <m:ctrlPr>
                              <a:rPr lang="pt-BR" sz="2600" i="1">
                                <a:latin typeface="Cambria Math" panose="02040503050406030204" pitchFamily="18" charset="0"/>
                              </a:rPr>
                            </m:ctrlPr>
                          </m:groupChrPr>
                          <m:e>
                            <m:r>
                              <m:rPr>
                                <m:nor/>
                              </m:rPr>
                              <a:rPr lang="pt-BR" sz="2600" dirty="0"/>
                              <m:t>NPA</m:t>
                            </m:r>
                          </m:e>
                        </m:groupChr>
                      </m:e>
                      <m:lim>
                        <m:r>
                          <m:rPr>
                            <m:nor/>
                          </m:rPr>
                          <a:rPr lang="en-US" sz="2600" dirty="0">
                            <a:latin typeface="Consolas" panose="020B0609020204030204" pitchFamily="49" charset="0"/>
                          </a:rPr>
                          <m:t>then</m:t>
                        </m:r>
                      </m:lim>
                    </m:limLow>
                  </m:oMath>
                </a14:m>
                <a:r>
                  <a:rPr lang="pt-BR" dirty="0" smtClean="0"/>
                  <a:t>: </a:t>
                </a:r>
                <a14:m>
                  <m:oMath xmlns:m="http://schemas.openxmlformats.org/officeDocument/2006/math">
                    <m:limLow>
                      <m:limLowPr>
                        <m:ctrlPr>
                          <a:rPr lang="pt-BR" sz="2600" i="1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groupChr>
                          <m:groupChrPr>
                            <m:chr m:val="⏟"/>
                            <m:ctrlPr>
                              <a:rPr lang="pt-BR" sz="2600" i="1">
                                <a:latin typeface="Cambria Math" panose="02040503050406030204" pitchFamily="18" charset="0"/>
                              </a:rPr>
                            </m:ctrlPr>
                          </m:groupChrPr>
                          <m:e>
                            <m:r>
                              <m:rPr>
                                <m:nor/>
                              </m:rPr>
                              <a:rPr lang="pt-BR" sz="2600" dirty="0"/>
                              <m:t>(</m:t>
                            </m:r>
                            <m:r>
                              <m:rPr>
                                <m:nor/>
                              </m:rPr>
                              <a:rPr lang="pt-BR" sz="2600" dirty="0"/>
                              <m:t>NPA</m:t>
                            </m:r>
                            <m:r>
                              <m:rPr>
                                <m:nor/>
                              </m:rPr>
                              <a:rPr lang="pt-BR" sz="2600" dirty="0"/>
                              <m:t> + </m:t>
                            </m:r>
                            <m:r>
                              <m:rPr>
                                <m:nor/>
                              </m:rPr>
                              <a:rPr lang="pt-BR" sz="2600" dirty="0"/>
                              <m:t>NP</m:t>
                            </m:r>
                            <m:r>
                              <m:rPr>
                                <m:nor/>
                              </m:rPr>
                              <a:rPr lang="pt-BR" sz="2600" dirty="0"/>
                              <m:t>3) / 2</m:t>
                            </m:r>
                          </m:e>
                        </m:groupChr>
                      </m:e>
                      <m:lim>
                        <m:r>
                          <m:rPr>
                            <m:nor/>
                          </m:rPr>
                          <a:rPr lang="en-US" sz="2600" dirty="0">
                            <a:latin typeface="Consolas" panose="020B0609020204030204" pitchFamily="49" charset="0"/>
                          </a:rPr>
                          <m:t>else</m:t>
                        </m:r>
                      </m:lim>
                    </m:limLow>
                  </m:oMath>
                </a14:m>
                <a:r>
                  <a:rPr lang="pt-BR" dirty="0" smtClean="0"/>
                  <a:t> </a:t>
                </a:r>
                <a:r>
                  <a:rPr lang="en-US" dirty="0" smtClean="0"/>
                  <a:t>​</a:t>
                </a:r>
                <a:endParaRPr lang="en-US" dirty="0" smtClean="0">
                  <a:latin typeface="Consolas" panose="020B0609020204030204" pitchFamily="49" charset="0"/>
                </a:endParaRPr>
              </a:p>
              <a:p>
                <a:pPr marL="0" indent="0" fontAlgn="base">
                  <a:buNone/>
                </a:pPr>
                <a:endParaRPr lang="pt-BR" dirty="0"/>
              </a:p>
              <a:p>
                <a:pPr fontAlgn="base"/>
                <a:r>
                  <a:rPr lang="pt-BR" dirty="0"/>
                  <a:t>Prova </a:t>
                </a:r>
                <a:r>
                  <a:rPr lang="pt-BR" dirty="0" smtClean="0"/>
                  <a:t>substitutiva:</a:t>
                </a:r>
              </a:p>
              <a:p>
                <a:pPr lvl="1" fontAlgn="base">
                  <a:buFont typeface="Wingdings" panose="05000000000000000000" pitchFamily="2" charset="2"/>
                  <a:buChar char="§"/>
                </a:pPr>
                <a:r>
                  <a:rPr lang="pt-BR" dirty="0" smtClean="0"/>
                  <a:t>Substitui </a:t>
                </a:r>
                <a:r>
                  <a:rPr lang="pt-BR" dirty="0"/>
                  <a:t>NP1 ou NP2, via NP3.</a:t>
                </a:r>
                <a:r>
                  <a:rPr lang="en-US" dirty="0"/>
                  <a:t>​</a:t>
                </a:r>
              </a:p>
              <a:p>
                <a:pPr lvl="1" fontAlgn="base">
                  <a:buFont typeface="Wingdings" panose="05000000000000000000" pitchFamily="2" charset="2"/>
                  <a:buChar char="§"/>
                </a:pPr>
                <a:r>
                  <a:rPr lang="pt-BR" dirty="0"/>
                  <a:t>Solicitação por requerimento no CRA.</a:t>
                </a:r>
                <a:r>
                  <a:rPr lang="en-US" dirty="0"/>
                  <a:t>​</a:t>
                </a:r>
              </a:p>
              <a:p>
                <a:pPr lvl="1" fontAlgn="base">
                  <a:buFont typeface="Wingdings" panose="05000000000000000000" pitchFamily="2" charset="2"/>
                  <a:buChar char="§"/>
                </a:pPr>
                <a:r>
                  <a:rPr lang="pt-BR" dirty="0"/>
                  <a:t>Prova com o conteúdo de todo o semestre.</a:t>
                </a:r>
                <a:r>
                  <a:rPr lang="en-US" dirty="0"/>
                  <a:t>​</a:t>
                </a:r>
              </a:p>
              <a:p>
                <a:pPr lvl="1" fontAlgn="base">
                  <a:buFont typeface="Wingdings" panose="05000000000000000000" pitchFamily="2" charset="2"/>
                  <a:buChar char="§"/>
                </a:pPr>
                <a:r>
                  <a:rPr lang="pt-BR" dirty="0"/>
                  <a:t>Caso </a:t>
                </a:r>
                <a:r>
                  <a:rPr lang="pt-BR" dirty="0" smtClean="0"/>
                  <a:t>não </a:t>
                </a:r>
                <a:r>
                  <a:rPr lang="pt-BR" dirty="0"/>
                  <a:t>seja aprovado, será feita outra prova como NP3 (PVS).</a:t>
                </a:r>
                <a:r>
                  <a:rPr lang="pt-BR" dirty="0" smtClean="0"/>
                  <a:t>​</a:t>
                </a:r>
                <a:r>
                  <a:rPr lang="pt-BR" dirty="0"/>
                  <a:t> 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xmlns:a14="http://schemas.microsoft.com/office/drawing/2010/main" id="{7DA84068-671A-9D40-4F76-2C57E4F720C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9103822" cy="5032375"/>
              </a:xfrm>
              <a:blipFill rotWithShape="0">
                <a:blip r:embed="rId2"/>
                <a:stretch>
                  <a:fillRect l="-1072" t="-2421" r="-804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 descr="Expanding Brain - Exam Meme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15759" y="3243781"/>
            <a:ext cx="2626612" cy="36142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0928814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94AB8438-E56E-2412-517C-8456E4CA7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Calendário e feriados</a:t>
            </a:r>
            <a:endParaRPr lang="pt-BR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F7E2B09C-6D56-4C9F-A364-B904CCE2F1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 smtClean="0"/>
              <a:t>Calendário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smtClean="0"/>
              <a:t>Disponível no site do Inatel</a:t>
            </a:r>
          </a:p>
          <a:p>
            <a:r>
              <a:rPr lang="pt-BR" dirty="0" smtClean="0"/>
              <a:t>Feriados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smtClean="0"/>
              <a:t>16/02/2026 (Carnaval)</a:t>
            </a:r>
          </a:p>
          <a:p>
            <a:r>
              <a:rPr lang="pt-BR" b="1" dirty="0">
                <a:solidFill>
                  <a:srgbClr val="FF0000"/>
                </a:solidFill>
              </a:rPr>
              <a:t>Atentem-se às reposições de aula no portal acadêmico (se houver).</a:t>
            </a:r>
            <a:r>
              <a:rPr lang="en-US" b="1" dirty="0" smtClean="0">
                <a:solidFill>
                  <a:srgbClr val="FF0000"/>
                </a:solidFill>
              </a:rPr>
              <a:t>​</a:t>
            </a:r>
            <a:endParaRPr lang="en-US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870715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200" y="748145"/>
            <a:ext cx="10515600" cy="5428818"/>
          </a:xfrm>
        </p:spPr>
        <p:txBody>
          <a:bodyPr anchor="ctr">
            <a:normAutofit/>
          </a:bodyPr>
          <a:lstStyle/>
          <a:p>
            <a:pPr marL="0" indent="0" algn="ctr">
              <a:buNone/>
            </a:pPr>
            <a:r>
              <a:rPr lang="pt-BR" sz="6600" dirty="0"/>
              <a:t>O que é essa tal de IA?</a:t>
            </a:r>
          </a:p>
        </p:txBody>
      </p:sp>
    </p:spTree>
    <p:extLst>
      <p:ext uri="{BB962C8B-B14F-4D97-AF65-F5344CB8AC3E}">
        <p14:creationId xmlns:p14="http://schemas.microsoft.com/office/powerpoint/2010/main" val="128380420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083FFF02-0FC8-9F0B-AAB0-565FC99EA7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Referências</a:t>
            </a:r>
            <a:endParaRPr lang="pt-BR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8C5488AE-34B4-EF1D-F674-507FF2FCD1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4206239"/>
            <a:ext cx="11032375" cy="2651761"/>
          </a:xfrm>
        </p:spPr>
        <p:txBody>
          <a:bodyPr>
            <a:normAutofit fontScale="85000" lnSpcReduction="20000"/>
          </a:bodyPr>
          <a:lstStyle/>
          <a:p>
            <a:r>
              <a:rPr lang="pt-BR" dirty="0"/>
              <a:t>RUSSELL, Stuart; NORVIG, </a:t>
            </a:r>
            <a:r>
              <a:rPr lang="pt-BR" dirty="0" smtClean="0"/>
              <a:t>Peter; </a:t>
            </a:r>
            <a:r>
              <a:rPr lang="pt-BR" dirty="0"/>
              <a:t>SOUZA, </a:t>
            </a:r>
            <a:r>
              <a:rPr lang="pt-BR" dirty="0" err="1"/>
              <a:t>Vandenberg</a:t>
            </a:r>
            <a:r>
              <a:rPr lang="pt-BR" dirty="0"/>
              <a:t> Dantas De, Inteligência artificial. Rio de Janeiro, RJ: Editora Campus, 2004 - 2013, ISBN 978-85-352-1177-1 / 978-85-352-3701-6</a:t>
            </a:r>
            <a:r>
              <a:rPr lang="pt-BR" dirty="0" smtClean="0"/>
              <a:t>.</a:t>
            </a:r>
          </a:p>
          <a:p>
            <a:r>
              <a:rPr lang="pt-BR" dirty="0" smtClean="0"/>
              <a:t>GÉRON, </a:t>
            </a:r>
            <a:r>
              <a:rPr lang="pt-BR" dirty="0" err="1" smtClean="0"/>
              <a:t>Aurélien</a:t>
            </a:r>
            <a:r>
              <a:rPr lang="pt-BR" dirty="0" smtClean="0"/>
              <a:t>, Mãos </a:t>
            </a:r>
            <a:r>
              <a:rPr lang="pt-BR" dirty="0"/>
              <a:t>à Obra: Aprendizado de Máquina com Scikit-Learn, Keras &amp; TensorFlow: Conceitos, Ferramentas e Técnicas Para a Construção de Sistemas </a:t>
            </a:r>
            <a:r>
              <a:rPr lang="pt-BR" dirty="0" smtClean="0"/>
              <a:t>Inteligentes. </a:t>
            </a:r>
            <a:r>
              <a:rPr lang="pt-BR" dirty="0"/>
              <a:t>Alta </a:t>
            </a:r>
            <a:r>
              <a:rPr lang="pt-BR" dirty="0" smtClean="0"/>
              <a:t>Books, 2021, ISBN 855-08-154-89</a:t>
            </a:r>
          </a:p>
          <a:p>
            <a:r>
              <a:rPr lang="pt-BR" dirty="0"/>
              <a:t>HAYKIN, Simon S.; ENGEL, Paulo </a:t>
            </a:r>
            <a:r>
              <a:rPr lang="pt-BR" dirty="0" smtClean="0"/>
              <a:t>Martins, </a:t>
            </a:r>
            <a:r>
              <a:rPr lang="pt-BR" dirty="0"/>
              <a:t>Redes neurais: Princípios e práticas. 2 ed. São Paulo, SP: Editora </a:t>
            </a:r>
            <a:r>
              <a:rPr lang="pt-BR" dirty="0" err="1"/>
              <a:t>Bookman</a:t>
            </a:r>
            <a:r>
              <a:rPr lang="pt-BR" dirty="0"/>
              <a:t>, 2001, 900 p. ISBN 978-85-7307-718-6.</a:t>
            </a:r>
          </a:p>
          <a:p>
            <a:endParaRPr lang="pt-BR" dirty="0"/>
          </a:p>
        </p:txBody>
      </p:sp>
      <p:pic>
        <p:nvPicPr>
          <p:cNvPr id="1032" name="Picture 8" descr="Livro: Inteligência Artificial - Peter Norvig | Estante Virtual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22481" y="1601643"/>
            <a:ext cx="1828800" cy="2438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Mãos à Obra: Aprendizado de Máquina com Scikit-Learn, Keras &amp;amp; TensorFlow: Conceitos, Ferramentas e Técnicas Para a Construção de Sistemas Inteligentes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22954" y="1538459"/>
            <a:ext cx="1732510" cy="24432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8" name="Picture 14" descr="Neural Networks: A Comprehensive Foundation: United States Edition : Haykin,  Simon O.: Amazon.com.au: Books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27137" y="1601643"/>
            <a:ext cx="1835972" cy="2438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472595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E1C9F56A-97FC-7CCD-E5BA-3B5E230AD9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A979DAB9-0612-F0CD-7BB1-AF52B98B32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Expectativa vs. </a:t>
            </a:r>
            <a:r>
              <a:rPr lang="pt-BR" dirty="0" smtClean="0"/>
              <a:t>realidade</a:t>
            </a:r>
            <a:endParaRPr lang="pt-BR" dirty="0"/>
          </a:p>
        </p:txBody>
      </p:sp>
      <p:pic>
        <p:nvPicPr>
          <p:cNvPr id="1026" name="Picture 2" descr="a man stands next to a robot in front of an idol sign"/>
          <p:cNvPicPr>
            <a:picLocks noChangeAspect="1" noChangeArrowheads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42456" y="4177580"/>
            <a:ext cx="2377441" cy="24783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a robot is standing on a set of stairs in front of a television"/>
          <p:cNvPicPr>
            <a:picLocks noChangeAspect="1" noChangeArrowheads="1" noCrop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9559" y="1690688"/>
            <a:ext cx="2486891" cy="24868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Espaço Reservado para Conteúdo 2">
            <a:extLst>
              <a:ext uri="{FF2B5EF4-FFF2-40B4-BE49-F238E27FC236}">
                <a16:creationId xmlns:a16="http://schemas.microsoft.com/office/drawing/2014/main" xmlns="" id="{62A55622-8E11-E5D7-8EAF-7AE2CCAA33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83927" y="1825624"/>
            <a:ext cx="5486399" cy="5032375"/>
          </a:xfrm>
        </p:spPr>
        <p:txBody>
          <a:bodyPr>
            <a:normAutofit/>
          </a:bodyPr>
          <a:lstStyle/>
          <a:p>
            <a:r>
              <a:rPr lang="pt-BR" altLang="pt-BR" dirty="0"/>
              <a:t>O que </a:t>
            </a:r>
            <a:r>
              <a:rPr lang="pt-BR" altLang="pt-BR" dirty="0" smtClean="0"/>
              <a:t>a ficção prometeu </a:t>
            </a:r>
            <a:r>
              <a:rPr lang="pt-BR" altLang="pt-BR" dirty="0"/>
              <a:t>vs. o</a:t>
            </a:r>
            <a:r>
              <a:rPr lang="pt-BR" altLang="pt-BR" dirty="0" smtClean="0"/>
              <a:t> que </a:t>
            </a:r>
            <a:r>
              <a:rPr lang="pt-BR" altLang="pt-BR" dirty="0"/>
              <a:t>temos hoje</a:t>
            </a:r>
            <a:r>
              <a:rPr lang="pt-BR" altLang="pt-BR" dirty="0" smtClean="0"/>
              <a:t>.</a:t>
            </a:r>
          </a:p>
          <a:p>
            <a:r>
              <a:rPr lang="pt-BR" dirty="0" smtClean="0"/>
              <a:t>Processar </a:t>
            </a:r>
            <a:r>
              <a:rPr lang="pt-BR" dirty="0"/>
              <a:t>dados (o "cérebro" da IA) evoluiu muito mais rápido do que a interação física com o mundo (o "corpo" da IA / Robótica</a:t>
            </a:r>
            <a:r>
              <a:rPr lang="pt-BR" dirty="0" smtClean="0"/>
              <a:t>).</a:t>
            </a:r>
          </a:p>
          <a:p>
            <a:r>
              <a:rPr lang="pt-BR" dirty="0"/>
              <a:t>O que é difícil para </a:t>
            </a:r>
            <a:r>
              <a:rPr lang="pt-BR" dirty="0" smtClean="0"/>
              <a:t>humanos (e.g., cálculos complexos) </a:t>
            </a:r>
            <a:r>
              <a:rPr lang="pt-BR" dirty="0"/>
              <a:t>é fácil para a </a:t>
            </a:r>
            <a:r>
              <a:rPr lang="pt-BR" dirty="0" smtClean="0"/>
              <a:t>IA e vice versa (e.g., andar e reconhecer rostos).</a:t>
            </a:r>
          </a:p>
          <a:p>
            <a:endParaRPr lang="pt-BR" altLang="pt-BR" dirty="0"/>
          </a:p>
          <a:p>
            <a:endParaRPr lang="pt-BR" dirty="0"/>
          </a:p>
        </p:txBody>
      </p:sp>
      <p:sp>
        <p:nvSpPr>
          <p:cNvPr id="3" name="Retângulo 2"/>
          <p:cNvSpPr/>
          <p:nvPr/>
        </p:nvSpPr>
        <p:spPr>
          <a:xfrm>
            <a:off x="3042456" y="2472469"/>
            <a:ext cx="2804160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t-BR" dirty="0"/>
              <a:t>A revolução das máquinas parou na dificuldade de subir degraus</a:t>
            </a:r>
            <a:r>
              <a:rPr lang="pt-BR" dirty="0" smtClean="0"/>
              <a:t>.....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90698081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O que vocês acham que é IA?</a:t>
            </a:r>
            <a:endParaRPr lang="pt-BR" dirty="0"/>
          </a:p>
        </p:txBody>
      </p:sp>
      <p:pic>
        <p:nvPicPr>
          <p:cNvPr id="3074" name="Picture 2" descr="O Exterminador do Futuro': James Cameron revela o que considera “digno de  vergonha”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4035" y="1869380"/>
            <a:ext cx="3763153" cy="21167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8" name="Picture 6" descr="WALL-E – Wikipédia, a enciclopédia livre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16483" y="1869380"/>
            <a:ext cx="2122207" cy="31493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0" name="Picture 8" descr="Metatrend #4: “JARVIS” is Coming... a Software Interface to Improve Our  Lives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23053" y="1869380"/>
            <a:ext cx="4454987" cy="20541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2" name="Picture 10" descr="Rose, A Empregada Robô | Guia dos Quadrinhos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26208" y="4102245"/>
            <a:ext cx="3250161" cy="24376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4" name="Picture 12" descr="Robôs e IA: Conheça 8 filmes marcantes"/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6209" y="4454279"/>
            <a:ext cx="3162756" cy="20855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tângulo 4"/>
          <p:cNvSpPr/>
          <p:nvPr/>
        </p:nvSpPr>
        <p:spPr>
          <a:xfrm>
            <a:off x="4407188" y="5795228"/>
            <a:ext cx="4144588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t-BR" dirty="0"/>
              <a:t>IA não é só robô assassino ou mordomo digital. É matemática aplicada com muito marketing.</a:t>
            </a:r>
          </a:p>
        </p:txBody>
      </p:sp>
    </p:spTree>
    <p:extLst>
      <p:ext uri="{BB962C8B-B14F-4D97-AF65-F5344CB8AC3E}">
        <p14:creationId xmlns:p14="http://schemas.microsoft.com/office/powerpoint/2010/main" val="271434870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B28A9759-CA4F-DA4F-85C2-F6E51DCED2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072F732D-34CE-6153-324F-D7F6821577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O que é IA?</a:t>
            </a:r>
            <a:endParaRPr lang="pt-BR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62A55622-8E11-E5D7-8EAF-7AE2CCAA33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9863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altLang="pt-BR" b="1" dirty="0" smtClean="0"/>
              <a:t>Algumas definições</a:t>
            </a:r>
            <a:r>
              <a:rPr lang="pt-BR" altLang="pt-BR" dirty="0" smtClean="0"/>
              <a:t>: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b="1" dirty="0"/>
              <a:t>John McCarthy (1955</a:t>
            </a:r>
            <a:r>
              <a:rPr lang="pt-BR" altLang="pt-BR" b="1" dirty="0" smtClean="0"/>
              <a:t>)</a:t>
            </a:r>
            <a:endParaRPr lang="pt-BR" altLang="pt-BR" dirty="0" smtClean="0"/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i="1" dirty="0" smtClean="0"/>
              <a:t>"</a:t>
            </a:r>
            <a:r>
              <a:rPr lang="pt-BR" altLang="pt-BR" i="1" dirty="0"/>
              <a:t>A ciência e engenharia de criar máquinas inteligentes, especialmente programas de computador inteligentes</a:t>
            </a:r>
            <a:r>
              <a:rPr lang="pt-BR" altLang="pt-BR" i="1" dirty="0" smtClean="0"/>
              <a:t>.“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b="1" dirty="0" smtClean="0"/>
              <a:t>Marvin </a:t>
            </a:r>
            <a:r>
              <a:rPr lang="pt-BR" altLang="pt-BR" b="1" dirty="0" err="1"/>
              <a:t>Minsky</a:t>
            </a:r>
            <a:r>
              <a:rPr lang="pt-BR" altLang="pt-BR" b="1" dirty="0"/>
              <a:t> (1968</a:t>
            </a:r>
            <a:r>
              <a:rPr lang="pt-BR" altLang="pt-BR" b="1" dirty="0" smtClean="0"/>
              <a:t>)</a:t>
            </a:r>
            <a:endParaRPr lang="pt-BR" altLang="pt-BR" dirty="0" smtClean="0"/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i="1" dirty="0" smtClean="0"/>
              <a:t>"</a:t>
            </a:r>
            <a:r>
              <a:rPr lang="pt-BR" altLang="pt-BR" i="1" dirty="0"/>
              <a:t>IA é a ciência de fazer as máquinas fazerem coisas que exigiriam inteligência se fossem feitas por </a:t>
            </a:r>
            <a:r>
              <a:rPr lang="pt-BR" altLang="pt-BR" i="1" dirty="0" smtClean="0"/>
              <a:t>humanos</a:t>
            </a:r>
            <a:r>
              <a:rPr lang="pt-BR" altLang="pt-BR" i="1" dirty="0" smtClean="0"/>
              <a:t>.“</a:t>
            </a:r>
            <a:endParaRPr lang="pt-BR" altLang="pt-BR" i="1" dirty="0" smtClean="0"/>
          </a:p>
        </p:txBody>
      </p:sp>
    </p:spTree>
    <p:extLst>
      <p:ext uri="{BB962C8B-B14F-4D97-AF65-F5344CB8AC3E}">
        <p14:creationId xmlns:p14="http://schemas.microsoft.com/office/powerpoint/2010/main" val="152181125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é IA?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201" y="1825625"/>
            <a:ext cx="10849494" cy="4351338"/>
          </a:xfrm>
        </p:spPr>
        <p:txBody>
          <a:bodyPr/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b="1" dirty="0"/>
              <a:t>Stuart Russell &amp; Peter </a:t>
            </a:r>
            <a:r>
              <a:rPr lang="pt-BR" altLang="pt-BR" b="1" dirty="0" err="1"/>
              <a:t>Norvig</a:t>
            </a:r>
            <a:r>
              <a:rPr lang="pt-BR" altLang="pt-BR" b="1" dirty="0"/>
              <a:t> (2003)</a:t>
            </a:r>
            <a:endParaRPr lang="pt-BR" altLang="pt-BR" dirty="0"/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i="1" dirty="0"/>
              <a:t>"O estudo de agentes que recebem percepções do ambiente e executam ações</a:t>
            </a:r>
            <a:r>
              <a:rPr lang="pt-BR" altLang="pt-BR" i="1" dirty="0" smtClean="0"/>
              <a:t>."</a:t>
            </a:r>
            <a:endParaRPr lang="pt-BR" altLang="pt-BR" i="1" dirty="0"/>
          </a:p>
        </p:txBody>
      </p:sp>
      <p:grpSp>
        <p:nvGrpSpPr>
          <p:cNvPr id="20" name="Grupo 19"/>
          <p:cNvGrpSpPr/>
          <p:nvPr/>
        </p:nvGrpSpPr>
        <p:grpSpPr>
          <a:xfrm>
            <a:off x="4123113" y="2776451"/>
            <a:ext cx="3981987" cy="2176953"/>
            <a:chOff x="838200" y="2500541"/>
            <a:chExt cx="5690291" cy="3001503"/>
          </a:xfrm>
        </p:grpSpPr>
        <p:sp>
          <p:nvSpPr>
            <p:cNvPr id="4" name="Retângulo de cantos arredondados 3"/>
            <p:cNvSpPr/>
            <p:nvPr/>
          </p:nvSpPr>
          <p:spPr>
            <a:xfrm>
              <a:off x="838200" y="2500543"/>
              <a:ext cx="2959331" cy="3001501"/>
            </a:xfrm>
            <a:prstGeom prst="roundRect">
              <a:avLst/>
            </a:prstGeom>
            <a:solidFill>
              <a:schemeClr val="accent1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" name="Retângulo 4"/>
            <p:cNvSpPr/>
            <p:nvPr/>
          </p:nvSpPr>
          <p:spPr>
            <a:xfrm>
              <a:off x="1735974" y="3436027"/>
              <a:ext cx="1163782" cy="1130531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sz="4400" b="1" dirty="0" smtClean="0">
                  <a:solidFill>
                    <a:schemeClr val="tx1"/>
                  </a:solidFill>
                </a:rPr>
                <a:t>?</a:t>
              </a:r>
              <a:endParaRPr lang="pt-BR" b="1" dirty="0">
                <a:solidFill>
                  <a:schemeClr val="tx1"/>
                </a:solidFill>
              </a:endParaRPr>
            </a:p>
          </p:txBody>
        </p:sp>
        <p:sp>
          <p:nvSpPr>
            <p:cNvPr id="7" name="Retângulo de cantos arredondados 6"/>
            <p:cNvSpPr/>
            <p:nvPr/>
          </p:nvSpPr>
          <p:spPr>
            <a:xfrm rot="5400000">
              <a:off x="4491694" y="3465245"/>
              <a:ext cx="3001502" cy="1072093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sz="3200" dirty="0" smtClean="0"/>
                <a:t>Ambiente</a:t>
              </a:r>
              <a:endParaRPr lang="pt-BR" sz="3200" dirty="0"/>
            </a:p>
          </p:txBody>
        </p:sp>
        <p:cxnSp>
          <p:nvCxnSpPr>
            <p:cNvPr id="8" name="Conector de seta reta 7"/>
            <p:cNvCxnSpPr/>
            <p:nvPr/>
          </p:nvCxnSpPr>
          <p:spPr>
            <a:xfrm flipH="1">
              <a:off x="3267784" y="2820886"/>
              <a:ext cx="2448000" cy="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Conector de seta reta 12"/>
            <p:cNvCxnSpPr/>
            <p:nvPr/>
          </p:nvCxnSpPr>
          <p:spPr>
            <a:xfrm>
              <a:off x="3267784" y="5320058"/>
              <a:ext cx="2448000" cy="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ector de seta reta 13"/>
            <p:cNvCxnSpPr/>
            <p:nvPr/>
          </p:nvCxnSpPr>
          <p:spPr>
            <a:xfrm rot="16200000" flipH="1">
              <a:off x="2101866" y="3220027"/>
              <a:ext cx="432000" cy="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ector de seta reta 14"/>
            <p:cNvCxnSpPr/>
            <p:nvPr/>
          </p:nvCxnSpPr>
          <p:spPr>
            <a:xfrm rot="16200000" flipH="1">
              <a:off x="2101864" y="4782557"/>
              <a:ext cx="432000" cy="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CaixaDeTexto 11"/>
            <p:cNvSpPr txBox="1"/>
            <p:nvPr/>
          </p:nvSpPr>
          <p:spPr>
            <a:xfrm>
              <a:off x="3788777" y="2850694"/>
              <a:ext cx="124874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 smtClean="0"/>
                <a:t>Percepções</a:t>
              </a:r>
              <a:endParaRPr lang="pt-BR" dirty="0"/>
            </a:p>
          </p:txBody>
        </p:sp>
        <p:sp>
          <p:nvSpPr>
            <p:cNvPr id="17" name="CaixaDeTexto 16"/>
            <p:cNvSpPr txBox="1"/>
            <p:nvPr/>
          </p:nvSpPr>
          <p:spPr>
            <a:xfrm>
              <a:off x="4114125" y="4857053"/>
              <a:ext cx="74058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 smtClean="0"/>
                <a:t>Ações</a:t>
              </a:r>
              <a:endParaRPr lang="pt-BR" dirty="0"/>
            </a:p>
          </p:txBody>
        </p:sp>
        <p:sp>
          <p:nvSpPr>
            <p:cNvPr id="18" name="CaixaDeTexto 17"/>
            <p:cNvSpPr txBox="1"/>
            <p:nvPr/>
          </p:nvSpPr>
          <p:spPr>
            <a:xfrm>
              <a:off x="1735778" y="2534485"/>
              <a:ext cx="102162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 smtClean="0"/>
                <a:t>Sensores</a:t>
              </a:r>
            </a:p>
          </p:txBody>
        </p:sp>
        <p:sp>
          <p:nvSpPr>
            <p:cNvPr id="19" name="CaixaDeTexto 18"/>
            <p:cNvSpPr txBox="1"/>
            <p:nvPr/>
          </p:nvSpPr>
          <p:spPr>
            <a:xfrm>
              <a:off x="1670719" y="5065635"/>
              <a:ext cx="114723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 smtClean="0"/>
                <a:t>Atuadores</a:t>
              </a:r>
            </a:p>
          </p:txBody>
        </p:sp>
        <p:sp>
          <p:nvSpPr>
            <p:cNvPr id="16" name="Retângulo 15"/>
            <p:cNvSpPr/>
            <p:nvPr/>
          </p:nvSpPr>
          <p:spPr>
            <a:xfrm rot="16200000">
              <a:off x="542479" y="3723283"/>
              <a:ext cx="1365695" cy="58477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pt-BR" sz="3200" dirty="0" smtClean="0">
                  <a:solidFill>
                    <a:schemeClr val="bg1"/>
                  </a:solidFill>
                </a:rPr>
                <a:t>Agente</a:t>
              </a:r>
              <a:endParaRPr lang="pt-BR" sz="3200" dirty="0">
                <a:solidFill>
                  <a:schemeClr val="bg1"/>
                </a:solidFill>
              </a:endParaRPr>
            </a:p>
          </p:txBody>
        </p:sp>
      </p:grpSp>
      <p:pic>
        <p:nvPicPr>
          <p:cNvPr id="1030" name="Picture 6" descr="Artificial intelligence (AI) | Definition, Examples, Types, Applications,  Companies, &amp; Facts | Britannica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22594" y="5081845"/>
            <a:ext cx="1635527" cy="16355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" name="Picture 10" descr="Rose, A Empregada Robô | Guia dos Quadrinhos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43547" y="5242888"/>
            <a:ext cx="1880278" cy="14102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6789246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200" y="748145"/>
            <a:ext cx="10515600" cy="5428818"/>
          </a:xfrm>
        </p:spPr>
        <p:txBody>
          <a:bodyPr anchor="ctr">
            <a:normAutofit/>
          </a:bodyPr>
          <a:lstStyle/>
          <a:p>
            <a:pPr marL="0" indent="0" algn="ctr">
              <a:buNone/>
            </a:pPr>
            <a:r>
              <a:rPr lang="pt-BR" sz="6600" dirty="0" smtClean="0"/>
              <a:t>Breve história </a:t>
            </a:r>
            <a:r>
              <a:rPr lang="pt-BR" sz="6600" dirty="0"/>
              <a:t>e e</a:t>
            </a:r>
            <a:r>
              <a:rPr lang="pt-BR" sz="6600" dirty="0" smtClean="0"/>
              <a:t>volução</a:t>
            </a:r>
            <a:endParaRPr lang="pt-BR" sz="6600" dirty="0"/>
          </a:p>
        </p:txBody>
      </p:sp>
    </p:spTree>
    <p:extLst>
      <p:ext uri="{BB962C8B-B14F-4D97-AF65-F5344CB8AC3E}">
        <p14:creationId xmlns:p14="http://schemas.microsoft.com/office/powerpoint/2010/main" val="100147055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O </a:t>
            </a:r>
            <a:r>
              <a:rPr lang="pt-BR" smtClean="0"/>
              <a:t>teste </a:t>
            </a:r>
            <a:r>
              <a:rPr lang="pt-BR" dirty="0"/>
              <a:t>de Turing (1950)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818909" y="1825624"/>
            <a:ext cx="6184670" cy="5032375"/>
          </a:xfrm>
        </p:spPr>
        <p:txBody>
          <a:bodyPr>
            <a:normAutofit/>
          </a:bodyPr>
          <a:lstStyle/>
          <a:p>
            <a:r>
              <a:rPr lang="pt-BR" dirty="0"/>
              <a:t>Alan Turing </a:t>
            </a:r>
            <a:r>
              <a:rPr lang="pt-BR" dirty="0" smtClean="0"/>
              <a:t>inicia seu artigo </a:t>
            </a:r>
            <a:r>
              <a:rPr lang="pt-BR" i="1" dirty="0" smtClean="0"/>
              <a:t>"</a:t>
            </a:r>
            <a:r>
              <a:rPr lang="pt-BR" i="1" dirty="0" err="1" smtClean="0"/>
              <a:t>Computing</a:t>
            </a:r>
            <a:r>
              <a:rPr lang="pt-BR" i="1" dirty="0" smtClean="0"/>
              <a:t> </a:t>
            </a:r>
            <a:r>
              <a:rPr lang="pt-BR" i="1" dirty="0" err="1"/>
              <a:t>Machinery</a:t>
            </a:r>
            <a:r>
              <a:rPr lang="pt-BR" i="1" dirty="0"/>
              <a:t> </a:t>
            </a:r>
            <a:r>
              <a:rPr lang="pt-BR" i="1" dirty="0" err="1"/>
              <a:t>and</a:t>
            </a:r>
            <a:r>
              <a:rPr lang="pt-BR" i="1" dirty="0"/>
              <a:t> </a:t>
            </a:r>
            <a:r>
              <a:rPr lang="pt-BR" i="1" dirty="0" err="1" smtClean="0"/>
              <a:t>Intelligence</a:t>
            </a:r>
            <a:r>
              <a:rPr lang="pt-BR" i="1" dirty="0" smtClean="0"/>
              <a:t>“</a:t>
            </a:r>
            <a:r>
              <a:rPr lang="pt-BR" dirty="0"/>
              <a:t> </a:t>
            </a:r>
            <a:r>
              <a:rPr lang="pt-BR" dirty="0" smtClean="0"/>
              <a:t>com a pergunta: </a:t>
            </a:r>
            <a:r>
              <a:rPr lang="pt-BR" b="1" dirty="0" smtClean="0">
                <a:solidFill>
                  <a:srgbClr val="00B0F0"/>
                </a:solidFill>
              </a:rPr>
              <a:t>máquinas podem pensar?</a:t>
            </a:r>
            <a:endParaRPr lang="pt-BR" dirty="0" smtClean="0"/>
          </a:p>
          <a:p>
            <a:r>
              <a:rPr lang="pt-BR" dirty="0" smtClean="0"/>
              <a:t>Porém, como as </a:t>
            </a:r>
            <a:r>
              <a:rPr lang="pt-BR" dirty="0"/>
              <a:t>definições de "máquina" e "pensar" são </a:t>
            </a:r>
            <a:r>
              <a:rPr lang="pt-BR" dirty="0" smtClean="0"/>
              <a:t>muito subjetivas</a:t>
            </a:r>
            <a:r>
              <a:rPr lang="pt-BR" dirty="0"/>
              <a:t>, para uma discussão científica </a:t>
            </a:r>
            <a:r>
              <a:rPr lang="pt-BR" dirty="0" smtClean="0"/>
              <a:t>rigorosa, ele muda a pergunta:</a:t>
            </a:r>
            <a:r>
              <a:rPr lang="pt-BR" b="1" dirty="0">
                <a:solidFill>
                  <a:srgbClr val="00B0F0"/>
                </a:solidFill>
              </a:rPr>
              <a:t> as </a:t>
            </a:r>
            <a:r>
              <a:rPr lang="pt-BR" b="1" dirty="0">
                <a:solidFill>
                  <a:srgbClr val="00B0F0"/>
                </a:solidFill>
              </a:rPr>
              <a:t>máquinas podem nos enganar</a:t>
            </a:r>
            <a:r>
              <a:rPr lang="pt-BR" b="1" dirty="0" smtClean="0">
                <a:solidFill>
                  <a:srgbClr val="00B0F0"/>
                </a:solidFill>
              </a:rPr>
              <a:t>?</a:t>
            </a:r>
          </a:p>
          <a:p>
            <a:r>
              <a:rPr lang="pt-BR" dirty="0" smtClean="0"/>
              <a:t>Para testar, ele propôs o “</a:t>
            </a:r>
            <a:r>
              <a:rPr lang="pt-BR" b="1" dirty="0" smtClean="0"/>
              <a:t>jogo da imitação</a:t>
            </a:r>
            <a:r>
              <a:rPr lang="pt-BR" dirty="0" smtClean="0"/>
              <a:t>”, também conhecido como “</a:t>
            </a:r>
            <a:r>
              <a:rPr lang="pt-BR" b="1" dirty="0" smtClean="0"/>
              <a:t>teste de Turing</a:t>
            </a:r>
            <a:r>
              <a:rPr lang="pt-BR" dirty="0" smtClean="0"/>
              <a:t>”.</a:t>
            </a:r>
            <a:endParaRPr lang="pt-BR" dirty="0"/>
          </a:p>
        </p:txBody>
      </p:sp>
      <p:pic>
        <p:nvPicPr>
          <p:cNvPr id="2050" name="Picture 2" descr="Alan Turing Test and the Imitation Game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2203383"/>
            <a:ext cx="4705005" cy="32415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tângulo 3"/>
          <p:cNvSpPr/>
          <p:nvPr/>
        </p:nvSpPr>
        <p:spPr>
          <a:xfrm>
            <a:off x="1070956" y="5774774"/>
            <a:ext cx="4239491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t-BR" dirty="0" smtClean="0"/>
              <a:t>Se não conseguimos </a:t>
            </a:r>
            <a:r>
              <a:rPr lang="pt-BR" dirty="0"/>
              <a:t>distinguir a máquina de um humano, </a:t>
            </a:r>
            <a:r>
              <a:rPr lang="pt-BR" dirty="0" smtClean="0"/>
              <a:t>então ela </a:t>
            </a:r>
            <a:r>
              <a:rPr lang="pt-BR" dirty="0"/>
              <a:t>é inteligente.</a:t>
            </a:r>
          </a:p>
        </p:txBody>
      </p:sp>
    </p:spTree>
    <p:extLst>
      <p:ext uri="{BB962C8B-B14F-4D97-AF65-F5344CB8AC3E}">
        <p14:creationId xmlns:p14="http://schemas.microsoft.com/office/powerpoint/2010/main" val="221013891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</a:t>
            </a:r>
            <a:r>
              <a:rPr lang="pt-BR" dirty="0" smtClean="0"/>
              <a:t>teste </a:t>
            </a:r>
            <a:r>
              <a:rPr lang="pt-BR" dirty="0"/>
              <a:t>de Turing (1950)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200" y="1825624"/>
            <a:ext cx="11165379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 smtClean="0"/>
              <a:t>Para passar no teste, a máquina deve ter as seguintes capacidades:</a:t>
            </a:r>
            <a:endParaRPr lang="pt-BR" dirty="0"/>
          </a:p>
          <a:p>
            <a:pPr fontAlgn="base"/>
            <a:r>
              <a:rPr lang="pt-BR" b="1" dirty="0"/>
              <a:t>Processamento de linguagem natural: </a:t>
            </a:r>
            <a:r>
              <a:rPr lang="pt-BR" dirty="0"/>
              <a:t>comunicar-se em um idioma </a:t>
            </a:r>
            <a:r>
              <a:rPr lang="pt-BR" dirty="0" smtClean="0"/>
              <a:t>natural </a:t>
            </a:r>
          </a:p>
          <a:p>
            <a:pPr lvl="1" fontAlgn="base"/>
            <a:r>
              <a:rPr lang="pt-BR" dirty="0" smtClean="0"/>
              <a:t>OBS.: O teste de Turing original considera apenas linguagem escrita, mas versões atuais incorporam a linguagem falada.</a:t>
            </a:r>
            <a:r>
              <a:rPr lang="en-US" dirty="0" smtClean="0"/>
              <a:t>​</a:t>
            </a:r>
            <a:endParaRPr lang="pt-BR" dirty="0"/>
          </a:p>
          <a:p>
            <a:pPr fontAlgn="base"/>
            <a:r>
              <a:rPr lang="pt-BR" b="1" dirty="0"/>
              <a:t>Representação de conhecimento: </a:t>
            </a:r>
            <a:r>
              <a:rPr lang="pt-BR" dirty="0"/>
              <a:t>armazenar o que </a:t>
            </a:r>
            <a:r>
              <a:rPr lang="pt-BR" dirty="0" smtClean="0"/>
              <a:t>sabe, lê </a:t>
            </a:r>
            <a:r>
              <a:rPr lang="pt-BR" dirty="0"/>
              <a:t>ou ouve.</a:t>
            </a:r>
            <a:r>
              <a:rPr lang="en-US" dirty="0" smtClean="0"/>
              <a:t>​</a:t>
            </a:r>
            <a:endParaRPr lang="pt-BR" dirty="0"/>
          </a:p>
          <a:p>
            <a:pPr fontAlgn="base"/>
            <a:r>
              <a:rPr lang="pt-BR" b="1" dirty="0"/>
              <a:t>Raciocínio automatizado: </a:t>
            </a:r>
            <a:r>
              <a:rPr lang="pt-BR" dirty="0"/>
              <a:t>usar o conhecimento armazenado para chegar a novas conclusões.</a:t>
            </a:r>
            <a:r>
              <a:rPr lang="en-US" dirty="0" smtClean="0"/>
              <a:t>​</a:t>
            </a:r>
            <a:endParaRPr lang="pt-BR" dirty="0"/>
          </a:p>
          <a:p>
            <a:pPr fontAlgn="base"/>
            <a:r>
              <a:rPr lang="pt-BR" b="1" dirty="0"/>
              <a:t>Aprendizado de máquina: </a:t>
            </a:r>
            <a:r>
              <a:rPr lang="pt-BR" dirty="0"/>
              <a:t>adaptar-se a novas situações e reconhecer padrões</a:t>
            </a:r>
            <a:r>
              <a:rPr lang="pt-BR" dirty="0" smtClean="0"/>
              <a:t>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71561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teste de </a:t>
            </a:r>
            <a:r>
              <a:rPr lang="pt-BR" dirty="0" smtClean="0"/>
              <a:t>Turing: Eugene </a:t>
            </a:r>
            <a:r>
              <a:rPr lang="pt-BR" dirty="0" err="1" smtClean="0"/>
              <a:t>Goostman</a:t>
            </a:r>
            <a:endParaRPr lang="pt-BR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4854632" y="1825625"/>
            <a:ext cx="6499167" cy="4351338"/>
          </a:xfrm>
        </p:spPr>
        <p:txBody>
          <a:bodyPr/>
          <a:lstStyle/>
          <a:p>
            <a:r>
              <a:rPr lang="pt-BR" smtClean="0"/>
              <a:t>Em 2014, </a:t>
            </a:r>
            <a:endParaRPr lang="pt-BR"/>
          </a:p>
        </p:txBody>
      </p:sp>
      <p:pic>
        <p:nvPicPr>
          <p:cNvPr id="3074" name="Picture 2" descr="Computer chatbot 'Eugene Goostman' passes the Turing test | ZDNET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8639" y="3097536"/>
            <a:ext cx="3802091" cy="21416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2155994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B9E502FC-4440-F5DA-F299-69CD15E702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O nascimento </a:t>
            </a:r>
            <a:r>
              <a:rPr lang="pt-BR" dirty="0"/>
              <a:t>da IA (</a:t>
            </a:r>
            <a:r>
              <a:rPr lang="pt-BR" dirty="0" smtClean="0"/>
              <a:t>1956)</a:t>
            </a:r>
            <a:endParaRPr lang="pt-BR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69359096-6B47-BEA3-55AD-95F90CDC84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1115502" cy="4351338"/>
          </a:xfrm>
        </p:spPr>
        <p:txBody>
          <a:bodyPr>
            <a:normAutofit/>
          </a:bodyPr>
          <a:lstStyle/>
          <a:p>
            <a:r>
              <a:rPr lang="pt-BR" dirty="0"/>
              <a:t>Em 1956, o cientista da computação, John McCarthy sugeriu o </a:t>
            </a:r>
            <a:r>
              <a:rPr lang="pt-BR" dirty="0" smtClean="0"/>
              <a:t>nome </a:t>
            </a:r>
            <a:r>
              <a:rPr lang="pt-BR" b="1" dirty="0" smtClean="0"/>
              <a:t>Inteligência </a:t>
            </a:r>
            <a:r>
              <a:rPr lang="pt-BR" b="1" dirty="0"/>
              <a:t>Artificial</a:t>
            </a:r>
            <a:r>
              <a:rPr lang="pt-BR" dirty="0"/>
              <a:t> </a:t>
            </a:r>
            <a:r>
              <a:rPr lang="pt-BR" dirty="0" smtClean="0"/>
              <a:t>para o novo campo de estudo apresentado em um </a:t>
            </a:r>
            <a:r>
              <a:rPr lang="pt-BR" i="1" dirty="0" smtClean="0"/>
              <a:t>workshop</a:t>
            </a:r>
            <a:r>
              <a:rPr lang="pt-BR" dirty="0" smtClean="0"/>
              <a:t> na faculdade de </a:t>
            </a:r>
            <a:r>
              <a:rPr lang="pt-BR" i="1" dirty="0" err="1" smtClean="0"/>
              <a:t>Dartmouth</a:t>
            </a:r>
            <a:r>
              <a:rPr lang="pt-BR" dirty="0"/>
              <a:t>. </a:t>
            </a:r>
            <a:endParaRPr lang="pt-BR" dirty="0" smtClean="0"/>
          </a:p>
          <a:p>
            <a:r>
              <a:rPr lang="pt-BR" dirty="0" smtClean="0"/>
              <a:t>Foi </a:t>
            </a:r>
            <a:r>
              <a:rPr lang="pt-BR" dirty="0"/>
              <a:t>a primeira vez que o termo foi utilizado e fixou-se desde então.​</a:t>
            </a:r>
          </a:p>
        </p:txBody>
      </p:sp>
      <p:pic>
        <p:nvPicPr>
          <p:cNvPr id="2052" name="Picture 4" descr="Morre John McCarthy, um dos mestres da Inteligência Artificial e criador do  Lisp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82293" y="3735698"/>
            <a:ext cx="2009465" cy="27752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 descr="The Meeting of the Minds That Launched AI - IEEE Spectrum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35851" y="3735698"/>
            <a:ext cx="5550535" cy="27752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3253096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B7EBC8F7-03EF-338A-A90B-280A41AF96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Os invernos da IA (anos 70-80)</a:t>
            </a:r>
            <a:endParaRPr lang="pt-BR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C525BCE7-C19D-7DDA-016A-E3016C398C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35286" y="1825625"/>
            <a:ext cx="5418513" cy="4351338"/>
          </a:xfrm>
        </p:spPr>
        <p:txBody>
          <a:bodyPr/>
          <a:lstStyle/>
          <a:p>
            <a:r>
              <a:rPr lang="pt-BR" dirty="0" smtClean="0"/>
              <a:t>Houveram promessas </a:t>
            </a:r>
            <a:r>
              <a:rPr lang="pt-BR" dirty="0"/>
              <a:t>demais, resultados de menos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60146926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xmlns="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Perguntas?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77300566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3CA32550-8C76-B013-2EC7-989D8C3B19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EF043237-7757-7557-B63E-D4EB5152D4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8726491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xmlns="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265570461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8191</TotalTime>
  <Words>1081</Words>
  <Application>Microsoft Office PowerPoint</Application>
  <PresentationFormat>Widescreen</PresentationFormat>
  <Paragraphs>175</Paragraphs>
  <Slides>20</Slides>
  <Notes>7</Notes>
  <HiddenSlides>0</HiddenSlides>
  <MMClips>0</MMClips>
  <ScaleCrop>false</ScaleCrop>
  <HeadingPairs>
    <vt:vector size="6" baseType="variant">
      <vt:variant>
        <vt:lpstr>Fontes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20</vt:i4>
      </vt:variant>
    </vt:vector>
  </HeadingPairs>
  <TitlesOfParts>
    <vt:vector size="27" baseType="lpstr">
      <vt:lpstr>Arial</vt:lpstr>
      <vt:lpstr>Calibri</vt:lpstr>
      <vt:lpstr>Calibri Light</vt:lpstr>
      <vt:lpstr>Cambria Math</vt:lpstr>
      <vt:lpstr>Consolas</vt:lpstr>
      <vt:lpstr>Wingdings</vt:lpstr>
      <vt:lpstr>Tema do Office</vt:lpstr>
      <vt:lpstr>C24 - Inteligência Artificial: Introdução</vt:lpstr>
      <vt:lpstr>Informações gerais</vt:lpstr>
      <vt:lpstr>Cronograma</vt:lpstr>
      <vt:lpstr>Avaliações</vt:lpstr>
      <vt:lpstr>Calendário e feriados</vt:lpstr>
      <vt:lpstr>Apresentação do PowerPoint</vt:lpstr>
      <vt:lpstr>Referências</vt:lpstr>
      <vt:lpstr>Expectativa vs. realidade</vt:lpstr>
      <vt:lpstr>O que vocês acham que é IA?</vt:lpstr>
      <vt:lpstr>O que é IA?</vt:lpstr>
      <vt:lpstr>O que é IA?</vt:lpstr>
      <vt:lpstr>Apresentação do PowerPoint</vt:lpstr>
      <vt:lpstr>O teste de Turing (1950)</vt:lpstr>
      <vt:lpstr>O teste de Turing (1950)</vt:lpstr>
      <vt:lpstr>O teste de Turing: Eugene Goostman</vt:lpstr>
      <vt:lpstr>O nascimento da IA (1956)</vt:lpstr>
      <vt:lpstr>Os invernos da IA (anos 70-80)</vt:lpstr>
      <vt:lpstr>Apresentação do PowerPoint</vt:lpstr>
      <vt:lpstr>Referências</vt:lpstr>
      <vt:lpstr>Apresentação do PowerPoint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1772</cp:revision>
  <dcterms:created xsi:type="dcterms:W3CDTF">2020-01-20T13:50:05Z</dcterms:created>
  <dcterms:modified xsi:type="dcterms:W3CDTF">2026-01-08T17:09:37Z</dcterms:modified>
</cp:coreProperties>
</file>