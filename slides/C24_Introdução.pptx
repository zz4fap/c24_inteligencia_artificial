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307" r:id="rId3"/>
    <p:sldId id="316" r:id="rId4"/>
    <p:sldId id="315" r:id="rId5"/>
    <p:sldId id="308" r:id="rId6"/>
    <p:sldId id="318" r:id="rId7"/>
    <p:sldId id="309" r:id="rId8"/>
    <p:sldId id="310" r:id="rId9"/>
    <p:sldId id="317" r:id="rId10"/>
    <p:sldId id="311" r:id="rId11"/>
    <p:sldId id="319" r:id="rId12"/>
    <p:sldId id="320" r:id="rId13"/>
    <p:sldId id="312" r:id="rId14"/>
    <p:sldId id="313" r:id="rId15"/>
    <p:sldId id="293" r:id="rId16"/>
    <p:sldId id="314" r:id="rId17"/>
    <p:sldId id="306" r:id="rId1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"A gente vê o </a:t>
            </a:r>
            <a:r>
              <a:rPr lang="pt-BR" dirty="0" err="1" smtClean="0"/>
              <a:t>ChatGPT</a:t>
            </a:r>
            <a:r>
              <a:rPr lang="pt-BR" dirty="0" smtClean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 smtClean="0"/>
          </a:p>
          <a:p>
            <a:r>
              <a:rPr lang="pt-BR" b="1" dirty="0" smtClean="0"/>
              <a:t>O que é difícil para humanos é fácil para a IA:</a:t>
            </a:r>
            <a:r>
              <a:rPr lang="pt-BR" dirty="0" smtClean="0"/>
              <a:t> Fazer cálculos matemáticos complexos, jogar xadrez em nível mundial ou analisar milhões de linhas de código.</a:t>
            </a:r>
          </a:p>
          <a:p>
            <a:r>
              <a:rPr lang="pt-BR" b="1" dirty="0" smtClean="0"/>
              <a:t>O que é fácil para humanos é difícil para a IA:</a:t>
            </a:r>
            <a:r>
              <a:rPr lang="pt-BR" dirty="0" smtClean="0"/>
              <a:t> Andar, reconhecer um rosto na multidão, manter o equilíbrio em terreno irregular ou ter percepção sensorial básica</a:t>
            </a:r>
            <a:r>
              <a:rPr lang="pt-BR" dirty="0" smtClean="0"/>
              <a:t>.</a:t>
            </a:r>
          </a:p>
          <a:p>
            <a:endParaRPr lang="pt-BR" dirty="0" smtClean="0"/>
          </a:p>
          <a:p>
            <a:r>
              <a:rPr lang="pt-BR" dirty="0" smtClean="0"/>
              <a:t>Processar dados (o "cérebro" da IA) evoluiu muito mais rápido do que a interação física com o mundo (o "corpo" da IA / Robótica).</a:t>
            </a:r>
            <a:endParaRPr lang="pt-BR" dirty="0" smtClean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 smtClean="0"/>
              <a:t> </a:t>
            </a:r>
            <a:br>
              <a:rPr lang="pt-BR" dirty="0" smtClean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</a:t>
            </a:r>
            <a:r>
              <a:rPr lang="pt-BR" sz="6600" dirty="0" smtClean="0"/>
              <a:t>- </a:t>
            </a:r>
            <a:r>
              <a:rPr lang="pt-BR" sz="6600" dirty="0" smtClean="0"/>
              <a:t>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Introdução</a:t>
            </a:r>
            <a:endParaRPr lang="pt-BR" sz="7200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Informações gerais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 err="1"/>
              <a:t>Carga</a:t>
            </a:r>
            <a:r>
              <a:rPr lang="en-US" b="1" dirty="0"/>
              <a:t> </a:t>
            </a:r>
            <a:r>
              <a:rPr lang="en-US" b="1" dirty="0" err="1"/>
              <a:t>horária</a:t>
            </a:r>
            <a:r>
              <a:rPr lang="en-US" dirty="0"/>
              <a:t>: </a:t>
            </a:r>
            <a:r>
              <a:rPr lang="en-US" dirty="0" smtClean="0"/>
              <a:t>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 smtClean="0"/>
              <a:t>semana</a:t>
            </a:r>
            <a:r>
              <a:rPr lang="en-US" dirty="0" smtClean="0"/>
              <a:t> (</a:t>
            </a: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teóricas</a:t>
            </a:r>
            <a:r>
              <a:rPr lang="en-US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práticas</a:t>
            </a:r>
            <a:r>
              <a:rPr lang="en-US" dirty="0" smtClean="0"/>
              <a:t>: 2h </a:t>
            </a:r>
            <a:r>
              <a:rPr lang="en-US" dirty="0" err="1" smtClean="0"/>
              <a:t>por</a:t>
            </a:r>
            <a:r>
              <a:rPr lang="en-US" dirty="0" smtClean="0"/>
              <a:t> </a:t>
            </a:r>
            <a:r>
              <a:rPr lang="en-US" dirty="0" err="1" smtClean="0"/>
              <a:t>semana</a:t>
            </a:r>
            <a:endParaRPr lang="en-US" dirty="0"/>
          </a:p>
          <a:p>
            <a:r>
              <a:rPr lang="pt-BR" b="1" dirty="0" smtClean="0"/>
              <a:t>Horário de atendimento</a:t>
            </a:r>
            <a:r>
              <a:rPr lang="pt-BR" dirty="0" smtClean="0"/>
              <a:t>: à definir</a:t>
            </a:r>
            <a:r>
              <a:rPr lang="pt-BR" dirty="0" smtClean="0"/>
              <a:t>.</a:t>
            </a:r>
          </a:p>
          <a:p>
            <a:r>
              <a:rPr lang="pt-BR" b="1" dirty="0" smtClean="0"/>
              <a:t>Material </a:t>
            </a:r>
            <a:r>
              <a:rPr lang="pt-BR" b="1" dirty="0"/>
              <a:t>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</a:t>
            </a:r>
            <a:r>
              <a:rPr lang="pt-BR" dirty="0" smtClean="0">
                <a:hlinkClick r:id="rId2"/>
              </a:rPr>
              <a:t>github.com/zz4fap/c24_inteligencia_artificial</a:t>
            </a:r>
            <a:endParaRPr lang="pt-BR" dirty="0" smtClean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954762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/>
                <a:gridCol w="903803"/>
                <a:gridCol w="1012927"/>
                <a:gridCol w="4158821"/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 smtClean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9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10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Segunda-feira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Prova #1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Avaliações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DA84068-671A-9D40-4F76-2C57E4F72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103822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fontAlgn="base"/>
                <a:r>
                  <a:rPr lang="pt-BR" dirty="0" smtClean="0"/>
                  <a:t>NP1 (1ª prova teórica/prática): a definir </a:t>
                </a:r>
                <a:r>
                  <a:rPr lang="pt-BR" dirty="0"/>
                  <a:t>→</a:t>
                </a:r>
                <a:r>
                  <a:rPr lang="pt-BR" dirty="0" smtClean="0"/>
                  <a:t> </a:t>
                </a:r>
                <a:r>
                  <a:rPr lang="pt-BR" dirty="0"/>
                  <a:t>sugestão: </a:t>
                </a:r>
                <a:r>
                  <a:rPr lang="pt-BR" dirty="0" smtClean="0"/>
                  <a:t>13/04/2026</a:t>
                </a:r>
                <a:r>
                  <a:rPr lang="en-US" dirty="0" smtClean="0"/>
                  <a:t>​</a:t>
                </a:r>
                <a:endParaRPr lang="en-US" dirty="0"/>
              </a:p>
              <a:p>
                <a:pPr fontAlgn="base"/>
                <a:r>
                  <a:rPr lang="pt-BR" dirty="0"/>
                  <a:t>NP2 (2ª prova teórica/prática): a definir → sugestão: </a:t>
                </a:r>
                <a:r>
                  <a:rPr lang="pt-BR" dirty="0" smtClean="0"/>
                  <a:t>15/06/2026​</a:t>
                </a:r>
                <a:endParaRPr lang="pt-BR" dirty="0"/>
              </a:p>
              <a:p>
                <a:pPr fontAlgn="base"/>
                <a:r>
                  <a:rPr lang="pt-BR" dirty="0"/>
                  <a:t>NP3 (3ª prova teórica/prática): a definir → sugestão: </a:t>
                </a:r>
                <a:r>
                  <a:rPr lang="pt-BR" dirty="0" smtClean="0"/>
                  <a:t>22/06/2026​</a:t>
                </a:r>
                <a:endParaRPr lang="pt-BR" dirty="0"/>
              </a:p>
              <a:p>
                <a:pPr fontAlgn="base"/>
                <a:r>
                  <a:rPr lang="pt-BR" dirty="0"/>
                  <a:t>NPA = (NP1 + NP2) / 2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pt-BR" dirty="0"/>
                  <a:t>NFA </a:t>
                </a:r>
                <a:r>
                  <a:rPr lang="pt-BR" dirty="0" smtClean="0"/>
                  <a:t>=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&gt;= 60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if</m:t>
                        </m:r>
                      </m:lim>
                    </m:limLow>
                  </m:oMath>
                </a14:m>
                <a:r>
                  <a:rPr lang="pt-BR" dirty="0" smtClean="0"/>
                  <a:t> ?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then</m:t>
                        </m:r>
                      </m:lim>
                    </m:limLow>
                  </m:oMath>
                </a14:m>
                <a:r>
                  <a:rPr lang="pt-BR" dirty="0" smtClean="0"/>
                  <a:t>: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(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+ 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3) / 2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else</m:t>
                        </m:r>
                      </m:lim>
                    </m:limLow>
                  </m:oMath>
                </a14:m>
                <a:r>
                  <a:rPr lang="pt-BR" dirty="0" smtClean="0"/>
                  <a:t> </a:t>
                </a:r>
                <a:r>
                  <a:rPr lang="en-US" dirty="0" smtClean="0"/>
                  <a:t>​</a:t>
                </a:r>
                <a:endParaRPr lang="en-US" dirty="0" smtClean="0">
                  <a:latin typeface="Consolas" panose="020B0609020204030204" pitchFamily="49" charset="0"/>
                </a:endParaRPr>
              </a:p>
              <a:p>
                <a:pPr marL="0" indent="0" fontAlgn="base">
                  <a:buNone/>
                </a:pPr>
                <a:endParaRPr lang="pt-BR" dirty="0"/>
              </a:p>
              <a:p>
                <a:pPr fontAlgn="base"/>
                <a:r>
                  <a:rPr lang="pt-BR" dirty="0"/>
                  <a:t>Prova </a:t>
                </a:r>
                <a:r>
                  <a:rPr lang="pt-BR" dirty="0" smtClean="0"/>
                  <a:t>substitutiva: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Substitui </a:t>
                </a:r>
                <a:r>
                  <a:rPr lang="pt-BR" dirty="0"/>
                  <a:t>NP1 ou NP2, via NP3.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Solicitação por requerimento no CRA.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Prova com o conteúdo de todo o semestre.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Caso </a:t>
                </a:r>
                <a:r>
                  <a:rPr lang="pt-BR" dirty="0" smtClean="0"/>
                  <a:t>não </a:t>
                </a:r>
                <a:r>
                  <a:rPr lang="pt-BR" dirty="0"/>
                  <a:t>seja aprovado, será feita outra prova como NP3 (PVS).</a:t>
                </a:r>
                <a:r>
                  <a:rPr lang="pt-BR" dirty="0" smtClean="0"/>
                  <a:t>​</a:t>
                </a:r>
                <a:r>
                  <a:rPr lang="pt-BR" dirty="0"/>
                  <a:t> 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7DA84068-671A-9D40-4F76-2C57E4F72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103822" cy="5032375"/>
              </a:xfrm>
              <a:blipFill rotWithShape="0">
                <a:blip r:embed="rId2"/>
                <a:stretch>
                  <a:fillRect l="-1072" t="-2421" r="-8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59" y="3243781"/>
            <a:ext cx="2626612" cy="361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Calendário e feriados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Disponível no site do Inatel</a:t>
            </a:r>
          </a:p>
          <a:p>
            <a:r>
              <a:rPr lang="pt-BR" dirty="0" smtClean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 smtClean="0">
                <a:solidFill>
                  <a:srgbClr val="FF0000"/>
                </a:solidFill>
              </a:rPr>
              <a:t>​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 que é essa tal de IA?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</a:t>
            </a:r>
            <a:r>
              <a:rPr lang="pt-BR" dirty="0" smtClean="0"/>
              <a:t>Peter; </a:t>
            </a:r>
            <a:r>
              <a:rPr lang="pt-BR" dirty="0"/>
              <a:t>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</a:t>
            </a:r>
            <a:r>
              <a:rPr lang="pt-BR" dirty="0" smtClean="0"/>
              <a:t>.</a:t>
            </a:r>
          </a:p>
          <a:p>
            <a:r>
              <a:rPr lang="pt-BR" dirty="0" smtClean="0"/>
              <a:t>GÉRON, </a:t>
            </a:r>
            <a:r>
              <a:rPr lang="pt-BR" dirty="0" err="1" smtClean="0"/>
              <a:t>Aurélien</a:t>
            </a:r>
            <a:r>
              <a:rPr lang="pt-BR" dirty="0" smtClean="0"/>
              <a:t>, Mãos </a:t>
            </a:r>
            <a:r>
              <a:rPr lang="pt-BR" dirty="0"/>
              <a:t>à Obra: Aprendizado de Máquina com Scikit-Learn, Keras &amp; TensorFlow: Conceitos, Ferramentas e Técnicas Para a Construção de Sistemas </a:t>
            </a:r>
            <a:r>
              <a:rPr lang="pt-BR" dirty="0" smtClean="0"/>
              <a:t>Inteligentes. </a:t>
            </a:r>
            <a:r>
              <a:rPr lang="pt-BR" dirty="0"/>
              <a:t>Alta </a:t>
            </a:r>
            <a:r>
              <a:rPr lang="pt-BR" dirty="0" smtClean="0"/>
              <a:t>Books, 2021, ISBN 855-08-154-89</a:t>
            </a:r>
          </a:p>
          <a:p>
            <a:r>
              <a:rPr lang="pt-BR" dirty="0"/>
              <a:t>HAYKIN, Simon S.; ENGEL, Paulo </a:t>
            </a:r>
            <a:r>
              <a:rPr lang="pt-BR" dirty="0" smtClean="0"/>
              <a:t>Martins, </a:t>
            </a:r>
            <a:r>
              <a:rPr lang="pt-BR" dirty="0"/>
              <a:t>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</a:t>
            </a:r>
            <a:r>
              <a:rPr lang="pt-BR" dirty="0" smtClean="0"/>
              <a:t>realidade</a:t>
            </a:r>
            <a:endParaRPr lang="pt-BR" dirty="0"/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=""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3927" y="1825624"/>
            <a:ext cx="5486399" cy="5032375"/>
          </a:xfrm>
        </p:spPr>
        <p:txBody>
          <a:bodyPr>
            <a:normAutofit/>
          </a:bodyPr>
          <a:lstStyle/>
          <a:p>
            <a:r>
              <a:rPr lang="pt-BR" altLang="pt-BR" dirty="0"/>
              <a:t>O que </a:t>
            </a:r>
            <a:r>
              <a:rPr lang="pt-BR" altLang="pt-BR" dirty="0" smtClean="0"/>
              <a:t>a ficção prometeu </a:t>
            </a:r>
            <a:r>
              <a:rPr lang="pt-BR" altLang="pt-BR" dirty="0"/>
              <a:t>vs. o</a:t>
            </a:r>
            <a:r>
              <a:rPr lang="pt-BR" altLang="pt-BR" dirty="0" smtClean="0"/>
              <a:t> que </a:t>
            </a:r>
            <a:r>
              <a:rPr lang="pt-BR" altLang="pt-BR" dirty="0"/>
              <a:t>temos hoje</a:t>
            </a:r>
            <a:r>
              <a:rPr lang="pt-BR" altLang="pt-BR" dirty="0" smtClean="0"/>
              <a:t>.</a:t>
            </a:r>
          </a:p>
          <a:p>
            <a:r>
              <a:rPr lang="pt-BR" dirty="0" smtClean="0"/>
              <a:t>Processar </a:t>
            </a:r>
            <a:r>
              <a:rPr lang="pt-BR" dirty="0"/>
              <a:t>dados (o "cérebro" da IA) evoluiu muito mais rápido do que a interação física com o mundo (o "corpo" da IA / Robótica</a:t>
            </a:r>
            <a:r>
              <a:rPr lang="pt-BR" dirty="0" smtClean="0"/>
              <a:t>).</a:t>
            </a:r>
          </a:p>
          <a:p>
            <a:r>
              <a:rPr lang="pt-BR" dirty="0"/>
              <a:t>O que é difícil para </a:t>
            </a:r>
            <a:r>
              <a:rPr lang="pt-BR" dirty="0" smtClean="0"/>
              <a:t>humanos (e.g., cálculos complexos) </a:t>
            </a:r>
            <a:r>
              <a:rPr lang="pt-BR" dirty="0"/>
              <a:t>é fácil para a </a:t>
            </a:r>
            <a:r>
              <a:rPr lang="pt-BR" dirty="0" smtClean="0"/>
              <a:t>IA e vice versa (e.g., </a:t>
            </a:r>
            <a:r>
              <a:rPr lang="pt-BR" dirty="0" smtClean="0"/>
              <a:t>andar e </a:t>
            </a:r>
            <a:r>
              <a:rPr lang="pt-BR" dirty="0" smtClean="0"/>
              <a:t>reconhecer rostos).</a:t>
            </a:r>
          </a:p>
          <a:p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3042456" y="2472469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</a:t>
            </a:r>
            <a:r>
              <a:rPr lang="pt-BR" dirty="0" smtClean="0"/>
              <a:t>.....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vocês acham que é IA?</a:t>
            </a:r>
            <a:endParaRPr lang="pt-BR" dirty="0"/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208" y="4102245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407188" y="5795228"/>
            <a:ext cx="41445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robô assassino ou mordomo digital. É matemática aplicada com muito marketing.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é IA?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 smtClean="0"/>
              <a:t>Algumas definições</a:t>
            </a:r>
            <a:r>
              <a:rPr lang="pt-BR" altLang="pt-BR" dirty="0" smtClean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(1955</a:t>
            </a:r>
            <a:r>
              <a:rPr lang="pt-BR" altLang="pt-BR" b="1" dirty="0" smtClean="0"/>
              <a:t>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A ciência e engenharia de criar máquinas inteligentes, especialmente programas de computador inteligentes</a:t>
            </a:r>
            <a:r>
              <a:rPr lang="pt-BR" altLang="pt-BR" i="1" dirty="0" smtClean="0"/>
              <a:t>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 smtClean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</a:t>
            </a:r>
            <a:r>
              <a:rPr lang="pt-BR" altLang="pt-BR" b="1" dirty="0" smtClean="0"/>
              <a:t>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IA é a ciência de fazer as máquinas fazerem coisas que exigiriam inteligência se fossem feitas por </a:t>
            </a:r>
            <a:r>
              <a:rPr lang="pt-BR" altLang="pt-BR" i="1" dirty="0" smtClean="0"/>
              <a:t>humanos.“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 smtClean="0"/>
              <a:t>Stuart </a:t>
            </a:r>
            <a:r>
              <a:rPr lang="pt-BR" altLang="pt-BR" b="1" dirty="0"/>
              <a:t>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</a:t>
            </a:r>
            <a:r>
              <a:rPr lang="pt-BR" altLang="pt-BR" b="1" dirty="0" smtClean="0"/>
              <a:t>2003)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O estudo de agentes que recebem percepções do ambiente e executam ações</a:t>
            </a:r>
            <a:r>
              <a:rPr lang="pt-BR" altLang="pt-BR" i="1" dirty="0" smtClean="0"/>
              <a:t>."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História e e</a:t>
            </a:r>
            <a:r>
              <a:rPr lang="pt-BR" sz="6600" dirty="0" smtClean="0"/>
              <a:t>volução</a:t>
            </a:r>
            <a:endParaRPr lang="pt-BR" sz="6600" dirty="0"/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</a:t>
            </a:r>
            <a:r>
              <a:rPr lang="pt-BR" smtClean="0"/>
              <a:t>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n</a:t>
            </a:r>
            <a:r>
              <a:rPr lang="pt-BR" dirty="0" smtClean="0"/>
              <a:t>ascimento </a:t>
            </a:r>
            <a:r>
              <a:rPr lang="pt-BR" dirty="0"/>
              <a:t>da IA (</a:t>
            </a:r>
            <a:r>
              <a:rPr lang="pt-BR" dirty="0" smtClean="0"/>
              <a:t>1956)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</a:t>
            </a:r>
            <a:r>
              <a:rPr lang="pt-BR" dirty="0"/>
              <a:t>McCarthy sugeriu o </a:t>
            </a:r>
            <a:r>
              <a:rPr lang="pt-BR" dirty="0" smtClean="0"/>
              <a:t>nome </a:t>
            </a:r>
            <a:r>
              <a:rPr lang="pt-BR" b="1" dirty="0" smtClean="0"/>
              <a:t>Inteligência </a:t>
            </a:r>
            <a:r>
              <a:rPr lang="pt-BR" b="1" dirty="0"/>
              <a:t>Artificial</a:t>
            </a:r>
            <a:r>
              <a:rPr lang="pt-BR" dirty="0"/>
              <a:t> </a:t>
            </a:r>
            <a:r>
              <a:rPr lang="pt-BR" dirty="0" smtClean="0"/>
              <a:t>para o novo campo de estudo apresentado em um </a:t>
            </a:r>
            <a:r>
              <a:rPr lang="pt-BR" i="1" dirty="0" smtClean="0"/>
              <a:t>workshop</a:t>
            </a:r>
            <a:r>
              <a:rPr lang="pt-BR" dirty="0" smtClean="0"/>
              <a:t> na faculdade de </a:t>
            </a:r>
            <a:r>
              <a:rPr lang="pt-BR" i="1" dirty="0" err="1" smtClean="0"/>
              <a:t>Dartmouth</a:t>
            </a:r>
            <a:r>
              <a:rPr lang="pt-BR" dirty="0"/>
              <a:t>. </a:t>
            </a:r>
            <a:endParaRPr lang="pt-BR" dirty="0" smtClean="0"/>
          </a:p>
          <a:p>
            <a:r>
              <a:rPr lang="pt-BR" dirty="0" smtClean="0"/>
              <a:t>Foi </a:t>
            </a:r>
            <a:r>
              <a:rPr lang="pt-BR" dirty="0"/>
              <a:t>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8111</TotalTime>
  <Words>798</Words>
  <Application>Microsoft Office PowerPoint</Application>
  <PresentationFormat>Widescreen</PresentationFormat>
  <Paragraphs>149</Paragraphs>
  <Slides>17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Consolas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Calendário e feriados</vt:lpstr>
      <vt:lpstr>Apresentação do PowerPoint</vt:lpstr>
      <vt:lpstr>Referências</vt:lpstr>
      <vt:lpstr>Expectativa vs. realidade</vt:lpstr>
      <vt:lpstr>O que vocês acham que é IA?</vt:lpstr>
      <vt:lpstr>O que é IA?</vt:lpstr>
      <vt:lpstr>Apresentação do PowerPoint</vt:lpstr>
      <vt:lpstr>O teste de Turing (1950)</vt:lpstr>
      <vt:lpstr>O nascimento da IA (1956)</vt:lpstr>
      <vt:lpstr>Comparação com outros algoritmos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1761</cp:revision>
  <dcterms:created xsi:type="dcterms:W3CDTF">2020-01-20T13:50:05Z</dcterms:created>
  <dcterms:modified xsi:type="dcterms:W3CDTF">2026-01-07T21:02:43Z</dcterms:modified>
</cp:coreProperties>
</file>