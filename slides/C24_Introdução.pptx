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07" r:id="rId3"/>
    <p:sldId id="316" r:id="rId4"/>
    <p:sldId id="315" r:id="rId5"/>
    <p:sldId id="308" r:id="rId6"/>
    <p:sldId id="318" r:id="rId7"/>
    <p:sldId id="309" r:id="rId8"/>
    <p:sldId id="310" r:id="rId9"/>
    <p:sldId id="317" r:id="rId10"/>
    <p:sldId id="311" r:id="rId11"/>
    <p:sldId id="321" r:id="rId12"/>
    <p:sldId id="319" r:id="rId13"/>
    <p:sldId id="320" r:id="rId14"/>
    <p:sldId id="322" r:id="rId15"/>
    <p:sldId id="323" r:id="rId16"/>
    <p:sldId id="324" r:id="rId17"/>
    <p:sldId id="312" r:id="rId18"/>
    <p:sldId id="326" r:id="rId19"/>
    <p:sldId id="313" r:id="rId20"/>
    <p:sldId id="325" r:id="rId21"/>
    <p:sldId id="293" r:id="rId22"/>
    <p:sldId id="314" r:id="rId23"/>
    <p:sldId id="306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6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8/01/2026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"A gente vê o </a:t>
            </a:r>
            <a:r>
              <a:rPr lang="pt-BR" dirty="0" err="1" smtClean="0"/>
              <a:t>ChatGPT</a:t>
            </a:r>
            <a:r>
              <a:rPr lang="pt-BR" dirty="0" smtClean="0"/>
              <a:t> escrevendo poemas e fica assustado, achando que a Matrix vai começar amanhã. Mas fiquem tranquilos: se vocês morarem em um sobrado, a revolução das máquinas vai demorar um pouco para chegar no andar de cima, porque subir degraus ainda é um pesadelo para os algoritmos de locomoção!“</a:t>
            </a:r>
          </a:p>
          <a:p>
            <a:endParaRPr lang="pt-BR" dirty="0" smtClean="0"/>
          </a:p>
          <a:p>
            <a:r>
              <a:rPr lang="pt-BR" b="1" dirty="0" smtClean="0"/>
              <a:t>O que é difícil para humanos é fácil para a IA:</a:t>
            </a:r>
            <a:r>
              <a:rPr lang="pt-BR" dirty="0" smtClean="0"/>
              <a:t> Fazer cálculos matemáticos complexos, jogar xadrez em nível mundial ou analisar milhões de linhas de código.</a:t>
            </a:r>
          </a:p>
          <a:p>
            <a:r>
              <a:rPr lang="pt-BR" b="1" dirty="0" smtClean="0"/>
              <a:t>O que é fácil para humanos é difícil para a IA:</a:t>
            </a:r>
            <a:r>
              <a:rPr lang="pt-BR" dirty="0" smtClean="0"/>
              <a:t> Andar, reconhecer um rosto na multidão, manter o equilíbrio em terreno irregular ou ter percepção sensorial básica.</a:t>
            </a:r>
          </a:p>
          <a:p>
            <a:endParaRPr lang="pt-BR" dirty="0" smtClean="0"/>
          </a:p>
          <a:p>
            <a:r>
              <a:rPr lang="pt-BR" dirty="0" smtClean="0"/>
              <a:t>Processar dados (o "cérebro" da IA) evoluiu muito mais rápido do que a interação física com o mundo (o "corpo" da IA / Robótica).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5882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13800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Definição formal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Capacidade de uma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máquina de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receber estímulos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vindos do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ambiente,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interpretá-los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aprender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</a:t>
            </a:r>
            <a:r>
              <a:rPr lang="pt-BR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eles e usar o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conhecimento adquirido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tomar decisões e resolver</a:t>
            </a:r>
            <a:r>
              <a:rPr lang="pt-BR" sz="1200" b="1" i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problemas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1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interagindo 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ambiente</a:t>
            </a:r>
            <a:r>
              <a:rPr lang="pt-BR" dirty="0" smtClean="0"/>
              <a:t> 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818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Turing descreve o teste originalmente com três pessoas: um homem (A), uma mulher (B) e um interrogador (C). O interrogador deve descobrir quem é o homem e quem é a mulher apenas por perguntas escritas.</a:t>
            </a:r>
          </a:p>
          <a:p>
            <a:r>
              <a:rPr lang="pt-BR" dirty="0" smtClean="0"/>
              <a:t>Depois, ele substitui um dos participantes por uma máquina. Se o interrogador errar tanto quanto errava com humanos, a máquina "venceu".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7587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67266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O Resultado:</a:t>
            </a:r>
            <a:r>
              <a:rPr lang="pt-BR" dirty="0" smtClean="0"/>
              <a:t> Em um estudo da Universidade da Califórnia (San Diego) em 2025, o </a:t>
            </a:r>
            <a:r>
              <a:rPr lang="pt-BR" b="1" dirty="0" smtClean="0"/>
              <a:t>GPT-4.5</a:t>
            </a:r>
            <a:r>
              <a:rPr lang="pt-BR" dirty="0" smtClean="0"/>
              <a:t> enganou humanos em </a:t>
            </a:r>
            <a:r>
              <a:rPr lang="pt-BR" b="1" dirty="0" smtClean="0"/>
              <a:t>73% das vezes</a:t>
            </a:r>
            <a:r>
              <a:rPr lang="pt-BR" dirty="0" smtClean="0"/>
              <a:t>.</a:t>
            </a:r>
          </a:p>
          <a:p>
            <a:r>
              <a:rPr lang="pt-BR" b="1" dirty="0" smtClean="0"/>
              <a:t>Curiosidade:</a:t>
            </a:r>
            <a:r>
              <a:rPr lang="pt-BR" dirty="0" smtClean="0"/>
              <a:t> Nesse mesmo teste, seres humanos reais conseguiram convencer os juízes de que eram humanos em apenas cerca de 66% das vezes. Ou seja, a IA foi considerada </a:t>
            </a:r>
            <a:r>
              <a:rPr lang="pt-BR" b="1" dirty="0" smtClean="0"/>
              <a:t>mais humana que os próprios humanos</a:t>
            </a:r>
            <a:r>
              <a:rPr lang="pt-BR" dirty="0" smtClean="0"/>
              <a:t>!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15011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smtClean="0"/>
              <a:t>Houveram promessas demais, resultados de menos.</a:t>
            </a:r>
          </a:p>
          <a:p>
            <a:r>
              <a:rPr lang="pt-BR" dirty="0" smtClean="0"/>
              <a:t>Por que parou? Falta de dados e processamento.</a:t>
            </a:r>
          </a:p>
          <a:p>
            <a:endParaRPr lang="pt-BR" dirty="0" smtClean="0"/>
          </a:p>
          <a:p>
            <a:r>
              <a:rPr lang="pt-BR" b="1" dirty="0" smtClean="0"/>
              <a:t>A Crise de Identidade:</a:t>
            </a:r>
            <a:r>
              <a:rPr lang="pt-BR" dirty="0" smtClean="0"/>
              <a:t> O termo "Inteligência Artificial" ficou tão queimado que pesquisadores mudaram os nomes de seus projetos para "Sistemas de Apoio à Decisão" só para não perderem a verba.</a:t>
            </a:r>
            <a:endParaRPr lang="pt-BR" dirty="0" smtClean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087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 smtClean="0"/>
              <a:t>A diferença de desempenho foi tão absurda que todos os outros pesquisadores abandonaram suas técnicas antigas no ano seguinte para copiar a </a:t>
            </a:r>
            <a:r>
              <a:rPr lang="pt-BR" b="0" dirty="0" err="1" smtClean="0"/>
              <a:t>AlexNet</a:t>
            </a:r>
            <a:r>
              <a:rPr lang="pt-BR" b="0" dirty="0" smtClean="0"/>
              <a:t>.</a:t>
            </a:r>
          </a:p>
          <a:p>
            <a:r>
              <a:rPr lang="pt-BR" dirty="0" smtClean="0"/>
              <a:t>Enquanto os outros algoritmos melhoravam 1% por ano, a </a:t>
            </a:r>
            <a:r>
              <a:rPr lang="pt-BR" dirty="0" err="1" smtClean="0"/>
              <a:t>AlexNet</a:t>
            </a:r>
            <a:r>
              <a:rPr lang="pt-BR" dirty="0" smtClean="0"/>
              <a:t> reduziu o erro para </a:t>
            </a:r>
            <a:r>
              <a:rPr lang="pt-BR" b="1" dirty="0" smtClean="0"/>
              <a:t>15,3%</a:t>
            </a:r>
            <a:r>
              <a:rPr lang="pt-BR" dirty="0" smtClean="0"/>
              <a:t> de uma vez só.</a:t>
            </a:r>
            <a:endParaRPr lang="pt-BR" b="0" dirty="0" smtClean="0"/>
          </a:p>
          <a:p>
            <a:r>
              <a:rPr lang="pt-BR" b="0" dirty="0" smtClean="0"/>
              <a:t>Sem esse marco de 2012, não teríamos reconhecimento facial no celular, carros autônomos ou o próprio </a:t>
            </a:r>
            <a:r>
              <a:rPr lang="pt-BR" b="0" dirty="0" err="1" smtClean="0"/>
              <a:t>ChatGPT</a:t>
            </a:r>
            <a:r>
              <a:rPr lang="pt-BR" b="0" dirty="0" smtClean="0"/>
              <a:t>, pois todos bebem da fonte do </a:t>
            </a:r>
            <a:r>
              <a:rPr lang="pt-BR" b="0" dirty="0" err="1" smtClean="0"/>
              <a:t>Deep</a:t>
            </a:r>
            <a:r>
              <a:rPr lang="pt-BR" b="0" dirty="0" smtClean="0"/>
              <a:t> Learning que a </a:t>
            </a:r>
            <a:r>
              <a:rPr lang="pt-BR" b="0" dirty="0" err="1" smtClean="0"/>
              <a:t>AlexNet</a:t>
            </a:r>
            <a:r>
              <a:rPr lang="pt-BR" b="0" dirty="0" smtClean="0"/>
              <a:t> validou.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868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08/01/2026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jpeg"/><Relationship Id="rId4" Type="http://schemas.openxmlformats.org/officeDocument/2006/relationships/image" Target="../media/image10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1.globo.com/tecnologia/noticia/2014/06/computador-convence-juizes-que-e-garoto-de-13-anos-em-teste-de-turing.html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tecnoblog.net/noticias/gpt-4-5-da-openai-passa-no-teste-de-turing-e-engana-humanos-mostra-estudo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65625" cy="4351338"/>
          </a:xfrm>
        </p:spPr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</a:p>
          <a:p>
            <a:r>
              <a:rPr lang="pt-BR" b="1" dirty="0" smtClean="0"/>
              <a:t>Material </a:t>
            </a:r>
            <a:r>
              <a:rPr lang="pt-BR" b="1" dirty="0"/>
              <a:t>do curso</a:t>
            </a:r>
            <a:r>
              <a:rPr lang="pt-BR" dirty="0"/>
              <a:t>: </a:t>
            </a:r>
            <a:r>
              <a:rPr lang="pt-BR" dirty="0">
                <a:hlinkClick r:id="rId2"/>
              </a:rPr>
              <a:t>https://</a:t>
            </a:r>
            <a:r>
              <a:rPr lang="pt-BR" dirty="0" smtClean="0">
                <a:hlinkClick r:id="rId2"/>
              </a:rPr>
              <a:t>github.com/zz4fap/c24_inteligencia_artificial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xmlns="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→ sugestão: </a:t>
                </a:r>
                <a:r>
                  <a:rPr lang="pt-BR" dirty="0" smtClean="0"/>
                  <a:t>15/06/2026​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→ sugestão: </a:t>
                </a:r>
                <a:r>
                  <a:rPr lang="pt-BR" dirty="0" smtClean="0"/>
                  <a:t>22/06/2026​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103822" cy="5032375"/>
              </a:xfrm>
              <a:blipFill rotWithShape="0">
                <a:blip r:embed="rId2"/>
                <a:stretch>
                  <a:fillRect l="-1072" t="-2421" r="-80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O que é essa tal de IA?</a:t>
            </a:r>
          </a:p>
        </p:txBody>
      </p:sp>
    </p:spTree>
    <p:extLst>
      <p:ext uri="{BB962C8B-B14F-4D97-AF65-F5344CB8AC3E}">
        <p14:creationId xmlns:p14="http://schemas.microsoft.com/office/powerpoint/2010/main" val="12838042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Expectativa vs. </a:t>
            </a:r>
            <a:r>
              <a:rPr lang="pt-BR" dirty="0" smtClean="0"/>
              <a:t>realidade</a:t>
            </a:r>
            <a:endParaRPr lang="pt-BR" dirty="0"/>
          </a:p>
        </p:txBody>
      </p:sp>
      <p:pic>
        <p:nvPicPr>
          <p:cNvPr id="1026" name="Picture 2" descr="a man stands next to a robot in front of an idol sign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2456" y="4177580"/>
            <a:ext cx="2377441" cy="2478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robot is standing on a set of stairs in front of a television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59" y="1690688"/>
            <a:ext cx="2486891" cy="24868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3927" y="1825624"/>
            <a:ext cx="5486399" cy="5032375"/>
          </a:xfrm>
        </p:spPr>
        <p:txBody>
          <a:bodyPr>
            <a:normAutofit/>
          </a:bodyPr>
          <a:lstStyle/>
          <a:p>
            <a:r>
              <a:rPr lang="pt-BR" altLang="pt-BR" dirty="0"/>
              <a:t>O que </a:t>
            </a:r>
            <a:r>
              <a:rPr lang="pt-BR" altLang="pt-BR" dirty="0" smtClean="0"/>
              <a:t>a ficção prometeu </a:t>
            </a:r>
            <a:r>
              <a:rPr lang="pt-BR" altLang="pt-BR" dirty="0"/>
              <a:t>vs. o</a:t>
            </a:r>
            <a:r>
              <a:rPr lang="pt-BR" altLang="pt-BR" dirty="0" smtClean="0"/>
              <a:t> que </a:t>
            </a:r>
            <a:r>
              <a:rPr lang="pt-BR" altLang="pt-BR" dirty="0"/>
              <a:t>temos hoje</a:t>
            </a:r>
            <a:r>
              <a:rPr lang="pt-BR" altLang="pt-BR" dirty="0" smtClean="0"/>
              <a:t>.</a:t>
            </a:r>
          </a:p>
          <a:p>
            <a:r>
              <a:rPr lang="pt-BR" dirty="0" smtClean="0"/>
              <a:t>Processar </a:t>
            </a:r>
            <a:r>
              <a:rPr lang="pt-BR" dirty="0"/>
              <a:t>dados (o "cérebro" da IA) evoluiu muito mais rápido do que a interação física com o mundo (o "corpo" da IA / Robótica</a:t>
            </a:r>
            <a:r>
              <a:rPr lang="pt-BR" dirty="0" smtClean="0"/>
              <a:t>).</a:t>
            </a:r>
          </a:p>
          <a:p>
            <a:r>
              <a:rPr lang="pt-BR" dirty="0"/>
              <a:t>O que é difícil para </a:t>
            </a:r>
            <a:r>
              <a:rPr lang="pt-BR" dirty="0" smtClean="0"/>
              <a:t>humanos (e.g., cálculos complexos) </a:t>
            </a:r>
            <a:r>
              <a:rPr lang="pt-BR" dirty="0"/>
              <a:t>é fácil para a </a:t>
            </a:r>
            <a:r>
              <a:rPr lang="pt-BR" dirty="0" smtClean="0"/>
              <a:t>IA e vice versa (e.g., andar e reconhecer rostos).</a:t>
            </a:r>
          </a:p>
          <a:p>
            <a:endParaRPr lang="pt-BR" altLang="pt-BR" dirty="0"/>
          </a:p>
          <a:p>
            <a:endParaRPr lang="pt-BR" dirty="0"/>
          </a:p>
        </p:txBody>
      </p:sp>
      <p:sp>
        <p:nvSpPr>
          <p:cNvPr id="3" name="Retângulo 2"/>
          <p:cNvSpPr/>
          <p:nvPr/>
        </p:nvSpPr>
        <p:spPr>
          <a:xfrm>
            <a:off x="3042456" y="2472469"/>
            <a:ext cx="280416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revolução das máquinas parou na dificuldade de subir degraus</a:t>
            </a:r>
            <a:r>
              <a:rPr lang="pt-BR" dirty="0" smtClean="0"/>
              <a:t>.....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vocês acham que é IA?</a:t>
            </a:r>
            <a:endParaRPr lang="pt-BR" dirty="0"/>
          </a:p>
        </p:txBody>
      </p:sp>
      <p:pic>
        <p:nvPicPr>
          <p:cNvPr id="3074" name="Picture 2" descr="O Exterminador do Futuro': James Cameron revela o que considera “digno de  vergonha”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035" y="1869380"/>
            <a:ext cx="3763153" cy="21167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WALL-E – Wikipédia, a enciclopédia livr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483" y="1869380"/>
            <a:ext cx="2122207" cy="3149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tatrend #4: “JARVIS” is Coming... a Software Interface to Improve Our  Live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053" y="1869380"/>
            <a:ext cx="4454987" cy="2054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6208" y="4102245"/>
            <a:ext cx="3250161" cy="2437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Robôs e IA: Conheça 8 filmes marcantes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209" y="4454279"/>
            <a:ext cx="3162756" cy="2085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tângulo 4"/>
          <p:cNvSpPr/>
          <p:nvPr/>
        </p:nvSpPr>
        <p:spPr>
          <a:xfrm>
            <a:off x="4407188" y="5795228"/>
            <a:ext cx="4144588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/>
              <a:t>IA não é só robô assassino ou mordomo digital. É matemática aplicada com muito marketing.</a:t>
            </a:r>
          </a:p>
        </p:txBody>
      </p:sp>
    </p:spTree>
    <p:extLst>
      <p:ext uri="{BB962C8B-B14F-4D97-AF65-F5344CB8AC3E}">
        <p14:creationId xmlns:p14="http://schemas.microsoft.com/office/powerpoint/2010/main" val="27143487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IA?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9863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altLang="pt-BR" b="1" dirty="0" smtClean="0"/>
              <a:t>Algumas definições</a:t>
            </a:r>
            <a:r>
              <a:rPr lang="pt-BR" altLang="pt-BR" dirty="0" smtClean="0"/>
              <a:t>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John McCarthy (1955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A ciência e engenharia de criar máquinas inteligentes, especialmente programas de computador inteligentes</a:t>
            </a:r>
            <a:r>
              <a:rPr lang="pt-BR" altLang="pt-BR" i="1" dirty="0" smtClean="0"/>
              <a:t>.“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 smtClean="0"/>
              <a:t>Marvin </a:t>
            </a:r>
            <a:r>
              <a:rPr lang="pt-BR" altLang="pt-BR" b="1" dirty="0" err="1"/>
              <a:t>Minsky</a:t>
            </a:r>
            <a:r>
              <a:rPr lang="pt-BR" altLang="pt-BR" b="1" dirty="0"/>
              <a:t> (1968</a:t>
            </a:r>
            <a:r>
              <a:rPr lang="pt-BR" altLang="pt-BR" b="1" dirty="0" smtClean="0"/>
              <a:t>)</a:t>
            </a:r>
            <a:endParaRPr lang="pt-BR" altLang="pt-BR" dirty="0" smtClean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 smtClean="0"/>
              <a:t>"</a:t>
            </a:r>
            <a:r>
              <a:rPr lang="pt-BR" altLang="pt-BR" i="1" dirty="0"/>
              <a:t>IA é a ciência de fazer as máquinas fazerem coisas que exigiriam inteligência se fossem feitas por </a:t>
            </a:r>
            <a:r>
              <a:rPr lang="pt-BR" altLang="pt-BR" i="1" dirty="0" smtClean="0"/>
              <a:t>humanos.“</a:t>
            </a:r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IA?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5"/>
            <a:ext cx="10849494" cy="4351338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b="1" dirty="0"/>
              <a:t>Stuart Russell &amp; Peter </a:t>
            </a:r>
            <a:r>
              <a:rPr lang="pt-BR" altLang="pt-BR" b="1" dirty="0" err="1"/>
              <a:t>Norvig</a:t>
            </a:r>
            <a:r>
              <a:rPr lang="pt-BR" altLang="pt-BR" b="1" dirty="0"/>
              <a:t> (2003)</a:t>
            </a:r>
            <a:endParaRPr lang="pt-BR" altLang="pt-BR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i="1" dirty="0"/>
              <a:t>"O estudo de agentes que recebem percepções do ambiente e executam ações</a:t>
            </a:r>
            <a:r>
              <a:rPr lang="pt-BR" altLang="pt-BR" i="1" dirty="0" smtClean="0"/>
              <a:t>."</a:t>
            </a:r>
            <a:endParaRPr lang="pt-BR" altLang="pt-BR" i="1" dirty="0"/>
          </a:p>
        </p:txBody>
      </p:sp>
      <p:grpSp>
        <p:nvGrpSpPr>
          <p:cNvPr id="20" name="Grupo 19"/>
          <p:cNvGrpSpPr/>
          <p:nvPr/>
        </p:nvGrpSpPr>
        <p:grpSpPr>
          <a:xfrm>
            <a:off x="4123113" y="2776451"/>
            <a:ext cx="3981987" cy="2176953"/>
            <a:chOff x="838200" y="2500541"/>
            <a:chExt cx="5690291" cy="3001503"/>
          </a:xfrm>
        </p:grpSpPr>
        <p:sp>
          <p:nvSpPr>
            <p:cNvPr id="4" name="Retângulo de cantos arredondados 3"/>
            <p:cNvSpPr/>
            <p:nvPr/>
          </p:nvSpPr>
          <p:spPr>
            <a:xfrm>
              <a:off x="838200" y="2500543"/>
              <a:ext cx="2959331" cy="3001501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Retângulo 4"/>
            <p:cNvSpPr/>
            <p:nvPr/>
          </p:nvSpPr>
          <p:spPr>
            <a:xfrm>
              <a:off x="1735974" y="3436027"/>
              <a:ext cx="1163782" cy="1130531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4400" b="1" dirty="0" smtClean="0">
                  <a:solidFill>
                    <a:schemeClr val="tx1"/>
                  </a:solidFill>
                </a:rPr>
                <a:t>?</a:t>
              </a:r>
              <a:endParaRPr lang="pt-BR" b="1" dirty="0">
                <a:solidFill>
                  <a:schemeClr val="tx1"/>
                </a:solidFill>
              </a:endParaRPr>
            </a:p>
          </p:txBody>
        </p:sp>
        <p:sp>
          <p:nvSpPr>
            <p:cNvPr id="7" name="Retângulo de cantos arredondados 6"/>
            <p:cNvSpPr/>
            <p:nvPr/>
          </p:nvSpPr>
          <p:spPr>
            <a:xfrm rot="5400000">
              <a:off x="4491694" y="3465245"/>
              <a:ext cx="3001502" cy="107209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3200" dirty="0" smtClean="0"/>
                <a:t>Ambiente</a:t>
              </a:r>
              <a:endParaRPr lang="pt-BR" sz="3200" dirty="0"/>
            </a:p>
          </p:txBody>
        </p:sp>
        <p:cxnSp>
          <p:nvCxnSpPr>
            <p:cNvPr id="8" name="Conector de seta reta 7"/>
            <p:cNvCxnSpPr/>
            <p:nvPr/>
          </p:nvCxnSpPr>
          <p:spPr>
            <a:xfrm flipH="1">
              <a:off x="3267784" y="2820886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2"/>
            <p:cNvCxnSpPr/>
            <p:nvPr/>
          </p:nvCxnSpPr>
          <p:spPr>
            <a:xfrm>
              <a:off x="3267784" y="5320058"/>
              <a:ext cx="2448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/>
            <p:nvPr/>
          </p:nvCxnSpPr>
          <p:spPr>
            <a:xfrm rot="16200000" flipH="1">
              <a:off x="2101866" y="322002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ector de seta reta 14"/>
            <p:cNvCxnSpPr/>
            <p:nvPr/>
          </p:nvCxnSpPr>
          <p:spPr>
            <a:xfrm rot="16200000" flipH="1">
              <a:off x="2101864" y="4782557"/>
              <a:ext cx="432000" cy="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CaixaDeTexto 11"/>
            <p:cNvSpPr txBox="1"/>
            <p:nvPr/>
          </p:nvSpPr>
          <p:spPr>
            <a:xfrm>
              <a:off x="3788777" y="2850694"/>
              <a:ext cx="1248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Percepções</a:t>
              </a:r>
              <a:endParaRPr lang="pt-BR" dirty="0"/>
            </a:p>
          </p:txBody>
        </p:sp>
        <p:sp>
          <p:nvSpPr>
            <p:cNvPr id="17" name="CaixaDeTexto 16"/>
            <p:cNvSpPr txBox="1"/>
            <p:nvPr/>
          </p:nvSpPr>
          <p:spPr>
            <a:xfrm>
              <a:off x="4114125" y="4857053"/>
              <a:ext cx="7405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Ações</a:t>
              </a:r>
              <a:endParaRPr lang="pt-BR" dirty="0"/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1735778" y="2534485"/>
              <a:ext cx="10216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Sensores</a:t>
              </a:r>
            </a:p>
          </p:txBody>
        </p:sp>
        <p:sp>
          <p:nvSpPr>
            <p:cNvPr id="19" name="CaixaDeTexto 18"/>
            <p:cNvSpPr txBox="1"/>
            <p:nvPr/>
          </p:nvSpPr>
          <p:spPr>
            <a:xfrm>
              <a:off x="1670719" y="5065635"/>
              <a:ext cx="11472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 smtClean="0"/>
                <a:t>Atuadores</a:t>
              </a:r>
            </a:p>
          </p:txBody>
        </p:sp>
        <p:sp>
          <p:nvSpPr>
            <p:cNvPr id="16" name="Retângulo 15"/>
            <p:cNvSpPr/>
            <p:nvPr/>
          </p:nvSpPr>
          <p:spPr>
            <a:xfrm rot="16200000">
              <a:off x="542479" y="3723283"/>
              <a:ext cx="1365695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sz="3200" dirty="0" smtClean="0">
                  <a:solidFill>
                    <a:schemeClr val="bg1"/>
                  </a:solidFill>
                </a:rPr>
                <a:t>Agente</a:t>
              </a:r>
              <a:endParaRPr lang="pt-BR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030" name="Picture 6" descr="Artificial intelligence (AI) | Definition, Examples, Types, Applications,  Companies, &amp; Facts | Britannic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2594" y="5081845"/>
            <a:ext cx="1635527" cy="16355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0" descr="Rose, A Empregada Robô | Guia dos Quadrinho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3547" y="5242888"/>
            <a:ext cx="1880278" cy="1410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7892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748145"/>
            <a:ext cx="10515600" cy="5428818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Breve história </a:t>
            </a:r>
            <a:r>
              <a:rPr lang="pt-BR" sz="6600" dirty="0"/>
              <a:t>e e</a:t>
            </a:r>
            <a:r>
              <a:rPr lang="pt-BR" sz="6600" dirty="0" smtClean="0"/>
              <a:t>volução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10014705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O </a:t>
            </a:r>
            <a:r>
              <a:rPr lang="pt-BR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18909" y="1825624"/>
            <a:ext cx="6184670" cy="5032375"/>
          </a:xfrm>
        </p:spPr>
        <p:txBody>
          <a:bodyPr>
            <a:normAutofit/>
          </a:bodyPr>
          <a:lstStyle/>
          <a:p>
            <a:r>
              <a:rPr lang="pt-BR" dirty="0"/>
              <a:t>Alan Turing </a:t>
            </a:r>
            <a:r>
              <a:rPr lang="pt-BR" dirty="0" smtClean="0"/>
              <a:t>inicia seu artigo </a:t>
            </a:r>
            <a:r>
              <a:rPr lang="pt-BR" i="1" dirty="0" smtClean="0"/>
              <a:t>"</a:t>
            </a:r>
            <a:r>
              <a:rPr lang="pt-BR" i="1" dirty="0" err="1" smtClean="0"/>
              <a:t>Computing</a:t>
            </a:r>
            <a:r>
              <a:rPr lang="pt-BR" i="1" dirty="0" smtClean="0"/>
              <a:t> </a:t>
            </a:r>
            <a:r>
              <a:rPr lang="pt-BR" i="1" dirty="0" err="1"/>
              <a:t>Machinery</a:t>
            </a:r>
            <a:r>
              <a:rPr lang="pt-BR" i="1" dirty="0"/>
              <a:t> </a:t>
            </a:r>
            <a:r>
              <a:rPr lang="pt-BR" i="1" dirty="0" err="1"/>
              <a:t>and</a:t>
            </a:r>
            <a:r>
              <a:rPr lang="pt-BR" i="1" dirty="0"/>
              <a:t> </a:t>
            </a:r>
            <a:r>
              <a:rPr lang="pt-BR" i="1" dirty="0" err="1" smtClean="0"/>
              <a:t>Intelligence</a:t>
            </a:r>
            <a:r>
              <a:rPr lang="pt-BR" i="1" dirty="0" smtClean="0"/>
              <a:t>“</a:t>
            </a:r>
            <a:r>
              <a:rPr lang="pt-BR" dirty="0"/>
              <a:t> </a:t>
            </a:r>
            <a:r>
              <a:rPr lang="pt-BR" dirty="0" smtClean="0"/>
              <a:t>com a pergunta: </a:t>
            </a:r>
            <a:r>
              <a:rPr lang="pt-BR" b="1" dirty="0" smtClean="0">
                <a:solidFill>
                  <a:srgbClr val="00B0F0"/>
                </a:solidFill>
              </a:rPr>
              <a:t>máquinas podem pensar?</a:t>
            </a:r>
            <a:endParaRPr lang="pt-BR" dirty="0" smtClean="0"/>
          </a:p>
          <a:p>
            <a:r>
              <a:rPr lang="pt-BR" dirty="0" smtClean="0"/>
              <a:t>Porém, como as </a:t>
            </a:r>
            <a:r>
              <a:rPr lang="pt-BR" dirty="0"/>
              <a:t>definições de "máquina" e "pensar" são </a:t>
            </a:r>
            <a:r>
              <a:rPr lang="pt-BR" dirty="0" smtClean="0"/>
              <a:t>muito subjetivas</a:t>
            </a:r>
            <a:r>
              <a:rPr lang="pt-BR" dirty="0"/>
              <a:t>, para uma discussão científica </a:t>
            </a:r>
            <a:r>
              <a:rPr lang="pt-BR" dirty="0" smtClean="0"/>
              <a:t>rigorosa, ele muda a pergunta:</a:t>
            </a:r>
            <a:r>
              <a:rPr lang="pt-BR" b="1" dirty="0">
                <a:solidFill>
                  <a:srgbClr val="00B0F0"/>
                </a:solidFill>
              </a:rPr>
              <a:t> as máquinas podem nos enganar</a:t>
            </a:r>
            <a:r>
              <a:rPr lang="pt-BR" b="1" dirty="0" smtClean="0">
                <a:solidFill>
                  <a:srgbClr val="00B0F0"/>
                </a:solidFill>
              </a:rPr>
              <a:t>?</a:t>
            </a:r>
          </a:p>
          <a:p>
            <a:r>
              <a:rPr lang="pt-BR" dirty="0" smtClean="0"/>
              <a:t>Para testar, ele propôs o “</a:t>
            </a:r>
            <a:r>
              <a:rPr lang="pt-BR" b="1" dirty="0" smtClean="0"/>
              <a:t>jogo da imitação</a:t>
            </a:r>
            <a:r>
              <a:rPr lang="pt-BR" dirty="0" smtClean="0"/>
              <a:t>”, também conhecido como “</a:t>
            </a:r>
            <a:r>
              <a:rPr lang="pt-BR" b="1" dirty="0" smtClean="0"/>
              <a:t>teste de Turing</a:t>
            </a:r>
            <a:r>
              <a:rPr lang="pt-BR" dirty="0" smtClean="0"/>
              <a:t>”.</a:t>
            </a:r>
            <a:endParaRPr lang="pt-BR" dirty="0"/>
          </a:p>
        </p:txBody>
      </p:sp>
      <p:pic>
        <p:nvPicPr>
          <p:cNvPr id="2050" name="Picture 2" descr="Alan Turing Test and the Imitation Ga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3383"/>
            <a:ext cx="4705005" cy="3241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1070956" y="5774774"/>
            <a:ext cx="4239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 smtClean="0"/>
              <a:t>Se não conseguimos </a:t>
            </a:r>
            <a:r>
              <a:rPr lang="pt-BR" dirty="0"/>
              <a:t>distinguir a máquina de um humano, </a:t>
            </a:r>
            <a:r>
              <a:rPr lang="pt-BR" dirty="0" smtClean="0"/>
              <a:t>então ela </a:t>
            </a:r>
            <a:r>
              <a:rPr lang="pt-BR" dirty="0"/>
              <a:t>é inteligente.</a:t>
            </a:r>
          </a:p>
        </p:txBody>
      </p:sp>
    </p:spTree>
    <p:extLst>
      <p:ext uri="{BB962C8B-B14F-4D97-AF65-F5344CB8AC3E}">
        <p14:creationId xmlns:p14="http://schemas.microsoft.com/office/powerpoint/2010/main" val="2210138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</a:t>
            </a:r>
            <a:r>
              <a:rPr lang="pt-BR" dirty="0" smtClean="0"/>
              <a:t>teste </a:t>
            </a:r>
            <a:r>
              <a:rPr lang="pt-BR" dirty="0"/>
              <a:t>de Turing (1950)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165379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 smtClean="0"/>
              <a:t>Para passar no teste, a máquina deve ter as seguintes capacidades:</a:t>
            </a:r>
            <a:endParaRPr lang="pt-BR" dirty="0"/>
          </a:p>
          <a:p>
            <a:pPr fontAlgn="base"/>
            <a:r>
              <a:rPr lang="pt-BR" b="1" dirty="0"/>
              <a:t>Processamento de linguagem natural: </a:t>
            </a:r>
            <a:r>
              <a:rPr lang="pt-BR" dirty="0"/>
              <a:t>comunicar-se em um idioma </a:t>
            </a:r>
            <a:r>
              <a:rPr lang="pt-BR" dirty="0" smtClean="0"/>
              <a:t>natural </a:t>
            </a:r>
          </a:p>
          <a:p>
            <a:pPr lvl="1" fontAlgn="base"/>
            <a:r>
              <a:rPr lang="pt-BR" dirty="0" smtClean="0"/>
              <a:t>OBS.: O teste de Turing original considera apenas linguagem escrita, mas versões atuais incorporam a linguagem falada.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Representação de conhecimento: </a:t>
            </a:r>
            <a:r>
              <a:rPr lang="pt-BR" dirty="0"/>
              <a:t>armazenar o que </a:t>
            </a:r>
            <a:r>
              <a:rPr lang="pt-BR" dirty="0" smtClean="0"/>
              <a:t>sabe, lê </a:t>
            </a:r>
            <a:r>
              <a:rPr lang="pt-BR" dirty="0"/>
              <a:t>ou ouve.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Raciocínio automatizado: </a:t>
            </a:r>
            <a:r>
              <a:rPr lang="pt-BR" dirty="0"/>
              <a:t>usar o conhecimento armazenado para chegar a novas conclusões.</a:t>
            </a:r>
            <a:r>
              <a:rPr lang="en-US" dirty="0" smtClean="0"/>
              <a:t>​</a:t>
            </a:r>
            <a:endParaRPr lang="pt-BR" dirty="0"/>
          </a:p>
          <a:p>
            <a:pPr fontAlgn="base"/>
            <a:r>
              <a:rPr lang="pt-BR" b="1" dirty="0"/>
              <a:t>Aprendizado de máquina: </a:t>
            </a:r>
            <a:r>
              <a:rPr lang="pt-BR" dirty="0"/>
              <a:t>adaptar-se a novas situações e reconhecer padrões</a:t>
            </a:r>
            <a:r>
              <a:rPr lang="pt-BR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715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</a:t>
            </a:r>
            <a:r>
              <a:rPr lang="pt-BR" dirty="0" smtClean="0"/>
              <a:t>Turing: Eugene </a:t>
            </a:r>
            <a:r>
              <a:rPr lang="pt-BR" dirty="0" err="1" smtClean="0"/>
              <a:t>Goostman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 smtClean="0"/>
              <a:t>Em 2014, durante um evento no reino unido, um </a:t>
            </a:r>
            <a:r>
              <a:rPr lang="pt-BR" i="1" dirty="0" err="1"/>
              <a:t>chatbot</a:t>
            </a:r>
            <a:r>
              <a:rPr lang="pt-BR" dirty="0"/>
              <a:t> chamado Eugene </a:t>
            </a:r>
            <a:r>
              <a:rPr lang="pt-BR" dirty="0" err="1"/>
              <a:t>Goostman</a:t>
            </a:r>
            <a:r>
              <a:rPr lang="pt-BR" dirty="0"/>
              <a:t>, c</a:t>
            </a:r>
            <a:r>
              <a:rPr lang="pt-BR" b="1" dirty="0" smtClean="0"/>
              <a:t>onvenceu 10 de 30 </a:t>
            </a:r>
            <a:r>
              <a:rPr lang="pt-BR" b="1" dirty="0"/>
              <a:t>juízes de que </a:t>
            </a:r>
            <a:r>
              <a:rPr lang="pt-BR" b="1" dirty="0" smtClean="0"/>
              <a:t>era um menino ucraniano de </a:t>
            </a:r>
            <a:r>
              <a:rPr lang="pt-BR" b="1" dirty="0"/>
              <a:t>13 anos</a:t>
            </a:r>
            <a:r>
              <a:rPr lang="en-US" dirty="0" smtClean="0"/>
              <a:t>​.</a:t>
            </a:r>
            <a:endParaRPr lang="pt-BR" dirty="0" smtClean="0"/>
          </a:p>
          <a:p>
            <a:r>
              <a:rPr lang="pt-BR" dirty="0"/>
              <a:t>O evento exigia </a:t>
            </a:r>
            <a:r>
              <a:rPr lang="pt-BR" dirty="0" smtClean="0"/>
              <a:t>que apenas </a:t>
            </a:r>
            <a:r>
              <a:rPr lang="pt-BR" dirty="0"/>
              <a:t>que 30% dos juízes ficassem convencidos de que </a:t>
            </a:r>
            <a:r>
              <a:rPr lang="pt-BR" dirty="0" smtClean="0"/>
              <a:t>um participante fosse </a:t>
            </a:r>
            <a:r>
              <a:rPr lang="pt-BR" dirty="0"/>
              <a:t>um </a:t>
            </a:r>
            <a:r>
              <a:rPr lang="pt-BR" dirty="0" smtClean="0"/>
              <a:t>humano.</a:t>
            </a:r>
          </a:p>
          <a:p>
            <a:r>
              <a:rPr lang="pt-BR" dirty="0"/>
              <a:t>O </a:t>
            </a:r>
            <a:r>
              <a:rPr lang="pt-BR" i="1" dirty="0" err="1" smtClean="0"/>
              <a:t>bot</a:t>
            </a:r>
            <a:r>
              <a:rPr lang="pt-BR" dirty="0" smtClean="0"/>
              <a:t> fingiu </a:t>
            </a:r>
            <a:r>
              <a:rPr lang="pt-BR" dirty="0"/>
              <a:t>ser uma criança </a:t>
            </a:r>
            <a:r>
              <a:rPr lang="pt-BR" dirty="0" smtClean="0"/>
              <a:t>estrangeira para </a:t>
            </a:r>
            <a:r>
              <a:rPr lang="pt-BR" dirty="0"/>
              <a:t>que seus erros fossem perdoados pelos juízes.</a:t>
            </a:r>
            <a:endParaRPr lang="en-US" dirty="0"/>
          </a:p>
        </p:txBody>
      </p:sp>
      <p:pic>
        <p:nvPicPr>
          <p:cNvPr id="3074" name="Picture 2" descr="Computer chatbot 'Eugene Goostman' passes the Turing test | ZDN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798" y="2499020"/>
            <a:ext cx="5244501" cy="2954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 smtClean="0"/>
              <a:t>Fonte: </a:t>
            </a:r>
            <a:r>
              <a:rPr lang="pt-BR" sz="1400" dirty="0" smtClean="0">
                <a:hlinkClick r:id="rId3"/>
              </a:rPr>
              <a:t>https</a:t>
            </a:r>
            <a:r>
              <a:rPr lang="pt-BR" sz="1400" dirty="0">
                <a:hlinkClick r:id="rId3"/>
              </a:rPr>
              <a:t>://g1.globo.com/tecnologia/noticia/2014/06/computador-convence-juizes-que-e-garoto-de-13-anos-em-teste-de-turing.html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21215599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teste de </a:t>
            </a:r>
            <a:r>
              <a:rPr lang="pt-BR" dirty="0" smtClean="0"/>
              <a:t>Turing: GPT-4.5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802284" y="1825624"/>
            <a:ext cx="6217920" cy="4997669"/>
          </a:xfrm>
        </p:spPr>
        <p:txBody>
          <a:bodyPr>
            <a:normAutofit/>
          </a:bodyPr>
          <a:lstStyle/>
          <a:p>
            <a:r>
              <a:rPr lang="pt-BR" dirty="0"/>
              <a:t>Com o avanço das </a:t>
            </a:r>
            <a:r>
              <a:rPr lang="pt-BR" dirty="0" err="1" smtClean="0"/>
              <a:t>LLMs</a:t>
            </a:r>
            <a:r>
              <a:rPr lang="pt-BR" dirty="0" smtClean="0"/>
              <a:t>, o </a:t>
            </a:r>
            <a:r>
              <a:rPr lang="pt-BR" dirty="0"/>
              <a:t>teste de Turing "clássico" ficou fácil demais. </a:t>
            </a:r>
            <a:endParaRPr lang="pt-BR" dirty="0" smtClean="0"/>
          </a:p>
          <a:p>
            <a:r>
              <a:rPr lang="pt-BR" dirty="0" smtClean="0"/>
              <a:t>Em </a:t>
            </a:r>
            <a:r>
              <a:rPr lang="pt-BR" dirty="0"/>
              <a:t>um estudo da Universidade da Califórnia </a:t>
            </a:r>
            <a:r>
              <a:rPr lang="pt-BR" dirty="0" smtClean="0"/>
              <a:t>em </a:t>
            </a:r>
            <a:r>
              <a:rPr lang="pt-BR" dirty="0"/>
              <a:t>2025, o </a:t>
            </a:r>
            <a:r>
              <a:rPr lang="pt-BR" b="1" dirty="0"/>
              <a:t>GPT-4.5</a:t>
            </a:r>
            <a:r>
              <a:rPr lang="pt-BR" dirty="0"/>
              <a:t> enganou humanos em </a:t>
            </a:r>
            <a:r>
              <a:rPr lang="pt-BR" b="1" dirty="0"/>
              <a:t>73% das vezes</a:t>
            </a:r>
            <a:r>
              <a:rPr lang="pt-BR" dirty="0"/>
              <a:t>.</a:t>
            </a:r>
          </a:p>
          <a:p>
            <a:r>
              <a:rPr lang="pt-BR" dirty="0" smtClean="0"/>
              <a:t>Nesse </a:t>
            </a:r>
            <a:r>
              <a:rPr lang="pt-BR" dirty="0"/>
              <a:t>mesmo teste, seres </a:t>
            </a:r>
            <a:r>
              <a:rPr lang="pt-BR" dirty="0" smtClean="0"/>
              <a:t>humanos conseguiram </a:t>
            </a:r>
            <a:r>
              <a:rPr lang="pt-BR" dirty="0"/>
              <a:t>convencer os juízes de que eram humanos em apenas cerca de 66% das vezes. </a:t>
            </a:r>
            <a:endParaRPr lang="pt-BR" dirty="0" smtClean="0"/>
          </a:p>
          <a:p>
            <a:r>
              <a:rPr lang="pt-BR" dirty="0" smtClean="0"/>
              <a:t>Ou </a:t>
            </a:r>
            <a:r>
              <a:rPr lang="pt-BR" dirty="0"/>
              <a:t>seja, a IA foi considerada </a:t>
            </a:r>
            <a:r>
              <a:rPr lang="pt-BR" b="1" dirty="0"/>
              <a:t>mais humana que os próprios humanos</a:t>
            </a:r>
            <a:r>
              <a:rPr lang="pt-BR" dirty="0"/>
              <a:t>!</a:t>
            </a:r>
          </a:p>
        </p:txBody>
      </p:sp>
      <p:sp>
        <p:nvSpPr>
          <p:cNvPr id="4" name="Retângulo 3"/>
          <p:cNvSpPr/>
          <p:nvPr/>
        </p:nvSpPr>
        <p:spPr>
          <a:xfrm>
            <a:off x="0" y="6550223"/>
            <a:ext cx="110822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400" dirty="0"/>
              <a:t>Fonte: </a:t>
            </a:r>
            <a:r>
              <a:rPr lang="pt-BR" sz="1400" dirty="0">
                <a:hlinkClick r:id="rId3"/>
              </a:rPr>
              <a:t>https://tecnoblog.net/noticias/gpt-4-5-da-openai-passa-no-teste-de-turing-e-engana-humanos-mostra-estudo/</a:t>
            </a:r>
            <a:endParaRPr lang="pt-BR" sz="1400" dirty="0"/>
          </a:p>
        </p:txBody>
      </p:sp>
      <p:pic>
        <p:nvPicPr>
          <p:cNvPr id="1036" name="Picture 12" descr="5 Ways to Detect Texts Written by ChatGPT and Other AI Chatbots -  En.tempo.co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884" y="2576945"/>
            <a:ext cx="5197659" cy="2923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5231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nascimento </a:t>
            </a:r>
            <a:r>
              <a:rPr lang="pt-BR" dirty="0"/>
              <a:t>da IA (</a:t>
            </a:r>
            <a:r>
              <a:rPr lang="pt-BR" dirty="0" smtClean="0"/>
              <a:t>1956)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15502" cy="4351338"/>
          </a:xfrm>
        </p:spPr>
        <p:txBody>
          <a:bodyPr>
            <a:normAutofit/>
          </a:bodyPr>
          <a:lstStyle/>
          <a:p>
            <a:r>
              <a:rPr lang="pt-BR" dirty="0"/>
              <a:t>Em 1956, o cientista da computação, John McCarthy sugeriu o </a:t>
            </a:r>
            <a:r>
              <a:rPr lang="pt-BR" dirty="0" smtClean="0"/>
              <a:t>nome </a:t>
            </a:r>
            <a:r>
              <a:rPr lang="pt-BR" b="1" dirty="0" smtClean="0"/>
              <a:t>Inteligência </a:t>
            </a:r>
            <a:r>
              <a:rPr lang="pt-BR" b="1" dirty="0"/>
              <a:t>Artificial</a:t>
            </a:r>
            <a:r>
              <a:rPr lang="pt-BR" dirty="0"/>
              <a:t> </a:t>
            </a:r>
            <a:r>
              <a:rPr lang="pt-BR" dirty="0" smtClean="0"/>
              <a:t>para o novo campo de estudo apresentado em um </a:t>
            </a:r>
            <a:r>
              <a:rPr lang="pt-BR" i="1" dirty="0" smtClean="0"/>
              <a:t>workshop</a:t>
            </a:r>
            <a:r>
              <a:rPr lang="pt-BR" dirty="0" smtClean="0"/>
              <a:t> na faculdade de </a:t>
            </a:r>
            <a:r>
              <a:rPr lang="pt-BR" i="1" dirty="0" err="1" smtClean="0"/>
              <a:t>Dartmouth</a:t>
            </a:r>
            <a:r>
              <a:rPr lang="pt-BR" dirty="0"/>
              <a:t>. </a:t>
            </a:r>
            <a:endParaRPr lang="pt-BR" dirty="0" smtClean="0"/>
          </a:p>
          <a:p>
            <a:r>
              <a:rPr lang="pt-BR" dirty="0" smtClean="0"/>
              <a:t>Foi </a:t>
            </a:r>
            <a:r>
              <a:rPr lang="pt-BR" dirty="0"/>
              <a:t>a primeira vez que o termo foi utilizado e fixou-se desde então.​</a:t>
            </a:r>
          </a:p>
        </p:txBody>
      </p:sp>
      <p:pic>
        <p:nvPicPr>
          <p:cNvPr id="2052" name="Picture 4" descr="Morre John McCarthy, um dos mestres da Inteligência Artificial e criador do  Lisp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2293" y="3735698"/>
            <a:ext cx="200946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The Meeting of the Minds That Launched AI - IEEE Spectru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35851" y="3735698"/>
            <a:ext cx="5550535" cy="277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From Deep Learning to Deep Freeze: Is an AI Winter Coming?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617" y="1423877"/>
            <a:ext cx="7072019" cy="3979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81971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Os invernos da IA (anos 70-80)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65378" cy="5032375"/>
          </a:xfrm>
        </p:spPr>
        <p:txBody>
          <a:bodyPr>
            <a:normAutofit/>
          </a:bodyPr>
          <a:lstStyle/>
          <a:p>
            <a:r>
              <a:rPr lang="pt-BR" dirty="0"/>
              <a:t>Após o entusiasmo </a:t>
            </a:r>
            <a:r>
              <a:rPr lang="pt-BR" dirty="0" smtClean="0"/>
              <a:t>inicial, </a:t>
            </a:r>
            <a:r>
              <a:rPr lang="pt-BR" dirty="0"/>
              <a:t>percebeu-se que os sistemas criados eram incapazes de lidar com problemas reais e complexos.</a:t>
            </a:r>
            <a:endParaRPr lang="pt-BR" dirty="0" smtClean="0"/>
          </a:p>
          <a:p>
            <a:r>
              <a:rPr lang="pt-BR" dirty="0"/>
              <a:t>As expectativas estavam muito acima da capacidade computacional e teórica da época.</a:t>
            </a:r>
          </a:p>
          <a:p>
            <a:r>
              <a:rPr lang="pt-BR" dirty="0" smtClean="0"/>
              <a:t>Em 1973, o </a:t>
            </a:r>
            <a:r>
              <a:rPr lang="pt-BR" dirty="0"/>
              <a:t>relatório </a:t>
            </a:r>
            <a:r>
              <a:rPr lang="pt-BR" i="1" dirty="0" err="1"/>
              <a:t>Lighthill</a:t>
            </a:r>
            <a:r>
              <a:rPr lang="pt-BR" dirty="0"/>
              <a:t> </a:t>
            </a:r>
            <a:r>
              <a:rPr lang="pt-BR" dirty="0" smtClean="0"/>
              <a:t>concluiu </a:t>
            </a:r>
            <a:r>
              <a:rPr lang="pt-BR" dirty="0"/>
              <a:t>que a IA era "futilidade </a:t>
            </a:r>
            <a:r>
              <a:rPr lang="pt-BR" dirty="0" smtClean="0"/>
              <a:t>total“, resultando em cortes de financiamento nos EUA e Reino Unido.</a:t>
            </a:r>
          </a:p>
          <a:p>
            <a:r>
              <a:rPr lang="pt-BR" dirty="0"/>
              <a:t>A pesquisa em IA perdeu visibilidade e apoio, e muitos laboratórios foram desativados ou redirecionados</a:t>
            </a:r>
            <a:r>
              <a:rPr lang="pt-B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AlexNet</a:t>
            </a:r>
            <a:r>
              <a:rPr lang="en-US" dirty="0" smtClean="0"/>
              <a:t>: O </a:t>
            </a:r>
            <a:r>
              <a:rPr lang="en-US" i="1" dirty="0" smtClean="0"/>
              <a:t>big bang </a:t>
            </a:r>
            <a:r>
              <a:rPr lang="en-US" dirty="0"/>
              <a:t>do </a:t>
            </a:r>
            <a:r>
              <a:rPr lang="en-US" i="1" dirty="0" smtClean="0"/>
              <a:t>deep </a:t>
            </a:r>
            <a:r>
              <a:rPr lang="en-US" i="1" dirty="0"/>
              <a:t>l</a:t>
            </a:r>
            <a:r>
              <a:rPr lang="en-US" i="1" dirty="0" smtClean="0"/>
              <a:t>earning </a:t>
            </a:r>
            <a:r>
              <a:rPr lang="en-US" dirty="0" smtClean="0"/>
              <a:t>(2012)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5"/>
            <a:ext cx="11198629" cy="4351338"/>
          </a:xfrm>
        </p:spPr>
        <p:txBody>
          <a:bodyPr>
            <a:normAutofit/>
          </a:bodyPr>
          <a:lstStyle/>
          <a:p>
            <a:r>
              <a:rPr lang="pt-BR" dirty="0"/>
              <a:t>Em 2012, </a:t>
            </a:r>
            <a:r>
              <a:rPr lang="pt-BR" dirty="0" smtClean="0"/>
              <a:t>a rede neural profunda </a:t>
            </a:r>
            <a:r>
              <a:rPr lang="pt-BR" dirty="0" err="1" smtClean="0"/>
              <a:t>AlexNet</a:t>
            </a:r>
            <a:r>
              <a:rPr lang="pt-BR" dirty="0"/>
              <a:t> proposta </a:t>
            </a:r>
            <a:r>
              <a:rPr lang="pt-BR" dirty="0" smtClean="0"/>
              <a:t>pela equipe do Prof. Geoffrey </a:t>
            </a:r>
            <a:r>
              <a:rPr lang="pt-BR" dirty="0" err="1"/>
              <a:t>Hinton</a:t>
            </a:r>
            <a:r>
              <a:rPr lang="pt-BR" dirty="0"/>
              <a:t> (o "Pai do </a:t>
            </a:r>
            <a:r>
              <a:rPr lang="pt-BR" dirty="0" err="1"/>
              <a:t>Deep</a:t>
            </a:r>
            <a:r>
              <a:rPr lang="pt-BR" dirty="0"/>
              <a:t> Learning") venceu </a:t>
            </a:r>
            <a:r>
              <a:rPr lang="pt-BR" dirty="0" smtClean="0"/>
              <a:t>a competição </a:t>
            </a:r>
            <a:r>
              <a:rPr lang="pt-BR" i="1" dirty="0" err="1"/>
              <a:t>ImageNet</a:t>
            </a:r>
            <a:r>
              <a:rPr lang="pt-BR" dirty="0"/>
              <a:t> com uma margem </a:t>
            </a:r>
            <a:r>
              <a:rPr lang="pt-BR" dirty="0" smtClean="0"/>
              <a:t>significativa. </a:t>
            </a:r>
          </a:p>
          <a:p>
            <a:r>
              <a:rPr lang="pt-BR" dirty="0"/>
              <a:t>Inovações-chave: uso </a:t>
            </a:r>
            <a:r>
              <a:rPr lang="pt-BR" dirty="0" smtClean="0"/>
              <a:t>de </a:t>
            </a:r>
            <a:r>
              <a:rPr lang="pt-BR" b="1" dirty="0" err="1"/>
              <a:t>GPUs</a:t>
            </a:r>
            <a:r>
              <a:rPr lang="pt-BR" dirty="0"/>
              <a:t> para treino</a:t>
            </a:r>
            <a:r>
              <a:rPr lang="pt-BR" dirty="0" smtClean="0"/>
              <a:t>, rede neural </a:t>
            </a:r>
            <a:r>
              <a:rPr lang="pt-BR" dirty="0" err="1" smtClean="0"/>
              <a:t>convolucional</a:t>
            </a:r>
            <a:r>
              <a:rPr lang="pt-BR" dirty="0" smtClean="0"/>
              <a:t> profunda, </a:t>
            </a:r>
            <a:r>
              <a:rPr lang="pt-BR" b="1" dirty="0" err="1" smtClean="0"/>
              <a:t>ReLU</a:t>
            </a:r>
            <a:r>
              <a:rPr lang="pt-BR" dirty="0" smtClean="0"/>
              <a:t> </a:t>
            </a:r>
            <a:r>
              <a:rPr lang="pt-BR" dirty="0"/>
              <a:t>como função de ativação, </a:t>
            </a:r>
            <a:r>
              <a:rPr lang="pt-BR" b="1" i="1" dirty="0" err="1"/>
              <a:t>dropout</a:t>
            </a:r>
            <a:r>
              <a:rPr lang="pt-BR" dirty="0"/>
              <a:t> para regularização e </a:t>
            </a:r>
            <a:r>
              <a:rPr lang="pt-BR" b="1" i="1" dirty="0"/>
              <a:t>data </a:t>
            </a:r>
            <a:r>
              <a:rPr lang="pt-BR" b="1" i="1" dirty="0" err="1"/>
              <a:t>augmentation</a:t>
            </a:r>
            <a:r>
              <a:rPr lang="pt-BR" dirty="0"/>
              <a:t> para aumentar o conjunto de treino.</a:t>
            </a:r>
          </a:p>
        </p:txBody>
      </p:sp>
      <p:pic>
        <p:nvPicPr>
          <p:cNvPr id="2050" name="Picture 2" descr="AlexNet architecture. Includes 5 convolutional layers and 3... | Download  Scientific Diagram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7353" y="4675488"/>
            <a:ext cx="4502754" cy="2182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827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8272</TotalTime>
  <Words>1587</Words>
  <Application>Microsoft Office PowerPoint</Application>
  <PresentationFormat>Widescreen</PresentationFormat>
  <Paragraphs>202</Paragraphs>
  <Slides>23</Slides>
  <Notes>10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C24 - Inteligência Artificial: Introdução</vt:lpstr>
      <vt:lpstr>Informações gerais</vt:lpstr>
      <vt:lpstr>Cronograma</vt:lpstr>
      <vt:lpstr>Avaliações</vt:lpstr>
      <vt:lpstr>Calendário e feriados</vt:lpstr>
      <vt:lpstr>Apresentação do PowerPoint</vt:lpstr>
      <vt:lpstr>Referências</vt:lpstr>
      <vt:lpstr>Expectativa vs. realidade</vt:lpstr>
      <vt:lpstr>O que vocês acham que é IA?</vt:lpstr>
      <vt:lpstr>O que é IA?</vt:lpstr>
      <vt:lpstr>O que é IA?</vt:lpstr>
      <vt:lpstr>Apresentação do PowerPoint</vt:lpstr>
      <vt:lpstr>O teste de Turing (1950)</vt:lpstr>
      <vt:lpstr>O teste de Turing (1950)</vt:lpstr>
      <vt:lpstr>O teste de Turing: Eugene Goostman</vt:lpstr>
      <vt:lpstr>O teste de Turing: GPT-4.5</vt:lpstr>
      <vt:lpstr>O nascimento da IA (1956)</vt:lpstr>
      <vt:lpstr>Apresentação do PowerPoint</vt:lpstr>
      <vt:lpstr>Os invernos da IA (anos 70-80)</vt:lpstr>
      <vt:lpstr>AlexNet: O big bang do deep learning (2012)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1786</cp:revision>
  <dcterms:created xsi:type="dcterms:W3CDTF">2020-01-20T13:50:05Z</dcterms:created>
  <dcterms:modified xsi:type="dcterms:W3CDTF">2026-01-08T22:16:40Z</dcterms:modified>
</cp:coreProperties>
</file>