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256" r:id="rId2"/>
    <p:sldId id="307" r:id="rId3"/>
    <p:sldId id="372" r:id="rId4"/>
    <p:sldId id="359" r:id="rId5"/>
    <p:sldId id="315" r:id="rId6"/>
    <p:sldId id="358" r:id="rId7"/>
    <p:sldId id="360" r:id="rId8"/>
    <p:sldId id="308" r:id="rId9"/>
    <p:sldId id="309" r:id="rId10"/>
    <p:sldId id="373" r:id="rId11"/>
    <p:sldId id="318" r:id="rId12"/>
    <p:sldId id="317" r:id="rId13"/>
    <p:sldId id="311" r:id="rId14"/>
    <p:sldId id="321" r:id="rId15"/>
    <p:sldId id="319" r:id="rId16"/>
    <p:sldId id="374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77" r:id="rId36"/>
    <p:sldId id="333" r:id="rId37"/>
    <p:sldId id="375" r:id="rId38"/>
    <p:sldId id="366" r:id="rId39"/>
    <p:sldId id="339" r:id="rId40"/>
    <p:sldId id="335" r:id="rId41"/>
    <p:sldId id="334" r:id="rId42"/>
    <p:sldId id="336" r:id="rId43"/>
    <p:sldId id="338" r:id="rId44"/>
    <p:sldId id="337" r:id="rId45"/>
    <p:sldId id="344" r:id="rId46"/>
    <p:sldId id="342" r:id="rId47"/>
    <p:sldId id="376" r:id="rId48"/>
    <p:sldId id="340" r:id="rId49"/>
    <p:sldId id="368" r:id="rId50"/>
    <p:sldId id="367" r:id="rId51"/>
    <p:sldId id="345" r:id="rId52"/>
    <p:sldId id="369" r:id="rId53"/>
    <p:sldId id="341" r:id="rId54"/>
    <p:sldId id="347" r:id="rId55"/>
    <p:sldId id="346" r:id="rId56"/>
    <p:sldId id="354" r:id="rId57"/>
    <p:sldId id="355" r:id="rId58"/>
    <p:sldId id="356" r:id="rId59"/>
    <p:sldId id="357" r:id="rId60"/>
    <p:sldId id="349" r:id="rId61"/>
    <p:sldId id="353" r:id="rId62"/>
    <p:sldId id="351" r:id="rId63"/>
    <p:sldId id="352" r:id="rId64"/>
    <p:sldId id="350" r:id="rId65"/>
    <p:sldId id="371" r:id="rId66"/>
    <p:sldId id="370" r:id="rId67"/>
    <p:sldId id="293" r:id="rId68"/>
    <p:sldId id="306" r:id="rId6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2350" autoAdjust="0"/>
  </p:normalViewPr>
  <p:slideViewPr>
    <p:cSldViewPr snapToGrid="0">
      <p:cViewPr varScale="1">
        <p:scale>
          <a:sx n="68" d="100"/>
          <a:sy n="68" d="100"/>
        </p:scale>
        <p:origin x="978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27/07/2026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BE3FA91-AAA0-28D5-C242-B0389F2A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E16A987-59A9-DBA1-1398-776D9B347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1C10AA4-6745-D0D0-11EA-5B87B6DB7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2B3E542-6DE8-9010-D5C4-BC1447473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Dois dos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founding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fathers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b="1" dirty="0"/>
          </a:p>
          <a:p>
            <a:r>
              <a:rPr lang="en-US" b="1" dirty="0"/>
              <a:t>A </a:t>
            </a:r>
            <a:r>
              <a:rPr lang="en-US" b="1" dirty="0" err="1"/>
              <a:t>ciência</a:t>
            </a:r>
            <a:r>
              <a:rPr lang="en-US" b="1" dirty="0"/>
              <a:t> </a:t>
            </a:r>
            <a:r>
              <a:rPr lang="en-US" b="1" dirty="0" err="1"/>
              <a:t>gera</a:t>
            </a:r>
            <a:r>
              <a:rPr lang="en-US" b="1" dirty="0"/>
              <a:t> </a:t>
            </a:r>
            <a:r>
              <a:rPr lang="en-US" b="1" dirty="0" err="1"/>
              <a:t>conhecimento</a:t>
            </a:r>
            <a:r>
              <a:rPr lang="en-US" b="1" dirty="0"/>
              <a:t>.</a:t>
            </a:r>
            <a:r>
              <a:rPr lang="en-US" dirty="0"/>
              <a:t> </a:t>
            </a:r>
          </a:p>
          <a:p>
            <a:r>
              <a:rPr lang="en-US" b="1" dirty="0"/>
              <a:t>A </a:t>
            </a:r>
            <a:r>
              <a:rPr lang="en-US" b="1" dirty="0" err="1"/>
              <a:t>engenharia</a:t>
            </a:r>
            <a:r>
              <a:rPr lang="en-US" b="1" dirty="0"/>
              <a:t> </a:t>
            </a:r>
            <a:r>
              <a:rPr lang="en-US" b="1" dirty="0" err="1"/>
              <a:t>aplica</a:t>
            </a:r>
            <a:r>
              <a:rPr lang="en-US" b="1" dirty="0"/>
              <a:t> esse </a:t>
            </a:r>
            <a:r>
              <a:rPr lang="en-US" b="1" dirty="0" err="1"/>
              <a:t>conhecimento</a:t>
            </a:r>
            <a:r>
              <a:rPr lang="en-US" b="1" dirty="0"/>
              <a:t> para </a:t>
            </a:r>
            <a:r>
              <a:rPr lang="en-US" b="1" dirty="0" err="1"/>
              <a:t>desenvolver</a:t>
            </a:r>
            <a:r>
              <a:rPr lang="en-US" b="1" dirty="0"/>
              <a:t> </a:t>
            </a:r>
            <a:r>
              <a:rPr lang="en-US" b="1" dirty="0" err="1"/>
              <a:t>tecnologias</a:t>
            </a:r>
            <a:r>
              <a:rPr lang="en-US" b="1" dirty="0"/>
              <a:t>.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6912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Muito</a:t>
            </a:r>
            <a:r>
              <a:rPr lang="en-US" dirty="0"/>
              <a:t> antes de </a:t>
            </a:r>
            <a:r>
              <a:rPr lang="en-US" dirty="0" err="1"/>
              <a:t>existirem</a:t>
            </a:r>
            <a:r>
              <a:rPr lang="en-US" dirty="0"/>
              <a:t> </a:t>
            </a:r>
            <a:r>
              <a:rPr lang="en-US" dirty="0" err="1"/>
              <a:t>computadores</a:t>
            </a:r>
            <a:r>
              <a:rPr lang="en-US" dirty="0"/>
              <a:t>, a </a:t>
            </a:r>
            <a:r>
              <a:rPr lang="en-US" dirty="0" err="1"/>
              <a:t>humanidade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imaginava</a:t>
            </a:r>
            <a:r>
              <a:rPr lang="en-US" dirty="0"/>
              <a:t> </a:t>
            </a:r>
            <a:r>
              <a:rPr lang="en-US" dirty="0" err="1"/>
              <a:t>máquinas</a:t>
            </a:r>
            <a:r>
              <a:rPr lang="en-US" dirty="0"/>
              <a:t> </a:t>
            </a:r>
            <a:r>
              <a:rPr lang="en-US" dirty="0" err="1"/>
              <a:t>inteligentes</a:t>
            </a:r>
            <a:r>
              <a:rPr lang="en-US" dirty="0"/>
              <a:t>: Talos, um </a:t>
            </a:r>
            <a:r>
              <a:rPr lang="en-US" dirty="0" err="1"/>
              <a:t>autômato</a:t>
            </a:r>
            <a:r>
              <a:rPr lang="en-US" dirty="0"/>
              <a:t> </a:t>
            </a:r>
            <a:r>
              <a:rPr lang="en-US" dirty="0" err="1"/>
              <a:t>gigante</a:t>
            </a:r>
            <a:r>
              <a:rPr lang="en-US" dirty="0"/>
              <a:t> de bronze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protegia</a:t>
            </a:r>
            <a:r>
              <a:rPr lang="en-US" dirty="0"/>
              <a:t> a </a:t>
            </a:r>
            <a:r>
              <a:rPr lang="en-US" dirty="0" err="1"/>
              <a:t>ilha</a:t>
            </a:r>
            <a:r>
              <a:rPr lang="en-US" dirty="0"/>
              <a:t> de Creta.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Aristóteles;</a:t>
            </a:r>
            <a:r>
              <a:rPr lang="en-US" dirty="0"/>
              <a:t/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mecânicas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Leonardo da Vinci</a:t>
            </a:r>
            <a:r>
              <a:rPr lang="en-US" dirty="0"/>
              <a:t/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Álgebra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Boole;</a:t>
            </a:r>
            <a:r>
              <a:rPr lang="en-US" dirty="0"/>
              <a:t/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Analítica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Charles Babbage;</a:t>
            </a:r>
            <a:r>
              <a:rPr lang="en-US" dirty="0"/>
              <a:t/>
            </a: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primeiro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 Lovelace;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759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jogo</a:t>
            </a:r>
            <a:r>
              <a:rPr lang="en-US" dirty="0"/>
              <a:t>:</a:t>
            </a:r>
          </a:p>
          <a:p>
            <a:r>
              <a:rPr lang="en-US" b="1" dirty="0" err="1"/>
              <a:t>Jogador</a:t>
            </a:r>
            <a:r>
              <a:rPr lang="en-US" b="1" dirty="0"/>
              <a:t> A:</a:t>
            </a:r>
            <a:r>
              <a:rPr lang="en-US" dirty="0"/>
              <a:t> </a:t>
            </a:r>
            <a:r>
              <a:rPr lang="en-US" dirty="0" err="1"/>
              <a:t>computador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B:</a:t>
            </a:r>
            <a:r>
              <a:rPr lang="en-US" dirty="0"/>
              <a:t> </a:t>
            </a:r>
            <a:r>
              <a:rPr lang="en-US" dirty="0" err="1"/>
              <a:t>humano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C:</a:t>
            </a:r>
            <a:r>
              <a:rPr lang="en-US" dirty="0"/>
              <a:t> </a:t>
            </a:r>
            <a:r>
              <a:rPr lang="en-US" dirty="0" err="1"/>
              <a:t>interrogador</a:t>
            </a:r>
            <a:r>
              <a:rPr lang="en-US" dirty="0"/>
              <a:t>. </a:t>
            </a:r>
          </a:p>
          <a:p>
            <a:r>
              <a:rPr lang="en-US" dirty="0"/>
              <a:t>O </a:t>
            </a:r>
            <a:r>
              <a:rPr lang="en-US" dirty="0" err="1"/>
              <a:t>objetivo</a:t>
            </a:r>
            <a:r>
              <a:rPr lang="en-US" dirty="0"/>
              <a:t> da </a:t>
            </a:r>
            <a:r>
              <a:rPr lang="en-US" dirty="0" err="1"/>
              <a:t>máquina</a:t>
            </a:r>
            <a:r>
              <a:rPr lang="en-US" dirty="0"/>
              <a:t> era </a:t>
            </a:r>
            <a:r>
              <a:rPr lang="en-US" dirty="0" err="1"/>
              <a:t>convencer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de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ela</a:t>
            </a:r>
            <a:r>
              <a:rPr lang="en-US" dirty="0"/>
              <a:t> era o </a:t>
            </a:r>
            <a:r>
              <a:rPr lang="en-US" dirty="0" err="1"/>
              <a:t>humano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</a:t>
            </a:r>
            <a:r>
              <a:rPr lang="en-US" dirty="0" err="1"/>
              <a:t>humano</a:t>
            </a:r>
            <a:r>
              <a:rPr lang="en-US" dirty="0"/>
              <a:t> </a:t>
            </a:r>
            <a:r>
              <a:rPr lang="en-US" dirty="0" err="1"/>
              <a:t>continuava</a:t>
            </a:r>
            <a:r>
              <a:rPr lang="en-US" dirty="0"/>
              <a:t> </a:t>
            </a:r>
            <a:r>
              <a:rPr lang="en-US" dirty="0" err="1"/>
              <a:t>tentando</a:t>
            </a:r>
            <a:r>
              <a:rPr lang="en-US" dirty="0"/>
              <a:t> </a:t>
            </a:r>
            <a:r>
              <a:rPr lang="en-US" dirty="0" err="1"/>
              <a:t>ajudar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a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a </a:t>
            </a:r>
            <a:r>
              <a:rPr lang="en-US" dirty="0" err="1"/>
              <a:t>máquina</a:t>
            </a:r>
            <a:r>
              <a:rPr lang="en-US" dirty="0"/>
              <a:t>. 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b="1" dirty="0"/>
              <a:t>Como </a:t>
            </a:r>
            <a:r>
              <a:rPr lang="en-US" b="1" dirty="0" err="1"/>
              <a:t>funcionava</a:t>
            </a:r>
            <a:endParaRPr lang="en-US" b="1" dirty="0"/>
          </a:p>
          <a:p>
            <a:r>
              <a:rPr lang="en-US" dirty="0"/>
              <a:t>O </a:t>
            </a:r>
            <a:r>
              <a:rPr lang="en-US" dirty="0" err="1"/>
              <a:t>interrogador</a:t>
            </a:r>
            <a:r>
              <a:rPr lang="en-US" dirty="0"/>
              <a:t> podia </a:t>
            </a:r>
            <a:r>
              <a:rPr lang="en-US" dirty="0" err="1"/>
              <a:t>fazer</a:t>
            </a:r>
            <a:r>
              <a:rPr lang="en-US" dirty="0"/>
              <a:t> </a:t>
            </a:r>
            <a:r>
              <a:rPr lang="en-US" dirty="0" err="1"/>
              <a:t>praticamente</a:t>
            </a:r>
            <a:r>
              <a:rPr lang="en-US" dirty="0"/>
              <a:t> </a:t>
            </a:r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pergunta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exemplo</a:t>
            </a:r>
            <a:r>
              <a:rPr lang="en-US" dirty="0"/>
              <a:t>:</a:t>
            </a:r>
          </a:p>
          <a:p>
            <a:r>
              <a:rPr lang="en-US" dirty="0"/>
              <a:t>Qual é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profissão</a:t>
            </a:r>
            <a:r>
              <a:rPr lang="en-US" dirty="0"/>
              <a:t>? </a:t>
            </a:r>
          </a:p>
          <a:p>
            <a:r>
              <a:rPr lang="en-US" dirty="0" err="1"/>
              <a:t>Você</a:t>
            </a:r>
            <a:r>
              <a:rPr lang="en-US" dirty="0"/>
              <a:t> </a:t>
            </a:r>
            <a:r>
              <a:rPr lang="en-US" dirty="0" err="1"/>
              <a:t>gosta</a:t>
            </a:r>
            <a:r>
              <a:rPr lang="en-US" dirty="0"/>
              <a:t> de </a:t>
            </a:r>
            <a:r>
              <a:rPr lang="en-US" dirty="0" err="1"/>
              <a:t>xadrez</a:t>
            </a:r>
            <a:r>
              <a:rPr lang="en-US" dirty="0"/>
              <a:t>? </a:t>
            </a:r>
          </a:p>
          <a:p>
            <a:r>
              <a:rPr lang="en-US" dirty="0"/>
              <a:t>Qual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infância</a:t>
            </a:r>
            <a:r>
              <a:rPr lang="en-US" dirty="0"/>
              <a:t>? </a:t>
            </a:r>
          </a:p>
          <a:p>
            <a:r>
              <a:rPr lang="en-US" dirty="0"/>
              <a:t>Quanto é 17 × 23? </a:t>
            </a:r>
          </a:p>
          <a:p>
            <a:r>
              <a:rPr lang="en-US" dirty="0" err="1"/>
              <a:t>Escreva</a:t>
            </a:r>
            <a:r>
              <a:rPr lang="en-US" dirty="0"/>
              <a:t> um </a:t>
            </a:r>
            <a:r>
              <a:rPr lang="en-US" dirty="0" err="1"/>
              <a:t>poema</a:t>
            </a:r>
            <a:r>
              <a:rPr lang="en-US" dirty="0"/>
              <a:t>. </a:t>
            </a:r>
          </a:p>
          <a:p>
            <a:r>
              <a:rPr lang="en-US" dirty="0" err="1"/>
              <a:t>Explique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piada</a:t>
            </a:r>
            <a:r>
              <a:rPr lang="en-US" dirty="0"/>
              <a:t>. </a:t>
            </a:r>
          </a:p>
          <a:p>
            <a:r>
              <a:rPr lang="en-US" dirty="0"/>
              <a:t>Conte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lembrança</a:t>
            </a:r>
            <a:r>
              <a:rPr lang="en-US" dirty="0"/>
              <a:t> da </a:t>
            </a:r>
            <a:r>
              <a:rPr lang="en-US" dirty="0" err="1"/>
              <a:t>escola</a:t>
            </a:r>
            <a:r>
              <a:rPr lang="en-US" dirty="0"/>
              <a:t>. </a:t>
            </a:r>
          </a:p>
          <a:p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havia</a:t>
            </a:r>
            <a:r>
              <a:rPr lang="en-US" dirty="0"/>
              <a:t> </a:t>
            </a:r>
            <a:r>
              <a:rPr lang="en-US" dirty="0" err="1"/>
              <a:t>limite</a:t>
            </a:r>
            <a:r>
              <a:rPr lang="en-US" dirty="0"/>
              <a:t> </a:t>
            </a:r>
            <a:r>
              <a:rPr lang="en-US" dirty="0" err="1"/>
              <a:t>rígido</a:t>
            </a:r>
            <a:r>
              <a:rPr lang="en-US" dirty="0"/>
              <a:t> para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temas</a:t>
            </a:r>
            <a:r>
              <a:rPr lang="en-US" dirty="0"/>
              <a:t>. O </a:t>
            </a:r>
            <a:r>
              <a:rPr lang="en-US" dirty="0" err="1"/>
              <a:t>importante</a:t>
            </a:r>
            <a:r>
              <a:rPr lang="en-US" dirty="0"/>
              <a:t> era </a:t>
            </a:r>
            <a:r>
              <a:rPr lang="en-US" dirty="0" err="1"/>
              <a:t>avaliar</a:t>
            </a:r>
            <a:r>
              <a:rPr lang="en-US" dirty="0"/>
              <a:t> se a conversa </a:t>
            </a:r>
            <a:r>
              <a:rPr lang="en-US" dirty="0" err="1"/>
              <a:t>parecia</a:t>
            </a:r>
            <a:r>
              <a:rPr lang="en-US" dirty="0"/>
              <a:t> </a:t>
            </a:r>
            <a:r>
              <a:rPr lang="en-US" dirty="0" err="1"/>
              <a:t>genuinamente</a:t>
            </a:r>
            <a:r>
              <a:rPr lang="en-US" dirty="0"/>
              <a:t> humana.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</a:t>
            </a:r>
            <a:r>
              <a:rPr lang="en-US" dirty="0" err="1"/>
              <a:t>imagem</a:t>
            </a:r>
            <a:r>
              <a:rPr lang="en-US" dirty="0"/>
              <a:t> </a:t>
            </a:r>
            <a:r>
              <a:rPr lang="en-US" dirty="0" err="1"/>
              <a:t>registra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dos </a:t>
            </a:r>
            <a:r>
              <a:rPr lang="en-US" dirty="0" err="1"/>
              <a:t>participantes</a:t>
            </a:r>
            <a:r>
              <a:rPr lang="en-US" dirty="0"/>
              <a:t> do </a:t>
            </a:r>
            <a:r>
              <a:rPr lang="en-US" i="1" dirty="0"/>
              <a:t>Dartmouth Summer Research Project on Artificial Intelligence</a:t>
            </a:r>
            <a:r>
              <a:rPr lang="en-US" dirty="0"/>
              <a:t>,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dirty="0" err="1"/>
              <a:t>evento</a:t>
            </a:r>
            <a:r>
              <a:rPr lang="en-US" dirty="0"/>
              <a:t> </a:t>
            </a:r>
            <a:r>
              <a:rPr lang="en-US" dirty="0" err="1"/>
              <a:t>fundador</a:t>
            </a:r>
            <a:r>
              <a:rPr lang="en-US" dirty="0"/>
              <a:t> da </a:t>
            </a:r>
            <a:r>
              <a:rPr lang="en-US" dirty="0" err="1"/>
              <a:t>Inteligência</a:t>
            </a:r>
            <a:r>
              <a:rPr lang="en-US" dirty="0"/>
              <a:t> Artificial. </a:t>
            </a:r>
          </a:p>
          <a:p>
            <a:endParaRPr lang="en-US" dirty="0"/>
          </a:p>
          <a:p>
            <a:r>
              <a:rPr lang="en-US" dirty="0"/>
              <a:t>Fila de </a:t>
            </a:r>
            <a:r>
              <a:rPr lang="en-US" dirty="0" err="1"/>
              <a:t>trás</a:t>
            </a:r>
            <a:r>
              <a:rPr lang="en-US" dirty="0"/>
              <a:t> (da </a:t>
            </a:r>
            <a:r>
              <a:rPr lang="en-US" dirty="0" err="1"/>
              <a:t>esquerda</a:t>
            </a:r>
            <a:r>
              <a:rPr lang="en-US" dirty="0"/>
              <a:t> para a </a:t>
            </a:r>
            <a:r>
              <a:rPr lang="en-US" dirty="0" err="1"/>
              <a:t>direita</a:t>
            </a:r>
            <a:r>
              <a:rPr lang="en-US" dirty="0"/>
              <a:t>):</a:t>
            </a:r>
            <a:endParaRPr lang="en-US" b="1" dirty="0"/>
          </a:p>
          <a:p>
            <a:r>
              <a:rPr lang="en-US" b="1" dirty="0"/>
              <a:t>Oliver Selfridge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e </a:t>
            </a:r>
            <a:r>
              <a:rPr lang="en-US" dirty="0" err="1"/>
              <a:t>aprendizado</a:t>
            </a:r>
            <a:r>
              <a:rPr lang="en-US" dirty="0"/>
              <a:t> de </a:t>
            </a:r>
            <a:r>
              <a:rPr lang="en-US" dirty="0" err="1"/>
              <a:t>máquinas</a:t>
            </a:r>
            <a:r>
              <a:rPr lang="en-US" dirty="0"/>
              <a:t>. </a:t>
            </a:r>
          </a:p>
          <a:p>
            <a:r>
              <a:rPr lang="en-US" b="1" dirty="0"/>
              <a:t>Nathaniel Rochester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da IBM e um dos </a:t>
            </a:r>
            <a:r>
              <a:rPr lang="en-US" dirty="0" err="1"/>
              <a:t>organizadores</a:t>
            </a:r>
            <a:r>
              <a:rPr lang="en-US" dirty="0"/>
              <a:t> da </a:t>
            </a:r>
            <a:r>
              <a:rPr lang="en-US" dirty="0" err="1"/>
              <a:t>conferência</a:t>
            </a:r>
            <a:r>
              <a:rPr lang="en-US" dirty="0"/>
              <a:t>. </a:t>
            </a:r>
          </a:p>
          <a:p>
            <a:r>
              <a:rPr lang="en-US" b="1" dirty="0"/>
              <a:t>Marvin Minsky</a:t>
            </a:r>
            <a:r>
              <a:rPr lang="en-US" dirty="0"/>
              <a:t> – um dos </a:t>
            </a:r>
            <a:r>
              <a:rPr lang="en-US" dirty="0" err="1"/>
              <a:t>fundadores</a:t>
            </a:r>
            <a:r>
              <a:rPr lang="en-US" dirty="0"/>
              <a:t> da IA e </a:t>
            </a:r>
            <a:r>
              <a:rPr lang="en-US" dirty="0" err="1"/>
              <a:t>futuro</a:t>
            </a:r>
            <a:r>
              <a:rPr lang="en-US" dirty="0"/>
              <a:t> professor do MIT. </a:t>
            </a:r>
          </a:p>
          <a:p>
            <a:r>
              <a:rPr lang="en-US" b="1" dirty="0"/>
              <a:t>John McCarthy</a:t>
            </a:r>
            <a:r>
              <a:rPr lang="en-US" dirty="0"/>
              <a:t> – </a:t>
            </a:r>
            <a:r>
              <a:rPr lang="en-US" dirty="0" err="1"/>
              <a:t>criador</a:t>
            </a:r>
            <a:r>
              <a:rPr lang="en-US" dirty="0"/>
              <a:t> do </a:t>
            </a:r>
            <a:r>
              <a:rPr lang="en-US" dirty="0" err="1"/>
              <a:t>termo</a:t>
            </a:r>
            <a:r>
              <a:rPr lang="en-US" dirty="0"/>
              <a:t> </a:t>
            </a:r>
            <a:r>
              <a:rPr lang="en-US" b="1" dirty="0"/>
              <a:t>"Artificial Intelligence"</a:t>
            </a:r>
            <a:r>
              <a:rPr lang="en-US" dirty="0"/>
              <a:t> e principal </a:t>
            </a:r>
            <a:r>
              <a:rPr lang="en-US" dirty="0" err="1"/>
              <a:t>organizador</a:t>
            </a:r>
            <a:r>
              <a:rPr lang="en-US" dirty="0"/>
              <a:t> do </a:t>
            </a:r>
            <a:r>
              <a:rPr lang="en-US" dirty="0" err="1"/>
              <a:t>encontro</a:t>
            </a:r>
            <a:r>
              <a:rPr lang="en-US" dirty="0"/>
              <a:t>. </a:t>
            </a:r>
          </a:p>
          <a:p>
            <a:endParaRPr lang="en-US" b="1" dirty="0"/>
          </a:p>
          <a:p>
            <a:r>
              <a:rPr lang="en-US" b="1" dirty="0"/>
              <a:t>Fila da </a:t>
            </a:r>
            <a:r>
              <a:rPr lang="en-US" b="1" dirty="0" err="1"/>
              <a:t>frente</a:t>
            </a:r>
            <a:r>
              <a:rPr lang="en-US" b="1" dirty="0"/>
              <a:t> (da </a:t>
            </a:r>
            <a:r>
              <a:rPr lang="en-US" b="1" dirty="0" err="1"/>
              <a:t>esquerda</a:t>
            </a:r>
            <a:r>
              <a:rPr lang="en-US" b="1" dirty="0"/>
              <a:t> para a </a:t>
            </a:r>
            <a:r>
              <a:rPr lang="en-US" b="1" dirty="0" err="1"/>
              <a:t>direita</a:t>
            </a:r>
            <a:r>
              <a:rPr lang="en-US" b="1" dirty="0"/>
              <a:t>):</a:t>
            </a:r>
            <a:endParaRPr lang="en-US" dirty="0"/>
          </a:p>
          <a:p>
            <a:r>
              <a:rPr lang="en-US" b="1" dirty="0"/>
              <a:t>Ray </a:t>
            </a:r>
            <a:r>
              <a:rPr lang="en-US" b="1" dirty="0" err="1"/>
              <a:t>Solomonoff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da </a:t>
            </a:r>
            <a:r>
              <a:rPr lang="en-US" dirty="0" err="1"/>
              <a:t>teoria</a:t>
            </a:r>
            <a:r>
              <a:rPr lang="en-US" dirty="0"/>
              <a:t> da </a:t>
            </a:r>
            <a:r>
              <a:rPr lang="en-US" dirty="0" err="1"/>
              <a:t>inferência</a:t>
            </a:r>
            <a:r>
              <a:rPr lang="en-US" dirty="0"/>
              <a:t> </a:t>
            </a:r>
            <a:r>
              <a:rPr lang="en-US" dirty="0" err="1"/>
              <a:t>indutiva</a:t>
            </a:r>
            <a:r>
              <a:rPr lang="en-US" dirty="0"/>
              <a:t> e da </a:t>
            </a:r>
            <a:r>
              <a:rPr lang="en-US" dirty="0" err="1"/>
              <a:t>complexidade</a:t>
            </a:r>
            <a:r>
              <a:rPr lang="en-US" dirty="0"/>
              <a:t> </a:t>
            </a:r>
            <a:r>
              <a:rPr lang="en-US" dirty="0" err="1"/>
              <a:t>algorítmica</a:t>
            </a:r>
            <a:r>
              <a:rPr lang="en-US" dirty="0"/>
              <a:t>. </a:t>
            </a:r>
          </a:p>
          <a:p>
            <a:r>
              <a:rPr lang="en-US" b="1" dirty="0"/>
              <a:t>Peter Milner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</a:t>
            </a:r>
            <a:r>
              <a:rPr lang="en-US" dirty="0" err="1"/>
              <a:t>britânico</a:t>
            </a:r>
            <a:r>
              <a:rPr lang="en-US" dirty="0"/>
              <a:t>;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anos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identidade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desconhecida</a:t>
            </a:r>
            <a:r>
              <a:rPr lang="en-US" dirty="0"/>
              <a:t> e </a:t>
            </a:r>
            <a:r>
              <a:rPr lang="en-US" dirty="0" err="1"/>
              <a:t>chegou</a:t>
            </a:r>
            <a:r>
              <a:rPr lang="en-US" dirty="0"/>
              <a:t> a ser </a:t>
            </a:r>
            <a:r>
              <a:rPr lang="en-US" dirty="0" err="1"/>
              <a:t>confundida</a:t>
            </a:r>
            <a:r>
              <a:rPr lang="en-US" dirty="0"/>
              <a:t> com a de Trenchard More, mas </a:t>
            </a:r>
            <a:r>
              <a:rPr lang="en-US" dirty="0" err="1"/>
              <a:t>investigações</a:t>
            </a:r>
            <a:r>
              <a:rPr lang="en-US" dirty="0"/>
              <a:t> posteriores </a:t>
            </a:r>
            <a:r>
              <a:rPr lang="en-US" dirty="0" err="1"/>
              <a:t>concluíram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era Peter Milner. </a:t>
            </a:r>
          </a:p>
          <a:p>
            <a:r>
              <a:rPr lang="en-US" b="1" dirty="0"/>
              <a:t>Claude Shannon</a:t>
            </a:r>
            <a:r>
              <a:rPr lang="en-US" dirty="0"/>
              <a:t> – </a:t>
            </a:r>
            <a:r>
              <a:rPr lang="en-US" dirty="0" err="1"/>
              <a:t>fundador</a:t>
            </a:r>
            <a:r>
              <a:rPr lang="en-US" dirty="0"/>
              <a:t> da Teoria da </a:t>
            </a:r>
            <a:r>
              <a:rPr lang="en-US" dirty="0" err="1"/>
              <a:t>Informação</a:t>
            </a:r>
            <a:r>
              <a:rPr lang="en-US" dirty="0"/>
              <a:t> e um dos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cientistas</a:t>
            </a:r>
            <a:r>
              <a:rPr lang="en-US" dirty="0"/>
              <a:t> do </a:t>
            </a:r>
            <a:r>
              <a:rPr lang="en-US" dirty="0" err="1"/>
              <a:t>século</a:t>
            </a:r>
            <a:r>
              <a:rPr lang="en-US" dirty="0"/>
              <a:t> XX.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821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Características</a:t>
            </a:r>
            <a:r>
              <a:rPr lang="en-US" b="1" dirty="0"/>
              <a:t> </a:t>
            </a:r>
            <a:r>
              <a:rPr lang="en-US" b="1" dirty="0" err="1"/>
              <a:t>típicas</a:t>
            </a:r>
            <a:r>
              <a:rPr lang="en-US" b="1" dirty="0"/>
              <a:t> dos </a:t>
            </a:r>
            <a:r>
              <a:rPr lang="en-US" b="1" dirty="0" err="1"/>
              <a:t>computadores</a:t>
            </a:r>
            <a:r>
              <a:rPr lang="en-US" b="1" dirty="0"/>
              <a:t> da </a:t>
            </a:r>
            <a:r>
              <a:rPr lang="en-US" b="1" dirty="0" err="1"/>
              <a:t>década</a:t>
            </a:r>
            <a:r>
              <a:rPr lang="en-US" b="1" dirty="0"/>
              <a:t> de 1970</a:t>
            </a:r>
          </a:p>
          <a:p>
            <a:r>
              <a:rPr lang="en-US" dirty="0"/>
              <a:t>Clock do processador</a:t>
            </a:r>
            <a:r>
              <a:rPr lang="en-US" b="1" dirty="0"/>
              <a:t>1 a 10 MHz</a:t>
            </a:r>
            <a:endParaRPr lang="en-US" dirty="0"/>
          </a:p>
          <a:p>
            <a:r>
              <a:rPr lang="en-US" dirty="0"/>
              <a:t>RAM</a:t>
            </a:r>
            <a:r>
              <a:rPr lang="en-US" b="1" dirty="0"/>
              <a:t>16 KB a 512 KB</a:t>
            </a:r>
            <a:r>
              <a:rPr lang="en-US" dirty="0"/>
              <a:t> (</a:t>
            </a:r>
            <a:r>
              <a:rPr lang="en-US" dirty="0" err="1"/>
              <a:t>alguns</a:t>
            </a:r>
            <a:r>
              <a:rPr lang="en-US" dirty="0"/>
              <a:t> mainframes </a:t>
            </a:r>
            <a:r>
              <a:rPr lang="en-US" dirty="0" err="1"/>
              <a:t>possuíam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MB)</a:t>
            </a:r>
          </a:p>
          <a:p>
            <a:r>
              <a:rPr lang="en-US" dirty="0"/>
              <a:t>Disco rígido</a:t>
            </a:r>
            <a:r>
              <a:rPr lang="en-US" b="1" dirty="0"/>
              <a:t>2 MB a 100 MB</a:t>
            </a:r>
            <a:endParaRPr lang="en-US" dirty="0"/>
          </a:p>
          <a:p>
            <a:r>
              <a:rPr lang="en-US" dirty="0"/>
              <a:t>Arquitetura8 </a:t>
            </a:r>
            <a:r>
              <a:rPr lang="en-US" dirty="0" err="1"/>
              <a:t>ou</a:t>
            </a:r>
            <a:r>
              <a:rPr lang="en-US" dirty="0"/>
              <a:t> 16 bits</a:t>
            </a:r>
          </a:p>
          <a:p>
            <a:endParaRPr lang="pt-BR" sz="1200" b="1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17252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endParaRPr lang="pt-BR" dirty="0"/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Cyberpunk 2077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 Simulator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Man's Sky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Skyrim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AA71AA-3891-C9B5-B425-588CDAAD4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EF6FCF5-F6E0-E0E3-EEB8-3F975604D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4107B15-D67E-BBA1-BCA7-35324E7F3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01BDBD0-75BB-D9F3-7D86-AE5426E4B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6108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b="1" dirty="0"/>
              <a:t>Um chatbot é </a:t>
            </a:r>
            <a:r>
              <a:rPr lang="en-US" b="1" dirty="0" err="1"/>
              <a:t>voltado</a:t>
            </a:r>
            <a:r>
              <a:rPr lang="en-US" b="1" dirty="0"/>
              <a:t> </a:t>
            </a:r>
            <a:r>
              <a:rPr lang="en-US" b="1" dirty="0" err="1"/>
              <a:t>principalmente</a:t>
            </a:r>
            <a:r>
              <a:rPr lang="en-US" b="1" dirty="0"/>
              <a:t> para </a:t>
            </a:r>
            <a:r>
              <a:rPr lang="en-US" b="1" dirty="0" err="1"/>
              <a:t>conversação</a:t>
            </a:r>
            <a:r>
              <a:rPr lang="en-US" b="1" dirty="0"/>
              <a:t> e </a:t>
            </a:r>
            <a:r>
              <a:rPr lang="en-US" b="1" dirty="0" err="1"/>
              <a:t>tarefas</a:t>
            </a:r>
            <a:r>
              <a:rPr lang="en-US" b="1" dirty="0"/>
              <a:t> </a:t>
            </a:r>
            <a:r>
              <a:rPr lang="en-US" b="1" dirty="0" err="1"/>
              <a:t>específicas</a:t>
            </a:r>
            <a:r>
              <a:rPr lang="en-US" b="1" dirty="0"/>
              <a:t>, um </a:t>
            </a:r>
            <a:r>
              <a:rPr lang="en-US" b="1" dirty="0" err="1"/>
              <a:t>assistente</a:t>
            </a:r>
            <a:r>
              <a:rPr lang="en-US" b="1" dirty="0"/>
              <a:t> de IA é um </a:t>
            </a:r>
            <a:r>
              <a:rPr lang="en-US" b="1" dirty="0" err="1"/>
              <a:t>sistema</a:t>
            </a:r>
            <a:r>
              <a:rPr lang="en-US" b="1" dirty="0"/>
              <a:t> de </a:t>
            </a:r>
            <a:r>
              <a:rPr lang="en-US" b="1" dirty="0" err="1"/>
              <a:t>propósito</a:t>
            </a:r>
            <a:r>
              <a:rPr lang="en-US" b="1" dirty="0"/>
              <a:t> </a:t>
            </a:r>
            <a:r>
              <a:rPr lang="en-US" b="1" dirty="0" err="1"/>
              <a:t>geral</a:t>
            </a:r>
            <a:r>
              <a:rPr lang="en-US" b="1" dirty="0"/>
              <a:t> </a:t>
            </a:r>
            <a:r>
              <a:rPr lang="en-US" b="1" dirty="0" err="1"/>
              <a:t>capaz</a:t>
            </a:r>
            <a:r>
              <a:rPr lang="en-US" b="1" dirty="0"/>
              <a:t> de </a:t>
            </a:r>
            <a:r>
              <a:rPr lang="en-US" b="1" dirty="0" err="1"/>
              <a:t>compreender</a:t>
            </a:r>
            <a:r>
              <a:rPr lang="en-US" b="1" dirty="0"/>
              <a:t>, </a:t>
            </a:r>
            <a:r>
              <a:rPr lang="en-US" b="1" dirty="0" err="1"/>
              <a:t>executar</a:t>
            </a:r>
            <a:r>
              <a:rPr lang="en-US" b="1" dirty="0"/>
              <a:t> </a:t>
            </a:r>
            <a:r>
              <a:rPr lang="en-US" b="1" dirty="0" err="1"/>
              <a:t>tarefas</a:t>
            </a:r>
            <a:r>
              <a:rPr lang="en-US" b="1" dirty="0"/>
              <a:t> </a:t>
            </a:r>
            <a:r>
              <a:rPr lang="en-US" b="1" dirty="0" err="1"/>
              <a:t>complexas</a:t>
            </a:r>
            <a:r>
              <a:rPr lang="en-US" b="1" dirty="0"/>
              <a:t> e </a:t>
            </a:r>
            <a:r>
              <a:rPr lang="en-US" b="1" dirty="0" err="1"/>
              <a:t>utilizar</a:t>
            </a:r>
            <a:r>
              <a:rPr lang="en-US" b="1" dirty="0"/>
              <a:t> ferramentas para auxiliar o </a:t>
            </a:r>
            <a:r>
              <a:rPr lang="en-US" b="1" dirty="0" err="1"/>
              <a:t>usuário</a:t>
            </a:r>
            <a:r>
              <a:rPr lang="en-US" b="1" dirty="0"/>
              <a:t>.</a:t>
            </a:r>
            <a:r>
              <a:rPr lang="en-US" dirty="0"/>
              <a:t> 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Cenário</a:t>
            </a:r>
            <a:r>
              <a:rPr lang="en-US" dirty="0"/>
              <a:t> 1 – </a:t>
            </a:r>
            <a:r>
              <a:rPr lang="en-US" dirty="0" err="1"/>
              <a:t>Veículo</a:t>
            </a:r>
            <a:r>
              <a:rPr lang="en-US" dirty="0"/>
              <a:t> com </a:t>
            </a:r>
            <a:r>
              <a:rPr lang="en-US" dirty="0" err="1"/>
              <a:t>assistência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motorista</a:t>
            </a:r>
            <a:r>
              <a:rPr lang="en-US" dirty="0"/>
              <a:t>: Nesses </a:t>
            </a:r>
            <a:r>
              <a:rPr lang="en-US" dirty="0" err="1"/>
              <a:t>sistemas</a:t>
            </a:r>
            <a:r>
              <a:rPr lang="en-US" dirty="0"/>
              <a:t>, </a:t>
            </a:r>
            <a:r>
              <a:rPr lang="en-US" b="1" dirty="0"/>
              <a:t>o </a:t>
            </a:r>
            <a:r>
              <a:rPr lang="en-US" b="1" dirty="0" err="1"/>
              <a:t>motorista</a:t>
            </a:r>
            <a:r>
              <a:rPr lang="en-US" b="1" dirty="0"/>
              <a:t> continua </a:t>
            </a:r>
            <a:r>
              <a:rPr lang="en-US" b="1" dirty="0" err="1"/>
              <a:t>sendo</a:t>
            </a:r>
            <a:r>
              <a:rPr lang="en-US" b="1" dirty="0"/>
              <a:t> o </a:t>
            </a:r>
            <a:r>
              <a:rPr lang="en-US" b="1" dirty="0" err="1"/>
              <a:t>responsável</a:t>
            </a:r>
            <a:r>
              <a:rPr lang="en-US" b="1" dirty="0"/>
              <a:t> pela </a:t>
            </a:r>
            <a:r>
              <a:rPr lang="en-US" b="1" dirty="0" err="1"/>
              <a:t>condução</a:t>
            </a:r>
            <a:r>
              <a:rPr lang="en-US" dirty="0"/>
              <a:t> e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permanecer</a:t>
            </a:r>
            <a:r>
              <a:rPr lang="en-US" dirty="0"/>
              <a:t> </a:t>
            </a:r>
            <a:r>
              <a:rPr lang="en-US" dirty="0" err="1"/>
              <a:t>atento</a:t>
            </a:r>
            <a:r>
              <a:rPr lang="en-US" dirty="0"/>
              <a:t> para </a:t>
            </a:r>
            <a:r>
              <a:rPr lang="en-US" dirty="0" err="1"/>
              <a:t>assumir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necessário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Cenário</a:t>
            </a:r>
            <a:r>
              <a:rPr lang="en-US" dirty="0"/>
              <a:t> 2 – </a:t>
            </a:r>
            <a:r>
              <a:rPr lang="en-US" dirty="0" err="1"/>
              <a:t>Veículo</a:t>
            </a:r>
            <a:r>
              <a:rPr lang="en-US" dirty="0"/>
              <a:t> </a:t>
            </a:r>
            <a:r>
              <a:rPr lang="en-US" dirty="0" err="1"/>
              <a:t>altamente</a:t>
            </a:r>
            <a:r>
              <a:rPr lang="en-US" dirty="0"/>
              <a:t> </a:t>
            </a:r>
            <a:r>
              <a:rPr lang="en-US" dirty="0" err="1"/>
              <a:t>autônomo</a:t>
            </a:r>
            <a:r>
              <a:rPr lang="en-US" dirty="0"/>
              <a:t>: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recair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o </a:t>
            </a:r>
            <a:r>
              <a:rPr lang="en-US" b="1" dirty="0" err="1"/>
              <a:t>fabricante</a:t>
            </a:r>
            <a:endParaRPr lang="en-US" b="1" dirty="0"/>
          </a:p>
          <a:p>
            <a:endParaRPr lang="en-US" b="1" dirty="0"/>
          </a:p>
          <a:p>
            <a:r>
              <a:rPr lang="en-US" dirty="0" err="1"/>
              <a:t>Cenário</a:t>
            </a:r>
            <a:r>
              <a:rPr lang="en-US" dirty="0"/>
              <a:t> 3 – Culpa </a:t>
            </a:r>
            <a:r>
              <a:rPr lang="en-US" dirty="0" err="1"/>
              <a:t>compartilhada</a:t>
            </a:r>
            <a:r>
              <a:rPr lang="en-US" dirty="0"/>
              <a:t>: Nesse </a:t>
            </a:r>
            <a:r>
              <a:rPr lang="en-US" dirty="0" err="1"/>
              <a:t>caso</a:t>
            </a:r>
            <a:r>
              <a:rPr lang="en-US" dirty="0"/>
              <a:t>,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b="1" dirty="0" err="1"/>
              <a:t>compartilhada</a:t>
            </a:r>
            <a:r>
              <a:rPr lang="en-US" b="1" dirty="0"/>
              <a:t>: </a:t>
            </a:r>
            <a:r>
              <a:rPr lang="en-US" dirty="0"/>
              <a:t>o software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um </a:t>
            </a:r>
            <a:r>
              <a:rPr lang="en-US" dirty="0" err="1"/>
              <a:t>obstáculo</a:t>
            </a:r>
            <a:r>
              <a:rPr lang="en-US" dirty="0"/>
              <a:t>; o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solicita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assuma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;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ignora</a:t>
            </a:r>
            <a:r>
              <a:rPr lang="en-US" dirty="0"/>
              <a:t> o aviso.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s.huji.ac.il/~shais/UnderstandingMachineLearning/understanding-machine-learning-theory-algorithms.pdf" TargetMode="External"/><Relationship Id="rId3" Type="http://schemas.openxmlformats.org/officeDocument/2006/relationships/hyperlink" Target="https://www.deeplearning.ai/courses" TargetMode="External"/><Relationship Id="rId7" Type="http://schemas.openxmlformats.org/officeDocument/2006/relationships/hyperlink" Target="https://github.com/abhishekkrthakur/approachingalmost/blob/master/AAAMLP.pdf" TargetMode="External"/><Relationship Id="rId2" Type="http://schemas.openxmlformats.org/officeDocument/2006/relationships/hyperlink" Target="https://developers.google.com/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com.br/machine-learning-guia-definitivo-parte-1/" TargetMode="External"/><Relationship Id="rId5" Type="http://schemas.openxmlformats.org/officeDocument/2006/relationships/hyperlink" Target="https://arxiv.org/pdf/1709.02840" TargetMode="External"/><Relationship Id="rId4" Type="http://schemas.openxmlformats.org/officeDocument/2006/relationships/hyperlink" Target="https://cs.nyu.edu/~mohri/mlbook/" TargetMode="External"/><Relationship Id="rId9" Type="http://schemas.openxmlformats.org/officeDocument/2006/relationships/hyperlink" Target="https://themlbook.com/wiki/doku.php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g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5625" cy="5032375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baseadas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275843C-22E7-DF12-5D68-32D5E7A9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5D84E62-DE76-FCD9-4D9F-1C5A1B25A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xmlns="" id="{C8116E68-4B54-8FA1-1EB8-3391FE1677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746919"/>
              </p:ext>
            </p:extLst>
          </p:nvPr>
        </p:nvGraphicFramePr>
        <p:xfrm>
          <a:off x="2793076" y="1303020"/>
          <a:ext cx="660584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27/07/26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03/08/26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10/08/26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17/08/26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24/08/26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31/08/26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07/09/26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14/09/26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21/09/26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28/09/26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05/10/26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12/10/26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19/10/26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26/10/26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02/11/26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09/11/26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16/11/26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23/11/26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30/11/26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07/12/26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20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xmlns="" id="{7C41E1DB-BBB1-315A-0ECA-812F8171A5A8}"/>
              </a:ext>
            </a:extLst>
          </p:cNvPr>
          <p:cNvSpPr txBox="1"/>
          <p:nvPr/>
        </p:nvSpPr>
        <p:spPr>
          <a:xfrm>
            <a:off x="2699657" y="6606540"/>
            <a:ext cx="20922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*Feriado, marcaremos reposição.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2881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</a:t>
            </a:r>
            <a:r>
              <a:rPr lang="pt-BR" b="1" dirty="0"/>
              <a:t>divididas em duas partes</a:t>
            </a:r>
            <a:r>
              <a:rPr lang="pt-BR" dirty="0"/>
              <a:t>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Teoria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(NPT).</a:t>
            </a:r>
          </a:p>
          <a:p>
            <a:pPr fontAlgn="base"/>
            <a:r>
              <a:rPr lang="pt-BR" dirty="0"/>
              <a:t>70% corresponde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correspondentes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21/09/2026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30/11/2026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as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07/12/2026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</a:t>
            </a:r>
            <a:r>
              <a:rPr lang="pt-BR" b="1" dirty="0"/>
              <a:t>ou</a:t>
            </a:r>
            <a:r>
              <a:rPr lang="pt-BR" dirty="0"/>
              <a:t> NP2 (</a:t>
            </a:r>
            <a:r>
              <a:rPr lang="pt-BR" b="1" dirty="0"/>
              <a:t>feita na data da NP3</a:t>
            </a:r>
            <a:r>
              <a:rPr lang="pt-BR" dirty="0"/>
              <a:t>).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o conteúdo da disciplina (teoria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o aluno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07/09/2026 (Independência do Brasil)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12/10/2026 (Nossa Senhora Aparecida)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02/11/2026 (Finados)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biblioteca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F866849-2673-9DD8-93D7-354FAFB6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24FCCBD-13AF-0692-F0E9-FEF93B5E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web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xmlns="" id="{2C154F14-2854-893E-039F-698DA1610ECF}"/>
              </a:ext>
            </a:extLst>
          </p:cNvPr>
          <p:cNvSpPr txBox="1">
            <a:spLocks/>
          </p:cNvSpPr>
          <p:nvPr/>
        </p:nvSpPr>
        <p:spPr>
          <a:xfrm>
            <a:off x="838200" y="1557495"/>
            <a:ext cx="11229870" cy="530050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Cursos</a:t>
            </a:r>
            <a:r>
              <a:rPr lang="en-US" dirty="0"/>
              <a:t> do Google: </a:t>
            </a:r>
            <a:r>
              <a:rPr lang="en-US" dirty="0">
                <a:hlinkClick r:id="rId2"/>
              </a:rPr>
              <a:t>https://developers.google.com/machine-learning</a:t>
            </a:r>
            <a:endParaRPr lang="en-US" dirty="0"/>
          </a:p>
          <a:p>
            <a:r>
              <a:rPr lang="en-US" dirty="0" err="1"/>
              <a:t>Cursos</a:t>
            </a:r>
            <a:r>
              <a:rPr lang="en-US" dirty="0"/>
              <a:t> da Deep-learning AI, </a:t>
            </a:r>
            <a:r>
              <a:rPr lang="en-US" dirty="0">
                <a:hlinkClick r:id="rId3"/>
              </a:rPr>
              <a:t>https://www.deeplearning.ai/courses</a:t>
            </a:r>
            <a:endParaRPr lang="en-US" dirty="0"/>
          </a:p>
          <a:p>
            <a:r>
              <a:rPr lang="en-US" dirty="0"/>
              <a:t>Mehryar </a:t>
            </a:r>
            <a:r>
              <a:rPr lang="en-US" dirty="0" err="1"/>
              <a:t>Mohri</a:t>
            </a:r>
            <a:r>
              <a:rPr lang="en-US" dirty="0"/>
              <a:t> et al., “Foundations of Machine Learning”, </a:t>
            </a:r>
            <a:r>
              <a:rPr lang="en-US" dirty="0">
                <a:hlinkClick r:id="rId4"/>
              </a:rPr>
              <a:t>https://cs.nyu.edu/~mohri/mlbook/</a:t>
            </a:r>
            <a:endParaRPr lang="en-US" dirty="0"/>
          </a:p>
          <a:p>
            <a:r>
              <a:rPr lang="en-US" dirty="0"/>
              <a:t>Osvaldo Simeone, “A Brief Introduction to Machine Learning for Engineers”, </a:t>
            </a:r>
            <a:r>
              <a:rPr lang="en-US" dirty="0">
                <a:hlinkClick r:id="rId5"/>
              </a:rPr>
              <a:t>https://arxiv.org/pdf/1709.02840</a:t>
            </a:r>
            <a:endParaRPr lang="en-US" dirty="0"/>
          </a:p>
          <a:p>
            <a:r>
              <a:rPr lang="en-US" dirty="0"/>
              <a:t>Deep learning book, “</a:t>
            </a:r>
            <a:r>
              <a:rPr lang="en-US" dirty="0" err="1"/>
              <a:t>Capítulo</a:t>
            </a:r>
            <a:r>
              <a:rPr lang="en-US" dirty="0"/>
              <a:t> 91 – Machine Learning – Guia </a:t>
            </a:r>
            <a:r>
              <a:rPr lang="en-US" dirty="0" err="1"/>
              <a:t>Definitivo</a:t>
            </a:r>
            <a:r>
              <a:rPr lang="en-US" dirty="0"/>
              <a:t> – </a:t>
            </a:r>
            <a:r>
              <a:rPr lang="en-US" dirty="0" err="1"/>
              <a:t>Parte</a:t>
            </a:r>
            <a:r>
              <a:rPr lang="en-US" dirty="0"/>
              <a:t> 1”, </a:t>
            </a:r>
            <a:r>
              <a:rPr lang="en-US" dirty="0">
                <a:hlinkClick r:id="rId6"/>
              </a:rPr>
              <a:t>https://www.deeplearningbook.com.br/machine-learning-guia-definitivo-parte-1/</a:t>
            </a:r>
            <a:endParaRPr lang="en-US" dirty="0"/>
          </a:p>
          <a:p>
            <a:r>
              <a:rPr lang="en-US" dirty="0"/>
              <a:t>Abhishek Thakur, “Approaching (Almost) Any Machine Learning Problem”, </a:t>
            </a:r>
            <a:r>
              <a:rPr lang="en-US" dirty="0">
                <a:hlinkClick r:id="rId7"/>
              </a:rPr>
              <a:t>https://github.com/abhishekkrthakur/approachingalmost/blob/master/AAAMLP.pdf</a:t>
            </a:r>
            <a:endParaRPr lang="en-US" dirty="0"/>
          </a:p>
          <a:p>
            <a:r>
              <a:rPr lang="en-US" dirty="0"/>
              <a:t>Shai Shalev-Shwartz and Shai Ben-David, “Understanding Machine Learning: From Theory to Algorithms”, </a:t>
            </a:r>
            <a:r>
              <a:rPr lang="en-US" dirty="0">
                <a:hlinkClick r:id="rId8"/>
              </a:rPr>
              <a:t>https://www.cs.huji.ac.il/~shais/UnderstandingMachineLearning/understanding-machine-learning-theory-algorithms.pdf</a:t>
            </a:r>
            <a:endParaRPr lang="en-US" dirty="0"/>
          </a:p>
          <a:p>
            <a:r>
              <a:rPr lang="en-US" dirty="0"/>
              <a:t>Andriy Burkov, "The Hundred-Page Machine Learning Book", </a:t>
            </a:r>
            <a:r>
              <a:rPr lang="en-US" dirty="0">
                <a:hlinkClick r:id="rId9"/>
              </a:rPr>
              <a:t>https://themlbook.com/wiki/doku.php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60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e estatística aplicadas com uma pitada (grande de)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“A ciência e a engenharia de criar máquinas inteligentes, especialmente programas de computador inteligentes.”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“IA é a ciência de fazer as máquinas realizarem tarefas que exigiriam inteligência se fossem feitas por humanos.”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685548" y="2850694"/>
              <a:ext cx="1872120" cy="509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 da IA moderna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63AAE1-41CB-2963-0EF8-22075B3C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Neurônio</a:t>
            </a:r>
            <a:r>
              <a:rPr lang="en-US" dirty="0"/>
              <a:t> artificial de McCulloch e Pitts (1943)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2A15A5B-B24D-BC69-2F70-0A4815AE8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2077" y="1825624"/>
            <a:ext cx="6379923" cy="5032375"/>
          </a:xfrm>
        </p:spPr>
        <p:txBody>
          <a:bodyPr>
            <a:normAutofit/>
          </a:bodyPr>
          <a:lstStyle/>
          <a:p>
            <a:r>
              <a:rPr lang="en-US" dirty="0" err="1"/>
              <a:t>Proposto</a:t>
            </a:r>
            <a:r>
              <a:rPr lang="en-US" dirty="0"/>
              <a:t> </a:t>
            </a:r>
            <a:r>
              <a:rPr lang="en-US" dirty="0" err="1"/>
              <a:t>pelos</a:t>
            </a:r>
            <a:r>
              <a:rPr lang="en-US" dirty="0"/>
              <a:t> </a:t>
            </a:r>
            <a:r>
              <a:rPr lang="en-US" dirty="0" err="1"/>
              <a:t>pesquisadores</a:t>
            </a:r>
            <a:r>
              <a:rPr lang="en-US" dirty="0"/>
              <a:t> </a:t>
            </a:r>
            <a:r>
              <a:rPr lang="en-US" b="1" dirty="0"/>
              <a:t>Warren McCulloch</a:t>
            </a:r>
            <a:r>
              <a:rPr lang="en-US" dirty="0"/>
              <a:t> e </a:t>
            </a:r>
            <a:r>
              <a:rPr lang="en-US" b="1" dirty="0"/>
              <a:t>Walter Pitts</a:t>
            </a:r>
            <a:r>
              <a:rPr lang="en-US" dirty="0"/>
              <a:t>.</a:t>
            </a:r>
          </a:p>
          <a:p>
            <a:r>
              <a:rPr lang="en-US" dirty="0"/>
              <a:t>Foi a </a:t>
            </a:r>
            <a:r>
              <a:rPr lang="en-US" dirty="0" err="1"/>
              <a:t>primeira</a:t>
            </a:r>
            <a:r>
              <a:rPr lang="en-US" dirty="0"/>
              <a:t> </a:t>
            </a:r>
            <a:r>
              <a:rPr lang="en-US" b="1" dirty="0" err="1"/>
              <a:t>abstração</a:t>
            </a:r>
            <a:r>
              <a:rPr lang="en-US" b="1" dirty="0"/>
              <a:t> </a:t>
            </a:r>
            <a:r>
              <a:rPr lang="en-US" b="1" dirty="0" err="1"/>
              <a:t>matemática</a:t>
            </a:r>
            <a:r>
              <a:rPr lang="en-US" b="1" dirty="0"/>
              <a:t> </a:t>
            </a:r>
            <a:r>
              <a:rPr lang="en-US" dirty="0"/>
              <a:t>do </a:t>
            </a:r>
            <a:r>
              <a:rPr lang="en-US" dirty="0" err="1"/>
              <a:t>funcionamento</a:t>
            </a:r>
            <a:r>
              <a:rPr lang="en-US" dirty="0"/>
              <a:t> de um </a:t>
            </a:r>
            <a:r>
              <a:rPr lang="en-US" dirty="0" err="1"/>
              <a:t>neurônio</a:t>
            </a:r>
            <a:r>
              <a:rPr lang="en-US" dirty="0"/>
              <a:t> </a:t>
            </a:r>
            <a:r>
              <a:rPr lang="en-US" dirty="0" err="1"/>
              <a:t>biológico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matemático</a:t>
            </a:r>
            <a:r>
              <a:rPr lang="en-US" dirty="0"/>
              <a:t>.</a:t>
            </a:r>
          </a:p>
          <a:p>
            <a:r>
              <a:rPr lang="en-US" dirty="0"/>
              <a:t>É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b="1" dirty="0" err="1"/>
              <a:t>marco</a:t>
            </a:r>
            <a:r>
              <a:rPr lang="en-US" b="1" dirty="0"/>
              <a:t> </a:t>
            </a:r>
            <a:r>
              <a:rPr lang="en-US" b="1" dirty="0" err="1"/>
              <a:t>inicial</a:t>
            </a:r>
            <a:r>
              <a:rPr lang="en-US" b="1" dirty="0"/>
              <a:t> das redes </a:t>
            </a:r>
            <a:r>
              <a:rPr lang="en-US" b="1" dirty="0" err="1"/>
              <a:t>neurais</a:t>
            </a:r>
            <a:r>
              <a:rPr lang="en-US" b="1" dirty="0"/>
              <a:t> </a:t>
            </a:r>
            <a:r>
              <a:rPr lang="en-US" b="1" dirty="0" err="1"/>
              <a:t>artificiais</a:t>
            </a:r>
            <a:r>
              <a:rPr lang="en-US" dirty="0"/>
              <a:t>.</a:t>
            </a:r>
          </a:p>
          <a:p>
            <a:r>
              <a:rPr lang="en-US" dirty="0"/>
              <a:t>É a base </a:t>
            </a:r>
            <a:r>
              <a:rPr lang="en-US" dirty="0" err="1"/>
              <a:t>conceitual</a:t>
            </a:r>
            <a:r>
              <a:rPr lang="en-US" dirty="0"/>
              <a:t> da </a:t>
            </a:r>
            <a:r>
              <a:rPr lang="en-US" b="1" dirty="0"/>
              <a:t>IA moderna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F8150FF9-A0E9-DC6C-7B8F-8F289041E6D2}"/>
              </a:ext>
            </a:extLst>
          </p:cNvPr>
          <p:cNvGrpSpPr/>
          <p:nvPr/>
        </p:nvGrpSpPr>
        <p:grpSpPr>
          <a:xfrm>
            <a:off x="743211" y="1490272"/>
            <a:ext cx="4455922" cy="5167311"/>
            <a:chOff x="555321" y="1690688"/>
            <a:chExt cx="4455922" cy="5167311"/>
          </a:xfrm>
        </p:grpSpPr>
        <p:pic>
          <p:nvPicPr>
            <p:cNvPr id="4" name="Imagem 3" descr="McCulloch Pitt's Model of Neuron - Naukri Code 360">
              <a:extLst>
                <a:ext uri="{FF2B5EF4-FFF2-40B4-BE49-F238E27FC236}">
                  <a16:creationId xmlns:a16="http://schemas.microsoft.com/office/drawing/2014/main" xmlns="" id="{F7C4A45F-0F8D-834C-6645-F7F811392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5321" y="1690688"/>
              <a:ext cx="4455922" cy="2618606"/>
            </a:xfrm>
            <a:prstGeom prst="rect">
              <a:avLst/>
            </a:prstGeom>
          </p:spPr>
        </p:pic>
        <p:pic>
          <p:nvPicPr>
            <p:cNvPr id="5" name="Imagem 4" descr="McCulloch-Pitts Neuron — Mankind's First Mathematical Model Of A Biological  Neuron | by Akshay L Chandra | TDS Archive | Medium">
              <a:extLst>
                <a:ext uri="{FF2B5EF4-FFF2-40B4-BE49-F238E27FC236}">
                  <a16:creationId xmlns:a16="http://schemas.microsoft.com/office/drawing/2014/main" xmlns="" id="{89895675-3975-F5B3-BC8C-8B62E6613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9452" y="4879293"/>
              <a:ext cx="3477931" cy="1978706"/>
            </a:xfrm>
            <a:prstGeom prst="rect">
              <a:avLst/>
            </a:prstGeom>
          </p:spPr>
        </p:pic>
        <p:sp>
          <p:nvSpPr>
            <p:cNvPr id="6" name="Seta: para Baixo 5">
              <a:extLst>
                <a:ext uri="{FF2B5EF4-FFF2-40B4-BE49-F238E27FC236}">
                  <a16:creationId xmlns:a16="http://schemas.microsoft.com/office/drawing/2014/main" xmlns="" id="{562AC6D0-A328-D5B8-B74B-F404D0F8F26E}"/>
                </a:ext>
              </a:extLst>
            </p:cNvPr>
            <p:cNvSpPr/>
            <p:nvPr/>
          </p:nvSpPr>
          <p:spPr>
            <a:xfrm>
              <a:off x="2563000" y="4309294"/>
              <a:ext cx="440564" cy="46312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4511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76774" y="1825624"/>
            <a:ext cx="671522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Alan Turing em seu artigo </a:t>
            </a:r>
            <a:r>
              <a:rPr lang="pt-BR" i="1" dirty="0"/>
              <a:t>“</a:t>
            </a:r>
            <a:r>
              <a:rPr lang="pt-BR" i="1" dirty="0" err="1"/>
              <a:t>Computing</a:t>
            </a:r>
            <a:r>
              <a:rPr lang="pt-BR" i="1" dirty="0"/>
              <a:t> Machinery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”</a:t>
            </a:r>
            <a:r>
              <a:rPr lang="pt-BR" dirty="0"/>
              <a:t> pergunta:</a:t>
            </a:r>
          </a:p>
          <a:p>
            <a:pPr marL="0" indent="0" algn="ctr">
              <a:buNone/>
            </a:pPr>
            <a:r>
              <a:rPr lang="pt-BR" b="1" dirty="0">
                <a:solidFill>
                  <a:srgbClr val="00B0F0"/>
                </a:solidFill>
              </a:rPr>
              <a:t>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  <a:p>
            <a:r>
              <a:rPr lang="pt-BR" dirty="0"/>
              <a:t>O teste envolvia 1 humano, 1 computador e 1 juiz em salas separadas e que se comunicavam por mensagens escritas.</a:t>
            </a:r>
          </a:p>
          <a:p>
            <a:r>
              <a:rPr lang="pt-BR" noProof="0" dirty="0"/>
              <a:t>O objetivo da máquina era convencer o juiz de que ela era um humano e o do humano era ajudar o juiz a identificar a máquina.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566" y="2049379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53322" y="5620770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noProof="0" dirty="0"/>
              <a:t>Para passar no teste, a máquina deve ter as seguintes </a:t>
            </a:r>
            <a:r>
              <a:rPr lang="pt-BR" b="1" noProof="0" dirty="0">
                <a:solidFill>
                  <a:schemeClr val="accent1"/>
                </a:solidFill>
              </a:rPr>
              <a:t>capacidades</a:t>
            </a:r>
            <a:r>
              <a:rPr lang="pt-BR" noProof="0" dirty="0"/>
              <a:t>:</a:t>
            </a:r>
          </a:p>
          <a:p>
            <a:pPr fontAlgn="base"/>
            <a:r>
              <a:rPr lang="pt-BR" b="1" noProof="0" dirty="0"/>
              <a:t>Processamento de linguagem natural: </a:t>
            </a:r>
            <a:r>
              <a:rPr lang="pt-BR" noProof="0" dirty="0"/>
              <a:t>comunicar-se (entender e se expressar) em um idioma natural.</a:t>
            </a:r>
          </a:p>
          <a:p>
            <a:pPr lvl="1" fontAlgn="base"/>
            <a:r>
              <a:rPr lang="pt-BR" b="1" noProof="0" dirty="0"/>
              <a:t>OBS</a:t>
            </a:r>
            <a:r>
              <a:rPr lang="pt-BR" noProof="0" dirty="0"/>
              <a:t>.: O teste de Turing original considera apenas linguagem escrita, mas versões atuais incorporam a linguagem falada.​</a:t>
            </a:r>
          </a:p>
          <a:p>
            <a:pPr fontAlgn="base"/>
            <a:r>
              <a:rPr lang="pt-BR" b="1" noProof="0" dirty="0"/>
              <a:t>Representação de conhecimento: </a:t>
            </a:r>
            <a:r>
              <a:rPr lang="pt-BR" noProof="0" dirty="0"/>
              <a:t>armazenar o conhecimento adquirido (por exemplo, através da visão e/ou audição).​</a:t>
            </a:r>
          </a:p>
          <a:p>
            <a:pPr fontAlgn="base"/>
            <a:r>
              <a:rPr lang="pt-BR" b="1" noProof="0" dirty="0"/>
              <a:t>Raciocínio automatizado: </a:t>
            </a:r>
            <a:r>
              <a:rPr lang="pt-BR" dirty="0"/>
              <a:t>utilizar fatos e regras armazenados para inferir automaticamente novos conhecimentos.</a:t>
            </a:r>
            <a:endParaRPr lang="pt-BR" noProof="0" dirty="0"/>
          </a:p>
          <a:p>
            <a:pPr fontAlgn="base"/>
            <a:r>
              <a:rPr lang="pt-BR" b="1" noProof="0" dirty="0"/>
              <a:t>Aprendizado de máquina: </a:t>
            </a:r>
            <a:r>
              <a:rPr lang="pt-BR" noProof="0" dirty="0"/>
              <a:t>adaptar-se a novas situações e reconhecer padrões a partir de experiências prévias.</a:t>
            </a:r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30% dos juízes fossem convencidos de que um participante era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dos </a:t>
            </a:r>
            <a:r>
              <a:rPr lang="pt-BR" dirty="0" err="1"/>
              <a:t>LLMs</a:t>
            </a:r>
            <a:r>
              <a:rPr lang="pt-BR" dirty="0"/>
              <a:t>, o teste de Turing “clássico”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os juízes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D0B17F7B-8364-42CB-F569-FF30745C1C88}"/>
              </a:ext>
            </a:extLst>
          </p:cNvPr>
          <p:cNvSpPr txBox="1"/>
          <p:nvPr/>
        </p:nvSpPr>
        <p:spPr>
          <a:xfrm>
            <a:off x="10733278" y="4237971"/>
            <a:ext cx="14286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Alguns</a:t>
            </a:r>
            <a:r>
              <a:rPr lang="en-US" sz="1200" dirty="0"/>
              <a:t> dos </a:t>
            </a:r>
            <a:r>
              <a:rPr lang="en-US" sz="1200" dirty="0" err="1"/>
              <a:t>participantes</a:t>
            </a:r>
            <a:r>
              <a:rPr lang="en-US" sz="1200" dirty="0"/>
              <a:t> do </a:t>
            </a:r>
            <a:r>
              <a:rPr lang="en-US" sz="1200" i="1" dirty="0"/>
              <a:t>Dartmouth Summer Research Project on Artificial Intelligence</a:t>
            </a:r>
            <a:r>
              <a:rPr lang="en-US" sz="1200" dirty="0"/>
              <a:t>, </a:t>
            </a:r>
            <a:r>
              <a:rPr lang="en-US" sz="1200" dirty="0" err="1"/>
              <a:t>considerado</a:t>
            </a:r>
            <a:r>
              <a:rPr lang="en-US" sz="1200" dirty="0"/>
              <a:t> o </a:t>
            </a:r>
            <a:r>
              <a:rPr lang="en-US" sz="1200" dirty="0" err="1"/>
              <a:t>evento</a:t>
            </a:r>
            <a:r>
              <a:rPr lang="en-US" sz="1200" dirty="0"/>
              <a:t> </a:t>
            </a:r>
            <a:r>
              <a:rPr lang="en-US" sz="1200" dirty="0" err="1"/>
              <a:t>fundador</a:t>
            </a:r>
            <a:r>
              <a:rPr lang="en-US" sz="1200" dirty="0"/>
              <a:t> da </a:t>
            </a:r>
            <a:r>
              <a:rPr lang="en-US" sz="1200" dirty="0" err="1"/>
              <a:t>Inteligência</a:t>
            </a:r>
            <a:r>
              <a:rPr lang="en-US" sz="1200" dirty="0"/>
              <a:t> Artificial. </a:t>
            </a:r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</a:t>
            </a:r>
            <a:r>
              <a:rPr lang="pt-BR" dirty="0" smtClean="0"/>
              <a:t>era uma </a:t>
            </a:r>
            <a:r>
              <a:rPr lang="pt-BR" b="1" dirty="0"/>
              <a:t>“futilidade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 pesquisa em IA ficou com </a:t>
            </a:r>
            <a:r>
              <a:rPr lang="pt-BR" b="1" dirty="0"/>
              <a:t>pouca visibilidade</a:t>
            </a:r>
            <a:r>
              <a:rPr lang="pt-BR" dirty="0"/>
              <a:t>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</a:t>
            </a:r>
            <a:r>
              <a:rPr lang="pt-BR" b="1" dirty="0">
                <a:solidFill>
                  <a:schemeClr val="accent1"/>
                </a:solidFill>
              </a:rPr>
              <a:t>treinar redes multicamadas </a:t>
            </a:r>
            <a:r>
              <a:rPr lang="pt-BR" dirty="0"/>
              <a:t>de forma eficiente.</a:t>
            </a:r>
          </a:p>
          <a:p>
            <a:r>
              <a:rPr lang="pt-BR" b="1" dirty="0"/>
              <a:t>Ao longo da década de 90</a:t>
            </a:r>
            <a:r>
              <a:rPr lang="pt-BR" dirty="0"/>
              <a:t>, </a:t>
            </a:r>
            <a:r>
              <a:rPr lang="en-US" dirty="0" err="1"/>
              <a:t>algoritmos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b="1" i="1" dirty="0">
                <a:solidFill>
                  <a:schemeClr val="accent1"/>
                </a:solidFill>
              </a:rPr>
              <a:t>Support Vector Machines</a:t>
            </a:r>
            <a:r>
              <a:rPr lang="en-US" b="1" dirty="0">
                <a:solidFill>
                  <a:schemeClr val="accent1"/>
                </a:solidFill>
              </a:rPr>
              <a:t>, </a:t>
            </a:r>
            <a:r>
              <a:rPr lang="en-US" b="1" dirty="0" err="1">
                <a:solidFill>
                  <a:schemeClr val="accent1"/>
                </a:solidFill>
              </a:rPr>
              <a:t>árvores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decisão</a:t>
            </a:r>
            <a:r>
              <a:rPr lang="en-US" b="1" dirty="0">
                <a:solidFill>
                  <a:schemeClr val="accent1"/>
                </a:solidFill>
              </a:rPr>
              <a:t>, redes </a:t>
            </a:r>
            <a:r>
              <a:rPr lang="en-US" b="1" dirty="0" err="1">
                <a:solidFill>
                  <a:schemeClr val="accent1"/>
                </a:solidFill>
              </a:rPr>
              <a:t>neurais</a:t>
            </a:r>
            <a:r>
              <a:rPr lang="en-US" dirty="0"/>
              <a:t> e outros </a:t>
            </a:r>
            <a:r>
              <a:rPr lang="en-US" dirty="0" err="1"/>
              <a:t>consolidaram</a:t>
            </a:r>
            <a:r>
              <a:rPr lang="en-US" dirty="0"/>
              <a:t> o </a:t>
            </a:r>
            <a:r>
              <a:rPr lang="en-US" b="1" dirty="0" err="1">
                <a:solidFill>
                  <a:schemeClr val="accent2"/>
                </a:solidFill>
              </a:rPr>
              <a:t>aprendizado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máquina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o </a:t>
            </a:r>
            <a:r>
              <a:rPr lang="en-US" b="1" dirty="0"/>
              <a:t>principal </a:t>
            </a:r>
            <a:r>
              <a:rPr lang="en-US" b="1" dirty="0" err="1"/>
              <a:t>paradigma</a:t>
            </a:r>
            <a:r>
              <a:rPr lang="en-US" b="1" dirty="0"/>
              <a:t> da IA moderna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da quantidade de dados digitais</a:t>
            </a:r>
            <a:r>
              <a:rPr lang="pt-BR" dirty="0"/>
              <a:t>, a IA, mais especificamente,</a:t>
            </a:r>
            <a:r>
              <a:rPr lang="pt-BR" b="1" dirty="0"/>
              <a:t> </a:t>
            </a:r>
            <a:r>
              <a:rPr lang="pt-BR" b="1" dirty="0">
                <a:solidFill>
                  <a:schemeClr val="accent1"/>
                </a:solidFill>
              </a:rPr>
              <a:t>o aprendizado de máquina</a:t>
            </a:r>
            <a:r>
              <a:rPr lang="pt-BR" dirty="0"/>
              <a:t>,</a:t>
            </a:r>
            <a:r>
              <a:rPr lang="pt-BR" b="1" dirty="0"/>
              <a:t>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aprendizado de máquina em </a:t>
            </a:r>
            <a:r>
              <a:rPr lang="pt-BR" b="1" dirty="0">
                <a:solidFill>
                  <a:schemeClr val="accent1"/>
                </a:solidFill>
              </a:rPr>
              <a:t>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</a:t>
            </a:r>
            <a:r>
              <a:rPr lang="pt-BR" b="1" dirty="0">
                <a:solidFill>
                  <a:schemeClr val="accent1"/>
                </a:solidFill>
              </a:rPr>
              <a:t>profunda</a:t>
            </a:r>
            <a:r>
              <a:rPr lang="pt-BR" b="1" dirty="0"/>
              <a:t>, </a:t>
            </a:r>
            <a:r>
              <a:rPr lang="pt-BR" b="1" dirty="0" err="1"/>
              <a:t>AlexNet</a:t>
            </a:r>
            <a:r>
              <a:rPr lang="pt-BR" dirty="0"/>
              <a:t>,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learning”</a:t>
            </a:r>
            <a:r>
              <a:rPr lang="pt-BR" dirty="0"/>
              <a:t>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significativa.</a:t>
            </a:r>
          </a:p>
          <a:p>
            <a:r>
              <a:rPr lang="pt-BR" dirty="0"/>
              <a:t>O erro caiu de 26.2% para 15.3% de uma vez, sendo que outros modelos reduziam o erro em 1% por ano.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sinteticamente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xmlns="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728138" y="1825624"/>
            <a:ext cx="6318969" cy="5032375"/>
          </a:xfrm>
        </p:spPr>
        <p:txBody>
          <a:bodyPr>
            <a:normAutofit/>
          </a:bodyPr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ao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reconhecimento facial e de fala</a:t>
            </a:r>
            <a:r>
              <a:rPr lang="pt-BR" dirty="0"/>
              <a:t> no celular,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carros autônomos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o próprio </a:t>
            </a:r>
            <a:r>
              <a:rPr lang="pt-BR" b="1" dirty="0"/>
              <a:t>ChatGPT</a:t>
            </a:r>
            <a:r>
              <a:rPr lang="pt-BR" dirty="0"/>
              <a:t>, </a:t>
            </a:r>
          </a:p>
          <a:p>
            <a:pPr marL="0" indent="0">
              <a:buNone/>
            </a:pPr>
            <a:r>
              <a:rPr lang="pt-BR" dirty="0"/>
              <a:t>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validou:</a:t>
            </a:r>
          </a:p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Profundidade está associada à </a:t>
            </a:r>
            <a:r>
              <a:rPr lang="pt-BR" b="1" dirty="0" smtClean="0">
                <a:solidFill>
                  <a:schemeClr val="accent1"/>
                </a:solidFill>
              </a:rPr>
              <a:t>capacidade </a:t>
            </a:r>
            <a:r>
              <a:rPr lang="pt-BR" b="1" dirty="0">
                <a:solidFill>
                  <a:schemeClr val="accent1"/>
                </a:solidFill>
              </a:rPr>
              <a:t>do modelo.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911" y="4112134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centenas de </a:t>
            </a:r>
            <a:r>
              <a:rPr lang="pt-BR" i="1" dirty="0" err="1"/>
              <a:t>terabytes</a:t>
            </a:r>
            <a:r>
              <a:rPr lang="pt-BR" dirty="0"/>
              <a:t> são gerados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</a:t>
            </a:r>
            <a:r>
              <a:rPr lang="pt-BR" b="1" dirty="0" smtClean="0"/>
              <a:t>de SW que </a:t>
            </a:r>
            <a:r>
              <a:rPr lang="pt-BR" b="1" dirty="0"/>
              <a:t>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7677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 e automação de linhas de produção, manutenção preditiva de máquinas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fraudes,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5125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(e.g., Netflix, </a:t>
            </a:r>
            <a:r>
              <a:rPr lang="pt-BR" dirty="0" err="1"/>
              <a:t>Amazon</a:t>
            </a:r>
            <a:r>
              <a:rPr lang="pt-BR" dirty="0"/>
              <a:t>), segmentação (i.e., agrupamento) de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 e </a:t>
            </a:r>
            <a:r>
              <a:rPr lang="pt-BR" i="1" dirty="0" err="1"/>
              <a:t>chatbots</a:t>
            </a:r>
            <a:r>
              <a:rPr lang="pt-BR" dirty="0"/>
              <a:t> para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doenças, objetos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Prever: preços de itens e serviços,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 autônomos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 smtClean="0"/>
              <a:t>A IA pode ser dividida em IA estreita e IA geral, mas o que significam esses termos?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4187577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perguntas, classificar imagens, etc.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</p:txBody>
      </p:sp>
      <p:pic>
        <p:nvPicPr>
          <p:cNvPr id="4" name="Imagem 3" descr="10 Papers You Should Read to Understand Image Classification in the Deep  Learning Era | by Ethan Yanjia Li | TDS Archive | Medium">
            <a:extLst>
              <a:ext uri="{FF2B5EF4-FFF2-40B4-BE49-F238E27FC236}">
                <a16:creationId xmlns:a16="http://schemas.microsoft.com/office/drawing/2014/main" xmlns="" id="{0EE5EF53-CBB2-C462-4B38-CB1E6CD389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4" t="14047" b="9610"/>
          <a:stretch>
            <a:fillRect/>
          </a:stretch>
        </p:blipFill>
        <p:spPr>
          <a:xfrm>
            <a:off x="3077757" y="4012432"/>
            <a:ext cx="5585732" cy="2480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71C514-8E7A-D6D3-4D51-29CCFA8F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B51ED1-16F2-0F96-9D2B-2CC11234A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xmlns="" id="{C30F3D40-A607-58BF-019B-AB10AC247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realizar qualquer tarefa </a:t>
            </a:r>
            <a:r>
              <a:rPr lang="pt-BR" dirty="0"/>
              <a:t>que um ser </a:t>
            </a:r>
            <a:r>
              <a:rPr lang="pt-BR" b="1" dirty="0"/>
              <a:t>humano consegue de forma autônoma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chegaremos em breve.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Um desdobramento é a </a:t>
            </a:r>
            <a:r>
              <a:rPr lang="pt-BR" b="1" dirty="0"/>
              <a:t>superinteligência artificial</a:t>
            </a:r>
            <a:r>
              <a:rPr lang="pt-BR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Ela teria </a:t>
            </a:r>
            <a:r>
              <a:rPr lang="pt-BR" b="1" dirty="0"/>
              <a:t>inteligência superior aos humanos </a:t>
            </a:r>
            <a:r>
              <a:rPr lang="pt-BR" dirty="0"/>
              <a:t>mais inteligentes </a:t>
            </a:r>
            <a:r>
              <a:rPr lang="pt-BR" b="1" dirty="0"/>
              <a:t>em qualquer área</a:t>
            </a:r>
            <a:r>
              <a:rPr lang="pt-BR" dirty="0"/>
              <a:t>. </a:t>
            </a:r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xmlns="" id="{7A99B25A-140D-5A59-FA14-CCE1D8A23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0092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BB7A25E8-331E-A944-52D9-EF0B6705BAB3}"/>
              </a:ext>
            </a:extLst>
          </p:cNvPr>
          <p:cNvSpPr txBox="1"/>
          <p:nvPr/>
        </p:nvSpPr>
        <p:spPr>
          <a:xfrm>
            <a:off x="3436883" y="6215876"/>
            <a:ext cx="5219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Sam Altman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419073" y="1825624"/>
            <a:ext cx="6636940" cy="5032375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</a:t>
            </a:r>
            <a:r>
              <a:rPr lang="pt-BR" b="1" dirty="0" smtClean="0">
                <a:solidFill>
                  <a:schemeClr val="accent5"/>
                </a:solidFill>
              </a:rPr>
              <a:t>características humanas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</a:t>
            </a:r>
            <a:r>
              <a:rPr lang="pt-BR" dirty="0" smtClean="0"/>
              <a:t>.</a:t>
            </a:r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xmlns="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xmlns="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xmlns="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xmlns="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xmlns="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xmlns="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xmlns="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xmlns="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xmlns="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xmlns="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xmlns="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</a:t>
            </a:r>
            <a:r>
              <a:rPr lang="en-US" dirty="0" err="1"/>
              <a:t>assistentes</a:t>
            </a:r>
            <a:r>
              <a:rPr lang="en-US" dirty="0"/>
              <a:t> de IA</a:t>
            </a:r>
            <a:r>
              <a:rPr lang="pt-BR" dirty="0"/>
              <a:t>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</a:t>
            </a:r>
            <a:r>
              <a:rPr lang="pt-BR" b="1" dirty="0">
                <a:cs typeface="Calibri"/>
              </a:rPr>
              <a:t>eficiente</a:t>
            </a:r>
            <a:r>
              <a:rPr lang="pt-BR" dirty="0">
                <a:cs typeface="Calibri"/>
              </a:rPr>
              <a:t>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xmlns="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99565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</a:t>
            </a:r>
            <a:r>
              <a:rPr lang="pt-BR" b="1" dirty="0" smtClean="0"/>
              <a:t>objetivo</a:t>
            </a:r>
            <a:r>
              <a:rPr lang="pt-BR" dirty="0" smtClean="0"/>
              <a:t> </a:t>
            </a:r>
            <a:r>
              <a:rPr lang="pt-BR" dirty="0"/>
              <a:t>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 sequência de ações a IA deve executar para atingir um dado objetivo?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Aplicação</a:t>
            </a:r>
            <a:r>
              <a:rPr lang="pt-BR" dirty="0"/>
              <a:t>: agentes de IA.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e interagir com o ambiente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Aplicação</a:t>
            </a:r>
            <a:r>
              <a:rPr lang="pt-BR" dirty="0"/>
              <a:t>: robôs </a:t>
            </a:r>
            <a:r>
              <a:rPr lang="pt-BR" dirty="0" smtClean="0"/>
              <a:t>domésticos e em </a:t>
            </a:r>
            <a:r>
              <a:rPr lang="pt-BR" dirty="0"/>
              <a:t>linhas de produção.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C19BAF2-07FB-07F0-567C-800CEFA3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Grandes desafios da visão computacional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84B550-68D4-B6CC-5DD1-1BA57525F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9255" y="1825624"/>
            <a:ext cx="6721200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Necessidade de </a:t>
            </a:r>
            <a:r>
              <a:rPr lang="pt-BR" b="1" noProof="0" dirty="0"/>
              <a:t>muitos dados rotulados</a:t>
            </a:r>
            <a:r>
              <a:rPr lang="pt-BR" noProof="0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A rotulagem exige muito tempo, e consequentemente, dinheiro.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Os dados devem ter diversidade e ser rotulados de forma correta: d</a:t>
            </a:r>
            <a:r>
              <a:rPr lang="pt-BR" dirty="0"/>
              <a:t>ados ruins geram erros e viés nos modelos.</a:t>
            </a:r>
            <a:endParaRPr lang="pt-BR" noProof="0" dirty="0"/>
          </a:p>
          <a:p>
            <a:r>
              <a:rPr lang="pt-BR" noProof="0" dirty="0"/>
              <a:t>Exigência de </a:t>
            </a:r>
            <a:r>
              <a:rPr lang="pt-BR" b="1" noProof="0" dirty="0"/>
              <a:t>alto poder de processamento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Treinar grandes modelos em grandes bases de dados exige placas de vídeo muito potentes e servidores caros.</a:t>
            </a:r>
            <a:endParaRPr lang="pt-BR" noProof="0" dirty="0"/>
          </a:p>
        </p:txBody>
      </p:sp>
      <p:pic>
        <p:nvPicPr>
          <p:cNvPr id="4" name="Imagem 3" descr="1,100+ Data Flood Stock Photos, Pictures &amp; Royalty-Free Images - iStock">
            <a:extLst>
              <a:ext uri="{FF2B5EF4-FFF2-40B4-BE49-F238E27FC236}">
                <a16:creationId xmlns:a16="http://schemas.microsoft.com/office/drawing/2014/main" xmlns="" id="{2E88F654-93A8-8758-79FB-E56E86C1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0" y="1406910"/>
            <a:ext cx="2860689" cy="2617624"/>
          </a:xfrm>
          <a:prstGeom prst="rect">
            <a:avLst/>
          </a:prstGeom>
        </p:spPr>
      </p:pic>
      <p:pic>
        <p:nvPicPr>
          <p:cNvPr id="5" name="Imagem 4" descr="Brasil poderá ser o próximo hub mundial de data centers?">
            <a:extLst>
              <a:ext uri="{FF2B5EF4-FFF2-40B4-BE49-F238E27FC236}">
                <a16:creationId xmlns:a16="http://schemas.microsoft.com/office/drawing/2014/main" xmlns="" id="{A12921D9-5564-A3FD-B946-07F062949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837" y="4341811"/>
            <a:ext cx="3512983" cy="233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4064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2" y="1825624"/>
            <a:ext cx="6188013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e 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94877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</a:t>
            </a:r>
            <a:r>
              <a:rPr lang="pt-BR" b="1" dirty="0"/>
              <a:t>aprender padrões complexos</a:t>
            </a:r>
            <a:r>
              <a:rPr lang="pt-BR" dirty="0"/>
              <a:t> (como os encontrados em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Por exemplo, o GPT 3 tinha 96 camadas.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xmlns="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11321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ML é a base da IA moderna</a:t>
            </a:r>
            <a:r>
              <a:rPr lang="pt-BR" dirty="0"/>
              <a:t>. </a:t>
            </a:r>
          </a:p>
          <a:p>
            <a:pPr marL="0" indent="0" algn="ctr">
              <a:buNone/>
            </a:pPr>
            <a:r>
              <a:rPr lang="pt-BR" dirty="0"/>
              <a:t>Portanto, focaremos nesta subárea durante nosso curso.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xmlns="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068093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Em alguns casos, a máquina só recebe as entradas.</a:t>
            </a:r>
          </a:p>
        </p:txBody>
      </p:sp>
      <p:pic>
        <p:nvPicPr>
          <p:cNvPr id="5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xmlns="" id="{025B0249-9578-9A2B-74B7-72673B8689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870434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 smtClean="0">
                <a:solidFill>
                  <a:schemeClr val="accent1"/>
                </a:solidFill>
              </a:rPr>
              <a:t>emulem todas</a:t>
            </a:r>
            <a:r>
              <a:rPr lang="pt-BR" b="1" dirty="0" smtClean="0"/>
              <a:t> </a:t>
            </a:r>
            <a:r>
              <a:rPr lang="pt-BR" b="1" dirty="0"/>
              <a:t>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os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5" y="1825624"/>
            <a:ext cx="6323215" cy="5032375"/>
          </a:xfrm>
        </p:spPr>
        <p:txBody>
          <a:bodyPr>
            <a:normAutofit/>
          </a:bodyPr>
          <a:lstStyle/>
          <a:p>
            <a:r>
              <a:rPr lang="pt-BR" dirty="0"/>
              <a:t>Robôs inteligentes irão substituir humanos em várias tarefas.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</a:t>
            </a:r>
            <a:r>
              <a:rPr lang="pt-BR" dirty="0"/>
              <a:t>,</a:t>
            </a:r>
            <a:r>
              <a:rPr lang="pt-BR" b="1" dirty="0"/>
              <a:t> </a:t>
            </a:r>
            <a:r>
              <a:rPr lang="pt-BR" dirty="0"/>
              <a:t>enquanto o </a:t>
            </a:r>
            <a:r>
              <a:rPr lang="pt-BR" b="1" dirty="0"/>
              <a:t>humano passa 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problemas para que a IA resolva.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Supervisionar e programar 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Pensar de forma estratégica.</a:t>
            </a:r>
          </a:p>
          <a:p>
            <a:r>
              <a:rPr lang="pt-BR" dirty="0"/>
              <a:t>O desafio é a </a:t>
            </a:r>
            <a:r>
              <a:rPr lang="pt-BR" b="1" dirty="0"/>
              <a:t>(</a:t>
            </a:r>
            <a:r>
              <a:rPr lang="pt-BR" b="1" dirty="0" err="1"/>
              <a:t>re</a:t>
            </a:r>
            <a:r>
              <a:rPr lang="pt-BR" b="1" dirty="0"/>
              <a:t>)qualificação</a:t>
            </a:r>
            <a:r>
              <a:rPr lang="pt-BR" dirty="0"/>
              <a:t>.</a:t>
            </a:r>
          </a:p>
          <a:p>
            <a:r>
              <a:rPr lang="pt-BR" dirty="0"/>
              <a:t>Pessoas que conhecem IA substituirão as que não conhecem.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596389"/>
            <a:ext cx="11498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76193" y="1825624"/>
            <a:ext cx="6915807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Do dono, do programador ou da empresa que criou o modelo?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</a:t>
            </a:r>
            <a:r>
              <a:rPr lang="pt-BR" b="1" dirty="0">
                <a:solidFill>
                  <a:schemeClr val="accent1"/>
                </a:solidFill>
              </a:rPr>
              <a:t>ferramenta</a:t>
            </a:r>
            <a:r>
              <a:rPr lang="pt-BR" dirty="0"/>
              <a:t>, a responsabilidade final é de quem </a:t>
            </a:r>
            <a:r>
              <a:rPr lang="pt-BR" b="1" dirty="0"/>
              <a:t>cria, configura ou opera o sistema </a:t>
            </a:r>
            <a:r>
              <a:rPr lang="pt-BR" dirty="0"/>
              <a:t>e não da IA.</a:t>
            </a:r>
          </a:p>
          <a:p>
            <a:r>
              <a:rPr lang="en-US" dirty="0"/>
              <a:t>IA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possui</a:t>
            </a:r>
            <a:r>
              <a:rPr lang="en-US" b="1" dirty="0"/>
              <a:t> </a:t>
            </a:r>
            <a:r>
              <a:rPr lang="en-US" b="1" dirty="0" err="1"/>
              <a:t>personalidade</a:t>
            </a:r>
            <a:r>
              <a:rPr lang="en-US" b="1" dirty="0"/>
              <a:t> </a:t>
            </a:r>
            <a:r>
              <a:rPr lang="en-US" b="1" dirty="0" err="1"/>
              <a:t>jurídica</a:t>
            </a:r>
            <a:r>
              <a:rPr lang="en-US" b="1" dirty="0"/>
              <a:t>.</a:t>
            </a:r>
            <a:endParaRPr lang="pt-BR" dirty="0"/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4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0" y="6596390"/>
            <a:ext cx="1118200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https://exame.com/tecnologia/carros-autonomos-quem-e-o-culpado-quando-ocorrem-acidentes/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5379" y="1825624"/>
            <a:ext cx="6642537" cy="5032375"/>
          </a:xfrm>
        </p:spPr>
        <p:txBody>
          <a:bodyPr/>
          <a:lstStyle/>
          <a:p>
            <a:r>
              <a:rPr lang="pt-BR" dirty="0"/>
              <a:t>IA pode </a:t>
            </a:r>
            <a:r>
              <a:rPr lang="pt-BR" b="1" dirty="0"/>
              <a:t>enganar</a:t>
            </a:r>
            <a:r>
              <a:rPr lang="pt-BR" dirty="0"/>
              <a:t> e </a:t>
            </a:r>
            <a:r>
              <a:rPr lang="pt-BR" b="1" dirty="0"/>
              <a:t>ser enganada</a:t>
            </a:r>
            <a:r>
              <a:rPr lang="pt-BR" dirty="0"/>
              <a:t>.</a:t>
            </a:r>
          </a:p>
          <a:p>
            <a:r>
              <a:rPr lang="en-US" dirty="0"/>
              <a:t>Durante testes </a:t>
            </a:r>
            <a:r>
              <a:rPr lang="en-US" dirty="0" err="1"/>
              <a:t>internos</a:t>
            </a:r>
            <a:r>
              <a:rPr lang="en-US" dirty="0"/>
              <a:t> de </a:t>
            </a:r>
            <a:r>
              <a:rPr lang="en-US" dirty="0" err="1"/>
              <a:t>capacidades</a:t>
            </a:r>
            <a:r>
              <a:rPr lang="en-US" dirty="0"/>
              <a:t> </a:t>
            </a:r>
            <a:r>
              <a:rPr lang="en-US" dirty="0" err="1"/>
              <a:t>cibernéticas</a:t>
            </a:r>
            <a:r>
              <a:rPr lang="en-US" dirty="0"/>
              <a:t>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da OpenAI “</a:t>
            </a:r>
            <a:r>
              <a:rPr lang="en-US" dirty="0" err="1"/>
              <a:t>fugiram</a:t>
            </a:r>
            <a:r>
              <a:rPr lang="en-US" dirty="0"/>
              <a:t>” e </a:t>
            </a:r>
            <a:r>
              <a:rPr lang="en-US" dirty="0" err="1"/>
              <a:t>invadiram</a:t>
            </a:r>
            <a:r>
              <a:rPr lang="en-US" dirty="0"/>
              <a:t> o Hugging Face.</a:t>
            </a:r>
            <a:endParaRPr lang="pt-BR" dirty="0"/>
          </a:p>
          <a:p>
            <a:r>
              <a:rPr lang="pt-BR" dirty="0"/>
              <a:t>Existem ataques onde uma pequena adição de ruído a uma imagem pode fazer a IA ver um ‘Avião’ onde há um ‘Porco’.</a:t>
            </a:r>
          </a:p>
          <a:p>
            <a:r>
              <a:rPr lang="pt-BR" dirty="0"/>
              <a:t>Como conter as </a:t>
            </a:r>
            <a:r>
              <a:rPr lang="pt-BR" dirty="0" err="1"/>
              <a:t>IAs</a:t>
            </a:r>
            <a:r>
              <a:rPr lang="pt-BR" dirty="0"/>
              <a:t> e criar testes de segurança para elas?</a:t>
            </a:r>
          </a:p>
          <a:p>
            <a:r>
              <a:rPr lang="pt-BR" dirty="0"/>
              <a:t>Oportunidades de pesquisa e de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413" y="4353152"/>
            <a:ext cx="4538493" cy="1559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427113"/>
            <a:ext cx="84401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https://www.bbc.com/portuguese/articles/cvgw17k0n2go</a:t>
            </a:r>
          </a:p>
          <a:p>
            <a:r>
              <a:rPr lang="pt-BR" sz="1100" dirty="0">
                <a:hlinkClick r:id="rId4"/>
              </a:rPr>
              <a:t>https://veja.abril.com.br/tecnologia/codigos-destravam-bloqueios-de-seguranca-de-ias-generativas/</a:t>
            </a:r>
            <a:endParaRPr lang="pt-BR" sz="1100" dirty="0"/>
          </a:p>
        </p:txBody>
      </p:sp>
      <p:pic>
        <p:nvPicPr>
          <p:cNvPr id="4" name="Imagem 3" descr="ChatGPT vs. HuggingChat: Which Is Better?">
            <a:extLst>
              <a:ext uri="{FF2B5EF4-FFF2-40B4-BE49-F238E27FC236}">
                <a16:creationId xmlns:a16="http://schemas.microsoft.com/office/drawing/2014/main" xmlns="" id="{593A7A6F-3467-1984-680E-81CB4B83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14" y="1930727"/>
            <a:ext cx="4025462" cy="201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(</a:t>
            </a:r>
            <a:r>
              <a:rPr lang="pt-BR" i="1" dirty="0"/>
              <a:t>bias</a:t>
            </a:r>
            <a:r>
              <a:rPr lang="pt-BR" dirty="0"/>
              <a:t>) algorítmico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>
                <a:solidFill>
                  <a:schemeClr val="accent1"/>
                </a:solidFill>
              </a:rPr>
              <a:t>espelho</a:t>
            </a:r>
            <a:r>
              <a:rPr lang="pt-BR" b="1" dirty="0"/>
              <a:t>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0832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1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1" y="1825625"/>
            <a:ext cx="5974080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</a:t>
            </a:r>
            <a:r>
              <a:rPr lang="pt-BR" b="1" i="1" dirty="0">
                <a:solidFill>
                  <a:schemeClr val="accent1"/>
                </a:solidFill>
              </a:rPr>
              <a:t>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52" y="2268741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996539" y="1825624"/>
            <a:ext cx="610086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As </a:t>
            </a:r>
            <a:r>
              <a:rPr lang="pt-BR" altLang="pt-BR" i="1" dirty="0" err="1"/>
              <a:t>deepfakes</a:t>
            </a:r>
            <a:r>
              <a:rPr lang="pt-BR" altLang="pt-BR" dirty="0"/>
              <a:t> 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e </a:t>
            </a:r>
            <a:r>
              <a:rPr lang="pt-BR" dirty="0" err="1"/>
              <a:t>audios</a:t>
            </a:r>
            <a:r>
              <a:rPr lang="pt-BR" dirty="0"/>
              <a:t> perfeitos de qualquer pessoa dizendo qualquer coisa, como confiar no que vemos ou ouvimos?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96390"/>
            <a:ext cx="11870575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939121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são usados para treinar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quase nenhum controle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produto perto do celular e, em seguida, recebeu um anúncio exatamente daquele produto?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198695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1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708006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</a:t>
            </a:r>
            <a:r>
              <a:rPr lang="pt-BR" b="1" dirty="0"/>
              <a:t>usar a ferramenta com cuidado e inteligência</a:t>
            </a:r>
            <a:r>
              <a:rPr lang="pt-BR" dirty="0"/>
              <a:t>. </a:t>
            </a:r>
          </a:p>
          <a:p>
            <a:r>
              <a:rPr lang="pt-BR" dirty="0"/>
              <a:t>Estudar IA </a:t>
            </a:r>
            <a:r>
              <a:rPr lang="pt-BR" b="1" dirty="0">
                <a:solidFill>
                  <a:schemeClr val="accent1"/>
                </a:solidFill>
              </a:rPr>
              <a:t>não é sobre substituir humanos</a:t>
            </a:r>
            <a:r>
              <a:rPr lang="pt-BR" dirty="0"/>
              <a:t>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faz evoluir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xmlns="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não é só implementar um modelo e treiná-lo para resolver um problema</a:t>
            </a:r>
            <a:r>
              <a:rPr lang="pt-BR" dirty="0"/>
              <a:t>, mas </a:t>
            </a:r>
            <a:r>
              <a:rPr lang="pt-BR" b="1" dirty="0"/>
              <a:t>garantir que ele seja </a:t>
            </a:r>
            <a:r>
              <a:rPr lang="pt-BR" b="1" dirty="0">
                <a:solidFill>
                  <a:schemeClr val="accent1"/>
                </a:solidFill>
              </a:rPr>
              <a:t>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xmlns="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9670</TotalTime>
  <Words>6473</Words>
  <Application>Microsoft Office PowerPoint</Application>
  <PresentationFormat>Widescreen</PresentationFormat>
  <Paragraphs>665</Paragraphs>
  <Slides>68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68</vt:i4>
      </vt:variant>
    </vt:vector>
  </HeadingPairs>
  <TitlesOfParts>
    <vt:vector size="74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Referências disponíveis na biblioteca</vt:lpstr>
      <vt:lpstr>Referências disponíveis na web</vt:lpstr>
      <vt:lpstr>Apresentação do PowerPoint</vt:lpstr>
      <vt:lpstr>O que vocês acham que é IA?</vt:lpstr>
      <vt:lpstr>O que é IA?</vt:lpstr>
      <vt:lpstr>O que é IA?</vt:lpstr>
      <vt:lpstr>Apresentação do PowerPoint</vt:lpstr>
      <vt:lpstr>Neurônio artificial de McCulloch e Pitts (1943)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Apresentação do PowerPoint</vt:lpstr>
      <vt:lpstr>IA Estreita vs. IA Geral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Grandes desafios da visão computacional</vt:lpstr>
      <vt:lpstr>Subáreas da inteligência artificial</vt:lpstr>
      <vt:lpstr>Subáreas da inteligência artificial</vt:lpstr>
      <vt:lpstr>Subáreas da inteligência artificial</vt:lpstr>
      <vt:lpstr>O paradigma do aprendizado de máquina</vt:lpstr>
      <vt:lpstr>O paradigma do aprendizado de máquina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(bias) algorítmico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2166</cp:revision>
  <dcterms:created xsi:type="dcterms:W3CDTF">2020-01-20T13:50:05Z</dcterms:created>
  <dcterms:modified xsi:type="dcterms:W3CDTF">2026-07-27T21:48:27Z</dcterms:modified>
</cp:coreProperties>
</file>