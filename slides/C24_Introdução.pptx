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handoutMasterIdLst>
    <p:handoutMasterId r:id="rId67"/>
  </p:handoutMasterIdLst>
  <p:sldIdLst>
    <p:sldId id="256" r:id="rId2"/>
    <p:sldId id="307" r:id="rId3"/>
    <p:sldId id="372" r:id="rId4"/>
    <p:sldId id="359" r:id="rId5"/>
    <p:sldId id="315" r:id="rId6"/>
    <p:sldId id="358" r:id="rId7"/>
    <p:sldId id="360" r:id="rId8"/>
    <p:sldId id="308" r:id="rId9"/>
    <p:sldId id="309" r:id="rId10"/>
    <p:sldId id="373" r:id="rId11"/>
    <p:sldId id="318" r:id="rId12"/>
    <p:sldId id="317" r:id="rId13"/>
    <p:sldId id="311" r:id="rId14"/>
    <p:sldId id="321" r:id="rId15"/>
    <p:sldId id="319" r:id="rId16"/>
    <p:sldId id="320" r:id="rId17"/>
    <p:sldId id="322" r:id="rId18"/>
    <p:sldId id="323" r:id="rId19"/>
    <p:sldId id="324" r:id="rId20"/>
    <p:sldId id="312" r:id="rId21"/>
    <p:sldId id="326" r:id="rId22"/>
    <p:sldId id="313" r:id="rId23"/>
    <p:sldId id="361" r:id="rId24"/>
    <p:sldId id="362" r:id="rId25"/>
    <p:sldId id="325" r:id="rId26"/>
    <p:sldId id="363" r:id="rId27"/>
    <p:sldId id="327" r:id="rId28"/>
    <p:sldId id="329" r:id="rId29"/>
    <p:sldId id="330" r:id="rId30"/>
    <p:sldId id="331" r:id="rId31"/>
    <p:sldId id="364" r:id="rId32"/>
    <p:sldId id="332" r:id="rId33"/>
    <p:sldId id="365" r:id="rId34"/>
    <p:sldId id="333" r:id="rId35"/>
    <p:sldId id="366" r:id="rId36"/>
    <p:sldId id="339" r:id="rId37"/>
    <p:sldId id="335" r:id="rId38"/>
    <p:sldId id="334" r:id="rId39"/>
    <p:sldId id="336" r:id="rId40"/>
    <p:sldId id="338" r:id="rId41"/>
    <p:sldId id="337" r:id="rId42"/>
    <p:sldId id="344" r:id="rId43"/>
    <p:sldId id="342" r:id="rId44"/>
    <p:sldId id="340" r:id="rId45"/>
    <p:sldId id="368" r:id="rId46"/>
    <p:sldId id="367" r:id="rId47"/>
    <p:sldId id="345" r:id="rId48"/>
    <p:sldId id="369" r:id="rId49"/>
    <p:sldId id="341" r:id="rId50"/>
    <p:sldId id="347" r:id="rId51"/>
    <p:sldId id="346" r:id="rId52"/>
    <p:sldId id="354" r:id="rId53"/>
    <p:sldId id="355" r:id="rId54"/>
    <p:sldId id="356" r:id="rId55"/>
    <p:sldId id="357" r:id="rId56"/>
    <p:sldId id="349" r:id="rId57"/>
    <p:sldId id="353" r:id="rId58"/>
    <p:sldId id="351" r:id="rId59"/>
    <p:sldId id="352" r:id="rId60"/>
    <p:sldId id="350" r:id="rId61"/>
    <p:sldId id="371" r:id="rId62"/>
    <p:sldId id="370" r:id="rId63"/>
    <p:sldId id="293" r:id="rId64"/>
    <p:sldId id="306" r:id="rId65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8" autoAdjust="0"/>
    <p:restoredTop sz="85956" autoAdjust="0"/>
  </p:normalViewPr>
  <p:slideViewPr>
    <p:cSldViewPr snapToGrid="0">
      <p:cViewPr varScale="1">
        <p:scale>
          <a:sx n="63" d="100"/>
          <a:sy n="63" d="100"/>
        </p:scale>
        <p:origin x="1176" y="66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26/07/2026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evin_Warwick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Computing_Machinery_and_Intelligence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Michael_James_Lighthill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pt.wikipedia.org/wiki/Intelig%C3%AAncia_artificial" TargetMode="External"/><Relationship Id="rId5" Type="http://schemas.openxmlformats.org/officeDocument/2006/relationships/hyperlink" Target="https://pt.wikipedia.org/wiki/Science_and_Engineering_Research_Council" TargetMode="External"/><Relationship Id="rId4" Type="http://schemas.openxmlformats.org/officeDocument/2006/relationships/hyperlink" Target="https://pt.wikipedia.org/wiki/Relat%C3%B3rio_Lighthill#cite_note-lighthill_report-1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mdb.com/title/tt0084787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imdb.com/title/tt0182789/" TargetMode="Externa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mdb.com/title/tt0084787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imdb.com/title/tt0182789/" TargetMode="Externa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mdb.com/title/tt0084787/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imdb.com/title/tt0182789/" TargetMode="Externa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mdb.com/title/tt0084787/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imdb.com/title/tt0182789/" TargetMode="Externa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mdb.com/title/tt0084787/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imdb.com/title/tt0182789/" TargetMode="Externa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BE3FA91-AAA0-28D5-C242-B0389F2A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="" xmlns:a16="http://schemas.microsoft.com/office/drawing/2014/main" id="{2E16A987-59A9-DBA1-1398-776D9B347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="" xmlns:a16="http://schemas.microsoft.com/office/drawing/2014/main" id="{11C10AA4-6745-D0D0-11EA-5B87B6DB7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72B3E542-6DE8-9010-D5C4-BC1447473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9579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380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Dois dos </a:t>
            </a:r>
            <a:r>
              <a:rPr lang="pt-BR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founding</a:t>
            </a:r>
            <a:r>
              <a:rPr lang="pt-BR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1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fathers</a:t>
            </a:r>
            <a:r>
              <a:rPr lang="pt-BR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1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pt-BR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endParaRPr lang="pt-BR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Definição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Capacidade de uma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máquina de </a:t>
            </a:r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receber estímulos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vindos do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ambiente, </a:t>
            </a:r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interpretá-los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aprender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eles e usar o </a:t>
            </a:r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conhecimento adquirido</a:t>
            </a:r>
            <a:r>
              <a:rPr lang="pt-BR" sz="1200" b="1" i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tomar decisões e resolver</a:t>
            </a:r>
            <a:r>
              <a:rPr lang="pt-BR" sz="1200" b="1" i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problemas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interagindo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 o ambiente</a:t>
            </a:r>
            <a:r>
              <a:rPr lang="pt-BR" dirty="0"/>
              <a:t> 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18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Turing descreve o teste originalmente com três pessoas: um homem (A), uma mulher (B) e um interrogador (C). O interrogador deve descobrir quem é o homem e quem é a mulher apenas por perguntas escritas.</a:t>
            </a:r>
          </a:p>
          <a:p>
            <a:r>
              <a:rPr lang="pt-BR" dirty="0"/>
              <a:t>Depois, ele substitui um dos participantes por uma máquina. Se o interrogador errar tanto quanto errava com humanos, a máquina "venceu".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587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726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7 June 2014, at a contest marking the 60th anniversary of Turing's death, 33% of the event's judges thought that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Goostman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was human; the event's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Kevin Warwick"/>
              </a:rPr>
              <a:t>Kevin Warwick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considered it to have passed Turing's test as a result, per Turing's prediction in his 1950 paper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Computing Machinery and Intelligence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that by the year 2000, machines would be capable of fooling 30% of human judges after five minutes of questioning.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547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O Resultado:</a:t>
            </a:r>
            <a:r>
              <a:rPr lang="pt-BR" dirty="0"/>
              <a:t> Em um estudo da Universidade da Califórnia (San Diego) em 2025, o </a:t>
            </a:r>
            <a:r>
              <a:rPr lang="pt-BR" b="1" dirty="0"/>
              <a:t>GPT-4.5</a:t>
            </a:r>
            <a:r>
              <a:rPr lang="pt-BR" dirty="0"/>
              <a:t> enganou humanos em </a:t>
            </a:r>
            <a:r>
              <a:rPr lang="pt-BR" b="1" dirty="0"/>
              <a:t>73% das vezes</a:t>
            </a:r>
            <a:r>
              <a:rPr lang="pt-BR" dirty="0"/>
              <a:t>.</a:t>
            </a:r>
          </a:p>
          <a:p>
            <a:r>
              <a:rPr lang="pt-BR" b="1" dirty="0"/>
              <a:t>Curiosidade:</a:t>
            </a:r>
            <a:r>
              <a:rPr lang="pt-BR" dirty="0"/>
              <a:t> Nesse mesmo teste, seres humanos reais conseguiram convencer os juízes de que eram humanos em apenas cerca de 66% das vezes. Ou seja, a IA foi considerada </a:t>
            </a:r>
            <a:r>
              <a:rPr lang="pt-BR" b="1" dirty="0"/>
              <a:t>mais humana que os próprios humanos</a:t>
            </a:r>
            <a:r>
              <a:rPr lang="pt-BR" dirty="0"/>
              <a:t>!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1501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Houveram promessas demais, resultados de menos.</a:t>
            </a:r>
          </a:p>
          <a:p>
            <a:r>
              <a:rPr lang="pt-BR" dirty="0"/>
              <a:t>Por que parou? Falta de dados e processamento.</a:t>
            </a:r>
          </a:p>
          <a:p>
            <a:endParaRPr lang="pt-BR" dirty="0"/>
          </a:p>
          <a:p>
            <a:r>
              <a:rPr lang="pt-BR" b="1" dirty="0"/>
              <a:t>A Crise de Identidade:</a:t>
            </a:r>
            <a:r>
              <a:rPr lang="pt-BR" dirty="0"/>
              <a:t> O termo "Inteligência Artificial" ficou tão queimado que pesquisadores mudaram os nomes de seus projetos para "Sistemas de Apoio à Decisão" só para não perderem a verba.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488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Inteligência Artificial: Uma Visão Geral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comumente conhecido como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Relatório 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Lighthill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é um artigo acadêmico de 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ichael James Lighthill"/>
              </a:rPr>
              <a:t>James </a:t>
            </a:r>
            <a:r>
              <a:rPr lang="pt-B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ichael James Lighthill"/>
              </a:rPr>
              <a:t>Lighthill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publicado em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Inteligência Artificial: um simpósio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em 1973.</a:t>
            </a:r>
            <a:r>
              <a:rPr lang="pt-BR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[1]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 relatório foi produzido por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Lighthill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pedido do 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Science and Engineering Research Council"/>
              </a:rPr>
              <a:t>Conselho Britânico de Pesquisa Científica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como uma avaliação da pesquisa acadêmica no campo da 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Inteligência artificial"/>
              </a:rPr>
              <a:t>inteligência artificial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(IA).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908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A diferença de desempenho foi tão absurda que todos os outros pesquisadores abandonaram suas técnicas antigas no ano seguinte para copiar a </a:t>
            </a:r>
            <a:r>
              <a:rPr lang="pt-BR" b="0" dirty="0" err="1"/>
              <a:t>AlexNet</a:t>
            </a:r>
            <a:r>
              <a:rPr lang="pt-BR" b="0" dirty="0"/>
              <a:t>.</a:t>
            </a:r>
          </a:p>
          <a:p>
            <a:r>
              <a:rPr lang="pt-BR" dirty="0"/>
              <a:t>Enquanto os outros algoritmos melhoravam 1% por ano, a </a:t>
            </a:r>
            <a:r>
              <a:rPr lang="pt-BR" dirty="0" err="1"/>
              <a:t>AlexNet</a:t>
            </a:r>
            <a:r>
              <a:rPr lang="pt-BR" dirty="0"/>
              <a:t> reduziu o erro para </a:t>
            </a:r>
            <a:r>
              <a:rPr lang="pt-BR" b="1" dirty="0"/>
              <a:t>15,3%</a:t>
            </a:r>
            <a:r>
              <a:rPr lang="pt-BR" dirty="0"/>
              <a:t> de uma vez só.</a:t>
            </a:r>
            <a:endParaRPr lang="pt-BR" b="0" dirty="0"/>
          </a:p>
          <a:p>
            <a:r>
              <a:rPr lang="pt-BR" b="0" dirty="0"/>
              <a:t>Sem esse marco de 2012, não teríamos reconhecimento facial no celular, carros autônomos ou o próprio </a:t>
            </a:r>
            <a:r>
              <a:rPr lang="pt-BR" b="0" dirty="0" err="1"/>
              <a:t>ChatGPT</a:t>
            </a:r>
            <a:r>
              <a:rPr lang="pt-BR" b="0" dirty="0"/>
              <a:t>, pois todos bebem da fonte do </a:t>
            </a:r>
            <a:r>
              <a:rPr lang="pt-BR" b="0" dirty="0" err="1"/>
              <a:t>Deep</a:t>
            </a:r>
            <a:r>
              <a:rPr lang="pt-BR" b="0" dirty="0"/>
              <a:t> Learning que a </a:t>
            </a:r>
            <a:r>
              <a:rPr lang="pt-BR" b="0" dirty="0" err="1"/>
              <a:t>AlexNet</a:t>
            </a:r>
            <a:r>
              <a:rPr lang="pt-BR" b="0" dirty="0"/>
              <a:t> validou.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868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87188EF-34DB-6CDA-2993-052E2CA9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="" xmlns:a16="http://schemas.microsoft.com/office/drawing/2014/main" id="{74BC2B14-6C79-AFBE-4850-B5E367952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="" xmlns:a16="http://schemas.microsoft.com/office/drawing/2014/main" id="{E8C52BEE-9252-8A72-5853-CBFD0AAE6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A diferença de desempenho foi tão absurda que todos os outros pesquisadores abandonaram suas técnicas antigas no ano seguinte para copiar a </a:t>
            </a:r>
            <a:r>
              <a:rPr lang="pt-BR" b="0" dirty="0" err="1"/>
              <a:t>AlexNet</a:t>
            </a:r>
            <a:r>
              <a:rPr lang="pt-BR" b="0" dirty="0"/>
              <a:t>.</a:t>
            </a:r>
          </a:p>
          <a:p>
            <a:r>
              <a:rPr lang="pt-BR" dirty="0"/>
              <a:t>Enquanto os outros algoritmos melhoravam 1% por ano, a </a:t>
            </a:r>
            <a:r>
              <a:rPr lang="pt-BR" dirty="0" err="1"/>
              <a:t>AlexNet</a:t>
            </a:r>
            <a:r>
              <a:rPr lang="pt-BR" dirty="0"/>
              <a:t> reduziu o erro para </a:t>
            </a:r>
            <a:r>
              <a:rPr lang="pt-BR" b="1" dirty="0"/>
              <a:t>15,3%</a:t>
            </a:r>
            <a:r>
              <a:rPr lang="pt-BR" dirty="0"/>
              <a:t> de uma vez só.</a:t>
            </a:r>
            <a:endParaRPr lang="pt-BR" b="0" dirty="0"/>
          </a:p>
          <a:p>
            <a:r>
              <a:rPr lang="pt-BR" b="0" dirty="0"/>
              <a:t>Sem esse marco de 2012, não teríamos reconhecimento facial no celular, carros autônomos ou o próprio </a:t>
            </a:r>
            <a:r>
              <a:rPr lang="pt-BR" b="0" dirty="0" err="1"/>
              <a:t>ChatGPT</a:t>
            </a:r>
            <a:r>
              <a:rPr lang="pt-BR" b="0" dirty="0"/>
              <a:t>, pois todos bebem da fonte do </a:t>
            </a:r>
            <a:r>
              <a:rPr lang="pt-BR" b="0" dirty="0" err="1"/>
              <a:t>Deep</a:t>
            </a:r>
            <a:r>
              <a:rPr lang="pt-BR" b="0" dirty="0"/>
              <a:t> Learning que a </a:t>
            </a:r>
            <a:r>
              <a:rPr lang="pt-BR" b="0" dirty="0" err="1"/>
              <a:t>AlexNet</a:t>
            </a:r>
            <a:r>
              <a:rPr lang="pt-BR" b="0" dirty="0"/>
              <a:t> validou.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750B1261-65B4-2B54-C8C4-E85A197EE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257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diferença de desempenho foi tão absurda que todos os outros pesquisadores abandonaram suas técnicas antigas no ano seguinte para copiar a </a:t>
            </a:r>
            <a:r>
              <a:rPr lang="pt-BR" dirty="0" err="1"/>
              <a:t>AlexNet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615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344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Sam Altman is</a:t>
            </a:r>
            <a:r>
              <a:rPr lang="en-US" dirty="0"/>
              <a:t> the CEO of </a:t>
            </a:r>
            <a:r>
              <a:rPr lang="en-US" b="1" dirty="0"/>
              <a:t>OpenAI</a:t>
            </a:r>
            <a:r>
              <a:rPr lang="en-US" dirty="0"/>
              <a:t>, the company behind ChatGPT.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84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Engenheiro de software americano que atua como líder de produto do Google AI Studio.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Antes de ingressar no Google em 2024,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Kilpatrick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liderou as relações com desenvolvedores na OpenAI.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1888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1. Simulação (Imitar o comportamento)</a:t>
            </a:r>
          </a:p>
          <a:p>
            <a:r>
              <a:rPr lang="pt-BR" dirty="0"/>
              <a:t>Uma simulação foca no </a:t>
            </a:r>
            <a:r>
              <a:rPr lang="pt-BR" b="1" dirty="0"/>
              <a:t>resultado final</a:t>
            </a:r>
            <a:r>
              <a:rPr lang="pt-BR" dirty="0"/>
              <a:t>. Ela cria um modelo matemático ou visual de como algo funciona, mas não tenta "ser" a coisa real por dentro.</a:t>
            </a:r>
          </a:p>
          <a:p>
            <a:r>
              <a:rPr lang="pt-BR" b="1" dirty="0"/>
              <a:t>O objetivo:</a:t>
            </a:r>
            <a:r>
              <a:rPr lang="pt-BR" dirty="0"/>
              <a:t> Prever resultados ou treinar pessoas.</a:t>
            </a:r>
          </a:p>
          <a:p>
            <a:r>
              <a:rPr lang="pt-BR" b="1" dirty="0"/>
              <a:t>Exemplo:</a:t>
            </a:r>
            <a:r>
              <a:rPr lang="pt-BR" dirty="0"/>
              <a:t> Um </a:t>
            </a:r>
            <a:r>
              <a:rPr lang="pt-BR" b="1" dirty="0"/>
              <a:t>simulador de voo</a:t>
            </a:r>
            <a:r>
              <a:rPr lang="pt-BR" dirty="0"/>
              <a:t>. Ele faz a tela parecer um céu e reage aos comandos como um avião, mas o computador continua rodando o Windows ou Linux normalmente. Ele não transformou o PC em uma peça de hardware de Boeing.</a:t>
            </a:r>
          </a:p>
          <a:p>
            <a:r>
              <a:rPr lang="pt-BR" b="1" dirty="0"/>
              <a:t>2. Emulação (Imitar a essência)</a:t>
            </a:r>
          </a:p>
          <a:p>
            <a:r>
              <a:rPr lang="pt-BR" dirty="0"/>
              <a:t>A emulação foca na </a:t>
            </a:r>
            <a:r>
              <a:rPr lang="pt-BR" b="1" dirty="0"/>
              <a:t>reprodução fiel</a:t>
            </a:r>
            <a:r>
              <a:rPr lang="pt-BR" dirty="0"/>
              <a:t>. O objetivo é fazer um sistema se comportar exatamente como outro, a ponto de o software "enganado" acreditar que está rodando no hardware original.</a:t>
            </a:r>
          </a:p>
          <a:p>
            <a:r>
              <a:rPr lang="pt-BR" b="1" dirty="0"/>
              <a:t>O objetivo:</a:t>
            </a:r>
            <a:r>
              <a:rPr lang="pt-BR" dirty="0"/>
              <a:t> Compatibilidade total.</a:t>
            </a:r>
          </a:p>
          <a:p>
            <a:r>
              <a:rPr lang="pt-BR" b="1" dirty="0"/>
              <a:t>Exemplo:</a:t>
            </a:r>
            <a:r>
              <a:rPr lang="pt-BR" dirty="0"/>
              <a:t> Um </a:t>
            </a:r>
            <a:r>
              <a:rPr lang="pt-BR" b="1" dirty="0"/>
              <a:t>emulador de Super Nintendo</a:t>
            </a:r>
            <a:r>
              <a:rPr lang="pt-BR" dirty="0"/>
              <a:t> no seu celular. O software cria uma cópia virtual do processador e dos chips de som do console original. O jogo roda porque o emulador "age" exatamente como o hardware de 1990.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362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Como colocar o conhecimento dentro do computador + como fazer ele pensar com esse conhecimento.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pt-BR" sz="1200" i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Representação de Conhecimento: Representar conhecimento de modo que o computador possa </a:t>
            </a:r>
            <a:r>
              <a:rPr lang="pt-BR" b="1" dirty="0"/>
              <a:t>entender, manipular e derivar conclusões</a:t>
            </a:r>
            <a:r>
              <a:rPr lang="pt-B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pt-BR" sz="1200" i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Raciocínio Automático: É a capacidade da máquina </a:t>
            </a:r>
            <a:r>
              <a:rPr lang="pt-BR" b="1" dirty="0"/>
              <a:t>inferir novos fatos</a:t>
            </a:r>
            <a:r>
              <a:rPr lang="pt-BR" dirty="0"/>
              <a:t>, </a:t>
            </a:r>
            <a:r>
              <a:rPr lang="pt-BR" b="1" dirty="0"/>
              <a:t>tomar decisões</a:t>
            </a:r>
            <a:r>
              <a:rPr lang="pt-BR" dirty="0"/>
              <a:t> ou </a:t>
            </a:r>
            <a:r>
              <a:rPr lang="pt-BR" b="1" dirty="0"/>
              <a:t>deduzir conclusões</a:t>
            </a:r>
            <a:r>
              <a:rPr lang="pt-BR" dirty="0"/>
              <a:t> a partir do conhecimento representado.</a:t>
            </a:r>
            <a:endParaRPr lang="en-US" sz="1200" i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i="1" dirty="0"/>
          </a:p>
          <a:p>
            <a:pPr marL="0" indent="0">
              <a:buFont typeface="Arial" panose="020B0604020202020204" pitchFamily="34" charset="0"/>
              <a:buNone/>
            </a:pPr>
            <a:endParaRPr lang="pt-BR" sz="1200" b="1" dirty="0">
              <a:cs typeface="Calibri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645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i="1" dirty="0"/>
              <a:t>AI is a broader concept to create intelligent machines that can </a:t>
            </a:r>
            <a:r>
              <a:rPr lang="en-US" sz="1200" b="1" i="1" dirty="0"/>
              <a:t>simulate</a:t>
            </a:r>
            <a:r>
              <a:rPr lang="en-US" sz="1200" i="1" dirty="0"/>
              <a:t> human thinking capability and behavior, whereas, machine learning is an application or subset of AI that allows machines to learn from data without being programmed explicitly.</a:t>
            </a:r>
            <a:endParaRPr lang="pt-BR" sz="1200" b="1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200" b="1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>
                <a:cs typeface="Calibri"/>
              </a:rPr>
              <a:t>Processamento de linguagem natural</a:t>
            </a:r>
            <a:r>
              <a:rPr lang="pt-BR" sz="1200" b="0" dirty="0">
                <a:cs typeface="Calibri"/>
              </a:rPr>
              <a:t>: criação automática de resumos,</a:t>
            </a:r>
            <a:r>
              <a:rPr lang="pt-BR" sz="1200" b="0" baseline="0" dirty="0">
                <a:cs typeface="Calibri"/>
              </a:rPr>
              <a:t> tradução de textos em uma língua para outra, reconhecimento de fala,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Representação do conhecimento</a:t>
            </a:r>
            <a:r>
              <a:rPr lang="pt-BR" sz="1200" b="0" baseline="0" dirty="0">
                <a:cs typeface="Calibri"/>
              </a:rPr>
              <a:t>: lida com problemas de como criar (extrair, absorver) e armazenar conhecimento do mundo. É um campo da inteligência artificial que se concentra no design de representações computacionais que capturam informações sobre o mundo.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Raciocínio automatizado</a:t>
            </a:r>
            <a:r>
              <a:rPr lang="pt-BR" sz="1200" b="0" baseline="0" dirty="0">
                <a:cs typeface="Calibri"/>
              </a:rPr>
              <a:t>: utiliza o conhecimento armazenado por computadores para resolver problemas complexos, como por exemplo, provar teoremas matemáticos.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Planejamento</a:t>
            </a:r>
            <a:r>
              <a:rPr lang="pt-BR" sz="1200" b="0" baseline="0" dirty="0">
                <a:cs typeface="Calibri"/>
              </a:rPr>
              <a:t>: </a:t>
            </a:r>
            <a:r>
              <a:rPr lang="pt-BR" dirty="0"/>
              <a:t>tem como objetivo encontrar um plano que permita uma</a:t>
            </a:r>
            <a:r>
              <a:rPr lang="pt-BR" baseline="0" dirty="0"/>
              <a:t> máquina </a:t>
            </a:r>
            <a:r>
              <a:rPr lang="pt-BR" dirty="0"/>
              <a:t>executar uma tarefa, a partir de uma situação inicial.</a:t>
            </a:r>
            <a:endParaRPr lang="pt-BR" sz="1200" b="0" baseline="0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Visão computacional</a:t>
            </a:r>
            <a:r>
              <a:rPr lang="pt-BR" sz="1200" b="0" baseline="0" dirty="0">
                <a:cs typeface="Calibri"/>
              </a:rPr>
              <a:t>: desenvolvimento de máquinas inteligentes que obtém informação de imagens e vídeos. Exemplos: reconhecimento de faces, controle de qualidade em industrias, carros autônomos,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Robótica</a:t>
            </a:r>
            <a:r>
              <a:rPr lang="pt-BR" sz="1200" b="0" baseline="0" dirty="0">
                <a:cs typeface="Calibri"/>
              </a:rPr>
              <a:t>: lida com o projeto, construção e operação de robôs que repliquem ações humanas. Exemplos: robôs militares, industriais, médicos,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Aprendizado de máquina</a:t>
            </a:r>
            <a:r>
              <a:rPr lang="pt-BR" sz="1200" b="0" baseline="0" dirty="0">
                <a:cs typeface="Calibri"/>
              </a:rPr>
              <a:t>: lida com o design e construção de máquinas que executam uma tarefa específica sem terem sido explicitamente programadas para isso. Exemplos: algoritmo de recomendações do </a:t>
            </a:r>
            <a:r>
              <a:rPr lang="pt-BR" sz="1200" b="0" baseline="0" dirty="0" err="1">
                <a:cs typeface="Calibri"/>
              </a:rPr>
              <a:t>netflix</a:t>
            </a:r>
            <a:r>
              <a:rPr lang="pt-BR" sz="1200" b="0" baseline="0" dirty="0">
                <a:cs typeface="Calibri"/>
              </a:rPr>
              <a:t>, carro autômato, etc. Esses </a:t>
            </a:r>
            <a:r>
              <a:rPr lang="pt-BR" sz="1200" b="0" baseline="0" dirty="0" err="1">
                <a:cs typeface="Calibri"/>
              </a:rPr>
              <a:t>algortimos</a:t>
            </a:r>
            <a:r>
              <a:rPr lang="pt-BR" sz="1200" b="0" baseline="0" dirty="0">
                <a:cs typeface="Calibri"/>
              </a:rPr>
              <a:t> aprendem através da experiência.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PT" sz="1200" b="1" i="0" dirty="0"/>
              <a:t>Inteligência artificial geral</a:t>
            </a:r>
            <a:r>
              <a:rPr lang="pt-PT" sz="1200" i="1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máquinas que possuem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consciência e sentimentos, capazes de oferecer soluções para qualquer tipo de problema.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IAG é a meta dos pesquisadores da inteligência artificial. Somente com ela, a IA poderá resolver problemas chamados de “transversais”, aqueles que exigem mais de uma habilidade e variadas tomadas de decisão. Em resumo,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uma máquina com a mesma capacidade intelectual de um ser humano, podendo realizar qualquer atividade inteligente que o homem domine.</a:t>
            </a:r>
            <a:endParaRPr lang="en-US" sz="1200" dirty="0"/>
          </a:p>
          <a:p>
            <a:endParaRPr lang="pt-BR" sz="1200" dirty="0"/>
          </a:p>
          <a:p>
            <a:r>
              <a:rPr lang="en-US" sz="1200" dirty="0"/>
              <a:t>KR&amp;R: Knowledge representation and reasoning</a:t>
            </a:r>
          </a:p>
          <a:p>
            <a:endParaRPr lang="en-US" sz="1200" dirty="0"/>
          </a:p>
          <a:p>
            <a:endParaRPr lang="en-US" sz="1200" dirty="0"/>
          </a:p>
          <a:p>
            <a:pPr rtl="0"/>
            <a:r>
              <a:rPr lang="en-US" sz="1200" dirty="0"/>
              <a:t>First of all, </a:t>
            </a:r>
            <a:r>
              <a:rPr lang="en-US" sz="1200" b="1" dirty="0"/>
              <a:t>leave the terms artificial and machine aside</a:t>
            </a:r>
            <a:r>
              <a:rPr lang="en-US" sz="1200" dirty="0"/>
              <a:t>. We will try to understand the words intelligence and learning one-by-one. Think of how one can solve a given (mathematical and not real life) problem. There are two possibilities - </a:t>
            </a:r>
            <a:r>
              <a:rPr lang="en-US" sz="1200" i="1" dirty="0"/>
              <a:t>either</a:t>
            </a:r>
          </a:p>
          <a:p>
            <a:pPr rtl="0"/>
            <a:endParaRPr lang="en-US" sz="1200" dirty="0"/>
          </a:p>
          <a:p>
            <a:r>
              <a:rPr lang="en-US" sz="1200" dirty="0"/>
              <a:t>Method 1: he/she/it has solved such a problem before and has </a:t>
            </a:r>
            <a:r>
              <a:rPr lang="en-US" sz="1200" b="1" i="1" dirty="0"/>
              <a:t>learned</a:t>
            </a:r>
            <a:r>
              <a:rPr lang="en-US" sz="1200" dirty="0"/>
              <a:t> how to solve such problems </a:t>
            </a:r>
            <a:r>
              <a:rPr lang="en-US" sz="1200" i="1" dirty="0"/>
              <a:t>or</a:t>
            </a:r>
          </a:p>
          <a:p>
            <a:endParaRPr lang="en-US" sz="1200" dirty="0"/>
          </a:p>
          <a:p>
            <a:r>
              <a:rPr lang="en-US" sz="1200" dirty="0"/>
              <a:t>Method 2: (it is first time he/she/it faced this type of problem and)</a:t>
            </a:r>
            <a:r>
              <a:rPr lang="en-US" sz="1200" i="1" dirty="0"/>
              <a:t> </a:t>
            </a:r>
            <a:r>
              <a:rPr lang="en-US" sz="1200" dirty="0"/>
              <a:t>he/she/it is </a:t>
            </a:r>
            <a:r>
              <a:rPr lang="en-US" sz="1200" b="1" i="1" dirty="0"/>
              <a:t>actually intelligent</a:t>
            </a:r>
            <a:r>
              <a:rPr lang="en-US" sz="1200" dirty="0"/>
              <a:t> to think of possibilities of how to solve the problem based on what he/she/it </a:t>
            </a:r>
            <a:r>
              <a:rPr lang="en-US" sz="1200" b="1" i="1" dirty="0"/>
              <a:t>knows</a:t>
            </a:r>
            <a:r>
              <a:rPr lang="en-US" sz="1200" dirty="0"/>
              <a:t>, right?</a:t>
            </a:r>
          </a:p>
          <a:p>
            <a:pPr rtl="0"/>
            <a:endParaRPr lang="en-US" sz="1200" dirty="0"/>
          </a:p>
          <a:p>
            <a:pPr rtl="0"/>
            <a:r>
              <a:rPr lang="en-US" sz="1200" dirty="0"/>
              <a:t>The former is called </a:t>
            </a:r>
            <a:r>
              <a:rPr lang="en-US" sz="1200" b="1" dirty="0"/>
              <a:t>learning </a:t>
            </a:r>
            <a:r>
              <a:rPr lang="en-US" sz="1200" dirty="0"/>
              <a:t>and the latter is called </a:t>
            </a:r>
            <a:r>
              <a:rPr lang="en-US" sz="1200" b="1" dirty="0"/>
              <a:t>knowledge</a:t>
            </a:r>
            <a:r>
              <a:rPr lang="en-US" sz="1200" dirty="0"/>
              <a:t> (along with intelligence). So, in short, to solve a problem, one needs either of these two. Hence, </a:t>
            </a:r>
            <a:r>
              <a:rPr lang="en-US" sz="1200" b="1" dirty="0"/>
              <a:t>learning is a part of intelligence</a:t>
            </a:r>
            <a:r>
              <a:rPr lang="en-US" sz="1200" dirty="0"/>
              <a:t>. </a:t>
            </a:r>
          </a:p>
          <a:p>
            <a:endParaRPr lang="pt-BR" sz="1200" dirty="0"/>
          </a:p>
          <a:p>
            <a:endParaRPr lang="pt-BR" dirty="0"/>
          </a:p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imitar o comportamento de um sistema sem necessariamente reproduzir seus componentes ou saber como ele funciona internamente.</a:t>
            </a:r>
          </a:p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reconstruir um sistema a partir do entendimento do funcionamento do mesmo, de forma que o resultado seja bastante semelhante ao original.</a:t>
            </a:r>
          </a:p>
          <a:p>
            <a:pPr fontAlgn="base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exemplo ilustrativo: No filme "</a:t>
            </a:r>
            <a:r>
              <a:rPr lang="pt-BR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Enigma de Outro Mundo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o alienígena tem um processo de reprodução que a partir do DNA da sua vítima replica uma nova pessoa, imitando quase que completamente seus órgãos, tecidos, etc. Isso seria uma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Já no filme "</a:t>
            </a:r>
            <a:r>
              <a:rPr lang="pt-BR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Homem Bicentenário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um robô tenta imitar a aparência e comportamento dos humanos. Isso seria uma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seu caso, o programa que reproduz o comportamento do dispositivo Android é um emulador porque você pode colocar seu código que roda no dispositivo real e ele funcionará da mesma forma. Já, se a aplicação rodando no browser for uma aplicação completamente diferente da que roda no dispositivo, porém o resultado para o usuário é o mesmo, então a aplicação é um simulador.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858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i="1" dirty="0"/>
              <a:t>AI is a broader concept to create intelligent machines that can </a:t>
            </a:r>
            <a:r>
              <a:rPr lang="en-US" sz="1200" b="1" i="1" dirty="0"/>
              <a:t>simulate</a:t>
            </a:r>
            <a:r>
              <a:rPr lang="en-US" sz="1200" i="1" dirty="0"/>
              <a:t> human thinking capability and behavior, whereas, machine learning is an application or subset of AI that allows machines to learn from data without being programmed explicitly.</a:t>
            </a:r>
            <a:endParaRPr lang="pt-BR" sz="1200" b="1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200" b="1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>
                <a:cs typeface="Calibri"/>
              </a:rPr>
              <a:t>Processamento de linguagem natural</a:t>
            </a:r>
            <a:r>
              <a:rPr lang="pt-BR" sz="1200" b="0" dirty="0">
                <a:cs typeface="Calibri"/>
              </a:rPr>
              <a:t>: criação automática de resumos,</a:t>
            </a:r>
            <a:r>
              <a:rPr lang="pt-BR" sz="1200" b="0" baseline="0" dirty="0">
                <a:cs typeface="Calibri"/>
              </a:rPr>
              <a:t> tradução de textos em uma língua para outra, reconhecimento de fala,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Representação do conhecimento</a:t>
            </a:r>
            <a:r>
              <a:rPr lang="pt-BR" sz="1200" b="0" baseline="0" dirty="0">
                <a:cs typeface="Calibri"/>
              </a:rPr>
              <a:t>: lida com problemas de como criar (extrair, absorver) e armazenar conhecimento do mundo. É um campo da inteligência artificial que se concentra no design de representações computacionais que capturam informações sobre o mundo.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Raciocínio automatizado</a:t>
            </a:r>
            <a:r>
              <a:rPr lang="pt-BR" sz="1200" b="0" baseline="0" dirty="0">
                <a:cs typeface="Calibri"/>
              </a:rPr>
              <a:t>: utiliza o conhecimento armazenado por computadores para resolver problemas complexos, como por exemplo, provar teoremas matemáticos.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Planejamento</a:t>
            </a:r>
            <a:r>
              <a:rPr lang="pt-BR" sz="1200" b="0" baseline="0" dirty="0">
                <a:cs typeface="Calibri"/>
              </a:rPr>
              <a:t>: </a:t>
            </a:r>
            <a:r>
              <a:rPr lang="pt-BR" dirty="0"/>
              <a:t>tem como objetivo encontrar um plano que permita uma</a:t>
            </a:r>
            <a:r>
              <a:rPr lang="pt-BR" baseline="0" dirty="0"/>
              <a:t> máquina </a:t>
            </a:r>
            <a:r>
              <a:rPr lang="pt-BR" dirty="0"/>
              <a:t>executar uma tarefa, a partir de uma situação inicial.</a:t>
            </a:r>
            <a:endParaRPr lang="pt-BR" sz="1200" b="0" baseline="0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Visão computacional</a:t>
            </a:r>
            <a:r>
              <a:rPr lang="pt-BR" sz="1200" b="0" baseline="0" dirty="0">
                <a:cs typeface="Calibri"/>
              </a:rPr>
              <a:t>: desenvolvimento de máquinas inteligentes que obtém informação de imagens e vídeos. Exemplos: reconhecimento de faces, controle de qualidade em industrias, carros autônomos,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Robótica</a:t>
            </a:r>
            <a:r>
              <a:rPr lang="pt-BR" sz="1200" b="0" baseline="0" dirty="0">
                <a:cs typeface="Calibri"/>
              </a:rPr>
              <a:t>: lida com o projeto, construção e operação de robôs que repliquem ações humanas. Exemplos: robôs militares, industriais, médicos,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Aprendizado de máquina</a:t>
            </a:r>
            <a:r>
              <a:rPr lang="pt-BR" sz="1200" b="0" baseline="0" dirty="0">
                <a:cs typeface="Calibri"/>
              </a:rPr>
              <a:t>: lida com o design e construção de máquinas que executam uma tarefa específica sem terem sido explicitamente programadas para isso. Exemplos: algoritmo de recomendações do </a:t>
            </a:r>
            <a:r>
              <a:rPr lang="pt-BR" sz="1200" b="0" baseline="0" dirty="0" err="1">
                <a:cs typeface="Calibri"/>
              </a:rPr>
              <a:t>netflix</a:t>
            </a:r>
            <a:r>
              <a:rPr lang="pt-BR" sz="1200" b="0" baseline="0" dirty="0">
                <a:cs typeface="Calibri"/>
              </a:rPr>
              <a:t>, carro autômato, etc. Esses </a:t>
            </a:r>
            <a:r>
              <a:rPr lang="pt-BR" sz="1200" b="0" baseline="0" dirty="0" err="1">
                <a:cs typeface="Calibri"/>
              </a:rPr>
              <a:t>algortimos</a:t>
            </a:r>
            <a:r>
              <a:rPr lang="pt-BR" sz="1200" b="0" baseline="0" dirty="0">
                <a:cs typeface="Calibri"/>
              </a:rPr>
              <a:t> aprendem através da experiência.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PT" sz="1200" b="1" i="0" dirty="0"/>
              <a:t>Inteligência artificial geral</a:t>
            </a:r>
            <a:r>
              <a:rPr lang="pt-PT" sz="1200" i="1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máquinas que possuem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consciência e sentimentos, capazes de oferecer soluções para qualquer tipo de problema.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IAG é a meta dos pesquisadores da inteligência artificial. Somente com ela, a IA poderá resolver problemas chamados de “transversais”, aqueles que exigem mais de uma habilidade e variadas tomadas de decisão. Em resumo,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uma máquina com a mesma capacidade intelectual de um ser humano, podendo realizar qualquer atividade inteligente que o homem domine.</a:t>
            </a:r>
            <a:endParaRPr lang="en-US" sz="1200" dirty="0"/>
          </a:p>
          <a:p>
            <a:endParaRPr lang="pt-BR" sz="1200" dirty="0"/>
          </a:p>
          <a:p>
            <a:r>
              <a:rPr lang="en-US" sz="1200" dirty="0"/>
              <a:t>KR&amp;R: Knowledge representation and reasoning</a:t>
            </a:r>
          </a:p>
          <a:p>
            <a:endParaRPr lang="en-US" sz="1200" dirty="0"/>
          </a:p>
          <a:p>
            <a:endParaRPr lang="en-US" sz="1200" dirty="0"/>
          </a:p>
          <a:p>
            <a:pPr rtl="0"/>
            <a:r>
              <a:rPr lang="en-US" sz="1200" dirty="0"/>
              <a:t>First of all, </a:t>
            </a:r>
            <a:r>
              <a:rPr lang="en-US" sz="1200" b="1" dirty="0"/>
              <a:t>leave the terms artificial and machine aside</a:t>
            </a:r>
            <a:r>
              <a:rPr lang="en-US" sz="1200" dirty="0"/>
              <a:t>. We will try to understand the words intelligence and learning one-by-one. Think of how one can solve a given (mathematical and not real life) problem. There are two possibilities - </a:t>
            </a:r>
            <a:r>
              <a:rPr lang="en-US" sz="1200" i="1" dirty="0"/>
              <a:t>either</a:t>
            </a:r>
          </a:p>
          <a:p>
            <a:pPr rtl="0"/>
            <a:endParaRPr lang="en-US" sz="1200" dirty="0"/>
          </a:p>
          <a:p>
            <a:r>
              <a:rPr lang="en-US" sz="1200" dirty="0"/>
              <a:t>Method 1: he/she/it has solved such a problem before and has </a:t>
            </a:r>
            <a:r>
              <a:rPr lang="en-US" sz="1200" b="1" i="1" dirty="0"/>
              <a:t>learned</a:t>
            </a:r>
            <a:r>
              <a:rPr lang="en-US" sz="1200" dirty="0"/>
              <a:t> how to solve such problems </a:t>
            </a:r>
            <a:r>
              <a:rPr lang="en-US" sz="1200" i="1" dirty="0"/>
              <a:t>or</a:t>
            </a:r>
          </a:p>
          <a:p>
            <a:endParaRPr lang="en-US" sz="1200" dirty="0"/>
          </a:p>
          <a:p>
            <a:r>
              <a:rPr lang="en-US" sz="1200" dirty="0"/>
              <a:t>Method 2: (it is first time he/she/it faced this type of problem and)</a:t>
            </a:r>
            <a:r>
              <a:rPr lang="en-US" sz="1200" i="1" dirty="0"/>
              <a:t> </a:t>
            </a:r>
            <a:r>
              <a:rPr lang="en-US" sz="1200" dirty="0"/>
              <a:t>he/she/it is </a:t>
            </a:r>
            <a:r>
              <a:rPr lang="en-US" sz="1200" b="1" i="1" dirty="0"/>
              <a:t>actually intelligent</a:t>
            </a:r>
            <a:r>
              <a:rPr lang="en-US" sz="1200" dirty="0"/>
              <a:t> to think of possibilities of how to solve the problem based on what he/she/it </a:t>
            </a:r>
            <a:r>
              <a:rPr lang="en-US" sz="1200" b="1" i="1" dirty="0"/>
              <a:t>knows</a:t>
            </a:r>
            <a:r>
              <a:rPr lang="en-US" sz="1200" dirty="0"/>
              <a:t>, right?</a:t>
            </a:r>
          </a:p>
          <a:p>
            <a:pPr rtl="0"/>
            <a:endParaRPr lang="en-US" sz="1200" dirty="0"/>
          </a:p>
          <a:p>
            <a:pPr rtl="0"/>
            <a:r>
              <a:rPr lang="en-US" sz="1200" dirty="0"/>
              <a:t>The former is called </a:t>
            </a:r>
            <a:r>
              <a:rPr lang="en-US" sz="1200" b="1" dirty="0"/>
              <a:t>learning </a:t>
            </a:r>
            <a:r>
              <a:rPr lang="en-US" sz="1200" dirty="0"/>
              <a:t>and the latter is called </a:t>
            </a:r>
            <a:r>
              <a:rPr lang="en-US" sz="1200" b="1" dirty="0"/>
              <a:t>knowledge</a:t>
            </a:r>
            <a:r>
              <a:rPr lang="en-US" sz="1200" dirty="0"/>
              <a:t> (along with intelligence). So, in short, to solve a problem, one needs either of these two. Hence, </a:t>
            </a:r>
            <a:r>
              <a:rPr lang="en-US" sz="1200" b="1" dirty="0"/>
              <a:t>learning is a part of intelligence</a:t>
            </a:r>
            <a:r>
              <a:rPr lang="en-US" sz="1200" dirty="0"/>
              <a:t>. </a:t>
            </a:r>
          </a:p>
          <a:p>
            <a:endParaRPr lang="pt-BR" sz="1200" dirty="0"/>
          </a:p>
          <a:p>
            <a:endParaRPr lang="pt-BR" dirty="0"/>
          </a:p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imitar o comportamento de um sistema sem necessariamente reproduzir seus componentes ou saber como ele funciona internamente.</a:t>
            </a:r>
          </a:p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reconstruir um sistema a partir do entendimento do funcionamento do mesmo, de forma que o resultado seja bastante semelhante ao original.</a:t>
            </a:r>
          </a:p>
          <a:p>
            <a:pPr fontAlgn="base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exemplo ilustrativo: No filme "</a:t>
            </a:r>
            <a:r>
              <a:rPr lang="pt-BR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Enigma de Outro Mundo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o alienígena tem um processo de reprodução que a partir do DNA da sua vítima replica uma nova pessoa, imitando quase que completamente seus órgãos, tecidos, etc. Isso seria uma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Já no filme "</a:t>
            </a:r>
            <a:r>
              <a:rPr lang="pt-BR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Homem Bicentenário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um robô tenta imitar a aparência e comportamento dos humanos. Isso seria uma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seu caso, o programa que reproduz o comportamento do dispositivo Android é um emulador porque você pode colocar seu código que roda no dispositivo real e ele funcionará da mesma forma. Já, se a aplicação rodando no browser for uma aplicação completamente diferente da que roda no dispositivo, porém o resultado para o usuário é o mesmo, então a aplicação é um simulador.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31892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B8E88D1-ADFF-8362-92B8-BEE9D69AC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="" xmlns:a16="http://schemas.microsoft.com/office/drawing/2014/main" id="{33BD3EAF-906C-0195-11C8-3F3BE1D6E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="" xmlns:a16="http://schemas.microsoft.com/office/drawing/2014/main" id="{796D0714-9089-9E54-8AB3-8DD991637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i="1" dirty="0"/>
              <a:t>AI is a broader concept to create intelligent machines that can </a:t>
            </a:r>
            <a:r>
              <a:rPr lang="en-US" sz="1200" b="1" i="1" dirty="0"/>
              <a:t>simulate</a:t>
            </a:r>
            <a:r>
              <a:rPr lang="en-US" sz="1200" i="1" dirty="0"/>
              <a:t> human thinking capability and behavior, whereas, machine learning is an application or subset of AI that allows machines to learn from data without being programmed explicitly.</a:t>
            </a:r>
            <a:endParaRPr lang="pt-BR" sz="1200" b="1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200" b="1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>
                <a:cs typeface="Calibri"/>
              </a:rPr>
              <a:t>Processamento de linguagem natural</a:t>
            </a:r>
            <a:r>
              <a:rPr lang="pt-BR" sz="1200" b="0" dirty="0">
                <a:cs typeface="Calibri"/>
              </a:rPr>
              <a:t>: criação automática de resumos,</a:t>
            </a:r>
            <a:r>
              <a:rPr lang="pt-BR" sz="1200" b="0" baseline="0" dirty="0">
                <a:cs typeface="Calibri"/>
              </a:rPr>
              <a:t> tradução de textos em uma língua para outra, reconhecimento de fala,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Representação do conhecimento</a:t>
            </a:r>
            <a:r>
              <a:rPr lang="pt-BR" sz="1200" b="0" baseline="0" dirty="0">
                <a:cs typeface="Calibri"/>
              </a:rPr>
              <a:t>: lida com problemas de como criar (extrair, absorver) e armazenar conhecimento do mundo. É um campo da inteligência artificial que se concentra no design de representações computacionais que capturam informações sobre o mundo.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Raciocínio automatizado</a:t>
            </a:r>
            <a:r>
              <a:rPr lang="pt-BR" sz="1200" b="0" baseline="0" dirty="0">
                <a:cs typeface="Calibri"/>
              </a:rPr>
              <a:t>: utiliza o conhecimento armazenado por computadores para resolver problemas complexos, como por exemplo, provar teoremas matemáticos.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Planejamento</a:t>
            </a:r>
            <a:r>
              <a:rPr lang="pt-BR" sz="1200" b="0" baseline="0" dirty="0">
                <a:cs typeface="Calibri"/>
              </a:rPr>
              <a:t>: </a:t>
            </a:r>
            <a:r>
              <a:rPr lang="pt-BR" dirty="0"/>
              <a:t>tem como objetivo encontrar um plano que permita uma</a:t>
            </a:r>
            <a:r>
              <a:rPr lang="pt-BR" baseline="0" dirty="0"/>
              <a:t> máquina </a:t>
            </a:r>
            <a:r>
              <a:rPr lang="pt-BR" dirty="0"/>
              <a:t>executar uma tarefa, a partir de uma situação inicial.</a:t>
            </a:r>
            <a:endParaRPr lang="pt-BR" sz="1200" b="0" baseline="0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Visão computacional</a:t>
            </a:r>
            <a:r>
              <a:rPr lang="pt-BR" sz="1200" b="0" baseline="0" dirty="0">
                <a:cs typeface="Calibri"/>
              </a:rPr>
              <a:t>: desenvolvimento de máquinas inteligentes que obtém informação de imagens e vídeos. Exemplos: reconhecimento de faces, controle de qualidade em industrias, carros autônomos,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Robótica</a:t>
            </a:r>
            <a:r>
              <a:rPr lang="pt-BR" sz="1200" b="0" baseline="0" dirty="0">
                <a:cs typeface="Calibri"/>
              </a:rPr>
              <a:t>: lida com o projeto, construção e operação de robôs que repliquem ações humanas. Exemplos: robôs militares, industriais, médicos,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Aprendizado de máquina</a:t>
            </a:r>
            <a:r>
              <a:rPr lang="pt-BR" sz="1200" b="0" baseline="0" dirty="0">
                <a:cs typeface="Calibri"/>
              </a:rPr>
              <a:t>: lida com o design e construção de máquinas que executam uma tarefa específica sem terem sido explicitamente programadas para isso. Exemplos: algoritmo de recomendações do </a:t>
            </a:r>
            <a:r>
              <a:rPr lang="pt-BR" sz="1200" b="0" baseline="0" dirty="0" err="1">
                <a:cs typeface="Calibri"/>
              </a:rPr>
              <a:t>netflix</a:t>
            </a:r>
            <a:r>
              <a:rPr lang="pt-BR" sz="1200" b="0" baseline="0" dirty="0">
                <a:cs typeface="Calibri"/>
              </a:rPr>
              <a:t>, carro autômato, etc. Esses </a:t>
            </a:r>
            <a:r>
              <a:rPr lang="pt-BR" sz="1200" b="0" baseline="0" dirty="0" err="1">
                <a:cs typeface="Calibri"/>
              </a:rPr>
              <a:t>algortimos</a:t>
            </a:r>
            <a:r>
              <a:rPr lang="pt-BR" sz="1200" b="0" baseline="0" dirty="0">
                <a:cs typeface="Calibri"/>
              </a:rPr>
              <a:t> aprendem através da experiência.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PT" sz="1200" b="1" i="0" dirty="0"/>
              <a:t>Inteligência artificial geral</a:t>
            </a:r>
            <a:r>
              <a:rPr lang="pt-PT" sz="1200" i="1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máquinas que possuem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consciência e sentimentos, capazes de oferecer soluções para qualquer tipo de problema.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IAG é a meta dos pesquisadores da inteligência artificial. Somente com ela, a IA poderá resolver problemas chamados de “transversais”, aqueles que exigem mais de uma habilidade e variadas tomadas de decisão. Em resumo,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uma máquina com a mesma capacidade intelectual de um ser humano, podendo realizar qualquer atividade inteligente que o homem domine.</a:t>
            </a:r>
            <a:endParaRPr lang="en-US" sz="1200" dirty="0"/>
          </a:p>
          <a:p>
            <a:endParaRPr lang="pt-BR" sz="1200" dirty="0"/>
          </a:p>
          <a:p>
            <a:r>
              <a:rPr lang="en-US" sz="1200" dirty="0"/>
              <a:t>KR&amp;R: Knowledge representation and reasoning</a:t>
            </a:r>
          </a:p>
          <a:p>
            <a:endParaRPr lang="en-US" sz="1200" dirty="0"/>
          </a:p>
          <a:p>
            <a:endParaRPr lang="en-US" sz="1200" dirty="0"/>
          </a:p>
          <a:p>
            <a:pPr rtl="0"/>
            <a:r>
              <a:rPr lang="en-US" sz="1200" dirty="0"/>
              <a:t>First of all, </a:t>
            </a:r>
            <a:r>
              <a:rPr lang="en-US" sz="1200" b="1" dirty="0"/>
              <a:t>leave the terms artificial and machine aside</a:t>
            </a:r>
            <a:r>
              <a:rPr lang="en-US" sz="1200" dirty="0"/>
              <a:t>. We will try to understand the words intelligence and learning one-by-one. Think of how one can solve a given (mathematical and not real life) problem. There are two possibilities - </a:t>
            </a:r>
            <a:r>
              <a:rPr lang="en-US" sz="1200" i="1" dirty="0"/>
              <a:t>either</a:t>
            </a:r>
          </a:p>
          <a:p>
            <a:pPr rtl="0"/>
            <a:endParaRPr lang="en-US" sz="1200" dirty="0"/>
          </a:p>
          <a:p>
            <a:r>
              <a:rPr lang="en-US" sz="1200" dirty="0"/>
              <a:t>Method 1: he/she/it has solved such a problem before and has </a:t>
            </a:r>
            <a:r>
              <a:rPr lang="en-US" sz="1200" b="1" i="1" dirty="0"/>
              <a:t>learned</a:t>
            </a:r>
            <a:r>
              <a:rPr lang="en-US" sz="1200" dirty="0"/>
              <a:t> how to solve such problems </a:t>
            </a:r>
            <a:r>
              <a:rPr lang="en-US" sz="1200" i="1" dirty="0"/>
              <a:t>or</a:t>
            </a:r>
          </a:p>
          <a:p>
            <a:endParaRPr lang="en-US" sz="1200" dirty="0"/>
          </a:p>
          <a:p>
            <a:r>
              <a:rPr lang="en-US" sz="1200" dirty="0"/>
              <a:t>Method 2: (it is first time he/she/it faced this type of problem and)</a:t>
            </a:r>
            <a:r>
              <a:rPr lang="en-US" sz="1200" i="1" dirty="0"/>
              <a:t> </a:t>
            </a:r>
            <a:r>
              <a:rPr lang="en-US" sz="1200" dirty="0"/>
              <a:t>he/she/it is </a:t>
            </a:r>
            <a:r>
              <a:rPr lang="en-US" sz="1200" b="1" i="1" dirty="0"/>
              <a:t>actually intelligent</a:t>
            </a:r>
            <a:r>
              <a:rPr lang="en-US" sz="1200" dirty="0"/>
              <a:t> to think of possibilities of how to solve the problem based on what he/she/it </a:t>
            </a:r>
            <a:r>
              <a:rPr lang="en-US" sz="1200" b="1" i="1" dirty="0"/>
              <a:t>knows</a:t>
            </a:r>
            <a:r>
              <a:rPr lang="en-US" sz="1200" dirty="0"/>
              <a:t>, right?</a:t>
            </a:r>
          </a:p>
          <a:p>
            <a:pPr rtl="0"/>
            <a:endParaRPr lang="en-US" sz="1200" dirty="0"/>
          </a:p>
          <a:p>
            <a:pPr rtl="0"/>
            <a:r>
              <a:rPr lang="en-US" sz="1200" dirty="0"/>
              <a:t>The former is called </a:t>
            </a:r>
            <a:r>
              <a:rPr lang="en-US" sz="1200" b="1" dirty="0"/>
              <a:t>learning </a:t>
            </a:r>
            <a:r>
              <a:rPr lang="en-US" sz="1200" dirty="0"/>
              <a:t>and the latter is called </a:t>
            </a:r>
            <a:r>
              <a:rPr lang="en-US" sz="1200" b="1" dirty="0"/>
              <a:t>knowledge</a:t>
            </a:r>
            <a:r>
              <a:rPr lang="en-US" sz="1200" dirty="0"/>
              <a:t> (along with intelligence). So, in short, to solve a problem, one needs either of these two. Hence, </a:t>
            </a:r>
            <a:r>
              <a:rPr lang="en-US" sz="1200" b="1" dirty="0"/>
              <a:t>learning is a part of intelligence</a:t>
            </a:r>
            <a:r>
              <a:rPr lang="en-US" sz="1200" dirty="0"/>
              <a:t>. </a:t>
            </a:r>
          </a:p>
          <a:p>
            <a:endParaRPr lang="pt-BR" sz="1200" dirty="0"/>
          </a:p>
          <a:p>
            <a:endParaRPr lang="pt-BR" dirty="0"/>
          </a:p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imitar o comportamento de um sistema sem necessariamente reproduzir seus componentes ou saber como ele funciona internamente.</a:t>
            </a:r>
          </a:p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reconstruir um sistema a partir do entendimento do funcionamento do mesmo, de forma que o resultado seja bastante semelhante ao original.</a:t>
            </a:r>
          </a:p>
          <a:p>
            <a:pPr fontAlgn="base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exemplo ilustrativo: No filme "</a:t>
            </a:r>
            <a:r>
              <a:rPr lang="pt-BR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Enigma de Outro Mundo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o alienígena tem um processo de reprodução que a partir do DNA da sua vítima replica uma nova pessoa, imitando quase que completamente seus órgãos, tecidos, etc. Isso seria uma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Já no filme "</a:t>
            </a:r>
            <a:r>
              <a:rPr lang="pt-BR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Homem Bicentenário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um robô tenta imitar a aparência e comportamento dos humanos. Isso seria uma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seu caso, o programa que reproduz o comportamento do dispositivo Android é um emulador porque você pode colocar seu código que roda no dispositivo real e ele funcionará da mesma forma. Já, se a aplicação rodando no browser for uma aplicação completamente diferente da que roda no dispositivo, porém o resultado para o usuário é o mesmo, então a aplicação é um simulador.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04753FC7-7491-C559-B096-E0CACE5F1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63038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i="1" dirty="0"/>
              <a:t>AI is a broader concept to create intelligent machines that can </a:t>
            </a:r>
            <a:r>
              <a:rPr lang="en-US" sz="1200" b="1" i="1" dirty="0"/>
              <a:t>simulate</a:t>
            </a:r>
            <a:r>
              <a:rPr lang="en-US" sz="1200" i="1" dirty="0"/>
              <a:t> human thinking capability and behavior, whereas, machine learning is an application or subset of AI that allows machines to learn from data without being programmed explicitly.</a:t>
            </a:r>
            <a:endParaRPr lang="pt-BR" sz="1200" b="1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200" b="1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>
                <a:cs typeface="Calibri"/>
              </a:rPr>
              <a:t>Processamento de linguagem natural</a:t>
            </a:r>
            <a:r>
              <a:rPr lang="pt-BR" sz="1200" b="0" dirty="0">
                <a:cs typeface="Calibri"/>
              </a:rPr>
              <a:t>: criação automática de resumos,</a:t>
            </a:r>
            <a:r>
              <a:rPr lang="pt-BR" sz="1200" b="0" baseline="0" dirty="0">
                <a:cs typeface="Calibri"/>
              </a:rPr>
              <a:t> tradução de textos em uma língua para outra, reconhecimento de fala,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Representação do conhecimento</a:t>
            </a:r>
            <a:r>
              <a:rPr lang="pt-BR" sz="1200" b="0" baseline="0" dirty="0">
                <a:cs typeface="Calibri"/>
              </a:rPr>
              <a:t>: lida com problemas de como criar (extrair, absorver) e armazenar conhecimento do mundo. É um campo da inteligência artificial que se concentra no design de representações computacionais que capturam informações sobre o mundo.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Raciocínio automatizado</a:t>
            </a:r>
            <a:r>
              <a:rPr lang="pt-BR" sz="1200" b="0" baseline="0" dirty="0">
                <a:cs typeface="Calibri"/>
              </a:rPr>
              <a:t>: utiliza o conhecimento armazenado por computadores para resolver problemas complexos, como por exemplo, provar teoremas matemáticos.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Planejamento</a:t>
            </a:r>
            <a:r>
              <a:rPr lang="pt-BR" sz="1200" b="0" baseline="0" dirty="0">
                <a:cs typeface="Calibri"/>
              </a:rPr>
              <a:t>: </a:t>
            </a:r>
            <a:r>
              <a:rPr lang="pt-BR" dirty="0"/>
              <a:t>tem como objetivo encontrar um plano que permita uma</a:t>
            </a:r>
            <a:r>
              <a:rPr lang="pt-BR" baseline="0" dirty="0"/>
              <a:t> máquina </a:t>
            </a:r>
            <a:r>
              <a:rPr lang="pt-BR" dirty="0"/>
              <a:t>executar uma tarefa, a partir de uma situação inicial.</a:t>
            </a:r>
            <a:endParaRPr lang="pt-BR" sz="1200" b="0" baseline="0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Visão computacional</a:t>
            </a:r>
            <a:r>
              <a:rPr lang="pt-BR" sz="1200" b="0" baseline="0" dirty="0">
                <a:cs typeface="Calibri"/>
              </a:rPr>
              <a:t>: desenvolvimento de máquinas inteligentes que obtém informação de imagens e vídeos. Exemplos: reconhecimento de faces, controle de qualidade em industrias, carros autônomos,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Robótica</a:t>
            </a:r>
            <a:r>
              <a:rPr lang="pt-BR" sz="1200" b="0" baseline="0" dirty="0">
                <a:cs typeface="Calibri"/>
              </a:rPr>
              <a:t>: lida com o projeto, construção e operação de robôs que repliquem ações humanas. Exemplos: robôs militares, industriais, médicos,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Aprendizado de máquina</a:t>
            </a:r>
            <a:r>
              <a:rPr lang="pt-BR" sz="1200" b="0" baseline="0" dirty="0">
                <a:cs typeface="Calibri"/>
              </a:rPr>
              <a:t>: lida com o design e construção de máquinas que executam uma tarefa específica sem terem sido explicitamente programadas para isso. Exemplos: algoritmo de recomendações do </a:t>
            </a:r>
            <a:r>
              <a:rPr lang="pt-BR" sz="1200" b="0" baseline="0" dirty="0" err="1">
                <a:cs typeface="Calibri"/>
              </a:rPr>
              <a:t>netflix</a:t>
            </a:r>
            <a:r>
              <a:rPr lang="pt-BR" sz="1200" b="0" baseline="0" dirty="0">
                <a:cs typeface="Calibri"/>
              </a:rPr>
              <a:t>, carro autômato, etc. Esses </a:t>
            </a:r>
            <a:r>
              <a:rPr lang="pt-BR" sz="1200" b="0" baseline="0" dirty="0" err="1">
                <a:cs typeface="Calibri"/>
              </a:rPr>
              <a:t>algortimos</a:t>
            </a:r>
            <a:r>
              <a:rPr lang="pt-BR" sz="1200" b="0" baseline="0" dirty="0">
                <a:cs typeface="Calibri"/>
              </a:rPr>
              <a:t> aprendem através da experiência.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PT" sz="1200" b="1" i="0" dirty="0"/>
              <a:t>Inteligência artificial geral</a:t>
            </a:r>
            <a:r>
              <a:rPr lang="pt-PT" sz="1200" i="1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máquinas que possuem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consciência e sentimentos, capazes de oferecer soluções para qualquer tipo de problema.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IAG é a meta dos pesquisadores da inteligência artificial. Somente com ela, a IA poderá resolver problemas chamados de “transversais”, aqueles que exigem mais de uma habilidade e variadas tomadas de decisão. Em resumo,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uma máquina com a mesma capacidade intelectual de um ser humano, podendo realizar qualquer atividade inteligente que o homem domine.</a:t>
            </a:r>
            <a:endParaRPr lang="en-US" sz="1200" dirty="0"/>
          </a:p>
          <a:p>
            <a:endParaRPr lang="pt-BR" sz="1200" dirty="0"/>
          </a:p>
          <a:p>
            <a:r>
              <a:rPr lang="en-US" sz="1200" dirty="0"/>
              <a:t>KR&amp;R: Knowledge representation and reasoning</a:t>
            </a:r>
          </a:p>
          <a:p>
            <a:endParaRPr lang="en-US" sz="1200" dirty="0"/>
          </a:p>
          <a:p>
            <a:endParaRPr lang="en-US" sz="1200" dirty="0"/>
          </a:p>
          <a:p>
            <a:pPr rtl="0"/>
            <a:r>
              <a:rPr lang="en-US" sz="1200" dirty="0"/>
              <a:t>First of all, </a:t>
            </a:r>
            <a:r>
              <a:rPr lang="en-US" sz="1200" b="1" dirty="0"/>
              <a:t>leave the terms artificial and machine aside</a:t>
            </a:r>
            <a:r>
              <a:rPr lang="en-US" sz="1200" dirty="0"/>
              <a:t>. We will try to understand the words intelligence and learning one-by-one. Think of how one can solve a given (mathematical and not real life) problem. There are two possibilities - </a:t>
            </a:r>
            <a:r>
              <a:rPr lang="en-US" sz="1200" i="1" dirty="0"/>
              <a:t>either</a:t>
            </a:r>
          </a:p>
          <a:p>
            <a:pPr rtl="0"/>
            <a:endParaRPr lang="en-US" sz="1200" dirty="0"/>
          </a:p>
          <a:p>
            <a:r>
              <a:rPr lang="en-US" sz="1200" dirty="0"/>
              <a:t>Method 1: he/she/it has solved such a problem before and has </a:t>
            </a:r>
            <a:r>
              <a:rPr lang="en-US" sz="1200" b="1" i="1" dirty="0"/>
              <a:t>learned</a:t>
            </a:r>
            <a:r>
              <a:rPr lang="en-US" sz="1200" dirty="0"/>
              <a:t> how to solve such problems </a:t>
            </a:r>
            <a:r>
              <a:rPr lang="en-US" sz="1200" i="1" dirty="0"/>
              <a:t>or</a:t>
            </a:r>
          </a:p>
          <a:p>
            <a:endParaRPr lang="en-US" sz="1200" dirty="0"/>
          </a:p>
          <a:p>
            <a:r>
              <a:rPr lang="en-US" sz="1200" dirty="0"/>
              <a:t>Method 2: (it is first time he/she/it faced this type of problem and)</a:t>
            </a:r>
            <a:r>
              <a:rPr lang="en-US" sz="1200" i="1" dirty="0"/>
              <a:t> </a:t>
            </a:r>
            <a:r>
              <a:rPr lang="en-US" sz="1200" dirty="0"/>
              <a:t>he/she/it is </a:t>
            </a:r>
            <a:r>
              <a:rPr lang="en-US" sz="1200" b="1" i="1" dirty="0"/>
              <a:t>actually intelligent</a:t>
            </a:r>
            <a:r>
              <a:rPr lang="en-US" sz="1200" dirty="0"/>
              <a:t> to think of possibilities of how to solve the problem based on what he/she/it </a:t>
            </a:r>
            <a:r>
              <a:rPr lang="en-US" sz="1200" b="1" i="1" dirty="0"/>
              <a:t>knows</a:t>
            </a:r>
            <a:r>
              <a:rPr lang="en-US" sz="1200" dirty="0"/>
              <a:t>, right?</a:t>
            </a:r>
          </a:p>
          <a:p>
            <a:pPr rtl="0"/>
            <a:endParaRPr lang="en-US" sz="1200" dirty="0"/>
          </a:p>
          <a:p>
            <a:pPr rtl="0"/>
            <a:r>
              <a:rPr lang="en-US" sz="1200" dirty="0"/>
              <a:t>The former is called </a:t>
            </a:r>
            <a:r>
              <a:rPr lang="en-US" sz="1200" b="1" dirty="0"/>
              <a:t>learning </a:t>
            </a:r>
            <a:r>
              <a:rPr lang="en-US" sz="1200" dirty="0"/>
              <a:t>and the latter is called </a:t>
            </a:r>
            <a:r>
              <a:rPr lang="en-US" sz="1200" b="1" dirty="0"/>
              <a:t>knowledge</a:t>
            </a:r>
            <a:r>
              <a:rPr lang="en-US" sz="1200" dirty="0"/>
              <a:t> (along with intelligence). So, in short, to solve a problem, one needs either of these two. Hence, </a:t>
            </a:r>
            <a:r>
              <a:rPr lang="en-US" sz="1200" b="1" dirty="0"/>
              <a:t>learning is a part of intelligence</a:t>
            </a:r>
            <a:r>
              <a:rPr lang="en-US" sz="1200" dirty="0"/>
              <a:t>. </a:t>
            </a:r>
          </a:p>
          <a:p>
            <a:endParaRPr lang="pt-BR" sz="1200" dirty="0"/>
          </a:p>
          <a:p>
            <a:endParaRPr lang="pt-BR" dirty="0"/>
          </a:p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imitar o comportamento de um sistema sem necessariamente reproduzir seus componentes ou saber como ele funciona internamente.</a:t>
            </a:r>
          </a:p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reconstruir um sistema a partir do entendimento do funcionamento do mesmo, de forma que o resultado seja bastante semelhante ao original.</a:t>
            </a:r>
          </a:p>
          <a:p>
            <a:pPr fontAlgn="base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exemplo ilustrativo: No filme "</a:t>
            </a:r>
            <a:r>
              <a:rPr lang="pt-BR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Enigma de Outro Mundo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o alienígena tem um processo de reprodução que a partir do DNA da sua vítima replica uma nova pessoa, imitando quase que completamente seus órgãos, tecidos, etc. Isso seria uma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Já no filme "</a:t>
            </a:r>
            <a:r>
              <a:rPr lang="pt-BR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Homem Bicentenário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um robô tenta imitar a aparência e comportamento dos humanos. Isso seria uma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seu caso, o programa que reproduz o comportamento do dispositivo Android é um emulador porque você pode colocar seu código que roda no dispositivo real e ele funcionará da mesma forma. Já, se a aplicação rodando no browser for uma aplicação completamente diferente da que roda no dispositivo, porém o resultado para o usuário é o mesmo, então a aplicação é um simulador.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88527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41368FF-494C-A184-DD8C-03C87D72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="" xmlns:a16="http://schemas.microsoft.com/office/drawing/2014/main" id="{5ABBDE82-82E4-4048-A29E-DE762494E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="" xmlns:a16="http://schemas.microsoft.com/office/drawing/2014/main" id="{60300E74-CF3E-030E-505D-B8689B5AC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i="1" dirty="0"/>
              <a:t>AI is a broader concept to create intelligent machines that can </a:t>
            </a:r>
            <a:r>
              <a:rPr lang="en-US" sz="1200" b="1" i="1" dirty="0"/>
              <a:t>simulate</a:t>
            </a:r>
            <a:r>
              <a:rPr lang="en-US" sz="1200" i="1" dirty="0"/>
              <a:t> human thinking capability and behavior, whereas, machine learning is an application or subset of AI that allows machines to learn from data without being programmed explicitly.</a:t>
            </a:r>
            <a:endParaRPr lang="pt-BR" sz="1200" b="1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1200" b="1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>
                <a:cs typeface="Calibri"/>
              </a:rPr>
              <a:t>Processamento de linguagem natural</a:t>
            </a:r>
            <a:r>
              <a:rPr lang="pt-BR" sz="1200" b="0" dirty="0">
                <a:cs typeface="Calibri"/>
              </a:rPr>
              <a:t>: criação automática de resumos,</a:t>
            </a:r>
            <a:r>
              <a:rPr lang="pt-BR" sz="1200" b="0" baseline="0" dirty="0">
                <a:cs typeface="Calibri"/>
              </a:rPr>
              <a:t> tradução de textos em uma língua para outra, reconhecimento de fala,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Representação do conhecimento</a:t>
            </a:r>
            <a:r>
              <a:rPr lang="pt-BR" sz="1200" b="0" baseline="0" dirty="0">
                <a:cs typeface="Calibri"/>
              </a:rPr>
              <a:t>: lida com problemas de como criar (extrair, absorver) e armazenar conhecimento do mundo. É um campo da inteligência artificial que se concentra no design de representações computacionais que capturam informações sobre o mundo.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Raciocínio automatizado</a:t>
            </a:r>
            <a:r>
              <a:rPr lang="pt-BR" sz="1200" b="0" baseline="0" dirty="0">
                <a:cs typeface="Calibri"/>
              </a:rPr>
              <a:t>: utiliza o conhecimento armazenado por computadores para resolver problemas complexos, como por exemplo, provar teoremas matemáticos.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Planejamento</a:t>
            </a:r>
            <a:r>
              <a:rPr lang="pt-BR" sz="1200" b="0" baseline="0" dirty="0">
                <a:cs typeface="Calibri"/>
              </a:rPr>
              <a:t>: </a:t>
            </a:r>
            <a:r>
              <a:rPr lang="pt-BR" dirty="0"/>
              <a:t>tem como objetivo encontrar um plano que permita uma</a:t>
            </a:r>
            <a:r>
              <a:rPr lang="pt-BR" baseline="0" dirty="0"/>
              <a:t> máquina </a:t>
            </a:r>
            <a:r>
              <a:rPr lang="pt-BR" dirty="0"/>
              <a:t>executar uma tarefa, a partir de uma situação inicial.</a:t>
            </a:r>
            <a:endParaRPr lang="pt-BR" sz="1200" b="0" baseline="0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Visão computacional</a:t>
            </a:r>
            <a:r>
              <a:rPr lang="pt-BR" sz="1200" b="0" baseline="0" dirty="0">
                <a:cs typeface="Calibri"/>
              </a:rPr>
              <a:t>: desenvolvimento de máquinas inteligentes que obtém informação de imagens e vídeos. Exemplos: reconhecimento de faces, controle de qualidade em industrias, carros autônomos,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Robótica</a:t>
            </a:r>
            <a:r>
              <a:rPr lang="pt-BR" sz="1200" b="0" baseline="0" dirty="0">
                <a:cs typeface="Calibri"/>
              </a:rPr>
              <a:t>: lida com o projeto, construção e operação de robôs que repliquem ações humanas. Exemplos: robôs militares, industriais, médicos, etc.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baseline="0" dirty="0">
                <a:cs typeface="Calibri"/>
              </a:rPr>
              <a:t>Aprendizado de máquina</a:t>
            </a:r>
            <a:r>
              <a:rPr lang="pt-BR" sz="1200" b="0" baseline="0" dirty="0">
                <a:cs typeface="Calibri"/>
              </a:rPr>
              <a:t>: lida com o design e construção de máquinas que executam uma tarefa específica sem terem sido explicitamente programadas para isso. Exemplos: algoritmo de recomendações do </a:t>
            </a:r>
            <a:r>
              <a:rPr lang="pt-BR" sz="1200" b="0" baseline="0" dirty="0" err="1">
                <a:cs typeface="Calibri"/>
              </a:rPr>
              <a:t>netflix</a:t>
            </a:r>
            <a:r>
              <a:rPr lang="pt-BR" sz="1200" b="0" baseline="0" dirty="0">
                <a:cs typeface="Calibri"/>
              </a:rPr>
              <a:t>, carro autômato, etc. Esses </a:t>
            </a:r>
            <a:r>
              <a:rPr lang="pt-BR" sz="1200" b="0" baseline="0" dirty="0" err="1">
                <a:cs typeface="Calibri"/>
              </a:rPr>
              <a:t>algortimos</a:t>
            </a:r>
            <a:r>
              <a:rPr lang="pt-BR" sz="1200" b="0" baseline="0" dirty="0">
                <a:cs typeface="Calibri"/>
              </a:rPr>
              <a:t> aprendem através da experiência.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PT" sz="1200" b="1" i="0" dirty="0"/>
              <a:t>Inteligência artificial geral</a:t>
            </a:r>
            <a:r>
              <a:rPr lang="pt-PT" sz="1200" i="1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máquinas que possuem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consciência e sentimentos, capazes de oferecer soluções para qualquer tipo de problema.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IAG é a meta dos pesquisadores da inteligência artificial. Somente com ela, a IA poderá resolver problemas chamados de “transversais”, aqueles que exigem mais de uma habilidade e variadas tomadas de decisão. Em resumo,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uma máquina com a mesma capacidade intelectual de um ser humano, podendo realizar qualquer atividade inteligente que o homem domine.</a:t>
            </a:r>
            <a:endParaRPr lang="en-US" sz="1200" dirty="0"/>
          </a:p>
          <a:p>
            <a:endParaRPr lang="pt-BR" sz="1200" dirty="0"/>
          </a:p>
          <a:p>
            <a:r>
              <a:rPr lang="en-US" sz="1200" dirty="0"/>
              <a:t>KR&amp;R: Knowledge representation and reasoning</a:t>
            </a:r>
          </a:p>
          <a:p>
            <a:endParaRPr lang="en-US" sz="1200" dirty="0"/>
          </a:p>
          <a:p>
            <a:endParaRPr lang="en-US" sz="1200" dirty="0"/>
          </a:p>
          <a:p>
            <a:pPr rtl="0"/>
            <a:r>
              <a:rPr lang="en-US" sz="1200" dirty="0"/>
              <a:t>First of all, </a:t>
            </a:r>
            <a:r>
              <a:rPr lang="en-US" sz="1200" b="1" dirty="0"/>
              <a:t>leave the terms artificial and machine aside</a:t>
            </a:r>
            <a:r>
              <a:rPr lang="en-US" sz="1200" dirty="0"/>
              <a:t>. We will try to understand the words intelligence and learning one-by-one. Think of how one can solve a given (mathematical and not real life) problem. There are two possibilities - </a:t>
            </a:r>
            <a:r>
              <a:rPr lang="en-US" sz="1200" i="1" dirty="0"/>
              <a:t>either</a:t>
            </a:r>
          </a:p>
          <a:p>
            <a:pPr rtl="0"/>
            <a:endParaRPr lang="en-US" sz="1200" dirty="0"/>
          </a:p>
          <a:p>
            <a:r>
              <a:rPr lang="en-US" sz="1200" dirty="0"/>
              <a:t>Method 1: he/she/it has solved such a problem before and has </a:t>
            </a:r>
            <a:r>
              <a:rPr lang="en-US" sz="1200" b="1" i="1" dirty="0"/>
              <a:t>learned</a:t>
            </a:r>
            <a:r>
              <a:rPr lang="en-US" sz="1200" dirty="0"/>
              <a:t> how to solve such problems </a:t>
            </a:r>
            <a:r>
              <a:rPr lang="en-US" sz="1200" i="1" dirty="0"/>
              <a:t>or</a:t>
            </a:r>
          </a:p>
          <a:p>
            <a:endParaRPr lang="en-US" sz="1200" dirty="0"/>
          </a:p>
          <a:p>
            <a:r>
              <a:rPr lang="en-US" sz="1200" dirty="0"/>
              <a:t>Method 2: (it is first time he/she/it faced this type of problem and)</a:t>
            </a:r>
            <a:r>
              <a:rPr lang="en-US" sz="1200" i="1" dirty="0"/>
              <a:t> </a:t>
            </a:r>
            <a:r>
              <a:rPr lang="en-US" sz="1200" dirty="0"/>
              <a:t>he/she/it is </a:t>
            </a:r>
            <a:r>
              <a:rPr lang="en-US" sz="1200" b="1" i="1" dirty="0"/>
              <a:t>actually intelligent</a:t>
            </a:r>
            <a:r>
              <a:rPr lang="en-US" sz="1200" dirty="0"/>
              <a:t> to think of possibilities of how to solve the problem based on what he/she/it </a:t>
            </a:r>
            <a:r>
              <a:rPr lang="en-US" sz="1200" b="1" i="1" dirty="0"/>
              <a:t>knows</a:t>
            </a:r>
            <a:r>
              <a:rPr lang="en-US" sz="1200" dirty="0"/>
              <a:t>, right?</a:t>
            </a:r>
          </a:p>
          <a:p>
            <a:pPr rtl="0"/>
            <a:endParaRPr lang="en-US" sz="1200" dirty="0"/>
          </a:p>
          <a:p>
            <a:pPr rtl="0"/>
            <a:r>
              <a:rPr lang="en-US" sz="1200" dirty="0"/>
              <a:t>The former is called </a:t>
            </a:r>
            <a:r>
              <a:rPr lang="en-US" sz="1200" b="1" dirty="0"/>
              <a:t>learning </a:t>
            </a:r>
            <a:r>
              <a:rPr lang="en-US" sz="1200" dirty="0"/>
              <a:t>and the latter is called </a:t>
            </a:r>
            <a:r>
              <a:rPr lang="en-US" sz="1200" b="1" dirty="0"/>
              <a:t>knowledge</a:t>
            </a:r>
            <a:r>
              <a:rPr lang="en-US" sz="1200" dirty="0"/>
              <a:t> (along with intelligence). So, in short, to solve a problem, one needs either of these two. Hence, </a:t>
            </a:r>
            <a:r>
              <a:rPr lang="en-US" sz="1200" b="1" dirty="0"/>
              <a:t>learning is a part of intelligence</a:t>
            </a:r>
            <a:r>
              <a:rPr lang="en-US" sz="1200" dirty="0"/>
              <a:t>. </a:t>
            </a:r>
          </a:p>
          <a:p>
            <a:endParaRPr lang="pt-BR" sz="1200" dirty="0"/>
          </a:p>
          <a:p>
            <a:endParaRPr lang="pt-BR" dirty="0"/>
          </a:p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imitar o comportamento de um sistema sem necessariamente reproduzir seus componentes ou saber como ele funciona internamente.</a:t>
            </a:r>
          </a:p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reconstruir um sistema a partir do entendimento do funcionamento do mesmo, de forma que o resultado seja bastante semelhante ao original.</a:t>
            </a:r>
          </a:p>
          <a:p>
            <a:pPr fontAlgn="base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exemplo ilustrativo: No filme "</a:t>
            </a:r>
            <a:r>
              <a:rPr lang="pt-BR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Enigma de Outro Mundo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o alienígena tem um processo de reprodução que a partir do DNA da sua vítima replica uma nova pessoa, imitando quase que completamente seus órgãos, tecidos, etc. Isso seria uma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Já no filme "</a:t>
            </a:r>
            <a:r>
              <a:rPr lang="pt-BR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Homem Bicentenário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um robô tenta imitar a aparência e comportamento dos humanos. Isso seria uma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seu caso, o programa que reproduz o comportamento do dispositivo Android é um emulador porque você pode colocar seu código que roda no dispositivo real e ele funcionará da mesma forma. Já, se a aplicação rodando no browser for uma aplicação completamente diferente da que roda no dispositivo, porém o resultado para o usuário é o mesmo, então a aplicação é um simulador.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7F137B37-FDC1-0375-4B5C-C0DD2E195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8029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imitar o comportamento de um sistema sem necessariamente reproduzir seus componentes ou saber como ele funciona internamente.</a:t>
            </a:r>
          </a:p>
          <a:p>
            <a:pPr fontAlgn="base"/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tem a ver com a possibilidade de reconstruir um sistema a partir do entendimento do funcionamento do mesmo, de forma que o resultado seja bastante semelhante ao original.</a:t>
            </a:r>
          </a:p>
          <a:p>
            <a:pPr fontAlgn="base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pt-BR" dirty="0"/>
              <a:t>A emulação foca na </a:t>
            </a:r>
            <a:r>
              <a:rPr lang="pt-BR" b="1" dirty="0"/>
              <a:t>reprodução fiel</a:t>
            </a:r>
            <a:r>
              <a:rPr lang="pt-BR" dirty="0"/>
              <a:t>. O objetivo é fazer um sistema se comportar exatamente como outro, a ponto de o software "enganado" acreditar que está rodando no hardware original.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01787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"Se um robô pode fazer seu trabalho, você deveria estar fazendo algo mais humano."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6637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2149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4036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5977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Acredita-se que o </a:t>
            </a:r>
            <a:r>
              <a:rPr lang="pt-BR" b="1" dirty="0"/>
              <a:t>Homo </a:t>
            </a:r>
            <a:r>
              <a:rPr lang="pt-BR" b="1" dirty="0" err="1"/>
              <a:t>erectus</a:t>
            </a:r>
            <a:r>
              <a:rPr lang="pt-BR" dirty="0"/>
              <a:t> foi o primeiro a dominar o fogo.</a:t>
            </a:r>
          </a:p>
          <a:p>
            <a:r>
              <a:rPr lang="pt-BR" b="1" dirty="0"/>
              <a:t>Onde e Quando:</a:t>
            </a:r>
            <a:r>
              <a:rPr lang="pt-BR" dirty="0"/>
              <a:t> Evidências arqueológicas sugerem que o uso controlado começou há cerca de </a:t>
            </a:r>
            <a:r>
              <a:rPr lang="pt-BR" b="1" dirty="0"/>
              <a:t>1 milhão de anos</a:t>
            </a:r>
            <a:r>
              <a:rPr lang="pt-BR" dirty="0"/>
              <a:t> (embora alguns cientistas debatam datas que vão de 1,5 milhão a 400 mil anos atrás).</a:t>
            </a:r>
          </a:p>
          <a:p>
            <a:r>
              <a:rPr lang="pt-BR" b="1" dirty="0"/>
              <a:t>Locais:</a:t>
            </a:r>
            <a:r>
              <a:rPr lang="pt-BR" dirty="0"/>
              <a:t> Foram encontrados vestígios em cavernas na África (como a caverna de </a:t>
            </a:r>
            <a:r>
              <a:rPr lang="pt-BR" dirty="0" err="1"/>
              <a:t>Wonderwerk</a:t>
            </a:r>
            <a:r>
              <a:rPr lang="pt-BR" dirty="0"/>
              <a:t> na África do Sul) e em Israel.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8044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93676DD-41CD-C664-0E19-7B7714470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A94D0FE6-D5CF-26A8-8BC4-8C06050B1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BA9C693-E142-F59D-D9C8-9174F6206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Acredita-se que o </a:t>
            </a:r>
            <a:r>
              <a:rPr lang="pt-BR" b="1" dirty="0"/>
              <a:t>Homo </a:t>
            </a:r>
            <a:r>
              <a:rPr lang="pt-BR" b="1" dirty="0" err="1"/>
              <a:t>erectus</a:t>
            </a:r>
            <a:r>
              <a:rPr lang="pt-BR" dirty="0"/>
              <a:t> foi o primeiro a dominar o fogo.</a:t>
            </a:r>
          </a:p>
          <a:p>
            <a:r>
              <a:rPr lang="pt-BR" b="1" dirty="0"/>
              <a:t>Onde e Quando:</a:t>
            </a:r>
            <a:r>
              <a:rPr lang="pt-BR" dirty="0"/>
              <a:t> Evidências arqueológicas sugerem que o uso controlado começou há cerca de </a:t>
            </a:r>
            <a:r>
              <a:rPr lang="pt-BR" b="1" dirty="0"/>
              <a:t>1 milhão de anos</a:t>
            </a:r>
            <a:r>
              <a:rPr lang="pt-BR" dirty="0"/>
              <a:t> (embora alguns cientistas debatam datas que vão de 1,5 milhão a 400 mil anos atrás).</a:t>
            </a:r>
          </a:p>
          <a:p>
            <a:r>
              <a:rPr lang="pt-BR" b="1" dirty="0"/>
              <a:t>Locais:</a:t>
            </a:r>
            <a:r>
              <a:rPr lang="pt-BR" dirty="0"/>
              <a:t> Foram encontrados vestígios em cavernas na África (como a caverna de </a:t>
            </a:r>
            <a:r>
              <a:rPr lang="pt-BR" dirty="0" err="1"/>
              <a:t>Wonderwerk</a:t>
            </a:r>
            <a:r>
              <a:rPr lang="pt-BR" dirty="0"/>
              <a:t> na África do Sul) e em Israel.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B1FD058-5023-6066-4D48-0E5C7EF1A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7252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=""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pe.figueiredo@Inatel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z4fap/c24_inteligencia_artificia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s.huji.ac.il/~shais/UnderstandingMachineLearning/understanding-machine-learning-theory-algorithms.pdf" TargetMode="External"/><Relationship Id="rId3" Type="http://schemas.openxmlformats.org/officeDocument/2006/relationships/hyperlink" Target="https://www.deeplearning.ai/courses" TargetMode="External"/><Relationship Id="rId7" Type="http://schemas.openxmlformats.org/officeDocument/2006/relationships/hyperlink" Target="https://github.com/abhishekkrthakur/approachingalmost/blob/master/AAAMLP.pdf" TargetMode="External"/><Relationship Id="rId2" Type="http://schemas.openxmlformats.org/officeDocument/2006/relationships/hyperlink" Target="https://developers.google.com/machine-learn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eeplearningbook.com.br/machine-learning-guia-definitivo-parte-1/" TargetMode="External"/><Relationship Id="rId5" Type="http://schemas.openxmlformats.org/officeDocument/2006/relationships/hyperlink" Target="https://arxiv.org/pdf/1709.02840" TargetMode="External"/><Relationship Id="rId4" Type="http://schemas.openxmlformats.org/officeDocument/2006/relationships/hyperlink" Target="https://cs.nyu.edu/~mohri/mlbook/" TargetMode="External"/><Relationship Id="rId9" Type="http://schemas.openxmlformats.org/officeDocument/2006/relationships/hyperlink" Target="https://themlbook.com/wiki/doku.php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1.globo.com/tecnologia/noticia/2014/06/computador-convence-juizes-que-e-garoto-de-13-anos-em-teste-de-turing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tecnoblog.net/noticias/gpt-4-5-da-openai-passa-no-teste-de-turing-e-engana-humanos-mostra-estudo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nnbrasil.com.br/economia/negocios/inteligencia-artificial-esta-substituindo-humanos-mais-rapido-do-que-voce-pensa-mostra-pesquisa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xame.com/tecnologia/carros-autonomos-quem-e-o-culpado-quando-ocorrem-acidentes/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eja.abril.com.br/tecnologia/codigos-destravam-bloqueios-de-seguranca-de-ias-generativas/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hyperlink" Target="https://veja.abril.com.br/economia/discriminacao-o-desafio-da-inteligencia-artificial-em-processos-seletivos/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nbrasil.com.br/nacional/sul/rs/golpe-usava-deepfake-de-gisele-bundchen-para-aplicar-golpes-milionarios/" TargetMode="External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boinfinito.com.br/principal/o-dilema-das-redes-revelado-que-somos-o-produto-facebook-desmente-o-que-o-documentario-afirmou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z4fap/c24_inteligencia_artificial/blob/main/listas/Lista%201%20-%20Introdu%C3%A7%C3%A3o%20%C3%A0%20IA.pdf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836433"/>
            <a:ext cx="10906298" cy="2690156"/>
          </a:xfrm>
        </p:spPr>
        <p:txBody>
          <a:bodyPr anchor="ctr">
            <a:noAutofit/>
          </a:bodyPr>
          <a:lstStyle/>
          <a:p>
            <a:r>
              <a:rPr lang="pt-BR" sz="6600" dirty="0"/>
              <a:t>C24 - Inteligência Artificial:</a:t>
            </a:r>
            <a:r>
              <a:rPr lang="pt-BR" sz="7200" dirty="0"/>
              <a:t/>
            </a:r>
            <a:br>
              <a:rPr lang="pt-BR" sz="7200" dirty="0"/>
            </a:br>
            <a:r>
              <a:rPr lang="pt-BR" sz="7200" b="1" i="1" dirty="0"/>
              <a:t>Introdução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A. P. de Figueiredo</a:t>
            </a:r>
          </a:p>
          <a:p>
            <a:r>
              <a:rPr lang="pt-BR" dirty="0">
                <a:hlinkClick r:id="rId3"/>
              </a:rPr>
              <a:t>felipe.figueiredo@Inatel.br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=""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Informações gerais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65625" cy="5032375"/>
          </a:xfrm>
        </p:spPr>
        <p:txBody>
          <a:bodyPr/>
          <a:lstStyle/>
          <a:p>
            <a:r>
              <a:rPr lang="en-US" b="1" dirty="0"/>
              <a:t>Carga </a:t>
            </a:r>
            <a:r>
              <a:rPr lang="en-US" b="1" dirty="0" err="1"/>
              <a:t>horária</a:t>
            </a:r>
            <a:r>
              <a:rPr lang="en-US" b="1" dirty="0"/>
              <a:t> </a:t>
            </a:r>
            <a:r>
              <a:rPr lang="en-US" b="1" dirty="0" err="1"/>
              <a:t>teórica</a:t>
            </a:r>
            <a:r>
              <a:rPr lang="en-US" dirty="0"/>
              <a:t>: 2h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semana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Aulas de </a:t>
            </a:r>
            <a:r>
              <a:rPr lang="en-US" dirty="0" err="1"/>
              <a:t>laboratório</a:t>
            </a:r>
            <a:r>
              <a:rPr lang="en-US" dirty="0"/>
              <a:t> </a:t>
            </a:r>
            <a:r>
              <a:rPr lang="en-US" dirty="0" err="1"/>
              <a:t>serão</a:t>
            </a:r>
            <a:r>
              <a:rPr lang="en-US" dirty="0"/>
              <a:t> </a:t>
            </a:r>
            <a:r>
              <a:rPr lang="en-US" dirty="0" err="1"/>
              <a:t>baseadas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atividades</a:t>
            </a:r>
            <a:r>
              <a:rPr lang="en-US" dirty="0"/>
              <a:t>.</a:t>
            </a:r>
          </a:p>
          <a:p>
            <a:r>
              <a:rPr lang="pt-BR" b="1" dirty="0"/>
              <a:t>Horário de atendimento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Terças-feiras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10:00 às 11:00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17:30 às 18:30</a:t>
            </a:r>
          </a:p>
          <a:p>
            <a:r>
              <a:rPr lang="pt-BR" b="1" dirty="0"/>
              <a:t>Material do curso</a:t>
            </a:r>
            <a:r>
              <a:rPr lang="pt-BR" dirty="0"/>
              <a:t>: </a:t>
            </a:r>
            <a:r>
              <a:rPr lang="pt-BR" dirty="0">
                <a:hlinkClick r:id="rId2"/>
              </a:rPr>
              <a:t>https://github.com/zz4fap/c24_inteligencia_artificial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275843C-22E7-DF12-5D68-32D5E7A91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5D84E62-DE76-FCD9-4D9F-1C5A1B25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="" xmlns:a16="http://schemas.microsoft.com/office/drawing/2014/main" id="{C8116E68-4B54-8FA1-1EB8-3391FE167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5746919"/>
              </p:ext>
            </p:extLst>
          </p:nvPr>
        </p:nvGraphicFramePr>
        <p:xfrm>
          <a:off x="2793076" y="1303020"/>
          <a:ext cx="660584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038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1292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1588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65037"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chemeClr val="tx1"/>
                          </a:solidFill>
                        </a:rPr>
                        <a:t>C24</a:t>
                      </a:r>
                      <a:endParaRPr lang="pt-BR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</a:rPr>
                        <a:t>27/07/26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03/08/26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10/08/26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17/08/26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24/08/26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31/08/26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7*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07/09/26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14/09/26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b="1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21/09/26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dirty="0"/>
                        <a:t>Prova #1 (NP1)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28/09/26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05/10/26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12*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12/10/26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19/10/26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26/10/26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15*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02/11/26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09/11/26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16/11/26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23/11/26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Segunda-feira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/>
                        <a:t>Inteligência Artificial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</a:rPr>
                        <a:t>30/11/26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050" b="1" dirty="0"/>
                        <a:t>Segunda-feira</a:t>
                      </a:r>
                      <a:endParaRPr lang="pt-BR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Prova #2 (NP2)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22528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</a:rPr>
                        <a:t>07/12/26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050" b="1" dirty="0"/>
                        <a:t>Segunda-feira</a:t>
                      </a:r>
                      <a:endParaRPr lang="pt-BR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Prova #3 (NP3)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7C41E1DB-BBB1-315A-0ECA-812F8171A5A8}"/>
              </a:ext>
            </a:extLst>
          </p:cNvPr>
          <p:cNvSpPr txBox="1"/>
          <p:nvPr/>
        </p:nvSpPr>
        <p:spPr>
          <a:xfrm>
            <a:off x="2699657" y="6606540"/>
            <a:ext cx="20922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*Feriado, marcaremos reposição.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2881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896771-F494-3271-B25B-8C51106AF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Avaliações</a:t>
            </a:r>
            <a:endParaRPr lang="en-US" dirty="0"/>
          </a:p>
        </p:txBody>
      </p:sp>
      <p:pic>
        <p:nvPicPr>
          <p:cNvPr id="1026" name="Picture 2" descr="Expanding Brain - Exam M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238" y="1451201"/>
            <a:ext cx="3834426" cy="5276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574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03429" cy="5032375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Avaliações estão </a:t>
            </a:r>
            <a:r>
              <a:rPr lang="pt-BR" b="1" dirty="0"/>
              <a:t>divididas em duas partes</a:t>
            </a:r>
            <a:r>
              <a:rPr lang="pt-BR" dirty="0"/>
              <a:t>: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t-BR" dirty="0"/>
              <a:t>Nota Parcial de Teoria (NPT) e 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t-BR" dirty="0"/>
              <a:t>Nota Parcial de Laboratório (NPL).</a:t>
            </a:r>
          </a:p>
          <a:p>
            <a:pPr fontAlgn="base"/>
            <a:r>
              <a:rPr lang="pt-BR" dirty="0"/>
              <a:t>30% da nota da disciplina corresponde à parte teórica (NPT).</a:t>
            </a:r>
          </a:p>
          <a:p>
            <a:pPr fontAlgn="base"/>
            <a:r>
              <a:rPr lang="pt-BR" dirty="0"/>
              <a:t>70% corresponde à parte de laboratório (NPL).</a:t>
            </a:r>
          </a:p>
        </p:txBody>
      </p:sp>
    </p:spTree>
    <p:extLst>
      <p:ext uri="{BB962C8B-B14F-4D97-AF65-F5344CB8AC3E}">
        <p14:creationId xmlns:p14="http://schemas.microsoft.com/office/powerpoint/2010/main" val="809288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53C5D50-D3AF-E37C-E217-7F3C2EB9C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A7DE92B-854A-2318-C143-2C2A6606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3BF9952-79E6-D9D0-726A-975122CDC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255830" cy="5032375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Dos 30% correspondentes à parte </a:t>
            </a:r>
            <a:r>
              <a:rPr lang="pt-BR" b="1" dirty="0"/>
              <a:t>teórica</a:t>
            </a:r>
            <a:r>
              <a:rPr lang="pt-BR" dirty="0"/>
              <a:t> teremos: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t-BR" dirty="0"/>
              <a:t>NP1 (1ª prova teórica, mas pode conter questões práticas)</a:t>
            </a:r>
          </a:p>
          <a:p>
            <a:pPr lvl="2" fontAlgn="base">
              <a:buFont typeface="Courier New" panose="02070309020205020404" pitchFamily="49" charset="0"/>
              <a:buChar char="o"/>
            </a:pPr>
            <a:r>
              <a:rPr lang="pt-BR" dirty="0"/>
              <a:t>Data: a definir → </a:t>
            </a:r>
            <a:r>
              <a:rPr lang="pt-BR" dirty="0">
                <a:solidFill>
                  <a:srgbClr val="00B0F0"/>
                </a:solidFill>
              </a:rPr>
              <a:t>sugestão: 21/09/2026</a:t>
            </a:r>
            <a:r>
              <a:rPr lang="en-US" dirty="0">
                <a:solidFill>
                  <a:srgbClr val="00B0F0"/>
                </a:solidFill>
              </a:rPr>
              <a:t>​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t-BR" dirty="0"/>
              <a:t>NP2 (2ª prova teórica, mas pode conter questões práticas)</a:t>
            </a:r>
          </a:p>
          <a:p>
            <a:pPr lvl="2" fontAlgn="base">
              <a:buFont typeface="Courier New" panose="02070309020205020404" pitchFamily="49" charset="0"/>
              <a:buChar char="o"/>
            </a:pPr>
            <a:r>
              <a:rPr lang="pt-BR" dirty="0"/>
              <a:t>Data: a definir → </a:t>
            </a:r>
            <a:r>
              <a:rPr lang="pt-BR" dirty="0">
                <a:solidFill>
                  <a:srgbClr val="00B0F0"/>
                </a:solidFill>
              </a:rPr>
              <a:t>sugestão: 30/11/2026</a:t>
            </a:r>
            <a:r>
              <a:rPr lang="pt-BR" dirty="0"/>
              <a:t>​​</a:t>
            </a:r>
          </a:p>
          <a:p>
            <a:pPr fontAlgn="base"/>
            <a:r>
              <a:rPr lang="pt-BR" dirty="0"/>
              <a:t>NPT = (NP1 + NP2) / 2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Se </a:t>
            </a:r>
            <a:r>
              <a:rPr lang="it-IT" dirty="0"/>
              <a:t>NPT &gt;= 60 </a:t>
            </a:r>
            <a:r>
              <a:rPr lang="it-IT" b="1" dirty="0"/>
              <a:t>e</a:t>
            </a:r>
            <a:r>
              <a:rPr lang="it-IT" dirty="0"/>
              <a:t> NPL &gt;= 60, o aluno está </a:t>
            </a:r>
            <a:r>
              <a:rPr lang="it-IT" b="1" dirty="0"/>
              <a:t>aprovado </a:t>
            </a:r>
            <a:r>
              <a:rPr lang="it-IT" dirty="0"/>
              <a:t>e </a:t>
            </a:r>
            <a:endParaRPr lang="en-US" dirty="0"/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en-US" dirty="0"/>
              <a:t>NFA = (NPL * PL + NPT * PT), </a:t>
            </a:r>
            <a:r>
              <a:rPr lang="en-US" dirty="0" err="1"/>
              <a:t>onde</a:t>
            </a:r>
            <a:r>
              <a:rPr lang="en-US" dirty="0"/>
              <a:t> PL = 30% e PT = 70%.</a:t>
            </a:r>
          </a:p>
          <a:p>
            <a:pPr fontAlgn="base"/>
            <a:r>
              <a:rPr lang="pt-BR" dirty="0"/>
              <a:t>Se NPT &lt; 30 </a:t>
            </a:r>
            <a:r>
              <a:rPr lang="pt-BR" b="1" dirty="0"/>
              <a:t>ou</a:t>
            </a:r>
            <a:r>
              <a:rPr lang="pt-BR" dirty="0"/>
              <a:t> NPL &lt; 30, o aluno estará </a:t>
            </a:r>
            <a:r>
              <a:rPr lang="pt-BR" b="1" dirty="0"/>
              <a:t>reprovado</a:t>
            </a:r>
            <a:r>
              <a:rPr lang="pt-BR" dirty="0"/>
              <a:t> e a NFA será a menor nota entre NPT e NPL.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9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A5F9616-04E5-7E98-8AE8-81B53CA7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3110857-57D3-AFEB-9E5A-61FB5D49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3CDA0B62-2295-01F7-FEBA-10D46D616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255830" cy="5032375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Se as duas condições anteriores não forem satisfeitas, o aluno deverá fazer a NP3.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t-BR" dirty="0"/>
              <a:t>Prova com </a:t>
            </a:r>
            <a:r>
              <a:rPr lang="pt-BR" b="1" dirty="0"/>
              <a:t>cobertura de todo conteúdo da disciplina</a:t>
            </a:r>
            <a:r>
              <a:rPr lang="pt-BR" dirty="0"/>
              <a:t>, envolvendo as </a:t>
            </a:r>
            <a:r>
              <a:rPr lang="pt-BR" b="1" dirty="0"/>
              <a:t>partes práticas de laboratório e as teóricas</a:t>
            </a:r>
            <a:r>
              <a:rPr lang="pt-BR" dirty="0"/>
              <a:t>.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t-BR" dirty="0"/>
              <a:t>Data da NP3: a definir → </a:t>
            </a:r>
            <a:r>
              <a:rPr lang="pt-BR" dirty="0">
                <a:solidFill>
                  <a:srgbClr val="00B0F0"/>
                </a:solidFill>
              </a:rPr>
              <a:t>sugestão: 07/12/2026</a:t>
            </a:r>
            <a:endParaRPr lang="pt-BR" dirty="0"/>
          </a:p>
          <a:p>
            <a:pPr fontAlgn="base"/>
            <a:r>
              <a:rPr lang="pt-BR" dirty="0"/>
              <a:t>Prova substitutiva (PVS):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t-BR" dirty="0"/>
              <a:t>Substitui NP1 </a:t>
            </a:r>
            <a:r>
              <a:rPr lang="pt-BR" b="1" dirty="0"/>
              <a:t>ou</a:t>
            </a:r>
            <a:r>
              <a:rPr lang="pt-BR" dirty="0"/>
              <a:t> NP2 (</a:t>
            </a:r>
            <a:r>
              <a:rPr lang="pt-BR" b="1" dirty="0"/>
              <a:t>feita na data da NP3</a:t>
            </a:r>
            <a:r>
              <a:rPr lang="pt-BR" dirty="0"/>
              <a:t>).</a:t>
            </a:r>
            <a:r>
              <a:rPr lang="en-US" dirty="0"/>
              <a:t>​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b="1" dirty="0" err="1"/>
              <a:t>haverá</a:t>
            </a:r>
            <a:r>
              <a:rPr lang="en-US" b="1" dirty="0"/>
              <a:t> </a:t>
            </a:r>
            <a:r>
              <a:rPr lang="pt-BR" b="1" dirty="0"/>
              <a:t>avaliação substitutiva das atividades de laboratório.</a:t>
            </a:r>
            <a:endParaRPr lang="en-US" dirty="0"/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t-BR" dirty="0"/>
              <a:t>Solicitação por requerimento no CRA.</a:t>
            </a:r>
            <a:r>
              <a:rPr lang="en-US" dirty="0"/>
              <a:t>​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t-BR" dirty="0"/>
              <a:t>Prova com </a:t>
            </a:r>
            <a:r>
              <a:rPr lang="pt-BR" b="1" dirty="0"/>
              <a:t>cobertura de todo o conteúdo da disciplina (teoria e laboratório)</a:t>
            </a:r>
            <a:r>
              <a:rPr lang="pt-BR" dirty="0"/>
              <a:t>.</a:t>
            </a:r>
            <a:r>
              <a:rPr lang="en-US" dirty="0"/>
              <a:t>​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t-BR" dirty="0"/>
              <a:t>Caso o aluno não seja aprovado, será feita outra prova como NP3 (PVS).​ </a:t>
            </a:r>
          </a:p>
        </p:txBody>
      </p:sp>
    </p:spTree>
    <p:extLst>
      <p:ext uri="{BB962C8B-B14F-4D97-AF65-F5344CB8AC3E}">
        <p14:creationId xmlns:p14="http://schemas.microsoft.com/office/powerpoint/2010/main" val="3485535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Calendário e feriados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Calendário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Disponível no site do Inatel</a:t>
            </a:r>
          </a:p>
          <a:p>
            <a:r>
              <a:rPr lang="pt-BR" dirty="0"/>
              <a:t>Feriados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07/09/2026 (Independência do Brasil)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12/10/2026 (Nossa Senhora Aparecida)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02/11/2026 (Finados)</a:t>
            </a:r>
          </a:p>
          <a:p>
            <a:r>
              <a:rPr lang="pt-BR" b="1" dirty="0">
                <a:solidFill>
                  <a:srgbClr val="FF0000"/>
                </a:solidFill>
              </a:rPr>
              <a:t>Atentem-se às reposições de aula no portal acadêmico (se houver).</a:t>
            </a:r>
            <a:r>
              <a:rPr lang="en-US" b="1" dirty="0">
                <a:solidFill>
                  <a:srgbClr val="FF0000"/>
                </a:solidFill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disponíveis na biblioteca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206239"/>
            <a:ext cx="11032375" cy="2651761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RUSSELL, Stuart; NORVIG, Peter; SOUZA, </a:t>
            </a:r>
            <a:r>
              <a:rPr lang="pt-BR" dirty="0" err="1"/>
              <a:t>Vandenberg</a:t>
            </a:r>
            <a:r>
              <a:rPr lang="pt-BR" dirty="0"/>
              <a:t> Dantas De, Inteligência artificial. Rio de Janeiro, RJ: Editora Campus, 2004 - 2013, ISBN 978-85-352-1177-1 / 978-85-352-3701-6.</a:t>
            </a:r>
          </a:p>
          <a:p>
            <a:r>
              <a:rPr lang="pt-BR" dirty="0"/>
              <a:t>GÉRON, </a:t>
            </a:r>
            <a:r>
              <a:rPr lang="pt-BR" dirty="0" err="1"/>
              <a:t>Aurélien</a:t>
            </a:r>
            <a:r>
              <a:rPr lang="pt-BR" dirty="0"/>
              <a:t>, Mãos à Obra: Aprendizado de Máquina com Scikit-Learn, Keras &amp; TensorFlow: Conceitos, Ferramentas e Técnicas Para a Construção de Sistemas Inteligentes. Alta Books, 2021, ISBN 855-08-154-89</a:t>
            </a:r>
          </a:p>
          <a:p>
            <a:r>
              <a:rPr lang="pt-BR" dirty="0"/>
              <a:t>HAYKIN, Simon S.; ENGEL, Paulo Martins, Redes neurais: Princípios e práticas. 2 ed. São Paulo, SP: Editora </a:t>
            </a:r>
            <a:r>
              <a:rPr lang="pt-BR" dirty="0" err="1"/>
              <a:t>Bookman</a:t>
            </a:r>
            <a:r>
              <a:rPr lang="pt-BR" dirty="0"/>
              <a:t>, 2001, 900 p. ISBN 978-85-7307-718-6.</a:t>
            </a:r>
          </a:p>
          <a:p>
            <a:endParaRPr lang="pt-BR" dirty="0"/>
          </a:p>
        </p:txBody>
      </p:sp>
      <p:pic>
        <p:nvPicPr>
          <p:cNvPr id="1032" name="Picture 8" descr="Livro: Inteligência Artificial - Peter Norvig | Estante Virtu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481" y="1601643"/>
            <a:ext cx="1828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ãos à Obra: Aprendizado de Máquina com Scikit-Learn, Keras &amp;amp; TensorFlow: Conceitos, Ferramentas e Técnicas Para a Construção de Sistemas Inteligent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954" y="1538459"/>
            <a:ext cx="1732510" cy="244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Neural Networks: A Comprehensive Foundation: United States Edition : Haykin,  Simon O.: Amazon.com.au: Book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137" y="1601643"/>
            <a:ext cx="1835972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F866849-2673-9DD8-93D7-354FAFB6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24FCCBD-13AF-0692-F0E9-FEF93B5E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disponíveis na web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="" xmlns:a16="http://schemas.microsoft.com/office/drawing/2014/main" id="{2C154F14-2854-893E-039F-698DA1610ECF}"/>
              </a:ext>
            </a:extLst>
          </p:cNvPr>
          <p:cNvSpPr txBox="1">
            <a:spLocks/>
          </p:cNvSpPr>
          <p:nvPr/>
        </p:nvSpPr>
        <p:spPr>
          <a:xfrm>
            <a:off x="838200" y="1557495"/>
            <a:ext cx="11229870" cy="530050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Cursos</a:t>
            </a:r>
            <a:r>
              <a:rPr lang="en-US" dirty="0"/>
              <a:t> do Google: </a:t>
            </a:r>
            <a:r>
              <a:rPr lang="en-US" dirty="0">
                <a:hlinkClick r:id="rId2"/>
              </a:rPr>
              <a:t>https://developers.google.com/machine-learning</a:t>
            </a:r>
            <a:endParaRPr lang="en-US" dirty="0"/>
          </a:p>
          <a:p>
            <a:r>
              <a:rPr lang="en-US" dirty="0" err="1"/>
              <a:t>Cursos</a:t>
            </a:r>
            <a:r>
              <a:rPr lang="en-US" dirty="0"/>
              <a:t> da Deep-learning AI, </a:t>
            </a:r>
            <a:r>
              <a:rPr lang="en-US" dirty="0">
                <a:hlinkClick r:id="rId3"/>
              </a:rPr>
              <a:t>https://www.deeplearning.ai/courses</a:t>
            </a:r>
            <a:endParaRPr lang="en-US" dirty="0"/>
          </a:p>
          <a:p>
            <a:r>
              <a:rPr lang="en-US" dirty="0"/>
              <a:t>Mehryar </a:t>
            </a:r>
            <a:r>
              <a:rPr lang="en-US" dirty="0" err="1"/>
              <a:t>Mohri</a:t>
            </a:r>
            <a:r>
              <a:rPr lang="en-US" dirty="0"/>
              <a:t> et al., “Foundations of Machine Learning”, </a:t>
            </a:r>
            <a:r>
              <a:rPr lang="en-US" dirty="0">
                <a:hlinkClick r:id="rId4"/>
              </a:rPr>
              <a:t>https://cs.nyu.edu/~mohri/mlbook/</a:t>
            </a:r>
            <a:endParaRPr lang="en-US" dirty="0"/>
          </a:p>
          <a:p>
            <a:r>
              <a:rPr lang="en-US" dirty="0"/>
              <a:t>Osvaldo Simeone, “A Brief Introduction to Machine Learning for Engineers”, </a:t>
            </a:r>
            <a:r>
              <a:rPr lang="en-US" dirty="0">
                <a:hlinkClick r:id="rId5"/>
              </a:rPr>
              <a:t>https://arxiv.org/pdf/1709.02840</a:t>
            </a:r>
            <a:endParaRPr lang="en-US" dirty="0"/>
          </a:p>
          <a:p>
            <a:r>
              <a:rPr lang="en-US" dirty="0"/>
              <a:t>Deep learning book, “</a:t>
            </a:r>
            <a:r>
              <a:rPr lang="en-US" dirty="0" err="1"/>
              <a:t>Capítulo</a:t>
            </a:r>
            <a:r>
              <a:rPr lang="en-US" dirty="0"/>
              <a:t> 91 – Machine Learning – Guia </a:t>
            </a:r>
            <a:r>
              <a:rPr lang="en-US" dirty="0" err="1"/>
              <a:t>Definitivo</a:t>
            </a:r>
            <a:r>
              <a:rPr lang="en-US" dirty="0"/>
              <a:t> – </a:t>
            </a:r>
            <a:r>
              <a:rPr lang="en-US" dirty="0" err="1"/>
              <a:t>Parte</a:t>
            </a:r>
            <a:r>
              <a:rPr lang="en-US" dirty="0"/>
              <a:t> 1”, </a:t>
            </a:r>
            <a:r>
              <a:rPr lang="en-US" dirty="0">
                <a:hlinkClick r:id="rId6"/>
              </a:rPr>
              <a:t>https://www.deeplearningbook.com.br/machine-learning-guia-definitivo-parte-1/</a:t>
            </a:r>
            <a:endParaRPr lang="en-US" dirty="0"/>
          </a:p>
          <a:p>
            <a:r>
              <a:rPr lang="en-US" dirty="0"/>
              <a:t>Abhishek Thakur, “Approaching (Almost) Any Machine Learning Problem”, </a:t>
            </a:r>
            <a:r>
              <a:rPr lang="en-US" dirty="0">
                <a:hlinkClick r:id="rId7"/>
              </a:rPr>
              <a:t>https://github.com/abhishekkrthakur/approachingalmost/blob/master/AAAMLP.pdf</a:t>
            </a:r>
            <a:endParaRPr lang="en-US" dirty="0"/>
          </a:p>
          <a:p>
            <a:r>
              <a:rPr lang="en-US" dirty="0"/>
              <a:t>Shai Shalev-Shwartz and Shai Ben-David, “Understanding Machine Learning: From Theory to Algorithms”, </a:t>
            </a:r>
            <a:r>
              <a:rPr lang="en-US" dirty="0">
                <a:hlinkClick r:id="rId8"/>
              </a:rPr>
              <a:t>https://www.cs.huji.ac.il/~shais/UnderstandingMachineLearning/understanding-machine-learning-theory-algorithms.pdf</a:t>
            </a:r>
            <a:endParaRPr lang="en-US" dirty="0"/>
          </a:p>
          <a:p>
            <a:r>
              <a:rPr lang="en-US" dirty="0"/>
              <a:t>Andriy Burkov, "The Hundred-Page Machine Learning Book", </a:t>
            </a:r>
            <a:r>
              <a:rPr lang="en-US" dirty="0">
                <a:hlinkClick r:id="rId9"/>
              </a:rPr>
              <a:t>https://themlbook.com/wiki/doku.php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260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48145"/>
            <a:ext cx="10515600" cy="542881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6600" dirty="0"/>
              <a:t>Vamos entender o que é essa tal de IA</a:t>
            </a:r>
          </a:p>
        </p:txBody>
      </p:sp>
    </p:spTree>
    <p:extLst>
      <p:ext uri="{BB962C8B-B14F-4D97-AF65-F5344CB8AC3E}">
        <p14:creationId xmlns:p14="http://schemas.microsoft.com/office/powerpoint/2010/main" val="1283804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vocês acham que é IA?</a:t>
            </a:r>
          </a:p>
        </p:txBody>
      </p:sp>
      <p:pic>
        <p:nvPicPr>
          <p:cNvPr id="3074" name="Picture 2" descr="O Exterminador do Futuro': James Cameron revela o que considera “digno de  vergonha”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35" y="1869380"/>
            <a:ext cx="3763153" cy="2116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WALL-E – Wikipédia, a enciclopédia liv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83" y="1869380"/>
            <a:ext cx="2122207" cy="314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Metatrend #4: “JARVIS” is Coming... a Software Interface to Improve Our  Liv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053" y="1869380"/>
            <a:ext cx="4454987" cy="205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ose, A Empregada Robô | Guia dos Quadrinho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505" y="4259780"/>
            <a:ext cx="3250161" cy="243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Robôs e IA: Conheça 8 filmes marcante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09" y="4454279"/>
            <a:ext cx="3162756" cy="208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4161622" y="5497072"/>
            <a:ext cx="41445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/>
              <a:t>IA não é só um robô assassino, lixeiro ou mordomo digital. </a:t>
            </a:r>
          </a:p>
          <a:p>
            <a:pPr algn="ctr"/>
            <a:r>
              <a:rPr lang="pt-BR" dirty="0"/>
              <a:t>É matemática e estatística </a:t>
            </a:r>
            <a:r>
              <a:rPr lang="pt-BR" dirty="0" smtClean="0"/>
              <a:t>aplicadas com uma pitada (grande de) marketing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4348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28A9759-CA4F-DA4F-85C2-F6E51DCE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72F732D-34CE-6153-324F-D7F68215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IA?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62A55622-8E11-E5D7-8EAF-7AE2CCAA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9863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pt-BR" b="1" dirty="0"/>
              <a:t>Algumas definições</a:t>
            </a:r>
            <a:r>
              <a:rPr lang="pt-BR" altLang="pt-BR" dirty="0"/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John McCarthy (1956)</a:t>
            </a:r>
            <a:endParaRPr lang="pt-BR" altLang="pt-BR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i="1" dirty="0"/>
              <a:t>"A ciência e </a:t>
            </a:r>
            <a:r>
              <a:rPr lang="pt-BR" altLang="pt-BR" i="1" dirty="0" smtClean="0"/>
              <a:t>a engenharia </a:t>
            </a:r>
            <a:r>
              <a:rPr lang="pt-BR" altLang="pt-BR" i="1" dirty="0"/>
              <a:t>de criar máquinas inteligentes, especialmente programas de computador inteligentes</a:t>
            </a:r>
            <a:r>
              <a:rPr lang="pt-BR" altLang="pt-BR" i="1" dirty="0" smtClean="0"/>
              <a:t>.”</a:t>
            </a:r>
            <a:endParaRPr lang="pt-BR" altLang="pt-BR" i="1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Marvin </a:t>
            </a:r>
            <a:r>
              <a:rPr lang="pt-BR" altLang="pt-BR" b="1" dirty="0" err="1"/>
              <a:t>Minsky</a:t>
            </a:r>
            <a:r>
              <a:rPr lang="pt-BR" altLang="pt-BR" b="1" dirty="0"/>
              <a:t> (1968)</a:t>
            </a:r>
            <a:endParaRPr lang="pt-BR" altLang="pt-BR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i="1" dirty="0"/>
              <a:t>"IA é a ciência de fazer as máquinas </a:t>
            </a:r>
            <a:r>
              <a:rPr lang="pt-BR" altLang="pt-BR" i="1" dirty="0" smtClean="0"/>
              <a:t>realizarem tarefas que </a:t>
            </a:r>
            <a:r>
              <a:rPr lang="pt-BR" altLang="pt-BR" i="1" dirty="0"/>
              <a:t>exigiriam inteligência se fossem feitas por humanos</a:t>
            </a:r>
            <a:r>
              <a:rPr lang="pt-BR" altLang="pt-BR" i="1" dirty="0" smtClean="0"/>
              <a:t>.”</a:t>
            </a:r>
            <a:endParaRPr lang="pt-BR" altLang="pt-BR" i="1" dirty="0"/>
          </a:p>
        </p:txBody>
      </p:sp>
    </p:spTree>
    <p:extLst>
      <p:ext uri="{BB962C8B-B14F-4D97-AF65-F5344CB8AC3E}">
        <p14:creationId xmlns:p14="http://schemas.microsoft.com/office/powerpoint/2010/main" val="1521811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IA?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1" y="1825625"/>
            <a:ext cx="10849494" cy="4351338"/>
          </a:xfrm>
        </p:spPr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Stuart Russell &amp; Peter </a:t>
            </a:r>
            <a:r>
              <a:rPr lang="pt-BR" altLang="pt-BR" b="1" dirty="0" err="1"/>
              <a:t>Norvig</a:t>
            </a:r>
            <a:r>
              <a:rPr lang="pt-BR" altLang="pt-BR" b="1" dirty="0"/>
              <a:t> (2003)</a:t>
            </a:r>
            <a:endParaRPr lang="pt-BR" altLang="pt-BR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i="1" dirty="0"/>
              <a:t>"O estudo de agentes que recebem percepções do ambiente e executam ações."</a:t>
            </a:r>
          </a:p>
        </p:txBody>
      </p:sp>
      <p:grpSp>
        <p:nvGrpSpPr>
          <p:cNvPr id="20" name="Grupo 19"/>
          <p:cNvGrpSpPr/>
          <p:nvPr/>
        </p:nvGrpSpPr>
        <p:grpSpPr>
          <a:xfrm>
            <a:off x="4123113" y="2776451"/>
            <a:ext cx="3981987" cy="2176953"/>
            <a:chOff x="838200" y="2500541"/>
            <a:chExt cx="5690291" cy="3001503"/>
          </a:xfrm>
        </p:grpSpPr>
        <p:sp>
          <p:nvSpPr>
            <p:cNvPr id="4" name="Retângulo de cantos arredondados 3"/>
            <p:cNvSpPr/>
            <p:nvPr/>
          </p:nvSpPr>
          <p:spPr>
            <a:xfrm>
              <a:off x="838200" y="2500543"/>
              <a:ext cx="2959331" cy="300150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Retângulo 4"/>
            <p:cNvSpPr/>
            <p:nvPr/>
          </p:nvSpPr>
          <p:spPr>
            <a:xfrm>
              <a:off x="1735974" y="3436027"/>
              <a:ext cx="1163782" cy="113053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4400" b="1" dirty="0">
                  <a:solidFill>
                    <a:schemeClr val="tx1"/>
                  </a:solidFill>
                </a:rPr>
                <a:t>?</a:t>
              </a:r>
              <a:endParaRPr lang="pt-BR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tângulo de cantos arredondados 6"/>
            <p:cNvSpPr/>
            <p:nvPr/>
          </p:nvSpPr>
          <p:spPr>
            <a:xfrm rot="5400000">
              <a:off x="4491694" y="3465245"/>
              <a:ext cx="3001502" cy="107209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/>
                <a:t>Ambiente</a:t>
              </a:r>
            </a:p>
          </p:txBody>
        </p:sp>
        <p:cxnSp>
          <p:nvCxnSpPr>
            <p:cNvPr id="8" name="Conector de seta reta 7"/>
            <p:cNvCxnSpPr/>
            <p:nvPr/>
          </p:nvCxnSpPr>
          <p:spPr>
            <a:xfrm flipH="1">
              <a:off x="3267784" y="2820886"/>
              <a:ext cx="2448000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/>
            <p:nvPr/>
          </p:nvCxnSpPr>
          <p:spPr>
            <a:xfrm>
              <a:off x="3267784" y="5320058"/>
              <a:ext cx="2448000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/>
            <p:cNvCxnSpPr/>
            <p:nvPr/>
          </p:nvCxnSpPr>
          <p:spPr>
            <a:xfrm rot="16200000" flipH="1">
              <a:off x="2101866" y="3220027"/>
              <a:ext cx="432000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/>
            <p:nvPr/>
          </p:nvCxnSpPr>
          <p:spPr>
            <a:xfrm rot="16200000" flipH="1">
              <a:off x="2101864" y="4782557"/>
              <a:ext cx="432000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aixaDeTexto 11"/>
            <p:cNvSpPr txBox="1"/>
            <p:nvPr/>
          </p:nvSpPr>
          <p:spPr>
            <a:xfrm>
              <a:off x="3788777" y="2850694"/>
              <a:ext cx="1248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Percepções</a:t>
              </a:r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4114125" y="4857053"/>
              <a:ext cx="74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Ações</a:t>
              </a:r>
            </a:p>
          </p:txBody>
        </p:sp>
        <p:sp>
          <p:nvSpPr>
            <p:cNvPr id="18" name="CaixaDeTexto 17"/>
            <p:cNvSpPr txBox="1"/>
            <p:nvPr/>
          </p:nvSpPr>
          <p:spPr>
            <a:xfrm>
              <a:off x="1735778" y="2534485"/>
              <a:ext cx="10216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Sensores</a:t>
              </a:r>
            </a:p>
          </p:txBody>
        </p:sp>
        <p:sp>
          <p:nvSpPr>
            <p:cNvPr id="19" name="CaixaDeTexto 18"/>
            <p:cNvSpPr txBox="1"/>
            <p:nvPr/>
          </p:nvSpPr>
          <p:spPr>
            <a:xfrm>
              <a:off x="1670719" y="5065635"/>
              <a:ext cx="1147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Atuadores</a:t>
              </a:r>
            </a:p>
          </p:txBody>
        </p:sp>
        <p:sp>
          <p:nvSpPr>
            <p:cNvPr id="16" name="Retângulo 15"/>
            <p:cNvSpPr/>
            <p:nvPr/>
          </p:nvSpPr>
          <p:spPr>
            <a:xfrm rot="16200000">
              <a:off x="542479" y="3723283"/>
              <a:ext cx="136569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Agente</a:t>
              </a:r>
            </a:p>
          </p:txBody>
        </p:sp>
      </p:grpSp>
      <p:pic>
        <p:nvPicPr>
          <p:cNvPr id="1030" name="Picture 6" descr="Artificial intelligence (AI) | Definition, Examples, Types, Applications,  Companies, &amp; Facts | Britannic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594" y="5081845"/>
            <a:ext cx="1635527" cy="163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0" descr="Rose, A Empregada Robô | Guia dos Quadrinh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547" y="5242888"/>
            <a:ext cx="1880278" cy="141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892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48145"/>
            <a:ext cx="10515600" cy="542881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6600" dirty="0"/>
              <a:t>Breve história e evolução</a:t>
            </a:r>
          </a:p>
        </p:txBody>
      </p:sp>
    </p:spTree>
    <p:extLst>
      <p:ext uri="{BB962C8B-B14F-4D97-AF65-F5344CB8AC3E}">
        <p14:creationId xmlns:p14="http://schemas.microsoft.com/office/powerpoint/2010/main" val="1001470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teste </a:t>
            </a:r>
            <a:r>
              <a:rPr lang="pt-BR" dirty="0"/>
              <a:t>de Turing (1950)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18909" y="1825624"/>
            <a:ext cx="6184670" cy="5032375"/>
          </a:xfrm>
        </p:spPr>
        <p:txBody>
          <a:bodyPr>
            <a:normAutofit/>
          </a:bodyPr>
          <a:lstStyle/>
          <a:p>
            <a:r>
              <a:rPr lang="pt-BR" dirty="0"/>
              <a:t>Alan Turing inicia seu artigo </a:t>
            </a:r>
            <a:r>
              <a:rPr lang="pt-BR" i="1" dirty="0"/>
              <a:t>"</a:t>
            </a:r>
            <a:r>
              <a:rPr lang="pt-BR" i="1" dirty="0" err="1"/>
              <a:t>Computing</a:t>
            </a:r>
            <a:r>
              <a:rPr lang="pt-BR" i="1" dirty="0"/>
              <a:t> </a:t>
            </a:r>
            <a:r>
              <a:rPr lang="pt-BR" i="1" dirty="0" err="1"/>
              <a:t>Machinery</a:t>
            </a:r>
            <a:r>
              <a:rPr lang="pt-BR" i="1" dirty="0"/>
              <a:t> </a:t>
            </a:r>
            <a:r>
              <a:rPr lang="pt-BR" i="1" dirty="0" err="1"/>
              <a:t>and</a:t>
            </a:r>
            <a:r>
              <a:rPr lang="pt-BR" i="1" dirty="0"/>
              <a:t> </a:t>
            </a:r>
            <a:r>
              <a:rPr lang="pt-BR" i="1" dirty="0" err="1"/>
              <a:t>Intelligence</a:t>
            </a:r>
            <a:r>
              <a:rPr lang="pt-BR" i="1" dirty="0"/>
              <a:t>“</a:t>
            </a:r>
            <a:r>
              <a:rPr lang="pt-BR" dirty="0"/>
              <a:t> com a pergunta: </a:t>
            </a:r>
            <a:r>
              <a:rPr lang="pt-BR" b="1" dirty="0">
                <a:solidFill>
                  <a:srgbClr val="00B0F0"/>
                </a:solidFill>
              </a:rPr>
              <a:t>máquinas podem pensar?</a:t>
            </a:r>
            <a:endParaRPr lang="pt-BR" dirty="0"/>
          </a:p>
          <a:p>
            <a:r>
              <a:rPr lang="pt-BR" dirty="0"/>
              <a:t>Porém, como as definições de "máquina" e "pensar" são muito subjetivas, para uma discussão científica rigorosa, ele muda a pergunta:</a:t>
            </a:r>
            <a:r>
              <a:rPr lang="pt-BR" b="1" dirty="0">
                <a:solidFill>
                  <a:srgbClr val="00B0F0"/>
                </a:solidFill>
              </a:rPr>
              <a:t> as máquinas podem nos enganar?</a:t>
            </a:r>
          </a:p>
          <a:p>
            <a:r>
              <a:rPr lang="pt-BR" dirty="0"/>
              <a:t>Para testar, ele propôs o “</a:t>
            </a:r>
            <a:r>
              <a:rPr lang="pt-BR" b="1" dirty="0"/>
              <a:t>jogo da imitação</a:t>
            </a:r>
            <a:r>
              <a:rPr lang="pt-BR" dirty="0"/>
              <a:t>”, também conhecido como “</a:t>
            </a:r>
            <a:r>
              <a:rPr lang="pt-BR" b="1" dirty="0"/>
              <a:t>teste de Turing</a:t>
            </a:r>
            <a:r>
              <a:rPr lang="pt-BR" dirty="0"/>
              <a:t>”.</a:t>
            </a:r>
          </a:p>
        </p:txBody>
      </p:sp>
      <p:pic>
        <p:nvPicPr>
          <p:cNvPr id="2050" name="Picture 2" descr="Alan Turing Test and the Imitation Ga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03383"/>
            <a:ext cx="4705005" cy="324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070956" y="5774774"/>
            <a:ext cx="4239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/>
              <a:t>Se não conseguimos distinguir a máquina de um humano, então ela é inteligente.</a:t>
            </a:r>
          </a:p>
        </p:txBody>
      </p:sp>
    </p:spTree>
    <p:extLst>
      <p:ext uri="{BB962C8B-B14F-4D97-AF65-F5344CB8AC3E}">
        <p14:creationId xmlns:p14="http://schemas.microsoft.com/office/powerpoint/2010/main" val="2210138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teste de Turing (1950)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116537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Para passar no teste, a máquina deve ter as seguintes capacidades:</a:t>
            </a:r>
          </a:p>
          <a:p>
            <a:pPr fontAlgn="base"/>
            <a:r>
              <a:rPr lang="pt-BR" b="1" dirty="0"/>
              <a:t>Processamento de linguagem natural: </a:t>
            </a:r>
            <a:r>
              <a:rPr lang="pt-BR" dirty="0"/>
              <a:t>comunicar-se em um idioma natural.</a:t>
            </a:r>
          </a:p>
          <a:p>
            <a:pPr lvl="1" fontAlgn="base"/>
            <a:r>
              <a:rPr lang="pt-BR" b="1" dirty="0"/>
              <a:t>OBS</a:t>
            </a:r>
            <a:r>
              <a:rPr lang="pt-BR" dirty="0"/>
              <a:t>.: O teste de Turing original considera apenas linguagem escrita, mas versões atuais incorporam a linguagem falada.</a:t>
            </a:r>
            <a:r>
              <a:rPr lang="en-US" dirty="0"/>
              <a:t>​</a:t>
            </a:r>
            <a:endParaRPr lang="pt-BR" dirty="0"/>
          </a:p>
          <a:p>
            <a:pPr fontAlgn="base"/>
            <a:r>
              <a:rPr lang="pt-BR" b="1" dirty="0"/>
              <a:t>Representação de conhecimento: </a:t>
            </a:r>
            <a:r>
              <a:rPr lang="pt-BR" dirty="0"/>
              <a:t>armazenar o que sabe, lê ou ouve.</a:t>
            </a:r>
            <a:r>
              <a:rPr lang="en-US" dirty="0"/>
              <a:t>​</a:t>
            </a:r>
            <a:endParaRPr lang="pt-BR" dirty="0"/>
          </a:p>
          <a:p>
            <a:pPr fontAlgn="base"/>
            <a:r>
              <a:rPr lang="pt-BR" b="1" dirty="0"/>
              <a:t>Raciocínio automatizado: </a:t>
            </a:r>
            <a:r>
              <a:rPr lang="pt-BR" dirty="0"/>
              <a:t>usar o conhecimento armazenado para chegar a novas conclusões.</a:t>
            </a:r>
            <a:r>
              <a:rPr lang="en-US" dirty="0"/>
              <a:t>​</a:t>
            </a:r>
            <a:endParaRPr lang="pt-BR" dirty="0"/>
          </a:p>
          <a:p>
            <a:pPr fontAlgn="base"/>
            <a:r>
              <a:rPr lang="pt-BR" b="1" dirty="0"/>
              <a:t>Aprendizado de máquina: </a:t>
            </a:r>
            <a:r>
              <a:rPr lang="pt-BR" dirty="0"/>
              <a:t>adaptar-se a novas situações e reconhecer padrões.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715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teste de Turing: Eugene </a:t>
            </a:r>
            <a:r>
              <a:rPr lang="pt-BR" dirty="0" err="1"/>
              <a:t>Goostman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88429" y="1825624"/>
            <a:ext cx="6631775" cy="4997669"/>
          </a:xfrm>
        </p:spPr>
        <p:txBody>
          <a:bodyPr>
            <a:normAutofit/>
          </a:bodyPr>
          <a:lstStyle/>
          <a:p>
            <a:r>
              <a:rPr lang="pt-BR" dirty="0"/>
              <a:t>Em 2014, durante um evento no reino unido, um </a:t>
            </a:r>
            <a:r>
              <a:rPr lang="pt-BR" i="1" dirty="0" err="1"/>
              <a:t>chatbot</a:t>
            </a:r>
            <a:r>
              <a:rPr lang="pt-BR" dirty="0"/>
              <a:t> chamado Eugene </a:t>
            </a:r>
            <a:r>
              <a:rPr lang="pt-BR" dirty="0" err="1"/>
              <a:t>Goostman</a:t>
            </a:r>
            <a:r>
              <a:rPr lang="pt-BR" dirty="0"/>
              <a:t>, </a:t>
            </a:r>
            <a:r>
              <a:rPr lang="pt-BR" b="1" dirty="0"/>
              <a:t>convenceu 10 de 30 juízes de que era um menino ucraniano de 13 anos</a:t>
            </a:r>
            <a:r>
              <a:rPr lang="en-US" dirty="0"/>
              <a:t>​.</a:t>
            </a:r>
            <a:endParaRPr lang="pt-BR" dirty="0"/>
          </a:p>
          <a:p>
            <a:r>
              <a:rPr lang="pt-BR" dirty="0"/>
              <a:t>O evento exigia que apenas que 30% dos juízes ficassem convencidos de que um participante fosse um humano.</a:t>
            </a:r>
          </a:p>
          <a:p>
            <a:r>
              <a:rPr lang="pt-BR" dirty="0"/>
              <a:t>O </a:t>
            </a:r>
            <a:r>
              <a:rPr lang="pt-BR" i="1" dirty="0" err="1"/>
              <a:t>bot</a:t>
            </a:r>
            <a:r>
              <a:rPr lang="pt-BR" dirty="0"/>
              <a:t> fingiu ser uma criança estrangeira para que seus erros e falta de conhecimento fossem perdoados pelos juízes.</a:t>
            </a:r>
            <a:endParaRPr lang="en-US" dirty="0"/>
          </a:p>
        </p:txBody>
      </p:sp>
      <p:pic>
        <p:nvPicPr>
          <p:cNvPr id="3074" name="Picture 2" descr="Computer chatbot 'Eugene Goostman' passes the Turing test | ZDNE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8" y="2634343"/>
            <a:ext cx="4791679" cy="269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0" y="6550223"/>
            <a:ext cx="110822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/>
              <a:t>Fonte: </a:t>
            </a:r>
            <a:r>
              <a:rPr lang="pt-BR" sz="1400" dirty="0">
                <a:hlinkClick r:id="rId4"/>
              </a:rPr>
              <a:t>https://g1.globo.com/tecnologia/noticia/2014/06/computador-convence-juizes-que-e-garoto-de-13-anos-em-teste-de-turing.html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121559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teste de Turing: GPT-4.5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02284" y="1825624"/>
            <a:ext cx="6217920" cy="4997669"/>
          </a:xfrm>
        </p:spPr>
        <p:txBody>
          <a:bodyPr>
            <a:normAutofit/>
          </a:bodyPr>
          <a:lstStyle/>
          <a:p>
            <a:r>
              <a:rPr lang="pt-BR" dirty="0"/>
              <a:t>Com o avanço das </a:t>
            </a:r>
            <a:r>
              <a:rPr lang="pt-BR" dirty="0" err="1"/>
              <a:t>LLMs</a:t>
            </a:r>
            <a:r>
              <a:rPr lang="pt-BR" dirty="0"/>
              <a:t>, o teste de Turing "clássico" ficou fácil demais. </a:t>
            </a:r>
          </a:p>
          <a:p>
            <a:r>
              <a:rPr lang="pt-BR" dirty="0"/>
              <a:t>Em um estudo da Universidade da Califórnia em 2025, o </a:t>
            </a:r>
            <a:r>
              <a:rPr lang="pt-BR" b="1" dirty="0"/>
              <a:t>GPT-4.5</a:t>
            </a:r>
            <a:r>
              <a:rPr lang="pt-BR" dirty="0"/>
              <a:t> enganou humanos em </a:t>
            </a:r>
            <a:r>
              <a:rPr lang="pt-BR" b="1" dirty="0"/>
              <a:t>73% das vezes</a:t>
            </a:r>
            <a:r>
              <a:rPr lang="pt-BR" dirty="0"/>
              <a:t>.</a:t>
            </a:r>
          </a:p>
          <a:p>
            <a:r>
              <a:rPr lang="pt-BR" dirty="0"/>
              <a:t>Nesse mesmo teste, seres </a:t>
            </a:r>
            <a:r>
              <a:rPr lang="pt-BR" b="1" dirty="0"/>
              <a:t>humanos conseguiram convencer</a:t>
            </a:r>
            <a:r>
              <a:rPr lang="pt-BR" dirty="0"/>
              <a:t> os juízes de que eram humanos em </a:t>
            </a:r>
            <a:r>
              <a:rPr lang="pt-BR" b="1" dirty="0"/>
              <a:t>apenas cerca de 66% das vezes</a:t>
            </a:r>
            <a:r>
              <a:rPr lang="pt-BR" dirty="0"/>
              <a:t>. </a:t>
            </a:r>
          </a:p>
          <a:p>
            <a:r>
              <a:rPr lang="pt-BR" dirty="0"/>
              <a:t>Ou seja, a IA foi considerada </a:t>
            </a:r>
            <a:r>
              <a:rPr lang="pt-BR" b="1" dirty="0"/>
              <a:t>mais humana que os próprios humanos</a:t>
            </a:r>
            <a:r>
              <a:rPr lang="pt-BR" dirty="0"/>
              <a:t>!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6550223"/>
            <a:ext cx="110822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/>
              <a:t>Fonte: </a:t>
            </a:r>
            <a:r>
              <a:rPr lang="pt-BR" sz="1400" dirty="0">
                <a:hlinkClick r:id="rId3"/>
              </a:rPr>
              <a:t>https://tecnoblog.net/noticias/gpt-4-5-da-openai-passa-no-teste-de-turing-e-engana-humanos-mostra-estudo/</a:t>
            </a:r>
            <a:endParaRPr lang="pt-BR" sz="1400" dirty="0"/>
          </a:p>
        </p:txBody>
      </p:sp>
      <p:pic>
        <p:nvPicPr>
          <p:cNvPr id="1036" name="Picture 12" descr="5 Ways to Detect Texts Written by ChatGPT and Other AI Chatbots -  En.tempo.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84" y="2576945"/>
            <a:ext cx="5197659" cy="292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5231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9E502FC-4440-F5DA-F299-69CD15E7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nascimento da IA (1956)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69359096-6B47-BEA3-55AD-95F90CDC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15502" cy="4351338"/>
          </a:xfrm>
        </p:spPr>
        <p:txBody>
          <a:bodyPr>
            <a:normAutofit/>
          </a:bodyPr>
          <a:lstStyle/>
          <a:p>
            <a:r>
              <a:rPr lang="pt-BR" dirty="0"/>
              <a:t>Em 1956, o cientista da computação, John McCarthy sugeriu o nome </a:t>
            </a:r>
            <a:r>
              <a:rPr lang="pt-BR" b="1" dirty="0"/>
              <a:t>Inteligência Artificial</a:t>
            </a:r>
            <a:r>
              <a:rPr lang="pt-BR" dirty="0"/>
              <a:t> para o novo campo de estudo apresentado em um </a:t>
            </a:r>
            <a:r>
              <a:rPr lang="pt-BR" i="1" dirty="0"/>
              <a:t>workshop</a:t>
            </a:r>
            <a:r>
              <a:rPr lang="pt-BR" dirty="0"/>
              <a:t> na faculdade de </a:t>
            </a:r>
            <a:r>
              <a:rPr lang="pt-BR" i="1" dirty="0" err="1"/>
              <a:t>Dartmouth</a:t>
            </a:r>
            <a:r>
              <a:rPr lang="pt-BR" dirty="0"/>
              <a:t>. </a:t>
            </a:r>
          </a:p>
          <a:p>
            <a:r>
              <a:rPr lang="pt-BR" dirty="0"/>
              <a:t>Foi a primeira vez que o termo foi utilizado e fixou-se desde então.​</a:t>
            </a:r>
          </a:p>
        </p:txBody>
      </p:sp>
      <p:pic>
        <p:nvPicPr>
          <p:cNvPr id="2052" name="Picture 4" descr="Morre John McCarthy, um dos mestres da Inteligência Artificial e criador do  Lis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293" y="3735698"/>
            <a:ext cx="2009465" cy="277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he Meeting of the Minds That Launched AI - IEEE Spectr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851" y="3735698"/>
            <a:ext cx="5550535" cy="277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rom Deep Learning to Deep Freeze: Is an AI Winter Coming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617" y="1423877"/>
            <a:ext cx="7072019" cy="397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354221" y="5434123"/>
            <a:ext cx="88904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/>
              <a:t>Só que houveram promessas demais e resultados de menos.</a:t>
            </a:r>
          </a:p>
        </p:txBody>
      </p:sp>
    </p:spTree>
    <p:extLst>
      <p:ext uri="{BB962C8B-B14F-4D97-AF65-F5344CB8AC3E}">
        <p14:creationId xmlns:p14="http://schemas.microsoft.com/office/powerpoint/2010/main" val="3038197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7EBC8F7-03EF-338A-A90B-280A41AF9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invernos da IA (anos 70-80)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C525BCE7-C19D-7DDA-016A-E3016C398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1165378" cy="5032375"/>
          </a:xfrm>
        </p:spPr>
        <p:txBody>
          <a:bodyPr>
            <a:normAutofit/>
          </a:bodyPr>
          <a:lstStyle/>
          <a:p>
            <a:r>
              <a:rPr lang="pt-BR" dirty="0"/>
              <a:t>Após o entusiasmo inicial, percebeu-se que os sistemas criados eram </a:t>
            </a:r>
            <a:r>
              <a:rPr lang="pt-BR" b="1" dirty="0"/>
              <a:t>incapazes de lidar com problemas reais e complexos</a:t>
            </a:r>
            <a:r>
              <a:rPr lang="pt-BR" dirty="0"/>
              <a:t>.</a:t>
            </a:r>
          </a:p>
          <a:p>
            <a:r>
              <a:rPr lang="pt-BR" dirty="0"/>
              <a:t>As </a:t>
            </a:r>
            <a:r>
              <a:rPr lang="pt-BR" b="1" dirty="0"/>
              <a:t>expectativas</a:t>
            </a:r>
            <a:r>
              <a:rPr lang="pt-BR" dirty="0"/>
              <a:t> estavam muito </a:t>
            </a:r>
            <a:r>
              <a:rPr lang="pt-BR" b="1" dirty="0"/>
              <a:t>acima da capacidade computacional e teórica</a:t>
            </a:r>
            <a:r>
              <a:rPr lang="pt-BR" dirty="0"/>
              <a:t> da época.</a:t>
            </a:r>
          </a:p>
          <a:p>
            <a:r>
              <a:rPr lang="pt-BR" dirty="0"/>
              <a:t>Em 1973, o relatório </a:t>
            </a:r>
            <a:r>
              <a:rPr lang="pt-BR" i="1" dirty="0" err="1"/>
              <a:t>Lighthill</a:t>
            </a:r>
            <a:r>
              <a:rPr lang="pt-BR" dirty="0"/>
              <a:t> concluiu que a IA era “</a:t>
            </a:r>
            <a:r>
              <a:rPr lang="pt-BR" b="1" dirty="0"/>
              <a:t>futilidade total”</a:t>
            </a:r>
            <a:r>
              <a:rPr lang="pt-BR" dirty="0"/>
              <a:t>, resultando em cortes de financiamento nos EUA e Reino Unido.</a:t>
            </a:r>
          </a:p>
          <a:p>
            <a:r>
              <a:rPr lang="pt-BR" dirty="0"/>
              <a:t>A pesquisa em </a:t>
            </a:r>
            <a:r>
              <a:rPr lang="pt-BR" b="1" dirty="0"/>
              <a:t>IA perdeu visibilidade e apoio</a:t>
            </a:r>
            <a:r>
              <a:rPr lang="pt-BR" dirty="0"/>
              <a:t>, e muitos laboratórios foram desativados ou tiveram suas pesquisas redirecionadas. </a:t>
            </a:r>
          </a:p>
        </p:txBody>
      </p:sp>
    </p:spTree>
    <p:extLst>
      <p:ext uri="{BB962C8B-B14F-4D97-AF65-F5344CB8AC3E}">
        <p14:creationId xmlns:p14="http://schemas.microsoft.com/office/powerpoint/2010/main" val="3601469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FA3596-4D92-B4F6-DE17-E76E09AD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anos 80 e 90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6888577-3E6F-23CD-6482-F28CA6273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81657" cy="5032375"/>
          </a:xfrm>
        </p:spPr>
        <p:txBody>
          <a:bodyPr/>
          <a:lstStyle/>
          <a:p>
            <a:r>
              <a:rPr lang="pt-BR" dirty="0"/>
              <a:t>A pesquisa em IA ficou com pouca visibilidade, mas houveram alguns avanços importantes.</a:t>
            </a:r>
          </a:p>
          <a:p>
            <a:r>
              <a:rPr lang="pt-BR" b="1" dirty="0"/>
              <a:t>Em 1986</a:t>
            </a:r>
            <a:r>
              <a:rPr lang="pt-BR" dirty="0"/>
              <a:t>, o </a:t>
            </a:r>
            <a:r>
              <a:rPr lang="pt-BR" b="1" dirty="0"/>
              <a:t>algoritmo de retropropagação (</a:t>
            </a:r>
            <a:r>
              <a:rPr lang="pt-BR" b="1" i="1" dirty="0" err="1"/>
              <a:t>backpropagation</a:t>
            </a:r>
            <a:r>
              <a:rPr lang="pt-BR" b="1" dirty="0"/>
              <a:t>)</a:t>
            </a:r>
            <a:r>
              <a:rPr lang="pt-BR" dirty="0"/>
              <a:t> revitaliza o interesse nas redes neurais, permitindo treinar redes multicamadas de forma eficiente.</a:t>
            </a:r>
          </a:p>
          <a:p>
            <a:r>
              <a:rPr lang="pt-BR" b="1" dirty="0"/>
              <a:t>Nos anos 90, em geral</a:t>
            </a:r>
            <a:r>
              <a:rPr lang="pt-BR" dirty="0"/>
              <a:t>, houveram avanços em algoritmos como </a:t>
            </a:r>
            <a:r>
              <a:rPr lang="pt-BR" i="1" dirty="0" err="1"/>
              <a:t>Support</a:t>
            </a:r>
            <a:r>
              <a:rPr lang="pt-BR" i="1" dirty="0"/>
              <a:t> Vector </a:t>
            </a:r>
            <a:r>
              <a:rPr lang="pt-BR" i="1" dirty="0" err="1"/>
              <a:t>Machines</a:t>
            </a:r>
            <a:r>
              <a:rPr lang="pt-BR" dirty="0"/>
              <a:t>, árvores de decisão e outras técnicas começam a </a:t>
            </a:r>
            <a:r>
              <a:rPr lang="pt-BR" b="1" dirty="0"/>
              <a:t>consolidar o aprendizado de máquina como base moderna da IA</a:t>
            </a:r>
            <a:r>
              <a:rPr lang="pt-BR" dirty="0"/>
              <a:t>.</a:t>
            </a:r>
          </a:p>
          <a:p>
            <a:r>
              <a:rPr lang="pt-BR" b="1" dirty="0"/>
              <a:t>Em 1997</a:t>
            </a:r>
            <a:r>
              <a:rPr lang="pt-BR" dirty="0"/>
              <a:t>, o supercomputador </a:t>
            </a:r>
            <a:r>
              <a:rPr lang="pt-BR" b="1" i="1" dirty="0" err="1"/>
              <a:t>Deep</a:t>
            </a:r>
            <a:r>
              <a:rPr lang="pt-BR" b="1" i="1" dirty="0"/>
              <a:t> Blue </a:t>
            </a:r>
            <a:r>
              <a:rPr lang="pt-BR" b="1" dirty="0"/>
              <a:t>da IBM derrota o campeão mundial de xadrez Garry Kasparov</a:t>
            </a:r>
            <a:r>
              <a:rPr lang="pt-BR" dirty="0"/>
              <a:t>, mostrando a capacidade do aprendizado de máquina em tarefas complexas.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333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8D9A1C-5977-3EB4-20E9-EAA6D876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Anos 2000: Internet, Big Data e Computação Avançada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477ABA6-6DFF-0328-D666-CAECA1C6D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46971" cy="4351338"/>
          </a:xfrm>
        </p:spPr>
        <p:txBody>
          <a:bodyPr/>
          <a:lstStyle/>
          <a:p>
            <a:r>
              <a:rPr lang="pt-BR" dirty="0"/>
              <a:t>Com a </a:t>
            </a:r>
            <a:r>
              <a:rPr lang="pt-BR" b="1" dirty="0"/>
              <a:t>difusão da internet e a explosão de dados digitais</a:t>
            </a:r>
            <a:r>
              <a:rPr lang="pt-BR" dirty="0"/>
              <a:t>, a </a:t>
            </a:r>
            <a:r>
              <a:rPr lang="pt-BR" b="1" dirty="0"/>
              <a:t>IA começa a evoluir com mais rapidez</a:t>
            </a:r>
            <a:r>
              <a:rPr lang="pt-BR" dirty="0"/>
              <a:t>, beneficiando-se do </a:t>
            </a:r>
            <a:r>
              <a:rPr lang="pt-BR" b="1" dirty="0"/>
              <a:t>aumento de dados disponíveis para treinamento</a:t>
            </a:r>
            <a:r>
              <a:rPr lang="pt-BR" dirty="0"/>
              <a:t>.</a:t>
            </a:r>
          </a:p>
          <a:p>
            <a:r>
              <a:rPr lang="pt-BR" b="1" dirty="0"/>
              <a:t>Avanços de </a:t>
            </a:r>
            <a:r>
              <a:rPr lang="pt-BR" b="1" i="1" dirty="0"/>
              <a:t>hardware</a:t>
            </a:r>
            <a:r>
              <a:rPr lang="pt-BR" b="1" dirty="0"/>
              <a:t> e </a:t>
            </a:r>
            <a:r>
              <a:rPr lang="pt-BR" b="1" i="1" dirty="0"/>
              <a:t>software</a:t>
            </a:r>
            <a:r>
              <a:rPr lang="pt-BR" b="1" dirty="0"/>
              <a:t> </a:t>
            </a:r>
            <a:r>
              <a:rPr lang="pt-BR" dirty="0"/>
              <a:t>tornam possível o </a:t>
            </a:r>
            <a:r>
              <a:rPr lang="pt-BR" b="1" dirty="0"/>
              <a:t>uso prático de técnicas de </a:t>
            </a:r>
            <a:r>
              <a:rPr lang="pt-BR" b="1" i="1" dirty="0"/>
              <a:t>machine learning</a:t>
            </a:r>
            <a:r>
              <a:rPr lang="pt-BR" b="1" dirty="0"/>
              <a:t> em aplicações comerciais</a:t>
            </a:r>
            <a:r>
              <a:rPr lang="pt-B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382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: O </a:t>
            </a:r>
            <a:r>
              <a:rPr lang="en-US" i="1" dirty="0"/>
              <a:t>big bang </a:t>
            </a:r>
            <a:r>
              <a:rPr lang="en-US" dirty="0"/>
              <a:t>do </a:t>
            </a:r>
            <a:r>
              <a:rPr lang="en-US" i="1" dirty="0"/>
              <a:t>deep learning </a:t>
            </a:r>
            <a:r>
              <a:rPr lang="en-US" dirty="0"/>
              <a:t>(2012)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193975" y="1825624"/>
            <a:ext cx="5809603" cy="5032375"/>
          </a:xfrm>
        </p:spPr>
        <p:txBody>
          <a:bodyPr>
            <a:normAutofit/>
          </a:bodyPr>
          <a:lstStyle/>
          <a:p>
            <a:r>
              <a:rPr lang="pt-BR" dirty="0"/>
              <a:t>Em 2012, a </a:t>
            </a:r>
            <a:r>
              <a:rPr lang="pt-BR" b="1" dirty="0"/>
              <a:t>rede neural profunda, </a:t>
            </a:r>
            <a:r>
              <a:rPr lang="pt-BR" b="1" dirty="0" err="1"/>
              <a:t>AlexNet</a:t>
            </a:r>
            <a:r>
              <a:rPr lang="pt-BR" b="1" dirty="0"/>
              <a:t>,</a:t>
            </a:r>
            <a:r>
              <a:rPr lang="pt-BR" dirty="0"/>
              <a:t> proposta pela equipe do Prof. Geoffrey </a:t>
            </a:r>
            <a:r>
              <a:rPr lang="pt-BR" dirty="0" err="1"/>
              <a:t>Hinton</a:t>
            </a:r>
            <a:r>
              <a:rPr lang="pt-BR" dirty="0"/>
              <a:t> (o “pai do </a:t>
            </a:r>
            <a:r>
              <a:rPr lang="pt-BR" i="1" dirty="0" err="1"/>
              <a:t>deep</a:t>
            </a:r>
            <a:r>
              <a:rPr lang="pt-BR" i="1" dirty="0"/>
              <a:t> learning</a:t>
            </a:r>
            <a:r>
              <a:rPr lang="pt-BR" dirty="0"/>
              <a:t>") venceu a competição </a:t>
            </a:r>
            <a:r>
              <a:rPr lang="pt-BR" i="1" dirty="0" err="1"/>
              <a:t>ImageNet</a:t>
            </a:r>
            <a:r>
              <a:rPr lang="pt-BR" dirty="0"/>
              <a:t> com uma margem significativa (erro caiu de 26.2% para 15.3%).</a:t>
            </a:r>
          </a:p>
        </p:txBody>
      </p:sp>
      <p:pic>
        <p:nvPicPr>
          <p:cNvPr id="2050" name="Picture 2" descr="AlexNet architecture. Includes 5 convolutional layers and 3... | Download  Scientific Diagra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4" b="4763"/>
          <a:stretch/>
        </p:blipFill>
        <p:spPr bwMode="auto">
          <a:xfrm>
            <a:off x="267249" y="4341811"/>
            <a:ext cx="5730778" cy="245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LP's ImageNet moment has arrived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5"/>
          <a:stretch/>
        </p:blipFill>
        <p:spPr bwMode="auto">
          <a:xfrm>
            <a:off x="528757" y="1648039"/>
            <a:ext cx="5469269" cy="269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827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2313503-5D62-73AD-0A1E-101D9298F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5EB416A-BCFF-2AFB-5AC1-2E16BD04C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: O </a:t>
            </a:r>
            <a:r>
              <a:rPr lang="en-US" i="1" dirty="0"/>
              <a:t>big bang </a:t>
            </a:r>
            <a:r>
              <a:rPr lang="en-US" dirty="0"/>
              <a:t>do </a:t>
            </a:r>
            <a:r>
              <a:rPr lang="en-US" i="1" dirty="0"/>
              <a:t>deep learning </a:t>
            </a:r>
            <a:r>
              <a:rPr lang="en-US" dirty="0"/>
              <a:t>(2012)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90D04454-7062-D40F-1759-C8EFECBA9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65378" cy="5032375"/>
          </a:xfrm>
        </p:spPr>
        <p:txBody>
          <a:bodyPr>
            <a:normAutofit/>
          </a:bodyPr>
          <a:lstStyle/>
          <a:p>
            <a:r>
              <a:rPr lang="pt-BR" b="1" dirty="0"/>
              <a:t>Inovações-chave</a:t>
            </a:r>
            <a:r>
              <a:rPr lang="pt-BR" dirty="0"/>
              <a:t>: uso de </a:t>
            </a:r>
            <a:r>
              <a:rPr lang="pt-BR" b="1" dirty="0"/>
              <a:t>GPUs</a:t>
            </a:r>
            <a:r>
              <a:rPr lang="pt-BR" dirty="0"/>
              <a:t> para treino para treino em larga escala, rede neural </a:t>
            </a:r>
            <a:r>
              <a:rPr lang="pt-BR" b="1" dirty="0"/>
              <a:t>convolucional profunda</a:t>
            </a:r>
            <a:r>
              <a:rPr lang="pt-BR" dirty="0"/>
              <a:t> (8 camadas), </a:t>
            </a:r>
            <a:r>
              <a:rPr lang="pt-BR" b="1" dirty="0" err="1"/>
              <a:t>ReLU</a:t>
            </a:r>
            <a:r>
              <a:rPr lang="pt-BR" dirty="0"/>
              <a:t> como função de ativação, </a:t>
            </a:r>
            <a:r>
              <a:rPr lang="pt-BR" b="1" i="1" dirty="0" err="1"/>
              <a:t>dropout</a:t>
            </a:r>
            <a:r>
              <a:rPr lang="pt-BR" dirty="0"/>
              <a:t> para regularização e </a:t>
            </a:r>
            <a:r>
              <a:rPr lang="pt-BR" b="1" i="1" dirty="0"/>
              <a:t>data augmentation</a:t>
            </a:r>
            <a:r>
              <a:rPr lang="pt-BR" dirty="0"/>
              <a:t> para aumentar o conjunto de treino.</a:t>
            </a:r>
          </a:p>
        </p:txBody>
      </p:sp>
      <p:pic>
        <p:nvPicPr>
          <p:cNvPr id="2050" name="Picture 2" descr="AlexNet architecture. Includes 5 convolutional layers and 3... | Download  Scientific Diagram">
            <a:extLst>
              <a:ext uri="{FF2B5EF4-FFF2-40B4-BE49-F238E27FC236}">
                <a16:creationId xmlns="" xmlns:a16="http://schemas.microsoft.com/office/drawing/2014/main" id="{B3594260-A5AE-579D-B776-F47DE41838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4" b="4763"/>
          <a:stretch/>
        </p:blipFill>
        <p:spPr bwMode="auto">
          <a:xfrm>
            <a:off x="2265543" y="3575011"/>
            <a:ext cx="7443200" cy="318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26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: O </a:t>
            </a:r>
            <a:r>
              <a:rPr lang="en-US" i="1" dirty="0"/>
              <a:t>big bang </a:t>
            </a:r>
            <a:r>
              <a:rPr lang="en-US" dirty="0"/>
              <a:t>do </a:t>
            </a:r>
            <a:r>
              <a:rPr lang="en-US" i="1" dirty="0"/>
              <a:t>deep learning </a:t>
            </a:r>
            <a:r>
              <a:rPr lang="en-US" dirty="0"/>
              <a:t>(2012)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01295" y="1825625"/>
            <a:ext cx="5802283" cy="4351338"/>
          </a:xfrm>
        </p:spPr>
        <p:txBody>
          <a:bodyPr/>
          <a:lstStyle/>
          <a:p>
            <a:r>
              <a:rPr lang="pt-BR" dirty="0"/>
              <a:t>O sucesso da </a:t>
            </a:r>
            <a:r>
              <a:rPr lang="pt-BR" b="1" dirty="0" err="1"/>
              <a:t>AlexNet</a:t>
            </a:r>
            <a:r>
              <a:rPr lang="pt-BR" b="1" dirty="0"/>
              <a:t> deu novo impulso à pesquisa e investimento </a:t>
            </a:r>
            <a:r>
              <a:rPr lang="pt-BR" dirty="0"/>
              <a:t>em redes neurais.</a:t>
            </a:r>
          </a:p>
          <a:p>
            <a:r>
              <a:rPr lang="pt-BR" dirty="0"/>
              <a:t>Sem esse marco de 2012, </a:t>
            </a:r>
            <a:r>
              <a:rPr lang="pt-BR" b="1" dirty="0"/>
              <a:t>não teríamos reconhecimento facial </a:t>
            </a:r>
            <a:r>
              <a:rPr lang="pt-BR" dirty="0"/>
              <a:t>e de fala no celular, </a:t>
            </a:r>
            <a:r>
              <a:rPr lang="pt-BR" b="1" dirty="0"/>
              <a:t>carros autônomos </a:t>
            </a:r>
            <a:r>
              <a:rPr lang="pt-BR" dirty="0"/>
              <a:t>ou o próprio </a:t>
            </a:r>
            <a:r>
              <a:rPr lang="pt-BR" b="1" dirty="0" err="1"/>
              <a:t>ChatGPT</a:t>
            </a:r>
            <a:r>
              <a:rPr lang="pt-BR" dirty="0"/>
              <a:t>, pois todos bebem da fonte do </a:t>
            </a:r>
            <a:r>
              <a:rPr lang="pt-BR" b="1" i="1" dirty="0" err="1"/>
              <a:t>deep</a:t>
            </a:r>
            <a:r>
              <a:rPr lang="pt-BR" b="1" i="1" dirty="0"/>
              <a:t> </a:t>
            </a:r>
            <a:r>
              <a:rPr lang="pt-BR" b="1" i="1" dirty="0" err="1"/>
              <a:t>learning</a:t>
            </a:r>
            <a:r>
              <a:rPr lang="pt-BR" i="1" dirty="0"/>
              <a:t> </a:t>
            </a:r>
            <a:r>
              <a:rPr lang="pt-BR" dirty="0"/>
              <a:t>que a </a:t>
            </a:r>
            <a:r>
              <a:rPr lang="pt-BR" dirty="0" err="1"/>
              <a:t>AlexNet</a:t>
            </a:r>
            <a:r>
              <a:rPr lang="pt-BR" dirty="0"/>
              <a:t> validou.</a:t>
            </a:r>
          </a:p>
        </p:txBody>
      </p:sp>
      <p:pic>
        <p:nvPicPr>
          <p:cNvPr id="3076" name="Picture 4" descr="Deep Learning – Data Mining / Machine Learning / Data Analy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94" y="1627340"/>
            <a:ext cx="3651655" cy="2373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dmin got too deep into analysing this meme🫨 #meme #deeplearning #funny  #LearnTub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959" y="4102981"/>
            <a:ext cx="2714336" cy="271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348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48145"/>
            <a:ext cx="10515600" cy="542881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6600" dirty="0"/>
              <a:t>Panorama atual</a:t>
            </a:r>
          </a:p>
        </p:txBody>
      </p:sp>
    </p:spTree>
    <p:extLst>
      <p:ext uri="{BB962C8B-B14F-4D97-AF65-F5344CB8AC3E}">
        <p14:creationId xmlns:p14="http://schemas.microsoft.com/office/powerpoint/2010/main" val="37613964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a IA se difundiu tanto?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1148753" cy="5032375"/>
          </a:xfrm>
        </p:spPr>
        <p:txBody>
          <a:bodyPr>
            <a:normAutofit/>
          </a:bodyPr>
          <a:lstStyle/>
          <a:p>
            <a:r>
              <a:rPr lang="pt-BR" b="1" dirty="0"/>
              <a:t>Grandes volumes de dados </a:t>
            </a:r>
            <a:r>
              <a:rPr lang="pt-BR" dirty="0"/>
              <a:t>disponíveis: geramos centenas de </a:t>
            </a:r>
            <a:r>
              <a:rPr lang="pt-BR" i="1" dirty="0" err="1"/>
              <a:t>terabytes</a:t>
            </a:r>
            <a:r>
              <a:rPr lang="pt-BR" dirty="0"/>
              <a:t> por dia.</a:t>
            </a:r>
          </a:p>
          <a:p>
            <a:r>
              <a:rPr lang="pt-BR" dirty="0"/>
              <a:t>O surgimento de </a:t>
            </a:r>
            <a:r>
              <a:rPr lang="pt-BR" b="1" dirty="0"/>
              <a:t>recursos computacionais poderosos</a:t>
            </a:r>
            <a:r>
              <a:rPr lang="pt-BR" dirty="0"/>
              <a:t>: </a:t>
            </a:r>
            <a:r>
              <a:rPr lang="pt-BR" dirty="0" err="1"/>
              <a:t>GPUs</a:t>
            </a:r>
            <a:r>
              <a:rPr lang="pt-BR" dirty="0"/>
              <a:t>, </a:t>
            </a:r>
            <a:r>
              <a:rPr lang="pt-BR" dirty="0" err="1"/>
              <a:t>FPGAs</a:t>
            </a:r>
            <a:r>
              <a:rPr lang="pt-BR" dirty="0"/>
              <a:t> e </a:t>
            </a:r>
            <a:r>
              <a:rPr lang="pt-BR" dirty="0" err="1"/>
              <a:t>CPUs</a:t>
            </a:r>
            <a:r>
              <a:rPr lang="pt-BR" dirty="0"/>
              <a:t> com múltiplos cores.</a:t>
            </a:r>
          </a:p>
          <a:p>
            <a:r>
              <a:rPr lang="pt-BR" dirty="0"/>
              <a:t>Desenvolvimento de </a:t>
            </a:r>
            <a:r>
              <a:rPr lang="pt-BR" b="1" dirty="0"/>
              <a:t>novas estratégias de aprendizagem</a:t>
            </a:r>
            <a:r>
              <a:rPr lang="pt-BR" dirty="0"/>
              <a:t>: </a:t>
            </a:r>
            <a:r>
              <a:rPr lang="pt-BR" i="1" dirty="0" err="1"/>
              <a:t>deep-learning</a:t>
            </a:r>
            <a:r>
              <a:rPr lang="pt-BR" dirty="0"/>
              <a:t>, </a:t>
            </a:r>
            <a:r>
              <a:rPr lang="pt-BR" i="1" dirty="0" err="1"/>
              <a:t>deep</a:t>
            </a:r>
            <a:r>
              <a:rPr lang="pt-BR" i="1" dirty="0"/>
              <a:t> </a:t>
            </a:r>
            <a:r>
              <a:rPr lang="pt-BR" i="1" dirty="0" err="1"/>
              <a:t>reinforment-learning</a:t>
            </a:r>
            <a:r>
              <a:rPr lang="pt-BR" dirty="0"/>
              <a:t>, modelos generativos, </a:t>
            </a:r>
            <a:r>
              <a:rPr lang="pt-BR" i="1" dirty="0" err="1"/>
              <a:t>transformers</a:t>
            </a:r>
            <a:r>
              <a:rPr lang="pt-BR" dirty="0"/>
              <a:t>, etc.</a:t>
            </a:r>
          </a:p>
          <a:p>
            <a:r>
              <a:rPr lang="pt-BR" dirty="0"/>
              <a:t>Disponibilidade de </a:t>
            </a:r>
            <a:r>
              <a:rPr lang="pt-BR" b="1" dirty="0"/>
              <a:t>bibliotecas que facilitam o desenvolvimento </a:t>
            </a:r>
            <a:r>
              <a:rPr lang="pt-BR" dirty="0"/>
              <a:t>de soluções com IA.</a:t>
            </a:r>
          </a:p>
        </p:txBody>
      </p:sp>
      <p:pic>
        <p:nvPicPr>
          <p:cNvPr id="4098" name="Picture 2" descr="Accelerating AI with GPUs: A New Computing Mode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8" t="10283" r="2591" b="35718"/>
          <a:stretch/>
        </p:blipFill>
        <p:spPr bwMode="auto">
          <a:xfrm>
            <a:off x="1059180" y="5303433"/>
            <a:ext cx="10706792" cy="155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652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Onde se aplica IA?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4"/>
            <a:ext cx="11082251" cy="5032375"/>
          </a:xfrm>
        </p:spPr>
        <p:txBody>
          <a:bodyPr>
            <a:normAutofit/>
          </a:bodyPr>
          <a:lstStyle/>
          <a:p>
            <a:r>
              <a:rPr lang="pt-BR" b="1" dirty="0"/>
              <a:t>Saúde</a:t>
            </a:r>
            <a:r>
              <a:rPr lang="pt-BR" dirty="0"/>
              <a:t>: diagnóstico por imagem, análise de exames, descoberta de novas drogas</a:t>
            </a:r>
          </a:p>
          <a:p>
            <a:r>
              <a:rPr lang="pt-BR" b="1" dirty="0"/>
              <a:t>Indústria e manufatura</a:t>
            </a:r>
            <a:r>
              <a:rPr lang="pt-BR" dirty="0"/>
              <a:t>: inspeção, automação, manutenção preditiva</a:t>
            </a:r>
          </a:p>
          <a:p>
            <a:r>
              <a:rPr lang="pt-BR" b="1" dirty="0"/>
              <a:t>Transporte</a:t>
            </a:r>
            <a:r>
              <a:rPr lang="pt-BR" dirty="0"/>
              <a:t>: carros autônomos, otimização de rotas, logística inteligente</a:t>
            </a:r>
          </a:p>
          <a:p>
            <a:r>
              <a:rPr lang="pt-BR" b="1" dirty="0"/>
              <a:t>Finanças</a:t>
            </a:r>
            <a:r>
              <a:rPr lang="pt-BR" dirty="0"/>
              <a:t>: detecção de fraude, análise de risco, </a:t>
            </a:r>
            <a:r>
              <a:rPr lang="pt-BR" i="1" dirty="0"/>
              <a:t>trading</a:t>
            </a:r>
            <a:r>
              <a:rPr lang="pt-BR" dirty="0"/>
              <a:t> algorítmico</a:t>
            </a:r>
          </a:p>
          <a:p>
            <a:r>
              <a:rPr lang="pt-BR" b="1" dirty="0"/>
              <a:t>Agricultura</a:t>
            </a:r>
            <a:r>
              <a:rPr lang="pt-BR" dirty="0"/>
              <a:t>: previsão de safras, detecção de pragas, irrigação inteligente</a:t>
            </a:r>
          </a:p>
        </p:txBody>
      </p:sp>
    </p:spTree>
    <p:extLst>
      <p:ext uri="{BB962C8B-B14F-4D97-AF65-F5344CB8AC3E}">
        <p14:creationId xmlns:p14="http://schemas.microsoft.com/office/powerpoint/2010/main" val="4173002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39749BB-3D6B-883B-8B85-5B162F0E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8F18668-34D4-EAAA-77EE-1B4A14E39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Onde se aplica IA?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9D77FF9-A7D1-0BA9-2EEB-D130CA5CC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82251" cy="5032375"/>
          </a:xfrm>
        </p:spPr>
        <p:txBody>
          <a:bodyPr>
            <a:normAutofit/>
          </a:bodyPr>
          <a:lstStyle/>
          <a:p>
            <a:r>
              <a:rPr lang="pt-BR" b="1" dirty="0"/>
              <a:t>Comércio e marketing</a:t>
            </a:r>
            <a:r>
              <a:rPr lang="pt-BR" dirty="0"/>
              <a:t>: recomendação (como Netflix, </a:t>
            </a:r>
            <a:r>
              <a:rPr lang="pt-BR" dirty="0" err="1"/>
              <a:t>Amazon</a:t>
            </a:r>
            <a:r>
              <a:rPr lang="pt-BR" dirty="0"/>
              <a:t>), segmentação de (i.e., agrupar) clientes</a:t>
            </a:r>
          </a:p>
          <a:p>
            <a:r>
              <a:rPr lang="pt-BR" b="1" dirty="0"/>
              <a:t>Educação</a:t>
            </a:r>
            <a:r>
              <a:rPr lang="pt-BR" dirty="0"/>
              <a:t>: tutores inteligentes, avaliação automática, personalização de ensino</a:t>
            </a:r>
          </a:p>
          <a:p>
            <a:r>
              <a:rPr lang="pt-BR" b="1" dirty="0"/>
              <a:t>Segurança</a:t>
            </a:r>
            <a:r>
              <a:rPr lang="pt-BR" dirty="0"/>
              <a:t>: visão computacional, detecção de ameaças, monitoramento</a:t>
            </a:r>
          </a:p>
          <a:p>
            <a:r>
              <a:rPr lang="pt-BR" b="1" dirty="0"/>
              <a:t>Entretenimento</a:t>
            </a:r>
            <a:r>
              <a:rPr lang="pt-BR" dirty="0"/>
              <a:t>: geração de imagens, vídeos, música, jogos, dublagem automática</a:t>
            </a:r>
          </a:p>
          <a:p>
            <a:r>
              <a:rPr lang="pt-BR" b="1" dirty="0"/>
              <a:t>Serviços</a:t>
            </a:r>
            <a:r>
              <a:rPr lang="pt-BR" dirty="0"/>
              <a:t>: assistentes virtuais, </a:t>
            </a:r>
            <a:r>
              <a:rPr lang="pt-BR" i="1" dirty="0" err="1"/>
              <a:t>chatbots</a:t>
            </a:r>
            <a:r>
              <a:rPr lang="pt-BR" dirty="0"/>
              <a:t>, automação de atendimento</a:t>
            </a:r>
          </a:p>
        </p:txBody>
      </p:sp>
    </p:spTree>
    <p:extLst>
      <p:ext uri="{BB962C8B-B14F-4D97-AF65-F5344CB8AC3E}">
        <p14:creationId xmlns:p14="http://schemas.microsoft.com/office/powerpoint/2010/main" val="1728706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 tipos de problemas a IA resolve?</a:t>
            </a:r>
          </a:p>
        </p:txBody>
      </p:sp>
      <p:sp>
        <p:nvSpPr>
          <p:cNvPr id="7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1082250" cy="5032375"/>
          </a:xfrm>
        </p:spPr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Classificação</a:t>
            </a:r>
            <a:r>
              <a:rPr lang="pt-BR" altLang="pt-BR" dirty="0"/>
              <a:t>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dirty="0"/>
              <a:t>Categorizar: spam, doença, objeto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Regressão</a:t>
            </a:r>
            <a:r>
              <a:rPr lang="pt-BR" altLang="pt-BR" dirty="0"/>
              <a:t>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dirty="0"/>
              <a:t>Prever números: preços, demandas por serviço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Detecção e rastreamento</a:t>
            </a:r>
            <a:r>
              <a:rPr lang="pt-BR" altLang="pt-BR" dirty="0"/>
              <a:t>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dirty="0"/>
              <a:t>Encontrar e rastrear objetos em imagens e vídeos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Reconhecimento e interpretação</a:t>
            </a:r>
            <a:r>
              <a:rPr lang="pt-BR" altLang="pt-BR" dirty="0"/>
              <a:t>: fala, texto, tradução</a:t>
            </a:r>
          </a:p>
        </p:txBody>
      </p:sp>
    </p:spTree>
    <p:extLst>
      <p:ext uri="{BB962C8B-B14F-4D97-AF65-F5344CB8AC3E}">
        <p14:creationId xmlns:p14="http://schemas.microsoft.com/office/powerpoint/2010/main" val="281060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B47DF27-FC90-A3A9-C55E-B9D52953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7DBABD5-7F90-1FDF-C5C3-BC72D14F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 tipos de problemas a IA resolve?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="" xmlns:a16="http://schemas.microsoft.com/office/drawing/2014/main" id="{C8811B81-F174-25E9-33AB-DF859A3A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82250" cy="5032375"/>
          </a:xfrm>
        </p:spPr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Previsão temporal</a:t>
            </a:r>
            <a:r>
              <a:rPr lang="pt-BR" altLang="pt-BR" dirty="0"/>
              <a:t>: tendências, risco, clima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Recomendação</a:t>
            </a:r>
            <a:r>
              <a:rPr lang="pt-BR" altLang="pt-BR" dirty="0"/>
              <a:t>: produtos, filmes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Decisão e controle</a:t>
            </a:r>
            <a:r>
              <a:rPr lang="pt-BR" altLang="pt-BR" dirty="0"/>
              <a:t>: robôs, veículos, agentes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Geração de conteúdo</a:t>
            </a:r>
            <a:r>
              <a:rPr lang="pt-BR" altLang="pt-BR" dirty="0"/>
              <a:t>: texto, imagem, vídeo, música, código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61576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IA Estreita vs. IA Geral</a:t>
            </a:r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4767943" y="1825624"/>
            <a:ext cx="7217228" cy="5032375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b="1" dirty="0"/>
              <a:t>IA Estreita:</a:t>
            </a:r>
            <a:r>
              <a:rPr lang="pt-BR" altLang="pt-BR" dirty="0"/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Especialista em uma única tarefa</a:t>
            </a:r>
            <a:r>
              <a:rPr lang="pt-BR" dirty="0"/>
              <a:t>, e.g., </a:t>
            </a:r>
            <a:r>
              <a:rPr lang="pt-BR" altLang="pt-BR" dirty="0"/>
              <a:t>identificar doenças em imagens médicas, dirigir carros, responder perguntas.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dirty="0"/>
              <a:t>É o que temos hoje.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b="1" dirty="0"/>
              <a:t>IA Geral:</a:t>
            </a:r>
            <a:r>
              <a:rPr lang="pt-BR" altLang="pt-BR" dirty="0"/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dirty="0"/>
              <a:t>O “Santo Graal”.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dirty="0"/>
              <a:t>Tem a </a:t>
            </a:r>
            <a:r>
              <a:rPr lang="pt-BR" b="1" dirty="0"/>
              <a:t>capacidade de aprender qualquer tarefa </a:t>
            </a:r>
            <a:r>
              <a:rPr lang="pt-BR" dirty="0"/>
              <a:t>que um ser </a:t>
            </a:r>
            <a:r>
              <a:rPr lang="pt-BR" b="1" dirty="0"/>
              <a:t>humano consegue</a:t>
            </a:r>
            <a:r>
              <a:rPr lang="pt-BR" dirty="0"/>
              <a:t>.</a:t>
            </a:r>
            <a:endParaRPr lang="pt-BR" altLang="pt-BR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i="1" dirty="0" err="1"/>
              <a:t>Spoiler</a:t>
            </a:r>
            <a:r>
              <a:rPr lang="pt-BR" altLang="pt-BR" dirty="0"/>
              <a:t>: Ainda não chegamos lá, mas </a:t>
            </a:r>
            <a:r>
              <a:rPr lang="pt-BR" dirty="0"/>
              <a:t>dizem que chega em breve.</a:t>
            </a:r>
            <a:endParaRPr lang="pt-BR" altLang="pt-BR" dirty="0"/>
          </a:p>
        </p:txBody>
      </p:sp>
      <p:pic>
        <p:nvPicPr>
          <p:cNvPr id="3" name="Picture 10" descr="Rose, A Empregada Robô | Guia dos Quadrinhos">
            <a:extLst>
              <a:ext uri="{FF2B5EF4-FFF2-40B4-BE49-F238E27FC236}">
                <a16:creationId xmlns="" xmlns:a16="http://schemas.microsoft.com/office/drawing/2014/main" id="{1E1D873D-3F41-CE5B-E6FA-15981DC94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725654"/>
            <a:ext cx="3623950" cy="271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9686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54F480-2D23-C6C4-BB5C-FA2CECDB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IA Estreita vs. IA Geral</a:t>
            </a:r>
            <a:endParaRPr lang="en-US" dirty="0"/>
          </a:p>
        </p:txBody>
      </p:sp>
      <p:pic>
        <p:nvPicPr>
          <p:cNvPr id="1026" name="Picture 2" descr="Agi Memes · ProgrammerHumor.i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075" y="1690688"/>
            <a:ext cx="5119850" cy="453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342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IA Estreita vs. IA Geral</a:t>
            </a:r>
          </a:p>
        </p:txBody>
      </p:sp>
      <p:pic>
        <p:nvPicPr>
          <p:cNvPr id="4" name="Picture 4" descr="Elon Musk claims xAI will achieve AGI soon : r/BetterOfflin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6" t="5642"/>
          <a:stretch/>
        </p:blipFill>
        <p:spPr bwMode="auto">
          <a:xfrm>
            <a:off x="3624347" y="1828343"/>
            <a:ext cx="4246023" cy="4577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32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48145"/>
            <a:ext cx="10515600" cy="542881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6600" dirty="0"/>
              <a:t>Subáreas da IA</a:t>
            </a:r>
          </a:p>
        </p:txBody>
      </p:sp>
    </p:spTree>
    <p:extLst>
      <p:ext uri="{BB962C8B-B14F-4D97-AF65-F5344CB8AC3E}">
        <p14:creationId xmlns:p14="http://schemas.microsoft.com/office/powerpoint/2010/main" val="33945395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da IA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5614891" y="1825625"/>
            <a:ext cx="6355435" cy="4667250"/>
          </a:xfrm>
        </p:spPr>
        <p:txBody>
          <a:bodyPr/>
          <a:lstStyle/>
          <a:p>
            <a:r>
              <a:rPr lang="pt-BR" dirty="0"/>
              <a:t>Criar </a:t>
            </a:r>
            <a:r>
              <a:rPr lang="pt-BR" b="1" dirty="0"/>
              <a:t>máquinas que imitem todas</a:t>
            </a:r>
            <a:r>
              <a:rPr lang="pt-BR" dirty="0"/>
              <a:t> as nuances da </a:t>
            </a:r>
            <a:r>
              <a:rPr lang="pt-BR" b="1" dirty="0"/>
              <a:t>inteligência humana </a:t>
            </a:r>
            <a:r>
              <a:rPr lang="pt-BR" dirty="0"/>
              <a:t>é um </a:t>
            </a:r>
            <a:r>
              <a:rPr lang="pt-BR" b="1" dirty="0"/>
              <a:t>problema extremamente complexo e difícil de ser resolvido de uma só vez</a:t>
            </a:r>
            <a:r>
              <a:rPr lang="pt-BR" dirty="0"/>
              <a:t>. </a:t>
            </a:r>
          </a:p>
          <a:p>
            <a:r>
              <a:rPr lang="pt-BR" dirty="0"/>
              <a:t>Sendo assim, </a:t>
            </a:r>
            <a:r>
              <a:rPr lang="pt-BR" b="1" dirty="0"/>
              <a:t>divide-se o problema em problemas menores</a:t>
            </a:r>
            <a:r>
              <a:rPr lang="pt-BR" dirty="0"/>
              <a:t>, chamadas de subáreas da IA.</a:t>
            </a:r>
          </a:p>
          <a:p>
            <a:endParaRPr lang="pt-BR" dirty="0"/>
          </a:p>
        </p:txBody>
      </p:sp>
      <p:grpSp>
        <p:nvGrpSpPr>
          <p:cNvPr id="21" name="Grupo 3">
            <a:extLst>
              <a:ext uri="{FF2B5EF4-FFF2-40B4-BE49-F238E27FC236}">
                <a16:creationId xmlns="" xmlns:a16="http://schemas.microsoft.com/office/drawing/2014/main" id="{555F1D6B-9A71-6776-0348-F64A8C661240}"/>
              </a:ext>
            </a:extLst>
          </p:cNvPr>
          <p:cNvGrpSpPr/>
          <p:nvPr/>
        </p:nvGrpSpPr>
        <p:grpSpPr>
          <a:xfrm>
            <a:off x="757026" y="2850485"/>
            <a:ext cx="4141448" cy="2277374"/>
            <a:chOff x="8050552" y="3475960"/>
            <a:chExt cx="4141448" cy="2277374"/>
          </a:xfrm>
        </p:grpSpPr>
        <p:grpSp>
          <p:nvGrpSpPr>
            <p:cNvPr id="22" name="Agrupar 5">
              <a:extLst>
                <a:ext uri="{FF2B5EF4-FFF2-40B4-BE49-F238E27FC236}">
                  <a16:creationId xmlns="" xmlns:a16="http://schemas.microsoft.com/office/drawing/2014/main" id="{401CE17A-127C-394B-0CDF-E95F8D849B19}"/>
                </a:ext>
              </a:extLst>
            </p:cNvPr>
            <p:cNvGrpSpPr/>
            <p:nvPr/>
          </p:nvGrpSpPr>
          <p:grpSpPr>
            <a:xfrm>
              <a:off x="8595731" y="3475960"/>
              <a:ext cx="3016858" cy="2277374"/>
              <a:chOff x="9273707" y="365125"/>
              <a:chExt cx="2918293" cy="2351181"/>
            </a:xfrm>
          </p:grpSpPr>
          <p:pic>
            <p:nvPicPr>
              <p:cNvPr id="31" name="Picture 2" descr="Image result for umbrella">
                <a:extLst>
                  <a:ext uri="{FF2B5EF4-FFF2-40B4-BE49-F238E27FC236}">
                    <a16:creationId xmlns="" xmlns:a16="http://schemas.microsoft.com/office/drawing/2014/main" id="{C2161EBA-B881-143F-1862-DD68CCC48D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511" b="6921"/>
              <a:stretch/>
            </p:blipFill>
            <p:spPr bwMode="auto">
              <a:xfrm>
                <a:off x="9273707" y="365125"/>
                <a:ext cx="2918293" cy="23511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2" name="CaixaDeTexto 3">
                <a:extLst>
                  <a:ext uri="{FF2B5EF4-FFF2-40B4-BE49-F238E27FC236}">
                    <a16:creationId xmlns="" xmlns:a16="http://schemas.microsoft.com/office/drawing/2014/main" id="{BE63D26C-3411-EE09-6FD2-80AE418BA9B9}"/>
                  </a:ext>
                </a:extLst>
              </p:cNvPr>
              <p:cNvSpPr txBox="1"/>
              <p:nvPr/>
            </p:nvSpPr>
            <p:spPr>
              <a:xfrm>
                <a:off x="10342888" y="710931"/>
                <a:ext cx="779931" cy="476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400" b="1" dirty="0">
                    <a:solidFill>
                      <a:schemeClr val="bg1"/>
                    </a:solidFill>
                  </a:rPr>
                  <a:t>IAG</a:t>
                </a:r>
              </a:p>
            </p:txBody>
          </p:sp>
        </p:grpSp>
        <p:sp>
          <p:nvSpPr>
            <p:cNvPr id="23" name="TextBox 5">
              <a:extLst>
                <a:ext uri="{FF2B5EF4-FFF2-40B4-BE49-F238E27FC236}">
                  <a16:creationId xmlns="" xmlns:a16="http://schemas.microsoft.com/office/drawing/2014/main" id="{BBF563B2-CB75-72AC-0E27-E73D2A8FF437}"/>
                </a:ext>
              </a:extLst>
            </p:cNvPr>
            <p:cNvSpPr txBox="1"/>
            <p:nvPr/>
          </p:nvSpPr>
          <p:spPr>
            <a:xfrm>
              <a:off x="10700907" y="4560298"/>
              <a:ext cx="769364" cy="415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ML</a:t>
              </a:r>
            </a:p>
          </p:txBody>
        </p:sp>
        <p:sp>
          <p:nvSpPr>
            <p:cNvPr id="24" name="TextBox 6">
              <a:extLst>
                <a:ext uri="{FF2B5EF4-FFF2-40B4-BE49-F238E27FC236}">
                  <a16:creationId xmlns="" xmlns:a16="http://schemas.microsoft.com/office/drawing/2014/main" id="{E515ABAF-3FB2-1D22-F585-66BC73913B23}"/>
                </a:ext>
              </a:extLst>
            </p:cNvPr>
            <p:cNvSpPr txBox="1"/>
            <p:nvPr/>
          </p:nvSpPr>
          <p:spPr>
            <a:xfrm>
              <a:off x="9240908" y="4539723"/>
              <a:ext cx="851572" cy="373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PLN</a:t>
              </a:r>
            </a:p>
          </p:txBody>
        </p:sp>
        <p:sp>
          <p:nvSpPr>
            <p:cNvPr id="25" name="TextBox 7">
              <a:extLst>
                <a:ext uri="{FF2B5EF4-FFF2-40B4-BE49-F238E27FC236}">
                  <a16:creationId xmlns="" xmlns:a16="http://schemas.microsoft.com/office/drawing/2014/main" id="{A321A605-8395-9951-C0EE-86DB84A37C56}"/>
                </a:ext>
              </a:extLst>
            </p:cNvPr>
            <p:cNvSpPr txBox="1"/>
            <p:nvPr/>
          </p:nvSpPr>
          <p:spPr>
            <a:xfrm>
              <a:off x="8050552" y="4432754"/>
              <a:ext cx="1500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Robótica</a:t>
              </a:r>
            </a:p>
          </p:txBody>
        </p:sp>
        <p:sp>
          <p:nvSpPr>
            <p:cNvPr id="26" name="TextBox 8">
              <a:extLst>
                <a:ext uri="{FF2B5EF4-FFF2-40B4-BE49-F238E27FC236}">
                  <a16:creationId xmlns="" xmlns:a16="http://schemas.microsoft.com/office/drawing/2014/main" id="{8FDDFD27-211B-CD13-48A6-2BB852839959}"/>
                </a:ext>
              </a:extLst>
            </p:cNvPr>
            <p:cNvSpPr txBox="1"/>
            <p:nvPr/>
          </p:nvSpPr>
          <p:spPr>
            <a:xfrm>
              <a:off x="10211351" y="4511010"/>
              <a:ext cx="591890" cy="373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VC</a:t>
              </a:r>
            </a:p>
          </p:txBody>
        </p:sp>
        <p:sp>
          <p:nvSpPr>
            <p:cNvPr id="27" name="TextBox 9">
              <a:extLst>
                <a:ext uri="{FF2B5EF4-FFF2-40B4-BE49-F238E27FC236}">
                  <a16:creationId xmlns="" xmlns:a16="http://schemas.microsoft.com/office/drawing/2014/main" id="{755C0863-4C24-58ED-8A1B-6E08EC7EC9CB}"/>
                </a:ext>
              </a:extLst>
            </p:cNvPr>
            <p:cNvSpPr txBox="1"/>
            <p:nvPr/>
          </p:nvSpPr>
          <p:spPr>
            <a:xfrm>
              <a:off x="10374631" y="4919705"/>
              <a:ext cx="18173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Representação</a:t>
              </a:r>
            </a:p>
          </p:txBody>
        </p:sp>
        <p:sp>
          <p:nvSpPr>
            <p:cNvPr id="28" name="TextBox 13">
              <a:extLst>
                <a:ext uri="{FF2B5EF4-FFF2-40B4-BE49-F238E27FC236}">
                  <a16:creationId xmlns="" xmlns:a16="http://schemas.microsoft.com/office/drawing/2014/main" id="{0BF3BE4E-925A-D156-131D-E03D7F34B031}"/>
                </a:ext>
              </a:extLst>
            </p:cNvPr>
            <p:cNvSpPr txBox="1"/>
            <p:nvPr/>
          </p:nvSpPr>
          <p:spPr>
            <a:xfrm>
              <a:off x="10252699" y="5323822"/>
              <a:ext cx="1500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Planejamento</a:t>
              </a:r>
            </a:p>
          </p:txBody>
        </p:sp>
        <p:sp>
          <p:nvSpPr>
            <p:cNvPr id="30" name="TextBox 7">
              <a:extLst>
                <a:ext uri="{FF2B5EF4-FFF2-40B4-BE49-F238E27FC236}">
                  <a16:creationId xmlns="" xmlns:a16="http://schemas.microsoft.com/office/drawing/2014/main" id="{8B69939C-79E4-D362-4114-C95FA6AA9320}"/>
                </a:ext>
              </a:extLst>
            </p:cNvPr>
            <p:cNvSpPr txBox="1"/>
            <p:nvPr/>
          </p:nvSpPr>
          <p:spPr>
            <a:xfrm>
              <a:off x="8353960" y="4919705"/>
              <a:ext cx="1500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Raciocínio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2688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5DA6CF7-E00B-E0FD-D41F-7E5876A5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Subáreas da 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B970F10-DC92-C5DA-B1B3-03C1CDCCD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900" y="1825624"/>
            <a:ext cx="6604001" cy="5032375"/>
          </a:xfrm>
        </p:spPr>
        <p:txBody>
          <a:bodyPr>
            <a:noAutofit/>
          </a:bodyPr>
          <a:lstStyle/>
          <a:p>
            <a:r>
              <a:rPr lang="pt-BR" b="1" dirty="0"/>
              <a:t>Processamento de linguagem natural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Compreensão e interpretação de linguagens humanas.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Aplicações</a:t>
            </a:r>
            <a:r>
              <a:rPr lang="pt-BR" dirty="0"/>
              <a:t>: tradução, análise de sentimentos, </a:t>
            </a:r>
            <a:r>
              <a:rPr lang="pt-BR" i="1" dirty="0" err="1"/>
              <a:t>chatbots</a:t>
            </a:r>
            <a:r>
              <a:rPr lang="pt-BR" dirty="0"/>
              <a:t>, modelos de linguagem (como o </a:t>
            </a:r>
            <a:r>
              <a:rPr lang="pt-BR" dirty="0" err="1"/>
              <a:t>chatGPT</a:t>
            </a:r>
            <a:r>
              <a:rPr lang="pt-BR" dirty="0"/>
              <a:t>).</a:t>
            </a:r>
            <a:endParaRPr lang="pt-BR" dirty="0">
              <a:cs typeface="Calibri"/>
            </a:endParaRPr>
          </a:p>
          <a:p>
            <a:r>
              <a:rPr lang="pt-BR" b="1" dirty="0"/>
              <a:t>Raciocínio e representação do conhecimento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cs typeface="Calibri"/>
              </a:rPr>
              <a:t>Extração e armazenamento eficiente de conhecimento do mundo real.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>
                <a:cs typeface="Calibri"/>
              </a:rPr>
              <a:t>Objetivo</a:t>
            </a:r>
            <a:r>
              <a:rPr lang="pt-BR" dirty="0">
                <a:cs typeface="Calibri"/>
              </a:rPr>
              <a:t>: Resolução de problemas complexos a partir do conhecimento adquirido.</a:t>
            </a:r>
            <a:endParaRPr lang="pt-BR" dirty="0"/>
          </a:p>
        </p:txBody>
      </p:sp>
      <p:pic>
        <p:nvPicPr>
          <p:cNvPr id="4104" name="Picture 8" descr="Aplicabilidade do ChatGPT - Diário do Comércio">
            <a:extLst>
              <a:ext uri="{FF2B5EF4-FFF2-40B4-BE49-F238E27FC236}">
                <a16:creationId xmlns="" xmlns:a16="http://schemas.microsoft.com/office/drawing/2014/main" id="{EE7DEA1D-E28F-3462-6FA3-07D382DA3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18" y="1825624"/>
            <a:ext cx="3813031" cy="199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rtificial Intelligence : Definition, history and risk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448" y="4341811"/>
            <a:ext cx="3854446" cy="220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53746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Subáreas da 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70515" y="1825624"/>
            <a:ext cx="6816437" cy="5032375"/>
          </a:xfrm>
        </p:spPr>
        <p:txBody>
          <a:bodyPr>
            <a:normAutofit/>
          </a:bodyPr>
          <a:lstStyle/>
          <a:p>
            <a:r>
              <a:rPr lang="pt-BR" b="1" dirty="0"/>
              <a:t>Planejamento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Como as máquinas podem </a:t>
            </a:r>
            <a:r>
              <a:rPr lang="pt-BR" b="1" dirty="0"/>
              <a:t>decidir que ações tomar para atingir um objetivo</a:t>
            </a:r>
            <a:r>
              <a:rPr lang="pt-BR" dirty="0"/>
              <a:t>, de forma </a:t>
            </a:r>
            <a:r>
              <a:rPr lang="pt-BR" b="1" dirty="0"/>
              <a:t>eficiente e lógica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Dado onde estou e onde quero chegar, qual sequência de ações devo executar para atingir o objetivo?</a:t>
            </a:r>
          </a:p>
          <a:p>
            <a:r>
              <a:rPr lang="pt-BR" b="1" dirty="0"/>
              <a:t>Robótica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Subárea que cria </a:t>
            </a:r>
            <a:r>
              <a:rPr lang="pt-BR" b="1" dirty="0"/>
              <a:t>agentes físicos</a:t>
            </a:r>
            <a:r>
              <a:rPr lang="pt-BR" dirty="0"/>
              <a:t> (i.e., robôs) capazes de </a:t>
            </a:r>
            <a:r>
              <a:rPr lang="pt-BR" b="1" dirty="0"/>
              <a:t>perceber o mundo e interagir com o ambiente</a:t>
            </a:r>
            <a:r>
              <a:rPr lang="pt-BR" dirty="0"/>
              <a:t>.</a:t>
            </a:r>
          </a:p>
        </p:txBody>
      </p:sp>
      <p:pic>
        <p:nvPicPr>
          <p:cNvPr id="2050" name="Picture 2" descr="How AI Dots Can Learn to Solve a Maz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9588"/>
            <a:ext cx="3929300" cy="221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world's most advanced humanoid robot has revealed surprising  predictions about the future of the job market and the impact of artificial  intelligence on traditional professions - CPG Click Petróleo e Gá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99" y="4118721"/>
            <a:ext cx="3915476" cy="260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6173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5DA6CF7-E00B-E0FD-D41F-7E5876A5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Subáreas da inteligência artificial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B970F10-DC92-C5DA-B1B3-03C1CDCCD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05" y="1825624"/>
            <a:ext cx="7715195" cy="5032375"/>
          </a:xfrm>
        </p:spPr>
        <p:txBody>
          <a:bodyPr>
            <a:noAutofit/>
          </a:bodyPr>
          <a:lstStyle/>
          <a:p>
            <a:r>
              <a:rPr lang="pt-BR" b="1" dirty="0"/>
              <a:t>Visão computacional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Compreensão e interpretação de imagens e vídeos.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Tarefas</a:t>
            </a:r>
            <a:r>
              <a:rPr lang="pt-BR" dirty="0"/>
              <a:t>: Classificação, detecção e segmentação de objetos, reconhecimento facial, identificação de poses.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Aplicações</a:t>
            </a:r>
            <a:r>
              <a:rPr lang="pt-BR" dirty="0"/>
              <a:t>: Carros autônomos, filtros do Instagram, diagnóstico por imagem.</a:t>
            </a:r>
          </a:p>
        </p:txBody>
      </p:sp>
      <p:pic>
        <p:nvPicPr>
          <p:cNvPr id="1028" name="Picture 4" descr="Understanding Object Detection in Computer Vis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46" y="2043599"/>
            <a:ext cx="3695117" cy="188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 carro autônomo - Iberdro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2" y="4280296"/>
            <a:ext cx="2939588" cy="165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I Old-Age Filter: See Your Future Self Online for Fre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520" y="4773582"/>
            <a:ext cx="2884920" cy="192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15 Computer Visions Projects You Can Do Right Now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818" y="4773582"/>
            <a:ext cx="2789082" cy="196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Device Face Recognition Alarm System Al Face Recognition Time Attendance  Access Control 202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602" y="4280296"/>
            <a:ext cx="2569381" cy="192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2751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48145"/>
            <a:ext cx="10515600" cy="542881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6600" dirty="0"/>
              <a:t>Vocês sabem quais são os grandes desafios da visão computacional?</a:t>
            </a:r>
          </a:p>
        </p:txBody>
      </p:sp>
    </p:spTree>
    <p:extLst>
      <p:ext uri="{BB962C8B-B14F-4D97-AF65-F5344CB8AC3E}">
        <p14:creationId xmlns:p14="http://schemas.microsoft.com/office/powerpoint/2010/main" val="12890343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 descr="RedeTV! Em rede com você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49" y="956055"/>
            <a:ext cx="4772025" cy="464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RedeTV! Em rede com você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049" y="997560"/>
            <a:ext cx="476250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7403430" y="5693385"/>
            <a:ext cx="2954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Frango frito ou </a:t>
            </a:r>
            <a:r>
              <a:rPr lang="pt-BR" dirty="0" err="1"/>
              <a:t>labradoodle</a:t>
            </a:r>
            <a:r>
              <a:rPr lang="pt-BR" dirty="0"/>
              <a:t>?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2128522" y="5693385"/>
            <a:ext cx="2124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Muffin</a:t>
            </a:r>
            <a:r>
              <a:rPr lang="pt-BR" dirty="0"/>
              <a:t> ou </a:t>
            </a:r>
            <a:r>
              <a:rPr lang="pt-BR" dirty="0" err="1"/>
              <a:t>chiuahua</a:t>
            </a:r>
            <a:r>
              <a:rPr lang="pt-B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83948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5DA6CF7-E00B-E0FD-D41F-7E5876A5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Subáreas da inteligência artificial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B970F10-DC92-C5DA-B1B3-03C1CDCCD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0943" y="1825624"/>
            <a:ext cx="6115956" cy="5032375"/>
          </a:xfrm>
        </p:spPr>
        <p:txBody>
          <a:bodyPr>
            <a:noAutofit/>
          </a:bodyPr>
          <a:lstStyle/>
          <a:p>
            <a:r>
              <a:rPr lang="pt-BR" b="1" dirty="0"/>
              <a:t>Aprendizado de máquina (</a:t>
            </a:r>
            <a:r>
              <a:rPr lang="pt-BR" b="1" i="1" dirty="0" err="1"/>
              <a:t>machine</a:t>
            </a:r>
            <a:r>
              <a:rPr lang="pt-BR" b="1" i="1" dirty="0"/>
              <a:t> </a:t>
            </a:r>
            <a:r>
              <a:rPr lang="pt-BR" b="1" i="1" dirty="0" err="1"/>
              <a:t>learning</a:t>
            </a:r>
            <a:r>
              <a:rPr lang="pt-BR" b="1" i="1" dirty="0"/>
              <a:t> - </a:t>
            </a:r>
            <a:r>
              <a:rPr lang="pt-BR" b="1" dirty="0"/>
              <a:t>ML)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cs typeface="Calibri"/>
              </a:rPr>
              <a:t>Criação de máquinas que </a:t>
            </a:r>
            <a:r>
              <a:rPr lang="pt-BR" b="1" dirty="0">
                <a:cs typeface="Calibri"/>
              </a:rPr>
              <a:t>aprendem através de experiências prévias sem serem explicitamente programadas</a:t>
            </a:r>
            <a:r>
              <a:rPr lang="pt-BR" dirty="0">
                <a:cs typeface="Calibri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cs typeface="Calibri"/>
              </a:rPr>
              <a:t>Os algoritmos de ML podem ser agrupados em três principais paradigmas de aprendizado: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>
                <a:cs typeface="Calibri"/>
              </a:rPr>
              <a:t>supervisionado,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>
                <a:cs typeface="Calibri"/>
              </a:rPr>
              <a:t>não-supervisionado e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>
                <a:cs typeface="Calibri"/>
              </a:rPr>
              <a:t>por reforço.</a:t>
            </a:r>
          </a:p>
        </p:txBody>
      </p:sp>
      <p:pic>
        <p:nvPicPr>
          <p:cNvPr id="2050" name="Picture 2" descr="Machine Learning: O que é, Para Que Serve e Como Funciona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26" y="2707075"/>
            <a:ext cx="5380701" cy="269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83837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0F11DAD-7C00-E421-D4CB-B4979CB26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BAAE4EA-BA1A-5F70-1B2A-18DD082E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Subáreas da inteligência artificial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DFEB02D4-18B2-EFA7-642C-191891E76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530" y="1825624"/>
            <a:ext cx="6324369" cy="5032375"/>
          </a:xfrm>
        </p:spPr>
        <p:txBody>
          <a:bodyPr>
            <a:noAutofit/>
          </a:bodyPr>
          <a:lstStyle/>
          <a:p>
            <a:r>
              <a:rPr lang="pt-BR" b="1" dirty="0"/>
              <a:t>Aprendizado de máquina (</a:t>
            </a:r>
            <a:r>
              <a:rPr lang="pt-BR" b="1" i="1" dirty="0" err="1"/>
              <a:t>machine</a:t>
            </a:r>
            <a:r>
              <a:rPr lang="pt-BR" b="1" i="1" dirty="0"/>
              <a:t> </a:t>
            </a:r>
            <a:r>
              <a:rPr lang="pt-BR" b="1" i="1" dirty="0" err="1"/>
              <a:t>learning</a:t>
            </a:r>
            <a:r>
              <a:rPr lang="pt-BR" b="1" i="1" dirty="0"/>
              <a:t> - </a:t>
            </a:r>
            <a:r>
              <a:rPr lang="pt-BR" b="1" dirty="0"/>
              <a:t>ML)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 err="1"/>
              <a:t>Deep</a:t>
            </a:r>
            <a:r>
              <a:rPr lang="pt-BR" b="1" dirty="0"/>
              <a:t> Learning (DL):</a:t>
            </a:r>
            <a:r>
              <a:rPr lang="pt-BR" dirty="0"/>
              <a:t> é uma subárea do ML que utiliza </a:t>
            </a:r>
            <a:r>
              <a:rPr lang="pt-BR" b="1" dirty="0"/>
              <a:t>redes neurais profundas </a:t>
            </a:r>
            <a:r>
              <a:rPr lang="pt-BR" dirty="0"/>
              <a:t>(i.e., com </a:t>
            </a:r>
            <a:r>
              <a:rPr lang="pt-BR" b="1" dirty="0"/>
              <a:t>muitas camadas</a:t>
            </a:r>
            <a:r>
              <a:rPr lang="pt-BR" dirty="0"/>
              <a:t>) para aprender padrões complexos (como imagens e voz).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cs typeface="Calibri"/>
              </a:rPr>
              <a:t>O </a:t>
            </a:r>
            <a:r>
              <a:rPr lang="pt-BR" dirty="0" err="1">
                <a:cs typeface="Calibri"/>
              </a:rPr>
              <a:t>AlexNet</a:t>
            </a:r>
            <a:r>
              <a:rPr lang="pt-BR" dirty="0">
                <a:cs typeface="Calibri"/>
              </a:rPr>
              <a:t>, ChatGPT e todas as </a:t>
            </a:r>
            <a:r>
              <a:rPr lang="pt-BR" dirty="0" err="1">
                <a:cs typeface="Calibri"/>
              </a:rPr>
              <a:t>LLMs</a:t>
            </a:r>
            <a:r>
              <a:rPr lang="pt-BR" dirty="0">
                <a:cs typeface="Calibri"/>
              </a:rPr>
              <a:t> são exemplos de redes neurais profundas.</a:t>
            </a:r>
          </a:p>
        </p:txBody>
      </p:sp>
      <p:pic>
        <p:nvPicPr>
          <p:cNvPr id="4" name="Picture 2" descr="Artificial Intelligence, Machine Learning, and Deep Learning: Same context,  Different concepts - Master Intelligence Economique et Stratégies  Compétitives">
            <a:extLst>
              <a:ext uri="{FF2B5EF4-FFF2-40B4-BE49-F238E27FC236}">
                <a16:creationId xmlns="" xmlns:a16="http://schemas.microsoft.com/office/drawing/2014/main" id="{770AD79F-202F-6E3B-B009-E08304411D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98" r="20531" b="9801"/>
          <a:stretch>
            <a:fillRect/>
          </a:stretch>
        </p:blipFill>
        <p:spPr bwMode="auto">
          <a:xfrm>
            <a:off x="707572" y="2037441"/>
            <a:ext cx="4648200" cy="460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808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2317EB-8104-57E4-E8BE-525BE89E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Subáreas da inteligência artificial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3480B7-02DD-6A46-1045-F158024F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725886"/>
            <a:ext cx="10515599" cy="483733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ML é a base da IA moderna. Portanto, focaremos nesta subárea.</a:t>
            </a:r>
          </a:p>
        </p:txBody>
      </p:sp>
      <p:pic>
        <p:nvPicPr>
          <p:cNvPr id="1026" name="Picture 2" descr="How Machine Learning and Artificial Intelligence Will Impact Global  Industries - GeeksforGeeks">
            <a:extLst>
              <a:ext uri="{FF2B5EF4-FFF2-40B4-BE49-F238E27FC236}">
                <a16:creationId xmlns="" xmlns:a16="http://schemas.microsoft.com/office/drawing/2014/main" id="{AC706E7E-C49D-9BAC-06C5-B0B4423E22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7" r="3195"/>
          <a:stretch>
            <a:fillRect/>
          </a:stretch>
        </p:blipFill>
        <p:spPr bwMode="auto">
          <a:xfrm>
            <a:off x="3532414" y="2017258"/>
            <a:ext cx="5127171" cy="349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4766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5DA6CF7-E00B-E0FD-D41F-7E5876A5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Subáreas da inteligência artificial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B970F10-DC92-C5DA-B1B3-03C1CDCCD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88700" cy="5032375"/>
          </a:xfrm>
        </p:spPr>
        <p:txBody>
          <a:bodyPr>
            <a:noAutofit/>
          </a:bodyPr>
          <a:lstStyle/>
          <a:p>
            <a:r>
              <a:rPr lang="pt-BR" b="1" dirty="0"/>
              <a:t>Aprendizado de máquina (</a:t>
            </a:r>
            <a:r>
              <a:rPr lang="pt-BR" b="1" i="1" dirty="0" err="1"/>
              <a:t>machine</a:t>
            </a:r>
            <a:r>
              <a:rPr lang="pt-BR" b="1" i="1" dirty="0"/>
              <a:t> </a:t>
            </a:r>
            <a:r>
              <a:rPr lang="pt-BR" b="1" i="1" dirty="0" err="1"/>
              <a:t>learning</a:t>
            </a:r>
            <a:r>
              <a:rPr lang="pt-BR" b="1" i="1" dirty="0"/>
              <a:t> - </a:t>
            </a:r>
            <a:r>
              <a:rPr lang="pt-BR" b="1" dirty="0"/>
              <a:t>ML)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cs typeface="Calibri"/>
              </a:rPr>
              <a:t>Diferentemente do paradigma clássico de programação, a </a:t>
            </a:r>
            <a:r>
              <a:rPr lang="pt-BR" b="1" dirty="0">
                <a:cs typeface="Calibri"/>
              </a:rPr>
              <a:t>máquina aprende o “programa” a partir dos dados</a:t>
            </a:r>
            <a:r>
              <a:rPr lang="pt-BR" dirty="0">
                <a:cs typeface="Calibri"/>
              </a:rPr>
              <a:t>.</a:t>
            </a:r>
            <a:endParaRPr lang="pt-BR" dirty="0"/>
          </a:p>
        </p:txBody>
      </p:sp>
      <p:pic>
        <p:nvPicPr>
          <p:cNvPr id="2052" name="Picture 4" descr="Machine Learning vs. Traditional Programming | by Muhammad Muhsi Sidik |  Python in Plain English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4" r="1745" b="23582"/>
          <a:stretch/>
        </p:blipFill>
        <p:spPr bwMode="auto">
          <a:xfrm>
            <a:off x="1723482" y="3625141"/>
            <a:ext cx="9418136" cy="251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1441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74FFC21-FD45-1563-D9D1-C88D46FCA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03310BE-D12E-6122-A101-D55C2D3F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Subáreas da inteligência artificial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8F8C3E5-7AF3-9EE9-0584-D2264D146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88700" cy="5032375"/>
          </a:xfrm>
        </p:spPr>
        <p:txBody>
          <a:bodyPr>
            <a:noAutofit/>
          </a:bodyPr>
          <a:lstStyle/>
          <a:p>
            <a:r>
              <a:rPr lang="pt-BR" b="1" dirty="0"/>
              <a:t>Aprendizado de máquina (</a:t>
            </a:r>
            <a:r>
              <a:rPr lang="pt-BR" b="1" i="1" dirty="0"/>
              <a:t>machine learning - </a:t>
            </a:r>
            <a:r>
              <a:rPr lang="pt-BR" b="1" dirty="0"/>
              <a:t>ML)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exemplo, nós não dizemos à máquina "como" identificar um </a:t>
            </a:r>
            <a:r>
              <a:rPr lang="pt-BR" i="1" dirty="0"/>
              <a:t>spam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Nós apresentamos a ela exemplos de </a:t>
            </a:r>
            <a:r>
              <a:rPr lang="pt-BR" i="1" dirty="0" err="1"/>
              <a:t>hams</a:t>
            </a:r>
            <a:r>
              <a:rPr lang="pt-BR" dirty="0"/>
              <a:t> (i.e., </a:t>
            </a:r>
            <a:r>
              <a:rPr lang="pt-BR" dirty="0" err="1"/>
              <a:t>emails</a:t>
            </a:r>
            <a:r>
              <a:rPr lang="pt-BR" dirty="0"/>
              <a:t> legítimos) e </a:t>
            </a:r>
            <a:r>
              <a:rPr lang="pt-BR" i="1" dirty="0"/>
              <a:t>spams</a:t>
            </a:r>
            <a:r>
              <a:rPr lang="pt-BR" dirty="0"/>
              <a:t> e ela descobre as “regras” sozinha.</a:t>
            </a:r>
          </a:p>
        </p:txBody>
      </p:sp>
      <p:pic>
        <p:nvPicPr>
          <p:cNvPr id="2052" name="Picture 4" descr="Machine Learning vs. Traditional Programming | by Muhammad Muhsi Sidik |  Python in Plain English">
            <a:extLst>
              <a:ext uri="{FF2B5EF4-FFF2-40B4-BE49-F238E27FC236}">
                <a16:creationId xmlns="" xmlns:a16="http://schemas.microsoft.com/office/drawing/2014/main" id="{D1B6452F-F90A-71EB-FAEE-623E74FA03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4" r="1745" b="23582"/>
          <a:stretch/>
        </p:blipFill>
        <p:spPr bwMode="auto">
          <a:xfrm>
            <a:off x="1723482" y="3797374"/>
            <a:ext cx="9418136" cy="251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8084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5DA6CF7-E00B-E0FD-D41F-7E5876A5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Subáreas da inteligência artificial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B970F10-DC92-C5DA-B1B3-03C1CDCCD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88700" cy="5032375"/>
          </a:xfrm>
        </p:spPr>
        <p:txBody>
          <a:bodyPr>
            <a:noAutofit/>
          </a:bodyPr>
          <a:lstStyle/>
          <a:p>
            <a:r>
              <a:rPr lang="pt-PT" b="1" dirty="0"/>
              <a:t>Inteligência artificial geral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Criação de máquinas que </a:t>
            </a:r>
            <a:r>
              <a:rPr lang="pt-BR" b="1" dirty="0"/>
              <a:t>emulem as características dos seres humanos</a:t>
            </a:r>
            <a:r>
              <a:rPr lang="pt-BR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É o resultado da </a:t>
            </a:r>
            <a:r>
              <a:rPr lang="pt-BR" b="1" dirty="0"/>
              <a:t>união das “peças” </a:t>
            </a:r>
            <a:r>
              <a:rPr lang="pt-BR" dirty="0"/>
              <a:t>representadas por cada subárea da IA.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É a meta final da IA.</a:t>
            </a:r>
          </a:p>
        </p:txBody>
      </p:sp>
      <p:pic>
        <p:nvPicPr>
          <p:cNvPr id="3074" name="Picture 2" descr="The Rise of A.I. in Sci-Fi - PopOpti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670" y="3657007"/>
            <a:ext cx="5104660" cy="292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3571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48145"/>
            <a:ext cx="10515600" cy="542881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6600" dirty="0"/>
              <a:t>Ética e futuro</a:t>
            </a:r>
          </a:p>
        </p:txBody>
      </p:sp>
    </p:spTree>
    <p:extLst>
      <p:ext uri="{BB962C8B-B14F-4D97-AF65-F5344CB8AC3E}">
        <p14:creationId xmlns:p14="http://schemas.microsoft.com/office/powerpoint/2010/main" val="3679903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lado B da IA</a:t>
            </a:r>
          </a:p>
        </p:txBody>
      </p:sp>
      <p:pic>
        <p:nvPicPr>
          <p:cNvPr id="1030" name="Picture 6" descr="vem grandes responsabilidades | Bloqueio Ne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5815" y="1690688"/>
            <a:ext cx="6180369" cy="457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4635788" y="6308209"/>
            <a:ext cx="3622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Tio Ben (</a:t>
            </a:r>
            <a:r>
              <a:rPr lang="en-US" i="1" dirty="0"/>
              <a:t>Amazing Fantasy</a:t>
            </a:r>
            <a:r>
              <a:rPr lang="en-US" dirty="0"/>
              <a:t> #15, </a:t>
            </a:r>
            <a:r>
              <a:rPr lang="pt-BR" dirty="0"/>
              <a:t>1962)</a:t>
            </a:r>
          </a:p>
        </p:txBody>
      </p:sp>
    </p:spTree>
    <p:extLst>
      <p:ext uri="{BB962C8B-B14F-4D97-AF65-F5344CB8AC3E}">
        <p14:creationId xmlns:p14="http://schemas.microsoft.com/office/powerpoint/2010/main" val="6903341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48145"/>
            <a:ext cx="10515600" cy="542881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6600" dirty="0"/>
              <a:t>Os principais desafios e dilemas trazidos pela IA</a:t>
            </a:r>
          </a:p>
        </p:txBody>
      </p:sp>
    </p:spTree>
    <p:extLst>
      <p:ext uri="{BB962C8B-B14F-4D97-AF65-F5344CB8AC3E}">
        <p14:creationId xmlns:p14="http://schemas.microsoft.com/office/powerpoint/2010/main" val="32343826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Substituição de humanos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68786" y="1825624"/>
            <a:ext cx="6134792" cy="5032375"/>
          </a:xfrm>
        </p:spPr>
        <p:txBody>
          <a:bodyPr/>
          <a:lstStyle/>
          <a:p>
            <a:r>
              <a:rPr lang="pt-BR" dirty="0"/>
              <a:t>O medo não é apenas a substituição, mas a mudança no perfil da vaga. </a:t>
            </a:r>
          </a:p>
          <a:p>
            <a:r>
              <a:rPr lang="pt-BR" dirty="0"/>
              <a:t>A ideia é que o </a:t>
            </a:r>
            <a:r>
              <a:rPr lang="pt-BR" b="1" dirty="0"/>
              <a:t>robô faça o trabalho perigoso, repetitivo e sujo </a:t>
            </a:r>
            <a:r>
              <a:rPr lang="pt-BR" dirty="0"/>
              <a:t>(os 3Ds: </a:t>
            </a:r>
            <a:r>
              <a:rPr lang="pt-BR" i="1" dirty="0" err="1"/>
              <a:t>Dirty</a:t>
            </a:r>
            <a:r>
              <a:rPr lang="pt-BR" i="1" dirty="0"/>
              <a:t>, </a:t>
            </a:r>
            <a:r>
              <a:rPr lang="pt-BR" i="1" dirty="0" err="1"/>
              <a:t>Dangerous</a:t>
            </a:r>
            <a:r>
              <a:rPr lang="pt-BR" i="1" dirty="0"/>
              <a:t> </a:t>
            </a:r>
            <a:r>
              <a:rPr lang="pt-BR" i="1" dirty="0" err="1"/>
              <a:t>and</a:t>
            </a:r>
            <a:r>
              <a:rPr lang="pt-BR" i="1" dirty="0"/>
              <a:t> </a:t>
            </a:r>
            <a:r>
              <a:rPr lang="pt-BR" i="1" dirty="0" err="1"/>
              <a:t>Dull</a:t>
            </a:r>
            <a:r>
              <a:rPr lang="pt-BR" dirty="0"/>
              <a:t>), enquanto o </a:t>
            </a:r>
            <a:r>
              <a:rPr lang="pt-BR" b="1" dirty="0"/>
              <a:t>humano passa a ser o supervisor ou o programador dessa IA</a:t>
            </a:r>
            <a:r>
              <a:rPr lang="pt-BR" dirty="0"/>
              <a:t>.</a:t>
            </a:r>
          </a:p>
          <a:p>
            <a:r>
              <a:rPr lang="pt-BR" dirty="0"/>
              <a:t>O desafio é a </a:t>
            </a:r>
            <a:r>
              <a:rPr lang="pt-BR" b="1" dirty="0"/>
              <a:t>requalificação</a:t>
            </a:r>
            <a:r>
              <a:rPr lang="pt-BR" dirty="0"/>
              <a:t>.</a:t>
            </a:r>
          </a:p>
          <a:p>
            <a:r>
              <a:rPr lang="pt-BR" dirty="0"/>
              <a:t>IA não substitui pessoas, mas pessoas que usam IA substituem as que não usam.</a:t>
            </a:r>
          </a:p>
        </p:txBody>
      </p:sp>
      <p:pic>
        <p:nvPicPr>
          <p:cNvPr id="1028" name="Picture 4" descr="As máquinas vão substituir os humanos? - NeoFe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22" y="2499787"/>
            <a:ext cx="5406835" cy="3042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346565" y="6550222"/>
            <a:ext cx="114988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hlinkClick r:id="rId4"/>
              </a:rPr>
              <a:t>https://www.cnnbrasil.com.br/economia/negocios/inteligencia-artificial-esta-substituindo-humanos-mais-rapido-do-que-voce-pensa-mostra-pesquisa/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5498324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Responsabilidade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7142" y="1825624"/>
            <a:ext cx="6833062" cy="5032375"/>
          </a:xfrm>
        </p:spPr>
        <p:txBody>
          <a:bodyPr>
            <a:normAutofit/>
          </a:bodyPr>
          <a:lstStyle/>
          <a:p>
            <a:r>
              <a:rPr lang="pt-BR" dirty="0"/>
              <a:t>Se um carro autônomo bate, a culpa é de quem? Do dono, do programador ou da empresa que criou o modelo?</a:t>
            </a:r>
          </a:p>
          <a:p>
            <a:r>
              <a:rPr lang="pt-BR" b="1" dirty="0"/>
              <a:t>Caixa Preta</a:t>
            </a:r>
            <a:r>
              <a:rPr lang="pt-BR" dirty="0"/>
              <a:t>: muitos modelos são tão complexos que suas decisões se tornam inexplicáveis.</a:t>
            </a:r>
          </a:p>
          <a:p>
            <a:r>
              <a:rPr lang="pt-BR" dirty="0"/>
              <a:t>No Brasil, ainda não existem leis específicas. </a:t>
            </a:r>
          </a:p>
          <a:p>
            <a:r>
              <a:rPr lang="pt-BR" dirty="0"/>
              <a:t>Mas o entendimento é que por ser uma ferramenta, a responsabilidade final é de quem cria, configura ou opera o sistema.</a:t>
            </a:r>
          </a:p>
        </p:txBody>
      </p:sp>
      <p:pic>
        <p:nvPicPr>
          <p:cNvPr id="2051" name="Picture 3" descr="Carro autônomo da Waymo atropela pedestre, mas culpa não foi do robô -  Canalte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7" y="2065408"/>
            <a:ext cx="4073236" cy="407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705197" y="6513365"/>
            <a:ext cx="111820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hlinkClick r:id="rId4"/>
              </a:rPr>
              <a:t>https://exame.com/tecnologia/carros-autonomos-quem-e-o-culpado-quando-ocorrem-acidentes/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5235239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Segurança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1148753" cy="5032375"/>
          </a:xfrm>
        </p:spPr>
        <p:txBody>
          <a:bodyPr/>
          <a:lstStyle/>
          <a:p>
            <a:r>
              <a:rPr lang="pt-BR" dirty="0"/>
              <a:t>IA pode ser </a:t>
            </a:r>
            <a:r>
              <a:rPr lang="pt-BR" b="1" dirty="0"/>
              <a:t>enganada</a:t>
            </a:r>
            <a:r>
              <a:rPr lang="pt-BR" dirty="0"/>
              <a:t> de diversas formas.</a:t>
            </a:r>
          </a:p>
          <a:p>
            <a:r>
              <a:rPr lang="pt-BR" b="1" dirty="0"/>
              <a:t>Ataques adversários:</a:t>
            </a:r>
            <a:r>
              <a:rPr lang="pt-BR" dirty="0"/>
              <a:t> Existem ataques onde a mudança de um único </a:t>
            </a:r>
            <a:r>
              <a:rPr lang="pt-BR" i="1" dirty="0"/>
              <a:t>pixel</a:t>
            </a:r>
            <a:r>
              <a:rPr lang="pt-BR" dirty="0"/>
              <a:t> em uma foto pode fazer a IA ver um ‘Avião' onde há um ‘Porco'.</a:t>
            </a:r>
          </a:p>
          <a:p>
            <a:r>
              <a:rPr lang="pt-BR" dirty="0"/>
              <a:t>Como criar testes de segurança para IA?</a:t>
            </a:r>
          </a:p>
          <a:p>
            <a:r>
              <a:rPr lang="pt-BR" dirty="0"/>
              <a:t>Oportunidades de pesquisa e trabalho.</a:t>
            </a:r>
          </a:p>
        </p:txBody>
      </p:sp>
      <p:pic>
        <p:nvPicPr>
          <p:cNvPr id="3077" name="Picture 5" descr="Ameaças a Sistemas baseados em Machine Learning - Parte 1 de 5 -  SideChannel - TempestSideChannel – Tempe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830" y="4341811"/>
            <a:ext cx="6386339" cy="219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838200" y="6557439"/>
            <a:ext cx="84401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hlinkClick r:id="rId4"/>
              </a:rPr>
              <a:t>https://veja.abril.com.br/tecnologia/codigos-destravam-bloqueios-de-seguranca-de-ias-generativas/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7595691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Viés algorítmico (</a:t>
            </a:r>
            <a:r>
              <a:rPr lang="pt-BR" i="1" dirty="0"/>
              <a:t>bias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04262" y="1825624"/>
            <a:ext cx="7049193" cy="503237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dirty="0"/>
              <a:t>A IA </a:t>
            </a:r>
            <a:r>
              <a:rPr lang="pt-BR" b="1" dirty="0"/>
              <a:t>não é neutra</a:t>
            </a:r>
            <a:r>
              <a:rPr lang="pt-BR" dirty="0"/>
              <a:t>.</a:t>
            </a:r>
          </a:p>
          <a:p>
            <a:r>
              <a:rPr lang="pt-BR" dirty="0"/>
              <a:t>Ela é um </a:t>
            </a:r>
            <a:r>
              <a:rPr lang="pt-BR" b="1" dirty="0"/>
              <a:t>espelho dos dados</a:t>
            </a:r>
            <a:r>
              <a:rPr lang="pt-BR" dirty="0"/>
              <a:t>. </a:t>
            </a:r>
          </a:p>
          <a:p>
            <a:r>
              <a:rPr lang="pt-BR" dirty="0"/>
              <a:t>Se os dados usados para </a:t>
            </a:r>
            <a:r>
              <a:rPr lang="pt-BR" b="1" dirty="0"/>
              <a:t>treinamento têm preconceitos</a:t>
            </a:r>
            <a:r>
              <a:rPr lang="pt-BR" dirty="0"/>
              <a:t> (gênero, raça, classe), a </a:t>
            </a:r>
            <a:r>
              <a:rPr lang="pt-BR" b="1" dirty="0"/>
              <a:t>IA irá amplificar esses preconceitos</a:t>
            </a:r>
            <a:r>
              <a:rPr lang="pt-BR" dirty="0"/>
              <a:t>.</a:t>
            </a:r>
          </a:p>
          <a:p>
            <a:r>
              <a:rPr lang="pt-BR" b="1" dirty="0"/>
              <a:t>Exemplo</a:t>
            </a:r>
            <a:r>
              <a:rPr lang="pt-BR" dirty="0"/>
              <a:t>: IA de recrutamento que descartava currículos de mulheres porque "historicamente" homens ocupavam mais aquelas vagas.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520931" y="6538844"/>
            <a:ext cx="108328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hlinkClick r:id="rId2"/>
              </a:rPr>
              <a:t>https://veja.abril.com.br/economia/discriminacao-o-desafio-da-inteligencia-artificial-em-processos-seletivos/</a:t>
            </a:r>
            <a:endParaRPr lang="pt-BR" sz="1400" dirty="0"/>
          </a:p>
        </p:txBody>
      </p:sp>
      <p:pic>
        <p:nvPicPr>
          <p:cNvPr id="3076" name="Picture 4" descr="A justiça, a vingança e o nosso “cabeamento” – Economia Comportament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4925"/>
            <a:ext cx="4861545" cy="329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6959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Viés algorítmico (</a:t>
            </a:r>
            <a:r>
              <a:rPr lang="pt-BR" i="1" dirty="0"/>
              <a:t>bias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3928" y="1825625"/>
            <a:ext cx="5586152" cy="4351338"/>
          </a:xfrm>
        </p:spPr>
        <p:txBody>
          <a:bodyPr/>
          <a:lstStyle/>
          <a:p>
            <a:r>
              <a:rPr lang="pt-BR" dirty="0"/>
              <a:t>A IA é uma ferramenta poderosíssima, mas ela sofre de um mal chamado </a:t>
            </a:r>
            <a:r>
              <a:rPr lang="pt-BR" i="1" dirty="0"/>
              <a:t>'Garbage In, Garbage Out</a:t>
            </a:r>
            <a:r>
              <a:rPr lang="pt-BR" dirty="0"/>
              <a:t>' (Lixo entra, lixo sai).</a:t>
            </a:r>
          </a:p>
          <a:p>
            <a:r>
              <a:rPr lang="pt-BR" dirty="0"/>
              <a:t>Se os dados usados para treinar os modelos são ruins, o resultado também será ruim.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148" name="Picture 4" descr="The Art of Preparing Data Before Mode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62" y="2255342"/>
            <a:ext cx="5207123" cy="346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886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i="1" dirty="0" err="1"/>
              <a:t>Deepfakes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0" y="1825625"/>
            <a:ext cx="5924204" cy="4351338"/>
          </a:xfrm>
        </p:spPr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dirty="0"/>
              <a:t>Serão a morte da verdade?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dirty="0"/>
              <a:t>Se podemos gerar vídeos perfeitos de qualquer pessoa dizendo qualquer coisa, como confiar no que vemos?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Risco:</a:t>
            </a:r>
            <a:r>
              <a:rPr lang="pt-BR" dirty="0"/>
              <a:t> Impacto em eleições, golpes financeiros e </a:t>
            </a:r>
            <a:r>
              <a:rPr lang="pt-BR" i="1" dirty="0" err="1"/>
              <a:t>bullying</a:t>
            </a:r>
            <a:r>
              <a:rPr lang="pt-BR" dirty="0"/>
              <a:t> digital.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/>
              <a:t>Exemplo</a:t>
            </a:r>
            <a:r>
              <a:rPr lang="pt-BR" altLang="pt-BR" dirty="0"/>
              <a:t>: G</a:t>
            </a:r>
            <a:r>
              <a:rPr lang="pt-BR" dirty="0"/>
              <a:t>rupo usava </a:t>
            </a:r>
            <a:r>
              <a:rPr lang="pt-BR" i="1" dirty="0" err="1"/>
              <a:t>deepfake</a:t>
            </a:r>
            <a:r>
              <a:rPr lang="pt-BR" dirty="0"/>
              <a:t> de Gisele Bündchen para aplicar golpes milionários.</a:t>
            </a:r>
          </a:p>
        </p:txBody>
      </p:sp>
      <p:pic>
        <p:nvPicPr>
          <p:cNvPr id="4098" name="Picture 2" descr="Deepfake: Saiba os Riscos e Por Que Você Precisa se Proteg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29" y="2659127"/>
            <a:ext cx="5436713" cy="2718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321830" y="6550223"/>
            <a:ext cx="118705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hlinkClick r:id="rId3"/>
              </a:rPr>
              <a:t>https://www.cnnbrasil.com.br/nacional/sul/rs/golpe-usava-deepfake-de-gisele-bundchen-para-aplicar-golpes-milionarios/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4884818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Privacidade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37265" y="1825624"/>
            <a:ext cx="6849687" cy="503237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dirty="0"/>
              <a:t>Quem é o dono dos seus dados?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Dilema:</a:t>
            </a:r>
            <a:r>
              <a:rPr lang="pt-BR" dirty="0"/>
              <a:t> Se o produto é de graça, o produto é você.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dirty="0"/>
              <a:t>Nossos dados treinam as </a:t>
            </a:r>
            <a:r>
              <a:rPr lang="pt-BR" dirty="0" err="1"/>
              <a:t>IAs</a:t>
            </a:r>
            <a:r>
              <a:rPr lang="pt-BR" dirty="0"/>
              <a:t> das </a:t>
            </a:r>
            <a:r>
              <a:rPr lang="pt-BR" i="1" dirty="0"/>
              <a:t>Big </a:t>
            </a:r>
            <a:r>
              <a:rPr lang="pt-BR" i="1" dirty="0" err="1"/>
              <a:t>Techs</a:t>
            </a:r>
            <a:r>
              <a:rPr lang="pt-BR" i="1" dirty="0"/>
              <a:t> </a:t>
            </a:r>
            <a:r>
              <a:rPr lang="pt-BR" dirty="0"/>
              <a:t>sem que tenhamos controle total sobre isso.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dirty="0"/>
              <a:t>Quem já falou de um tênis perto do celular e, em seguida, recebeu um anúncio exatamente daquele modelo?</a:t>
            </a:r>
            <a:endParaRPr lang="pt-BR" alt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838200" y="6550222"/>
            <a:ext cx="119869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hlinkClick r:id="rId3"/>
              </a:rPr>
              <a:t>https://www.comboinfinito.com.br/principal/o-dilema-das-redes-revelado-que-somos-o-produto-facebook-desmente-o-que-o-documentario-afirmou/</a:t>
            </a:r>
            <a:endParaRPr lang="pt-BR" sz="1400" dirty="0"/>
          </a:p>
        </p:txBody>
      </p:sp>
      <p:pic>
        <p:nvPicPr>
          <p:cNvPr id="5124" name="Picture 4" descr="Se você não está pagando pelo produto, então você é o produto.” - O dilema  das redes 📱🛜 #algoritmo #meta #redes #internet #psicolog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033" y="1825624"/>
            <a:ext cx="3202689" cy="399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5805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Conclusão: qual o nosso papel?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10200" y="1825624"/>
            <a:ext cx="6607629" cy="5032375"/>
          </a:xfrm>
        </p:spPr>
        <p:txBody>
          <a:bodyPr>
            <a:normAutofit/>
          </a:bodyPr>
          <a:lstStyle/>
          <a:p>
            <a:r>
              <a:rPr lang="pt-BR" dirty="0"/>
              <a:t>A IA é uma </a:t>
            </a:r>
            <a:r>
              <a:rPr lang="pt-BR" b="1" dirty="0"/>
              <a:t>ferramenta</a:t>
            </a:r>
            <a:r>
              <a:rPr lang="pt-BR" dirty="0"/>
              <a:t> e nós </a:t>
            </a:r>
            <a:r>
              <a:rPr lang="pt-BR" b="1" dirty="0"/>
              <a:t>somos os artesãos</a:t>
            </a:r>
            <a:r>
              <a:rPr lang="pt-BR" dirty="0"/>
              <a:t>.</a:t>
            </a:r>
          </a:p>
          <a:p>
            <a:r>
              <a:rPr lang="pt-BR" dirty="0"/>
              <a:t>Temos que usar a ferramenta com cuidado e inteligência. </a:t>
            </a:r>
          </a:p>
          <a:p>
            <a:r>
              <a:rPr lang="pt-BR" dirty="0"/>
              <a:t>Estudar IA </a:t>
            </a:r>
            <a:r>
              <a:rPr lang="pt-BR" b="1" dirty="0"/>
              <a:t>não é sobre substituir </a:t>
            </a:r>
            <a:r>
              <a:rPr lang="pt-BR" dirty="0"/>
              <a:t>humanos, mas </a:t>
            </a:r>
            <a:r>
              <a:rPr lang="pt-BR" b="1" dirty="0"/>
              <a:t>sobre ampliar a capacidade humana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Usar a ferramenta de forma correta nos deixa mais inteligentes e nos evolui como raça.</a:t>
            </a:r>
          </a:p>
        </p:txBody>
      </p:sp>
      <p:pic>
        <p:nvPicPr>
          <p:cNvPr id="3074" name="Picture 2" descr="Control Of Fire By Early Humans&quot; Images – Browse 130 Stock Photos, Vectors,  and Video | Adobe Stock">
            <a:extLst>
              <a:ext uri="{FF2B5EF4-FFF2-40B4-BE49-F238E27FC236}">
                <a16:creationId xmlns="" xmlns:a16="http://schemas.microsoft.com/office/drawing/2014/main" id="{7FAADC38-3CFD-0FC2-6C07-3C197A668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13" y="2383970"/>
            <a:ext cx="4612823" cy="307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3124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B136169-37C4-FBEA-2689-FB99DDDE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27121EF-79BD-0DAF-4C02-D5D2A5EA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Conclusão: qual o nosso papel?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D0179500-3B04-6834-127D-40D187F7E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0" y="1825624"/>
            <a:ext cx="6607629" cy="5032375"/>
          </a:xfrm>
        </p:spPr>
        <p:txBody>
          <a:bodyPr>
            <a:normAutofit/>
          </a:bodyPr>
          <a:lstStyle/>
          <a:p>
            <a:r>
              <a:rPr lang="pt-BR" dirty="0"/>
              <a:t>O papel de vocês como possíveis </a:t>
            </a:r>
            <a:r>
              <a:rPr lang="pt-BR" b="1" dirty="0"/>
              <a:t>futuros profissionais de IA</a:t>
            </a:r>
            <a:r>
              <a:rPr lang="pt-BR" dirty="0"/>
              <a:t> não é só fazer o código rodar e resolver um problema, mas </a:t>
            </a:r>
            <a:r>
              <a:rPr lang="pt-BR" b="1" dirty="0"/>
              <a:t>garantir que ele seja ético e transparente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3074" name="Picture 2" descr="Control Of Fire By Early Humans&quot; Images – Browse 130 Stock Photos, Vectors,  and Video | Adobe Stock">
            <a:extLst>
              <a:ext uri="{FF2B5EF4-FFF2-40B4-BE49-F238E27FC236}">
                <a16:creationId xmlns="" xmlns:a16="http://schemas.microsoft.com/office/drawing/2014/main" id="{AAFB4663-C2D5-59C5-7509-0A52EF0BA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71" y="2394855"/>
            <a:ext cx="4612823" cy="307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6931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49AE95-3E0A-F9BB-A3FD-4C328EF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exercícios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31927B-FE56-CB25-3ECF-AB5E92A7D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Lista #1 - </a:t>
            </a:r>
            <a:r>
              <a:rPr lang="en-US" dirty="0" err="1">
                <a:hlinkClick r:id="rId2"/>
              </a:rPr>
              <a:t>Introdução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3451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9269</TotalTime>
  <Words>5809</Words>
  <Application>Microsoft Office PowerPoint</Application>
  <PresentationFormat>Widescreen</PresentationFormat>
  <Paragraphs>575</Paragraphs>
  <Slides>64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64</vt:i4>
      </vt:variant>
    </vt:vector>
  </HeadingPairs>
  <TitlesOfParts>
    <vt:vector size="70" baseType="lpstr">
      <vt:lpstr>Arial</vt:lpstr>
      <vt:lpstr>Calibri</vt:lpstr>
      <vt:lpstr>Calibri Light</vt:lpstr>
      <vt:lpstr>Courier New</vt:lpstr>
      <vt:lpstr>Wingdings</vt:lpstr>
      <vt:lpstr>Tema do Office</vt:lpstr>
      <vt:lpstr>C24 - Inteligência Artificial: Introdução</vt:lpstr>
      <vt:lpstr>Informações gerais</vt:lpstr>
      <vt:lpstr>Cronograma</vt:lpstr>
      <vt:lpstr>Avaliações</vt:lpstr>
      <vt:lpstr>Avaliações</vt:lpstr>
      <vt:lpstr>Avaliações</vt:lpstr>
      <vt:lpstr>Avaliações</vt:lpstr>
      <vt:lpstr>Calendário e feriados</vt:lpstr>
      <vt:lpstr>Referências disponíveis na biblioteca</vt:lpstr>
      <vt:lpstr>Referências disponíveis na web</vt:lpstr>
      <vt:lpstr>Apresentação do PowerPoint</vt:lpstr>
      <vt:lpstr>O que vocês acham que é IA?</vt:lpstr>
      <vt:lpstr>O que é IA?</vt:lpstr>
      <vt:lpstr>O que é IA?</vt:lpstr>
      <vt:lpstr>Apresentação do PowerPoint</vt:lpstr>
      <vt:lpstr>O teste de Turing (1950)</vt:lpstr>
      <vt:lpstr>O teste de Turing (1950)</vt:lpstr>
      <vt:lpstr>O teste de Turing: Eugene Goostman</vt:lpstr>
      <vt:lpstr>O teste de Turing: GPT-4.5</vt:lpstr>
      <vt:lpstr>O nascimento da IA (1956)</vt:lpstr>
      <vt:lpstr>Apresentação do PowerPoint</vt:lpstr>
      <vt:lpstr>Os invernos da IA (anos 70-80)</vt:lpstr>
      <vt:lpstr>Os anos 80 e 90</vt:lpstr>
      <vt:lpstr>Anos 2000: Internet, Big Data e Computação Avançada</vt:lpstr>
      <vt:lpstr>AlexNet: O big bang do deep learning (2012)</vt:lpstr>
      <vt:lpstr>AlexNet: O big bang do deep learning (2012)</vt:lpstr>
      <vt:lpstr>AlexNet: O big bang do deep learning (2012)</vt:lpstr>
      <vt:lpstr>Apresentação do PowerPoint</vt:lpstr>
      <vt:lpstr>Por que a IA se difundiu tanto?</vt:lpstr>
      <vt:lpstr>Onde se aplica IA?</vt:lpstr>
      <vt:lpstr>Onde se aplica IA?</vt:lpstr>
      <vt:lpstr>Que tipos de problemas a IA resolve?</vt:lpstr>
      <vt:lpstr>Que tipos de problemas a IA resolve?</vt:lpstr>
      <vt:lpstr>IA Estreita vs. IA Geral</vt:lpstr>
      <vt:lpstr>IA Estreita vs. IA Geral</vt:lpstr>
      <vt:lpstr>IA Estreita vs. IA Geral</vt:lpstr>
      <vt:lpstr>Apresentação do PowerPoint</vt:lpstr>
      <vt:lpstr>O problema da IA</vt:lpstr>
      <vt:lpstr>Subáreas da IA</vt:lpstr>
      <vt:lpstr>Subáreas da IA</vt:lpstr>
      <vt:lpstr>Subáreas da inteligência artificial</vt:lpstr>
      <vt:lpstr>Apresentação do PowerPoint</vt:lpstr>
      <vt:lpstr>Apresentação do PowerPoint</vt:lpstr>
      <vt:lpstr>Subáreas da inteligência artificial</vt:lpstr>
      <vt:lpstr>Subáreas da inteligência artificial</vt:lpstr>
      <vt:lpstr>Subáreas da inteligência artificial</vt:lpstr>
      <vt:lpstr>Subáreas da inteligência artificial</vt:lpstr>
      <vt:lpstr>Subáreas da inteligência artificial</vt:lpstr>
      <vt:lpstr>Subáreas da inteligência artificial</vt:lpstr>
      <vt:lpstr>Apresentação do PowerPoint</vt:lpstr>
      <vt:lpstr>O lado B da IA</vt:lpstr>
      <vt:lpstr>Apresentação do PowerPoint</vt:lpstr>
      <vt:lpstr>Substituição de humanos</vt:lpstr>
      <vt:lpstr>Responsabilidade</vt:lpstr>
      <vt:lpstr>Segurança</vt:lpstr>
      <vt:lpstr>Viés algorítmico (bias)</vt:lpstr>
      <vt:lpstr>Viés algorítmico (bias)</vt:lpstr>
      <vt:lpstr>Deepfakes</vt:lpstr>
      <vt:lpstr>Privacidade</vt:lpstr>
      <vt:lpstr>Conclusão: qual o nosso papel?</vt:lpstr>
      <vt:lpstr>Conclusão: qual o nosso papel?</vt:lpstr>
      <vt:lpstr>Lista de exercícios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2030</cp:revision>
  <dcterms:created xsi:type="dcterms:W3CDTF">2020-01-20T13:50:05Z</dcterms:created>
  <dcterms:modified xsi:type="dcterms:W3CDTF">2026-07-27T01:25:15Z</dcterms:modified>
</cp:coreProperties>
</file>