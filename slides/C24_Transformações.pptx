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36" r:id="rId15"/>
    <p:sldId id="343" r:id="rId16"/>
    <p:sldId id="342" r:id="rId17"/>
    <p:sldId id="328" r:id="rId18"/>
    <p:sldId id="344" r:id="rId19"/>
    <p:sldId id="345" r:id="rId20"/>
    <p:sldId id="346" r:id="rId21"/>
    <p:sldId id="347" r:id="rId22"/>
    <p:sldId id="348" r:id="rId23"/>
    <p:sldId id="349" r:id="rId24"/>
    <p:sldId id="323" r:id="rId25"/>
    <p:sldId id="350" r:id="rId26"/>
    <p:sldId id="317" r:id="rId27"/>
    <p:sldId id="320" r:id="rId28"/>
    <p:sldId id="308" r:id="rId29"/>
    <p:sldId id="315" r:id="rId30"/>
    <p:sldId id="324" r:id="rId31"/>
    <p:sldId id="337" r:id="rId32"/>
    <p:sldId id="321" r:id="rId33"/>
    <p:sldId id="338" r:id="rId34"/>
    <p:sldId id="293" r:id="rId35"/>
    <p:sldId id="306" r:id="rId3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9540" autoAdjust="0"/>
  </p:normalViewPr>
  <p:slideViewPr>
    <p:cSldViewPr snapToGrid="0">
      <p:cViewPr varScale="1">
        <p:scale>
          <a:sx n="88" d="100"/>
          <a:sy n="88" d="100"/>
        </p:scale>
        <p:origin x="169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dirty="0"/>
              <a:t>Oferece um meio-termo que mantém os dados em uma escala semelhante à da padronização, mas garante que a escala não seja distorcida por valores extremos.</a:t>
            </a:r>
          </a:p>
          <a:p>
            <a:endParaRPr lang="pt-BR" b="1" dirty="0"/>
          </a:p>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7A17-F670-79CF-DF05-7BF12108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E1E6-3C6D-845B-07FE-6000E19D1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7E17B7-4F2C-8B34-0F7C-2CB52C0B3FA9}"/>
              </a:ext>
            </a:extLst>
          </p:cNvPr>
          <p:cNvSpPr>
            <a:spLocks noGrp="1"/>
          </p:cNvSpPr>
          <p:nvPr>
            <p:ph type="body" idx="1"/>
          </p:nvPr>
        </p:nvSpPr>
        <p:spPr/>
        <p:txBody>
          <a:bodyPr/>
          <a:lstStyle/>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1FD7E354-A812-3533-15B8-B2C05476CDAC}"/>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9862444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0802758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AACA-C1BE-8A29-1FCB-662C75286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75792-3F26-46A3-22E7-4BD98B369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A760E0-F44C-F8E7-EA56-D8E5837C26DC}"/>
              </a:ext>
            </a:extLst>
          </p:cNvPr>
          <p:cNvSpPr>
            <a:spLocks noGrp="1"/>
          </p:cNvSpPr>
          <p:nvPr>
            <p:ph type="body" idx="1"/>
          </p:nvPr>
        </p:nvSpPr>
        <p:spPr/>
        <p:txBody>
          <a:bodyPr/>
          <a:lstStyle/>
          <a:p>
            <a:r>
              <a:rPr lang="pt-BR" sz="1200" b="1" i="0" kern="1200" dirty="0">
                <a:solidFill>
                  <a:schemeClr val="tx1"/>
                </a:solidFill>
                <a:effectLst/>
                <a:latin typeface="+mn-lt"/>
                <a:ea typeface="+mn-ea"/>
                <a:cs typeface="+mn-cs"/>
              </a:rPr>
              <a:t>O que é a </a:t>
            </a:r>
            <a:r>
              <a:rPr lang="pt-BR" b="1" dirty="0"/>
              <a:t>“maldição da dimensionalidade”?</a:t>
            </a:r>
            <a:br>
              <a:rPr lang="pt-BR" b="1" dirty="0"/>
            </a:br>
            <a:endParaRPr lang="pt-BR"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exponencial do espaço:</a:t>
            </a:r>
            <a:r>
              <a:rPr lang="pt-BR" sz="1200" b="0" i="0" kern="1200" dirty="0">
                <a:solidFill>
                  <a:schemeClr val="tx1"/>
                </a:solidFill>
                <a:effectLst/>
                <a:latin typeface="+mn-lt"/>
                <a:ea typeface="+mn-ea"/>
                <a:cs typeface="+mn-cs"/>
              </a:rPr>
              <a:t> Adicionar dimensões faz o volume crescer muito rápido, espalhando os pontos de dados.</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Escassez de dados:</a:t>
            </a:r>
            <a:r>
              <a:rPr lang="pt-BR" sz="1200" b="0" i="0" kern="1200" dirty="0">
                <a:solidFill>
                  <a:schemeClr val="tx1"/>
                </a:solidFill>
                <a:effectLst/>
                <a:latin typeface="+mn-lt"/>
                <a:ea typeface="+mn-ea"/>
                <a:cs typeface="+mn-cs"/>
              </a:rPr>
              <a:t> Os pontos ficam muito distantes uns dos outros, "quase não há vizinhos", perdendo a noção de similaridade.</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Dificuldade de visualização e processamento:</a:t>
            </a:r>
            <a:r>
              <a:rPr lang="pt-BR" sz="1200" b="0" i="0" kern="1200" dirty="0">
                <a:solidFill>
                  <a:schemeClr val="tx1"/>
                </a:solidFill>
                <a:effectLst/>
                <a:latin typeface="+mn-lt"/>
                <a:ea typeface="+mn-ea"/>
                <a:cs typeface="+mn-cs"/>
              </a:rPr>
              <a:t> Torna-se difícil visualizar e exige muito mais poder computacional para análise.</a:t>
            </a:r>
          </a:p>
          <a:p>
            <a:endParaRPr lang="pt-BR" sz="1200" b="1" i="0" kern="1200" dirty="0">
              <a:solidFill>
                <a:schemeClr val="tx1"/>
              </a:solidFill>
              <a:effectLst/>
              <a:latin typeface="+mn-lt"/>
              <a:ea typeface="+mn-ea"/>
              <a:cs typeface="+mn-cs"/>
            </a:endParaRPr>
          </a:p>
          <a:p>
            <a:r>
              <a:rPr lang="pt-BR" sz="1200" b="1" i="0" kern="1200" dirty="0">
                <a:solidFill>
                  <a:schemeClr val="tx1"/>
                </a:solidFill>
                <a:effectLst/>
                <a:latin typeface="+mn-lt"/>
                <a:ea typeface="+mn-ea"/>
                <a:cs typeface="+mn-cs"/>
              </a:rPr>
              <a:t>Como afeta o Machine Learning</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Perda de significado da distância:</a:t>
            </a:r>
            <a:r>
              <a:rPr lang="pt-BR" sz="1200" b="0" i="0" kern="1200" dirty="0">
                <a:solidFill>
                  <a:schemeClr val="tx1"/>
                </a:solidFill>
                <a:effectLst/>
                <a:latin typeface="+mn-lt"/>
                <a:ea typeface="+mn-ea"/>
                <a:cs typeface="+mn-cs"/>
              </a:rPr>
              <a:t> A diferença entre o ponto mais próximo e o mais distante se torna mínima, prejudicando algoritmos baseados em distância (como KNN).</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Sobreajuste (</a:t>
            </a:r>
            <a:r>
              <a:rPr lang="pt-BR" sz="1200" b="1" i="0" kern="1200" dirty="0" err="1">
                <a:solidFill>
                  <a:schemeClr val="tx1"/>
                </a:solidFill>
                <a:effectLst/>
                <a:latin typeface="+mn-lt"/>
                <a:ea typeface="+mn-ea"/>
                <a:cs typeface="+mn-cs"/>
              </a:rPr>
              <a:t>Overfitting</a:t>
            </a:r>
            <a:r>
              <a:rPr lang="pt-BR" sz="1200" b="1" i="0" kern="1200" dirty="0">
                <a:solidFill>
                  <a:schemeClr val="tx1"/>
                </a:solidFill>
                <a:effectLst/>
                <a:latin typeface="+mn-lt"/>
                <a:ea typeface="+mn-ea"/>
                <a:cs typeface="+mn-cs"/>
              </a:rPr>
              <a:t>):</a:t>
            </a:r>
            <a:r>
              <a:rPr lang="pt-BR" sz="1200" b="0" i="0" kern="1200" dirty="0">
                <a:solidFill>
                  <a:schemeClr val="tx1"/>
                </a:solidFill>
                <a:effectLst/>
                <a:latin typeface="+mn-lt"/>
                <a:ea typeface="+mn-ea"/>
                <a:cs typeface="+mn-cs"/>
              </a:rPr>
              <a:t> Modelos podem se ajustar ao ruído em vez dos padrões reais, pois há muitas dimensões e poucos pontos por área.</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da complexidade:</a:t>
            </a:r>
            <a:r>
              <a:rPr lang="pt-BR" sz="1200" b="0" i="0" kern="1200" dirty="0">
                <a:solidFill>
                  <a:schemeClr val="tx1"/>
                </a:solidFill>
                <a:effectLst/>
                <a:latin typeface="+mn-lt"/>
                <a:ea typeface="+mn-ea"/>
                <a:cs typeface="+mn-cs"/>
              </a:rPr>
              <a:t> Aumenta o custo computacional e a necessidade de dados de treinamento.</a:t>
            </a:r>
          </a:p>
          <a:p>
            <a:endParaRPr lang="en-US" dirty="0"/>
          </a:p>
        </p:txBody>
      </p:sp>
      <p:sp>
        <p:nvSpPr>
          <p:cNvPr id="4" name="Slide Number Placeholder 3">
            <a:extLst>
              <a:ext uri="{FF2B5EF4-FFF2-40B4-BE49-F238E27FC236}">
                <a16:creationId xmlns:a16="http://schemas.microsoft.com/office/drawing/2014/main" id="{F3157961-DACC-B2D1-355A-7BFFF155D89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546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B8E2-8FB4-ABBE-C258-A19EABAE8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AA54D-D921-A0D1-8F81-E689E5B46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5C974-F53B-919C-4B9E-3E911E541210}"/>
              </a:ext>
            </a:extLst>
          </p:cNvPr>
          <p:cNvSpPr>
            <a:spLocks noGrp="1"/>
          </p:cNvSpPr>
          <p:nvPr>
            <p:ph type="body" idx="1"/>
          </p:nvPr>
        </p:nvSpPr>
        <p:spPr/>
        <p:txBody>
          <a:bodyPr/>
          <a:lstStyle/>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0DFC15CB-C54E-7FB2-B15A-8FAC110034B8}"/>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479348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5CC4-F30A-A9FA-9DDD-082690987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220E7-8A30-2A57-6CC8-32EB4AE2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4DC2E-4BED-69DA-25A3-14C1CC6DEC90}"/>
              </a:ext>
            </a:extLst>
          </p:cNvPr>
          <p:cNvSpPr>
            <a:spLocks noGrp="1"/>
          </p:cNvSpPr>
          <p:nvPr>
            <p:ph type="body" idx="1"/>
          </p:nvPr>
        </p:nvSpPr>
        <p:spPr/>
        <p:txBody>
          <a:bodyPr/>
          <a:lstStyle/>
          <a:p>
            <a:r>
              <a:rPr lang="pt-BR" dirty="0"/>
              <a:t>alta cardinalidade: muitas categorias únicas</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BDD61D4-F283-FA5C-B9B3-7B9D25FCB4EA}"/>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6519925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0111E-C562-814A-4B28-55A0BF53C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3F6C9-39CC-9515-FB72-E68168A7A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98751-6CC0-5667-0E8C-ED24F1B26AB5}"/>
              </a:ext>
            </a:extLst>
          </p:cNvPr>
          <p:cNvSpPr>
            <a:spLocks noGrp="1"/>
          </p:cNvSpPr>
          <p:nvPr>
            <p:ph type="body" idx="1"/>
          </p:nvPr>
        </p:nvSpPr>
        <p:spPr/>
        <p:txBody>
          <a:bodyPr/>
          <a:lstStyle/>
          <a:p>
            <a:r>
              <a:rPr lang="pt-BR" dirty="0"/>
              <a:t>DT: Decision </a:t>
            </a:r>
            <a:r>
              <a:rPr lang="pt-BR" dirty="0" err="1"/>
              <a:t>Trees</a:t>
            </a:r>
            <a:endParaRPr lang="pt-BR" dirty="0"/>
          </a:p>
          <a:p>
            <a:r>
              <a:rPr lang="pt-BR" dirty="0"/>
              <a:t>RF: Random </a:t>
            </a:r>
            <a:r>
              <a:rPr lang="pt-BR" dirty="0" err="1"/>
              <a:t>Forests</a:t>
            </a:r>
            <a:br>
              <a:rPr lang="pt-BR" dirty="0"/>
            </a:br>
            <a:endParaRPr lang="pt-BR" dirty="0"/>
          </a:p>
          <a:p>
            <a:r>
              <a:rPr lang="pt-BR" dirty="0"/>
              <a:t>Por algumas categorias compartilharem bits, modelos lineares podem achar que existe uma relação matemática entre essas categorias.</a:t>
            </a:r>
          </a:p>
          <a:p>
            <a:endParaRPr lang="pt-BR" dirty="0"/>
          </a:p>
          <a:p>
            <a:r>
              <a:rPr lang="pt-BR" dirty="0"/>
              <a:t>O </a:t>
            </a:r>
            <a:r>
              <a:rPr lang="pt-BR" b="1" dirty="0" err="1"/>
              <a:t>Binary</a:t>
            </a:r>
            <a:r>
              <a:rPr lang="pt-BR" b="1" dirty="0"/>
              <a:t> </a:t>
            </a:r>
            <a:r>
              <a:rPr lang="pt-BR" b="1" dirty="0" err="1"/>
              <a:t>Encoding</a:t>
            </a:r>
            <a:r>
              <a:rPr lang="pt-BR" dirty="0"/>
              <a:t> é uma solução intermediária brilhante. Ele resolve o problema da "explosão de colunas" do </a:t>
            </a:r>
            <a:r>
              <a:rPr lang="pt-BR" dirty="0" err="1"/>
              <a:t>One</a:t>
            </a:r>
            <a:r>
              <a:rPr lang="pt-BR" dirty="0"/>
              <a:t>-Hot </a:t>
            </a:r>
            <a:r>
              <a:rPr lang="pt-BR" dirty="0" err="1"/>
              <a:t>Encoding</a:t>
            </a:r>
            <a:r>
              <a:rPr lang="pt-BR" dirty="0"/>
              <a:t> sem criar uma hierarquia falsa como o </a:t>
            </a:r>
            <a:r>
              <a:rPr lang="pt-BR" dirty="0" err="1"/>
              <a:t>Label</a:t>
            </a:r>
            <a:r>
              <a:rPr lang="pt-BR" dirty="0"/>
              <a:t> </a:t>
            </a:r>
            <a:r>
              <a:rPr lang="pt-BR" dirty="0" err="1"/>
              <a:t>Encoding</a:t>
            </a:r>
            <a:r>
              <a:rPr lang="pt-BR" dirty="0"/>
              <a:t>. É como se fosse um "meio-termo" inteligente para </a:t>
            </a:r>
            <a:r>
              <a:rPr lang="pt-BR" dirty="0" err="1"/>
              <a:t>datasets</a:t>
            </a:r>
            <a:r>
              <a:rPr lang="pt-BR" dirty="0"/>
              <a:t> com muitas categorias.</a:t>
            </a:r>
          </a:p>
          <a:p>
            <a:endParaRPr lang="pt-BR" sz="1200" b="0" i="0" kern="1200" dirty="0">
              <a:solidFill>
                <a:schemeClr val="tx1"/>
              </a:solidFill>
              <a:effectLst/>
              <a:latin typeface="+mn-lt"/>
              <a:ea typeface="+mn-ea"/>
              <a:cs typeface="+mn-cs"/>
            </a:endParaRPr>
          </a:p>
          <a:p>
            <a:r>
              <a:rPr lang="pt-BR" dirty="0"/>
              <a:t>Para regressões simples o modelo pode achar que existe uma relação matemática entre categorias que compartilham o mesmo bit."</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BEA7BB1-A2E9-8F2F-66E3-17600B04B681}"/>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795775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jpe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IQR</m:t>
                              </m:r>
                            </m:lim>
                          </m:limLow>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de um atributo.</a:t>
                </a:r>
              </a:p>
              <a:p>
                <a:r>
                  <a:rPr lang="pt-BR" b="1" dirty="0"/>
                  <a:t>Vantagem</a:t>
                </a:r>
                <a:r>
                  <a:rPr lang="pt-BR" dirty="0"/>
                  <a:t>: Por utilizar a mediana e o </a:t>
                </a:r>
                <a14:m>
                  <m:oMath xmlns:m="http://schemas.openxmlformats.org/officeDocument/2006/math">
                    <m:r>
                      <m:rPr>
                        <m:sty m:val="p"/>
                      </m:rPr>
                      <a:rPr lang="pt-BR">
                        <a:latin typeface="Cambria Math" panose="02040503050406030204" pitchFamily="18" charset="0"/>
                      </a:rPr>
                      <m:t>IQR</m:t>
                    </m:r>
                  </m:oMath>
                </a14:m>
                <a:r>
                  <a:rPr lang="pt-BR" dirty="0"/>
                  <a:t> em vez da média e do desvio padrão, os </a:t>
                </a:r>
                <a:r>
                  <a:rPr lang="pt-BR" i="1" dirty="0"/>
                  <a:t>outliers</a:t>
                </a:r>
                <a:r>
                  <a:rPr lang="pt-BR" dirty="0"/>
                  <a:t> têm influência mínima nos dados escalonados.</a:t>
                </a:r>
              </a:p>
              <a:p>
                <a:pPr lvl="1">
                  <a:buFont typeface="Wingdings" panose="05000000000000000000" pitchFamily="2" charset="2"/>
                  <a:buChar char="§"/>
                </a:pPr>
                <a:r>
                  <a:rPr lang="pt-BR" dirty="0"/>
                  <a:t>Mantém a relação de distância entre os valores não-discrepantes melhor que a padronização quando existem </a:t>
                </a:r>
                <a:r>
                  <a:rPr lang="pt-BR" i="1" dirty="0"/>
                  <a:t>outliers</a:t>
                </a:r>
                <a:r>
                  <a:rPr lang="pt-BR" dirty="0"/>
                  <a:t> extremos.</a:t>
                </a:r>
              </a:p>
              <a:p>
                <a:pPr lvl="1">
                  <a:buFont typeface="Wingdings" panose="05000000000000000000" pitchFamily="2" charset="2"/>
                  <a:buChar char="§"/>
                </a:pPr>
                <a:r>
                  <a:rPr lang="pt-BR" dirty="0"/>
                  <a:t>Ou seja, não deixa que </a:t>
                </a:r>
                <a:r>
                  <a:rPr lang="pt-BR" i="1" dirty="0"/>
                  <a:t>outliers</a:t>
                </a:r>
                <a:r>
                  <a:rPr lang="pt-BR" dirty="0"/>
                  <a:t> extremos esmaguem os valores não-discrepantes em valores próximos de 0.</a:t>
                </a:r>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r="-751" b="-1816"/>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9AD0-32FE-7BB6-65F1-4C9F82FC9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EB2E1-2720-CBAD-00A2-4211C0FA6998}"/>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3FFCF40E-198B-DB74-AFFD-EA10FEF889B4}"/>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Quando há </a:t>
            </a:r>
            <a:r>
              <a:rPr lang="pt-BR" i="1" dirty="0"/>
              <a:t>outliers</a:t>
            </a:r>
            <a:r>
              <a:rPr lang="pt-BR" dirty="0"/>
              <a:t> significativos, mas desejamos mantê-los sem impactar o escalonamento. </a:t>
            </a:r>
          </a:p>
          <a:p>
            <a:pPr lvl="1">
              <a:buFont typeface="Wingdings" panose="05000000000000000000" pitchFamily="2" charset="2"/>
              <a:buChar char="§"/>
            </a:pPr>
            <a:r>
              <a:rPr lang="pt-BR" dirty="0"/>
              <a:t>Quando as distribuições são assimétricas ou com caudas longas.</a:t>
            </a:r>
          </a:p>
          <a:p>
            <a:r>
              <a:rPr lang="pt-BR" b="1" dirty="0"/>
              <a:t>Cuidado: </a:t>
            </a:r>
          </a:p>
          <a:p>
            <a:pPr lvl="1">
              <a:buFont typeface="Wingdings" panose="05000000000000000000" pitchFamily="2" charset="2"/>
              <a:buChar char="§"/>
            </a:pPr>
            <a:r>
              <a:rPr lang="pt-BR" dirty="0"/>
              <a:t>Como não remove os </a:t>
            </a:r>
            <a:r>
              <a:rPr lang="pt-BR" i="1" dirty="0"/>
              <a:t>outliers</a:t>
            </a:r>
            <a:r>
              <a:rPr lang="pt-BR" dirty="0"/>
              <a:t>, algoritmos sensíveis à distância (e.g., KNN, </a:t>
            </a:r>
            <a:r>
              <a:rPr lang="pt-BR" dirty="0" err="1"/>
              <a:t>Regressores</a:t>
            </a:r>
            <a:r>
              <a:rPr lang="pt-BR" dirty="0"/>
              <a:t>) podem ter seu aprendizado impactado.</a:t>
            </a:r>
          </a:p>
          <a:p>
            <a:pPr lvl="1">
              <a:buFont typeface="Wingdings" panose="05000000000000000000" pitchFamily="2" charset="2"/>
              <a:buChar char="§"/>
            </a:pPr>
            <a:r>
              <a:rPr lang="pt-BR" dirty="0"/>
              <a:t>A escala dos dados não discrepantes é mantida, mas ele não esconde os </a:t>
            </a:r>
            <a:r>
              <a:rPr lang="pt-BR" i="1" dirty="0"/>
              <a:t>outliers</a:t>
            </a:r>
            <a:r>
              <a:rPr lang="pt-BR" dirty="0"/>
              <a:t>.</a:t>
            </a:r>
          </a:p>
        </p:txBody>
      </p:sp>
    </p:spTree>
    <p:extLst>
      <p:ext uri="{BB962C8B-B14F-4D97-AF65-F5344CB8AC3E}">
        <p14:creationId xmlns:p14="http://schemas.microsoft.com/office/powerpoint/2010/main" val="990042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r>
              <a:rPr lang="pt-BR" dirty="0"/>
              <a:t>Armadilhas comuns durante o escalonamento</a:t>
            </a:r>
            <a:endParaRPr lang="en-US" dirty="0"/>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a:xfrm>
            <a:off x="838199" y="1825624"/>
            <a:ext cx="11081657" cy="5032375"/>
          </a:xfrm>
        </p:spPr>
        <p:txBody>
          <a:bodyPr>
            <a:normAutofit/>
          </a:bodyPr>
          <a:lstStyle/>
          <a:p>
            <a:r>
              <a:rPr lang="pt-BR" dirty="0"/>
              <a:t>Para evitar vazamento de dados, o escalonador deve sempre ser ajustado no conjunto de treinamento.</a:t>
            </a:r>
          </a:p>
          <a:p>
            <a:r>
              <a:rPr lang="pt-BR" dirty="0"/>
              <a:t>Os conjuntos de validação e teste, são transformados com os valores encontrados com o conjunto e treinamento.</a:t>
            </a:r>
          </a:p>
          <a:p>
            <a:r>
              <a:rPr lang="pt-BR" dirty="0"/>
              <a:t>Geralmente, não se aplica escalonamento à variável algo, i.e., os rótulos, apenas aos atributos.</a:t>
            </a:r>
          </a:p>
          <a:p>
            <a:r>
              <a:rPr lang="pt-BR" dirty="0"/>
              <a:t>Não se deve escalonar atributos binários ou </a:t>
            </a:r>
            <a:r>
              <a:rPr lang="pt-BR" i="1" dirty="0" err="1"/>
              <a:t>one</a:t>
            </a:r>
            <a:r>
              <a:rPr lang="pt-BR" i="1" dirty="0"/>
              <a:t>-hot</a:t>
            </a:r>
            <a:r>
              <a:rPr lang="pt-BR" dirty="0"/>
              <a:t> sem necessidade, pois pode-se criar valores fracionários desnecessários.</a:t>
            </a:r>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DCA9-22E3-E7D2-4335-66012FBB163E}"/>
              </a:ext>
            </a:extLst>
          </p:cNvPr>
          <p:cNvSpPr>
            <a:spLocks noGrp="1"/>
          </p:cNvSpPr>
          <p:nvPr>
            <p:ph type="title"/>
          </p:nvPr>
        </p:nvSpPr>
        <p:spPr/>
        <p:txBody>
          <a:bodyPr/>
          <a:lstStyle/>
          <a:p>
            <a:r>
              <a:rPr lang="en-US" dirty="0" err="1"/>
              <a:t>Codificação</a:t>
            </a:r>
            <a:r>
              <a:rPr lang="en-US" dirty="0"/>
              <a:t> de </a:t>
            </a:r>
            <a:r>
              <a:rPr lang="en-US" dirty="0" err="1"/>
              <a:t>atributos</a:t>
            </a:r>
            <a:r>
              <a:rPr lang="en-US" dirty="0"/>
              <a:t> </a:t>
            </a:r>
            <a:r>
              <a:rPr lang="en-US" dirty="0" err="1"/>
              <a:t>categóricos</a:t>
            </a:r>
            <a:endParaRPr lang="en-US" dirty="0"/>
          </a:p>
        </p:txBody>
      </p:sp>
      <p:sp>
        <p:nvSpPr>
          <p:cNvPr id="3" name="Content Placeholder 2">
            <a:extLst>
              <a:ext uri="{FF2B5EF4-FFF2-40B4-BE49-F238E27FC236}">
                <a16:creationId xmlns:a16="http://schemas.microsoft.com/office/drawing/2014/main" id="{A6E35704-3008-E5B2-8105-C96099FC4FDB}"/>
              </a:ext>
            </a:extLst>
          </p:cNvPr>
          <p:cNvSpPr>
            <a:spLocks noGrp="1"/>
          </p:cNvSpPr>
          <p:nvPr>
            <p:ph idx="1"/>
          </p:nvPr>
        </p:nvSpPr>
        <p:spPr>
          <a:xfrm>
            <a:off x="838199" y="1825624"/>
            <a:ext cx="11125201" cy="5032375"/>
          </a:xfrm>
        </p:spPr>
        <p:txBody>
          <a:bodyPr>
            <a:normAutofit/>
          </a:bodyPr>
          <a:lstStyle/>
          <a:p>
            <a:r>
              <a:rPr lang="pt-BR" b="1" dirty="0"/>
              <a:t>Motivação</a:t>
            </a:r>
            <a:r>
              <a:rPr lang="pt-BR" dirty="0"/>
              <a:t>: Modelos matemáticos não entendem texto, portanto, precisamos converter categorias em números.</a:t>
            </a:r>
          </a:p>
          <a:p>
            <a:r>
              <a:rPr lang="en-US" dirty="0"/>
              <a:t>As </a:t>
            </a:r>
            <a:r>
              <a:rPr lang="en-US" dirty="0" err="1"/>
              <a:t>principais</a:t>
            </a:r>
            <a:r>
              <a:rPr lang="en-US" dirty="0"/>
              <a:t> </a:t>
            </a:r>
            <a:r>
              <a:rPr lang="en-US" dirty="0" err="1"/>
              <a:t>técnicas</a:t>
            </a:r>
            <a:r>
              <a:rPr lang="en-US" dirty="0"/>
              <a:t> de </a:t>
            </a:r>
            <a:r>
              <a:rPr lang="en-US" dirty="0" err="1"/>
              <a:t>codificação</a:t>
            </a:r>
            <a:r>
              <a:rPr lang="en-US" dirty="0"/>
              <a:t> </a:t>
            </a:r>
            <a:r>
              <a:rPr lang="en-US" dirty="0" err="1"/>
              <a:t>são</a:t>
            </a:r>
            <a:r>
              <a:rPr lang="en-US" dirty="0"/>
              <a:t>:</a:t>
            </a:r>
            <a:endParaRPr lang="pt-BR" dirty="0"/>
          </a:p>
          <a:p>
            <a:pPr lvl="1">
              <a:buFont typeface="Wingdings" panose="05000000000000000000" pitchFamily="2" charset="2"/>
              <a:buChar char="§"/>
            </a:pPr>
            <a:r>
              <a:rPr lang="en-US" dirty="0"/>
              <a:t>One-Hot encoding</a:t>
            </a:r>
          </a:p>
          <a:p>
            <a:pPr lvl="1">
              <a:buFont typeface="Wingdings" panose="05000000000000000000" pitchFamily="2" charset="2"/>
              <a:buChar char="§"/>
            </a:pPr>
            <a:r>
              <a:rPr lang="en-US" dirty="0"/>
              <a:t>Label encoding</a:t>
            </a:r>
          </a:p>
          <a:p>
            <a:pPr lvl="1">
              <a:buFont typeface="Wingdings" panose="05000000000000000000" pitchFamily="2" charset="2"/>
              <a:buChar char="§"/>
            </a:pPr>
            <a:r>
              <a:rPr lang="en-US" dirty="0"/>
              <a:t>Target encoding</a:t>
            </a:r>
          </a:p>
          <a:p>
            <a:pPr lvl="1">
              <a:buFont typeface="Wingdings" panose="05000000000000000000" pitchFamily="2" charset="2"/>
              <a:buChar char="§"/>
            </a:pPr>
            <a:r>
              <a:rPr lang="en-US"/>
              <a:t>Binary </a:t>
            </a:r>
            <a:r>
              <a:rPr lang="en-US" dirty="0"/>
              <a:t>e</a:t>
            </a:r>
            <a:r>
              <a:rPr lang="en-US"/>
              <a:t>ncoding</a:t>
            </a:r>
            <a:endParaRPr lang="pt-BR" dirty="0"/>
          </a:p>
          <a:p>
            <a:r>
              <a:rPr lang="pt-BR" b="1" dirty="0"/>
              <a:t>OBS</a:t>
            </a:r>
            <a:r>
              <a:rPr lang="pt-BR" dirty="0"/>
              <a:t>.: A codificação pode ser considerada uma forma de engenharia de atributos.</a:t>
            </a:r>
            <a:endParaRPr lang="en-US" dirty="0"/>
          </a:p>
        </p:txBody>
      </p:sp>
    </p:spTree>
    <p:extLst>
      <p:ext uri="{BB962C8B-B14F-4D97-AF65-F5344CB8AC3E}">
        <p14:creationId xmlns:p14="http://schemas.microsoft.com/office/powerpoint/2010/main" val="3687315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89AB-09B4-AB30-AAD4-587A6426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514B5-016A-AF18-EA86-F01A6813676C}"/>
              </a:ext>
            </a:extLst>
          </p:cNvPr>
          <p:cNvSpPr>
            <a:spLocks noGrp="1"/>
          </p:cNvSpPr>
          <p:nvPr>
            <p:ph type="title"/>
          </p:nvPr>
        </p:nvSpPr>
        <p:spPr/>
        <p:txBody>
          <a:bodyPr/>
          <a:lstStyle/>
          <a:p>
            <a:r>
              <a:rPr lang="en-US" i="1" dirty="0"/>
              <a:t>One-Hot encoding</a:t>
            </a:r>
          </a:p>
        </p:txBody>
      </p:sp>
      <p:sp>
        <p:nvSpPr>
          <p:cNvPr id="3" name="Content Placeholder 2">
            <a:extLst>
              <a:ext uri="{FF2B5EF4-FFF2-40B4-BE49-F238E27FC236}">
                <a16:creationId xmlns:a16="http://schemas.microsoft.com/office/drawing/2014/main" id="{44B52C18-6F1E-8230-5D96-63D8A5144D41}"/>
              </a:ext>
            </a:extLst>
          </p:cNvPr>
          <p:cNvSpPr>
            <a:spLocks noGrp="1"/>
          </p:cNvSpPr>
          <p:nvPr>
            <p:ph idx="1"/>
          </p:nvPr>
        </p:nvSpPr>
        <p:spPr>
          <a:xfrm>
            <a:off x="5791200" y="1825624"/>
            <a:ext cx="6172199" cy="5032375"/>
          </a:xfrm>
        </p:spPr>
        <p:txBody>
          <a:bodyPr>
            <a:normAutofit/>
          </a:bodyPr>
          <a:lstStyle/>
          <a:p>
            <a:r>
              <a:rPr lang="pt-BR" dirty="0"/>
              <a:t>Usada com atributos nominais (i.e., sem ordem) e com baixa cardinalidade (i.e., com poucas categorias distintas). </a:t>
            </a:r>
          </a:p>
          <a:p>
            <a:r>
              <a:rPr lang="pt-BR" b="1" dirty="0"/>
              <a:t>Como funciona:</a:t>
            </a:r>
            <a:r>
              <a:rPr lang="pt-BR" dirty="0"/>
              <a:t> Cria uma nova coluna binária para cada categoria distinta.</a:t>
            </a:r>
          </a:p>
          <a:p>
            <a:r>
              <a:rPr lang="pt-BR" b="1" dirty="0"/>
              <a:t>Limitação:</a:t>
            </a:r>
            <a:r>
              <a:rPr lang="pt-BR" dirty="0"/>
              <a:t> Gera alta dimensionalidade (i.e., muitas colunas) se houver muitas categorias, aumentando o custo computacional.</a:t>
            </a:r>
          </a:p>
          <a:p>
            <a:pPr lvl="1">
              <a:buFont typeface="Wingdings" panose="05000000000000000000" pitchFamily="2" charset="2"/>
              <a:buChar char="§"/>
            </a:pPr>
            <a:r>
              <a:rPr lang="pt-BR" dirty="0"/>
              <a:t>Pode criar o problema conhecido como a “maldição da dimensionalidade”.</a:t>
            </a:r>
          </a:p>
        </p:txBody>
      </p:sp>
      <p:pic>
        <p:nvPicPr>
          <p:cNvPr id="2051" name="Picture 3" descr="One-Hot Encoding: A Comprehensive Guide with Python Implementation | by  Shubham Sangole | GoPenAI">
            <a:extLst>
              <a:ext uri="{FF2B5EF4-FFF2-40B4-BE49-F238E27FC236}">
                <a16:creationId xmlns:a16="http://schemas.microsoft.com/office/drawing/2014/main" id="{04411FF2-E0FD-9D33-63B9-86F2888D8A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237" t="8519" r="2382" b="57788"/>
          <a:stretch>
            <a:fillRect/>
          </a:stretch>
        </p:blipFill>
        <p:spPr bwMode="auto">
          <a:xfrm>
            <a:off x="381001" y="2846613"/>
            <a:ext cx="5072743" cy="2166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C30-8D7C-8A1B-D798-06ED56DFC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49E73-5A60-3934-DCFD-CA42C618F8F5}"/>
              </a:ext>
            </a:extLst>
          </p:cNvPr>
          <p:cNvSpPr>
            <a:spLocks noGrp="1"/>
          </p:cNvSpPr>
          <p:nvPr>
            <p:ph type="title"/>
          </p:nvPr>
        </p:nvSpPr>
        <p:spPr/>
        <p:txBody>
          <a:bodyPr/>
          <a:lstStyle/>
          <a:p>
            <a:r>
              <a:rPr lang="en-US" i="1" dirty="0"/>
              <a:t>Label encoding</a:t>
            </a:r>
          </a:p>
        </p:txBody>
      </p:sp>
      <p:sp>
        <p:nvSpPr>
          <p:cNvPr id="3" name="Content Placeholder 2">
            <a:extLst>
              <a:ext uri="{FF2B5EF4-FFF2-40B4-BE49-F238E27FC236}">
                <a16:creationId xmlns:a16="http://schemas.microsoft.com/office/drawing/2014/main" id="{0418BA66-6028-330D-1D57-30D6366EC343}"/>
              </a:ext>
            </a:extLst>
          </p:cNvPr>
          <p:cNvSpPr>
            <a:spLocks noGrp="1"/>
          </p:cNvSpPr>
          <p:nvPr>
            <p:ph idx="1"/>
          </p:nvPr>
        </p:nvSpPr>
        <p:spPr>
          <a:xfrm>
            <a:off x="5138058" y="1825624"/>
            <a:ext cx="6945086" cy="5032375"/>
          </a:xfrm>
        </p:spPr>
        <p:txBody>
          <a:bodyPr>
            <a:normAutofit lnSpcReduction="10000"/>
          </a:bodyPr>
          <a:lstStyle/>
          <a:p>
            <a:r>
              <a:rPr lang="pt-BR" dirty="0"/>
              <a:t>Converte cada categoria em um número inteiro único, mas sem considerar uma ordem. </a:t>
            </a:r>
          </a:p>
          <a:p>
            <a:r>
              <a:rPr lang="pt-BR" b="1" dirty="0"/>
              <a:t>Uso:</a:t>
            </a:r>
            <a:r>
              <a:rPr lang="pt-BR" dirty="0"/>
              <a:t> Indicada principalmente para a codificação do rótulo em problemas de classificação.</a:t>
            </a:r>
          </a:p>
          <a:p>
            <a:r>
              <a:rPr lang="pt-BR" b="1" dirty="0"/>
              <a:t>Risco:</a:t>
            </a:r>
            <a:r>
              <a:rPr lang="pt-BR" dirty="0"/>
              <a:t> Pode introduzir uma relação de ordem falsa que afeta negativamente algoritmos sensíveis a distâncias ou magnitudes (e.g., </a:t>
            </a:r>
            <a:r>
              <a:rPr lang="pt-BR" dirty="0" err="1"/>
              <a:t>regressores</a:t>
            </a:r>
            <a:r>
              <a:rPr lang="pt-BR" dirty="0"/>
              <a:t> linear e logístico e KNN).</a:t>
            </a:r>
          </a:p>
          <a:p>
            <a:pPr lvl="1">
              <a:buFont typeface="Wingdings" panose="05000000000000000000" pitchFamily="2" charset="2"/>
              <a:buChar char="§"/>
            </a:pPr>
            <a:r>
              <a:rPr lang="pt-BR" dirty="0"/>
              <a:t>Para tamanho de camisetas (P, M, G), faz sentido (ordinal).</a:t>
            </a:r>
          </a:p>
          <a:p>
            <a:pPr lvl="1">
              <a:buFont typeface="Wingdings" panose="05000000000000000000" pitchFamily="2" charset="2"/>
              <a:buChar char="§"/>
            </a:pPr>
            <a:r>
              <a:rPr lang="pt-BR" dirty="0"/>
              <a:t>Para animais e cores, não (nominal).</a:t>
            </a:r>
          </a:p>
        </p:txBody>
      </p:sp>
      <p:pic>
        <p:nvPicPr>
          <p:cNvPr id="8" name="Picture 7">
            <a:extLst>
              <a:ext uri="{FF2B5EF4-FFF2-40B4-BE49-F238E27FC236}">
                <a16:creationId xmlns:a16="http://schemas.microsoft.com/office/drawing/2014/main" id="{7529D32B-8978-31FB-62B1-9E8E3D400419}"/>
              </a:ext>
            </a:extLst>
          </p:cNvPr>
          <p:cNvPicPr>
            <a:picLocks noChangeAspect="1"/>
          </p:cNvPicPr>
          <p:nvPr/>
        </p:nvPicPr>
        <p:blipFill>
          <a:blip r:embed="rId3">
            <a:extLst>
              <a:ext uri="{28A0092B-C50C-407E-A947-70E740481C1C}">
                <a14:useLocalDpi xmlns:a14="http://schemas.microsoft.com/office/drawing/2010/main" val="0"/>
              </a:ext>
            </a:extLst>
          </a:blip>
          <a:srcRect l="4261" t="7152" r="5331" b="8009"/>
          <a:stretch>
            <a:fillRect/>
          </a:stretch>
        </p:blipFill>
        <p:spPr>
          <a:xfrm>
            <a:off x="250371" y="2895600"/>
            <a:ext cx="4616969" cy="2166256"/>
          </a:xfrm>
          <a:prstGeom prst="rect">
            <a:avLst/>
          </a:prstGeom>
        </p:spPr>
      </p:pic>
    </p:spTree>
    <p:extLst>
      <p:ext uri="{BB962C8B-B14F-4D97-AF65-F5344CB8AC3E}">
        <p14:creationId xmlns:p14="http://schemas.microsoft.com/office/powerpoint/2010/main" val="9110565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83D4-BDD8-E7FF-C7AE-3D255B871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7E13F8-6196-AD06-DE47-12B16A60FC57}"/>
              </a:ext>
            </a:extLst>
          </p:cNvPr>
          <p:cNvSpPr>
            <a:spLocks noGrp="1"/>
          </p:cNvSpPr>
          <p:nvPr>
            <p:ph type="title"/>
          </p:nvPr>
        </p:nvSpPr>
        <p:spPr/>
        <p:txBody>
          <a:bodyPr/>
          <a:lstStyle/>
          <a:p>
            <a:r>
              <a:rPr lang="en-US" i="1" dirty="0"/>
              <a:t>Target encoding</a:t>
            </a:r>
          </a:p>
        </p:txBody>
      </p:sp>
      <p:sp>
        <p:nvSpPr>
          <p:cNvPr id="3" name="Content Placeholder 2">
            <a:extLst>
              <a:ext uri="{FF2B5EF4-FFF2-40B4-BE49-F238E27FC236}">
                <a16:creationId xmlns:a16="http://schemas.microsoft.com/office/drawing/2014/main" id="{3933F122-99CE-8A1C-8288-BA542054EAA8}"/>
              </a:ext>
            </a:extLst>
          </p:cNvPr>
          <p:cNvSpPr>
            <a:spLocks noGrp="1"/>
          </p:cNvSpPr>
          <p:nvPr>
            <p:ph idx="1"/>
          </p:nvPr>
        </p:nvSpPr>
        <p:spPr>
          <a:xfrm>
            <a:off x="5399314" y="1825624"/>
            <a:ext cx="6640286" cy="5032375"/>
          </a:xfrm>
        </p:spPr>
        <p:txBody>
          <a:bodyPr>
            <a:normAutofit lnSpcReduction="10000"/>
          </a:bodyPr>
          <a:lstStyle/>
          <a:p>
            <a:r>
              <a:rPr lang="pt-BR" dirty="0"/>
              <a:t>Substitui cada categoria pela média do valor do alvo correspondente a essa categoria.</a:t>
            </a:r>
          </a:p>
          <a:p>
            <a:r>
              <a:rPr lang="pt-BR" b="1" dirty="0"/>
              <a:t>Quando usar:</a:t>
            </a:r>
            <a:r>
              <a:rPr lang="pt-BR" dirty="0"/>
              <a:t> Ideal para variáveis de alta cardinalidade, pois não aumenta a dimensionalidade do conjunto de dados e quando há relação entre a categoria e o </a:t>
            </a:r>
            <a:r>
              <a:rPr lang="pt-BR" i="1" dirty="0"/>
              <a:t>target</a:t>
            </a:r>
            <a:r>
              <a:rPr lang="pt-BR" dirty="0"/>
              <a:t>.</a:t>
            </a:r>
          </a:p>
          <a:p>
            <a:r>
              <a:rPr lang="pt-BR" b="1" dirty="0"/>
              <a:t>Risco:</a:t>
            </a:r>
            <a:r>
              <a:rPr lang="pt-BR" dirty="0"/>
              <a:t> </a:t>
            </a:r>
            <a:r>
              <a:rPr lang="pt-BR" i="1" dirty="0" err="1"/>
              <a:t>Overfitting</a:t>
            </a:r>
            <a:r>
              <a:rPr lang="pt-BR" dirty="0"/>
              <a:t> quando uma categoria tem poucos exemplos.</a:t>
            </a:r>
          </a:p>
          <a:p>
            <a:pPr lvl="1">
              <a:buFont typeface="Wingdings" panose="05000000000000000000" pitchFamily="2" charset="2"/>
              <a:buChar char="§"/>
            </a:pPr>
            <a:r>
              <a:rPr lang="pt-BR" dirty="0"/>
              <a:t>A média do </a:t>
            </a:r>
            <a:r>
              <a:rPr lang="pt-BR" i="1" dirty="0"/>
              <a:t>target</a:t>
            </a:r>
            <a:r>
              <a:rPr lang="pt-BR" dirty="0"/>
              <a:t> pode refletir mais ruído do que padrão real dos dados, prejudicando a generalização.</a:t>
            </a:r>
          </a:p>
        </p:txBody>
      </p:sp>
      <p:pic>
        <p:nvPicPr>
          <p:cNvPr id="2050" name="Picture 2" descr="Data Transformation: one-hot vs target encoding">
            <a:extLst>
              <a:ext uri="{FF2B5EF4-FFF2-40B4-BE49-F238E27FC236}">
                <a16:creationId xmlns:a16="http://schemas.microsoft.com/office/drawing/2014/main" id="{7BB7010D-52CF-95E3-7867-6467D4626A4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39" t="23968" r="4286" b="15079"/>
          <a:stretch>
            <a:fillRect/>
          </a:stretch>
        </p:blipFill>
        <p:spPr bwMode="auto">
          <a:xfrm>
            <a:off x="228600" y="3023466"/>
            <a:ext cx="4789715" cy="1766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539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DD75A-3D20-1CFF-0CAC-A5CB15BA9A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F2449-F38A-4DF6-443B-1B77E3F39668}"/>
              </a:ext>
            </a:extLst>
          </p:cNvPr>
          <p:cNvSpPr>
            <a:spLocks noGrp="1"/>
          </p:cNvSpPr>
          <p:nvPr>
            <p:ph type="title"/>
          </p:nvPr>
        </p:nvSpPr>
        <p:spPr/>
        <p:txBody>
          <a:bodyPr/>
          <a:lstStyle/>
          <a:p>
            <a:r>
              <a:rPr lang="en-US" i="1" dirty="0"/>
              <a:t>Binary encoding</a:t>
            </a:r>
          </a:p>
        </p:txBody>
      </p:sp>
      <p:sp>
        <p:nvSpPr>
          <p:cNvPr id="3" name="Content Placeholder 2">
            <a:extLst>
              <a:ext uri="{FF2B5EF4-FFF2-40B4-BE49-F238E27FC236}">
                <a16:creationId xmlns:a16="http://schemas.microsoft.com/office/drawing/2014/main" id="{14A68C86-94AE-24AE-A0EF-6A9D083052C7}"/>
              </a:ext>
            </a:extLst>
          </p:cNvPr>
          <p:cNvSpPr>
            <a:spLocks noGrp="1"/>
          </p:cNvSpPr>
          <p:nvPr>
            <p:ph idx="1"/>
          </p:nvPr>
        </p:nvSpPr>
        <p:spPr>
          <a:xfrm>
            <a:off x="5321642" y="1825625"/>
            <a:ext cx="6750615" cy="5032375"/>
          </a:xfrm>
        </p:spPr>
        <p:txBody>
          <a:bodyPr>
            <a:normAutofit lnSpcReduction="10000"/>
          </a:bodyPr>
          <a:lstStyle/>
          <a:p>
            <a:r>
              <a:rPr lang="pt-BR" dirty="0"/>
              <a:t>Combina os benefícios das codificações </a:t>
            </a:r>
            <a:r>
              <a:rPr lang="pt-BR" i="1" dirty="0" err="1"/>
              <a:t>One</a:t>
            </a:r>
            <a:r>
              <a:rPr lang="pt-BR" i="1" dirty="0"/>
              <a:t>-Hot</a:t>
            </a:r>
            <a:r>
              <a:rPr lang="pt-BR" dirty="0"/>
              <a:t> e </a:t>
            </a:r>
            <a:r>
              <a:rPr lang="pt-BR" i="1" dirty="0" err="1"/>
              <a:t>Label</a:t>
            </a:r>
            <a:r>
              <a:rPr lang="pt-BR" dirty="0"/>
              <a:t>. </a:t>
            </a:r>
          </a:p>
          <a:p>
            <a:r>
              <a:rPr lang="pt-BR" dirty="0"/>
              <a:t>Cada categoria recebe um número inteiro (</a:t>
            </a:r>
            <a:r>
              <a:rPr lang="pt-BR" i="1" dirty="0" err="1"/>
              <a:t>Label</a:t>
            </a:r>
            <a:r>
              <a:rPr lang="pt-BR" dirty="0"/>
              <a:t>), e depois esse número é convertido </a:t>
            </a:r>
            <a:r>
              <a:rPr lang="en-US" dirty="0"/>
              <a:t>para </a:t>
            </a:r>
            <a:r>
              <a:rPr lang="en-US" dirty="0" err="1"/>
              <a:t>sua</a:t>
            </a:r>
            <a:r>
              <a:rPr lang="en-US" dirty="0"/>
              <a:t> </a:t>
            </a:r>
            <a:r>
              <a:rPr lang="en-US" dirty="0" err="1"/>
              <a:t>representação</a:t>
            </a:r>
            <a:r>
              <a:rPr lang="en-US" dirty="0"/>
              <a:t> </a:t>
            </a:r>
            <a:r>
              <a:rPr lang="en-US" dirty="0" err="1"/>
              <a:t>binária</a:t>
            </a:r>
            <a:r>
              <a:rPr lang="pt-BR" dirty="0"/>
              <a:t>, criando colunas para cada bit.</a:t>
            </a:r>
          </a:p>
          <a:p>
            <a:r>
              <a:rPr lang="pt-BR" b="1" dirty="0"/>
              <a:t>Quando usar:</a:t>
            </a:r>
            <a:r>
              <a:rPr lang="pt-BR" dirty="0"/>
              <a:t> Ótimo para variáveis categóricas de alta cardinalidade.</a:t>
            </a:r>
          </a:p>
          <a:p>
            <a:r>
              <a:rPr lang="pt-BR" b="1" dirty="0"/>
              <a:t>Desvantagem</a:t>
            </a:r>
            <a:r>
              <a:rPr lang="pt-BR" dirty="0"/>
              <a:t>: Por algumas categorias compartilharem bits, modelos lineares podem achar que existe uma relação matemática entre elas. Modelos de árvore (e.g., DT, RF) lidam bem com isso.</a:t>
            </a:r>
          </a:p>
        </p:txBody>
      </p:sp>
      <p:pic>
        <p:nvPicPr>
          <p:cNvPr id="3074" name="Picture 2" descr="7 Must-know Techniques For Encoding Categorical Feature">
            <a:extLst>
              <a:ext uri="{FF2B5EF4-FFF2-40B4-BE49-F238E27FC236}">
                <a16:creationId xmlns:a16="http://schemas.microsoft.com/office/drawing/2014/main" id="{7AEBA2C1-6D35-7636-7CD6-AC297809D19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1" t="10457" r="5625" b="19838"/>
          <a:stretch>
            <a:fillRect/>
          </a:stretch>
        </p:blipFill>
        <p:spPr bwMode="auto">
          <a:xfrm>
            <a:off x="283028" y="3177218"/>
            <a:ext cx="4833257" cy="17757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825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E6AEB-4BFC-EF3A-CCC7-C66FB3B5B1FB}"/>
              </a:ext>
            </a:extLst>
          </p:cNvPr>
          <p:cNvSpPr>
            <a:spLocks noGrp="1"/>
          </p:cNvSpPr>
          <p:nvPr>
            <p:ph type="title"/>
          </p:nvPr>
        </p:nvSpPr>
        <p:spPr/>
        <p:txBody>
          <a:bodyPr/>
          <a:lstStyle/>
          <a:p>
            <a:r>
              <a:rPr lang="pt-BR" dirty="0"/>
              <a:t>Exemplos de </a:t>
            </a:r>
            <a:r>
              <a:rPr lang="pt-BR" i="1" dirty="0" err="1"/>
              <a:t>encoding</a:t>
            </a:r>
            <a:endParaRPr lang="en-US" i="1" dirty="0"/>
          </a:p>
        </p:txBody>
      </p:sp>
      <p:sp>
        <p:nvSpPr>
          <p:cNvPr id="3" name="Content Placeholder 2">
            <a:extLst>
              <a:ext uri="{FF2B5EF4-FFF2-40B4-BE49-F238E27FC236}">
                <a16:creationId xmlns:a16="http://schemas.microsoft.com/office/drawing/2014/main" id="{D2AD9A45-89F4-0472-434E-82FA5060D20B}"/>
              </a:ext>
            </a:extLst>
          </p:cNvPr>
          <p:cNvSpPr>
            <a:spLocks noGrp="1"/>
          </p:cNvSpPr>
          <p:nvPr>
            <p:ph idx="1"/>
          </p:nvPr>
        </p:nvSpPr>
        <p:spPr>
          <a:xfrm>
            <a:off x="838199" y="1825624"/>
            <a:ext cx="11179629" cy="5032375"/>
          </a:xfrm>
        </p:spPr>
        <p:txBody>
          <a:bodyPr>
            <a:noAutofit/>
          </a:bodyPr>
          <a:lstStyle/>
          <a:p>
            <a:pPr marL="0" indent="0">
              <a:buNone/>
            </a:pPr>
            <a:r>
              <a:rPr lang="en-US" sz="2300" dirty="0">
                <a:latin typeface="Consolas" panose="020B0609020204030204" pitchFamily="49" charset="0"/>
              </a:rPr>
              <a:t>from </a:t>
            </a:r>
            <a:r>
              <a:rPr lang="en-US" sz="2300" dirty="0" err="1">
                <a:latin typeface="Consolas" panose="020B0609020204030204" pitchFamily="49" charset="0"/>
              </a:rPr>
              <a:t>sklearn.preprocessing</a:t>
            </a:r>
            <a:r>
              <a:rPr lang="en-US" sz="2300" dirty="0">
                <a:latin typeface="Consolas" panose="020B0609020204030204" pitchFamily="49" charset="0"/>
              </a:rPr>
              <a:t> import </a:t>
            </a:r>
            <a:r>
              <a:rPr lang="en-US" sz="2300" dirty="0" err="1">
                <a:latin typeface="Consolas" panose="020B0609020204030204" pitchFamily="49" charset="0"/>
              </a:rPr>
              <a:t>OneHotEncoder</a:t>
            </a:r>
            <a:r>
              <a:rPr lang="en-US" sz="2300" dirty="0">
                <a:latin typeface="Consolas" panose="020B0609020204030204" pitchFamily="49" charset="0"/>
              </a:rPr>
              <a:t>, </a:t>
            </a:r>
            <a:r>
              <a:rPr lang="en-US" sz="2300" dirty="0" err="1">
                <a:latin typeface="Consolas" panose="020B0609020204030204" pitchFamily="49" charset="0"/>
              </a:rPr>
              <a:t>LabelEncoder</a:t>
            </a:r>
            <a:r>
              <a:rPr lang="en-US" sz="2300" dirty="0">
                <a:latin typeface="Consolas" panose="020B0609020204030204" pitchFamily="49" charset="0"/>
              </a:rPr>
              <a:t>, </a:t>
            </a:r>
            <a:r>
              <a:rPr lang="en-US" sz="2300" dirty="0" err="1">
                <a:latin typeface="Consolas" panose="020B0609020204030204" pitchFamily="49" charset="0"/>
              </a:rPr>
              <a:t>TargetEncoder</a:t>
            </a: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SciKit</a:t>
            </a:r>
            <a:r>
              <a:rPr lang="en-US" sz="2300" i="1" dirty="0">
                <a:latin typeface="Consolas" panose="020B0609020204030204" pitchFamily="49" charset="0"/>
              </a:rPr>
              <a:t>-Learn </a:t>
            </a:r>
            <a:r>
              <a:rPr lang="en-US" sz="2300" i="1" dirty="0" err="1">
                <a:latin typeface="Consolas" panose="020B0609020204030204" pitchFamily="49" charset="0"/>
              </a:rPr>
              <a:t>não</a:t>
            </a:r>
            <a:r>
              <a:rPr lang="en-US" sz="2300" i="1" dirty="0">
                <a:latin typeface="Consolas" panose="020B0609020204030204" pitchFamily="49" charset="0"/>
              </a:rPr>
              <a:t> </a:t>
            </a:r>
            <a:r>
              <a:rPr lang="en-US" sz="2300" i="1" dirty="0" err="1">
                <a:latin typeface="Consolas" panose="020B0609020204030204" pitchFamily="49" charset="0"/>
              </a:rPr>
              <a:t>implementa</a:t>
            </a:r>
            <a:r>
              <a:rPr lang="en-US" sz="2300" i="1" dirty="0">
                <a:latin typeface="Consolas" panose="020B0609020204030204" pitchFamily="49" charset="0"/>
              </a:rPr>
              <a:t> o </a:t>
            </a:r>
            <a:r>
              <a:rPr lang="en-US" sz="2300" i="1" dirty="0" err="1">
                <a:latin typeface="Consolas" panose="020B0609020204030204" pitchFamily="49" charset="0"/>
              </a:rPr>
              <a:t>codificador</a:t>
            </a:r>
            <a:r>
              <a:rPr lang="en-US" sz="2300" i="1" dirty="0">
                <a:latin typeface="Consolas" panose="020B0609020204030204" pitchFamily="49" charset="0"/>
              </a:rPr>
              <a:t> </a:t>
            </a:r>
            <a:r>
              <a:rPr lang="en-US" sz="2300" i="1" dirty="0" err="1">
                <a:latin typeface="Consolas" panose="020B0609020204030204" pitchFamily="49" charset="0"/>
              </a:rPr>
              <a:t>binário</a:t>
            </a:r>
            <a:r>
              <a:rPr lang="en-US" sz="2300" i="1" dirty="0">
                <a:latin typeface="Consolas" panose="020B0609020204030204" pitchFamily="49" charset="0"/>
              </a:rPr>
              <a:t> (pip install </a:t>
            </a:r>
            <a:r>
              <a:rPr lang="en-US" sz="2300" i="1" dirty="0" err="1">
                <a:latin typeface="Consolas" panose="020B0609020204030204" pitchFamily="49" charset="0"/>
              </a:rPr>
              <a:t>category_encoders</a:t>
            </a:r>
            <a:r>
              <a:rPr lang="en-US" sz="2300" i="1" dirty="0">
                <a:latin typeface="Consolas" panose="020B0609020204030204" pitchFamily="49" charset="0"/>
              </a:rPr>
              <a:t>)</a:t>
            </a:r>
          </a:p>
          <a:p>
            <a:pPr marL="0" indent="0">
              <a:buNone/>
            </a:pPr>
            <a:r>
              <a:rPr lang="en-US" sz="2300" dirty="0">
                <a:latin typeface="Consolas" panose="020B0609020204030204" pitchFamily="49" charset="0"/>
              </a:rPr>
              <a:t>from </a:t>
            </a:r>
            <a:r>
              <a:rPr lang="en-US" sz="2300" dirty="0" err="1">
                <a:latin typeface="Consolas" panose="020B0609020204030204" pitchFamily="49" charset="0"/>
              </a:rPr>
              <a:t>category_encoders</a:t>
            </a:r>
            <a:r>
              <a:rPr lang="en-US" sz="2300" dirty="0">
                <a:latin typeface="Consolas" panose="020B0609020204030204" pitchFamily="49" charset="0"/>
              </a:rPr>
              <a:t> import </a:t>
            </a:r>
            <a:r>
              <a:rPr lang="en-US" sz="2300" dirty="0" err="1">
                <a:latin typeface="Consolas" panose="020B0609020204030204" pitchFamily="49" charset="0"/>
              </a:rPr>
              <a:t>BinaryEncoder</a:t>
            </a:r>
            <a:endParaRPr lang="en-US" sz="2300" dirty="0">
              <a:latin typeface="Consolas" panose="020B0609020204030204" pitchFamily="49" charset="0"/>
            </a:endParaRPr>
          </a:p>
          <a:p>
            <a:pPr marL="0" indent="0">
              <a:buNone/>
            </a:pP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LabelEncoder</a:t>
            </a:r>
            <a:r>
              <a:rPr lang="en-US" sz="2300" i="1" dirty="0">
                <a:latin typeface="Consolas" panose="020B0609020204030204" pitchFamily="49" charset="0"/>
              </a:rPr>
              <a:t>(), </a:t>
            </a:r>
            <a:r>
              <a:rPr lang="en-US" sz="2300" i="1" dirty="0" err="1">
                <a:latin typeface="Consolas" panose="020B0609020204030204" pitchFamily="49" charset="0"/>
              </a:rPr>
              <a:t>TargetEncoder</a:t>
            </a:r>
            <a:r>
              <a:rPr lang="en-US" sz="2300" i="1" dirty="0">
                <a:latin typeface="Consolas" panose="020B0609020204030204" pitchFamily="49" charset="0"/>
              </a:rPr>
              <a:t>() </a:t>
            </a:r>
            <a:r>
              <a:rPr lang="en-US" sz="2300" i="1" dirty="0" err="1">
                <a:latin typeface="Consolas" panose="020B0609020204030204" pitchFamily="49" charset="0"/>
              </a:rPr>
              <a:t>ou</a:t>
            </a:r>
            <a:r>
              <a:rPr lang="en-US" sz="2300" i="1" dirty="0">
                <a:latin typeface="Consolas" panose="020B0609020204030204" pitchFamily="49" charset="0"/>
              </a:rPr>
              <a:t> </a:t>
            </a:r>
            <a:r>
              <a:rPr lang="en-US" sz="2300" i="1" dirty="0" err="1">
                <a:latin typeface="Consolas" panose="020B0609020204030204" pitchFamily="49" charset="0"/>
              </a:rPr>
              <a:t>BinaryEncoder</a:t>
            </a:r>
            <a:r>
              <a:rPr lang="en-US" sz="2300" i="1" dirty="0">
                <a:latin typeface="Consolas" panose="020B0609020204030204" pitchFamily="49" charset="0"/>
              </a:rPr>
              <a:t>()</a:t>
            </a:r>
            <a:endParaRPr lang="en-US" sz="2300" dirty="0">
              <a:latin typeface="Consolas" panose="020B0609020204030204" pitchFamily="49" charset="0"/>
            </a:endParaRPr>
          </a:p>
          <a:p>
            <a:pPr marL="0" indent="0">
              <a:buNone/>
            </a:pPr>
            <a:r>
              <a:rPr lang="en-US" sz="2300" dirty="0">
                <a:latin typeface="Consolas" panose="020B0609020204030204" pitchFamily="49" charset="0"/>
              </a:rPr>
              <a:t>enc = </a:t>
            </a:r>
            <a:r>
              <a:rPr lang="en-US" sz="2300" dirty="0" err="1">
                <a:latin typeface="Consolas" panose="020B0609020204030204" pitchFamily="49" charset="0"/>
              </a:rPr>
              <a:t>OneHotEncoder</a:t>
            </a:r>
            <a:r>
              <a:rPr lang="en-US" sz="2300" dirty="0">
                <a:latin typeface="Consolas" panose="020B0609020204030204" pitchFamily="49" charset="0"/>
              </a:rPr>
              <a:t>()</a:t>
            </a:r>
            <a:endParaRPr lang="en-US" sz="2300" i="1" dirty="0">
              <a:latin typeface="Consolas" panose="020B0609020204030204" pitchFamily="49" charset="0"/>
            </a:endParaRPr>
          </a:p>
          <a:p>
            <a:pPr marL="0" indent="0">
              <a:buNone/>
            </a:pPr>
            <a:r>
              <a:rPr lang="en-US" sz="2300" dirty="0" err="1">
                <a:latin typeface="Consolas" panose="020B0609020204030204" pitchFamily="49" charset="0"/>
              </a:rPr>
              <a:t>enc.fit_transform</a:t>
            </a:r>
            <a:r>
              <a:rPr lang="en-US" sz="2300" dirty="0">
                <a:latin typeface="Consolas" panose="020B0609020204030204" pitchFamily="49" charset="0"/>
              </a:rPr>
              <a:t>(</a:t>
            </a:r>
            <a:r>
              <a:rPr lang="en-US" sz="2300" dirty="0" err="1">
                <a:latin typeface="Consolas" panose="020B0609020204030204" pitchFamily="49" charset="0"/>
              </a:rPr>
              <a:t>X_train</a:t>
            </a:r>
            <a:r>
              <a:rPr lang="en-US" sz="2300" dirty="0">
                <a:latin typeface="Consolas" panose="020B0609020204030204" pitchFamily="49" charset="0"/>
              </a:rPr>
              <a:t>)</a:t>
            </a:r>
          </a:p>
          <a:p>
            <a:pPr marL="0" indent="0">
              <a:buNone/>
            </a:pPr>
            <a:endParaRPr lang="en-US" sz="2300" dirty="0">
              <a:latin typeface="Consolas" panose="020B0609020204030204" pitchFamily="49" charset="0"/>
            </a:endParaRPr>
          </a:p>
          <a:p>
            <a:pPr marL="0" indent="0">
              <a:buNone/>
            </a:pPr>
            <a:r>
              <a:rPr lang="en-US" sz="2300" dirty="0" err="1">
                <a:latin typeface="Consolas" panose="020B0609020204030204" pitchFamily="49" charset="0"/>
              </a:rPr>
              <a:t>enc.transform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     </a:t>
            </a:r>
          </a:p>
          <a:p>
            <a:pPr marL="0" indent="0">
              <a:buNone/>
            </a:pPr>
            <a:r>
              <a:rPr lang="en-US" sz="2300" dirty="0" err="1">
                <a:latin typeface="Consolas" panose="020B0609020204030204" pitchFamily="49" charset="0"/>
              </a:rPr>
              <a:t>enc.inverse_transform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a:t>
            </a:r>
          </a:p>
        </p:txBody>
      </p:sp>
    </p:spTree>
    <p:extLst>
      <p:ext uri="{BB962C8B-B14F-4D97-AF65-F5344CB8AC3E}">
        <p14:creationId xmlns:p14="http://schemas.microsoft.com/office/powerpoint/2010/main" val="1717193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BEA89-FF13-BAD3-5FA3-E97BA29C0D89}"/>
              </a:ext>
            </a:extLst>
          </p:cNvPr>
          <p:cNvSpPr>
            <a:spLocks noGrp="1"/>
          </p:cNvSpPr>
          <p:nvPr>
            <p:ph type="title"/>
          </p:nvPr>
        </p:nvSpPr>
        <p:spPr/>
        <p:txBody>
          <a:bodyPr/>
          <a:lstStyle/>
          <a:p>
            <a:r>
              <a:rPr lang="pt-BR" dirty="0"/>
              <a:t>Engenharia de atributos</a:t>
            </a:r>
            <a:endParaRPr lang="en-US" dirty="0"/>
          </a:p>
        </p:txBody>
      </p:sp>
      <p:sp>
        <p:nvSpPr>
          <p:cNvPr id="3" name="Content Placeholder 2">
            <a:extLst>
              <a:ext uri="{FF2B5EF4-FFF2-40B4-BE49-F238E27FC236}">
                <a16:creationId xmlns:a16="http://schemas.microsoft.com/office/drawing/2014/main" id="{939C23DE-C11A-28CE-9230-51643551EA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70803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p:txBody>
      </p:sp>
    </p:spTree>
    <p:extLst>
      <p:ext uri="{BB962C8B-B14F-4D97-AF65-F5344CB8AC3E}">
        <p14:creationId xmlns:p14="http://schemas.microsoft.com/office/powerpoint/2010/main" val="31870715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8444</TotalTime>
  <Words>3192</Words>
  <Application>Microsoft Office PowerPoint</Application>
  <PresentationFormat>Widescreen</PresentationFormat>
  <Paragraphs>260</Paragraphs>
  <Slides>35</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Escalonamento robusto (Robust Scaling)</vt:lpstr>
      <vt:lpstr>Escalonamento robusto (Robust Scaling)</vt:lpstr>
      <vt:lpstr>Escalonamento robusto (Robust Scaling)</vt:lpstr>
      <vt:lpstr>Armadilhas comuns durante o escalonamento</vt:lpstr>
      <vt:lpstr>Codificação de atributos categóricos</vt:lpstr>
      <vt:lpstr>One-Hot encoding</vt:lpstr>
      <vt:lpstr>Label encoding</vt:lpstr>
      <vt:lpstr>Target encoding</vt:lpstr>
      <vt:lpstr>Binary encoding</vt:lpstr>
      <vt:lpstr>Exemplos de encoding</vt:lpstr>
      <vt:lpstr>PowerPoint Presentation</vt:lpstr>
      <vt:lpstr>Engenharia de atributos</vt:lpstr>
      <vt:lpstr>Engenharia de atributos</vt:lpstr>
      <vt:lpstr>Engenharia de atributos</vt:lpstr>
      <vt:lpstr>Sobre o que falar?</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1853</cp:revision>
  <dcterms:created xsi:type="dcterms:W3CDTF">2020-01-20T13:50:05Z</dcterms:created>
  <dcterms:modified xsi:type="dcterms:W3CDTF">2026-02-03T03:19:48Z</dcterms:modified>
</cp:coreProperties>
</file>