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handoutMasterIdLst>
    <p:handoutMasterId r:id="rId32"/>
  </p:handoutMasterIdLst>
  <p:sldIdLst>
    <p:sldId id="256" r:id="rId2"/>
    <p:sldId id="322" r:id="rId3"/>
    <p:sldId id="316" r:id="rId4"/>
    <p:sldId id="326" r:id="rId5"/>
    <p:sldId id="330" r:id="rId6"/>
    <p:sldId id="319" r:id="rId7"/>
    <p:sldId id="329" r:id="rId8"/>
    <p:sldId id="327" r:id="rId9"/>
    <p:sldId id="341" r:id="rId10"/>
    <p:sldId id="334" r:id="rId11"/>
    <p:sldId id="335" r:id="rId12"/>
    <p:sldId id="339" r:id="rId13"/>
    <p:sldId id="340" r:id="rId14"/>
    <p:sldId id="323" r:id="rId15"/>
    <p:sldId id="336" r:id="rId16"/>
    <p:sldId id="342" r:id="rId17"/>
    <p:sldId id="333" r:id="rId18"/>
    <p:sldId id="328" r:id="rId19"/>
    <p:sldId id="308" r:id="rId20"/>
    <p:sldId id="317" r:id="rId21"/>
    <p:sldId id="320" r:id="rId22"/>
    <p:sldId id="318" r:id="rId23"/>
    <p:sldId id="315" r:id="rId24"/>
    <p:sldId id="324" r:id="rId25"/>
    <p:sldId id="337" r:id="rId26"/>
    <p:sldId id="321" r:id="rId27"/>
    <p:sldId id="338" r:id="rId28"/>
    <p:sldId id="293" r:id="rId29"/>
    <p:sldId id="306" r:id="rId3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9540" autoAdjust="0"/>
  </p:normalViewPr>
  <p:slideViewPr>
    <p:cSldViewPr snapToGrid="0">
      <p:cViewPr varScale="1">
        <p:scale>
          <a:sx n="88" d="100"/>
          <a:sy n="88" d="100"/>
        </p:scale>
        <p:origin x="169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01/02/2026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BA35-6F89-0BB9-6A15-9A14EACDB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66353-8D75-DA06-B6B6-3EEE5474E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1F271-2284-A7E4-9254-5F8452B69AD2}"/>
              </a:ext>
            </a:extLst>
          </p:cNvPr>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a:extLst>
              <a:ext uri="{FF2B5EF4-FFF2-40B4-BE49-F238E27FC236}">
                <a16:creationId xmlns:a16="http://schemas.microsoft.com/office/drawing/2014/main" id="{8048099E-2282-DD7D-6C34-5E9A5168DC6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3958817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br>
              <a:rPr lang="pt-BR" dirty="0"/>
            </a:br>
            <a:br>
              <a:rPr lang="pt-BR" dirty="0"/>
            </a:br>
            <a:r>
              <a:rPr lang="pt-BR" sz="1200" b="1" i="0" kern="1200" dirty="0">
                <a:solidFill>
                  <a:schemeClr val="tx1"/>
                </a:solidFill>
                <a:effectLst/>
                <a:latin typeface="+mn-lt"/>
                <a:ea typeface="+mn-ea"/>
                <a:cs typeface="+mn-cs"/>
              </a:rPr>
              <a:t>Exemplo Prático</a:t>
            </a:r>
          </a:p>
          <a:p>
            <a:r>
              <a:rPr lang="pt-BR" sz="1200" b="0" i="0" kern="1200" dirty="0">
                <a:solidFill>
                  <a:schemeClr val="tx1"/>
                </a:solidFill>
                <a:effectLst/>
                <a:latin typeface="+mn-lt"/>
                <a:ea typeface="+mn-ea"/>
                <a:cs typeface="+mn-cs"/>
              </a:rPr>
              <a:t>Imagine dados de salários, onde a maioria das pessoas ganha entre R$ 2.000 e R$ 10.000, mas há um CEO que ganha R$ 1.000.000.</a:t>
            </a:r>
          </a:p>
          <a:p>
            <a:r>
              <a:rPr lang="pt-BR" sz="1200" b="1" i="0" kern="1200" dirty="0">
                <a:solidFill>
                  <a:schemeClr val="tx1"/>
                </a:solidFill>
                <a:effectLst/>
                <a:latin typeface="+mn-lt"/>
                <a:ea typeface="+mn-ea"/>
                <a:cs typeface="+mn-cs"/>
              </a:rPr>
              <a:t>Sem o outlier:</a:t>
            </a:r>
            <a:r>
              <a:rPr lang="pt-BR" sz="1200" b="0" i="0" kern="1200" dirty="0">
                <a:solidFill>
                  <a:schemeClr val="tx1"/>
                </a:solidFill>
                <a:effectLst/>
                <a:latin typeface="+mn-lt"/>
                <a:ea typeface="+mn-ea"/>
                <a:cs typeface="+mn-cs"/>
              </a:rPr>
              <a:t> A faixa é 2.000 a 10.000.</a:t>
            </a:r>
          </a:p>
          <a:p>
            <a:r>
              <a:rPr lang="pt-BR" sz="1200" b="1" i="0" kern="1200" dirty="0">
                <a:solidFill>
                  <a:schemeClr val="tx1"/>
                </a:solidFill>
                <a:effectLst/>
                <a:latin typeface="+mn-lt"/>
                <a:ea typeface="+mn-ea"/>
                <a:cs typeface="+mn-cs"/>
              </a:rPr>
              <a:t>Com o outlier (1.000.000):</a:t>
            </a:r>
            <a:r>
              <a:rPr lang="pt-BR" sz="1200" b="0" i="0" kern="1200" dirty="0">
                <a:solidFill>
                  <a:schemeClr val="tx1"/>
                </a:solidFill>
                <a:effectLst/>
                <a:latin typeface="+mn-lt"/>
                <a:ea typeface="+mn-ea"/>
                <a:cs typeface="+mn-cs"/>
              </a:rPr>
              <a:t> O Min-Max vai forçar o 1.000.000 a ser 1 e o 2.000 a ser 0.</a:t>
            </a:r>
          </a:p>
          <a:p>
            <a:r>
              <a:rPr lang="pt-BR" sz="1200" b="1" i="0" kern="1200" dirty="0">
                <a:solidFill>
                  <a:schemeClr val="tx1"/>
                </a:solidFill>
                <a:effectLst/>
                <a:latin typeface="+mn-lt"/>
                <a:ea typeface="+mn-ea"/>
                <a:cs typeface="+mn-cs"/>
              </a:rPr>
              <a:t>Resultado:</a:t>
            </a:r>
            <a:r>
              <a:rPr lang="pt-BR" sz="1200" b="0" i="0" kern="1200" dirty="0">
                <a:solidFill>
                  <a:schemeClr val="tx1"/>
                </a:solidFill>
                <a:effectLst/>
                <a:latin typeface="+mn-lt"/>
                <a:ea typeface="+mn-ea"/>
                <a:cs typeface="+mn-cs"/>
              </a:rPr>
              <a:t> Todos os salários normais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3000, 5000, 8000) serão comprimidos para valores muito próximos de zero,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0.001, 0.003, 0.006. O modelo de machine learning terá dificuldade em diferenciar essas pequenas variações. </a:t>
            </a:r>
          </a:p>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Ele mantém a relação de distância entre os dados não-discrepantes melhor que o Standard </a:t>
            </a:r>
            <a:r>
              <a:rPr lang="pt-BR" sz="1200" b="0" i="0" kern="1200" dirty="0" err="1">
                <a:solidFill>
                  <a:schemeClr val="tx1"/>
                </a:solidFill>
                <a:effectLst/>
                <a:latin typeface="+mn-lt"/>
                <a:ea typeface="+mn-ea"/>
                <a:cs typeface="+mn-cs"/>
              </a:rPr>
              <a:t>Scaler</a:t>
            </a:r>
            <a:r>
              <a:rPr lang="pt-BR" sz="1200" b="0" i="0" kern="1200" dirty="0">
                <a:solidFill>
                  <a:schemeClr val="tx1"/>
                </a:solidFill>
                <a:effectLst/>
                <a:latin typeface="+mn-lt"/>
                <a:ea typeface="+mn-ea"/>
                <a:cs typeface="+mn-cs"/>
              </a:rPr>
              <a:t> quando há ruído extremo.</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i.e., eles não distorcem tanto a escala geral.</a:t>
            </a:r>
          </a:p>
          <a:p>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D578-D126-C8CD-C2BA-CBFC787EA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E7FEA-16F0-9910-0989-1883BB321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219F0-D8E8-8A81-97B4-AECF0BBEA14F}"/>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Ele mantém a relação de distância entre os dados não-discrepantes melhor que o Standard </a:t>
            </a:r>
            <a:r>
              <a:rPr lang="pt-BR" sz="1200" b="0" i="0" kern="1200" dirty="0" err="1">
                <a:solidFill>
                  <a:schemeClr val="tx1"/>
                </a:solidFill>
                <a:effectLst/>
                <a:latin typeface="+mn-lt"/>
                <a:ea typeface="+mn-ea"/>
                <a:cs typeface="+mn-cs"/>
              </a:rPr>
              <a:t>Scaler</a:t>
            </a:r>
            <a:r>
              <a:rPr lang="pt-BR" sz="1200" b="0" i="0" kern="1200" dirty="0">
                <a:solidFill>
                  <a:schemeClr val="tx1"/>
                </a:solidFill>
                <a:effectLst/>
                <a:latin typeface="+mn-lt"/>
                <a:ea typeface="+mn-ea"/>
                <a:cs typeface="+mn-cs"/>
              </a:rPr>
              <a:t> quando há ruído extremo.</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i.e., eles não distorcem tanto a escala geral.</a:t>
            </a:r>
          </a:p>
          <a:p>
            <a:endParaRPr lang="en-US" dirty="0"/>
          </a:p>
        </p:txBody>
      </p:sp>
      <p:sp>
        <p:nvSpPr>
          <p:cNvPr id="4" name="Slide Number Placeholder 3">
            <a:extLst>
              <a:ext uri="{FF2B5EF4-FFF2-40B4-BE49-F238E27FC236}">
                <a16:creationId xmlns:a16="http://schemas.microsoft.com/office/drawing/2014/main" id="{98A5AC8A-50E7-6136-9B5C-235A931AE1D4}"/>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1045151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66077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0693698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KOESdVaSZ-8" TargetMode="External"/><Relationship Id="rId7" Type="http://schemas.openxmlformats.org/officeDocument/2006/relationships/image" Target="../media/image11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google.com/search?num=10&amp;newwindow=1&amp;sca_esv=e53e8bd492977bc3&amp;rlz=1C1GCEU_pt-BRBR1059BR1059&amp;sxsrf=ANbL-n5PpOK2dek_6OxfzJs5F8juK5Dcbg%3A1769955671377&amp;q=Robust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F&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5" Type="http://schemas.openxmlformats.org/officeDocument/2006/relationships/hyperlink" Target="https://www.google.com/search?num=10&amp;newwindow=1&amp;sca_esv=e53e8bd492977bc3&amp;rlz=1C1GCEU_pt-BRBR1059BR1059&amp;sxsrf=ANbL-n5PpOK2dek_6OxfzJs5F8juK5Dcbg%3A1769955671377&amp;q=MinMax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D&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4" Type="http://schemas.openxmlformats.org/officeDocument/2006/relationships/hyperlink" Target="https://www.google.com/search?num=10&amp;newwindow=1&amp;sca_esv=e53e8bd492977bc3&amp;rlz=1C1GCEU_pt-BRBR1059BR1059&amp;sxsrf=ANbL-n5PpOK2dek_6OxfzJs5F8juK5Dcbg%3A1769955671377&amp;q=Standard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B&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jpeg"/><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Redução</a:t>
            </a:r>
            <a:r>
              <a:rPr lang="en-US" dirty="0"/>
              <a:t> de </a:t>
            </a:r>
            <a:r>
              <a:rPr lang="en-US" dirty="0" err="1"/>
              <a:t>dimensionalidade</a:t>
            </a:r>
            <a:r>
              <a:rPr lang="en-US" dirty="0"/>
              <a:t> dos dados,</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p:txBody>
          </p:sp>
        </mc:Choice>
        <mc:Fallback xmlns="">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A9B45-E0AC-C9AE-5FD5-5497AD766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6165C-B0D9-0375-517C-218CA055B30C}"/>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42C156B7-5901-102A-9736-A2EAAA0CF708}"/>
              </a:ext>
            </a:extLst>
          </p:cNvPr>
          <p:cNvSpPr>
            <a:spLocks noGrp="1"/>
          </p:cNvSpPr>
          <p:nvPr>
            <p:ph idx="1"/>
          </p:nvPr>
        </p:nvSpPr>
        <p:spPr>
          <a:xfrm>
            <a:off x="838199" y="1825624"/>
            <a:ext cx="11179630" cy="5032375"/>
          </a:xfrm>
        </p:spPr>
        <p:txBody>
          <a:bodyPr>
            <a:normAutofit/>
          </a:bodyPr>
          <a:lstStyle/>
          <a:p>
            <a:r>
              <a:rPr lang="pt-BR" b="1" dirty="0"/>
              <a:t>Quando usar:</a:t>
            </a:r>
            <a:r>
              <a:rPr lang="pt-BR" dirty="0"/>
              <a:t> </a:t>
            </a:r>
          </a:p>
          <a:p>
            <a:pPr lvl="1">
              <a:buFont typeface="Wingdings" panose="05000000000000000000" pitchFamily="2" charset="2"/>
              <a:buChar char="§"/>
            </a:pPr>
            <a:r>
              <a:rPr lang="pt-BR" dirty="0"/>
              <a:t>Dados sem </a:t>
            </a:r>
            <a:r>
              <a:rPr lang="pt-BR" i="1" dirty="0"/>
              <a:t>outliers</a:t>
            </a:r>
            <a:r>
              <a:rPr lang="pt-BR" dirty="0"/>
              <a:t> (analisar e remover antes), </a:t>
            </a:r>
          </a:p>
          <a:p>
            <a:pPr lvl="1">
              <a:buFont typeface="Wingdings" panose="05000000000000000000" pitchFamily="2" charset="2"/>
              <a:buChar char="§"/>
            </a:pPr>
            <a:r>
              <a:rPr lang="pt-BR" dirty="0"/>
              <a:t>com algoritmos que não pressupõem nenhuma distribuição (e.g., redes neurais, KNN) </a:t>
            </a:r>
          </a:p>
          <a:p>
            <a:pPr lvl="1">
              <a:buFont typeface="Wingdings" panose="05000000000000000000" pitchFamily="2" charset="2"/>
              <a:buChar char="§"/>
            </a:pPr>
            <a:r>
              <a:rPr lang="pt-BR" dirty="0"/>
              <a:t>e/ou que algoritmos que exigem entradas limitadas como os baseados em distância (e.g., </a:t>
            </a:r>
            <a:r>
              <a:rPr lang="en-US" dirty="0"/>
              <a:t>KNN, SVM, K-Means)</a:t>
            </a:r>
            <a:r>
              <a:rPr lang="pt-BR" dirty="0"/>
              <a:t> e gradiente (</a:t>
            </a:r>
            <a:r>
              <a:rPr lang="en-US" dirty="0"/>
              <a:t>Redes </a:t>
            </a:r>
            <a:r>
              <a:rPr lang="en-US" dirty="0" err="1"/>
              <a:t>Neurais</a:t>
            </a:r>
            <a:r>
              <a:rPr lang="en-US" dirty="0"/>
              <a:t>, </a:t>
            </a:r>
            <a:r>
              <a:rPr lang="en-US" dirty="0" err="1"/>
              <a:t>Regressões</a:t>
            </a:r>
            <a:r>
              <a:rPr lang="pt-BR" dirty="0"/>
              <a:t>).</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a:p>
            <a:pPr lvl="1">
              <a:buFont typeface="Wingdings" panose="05000000000000000000" pitchFamily="2" charset="2"/>
              <a:buChar char="§"/>
            </a:pPr>
            <a:r>
              <a:rPr lang="pt-BR" dirty="0"/>
              <a:t>Os valores (que não são </a:t>
            </a:r>
            <a:r>
              <a:rPr lang="pt-BR" i="1" dirty="0"/>
              <a:t>outliers</a:t>
            </a:r>
            <a:r>
              <a:rPr lang="pt-BR" dirty="0"/>
              <a:t>) acabam sendo transformados em valores muito pequenos, próximos de zero, perdendo a distinção entre eles.</a:t>
            </a:r>
          </a:p>
          <a:p>
            <a:pPr lvl="1">
              <a:buFont typeface="Wingdings" panose="05000000000000000000" pitchFamily="2" charset="2"/>
              <a:buChar char="§"/>
            </a:pPr>
            <a:r>
              <a:rPr lang="pt-BR" dirty="0"/>
              <a:t>Isso reduz a eficácia do aprendizado, pois a diferença entre os valores reais é praticamente eliminada na escala normalizada. </a:t>
            </a:r>
          </a:p>
        </p:txBody>
      </p:sp>
    </p:spTree>
    <p:extLst>
      <p:ext uri="{BB962C8B-B14F-4D97-AF65-F5344CB8AC3E}">
        <p14:creationId xmlns:p14="http://schemas.microsoft.com/office/powerpoint/2010/main" val="924674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r>
              <a:rPr lang="en-US" i="1" dirty="0">
                <a:latin typeface="Consolas" panose="020B0609020204030204" pitchFamily="49" charset="0"/>
              </a:rPr>
              <a:t> com </a:t>
            </a:r>
            <a:r>
              <a:rPr lang="en-US" i="1" dirty="0" err="1">
                <a:latin typeface="Consolas" panose="020B0609020204030204" pitchFamily="49" charset="0"/>
              </a:rPr>
              <a:t>intervalo</a:t>
            </a:r>
            <a:r>
              <a:rPr lang="en-US" i="1" dirty="0">
                <a:latin typeface="Consolas" panose="020B0609020204030204" pitchFamily="49" charset="0"/>
              </a:rPr>
              <a:t> de 0 a 1</a:t>
            </a: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r>
              <a:rPr lang="en-US" dirty="0" err="1">
                <a:latin typeface="Consolas" panose="020B0609020204030204" pitchFamily="49" charset="0"/>
              </a:rPr>
              <a:t>feature_range</a:t>
            </a:r>
            <a:r>
              <a:rPr lang="en-US" dirty="0">
                <a:latin typeface="Consolas" panose="020B0609020204030204" pitchFamily="49" charset="0"/>
              </a:rPr>
              <a:t>=(0, 1))</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extremos.</a:t>
                </a:r>
              </a:p>
              <a:p>
                <a:pPr lvl="2">
                  <a:buFont typeface="Wingdings" panose="05000000000000000000" pitchFamily="2" charset="2"/>
                  <a:buChar char="§"/>
                </a:pPr>
                <a:r>
                  <a:rPr lang="pt-BR" dirty="0"/>
                  <a:t>Por não dividir os valores por um denominador muito grande, no caso da presença de </a:t>
                </a:r>
                <a:r>
                  <a:rPr lang="pt-BR" i="1" dirty="0"/>
                  <a:t>outliers</a:t>
                </a:r>
                <a:r>
                  <a:rPr lang="pt-BR" dirty="0"/>
                  <a:t>, não os transforma em valores próximos de zero e, portanto, não se perde a distinção entre eles.</a:t>
                </a:r>
              </a:p>
            </p:txBody>
          </p:sp>
        </mc:Choice>
        <mc:Fallback xmlns="">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a:t>
            </a:r>
          </a:p>
          <a:p>
            <a:pPr lvl="1">
              <a:buFont typeface="Wingdings" panose="05000000000000000000" pitchFamily="2" charset="2"/>
              <a:buChar char="§"/>
            </a:pPr>
            <a:r>
              <a:rPr lang="pt-BR" i="1" dirty="0"/>
              <a:t>Outliers</a:t>
            </a:r>
            <a:r>
              <a:rPr lang="pt-BR" dirty="0"/>
              <a:t> podem influenciar a média e variância dos atributos de forma negativa.</a:t>
            </a:r>
          </a:p>
        </p:txBody>
      </p:sp>
    </p:spTree>
    <p:extLst>
      <p:ext uri="{BB962C8B-B14F-4D97-AF65-F5344CB8AC3E}">
        <p14:creationId xmlns:p14="http://schemas.microsoft.com/office/powerpoint/2010/main" val="3447937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9" y="1825624"/>
                <a:ext cx="11179630" cy="5032375"/>
              </a:xfrm>
            </p:spPr>
            <p:txBody>
              <a:bodyPr>
                <a:normAutofit fontScale="92500"/>
              </a:bodyPr>
              <a:lstStyle/>
              <a:p>
                <a:r>
                  <a:rPr lang="pt-BR" b="1" dirty="0"/>
                  <a:t>Como funciona</a:t>
                </a:r>
                <a:r>
                  <a:rPr lang="pt-BR" dirty="0"/>
                  <a:t>: Usa mediana e distância interquartil no escalonamento.</a:t>
                </a:r>
                <a:endParaRPr lang="pt-BR" b="1" dirty="0">
                  <a:solidFill>
                    <a:srgbClr val="FF0000"/>
                  </a:solidFill>
                </a:endParaRP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r>
                            <m:rPr>
                              <m:sty m:val="p"/>
                            </m:rPr>
                            <a:rPr lang="pt-BR" b="0" i="0" smtClean="0">
                              <a:latin typeface="Cambria Math" panose="02040503050406030204" pitchFamily="18" charset="0"/>
                            </a:rPr>
                            <m:t>mediana</m:t>
                          </m:r>
                        </m:num>
                        <m:den>
                          <m:r>
                            <m:rPr>
                              <m:sty m:val="p"/>
                            </m:rPr>
                            <a:rPr lang="pt-BR" i="0" smtClean="0">
                              <a:latin typeface="Cambria Math" panose="02040503050406030204" pitchFamily="18" charset="0"/>
                            </a:rPr>
                            <m:t>I</m:t>
                          </m:r>
                          <m:r>
                            <m:rPr>
                              <m:sty m:val="p"/>
                            </m:rPr>
                            <a:rPr lang="pt-BR" b="0" i="0" smtClean="0">
                              <a:latin typeface="Cambria Math" panose="02040503050406030204" pitchFamily="18" charset="0"/>
                            </a:rPr>
                            <m:t>QR</m:t>
                          </m:r>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e </a:t>
                </a:r>
                <a14:m>
                  <m:oMath xmlns:m="http://schemas.openxmlformats.org/officeDocument/2006/math">
                    <m:r>
                      <m:rPr>
                        <m:sty m:val="p"/>
                      </m:rPr>
                      <a:rPr lang="pt-BR">
                        <a:latin typeface="Cambria Math" panose="02040503050406030204" pitchFamily="18" charset="0"/>
                      </a:rPr>
                      <m:t>IQR</m:t>
                    </m:r>
                  </m:oMath>
                </a14:m>
                <a:r>
                  <a:rPr lang="pt-BR" dirty="0"/>
                  <a:t> é a distância interquartil (</a:t>
                </a:r>
                <a14:m>
                  <m:oMath xmlns:m="http://schemas.openxmlformats.org/officeDocument/2006/math">
                    <m:r>
                      <m:rPr>
                        <m:sty m:val="p"/>
                      </m:rPr>
                      <a:rPr lang="pt-BR">
                        <a:latin typeface="Cambria Math" panose="02040503050406030204" pitchFamily="18" charset="0"/>
                      </a:rPr>
                      <m:t>IQR</m:t>
                    </m:r>
                    <m:r>
                      <a:rPr lang="pt-BR" b="0" i="0"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𝑄</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b="0" i="1" smtClean="0">
                            <a:latin typeface="Cambria Math" panose="02040503050406030204" pitchFamily="18" charset="0"/>
                          </a:rPr>
                          <m:t>1</m:t>
                        </m:r>
                      </m:sub>
                    </m:sSub>
                  </m:oMath>
                </a14:m>
                <a:r>
                  <a:rPr lang="pt-BR" dirty="0"/>
                  <a:t>) de um atributo (i.e., coluna).</a:t>
                </a:r>
              </a:p>
              <a:p>
                <a:r>
                  <a:rPr lang="pt-BR" b="1" dirty="0"/>
                  <a:t>Quando usar: </a:t>
                </a:r>
                <a:r>
                  <a:rPr lang="pt-BR" dirty="0"/>
                  <a:t>Quando há </a:t>
                </a:r>
                <a:r>
                  <a:rPr lang="pt-BR" i="1" dirty="0"/>
                  <a:t>outliers</a:t>
                </a:r>
                <a:r>
                  <a:rPr lang="pt-BR" dirty="0"/>
                  <a:t> significativos, mas desejamos mantê-los sem impactar o escalonamento. </a:t>
                </a:r>
                <a:r>
                  <a:rPr lang="pt-BR"/>
                  <a:t>Distribuições assimétricas ou com caudas longas.</a:t>
                </a:r>
                <a:endParaRPr lang="pt-BR" dirty="0"/>
              </a:p>
              <a:p>
                <a:r>
                  <a:rPr lang="pt-BR" b="1" dirty="0"/>
                  <a:t>Vantagem</a:t>
                </a:r>
                <a:r>
                  <a:rPr lang="pt-BR" dirty="0"/>
                  <a:t>: Não é influenciado por </a:t>
                </a:r>
                <a:r>
                  <a:rPr lang="pt-BR" i="1" dirty="0"/>
                  <a:t>outliers</a:t>
                </a:r>
                <a:r>
                  <a:rPr lang="pt-BR" dirty="0"/>
                  <a:t> extremos, mantendo a relação de distância entre os dados não-discrepantes melhor que o Standard </a:t>
                </a:r>
                <a:r>
                  <a:rPr lang="pt-BR" dirty="0" err="1"/>
                  <a:t>Scaler</a:t>
                </a:r>
                <a:r>
                  <a:rPr lang="pt-BR" dirty="0"/>
                  <a:t> quando existem outliers extremos.</a:t>
                </a:r>
              </a:p>
              <a:p>
                <a:r>
                  <a:rPr lang="pt-BR" b="1" dirty="0"/>
                  <a:t>Cuidado:</a:t>
                </a:r>
              </a:p>
            </p:txBody>
          </p:sp>
        </mc:Choice>
        <mc:Fallback>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927" t="-1816" r="-1527" b="-3027"/>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38CB-284D-B132-E982-E10E2E0A6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015A9-D416-BD11-58AD-7B62F1B4A5E1}"/>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25F49F56-D00F-7D12-5FCD-BB6DCFC23C65}"/>
              </a:ext>
            </a:extLst>
          </p:cNvPr>
          <p:cNvSpPr>
            <a:spLocks noGrp="1"/>
          </p:cNvSpPr>
          <p:nvPr>
            <p:ph idx="1"/>
          </p:nvPr>
        </p:nvSpPr>
        <p:spPr>
          <a:xfrm>
            <a:off x="838199" y="1825624"/>
            <a:ext cx="11179630"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RobustScaler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Instância</a:t>
            </a:r>
            <a:r>
              <a:rPr lang="en-US" dirty="0">
                <a:latin typeface="Consolas" panose="020B0609020204030204" pitchFamily="49" charset="0"/>
              </a:rPr>
              <a:t> do </a:t>
            </a:r>
            <a:r>
              <a:rPr lang="en-US" dirty="0" err="1">
                <a:latin typeface="Consolas" panose="020B0609020204030204" pitchFamily="49" charset="0"/>
              </a:rPr>
              <a:t>escalonador</a:t>
            </a:r>
            <a:r>
              <a:rPr lang="en-US" dirty="0">
                <a:latin typeface="Consolas" panose="020B0609020204030204" pitchFamily="49" charset="0"/>
              </a:rPr>
              <a:t> </a:t>
            </a:r>
            <a:r>
              <a:rPr lang="en-US" dirty="0" err="1">
                <a:latin typeface="Consolas" panose="020B0609020204030204" pitchFamily="49" charset="0"/>
              </a:rPr>
              <a:t>robusto</a:t>
            </a:r>
            <a:endParaRPr lang="en-US"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RobustScaler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Aprende</a:t>
            </a:r>
            <a:r>
              <a:rPr lang="en-US" dirty="0">
                <a:latin typeface="Consolas" panose="020B0609020204030204" pitchFamily="49" charset="0"/>
              </a:rPr>
              <a:t> </a:t>
            </a:r>
            <a:r>
              <a:rPr lang="en-US" dirty="0" err="1">
                <a:latin typeface="Consolas" panose="020B0609020204030204" pitchFamily="49" charset="0"/>
              </a:rPr>
              <a:t>os</a:t>
            </a:r>
            <a:r>
              <a:rPr lang="en-US" dirty="0">
                <a:latin typeface="Consolas" panose="020B0609020204030204" pitchFamily="49" charset="0"/>
              </a:rPr>
              <a:t> </a:t>
            </a:r>
            <a:r>
              <a:rPr lang="en-US" dirty="0" err="1">
                <a:latin typeface="Consolas" panose="020B0609020204030204" pitchFamily="49" charset="0"/>
              </a:rPr>
              <a:t>parâmetros</a:t>
            </a:r>
            <a:r>
              <a:rPr lang="en-US" dirty="0">
                <a:latin typeface="Consolas" panose="020B0609020204030204" pitchFamily="49" charset="0"/>
              </a:rPr>
              <a:t> de </a:t>
            </a:r>
            <a:r>
              <a:rPr lang="en-US" dirty="0" err="1">
                <a:latin typeface="Consolas" panose="020B0609020204030204" pitchFamily="49" charset="0"/>
              </a:rPr>
              <a:t>escalonamento</a:t>
            </a:r>
            <a:r>
              <a:rPr lang="en-US" dirty="0">
                <a:latin typeface="Consolas" panose="020B0609020204030204" pitchFamily="49" charset="0"/>
              </a:rPr>
              <a:t> no </a:t>
            </a:r>
            <a:r>
              <a:rPr lang="en-US" dirty="0" err="1">
                <a:latin typeface="Consolas" panose="020B0609020204030204" pitchFamily="49" charset="0"/>
              </a:rPr>
              <a:t>treino</a:t>
            </a:r>
            <a:endParaRPr lang="en-US"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Aplica</a:t>
            </a:r>
            <a:r>
              <a:rPr lang="en-US" dirty="0">
                <a:latin typeface="Consolas" panose="020B0609020204030204" pitchFamily="49" charset="0"/>
              </a:rPr>
              <a:t> o scaler </a:t>
            </a:r>
            <a:r>
              <a:rPr lang="en-US" dirty="0" err="1">
                <a:latin typeface="Consolas" panose="020B0609020204030204" pitchFamily="49" charset="0"/>
              </a:rPr>
              <a:t>aprendido</a:t>
            </a:r>
            <a:r>
              <a:rPr lang="en-US"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755483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FCF4-D4AF-6B32-3B82-279343AC20A6}"/>
              </a:ext>
            </a:extLst>
          </p:cNvPr>
          <p:cNvSpPr>
            <a:spLocks noGrp="1"/>
          </p:cNvSpPr>
          <p:nvPr>
            <p:ph type="title"/>
          </p:nvPr>
        </p:nvSpPr>
        <p:spPr/>
        <p:txBody>
          <a:bodyPr/>
          <a:lstStyle/>
          <a:p>
            <a:r>
              <a:rPr lang="en-US" dirty="0"/>
              <a:t>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1EC20E1-7BC2-26CD-B137-3DAF75037B31}"/>
                  </a:ext>
                </a:extLst>
              </p:cNvPr>
              <p:cNvSpPr>
                <a:spLocks noGrp="1"/>
              </p:cNvSpPr>
              <p:nvPr>
                <p:ph idx="1"/>
              </p:nvPr>
            </p:nvSpPr>
            <p:spPr/>
            <p:txBody>
              <a:bodyPr>
                <a:normAutofit fontScale="32500" lnSpcReduction="20000"/>
              </a:bodyPr>
              <a:lstStyle/>
              <a:p>
                <a:r>
                  <a:rPr lang="en-US" dirty="0"/>
                  <a:t>Robust scaling is a data preprocessing technique used to scale features in datasets containing significant outliers. It transforms data by subtracting the median and dividing by the Interquartile Range (IQR) (</a:t>
                </a:r>
              </a:p>
              <a:p>
                <a14:m>
                  <m:oMath xmlns:m="http://schemas.openxmlformats.org/officeDocument/2006/math">
                    <m:r>
                      <a:rPr lang="en-US" i="1">
                        <a:latin typeface="Cambria Math" panose="02040503050406030204" pitchFamily="18" charset="0"/>
                      </a:rPr>
                      <m:t>𝑄</m:t>
                    </m:r>
                    <m:r>
                      <a:rPr lang="en-US">
                        <a:latin typeface="Cambria Math" panose="02040503050406030204" pitchFamily="18" charset="0"/>
                      </a:rPr>
                      <m:t>3</m:t>
                    </m:r>
                    <m:r>
                      <a:rPr lang="en-US">
                        <a:latin typeface="Cambria Math" panose="02040503050406030204" pitchFamily="18" charset="0"/>
                      </a:rPr>
                      <m:t>−</m:t>
                    </m:r>
                    <m:r>
                      <a:rPr lang="en-US" i="1">
                        <a:latin typeface="Cambria Math" panose="02040503050406030204" pitchFamily="18" charset="0"/>
                      </a:rPr>
                      <m:t>𝑄</m:t>
                    </m:r>
                    <m:r>
                      <a:rPr lang="en-US">
                        <a:latin typeface="Cambria Math" panose="02040503050406030204" pitchFamily="18" charset="0"/>
                      </a:rPr>
                      <m:t>1</m:t>
                    </m:r>
                  </m:oMath>
                </a14:m>
                <a:endParaRPr lang="en-US" dirty="0"/>
              </a:p>
              <a:p>
                <a:r>
                  <a:rPr lang="en-US" dirty="0"/>
                  <a:t>𝑄3−𝑄1</a:t>
                </a:r>
              </a:p>
              <a:p>
                <a:r>
                  <a:rPr lang="en-US" dirty="0"/>
                  <a:t>), minimizing the skewing effect of extreme values that affect methods like standardization. </a:t>
                </a:r>
              </a:p>
              <a:p>
                <a:r>
                  <a:rPr lang="en-US" b="1" dirty="0"/>
                  <a:t>Key Aspects of Robust Scaling</a:t>
                </a:r>
                <a:r>
                  <a:rPr lang="en-US" dirty="0"/>
                  <a:t> </a:t>
                </a:r>
              </a:p>
              <a:p>
                <a:r>
                  <a:rPr lang="en-US" b="1" dirty="0"/>
                  <a:t>Formula:</a:t>
                </a:r>
                <a:r>
                  <a:rPr lang="en-US" dirty="0"/>
                  <a:t> The transformation is applied as:</a:t>
                </a:r>
                <a:br>
                  <a:rPr lang="en-US" dirty="0"/>
                </a:br>
                <a:endParaRPr lang="en-US" dirty="0"/>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𝑋</m:t>
                        </m:r>
                      </m:e>
                      <m:sub>
                        <m:r>
                          <m:rPr>
                            <m:nor/>
                          </m:rPr>
                          <a:rPr lang="en-US" i="1"/>
                          <m:t>scaled</m:t>
                        </m:r>
                      </m:sub>
                    </m:sSub>
                    <m:r>
                      <a:rPr lang="ar-AE">
                        <a:latin typeface="Cambria Math" panose="02040503050406030204" pitchFamily="18" charset="0"/>
                      </a:rPr>
                      <m:t>=</m:t>
                    </m:r>
                    <m:f>
                      <m:fPr>
                        <m:ctrlPr>
                          <a:rPr lang="ar-AE" i="1">
                            <a:latin typeface="Cambria Math" panose="02040503050406030204" pitchFamily="18" charset="0"/>
                          </a:rPr>
                        </m:ctrlPr>
                      </m:fPr>
                      <m:num>
                        <m:r>
                          <a:rPr lang="ar-AE" i="1">
                            <a:latin typeface="Cambria Math" panose="02040503050406030204" pitchFamily="18" charset="0"/>
                          </a:rPr>
                          <m:t>𝑋</m:t>
                        </m:r>
                        <m:r>
                          <a:rPr lang="ar-AE">
                            <a:latin typeface="Cambria Math" panose="02040503050406030204" pitchFamily="18" charset="0"/>
                          </a:rPr>
                          <m:t>−</m:t>
                        </m:r>
                        <m:r>
                          <m:rPr>
                            <m:nor/>
                          </m:rPr>
                          <a:rPr lang="en-US" i="1"/>
                          <m:t>median</m:t>
                        </m:r>
                      </m:num>
                      <m:den>
                        <m:r>
                          <a:rPr lang="ar-AE" i="1">
                            <a:latin typeface="Cambria Math" panose="02040503050406030204" pitchFamily="18" charset="0"/>
                          </a:rPr>
                          <m:t>𝑄</m:t>
                        </m:r>
                        <m:r>
                          <a:rPr lang="ar-AE">
                            <a:latin typeface="Cambria Math" panose="02040503050406030204" pitchFamily="18" charset="0"/>
                          </a:rPr>
                          <m:t>3</m:t>
                        </m:r>
                        <m:r>
                          <a:rPr lang="ar-AE">
                            <a:latin typeface="Cambria Math" panose="02040503050406030204" pitchFamily="18" charset="0"/>
                          </a:rPr>
                          <m:t>−</m:t>
                        </m:r>
                        <m:r>
                          <a:rPr lang="ar-AE" i="1">
                            <a:latin typeface="Cambria Math" panose="02040503050406030204" pitchFamily="18" charset="0"/>
                          </a:rPr>
                          <m:t>𝑄</m:t>
                        </m:r>
                        <m:r>
                          <a:rPr lang="ar-AE">
                            <a:latin typeface="Cambria Math" panose="02040503050406030204" pitchFamily="18" charset="0"/>
                          </a:rPr>
                          <m:t>1</m:t>
                        </m:r>
                      </m:den>
                    </m:f>
                  </m:oMath>
                </a14:m>
                <a:endParaRPr lang="ar-AE" dirty="0"/>
              </a:p>
              <a:p>
                <a:r>
                  <a:rPr lang="ar-AE" dirty="0"/>
                  <a:t>𝑋</a:t>
                </a:r>
                <a:r>
                  <a:rPr lang="en-US" dirty="0"/>
                  <a:t>scaled=𝑋−median𝑄3−𝑄1</a:t>
                </a:r>
              </a:p>
              <a:p>
                <a:r>
                  <a:rPr lang="en-US" b="1" dirty="0"/>
                  <a:t>Outlier Resistance:</a:t>
                </a:r>
                <a:r>
                  <a:rPr lang="en-US" dirty="0"/>
                  <a:t> Because it uses the median and IQR (middle 50% of data) rather than the mean and standard deviation, outliers have minimal influence on the scaled data.</a:t>
                </a:r>
              </a:p>
              <a:p>
                <a:r>
                  <a:rPr lang="en-US" b="1" dirty="0"/>
                  <a:t>Centered Data:</a:t>
                </a:r>
                <a:r>
                  <a:rPr lang="en-US" dirty="0"/>
                  <a:t> The resulting data has a median of 0.</a:t>
                </a:r>
              </a:p>
              <a:p>
                <a:r>
                  <a:rPr lang="en-US" b="1" dirty="0"/>
                  <a:t>Scaling Metric:</a:t>
                </a:r>
                <a:r>
                  <a:rPr lang="en-US" dirty="0"/>
                  <a:t> The data is scaled based on the spread of the central 50% of the data (IQR).</a:t>
                </a:r>
              </a:p>
              <a:p>
                <a:r>
                  <a:rPr lang="en-US" b="1" dirty="0"/>
                  <a:t>Usage:</a:t>
                </a:r>
                <a:r>
                  <a:rPr lang="en-US" dirty="0"/>
                  <a:t> It is highly useful in scenarios where outliers represent legitimate, rare, or noisy data that should not be removed but cannot be allowed to dominate, such as in </a:t>
                </a:r>
                <a:r>
                  <a:rPr lang="en-US" dirty="0">
                    <a:hlinkClick r:id="rId3"/>
                  </a:rPr>
                  <a:t>sensor data</a:t>
                </a:r>
                <a:r>
                  <a:rPr lang="en-US" dirty="0"/>
                  <a:t>.</a:t>
                </a:r>
              </a:p>
              <a:p>
                <a:r>
                  <a:rPr lang="en-US" b="1" dirty="0"/>
                  <a:t>Implementation:</a:t>
                </a:r>
                <a:r>
                  <a:rPr lang="en-US" dirty="0"/>
                  <a:t> In Python's scikit-learn library, this is implemented using the </a:t>
                </a:r>
                <a:r>
                  <a:rPr lang="en-US" dirty="0" err="1"/>
                  <a:t>RobustScaler</a:t>
                </a:r>
                <a:r>
                  <a:rPr lang="en-US" dirty="0"/>
                  <a:t> class. </a:t>
                </a:r>
              </a:p>
              <a:p>
                <a:r>
                  <a:rPr lang="en-US" b="1" dirty="0" err="1"/>
                  <a:t>RobustScaler</a:t>
                </a:r>
                <a:r>
                  <a:rPr lang="en-US" b="1" dirty="0"/>
                  <a:t> vs. Other Scalers</a:t>
                </a:r>
                <a:r>
                  <a:rPr lang="en-US" dirty="0"/>
                  <a:t> </a:t>
                </a:r>
              </a:p>
              <a:p>
                <a:r>
                  <a:rPr lang="en-US" b="1" dirty="0" err="1">
                    <a:hlinkClick r:id="rId4"/>
                  </a:rPr>
                  <a:t>StandardScaler</a:t>
                </a:r>
                <a:r>
                  <a:rPr lang="en-US" b="1" dirty="0"/>
                  <a:t> (Standardization):</a:t>
                </a:r>
                <a:r>
                  <a:rPr lang="en-US" dirty="0"/>
                  <a:t> Uses mean and standard deviation, which are highly sensitive to outliers.</a:t>
                </a:r>
              </a:p>
              <a:p>
                <a:r>
                  <a:rPr lang="en-US" b="1" dirty="0" err="1">
                    <a:hlinkClick r:id="rId5"/>
                  </a:rPr>
                  <a:t>MinMaxScaler</a:t>
                </a:r>
                <a:r>
                  <a:rPr lang="en-US" b="1" dirty="0"/>
                  <a:t> (Normalization):</a:t>
                </a:r>
                <a:r>
                  <a:rPr lang="en-US" dirty="0"/>
                  <a:t> Scales data to a fixed range (usually [0]), but outliers can cause the majority of data to be compressed into a very small range.</a:t>
                </a:r>
              </a:p>
              <a:p>
                <a:r>
                  <a:rPr lang="en-US" b="1" dirty="0" err="1">
                    <a:hlinkClick r:id="rId6"/>
                  </a:rPr>
                  <a:t>RobustScaler</a:t>
                </a:r>
                <a:r>
                  <a:rPr lang="en-US" b="1" dirty="0"/>
                  <a:t>:</a:t>
                </a:r>
                <a:r>
                  <a:rPr lang="en-US" dirty="0"/>
                  <a:t> Provides a middle ground that keeps data on a similar scale to standardization but ensures the scaling is not distorted by extreme values.</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F1EC20E1-7BC2-26CD-B137-3DAF75037B31}"/>
                  </a:ext>
                </a:extLst>
              </p:cNvPr>
              <p:cNvSpPr>
                <a:spLocks noGrp="1" noRot="1" noChangeAspect="1" noMove="1" noResize="1" noEditPoints="1" noAdjustHandles="1" noChangeArrowheads="1" noChangeShapeType="1" noTextEdit="1"/>
              </p:cNvSpPr>
              <p:nvPr>
                <p:ph idx="1"/>
              </p:nvPr>
            </p:nvSpPr>
            <p:spPr>
              <a:blipFill>
                <a:blip r:embed="rId7"/>
                <a:stretch>
                  <a:fillRect t="-560"/>
                </a:stretch>
              </a:blipFill>
            </p:spPr>
            <p:txBody>
              <a:bodyPr/>
              <a:lstStyle/>
              <a:p>
                <a:r>
                  <a:rPr lang="en-US">
                    <a:noFill/>
                  </a:rPr>
                  <a:t> </a:t>
                </a:r>
              </a:p>
            </p:txBody>
          </p:sp>
        </mc:Fallback>
      </mc:AlternateContent>
    </p:spTree>
    <p:extLst>
      <p:ext uri="{BB962C8B-B14F-4D97-AF65-F5344CB8AC3E}">
        <p14:creationId xmlns:p14="http://schemas.microsoft.com/office/powerpoint/2010/main" val="603448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p:txBody>
          <a:bodyPr>
            <a:normAutofit lnSpcReduction="10000"/>
          </a:bodyPr>
          <a:lstStyle/>
          <a:p>
            <a:r>
              <a:rPr lang="pt-BR" dirty="0"/>
              <a:t>Armadilhas comuns ao ajustar dados de teste: </a:t>
            </a:r>
          </a:p>
          <a:p>
            <a:r>
              <a:rPr lang="pt-BR" dirty="0"/>
              <a:t>Sempre ajuste o escalador no conjunto de treinamento e transforme os conjuntos de treinamento e teste para evitar vazamento de dados. Escala da variável alvo: Geralmente, apenas os recursos de entrada (X) devem ser escalados, não o rótulo alvo (y).</a:t>
            </a:r>
          </a:p>
          <a:p>
            <a:r>
              <a:rPr lang="pt-BR" dirty="0"/>
              <a:t>"Nunca ajuste (</a:t>
            </a:r>
            <a:r>
              <a:rPr lang="pt-BR" dirty="0" err="1"/>
              <a:t>fit</a:t>
            </a:r>
            <a:r>
              <a:rPr lang="pt-BR" dirty="0"/>
              <a:t>) o </a:t>
            </a:r>
            <a:r>
              <a:rPr lang="pt-BR" dirty="0" err="1"/>
              <a:t>scaler</a:t>
            </a:r>
            <a:r>
              <a:rPr lang="pt-BR" dirty="0"/>
              <a:t> com dados de teste — ajuste somente no </a:t>
            </a:r>
            <a:r>
              <a:rPr lang="pt-BR" i="1" dirty="0" err="1"/>
              <a:t>train</a:t>
            </a:r>
            <a:r>
              <a:rPr lang="pt-BR" dirty="0"/>
              <a:t> e aplique ao </a:t>
            </a:r>
            <a:r>
              <a:rPr lang="pt-BR" i="1" dirty="0" err="1"/>
              <a:t>test</a:t>
            </a:r>
            <a:r>
              <a:rPr lang="pt-BR" dirty="0"/>
              <a:t> (evita vazamento).“</a:t>
            </a:r>
          </a:p>
          <a:p>
            <a:endParaRPr lang="pt-BR" dirty="0"/>
          </a:p>
          <a:p>
            <a:r>
              <a:rPr lang="pt-BR" dirty="0"/>
              <a:t>Escalonar features binárias/</a:t>
            </a:r>
            <a:r>
              <a:rPr lang="pt-BR" dirty="0" err="1"/>
              <a:t>one</a:t>
            </a:r>
            <a:r>
              <a:rPr lang="pt-BR" dirty="0"/>
              <a:t>-hot sem necessidade (pode criar valores fracionários desnecessários).</a:t>
            </a:r>
            <a:endParaRPr lang="en-US" dirty="0"/>
          </a:p>
        </p:txBody>
      </p:sp>
    </p:spTree>
    <p:extLst>
      <p:ext uri="{BB962C8B-B14F-4D97-AF65-F5344CB8AC3E}">
        <p14:creationId xmlns:p14="http://schemas.microsoft.com/office/powerpoint/2010/main" val="8775267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fontScale="92500" lnSpcReduction="10000"/>
          </a:bodyPr>
          <a:lstStyle/>
          <a:p>
            <a:pPr marL="0" indent="0">
              <a:buNone/>
            </a:pPr>
            <a:r>
              <a:rPr lang="pt-BR" sz="4000" b="1" dirty="0">
                <a:solidFill>
                  <a:srgbClr val="FF0000"/>
                </a:solidFill>
              </a:rPr>
              <a:t>Transformações</a:t>
            </a:r>
          </a:p>
          <a:p>
            <a:r>
              <a:rPr lang="pt-BR" sz="4000" b="1" dirty="0">
                <a:solidFill>
                  <a:srgbClr val="FF0000"/>
                </a:solidFill>
              </a:rPr>
              <a:t>Engenharia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a:p>
            <a:r>
              <a:rPr lang="pt-BR" sz="4000" b="1" dirty="0">
                <a:solidFill>
                  <a:srgbClr val="FF0000"/>
                </a:solidFill>
              </a:rPr>
              <a:t>Escalonamento (Ajustando as Lentes):</a:t>
            </a:r>
            <a:r>
              <a:rPr lang="pt-BR" sz="4000" dirty="0">
                <a:solidFill>
                  <a:srgbClr val="FF0000"/>
                </a:solidFill>
              </a:rPr>
              <a:t> 25 min</a:t>
            </a:r>
          </a:p>
          <a:p>
            <a:pPr lvl="1"/>
            <a:r>
              <a:rPr lang="pt-BR" sz="3600" dirty="0">
                <a:solidFill>
                  <a:srgbClr val="FF0000"/>
                </a:solidFill>
              </a:rPr>
              <a:t>Normalização e padronização (escala de variáveis). </a:t>
            </a:r>
          </a:p>
          <a:p>
            <a:r>
              <a:rPr lang="pt-BR" sz="4000" b="1" dirty="0">
                <a:solidFill>
                  <a:srgbClr val="FF0000"/>
                </a:solidFill>
              </a:rPr>
              <a:t>Codificação de variáveis categóricas:</a:t>
            </a:r>
            <a:r>
              <a:rPr lang="pt-BR" sz="4000" dirty="0">
                <a:solidFill>
                  <a:srgbClr val="FF0000"/>
                </a:solidFill>
              </a:rPr>
              <a:t> </a:t>
            </a:r>
            <a:r>
              <a:rPr lang="pt-BR" sz="4000" dirty="0" err="1">
                <a:solidFill>
                  <a:srgbClr val="FF0000"/>
                </a:solidFill>
              </a:rPr>
              <a:t>one</a:t>
            </a:r>
            <a:r>
              <a:rPr lang="pt-BR" sz="4000" dirty="0">
                <a:solidFill>
                  <a:srgbClr val="FF0000"/>
                </a:solidFill>
              </a:rPr>
              <a:t>-hot, </a:t>
            </a:r>
            <a:r>
              <a:rPr lang="pt-BR" sz="4000" dirty="0" err="1">
                <a:solidFill>
                  <a:srgbClr val="FF0000"/>
                </a:solidFill>
              </a:rPr>
              <a:t>label</a:t>
            </a:r>
            <a:r>
              <a:rPr lang="pt-BR" sz="4000" dirty="0">
                <a:solidFill>
                  <a:srgbClr val="FF0000"/>
                </a:solidFill>
              </a:rPr>
              <a:t> </a:t>
            </a:r>
            <a:r>
              <a:rPr lang="pt-BR" sz="4000" dirty="0" err="1">
                <a:solidFill>
                  <a:srgbClr val="FF0000"/>
                </a:solidFill>
              </a:rPr>
              <a:t>encoding</a:t>
            </a:r>
            <a:r>
              <a:rPr lang="pt-BR" sz="4000" dirty="0">
                <a:solidFill>
                  <a:srgbClr val="FF0000"/>
                </a:solidFill>
              </a:rPr>
              <a:t>.</a:t>
            </a:r>
          </a:p>
        </p:txBody>
      </p:sp>
    </p:spTree>
    <p:extLst>
      <p:ext uri="{BB962C8B-B14F-4D97-AF65-F5344CB8AC3E}">
        <p14:creationId xmlns:p14="http://schemas.microsoft.com/office/powerpoint/2010/main" val="31870715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p:txBody>
          <a:bodyPr/>
          <a:lstStyle/>
          <a:p>
            <a:r>
              <a:rPr lang="pt-BR" dirty="0"/>
              <a:t>Transformar ou criar novos atributos para extrair mais significado.</a:t>
            </a:r>
          </a:p>
          <a:p>
            <a:r>
              <a:rPr lang="pt-BR" dirty="0"/>
              <a:t>➡ Exemplo: separar data em:</a:t>
            </a:r>
          </a:p>
          <a:p>
            <a:r>
              <a:rPr lang="pt-BR" dirty="0"/>
              <a:t>dia, mês, ano</a:t>
            </a:r>
          </a:p>
          <a:p>
            <a:r>
              <a:rPr lang="pt-BR" dirty="0"/>
              <a:t>dia da semana</a:t>
            </a:r>
          </a:p>
          <a:p>
            <a:r>
              <a:rPr lang="pt-BR" dirty="0"/>
              <a:t>💡 Atividade rápida: </a:t>
            </a:r>
            <a:r>
              <a:rPr lang="pt-BR" i="1" dirty="0"/>
              <a:t>Crie uma feature divertida (ex.: “hora do dia” → manhã/tarde/noite).</a:t>
            </a:r>
            <a:endParaRPr lang="pt-BR" dirty="0"/>
          </a:p>
          <a:p>
            <a:endParaRPr lang="en-US" dirty="0"/>
          </a:p>
        </p:txBody>
      </p:sp>
    </p:spTree>
    <p:extLst>
      <p:ext uri="{BB962C8B-B14F-4D97-AF65-F5344CB8AC3E}">
        <p14:creationId xmlns:p14="http://schemas.microsoft.com/office/powerpoint/2010/main" val="33674785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p:txBody>
          <a:bodyPr>
            <a:normAutofit fontScale="85000" lnSpcReduction="10000"/>
          </a:bodyPr>
          <a:lstStyle/>
          <a:p>
            <a:r>
              <a:rPr lang="pt-BR" b="1" dirty="0"/>
              <a:t>Texto do slide:</a:t>
            </a:r>
            <a:endParaRPr lang="pt-BR" dirty="0"/>
          </a:p>
          <a:p>
            <a:r>
              <a:rPr lang="pt-BR" dirty="0"/>
              <a:t>Criar features a partir de: datas, texto, agregações, interações</a:t>
            </a:r>
          </a:p>
          <a:p>
            <a:r>
              <a:rPr lang="pt-BR" dirty="0"/>
              <a:t>Exemplos: </a:t>
            </a:r>
            <a:r>
              <a:rPr lang="pt-BR" dirty="0" err="1"/>
              <a:t>dia_da_semana</a:t>
            </a:r>
            <a:r>
              <a:rPr lang="pt-BR" dirty="0"/>
              <a:t>, </a:t>
            </a:r>
            <a:r>
              <a:rPr lang="pt-BR" dirty="0" err="1"/>
              <a:t>tempo_desde_ultima_compra</a:t>
            </a:r>
            <a:r>
              <a:rPr lang="pt-BR" dirty="0"/>
              <a:t>, </a:t>
            </a:r>
            <a:r>
              <a:rPr lang="pt-BR" dirty="0" err="1"/>
              <a:t>freq_media</a:t>
            </a:r>
            <a:endParaRPr lang="pt-BR" dirty="0"/>
          </a:p>
          <a:p>
            <a:r>
              <a:rPr lang="pt-BR" b="1" dirty="0"/>
              <a:t>Notas do professor:</a:t>
            </a:r>
            <a:endParaRPr lang="pt-BR" dirty="0"/>
          </a:p>
          <a:p>
            <a:r>
              <a:rPr lang="pt-BR" dirty="0"/>
              <a:t>Mostrar antes/depois: como uma nova feature melhora correlação com target.</a:t>
            </a:r>
          </a:p>
          <a:p>
            <a:r>
              <a:rPr lang="pt-BR" dirty="0"/>
              <a:t>Atividade curta (5 min): em grupos, pensem numa feature nova para um dataset de e‑commerce.</a:t>
            </a:r>
          </a:p>
          <a:p>
            <a:r>
              <a:rPr lang="pt-BR" b="1" dirty="0"/>
              <a:t>Código curto:</a:t>
            </a:r>
            <a:endParaRPr lang="pt-BR" dirty="0"/>
          </a:p>
          <a:p>
            <a:r>
              <a:rPr lang="pt-BR" dirty="0" err="1"/>
              <a:t>df</a:t>
            </a:r>
            <a:r>
              <a:rPr lang="pt-BR" dirty="0"/>
              <a:t>['</a:t>
            </a:r>
            <a:r>
              <a:rPr lang="pt-BR" dirty="0" err="1"/>
              <a:t>dia_semana</a:t>
            </a:r>
            <a:r>
              <a:rPr lang="pt-BR" dirty="0"/>
              <a:t>'] = </a:t>
            </a:r>
            <a:r>
              <a:rPr lang="pt-BR" dirty="0" err="1"/>
              <a:t>df</a:t>
            </a:r>
            <a:r>
              <a:rPr lang="pt-BR" dirty="0"/>
              <a:t>['</a:t>
            </a:r>
            <a:r>
              <a:rPr lang="pt-BR" dirty="0" err="1"/>
              <a:t>data_compra</a:t>
            </a:r>
            <a:r>
              <a:rPr lang="pt-BR" dirty="0"/>
              <a:t>'].</a:t>
            </a:r>
            <a:r>
              <a:rPr lang="pt-BR" dirty="0" err="1"/>
              <a:t>dt.dayofweek</a:t>
            </a:r>
            <a:endParaRPr lang="pt-BR" dirty="0"/>
          </a:p>
          <a:p>
            <a:r>
              <a:rPr lang="pt-BR" b="1" dirty="0"/>
              <a:t>Dica divertida:</a:t>
            </a:r>
            <a:r>
              <a:rPr lang="pt-BR" dirty="0"/>
              <a:t> transforme datas em categorias como "madrugada", "hora do almoço".</a:t>
            </a:r>
          </a:p>
        </p:txBody>
      </p:sp>
    </p:spTree>
    <p:extLst>
      <p:ext uri="{BB962C8B-B14F-4D97-AF65-F5344CB8AC3E}">
        <p14:creationId xmlns:p14="http://schemas.microsoft.com/office/powerpoint/2010/main" val="4109988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DF078-B9E8-64A5-59BB-3F6BD098D931}"/>
              </a:ext>
            </a:extLst>
          </p:cNvPr>
          <p:cNvSpPr>
            <a:spLocks noGrp="1"/>
          </p:cNvSpPr>
          <p:nvPr>
            <p:ph type="title"/>
          </p:nvPr>
        </p:nvSpPr>
        <p:spPr/>
        <p:txBody>
          <a:bodyPr/>
          <a:lstStyle/>
          <a:p>
            <a:r>
              <a:rPr lang="en-US" dirty="0" err="1"/>
              <a:t>Codificação</a:t>
            </a:r>
            <a:r>
              <a:rPr lang="en-US" dirty="0"/>
              <a:t> de </a:t>
            </a:r>
            <a:r>
              <a:rPr lang="en-US" dirty="0" err="1"/>
              <a:t>variáveis</a:t>
            </a:r>
            <a:r>
              <a:rPr lang="en-US" dirty="0"/>
              <a:t> </a:t>
            </a:r>
            <a:r>
              <a:rPr lang="en-US" dirty="0" err="1"/>
              <a:t>categóricas</a:t>
            </a:r>
            <a:endParaRPr lang="en-US" dirty="0"/>
          </a:p>
        </p:txBody>
      </p:sp>
      <p:sp>
        <p:nvSpPr>
          <p:cNvPr id="3" name="Content Placeholder 2">
            <a:extLst>
              <a:ext uri="{FF2B5EF4-FFF2-40B4-BE49-F238E27FC236}">
                <a16:creationId xmlns:a16="http://schemas.microsoft.com/office/drawing/2014/main" id="{00BC64E6-60A5-6C81-8D65-4C4765C4A26C}"/>
              </a:ext>
            </a:extLst>
          </p:cNvPr>
          <p:cNvSpPr>
            <a:spLocks noGrp="1"/>
          </p:cNvSpPr>
          <p:nvPr>
            <p:ph idx="1"/>
          </p:nvPr>
        </p:nvSpPr>
        <p:spPr/>
        <p:txBody>
          <a:bodyPr/>
          <a:lstStyle/>
          <a:p>
            <a:r>
              <a:rPr lang="pt-BR" dirty="0"/>
              <a:t>Transformar texto em número:</a:t>
            </a:r>
            <a:br>
              <a:rPr lang="pt-BR" dirty="0"/>
            </a:br>
            <a:r>
              <a:rPr lang="pt-BR" dirty="0"/>
              <a:t>✔ </a:t>
            </a:r>
            <a:r>
              <a:rPr lang="pt-BR" dirty="0" err="1"/>
              <a:t>One</a:t>
            </a:r>
            <a:r>
              <a:rPr lang="pt-BR" dirty="0"/>
              <a:t>-Hot </a:t>
            </a:r>
            <a:r>
              <a:rPr lang="pt-BR" dirty="0" err="1"/>
              <a:t>Encoding</a:t>
            </a:r>
            <a:br>
              <a:rPr lang="pt-BR" dirty="0"/>
            </a:br>
            <a:r>
              <a:rPr lang="pt-BR" dirty="0"/>
              <a:t>✔ </a:t>
            </a:r>
            <a:r>
              <a:rPr lang="pt-BR" dirty="0" err="1"/>
              <a:t>Label</a:t>
            </a:r>
            <a:r>
              <a:rPr lang="pt-BR" dirty="0"/>
              <a:t> </a:t>
            </a:r>
            <a:r>
              <a:rPr lang="pt-BR" dirty="0" err="1"/>
              <a:t>Encoding</a:t>
            </a:r>
            <a:endParaRPr lang="pt-BR" dirty="0"/>
          </a:p>
          <a:p>
            <a:r>
              <a:rPr lang="pt-BR" dirty="0"/>
              <a:t>Exemplo:</a:t>
            </a:r>
          </a:p>
          <a:p>
            <a:r>
              <a:rPr lang="pt-BR" dirty="0"/>
              <a:t>Cor vermelho azul→ → →vermelho:1, azul:0</a:t>
            </a:r>
          </a:p>
          <a:p>
            <a:r>
              <a:rPr lang="pt-BR" dirty="0"/>
              <a:t>Dica prática: use emojis para representar categorias!</a:t>
            </a:r>
          </a:p>
          <a:p>
            <a:endParaRPr lang="en-US" dirty="0"/>
          </a:p>
          <a:p>
            <a:endParaRPr lang="en-US" dirty="0"/>
          </a:p>
        </p:txBody>
      </p:sp>
    </p:spTree>
    <p:extLst>
      <p:ext uri="{BB962C8B-B14F-4D97-AF65-F5344CB8AC3E}">
        <p14:creationId xmlns:p14="http://schemas.microsoft.com/office/powerpoint/2010/main" val="13135397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8223</TotalTime>
  <Words>2682</Words>
  <Application>Microsoft Office PowerPoint</Application>
  <PresentationFormat>Widescreen</PresentationFormat>
  <Paragraphs>216</Paragraphs>
  <Slides>29</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Normalização (Min-Max Scaling)</vt:lpstr>
      <vt:lpstr>Padronização (Standard Scaling)</vt:lpstr>
      <vt:lpstr>Padronização (Standard Scaling)</vt:lpstr>
      <vt:lpstr>Padronização (Standard Scaling)</vt:lpstr>
      <vt:lpstr>PowerPoint Presentation</vt:lpstr>
      <vt:lpstr>Escalonamento robusto (Robust Scaling)</vt:lpstr>
      <vt:lpstr>Escalonamento robusto (Robust Scaling)</vt:lpstr>
      <vt:lpstr>Robust scaling</vt:lpstr>
      <vt:lpstr>PowerPoint Presentation</vt:lpstr>
      <vt:lpstr>Sobre o que falar?</vt:lpstr>
      <vt:lpstr>Engenharia de atributos</vt:lpstr>
      <vt:lpstr>Engenharia de atributos</vt:lpstr>
      <vt:lpstr>Codificação de variáveis categóricas</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1811</cp:revision>
  <dcterms:created xsi:type="dcterms:W3CDTF">2020-01-20T13:50:05Z</dcterms:created>
  <dcterms:modified xsi:type="dcterms:W3CDTF">2026-02-02T01:46:59Z</dcterms:modified>
</cp:coreProperties>
</file>