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0"/>
  </p:notesMasterIdLst>
  <p:handoutMasterIdLst>
    <p:handoutMasterId r:id="rId51"/>
  </p:handoutMasterIdLst>
  <p:sldIdLst>
    <p:sldId id="256" r:id="rId2"/>
    <p:sldId id="322" r:id="rId3"/>
    <p:sldId id="316" r:id="rId4"/>
    <p:sldId id="363" r:id="rId5"/>
    <p:sldId id="337" r:id="rId6"/>
    <p:sldId id="365" r:id="rId7"/>
    <p:sldId id="326" r:id="rId8"/>
    <p:sldId id="330" r:id="rId9"/>
    <p:sldId id="319" r:id="rId10"/>
    <p:sldId id="329" r:id="rId11"/>
    <p:sldId id="327" r:id="rId12"/>
    <p:sldId id="341" r:id="rId13"/>
    <p:sldId id="334" r:id="rId14"/>
    <p:sldId id="335" r:id="rId15"/>
    <p:sldId id="339" r:id="rId16"/>
    <p:sldId id="340" r:id="rId17"/>
    <p:sldId id="336" r:id="rId18"/>
    <p:sldId id="343" r:id="rId19"/>
    <p:sldId id="342" r:id="rId20"/>
    <p:sldId id="328" r:id="rId21"/>
    <p:sldId id="344" r:id="rId22"/>
    <p:sldId id="345" r:id="rId23"/>
    <p:sldId id="346" r:id="rId24"/>
    <p:sldId id="347" r:id="rId25"/>
    <p:sldId id="348" r:id="rId26"/>
    <p:sldId id="349" r:id="rId27"/>
    <p:sldId id="317" r:id="rId28"/>
    <p:sldId id="320" r:id="rId29"/>
    <p:sldId id="353" r:id="rId30"/>
    <p:sldId id="354" r:id="rId31"/>
    <p:sldId id="355" r:id="rId32"/>
    <p:sldId id="361" r:id="rId33"/>
    <p:sldId id="366" r:id="rId34"/>
    <p:sldId id="357" r:id="rId35"/>
    <p:sldId id="359" r:id="rId36"/>
    <p:sldId id="360" r:id="rId37"/>
    <p:sldId id="358" r:id="rId38"/>
    <p:sldId id="362" r:id="rId39"/>
    <p:sldId id="367" r:id="rId40"/>
    <p:sldId id="368" r:id="rId41"/>
    <p:sldId id="370" r:id="rId42"/>
    <p:sldId id="372" r:id="rId43"/>
    <p:sldId id="371" r:id="rId44"/>
    <p:sldId id="373" r:id="rId45"/>
    <p:sldId id="356" r:id="rId46"/>
    <p:sldId id="338" r:id="rId47"/>
    <p:sldId id="293" r:id="rId48"/>
    <p:sldId id="306" r:id="rId4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6/02/2026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06/02/2026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information-gain-and-mutual-information-for-machine-learning/" TargetMode="External"/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cuidar, selecionar, organizar, adaptar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30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Quando usar seleção antes da extração</a:t>
            </a:r>
          </a:p>
          <a:p>
            <a:endParaRPr lang="pt-BR" dirty="0"/>
          </a:p>
          <a:p>
            <a:r>
              <a:rPr lang="pt-BR" dirty="0"/>
              <a:t>Há casos onde pode ser preferível: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dados com muitos atributos irrelevantes:</a:t>
            </a:r>
            <a:r>
              <a:rPr lang="pt-BR" dirty="0"/>
              <a:t> remover atributos inúteis </a:t>
            </a:r>
            <a:r>
              <a:rPr lang="pt-BR" i="1" dirty="0"/>
              <a:t>antes</a:t>
            </a:r>
            <a:r>
              <a:rPr lang="pt-BR" dirty="0"/>
              <a:t> de extrair ajuda a evitar que métodos de extração (como PCA) sejam influenciados por ruído ou redundância.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recursos computacionais limitados:</a:t>
            </a:r>
            <a:r>
              <a:rPr lang="pt-BR" dirty="0"/>
              <a:t> uma seleção inicial pode reduzir drasticamente a quantidade de dados que métodos de extração precisam processar.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69032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04F64-359D-B866-632E-1525166D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E216A-92E3-EC84-99B4-F917C76BC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10488-755C-A3D5-6753-6ACA1D1AF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C5698-8B49-29BF-453E-FB2DB9A5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7649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06401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AD7AA-0655-8E48-DF0B-8D4DDCC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214CE0-9112-17E5-F67C-A2291E223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8B5CB0-BEA9-3AEB-315C-471D7DA8D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4580F-B050-B7E1-BBD1-F4C92C2D8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02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4135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9BA35-6F89-0BB9-6A15-9A14EACDB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066353-8D75-DA06-B6B6-3EEE5474E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C1F271-2284-A7E4-9254-5F8452B69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8099E-2282-DD7D-6C34-5E9A5168D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8817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ED0CA-78E3-EA29-70A5-6545A644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9884F-E702-79E1-9E1E-0B2445D46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B43843-7B98-0234-A23B-F468EDAA4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0E6C1-419B-5940-971A-A218E9D15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576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F8A2C-ADE6-950F-1696-F46F7CEB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7BCA1-C677-8F52-5427-0F691AE7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D0D15-A25E-65FD-F1A5-513ED5641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D2D6-5D54-2470-89D5-A060CBE89E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3082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28CA1-01F6-4480-35DB-8BB34983B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398D-07A6-7B0D-340C-EFF1B2885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6081E3-4839-F706-AA6D-36B8D101B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Musk."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F2532-F79F-CBC9-E9FF-E998E79153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82371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5AAF4-3E4E-61DB-5981-D83FCAD1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07ACA-77DF-28FA-3B66-1B244EECB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ADE028-FFFC-7435-BB36-CD3A2420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Oferece um meio-termo que mantém os dados em uma escala semelhante à da padronização, mas garante que a escala não seja distorcida por valores extremos.</a:t>
            </a:r>
          </a:p>
          <a:p>
            <a:endParaRPr lang="pt-BR" b="1" dirty="0"/>
          </a:p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A12BF-2D34-C626-F9C4-AF0F7CD1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6141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7A17-F670-79CF-DF05-7BF12108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5DE1E6-3C6D-845B-07FE-6000E19D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7E17B7-4F2C-8B34-0F7C-2CB52C0B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D7E354-A812-3533-15B8-B2C05476C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444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D578-D126-C8CD-C2BA-CBFC787E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FE7FEA-16F0-9910-0989-1883BB32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8219F0-D8E8-8A81-97B4-AECF0BBEA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mantém a relação de distância entre os dados não-discrepantes melhor que o Standard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há ruído extremo.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i.e., eles não distorcem tanto a escala geral.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5AC8A-50E7-6136-9B5C-235A931AE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5151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2758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5AACA-C1BE-8A29-1FCB-662C7528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75792-3F26-46A3-22E7-4BD98B3697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A760E0-F44C-F8E7-EA56-D8E5837C2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57961-DACC-B2D1-355A-7BFFF155D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54628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1B8E2-8FB4-ABBE-C258-A19EABA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AA54D-D921-A0D1-8F81-E689E5B46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5C974-F53B-919C-4B9E-3E911E541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C15CB-C54E-7FB2-B15A-8FAC11003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3482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55CC4-F30A-A9FA-9DDD-082690987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220E7-8A30-2A57-6CC8-32EB4AE20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64DC2E-4BED-69DA-25A3-14C1CC6DE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D61D4-F283-FA5C-B9B3-7B9D25FC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9925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0111E-C562-814A-4B28-55A0BF53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3F6C9-39CC-9515-FB72-E68168A7A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698751-6CC0-5667-0E8C-ED24F1B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EA7BB1-A2E9-8F2F-66E3-17600B04B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7752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(Engenharia de Atributos/Features) </a:t>
            </a:r>
            <a:r>
              <a:rPr lang="pt-BR" dirty="0"/>
              <a:t>é o processo crucial de usar conhecimento de domínio e criatividade para transformar dados brutos em variáveis (features) mais úteis e informativas</a:t>
            </a: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r>
              <a:rPr lang="pt-BR" b="1" dirty="0"/>
              <a:t>Definição:</a:t>
            </a:r>
            <a:r>
              <a:rPr lang="pt-BR" dirty="0"/>
              <a:t> Usar conhecimento de domínio para criar variáveis que o modelo entenda melhor.</a:t>
            </a:r>
          </a:p>
          <a:p>
            <a:pPr marL="0" indent="0">
              <a:buNone/>
            </a:pPr>
            <a:r>
              <a:rPr lang="pt-BR" dirty="0"/>
              <a:t>É a arte de criar novas colunas a partir das existentes para facilitar a descoberta de padrões.</a:t>
            </a:r>
          </a:p>
          <a:p>
            <a:pPr marL="0" indent="0">
              <a:buNone/>
            </a:pPr>
            <a:r>
              <a:rPr lang="pt-BR" dirty="0"/>
              <a:t>Criar novas variáveis a partir das existentes para melhorar a capacidade de predição.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conhecimento de domínio</a:t>
            </a:r>
            <a:r>
              <a:rPr lang="pt-BR" dirty="0"/>
              <a:t> é o </a:t>
            </a:r>
            <a:r>
              <a:rPr lang="pt-BR" b="1" dirty="0"/>
              <a:t>entendimento profundo do contexto real do problema</a:t>
            </a:r>
            <a:r>
              <a:rPr lang="pt-BR" dirty="0"/>
              <a:t>, do negócio ou da área onde os dados foram gerados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2516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Extração de atributos (feature </a:t>
            </a:r>
            <a:r>
              <a:rPr lang="pt-BR" b="1" dirty="0" err="1"/>
              <a:t>extraction</a:t>
            </a:r>
            <a:r>
              <a:rPr lang="pt-BR" b="1" dirty="0"/>
              <a:t>):</a:t>
            </a:r>
            <a:r>
              <a:rPr lang="pt-BR" dirty="0"/>
              <a:t> cria </a:t>
            </a:r>
            <a:r>
              <a:rPr lang="pt-BR" i="1" dirty="0"/>
              <a:t>novas</a:t>
            </a:r>
            <a:r>
              <a:rPr lang="pt-BR" dirty="0"/>
              <a:t> representações dos dados (ex.: PCA, </a:t>
            </a:r>
            <a:r>
              <a:rPr lang="pt-BR" dirty="0" err="1"/>
              <a:t>autoencoders</a:t>
            </a:r>
            <a:r>
              <a:rPr lang="pt-BR" dirty="0"/>
              <a:t>), reduzindo dimensionalidade através de transformações.</a:t>
            </a:r>
          </a:p>
          <a:p>
            <a:endParaRPr lang="pt-BR" dirty="0"/>
          </a:p>
          <a:p>
            <a:r>
              <a:rPr lang="pt-BR" dirty="0"/>
              <a:t>A extração de características em aprendizado de máquina é o processo de transformar dados brutos em um conjunto menor de características numéricas significativas que podem ser processadas de forma mais eficiente, mantendo as informações essenciais.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o processo de redução da quantidade de atributos a serem processados ​​utilizando técnicas de redução de dimensionalidade.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 conjunto de dados menor e mais refinado requer menos recursos computacionais para armazenamento, processamento e treinamento, o que é crucial para conjuntos de dados grandes.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87811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40257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7ABA2-3850-7615-FB8C-3EDA185E6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0495-A427-A07D-66C6-44A1AB4C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43CE4F-5059-FE45-AEEF-D1290A43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0A46B-CEA0-D388-0846-98A3CA0C0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36598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5FE33-E198-F37E-DB7F-2131AC10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AC853-E4F7-D306-2683-D5A081D6D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C6B000-368B-B2C7-C3B9-F74524B8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Problema: A "Régua Rígida"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PCA é uma técnica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Como você pode ver na figura, ele tenta traçar linhas retas ($PC_1$ e $PC_2$) para capturar a variância.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os dados formam uma curva (não linear), o PCA vai tentar "esmagar" essa curva em uma linha reta.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Você perde a estrutura real dos dados. É como tentar descrever uma mola usando apenas uma régua reta; você perde toda a informação da espiral.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61C39A-BA44-919F-9164-4B9F42BBC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46826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https://www.analyticsvidhya.com/blog/2020/10/feature-selection-techniques-in-machine-learning/</a:t>
            </a:r>
          </a:p>
          <a:p>
            <a:pPr fontAlgn="base"/>
            <a:endParaRPr lang="en-US" sz="1200" b="1" i="0" u="sng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hlinkClick r:id="rId3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1875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575ED-00EA-1A5C-013A-B92A0B0E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C3B23E-78FC-1419-5528-C98DB1CDA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FC7E3C-4FAE-6137-2627-124C0A123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Rápidos e eficientes:</a:t>
            </a:r>
            <a:r>
              <a:rPr lang="pt-BR" dirty="0"/>
              <a:t> Métodos de filtro são computacionalmente baratos, sendo ideais para grandes conjuntos de dados.</a:t>
            </a:r>
          </a:p>
          <a:p>
            <a:r>
              <a:rPr lang="pt-BR" b="1" dirty="0"/>
              <a:t>Fáceis de implementar:</a:t>
            </a:r>
            <a:r>
              <a:rPr lang="pt-BR" dirty="0"/>
              <a:t> Geralmente estão disponíveis em bibliotecas populares de machine learning, exigindo pouco esforço de codificação.</a:t>
            </a:r>
          </a:p>
          <a:p>
            <a:r>
              <a:rPr lang="pt-BR" b="1" dirty="0"/>
              <a:t>Independentes do modelo:</a:t>
            </a:r>
            <a:r>
              <a:rPr lang="pt-BR" dirty="0"/>
              <a:t> Podem ser usados com qualquer tipo de modelo de machine learning, o que os torna bastante versáteis.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Interação limitada com o modelo:</a:t>
            </a:r>
            <a:r>
              <a:rPr lang="pt-BR" dirty="0"/>
              <a:t> Por operarem de forma independente, podem não capturar interações entre variáveis importantes para a predição.</a:t>
            </a:r>
          </a:p>
          <a:p>
            <a:r>
              <a:rPr lang="pt-BR" b="1" dirty="0"/>
              <a:t>Escolha da métrica adequada:</a:t>
            </a:r>
            <a:r>
              <a:rPr lang="pt-BR" dirty="0"/>
              <a:t> Selecionar a métrica correta para o tipo de dado e tarefa é essencial para um bom desempenho.</a:t>
            </a:r>
          </a:p>
          <a:p>
            <a:pPr fontAlgn="base"/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pPr rtl="0"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7C362-F337-06BC-CC04-92D604865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696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CF05-A8E3-D5CD-E9EE-05102DB6E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31E76-80A9-71A3-8F89-738DF3884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F4280E-BA2D-FD05-3DD6-97CBAD94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Otimização específica para o modelo:</a:t>
            </a:r>
            <a:r>
              <a:rPr lang="pt-BR" dirty="0"/>
              <a:t> Métodos </a:t>
            </a:r>
            <a:r>
              <a:rPr lang="pt-BR" dirty="0" err="1"/>
              <a:t>wrapper</a:t>
            </a:r>
            <a:r>
              <a:rPr lang="pt-BR" dirty="0"/>
              <a:t> consideram diretamente como as features influenciam o modelo, podendo levar a um desempenho superior em comparação aos métodos de filtro.</a:t>
            </a:r>
          </a:p>
          <a:p>
            <a:r>
              <a:rPr lang="pt-BR" b="1" dirty="0"/>
              <a:t>Flexíveis:</a:t>
            </a:r>
            <a:r>
              <a:rPr lang="pt-BR" dirty="0"/>
              <a:t> Podem ser adaptados a diferentes tipos de modelos e métricas de avaliação.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Alto custo computacional:</a:t>
            </a:r>
            <a:r>
              <a:rPr lang="pt-BR" dirty="0"/>
              <a:t> Avaliar diferentes combinações de features pode ser demorado, especialmente em conjuntos de dados grandes.</a:t>
            </a:r>
          </a:p>
          <a:p>
            <a:r>
              <a:rPr lang="pt-BR" b="1" dirty="0"/>
              <a:t>Risco de </a:t>
            </a:r>
            <a:r>
              <a:rPr lang="pt-BR" b="1" dirty="0" err="1"/>
              <a:t>overfitting</a:t>
            </a:r>
            <a:r>
              <a:rPr lang="pt-BR" b="1" dirty="0"/>
              <a:t>:</a:t>
            </a:r>
            <a:r>
              <a:rPr lang="pt-BR" dirty="0"/>
              <a:t> Ajustar excessivamente as features a um modelo específico pode gerar um modelo </a:t>
            </a:r>
            <a:r>
              <a:rPr lang="pt-BR" dirty="0" err="1"/>
              <a:t>sobreajustado</a:t>
            </a:r>
            <a:r>
              <a:rPr lang="pt-BR" dirty="0"/>
              <a:t>, com baixo desempenho em dados não vistos.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71FF8-EE8E-4813-AB94-9DE983B6A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616102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B3CB2-A980-1ABA-D325-CB60F398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2818D-0A75-815E-1CAC-5E6927BED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B83EF4-31C3-80B2-3905-E05181C7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Eficientes e eficazes: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alcançar bons resultados sem o alto custo computacional de alguns métodos </a:t>
            </a:r>
            <a:r>
              <a:rPr lang="pt-BR" dirty="0" err="1"/>
              <a:t>wrapper</a:t>
            </a:r>
            <a:r>
              <a:rPr lang="pt-BR" dirty="0"/>
              <a:t>.</a:t>
            </a:r>
          </a:p>
          <a:p>
            <a:r>
              <a:rPr lang="pt-BR" b="1" dirty="0"/>
              <a:t>Aprendizado específico do modelo:</a:t>
            </a:r>
            <a:r>
              <a:rPr lang="pt-BR" dirty="0"/>
              <a:t> Assim como os métodos </a:t>
            </a:r>
            <a:r>
              <a:rPr lang="pt-BR" dirty="0" err="1"/>
              <a:t>wrapper</a:t>
            </a:r>
            <a:r>
              <a:rPr lang="pt-BR" dirty="0"/>
              <a:t>, essas técnicas utilizam o próprio processo de aprendizado para identificar as features mais relevantes.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Interpretabilidade limitada: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ser mais difíceis de interpretar em comparação aos métodos de filtro, tornando menos claro o motivo da escolha de determinadas features.</a:t>
            </a:r>
          </a:p>
          <a:p>
            <a:r>
              <a:rPr lang="pt-BR" b="1" dirty="0"/>
              <a:t>Aplicabilidade restrita:</a:t>
            </a:r>
            <a:r>
              <a:rPr lang="pt-BR" dirty="0"/>
              <a:t> Nem todos os algoritmos de machine learning suportam técnicas </a:t>
            </a:r>
            <a:r>
              <a:rPr lang="pt-BR" dirty="0" err="1"/>
              <a:t>embedded</a:t>
            </a:r>
            <a:r>
              <a:rPr lang="pt-BR" dirty="0"/>
              <a:t> de seleção de features.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D3269-1FB1-61A3-8368-DEEFE1D3C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21013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9190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pre_processing.ipynb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5778595-FA45-2665-F4CA-BDE619496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43" y="1366894"/>
            <a:ext cx="8171095" cy="4456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98BB58-D4F0-B94D-2632-92980C5EFACB}"/>
              </a:ext>
            </a:extLst>
          </p:cNvPr>
          <p:cNvSpPr txBox="1"/>
          <p:nvPr/>
        </p:nvSpPr>
        <p:spPr>
          <a:xfrm>
            <a:off x="8643256" y="2564324"/>
            <a:ext cx="31459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Continuamos na jornada de curadoria dos dados.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9864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veremos?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771" cy="4351338"/>
          </a:xfrm>
        </p:spPr>
        <p:txBody>
          <a:bodyPr/>
          <a:lstStyle/>
          <a:p>
            <a:r>
              <a:rPr lang="pt-BR" dirty="0"/>
              <a:t>Veremos algumas técnicas de transformação ou pré-processamento dos dados: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Divisão</a:t>
            </a:r>
            <a:r>
              <a:rPr lang="en-US" dirty="0"/>
              <a:t> do </a:t>
            </a:r>
            <a:r>
              <a:rPr lang="en-US" i="1" dirty="0"/>
              <a:t>dataset,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Extração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Seleção</a:t>
            </a:r>
            <a:r>
              <a:rPr lang="en-US" dirty="0"/>
              <a:t> de </a:t>
            </a:r>
            <a:r>
              <a:rPr lang="en-US" dirty="0" err="1"/>
              <a:t>atribuitos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1B1FA-D3D9-B761-84A9-4EE944FE6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Antes de falarmos sobre as transformações, temos que falar sobre a divisão do </a:t>
            </a:r>
            <a:r>
              <a:rPr lang="pt-BR" sz="6600" i="1" dirty="0"/>
              <a:t>dataset</a:t>
            </a:r>
            <a:r>
              <a:rPr lang="pt-BR" sz="6600" dirty="0"/>
              <a:t> original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29912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14A78-63ED-67C2-7C75-578530B33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AA6DB-6F6F-4101-954E-36363841E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Em ML, o objetivo não é apenas aprender os dados disponíveis, mas generalizar bem para dados novos (i.e., inéditos).</a:t>
            </a:r>
          </a:p>
          <a:p>
            <a:r>
              <a:rPr lang="pt-BR" dirty="0"/>
              <a:t>Para isso, o </a:t>
            </a:r>
            <a:r>
              <a:rPr lang="pt-BR" i="1" dirty="0"/>
              <a:t>dataset</a:t>
            </a:r>
            <a:r>
              <a:rPr lang="pt-BR" dirty="0"/>
              <a:t> é dividido em três subconjuntos: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Validação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Teste</a:t>
            </a:r>
          </a:p>
          <a:p>
            <a:r>
              <a:rPr lang="pt-BR" dirty="0"/>
              <a:t>Todos os três devem ser representativos do problema/fenômeno sendo analisado.</a:t>
            </a:r>
          </a:p>
          <a:p>
            <a:r>
              <a:rPr lang="pt-BR" dirty="0"/>
              <a:t>Em geral, mas não é regra, divide-se o </a:t>
            </a:r>
            <a:r>
              <a:rPr lang="pt-BR" i="1" dirty="0"/>
              <a:t>dataset</a:t>
            </a:r>
            <a:r>
              <a:rPr lang="pt-BR" dirty="0"/>
              <a:t> original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70, 15, 15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80, 10, 10</a:t>
            </a:r>
          </a:p>
        </p:txBody>
      </p:sp>
    </p:spTree>
    <p:extLst>
      <p:ext uri="{BB962C8B-B14F-4D97-AF65-F5344CB8AC3E}">
        <p14:creationId xmlns:p14="http://schemas.microsoft.com/office/powerpoint/2010/main" val="15277979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E11FA-E96F-DB4C-09E3-2099E3AC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02C-D48D-8EC7-5CF4-A33BDCB9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C9DBC-518B-A226-F3EB-82943F83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O conjunto de treinamento é para treinar os modelos de ML.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onde o modelo “aprende” os padrões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Quanto mais representativo, melhor o aprendizado.</a:t>
            </a:r>
          </a:p>
          <a:p>
            <a:r>
              <a:rPr lang="pt-BR" dirty="0"/>
              <a:t>O conjunto de validação avalia o modelo durante o desenvolvimento.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Evita que o modelo decore os dados de treinamento (i.e., se sobreajuste/</a:t>
            </a:r>
            <a:r>
              <a:rPr lang="pt-BR" i="1" dirty="0" err="1"/>
              <a:t>overfit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hiperparâmetros.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arquiteturas.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Decidir quando parar o treinamento (</a:t>
            </a:r>
            <a:r>
              <a:rPr lang="pt-BR" i="1" dirty="0"/>
              <a:t>early stopping</a:t>
            </a:r>
            <a:r>
              <a:rPr lang="pt-BR" dirty="0"/>
              <a:t>).</a:t>
            </a:r>
          </a:p>
          <a:p>
            <a:r>
              <a:rPr lang="pt-BR" dirty="0"/>
              <a:t>O conjunto de teste valida a capacidade de generalização dos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Usado uma única vez, ao final.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Fornece uma estimativa imparcial do desempenho real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Simula dados nunca vistos.</a:t>
            </a:r>
          </a:p>
        </p:txBody>
      </p:sp>
    </p:spTree>
    <p:extLst>
      <p:ext uri="{BB962C8B-B14F-4D97-AF65-F5344CB8AC3E}">
        <p14:creationId xmlns:p14="http://schemas.microsoft.com/office/powerpoint/2010/main" val="1527454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55A6E-1BBE-1B2F-EFA7-34BD6DADF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8F56E1-39E7-4262-76D8-430FD829E7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14950" y="1825624"/>
                <a:ext cx="668110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A: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B: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não conhecem as unidades do mundo real, eles conhecem apenas números!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8F56E1-39E7-4262-76D8-430FD829E7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14950" y="1825624"/>
                <a:ext cx="6681108" cy="5032375"/>
              </a:xfrm>
              <a:blipFill>
                <a:blip r:embed="rId3"/>
                <a:stretch>
                  <a:fillRect l="-1642" t="-1937" r="-17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98" name="Picture 2" descr="All about Feature Scaling | Towards Data Science">
            <a:extLst>
              <a:ext uri="{FF2B5EF4-FFF2-40B4-BE49-F238E27FC236}">
                <a16:creationId xmlns:a16="http://schemas.microsoft.com/office/drawing/2014/main" id="{E9F4CF00-3351-2EA1-5BB3-94F874A657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47" t="19206" r="23305" b="15555"/>
          <a:stretch>
            <a:fillRect/>
          </a:stretch>
        </p:blipFill>
        <p:spPr bwMode="auto">
          <a:xfrm>
            <a:off x="293913" y="2038577"/>
            <a:ext cx="4855991" cy="3850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58847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7226-7B42-3182-D8AB-53A5644A3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1BEE6-4EE6-2F0F-46BF-CB428A23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05601" y="1825624"/>
                <a:ext cx="5246914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A: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B: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não conhecem as unidades do mundo real, eles conhecem apenas números!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05601" y="1825624"/>
                <a:ext cx="5246914" cy="5032375"/>
              </a:xfrm>
              <a:blipFill>
                <a:blip r:embed="rId3"/>
                <a:stretch>
                  <a:fillRect l="-2091" t="-2663" r="-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E228E2A-3289-7CEE-B490-080A4F443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3"/>
          <a:stretch>
            <a:fillRect/>
          </a:stretch>
        </p:blipFill>
        <p:spPr>
          <a:xfrm>
            <a:off x="108857" y="2384466"/>
            <a:ext cx="6512302" cy="3189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857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285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Modelos de ML baseados em </a:t>
            </a:r>
            <a:r>
              <a:rPr lang="pt-BR" b="1" dirty="0"/>
              <a:t>distância</a:t>
            </a:r>
            <a:r>
              <a:rPr lang="pt-BR" dirty="0"/>
              <a:t> (e.g., KNN, SVM, PCA) ou </a:t>
            </a:r>
            <a:r>
              <a:rPr lang="pt-BR" b="1" dirty="0"/>
              <a:t>gradiente</a:t>
            </a:r>
            <a:r>
              <a:rPr lang="pt-BR" dirty="0"/>
              <a:t> (e.g., regressão linear/logística, redes neurais) são sensíveis à escala dos atributos.</a:t>
            </a:r>
          </a:p>
          <a:p>
            <a:r>
              <a:rPr lang="pt-BR" dirty="0"/>
              <a:t>Atributos com escala muito maior influenciam muito mais a previsão dos modelos do que atributos com escala menor.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exemplo da previsão do preço de casas, o modelo ignoraria os quartos e focaria só na área.</a:t>
            </a:r>
          </a:p>
        </p:txBody>
      </p:sp>
      <p:pic>
        <p:nvPicPr>
          <p:cNvPr id="5122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99B43FBF-4616-53AA-030A-E722F67C4B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1FC5D-6FEC-A156-FC5A-F69925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CAF9A-32DA-5822-59B2-8972B59B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B24C7-41C3-6780-C1B8-EBBB5A57F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4629" y="1825624"/>
            <a:ext cx="6542314" cy="5032375"/>
          </a:xfrm>
        </p:spPr>
        <p:txBody>
          <a:bodyPr>
            <a:normAutofit/>
          </a:bodyPr>
          <a:lstStyle/>
          <a:p>
            <a:r>
              <a:rPr lang="pt-BR" dirty="0"/>
              <a:t>Mas e se todos os atributos são importantes para a previsão do modelo?</a:t>
            </a:r>
          </a:p>
          <a:p>
            <a:r>
              <a:rPr lang="pt-BR" dirty="0"/>
              <a:t>O escalonamento iguala a influência dos atributos no modelo.</a:t>
            </a:r>
          </a:p>
          <a:p>
            <a:r>
              <a:rPr lang="pt-BR" dirty="0"/>
              <a:t>Escalonamento transforma valores de atributos para uma mesma escala, geralmente sem unidade definida.</a:t>
            </a:r>
          </a:p>
          <a:p>
            <a:r>
              <a:rPr lang="pt-BR" dirty="0"/>
              <a:t>Principais técnicas de escalonamento: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Padronização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Normalização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Escalonamento robusto</a:t>
            </a:r>
          </a:p>
          <a:p>
            <a:pPr lvl="1"/>
            <a:endParaRPr lang="pt-BR" b="1" dirty="0"/>
          </a:p>
        </p:txBody>
      </p:sp>
      <p:pic>
        <p:nvPicPr>
          <p:cNvPr id="4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BB65CFC1-6B1D-D444-7DAB-75B58C5A8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59833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E4DD6-C949-62F0-7FF2-D821C5B3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504D-CF81-0763-876C-200B893A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7963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todos os valores numéricos para uma escala fixa, geralmente entre 0 e 1.</a:t>
                </a:r>
                <a:endParaRPr lang="pt-BR" b="1" dirty="0"/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[0, 1],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pt-BR" dirty="0"/>
                  <a:t> são os valores mínimo e máximo de uma coluna (i.e., atributo).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79630" cy="5032375"/>
              </a:xfrm>
              <a:blipFill>
                <a:blip r:embed="rId3"/>
                <a:stretch>
                  <a:fillRect l="-109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588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A9B45-E0AC-C9AE-5FD5-5497AD766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6165C-B0D9-0375-517C-218CA055B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C156B7-5901-102A-9736-A2EAAA0CF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</a:t>
            </a:r>
            <a:r>
              <a:rPr lang="pt-BR" dirty="0"/>
              <a:t>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Dados sem </a:t>
            </a:r>
            <a:r>
              <a:rPr lang="pt-BR" i="1" dirty="0"/>
              <a:t>outliers</a:t>
            </a:r>
            <a:r>
              <a:rPr lang="pt-BR" dirty="0"/>
              <a:t> (analisar e remover antes),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 algoritmos que não pressupõem nenhuma distribuição (e.g., redes neurais, KNN)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e/ou que algoritmos que exigem entradas limitadas como os baseados em distância (e.g., </a:t>
            </a:r>
            <a:r>
              <a:rPr lang="en-US" dirty="0"/>
              <a:t>KNN, SVM, K-Means)</a:t>
            </a:r>
            <a:r>
              <a:rPr lang="pt-BR" dirty="0"/>
              <a:t> e gradiente (</a:t>
            </a:r>
            <a:r>
              <a:rPr lang="en-US" dirty="0"/>
              <a:t>Redes </a:t>
            </a:r>
            <a:r>
              <a:rPr lang="en-US" dirty="0" err="1"/>
              <a:t>Neurais</a:t>
            </a:r>
            <a:r>
              <a:rPr lang="en-US" dirty="0"/>
              <a:t>, </a:t>
            </a:r>
            <a:r>
              <a:rPr lang="en-US" dirty="0" err="1"/>
              <a:t>Regressões</a:t>
            </a:r>
            <a:r>
              <a:rPr lang="pt-BR" dirty="0"/>
              <a:t>).</a:t>
            </a:r>
          </a:p>
          <a:p>
            <a:r>
              <a:rPr lang="pt-BR" b="1" dirty="0"/>
              <a:t>Cuidado:</a:t>
            </a:r>
            <a:r>
              <a:rPr lang="pt-BR" dirty="0"/>
              <a:t> Muito sensível a </a:t>
            </a:r>
            <a:r>
              <a:rPr lang="pt-BR" i="1" dirty="0"/>
              <a:t>outliers. </a:t>
            </a: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extremo “esmaga” todos os outros valores para um intervalo muito pequeno próximo de zero.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valores (que não são </a:t>
            </a:r>
            <a:r>
              <a:rPr lang="pt-BR" i="1" dirty="0"/>
              <a:t>outliers</a:t>
            </a:r>
            <a:r>
              <a:rPr lang="pt-BR" dirty="0"/>
              <a:t>) acabam sendo transformados em valores muito pequenos, próximos de zero, perdendo a distinção entre eles.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reduz a eficácia do aprendizado, pois a diferença entre os valores reais é praticamente eliminada na escala normalizada. </a:t>
            </a:r>
          </a:p>
        </p:txBody>
      </p:sp>
    </p:spTree>
    <p:extLst>
      <p:ext uri="{BB962C8B-B14F-4D97-AF65-F5344CB8AC3E}">
        <p14:creationId xmlns:p14="http://schemas.microsoft.com/office/powerpoint/2010/main" val="924674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562E0-2AE8-02FC-9DCC-C800C019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BB7EC-614D-E681-2988-57753674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72B20-73AA-CEC0-1896-5F09B228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from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sklearn.preprocessing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normalizador</a:t>
            </a:r>
            <a:r>
              <a:rPr lang="en-US" i="1" dirty="0">
                <a:latin typeface="Consolas" panose="020B0609020204030204" pitchFamily="49" charset="0"/>
              </a:rPr>
              <a:t> com </a:t>
            </a:r>
            <a:r>
              <a:rPr lang="en-US" i="1" dirty="0" err="1">
                <a:latin typeface="Consolas" panose="020B0609020204030204" pitchFamily="49" charset="0"/>
              </a:rPr>
              <a:t>intervalo</a:t>
            </a:r>
            <a:r>
              <a:rPr lang="en-US" i="1" dirty="0">
                <a:latin typeface="Consolas" panose="020B0609020204030204" pitchFamily="49" charset="0"/>
              </a:rPr>
              <a:t> de 0 a 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feature_range</a:t>
            </a:r>
            <a:r>
              <a:rPr lang="en-US" dirty="0">
                <a:latin typeface="Consolas" panose="020B0609020204030204" pitchFamily="49" charset="0"/>
              </a:rPr>
              <a:t>=(0, 1))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normalização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93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7E27A-F64F-BD37-64AC-DCE4D923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24F9A-6932-BA2B-0C8B-88280995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os atributos para terem média 0 e desvio padrão 1, não impondo limites.</a:t>
                </a: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são a média e o desvio padrão de uma coluna (i.e., atributo).</a:t>
                </a:r>
              </a:p>
              <a:p>
                <a:r>
                  <a:rPr lang="pt-BR" b="1" dirty="0"/>
                  <a:t>Vantagens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Torna os dados "comparáveis" em termos do número de desvios padrão da média.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Mais robusto a </a:t>
                </a:r>
                <a:r>
                  <a:rPr lang="pt-BR" i="1" dirty="0"/>
                  <a:t>outliers</a:t>
                </a:r>
                <a:r>
                  <a:rPr lang="pt-BR" dirty="0"/>
                  <a:t>, mas não a </a:t>
                </a:r>
                <a:r>
                  <a:rPr lang="pt-BR" i="1" dirty="0"/>
                  <a:t>outliers</a:t>
                </a:r>
                <a:r>
                  <a:rPr lang="pt-BR" dirty="0"/>
                  <a:t> extremos.</a:t>
                </a:r>
              </a:p>
              <a:p>
                <a:pPr lvl="2">
                  <a:buFont typeface="Wingdings" panose="05000000000000000000" pitchFamily="2" charset="2"/>
                  <a:buChar char="§"/>
                </a:pPr>
                <a:r>
                  <a:rPr lang="pt-BR" dirty="0"/>
                  <a:t>Por não dividir os valores por um denominador muito grande, no caso da presença de </a:t>
                </a:r>
                <a:r>
                  <a:rPr lang="pt-BR" i="1" dirty="0"/>
                  <a:t>outliers</a:t>
                </a:r>
                <a:r>
                  <a:rPr lang="pt-BR" dirty="0"/>
                  <a:t>, não os transforma em valores próximos de zero e, portanto, não se perde a distinção entre eles.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1039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55876-1E2F-A829-24D7-6E67D4343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5A8A1-ABB5-8D3A-D7B8-B702B33BE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08648-F204-3557-03A6-4A8A93926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com algoritmos que assumem distribuição "normal" ou Gaussiana (e.g., GNB</a:t>
            </a:r>
            <a:r>
              <a:rPr lang="en-US" dirty="0"/>
              <a:t>, GMM, </a:t>
            </a:r>
            <a:r>
              <a:rPr lang="en-US" dirty="0" err="1"/>
              <a:t>alguns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para </a:t>
            </a:r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anomalias</a:t>
            </a:r>
            <a:r>
              <a:rPr lang="en-US" dirty="0"/>
              <a:t>)</a:t>
            </a:r>
            <a:r>
              <a:rPr lang="pt-BR" dirty="0"/>
              <a:t>,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os dados possuem </a:t>
            </a:r>
            <a:r>
              <a:rPr lang="pt-BR" i="1" dirty="0"/>
              <a:t>outliers</a:t>
            </a:r>
            <a:r>
              <a:rPr lang="en-US" dirty="0"/>
              <a:t>.</a:t>
            </a:r>
            <a:endParaRPr lang="pt-BR" dirty="0"/>
          </a:p>
          <a:p>
            <a:r>
              <a:rPr lang="pt-BR" b="1" dirty="0"/>
              <a:t>Cuidado: </a:t>
            </a:r>
            <a:r>
              <a:rPr lang="pt-BR" dirty="0"/>
              <a:t>Se os dados originais são assimétricos, eles continuarão assimétricos, apenas centralizados e com variância igual a 1. </a:t>
            </a:r>
          </a:p>
          <a:p>
            <a:r>
              <a:rPr lang="pt-BR" b="1" dirty="0"/>
              <a:t>Importante:</a:t>
            </a:r>
            <a:r>
              <a:rPr lang="pt-BR" dirty="0"/>
              <a:t> Se o conjunto de dados tiver </a:t>
            </a:r>
            <a:r>
              <a:rPr lang="pt-BR" i="1" dirty="0"/>
              <a:t>outliers</a:t>
            </a:r>
            <a:r>
              <a:rPr lang="pt-BR" dirty="0"/>
              <a:t> extremos, o escalonador robusto é uma opção superior à padronização, pois ignora os valores discrepantes no cálculo do escalonamento.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influenciar a média e variância dos atributos de forma negativa.</a:t>
            </a:r>
          </a:p>
        </p:txBody>
      </p:sp>
    </p:spTree>
    <p:extLst>
      <p:ext uri="{BB962C8B-B14F-4D97-AF65-F5344CB8AC3E}">
        <p14:creationId xmlns:p14="http://schemas.microsoft.com/office/powerpoint/2010/main" val="34479378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77714-D30D-81C3-3BE9-7601747F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4492A-4A23-9842-8A7E-76151D3DB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94571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padronizador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padronização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8145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F0F9-20D7-154F-370F-D835643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CDABA-9A41-573A-0CB1-602907E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Usa mediana e distância interquartil no escalonamento.</a:t>
                </a:r>
                <a:endParaRPr lang="pt-BR" b="1" dirty="0">
                  <a:solidFill>
                    <a:srgbClr val="FF0000"/>
                  </a:solidFill>
                </a:endParaRP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mediana</m:t>
                          </m:r>
                        </m:num>
                        <m:den>
                          <m:limLow>
                            <m:limLow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IQR</m:t>
                              </m:r>
                            </m:lim>
                          </m:limLow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é a distância interquartil de um atributo.</a:t>
                </a:r>
              </a:p>
              <a:p>
                <a:r>
                  <a:rPr lang="pt-BR" b="1" dirty="0"/>
                  <a:t>Vantagem</a:t>
                </a:r>
                <a:r>
                  <a:rPr lang="pt-BR" dirty="0"/>
                  <a:t>: Por utilizar a mediana e 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em vez da média e do desvio padrão, os </a:t>
                </a:r>
                <a:r>
                  <a:rPr lang="pt-BR" i="1" dirty="0"/>
                  <a:t>outliers</a:t>
                </a:r>
                <a:r>
                  <a:rPr lang="pt-BR" dirty="0"/>
                  <a:t> têm influência mínima nos dados escalonados.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Mantém a relação de distância entre os valores não-discrepantes melhor que a padronização quando existem </a:t>
                </a:r>
                <a:r>
                  <a:rPr lang="pt-BR" i="1" dirty="0"/>
                  <a:t>outliers</a:t>
                </a:r>
                <a:r>
                  <a:rPr lang="pt-BR" dirty="0"/>
                  <a:t> extremos.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seja, não deixa que </a:t>
                </a:r>
                <a:r>
                  <a:rPr lang="pt-BR" i="1" dirty="0"/>
                  <a:t>outliers</a:t>
                </a:r>
                <a:r>
                  <a:rPr lang="pt-BR" dirty="0"/>
                  <a:t> extremos esmaguem os valores não-discrepantes em valores próximos de 0.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 r="-751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9608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9AD0-32FE-7BB6-65F1-4C9F82FC9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EB2E1-2720-CBAD-00A2-4211C0FA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CF40E-198B-DB74-AFFD-EA10FEF88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há </a:t>
            </a:r>
            <a:r>
              <a:rPr lang="pt-BR" i="1" dirty="0"/>
              <a:t>outliers</a:t>
            </a:r>
            <a:r>
              <a:rPr lang="pt-BR" dirty="0"/>
              <a:t> significativos, mas desejamos mantê-los sem impactar o escalonamento.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as distribuições são assimétricas ou com caudas longas.</a:t>
            </a:r>
          </a:p>
          <a:p>
            <a:r>
              <a:rPr lang="pt-BR" b="1" dirty="0"/>
              <a:t>Cuidado: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não remove os </a:t>
            </a:r>
            <a:r>
              <a:rPr lang="pt-BR" i="1" dirty="0"/>
              <a:t>outliers</a:t>
            </a:r>
            <a:r>
              <a:rPr lang="pt-BR" dirty="0"/>
              <a:t>, algoritmos sensíveis à distância (e.g., KNN, </a:t>
            </a:r>
            <a:r>
              <a:rPr lang="pt-BR" dirty="0" err="1"/>
              <a:t>Regressores</a:t>
            </a:r>
            <a:r>
              <a:rPr lang="pt-BR" dirty="0"/>
              <a:t>) podem ter seu aprendizado impactado.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escala dos dados não discrepantes é mantida, mas ele não esconde os </a:t>
            </a:r>
            <a:r>
              <a:rPr lang="pt-BR" i="1" dirty="0"/>
              <a:t>outliers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900424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438CB-284D-B132-E982-E10E2E0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015A9-D416-BD11-58AD-7B62F1B4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49F56-D00F-7D12-5FCD-BB6DCFC23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Instância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escalonador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robusto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Aprende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os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parâmetros</a:t>
            </a:r>
            <a:r>
              <a:rPr lang="en-US" dirty="0">
                <a:latin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</a:rPr>
              <a:t>escalonamento</a:t>
            </a:r>
            <a:r>
              <a:rPr lang="en-US" dirty="0">
                <a:latin typeface="Consolas" panose="020B0609020204030204" pitchFamily="49" charset="0"/>
              </a:rPr>
              <a:t> no </a:t>
            </a:r>
            <a:r>
              <a:rPr lang="en-US" dirty="0" err="1">
                <a:latin typeface="Consolas" panose="020B0609020204030204" pitchFamily="49" charset="0"/>
              </a:rPr>
              <a:t>treino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Aplica</a:t>
            </a:r>
            <a:r>
              <a:rPr lang="en-US" dirty="0">
                <a:latin typeface="Consolas" panose="020B0609020204030204" pitchFamily="49" charset="0"/>
              </a:rPr>
              <a:t> o scaler </a:t>
            </a:r>
            <a:r>
              <a:rPr lang="en-US" dirty="0" err="1">
                <a:latin typeface="Consolas" panose="020B0609020204030204" pitchFamily="49" charset="0"/>
              </a:rPr>
              <a:t>aprendido</a:t>
            </a:r>
            <a:r>
              <a:rPr lang="en-US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4837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2465D-3B71-C4D6-425F-FF182A66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Armadilhas comuns durante o escalonamento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48CE3-22F4-8F30-72FB-7BA864CCB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pt-BR" dirty="0"/>
              <a:t>Para evitar vazamento de dados, o escalonador deve sempre ser ajustado no conjunto de treinamento.</a:t>
            </a:r>
          </a:p>
          <a:p>
            <a:r>
              <a:rPr lang="pt-BR" dirty="0"/>
              <a:t>Os conjuntos de validação e teste, são transformados com os valores encontrados com o conjunto e treinamento.</a:t>
            </a:r>
          </a:p>
          <a:p>
            <a:r>
              <a:rPr lang="pt-BR" dirty="0"/>
              <a:t>Geralmente, não se aplica escalonamento à variável algo, i.e., os rótulos, apenas aos atributos.</a:t>
            </a:r>
          </a:p>
          <a:p>
            <a:r>
              <a:rPr lang="pt-BR" dirty="0"/>
              <a:t>Não se deve escalonar atributos binários ou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sem necessidade, pois pode-se criar valores fracionários desnecessários.</a:t>
            </a:r>
          </a:p>
        </p:txBody>
      </p:sp>
    </p:spTree>
    <p:extLst>
      <p:ext uri="{BB962C8B-B14F-4D97-AF65-F5344CB8AC3E}">
        <p14:creationId xmlns:p14="http://schemas.microsoft.com/office/powerpoint/2010/main" val="8775267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8DCA9-22E3-E7D2-4335-66012FBB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categóricos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35704-3008-E5B2-8105-C96099FC4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25201" cy="5032375"/>
          </a:xfrm>
        </p:spPr>
        <p:txBody>
          <a:bodyPr>
            <a:normAutofit/>
          </a:bodyPr>
          <a:lstStyle/>
          <a:p>
            <a:r>
              <a:rPr lang="pt-BR" b="1" dirty="0"/>
              <a:t>Motivação</a:t>
            </a:r>
            <a:r>
              <a:rPr lang="pt-BR" dirty="0"/>
              <a:t>: Modelos matemáticos não entendem texto, portanto, precisamos converter categorias em números.</a:t>
            </a:r>
          </a:p>
          <a:p>
            <a:r>
              <a:rPr lang="en-US" dirty="0"/>
              <a:t>As </a:t>
            </a:r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técnicas</a:t>
            </a:r>
            <a:r>
              <a:rPr lang="en-US" dirty="0"/>
              <a:t> de </a:t>
            </a:r>
            <a:r>
              <a:rPr lang="en-US" dirty="0" err="1"/>
              <a:t>codificação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: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One-Hot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Label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Target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/>
              <a:t>Binary </a:t>
            </a:r>
            <a:r>
              <a:rPr lang="en-US" dirty="0"/>
              <a:t>e</a:t>
            </a:r>
            <a:r>
              <a:rPr lang="en-US"/>
              <a:t>ncoding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A codificação pode ser considerada uma forma de engenharia de atributos.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3156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89AB-09B4-AB30-AAD4-587A6426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514B5-016A-AF18-EA86-F01A6813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52C18-6F1E-8230-5D96-63D8A5144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0" y="1825624"/>
            <a:ext cx="6172199" cy="5032375"/>
          </a:xfrm>
        </p:spPr>
        <p:txBody>
          <a:bodyPr>
            <a:normAutofit/>
          </a:bodyPr>
          <a:lstStyle/>
          <a:p>
            <a:r>
              <a:rPr lang="pt-BR" dirty="0"/>
              <a:t>Usada com atributos nominais (i.e., sem ordem) e com baixa cardinalidade (i.e., com poucas categorias distintas). </a:t>
            </a:r>
          </a:p>
          <a:p>
            <a:r>
              <a:rPr lang="pt-BR" b="1" dirty="0"/>
              <a:t>Como funciona:</a:t>
            </a:r>
            <a:r>
              <a:rPr lang="pt-BR" dirty="0"/>
              <a:t> Cria uma nova coluna binária para cada categoria distinta.</a:t>
            </a:r>
          </a:p>
          <a:p>
            <a:r>
              <a:rPr lang="pt-BR" b="1" dirty="0"/>
              <a:t>Limitação:</a:t>
            </a:r>
            <a:r>
              <a:rPr lang="pt-BR" dirty="0"/>
              <a:t> Gera alta dimensionalidade (i.e., muitas colunas) se houver muitas categorias, aumentando o custo computacional.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criar o problema conhecido como a “maldição da dimensionalidade”.</a:t>
            </a:r>
          </a:p>
        </p:txBody>
      </p:sp>
      <p:pic>
        <p:nvPicPr>
          <p:cNvPr id="2051" name="Picture 3" descr="One-Hot Encoding: A Comprehensive Guide with Python Implementation | by  Shubham Sangole | GoPenAI">
            <a:extLst>
              <a:ext uri="{FF2B5EF4-FFF2-40B4-BE49-F238E27FC236}">
                <a16:creationId xmlns:a16="http://schemas.microsoft.com/office/drawing/2014/main" id="{04411FF2-E0FD-9D33-63B9-86F2888D8A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37" t="8519" r="2382" b="57788"/>
          <a:stretch>
            <a:fillRect/>
          </a:stretch>
        </p:blipFill>
        <p:spPr bwMode="auto">
          <a:xfrm>
            <a:off x="381001" y="2846613"/>
            <a:ext cx="5072743" cy="2166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27027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A9C30-8D7C-8A1B-D798-06ED56DFC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9E73-5A60-3934-DCFD-CA42C618F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8BA66-6028-330D-1D57-30D6366E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058" y="1825624"/>
            <a:ext cx="694508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Converte cada categoria em um número inteiro único, mas sem considerar uma ordem. </a:t>
            </a:r>
          </a:p>
          <a:p>
            <a:r>
              <a:rPr lang="pt-BR" b="1" dirty="0"/>
              <a:t>Uso:</a:t>
            </a:r>
            <a:r>
              <a:rPr lang="pt-BR" dirty="0"/>
              <a:t> Indicada principalmente para a codificação do rótulo em problemas de classificação.</a:t>
            </a:r>
          </a:p>
          <a:p>
            <a:r>
              <a:rPr lang="pt-BR" b="1" dirty="0"/>
              <a:t>Risco:</a:t>
            </a:r>
            <a:r>
              <a:rPr lang="pt-BR" dirty="0"/>
              <a:t> Pode introduzir uma relação de ordem falsa que afeta negativamente algoritmos sensíveis a distâncias ou magnitudes (e.g., </a:t>
            </a:r>
            <a:r>
              <a:rPr lang="pt-BR" dirty="0" err="1"/>
              <a:t>regressores</a:t>
            </a:r>
            <a:r>
              <a:rPr lang="pt-BR" dirty="0"/>
              <a:t> linear e logístico e KNN).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tamanho de camisetas (P, M, G), faz sentido (ordinal).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animais e cores, não (nominal).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29D32B-8978-31FB-62B1-9E8E3D4004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1" t="7152" r="5331" b="8009"/>
          <a:stretch>
            <a:fillRect/>
          </a:stretch>
        </p:blipFill>
        <p:spPr>
          <a:xfrm>
            <a:off x="250371" y="2895600"/>
            <a:ext cx="4616969" cy="2166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0565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83D4-BDD8-E7FF-C7AE-3D255B871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E13F8-6196-AD06-DE47-12B16A60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3F122-99CE-8A1C-8288-BA542054E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9314" y="1825624"/>
            <a:ext cx="664028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Substitui cada categoria pela média do valor do alvo correspondente a essa categoria.</a:t>
            </a:r>
          </a:p>
          <a:p>
            <a:r>
              <a:rPr lang="pt-BR" b="1" dirty="0"/>
              <a:t>Quando usar:</a:t>
            </a:r>
            <a:r>
              <a:rPr lang="pt-BR" dirty="0"/>
              <a:t> Ideal para variáveis de alta cardinalidade, pois não aumenta a dimensionalidade do conjunto de dados e quando há relação entre a categoria e o </a:t>
            </a:r>
            <a:r>
              <a:rPr lang="pt-BR" i="1" dirty="0"/>
              <a:t>target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Overfitting</a:t>
            </a:r>
            <a:r>
              <a:rPr lang="pt-BR" dirty="0"/>
              <a:t> quando uma categoria tem poucos exemplos.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média do </a:t>
            </a:r>
            <a:r>
              <a:rPr lang="pt-BR" i="1" dirty="0"/>
              <a:t>target</a:t>
            </a:r>
            <a:r>
              <a:rPr lang="pt-BR" dirty="0"/>
              <a:t> pode refletir mais ruído do que padrão real dos dados, prejudicando a generalização.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id="{7BB7010D-52CF-95E3-7867-6467D4626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228600" y="3023466"/>
            <a:ext cx="4789715" cy="1766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53991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DD75A-3D20-1CFF-0CAC-A5CB15BA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F2449-F38A-4DF6-443B-1B77E3F3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68C86-94AE-24AE-A0EF-6A9D08305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1642" y="1825625"/>
            <a:ext cx="6750615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Combina os benefícios das codificações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e </a:t>
            </a:r>
            <a:r>
              <a:rPr lang="pt-BR" i="1" dirty="0" err="1"/>
              <a:t>Label</a:t>
            </a:r>
            <a:r>
              <a:rPr lang="pt-BR" dirty="0"/>
              <a:t>. </a:t>
            </a:r>
          </a:p>
          <a:p>
            <a:r>
              <a:rPr lang="pt-BR" dirty="0"/>
              <a:t>Cada categoria recebe um número inteiro (</a:t>
            </a:r>
            <a:r>
              <a:rPr lang="pt-BR" i="1" dirty="0" err="1"/>
              <a:t>Label</a:t>
            </a:r>
            <a:r>
              <a:rPr lang="pt-BR" dirty="0"/>
              <a:t>), e depois esse número é convertido </a:t>
            </a:r>
            <a:r>
              <a:rPr lang="en-US" dirty="0"/>
              <a:t>para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representação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r>
              <a:rPr lang="pt-BR" dirty="0"/>
              <a:t>, criando colunas para cada bit.</a:t>
            </a:r>
          </a:p>
          <a:p>
            <a:r>
              <a:rPr lang="pt-BR" b="1" dirty="0"/>
              <a:t>Quando usar:</a:t>
            </a:r>
            <a:r>
              <a:rPr lang="pt-BR" dirty="0"/>
              <a:t> Ótimo para variáveis categóricas de alta cardinalidade.</a:t>
            </a:r>
          </a:p>
          <a:p>
            <a:r>
              <a:rPr lang="pt-BR" b="1" dirty="0"/>
              <a:t>Desvantagem</a:t>
            </a:r>
            <a:r>
              <a:rPr lang="pt-BR" dirty="0"/>
              <a:t>: Por algumas categorias compartilharem bits, modelos lineares podem achar que existe uma relação matemática entre elas. Modelos de árvore (e.g., DT, RF) lidam bem com isso.</a:t>
            </a:r>
          </a:p>
        </p:txBody>
      </p:sp>
      <p:pic>
        <p:nvPicPr>
          <p:cNvPr id="3074" name="Picture 2" descr="7 Must-know Techniques For Encoding Categorical Feature">
            <a:extLst>
              <a:ext uri="{FF2B5EF4-FFF2-40B4-BE49-F238E27FC236}">
                <a16:creationId xmlns:a16="http://schemas.microsoft.com/office/drawing/2014/main" id="{7AEBA2C1-6D35-7636-7CD6-AC297809D1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t="10457" r="5625" b="19838"/>
          <a:stretch>
            <a:fillRect/>
          </a:stretch>
        </p:blipFill>
        <p:spPr bwMode="auto">
          <a:xfrm>
            <a:off x="283028" y="3177218"/>
            <a:ext cx="4833257" cy="1775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48256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E6AEB-4BFC-EF3A-CCC7-C66FB3B5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 de </a:t>
            </a:r>
            <a:r>
              <a:rPr lang="pt-BR" i="1" dirty="0" err="1"/>
              <a:t>encoding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D9A45-89F4-0472-434E-82FA5060D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29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sklearn.preprocessing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LabelEncoder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TargetEncoder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SciKit</a:t>
            </a:r>
            <a:r>
              <a:rPr lang="en-US" sz="2300" i="1" dirty="0">
                <a:latin typeface="Consolas" panose="020B0609020204030204" pitchFamily="49" charset="0"/>
              </a:rPr>
              <a:t>-Learn </a:t>
            </a:r>
            <a:r>
              <a:rPr lang="en-US" sz="2300" i="1" dirty="0" err="1">
                <a:latin typeface="Consolas" panose="020B0609020204030204" pitchFamily="49" charset="0"/>
              </a:rPr>
              <a:t>não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implementa</a:t>
            </a:r>
            <a:r>
              <a:rPr lang="en-US" sz="2300" i="1" dirty="0">
                <a:latin typeface="Consolas" panose="020B0609020204030204" pitchFamily="49" charset="0"/>
              </a:rPr>
              <a:t> o </a:t>
            </a:r>
            <a:r>
              <a:rPr lang="en-US" sz="2300" i="1" dirty="0" err="1">
                <a:latin typeface="Consolas" panose="020B0609020204030204" pitchFamily="49" charset="0"/>
              </a:rPr>
              <a:t>codificador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binário</a:t>
            </a:r>
            <a:r>
              <a:rPr lang="en-US" sz="2300" i="1" dirty="0">
                <a:latin typeface="Consolas" panose="020B0609020204030204" pitchFamily="49" charset="0"/>
              </a:rPr>
              <a:t> (pip install </a:t>
            </a:r>
            <a:r>
              <a:rPr lang="en-US" sz="2300" i="1" dirty="0" err="1">
                <a:latin typeface="Consolas" panose="020B0609020204030204" pitchFamily="49" charset="0"/>
              </a:rPr>
              <a:t>category_encoders</a:t>
            </a:r>
            <a:r>
              <a:rPr lang="en-US" sz="2300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category_encoders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BinaryEncoder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TargetEncoder</a:t>
            </a:r>
            <a:r>
              <a:rPr lang="en-US" sz="2300" i="1" dirty="0">
                <a:latin typeface="Consolas" panose="020B0609020204030204" pitchFamily="49" charset="0"/>
              </a:rPr>
              <a:t>() </a:t>
            </a:r>
            <a:r>
              <a:rPr lang="en-US" sz="2300" i="1" dirty="0" err="1">
                <a:latin typeface="Consolas" panose="020B0609020204030204" pitchFamily="49" charset="0"/>
              </a:rPr>
              <a:t>ou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BinaryEncoder</a:t>
            </a:r>
            <a:r>
              <a:rPr lang="en-US" sz="2300" i="1" dirty="0">
                <a:latin typeface="Consolas" panose="020B0609020204030204" pitchFamily="49" charset="0"/>
              </a:rPr>
              <a:t>()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enc =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()</a:t>
            </a:r>
            <a:endParaRPr lang="en-US" sz="2300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enc.fit_transform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X_train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     </a:t>
            </a: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enc.inverse_transform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71935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Definição: </a:t>
                </a:r>
                <a:r>
                  <a:rPr lang="pt-BR" dirty="0"/>
                  <a:t>É a transformação ou criação de novos atributos que sejam mais úteis e informativos. </a:t>
                </a:r>
              </a:p>
              <a:p>
                <a:r>
                  <a:rPr lang="en-US" b="1" dirty="0"/>
                  <a:t>Por </a:t>
                </a:r>
                <a:r>
                  <a:rPr lang="en-US" b="1" dirty="0" err="1"/>
                  <a:t>que</a:t>
                </a:r>
                <a:r>
                  <a:rPr lang="en-US" b="1" dirty="0"/>
                  <a:t> </a:t>
                </a:r>
                <a:r>
                  <a:rPr lang="en-US" b="1" dirty="0" err="1"/>
                  <a:t>fazer</a:t>
                </a:r>
                <a:r>
                  <a:rPr lang="en-US" dirty="0"/>
                  <a:t>: </a:t>
                </a:r>
                <a:r>
                  <a:rPr lang="pt-BR" dirty="0"/>
                  <a:t>Ajuda o modelo a enxergar relações que não estão óbvias.</a:t>
                </a:r>
              </a:p>
              <a:p>
                <a:r>
                  <a:rPr lang="pt-BR" b="1" dirty="0"/>
                  <a:t>Objetivo</a:t>
                </a:r>
                <a:r>
                  <a:rPr lang="pt-BR" dirty="0"/>
                  <a:t>: Melhorar a capacidade de predição (generalização) do modelo.</a:t>
                </a:r>
              </a:p>
              <a:p>
                <a:r>
                  <a:rPr lang="pt-BR" b="1" dirty="0"/>
                  <a:t>Exemplos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Data de nascimento → Idade, faixa etária.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Coordenadas GPS → Distância até certo ponto.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Preço e quantidade → Valor total da venda.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 err="1"/>
                  <a:t>Timestamp</a:t>
                </a:r>
                <a:r>
                  <a:rPr lang="pt-BR" dirty="0"/>
                  <a:t> → Hora, dia da semana, feriado?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Comprimento e largura → Área.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Interação entre atributos → Polinômios (e.g.,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pt-BR" dirty="0"/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  <a:blipFill>
                <a:blip r:embed="rId3"/>
                <a:stretch>
                  <a:fillRect l="-92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pandas as </a:t>
            </a:r>
            <a:r>
              <a:rPr lang="pt-BR" dirty="0" err="1">
                <a:latin typeface="Consolas" panose="020B0609020204030204" pitchFamily="49" charset="0"/>
              </a:rPr>
              <a:t>pd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Exemplo de dados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pd.DataFrame</a:t>
            </a:r>
            <a:r>
              <a:rPr lang="pt-BR" dirty="0">
                <a:latin typeface="Consolas" panose="020B0609020204030204" pitchFamily="49" charset="0"/>
              </a:rPr>
              <a:t>({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": [10, 20, 15],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"quantidade": [2, 1, 3],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"desconto": [0, 5, 0]})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Feature </a:t>
            </a:r>
            <a:r>
              <a:rPr lang="pt-BR" dirty="0" err="1">
                <a:latin typeface="Consolas" panose="020B0609020204030204" pitchFamily="49" charset="0"/>
              </a:rPr>
              <a:t>Engineering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valor_total</a:t>
            </a:r>
            <a:r>
              <a:rPr lang="pt-BR" dirty="0">
                <a:latin typeface="Consolas" panose="020B0609020204030204" pitchFamily="49" charset="0"/>
              </a:rPr>
              <a:t>"]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"] *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["quantidade"]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houve_desconto</a:t>
            </a:r>
            <a:r>
              <a:rPr lang="pt-BR" dirty="0">
                <a:latin typeface="Consolas" panose="020B0609020204030204" pitchFamily="49" charset="0"/>
              </a:rPr>
              <a:t>"] = 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["desconto"] &gt; 0).</a:t>
            </a:r>
            <a:r>
              <a:rPr lang="pt-BR" dirty="0" err="1">
                <a:latin typeface="Consolas" panose="020B0609020204030204" pitchFamily="49" charset="0"/>
              </a:rPr>
              <a:t>astype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6D7A6-03D2-CFC6-1F7F-CDB7CAC2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B6DEA-DC3C-E32E-8B87-E61169FB3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29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/>
              <a:t>transformar</a:t>
            </a:r>
            <a:r>
              <a:rPr lang="pt-BR" dirty="0"/>
              <a:t> dados brutos em um conjunto menor de atributos significativos que podem ser processados de forma mais eficiente, mantendo as informações essenciais (em geral, perde parte da informação).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Transforma os dados em uma representação mais eficiente</a:t>
            </a:r>
            <a:r>
              <a:rPr lang="pt-BR" dirty="0"/>
              <a:t>.</a:t>
            </a:r>
          </a:p>
          <a:p>
            <a:r>
              <a:rPr lang="pt-BR" b="1" dirty="0"/>
              <a:t>Por que fazer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a dimensionalidade,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 redundância,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os recursos computacionais necessários para armazenamento, processamento e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Acelera o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Melhora o desempenho do modelo, pois os dados são mais informativos e menos ruidosos.</a:t>
            </a:r>
          </a:p>
        </p:txBody>
      </p:sp>
    </p:spTree>
    <p:extLst>
      <p:ext uri="{BB962C8B-B14F-4D97-AF65-F5344CB8AC3E}">
        <p14:creationId xmlns:p14="http://schemas.microsoft.com/office/powerpoint/2010/main" val="36401856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EF4B4-F659-1DE7-6E62-D371CCA00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26942-5206-022D-4BE0-7148B2501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72800" cy="5032375"/>
          </a:xfrm>
        </p:spPr>
        <p:txBody>
          <a:bodyPr>
            <a:normAutofit/>
          </a:bodyPr>
          <a:lstStyle/>
          <a:p>
            <a:r>
              <a:rPr lang="en-US" b="1" dirty="0"/>
              <a:t>Dados </a:t>
            </a:r>
            <a:r>
              <a:rPr lang="en-US" b="1" dirty="0" err="1"/>
              <a:t>tabulares</a:t>
            </a:r>
            <a:r>
              <a:rPr lang="en-US" b="1" dirty="0"/>
              <a:t>: </a:t>
            </a:r>
            <a:r>
              <a:rPr lang="pt-BR" dirty="0"/>
              <a:t>Análise de componentes principais (PCA) e análise de componentes independentes (ICA)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Criam novos atributos não correlacionados que capturam a variância máxima (PCA) ou a independência dos atributos (ICA).</a:t>
            </a:r>
          </a:p>
          <a:p>
            <a:r>
              <a:rPr lang="en-US" b="1" dirty="0" err="1"/>
              <a:t>Texto</a:t>
            </a:r>
            <a:r>
              <a:rPr lang="en-US" dirty="0"/>
              <a:t>: </a:t>
            </a:r>
            <a:r>
              <a:rPr lang="pt-BR" i="1" dirty="0"/>
              <a:t>Bag </a:t>
            </a:r>
            <a:r>
              <a:rPr lang="pt-BR" i="1" dirty="0" err="1"/>
              <a:t>of</a:t>
            </a:r>
            <a:r>
              <a:rPr lang="pt-BR" i="1" dirty="0"/>
              <a:t> words </a:t>
            </a:r>
            <a:r>
              <a:rPr lang="pt-BR" dirty="0"/>
              <a:t>(</a:t>
            </a:r>
            <a:r>
              <a:rPr lang="pt-BR" dirty="0" err="1"/>
              <a:t>BoW</a:t>
            </a:r>
            <a:r>
              <a:rPr lang="pt-BR" dirty="0"/>
              <a:t>), </a:t>
            </a:r>
            <a:r>
              <a:rPr lang="pt-BR" i="1" dirty="0" err="1"/>
              <a:t>Term</a:t>
            </a:r>
            <a:r>
              <a:rPr lang="pt-BR" i="1" dirty="0"/>
              <a:t> Frequency-</a:t>
            </a:r>
            <a:r>
              <a:rPr lang="pt-BR" i="1" dirty="0" err="1"/>
              <a:t>Inverse</a:t>
            </a:r>
            <a:r>
              <a:rPr lang="pt-BR" i="1" dirty="0"/>
              <a:t> </a:t>
            </a:r>
            <a:r>
              <a:rPr lang="pt-BR" i="1" dirty="0" err="1"/>
              <a:t>Document</a:t>
            </a:r>
            <a:r>
              <a:rPr lang="pt-BR" i="1" dirty="0"/>
              <a:t> Frequency</a:t>
            </a:r>
            <a:r>
              <a:rPr lang="pt-BR" dirty="0"/>
              <a:t> (TF-IDF), </a:t>
            </a:r>
            <a:r>
              <a:rPr lang="pt-BR" i="1" dirty="0"/>
              <a:t>Word </a:t>
            </a:r>
            <a:r>
              <a:rPr lang="pt-BR" i="1" dirty="0" err="1"/>
              <a:t>Embeddings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texto em representações numéricas (modelos de ML entendem números), variando de contagens simples de palavras, a pesos informativos, até vetores densos que capturam significado e contexto.</a:t>
            </a:r>
          </a:p>
        </p:txBody>
      </p:sp>
    </p:spTree>
    <p:extLst>
      <p:ext uri="{BB962C8B-B14F-4D97-AF65-F5344CB8AC3E}">
        <p14:creationId xmlns:p14="http://schemas.microsoft.com/office/powerpoint/2010/main" val="25340486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50CC-E4E4-866D-D5C7-E4222B31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8C7CA-8174-8A0F-0146-60743B66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9F228-6F7A-6925-AA1A-83CC98A3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en-US" b="1" dirty="0" err="1"/>
              <a:t>Imagem</a:t>
            </a:r>
            <a:r>
              <a:rPr lang="en-US" dirty="0"/>
              <a:t>: </a:t>
            </a:r>
            <a:r>
              <a:rPr lang="en-US" i="1" dirty="0"/>
              <a:t>Histogram of Oriented Gradients</a:t>
            </a:r>
            <a:r>
              <a:rPr lang="en-US" dirty="0"/>
              <a:t> (HOG), </a:t>
            </a:r>
            <a:r>
              <a:rPr lang="en-US" i="1" dirty="0"/>
              <a:t>Scale-Invariant Feature Transform</a:t>
            </a:r>
            <a:r>
              <a:rPr lang="en-US" dirty="0"/>
              <a:t> (SIFT), </a:t>
            </a:r>
            <a:r>
              <a:rPr lang="en-US" i="1" dirty="0"/>
              <a:t>Convolutional Neural Network</a:t>
            </a:r>
            <a:r>
              <a:rPr lang="en-US" dirty="0"/>
              <a:t> (CNN).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</a:t>
            </a:r>
            <a:r>
              <a:rPr lang="pt-BR" i="1" dirty="0"/>
              <a:t>pixels</a:t>
            </a:r>
            <a:r>
              <a:rPr lang="pt-BR" dirty="0"/>
              <a:t> brutos em representações numéricas que capturam padrões visuais relevantes, como bordas, texturas, cores e estruturas semânticas, para facilitar o aprendizado dos modelos.</a:t>
            </a:r>
          </a:p>
          <a:p>
            <a:r>
              <a:rPr lang="pt-BR" b="1" dirty="0"/>
              <a:t>Séries temporais (áudio)</a:t>
            </a:r>
            <a:r>
              <a:rPr lang="pt-BR" dirty="0"/>
              <a:t>: </a:t>
            </a:r>
            <a:r>
              <a:rPr lang="en-US" i="1" dirty="0"/>
              <a:t>Mel-frequency cepstral coefficients</a:t>
            </a:r>
            <a:r>
              <a:rPr lang="en-US" dirty="0"/>
              <a:t> (MFCCs), </a:t>
            </a:r>
            <a:r>
              <a:rPr lang="en-US" dirty="0" err="1"/>
              <a:t>Transformada</a:t>
            </a:r>
            <a:r>
              <a:rPr lang="en-US" dirty="0"/>
              <a:t> </a:t>
            </a:r>
            <a:r>
              <a:rPr lang="en-US" dirty="0" err="1"/>
              <a:t>rápida</a:t>
            </a:r>
            <a:r>
              <a:rPr lang="en-US" dirty="0"/>
              <a:t> de Fourier (FFT), </a:t>
            </a:r>
            <a:r>
              <a:rPr lang="en-US" dirty="0" err="1"/>
              <a:t>Espectogramas</a:t>
            </a:r>
            <a:r>
              <a:rPr lang="en-US" dirty="0"/>
              <a:t>, </a:t>
            </a:r>
            <a:r>
              <a:rPr lang="en-US" dirty="0" err="1"/>
              <a:t>Transformada</a:t>
            </a:r>
            <a:r>
              <a:rPr lang="en-US" dirty="0"/>
              <a:t> de </a:t>
            </a:r>
            <a:r>
              <a:rPr lang="en-US" i="1" dirty="0"/>
              <a:t>Wavelet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os sinais em características que capturam propriedades espectrais ou de tempo-frequência.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0758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A07421-70E9-CE6B-B44C-E12574A16A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0997" y="625688"/>
            <a:ext cx="6250006" cy="5606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2009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246D2-1EAD-7218-711B-2937C4B7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Uma garrafa de vinho com forte sombra - Foto de stock de Garrafa de Vinho - Garrafa royalty-free">
            <a:extLst>
              <a:ext uri="{FF2B5EF4-FFF2-40B4-BE49-F238E27FC236}">
                <a16:creationId xmlns:a16="http://schemas.microsoft.com/office/drawing/2014/main" id="{F9318A64-59F1-5972-C02D-9238A2EE2F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6" t="10008" r="11161" b="20216"/>
          <a:stretch>
            <a:fillRect/>
          </a:stretch>
        </p:blipFill>
        <p:spPr bwMode="auto">
          <a:xfrm>
            <a:off x="1905000" y="1159328"/>
            <a:ext cx="7609115" cy="4539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A67754-AECE-E9E2-F60A-39D9E47534ED}"/>
              </a:ext>
            </a:extLst>
          </p:cNvPr>
          <p:cNvSpPr txBox="1"/>
          <p:nvPr/>
        </p:nvSpPr>
        <p:spPr>
          <a:xfrm>
            <a:off x="1281792" y="6179012"/>
            <a:ext cx="96284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0" i="0" dirty="0">
                <a:effectLst/>
              </a:rPr>
              <a:t>O PCA projeta dados de alta dimensão em um espaço de menor dimensão.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279142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5E37-BFF0-D601-7CAC-F57F89E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D06C3-5EDF-4BF5-C344-E650C60EE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1" cy="5032375"/>
          </a:xfrm>
        </p:spPr>
        <p:txBody>
          <a:bodyPr>
            <a:normAutofit/>
          </a:bodyPr>
          <a:lstStyle/>
          <a:p>
            <a:r>
              <a:rPr lang="pt-BR" dirty="0"/>
              <a:t>PCA funciona encontrando novas direções (componentes principais) que capturam o máximo de variância dos dados e </a:t>
            </a:r>
            <a:r>
              <a:rPr lang="pt-BR" b="1" dirty="0"/>
              <a:t>projetando</a:t>
            </a:r>
            <a:r>
              <a:rPr lang="pt-BR" dirty="0"/>
              <a:t> os dados nessas direções para reduzir a dimensionalidade com mínima perda de informação.</a:t>
            </a:r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95832D94-6CA3-74CA-953F-81502243BA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2508564" y="3429000"/>
            <a:ext cx="7174871" cy="3428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8346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BD960-B60C-7D80-DEBE-951EAB97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D1ACB-37E4-1262-7CA1-257836C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563BA-A520-CEA6-4C95-B4E96386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8745" y="1825624"/>
            <a:ext cx="5857055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O algoritmo encontra as direções que melhor descrevem como os dados estão espalhados (i.e., máxima variância).</a:t>
            </a:r>
          </a:p>
          <a:p>
            <a:r>
              <a:rPr lang="pt-BR" dirty="0"/>
              <a:t>Na figura, PC1 é a direção onde os dados variam mais.</a:t>
            </a:r>
          </a:p>
          <a:p>
            <a:r>
              <a:rPr lang="pt-BR" dirty="0"/>
              <a:t>Já PC2 é a direção ortogonal à PC1 com a segunda maior variância.</a:t>
            </a:r>
          </a:p>
          <a:p>
            <a:r>
              <a:rPr lang="pt-BR" dirty="0"/>
              <a:t>Mantendo PC1, preserva-se a maior parte da informação.</a:t>
            </a:r>
          </a:p>
          <a:p>
            <a:r>
              <a:rPr lang="pt-BR" dirty="0"/>
              <a:t>PC2 representa variação residual (menor importância).</a:t>
            </a:r>
          </a:p>
          <a:p>
            <a:endParaRPr lang="pt-BR" dirty="0"/>
          </a:p>
          <a:p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2042F2C9-8E5E-6B1C-CA29-BEF6D914A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08856" y="2370591"/>
            <a:ext cx="6149889" cy="2939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032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31546-F5F9-DFE0-8083-06256990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E97D0-8FC3-8364-395F-A8F74B3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2F978-6C6D-84DF-EA37-4EBED96DE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79628" cy="5032375"/>
          </a:xfrm>
        </p:spPr>
        <p:txBody>
          <a:bodyPr>
            <a:normAutofit/>
          </a:bodyPr>
          <a:lstStyle/>
          <a:p>
            <a:r>
              <a:rPr lang="pt-BR" dirty="0"/>
              <a:t>As PCs são ordenadas por variância.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matriz de </a:t>
            </a:r>
            <a:r>
              <a:rPr lang="pt-BR" b="1" dirty="0"/>
              <a:t>projeção</a:t>
            </a:r>
            <a:r>
              <a:rPr lang="pt-BR" dirty="0"/>
              <a:t> é ordenada da componente de maior variância para a menor.</a:t>
            </a:r>
          </a:p>
          <a:p>
            <a:r>
              <a:rPr lang="pt-BR" dirty="0"/>
              <a:t>Cada componente é uma </a:t>
            </a:r>
            <a:r>
              <a:rPr lang="pt-BR" b="1" dirty="0"/>
              <a:t>combinação linear</a:t>
            </a:r>
            <a:r>
              <a:rPr lang="pt-BR" dirty="0"/>
              <a:t> dos atributos originais.</a:t>
            </a:r>
          </a:p>
          <a:p>
            <a:r>
              <a:rPr lang="pt-BR" dirty="0"/>
              <a:t>O PCA </a:t>
            </a:r>
            <a:r>
              <a:rPr lang="pt-BR" b="1" dirty="0"/>
              <a:t>assume relações lineares entre os atributos </a:t>
            </a:r>
            <a:r>
              <a:rPr lang="pt-BR" dirty="0"/>
              <a:t>(traça linhas retas para capturar as variâncias).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os dados originais seguem um padrão curvo (como uma senoide	, meia lua ou um círculo), o PCA vai ter um desempenho bem ruim.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Usar técnicas não lineares como </a:t>
            </a:r>
            <a:r>
              <a:rPr lang="en-US" dirty="0"/>
              <a:t>Kernel PCA e t-SNE.</a:t>
            </a:r>
            <a:endParaRPr lang="pt-BR" dirty="0"/>
          </a:p>
          <a:p>
            <a:r>
              <a:rPr lang="pt-BR" dirty="0"/>
              <a:t>Deve ser aplicado após a separação do dados em conjuntos de treinamento, validação e teste para evitar vazamento.</a:t>
            </a:r>
          </a:p>
        </p:txBody>
      </p:sp>
    </p:spTree>
    <p:extLst>
      <p:ext uri="{BB962C8B-B14F-4D97-AF65-F5344CB8AC3E}">
        <p14:creationId xmlns:p14="http://schemas.microsoft.com/office/powerpoint/2010/main" val="28271458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F3F2D-3BEE-7F15-4F99-AF9C21DA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Análise de componentes principais (PCA)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2C856-EB66-8FEA-48EB-605CA54FC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sklearn.decomposition</a:t>
            </a:r>
            <a:r>
              <a:rPr lang="en-US" dirty="0">
                <a:latin typeface="Consolas" panose="020B0609020204030204" pitchFamily="49" charset="0"/>
              </a:rPr>
              <a:t> import PCA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Escalonar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dados antes do PCA (é </a:t>
            </a:r>
            <a:r>
              <a:rPr lang="en-US" i="1" dirty="0" err="1">
                <a:latin typeface="Consolas" panose="020B0609020204030204" pitchFamily="49" charset="0"/>
              </a:rPr>
              <a:t>obrigatório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que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atributos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tenham</a:t>
            </a:r>
            <a:r>
              <a:rPr lang="en-US" i="1" dirty="0">
                <a:latin typeface="Consolas" panose="020B0609020204030204" pitchFamily="49" charset="0"/>
              </a:rPr>
              <a:t> a </a:t>
            </a:r>
            <a:r>
              <a:rPr lang="en-US" i="1" dirty="0" err="1">
                <a:latin typeface="Consolas" panose="020B0609020204030204" pitchFamily="49" charset="0"/>
              </a:rPr>
              <a:t>mesma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variância</a:t>
            </a:r>
            <a:r>
              <a:rPr lang="en-US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fit_transform</a:t>
            </a:r>
            <a:r>
              <a:rPr lang="en-US" dirty="0">
                <a:latin typeface="Consolas" panose="020B0609020204030204" pitchFamily="49" charset="0"/>
              </a:rPr>
              <a:t>(X)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Extrair</a:t>
            </a:r>
            <a:r>
              <a:rPr lang="en-US" i="1" dirty="0">
                <a:latin typeface="Consolas" panose="020B0609020204030204" pitchFamily="49" charset="0"/>
              </a:rPr>
              <a:t> 2 </a:t>
            </a:r>
            <a:r>
              <a:rPr lang="en-US" i="1" dirty="0" err="1">
                <a:latin typeface="Consolas" panose="020B0609020204030204" pitchFamily="49" charset="0"/>
              </a:rPr>
              <a:t>componentes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pca</a:t>
            </a:r>
            <a:r>
              <a:rPr lang="en-US" dirty="0">
                <a:latin typeface="Consolas" panose="020B0609020204030204" pitchFamily="49" charset="0"/>
              </a:rPr>
              <a:t> = PCA(</a:t>
            </a:r>
            <a:r>
              <a:rPr lang="en-US" dirty="0" err="1">
                <a:latin typeface="Consolas" panose="020B0609020204030204" pitchFamily="49" charset="0"/>
              </a:rPr>
              <a:t>n_components</a:t>
            </a:r>
            <a:r>
              <a:rPr lang="en-US" dirty="0">
                <a:latin typeface="Consolas" panose="020B0609020204030204" pitchFamily="49" charset="0"/>
              </a:rPr>
              <a:t>=2)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pca.explained_variance_ratio</a:t>
            </a:r>
            <a:r>
              <a:rPr lang="en-US" dirty="0">
                <a:latin typeface="Consolas" panose="020B0609020204030204" pitchFamily="49" charset="0"/>
              </a:rPr>
              <a:t>_)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214E1-81F4-96EA-7AE9-0BB856B13E0B}"/>
              </a:ext>
            </a:extLst>
          </p:cNvPr>
          <p:cNvSpPr txBox="1"/>
          <p:nvPr/>
        </p:nvSpPr>
        <p:spPr>
          <a:xfrm>
            <a:off x="8784771" y="4341811"/>
            <a:ext cx="286294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OBS</a:t>
            </a:r>
            <a:r>
              <a:rPr lang="en-US" dirty="0"/>
              <a:t>.: “</a:t>
            </a:r>
            <a:r>
              <a:rPr lang="en-US" dirty="0" err="1"/>
              <a:t>n_components</a:t>
            </a:r>
            <a:r>
              <a:rPr lang="en-US" dirty="0"/>
              <a:t>”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também</a:t>
            </a:r>
            <a:r>
              <a:rPr lang="en-US" dirty="0"/>
              <a:t> um </a:t>
            </a:r>
            <a:r>
              <a:rPr lang="en-US" dirty="0" err="1"/>
              <a:t>número</a:t>
            </a:r>
            <a:r>
              <a:rPr lang="en-US" dirty="0"/>
              <a:t> entre 0 e 1 </a:t>
            </a:r>
            <a:r>
              <a:rPr lang="en-US" dirty="0" err="1"/>
              <a:t>especificando</a:t>
            </a:r>
            <a:r>
              <a:rPr lang="en-US" dirty="0"/>
              <a:t> o </a:t>
            </a:r>
            <a:r>
              <a:rPr lang="en-US" dirty="0" err="1"/>
              <a:t>mínimo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explicada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.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471AF8A-303A-1F0A-B73F-224FDADDE806}"/>
              </a:ext>
            </a:extLst>
          </p:cNvPr>
          <p:cNvCxnSpPr/>
          <p:nvPr/>
        </p:nvCxnSpPr>
        <p:spPr>
          <a:xfrm flipH="1">
            <a:off x="4572000" y="4506686"/>
            <a:ext cx="4288971" cy="4354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080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9AE6D-1C0A-9901-3435-DE81DB26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2D9C9-C956-E042-6573-941646858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selecionar um subconjunto de atributos que contribuem para a melhoria do desempenho do modelo.</a:t>
            </a:r>
          </a:p>
          <a:p>
            <a:r>
              <a:rPr lang="pt-BR" dirty="0"/>
              <a:t>Por que usar?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</a:t>
            </a:r>
            <a:r>
              <a:rPr lang="pt-BR" i="1" dirty="0" err="1"/>
              <a:t>overfitting</a:t>
            </a:r>
            <a:r>
              <a:rPr lang="pt-BR" i="1" dirty="0"/>
              <a:t>: </a:t>
            </a:r>
            <a:r>
              <a:rPr lang="pt-BR" dirty="0"/>
              <a:t>Modelos mais simples com menos atributos tendem a generalizar melhor para novos dados.</a:t>
            </a:r>
            <a:endParaRPr lang="pt-BR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custo computacional: Menos dados significam algoritmos que processam mais rápido.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Facilita interpretação: É mais fácil explicar um modelo que utiliza 5 variáveis do que um que utiliza 500.</a:t>
            </a:r>
          </a:p>
        </p:txBody>
      </p:sp>
    </p:spTree>
    <p:extLst>
      <p:ext uri="{BB962C8B-B14F-4D97-AF65-F5344CB8AC3E}">
        <p14:creationId xmlns:p14="http://schemas.microsoft.com/office/powerpoint/2010/main" val="42455900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58860-65D7-D491-9562-1DB8A3BE6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A552-B57A-0603-BA2B-092430CA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398A6-8EF0-205A-E092-0E8C53D1A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2" cy="5032375"/>
          </a:xfrm>
        </p:spPr>
        <p:txBody>
          <a:bodyPr>
            <a:normAutofit/>
          </a:bodyPr>
          <a:lstStyle/>
          <a:p>
            <a:r>
              <a:rPr lang="pt-BR" dirty="0"/>
              <a:t>Existem três tipos principais de técnicas de seleção de atributos: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Filtragem</a:t>
            </a:r>
            <a:r>
              <a:rPr lang="pt-BR" dirty="0"/>
              <a:t>: Baseados em medidas estatísticas dos dados, como correlação.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Correlação de Pearson/</a:t>
            </a:r>
            <a:r>
              <a:rPr lang="pt-BR" dirty="0" err="1"/>
              <a:t>Spearman</a:t>
            </a:r>
            <a:r>
              <a:rPr lang="en-US" dirty="0"/>
              <a:t>, Teste qui-</a:t>
            </a:r>
            <a:r>
              <a:rPr lang="en-US" dirty="0" err="1"/>
              <a:t>quadrado</a:t>
            </a:r>
            <a:r>
              <a:rPr lang="en-US" dirty="0"/>
              <a:t>, </a:t>
            </a:r>
            <a:r>
              <a:rPr lang="en-US" dirty="0" err="1"/>
              <a:t>limiar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, </a:t>
            </a:r>
            <a:r>
              <a:rPr lang="en-US" dirty="0" err="1"/>
              <a:t>ganho</a:t>
            </a:r>
            <a:r>
              <a:rPr lang="en-US" dirty="0"/>
              <a:t> de </a:t>
            </a:r>
            <a:r>
              <a:rPr lang="en-US" dirty="0" err="1"/>
              <a:t>informação</a:t>
            </a:r>
            <a:r>
              <a:rPr lang="en-US" dirty="0"/>
              <a:t>, </a:t>
            </a:r>
            <a:r>
              <a:rPr lang="en-US" dirty="0" err="1"/>
              <a:t>informação</a:t>
            </a:r>
            <a:r>
              <a:rPr lang="en-US" dirty="0"/>
              <a:t> </a:t>
            </a:r>
            <a:r>
              <a:rPr lang="en-US" dirty="0" err="1"/>
              <a:t>mútua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Encapsulamento</a:t>
            </a:r>
            <a:r>
              <a:rPr lang="pt-BR" dirty="0"/>
              <a:t>: Usa o próprio modelo de ML para testar subconjuntos de variáveis e avaliar a performance.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</a:t>
            </a:r>
            <a:r>
              <a:rPr lang="pt-BR" dirty="0"/>
              <a:t>: Eliminação recursiva de atributos, 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Embarcado</a:t>
            </a:r>
            <a:r>
              <a:rPr lang="pt-BR" dirty="0"/>
              <a:t>: A seleção ocorre durante o processo de treinamento do próprio algoritmo. É integrada (i.e., embarcada) no treinamento.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Regressão LASSO e árvores de decisão.</a:t>
            </a:r>
          </a:p>
        </p:txBody>
      </p:sp>
    </p:spTree>
    <p:extLst>
      <p:ext uri="{BB962C8B-B14F-4D97-AF65-F5344CB8AC3E}">
        <p14:creationId xmlns:p14="http://schemas.microsoft.com/office/powerpoint/2010/main" val="33974441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01CC2-CD7B-126A-B75F-51795F14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ABDE-7CD5-03FF-4BA7-BC9477C6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filtro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BBB3C58-BD3E-E320-2711-DF4496A3A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5714" y="1825625"/>
            <a:ext cx="4942116" cy="4351338"/>
          </a:xfrm>
        </p:spPr>
        <p:txBody>
          <a:bodyPr/>
          <a:lstStyle/>
          <a:p>
            <a:r>
              <a:rPr lang="pt-BR" dirty="0"/>
              <a:t>São rápidos, simples e independentes do modelo, mas podem ignorar interações relevantes entre atributos (devido à independência do modelo) e dependem da escolha adequada da métrica (e.g., relações lineares e não lineares).</a:t>
            </a:r>
            <a:endParaRPr lang="en-US" dirty="0"/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A3CE7DC7-8E77-95A6-7CCE-6EAB1A78A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" r="6022"/>
          <a:stretch>
            <a:fillRect/>
          </a:stretch>
        </p:blipFill>
        <p:spPr>
          <a:xfrm>
            <a:off x="174170" y="1951506"/>
            <a:ext cx="6672944" cy="3886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5281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47926-99C2-2D03-BBC9-E0B2BBB3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A196-AA4F-8DFB-EA4F-DE2070CF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de encapsulamento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A8F44C-FCBF-8760-0A7D-09EA95AC7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7" y="1825625"/>
            <a:ext cx="5440006" cy="4351338"/>
          </a:xfrm>
        </p:spPr>
        <p:txBody>
          <a:bodyPr/>
          <a:lstStyle/>
          <a:p>
            <a:r>
              <a:rPr lang="pt-BR" dirty="0"/>
              <a:t>Otimizam os atributos para um modelo específico e podem ter desempenho superior em comparação aos métodos de filtro, mas são computacionalmente caros e suscetíveis ao </a:t>
            </a:r>
            <a:r>
              <a:rPr lang="pt-BR" i="1" dirty="0" err="1"/>
              <a:t>overfitting</a:t>
            </a:r>
            <a:r>
              <a:rPr lang="pt-BR" dirty="0"/>
              <a:t>, pois podem ajustar excessivamente os atributos a um modelo específico.</a:t>
            </a:r>
            <a:endParaRPr lang="en-US" dirty="0"/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48660767-9E5D-79F3-0C90-BEEF045A7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2" r="5947"/>
          <a:stretch>
            <a:fillRect/>
          </a:stretch>
        </p:blipFill>
        <p:spPr>
          <a:xfrm>
            <a:off x="130627" y="2243309"/>
            <a:ext cx="6373763" cy="3558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168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D008B-2DA9-867B-7932-40CC208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5404-B5B4-16EF-E1B0-AE0FE920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embarcados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60B74E-723F-0F17-2C56-2A47AE32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7" y="1825625"/>
            <a:ext cx="5440006" cy="4351338"/>
          </a:xfrm>
        </p:spPr>
        <p:txBody>
          <a:bodyPr/>
          <a:lstStyle/>
          <a:p>
            <a:r>
              <a:rPr lang="pt-BR" dirty="0"/>
              <a:t>Selecionam atributos durante o treinamento do modelo de forma eficiente, apresenta equilíbrio entre desempenho e tempo para seleção, mas têm interpretabilidade limitada e não são suportados por todos os algoritmos.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45D6DA-65C4-DEF1-91AD-82E997F1C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0" r="6296"/>
          <a:stretch>
            <a:fillRect/>
          </a:stretch>
        </p:blipFill>
        <p:spPr>
          <a:xfrm>
            <a:off x="130627" y="2240756"/>
            <a:ext cx="6394617" cy="360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752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B31A4-C585-0094-27DF-9EB6149E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Seleção de atributos na biblioteca </a:t>
            </a:r>
            <a:r>
              <a:rPr lang="pt-BR" noProof="0" dirty="0" err="1"/>
              <a:t>SciKit-learn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46D82-5B94-346A-4A16-ED16D509B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81657" cy="4351338"/>
          </a:xfrm>
        </p:spPr>
        <p:txBody>
          <a:bodyPr>
            <a:normAutofit/>
          </a:bodyPr>
          <a:lstStyle/>
          <a:p>
            <a:r>
              <a:rPr lang="pt-BR" noProof="0" dirty="0"/>
              <a:t>O módulo </a:t>
            </a:r>
            <a:r>
              <a:rPr lang="pt-BR" noProof="0" dirty="0" err="1">
                <a:latin typeface="Consolas" panose="020B0609020204030204" pitchFamily="49" charset="0"/>
              </a:rPr>
              <a:t>sklearn.feature_selection</a:t>
            </a:r>
            <a:r>
              <a:rPr lang="pt-BR" noProof="0" dirty="0"/>
              <a:t> implementa vários métodos de seleção de atributos, dentre eles estão: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Limiar de variância (</a:t>
            </a:r>
            <a:r>
              <a:rPr lang="pt-BR" noProof="0" dirty="0" err="1">
                <a:latin typeface="Consolas" panose="020B0609020204030204" pitchFamily="49" charset="0"/>
              </a:rPr>
              <a:t>VarianceThreshold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Eliminação recursiva de atributos (</a:t>
            </a:r>
            <a:r>
              <a:rPr lang="pt-BR" noProof="0" dirty="0">
                <a:latin typeface="Consolas" panose="020B0609020204030204" pitchFamily="49" charset="0"/>
              </a:rPr>
              <a:t>RFE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Selecione os K melhores atributos de acordo com um </a:t>
            </a:r>
            <a:r>
              <a:rPr lang="pt-BR" i="1" noProof="0" dirty="0"/>
              <a:t>score</a:t>
            </a:r>
            <a:r>
              <a:rPr lang="pt-BR" noProof="0" dirty="0"/>
              <a:t> (</a:t>
            </a:r>
            <a:r>
              <a:rPr lang="pt-BR" noProof="0" dirty="0" err="1">
                <a:latin typeface="Consolas" panose="020B0609020204030204" pitchFamily="49" charset="0"/>
              </a:rPr>
              <a:t>SelectKBest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Seleção usando modelos com penalidade L1 ou baseados em árvore (</a:t>
            </a:r>
            <a:r>
              <a:rPr lang="pt-BR" dirty="0" err="1">
                <a:latin typeface="Consolas" panose="020B0609020204030204" pitchFamily="49" charset="0"/>
              </a:rPr>
              <a:t>SelectFromModel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Seleção de atributos sequencial (</a:t>
            </a:r>
            <a:r>
              <a:rPr lang="en-US" dirty="0" err="1">
                <a:latin typeface="Consolas" panose="020B0609020204030204" pitchFamily="49" charset="0"/>
              </a:rPr>
              <a:t>SequentialFeatureSelector</a:t>
            </a:r>
            <a:r>
              <a:rPr lang="en-US" dirty="0"/>
              <a:t>)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5479342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37FC5-962E-E2AD-1217-72A38BC6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85EA9-B2C7-CDCD-B7C0-DAB5D8FD3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 na biblioteca </a:t>
            </a:r>
            <a:r>
              <a:rPr lang="pt-BR" dirty="0" err="1"/>
              <a:t>SciKit-learn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19C3F-9C7C-06B2-C6DF-8E58E02A2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sklearn.feature_selection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Remove features com </a:t>
            </a:r>
            <a:r>
              <a:rPr lang="en-US" dirty="0" err="1">
                <a:latin typeface="Consolas" panose="020B0609020204030204" pitchFamily="49" charset="0"/>
              </a:rPr>
              <a:t>variância</a:t>
            </a:r>
            <a:r>
              <a:rPr lang="en-US" dirty="0">
                <a:latin typeface="Consolas" panose="020B0609020204030204" pitchFamily="49" charset="0"/>
              </a:rPr>
              <a:t> &lt;= 0.1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selector =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r>
              <a:rPr lang="en-US" dirty="0">
                <a:latin typeface="Consolas" panose="020B0609020204030204" pitchFamily="49" charset="0"/>
              </a:rPr>
              <a:t>(threshold=0.1)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Quais features </a:t>
            </a:r>
            <a:r>
              <a:rPr lang="en-US" dirty="0" err="1">
                <a:latin typeface="Consolas" panose="020B0609020204030204" pitchFamily="49" charset="0"/>
              </a:rPr>
              <a:t>foram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mantidas</a:t>
            </a:r>
            <a:r>
              <a:rPr lang="en-US" dirty="0">
                <a:latin typeface="Consolas" panose="020B0609020204030204" pitchFamily="49" charset="0"/>
              </a:rPr>
              <a:t>?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selected_features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df.columns</a:t>
            </a:r>
            <a:r>
              <a:rPr lang="en-US" dirty="0">
                <a:latin typeface="Consolas" panose="020B0609020204030204" pitchFamily="49" charset="0"/>
              </a:rPr>
              <a:t>[</a:t>
            </a:r>
            <a:r>
              <a:rPr lang="en-US" dirty="0" err="1">
                <a:latin typeface="Consolas" panose="020B0609020204030204" pitchFamily="49" charset="0"/>
              </a:rPr>
              <a:t>selector.get_support</a:t>
            </a:r>
            <a:r>
              <a:rPr lang="en-US" dirty="0">
                <a:latin typeface="Consolas" panose="020B0609020204030204" pitchFamily="49" charset="0"/>
              </a:rPr>
              <a:t>()]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print("\</a:t>
            </a:r>
            <a:r>
              <a:rPr lang="en-US" dirty="0" err="1">
                <a:latin typeface="Consolas" panose="020B0609020204030204" pitchFamily="49" charset="0"/>
              </a:rPr>
              <a:t>nFeatures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selecionadas</a:t>
            </a:r>
            <a:r>
              <a:rPr lang="en-US" dirty="0">
                <a:latin typeface="Consolas" panose="020B0609020204030204" pitchFamily="49" charset="0"/>
              </a:rPr>
              <a:t>:")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selected_features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3773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76600-9357-87C1-67B2-7ED0D4133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vs.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91E9A-DCA0-4C49-3A03-40A802DE8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extração </a:t>
            </a:r>
            <a:r>
              <a:rPr lang="pt-BR" b="1" dirty="0"/>
              <a:t>transforma</a:t>
            </a:r>
            <a:r>
              <a:rPr lang="pt-BR" dirty="0"/>
              <a:t> os atributos originais para criar novas, geralmente reduzindo a dimensionalidade.</a:t>
            </a:r>
          </a:p>
          <a:p>
            <a:r>
              <a:rPr lang="pt-BR" dirty="0"/>
              <a:t>A seleção </a:t>
            </a:r>
            <a:r>
              <a:rPr lang="pt-BR" b="1" dirty="0"/>
              <a:t>escolhe</a:t>
            </a:r>
            <a:r>
              <a:rPr lang="pt-BR" dirty="0"/>
              <a:t> um subconjunto dos atributos existentes mais relevantes sem alterá-los.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65887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pre_processing.ipynb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8894</TotalTime>
  <Words>5265</Words>
  <Application>Microsoft Office PowerPoint</Application>
  <PresentationFormat>Widescreen</PresentationFormat>
  <Paragraphs>435</Paragraphs>
  <Slides>48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6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Transformações dos dados</vt:lpstr>
      <vt:lpstr>PowerPoint Presentation</vt:lpstr>
      <vt:lpstr>O que veremos?</vt:lpstr>
      <vt:lpstr>PowerPoint Presentation</vt:lpstr>
      <vt:lpstr>Divisão do dataset</vt:lpstr>
      <vt:lpstr>Divisão do dataset</vt:lpstr>
      <vt:lpstr>Escalonamento de atributos</vt:lpstr>
      <vt:lpstr>Escalonamento de atributos</vt:lpstr>
      <vt:lpstr>Por que escalonar os atributos?</vt:lpstr>
      <vt:lpstr>Por que escalonar os atributos?</vt:lpstr>
      <vt:lpstr>Normalização (Min-Max Scaling)</vt:lpstr>
      <vt:lpstr>Normalização (Min-Max Scaling)</vt:lpstr>
      <vt:lpstr>Normalização (Min-Max Scaling)</vt:lpstr>
      <vt:lpstr>Padronização (Standard Scaling)</vt:lpstr>
      <vt:lpstr>Padronização (Standard Scaling)</vt:lpstr>
      <vt:lpstr>Padronização (Standard Scaling)</vt:lpstr>
      <vt:lpstr>Escalonamento robusto (Robust Scaling)</vt:lpstr>
      <vt:lpstr>Escalonamento robusto (Robust Scaling)</vt:lpstr>
      <vt:lpstr>Escalonamento robusto (Robust Scaling)</vt:lpstr>
      <vt:lpstr>Armadilhas comuns durante o escalonamento</vt:lpstr>
      <vt:lpstr>Codificação de atributos categóricos</vt:lpstr>
      <vt:lpstr>One-Hot encoding</vt:lpstr>
      <vt:lpstr>Label encoding</vt:lpstr>
      <vt:lpstr>Target encoding</vt:lpstr>
      <vt:lpstr>Binary encoding</vt:lpstr>
      <vt:lpstr>Exemplos de encoding</vt:lpstr>
      <vt:lpstr>Engenharia de atributos</vt:lpstr>
      <vt:lpstr>Engenharia de atributos</vt:lpstr>
      <vt:lpstr>Extração de atributos</vt:lpstr>
      <vt:lpstr>Técnicas comuns para extração de atributos</vt:lpstr>
      <vt:lpstr>Técnicas comuns para extração de atributos</vt:lpstr>
      <vt:lpstr>PowerPoint Presentation</vt:lpstr>
      <vt:lpstr>PowerPoint Presentation</vt:lpstr>
      <vt:lpstr>Análise de componentes principais (PCA)</vt:lpstr>
      <vt:lpstr>Análise de componentes principais (PCA)</vt:lpstr>
      <vt:lpstr>Análise de componentes principais (PCA)</vt:lpstr>
      <vt:lpstr>Análise de componentes principais (PCA)</vt:lpstr>
      <vt:lpstr>Seleção de atributos</vt:lpstr>
      <vt:lpstr>Seleção de atributos</vt:lpstr>
      <vt:lpstr>Métodos de filtro</vt:lpstr>
      <vt:lpstr>Métodos de encapsulamento</vt:lpstr>
      <vt:lpstr>Métodos embarcados</vt:lpstr>
      <vt:lpstr>Seleção de atributos na biblioteca SciKit-learn</vt:lpstr>
      <vt:lpstr>Seleção de atributos na biblioteca SciKit-learn</vt:lpstr>
      <vt:lpstr>Extração vs. seleção de atributos</vt:lpstr>
      <vt:lpstr>Exemplo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1949</cp:revision>
  <dcterms:created xsi:type="dcterms:W3CDTF">2020-01-20T13:50:05Z</dcterms:created>
  <dcterms:modified xsi:type="dcterms:W3CDTF">2026-02-06T12:35:04Z</dcterms:modified>
</cp:coreProperties>
</file>