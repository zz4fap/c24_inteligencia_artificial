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handoutMasterIdLst>
    <p:handoutMasterId r:id="rId54"/>
  </p:handoutMasterIdLst>
  <p:sldIdLst>
    <p:sldId id="256" r:id="rId2"/>
    <p:sldId id="322" r:id="rId3"/>
    <p:sldId id="316" r:id="rId4"/>
    <p:sldId id="363" r:id="rId5"/>
    <p:sldId id="337" r:id="rId6"/>
    <p:sldId id="365" r:id="rId7"/>
    <p:sldId id="326" r:id="rId8"/>
    <p:sldId id="330" r:id="rId9"/>
    <p:sldId id="319" r:id="rId10"/>
    <p:sldId id="329" r:id="rId11"/>
    <p:sldId id="327" r:id="rId12"/>
    <p:sldId id="341" r:id="rId13"/>
    <p:sldId id="334" r:id="rId14"/>
    <p:sldId id="335" r:id="rId15"/>
    <p:sldId id="339" r:id="rId16"/>
    <p:sldId id="340" r:id="rId17"/>
    <p:sldId id="336" r:id="rId18"/>
    <p:sldId id="343" r:id="rId19"/>
    <p:sldId id="342" r:id="rId20"/>
    <p:sldId id="328" r:id="rId21"/>
    <p:sldId id="344" r:id="rId22"/>
    <p:sldId id="345" r:id="rId23"/>
    <p:sldId id="346" r:id="rId24"/>
    <p:sldId id="347" r:id="rId25"/>
    <p:sldId id="348" r:id="rId26"/>
    <p:sldId id="349" r:id="rId27"/>
    <p:sldId id="317" r:id="rId28"/>
    <p:sldId id="320" r:id="rId29"/>
    <p:sldId id="353" r:id="rId30"/>
    <p:sldId id="354" r:id="rId31"/>
    <p:sldId id="355" r:id="rId32"/>
    <p:sldId id="361" r:id="rId33"/>
    <p:sldId id="366" r:id="rId34"/>
    <p:sldId id="357" r:id="rId35"/>
    <p:sldId id="359" r:id="rId36"/>
    <p:sldId id="360" r:id="rId37"/>
    <p:sldId id="358" r:id="rId38"/>
    <p:sldId id="323" r:id="rId39"/>
    <p:sldId id="362" r:id="rId40"/>
    <p:sldId id="367" r:id="rId41"/>
    <p:sldId id="368" r:id="rId42"/>
    <p:sldId id="370" r:id="rId43"/>
    <p:sldId id="372" r:id="rId44"/>
    <p:sldId id="369" r:id="rId45"/>
    <p:sldId id="356" r:id="rId46"/>
    <p:sldId id="371" r:id="rId47"/>
    <p:sldId id="315" r:id="rId48"/>
    <p:sldId id="321" r:id="rId49"/>
    <p:sldId id="338" r:id="rId50"/>
    <p:sldId id="293" r:id="rId51"/>
    <p:sldId id="306" r:id="rId5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dimensionalidade</a:t>
            </a:r>
            <a:r>
              <a:rPr lang="en-US" dirty="0"/>
              <a:t> dos dados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 err="1"/>
              <a:t>Interpretabilidade</a:t>
            </a:r>
            <a:r>
              <a:rPr lang="pt-BR" b="1" dirty="0"/>
              <a:t>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A1152-6AF8-8FD6-FE6A-90DC7682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AECCA-2325-73F8-304A-91BCDD2DE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E83AC-3212-62FF-4D04-4DBA56C23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7A10A-D515-4490-A0E6-42DDF2F1B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2500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6827"/>
            <a:ext cx="10515600" cy="28443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Mas antes,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Em ML, o objetivo não é apenas aprender os dados disponíveis, mas generalizar bem para dados novos (i.e., inéditos).</a:t>
            </a:r>
          </a:p>
          <a:p>
            <a:r>
              <a:rPr lang="pt-BR" dirty="0"/>
              <a:t>Para isso, o </a:t>
            </a:r>
            <a:r>
              <a:rPr lang="pt-BR" i="1" dirty="0"/>
              <a:t>dataset</a:t>
            </a:r>
            <a:r>
              <a:rPr lang="pt-BR" dirty="0"/>
              <a:t> é dividido em três subconjuntos: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representativos do problema/fenômeno sendo analisado.</a:t>
            </a:r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88CA0-AD15-F319-5BD3-1CF603A1B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CE608-79E4-6AB9-07A8-FA80CE49C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dirty="0">
                <a:solidFill>
                  <a:srgbClr val="FF0000"/>
                </a:solidFill>
              </a:rPr>
              <a:t>PAREI AQUIIIIIIIIIIIIII!!!!!!!!!!!!!!</a:t>
            </a:r>
            <a:endParaRPr lang="en-US" sz="5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35842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Chi-</a:t>
            </a:r>
            <a:r>
              <a:rPr lang="en-US" dirty="0" err="1"/>
              <a:t>quadrado</a:t>
            </a:r>
            <a:r>
              <a:rPr lang="en-US" dirty="0"/>
              <a:t> e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variáveis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>
                <a:solidFill>
                  <a:srgbClr val="FF0000"/>
                </a:solidFill>
              </a:rPr>
              <a:t>Selecionam atributos durante o treinamento do modelo de forma eficiente, apresenta equilíbrio entre desempenho e tempo para seleção, mas têm </a:t>
            </a:r>
            <a:r>
              <a:rPr lang="pt-BR" dirty="0" err="1">
                <a:solidFill>
                  <a:srgbClr val="FF0000"/>
                </a:solidFill>
              </a:rPr>
              <a:t>interpretabilidade</a:t>
            </a:r>
            <a:r>
              <a:rPr lang="pt-BR" dirty="0">
                <a:solidFill>
                  <a:srgbClr val="FF0000"/>
                </a:solidFill>
              </a:rPr>
              <a:t> limitada e não são suportados por todos os algoritmos.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634D5-94FA-5CA4-EB86-8F819A634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91925-2844-BBB8-4863-E1B1F43A9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AAB9B-A916-0B61-1583-9FE9F1444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398638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DE41F-CBCE-DE3E-FF96-C1FE3543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de </a:t>
            </a:r>
            <a:r>
              <a:rPr lang="en-US" dirty="0" err="1"/>
              <a:t>pré-processamento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CA14-0993-D9E3-35BD-F02EF871B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Combinar tudo em etapas:</a:t>
            </a:r>
          </a:p>
          <a:p>
            <a:pPr lvl="1"/>
            <a:r>
              <a:rPr lang="pt-BR" dirty="0"/>
              <a:t>Limpeza</a:t>
            </a:r>
          </a:p>
          <a:p>
            <a:pPr lvl="1"/>
            <a:r>
              <a:rPr lang="pt-BR" dirty="0"/>
              <a:t>Transformações (</a:t>
            </a:r>
            <a:r>
              <a:rPr lang="pt-BR" dirty="0" err="1"/>
              <a:t>encoding</a:t>
            </a:r>
            <a:r>
              <a:rPr lang="pt-BR" dirty="0"/>
              <a:t>, </a:t>
            </a:r>
            <a:r>
              <a:rPr lang="pt-BR"/>
              <a:t>imputação)</a:t>
            </a:r>
          </a:p>
          <a:p>
            <a:pPr lvl="1"/>
            <a:r>
              <a:rPr lang="pt-BR"/>
              <a:t>Escalonamento</a:t>
            </a:r>
            <a:endParaRPr lang="pt-BR" dirty="0"/>
          </a:p>
          <a:p>
            <a:r>
              <a:rPr lang="pt-BR" dirty="0"/>
              <a:t>🔧 Em Python com </a:t>
            </a:r>
            <a:r>
              <a:rPr lang="pt-BR" dirty="0" err="1"/>
              <a:t>scikit-learn</a:t>
            </a:r>
            <a:r>
              <a:rPr lang="pt-BR" dirty="0"/>
              <a:t>: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sklearn.pipeline</a:t>
            </a:r>
            <a:r>
              <a:rPr lang="en-US" dirty="0"/>
              <a:t> import Pipeline</a:t>
            </a:r>
          </a:p>
        </p:txBody>
      </p:sp>
    </p:spTree>
    <p:extLst>
      <p:ext uri="{BB962C8B-B14F-4D97-AF65-F5344CB8AC3E}">
        <p14:creationId xmlns:p14="http://schemas.microsoft.com/office/powerpoint/2010/main" val="30577340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82FA0-BE50-3672-2983-ADEDC8EB3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E0867-339F-DA7E-6C6B-FE3B75C23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endParaRPr lang="en-US"/>
          </a:p>
        </p:txBody>
      </p:sp>
      <p:pic>
        <p:nvPicPr>
          <p:cNvPr id="1026" name="Picture 2" descr="What is Feature Engineering? - GeeksforGeeks">
            <a:extLst>
              <a:ext uri="{FF2B5EF4-FFF2-40B4-BE49-F238E27FC236}">
                <a16:creationId xmlns:a16="http://schemas.microsoft.com/office/drawing/2014/main" id="{A8B67E60-12C6-B884-D57E-AA2267FBB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5382" y="2676525"/>
            <a:ext cx="3028950" cy="150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eature engineering - Machine Learning Lens">
            <a:extLst>
              <a:ext uri="{FF2B5EF4-FFF2-40B4-BE49-F238E27FC236}">
                <a16:creationId xmlns:a16="http://schemas.microsoft.com/office/drawing/2014/main" id="{85AC8CC3-B8FA-0E04-A364-6DA3A4065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323" y="4081463"/>
            <a:ext cx="2181225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55837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8709</TotalTime>
  <Words>5107</Words>
  <Application>Microsoft Office PowerPoint</Application>
  <PresentationFormat>Widescreen</PresentationFormat>
  <Paragraphs>423</Paragraphs>
  <Slides>51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PowerPoint Presentation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</vt:lpstr>
      <vt:lpstr>Extração vs. seleção de atributos</vt:lpstr>
      <vt:lpstr>Exemplo de seleção de atributos</vt:lpstr>
      <vt:lpstr>Pipeline de pré-processamento</vt:lpstr>
      <vt:lpstr>PowerPoint Presentation</vt:lpstr>
      <vt:lpstr>Exemplo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1921</cp:revision>
  <dcterms:created xsi:type="dcterms:W3CDTF">2020-01-20T13:50:05Z</dcterms:created>
  <dcterms:modified xsi:type="dcterms:W3CDTF">2026-02-05T15:17:05Z</dcterms:modified>
</cp:coreProperties>
</file>