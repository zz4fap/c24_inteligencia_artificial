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1"/>
  </p:notesMasterIdLst>
  <p:handoutMasterIdLst>
    <p:handoutMasterId r:id="rId52"/>
  </p:handoutMasterIdLst>
  <p:sldIdLst>
    <p:sldId id="256" r:id="rId2"/>
    <p:sldId id="322" r:id="rId3"/>
    <p:sldId id="316" r:id="rId4"/>
    <p:sldId id="363" r:id="rId5"/>
    <p:sldId id="374" r:id="rId6"/>
    <p:sldId id="337" r:id="rId7"/>
    <p:sldId id="365" r:id="rId8"/>
    <p:sldId id="326" r:id="rId9"/>
    <p:sldId id="330" r:id="rId10"/>
    <p:sldId id="319" r:id="rId11"/>
    <p:sldId id="329" r:id="rId12"/>
    <p:sldId id="327" r:id="rId13"/>
    <p:sldId id="341" r:id="rId14"/>
    <p:sldId id="334" r:id="rId15"/>
    <p:sldId id="335" r:id="rId16"/>
    <p:sldId id="339" r:id="rId17"/>
    <p:sldId id="340" r:id="rId18"/>
    <p:sldId id="336" r:id="rId19"/>
    <p:sldId id="343" r:id="rId20"/>
    <p:sldId id="342" r:id="rId21"/>
    <p:sldId id="328" r:id="rId22"/>
    <p:sldId id="344" r:id="rId23"/>
    <p:sldId id="345" r:id="rId24"/>
    <p:sldId id="346" r:id="rId25"/>
    <p:sldId id="347" r:id="rId26"/>
    <p:sldId id="348" r:id="rId27"/>
    <p:sldId id="349" r:id="rId28"/>
    <p:sldId id="317" r:id="rId29"/>
    <p:sldId id="320" r:id="rId30"/>
    <p:sldId id="353" r:id="rId31"/>
    <p:sldId id="354" r:id="rId32"/>
    <p:sldId id="355" r:id="rId33"/>
    <p:sldId id="361" r:id="rId34"/>
    <p:sldId id="366" r:id="rId35"/>
    <p:sldId id="357" r:id="rId36"/>
    <p:sldId id="359" r:id="rId37"/>
    <p:sldId id="360" r:id="rId38"/>
    <p:sldId id="358" r:id="rId39"/>
    <p:sldId id="362" r:id="rId40"/>
    <p:sldId id="367" r:id="rId41"/>
    <p:sldId id="368" r:id="rId42"/>
    <p:sldId id="370" r:id="rId43"/>
    <p:sldId id="372" r:id="rId44"/>
    <p:sldId id="371" r:id="rId45"/>
    <p:sldId id="373" r:id="rId46"/>
    <p:sldId id="356" r:id="rId47"/>
    <p:sldId id="338" r:id="rId48"/>
    <p:sldId id="293" r:id="rId49"/>
    <p:sldId id="306" r:id="rId50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FCA41B-7398-400B-83DC-FDE8722EB923}" v="79" dt="2020-02-09T01:28:39.66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78" autoAdjust="0"/>
    <p:restoredTop sz="79540" autoAdjust="0"/>
  </p:normalViewPr>
  <p:slideViewPr>
    <p:cSldViewPr snapToGrid="0">
      <p:cViewPr varScale="1">
        <p:scale>
          <a:sx n="88" d="100"/>
          <a:sy n="88" d="100"/>
        </p:scale>
        <p:origin x="1698" y="84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presProps" Target="presProps.xml"/><Relationship Id="rId58" Type="http://schemas.microsoft.com/office/2015/10/relationships/revisionInfo" Target="revisionInfo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microsoft.com/office/2016/11/relationships/changesInfo" Target="changesInfos/changesInfo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handoutMaster" Target="handoutMasters/handout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B3FCA41B-7398-400B-83DC-FDE8722EB923}"/>
    <pc:docChg chg="modSld">
      <pc:chgData name="Felipe Augusto Pereira de Figueiredo" userId="e1771b70d906f94b" providerId="Windows Live" clId="Web-{B3FCA41B-7398-400B-83DC-FDE8722EB923}" dt="2020-02-09T01:40:38.055" v="257"/>
      <pc:docMkLst>
        <pc:docMk/>
      </pc:docMkLst>
      <pc:sldChg chg="modSp modNotes">
        <pc:chgData name="Felipe Augusto Pereira de Figueiredo" userId="e1771b70d906f94b" providerId="Windows Live" clId="Web-{B3FCA41B-7398-400B-83DC-FDE8722EB923}" dt="2020-02-09T01:26:20.191" v="45"/>
        <pc:sldMkLst>
          <pc:docMk/>
          <pc:sldMk cId="636059476" sldId="259"/>
        </pc:sldMkLst>
        <pc:spChg chg="mod">
          <ac:chgData name="Felipe Augusto Pereira de Figueiredo" userId="e1771b70d906f94b" providerId="Windows Live" clId="Web-{B3FCA41B-7398-400B-83DC-FDE8722EB923}" dt="2020-02-09T01:22:23.081" v="18" actId="1076"/>
          <ac:spMkLst>
            <pc:docMk/>
            <pc:sldMk cId="636059476" sldId="259"/>
            <ac:spMk id="3" creationId="{979D29AC-E01B-406F-AC75-55866B75A7CC}"/>
          </ac:spMkLst>
        </pc:spChg>
      </pc:sldChg>
      <pc:sldChg chg="modNotes">
        <pc:chgData name="Felipe Augusto Pereira de Figueiredo" userId="e1771b70d906f94b" providerId="Windows Live" clId="Web-{B3FCA41B-7398-400B-83DC-FDE8722EB923}" dt="2020-02-09T01:21:46.721" v="16"/>
        <pc:sldMkLst>
          <pc:docMk/>
          <pc:sldMk cId="248504461" sldId="267"/>
        </pc:sldMkLst>
      </pc:sldChg>
      <pc:sldChg chg="modSp modNotes">
        <pc:chgData name="Felipe Augusto Pereira de Figueiredo" userId="e1771b70d906f94b" providerId="Windows Live" clId="Web-{B3FCA41B-7398-400B-83DC-FDE8722EB923}" dt="2020-02-09T01:40:38.055" v="257"/>
        <pc:sldMkLst>
          <pc:docMk/>
          <pc:sldMk cId="2076219387" sldId="277"/>
        </pc:sldMkLst>
        <pc:spChg chg="mod">
          <ac:chgData name="Felipe Augusto Pereira de Figueiredo" userId="e1771b70d906f94b" providerId="Windows Live" clId="Web-{B3FCA41B-7398-400B-83DC-FDE8722EB923}" dt="2020-02-09T01:28:39.664" v="120" actId="14100"/>
          <ac:spMkLst>
            <pc:docMk/>
            <pc:sldMk cId="2076219387" sldId="277"/>
            <ac:spMk id="3" creationId="{5E0262E2-3A0F-4805-BCCB-6745237D1574}"/>
          </ac:spMkLst>
        </pc:spChg>
      </pc:sldChg>
    </pc:docChg>
  </pc:docChgLst>
  <pc:docChgLst>
    <pc:chgData name="Felipe Augusto Pereira de Figueiredo" userId="e1771b70d906f94b" providerId="Windows Live" clId="Web-{1FA475AF-6444-47C2-89B1-9776BABC0E66}"/>
    <pc:docChg chg="modSld">
      <pc:chgData name="Felipe Augusto Pereira de Figueiredo" userId="e1771b70d906f94b" providerId="Windows Live" clId="Web-{1FA475AF-6444-47C2-89B1-9776BABC0E66}" dt="2020-02-09T18:53:52.767" v="85"/>
      <pc:docMkLst>
        <pc:docMk/>
      </pc:docMkLst>
      <pc:sldChg chg="modNotes">
        <pc:chgData name="Felipe Augusto Pereira de Figueiredo" userId="e1771b70d906f94b" providerId="Windows Live" clId="Web-{1FA475AF-6444-47C2-89B1-9776BABC0E66}" dt="2020-02-09T18:53:52.767" v="85"/>
        <pc:sldMkLst>
          <pc:docMk/>
          <pc:sldMk cId="248504461" sldId="26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13/02/2026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13/02/2026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eeksforgeeks.org/machine-learning/information-gain-and-mutual-information-for-machine-learning/" TargetMode="External"/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geeksforgeeks.org/maths/mean-absolute-deviation/" TargetMode="External"/><Relationship Id="rId3" Type="http://schemas.openxmlformats.org/officeDocument/2006/relationships/hyperlink" Target="https://www.geeksforgeeks.org/machine-learning/information-gain-and-mutual-information-for-machine-learning/" TargetMode="External"/><Relationship Id="rId7" Type="http://schemas.openxmlformats.org/officeDocument/2006/relationships/hyperlink" Target="https://www.geeksforgeeks.org/machine-learning/variance-threshold/" TargetMode="External"/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Relationship Id="rId6" Type="http://schemas.openxmlformats.org/officeDocument/2006/relationships/hyperlink" Target="https://www.geeksforgeeks.org/maths/pearson-correlation-coefficient/" TargetMode="External"/><Relationship Id="rId5" Type="http://schemas.openxmlformats.org/officeDocument/2006/relationships/hyperlink" Target="https://www.geeksforgeeks.org/r-language/fishers-f-test-in-r-programming/" TargetMode="External"/><Relationship Id="rId4" Type="http://schemas.openxmlformats.org/officeDocument/2006/relationships/hyperlink" Target="https://www.geeksforgeeks.org/maths/chi-square-test/" TargetMode="External"/><Relationship Id="rId9" Type="http://schemas.openxmlformats.org/officeDocument/2006/relationships/hyperlink" Target="https://www.geeksforgeeks.org/maths/measures-of-dispersion/" TargetMode="Externa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kaggle.com/code/imoore/intro-to-exploratory-data-analysis-eda-in-python" TargetMode="External"/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Curadoria significa </a:t>
            </a:r>
            <a:r>
              <a:rPr lang="pt-BR" dirty="0"/>
              <a:t>o ato de cuidar, selecionar, organizar, adaptar os dados.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5530059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Quando usar seleção antes da extração</a:t>
            </a:r>
          </a:p>
          <a:p>
            <a:endParaRPr lang="pt-BR" dirty="0"/>
          </a:p>
          <a:p>
            <a:r>
              <a:rPr lang="pt-BR" dirty="0"/>
              <a:t>Há casos onde pode ser preferível: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1" dirty="0"/>
              <a:t>dados com muitos atributos irrelevantes:</a:t>
            </a:r>
            <a:r>
              <a:rPr lang="pt-BR" dirty="0"/>
              <a:t> remover atributos inúteis </a:t>
            </a:r>
            <a:r>
              <a:rPr lang="pt-BR" i="1" dirty="0"/>
              <a:t>antes</a:t>
            </a:r>
            <a:r>
              <a:rPr lang="pt-BR" dirty="0"/>
              <a:t> de extrair ajuda a evitar que métodos de extração (como PCA) sejam influenciados por ruído ou redundância.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b="1" dirty="0"/>
              <a:t>recursos computacionais limitados:</a:t>
            </a:r>
            <a:r>
              <a:rPr lang="pt-BR" dirty="0"/>
              <a:t> uma seleção inicial pode reduzir drasticamente a quantidade de dados que métodos de extração precisam processar.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62535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6690321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104F64-359D-B866-632E-1525166D01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D5E216A-92E3-EC84-99B4-F917C76BC9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E210488-755C-A3D5-6753-6ACA1D1AF86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1C5698-8B49-29BF-453E-FB2DB9A56D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3764975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1064018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BAD7AA-0655-8E48-DF0B-8D4DDCC2FC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E214CE0-9112-17E5-F67C-A2291E223D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48B5CB0-BEA9-3AEB-315C-471D7DA8D7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44580F-B050-B7E1-BBD1-F4C92C2D8A9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087021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O Exemplo Prático (Pixels):</a:t>
            </a:r>
            <a:r>
              <a:rPr lang="pt-BR" dirty="0"/>
              <a:t> "Onde isso brilha? Imagens! Um pixel vai de 0 (preto) a 255 (branco). O computador adora trabalhar com 0 e 1, então a gente divide tudo por 255. Simples assim. Redes Neurais amam isso."</a:t>
            </a:r>
          </a:p>
          <a:p>
            <a:r>
              <a:rPr lang="pt-BR" b="1" dirty="0"/>
              <a:t>O Momento "Ah, não!" (O Perigo dos Outliers):</a:t>
            </a:r>
            <a:r>
              <a:rPr lang="pt-BR" dirty="0"/>
              <a:t> "Mas cuidado! O Min-Max </a:t>
            </a:r>
            <a:r>
              <a:rPr lang="pt-BR" dirty="0" err="1"/>
              <a:t>Scaling</a:t>
            </a:r>
            <a:r>
              <a:rPr lang="pt-BR" dirty="0"/>
              <a:t> tem um inimigo mortal: o </a:t>
            </a:r>
            <a:r>
              <a:rPr lang="pt-BR" b="1" dirty="0"/>
              <a:t>Outlier</a:t>
            </a:r>
            <a:r>
              <a:rPr lang="pt-BR" dirty="0"/>
              <a:t>. Imaginem que vamos normalizar os salários desta sala. Todo mundo ganha entre R$ 2.000 e R$ 10.000. De repente, o </a:t>
            </a:r>
            <a:r>
              <a:rPr lang="pt-BR" b="1" dirty="0"/>
              <a:t>Elon Musk</a:t>
            </a:r>
            <a:r>
              <a:rPr lang="pt-BR" dirty="0"/>
              <a:t> entra na sala.</a:t>
            </a:r>
          </a:p>
          <a:p>
            <a:r>
              <a:rPr lang="pt-BR" dirty="0"/>
              <a:t>Salário Mínimo: 2.000 (vira 0).</a:t>
            </a:r>
          </a:p>
          <a:p>
            <a:r>
              <a:rPr lang="pt-BR" dirty="0"/>
              <a:t>Salário Musk: 1 Bilhão (vira 1).</a:t>
            </a:r>
          </a:p>
          <a:p>
            <a:r>
              <a:rPr lang="pt-BR" dirty="0"/>
              <a:t>Onde ficam os nossos salários? Eles vão ser esmagados para </a:t>
            </a:r>
            <a:r>
              <a:rPr lang="pt-BR" b="1" dirty="0"/>
              <a:t>0,000001</a:t>
            </a:r>
            <a:r>
              <a:rPr lang="pt-BR" dirty="0"/>
              <a:t>. Para o modelo, eu, você e o estagiário viramos a mesma coisa: quase zero. A presença do Musk destruiu a nossa diferenciação. Se tiver </a:t>
            </a:r>
            <a:r>
              <a:rPr lang="pt-BR" i="1" dirty="0"/>
              <a:t>outliers</a:t>
            </a:r>
            <a:r>
              <a:rPr lang="pt-BR" dirty="0"/>
              <a:t>, não usem Min-Max, usem a Padronização (que veremos no próximo slide)!"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7841353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89BA35-6F89-0BB9-6A15-9A14EACDB5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066353-8D75-DA06-B6B6-3EEE5474E6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4C1F271-2284-A7E4-9254-5F8452B69A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O Exemplo Prático (Pixels):</a:t>
            </a:r>
            <a:r>
              <a:rPr lang="pt-BR" dirty="0"/>
              <a:t> "Onde isso brilha? Imagens! Um pixel vai de 0 (preto) a 255 (branco). O computador adora trabalhar com 0 e 1, então a gente divide tudo por 255. Simples assim. Redes Neurais amam isso."</a:t>
            </a:r>
          </a:p>
          <a:p>
            <a:r>
              <a:rPr lang="pt-BR" b="1" dirty="0"/>
              <a:t>O Momento "Ah, não!" (O Perigo dos Outliers):</a:t>
            </a:r>
            <a:r>
              <a:rPr lang="pt-BR" dirty="0"/>
              <a:t> "Mas cuidado! O Min-Max </a:t>
            </a:r>
            <a:r>
              <a:rPr lang="pt-BR" dirty="0" err="1"/>
              <a:t>Scaling</a:t>
            </a:r>
            <a:r>
              <a:rPr lang="pt-BR" dirty="0"/>
              <a:t> tem um inimigo mortal: o </a:t>
            </a:r>
            <a:r>
              <a:rPr lang="pt-BR" b="1" dirty="0"/>
              <a:t>Outlier</a:t>
            </a:r>
            <a:r>
              <a:rPr lang="pt-BR" dirty="0"/>
              <a:t>. Imaginem que vamos normalizar os salários desta sala. Todo mundo ganha entre R$ 2.000 e R$ 10.000. De repente, o </a:t>
            </a:r>
            <a:r>
              <a:rPr lang="pt-BR" b="1" dirty="0"/>
              <a:t>Elon Musk</a:t>
            </a:r>
            <a:r>
              <a:rPr lang="pt-BR" dirty="0"/>
              <a:t> entra na sala.</a:t>
            </a:r>
          </a:p>
          <a:p>
            <a:r>
              <a:rPr lang="pt-BR" dirty="0"/>
              <a:t>Salário Mínimo: 2.000 (vira 0).</a:t>
            </a:r>
          </a:p>
          <a:p>
            <a:r>
              <a:rPr lang="pt-BR" dirty="0"/>
              <a:t>Salário Musk: 1 Bilhão (vira 1).</a:t>
            </a:r>
          </a:p>
          <a:p>
            <a:r>
              <a:rPr lang="pt-BR" dirty="0"/>
              <a:t>Onde ficam os nossos salários? Eles vão ser esmagados para </a:t>
            </a:r>
            <a:r>
              <a:rPr lang="pt-BR" b="1" dirty="0"/>
              <a:t>0,000001</a:t>
            </a:r>
            <a:r>
              <a:rPr lang="pt-BR" dirty="0"/>
              <a:t>. Para o modelo, eu, você e o estagiário viramos a mesma coisa: quase zero. A presença do Musk destruiu a nossa diferenciação. Se tiver </a:t>
            </a:r>
            <a:r>
              <a:rPr lang="pt-BR" i="1" dirty="0"/>
              <a:t>outliers</a:t>
            </a:r>
            <a:r>
              <a:rPr lang="pt-BR" dirty="0"/>
              <a:t>, não usem Min-Max, usem a Padronização (que veremos no próximo slide)!"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48099E-2282-DD7D-6C34-5E9A5168DC6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588177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DED0CA-78E3-EA29-70A5-6545A644B6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59884F-E702-79E1-9E1E-0B2445D46D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0B43843-7B98-0234-A23B-F468EDAA4C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80E6C1-419B-5940-971A-A218E9D158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5835760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2F8A2C-ADE6-950F-1696-F46F7CEBB4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3D7BCA1-C677-8F52-5427-0F691AE705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ADD0D15-A25E-65FD-F1A5-513ED564175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0" dirty="0"/>
              <a:t>GNB: </a:t>
            </a:r>
            <a:r>
              <a:rPr lang="en-US" b="0" dirty="0"/>
              <a:t>Gaussian Naive Bayes</a:t>
            </a:r>
          </a:p>
          <a:p>
            <a:r>
              <a:rPr lang="en-US" b="0" dirty="0"/>
              <a:t>GMM: gaussian Mixture Model</a:t>
            </a:r>
            <a:br>
              <a:rPr lang="en-US" b="1" dirty="0"/>
            </a:br>
            <a:br>
              <a:rPr lang="en-US" b="1" dirty="0"/>
            </a:br>
            <a:r>
              <a:rPr lang="pt-BR" b="1" dirty="0"/>
              <a:t>O Resgate do Exemplo do Elon Musk (A Vantagem):</a:t>
            </a:r>
            <a:r>
              <a:rPr lang="pt-BR" dirty="0"/>
              <a:t> "Lembram do Elon Musk estragando nosso Min-Max </a:t>
            </a:r>
            <a:r>
              <a:rPr lang="pt-BR" dirty="0" err="1"/>
              <a:t>Scaling</a:t>
            </a:r>
            <a:r>
              <a:rPr lang="pt-BR" dirty="0"/>
              <a:t>? No </a:t>
            </a:r>
            <a:r>
              <a:rPr lang="pt-BR" dirty="0" err="1"/>
              <a:t>StandardScaler</a:t>
            </a:r>
            <a:r>
              <a:rPr lang="pt-BR" dirty="0"/>
              <a:t>, se o Musk entrar na sala, a média de salário sobe e o desvio padrão explode. O Musk vai ter um Z-score de, sei lá, 500. Mas o meu salário e o seu ainda estarão próximos de 0 (talvez -0.1). </a:t>
            </a:r>
            <a:r>
              <a:rPr lang="pt-BR" b="1" dirty="0"/>
              <a:t>A grande sacada:</a:t>
            </a:r>
            <a:r>
              <a:rPr lang="pt-BR" dirty="0"/>
              <a:t> A estrutura dos nossos dados 'normais' é preservada. Não somos esmagados só porque existe um gigante na sala. O modelo consegue enxergar a gente e enxergar o Musk.“</a:t>
            </a:r>
            <a:br>
              <a:rPr lang="pt-BR" dirty="0"/>
            </a:br>
            <a:br>
              <a:rPr lang="pt-BR" dirty="0"/>
            </a:b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Exemplo Prático</a:t>
            </a:r>
          </a:p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Imagine dados de salários, onde a maioria das pessoas ganha entre R$ 2.000 e R$ 10.000, mas há um CEO que ganha R$ 1.000.000.</a:t>
            </a:r>
          </a:p>
          <a:p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Sem o outlier: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faixa é 2.000 a 10.000.</a:t>
            </a:r>
          </a:p>
          <a:p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 o outlier (1.000.000):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O Min-Max vai forçar o 1.000.000 a ser 1 e o 2.000 a ser 0.</a:t>
            </a:r>
          </a:p>
          <a:p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Resultado: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Todos os salários normais (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3000, 5000, 8000) serão comprimidos para valores muito próximos de zero,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ex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 0.001, 0.003, 0.006. O modelo de machine learning terá dificuldade em diferenciar essas pequenas variações. 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90D2D6-5D54-2470-89D5-A060CBE89E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8130824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D28CA1-01F6-4480-35DB-8BB34983B1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159398D-07A6-7B0D-340C-EFF1B2885D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76081E3-4839-F706-AA6D-36B8D101BA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0" dirty="0"/>
              <a:t>GNB: </a:t>
            </a:r>
            <a:r>
              <a:rPr lang="en-US" b="0" dirty="0"/>
              <a:t>Gaussian Naive Bayes</a:t>
            </a:r>
          </a:p>
          <a:p>
            <a:r>
              <a:rPr lang="en-US" b="0" dirty="0"/>
              <a:t>GMM: gaussian Mixture Model</a:t>
            </a:r>
            <a:br>
              <a:rPr lang="en-US" b="1" dirty="0"/>
            </a:br>
            <a:br>
              <a:rPr lang="en-US" b="1" dirty="0"/>
            </a:br>
            <a:r>
              <a:rPr lang="pt-BR" b="1" dirty="0"/>
              <a:t>O Resgate do Exemplo do Elon Musk (A Vantagem):</a:t>
            </a:r>
            <a:r>
              <a:rPr lang="pt-BR" dirty="0"/>
              <a:t> "Lembram do Elon Musk estragando nosso Min-Max </a:t>
            </a:r>
            <a:r>
              <a:rPr lang="pt-BR" dirty="0" err="1"/>
              <a:t>Scaling</a:t>
            </a:r>
            <a:r>
              <a:rPr lang="pt-BR" dirty="0"/>
              <a:t>? No </a:t>
            </a:r>
            <a:r>
              <a:rPr lang="pt-BR" dirty="0" err="1"/>
              <a:t>StandardScaler</a:t>
            </a:r>
            <a:r>
              <a:rPr lang="pt-BR" dirty="0"/>
              <a:t>, se o Musk entrar na sala, a média de salário sobe e o desvio padrão explode. O Musk vai ter um Z-score de, sei lá, 500. Mas o meu salário e o seu ainda estarão próximos de 0 (talvez -0.1). </a:t>
            </a:r>
            <a:r>
              <a:rPr lang="pt-BR" b="1" dirty="0"/>
              <a:t>A grande sacada:</a:t>
            </a:r>
            <a:r>
              <a:rPr lang="pt-BR" dirty="0"/>
              <a:t> A estrutura dos nossos dados 'normais' é preservada. Não somos esmagados só porque existe um gigante na sala. O modelo consegue enxergar a gente e enxergar o Musk."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1F2532-F79F-CBC9-E9FF-E998E79153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2823715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C5AAF4-3E4E-61DB-5981-D83FCAD125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AB07ACA-77DF-28FA-3B66-1B244EECB2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7ADE028-FFFC-7435-BB36-CD3A242004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Oferece um meio-termo que mantém os dados em uma escala semelhante à da padronização, mas garante que a escala não seja distorcida por valores extremos.</a:t>
            </a:r>
          </a:p>
          <a:p>
            <a:endParaRPr lang="pt-BR" b="1" dirty="0"/>
          </a:p>
          <a:p>
            <a:r>
              <a:rPr lang="pt-BR" b="1" dirty="0"/>
              <a:t>Por que Mediana e não Média?</a:t>
            </a:r>
            <a:r>
              <a:rPr lang="pt-BR" dirty="0"/>
              <a:t> "Imagine que temos 5 pessoas em um bar e cada uma ganha R$ 2.000. A média é 2.000. Se o Jeff Bezos entra no bar, a média vai para milhões, mas a </a:t>
            </a:r>
            <a:r>
              <a:rPr lang="pt-BR" b="1" dirty="0"/>
              <a:t>mediana</a:t>
            </a:r>
            <a:r>
              <a:rPr lang="pt-BR" dirty="0"/>
              <a:t> (o valor central) continua sendo 2.000. 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9A12BF-2D34-C626-F9C4-AF0F7CD163B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1661416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AD7A17-F670-79CF-DF05-7BF12108EA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35DE1E6-3C6D-845B-07FE-6000E19D15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27E17B7-4F2C-8B34-0F7C-2CB52C0B3F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Por que Mediana e não Média?</a:t>
            </a:r>
            <a:r>
              <a:rPr lang="pt-BR" dirty="0"/>
              <a:t> "Imagine que temos 5 pessoas em um bar e cada uma ganha R$ 2.000. A média é 2.000. Se o Jeff Bezos entra no bar, a média vai para milhões, mas a </a:t>
            </a:r>
            <a:r>
              <a:rPr lang="pt-BR" b="1" dirty="0"/>
              <a:t>mediana</a:t>
            </a:r>
            <a:r>
              <a:rPr lang="pt-BR" dirty="0"/>
              <a:t> (o valor central) continua sendo 2.000. 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D7E354-A812-3533-15B8-B2C05476CD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8624440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BD578-D126-C8CD-C2BA-CBFC787EA4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2FE7FEA-16F0-9910-0989-1883BB321C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E8219F0-D8E8-8A81-97B4-AECF0BBEA1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Ele mantém a relação de distância entre os dados não-discrepantes melhor que o Standard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Scaler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quando há ruído extremo.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i.e., eles não distorcem tanto a escala geral.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A5AC8A-50E7-6136-9B5C-235A931AE1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0451518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8027583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45AACA-C1BE-8A29-1FCB-662C75286B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4175792-3F26-46A3-22E7-4BD98B3697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5A760E0-F44C-F8E7-EA56-D8E5837C26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que é a </a:t>
            </a:r>
            <a:r>
              <a:rPr lang="pt-BR" b="1" dirty="0"/>
              <a:t>“maldição da dimensionalidade”?</a:t>
            </a:r>
            <a:br>
              <a:rPr lang="pt-BR" b="1" dirty="0"/>
            </a:br>
            <a:endParaRPr lang="pt-BR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Aumento exponencial do espaço: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Adicionar dimensões faz o volume crescer muito rápido, espalhando os pontos de dados.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Escassez de dados: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Os pontos ficam muito distantes uns dos outros, "quase não há vizinhos", perdendo a noção de similaridade.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Dificuldade de visualização e processamento: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Torna-se difícil visualizar e exige muito mais poder computacional para análise.</a:t>
            </a:r>
          </a:p>
          <a:p>
            <a:endParaRPr lang="pt-BR" sz="1200" b="1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Como afeta o Machine Learning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Perda de significado da distância: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 diferença entre o ponto mais próximo e o mais distante se torna mínima, prejudicando algoritmos baseados em distância (como KNN).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Sobreajuste (</a:t>
            </a:r>
            <a:r>
              <a:rPr lang="pt-BR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Overfitting</a:t>
            </a: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Modelos podem se ajustar ao ruído em vez dos padrões reais, pois há muitas dimensões e poucos pontos por área.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pt-BR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Aumento da complexidade: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Aumenta o custo computacional e a necessidade de dados de treinamento.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157961-DACC-B2D1-355A-7BFFF155D89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6546282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D1B8E2-8FB4-ABBE-C258-A19EABAE8D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4AA54D-D921-A0D1-8F81-E689E5B46FE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6C5C974-F53B-919C-4B9E-3E911E5412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>
              <a:buFont typeface="Wingdings" panose="05000000000000000000" pitchFamily="2" charset="2"/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FC15CB-C54E-7FB2-B15A-8FAC110034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7934820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C55CC4-F30A-A9FA-9DDD-0826909871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4F220E7-8A30-2A57-6CC8-32EB4AE20B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864DC2E-4BED-69DA-25A3-14C1CC6DEC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alta cardinalidade: muitas categorias únicas</a:t>
            </a:r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DD61D4-F283-FA5C-B9B3-7B9D25FCB4E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5199254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60111E-C562-814A-4B28-55A0BF53C8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DB3F6C9-39CC-9515-FB72-E68168A7A88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3698751-6CC0-5667-0E8C-ED24F1B26A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DT: Decision </a:t>
            </a:r>
            <a:r>
              <a:rPr lang="pt-BR" dirty="0" err="1"/>
              <a:t>Trees</a:t>
            </a:r>
            <a:endParaRPr lang="pt-BR" dirty="0"/>
          </a:p>
          <a:p>
            <a:r>
              <a:rPr lang="pt-BR" dirty="0"/>
              <a:t>RF: Random </a:t>
            </a:r>
            <a:r>
              <a:rPr lang="pt-BR" dirty="0" err="1"/>
              <a:t>Forests</a:t>
            </a:r>
            <a:br>
              <a:rPr lang="pt-BR" dirty="0"/>
            </a:br>
            <a:endParaRPr lang="pt-BR" dirty="0"/>
          </a:p>
          <a:p>
            <a:r>
              <a:rPr lang="pt-BR" dirty="0"/>
              <a:t>Por algumas categorias compartilharem bits, modelos lineares podem achar que existe uma relação matemática entre essas categorias.</a:t>
            </a:r>
          </a:p>
          <a:p>
            <a:endParaRPr lang="pt-BR" dirty="0"/>
          </a:p>
          <a:p>
            <a:r>
              <a:rPr lang="pt-BR" dirty="0"/>
              <a:t>O </a:t>
            </a:r>
            <a:r>
              <a:rPr lang="pt-BR" b="1" dirty="0" err="1"/>
              <a:t>Binary</a:t>
            </a:r>
            <a:r>
              <a:rPr lang="pt-BR" b="1" dirty="0"/>
              <a:t> </a:t>
            </a:r>
            <a:r>
              <a:rPr lang="pt-BR" b="1" dirty="0" err="1"/>
              <a:t>Encoding</a:t>
            </a:r>
            <a:r>
              <a:rPr lang="pt-BR" dirty="0"/>
              <a:t> é uma solução intermediária brilhante. Ele resolve o problema da "explosão de colunas" do </a:t>
            </a:r>
            <a:r>
              <a:rPr lang="pt-BR" dirty="0" err="1"/>
              <a:t>One</a:t>
            </a:r>
            <a:r>
              <a:rPr lang="pt-BR" dirty="0"/>
              <a:t>-Hot </a:t>
            </a:r>
            <a:r>
              <a:rPr lang="pt-BR" dirty="0" err="1"/>
              <a:t>Encoding</a:t>
            </a:r>
            <a:r>
              <a:rPr lang="pt-BR" dirty="0"/>
              <a:t> sem criar uma hierarquia falsa como o </a:t>
            </a:r>
            <a:r>
              <a:rPr lang="pt-BR" dirty="0" err="1"/>
              <a:t>Label</a:t>
            </a:r>
            <a:r>
              <a:rPr lang="pt-BR" dirty="0"/>
              <a:t> </a:t>
            </a:r>
            <a:r>
              <a:rPr lang="pt-BR" dirty="0" err="1"/>
              <a:t>Encoding</a:t>
            </a:r>
            <a:r>
              <a:rPr lang="pt-BR" dirty="0"/>
              <a:t>. É como se fosse um "meio-termo" inteligente para </a:t>
            </a:r>
            <a:r>
              <a:rPr lang="pt-BR" dirty="0" err="1"/>
              <a:t>datasets</a:t>
            </a:r>
            <a:r>
              <a:rPr lang="pt-BR" dirty="0"/>
              <a:t> com muitas categorias.</a:t>
            </a:r>
          </a:p>
          <a:p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pt-BR" dirty="0"/>
              <a:t>Para regressões simples o modelo pode achar que existe uma relação matemática entre categorias que compartilham o mesmo bit."</a:t>
            </a:r>
            <a:endParaRPr lang="pt-BR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EA7BB1-A2E9-8F2F-66E3-17600B04B68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9577522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Feature </a:t>
            </a:r>
            <a:r>
              <a:rPr lang="pt-BR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Engineering</a:t>
            </a:r>
            <a:r>
              <a:rPr lang="pt-BR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(Engenharia de Atributos/Features) </a:t>
            </a:r>
            <a:r>
              <a:rPr lang="pt-BR" dirty="0"/>
              <a:t>é o processo crucial de usar conhecimento de domínio e criatividade para transformar dados brutos em variáveis (features) mais úteis e informativas</a:t>
            </a:r>
            <a:endParaRPr lang="pt-BR" b="1" dirty="0"/>
          </a:p>
          <a:p>
            <a:pPr marL="0" indent="0">
              <a:buNone/>
            </a:pPr>
            <a:endParaRPr lang="pt-BR" b="1" dirty="0"/>
          </a:p>
          <a:p>
            <a:pPr marL="0" indent="0">
              <a:buNone/>
            </a:pPr>
            <a:r>
              <a:rPr lang="pt-BR" b="1" dirty="0"/>
              <a:t>Definição:</a:t>
            </a:r>
            <a:r>
              <a:rPr lang="pt-BR" dirty="0"/>
              <a:t> Usar conhecimento de domínio para criar variáveis que o modelo entenda melhor.</a:t>
            </a:r>
          </a:p>
          <a:p>
            <a:pPr marL="0" indent="0">
              <a:buNone/>
            </a:pPr>
            <a:r>
              <a:rPr lang="pt-BR" dirty="0"/>
              <a:t>É a arte de criar novas colunas a partir das existentes para facilitar a descoberta de padrões.</a:t>
            </a:r>
          </a:p>
          <a:p>
            <a:pPr marL="0" indent="0">
              <a:buNone/>
            </a:pPr>
            <a:r>
              <a:rPr lang="pt-BR" dirty="0"/>
              <a:t>Criar novas variáveis a partir das existentes para melhorar a capacidade de predição.</a:t>
            </a:r>
          </a:p>
          <a:p>
            <a:pPr marL="0" indent="0">
              <a:buNone/>
            </a:pPr>
            <a:endParaRPr lang="pt-BR" dirty="0"/>
          </a:p>
          <a:p>
            <a:r>
              <a:rPr lang="pt-BR" b="1" dirty="0"/>
              <a:t>conhecimento de domínio</a:t>
            </a:r>
            <a:r>
              <a:rPr lang="pt-BR" dirty="0"/>
              <a:t> é o </a:t>
            </a:r>
            <a:r>
              <a:rPr lang="pt-BR" b="1" dirty="0"/>
              <a:t>entendimento profundo do contexto real do problema</a:t>
            </a:r>
            <a:r>
              <a:rPr lang="pt-BR" dirty="0"/>
              <a:t>, do negócio ou da área onde os dados foram gerados</a:t>
            </a:r>
          </a:p>
          <a:p>
            <a:endParaRPr lang="pt-BR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2825169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222072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Extração de atributos (feature </a:t>
            </a:r>
            <a:r>
              <a:rPr lang="pt-BR" b="1" dirty="0" err="1"/>
              <a:t>extraction</a:t>
            </a:r>
            <a:r>
              <a:rPr lang="pt-BR" b="1" dirty="0"/>
              <a:t>):</a:t>
            </a:r>
            <a:r>
              <a:rPr lang="pt-BR" dirty="0"/>
              <a:t> cria </a:t>
            </a:r>
            <a:r>
              <a:rPr lang="pt-BR" i="1" dirty="0"/>
              <a:t>novas</a:t>
            </a:r>
            <a:r>
              <a:rPr lang="pt-BR" dirty="0"/>
              <a:t> representações dos dados (ex.: PCA, </a:t>
            </a:r>
            <a:r>
              <a:rPr lang="pt-BR" dirty="0" err="1"/>
              <a:t>autoencoders</a:t>
            </a:r>
            <a:r>
              <a:rPr lang="pt-BR" dirty="0"/>
              <a:t>), reduzindo dimensionalidade através de transformações.</a:t>
            </a:r>
          </a:p>
          <a:p>
            <a:endParaRPr lang="pt-BR" dirty="0"/>
          </a:p>
          <a:p>
            <a:r>
              <a:rPr lang="pt-BR" dirty="0"/>
              <a:t>A extração de características em aprendizado de máquina é o processo de transformar dados brutos em um conjunto menor de características numéricas significativas que podem ser processadas de forma mais eficiente, mantendo as informações essenciais.</a:t>
            </a:r>
          </a:p>
          <a:p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É o processo de redução da quantidade de atributos a serem processados ​​utilizando técnicas de redução de dimensionalidade.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Um conjunto de dados menor e mais refinado requer menos recursos computacionais para armazenamento, processamento e treinamento, o que é crucial para conjuntos de dados grandes.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7878115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Os dados devem ser padronizados antes do PCA porque o método é baseado em variância, e sem padronização as features com maior escala dominam os componentes principais.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7940257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57ABA2-3850-7615-FB8C-3EDA185E6E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3430495-A427-A07D-66C6-44A1AB4CD0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543CE4F-5059-FE45-AEEF-D1290A432F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Os dados devem ser padronizados antes do PCA porque o método é baseado em variância, e sem padronização as features com maior escala dominam os componentes principais.</a:t>
            </a:r>
          </a:p>
          <a:p>
            <a:endParaRPr lang="pt-BR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420A46B-CEA0-D388-0846-98A3CA0C0C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20365989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E5FE33-E198-F37E-DB7F-2131AC1055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68AC853-E4F7-D306-2683-D5A081D6DAA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CC6B000-368B-B2C7-C3B9-F74524B809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Problema: A "Régua Rígida"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 PCA é uma técnica </a:t>
            </a:r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linear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Como você pode ver na figura, ele tenta traçar linhas retas ($PC_1$ e $PC_2$) para capturar a variância.</a:t>
            </a:r>
          </a:p>
          <a:p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 os dados formam uma curva (não linear), o PCA vai tentar "esmagar" essa curva em uma linha reta.</a:t>
            </a:r>
          </a:p>
          <a:p>
            <a:r>
              <a:rPr lang="pt-BR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Resultado: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Você perde a estrutura real dos dados. É como tentar descrever uma mola usando apenas uma régua reta; você perde toda a informação da espiral.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661C39A-BA44-919F-9164-4B9F42BBC90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69468263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fontAlgn="base"/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https://www.analyticsvidhya.com/blog/2020/10/feature-selection-techniques-in-machine-learning/</a:t>
            </a:r>
          </a:p>
          <a:p>
            <a:pPr fontAlgn="base"/>
            <a:endParaRPr lang="en-US" sz="1200" b="1" i="0" u="sng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  <a:hlinkClick r:id="rId3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4518758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0575ED-00EA-1A5C-013A-B92A0B0E13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0C3B23E-78FC-1419-5528-C98DB1CDAA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0FC7E3C-4FAE-6137-2627-124C0A1235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Vantagens</a:t>
            </a:r>
          </a:p>
          <a:p>
            <a:r>
              <a:rPr lang="pt-BR" b="1" dirty="0"/>
              <a:t>Rápidos e eficientes:</a:t>
            </a:r>
            <a:r>
              <a:rPr lang="pt-BR" dirty="0"/>
              <a:t> Métodos de filtro são computacionalmente baratos, sendo ideais para grandes conjuntos de dados.</a:t>
            </a:r>
          </a:p>
          <a:p>
            <a:r>
              <a:rPr lang="pt-BR" b="1" dirty="0"/>
              <a:t>Fáceis de implementar:</a:t>
            </a:r>
            <a:r>
              <a:rPr lang="pt-BR" dirty="0"/>
              <a:t> Geralmente estão disponíveis em bibliotecas populares de machine learning, exigindo pouco esforço de codificação.</a:t>
            </a:r>
          </a:p>
          <a:p>
            <a:r>
              <a:rPr lang="pt-BR" b="1" dirty="0"/>
              <a:t>Independentes do modelo:</a:t>
            </a:r>
            <a:r>
              <a:rPr lang="pt-BR" dirty="0"/>
              <a:t> Podem ser usados com qualquer tipo de modelo de machine learning, o que os torna bastante versáteis.</a:t>
            </a:r>
          </a:p>
          <a:p>
            <a:endParaRPr lang="pt-BR" b="1" dirty="0"/>
          </a:p>
          <a:p>
            <a:r>
              <a:rPr lang="pt-BR" b="1" dirty="0"/>
              <a:t>Limitações</a:t>
            </a:r>
          </a:p>
          <a:p>
            <a:r>
              <a:rPr lang="pt-BR" b="1" dirty="0"/>
              <a:t>Interação limitada com o modelo:</a:t>
            </a:r>
            <a:r>
              <a:rPr lang="pt-BR" dirty="0"/>
              <a:t> Por operarem de forma independente, podem não capturar interações entre variáveis importantes para a predição.</a:t>
            </a:r>
          </a:p>
          <a:p>
            <a:r>
              <a:rPr lang="pt-BR" b="1" dirty="0"/>
              <a:t>Escolha da métrica adequada:</a:t>
            </a:r>
            <a:r>
              <a:rPr lang="pt-BR" dirty="0"/>
              <a:t> Selecionar a métrica correta para o tipo de dado e tarefa é essencial para um bom desempenho.</a:t>
            </a:r>
          </a:p>
          <a:p>
            <a:pPr fontAlgn="base"/>
            <a:b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Information Gain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Measures reduction in entropy when a feature is used.</a:t>
            </a:r>
          </a:p>
          <a:p>
            <a:pPr fontAlgn="base"/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/>
              </a:rPr>
              <a:t>Chi-square test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Checks the relationship between categorical features.</a:t>
            </a:r>
          </a:p>
          <a:p>
            <a:pPr fontAlgn="base"/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5"/>
              </a:rPr>
              <a:t>Fisher’s Score: 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Ranks features based on class separability.</a:t>
            </a:r>
          </a:p>
          <a:p>
            <a:pPr fontAlgn="base"/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6"/>
              </a:rPr>
              <a:t>Pearson’s Correlation Coefficient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Measures linear relationship between two continuous variables.</a:t>
            </a:r>
          </a:p>
          <a:p>
            <a:pPr fontAlgn="base"/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7"/>
              </a:rPr>
              <a:t>Variance Threshold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Removes features with very low variance.</a:t>
            </a:r>
          </a:p>
          <a:p>
            <a:pPr fontAlgn="base"/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8"/>
              </a:rPr>
              <a:t>Mean Absolute Difference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 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Similar to variance threshold but uses absolute differences.</a:t>
            </a:r>
          </a:p>
          <a:p>
            <a:pPr fontAlgn="base"/>
            <a:r>
              <a:rPr lang="en-US" sz="1200" b="1" i="0" u="sng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9"/>
              </a:rPr>
              <a:t>Dispersion ratio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 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Ratio of arithmetic mean to geometric mean; higher values indicate useful features.</a:t>
            </a:r>
          </a:p>
          <a:p>
            <a:pPr rtl="0" fontAlgn="base"/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77C362-F337-06BC-CC04-92D60486553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7714696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F5CF05-A8E3-D5CD-E9EE-05102DB6E2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2531E76-80A9-71A3-8F89-738DF3884F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3F4280E-BA2D-FD05-3DD6-97CBAD9429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Vantagens</a:t>
            </a:r>
          </a:p>
          <a:p>
            <a:r>
              <a:rPr lang="pt-BR" b="1" dirty="0"/>
              <a:t>Otimização específica para o modelo:</a:t>
            </a:r>
            <a:r>
              <a:rPr lang="pt-BR" dirty="0"/>
              <a:t> Métodos </a:t>
            </a:r>
            <a:r>
              <a:rPr lang="pt-BR" dirty="0" err="1"/>
              <a:t>wrapper</a:t>
            </a:r>
            <a:r>
              <a:rPr lang="pt-BR" dirty="0"/>
              <a:t> consideram diretamente como as features influenciam o modelo, podendo levar a um desempenho superior em comparação aos métodos de filtro.</a:t>
            </a:r>
          </a:p>
          <a:p>
            <a:r>
              <a:rPr lang="pt-BR" b="1" dirty="0"/>
              <a:t>Flexíveis:</a:t>
            </a:r>
            <a:r>
              <a:rPr lang="pt-BR" dirty="0"/>
              <a:t> Podem ser adaptados a diferentes tipos de modelos e métricas de avaliação.</a:t>
            </a:r>
          </a:p>
          <a:p>
            <a:endParaRPr lang="pt-BR" b="1" dirty="0"/>
          </a:p>
          <a:p>
            <a:r>
              <a:rPr lang="pt-BR" b="1" dirty="0"/>
              <a:t>Limitações</a:t>
            </a:r>
          </a:p>
          <a:p>
            <a:r>
              <a:rPr lang="pt-BR" b="1" dirty="0"/>
              <a:t>Alto custo computacional:</a:t>
            </a:r>
            <a:r>
              <a:rPr lang="pt-BR" dirty="0"/>
              <a:t> Avaliar diferentes combinações de features pode ser demorado, especialmente em conjuntos de dados grandes.</a:t>
            </a:r>
          </a:p>
          <a:p>
            <a:r>
              <a:rPr lang="pt-BR" b="1" dirty="0"/>
              <a:t>Risco de </a:t>
            </a:r>
            <a:r>
              <a:rPr lang="pt-BR" b="1" dirty="0" err="1"/>
              <a:t>overfitting</a:t>
            </a:r>
            <a:r>
              <a:rPr lang="pt-BR" b="1" dirty="0"/>
              <a:t>:</a:t>
            </a:r>
            <a:r>
              <a:rPr lang="pt-BR" dirty="0"/>
              <a:t> Ajustar excessivamente as features a um modelo específico pode gerar um modelo </a:t>
            </a:r>
            <a:r>
              <a:rPr lang="pt-BR" dirty="0" err="1"/>
              <a:t>sobreajustado</a:t>
            </a:r>
            <a:r>
              <a:rPr lang="pt-BR" dirty="0"/>
              <a:t>, com baixo desempenho em dados não vistos.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F71FF8-EE8E-4813-AB94-9DE983B6AA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7616102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9B3CB2-A980-1ABA-D325-CB60F398B4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902818D-0A75-815E-1CAC-5E6927BED1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6B83EF4-31C3-80B2-3905-E05181C705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Vantagens</a:t>
            </a:r>
          </a:p>
          <a:p>
            <a:r>
              <a:rPr lang="pt-BR" b="1" dirty="0"/>
              <a:t>Eficientes e eficazes:</a:t>
            </a:r>
            <a:r>
              <a:rPr lang="pt-BR" dirty="0"/>
              <a:t> Métodos </a:t>
            </a:r>
            <a:r>
              <a:rPr lang="pt-BR" dirty="0" err="1"/>
              <a:t>embedded</a:t>
            </a:r>
            <a:r>
              <a:rPr lang="pt-BR" dirty="0"/>
              <a:t> podem alcançar bons resultados sem o alto custo computacional de alguns métodos </a:t>
            </a:r>
            <a:r>
              <a:rPr lang="pt-BR" dirty="0" err="1"/>
              <a:t>wrapper</a:t>
            </a:r>
            <a:r>
              <a:rPr lang="pt-BR" dirty="0"/>
              <a:t>.</a:t>
            </a:r>
          </a:p>
          <a:p>
            <a:r>
              <a:rPr lang="pt-BR" b="1" dirty="0"/>
              <a:t>Aprendizado específico do modelo:</a:t>
            </a:r>
            <a:r>
              <a:rPr lang="pt-BR" dirty="0"/>
              <a:t> Assim como os métodos </a:t>
            </a:r>
            <a:r>
              <a:rPr lang="pt-BR" dirty="0" err="1"/>
              <a:t>wrapper</a:t>
            </a:r>
            <a:r>
              <a:rPr lang="pt-BR" dirty="0"/>
              <a:t>, essas técnicas utilizam o próprio processo de aprendizado para identificar as features mais relevantes.</a:t>
            </a:r>
          </a:p>
          <a:p>
            <a:endParaRPr lang="pt-BR" b="1" dirty="0"/>
          </a:p>
          <a:p>
            <a:r>
              <a:rPr lang="pt-BR" b="1" dirty="0"/>
              <a:t>Limitações</a:t>
            </a:r>
          </a:p>
          <a:p>
            <a:r>
              <a:rPr lang="pt-BR" b="1" dirty="0"/>
              <a:t>Interpretabilidade limitada:</a:t>
            </a:r>
            <a:r>
              <a:rPr lang="pt-BR" dirty="0"/>
              <a:t> Métodos </a:t>
            </a:r>
            <a:r>
              <a:rPr lang="pt-BR" dirty="0" err="1"/>
              <a:t>embedded</a:t>
            </a:r>
            <a:r>
              <a:rPr lang="pt-BR" dirty="0"/>
              <a:t> podem ser mais difíceis de interpretar em comparação aos métodos de filtro, tornando menos claro o motivo da escolha de determinadas features.</a:t>
            </a:r>
          </a:p>
          <a:p>
            <a:r>
              <a:rPr lang="pt-BR" b="1" dirty="0"/>
              <a:t>Aplicabilidade restrita:</a:t>
            </a:r>
            <a:r>
              <a:rPr lang="pt-BR" dirty="0"/>
              <a:t> Nem todos os algoritmos de machine learning suportam técnicas </a:t>
            </a:r>
            <a:r>
              <a:rPr lang="pt-BR" dirty="0" err="1"/>
              <a:t>embedded</a:t>
            </a:r>
            <a:r>
              <a:rPr lang="pt-BR" dirty="0"/>
              <a:t> de seleção de features.</a:t>
            </a:r>
          </a:p>
          <a:p>
            <a:endParaRPr lang="pt-B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AD3269-1FB1-61A3-8368-DEEFE1D3C07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3621013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51991908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Referencias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7414423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13/02/2026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13/02/2026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13/02/2026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13/02/2026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13/02/2026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13/02/2026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13/02/2026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13/02/2026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13/02/2026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13/02/2026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13/02/2026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13/02/2026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github/zz4fap/c24_inteligencia_artificial/blob/master/notebooks/pre_processing.ipynb" TargetMode="External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24.jpeg"/><Relationship Id="rId4" Type="http://schemas.openxmlformats.org/officeDocument/2006/relationships/image" Target="../media/image23.png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A. P. de Figueiredo</a:t>
            </a:r>
          </a:p>
          <a:p>
            <a:r>
              <a:rPr lang="pt-BR" dirty="0">
                <a:hlinkClick r:id="rId3"/>
              </a:rPr>
              <a:t>felipe.figueiredo@Inatel.br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439886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767" y="836433"/>
            <a:ext cx="10906298" cy="2690156"/>
          </a:xfrm>
        </p:spPr>
        <p:txBody>
          <a:bodyPr anchor="ctr">
            <a:noAutofit/>
          </a:bodyPr>
          <a:lstStyle/>
          <a:p>
            <a:r>
              <a:rPr lang="pt-BR" sz="6600" dirty="0"/>
              <a:t>C24 - Inteligência Artificial:</a:t>
            </a:r>
            <a:br>
              <a:rPr lang="pt-BR" sz="7200" dirty="0"/>
            </a:br>
            <a:r>
              <a:rPr lang="pt-BR" sz="7200" b="1" i="1" dirty="0"/>
              <a:t>Transformações dos dados</a:t>
            </a:r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5778595-FA45-2665-F4CA-BDE6194966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4043" y="1366894"/>
            <a:ext cx="8171095" cy="445696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998BB58-D4F0-B94D-2632-92980C5EFACB}"/>
              </a:ext>
            </a:extLst>
          </p:cNvPr>
          <p:cNvSpPr txBox="1"/>
          <p:nvPr/>
        </p:nvSpPr>
        <p:spPr>
          <a:xfrm>
            <a:off x="8643256" y="2564324"/>
            <a:ext cx="3145971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3200" dirty="0"/>
              <a:t>Continuamos na jornada de curadoria dos dados.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15986440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DE138C-5788-AD2E-09D4-61ED992596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veremos?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7157C1-7A3A-AC9B-369C-8CDFEAD7A8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070771" cy="4351338"/>
          </a:xfrm>
        </p:spPr>
        <p:txBody>
          <a:bodyPr/>
          <a:lstStyle/>
          <a:p>
            <a:r>
              <a:rPr lang="pt-BR" dirty="0"/>
              <a:t>Veremos algumas técnicas de transformação ou pré-processamento dos dados: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Divisão</a:t>
            </a:r>
            <a:r>
              <a:rPr lang="en-US" dirty="0"/>
              <a:t> do </a:t>
            </a:r>
            <a:r>
              <a:rPr lang="en-US" i="1" dirty="0"/>
              <a:t>dataset,</a:t>
            </a:r>
            <a:endParaRPr lang="en-US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Escalonamento</a:t>
            </a:r>
            <a:r>
              <a:rPr lang="en-US" dirty="0"/>
              <a:t> de </a:t>
            </a:r>
            <a:r>
              <a:rPr lang="en-US" dirty="0" err="1"/>
              <a:t>atributos</a:t>
            </a:r>
            <a:r>
              <a:rPr lang="en-US" dirty="0"/>
              <a:t>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Codificação</a:t>
            </a:r>
            <a:r>
              <a:rPr lang="en-US" dirty="0"/>
              <a:t> de </a:t>
            </a:r>
            <a:r>
              <a:rPr lang="en-US" dirty="0" err="1"/>
              <a:t>atributos</a:t>
            </a:r>
            <a:r>
              <a:rPr lang="en-US" dirty="0"/>
              <a:t>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Engenharia</a:t>
            </a:r>
            <a:r>
              <a:rPr lang="en-US" dirty="0"/>
              <a:t> de </a:t>
            </a:r>
            <a:r>
              <a:rPr lang="en-US" dirty="0" err="1"/>
              <a:t>atributos</a:t>
            </a:r>
            <a:r>
              <a:rPr lang="en-US" dirty="0"/>
              <a:t>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Extração</a:t>
            </a:r>
            <a:r>
              <a:rPr lang="en-US" dirty="0"/>
              <a:t> de </a:t>
            </a:r>
            <a:r>
              <a:rPr lang="en-US" dirty="0" err="1"/>
              <a:t>atributos</a:t>
            </a:r>
            <a:r>
              <a:rPr lang="en-US" dirty="0"/>
              <a:t>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 err="1"/>
              <a:t>Seleção</a:t>
            </a:r>
            <a:r>
              <a:rPr lang="en-US" dirty="0"/>
              <a:t> de </a:t>
            </a:r>
            <a:r>
              <a:rPr lang="en-US" dirty="0" err="1"/>
              <a:t>atribuitos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0784831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11B1FA-D3D9-B761-84A9-4EE944FE65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25927"/>
            <a:ext cx="10515600" cy="3806145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600" dirty="0"/>
              <a:t>Antes de falarmos sobre as transformações, temos que falar sobre a divisão do </a:t>
            </a:r>
            <a:r>
              <a:rPr lang="pt-BR" sz="6600" i="1" dirty="0"/>
              <a:t>dataset</a:t>
            </a:r>
            <a:r>
              <a:rPr lang="pt-BR" sz="6600" dirty="0"/>
              <a:t> original</a:t>
            </a:r>
            <a:endParaRPr lang="en-US" sz="6600" dirty="0"/>
          </a:p>
        </p:txBody>
      </p:sp>
    </p:spTree>
    <p:extLst>
      <p:ext uri="{BB962C8B-B14F-4D97-AF65-F5344CB8AC3E}">
        <p14:creationId xmlns:p14="http://schemas.microsoft.com/office/powerpoint/2010/main" val="32991292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Gradient descent is all you need">
            <a:extLst>
              <a:ext uri="{FF2B5EF4-FFF2-40B4-BE49-F238E27FC236}">
                <a16:creationId xmlns:a16="http://schemas.microsoft.com/office/drawing/2014/main" id="{48F31731-76FF-D522-9CDE-14730A056C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03688" y="1082326"/>
            <a:ext cx="4020912" cy="49763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1553833-8E1E-E8EA-BC34-739B9DD9C6F3}"/>
              </a:ext>
            </a:extLst>
          </p:cNvPr>
          <p:cNvSpPr txBox="1"/>
          <p:nvPr/>
        </p:nvSpPr>
        <p:spPr>
          <a:xfrm>
            <a:off x="7336971" y="2151727"/>
            <a:ext cx="4020912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3200" dirty="0"/>
              <a:t>Não é correto usar o mesmo conjunto de dados para treinamento, validação e teste!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14106493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E14A78-63ED-67C2-7C75-578530B33A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Divisão do </a:t>
            </a:r>
            <a:r>
              <a:rPr lang="pt-BR" i="1" dirty="0"/>
              <a:t>dataset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FAA6DB-6F6F-4101-954E-36363841E9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90514" cy="5032375"/>
          </a:xfrm>
        </p:spPr>
        <p:txBody>
          <a:bodyPr>
            <a:normAutofit/>
          </a:bodyPr>
          <a:lstStyle/>
          <a:p>
            <a:r>
              <a:rPr lang="pt-BR" dirty="0"/>
              <a:t>Em ML, o objetivo não é apenas aprender os dados disponíveis, mas generalizar bem para dados novos (i.e., inéditos).</a:t>
            </a:r>
          </a:p>
          <a:p>
            <a:r>
              <a:rPr lang="pt-BR" dirty="0"/>
              <a:t>Para isso, o </a:t>
            </a:r>
            <a:r>
              <a:rPr lang="pt-BR" i="1" dirty="0"/>
              <a:t>dataset</a:t>
            </a:r>
            <a:r>
              <a:rPr lang="pt-BR" dirty="0"/>
              <a:t> é dividido em três subconjuntos: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Treinamento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Validação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Teste</a:t>
            </a:r>
          </a:p>
          <a:p>
            <a:r>
              <a:rPr lang="pt-BR" dirty="0"/>
              <a:t>Todos os três devem ser representativos do problema/fenômeno sendo analisado.</a:t>
            </a:r>
          </a:p>
          <a:p>
            <a:r>
              <a:rPr lang="pt-BR" dirty="0"/>
              <a:t>Em geral, mas não é regra, divide-se o </a:t>
            </a:r>
            <a:r>
              <a:rPr lang="pt-BR" i="1" dirty="0"/>
              <a:t>dataset</a:t>
            </a:r>
            <a:r>
              <a:rPr lang="pt-BR" dirty="0"/>
              <a:t> original da seguinte forma: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70, 15, 15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80, 10, 10</a:t>
            </a:r>
          </a:p>
        </p:txBody>
      </p:sp>
    </p:spTree>
    <p:extLst>
      <p:ext uri="{BB962C8B-B14F-4D97-AF65-F5344CB8AC3E}">
        <p14:creationId xmlns:p14="http://schemas.microsoft.com/office/powerpoint/2010/main" val="15277979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DE11FA-E96F-DB4C-09E3-2099E3ACFB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E2A02C-D48D-8EC7-5CF4-A33BDCB9CB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Divisão do </a:t>
            </a:r>
            <a:r>
              <a:rPr lang="pt-BR" i="1" dirty="0"/>
              <a:t>dataset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1C9DBC-518B-A226-F3EB-82943F83AF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90514" cy="5032375"/>
          </a:xfrm>
        </p:spPr>
        <p:txBody>
          <a:bodyPr>
            <a:normAutofit/>
          </a:bodyPr>
          <a:lstStyle/>
          <a:p>
            <a:r>
              <a:rPr lang="pt-BR" dirty="0"/>
              <a:t>O conjunto de treinamento é para treinar os modelos de ML.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É onde o modelo “aprende” os padrões dos dados.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Quanto mais representativo, melhor o aprendizado.</a:t>
            </a:r>
          </a:p>
          <a:p>
            <a:r>
              <a:rPr lang="pt-BR" dirty="0"/>
              <a:t>O conjunto de validação avalia o modelo durante o desenvolvimento.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Evita que o modelo decore os dados de treinamento (i.e., se sobreajuste/</a:t>
            </a:r>
            <a:r>
              <a:rPr lang="pt-BR" i="1" dirty="0" err="1"/>
              <a:t>overfit</a:t>
            </a:r>
            <a:r>
              <a:rPr lang="pt-BR" dirty="0"/>
              <a:t>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Ajustar hiperparâmetros.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Escolher arquiteturas.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Decidir quando parar o treinamento (</a:t>
            </a:r>
            <a:r>
              <a:rPr lang="pt-BR" i="1" dirty="0"/>
              <a:t>early stopping</a:t>
            </a:r>
            <a:r>
              <a:rPr lang="pt-BR" dirty="0"/>
              <a:t>).</a:t>
            </a:r>
          </a:p>
          <a:p>
            <a:r>
              <a:rPr lang="pt-BR" dirty="0"/>
              <a:t>O conjunto de teste valida a capacidade de generalização dos modelos.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Usado uma única vez, ao final.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Fornece uma estimativa imparcial do desempenho real do modelo.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Simula dados nunca vistos.</a:t>
            </a:r>
          </a:p>
        </p:txBody>
      </p:sp>
    </p:spTree>
    <p:extLst>
      <p:ext uri="{BB962C8B-B14F-4D97-AF65-F5344CB8AC3E}">
        <p14:creationId xmlns:p14="http://schemas.microsoft.com/office/powerpoint/2010/main" val="15274548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955A6E-1BBE-1B2F-EFA7-34BD6DADFF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Escalonamento</a:t>
            </a:r>
            <a:r>
              <a:rPr lang="en-US" dirty="0"/>
              <a:t> de </a:t>
            </a:r>
            <a:r>
              <a:rPr lang="en-US" dirty="0" err="1"/>
              <a:t>atributos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E8F56E1-39E7-4262-76D8-430FD829E76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314950" y="1825624"/>
                <a:ext cx="6681108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Precisamos colocar todos os dados na mesma régua (i.e., </a:t>
                </a:r>
                <a:r>
                  <a:rPr lang="pt-BR" b="1" dirty="0"/>
                  <a:t>escala</a:t>
                </a:r>
                <a:r>
                  <a:rPr lang="pt-BR" dirty="0"/>
                  <a:t>).</a:t>
                </a:r>
              </a:p>
              <a:p>
                <a:r>
                  <a:rPr lang="pt-BR" dirty="0"/>
                  <a:t>Imaginem criar um modelo para a previsão do preço de casas.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Atributo A: Número de quartos (1 a 5).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Atributo B: Área em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pt-BR" dirty="0"/>
                  <a:t> (40 a 500).</a:t>
                </a:r>
              </a:p>
              <a:p>
                <a:r>
                  <a:rPr lang="pt-BR" dirty="0"/>
                  <a:t>Para o modelo, 1 quarto é igual a 1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Os modelos não conhecem as unidades do mundo real, eles conhecem apenas números!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E8F56E1-39E7-4262-76D8-430FD829E76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314950" y="1825624"/>
                <a:ext cx="6681108" cy="5032375"/>
              </a:xfrm>
              <a:blipFill>
                <a:blip r:embed="rId3"/>
                <a:stretch>
                  <a:fillRect l="-1642" t="-1937" r="-17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098" name="Picture 2" descr="All about Feature Scaling | Towards Data Science">
            <a:extLst>
              <a:ext uri="{FF2B5EF4-FFF2-40B4-BE49-F238E27FC236}">
                <a16:creationId xmlns:a16="http://schemas.microsoft.com/office/drawing/2014/main" id="{E9F4CF00-3351-2EA1-5BB3-94F874A657C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947" t="19206" r="23305" b="15555"/>
          <a:stretch>
            <a:fillRect/>
          </a:stretch>
        </p:blipFill>
        <p:spPr bwMode="auto">
          <a:xfrm>
            <a:off x="293913" y="2038577"/>
            <a:ext cx="4855991" cy="38505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358847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CE7226-7B42-3182-D8AB-53A5644A3D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A1BEE6-4EE6-2F0F-46BF-CB428A23F7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Escalonamento</a:t>
            </a:r>
            <a:r>
              <a:rPr lang="en-US" dirty="0"/>
              <a:t> de </a:t>
            </a:r>
            <a:r>
              <a:rPr lang="en-US" dirty="0" err="1"/>
              <a:t>atributos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3CB23DF-6C9E-C6A9-F0A3-434E8D55B69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705601" y="1825624"/>
                <a:ext cx="5246914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Precisamos colocar todos os dados na mesma régua (i.e., </a:t>
                </a:r>
                <a:r>
                  <a:rPr lang="pt-BR" b="1" dirty="0"/>
                  <a:t>escala</a:t>
                </a:r>
                <a:r>
                  <a:rPr lang="pt-BR" dirty="0"/>
                  <a:t>).</a:t>
                </a:r>
              </a:p>
              <a:p>
                <a:r>
                  <a:rPr lang="pt-BR" dirty="0"/>
                  <a:t>Imaginem criar um modelo para a previsão do preço de casas.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Atributo A: Número de quartos (1 a 5).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Atributo B: Área em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pt-BR" dirty="0"/>
                  <a:t> (40 a 500).</a:t>
                </a:r>
              </a:p>
              <a:p>
                <a:r>
                  <a:rPr lang="pt-BR" dirty="0"/>
                  <a:t>Para o modelo, 1 quarto é igual a 1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Os modelos não conhecem as unidades do mundo real, eles conhecem apenas números!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3CB23DF-6C9E-C6A9-F0A3-434E8D55B69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705601" y="1825624"/>
                <a:ext cx="5246914" cy="5032375"/>
              </a:xfrm>
              <a:blipFill>
                <a:blip r:embed="rId3"/>
                <a:stretch>
                  <a:fillRect l="-2091" t="-2663" r="-27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2E228E2A-3289-7CEE-B490-080A4F44354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223"/>
          <a:stretch>
            <a:fillRect/>
          </a:stretch>
        </p:blipFill>
        <p:spPr>
          <a:xfrm>
            <a:off x="108857" y="2384466"/>
            <a:ext cx="6512302" cy="31890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11857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93B732-FD8C-AC6A-90A0-C71B105F55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 que escalonar os</a:t>
            </a:r>
            <a:r>
              <a:rPr lang="en-US" dirty="0"/>
              <a:t> </a:t>
            </a:r>
            <a:r>
              <a:rPr lang="en-US" dirty="0" err="1"/>
              <a:t>atributos</a:t>
            </a:r>
            <a:r>
              <a:rPr lang="en-US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ED040-A025-7A5E-ECF6-6400B7A21C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97285" y="1825624"/>
            <a:ext cx="6498771" cy="5032375"/>
          </a:xfrm>
        </p:spPr>
        <p:txBody>
          <a:bodyPr>
            <a:normAutofit/>
          </a:bodyPr>
          <a:lstStyle/>
          <a:p>
            <a:r>
              <a:rPr lang="pt-BR" dirty="0"/>
              <a:t>Modelos de ML baseados em </a:t>
            </a:r>
            <a:r>
              <a:rPr lang="pt-BR" b="1" dirty="0"/>
              <a:t>distância</a:t>
            </a:r>
            <a:r>
              <a:rPr lang="pt-BR" dirty="0"/>
              <a:t> (e.g., KNN, SVM, PCA) ou </a:t>
            </a:r>
            <a:r>
              <a:rPr lang="pt-BR" b="1" dirty="0"/>
              <a:t>gradiente</a:t>
            </a:r>
            <a:r>
              <a:rPr lang="pt-BR" dirty="0"/>
              <a:t> (e.g., regressão linear/logística, redes neurais) são sensíveis à escala dos atributos.</a:t>
            </a:r>
          </a:p>
          <a:p>
            <a:r>
              <a:rPr lang="pt-BR" dirty="0"/>
              <a:t>Atributos com escala muito maior influenciam muito mais a previsão dos modelos do que atributos com escala menor.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No exemplo da previsão do preço de casas, o modelo ignoraria os quartos e focaria só na área.</a:t>
            </a:r>
          </a:p>
        </p:txBody>
      </p:sp>
      <p:pic>
        <p:nvPicPr>
          <p:cNvPr id="5122" name="Picture 2" descr="Why Feature Scaling Is Essential in Machine Learning | by Jack Ka-Chun, Yu  | Learning Data | Medium">
            <a:extLst>
              <a:ext uri="{FF2B5EF4-FFF2-40B4-BE49-F238E27FC236}">
                <a16:creationId xmlns:a16="http://schemas.microsoft.com/office/drawing/2014/main" id="{99B43FBF-4616-53AA-030A-E722F67C4B4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90" t="6667" r="7461" b="9682"/>
          <a:stretch>
            <a:fillRect/>
          </a:stretch>
        </p:blipFill>
        <p:spPr bwMode="auto">
          <a:xfrm>
            <a:off x="620486" y="1919287"/>
            <a:ext cx="4561114" cy="44185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6505168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51FC5D-6FEC-A156-FC5A-F69925275B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BCAF9A-32DA-5822-59B2-8972B59B9F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Por que escalonar os</a:t>
            </a:r>
            <a:r>
              <a:rPr lang="en-US" dirty="0"/>
              <a:t> </a:t>
            </a:r>
            <a:r>
              <a:rPr lang="en-US" dirty="0" err="1"/>
              <a:t>atributos</a:t>
            </a:r>
            <a:r>
              <a:rPr lang="en-US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6B24C7-41C3-6780-C1B8-EBBB5A57F8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64629" y="1825624"/>
            <a:ext cx="6542314" cy="5032375"/>
          </a:xfrm>
        </p:spPr>
        <p:txBody>
          <a:bodyPr>
            <a:normAutofit/>
          </a:bodyPr>
          <a:lstStyle/>
          <a:p>
            <a:r>
              <a:rPr lang="pt-BR" dirty="0"/>
              <a:t>Mas e se todos os atributos são importantes para a previsão do modelo?</a:t>
            </a:r>
          </a:p>
          <a:p>
            <a:r>
              <a:rPr lang="pt-BR" dirty="0"/>
              <a:t>O escalonamento iguala a influência dos atributos no modelo.</a:t>
            </a:r>
          </a:p>
          <a:p>
            <a:r>
              <a:rPr lang="pt-BR" dirty="0"/>
              <a:t>Escalonamento transforma valores de atributos para uma mesma escala, geralmente sem unidade definida.</a:t>
            </a:r>
          </a:p>
          <a:p>
            <a:r>
              <a:rPr lang="pt-BR" dirty="0"/>
              <a:t>Principais técnicas de escalonamento: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Padronização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Normalização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Escalonamento robusto</a:t>
            </a:r>
          </a:p>
          <a:p>
            <a:pPr lvl="1"/>
            <a:endParaRPr lang="pt-BR" b="1" dirty="0"/>
          </a:p>
        </p:txBody>
      </p:sp>
      <p:pic>
        <p:nvPicPr>
          <p:cNvPr id="4" name="Picture 2" descr="Why Feature Scaling Is Essential in Machine Learning | by Jack Ka-Chun, Yu  | Learning Data | Medium">
            <a:extLst>
              <a:ext uri="{FF2B5EF4-FFF2-40B4-BE49-F238E27FC236}">
                <a16:creationId xmlns:a16="http://schemas.microsoft.com/office/drawing/2014/main" id="{BB65CFC1-6B1D-D444-7DAB-75B58C5A828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90" t="6667" r="7461" b="9682"/>
          <a:stretch>
            <a:fillRect/>
          </a:stretch>
        </p:blipFill>
        <p:spPr bwMode="auto">
          <a:xfrm>
            <a:off x="620486" y="1919287"/>
            <a:ext cx="4561114" cy="44185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0598335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BE4DD6-C949-62F0-7FF2-D821C5B36B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30504D-CF81-0763-876C-200B893A15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Normalização</a:t>
            </a:r>
            <a:r>
              <a:rPr lang="en-US" dirty="0"/>
              <a:t> (Min-Max Scaling)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1AE468C-2D90-73D6-314C-18370D8F741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179630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1" dirty="0"/>
                  <a:t>Como funciona</a:t>
                </a:r>
                <a:r>
                  <a:rPr lang="pt-BR" dirty="0"/>
                  <a:t>: Transforma todos os valores numéricos para uma escala fixa, geralmente entre 0 e 1.</a:t>
                </a:r>
                <a:endParaRPr lang="pt-BR" b="1" dirty="0"/>
              </a:p>
              <a:p>
                <a:r>
                  <a:rPr lang="pt-BR" b="1" dirty="0"/>
                  <a:t>Fórmula: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𝑚𝑖𝑛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𝑎𝑥</m:t>
                              </m:r>
                            </m:sub>
                          </m:s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pt-BR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𝑚𝑖𝑛</m:t>
                              </m:r>
                            </m:sub>
                          </m:sSub>
                        </m:den>
                      </m:f>
                      <m:r>
                        <a:rPr lang="pt-BR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[0, 1],</m:t>
                      </m:r>
                    </m:oMath>
                  </m:oMathPara>
                </a14:m>
                <a:endParaRPr lang="pt-BR" b="0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pt-BR" dirty="0"/>
                  <a:t> é o valor original,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𝑚𝑖𝑛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𝑎𝑥</m:t>
                        </m:r>
                      </m:sub>
                    </m:sSub>
                  </m:oMath>
                </a14:m>
                <a:r>
                  <a:rPr lang="pt-BR" dirty="0"/>
                  <a:t> são os valores mínimo e máximo de uma coluna (i.e., atributo).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1AE468C-2D90-73D6-314C-18370D8F741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179630" cy="5032375"/>
              </a:xfrm>
              <a:blipFill>
                <a:blip r:embed="rId3"/>
                <a:stretch>
                  <a:fillRect l="-1091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2305886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0A9B45-E0AC-C9AE-5FD5-5497AD766E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76165C-B0D9-0375-517C-218CA055B3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Normalização</a:t>
            </a:r>
            <a:r>
              <a:rPr lang="en-US" dirty="0"/>
              <a:t> (Min-Max Scaling)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C156B7-5901-102A-9736-A2EAAA0CF7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79630" cy="5032375"/>
          </a:xfrm>
        </p:spPr>
        <p:txBody>
          <a:bodyPr>
            <a:normAutofit/>
          </a:bodyPr>
          <a:lstStyle/>
          <a:p>
            <a:r>
              <a:rPr lang="pt-BR" b="1" dirty="0"/>
              <a:t>Quando usar:</a:t>
            </a:r>
            <a:r>
              <a:rPr lang="pt-BR" dirty="0"/>
              <a:t>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Dados sem </a:t>
            </a:r>
            <a:r>
              <a:rPr lang="pt-BR" i="1" dirty="0"/>
              <a:t>outliers</a:t>
            </a:r>
            <a:r>
              <a:rPr lang="pt-BR" dirty="0"/>
              <a:t> (analisar e remover antes),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 algoritmos que não pressupõem nenhuma distribuição (e.g., redes neurais, KNN)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e/ou que algoritmos que exigem entradas limitadas como os baseados em distância (e.g., </a:t>
            </a:r>
            <a:r>
              <a:rPr lang="en-US" dirty="0"/>
              <a:t>KNN, SVM, K-Means)</a:t>
            </a:r>
            <a:r>
              <a:rPr lang="pt-BR" dirty="0"/>
              <a:t> e gradiente (</a:t>
            </a:r>
            <a:r>
              <a:rPr lang="en-US" dirty="0"/>
              <a:t>Redes </a:t>
            </a:r>
            <a:r>
              <a:rPr lang="en-US" dirty="0" err="1"/>
              <a:t>Neurais</a:t>
            </a:r>
            <a:r>
              <a:rPr lang="en-US" dirty="0"/>
              <a:t>, </a:t>
            </a:r>
            <a:r>
              <a:rPr lang="en-US" dirty="0" err="1"/>
              <a:t>Regressões</a:t>
            </a:r>
            <a:r>
              <a:rPr lang="pt-BR" dirty="0"/>
              <a:t>).</a:t>
            </a:r>
          </a:p>
          <a:p>
            <a:r>
              <a:rPr lang="pt-BR" b="1" dirty="0"/>
              <a:t>Cuidado:</a:t>
            </a:r>
            <a:r>
              <a:rPr lang="pt-BR" dirty="0"/>
              <a:t> Muito sensível a </a:t>
            </a:r>
            <a:r>
              <a:rPr lang="pt-BR" i="1" dirty="0"/>
              <a:t>outliers. </a:t>
            </a:r>
            <a:r>
              <a:rPr lang="pt-BR" dirty="0"/>
              <a:t>Um </a:t>
            </a:r>
            <a:r>
              <a:rPr lang="pt-BR" i="1" dirty="0"/>
              <a:t>outlier</a:t>
            </a:r>
            <a:r>
              <a:rPr lang="pt-BR" dirty="0"/>
              <a:t> extremo “esmaga” todos os outros valores para um intervalo muito pequeno próximo de zero.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Os valores (que não são </a:t>
            </a:r>
            <a:r>
              <a:rPr lang="pt-BR" i="1" dirty="0"/>
              <a:t>outliers</a:t>
            </a:r>
            <a:r>
              <a:rPr lang="pt-BR" dirty="0"/>
              <a:t>) acabam sendo transformados em valores muito pequenos, próximos de zero, perdendo a distinção entre eles.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Isso reduz a eficácia do aprendizado, pois a diferença entre os valores reais é praticamente eliminada na escala normalizada. </a:t>
            </a:r>
          </a:p>
        </p:txBody>
      </p:sp>
    </p:spTree>
    <p:extLst>
      <p:ext uri="{BB962C8B-B14F-4D97-AF65-F5344CB8AC3E}">
        <p14:creationId xmlns:p14="http://schemas.microsoft.com/office/powerpoint/2010/main" val="92467431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7562E0-2AE8-02FC-9DCC-C800C01951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1BB7EC-614D-E681-2988-577536743F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Normalização</a:t>
            </a:r>
            <a:r>
              <a:rPr lang="en-US" dirty="0"/>
              <a:t> (Min-Max Scaling)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472B20-73AA-CEC0-1896-5F09B228AB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79630" cy="503237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pt-BR" dirty="0" err="1">
                <a:latin typeface="Consolas" panose="020B0609020204030204" pitchFamily="49" charset="0"/>
              </a:rPr>
              <a:t>from</a:t>
            </a:r>
            <a:r>
              <a:rPr lang="pt-BR" dirty="0">
                <a:latin typeface="Consolas" panose="020B0609020204030204" pitchFamily="49" charset="0"/>
              </a:rPr>
              <a:t> </a:t>
            </a:r>
            <a:r>
              <a:rPr lang="pt-BR" dirty="0" err="1">
                <a:latin typeface="Consolas" panose="020B0609020204030204" pitchFamily="49" charset="0"/>
              </a:rPr>
              <a:t>sklearn.preprocessing</a:t>
            </a:r>
            <a:r>
              <a:rPr lang="pt-BR" dirty="0">
                <a:latin typeface="Consolas" panose="020B0609020204030204" pitchFamily="49" charset="0"/>
              </a:rPr>
              <a:t> </a:t>
            </a:r>
            <a:r>
              <a:rPr lang="pt-BR" dirty="0" err="1">
                <a:latin typeface="Consolas" panose="020B0609020204030204" pitchFamily="49" charset="0"/>
              </a:rPr>
              <a:t>import</a:t>
            </a:r>
            <a:r>
              <a:rPr lang="pt-BR" dirty="0">
                <a:latin typeface="Consolas" panose="020B0609020204030204" pitchFamily="49" charset="0"/>
              </a:rPr>
              <a:t> </a:t>
            </a:r>
            <a:r>
              <a:rPr lang="pt-BR" dirty="0" err="1">
                <a:latin typeface="Consolas" panose="020B0609020204030204" pitchFamily="49" charset="0"/>
              </a:rPr>
              <a:t>MinMaxScaler</a:t>
            </a:r>
            <a:endParaRPr lang="pt-BR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i="1" dirty="0">
                <a:latin typeface="Consolas" panose="020B0609020204030204" pitchFamily="49" charset="0"/>
              </a:rPr>
              <a:t># </a:t>
            </a:r>
            <a:r>
              <a:rPr lang="en-US" i="1" dirty="0" err="1">
                <a:latin typeface="Consolas" panose="020B0609020204030204" pitchFamily="49" charset="0"/>
              </a:rPr>
              <a:t>Instância</a:t>
            </a:r>
            <a:r>
              <a:rPr lang="en-US" i="1" dirty="0">
                <a:latin typeface="Consolas" panose="020B0609020204030204" pitchFamily="49" charset="0"/>
              </a:rPr>
              <a:t> do </a:t>
            </a:r>
            <a:r>
              <a:rPr lang="en-US" i="1" dirty="0" err="1">
                <a:latin typeface="Consolas" panose="020B0609020204030204" pitchFamily="49" charset="0"/>
              </a:rPr>
              <a:t>normalizador</a:t>
            </a:r>
            <a:r>
              <a:rPr lang="en-US" i="1" dirty="0">
                <a:latin typeface="Consolas" panose="020B0609020204030204" pitchFamily="49" charset="0"/>
              </a:rPr>
              <a:t> com </a:t>
            </a:r>
            <a:r>
              <a:rPr lang="en-US" i="1" dirty="0" err="1">
                <a:latin typeface="Consolas" panose="020B0609020204030204" pitchFamily="49" charset="0"/>
              </a:rPr>
              <a:t>intervalo</a:t>
            </a:r>
            <a:r>
              <a:rPr lang="en-US" i="1" dirty="0">
                <a:latin typeface="Consolas" panose="020B0609020204030204" pitchFamily="49" charset="0"/>
              </a:rPr>
              <a:t> de 0 a 1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scaler = </a:t>
            </a:r>
            <a:r>
              <a:rPr lang="pt-BR" dirty="0" err="1">
                <a:latin typeface="Consolas" panose="020B0609020204030204" pitchFamily="49" charset="0"/>
              </a:rPr>
              <a:t>MinMaxScaler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feature_range</a:t>
            </a:r>
            <a:r>
              <a:rPr lang="en-US" dirty="0">
                <a:latin typeface="Consolas" panose="020B0609020204030204" pitchFamily="49" charset="0"/>
              </a:rPr>
              <a:t>=(0, 1))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i="1" dirty="0">
                <a:latin typeface="Consolas" panose="020B0609020204030204" pitchFamily="49" charset="0"/>
              </a:rPr>
              <a:t># </a:t>
            </a:r>
            <a:r>
              <a:rPr lang="en-US" i="1" dirty="0" err="1">
                <a:latin typeface="Consolas" panose="020B0609020204030204" pitchFamily="49" charset="0"/>
              </a:rPr>
              <a:t>Aprende</a:t>
            </a:r>
            <a:r>
              <a:rPr lang="en-US" i="1" dirty="0">
                <a:latin typeface="Consolas" panose="020B0609020204030204" pitchFamily="49" charset="0"/>
              </a:rPr>
              <a:t> </a:t>
            </a:r>
            <a:r>
              <a:rPr lang="en-US" i="1" dirty="0" err="1">
                <a:latin typeface="Consolas" panose="020B0609020204030204" pitchFamily="49" charset="0"/>
              </a:rPr>
              <a:t>os</a:t>
            </a:r>
            <a:r>
              <a:rPr lang="en-US" i="1" dirty="0">
                <a:latin typeface="Consolas" panose="020B0609020204030204" pitchFamily="49" charset="0"/>
              </a:rPr>
              <a:t> </a:t>
            </a:r>
            <a:r>
              <a:rPr lang="en-US" i="1" dirty="0" err="1">
                <a:latin typeface="Consolas" panose="020B0609020204030204" pitchFamily="49" charset="0"/>
              </a:rPr>
              <a:t>parâmetros</a:t>
            </a:r>
            <a:r>
              <a:rPr lang="en-US" i="1" dirty="0">
                <a:latin typeface="Consolas" panose="020B0609020204030204" pitchFamily="49" charset="0"/>
              </a:rPr>
              <a:t> de </a:t>
            </a:r>
            <a:r>
              <a:rPr lang="en-US" i="1" dirty="0" err="1">
                <a:latin typeface="Consolas" panose="020B0609020204030204" pitchFamily="49" charset="0"/>
              </a:rPr>
              <a:t>normalização</a:t>
            </a:r>
            <a:r>
              <a:rPr lang="en-US" i="1" dirty="0">
                <a:latin typeface="Consolas" panose="020B0609020204030204" pitchFamily="49" charset="0"/>
              </a:rPr>
              <a:t> no </a:t>
            </a:r>
            <a:r>
              <a:rPr lang="en-US" i="1" dirty="0" err="1">
                <a:latin typeface="Consolas" panose="020B0609020204030204" pitchFamily="49" charset="0"/>
              </a:rPr>
              <a:t>treino</a:t>
            </a:r>
            <a:endParaRPr lang="en-US" i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X_scaled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scaler.fit_transform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X_train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i="1" dirty="0">
                <a:latin typeface="Consolas" panose="020B0609020204030204" pitchFamily="49" charset="0"/>
              </a:rPr>
              <a:t># </a:t>
            </a:r>
            <a:r>
              <a:rPr lang="en-US" i="1" dirty="0" err="1">
                <a:latin typeface="Consolas" panose="020B0609020204030204" pitchFamily="49" charset="0"/>
              </a:rPr>
              <a:t>Aplica</a:t>
            </a:r>
            <a:r>
              <a:rPr lang="en-US" i="1" dirty="0">
                <a:latin typeface="Consolas" panose="020B0609020204030204" pitchFamily="49" charset="0"/>
              </a:rPr>
              <a:t> o scaler </a:t>
            </a:r>
            <a:r>
              <a:rPr lang="en-US" i="1" dirty="0" err="1">
                <a:latin typeface="Consolas" panose="020B0609020204030204" pitchFamily="49" charset="0"/>
              </a:rPr>
              <a:t>aprendido</a:t>
            </a:r>
            <a:r>
              <a:rPr lang="en-US" i="1" dirty="0">
                <a:latin typeface="Consolas" panose="020B0609020204030204" pitchFamily="49" charset="0"/>
              </a:rPr>
              <a:t> no teste</a:t>
            </a: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X_test_scaled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scaler.transform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X_test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endParaRPr lang="pt-BR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3752933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97E27A-F64F-BD37-64AC-DCE4D923EC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724F9A-6932-BA2B-0C8B-88280995A6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Padronização</a:t>
            </a:r>
            <a:r>
              <a:rPr lang="en-US" dirty="0"/>
              <a:t> (Standard Scaling)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4E7A4F3-D98D-3713-FDAB-EE34883FF2A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8" y="1825624"/>
                <a:ext cx="11353801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1" dirty="0"/>
                  <a:t>Como funciona</a:t>
                </a:r>
                <a:r>
                  <a:rPr lang="pt-BR" dirty="0"/>
                  <a:t>: Transforma os atributos para terem média 0 e desvio padrão 1, não impondo limites.</a:t>
                </a:r>
              </a:p>
              <a:p>
                <a:r>
                  <a:rPr lang="pt-BR" b="1" dirty="0"/>
                  <a:t>Fórmula: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b="0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pt-BR" dirty="0"/>
                  <a:t> é o valor original,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</m:oMath>
                </a14:m>
                <a:r>
                  <a:rPr lang="pt-BR" dirty="0"/>
                  <a:t> são a média e o desvio padrão de uma coluna (i.e., atributo).</a:t>
                </a:r>
              </a:p>
              <a:p>
                <a:r>
                  <a:rPr lang="pt-BR" b="1" dirty="0"/>
                  <a:t>Vantagens</a:t>
                </a:r>
                <a:r>
                  <a:rPr lang="pt-BR" dirty="0"/>
                  <a:t>: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Torna os dados "comparáveis" em termos do número de desvios padrão da média.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Mais robusto a </a:t>
                </a:r>
                <a:r>
                  <a:rPr lang="pt-BR" i="1" dirty="0"/>
                  <a:t>outliers</a:t>
                </a:r>
                <a:r>
                  <a:rPr lang="pt-BR" dirty="0"/>
                  <a:t>, mas não a </a:t>
                </a:r>
                <a:r>
                  <a:rPr lang="pt-BR" i="1" dirty="0"/>
                  <a:t>outliers</a:t>
                </a:r>
                <a:r>
                  <a:rPr lang="pt-BR" dirty="0"/>
                  <a:t> extremos.</a:t>
                </a:r>
              </a:p>
              <a:p>
                <a:pPr lvl="2">
                  <a:buFont typeface="Wingdings" panose="05000000000000000000" pitchFamily="2" charset="2"/>
                  <a:buChar char="§"/>
                </a:pPr>
                <a:r>
                  <a:rPr lang="pt-BR" dirty="0"/>
                  <a:t>Por não dividir os valores por um denominador muito grande, no caso da presença de </a:t>
                </a:r>
                <a:r>
                  <a:rPr lang="pt-BR" i="1" dirty="0"/>
                  <a:t>outliers</a:t>
                </a:r>
                <a:r>
                  <a:rPr lang="pt-BR" dirty="0"/>
                  <a:t>, não os transforma em valores próximos de zero e, portanto, não se perde a distinção entre eles.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4E7A4F3-D98D-3713-FDAB-EE34883FF2A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8" y="1825624"/>
                <a:ext cx="11353801" cy="5032375"/>
              </a:xfrm>
              <a:blipFill>
                <a:blip r:embed="rId3"/>
                <a:stretch>
                  <a:fillRect l="-1074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9103903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855876-1E2F-A829-24D7-6E67D43437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15A8A1-ABB5-8D3A-D7B8-B702B33BEB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Padronização</a:t>
            </a:r>
            <a:r>
              <a:rPr lang="en-US" dirty="0"/>
              <a:t> (Standard Scaling)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E08648-F204-3557-03A6-4A8A939265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79630" cy="5032375"/>
          </a:xfrm>
        </p:spPr>
        <p:txBody>
          <a:bodyPr>
            <a:normAutofit/>
          </a:bodyPr>
          <a:lstStyle/>
          <a:p>
            <a:r>
              <a:rPr lang="pt-BR" b="1" dirty="0"/>
              <a:t>Quando usar: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Em geral, com algoritmos que assumem distribuição "normal" ou Gaussiana (e.g., GNB</a:t>
            </a:r>
            <a:r>
              <a:rPr lang="en-US" dirty="0"/>
              <a:t>, GMM, </a:t>
            </a:r>
            <a:r>
              <a:rPr lang="en-US" dirty="0" err="1"/>
              <a:t>alguns</a:t>
            </a:r>
            <a:r>
              <a:rPr lang="en-US" dirty="0"/>
              <a:t> </a:t>
            </a:r>
            <a:r>
              <a:rPr lang="en-US" dirty="0" err="1"/>
              <a:t>modelos</a:t>
            </a:r>
            <a:r>
              <a:rPr lang="en-US" dirty="0"/>
              <a:t> para </a:t>
            </a:r>
            <a:r>
              <a:rPr lang="en-US" dirty="0" err="1"/>
              <a:t>detecção</a:t>
            </a:r>
            <a:r>
              <a:rPr lang="en-US" dirty="0"/>
              <a:t> de </a:t>
            </a:r>
            <a:r>
              <a:rPr lang="en-US" dirty="0" err="1"/>
              <a:t>anomalias</a:t>
            </a:r>
            <a:r>
              <a:rPr lang="en-US" dirty="0"/>
              <a:t>)</a:t>
            </a:r>
            <a:r>
              <a:rPr lang="pt-BR" dirty="0"/>
              <a:t>, e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quando os dados possuem </a:t>
            </a:r>
            <a:r>
              <a:rPr lang="pt-BR" i="1" dirty="0"/>
              <a:t>outliers</a:t>
            </a:r>
            <a:r>
              <a:rPr lang="en-US" dirty="0"/>
              <a:t>.</a:t>
            </a:r>
            <a:endParaRPr lang="pt-BR" dirty="0"/>
          </a:p>
          <a:p>
            <a:r>
              <a:rPr lang="pt-BR" b="1" dirty="0"/>
              <a:t>Cuidado: </a:t>
            </a:r>
            <a:r>
              <a:rPr lang="pt-BR" dirty="0"/>
              <a:t>Se os dados originais são assimétricos, eles continuarão assimétricos, apenas centralizados e com variância igual a 1. </a:t>
            </a:r>
          </a:p>
          <a:p>
            <a:r>
              <a:rPr lang="pt-BR" b="1" dirty="0"/>
              <a:t>Importante:</a:t>
            </a:r>
            <a:r>
              <a:rPr lang="pt-BR" dirty="0"/>
              <a:t> Se o conjunto de dados tiver </a:t>
            </a:r>
            <a:r>
              <a:rPr lang="pt-BR" i="1" dirty="0"/>
              <a:t>outliers</a:t>
            </a:r>
            <a:r>
              <a:rPr lang="pt-BR" dirty="0"/>
              <a:t> extremos, o escalonador robusto é uma opção superior à padronização, pois ignora os valores discrepantes no cálculo do escalonamento.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i="1" dirty="0"/>
              <a:t>Outliers</a:t>
            </a:r>
            <a:r>
              <a:rPr lang="pt-BR" dirty="0"/>
              <a:t> podem influenciar a média e variância dos atributos de forma negativa.</a:t>
            </a:r>
          </a:p>
        </p:txBody>
      </p:sp>
    </p:spTree>
    <p:extLst>
      <p:ext uri="{BB962C8B-B14F-4D97-AF65-F5344CB8AC3E}">
        <p14:creationId xmlns:p14="http://schemas.microsoft.com/office/powerpoint/2010/main" val="344793781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577714-D30D-81C3-3BE9-7601747F5F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Padronização</a:t>
            </a:r>
            <a:r>
              <a:rPr lang="en-US" dirty="0"/>
              <a:t> (Standard Scaling)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D4492A-4A23-9842-8A7E-76151D3DB0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0994571" cy="503237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from </a:t>
            </a:r>
            <a:r>
              <a:rPr lang="en-US" dirty="0" err="1">
                <a:latin typeface="Consolas" panose="020B0609020204030204" pitchFamily="49" charset="0"/>
              </a:rPr>
              <a:t>sklearn.preprocessing</a:t>
            </a:r>
            <a:r>
              <a:rPr lang="en-US" dirty="0">
                <a:latin typeface="Consolas" panose="020B0609020204030204" pitchFamily="49" charset="0"/>
              </a:rPr>
              <a:t> import </a:t>
            </a:r>
            <a:r>
              <a:rPr lang="en-US" dirty="0" err="1">
                <a:latin typeface="Consolas" panose="020B0609020204030204" pitchFamily="49" charset="0"/>
              </a:rPr>
              <a:t>StandardScaler</a:t>
            </a: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i="1" dirty="0">
                <a:latin typeface="Consolas" panose="020B0609020204030204" pitchFamily="49" charset="0"/>
              </a:rPr>
              <a:t># </a:t>
            </a:r>
            <a:r>
              <a:rPr lang="en-US" i="1" dirty="0" err="1">
                <a:latin typeface="Consolas" panose="020B0609020204030204" pitchFamily="49" charset="0"/>
              </a:rPr>
              <a:t>Instância</a:t>
            </a:r>
            <a:r>
              <a:rPr lang="en-US" i="1" dirty="0">
                <a:latin typeface="Consolas" panose="020B0609020204030204" pitchFamily="49" charset="0"/>
              </a:rPr>
              <a:t> do </a:t>
            </a:r>
            <a:r>
              <a:rPr lang="en-US" i="1" dirty="0" err="1">
                <a:latin typeface="Consolas" panose="020B0609020204030204" pitchFamily="49" charset="0"/>
              </a:rPr>
              <a:t>padronizador</a:t>
            </a:r>
            <a:endParaRPr lang="en-US" i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scaler = </a:t>
            </a:r>
            <a:r>
              <a:rPr lang="en-US" dirty="0" err="1">
                <a:latin typeface="Consolas" panose="020B0609020204030204" pitchFamily="49" charset="0"/>
              </a:rPr>
              <a:t>StandardScaler</a:t>
            </a:r>
            <a:r>
              <a:rPr lang="en-US" dirty="0">
                <a:latin typeface="Consolas" panose="020B0609020204030204" pitchFamily="49" charset="0"/>
              </a:rPr>
              <a:t>()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i="1" dirty="0">
                <a:latin typeface="Consolas" panose="020B0609020204030204" pitchFamily="49" charset="0"/>
              </a:rPr>
              <a:t># </a:t>
            </a:r>
            <a:r>
              <a:rPr lang="en-US" i="1" dirty="0" err="1">
                <a:latin typeface="Consolas" panose="020B0609020204030204" pitchFamily="49" charset="0"/>
              </a:rPr>
              <a:t>Aprende</a:t>
            </a:r>
            <a:r>
              <a:rPr lang="en-US" i="1" dirty="0">
                <a:latin typeface="Consolas" panose="020B0609020204030204" pitchFamily="49" charset="0"/>
              </a:rPr>
              <a:t> </a:t>
            </a:r>
            <a:r>
              <a:rPr lang="en-US" i="1" dirty="0" err="1">
                <a:latin typeface="Consolas" panose="020B0609020204030204" pitchFamily="49" charset="0"/>
              </a:rPr>
              <a:t>os</a:t>
            </a:r>
            <a:r>
              <a:rPr lang="en-US" i="1" dirty="0">
                <a:latin typeface="Consolas" panose="020B0609020204030204" pitchFamily="49" charset="0"/>
              </a:rPr>
              <a:t> </a:t>
            </a:r>
            <a:r>
              <a:rPr lang="en-US" i="1" dirty="0" err="1">
                <a:latin typeface="Consolas" panose="020B0609020204030204" pitchFamily="49" charset="0"/>
              </a:rPr>
              <a:t>parâmetros</a:t>
            </a:r>
            <a:r>
              <a:rPr lang="en-US" i="1" dirty="0">
                <a:latin typeface="Consolas" panose="020B0609020204030204" pitchFamily="49" charset="0"/>
              </a:rPr>
              <a:t> de </a:t>
            </a:r>
            <a:r>
              <a:rPr lang="en-US" i="1" dirty="0" err="1">
                <a:latin typeface="Consolas" panose="020B0609020204030204" pitchFamily="49" charset="0"/>
              </a:rPr>
              <a:t>padronização</a:t>
            </a:r>
            <a:r>
              <a:rPr lang="en-US" i="1" dirty="0">
                <a:latin typeface="Consolas" panose="020B0609020204030204" pitchFamily="49" charset="0"/>
              </a:rPr>
              <a:t> no </a:t>
            </a:r>
            <a:r>
              <a:rPr lang="en-US" i="1" dirty="0" err="1">
                <a:latin typeface="Consolas" panose="020B0609020204030204" pitchFamily="49" charset="0"/>
              </a:rPr>
              <a:t>treino</a:t>
            </a:r>
            <a:endParaRPr lang="en-US" i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X_scaled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scaler.fit_transform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X_train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i="1" dirty="0">
                <a:latin typeface="Consolas" panose="020B0609020204030204" pitchFamily="49" charset="0"/>
              </a:rPr>
              <a:t># </a:t>
            </a:r>
            <a:r>
              <a:rPr lang="en-US" i="1" dirty="0" err="1">
                <a:latin typeface="Consolas" panose="020B0609020204030204" pitchFamily="49" charset="0"/>
              </a:rPr>
              <a:t>Aplica</a:t>
            </a:r>
            <a:r>
              <a:rPr lang="en-US" i="1" dirty="0">
                <a:latin typeface="Consolas" panose="020B0609020204030204" pitchFamily="49" charset="0"/>
              </a:rPr>
              <a:t> o scaler </a:t>
            </a:r>
            <a:r>
              <a:rPr lang="en-US" i="1" dirty="0" err="1">
                <a:latin typeface="Consolas" panose="020B0609020204030204" pitchFamily="49" charset="0"/>
              </a:rPr>
              <a:t>aprendido</a:t>
            </a:r>
            <a:r>
              <a:rPr lang="en-US" i="1" dirty="0">
                <a:latin typeface="Consolas" panose="020B0609020204030204" pitchFamily="49" charset="0"/>
              </a:rPr>
              <a:t> no teste</a:t>
            </a: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X_test_scaled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scaler.transform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X_test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69081455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44F0F9-20D7-154F-370F-D835643F17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1CDABA-9A41-573A-0CB1-602907ED9D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Escalonamento</a:t>
            </a:r>
            <a:r>
              <a:rPr lang="en-US" dirty="0"/>
              <a:t> </a:t>
            </a:r>
            <a:r>
              <a:rPr lang="en-US" dirty="0" err="1"/>
              <a:t>robusto</a:t>
            </a:r>
            <a:r>
              <a:rPr lang="en-US" dirty="0"/>
              <a:t> (Robust Scaling)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8F3830B-DEF6-A0F3-3AF2-EBB9B6E8B5C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8" y="1825624"/>
                <a:ext cx="11353801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1" dirty="0"/>
                  <a:t>Como funciona</a:t>
                </a:r>
                <a:r>
                  <a:rPr lang="pt-BR" dirty="0"/>
                  <a:t>: Usa mediana e distância interquartil no escalonamento.</a:t>
                </a:r>
                <a:endParaRPr lang="pt-BR" b="1" dirty="0">
                  <a:solidFill>
                    <a:srgbClr val="FF0000"/>
                  </a:solidFill>
                </a:endParaRPr>
              </a:p>
              <a:p>
                <a:r>
                  <a:rPr lang="pt-BR" b="1" dirty="0"/>
                  <a:t>Fórmula: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p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m:rPr>
                              <m:sty m:val="p"/>
                            </m:rPr>
                            <a:rPr lang="pt-BR" b="0" i="0" smtClean="0">
                              <a:latin typeface="Cambria Math" panose="02040503050406030204" pitchFamily="18" charset="0"/>
                            </a:rPr>
                            <m:t>mediana</m:t>
                          </m:r>
                        </m:num>
                        <m:den>
                          <m:limLow>
                            <m:limLowPr>
                              <m:ctrlP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groupChr>
                                <m:groupChrPr>
                                  <m:chr m:val="⏟"/>
                                  <m:ctrlP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groupChrPr>
                                <m:e>
                                  <m:sSub>
                                    <m:sSub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𝑄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sub>
                                  </m:s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𝑄</m:t>
                                      </m:r>
                                    </m:e>
                                    <m: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</m:e>
                              </m:groupChr>
                            </m:e>
                            <m:lim>
                              <m:r>
                                <m:rPr>
                                  <m:sty m:val="p"/>
                                </m:rPr>
                                <a:rPr lang="pt-BR" b="0" i="0" smtClean="0">
                                  <a:latin typeface="Cambria Math" panose="02040503050406030204" pitchFamily="18" charset="0"/>
                                </a:rPr>
                                <m:t>IQR</m:t>
                              </m:r>
                            </m:lim>
                          </m:limLow>
                        </m:den>
                      </m:f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b="0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pt-BR" dirty="0"/>
                  <a:t> é o valor original 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pt-BR">
                        <a:latin typeface="Cambria Math" panose="02040503050406030204" pitchFamily="18" charset="0"/>
                      </a:rPr>
                      <m:t>IQR</m:t>
                    </m:r>
                  </m:oMath>
                </a14:m>
                <a:r>
                  <a:rPr lang="pt-BR" dirty="0"/>
                  <a:t> é a distância interquartil de um atributo.</a:t>
                </a:r>
              </a:p>
              <a:p>
                <a:r>
                  <a:rPr lang="pt-BR" b="1" dirty="0"/>
                  <a:t>Vantagem</a:t>
                </a:r>
                <a:r>
                  <a:rPr lang="pt-BR" dirty="0"/>
                  <a:t>: Por utilizar a mediana e o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pt-BR">
                        <a:latin typeface="Cambria Math" panose="02040503050406030204" pitchFamily="18" charset="0"/>
                      </a:rPr>
                      <m:t>IQR</m:t>
                    </m:r>
                  </m:oMath>
                </a14:m>
                <a:r>
                  <a:rPr lang="pt-BR" dirty="0"/>
                  <a:t> em vez da média e do desvio padrão, os </a:t>
                </a:r>
                <a:r>
                  <a:rPr lang="pt-BR" i="1" dirty="0"/>
                  <a:t>outliers</a:t>
                </a:r>
                <a:r>
                  <a:rPr lang="pt-BR" dirty="0"/>
                  <a:t> têm influência mínima nos dados escalonados.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Mantém a relação de distância entre os valores não-discrepantes melhor que a padronização quando existem </a:t>
                </a:r>
                <a:r>
                  <a:rPr lang="pt-BR" i="1" dirty="0"/>
                  <a:t>outliers</a:t>
                </a:r>
                <a:r>
                  <a:rPr lang="pt-BR" dirty="0"/>
                  <a:t> extremos.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Ou seja, não deixa que </a:t>
                </a:r>
                <a:r>
                  <a:rPr lang="pt-BR" i="1" dirty="0"/>
                  <a:t>outliers</a:t>
                </a:r>
                <a:r>
                  <a:rPr lang="pt-BR" dirty="0"/>
                  <a:t> extremos esmaguem os valores não-discrepantes em valores próximos de 0.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8F3830B-DEF6-A0F3-3AF2-EBB9B6E8B5C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8" y="1825624"/>
                <a:ext cx="11353801" cy="5032375"/>
              </a:xfrm>
              <a:blipFill>
                <a:blip r:embed="rId3"/>
                <a:stretch>
                  <a:fillRect l="-1074" t="-1937" r="-751" b="-18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0960801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8E9AD0-32FE-7BB6-65F1-4C9F82FC9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4EB2E1-2720-CBAD-00A2-4211C0FA69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Escalonamento</a:t>
            </a:r>
            <a:r>
              <a:rPr lang="en-US" dirty="0"/>
              <a:t> </a:t>
            </a:r>
            <a:r>
              <a:rPr lang="en-US" dirty="0" err="1"/>
              <a:t>robusto</a:t>
            </a:r>
            <a:r>
              <a:rPr lang="en-US" dirty="0"/>
              <a:t> (Robust Scaling)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FCF40E-198B-DB74-AFFD-EA10FEF889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79630" cy="5032375"/>
          </a:xfrm>
        </p:spPr>
        <p:txBody>
          <a:bodyPr>
            <a:normAutofit/>
          </a:bodyPr>
          <a:lstStyle/>
          <a:p>
            <a:r>
              <a:rPr lang="pt-BR" b="1" dirty="0"/>
              <a:t>Quando usar: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Quando há </a:t>
            </a:r>
            <a:r>
              <a:rPr lang="pt-BR" i="1" dirty="0"/>
              <a:t>outliers</a:t>
            </a:r>
            <a:r>
              <a:rPr lang="pt-BR" dirty="0"/>
              <a:t> significativos, mas desejamos mantê-los sem impactar o escalonamento.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Quando as distribuições são assimétricas ou com caudas longas.</a:t>
            </a:r>
          </a:p>
          <a:p>
            <a:r>
              <a:rPr lang="pt-BR" b="1" dirty="0"/>
              <a:t>Cuidado: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Como não remove os </a:t>
            </a:r>
            <a:r>
              <a:rPr lang="pt-BR" i="1" dirty="0"/>
              <a:t>outliers</a:t>
            </a:r>
            <a:r>
              <a:rPr lang="pt-BR" dirty="0"/>
              <a:t>, algoritmos sensíveis à distância (e.g., KNN, </a:t>
            </a:r>
            <a:r>
              <a:rPr lang="pt-BR" dirty="0" err="1"/>
              <a:t>Regressores</a:t>
            </a:r>
            <a:r>
              <a:rPr lang="pt-BR" dirty="0"/>
              <a:t>) podem ter seu aprendizado impactado.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 escala dos dados não discrepantes é mantida, mas ele não esconde os </a:t>
            </a:r>
            <a:r>
              <a:rPr lang="pt-BR" i="1" dirty="0"/>
              <a:t>outliers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99004248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A438CB-284D-B132-E982-E10E2E0A6C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7015A9-D416-BD11-58AD-7B62F1B4A5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Escalonamento</a:t>
            </a:r>
            <a:r>
              <a:rPr lang="en-US" dirty="0"/>
              <a:t> </a:t>
            </a:r>
            <a:r>
              <a:rPr lang="en-US" dirty="0" err="1"/>
              <a:t>robusto</a:t>
            </a:r>
            <a:r>
              <a:rPr lang="en-US" dirty="0"/>
              <a:t> (Robust Scaling)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F49F56-D00F-7D12-5FCD-BB6DCFC23C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79630" cy="503237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from </a:t>
            </a:r>
            <a:r>
              <a:rPr lang="en-US" dirty="0" err="1">
                <a:latin typeface="Consolas" panose="020B0609020204030204" pitchFamily="49" charset="0"/>
              </a:rPr>
              <a:t>sklearn.preprocessing</a:t>
            </a:r>
            <a:r>
              <a:rPr lang="en-US" dirty="0">
                <a:latin typeface="Consolas" panose="020B0609020204030204" pitchFamily="49" charset="0"/>
              </a:rPr>
              <a:t> import </a:t>
            </a:r>
            <a:r>
              <a:rPr lang="en-US" dirty="0" err="1">
                <a:latin typeface="Consolas" panose="020B0609020204030204" pitchFamily="49" charset="0"/>
              </a:rPr>
              <a:t>RobustScaler</a:t>
            </a: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# </a:t>
            </a:r>
            <a:r>
              <a:rPr lang="en-US" dirty="0" err="1">
                <a:latin typeface="Consolas" panose="020B0609020204030204" pitchFamily="49" charset="0"/>
              </a:rPr>
              <a:t>Instância</a:t>
            </a:r>
            <a:r>
              <a:rPr lang="en-US" dirty="0">
                <a:latin typeface="Consolas" panose="020B0609020204030204" pitchFamily="49" charset="0"/>
              </a:rPr>
              <a:t> do </a:t>
            </a:r>
            <a:r>
              <a:rPr lang="en-US" dirty="0" err="1">
                <a:latin typeface="Consolas" panose="020B0609020204030204" pitchFamily="49" charset="0"/>
              </a:rPr>
              <a:t>escalonador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robusto</a:t>
            </a: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scaler = </a:t>
            </a:r>
            <a:r>
              <a:rPr lang="en-US" dirty="0" err="1">
                <a:latin typeface="Consolas" panose="020B0609020204030204" pitchFamily="49" charset="0"/>
              </a:rPr>
              <a:t>RobustScaler</a:t>
            </a:r>
            <a:r>
              <a:rPr lang="en-US" dirty="0">
                <a:latin typeface="Consolas" panose="020B0609020204030204" pitchFamily="49" charset="0"/>
              </a:rPr>
              <a:t>()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# </a:t>
            </a:r>
            <a:r>
              <a:rPr lang="en-US" dirty="0" err="1">
                <a:latin typeface="Consolas" panose="020B0609020204030204" pitchFamily="49" charset="0"/>
              </a:rPr>
              <a:t>Aprende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os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parâmetros</a:t>
            </a:r>
            <a:r>
              <a:rPr lang="en-US" dirty="0">
                <a:latin typeface="Consolas" panose="020B0609020204030204" pitchFamily="49" charset="0"/>
              </a:rPr>
              <a:t> de </a:t>
            </a:r>
            <a:r>
              <a:rPr lang="en-US" dirty="0" err="1">
                <a:latin typeface="Consolas" panose="020B0609020204030204" pitchFamily="49" charset="0"/>
              </a:rPr>
              <a:t>escalonamento</a:t>
            </a:r>
            <a:r>
              <a:rPr lang="en-US" dirty="0">
                <a:latin typeface="Consolas" panose="020B0609020204030204" pitchFamily="49" charset="0"/>
              </a:rPr>
              <a:t> no </a:t>
            </a:r>
            <a:r>
              <a:rPr lang="en-US" dirty="0" err="1">
                <a:latin typeface="Consolas" panose="020B0609020204030204" pitchFamily="49" charset="0"/>
              </a:rPr>
              <a:t>treino</a:t>
            </a: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X_scaled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scaler.fit_transform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X_train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# </a:t>
            </a:r>
            <a:r>
              <a:rPr lang="en-US" dirty="0" err="1">
                <a:latin typeface="Consolas" panose="020B0609020204030204" pitchFamily="49" charset="0"/>
              </a:rPr>
              <a:t>Aplica</a:t>
            </a:r>
            <a:r>
              <a:rPr lang="en-US" dirty="0">
                <a:latin typeface="Consolas" panose="020B0609020204030204" pitchFamily="49" charset="0"/>
              </a:rPr>
              <a:t> o scaler </a:t>
            </a:r>
            <a:r>
              <a:rPr lang="en-US" dirty="0" err="1">
                <a:latin typeface="Consolas" panose="020B0609020204030204" pitchFamily="49" charset="0"/>
              </a:rPr>
              <a:t>aprendido</a:t>
            </a:r>
            <a:r>
              <a:rPr lang="en-US" dirty="0">
                <a:latin typeface="Consolas" panose="020B0609020204030204" pitchFamily="49" charset="0"/>
              </a:rPr>
              <a:t> no teste</a:t>
            </a: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X_test_scaled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scaler.transform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X_test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75548370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12465D-3B71-C4D6-425F-FF182A6659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Armadilhas comuns durante o escalonamento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848CE3-22F4-8F30-72FB-7BA864CCB1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081657" cy="5032375"/>
          </a:xfrm>
        </p:spPr>
        <p:txBody>
          <a:bodyPr>
            <a:normAutofit/>
          </a:bodyPr>
          <a:lstStyle/>
          <a:p>
            <a:r>
              <a:rPr lang="pt-BR" dirty="0"/>
              <a:t>Para evitar vazamento de dados, o escalonador deve sempre ser ajustado no conjunto de treinamento.</a:t>
            </a:r>
          </a:p>
          <a:p>
            <a:r>
              <a:rPr lang="pt-BR" dirty="0"/>
              <a:t>Os conjuntos de validação e teste, são transformados com os valores encontrados com o conjunto e treinamento.</a:t>
            </a:r>
          </a:p>
          <a:p>
            <a:r>
              <a:rPr lang="pt-BR" dirty="0"/>
              <a:t>Geralmente, não se aplica escalonamento à variável algo, i.e., os rótulos, apenas aos atributos.</a:t>
            </a:r>
          </a:p>
          <a:p>
            <a:r>
              <a:rPr lang="pt-BR" dirty="0"/>
              <a:t>Não se deve escalonar atributos binários ou </a:t>
            </a:r>
            <a:r>
              <a:rPr lang="pt-BR" i="1" dirty="0" err="1"/>
              <a:t>one</a:t>
            </a:r>
            <a:r>
              <a:rPr lang="pt-BR" i="1" dirty="0"/>
              <a:t>-hot</a:t>
            </a:r>
            <a:r>
              <a:rPr lang="pt-BR" dirty="0"/>
              <a:t> sem necessidade, pois pode-se criar valores fracionários desnecessários.</a:t>
            </a:r>
          </a:p>
        </p:txBody>
      </p:sp>
    </p:spTree>
    <p:extLst>
      <p:ext uri="{BB962C8B-B14F-4D97-AF65-F5344CB8AC3E}">
        <p14:creationId xmlns:p14="http://schemas.microsoft.com/office/powerpoint/2010/main" val="87752671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C8DCA9-22E3-E7D2-4335-66012FBB16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Codificação</a:t>
            </a:r>
            <a:r>
              <a:rPr lang="en-US" dirty="0"/>
              <a:t> de </a:t>
            </a:r>
            <a:r>
              <a:rPr lang="en-US" dirty="0" err="1"/>
              <a:t>atributos</a:t>
            </a:r>
            <a:r>
              <a:rPr lang="en-US" dirty="0"/>
              <a:t> </a:t>
            </a:r>
            <a:r>
              <a:rPr lang="en-US" dirty="0" err="1"/>
              <a:t>categóricos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E35704-3008-E5B2-8105-C96099FC4F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25201" cy="5032375"/>
          </a:xfrm>
        </p:spPr>
        <p:txBody>
          <a:bodyPr>
            <a:normAutofit/>
          </a:bodyPr>
          <a:lstStyle/>
          <a:p>
            <a:r>
              <a:rPr lang="pt-BR" b="1" dirty="0"/>
              <a:t>Motivação</a:t>
            </a:r>
            <a:r>
              <a:rPr lang="pt-BR" dirty="0"/>
              <a:t>: Modelos matemáticos não entendem texto, portanto, precisamos converter categorias em números.</a:t>
            </a:r>
          </a:p>
          <a:p>
            <a:r>
              <a:rPr lang="en-US" dirty="0"/>
              <a:t>As </a:t>
            </a:r>
            <a:r>
              <a:rPr lang="en-US" dirty="0" err="1"/>
              <a:t>principais</a:t>
            </a:r>
            <a:r>
              <a:rPr lang="en-US" dirty="0"/>
              <a:t> </a:t>
            </a:r>
            <a:r>
              <a:rPr lang="en-US" dirty="0" err="1"/>
              <a:t>técnicas</a:t>
            </a:r>
            <a:r>
              <a:rPr lang="en-US" dirty="0"/>
              <a:t> de </a:t>
            </a:r>
            <a:r>
              <a:rPr lang="en-US" dirty="0" err="1"/>
              <a:t>codificação</a:t>
            </a:r>
            <a:r>
              <a:rPr lang="en-US" dirty="0"/>
              <a:t> </a:t>
            </a:r>
            <a:r>
              <a:rPr lang="en-US" dirty="0" err="1"/>
              <a:t>são</a:t>
            </a:r>
            <a:r>
              <a:rPr lang="en-US" dirty="0"/>
              <a:t>:</a:t>
            </a:r>
            <a:endParaRPr lang="pt-BR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One-Hot encoding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Label encoding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dirty="0"/>
              <a:t>Target encoding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/>
              <a:t>Binary </a:t>
            </a:r>
            <a:r>
              <a:rPr lang="en-US" dirty="0"/>
              <a:t>e</a:t>
            </a:r>
            <a:r>
              <a:rPr lang="en-US"/>
              <a:t>ncoding</a:t>
            </a:r>
            <a:endParaRPr lang="pt-BR" dirty="0"/>
          </a:p>
          <a:p>
            <a:r>
              <a:rPr lang="pt-BR" b="1" dirty="0"/>
              <a:t>OBS</a:t>
            </a:r>
            <a:r>
              <a:rPr lang="pt-BR" dirty="0"/>
              <a:t>.: A codificação pode ser considerada uma forma de engenharia de atributos.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731561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7389AB-09B4-AB30-AAD4-587A6426A3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9514B5-016A-AF18-EA86-F01A681367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1" dirty="0"/>
              <a:t>One-Hot encoding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B52C18-6F1E-8230-5D96-63D8A5144D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91200" y="1825624"/>
            <a:ext cx="6172199" cy="5032375"/>
          </a:xfrm>
        </p:spPr>
        <p:txBody>
          <a:bodyPr>
            <a:normAutofit/>
          </a:bodyPr>
          <a:lstStyle/>
          <a:p>
            <a:r>
              <a:rPr lang="pt-BR" dirty="0"/>
              <a:t>Usada com atributos nominais (i.e., sem ordem) e com baixa cardinalidade (i.e., com poucas categorias distintas). </a:t>
            </a:r>
          </a:p>
          <a:p>
            <a:r>
              <a:rPr lang="pt-BR" b="1" dirty="0"/>
              <a:t>Como funciona:</a:t>
            </a:r>
            <a:r>
              <a:rPr lang="pt-BR" dirty="0"/>
              <a:t> Cria uma nova coluna binária para cada categoria distinta.</a:t>
            </a:r>
          </a:p>
          <a:p>
            <a:r>
              <a:rPr lang="pt-BR" b="1" dirty="0"/>
              <a:t>Limitação:</a:t>
            </a:r>
            <a:r>
              <a:rPr lang="pt-BR" dirty="0"/>
              <a:t> Gera alta dimensionalidade (i.e., muitas colunas) se houver muitas categorias, aumentando o custo computacional.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Pode criar o problema conhecido como a “maldição da dimensionalidade”.</a:t>
            </a:r>
          </a:p>
        </p:txBody>
      </p:sp>
      <p:pic>
        <p:nvPicPr>
          <p:cNvPr id="2051" name="Picture 3" descr="One-Hot Encoding: A Comprehensive Guide with Python Implementation | by  Shubham Sangole | GoPenAI">
            <a:extLst>
              <a:ext uri="{FF2B5EF4-FFF2-40B4-BE49-F238E27FC236}">
                <a16:creationId xmlns:a16="http://schemas.microsoft.com/office/drawing/2014/main" id="{04411FF2-E0FD-9D33-63B9-86F2888D8A5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3237" t="8519" r="2382" b="57788"/>
          <a:stretch>
            <a:fillRect/>
          </a:stretch>
        </p:blipFill>
        <p:spPr bwMode="auto">
          <a:xfrm>
            <a:off x="381001" y="2846613"/>
            <a:ext cx="5072743" cy="21662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9270275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7A9C30-8D7C-8A1B-D798-06ED56DFC7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549E73-5A60-3934-DCFD-CA42C618F8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1" dirty="0"/>
              <a:t>Label encoding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18BA66-6028-330D-1D57-30D6366EC3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8058" y="1825624"/>
            <a:ext cx="6945086" cy="5032375"/>
          </a:xfrm>
        </p:spPr>
        <p:txBody>
          <a:bodyPr>
            <a:normAutofit lnSpcReduction="10000"/>
          </a:bodyPr>
          <a:lstStyle/>
          <a:p>
            <a:r>
              <a:rPr lang="pt-BR" dirty="0"/>
              <a:t>Converte cada categoria em um número inteiro único, mas sem considerar uma ordem. </a:t>
            </a:r>
          </a:p>
          <a:p>
            <a:r>
              <a:rPr lang="pt-BR" b="1" dirty="0"/>
              <a:t>Uso:</a:t>
            </a:r>
            <a:r>
              <a:rPr lang="pt-BR" dirty="0"/>
              <a:t> Indicada principalmente para a codificação do rótulo em problemas de classificação.</a:t>
            </a:r>
          </a:p>
          <a:p>
            <a:r>
              <a:rPr lang="pt-BR" b="1" dirty="0"/>
              <a:t>Risco:</a:t>
            </a:r>
            <a:r>
              <a:rPr lang="pt-BR" dirty="0"/>
              <a:t> Pode introduzir uma relação de ordem falsa que afeta negativamente algoritmos sensíveis a distâncias ou magnitudes (e.g., </a:t>
            </a:r>
            <a:r>
              <a:rPr lang="pt-BR" dirty="0" err="1"/>
              <a:t>regressores</a:t>
            </a:r>
            <a:r>
              <a:rPr lang="pt-BR" dirty="0"/>
              <a:t> linear e logístico e KNN).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Para tamanho de camisetas (P, M, G), faz sentido (ordinal).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Para animais e cores, não (nominal).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529D32B-8978-31FB-62B1-9E8E3D40041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61" t="7152" r="5331" b="8009"/>
          <a:stretch>
            <a:fillRect/>
          </a:stretch>
        </p:blipFill>
        <p:spPr>
          <a:xfrm>
            <a:off x="250371" y="2895600"/>
            <a:ext cx="4616969" cy="21662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105652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3883D4-BDD8-E7FF-C7AE-3D255B8711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7E13F8-6196-AD06-DE47-12B16A60FC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1" dirty="0"/>
              <a:t>Target encoding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33F122-99CE-8A1C-8288-BA542054EA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99314" y="1825624"/>
            <a:ext cx="6640286" cy="5032375"/>
          </a:xfrm>
        </p:spPr>
        <p:txBody>
          <a:bodyPr>
            <a:normAutofit lnSpcReduction="10000"/>
          </a:bodyPr>
          <a:lstStyle/>
          <a:p>
            <a:r>
              <a:rPr lang="pt-BR" dirty="0"/>
              <a:t>Substitui cada categoria pela média do valor do alvo correspondente a essa categoria.</a:t>
            </a:r>
          </a:p>
          <a:p>
            <a:r>
              <a:rPr lang="pt-BR" b="1" dirty="0"/>
              <a:t>Quando usar:</a:t>
            </a:r>
            <a:r>
              <a:rPr lang="pt-BR" dirty="0"/>
              <a:t> Ideal para variáveis de alta cardinalidade, pois não aumenta a dimensionalidade do conjunto de dados e quando há relação entre a categoria e o </a:t>
            </a:r>
            <a:r>
              <a:rPr lang="pt-BR" i="1" dirty="0"/>
              <a:t>target</a:t>
            </a:r>
            <a:r>
              <a:rPr lang="pt-BR" dirty="0"/>
              <a:t>.</a:t>
            </a:r>
          </a:p>
          <a:p>
            <a:r>
              <a:rPr lang="pt-BR" b="1" dirty="0"/>
              <a:t>Risco:</a:t>
            </a:r>
            <a:r>
              <a:rPr lang="pt-BR" dirty="0"/>
              <a:t> </a:t>
            </a:r>
            <a:r>
              <a:rPr lang="pt-BR" i="1" dirty="0" err="1"/>
              <a:t>Overfitting</a:t>
            </a:r>
            <a:r>
              <a:rPr lang="pt-BR" dirty="0"/>
              <a:t> quando uma categoria tem poucos exemplos.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 média do </a:t>
            </a:r>
            <a:r>
              <a:rPr lang="pt-BR" i="1" dirty="0"/>
              <a:t>target</a:t>
            </a:r>
            <a:r>
              <a:rPr lang="pt-BR" dirty="0"/>
              <a:t> pode refletir mais ruído do que padrão real dos dados, prejudicando a generalização.</a:t>
            </a:r>
          </a:p>
        </p:txBody>
      </p:sp>
      <p:pic>
        <p:nvPicPr>
          <p:cNvPr id="2050" name="Picture 2" descr="Data Transformation: one-hot vs target encoding">
            <a:extLst>
              <a:ext uri="{FF2B5EF4-FFF2-40B4-BE49-F238E27FC236}">
                <a16:creationId xmlns:a16="http://schemas.microsoft.com/office/drawing/2014/main" id="{7BB7010D-52CF-95E3-7867-6467D4626A4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39" t="23968" r="4286" b="15079"/>
          <a:stretch>
            <a:fillRect/>
          </a:stretch>
        </p:blipFill>
        <p:spPr bwMode="auto">
          <a:xfrm>
            <a:off x="228600" y="3023466"/>
            <a:ext cx="4789715" cy="17662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0539919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EDD75A-3D20-1CFF-0CAC-A5CB15BA9A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6F2449-F38A-4DF6-443B-1B77E3F396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i="1" dirty="0"/>
              <a:t>Binary encoding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A68C86-94AE-24AE-A0EF-6A9D083052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21642" y="1825625"/>
            <a:ext cx="6750615" cy="5032375"/>
          </a:xfrm>
        </p:spPr>
        <p:txBody>
          <a:bodyPr>
            <a:normAutofit lnSpcReduction="10000"/>
          </a:bodyPr>
          <a:lstStyle/>
          <a:p>
            <a:r>
              <a:rPr lang="pt-BR" dirty="0"/>
              <a:t>Combina os benefícios das codificações </a:t>
            </a:r>
            <a:r>
              <a:rPr lang="pt-BR" i="1" dirty="0" err="1"/>
              <a:t>One</a:t>
            </a:r>
            <a:r>
              <a:rPr lang="pt-BR" i="1" dirty="0"/>
              <a:t>-Hot</a:t>
            </a:r>
            <a:r>
              <a:rPr lang="pt-BR" dirty="0"/>
              <a:t> e </a:t>
            </a:r>
            <a:r>
              <a:rPr lang="pt-BR" i="1" dirty="0" err="1"/>
              <a:t>Label</a:t>
            </a:r>
            <a:r>
              <a:rPr lang="pt-BR" dirty="0"/>
              <a:t>. </a:t>
            </a:r>
          </a:p>
          <a:p>
            <a:r>
              <a:rPr lang="pt-BR" dirty="0"/>
              <a:t>Cada categoria recebe um número inteiro (</a:t>
            </a:r>
            <a:r>
              <a:rPr lang="pt-BR" i="1" dirty="0" err="1"/>
              <a:t>Label</a:t>
            </a:r>
            <a:r>
              <a:rPr lang="pt-BR" dirty="0"/>
              <a:t>), e depois esse número é convertido </a:t>
            </a:r>
            <a:r>
              <a:rPr lang="en-US" dirty="0"/>
              <a:t>para </a:t>
            </a:r>
            <a:r>
              <a:rPr lang="en-US" dirty="0" err="1"/>
              <a:t>sua</a:t>
            </a:r>
            <a:r>
              <a:rPr lang="en-US" dirty="0"/>
              <a:t> </a:t>
            </a:r>
            <a:r>
              <a:rPr lang="en-US" dirty="0" err="1"/>
              <a:t>representação</a:t>
            </a:r>
            <a:r>
              <a:rPr lang="en-US" dirty="0"/>
              <a:t> </a:t>
            </a:r>
            <a:r>
              <a:rPr lang="en-US" dirty="0" err="1"/>
              <a:t>binária</a:t>
            </a:r>
            <a:r>
              <a:rPr lang="pt-BR" dirty="0"/>
              <a:t>, criando colunas para cada bit.</a:t>
            </a:r>
          </a:p>
          <a:p>
            <a:r>
              <a:rPr lang="pt-BR" b="1" dirty="0"/>
              <a:t>Quando usar:</a:t>
            </a:r>
            <a:r>
              <a:rPr lang="pt-BR" dirty="0"/>
              <a:t> Ótimo para variáveis categóricas de alta cardinalidade.</a:t>
            </a:r>
          </a:p>
          <a:p>
            <a:r>
              <a:rPr lang="pt-BR" b="1" dirty="0"/>
              <a:t>Desvantagem</a:t>
            </a:r>
            <a:r>
              <a:rPr lang="pt-BR" dirty="0"/>
              <a:t>: Por algumas categorias compartilharem bits, modelos lineares podem achar que existe uma relação matemática entre elas. Modelos de árvore (e.g., DT, RF) lidam bem com isso.</a:t>
            </a:r>
          </a:p>
        </p:txBody>
      </p:sp>
      <p:pic>
        <p:nvPicPr>
          <p:cNvPr id="3074" name="Picture 2" descr="7 Must-know Techniques For Encoding Categorical Feature">
            <a:extLst>
              <a:ext uri="{FF2B5EF4-FFF2-40B4-BE49-F238E27FC236}">
                <a16:creationId xmlns:a16="http://schemas.microsoft.com/office/drawing/2014/main" id="{7AEBA2C1-6D35-7636-7CD6-AC297809D19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61" t="10457" r="5625" b="19838"/>
          <a:stretch>
            <a:fillRect/>
          </a:stretch>
        </p:blipFill>
        <p:spPr bwMode="auto">
          <a:xfrm>
            <a:off x="283028" y="3177218"/>
            <a:ext cx="4833257" cy="17757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2482561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3E6AEB-4BFC-EF3A-CCC7-C66FB3B5B1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Exemplos de </a:t>
            </a:r>
            <a:r>
              <a:rPr lang="pt-BR" i="1" dirty="0" err="1"/>
              <a:t>encoding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AD9A45-89F4-0472-434E-82FA5060D2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79629" cy="5032375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300" dirty="0">
                <a:latin typeface="Consolas" panose="020B0609020204030204" pitchFamily="49" charset="0"/>
              </a:rPr>
              <a:t>from </a:t>
            </a:r>
            <a:r>
              <a:rPr lang="en-US" sz="2300" dirty="0" err="1">
                <a:latin typeface="Consolas" panose="020B0609020204030204" pitchFamily="49" charset="0"/>
              </a:rPr>
              <a:t>sklearn.preprocessing</a:t>
            </a:r>
            <a:r>
              <a:rPr lang="en-US" sz="2300" dirty="0">
                <a:latin typeface="Consolas" panose="020B0609020204030204" pitchFamily="49" charset="0"/>
              </a:rPr>
              <a:t> import </a:t>
            </a:r>
            <a:r>
              <a:rPr lang="en-US" sz="2300" dirty="0" err="1">
                <a:latin typeface="Consolas" panose="020B0609020204030204" pitchFamily="49" charset="0"/>
              </a:rPr>
              <a:t>OneHotEncoder</a:t>
            </a:r>
            <a:r>
              <a:rPr lang="en-US" sz="2300" dirty="0">
                <a:latin typeface="Consolas" panose="020B0609020204030204" pitchFamily="49" charset="0"/>
              </a:rPr>
              <a:t>, </a:t>
            </a:r>
            <a:r>
              <a:rPr lang="en-US" sz="2300" dirty="0" err="1">
                <a:latin typeface="Consolas" panose="020B0609020204030204" pitchFamily="49" charset="0"/>
              </a:rPr>
              <a:t>LabelEncoder</a:t>
            </a:r>
            <a:r>
              <a:rPr lang="en-US" sz="2300" dirty="0">
                <a:latin typeface="Consolas" panose="020B0609020204030204" pitchFamily="49" charset="0"/>
              </a:rPr>
              <a:t>, </a:t>
            </a:r>
            <a:r>
              <a:rPr lang="en-US" sz="2300" dirty="0" err="1">
                <a:latin typeface="Consolas" panose="020B0609020204030204" pitchFamily="49" charset="0"/>
              </a:rPr>
              <a:t>TargetEncoder</a:t>
            </a:r>
            <a:endParaRPr lang="en-US" sz="23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300" i="1" dirty="0">
                <a:latin typeface="Consolas" panose="020B0609020204030204" pitchFamily="49" charset="0"/>
              </a:rPr>
              <a:t># </a:t>
            </a:r>
            <a:r>
              <a:rPr lang="en-US" sz="2300" i="1" dirty="0" err="1">
                <a:latin typeface="Consolas" panose="020B0609020204030204" pitchFamily="49" charset="0"/>
              </a:rPr>
              <a:t>SciKit</a:t>
            </a:r>
            <a:r>
              <a:rPr lang="en-US" sz="2300" i="1" dirty="0">
                <a:latin typeface="Consolas" panose="020B0609020204030204" pitchFamily="49" charset="0"/>
              </a:rPr>
              <a:t>-Learn </a:t>
            </a:r>
            <a:r>
              <a:rPr lang="en-US" sz="2300" i="1" dirty="0" err="1">
                <a:latin typeface="Consolas" panose="020B0609020204030204" pitchFamily="49" charset="0"/>
              </a:rPr>
              <a:t>não</a:t>
            </a:r>
            <a:r>
              <a:rPr lang="en-US" sz="2300" i="1" dirty="0">
                <a:latin typeface="Consolas" panose="020B0609020204030204" pitchFamily="49" charset="0"/>
              </a:rPr>
              <a:t> </a:t>
            </a:r>
            <a:r>
              <a:rPr lang="en-US" sz="2300" i="1" dirty="0" err="1">
                <a:latin typeface="Consolas" panose="020B0609020204030204" pitchFamily="49" charset="0"/>
              </a:rPr>
              <a:t>implementa</a:t>
            </a:r>
            <a:r>
              <a:rPr lang="en-US" sz="2300" i="1" dirty="0">
                <a:latin typeface="Consolas" panose="020B0609020204030204" pitchFamily="49" charset="0"/>
              </a:rPr>
              <a:t> o </a:t>
            </a:r>
            <a:r>
              <a:rPr lang="en-US" sz="2300" i="1" dirty="0" err="1">
                <a:latin typeface="Consolas" panose="020B0609020204030204" pitchFamily="49" charset="0"/>
              </a:rPr>
              <a:t>codificador</a:t>
            </a:r>
            <a:r>
              <a:rPr lang="en-US" sz="2300" i="1" dirty="0">
                <a:latin typeface="Consolas" panose="020B0609020204030204" pitchFamily="49" charset="0"/>
              </a:rPr>
              <a:t> </a:t>
            </a:r>
            <a:r>
              <a:rPr lang="en-US" sz="2300" i="1" dirty="0" err="1">
                <a:latin typeface="Consolas" panose="020B0609020204030204" pitchFamily="49" charset="0"/>
              </a:rPr>
              <a:t>binário</a:t>
            </a:r>
            <a:r>
              <a:rPr lang="en-US" sz="2300" i="1" dirty="0">
                <a:latin typeface="Consolas" panose="020B0609020204030204" pitchFamily="49" charset="0"/>
              </a:rPr>
              <a:t> (pip install </a:t>
            </a:r>
            <a:r>
              <a:rPr lang="en-US" sz="2300" i="1" dirty="0" err="1">
                <a:latin typeface="Consolas" panose="020B0609020204030204" pitchFamily="49" charset="0"/>
              </a:rPr>
              <a:t>category_encoders</a:t>
            </a:r>
            <a:r>
              <a:rPr lang="en-US" sz="2300" i="1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r>
              <a:rPr lang="en-US" sz="2300" dirty="0">
                <a:latin typeface="Consolas" panose="020B0609020204030204" pitchFamily="49" charset="0"/>
              </a:rPr>
              <a:t>from </a:t>
            </a:r>
            <a:r>
              <a:rPr lang="en-US" sz="2300" dirty="0" err="1">
                <a:latin typeface="Consolas" panose="020B0609020204030204" pitchFamily="49" charset="0"/>
              </a:rPr>
              <a:t>category_encoders</a:t>
            </a:r>
            <a:r>
              <a:rPr lang="en-US" sz="2300" dirty="0">
                <a:latin typeface="Consolas" panose="020B0609020204030204" pitchFamily="49" charset="0"/>
              </a:rPr>
              <a:t> import </a:t>
            </a:r>
            <a:r>
              <a:rPr lang="en-US" sz="2300" dirty="0" err="1">
                <a:latin typeface="Consolas" panose="020B0609020204030204" pitchFamily="49" charset="0"/>
              </a:rPr>
              <a:t>BinaryEncoder</a:t>
            </a:r>
            <a:endParaRPr lang="en-US" sz="23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sz="23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300" i="1" dirty="0">
                <a:latin typeface="Consolas" panose="020B0609020204030204" pitchFamily="49" charset="0"/>
              </a:rPr>
              <a:t># </a:t>
            </a:r>
            <a:r>
              <a:rPr lang="en-US" sz="2300" i="1" dirty="0" err="1">
                <a:latin typeface="Consolas" panose="020B0609020204030204" pitchFamily="49" charset="0"/>
              </a:rPr>
              <a:t>LabelEncoder</a:t>
            </a:r>
            <a:r>
              <a:rPr lang="en-US" sz="2300" i="1" dirty="0">
                <a:latin typeface="Consolas" panose="020B0609020204030204" pitchFamily="49" charset="0"/>
              </a:rPr>
              <a:t>(), </a:t>
            </a:r>
            <a:r>
              <a:rPr lang="en-US" sz="2300" i="1" dirty="0" err="1">
                <a:latin typeface="Consolas" panose="020B0609020204030204" pitchFamily="49" charset="0"/>
              </a:rPr>
              <a:t>TargetEncoder</a:t>
            </a:r>
            <a:r>
              <a:rPr lang="en-US" sz="2300" i="1" dirty="0">
                <a:latin typeface="Consolas" panose="020B0609020204030204" pitchFamily="49" charset="0"/>
              </a:rPr>
              <a:t>() </a:t>
            </a:r>
            <a:r>
              <a:rPr lang="en-US" sz="2300" i="1" dirty="0" err="1">
                <a:latin typeface="Consolas" panose="020B0609020204030204" pitchFamily="49" charset="0"/>
              </a:rPr>
              <a:t>ou</a:t>
            </a:r>
            <a:r>
              <a:rPr lang="en-US" sz="2300" i="1" dirty="0">
                <a:latin typeface="Consolas" panose="020B0609020204030204" pitchFamily="49" charset="0"/>
              </a:rPr>
              <a:t> </a:t>
            </a:r>
            <a:r>
              <a:rPr lang="en-US" sz="2300" i="1" dirty="0" err="1">
                <a:latin typeface="Consolas" panose="020B0609020204030204" pitchFamily="49" charset="0"/>
              </a:rPr>
              <a:t>BinaryEncoder</a:t>
            </a:r>
            <a:r>
              <a:rPr lang="en-US" sz="2300" i="1" dirty="0">
                <a:latin typeface="Consolas" panose="020B0609020204030204" pitchFamily="49" charset="0"/>
              </a:rPr>
              <a:t>()</a:t>
            </a:r>
            <a:endParaRPr lang="en-US" sz="23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300" dirty="0">
                <a:latin typeface="Consolas" panose="020B0609020204030204" pitchFamily="49" charset="0"/>
              </a:rPr>
              <a:t>enc = </a:t>
            </a:r>
            <a:r>
              <a:rPr lang="en-US" sz="2300" dirty="0" err="1">
                <a:latin typeface="Consolas" panose="020B0609020204030204" pitchFamily="49" charset="0"/>
              </a:rPr>
              <a:t>OneHotEncoder</a:t>
            </a:r>
            <a:r>
              <a:rPr lang="en-US" sz="2300" dirty="0">
                <a:latin typeface="Consolas" panose="020B0609020204030204" pitchFamily="49" charset="0"/>
              </a:rPr>
              <a:t>()</a:t>
            </a:r>
            <a:endParaRPr lang="en-US" sz="2300" i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300" dirty="0" err="1">
                <a:latin typeface="Consolas" panose="020B0609020204030204" pitchFamily="49" charset="0"/>
              </a:rPr>
              <a:t>enc.fit_transform</a:t>
            </a:r>
            <a:r>
              <a:rPr lang="en-US" sz="2300" dirty="0">
                <a:latin typeface="Consolas" panose="020B0609020204030204" pitchFamily="49" charset="0"/>
              </a:rPr>
              <a:t>(</a:t>
            </a:r>
            <a:r>
              <a:rPr lang="en-US" sz="2300" dirty="0" err="1">
                <a:latin typeface="Consolas" panose="020B0609020204030204" pitchFamily="49" charset="0"/>
              </a:rPr>
              <a:t>X_train</a:t>
            </a:r>
            <a:r>
              <a:rPr lang="en-US" sz="2300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endParaRPr lang="en-US" sz="23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300" dirty="0" err="1">
                <a:latin typeface="Consolas" panose="020B0609020204030204" pitchFamily="49" charset="0"/>
              </a:rPr>
              <a:t>enc.transform</a:t>
            </a:r>
            <a:r>
              <a:rPr lang="en-US" sz="2300" dirty="0">
                <a:latin typeface="Consolas" panose="020B0609020204030204" pitchFamily="49" charset="0"/>
              </a:rPr>
              <a:t>(</a:t>
            </a:r>
            <a:r>
              <a:rPr lang="en-US" sz="2300" dirty="0" err="1">
                <a:latin typeface="Consolas" panose="020B0609020204030204" pitchFamily="49" charset="0"/>
              </a:rPr>
              <a:t>X_test</a:t>
            </a:r>
            <a:r>
              <a:rPr lang="en-US" sz="2300" dirty="0">
                <a:latin typeface="Consolas" panose="020B0609020204030204" pitchFamily="49" charset="0"/>
              </a:rPr>
              <a:t>)     </a:t>
            </a:r>
          </a:p>
          <a:p>
            <a:pPr marL="0" indent="0">
              <a:buNone/>
            </a:pPr>
            <a:r>
              <a:rPr lang="en-US" sz="2300" dirty="0" err="1">
                <a:latin typeface="Consolas" panose="020B0609020204030204" pitchFamily="49" charset="0"/>
              </a:rPr>
              <a:t>enc.inverse_transform</a:t>
            </a:r>
            <a:r>
              <a:rPr lang="en-US" sz="2300" dirty="0">
                <a:latin typeface="Consolas" panose="020B0609020204030204" pitchFamily="49" charset="0"/>
              </a:rPr>
              <a:t>(</a:t>
            </a:r>
            <a:r>
              <a:rPr lang="en-US" sz="2300" dirty="0" err="1">
                <a:latin typeface="Consolas" panose="020B0609020204030204" pitchFamily="49" charset="0"/>
              </a:rPr>
              <a:t>X_test</a:t>
            </a:r>
            <a:r>
              <a:rPr lang="en-US" sz="2300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71719358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5DE3AC-BF5D-66CC-4338-E24FCABF90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Engenharia</a:t>
            </a:r>
            <a:r>
              <a:rPr lang="en-US" dirty="0"/>
              <a:t> de </a:t>
            </a:r>
            <a:r>
              <a:rPr lang="en-US" dirty="0" err="1"/>
              <a:t>atributos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63AE027-526F-64B6-C706-EA359C1FC44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223172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1" dirty="0"/>
                  <a:t>Definição: </a:t>
                </a:r>
                <a:r>
                  <a:rPr lang="pt-BR" dirty="0"/>
                  <a:t>É a transformação ou criação de novos atributos que sejam mais úteis e informativos. </a:t>
                </a:r>
              </a:p>
              <a:p>
                <a:r>
                  <a:rPr lang="en-US" b="1" dirty="0"/>
                  <a:t>Por </a:t>
                </a:r>
                <a:r>
                  <a:rPr lang="en-US" b="1" dirty="0" err="1"/>
                  <a:t>que</a:t>
                </a:r>
                <a:r>
                  <a:rPr lang="en-US" b="1" dirty="0"/>
                  <a:t> </a:t>
                </a:r>
                <a:r>
                  <a:rPr lang="en-US" b="1" dirty="0" err="1"/>
                  <a:t>fazer</a:t>
                </a:r>
                <a:r>
                  <a:rPr lang="en-US" dirty="0"/>
                  <a:t>: </a:t>
                </a:r>
                <a:r>
                  <a:rPr lang="pt-BR" dirty="0"/>
                  <a:t>Ajuda o modelo a enxergar relações que não estão óbvias.</a:t>
                </a:r>
              </a:p>
              <a:p>
                <a:r>
                  <a:rPr lang="pt-BR" b="1" dirty="0"/>
                  <a:t>Objetivo</a:t>
                </a:r>
                <a:r>
                  <a:rPr lang="pt-BR" dirty="0"/>
                  <a:t>: Melhorar a capacidade de predição (generalização) do modelo.</a:t>
                </a:r>
              </a:p>
              <a:p>
                <a:r>
                  <a:rPr lang="pt-BR" b="1" dirty="0"/>
                  <a:t>Exemplos</a:t>
                </a:r>
                <a:r>
                  <a:rPr lang="pt-BR" dirty="0"/>
                  <a:t>: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Data de nascimento → Idade, faixa etária.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Coordenadas GPS → Distância até certo ponto.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Preço e quantidade → Valor total da venda.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i="1" dirty="0" err="1"/>
                  <a:t>Timestamp</a:t>
                </a:r>
                <a:r>
                  <a:rPr lang="pt-BR" dirty="0"/>
                  <a:t> → Hora, dia da semana, feriado?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Comprimento e largura → Área.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Interação entre atributos → Polinômios (e.g.,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bSup>
                    <m:r>
                      <a:rPr lang="pt-BR" i="1">
                        <a:latin typeface="Cambria Math" panose="02040503050406030204" pitchFamily="18" charset="0"/>
                      </a:rPr>
                      <m:t> =</m:t>
                    </m:r>
                    <m:sSubSup>
                      <m:sSub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sSub>
                          <m:sSubPr>
                            <m:ctrlPr>
                              <a:rPr lang="pt-BR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pt-BR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pt-BR" i="1">
                            <a:latin typeface="Cambria Math" panose="02040503050406030204" pitchFamily="18" charset="0"/>
                          </a:rPr>
                          <m:t>+ 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)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endParaRPr lang="pt-BR" dirty="0"/>
              </a:p>
              <a:p>
                <a:endParaRPr lang="pt-BR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63AE027-526F-64B6-C706-EA359C1FC44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223172" cy="5032375"/>
              </a:xfrm>
              <a:blipFill>
                <a:blip r:embed="rId3"/>
                <a:stretch>
                  <a:fillRect l="-923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6747859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9595A-2BE1-288D-C430-B42FA27A3A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Engenharia</a:t>
            </a:r>
            <a:r>
              <a:rPr lang="en-US" dirty="0"/>
              <a:t> de </a:t>
            </a:r>
            <a:r>
              <a:rPr lang="en-US"/>
              <a:t>atributos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8B16F1-8959-5098-25C2-B111C8BE4B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57857" cy="5032375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pt-BR" dirty="0" err="1">
                <a:latin typeface="Consolas" panose="020B0609020204030204" pitchFamily="49" charset="0"/>
              </a:rPr>
              <a:t>import</a:t>
            </a:r>
            <a:r>
              <a:rPr lang="pt-BR" dirty="0">
                <a:latin typeface="Consolas" panose="020B0609020204030204" pitchFamily="49" charset="0"/>
              </a:rPr>
              <a:t> pandas as </a:t>
            </a:r>
            <a:r>
              <a:rPr lang="pt-BR" dirty="0" err="1">
                <a:latin typeface="Consolas" panose="020B0609020204030204" pitchFamily="49" charset="0"/>
              </a:rPr>
              <a:t>pd</a:t>
            </a:r>
            <a:endParaRPr lang="pt-BR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pt-BR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dirty="0">
                <a:latin typeface="Consolas" panose="020B0609020204030204" pitchFamily="49" charset="0"/>
              </a:rPr>
              <a:t># Exemplo de dados</a:t>
            </a:r>
          </a:p>
          <a:p>
            <a:pPr marL="0" indent="0">
              <a:buNone/>
            </a:pP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 = </a:t>
            </a:r>
            <a:r>
              <a:rPr lang="pt-BR" dirty="0" err="1">
                <a:latin typeface="Consolas" panose="020B0609020204030204" pitchFamily="49" charset="0"/>
              </a:rPr>
              <a:t>pd.DataFrame</a:t>
            </a:r>
            <a:r>
              <a:rPr lang="pt-BR" dirty="0">
                <a:latin typeface="Consolas" panose="020B0609020204030204" pitchFamily="49" charset="0"/>
              </a:rPr>
              <a:t>({</a:t>
            </a:r>
          </a:p>
          <a:p>
            <a:pPr marL="0" indent="0">
              <a:buNone/>
            </a:pPr>
            <a:r>
              <a:rPr lang="pt-BR" dirty="0">
                <a:latin typeface="Consolas" panose="020B0609020204030204" pitchFamily="49" charset="0"/>
              </a:rPr>
              <a:t>    "</a:t>
            </a:r>
            <a:r>
              <a:rPr lang="pt-BR" dirty="0" err="1">
                <a:latin typeface="Consolas" panose="020B0609020204030204" pitchFamily="49" charset="0"/>
              </a:rPr>
              <a:t>preco</a:t>
            </a:r>
            <a:r>
              <a:rPr lang="pt-BR" dirty="0">
                <a:latin typeface="Consolas" panose="020B0609020204030204" pitchFamily="49" charset="0"/>
              </a:rPr>
              <a:t>": [10, 20, 15],</a:t>
            </a:r>
          </a:p>
          <a:p>
            <a:pPr marL="0" indent="0">
              <a:buNone/>
            </a:pPr>
            <a:r>
              <a:rPr lang="pt-BR" dirty="0">
                <a:latin typeface="Consolas" panose="020B0609020204030204" pitchFamily="49" charset="0"/>
              </a:rPr>
              <a:t>    "quantidade": [2, 1, 3],</a:t>
            </a:r>
          </a:p>
          <a:p>
            <a:pPr marL="0" indent="0">
              <a:buNone/>
            </a:pPr>
            <a:r>
              <a:rPr lang="pt-BR" dirty="0">
                <a:latin typeface="Consolas" panose="020B0609020204030204" pitchFamily="49" charset="0"/>
              </a:rPr>
              <a:t>    "desconto": [0, 5, 0]})</a:t>
            </a:r>
          </a:p>
          <a:p>
            <a:pPr marL="0" indent="0">
              <a:buNone/>
            </a:pPr>
            <a:endParaRPr lang="pt-BR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dirty="0">
                <a:latin typeface="Consolas" panose="020B0609020204030204" pitchFamily="49" charset="0"/>
              </a:rPr>
              <a:t># Feature </a:t>
            </a:r>
            <a:r>
              <a:rPr lang="pt-BR" dirty="0" err="1">
                <a:latin typeface="Consolas" panose="020B0609020204030204" pitchFamily="49" charset="0"/>
              </a:rPr>
              <a:t>Engineering</a:t>
            </a:r>
            <a:endParaRPr lang="pt-BR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["</a:t>
            </a:r>
            <a:r>
              <a:rPr lang="pt-BR" dirty="0" err="1">
                <a:latin typeface="Consolas" panose="020B0609020204030204" pitchFamily="49" charset="0"/>
              </a:rPr>
              <a:t>valor_total</a:t>
            </a:r>
            <a:r>
              <a:rPr lang="pt-BR" dirty="0">
                <a:latin typeface="Consolas" panose="020B0609020204030204" pitchFamily="49" charset="0"/>
              </a:rPr>
              <a:t>"] = 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["</a:t>
            </a:r>
            <a:r>
              <a:rPr lang="pt-BR" dirty="0" err="1">
                <a:latin typeface="Consolas" panose="020B0609020204030204" pitchFamily="49" charset="0"/>
              </a:rPr>
              <a:t>preco</a:t>
            </a:r>
            <a:r>
              <a:rPr lang="pt-BR" dirty="0">
                <a:latin typeface="Consolas" panose="020B0609020204030204" pitchFamily="49" charset="0"/>
              </a:rPr>
              <a:t>"] * 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["quantidade"]</a:t>
            </a:r>
          </a:p>
          <a:p>
            <a:pPr marL="0" indent="0">
              <a:buNone/>
            </a:pP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["</a:t>
            </a:r>
            <a:r>
              <a:rPr lang="pt-BR" dirty="0" err="1">
                <a:latin typeface="Consolas" panose="020B0609020204030204" pitchFamily="49" charset="0"/>
              </a:rPr>
              <a:t>houve_desconto</a:t>
            </a:r>
            <a:r>
              <a:rPr lang="pt-BR" dirty="0">
                <a:latin typeface="Consolas" panose="020B0609020204030204" pitchFamily="49" charset="0"/>
              </a:rPr>
              <a:t>"] = (</a:t>
            </a:r>
            <a:r>
              <a:rPr lang="pt-BR" dirty="0" err="1">
                <a:latin typeface="Consolas" panose="020B0609020204030204" pitchFamily="49" charset="0"/>
              </a:rPr>
              <a:t>df</a:t>
            </a:r>
            <a:r>
              <a:rPr lang="pt-BR" dirty="0">
                <a:latin typeface="Consolas" panose="020B0609020204030204" pitchFamily="49" charset="0"/>
              </a:rPr>
              <a:t>["desconto"] &gt; 0).</a:t>
            </a:r>
            <a:r>
              <a:rPr lang="pt-BR" dirty="0" err="1">
                <a:latin typeface="Consolas" panose="020B0609020204030204" pitchFamily="49" charset="0"/>
              </a:rPr>
              <a:t>astype</a:t>
            </a:r>
            <a:r>
              <a:rPr lang="pt-BR" dirty="0">
                <a:latin typeface="Consolas" panose="020B0609020204030204" pitchFamily="49" charset="0"/>
              </a:rPr>
              <a:t>(</a:t>
            </a:r>
            <a:r>
              <a:rPr lang="pt-BR" dirty="0" err="1">
                <a:latin typeface="Consolas" panose="020B0609020204030204" pitchFamily="49" charset="0"/>
              </a:rPr>
              <a:t>int</a:t>
            </a:r>
            <a:r>
              <a:rPr lang="pt-BR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410998805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36D7A6-03D2-CFC6-1F7F-CDB7CAC290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Extração de atributos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EB6DEA-DC3C-E32E-8B87-E61169FB31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79629" cy="5032375"/>
          </a:xfrm>
        </p:spPr>
        <p:txBody>
          <a:bodyPr>
            <a:normAutofit lnSpcReduction="10000"/>
          </a:bodyPr>
          <a:lstStyle/>
          <a:p>
            <a:r>
              <a:rPr lang="pt-BR" b="1" dirty="0"/>
              <a:t>Definição</a:t>
            </a:r>
            <a:r>
              <a:rPr lang="pt-BR" dirty="0"/>
              <a:t>: É o processo de </a:t>
            </a:r>
            <a:r>
              <a:rPr lang="pt-BR" b="1" dirty="0"/>
              <a:t>transformar</a:t>
            </a:r>
            <a:r>
              <a:rPr lang="pt-BR" dirty="0"/>
              <a:t> dados brutos em um conjunto menor de atributos significativos que podem ser processados de forma mais eficiente, mantendo as informações essenciais (em geral, perde parte da informação).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Transforma os dados em uma representação mais eficiente</a:t>
            </a:r>
            <a:r>
              <a:rPr lang="pt-BR" dirty="0"/>
              <a:t>.</a:t>
            </a:r>
          </a:p>
          <a:p>
            <a:r>
              <a:rPr lang="pt-BR" b="1" dirty="0"/>
              <a:t>Por que fazer</a:t>
            </a:r>
            <a:r>
              <a:rPr lang="pt-BR" dirty="0"/>
              <a:t>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Reduz a dimensionalidade,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Remove redundância,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Reduz os recursos computacionais necessários para armazenamento, processamento e treinamento,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Acelera o treinamento,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Melhora o desempenho do modelo, pois os dados são mais informativos e menos ruidosos.</a:t>
            </a:r>
          </a:p>
        </p:txBody>
      </p:sp>
    </p:spTree>
    <p:extLst>
      <p:ext uri="{BB962C8B-B14F-4D97-AF65-F5344CB8AC3E}">
        <p14:creationId xmlns:p14="http://schemas.microsoft.com/office/powerpoint/2010/main" val="364018562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CEF4B4-F659-1DE7-6E62-D371CCA00E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pt-BR" dirty="0"/>
              <a:t>Técnicas comuns para extração de atributos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B26942-5206-022D-4BE0-7148B25012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972800" cy="5032375"/>
          </a:xfrm>
        </p:spPr>
        <p:txBody>
          <a:bodyPr>
            <a:normAutofit/>
          </a:bodyPr>
          <a:lstStyle/>
          <a:p>
            <a:r>
              <a:rPr lang="en-US" b="1" dirty="0"/>
              <a:t>Dados </a:t>
            </a:r>
            <a:r>
              <a:rPr lang="en-US" b="1" dirty="0" err="1"/>
              <a:t>tabulares</a:t>
            </a:r>
            <a:r>
              <a:rPr lang="en-US" b="1" dirty="0"/>
              <a:t>: </a:t>
            </a:r>
            <a:r>
              <a:rPr lang="pt-BR" dirty="0"/>
              <a:t>Análise de componentes principais (PCA) e análise de componentes independentes (ICA)</a:t>
            </a:r>
            <a:r>
              <a:rPr lang="en-US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Criam novos atributos não correlacionados que capturam a variância máxima (PCA) ou a independência dos atributos (ICA).</a:t>
            </a:r>
          </a:p>
          <a:p>
            <a:r>
              <a:rPr lang="en-US" b="1" dirty="0" err="1"/>
              <a:t>Texto</a:t>
            </a:r>
            <a:r>
              <a:rPr lang="en-US" dirty="0"/>
              <a:t>: </a:t>
            </a:r>
            <a:r>
              <a:rPr lang="pt-BR" i="1" dirty="0"/>
              <a:t>Bag </a:t>
            </a:r>
            <a:r>
              <a:rPr lang="pt-BR" i="1" dirty="0" err="1"/>
              <a:t>of</a:t>
            </a:r>
            <a:r>
              <a:rPr lang="pt-BR" i="1" dirty="0"/>
              <a:t> words </a:t>
            </a:r>
            <a:r>
              <a:rPr lang="pt-BR" dirty="0"/>
              <a:t>(</a:t>
            </a:r>
            <a:r>
              <a:rPr lang="pt-BR" dirty="0" err="1"/>
              <a:t>BoW</a:t>
            </a:r>
            <a:r>
              <a:rPr lang="pt-BR" dirty="0"/>
              <a:t>), </a:t>
            </a:r>
            <a:r>
              <a:rPr lang="pt-BR" i="1" dirty="0" err="1"/>
              <a:t>Term</a:t>
            </a:r>
            <a:r>
              <a:rPr lang="pt-BR" i="1" dirty="0"/>
              <a:t> Frequency-</a:t>
            </a:r>
            <a:r>
              <a:rPr lang="pt-BR" i="1" dirty="0" err="1"/>
              <a:t>Inverse</a:t>
            </a:r>
            <a:r>
              <a:rPr lang="pt-BR" i="1" dirty="0"/>
              <a:t> </a:t>
            </a:r>
            <a:r>
              <a:rPr lang="pt-BR" i="1" dirty="0" err="1"/>
              <a:t>Document</a:t>
            </a:r>
            <a:r>
              <a:rPr lang="pt-BR" i="1" dirty="0"/>
              <a:t> Frequency</a:t>
            </a:r>
            <a:r>
              <a:rPr lang="pt-BR" dirty="0"/>
              <a:t> (TF-IDF), </a:t>
            </a:r>
            <a:r>
              <a:rPr lang="pt-BR" i="1" dirty="0"/>
              <a:t>Word </a:t>
            </a:r>
            <a:r>
              <a:rPr lang="pt-BR" i="1" dirty="0" err="1"/>
              <a:t>Embeddings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Transformam texto em representações numéricas (modelos de ML entendem números), variando de contagens simples de palavras, a pesos informativos, até vetores densos que capturam significado e contexto.</a:t>
            </a:r>
          </a:p>
        </p:txBody>
      </p:sp>
    </p:spTree>
    <p:extLst>
      <p:ext uri="{BB962C8B-B14F-4D97-AF65-F5344CB8AC3E}">
        <p14:creationId xmlns:p14="http://schemas.microsoft.com/office/powerpoint/2010/main" val="253404861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DA50CC-E4E4-866D-D5C7-E4222B31A3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68C7CA-8174-8A0F-0146-60743B6630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pt-BR" dirty="0"/>
              <a:t>Técnicas comuns para extração de atributos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49F228-6F7A-6925-AA1A-83CC98A354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081657" cy="5032375"/>
          </a:xfrm>
        </p:spPr>
        <p:txBody>
          <a:bodyPr>
            <a:normAutofit/>
          </a:bodyPr>
          <a:lstStyle/>
          <a:p>
            <a:r>
              <a:rPr lang="en-US" b="1" dirty="0" err="1"/>
              <a:t>Imagem</a:t>
            </a:r>
            <a:r>
              <a:rPr lang="en-US" dirty="0"/>
              <a:t>: </a:t>
            </a:r>
            <a:r>
              <a:rPr lang="en-US" i="1" dirty="0"/>
              <a:t>Histogram of Oriented Gradients</a:t>
            </a:r>
            <a:r>
              <a:rPr lang="en-US" dirty="0"/>
              <a:t> (HOG), </a:t>
            </a:r>
            <a:r>
              <a:rPr lang="en-US" i="1" dirty="0"/>
              <a:t>Scale-Invariant Feature Transform</a:t>
            </a:r>
            <a:r>
              <a:rPr lang="en-US" dirty="0"/>
              <a:t> (SIFT), </a:t>
            </a:r>
            <a:r>
              <a:rPr lang="en-US" i="1" dirty="0"/>
              <a:t>Convolutional Neural Network</a:t>
            </a:r>
            <a:r>
              <a:rPr lang="en-US" dirty="0"/>
              <a:t> (CNN).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Transformam </a:t>
            </a:r>
            <a:r>
              <a:rPr lang="pt-BR" i="1" dirty="0"/>
              <a:t>pixels</a:t>
            </a:r>
            <a:r>
              <a:rPr lang="pt-BR" dirty="0"/>
              <a:t> brutos em representações numéricas que capturam padrões visuais relevantes, como bordas, texturas, cores e estruturas semânticas, para facilitar o aprendizado dos modelos.</a:t>
            </a:r>
          </a:p>
          <a:p>
            <a:r>
              <a:rPr lang="pt-BR" b="1" dirty="0"/>
              <a:t>Séries temporais (áudio)</a:t>
            </a:r>
            <a:r>
              <a:rPr lang="pt-BR" dirty="0"/>
              <a:t>: </a:t>
            </a:r>
            <a:r>
              <a:rPr lang="en-US" i="1" dirty="0"/>
              <a:t>Mel-frequency cepstral coefficients</a:t>
            </a:r>
            <a:r>
              <a:rPr lang="en-US" dirty="0"/>
              <a:t> (MFCCs), </a:t>
            </a:r>
            <a:r>
              <a:rPr lang="en-US" dirty="0" err="1"/>
              <a:t>Transformada</a:t>
            </a:r>
            <a:r>
              <a:rPr lang="en-US" dirty="0"/>
              <a:t> </a:t>
            </a:r>
            <a:r>
              <a:rPr lang="en-US" dirty="0" err="1"/>
              <a:t>rápida</a:t>
            </a:r>
            <a:r>
              <a:rPr lang="en-US" dirty="0"/>
              <a:t> de Fourier (FFT), </a:t>
            </a:r>
            <a:r>
              <a:rPr lang="en-US" dirty="0" err="1"/>
              <a:t>Espectogramas</a:t>
            </a:r>
            <a:r>
              <a:rPr lang="en-US" dirty="0"/>
              <a:t>, </a:t>
            </a:r>
            <a:r>
              <a:rPr lang="en-US" dirty="0" err="1"/>
              <a:t>Transformada</a:t>
            </a:r>
            <a:r>
              <a:rPr lang="en-US" dirty="0"/>
              <a:t> de </a:t>
            </a:r>
            <a:r>
              <a:rPr lang="en-US" i="1" dirty="0"/>
              <a:t>Wavelet</a:t>
            </a:r>
            <a:r>
              <a:rPr lang="en-US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Transformam os sinais em características que capturam propriedades espectrais ou de tempo-frequência.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3607587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2A07421-70E9-CE6B-B44C-E12574A16AA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70997" y="625688"/>
            <a:ext cx="6250006" cy="56066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520091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A246D2-1EAD-7218-711B-2937C4B7B2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Uma garrafa de vinho com forte sombra - Foto de stock de Garrafa de Vinho - Garrafa royalty-free">
            <a:extLst>
              <a:ext uri="{FF2B5EF4-FFF2-40B4-BE49-F238E27FC236}">
                <a16:creationId xmlns:a16="http://schemas.microsoft.com/office/drawing/2014/main" id="{F9318A64-59F1-5972-C02D-9238A2EE2F4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826" t="10008" r="11161" b="20216"/>
          <a:stretch>
            <a:fillRect/>
          </a:stretch>
        </p:blipFill>
        <p:spPr bwMode="auto">
          <a:xfrm>
            <a:off x="1905000" y="1159328"/>
            <a:ext cx="7609115" cy="45393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4A67754-AECE-E9E2-F60A-39D9E47534ED}"/>
              </a:ext>
            </a:extLst>
          </p:cNvPr>
          <p:cNvSpPr txBox="1"/>
          <p:nvPr/>
        </p:nvSpPr>
        <p:spPr>
          <a:xfrm>
            <a:off x="1281792" y="6179012"/>
            <a:ext cx="962841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400" b="0" i="0" dirty="0">
                <a:effectLst/>
              </a:rPr>
              <a:t>O PCA projeta dados de alta dimensão em um espaço de menor dimensão.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72791420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2A5E37-BFF0-D601-7CAC-F57F89EADF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Análise de componentes principais (PCA)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AD06C3-5EDF-4BF5-C344-E650C60EE3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223171" cy="5032375"/>
          </a:xfrm>
        </p:spPr>
        <p:txBody>
          <a:bodyPr>
            <a:normAutofit/>
          </a:bodyPr>
          <a:lstStyle/>
          <a:p>
            <a:r>
              <a:rPr lang="pt-BR" dirty="0"/>
              <a:t>PCA funciona encontrando novas direções (componentes principais) que capturam o máximo de variância dos dados e </a:t>
            </a:r>
            <a:r>
              <a:rPr lang="pt-BR" b="1" dirty="0"/>
              <a:t>projetando</a:t>
            </a:r>
            <a:r>
              <a:rPr lang="pt-BR" dirty="0"/>
              <a:t> os dados nessas direções para reduzir a dimensionalidade com mínima perda de informação.</a:t>
            </a:r>
            <a:endParaRPr lang="en-US" dirty="0"/>
          </a:p>
        </p:txBody>
      </p:sp>
      <p:pic>
        <p:nvPicPr>
          <p:cNvPr id="1026" name="Picture 2" descr="How PCA simplifies dimensionality reduction for data science | Parviz  Jabrayilli posted on the topic | LinkedIn">
            <a:extLst>
              <a:ext uri="{FF2B5EF4-FFF2-40B4-BE49-F238E27FC236}">
                <a16:creationId xmlns:a16="http://schemas.microsoft.com/office/drawing/2014/main" id="{95832D94-6CA3-74CA-953F-81502243BAF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" t="29387" r="4428" b="8776"/>
          <a:stretch>
            <a:fillRect/>
          </a:stretch>
        </p:blipFill>
        <p:spPr bwMode="auto">
          <a:xfrm>
            <a:off x="2508564" y="3429000"/>
            <a:ext cx="7174871" cy="34289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9683463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BBD960-B60C-7D80-DEBE-951EAB97B3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4D1ACB-37E4-1262-7CA1-257836C873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Análise de componentes principais (PCA)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6563BA-A520-CEA6-4C95-B4E96386BB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58745" y="1825624"/>
            <a:ext cx="5857055" cy="5032375"/>
          </a:xfrm>
        </p:spPr>
        <p:txBody>
          <a:bodyPr>
            <a:normAutofit lnSpcReduction="10000"/>
          </a:bodyPr>
          <a:lstStyle/>
          <a:p>
            <a:r>
              <a:rPr lang="pt-BR" dirty="0"/>
              <a:t>O algoritmo encontra as direções que melhor descrevem como os dados estão espalhados (i.e., máxima variância).</a:t>
            </a:r>
          </a:p>
          <a:p>
            <a:r>
              <a:rPr lang="pt-BR" dirty="0"/>
              <a:t>Na figura, PC1 é a direção onde os dados variam mais.</a:t>
            </a:r>
          </a:p>
          <a:p>
            <a:r>
              <a:rPr lang="pt-BR" dirty="0"/>
              <a:t>Já PC2 é a direção ortogonal à PC1 com a segunda maior variância.</a:t>
            </a:r>
          </a:p>
          <a:p>
            <a:r>
              <a:rPr lang="pt-BR" dirty="0"/>
              <a:t>Mantendo PC1, preserva-se a maior parte da informação.</a:t>
            </a:r>
          </a:p>
          <a:p>
            <a:r>
              <a:rPr lang="pt-BR" dirty="0"/>
              <a:t>PC2 representa variação residual (menor importância).</a:t>
            </a:r>
          </a:p>
          <a:p>
            <a:endParaRPr lang="pt-BR" dirty="0"/>
          </a:p>
          <a:p>
            <a:endParaRPr lang="en-US" dirty="0"/>
          </a:p>
        </p:txBody>
      </p:sp>
      <p:pic>
        <p:nvPicPr>
          <p:cNvPr id="1026" name="Picture 2" descr="How PCA simplifies dimensionality reduction for data science | Parviz  Jabrayilli posted on the topic | LinkedIn">
            <a:extLst>
              <a:ext uri="{FF2B5EF4-FFF2-40B4-BE49-F238E27FC236}">
                <a16:creationId xmlns:a16="http://schemas.microsoft.com/office/drawing/2014/main" id="{2042F2C9-8E5E-6B1C-CA29-BEF6D914A6A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00" t="29387" r="4428" b="8776"/>
          <a:stretch>
            <a:fillRect/>
          </a:stretch>
        </p:blipFill>
        <p:spPr bwMode="auto">
          <a:xfrm>
            <a:off x="108856" y="2370591"/>
            <a:ext cx="6149889" cy="29391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3270325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831546-F5F9-DFE0-8083-0625699012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4E97D0-8FC3-8364-395F-A8F74B3894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Análise de componentes principais (PCA)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92F978-6C6D-84DF-EA37-4EBED96DE3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79628" cy="5032375"/>
          </a:xfrm>
        </p:spPr>
        <p:txBody>
          <a:bodyPr>
            <a:normAutofit/>
          </a:bodyPr>
          <a:lstStyle/>
          <a:p>
            <a:r>
              <a:rPr lang="pt-BR" dirty="0"/>
              <a:t>As PCs são ordenadas por variância.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 matriz de </a:t>
            </a:r>
            <a:r>
              <a:rPr lang="pt-BR" b="1" dirty="0"/>
              <a:t>projeção</a:t>
            </a:r>
            <a:r>
              <a:rPr lang="pt-BR" dirty="0"/>
              <a:t> é ordenada da componente de maior variância para a menor.</a:t>
            </a:r>
          </a:p>
          <a:p>
            <a:r>
              <a:rPr lang="pt-BR" dirty="0"/>
              <a:t>Cada componente é uma </a:t>
            </a:r>
            <a:r>
              <a:rPr lang="pt-BR" b="1" dirty="0"/>
              <a:t>combinação linear</a:t>
            </a:r>
            <a:r>
              <a:rPr lang="pt-BR" dirty="0"/>
              <a:t> dos atributos originais.</a:t>
            </a:r>
          </a:p>
          <a:p>
            <a:r>
              <a:rPr lang="pt-BR" dirty="0"/>
              <a:t>O PCA </a:t>
            </a:r>
            <a:r>
              <a:rPr lang="pt-BR" b="1" dirty="0"/>
              <a:t>assume relações lineares entre os atributos </a:t>
            </a:r>
            <a:r>
              <a:rPr lang="pt-BR" dirty="0"/>
              <a:t>(traça linhas retas para capturar as variâncias).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Se os dados originais seguem um padrão curvo (como uma senoide	, meia lua ou um círculo), o PCA vai ter um desempenho bem ruim.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Usar técnicas não lineares como </a:t>
            </a:r>
            <a:r>
              <a:rPr lang="en-US" dirty="0"/>
              <a:t>Kernel PCA e t-SNE.</a:t>
            </a:r>
            <a:endParaRPr lang="pt-BR" dirty="0"/>
          </a:p>
          <a:p>
            <a:r>
              <a:rPr lang="pt-BR" dirty="0"/>
              <a:t>Deve ser aplicado após a separação do dados em conjuntos de treinamento, validação e teste para evitar vazamento.</a:t>
            </a:r>
          </a:p>
        </p:txBody>
      </p:sp>
    </p:spTree>
    <p:extLst>
      <p:ext uri="{BB962C8B-B14F-4D97-AF65-F5344CB8AC3E}">
        <p14:creationId xmlns:p14="http://schemas.microsoft.com/office/powerpoint/2010/main" val="282714582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2F3F2D-3BEE-7F15-4F99-AF9C21DAB2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Análise de componentes principais (PCA)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92C856-EB66-8FEA-48EB-605CA54FC1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57857" cy="5032375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from </a:t>
            </a:r>
            <a:r>
              <a:rPr lang="en-US" dirty="0" err="1">
                <a:latin typeface="Consolas" panose="020B0609020204030204" pitchFamily="49" charset="0"/>
              </a:rPr>
              <a:t>sklearn.decomposition</a:t>
            </a:r>
            <a:r>
              <a:rPr lang="en-US" dirty="0">
                <a:latin typeface="Consolas" panose="020B0609020204030204" pitchFamily="49" charset="0"/>
              </a:rPr>
              <a:t> import PCA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from </a:t>
            </a:r>
            <a:r>
              <a:rPr lang="en-US" dirty="0" err="1">
                <a:latin typeface="Consolas" panose="020B0609020204030204" pitchFamily="49" charset="0"/>
              </a:rPr>
              <a:t>sklearn.preprocessing</a:t>
            </a:r>
            <a:r>
              <a:rPr lang="en-US" dirty="0">
                <a:latin typeface="Consolas" panose="020B0609020204030204" pitchFamily="49" charset="0"/>
              </a:rPr>
              <a:t> import </a:t>
            </a:r>
            <a:r>
              <a:rPr lang="en-US" dirty="0" err="1">
                <a:latin typeface="Consolas" panose="020B0609020204030204" pitchFamily="49" charset="0"/>
              </a:rPr>
              <a:t>StandardScaler</a:t>
            </a: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i="1" dirty="0">
                <a:latin typeface="Consolas" panose="020B0609020204030204" pitchFamily="49" charset="0"/>
              </a:rPr>
              <a:t># </a:t>
            </a:r>
            <a:r>
              <a:rPr lang="en-US" i="1" dirty="0" err="1">
                <a:latin typeface="Consolas" panose="020B0609020204030204" pitchFamily="49" charset="0"/>
              </a:rPr>
              <a:t>Escalonar</a:t>
            </a:r>
            <a:r>
              <a:rPr lang="en-US" i="1" dirty="0">
                <a:latin typeface="Consolas" panose="020B0609020204030204" pitchFamily="49" charset="0"/>
              </a:rPr>
              <a:t> </a:t>
            </a:r>
            <a:r>
              <a:rPr lang="en-US" i="1" dirty="0" err="1">
                <a:latin typeface="Consolas" panose="020B0609020204030204" pitchFamily="49" charset="0"/>
              </a:rPr>
              <a:t>os</a:t>
            </a:r>
            <a:r>
              <a:rPr lang="en-US" i="1" dirty="0">
                <a:latin typeface="Consolas" panose="020B0609020204030204" pitchFamily="49" charset="0"/>
              </a:rPr>
              <a:t> dados antes do PCA (é </a:t>
            </a:r>
            <a:r>
              <a:rPr lang="en-US" i="1" dirty="0" err="1">
                <a:latin typeface="Consolas" panose="020B0609020204030204" pitchFamily="49" charset="0"/>
              </a:rPr>
              <a:t>obrigatório</a:t>
            </a:r>
            <a:r>
              <a:rPr lang="en-US" i="1" dirty="0">
                <a:latin typeface="Consolas" panose="020B0609020204030204" pitchFamily="49" charset="0"/>
              </a:rPr>
              <a:t> </a:t>
            </a:r>
            <a:r>
              <a:rPr lang="en-US" i="1" dirty="0" err="1">
                <a:latin typeface="Consolas" panose="020B0609020204030204" pitchFamily="49" charset="0"/>
              </a:rPr>
              <a:t>que</a:t>
            </a:r>
            <a:r>
              <a:rPr lang="en-US" i="1" dirty="0">
                <a:latin typeface="Consolas" panose="020B0609020204030204" pitchFamily="49" charset="0"/>
              </a:rPr>
              <a:t> </a:t>
            </a:r>
            <a:r>
              <a:rPr lang="en-US" i="1" dirty="0" err="1">
                <a:latin typeface="Consolas" panose="020B0609020204030204" pitchFamily="49" charset="0"/>
              </a:rPr>
              <a:t>os</a:t>
            </a:r>
            <a:r>
              <a:rPr lang="en-US" i="1" dirty="0">
                <a:latin typeface="Consolas" panose="020B0609020204030204" pitchFamily="49" charset="0"/>
              </a:rPr>
              <a:t> </a:t>
            </a:r>
            <a:r>
              <a:rPr lang="en-US" i="1" dirty="0" err="1">
                <a:latin typeface="Consolas" panose="020B0609020204030204" pitchFamily="49" charset="0"/>
              </a:rPr>
              <a:t>atributos</a:t>
            </a:r>
            <a:r>
              <a:rPr lang="en-US" i="1" dirty="0">
                <a:latin typeface="Consolas" panose="020B0609020204030204" pitchFamily="49" charset="0"/>
              </a:rPr>
              <a:t> </a:t>
            </a:r>
            <a:r>
              <a:rPr lang="en-US" i="1" dirty="0" err="1">
                <a:latin typeface="Consolas" panose="020B0609020204030204" pitchFamily="49" charset="0"/>
              </a:rPr>
              <a:t>tenham</a:t>
            </a:r>
            <a:r>
              <a:rPr lang="en-US" i="1" dirty="0">
                <a:latin typeface="Consolas" panose="020B0609020204030204" pitchFamily="49" charset="0"/>
              </a:rPr>
              <a:t> a </a:t>
            </a:r>
            <a:r>
              <a:rPr lang="en-US" i="1" dirty="0" err="1">
                <a:latin typeface="Consolas" panose="020B0609020204030204" pitchFamily="49" charset="0"/>
              </a:rPr>
              <a:t>mesma</a:t>
            </a:r>
            <a:r>
              <a:rPr lang="en-US" i="1" dirty="0">
                <a:latin typeface="Consolas" panose="020B0609020204030204" pitchFamily="49" charset="0"/>
              </a:rPr>
              <a:t> </a:t>
            </a:r>
            <a:r>
              <a:rPr lang="en-US" i="1" dirty="0" err="1">
                <a:latin typeface="Consolas" panose="020B0609020204030204" pitchFamily="49" charset="0"/>
              </a:rPr>
              <a:t>variância</a:t>
            </a:r>
            <a:r>
              <a:rPr lang="en-US" i="1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X_scaled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StandardScaler</a:t>
            </a:r>
            <a:r>
              <a:rPr lang="en-US" dirty="0">
                <a:latin typeface="Consolas" panose="020B0609020204030204" pitchFamily="49" charset="0"/>
              </a:rPr>
              <a:t>().</a:t>
            </a:r>
            <a:r>
              <a:rPr lang="en-US" dirty="0" err="1">
                <a:latin typeface="Consolas" panose="020B0609020204030204" pitchFamily="49" charset="0"/>
              </a:rPr>
              <a:t>fit_transform</a:t>
            </a:r>
            <a:r>
              <a:rPr lang="en-US" dirty="0">
                <a:latin typeface="Consolas" panose="020B0609020204030204" pitchFamily="49" charset="0"/>
              </a:rPr>
              <a:t>(X)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i="1" dirty="0">
                <a:latin typeface="Consolas" panose="020B0609020204030204" pitchFamily="49" charset="0"/>
              </a:rPr>
              <a:t># </a:t>
            </a:r>
            <a:r>
              <a:rPr lang="en-US" i="1" dirty="0" err="1">
                <a:latin typeface="Consolas" panose="020B0609020204030204" pitchFamily="49" charset="0"/>
              </a:rPr>
              <a:t>Extrair</a:t>
            </a:r>
            <a:r>
              <a:rPr lang="en-US" i="1" dirty="0">
                <a:latin typeface="Consolas" panose="020B0609020204030204" pitchFamily="49" charset="0"/>
              </a:rPr>
              <a:t> 2 </a:t>
            </a:r>
            <a:r>
              <a:rPr lang="en-US" i="1" dirty="0" err="1">
                <a:latin typeface="Consolas" panose="020B0609020204030204" pitchFamily="49" charset="0"/>
              </a:rPr>
              <a:t>componentes</a:t>
            </a:r>
            <a:endParaRPr lang="en-US" i="1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pca</a:t>
            </a:r>
            <a:r>
              <a:rPr lang="en-US" dirty="0">
                <a:latin typeface="Consolas" panose="020B0609020204030204" pitchFamily="49" charset="0"/>
              </a:rPr>
              <a:t> = PCA(</a:t>
            </a:r>
            <a:r>
              <a:rPr lang="en-US" dirty="0" err="1">
                <a:latin typeface="Consolas" panose="020B0609020204030204" pitchFamily="49" charset="0"/>
              </a:rPr>
              <a:t>n_components</a:t>
            </a:r>
            <a:r>
              <a:rPr lang="en-US" dirty="0">
                <a:latin typeface="Consolas" panose="020B0609020204030204" pitchFamily="49" charset="0"/>
              </a:rPr>
              <a:t>=2)</a:t>
            </a: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X_pca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pca.fit_transform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X_scaled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print(</a:t>
            </a:r>
            <a:r>
              <a:rPr lang="en-US" dirty="0" err="1">
                <a:latin typeface="Consolas" panose="020B0609020204030204" pitchFamily="49" charset="0"/>
              </a:rPr>
              <a:t>pca.explained_variance_ratio</a:t>
            </a:r>
            <a:r>
              <a:rPr lang="en-US" dirty="0">
                <a:latin typeface="Consolas" panose="020B0609020204030204" pitchFamily="49" charset="0"/>
              </a:rPr>
              <a:t>_)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C8214E1-81F4-96EA-7AE9-0BB856B13E0B}"/>
              </a:ext>
            </a:extLst>
          </p:cNvPr>
          <p:cNvSpPr txBox="1"/>
          <p:nvPr/>
        </p:nvSpPr>
        <p:spPr>
          <a:xfrm>
            <a:off x="8784771" y="4341811"/>
            <a:ext cx="2862944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dirty="0"/>
              <a:t>OBS</a:t>
            </a:r>
            <a:r>
              <a:rPr lang="en-US" dirty="0"/>
              <a:t>.: “</a:t>
            </a:r>
            <a:r>
              <a:rPr lang="en-US" dirty="0" err="1"/>
              <a:t>n_components</a:t>
            </a:r>
            <a:r>
              <a:rPr lang="en-US" dirty="0"/>
              <a:t>” </a:t>
            </a:r>
            <a:r>
              <a:rPr lang="en-US" dirty="0" err="1"/>
              <a:t>pode</a:t>
            </a:r>
            <a:r>
              <a:rPr lang="en-US" dirty="0"/>
              <a:t> ser </a:t>
            </a:r>
            <a:r>
              <a:rPr lang="en-US" dirty="0" err="1"/>
              <a:t>também</a:t>
            </a:r>
            <a:r>
              <a:rPr lang="en-US" dirty="0"/>
              <a:t> um </a:t>
            </a:r>
            <a:r>
              <a:rPr lang="en-US" dirty="0" err="1"/>
              <a:t>número</a:t>
            </a:r>
            <a:r>
              <a:rPr lang="en-US" dirty="0"/>
              <a:t> entre 0 e 1 </a:t>
            </a:r>
            <a:r>
              <a:rPr lang="en-US" dirty="0" err="1"/>
              <a:t>especificando</a:t>
            </a:r>
            <a:r>
              <a:rPr lang="en-US" dirty="0"/>
              <a:t> o </a:t>
            </a:r>
            <a:r>
              <a:rPr lang="en-US" dirty="0" err="1"/>
              <a:t>mínimo</a:t>
            </a:r>
            <a:r>
              <a:rPr lang="en-US" dirty="0"/>
              <a:t> de </a:t>
            </a:r>
            <a:r>
              <a:rPr lang="en-US" dirty="0" err="1"/>
              <a:t>variância</a:t>
            </a:r>
            <a:r>
              <a:rPr lang="en-US" dirty="0"/>
              <a:t> </a:t>
            </a:r>
            <a:r>
              <a:rPr lang="en-US" dirty="0" err="1"/>
              <a:t>explicada</a:t>
            </a:r>
            <a:r>
              <a:rPr lang="en-US" dirty="0"/>
              <a:t> </a:t>
            </a:r>
            <a:r>
              <a:rPr lang="en-US" dirty="0" err="1"/>
              <a:t>desejada</a:t>
            </a:r>
            <a:r>
              <a:rPr lang="en-US" dirty="0"/>
              <a:t>. 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3471AF8A-303A-1F0A-B73F-224FDADDE806}"/>
              </a:ext>
            </a:extLst>
          </p:cNvPr>
          <p:cNvCxnSpPr/>
          <p:nvPr/>
        </p:nvCxnSpPr>
        <p:spPr>
          <a:xfrm flipH="1">
            <a:off x="4572000" y="4506686"/>
            <a:ext cx="4288971" cy="435428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970803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B9AE6D-1C0A-9901-3435-DE81DB2624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Seleção de atributos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D2D9C9-C956-E042-6573-9416468589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146971" cy="5032375"/>
          </a:xfrm>
        </p:spPr>
        <p:txBody>
          <a:bodyPr>
            <a:normAutofit/>
          </a:bodyPr>
          <a:lstStyle/>
          <a:p>
            <a:r>
              <a:rPr lang="pt-BR" b="1" dirty="0"/>
              <a:t>Definição</a:t>
            </a:r>
            <a:r>
              <a:rPr lang="pt-BR" dirty="0"/>
              <a:t>: É o processo de selecionar um subconjunto de atributos que contribuem para a melhoria do desempenho do modelo.</a:t>
            </a:r>
          </a:p>
          <a:p>
            <a:r>
              <a:rPr lang="pt-BR" dirty="0"/>
              <a:t>Por que usar?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Reduz </a:t>
            </a:r>
            <a:r>
              <a:rPr lang="pt-BR" i="1" dirty="0" err="1"/>
              <a:t>overfitting</a:t>
            </a:r>
            <a:r>
              <a:rPr lang="pt-BR" i="1" dirty="0"/>
              <a:t>: </a:t>
            </a:r>
            <a:r>
              <a:rPr lang="pt-BR" dirty="0"/>
              <a:t>Modelos mais simples com menos atributos tendem a generalizar melhor para novos dados.</a:t>
            </a:r>
            <a:endParaRPr lang="pt-BR" i="1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Reduz custo computacional: Menos dados significam algoritmos que processam mais rápido.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Facilita interpretação: É mais fácil explicar um modelo que utiliza 5 variáveis do que um que utiliza 500.</a:t>
            </a:r>
          </a:p>
        </p:txBody>
      </p:sp>
    </p:spTree>
    <p:extLst>
      <p:ext uri="{BB962C8B-B14F-4D97-AF65-F5344CB8AC3E}">
        <p14:creationId xmlns:p14="http://schemas.microsoft.com/office/powerpoint/2010/main" val="424559009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D58860-65D7-D491-9562-1DB8A3BE60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17A552-B57A-0603-BA2B-092430CA2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Seleção de atributos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7398A6-8EF0-205A-E092-0E8C53D1A2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46972" cy="5032375"/>
          </a:xfrm>
        </p:spPr>
        <p:txBody>
          <a:bodyPr>
            <a:normAutofit/>
          </a:bodyPr>
          <a:lstStyle/>
          <a:p>
            <a:r>
              <a:rPr lang="pt-BR" dirty="0"/>
              <a:t>Existem três tipos principais de técnicas de seleção de atributos: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Filtragem</a:t>
            </a:r>
            <a:r>
              <a:rPr lang="pt-BR" dirty="0"/>
              <a:t>: Baseados em medidas estatísticas dos dados, como correlação.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b="1" dirty="0"/>
              <a:t>Exemplos</a:t>
            </a:r>
            <a:r>
              <a:rPr lang="pt-BR" dirty="0"/>
              <a:t>: Correlação de Pearson/</a:t>
            </a:r>
            <a:r>
              <a:rPr lang="pt-BR" dirty="0" err="1"/>
              <a:t>Spearman</a:t>
            </a:r>
            <a:r>
              <a:rPr lang="en-US" dirty="0"/>
              <a:t>, Teste qui-</a:t>
            </a:r>
            <a:r>
              <a:rPr lang="en-US" dirty="0" err="1"/>
              <a:t>quadrado</a:t>
            </a:r>
            <a:r>
              <a:rPr lang="en-US" dirty="0"/>
              <a:t>, </a:t>
            </a:r>
            <a:r>
              <a:rPr lang="en-US" dirty="0" err="1"/>
              <a:t>limiar</a:t>
            </a:r>
            <a:r>
              <a:rPr lang="en-US" dirty="0"/>
              <a:t> de </a:t>
            </a:r>
            <a:r>
              <a:rPr lang="en-US" dirty="0" err="1"/>
              <a:t>variância</a:t>
            </a:r>
            <a:r>
              <a:rPr lang="en-US" dirty="0"/>
              <a:t>, </a:t>
            </a:r>
            <a:r>
              <a:rPr lang="en-US" dirty="0" err="1"/>
              <a:t>ganho</a:t>
            </a:r>
            <a:r>
              <a:rPr lang="en-US" dirty="0"/>
              <a:t> de </a:t>
            </a:r>
            <a:r>
              <a:rPr lang="en-US" dirty="0" err="1"/>
              <a:t>informação</a:t>
            </a:r>
            <a:r>
              <a:rPr lang="en-US" dirty="0"/>
              <a:t>, </a:t>
            </a:r>
            <a:r>
              <a:rPr lang="en-US" dirty="0" err="1"/>
              <a:t>informação</a:t>
            </a:r>
            <a:r>
              <a:rPr lang="en-US" dirty="0"/>
              <a:t> </a:t>
            </a:r>
            <a:r>
              <a:rPr lang="en-US" dirty="0" err="1"/>
              <a:t>mútua</a:t>
            </a:r>
            <a:r>
              <a:rPr lang="en-US" dirty="0"/>
              <a:t>.</a:t>
            </a:r>
            <a:endParaRPr lang="pt-BR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Encapsulamento</a:t>
            </a:r>
            <a:r>
              <a:rPr lang="pt-BR" dirty="0"/>
              <a:t>: Usa o próprio modelo de ML para testar subconjuntos de variáveis e avaliar a performance.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b="1" dirty="0"/>
              <a:t>Exemplo</a:t>
            </a:r>
            <a:r>
              <a:rPr lang="pt-BR" dirty="0"/>
              <a:t>: Eliminação recursiva de atributos, 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Embarcado</a:t>
            </a:r>
            <a:r>
              <a:rPr lang="pt-BR" dirty="0"/>
              <a:t>: A seleção ocorre durante o processo de treinamento do próprio algoritmo. É integrada (i.e., embarcada) no treinamento.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b="1" dirty="0"/>
              <a:t>Exemplos</a:t>
            </a:r>
            <a:r>
              <a:rPr lang="pt-BR" dirty="0"/>
              <a:t>: Regressão LASSO e árvores de decisão.</a:t>
            </a:r>
          </a:p>
        </p:txBody>
      </p:sp>
    </p:spTree>
    <p:extLst>
      <p:ext uri="{BB962C8B-B14F-4D97-AF65-F5344CB8AC3E}">
        <p14:creationId xmlns:p14="http://schemas.microsoft.com/office/powerpoint/2010/main" val="339744414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C01CC2-CD7B-126A-B75F-51795F1440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54ABDE-7CD5-03FF-4BA7-BC9477C65D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Métodos de filtro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ABBB3C58-BD3E-E320-2711-DF4496A3AD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75714" y="1825625"/>
            <a:ext cx="4942116" cy="4351338"/>
          </a:xfrm>
        </p:spPr>
        <p:txBody>
          <a:bodyPr/>
          <a:lstStyle/>
          <a:p>
            <a:r>
              <a:rPr lang="pt-BR" dirty="0"/>
              <a:t>São rápidos, simples e independentes do modelo, mas podem ignorar interações relevantes entre atributos (devido à independência do modelo) e dependem da escolha adequada da métrica (e.g., relações lineares e não lineares).</a:t>
            </a:r>
            <a:endParaRPr lang="en-US" dirty="0"/>
          </a:p>
        </p:txBody>
      </p:sp>
      <p:pic>
        <p:nvPicPr>
          <p:cNvPr id="9" name="Content Placeholder 5">
            <a:extLst>
              <a:ext uri="{FF2B5EF4-FFF2-40B4-BE49-F238E27FC236}">
                <a16:creationId xmlns:a16="http://schemas.microsoft.com/office/drawing/2014/main" id="{A3CE7DC7-8E77-95A6-7CCE-6EAB1A78AC7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126" r="6022"/>
          <a:stretch>
            <a:fillRect/>
          </a:stretch>
        </p:blipFill>
        <p:spPr>
          <a:xfrm>
            <a:off x="174170" y="1951506"/>
            <a:ext cx="6672944" cy="38862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652812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E47926-99C2-2D03-BBC9-E0B2BBB31B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7BA196-AA4F-8DFB-EA4F-DE2070CF11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972800" cy="1325563"/>
          </a:xfrm>
        </p:spPr>
        <p:txBody>
          <a:bodyPr/>
          <a:lstStyle/>
          <a:p>
            <a:r>
              <a:rPr lang="pt-BR" dirty="0"/>
              <a:t>Métodos de encapsulamento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FA8F44C-FCBF-8760-0A7D-09EA95AC7D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21367" y="1825625"/>
            <a:ext cx="5440006" cy="4351338"/>
          </a:xfrm>
        </p:spPr>
        <p:txBody>
          <a:bodyPr/>
          <a:lstStyle/>
          <a:p>
            <a:r>
              <a:rPr lang="pt-BR" dirty="0"/>
              <a:t>Otimizam os atributos para um modelo específico e podem ter desempenho superior em comparação aos métodos de filtro, mas são computacionalmente caros e suscetíveis ao </a:t>
            </a:r>
            <a:r>
              <a:rPr lang="pt-BR" i="1" dirty="0" err="1"/>
              <a:t>overfitting</a:t>
            </a:r>
            <a:r>
              <a:rPr lang="pt-BR" dirty="0"/>
              <a:t>, pois podem ajustar excessivamente os atributos a um modelo específico.</a:t>
            </a:r>
            <a:endParaRPr lang="en-US" dirty="0"/>
          </a:p>
        </p:txBody>
      </p:sp>
      <p:pic>
        <p:nvPicPr>
          <p:cNvPr id="7" name="Content Placeholder 3">
            <a:extLst>
              <a:ext uri="{FF2B5EF4-FFF2-40B4-BE49-F238E27FC236}">
                <a16:creationId xmlns:a16="http://schemas.microsoft.com/office/drawing/2014/main" id="{48660767-9E5D-79F3-0C90-BEEF045A78C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502" r="5947"/>
          <a:stretch>
            <a:fillRect/>
          </a:stretch>
        </p:blipFill>
        <p:spPr>
          <a:xfrm>
            <a:off x="130627" y="2243309"/>
            <a:ext cx="6373763" cy="35587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623168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DD008B-2DA9-867B-7932-40CC20832A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CB5404-B5B4-16EF-E1B0-AE0FE920EC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972800" cy="1325563"/>
          </a:xfrm>
        </p:spPr>
        <p:txBody>
          <a:bodyPr/>
          <a:lstStyle/>
          <a:p>
            <a:r>
              <a:rPr lang="pt-BR" dirty="0"/>
              <a:t>Métodos embarcados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260B74E-723F-0F17-2C56-2A47AE3276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21367" y="1825625"/>
            <a:ext cx="5440006" cy="4351338"/>
          </a:xfrm>
        </p:spPr>
        <p:txBody>
          <a:bodyPr/>
          <a:lstStyle/>
          <a:p>
            <a:r>
              <a:rPr lang="pt-BR" dirty="0"/>
              <a:t>Selecionam atributos durante o treinamento do modelo de forma eficiente, apresenta equilíbrio entre desempenho e tempo para seleção, mas têm interpretabilidade limitada e não são suportados por todos os algoritmos.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B45D6DA-65C4-DEF1-91AD-82E997F1C36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10" r="6296"/>
          <a:stretch>
            <a:fillRect/>
          </a:stretch>
        </p:blipFill>
        <p:spPr>
          <a:xfrm>
            <a:off x="130627" y="2240756"/>
            <a:ext cx="6394617" cy="36048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857521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5B31A4-C585-0094-27DF-9EB6149EE6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noProof="0" dirty="0"/>
              <a:t>Seleção de atributos na biblioteca </a:t>
            </a:r>
            <a:r>
              <a:rPr lang="pt-BR" noProof="0" dirty="0" err="1"/>
              <a:t>SciKit-learn</a:t>
            </a:r>
            <a:endParaRPr lang="pt-BR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446D82-5B94-346A-4A16-ED16D509BA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081657" cy="4351338"/>
          </a:xfrm>
        </p:spPr>
        <p:txBody>
          <a:bodyPr>
            <a:normAutofit/>
          </a:bodyPr>
          <a:lstStyle/>
          <a:p>
            <a:r>
              <a:rPr lang="pt-BR" noProof="0" dirty="0"/>
              <a:t>O módulo </a:t>
            </a:r>
            <a:r>
              <a:rPr lang="pt-BR" noProof="0" dirty="0" err="1">
                <a:latin typeface="Consolas" panose="020B0609020204030204" pitchFamily="49" charset="0"/>
              </a:rPr>
              <a:t>sklearn.feature_selection</a:t>
            </a:r>
            <a:r>
              <a:rPr lang="pt-BR" noProof="0" dirty="0"/>
              <a:t> implementa vários métodos de seleção de atributos, dentre eles estão: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Limiar de variância (</a:t>
            </a:r>
            <a:r>
              <a:rPr lang="pt-BR" noProof="0" dirty="0" err="1">
                <a:latin typeface="Consolas" panose="020B0609020204030204" pitchFamily="49" charset="0"/>
              </a:rPr>
              <a:t>VarianceThreshold</a:t>
            </a:r>
            <a:r>
              <a:rPr lang="pt-BR" noProof="0" dirty="0"/>
              <a:t>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Eliminação recursiva de atributos (</a:t>
            </a:r>
            <a:r>
              <a:rPr lang="pt-BR" noProof="0" dirty="0">
                <a:latin typeface="Consolas" panose="020B0609020204030204" pitchFamily="49" charset="0"/>
              </a:rPr>
              <a:t>RFE</a:t>
            </a:r>
            <a:r>
              <a:rPr lang="pt-BR" noProof="0" dirty="0"/>
              <a:t>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Selecione os K melhores atributos de acordo com um </a:t>
            </a:r>
            <a:r>
              <a:rPr lang="pt-BR" i="1" noProof="0" dirty="0"/>
              <a:t>score</a:t>
            </a:r>
            <a:r>
              <a:rPr lang="pt-BR" noProof="0" dirty="0"/>
              <a:t> (</a:t>
            </a:r>
            <a:r>
              <a:rPr lang="pt-BR" noProof="0" dirty="0" err="1">
                <a:latin typeface="Consolas" panose="020B0609020204030204" pitchFamily="49" charset="0"/>
              </a:rPr>
              <a:t>SelectKBest</a:t>
            </a:r>
            <a:r>
              <a:rPr lang="pt-BR" noProof="0" dirty="0"/>
              <a:t>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noProof="0" dirty="0"/>
              <a:t>Seleção usando modelos com penalidade L1 ou baseados em árvore (</a:t>
            </a:r>
            <a:r>
              <a:rPr lang="pt-BR" dirty="0" err="1">
                <a:latin typeface="Consolas" panose="020B0609020204030204" pitchFamily="49" charset="0"/>
              </a:rPr>
              <a:t>SelectFromModel</a:t>
            </a:r>
            <a:r>
              <a:rPr lang="pt-BR" noProof="0" dirty="0"/>
              <a:t>)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Seleção de atributos sequencial (</a:t>
            </a:r>
            <a:r>
              <a:rPr lang="en-US" dirty="0" err="1">
                <a:latin typeface="Consolas" panose="020B0609020204030204" pitchFamily="49" charset="0"/>
              </a:rPr>
              <a:t>SequentialFeatureSelector</a:t>
            </a:r>
            <a:r>
              <a:rPr lang="en-US" dirty="0"/>
              <a:t>)</a:t>
            </a:r>
            <a:endParaRPr lang="pt-BR" noProof="0" dirty="0"/>
          </a:p>
        </p:txBody>
      </p:sp>
    </p:spTree>
    <p:extLst>
      <p:ext uri="{BB962C8B-B14F-4D97-AF65-F5344CB8AC3E}">
        <p14:creationId xmlns:p14="http://schemas.microsoft.com/office/powerpoint/2010/main" val="154793428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637FC5-962E-E2AD-1217-72A38BC682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185EA9-B2C7-CDCD-B7C0-DAB5D8FD36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Seleção de atributos na biblioteca </a:t>
            </a:r>
            <a:r>
              <a:rPr lang="pt-BR" dirty="0" err="1"/>
              <a:t>SciKit-learn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019C3F-9C7C-06B2-C6DF-8E58E02A23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from </a:t>
            </a:r>
            <a:r>
              <a:rPr lang="en-US" dirty="0" err="1">
                <a:latin typeface="Consolas" panose="020B0609020204030204" pitchFamily="49" charset="0"/>
              </a:rPr>
              <a:t>sklearn.feature_selection</a:t>
            </a:r>
            <a:r>
              <a:rPr lang="en-US" dirty="0">
                <a:latin typeface="Consolas" panose="020B0609020204030204" pitchFamily="49" charset="0"/>
              </a:rPr>
              <a:t> import </a:t>
            </a:r>
            <a:r>
              <a:rPr lang="en-US" dirty="0" err="1">
                <a:latin typeface="Consolas" panose="020B0609020204030204" pitchFamily="49" charset="0"/>
              </a:rPr>
              <a:t>VarianceThreshold</a:t>
            </a: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# Remove features com </a:t>
            </a:r>
            <a:r>
              <a:rPr lang="en-US" dirty="0" err="1">
                <a:latin typeface="Consolas" panose="020B0609020204030204" pitchFamily="49" charset="0"/>
              </a:rPr>
              <a:t>variância</a:t>
            </a:r>
            <a:r>
              <a:rPr lang="en-US" dirty="0">
                <a:latin typeface="Consolas" panose="020B0609020204030204" pitchFamily="49" charset="0"/>
              </a:rPr>
              <a:t> &lt;= 0.1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selector = </a:t>
            </a:r>
            <a:r>
              <a:rPr lang="en-US" dirty="0" err="1">
                <a:latin typeface="Consolas" panose="020B0609020204030204" pitchFamily="49" charset="0"/>
              </a:rPr>
              <a:t>VarianceThreshold</a:t>
            </a:r>
            <a:r>
              <a:rPr lang="en-US" dirty="0">
                <a:latin typeface="Consolas" panose="020B0609020204030204" pitchFamily="49" charset="0"/>
              </a:rPr>
              <a:t>(threshold=0.1)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X_reduced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selector.fit_transform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dirty="0" err="1">
                <a:latin typeface="Consolas" panose="020B0609020204030204" pitchFamily="49" charset="0"/>
              </a:rPr>
              <a:t>df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# Quais features </a:t>
            </a:r>
            <a:r>
              <a:rPr lang="en-US" dirty="0" err="1">
                <a:latin typeface="Consolas" panose="020B0609020204030204" pitchFamily="49" charset="0"/>
              </a:rPr>
              <a:t>foram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mantidas</a:t>
            </a:r>
            <a:r>
              <a:rPr lang="en-US" dirty="0">
                <a:latin typeface="Consolas" panose="020B0609020204030204" pitchFamily="49" charset="0"/>
              </a:rPr>
              <a:t>?</a:t>
            </a:r>
          </a:p>
          <a:p>
            <a:pPr marL="0" indent="0">
              <a:buNone/>
            </a:pPr>
            <a:r>
              <a:rPr lang="en-US" dirty="0" err="1">
                <a:latin typeface="Consolas" panose="020B0609020204030204" pitchFamily="49" charset="0"/>
              </a:rPr>
              <a:t>selected_features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dirty="0" err="1">
                <a:latin typeface="Consolas" panose="020B0609020204030204" pitchFamily="49" charset="0"/>
              </a:rPr>
              <a:t>df.columns</a:t>
            </a:r>
            <a:r>
              <a:rPr lang="en-US" dirty="0">
                <a:latin typeface="Consolas" panose="020B0609020204030204" pitchFamily="49" charset="0"/>
              </a:rPr>
              <a:t>[</a:t>
            </a:r>
            <a:r>
              <a:rPr lang="en-US" dirty="0" err="1">
                <a:latin typeface="Consolas" panose="020B0609020204030204" pitchFamily="49" charset="0"/>
              </a:rPr>
              <a:t>selector.get_support</a:t>
            </a:r>
            <a:r>
              <a:rPr lang="en-US" dirty="0">
                <a:latin typeface="Consolas" panose="020B0609020204030204" pitchFamily="49" charset="0"/>
              </a:rPr>
              <a:t>()]</a:t>
            </a:r>
          </a:p>
          <a:p>
            <a:pPr marL="0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print("\</a:t>
            </a:r>
            <a:r>
              <a:rPr lang="en-US" dirty="0" err="1">
                <a:latin typeface="Consolas" panose="020B0609020204030204" pitchFamily="49" charset="0"/>
              </a:rPr>
              <a:t>nFeatures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selecionadas</a:t>
            </a:r>
            <a:r>
              <a:rPr lang="en-US" dirty="0">
                <a:latin typeface="Consolas" panose="020B0609020204030204" pitchFamily="49" charset="0"/>
              </a:rPr>
              <a:t>:")</a:t>
            </a:r>
          </a:p>
          <a:p>
            <a:pPr marL="0" indent="0">
              <a:buNone/>
            </a:pPr>
            <a:r>
              <a:rPr lang="en-US" dirty="0">
                <a:latin typeface="Consolas" panose="020B0609020204030204" pitchFamily="49" charset="0"/>
              </a:rPr>
              <a:t>print(</a:t>
            </a:r>
            <a:r>
              <a:rPr lang="en-US" dirty="0" err="1">
                <a:latin typeface="Consolas" panose="020B0609020204030204" pitchFamily="49" charset="0"/>
              </a:rPr>
              <a:t>selected_features</a:t>
            </a:r>
            <a:r>
              <a:rPr lang="en-US" dirty="0"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0737730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676600-9357-87C1-67B2-7ED0D41336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Extração vs. seleção de atributos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F91E9A-DCA0-4C49-3A03-40A802DE89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A extração </a:t>
            </a:r>
            <a:r>
              <a:rPr lang="pt-BR" b="1" dirty="0"/>
              <a:t>transforma</a:t>
            </a:r>
            <a:r>
              <a:rPr lang="pt-BR" dirty="0"/>
              <a:t> os atributos originais para criar novas, geralmente reduzindo a dimensionalidade.</a:t>
            </a:r>
          </a:p>
          <a:p>
            <a:r>
              <a:rPr lang="pt-BR" dirty="0"/>
              <a:t>A seleção </a:t>
            </a:r>
            <a:r>
              <a:rPr lang="pt-BR" b="1" dirty="0"/>
              <a:t>escolhe</a:t>
            </a:r>
            <a:r>
              <a:rPr lang="pt-BR" dirty="0"/>
              <a:t> um subconjunto dos atributos existentes mais relevantes sem alterá-los.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5965887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4AB8438-E56E-2412-517C-8456E4CA7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7E2B09C-6D56-4C9F-A364-B904CCE2F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>
                <a:hlinkClick r:id="rId3"/>
              </a:rPr>
              <a:t>Exemplo: </a:t>
            </a:r>
            <a:r>
              <a:rPr lang="pt-BR" dirty="0" err="1">
                <a:hlinkClick r:id="rId3"/>
              </a:rPr>
              <a:t>pre_processing.ipynb</a:t>
            </a:r>
            <a:endParaRPr lang="en-US" dirty="0"/>
          </a:p>
          <a:p>
            <a:pPr marL="0" indent="0">
              <a:buNone/>
            </a:pPr>
            <a:endParaRPr lang="pt-BR" dirty="0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627C64FD-88E0-EC8E-2A34-0D5737B4C854}"/>
              </a:ext>
            </a:extLst>
          </p:cNvPr>
          <p:cNvGrpSpPr/>
          <p:nvPr/>
        </p:nvGrpSpPr>
        <p:grpSpPr>
          <a:xfrm>
            <a:off x="1752685" y="2681262"/>
            <a:ext cx="8371070" cy="2659743"/>
            <a:chOff x="1752685" y="2681262"/>
            <a:chExt cx="8371070" cy="2659743"/>
          </a:xfrm>
        </p:grpSpPr>
        <p:pic>
          <p:nvPicPr>
            <p:cNvPr id="12" name="Picture 4" descr="Project Jupyter | Try Jupyter">
              <a:extLst>
                <a:ext uri="{FF2B5EF4-FFF2-40B4-BE49-F238E27FC236}">
                  <a16:creationId xmlns:a16="http://schemas.microsoft.com/office/drawing/2014/main" id="{FF92EA36-91E7-292B-D7A0-2D4D83A10F9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31027" y="3102450"/>
              <a:ext cx="3461657" cy="18173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3" name="Picture 8" descr="Google Colaboratory Colab - Guía Completa Español - Marketing Branding">
              <a:extLst>
                <a:ext uri="{FF2B5EF4-FFF2-40B4-BE49-F238E27FC236}">
                  <a16:creationId xmlns:a16="http://schemas.microsoft.com/office/drawing/2014/main" id="{46F1718A-89E6-9E63-E40B-2B19852D6AA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865" r="10641"/>
            <a:stretch/>
          </p:blipFill>
          <p:spPr bwMode="auto">
            <a:xfrm>
              <a:off x="6792684" y="2681262"/>
              <a:ext cx="3331071" cy="26597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" name="Picture 10" descr="IT12A01: FUNDAMENTALS OF PYTHON PROGRAMMING (SF) (SYNCHRONOUS E-LEARNING) -  NTUC LearningHub">
              <a:extLst>
                <a:ext uri="{FF2B5EF4-FFF2-40B4-BE49-F238E27FC236}">
                  <a16:creationId xmlns:a16="http://schemas.microsoft.com/office/drawing/2014/main" id="{33F6B1B4-9B79-D634-3E35-33F24609C84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319" r="20198"/>
            <a:stretch/>
          </p:blipFill>
          <p:spPr bwMode="auto">
            <a:xfrm>
              <a:off x="1752685" y="3176833"/>
              <a:ext cx="1894114" cy="187792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5" name="Sinal de Adição 7">
              <a:extLst>
                <a:ext uri="{FF2B5EF4-FFF2-40B4-BE49-F238E27FC236}">
                  <a16:creationId xmlns:a16="http://schemas.microsoft.com/office/drawing/2014/main" id="{6959EE6C-DCDB-E78B-5C50-EBD3FF3049E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646799" y="3545037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Sinal de Adição 10">
              <a:extLst>
                <a:ext uri="{FF2B5EF4-FFF2-40B4-BE49-F238E27FC236}">
                  <a16:creationId xmlns:a16="http://schemas.microsoft.com/office/drawing/2014/main" id="{30A21FDB-ABA6-9FD5-49EF-7762414AEF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096043" y="3467980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2908608259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73005660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65570461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8895</TotalTime>
  <Words>5281</Words>
  <Application>Microsoft Office PowerPoint</Application>
  <PresentationFormat>Widescreen</PresentationFormat>
  <Paragraphs>436</Paragraphs>
  <Slides>49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49</vt:i4>
      </vt:variant>
    </vt:vector>
  </HeadingPairs>
  <TitlesOfParts>
    <vt:vector size="57" baseType="lpstr">
      <vt:lpstr>Arial</vt:lpstr>
      <vt:lpstr>Calibri</vt:lpstr>
      <vt:lpstr>Calibri Light</vt:lpstr>
      <vt:lpstr>Cambria Math</vt:lpstr>
      <vt:lpstr>Consolas</vt:lpstr>
      <vt:lpstr>Courier New</vt:lpstr>
      <vt:lpstr>Wingdings</vt:lpstr>
      <vt:lpstr>Tema do Office</vt:lpstr>
      <vt:lpstr>C24 - Inteligência Artificial: Transformações dos dados</vt:lpstr>
      <vt:lpstr>PowerPoint Presentation</vt:lpstr>
      <vt:lpstr>O que veremos?</vt:lpstr>
      <vt:lpstr>PowerPoint Presentation</vt:lpstr>
      <vt:lpstr>PowerPoint Presentation</vt:lpstr>
      <vt:lpstr>Divisão do dataset</vt:lpstr>
      <vt:lpstr>Divisão do dataset</vt:lpstr>
      <vt:lpstr>Escalonamento de atributos</vt:lpstr>
      <vt:lpstr>Escalonamento de atributos</vt:lpstr>
      <vt:lpstr>Por que escalonar os atributos?</vt:lpstr>
      <vt:lpstr>Por que escalonar os atributos?</vt:lpstr>
      <vt:lpstr>Normalização (Min-Max Scaling)</vt:lpstr>
      <vt:lpstr>Normalização (Min-Max Scaling)</vt:lpstr>
      <vt:lpstr>Normalização (Min-Max Scaling)</vt:lpstr>
      <vt:lpstr>Padronização (Standard Scaling)</vt:lpstr>
      <vt:lpstr>Padronização (Standard Scaling)</vt:lpstr>
      <vt:lpstr>Padronização (Standard Scaling)</vt:lpstr>
      <vt:lpstr>Escalonamento robusto (Robust Scaling)</vt:lpstr>
      <vt:lpstr>Escalonamento robusto (Robust Scaling)</vt:lpstr>
      <vt:lpstr>Escalonamento robusto (Robust Scaling)</vt:lpstr>
      <vt:lpstr>Armadilhas comuns durante o escalonamento</vt:lpstr>
      <vt:lpstr>Codificação de atributos categóricos</vt:lpstr>
      <vt:lpstr>One-Hot encoding</vt:lpstr>
      <vt:lpstr>Label encoding</vt:lpstr>
      <vt:lpstr>Target encoding</vt:lpstr>
      <vt:lpstr>Binary encoding</vt:lpstr>
      <vt:lpstr>Exemplos de encoding</vt:lpstr>
      <vt:lpstr>Engenharia de atributos</vt:lpstr>
      <vt:lpstr>Engenharia de atributos</vt:lpstr>
      <vt:lpstr>Extração de atributos</vt:lpstr>
      <vt:lpstr>Técnicas comuns para extração de atributos</vt:lpstr>
      <vt:lpstr>Técnicas comuns para extração de atributos</vt:lpstr>
      <vt:lpstr>PowerPoint Presentation</vt:lpstr>
      <vt:lpstr>PowerPoint Presentation</vt:lpstr>
      <vt:lpstr>Análise de componentes principais (PCA)</vt:lpstr>
      <vt:lpstr>Análise de componentes principais (PCA)</vt:lpstr>
      <vt:lpstr>Análise de componentes principais (PCA)</vt:lpstr>
      <vt:lpstr>Análise de componentes principais (PCA)</vt:lpstr>
      <vt:lpstr>Seleção de atributos</vt:lpstr>
      <vt:lpstr>Seleção de atributos</vt:lpstr>
      <vt:lpstr>Métodos de filtro</vt:lpstr>
      <vt:lpstr>Métodos de encapsulamento</vt:lpstr>
      <vt:lpstr>Métodos embarcados</vt:lpstr>
      <vt:lpstr>Seleção de atributos na biblioteca SciKit-learn</vt:lpstr>
      <vt:lpstr>Seleção de atributos na biblioteca SciKit-learn</vt:lpstr>
      <vt:lpstr>Extração vs. seleção de atributos</vt:lpstr>
      <vt:lpstr>Exemplo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1950</cp:revision>
  <dcterms:created xsi:type="dcterms:W3CDTF">2020-01-20T13:50:05Z</dcterms:created>
  <dcterms:modified xsi:type="dcterms:W3CDTF">2026-02-13T17:25:24Z</dcterms:modified>
</cp:coreProperties>
</file>