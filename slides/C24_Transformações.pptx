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handoutMasterIdLst>
    <p:handoutMasterId r:id="rId46"/>
  </p:handoutMasterIdLst>
  <p:sldIdLst>
    <p:sldId id="256" r:id="rId2"/>
    <p:sldId id="322" r:id="rId3"/>
    <p:sldId id="316" r:id="rId4"/>
    <p:sldId id="326" r:id="rId5"/>
    <p:sldId id="330" r:id="rId6"/>
    <p:sldId id="319" r:id="rId7"/>
    <p:sldId id="329" r:id="rId8"/>
    <p:sldId id="327" r:id="rId9"/>
    <p:sldId id="341" r:id="rId10"/>
    <p:sldId id="334" r:id="rId11"/>
    <p:sldId id="335" r:id="rId12"/>
    <p:sldId id="339" r:id="rId13"/>
    <p:sldId id="340" r:id="rId14"/>
    <p:sldId id="336" r:id="rId15"/>
    <p:sldId id="343" r:id="rId16"/>
    <p:sldId id="342" r:id="rId17"/>
    <p:sldId id="328" r:id="rId18"/>
    <p:sldId id="344" r:id="rId19"/>
    <p:sldId id="345" r:id="rId20"/>
    <p:sldId id="346" r:id="rId21"/>
    <p:sldId id="347" r:id="rId22"/>
    <p:sldId id="348" r:id="rId23"/>
    <p:sldId id="349" r:id="rId24"/>
    <p:sldId id="317" r:id="rId25"/>
    <p:sldId id="320" r:id="rId26"/>
    <p:sldId id="353" r:id="rId27"/>
    <p:sldId id="354" r:id="rId28"/>
    <p:sldId id="355" r:id="rId29"/>
    <p:sldId id="361" r:id="rId30"/>
    <p:sldId id="357" r:id="rId31"/>
    <p:sldId id="359" r:id="rId32"/>
    <p:sldId id="360" r:id="rId33"/>
    <p:sldId id="358" r:id="rId34"/>
    <p:sldId id="323" r:id="rId35"/>
    <p:sldId id="362" r:id="rId36"/>
    <p:sldId id="356" r:id="rId37"/>
    <p:sldId id="315" r:id="rId38"/>
    <p:sldId id="324" r:id="rId39"/>
    <p:sldId id="337" r:id="rId40"/>
    <p:sldId id="321" r:id="rId41"/>
    <p:sldId id="338" r:id="rId42"/>
    <p:sldId id="293" r:id="rId43"/>
    <p:sldId id="306" r:id="rId4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9540" autoAdjust="0"/>
  </p:normalViewPr>
  <p:slideViewPr>
    <p:cSldViewPr snapToGrid="0">
      <p:cViewPr varScale="1">
        <p:scale>
          <a:sx n="88" d="100"/>
          <a:sy n="88" d="100"/>
        </p:scale>
        <p:origin x="1698"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4/02/2026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04/02/2026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Curadoria significa </a:t>
            </a:r>
            <a:r>
              <a:rPr lang="pt-BR" dirty="0"/>
              <a:t>o ato de cuidar, selecionar, organizar, adaptar os dados.</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21553005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Redução</a:t>
            </a:r>
            <a:r>
              <a:rPr lang="en-US" dirty="0"/>
              <a:t> de </a:t>
            </a:r>
            <a:r>
              <a:rPr lang="en-US" dirty="0" err="1"/>
              <a:t>dimensionalidade</a:t>
            </a:r>
            <a:r>
              <a:rPr lang="en-US" dirty="0"/>
              <a:t> dos dados</a:t>
            </a:r>
          </a:p>
        </p:txBody>
      </p:sp>
      <p:sp>
        <p:nvSpPr>
          <p:cNvPr id="4" name="Slide Number Placeholder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76253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7106401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AD7AA-0655-8E48-DF0B-8D4DDCC2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214CE0-9112-17E5-F67C-A2291E223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8B5CB0-BEA9-3AEB-315C-471D7DA8D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4580F-B050-B7E1-BBD1-F4C92C2D8A99}"/>
              </a:ext>
            </a:extLst>
          </p:cNvPr>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08702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784135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9BA35-6F89-0BB9-6A15-9A14EACDB5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066353-8D75-DA06-B6B6-3EEE5474E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1F271-2284-A7E4-9254-5F8452B69AD2}"/>
              </a:ext>
            </a:extLst>
          </p:cNvPr>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a:extLst>
              <a:ext uri="{FF2B5EF4-FFF2-40B4-BE49-F238E27FC236}">
                <a16:creationId xmlns:a16="http://schemas.microsoft.com/office/drawing/2014/main" id="{8048099E-2282-DD7D-6C34-5E9A5168DC6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395881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ED0CA-78E3-EA29-70A5-6545A644B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9884F-E702-79E1-9E1E-0B2445D46D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43843-7B98-0234-A23B-F468EDAA4C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80E6C1-419B-5940-971A-A218E9D1589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40583576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F8A2C-ADE6-950F-1696-F46F7CEBB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7BCA1-C677-8F52-5427-0F691AE705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DD0D15-A25E-65FD-F1A5-513ED564175A}"/>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br>
              <a:rPr lang="pt-BR" dirty="0"/>
            </a:br>
            <a:br>
              <a:rPr lang="pt-BR" dirty="0"/>
            </a:br>
            <a:r>
              <a:rPr lang="pt-BR" sz="1200" b="1" i="0" kern="1200" dirty="0">
                <a:solidFill>
                  <a:schemeClr val="tx1"/>
                </a:solidFill>
                <a:effectLst/>
                <a:latin typeface="+mn-lt"/>
                <a:ea typeface="+mn-ea"/>
                <a:cs typeface="+mn-cs"/>
              </a:rPr>
              <a:t>Exemplo Prático</a:t>
            </a:r>
          </a:p>
          <a:p>
            <a:r>
              <a:rPr lang="pt-BR" sz="1200" b="0" i="0" kern="1200" dirty="0">
                <a:solidFill>
                  <a:schemeClr val="tx1"/>
                </a:solidFill>
                <a:effectLst/>
                <a:latin typeface="+mn-lt"/>
                <a:ea typeface="+mn-ea"/>
                <a:cs typeface="+mn-cs"/>
              </a:rPr>
              <a:t>Imagine dados de salários, onde a maioria das pessoas ganha entre R$ 2.000 e R$ 10.000, mas há um CEO que ganha R$ 1.000.000.</a:t>
            </a:r>
          </a:p>
          <a:p>
            <a:r>
              <a:rPr lang="pt-BR" sz="1200" b="1" i="0" kern="1200" dirty="0">
                <a:solidFill>
                  <a:schemeClr val="tx1"/>
                </a:solidFill>
                <a:effectLst/>
                <a:latin typeface="+mn-lt"/>
                <a:ea typeface="+mn-ea"/>
                <a:cs typeface="+mn-cs"/>
              </a:rPr>
              <a:t>Sem o outlier:</a:t>
            </a:r>
            <a:r>
              <a:rPr lang="pt-BR" sz="1200" b="0" i="0" kern="1200" dirty="0">
                <a:solidFill>
                  <a:schemeClr val="tx1"/>
                </a:solidFill>
                <a:effectLst/>
                <a:latin typeface="+mn-lt"/>
                <a:ea typeface="+mn-ea"/>
                <a:cs typeface="+mn-cs"/>
              </a:rPr>
              <a:t> A faixa é 2.000 a 10.000.</a:t>
            </a:r>
          </a:p>
          <a:p>
            <a:r>
              <a:rPr lang="pt-BR" sz="1200" b="1" i="0" kern="1200" dirty="0">
                <a:solidFill>
                  <a:schemeClr val="tx1"/>
                </a:solidFill>
                <a:effectLst/>
                <a:latin typeface="+mn-lt"/>
                <a:ea typeface="+mn-ea"/>
                <a:cs typeface="+mn-cs"/>
              </a:rPr>
              <a:t>Com o outlier (1.000.000):</a:t>
            </a:r>
            <a:r>
              <a:rPr lang="pt-BR" sz="1200" b="0" i="0" kern="1200" dirty="0">
                <a:solidFill>
                  <a:schemeClr val="tx1"/>
                </a:solidFill>
                <a:effectLst/>
                <a:latin typeface="+mn-lt"/>
                <a:ea typeface="+mn-ea"/>
                <a:cs typeface="+mn-cs"/>
              </a:rPr>
              <a:t> O Min-Max vai forçar o 1.000.000 a ser 1 e o 2.000 a ser 0.</a:t>
            </a:r>
          </a:p>
          <a:p>
            <a:r>
              <a:rPr lang="pt-BR" sz="1200" b="1" i="0" kern="1200" dirty="0">
                <a:solidFill>
                  <a:schemeClr val="tx1"/>
                </a:solidFill>
                <a:effectLst/>
                <a:latin typeface="+mn-lt"/>
                <a:ea typeface="+mn-ea"/>
                <a:cs typeface="+mn-cs"/>
              </a:rPr>
              <a:t>Resultado:</a:t>
            </a:r>
            <a:r>
              <a:rPr lang="pt-BR" sz="1200" b="0" i="0" kern="1200" dirty="0">
                <a:solidFill>
                  <a:schemeClr val="tx1"/>
                </a:solidFill>
                <a:effectLst/>
                <a:latin typeface="+mn-lt"/>
                <a:ea typeface="+mn-ea"/>
                <a:cs typeface="+mn-cs"/>
              </a:rPr>
              <a:t> Todos os salários normais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3000, 5000, 8000) serão comprimidos para valores muito próximos de zero,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0.001, 0.003, 0.006. O modelo de machine learning terá dificuldade em diferenciar essas pequenas variações. </a:t>
            </a:r>
          </a:p>
          <a:p>
            <a:endParaRPr lang="en-US" dirty="0"/>
          </a:p>
        </p:txBody>
      </p:sp>
      <p:sp>
        <p:nvSpPr>
          <p:cNvPr id="4" name="Slide Number Placeholder 3">
            <a:extLst>
              <a:ext uri="{FF2B5EF4-FFF2-40B4-BE49-F238E27FC236}">
                <a16:creationId xmlns:a16="http://schemas.microsoft.com/office/drawing/2014/main" id="{5F90D2D6-5D54-2470-89D5-A060CBE89EF9}"/>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0813082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D28CA1-01F6-4480-35DB-8BB34983B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9398D-07A6-7B0D-340C-EFF1B2885D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081E3-4839-F706-AA6D-36B8D101BA06}"/>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endParaRPr lang="en-US" dirty="0"/>
          </a:p>
        </p:txBody>
      </p:sp>
      <p:sp>
        <p:nvSpPr>
          <p:cNvPr id="4" name="Slide Number Placeholder 3">
            <a:extLst>
              <a:ext uri="{FF2B5EF4-FFF2-40B4-BE49-F238E27FC236}">
                <a16:creationId xmlns:a16="http://schemas.microsoft.com/office/drawing/2014/main" id="{B31F2532-F79F-CBC9-E9FF-E998E79153E4}"/>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282371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AAF4-3E4E-61DB-5981-D83FCAD12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07ACA-77DF-28FA-3B66-1B244EECB2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ADE028-FFFC-7435-BB36-CD3A24200449}"/>
              </a:ext>
            </a:extLst>
          </p:cNvPr>
          <p:cNvSpPr>
            <a:spLocks noGrp="1"/>
          </p:cNvSpPr>
          <p:nvPr>
            <p:ph type="body" idx="1"/>
          </p:nvPr>
        </p:nvSpPr>
        <p:spPr/>
        <p:txBody>
          <a:bodyPr/>
          <a:lstStyle/>
          <a:p>
            <a:r>
              <a:rPr lang="pt-BR" dirty="0"/>
              <a:t>Oferece um meio-termo que mantém os dados em uma escala semelhante à da padronização, mas garante que a escala não seja distorcida por valores extremos.</a:t>
            </a:r>
          </a:p>
          <a:p>
            <a:endParaRPr lang="pt-BR" b="1" dirty="0"/>
          </a:p>
          <a:p>
            <a:r>
              <a:rPr lang="pt-BR" b="1" dirty="0"/>
              <a:t>Por que Mediana e não Média?</a:t>
            </a:r>
            <a:r>
              <a:rPr lang="pt-BR" dirty="0"/>
              <a:t> "Imagine que temos 5 pessoas em um bar e cada uma ganha R$ 2.000. A média é 2.000. Se o Jeff Bezos entra no bar, a média vai para milhões, mas a </a:t>
            </a:r>
            <a:r>
              <a:rPr lang="pt-BR" b="1" dirty="0"/>
              <a:t>mediana</a:t>
            </a:r>
            <a:r>
              <a:rPr lang="pt-BR" dirty="0"/>
              <a:t> (o valor central) continua sendo 2.000. </a:t>
            </a:r>
            <a:endParaRPr lang="en-US" dirty="0"/>
          </a:p>
        </p:txBody>
      </p:sp>
      <p:sp>
        <p:nvSpPr>
          <p:cNvPr id="4" name="Slide Number Placeholder 3">
            <a:extLst>
              <a:ext uri="{FF2B5EF4-FFF2-40B4-BE49-F238E27FC236}">
                <a16:creationId xmlns:a16="http://schemas.microsoft.com/office/drawing/2014/main" id="{799A12BF-2D34-C626-F9C4-AF0F7CD163B2}"/>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7166141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D7A17-F670-79CF-DF05-7BF12108EA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5DE1E6-3C6D-845B-07FE-6000E19D1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7E17B7-4F2C-8B34-0F7C-2CB52C0B3FA9}"/>
              </a:ext>
            </a:extLst>
          </p:cNvPr>
          <p:cNvSpPr>
            <a:spLocks noGrp="1"/>
          </p:cNvSpPr>
          <p:nvPr>
            <p:ph type="body" idx="1"/>
          </p:nvPr>
        </p:nvSpPr>
        <p:spPr/>
        <p:txBody>
          <a:bodyPr/>
          <a:lstStyle/>
          <a:p>
            <a:r>
              <a:rPr lang="pt-BR" b="1" dirty="0"/>
              <a:t>Por que Mediana e não Média?</a:t>
            </a:r>
            <a:r>
              <a:rPr lang="pt-BR" dirty="0"/>
              <a:t> "Imagine que temos 5 pessoas em um bar e cada uma ganha R$ 2.000. A média é 2.000. Se o Jeff Bezos entra no bar, a média vai para milhões, mas a </a:t>
            </a:r>
            <a:r>
              <a:rPr lang="pt-BR" b="1" dirty="0"/>
              <a:t>mediana</a:t>
            </a:r>
            <a:r>
              <a:rPr lang="pt-BR" dirty="0"/>
              <a:t> (o valor central) continua sendo 2.000. </a:t>
            </a:r>
            <a:endParaRPr lang="en-US" dirty="0"/>
          </a:p>
        </p:txBody>
      </p:sp>
      <p:sp>
        <p:nvSpPr>
          <p:cNvPr id="4" name="Slide Number Placeholder 3">
            <a:extLst>
              <a:ext uri="{FF2B5EF4-FFF2-40B4-BE49-F238E27FC236}">
                <a16:creationId xmlns:a16="http://schemas.microsoft.com/office/drawing/2014/main" id="{1FD7E354-A812-3533-15B8-B2C05476CDAC}"/>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9862444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BD578-D126-C8CD-C2BA-CBFC787EA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E7FEA-16F0-9910-0989-1883BB321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8219F0-D8E8-8A81-97B4-AECF0BBEA14F}"/>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Ele mantém a relação de distância entre os dados não-discrepantes melhor que o Standard </a:t>
            </a:r>
            <a:r>
              <a:rPr lang="pt-BR" sz="1200" b="0" i="0" kern="1200" dirty="0" err="1">
                <a:solidFill>
                  <a:schemeClr val="tx1"/>
                </a:solidFill>
                <a:effectLst/>
                <a:latin typeface="+mn-lt"/>
                <a:ea typeface="+mn-ea"/>
                <a:cs typeface="+mn-cs"/>
              </a:rPr>
              <a:t>Scaler</a:t>
            </a:r>
            <a:r>
              <a:rPr lang="pt-BR" sz="1200" b="0" i="0" kern="1200" dirty="0">
                <a:solidFill>
                  <a:schemeClr val="tx1"/>
                </a:solidFill>
                <a:effectLst/>
                <a:latin typeface="+mn-lt"/>
                <a:ea typeface="+mn-ea"/>
                <a:cs typeface="+mn-cs"/>
              </a:rPr>
              <a:t> quando há ruído extremo.</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i.e., eles não distorcem tanto a escala geral.</a:t>
            </a:r>
          </a:p>
          <a:p>
            <a:endParaRPr lang="en-US" dirty="0"/>
          </a:p>
        </p:txBody>
      </p:sp>
      <p:sp>
        <p:nvSpPr>
          <p:cNvPr id="4" name="Slide Number Placeholder 3">
            <a:extLst>
              <a:ext uri="{FF2B5EF4-FFF2-40B4-BE49-F238E27FC236}">
                <a16:creationId xmlns:a16="http://schemas.microsoft.com/office/drawing/2014/main" id="{98A5AC8A-50E7-6136-9B5C-235A931AE1D4}"/>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1045151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10802758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5AACA-C1BE-8A29-1FCB-662C75286B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175792-3F26-46A3-22E7-4BD98B3697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A760E0-F44C-F8E7-EA56-D8E5837C26DC}"/>
              </a:ext>
            </a:extLst>
          </p:cNvPr>
          <p:cNvSpPr>
            <a:spLocks noGrp="1"/>
          </p:cNvSpPr>
          <p:nvPr>
            <p:ph type="body" idx="1"/>
          </p:nvPr>
        </p:nvSpPr>
        <p:spPr/>
        <p:txBody>
          <a:bodyPr/>
          <a:lstStyle/>
          <a:p>
            <a:r>
              <a:rPr lang="pt-BR" sz="1200" b="1" i="0" kern="1200" dirty="0">
                <a:solidFill>
                  <a:schemeClr val="tx1"/>
                </a:solidFill>
                <a:effectLst/>
                <a:latin typeface="+mn-lt"/>
                <a:ea typeface="+mn-ea"/>
                <a:cs typeface="+mn-cs"/>
              </a:rPr>
              <a:t>O que é a </a:t>
            </a:r>
            <a:r>
              <a:rPr lang="pt-BR" b="1" dirty="0"/>
              <a:t>“maldição da dimensionalidade”?</a:t>
            </a:r>
            <a:br>
              <a:rPr lang="pt-BR" b="1" dirty="0"/>
            </a:br>
            <a:endParaRPr lang="pt-BR"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Aumento exponencial do espaço:</a:t>
            </a:r>
            <a:r>
              <a:rPr lang="pt-BR" sz="1200" b="0" i="0" kern="1200" dirty="0">
                <a:solidFill>
                  <a:schemeClr val="tx1"/>
                </a:solidFill>
                <a:effectLst/>
                <a:latin typeface="+mn-lt"/>
                <a:ea typeface="+mn-ea"/>
                <a:cs typeface="+mn-cs"/>
              </a:rPr>
              <a:t> Adicionar dimensões faz o volume crescer muito rápido, espalhando os pontos de dados.</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Escassez de dados:</a:t>
            </a:r>
            <a:r>
              <a:rPr lang="pt-BR" sz="1200" b="0" i="0" kern="1200" dirty="0">
                <a:solidFill>
                  <a:schemeClr val="tx1"/>
                </a:solidFill>
                <a:effectLst/>
                <a:latin typeface="+mn-lt"/>
                <a:ea typeface="+mn-ea"/>
                <a:cs typeface="+mn-cs"/>
              </a:rPr>
              <a:t> Os pontos ficam muito distantes uns dos outros, "quase não há vizinhos", perdendo a noção de similaridade.</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Dificuldade de visualização e processamento:</a:t>
            </a:r>
            <a:r>
              <a:rPr lang="pt-BR" sz="1200" b="0" i="0" kern="1200" dirty="0">
                <a:solidFill>
                  <a:schemeClr val="tx1"/>
                </a:solidFill>
                <a:effectLst/>
                <a:latin typeface="+mn-lt"/>
                <a:ea typeface="+mn-ea"/>
                <a:cs typeface="+mn-cs"/>
              </a:rPr>
              <a:t> Torna-se difícil visualizar e exige muito mais poder computacional para análise.</a:t>
            </a:r>
          </a:p>
          <a:p>
            <a:endParaRPr lang="pt-BR" sz="1200" b="1" i="0" kern="1200" dirty="0">
              <a:solidFill>
                <a:schemeClr val="tx1"/>
              </a:solidFill>
              <a:effectLst/>
              <a:latin typeface="+mn-lt"/>
              <a:ea typeface="+mn-ea"/>
              <a:cs typeface="+mn-cs"/>
            </a:endParaRPr>
          </a:p>
          <a:p>
            <a:r>
              <a:rPr lang="pt-BR" sz="1200" b="1" i="0" kern="1200" dirty="0">
                <a:solidFill>
                  <a:schemeClr val="tx1"/>
                </a:solidFill>
                <a:effectLst/>
                <a:latin typeface="+mn-lt"/>
                <a:ea typeface="+mn-ea"/>
                <a:cs typeface="+mn-cs"/>
              </a:rPr>
              <a:t>Como afeta o Machine Learning</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Perda de significado da distância:</a:t>
            </a:r>
            <a:r>
              <a:rPr lang="pt-BR" sz="1200" b="0" i="0" kern="1200" dirty="0">
                <a:solidFill>
                  <a:schemeClr val="tx1"/>
                </a:solidFill>
                <a:effectLst/>
                <a:latin typeface="+mn-lt"/>
                <a:ea typeface="+mn-ea"/>
                <a:cs typeface="+mn-cs"/>
              </a:rPr>
              <a:t> A diferença entre o ponto mais próximo e o mais distante se torna mínima, prejudicando algoritmos baseados em distância (como KNN).</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Sobreajuste (</a:t>
            </a:r>
            <a:r>
              <a:rPr lang="pt-BR" sz="1200" b="1" i="0" kern="1200" dirty="0" err="1">
                <a:solidFill>
                  <a:schemeClr val="tx1"/>
                </a:solidFill>
                <a:effectLst/>
                <a:latin typeface="+mn-lt"/>
                <a:ea typeface="+mn-ea"/>
                <a:cs typeface="+mn-cs"/>
              </a:rPr>
              <a:t>Overfitting</a:t>
            </a:r>
            <a:r>
              <a:rPr lang="pt-BR" sz="1200" b="1" i="0" kern="1200" dirty="0">
                <a:solidFill>
                  <a:schemeClr val="tx1"/>
                </a:solidFill>
                <a:effectLst/>
                <a:latin typeface="+mn-lt"/>
                <a:ea typeface="+mn-ea"/>
                <a:cs typeface="+mn-cs"/>
              </a:rPr>
              <a:t>):</a:t>
            </a:r>
            <a:r>
              <a:rPr lang="pt-BR" sz="1200" b="0" i="0" kern="1200" dirty="0">
                <a:solidFill>
                  <a:schemeClr val="tx1"/>
                </a:solidFill>
                <a:effectLst/>
                <a:latin typeface="+mn-lt"/>
                <a:ea typeface="+mn-ea"/>
                <a:cs typeface="+mn-cs"/>
              </a:rPr>
              <a:t> Modelos podem se ajustar ao ruído em vez dos padrões reais, pois há muitas dimensões e poucos pontos por área.</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Aumento da complexidade:</a:t>
            </a:r>
            <a:r>
              <a:rPr lang="pt-BR" sz="1200" b="0" i="0" kern="1200" dirty="0">
                <a:solidFill>
                  <a:schemeClr val="tx1"/>
                </a:solidFill>
                <a:effectLst/>
                <a:latin typeface="+mn-lt"/>
                <a:ea typeface="+mn-ea"/>
                <a:cs typeface="+mn-cs"/>
              </a:rPr>
              <a:t> Aumenta o custo computacional e a necessidade de dados de treinamento.</a:t>
            </a:r>
          </a:p>
          <a:p>
            <a:endParaRPr lang="en-US" dirty="0"/>
          </a:p>
        </p:txBody>
      </p:sp>
      <p:sp>
        <p:nvSpPr>
          <p:cNvPr id="4" name="Slide Number Placeholder 3">
            <a:extLst>
              <a:ext uri="{FF2B5EF4-FFF2-40B4-BE49-F238E27FC236}">
                <a16:creationId xmlns:a16="http://schemas.microsoft.com/office/drawing/2014/main" id="{F3157961-DACC-B2D1-355A-7BFFF155D892}"/>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6654628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1B8E2-8FB4-ABBE-C258-A19EABAE8D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4AA54D-D921-A0D1-8F81-E689E5B46F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C5C974-F53B-919C-4B9E-3E911E541210}"/>
              </a:ext>
            </a:extLst>
          </p:cNvPr>
          <p:cNvSpPr>
            <a:spLocks noGrp="1"/>
          </p:cNvSpPr>
          <p:nvPr>
            <p:ph type="body" idx="1"/>
          </p:nvPr>
        </p:nvSpPr>
        <p:spPr/>
        <p:txBody>
          <a:bodyPr/>
          <a:lstStyle/>
          <a:p>
            <a:pPr lvl="0">
              <a:buFont typeface="Wingdings" panose="05000000000000000000" pitchFamily="2" charset="2"/>
              <a:buNone/>
            </a:pPr>
            <a:endParaRPr lang="en-US" dirty="0"/>
          </a:p>
        </p:txBody>
      </p:sp>
      <p:sp>
        <p:nvSpPr>
          <p:cNvPr id="4" name="Slide Number Placeholder 3">
            <a:extLst>
              <a:ext uri="{FF2B5EF4-FFF2-40B4-BE49-F238E27FC236}">
                <a16:creationId xmlns:a16="http://schemas.microsoft.com/office/drawing/2014/main" id="{0DFC15CB-C54E-7FB2-B15A-8FAC110034B8}"/>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4793482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55CC4-F30A-A9FA-9DDD-082690987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F220E7-8A30-2A57-6CC8-32EB4AE20B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4DC2E-4BED-69DA-25A3-14C1CC6DEC90}"/>
              </a:ext>
            </a:extLst>
          </p:cNvPr>
          <p:cNvSpPr>
            <a:spLocks noGrp="1"/>
          </p:cNvSpPr>
          <p:nvPr>
            <p:ph type="body" idx="1"/>
          </p:nvPr>
        </p:nvSpPr>
        <p:spPr/>
        <p:txBody>
          <a:bodyPr/>
          <a:lstStyle/>
          <a:p>
            <a:r>
              <a:rPr lang="pt-BR" dirty="0"/>
              <a:t>alta cardinalidade: muitas categorias únicas</a:t>
            </a:r>
            <a:endParaRPr lang="pt-BR"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BDD61D4-F283-FA5C-B9B3-7B9D25FCB4EA}"/>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6519925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0111E-C562-814A-4B28-55A0BF53C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3F6C9-39CC-9515-FB72-E68168A7A8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698751-6CC0-5667-0E8C-ED24F1B26AB5}"/>
              </a:ext>
            </a:extLst>
          </p:cNvPr>
          <p:cNvSpPr>
            <a:spLocks noGrp="1"/>
          </p:cNvSpPr>
          <p:nvPr>
            <p:ph type="body" idx="1"/>
          </p:nvPr>
        </p:nvSpPr>
        <p:spPr/>
        <p:txBody>
          <a:bodyPr/>
          <a:lstStyle/>
          <a:p>
            <a:r>
              <a:rPr lang="pt-BR" dirty="0"/>
              <a:t>DT: Decision </a:t>
            </a:r>
            <a:r>
              <a:rPr lang="pt-BR" dirty="0" err="1"/>
              <a:t>Trees</a:t>
            </a:r>
            <a:endParaRPr lang="pt-BR" dirty="0"/>
          </a:p>
          <a:p>
            <a:r>
              <a:rPr lang="pt-BR" dirty="0"/>
              <a:t>RF: Random </a:t>
            </a:r>
            <a:r>
              <a:rPr lang="pt-BR" dirty="0" err="1"/>
              <a:t>Forests</a:t>
            </a:r>
            <a:br>
              <a:rPr lang="pt-BR" dirty="0"/>
            </a:br>
            <a:endParaRPr lang="pt-BR" dirty="0"/>
          </a:p>
          <a:p>
            <a:r>
              <a:rPr lang="pt-BR" dirty="0"/>
              <a:t>Por algumas categorias compartilharem bits, modelos lineares podem achar que existe uma relação matemática entre essas categorias.</a:t>
            </a:r>
          </a:p>
          <a:p>
            <a:endParaRPr lang="pt-BR" dirty="0"/>
          </a:p>
          <a:p>
            <a:r>
              <a:rPr lang="pt-BR" dirty="0"/>
              <a:t>O </a:t>
            </a:r>
            <a:r>
              <a:rPr lang="pt-BR" b="1" dirty="0" err="1"/>
              <a:t>Binary</a:t>
            </a:r>
            <a:r>
              <a:rPr lang="pt-BR" b="1" dirty="0"/>
              <a:t> </a:t>
            </a:r>
            <a:r>
              <a:rPr lang="pt-BR" b="1" dirty="0" err="1"/>
              <a:t>Encoding</a:t>
            </a:r>
            <a:r>
              <a:rPr lang="pt-BR" dirty="0"/>
              <a:t> é uma solução intermediária brilhante. Ele resolve o problema da "explosão de colunas" do </a:t>
            </a:r>
            <a:r>
              <a:rPr lang="pt-BR" dirty="0" err="1"/>
              <a:t>One</a:t>
            </a:r>
            <a:r>
              <a:rPr lang="pt-BR" dirty="0"/>
              <a:t>-Hot </a:t>
            </a:r>
            <a:r>
              <a:rPr lang="pt-BR" dirty="0" err="1"/>
              <a:t>Encoding</a:t>
            </a:r>
            <a:r>
              <a:rPr lang="pt-BR" dirty="0"/>
              <a:t> sem criar uma hierarquia falsa como o </a:t>
            </a:r>
            <a:r>
              <a:rPr lang="pt-BR" dirty="0" err="1"/>
              <a:t>Label</a:t>
            </a:r>
            <a:r>
              <a:rPr lang="pt-BR" dirty="0"/>
              <a:t> </a:t>
            </a:r>
            <a:r>
              <a:rPr lang="pt-BR" dirty="0" err="1"/>
              <a:t>Encoding</a:t>
            </a:r>
            <a:r>
              <a:rPr lang="pt-BR" dirty="0"/>
              <a:t>. É como se fosse um "meio-termo" inteligente para </a:t>
            </a:r>
            <a:r>
              <a:rPr lang="pt-BR" dirty="0" err="1"/>
              <a:t>datasets</a:t>
            </a:r>
            <a:r>
              <a:rPr lang="pt-BR" dirty="0"/>
              <a:t> com muitas categorias.</a:t>
            </a:r>
          </a:p>
          <a:p>
            <a:endParaRPr lang="pt-BR" sz="1200" b="0" i="0" kern="1200" dirty="0">
              <a:solidFill>
                <a:schemeClr val="tx1"/>
              </a:solidFill>
              <a:effectLst/>
              <a:latin typeface="+mn-lt"/>
              <a:ea typeface="+mn-ea"/>
              <a:cs typeface="+mn-cs"/>
            </a:endParaRPr>
          </a:p>
          <a:p>
            <a:r>
              <a:rPr lang="pt-BR" dirty="0"/>
              <a:t>Para regressões simples o modelo pode achar que existe uma relação matemática entre categorias que compartilham o mesmo bit."</a:t>
            </a:r>
            <a:endParaRPr lang="pt-BR"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DBEA7BB1-A2E9-8F2F-66E3-17600B04B681}"/>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7957752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pt-BR" sz="1200" b="0" i="0" kern="1200" dirty="0">
                <a:solidFill>
                  <a:schemeClr val="tx1"/>
                </a:solidFill>
                <a:effectLst/>
                <a:latin typeface="+mn-lt"/>
                <a:ea typeface="+mn-ea"/>
                <a:cs typeface="+mn-cs"/>
              </a:rPr>
              <a:t>Feature </a:t>
            </a:r>
            <a:r>
              <a:rPr lang="pt-BR" sz="1200" b="0" i="0" kern="1200" dirty="0" err="1">
                <a:solidFill>
                  <a:schemeClr val="tx1"/>
                </a:solidFill>
                <a:effectLst/>
                <a:latin typeface="+mn-lt"/>
                <a:ea typeface="+mn-ea"/>
                <a:cs typeface="+mn-cs"/>
              </a:rPr>
              <a:t>Engineering</a:t>
            </a:r>
            <a:r>
              <a:rPr lang="pt-BR" sz="1200" b="0" i="0" kern="1200" dirty="0">
                <a:solidFill>
                  <a:schemeClr val="tx1"/>
                </a:solidFill>
                <a:effectLst/>
                <a:latin typeface="+mn-lt"/>
                <a:ea typeface="+mn-ea"/>
                <a:cs typeface="+mn-cs"/>
              </a:rPr>
              <a:t> (Engenharia de Atributos/Features) </a:t>
            </a:r>
            <a:r>
              <a:rPr lang="pt-BR" dirty="0"/>
              <a:t>é o processo crucial de usar conhecimento de domínio e criatividade para transformar dados brutos em variáveis (features) mais úteis e informativas</a:t>
            </a:r>
            <a:endParaRPr lang="pt-BR" b="1" dirty="0"/>
          </a:p>
          <a:p>
            <a:pPr marL="0" indent="0">
              <a:buNone/>
            </a:pPr>
            <a:endParaRPr lang="pt-BR" b="1" dirty="0"/>
          </a:p>
          <a:p>
            <a:pPr marL="0" indent="0">
              <a:buNone/>
            </a:pPr>
            <a:r>
              <a:rPr lang="pt-BR" b="1" dirty="0"/>
              <a:t>Definição:</a:t>
            </a:r>
            <a:r>
              <a:rPr lang="pt-BR" dirty="0"/>
              <a:t> Usar conhecimento de domínio para criar variáveis que o modelo entenda melhor.</a:t>
            </a:r>
          </a:p>
          <a:p>
            <a:pPr marL="0" indent="0">
              <a:buNone/>
            </a:pPr>
            <a:r>
              <a:rPr lang="pt-BR" dirty="0"/>
              <a:t>É a arte de criar novas colunas a partir das existentes para facilitar a descoberta de padrões.</a:t>
            </a:r>
          </a:p>
          <a:p>
            <a:pPr marL="0" indent="0">
              <a:buNone/>
            </a:pPr>
            <a:r>
              <a:rPr lang="pt-BR" dirty="0"/>
              <a:t>Criar novas variáveis a partir das existentes para melhorar a capacidade de predição.</a:t>
            </a:r>
          </a:p>
          <a:p>
            <a:pPr marL="0" indent="0">
              <a:buNone/>
            </a:pPr>
            <a:endParaRPr lang="pt-BR" dirty="0"/>
          </a:p>
          <a:p>
            <a:r>
              <a:rPr lang="pt-BR" b="1" dirty="0"/>
              <a:t>conhecimento de domínio</a:t>
            </a:r>
            <a:r>
              <a:rPr lang="pt-BR" dirty="0"/>
              <a:t> é o </a:t>
            </a:r>
            <a:r>
              <a:rPr lang="pt-BR" b="1" dirty="0"/>
              <a:t>entendimento profundo do contexto real do problema</a:t>
            </a:r>
            <a:r>
              <a:rPr lang="pt-BR" dirty="0"/>
              <a:t>, do negócio ou da área onde os dados foram gerados</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282516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822207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extração de características em aprendizado de máquina é o processo de transformar dados brutos em um conjunto menor de características numéricas significativas que podem ser processadas de forma mais eficiente, mantendo as informações essenciais.</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o processo de redução da quantidade de atributos a serem processados ​​utilizando técnicas de redução de dimensionalidade.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conjunto de dados menor e mais refinado requer menos recursos computacionais para armazenamento, processamento e treinamento, o que é crucial para conjuntos de dados grandes.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1787811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dados devem ser padronizados antes do PCA porque o método é baseado em variância, e sem padronização as features com maior escala dominam os componentes principais.</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794025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7ABA2-3850-7615-FB8C-3EDA185E6E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430495-A427-A07D-66C6-44A1AB4CD0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43CE4F-5059-FE45-AEEF-D1290A432F82}"/>
              </a:ext>
            </a:extLst>
          </p:cNvPr>
          <p:cNvSpPr>
            <a:spLocks noGrp="1"/>
          </p:cNvSpPr>
          <p:nvPr>
            <p:ph type="body" idx="1"/>
          </p:nvPr>
        </p:nvSpPr>
        <p:spPr/>
        <p:txBody>
          <a:bodyPr/>
          <a:lstStyle/>
          <a:p>
            <a:r>
              <a:rPr lang="pt-BR" dirty="0"/>
              <a:t>Os dados devem ser padronizados antes do PCA porque o método é baseado em variância, e sem padronização as features com maior escala dominam os componentes principais.</a:t>
            </a:r>
          </a:p>
          <a:p>
            <a:endParaRPr lang="pt-BR" dirty="0"/>
          </a:p>
          <a:p>
            <a:endParaRPr lang="en-US" dirty="0"/>
          </a:p>
        </p:txBody>
      </p:sp>
      <p:sp>
        <p:nvSpPr>
          <p:cNvPr id="4" name="Slide Number Placeholder 3">
            <a:extLst>
              <a:ext uri="{FF2B5EF4-FFF2-40B4-BE49-F238E27FC236}">
                <a16:creationId xmlns:a16="http://schemas.microsoft.com/office/drawing/2014/main" id="{F420A46B-CEA0-D388-0846-98A3CA0C0C47}"/>
              </a:ext>
            </a:extLst>
          </p:cNvPr>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6203659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5FE33-E198-F37E-DB7F-2131AC1055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AC853-E4F7-D306-2683-D5A081D6DA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C6B000-368B-B2C7-C3B9-F74524B809F2}"/>
              </a:ext>
            </a:extLst>
          </p:cNvPr>
          <p:cNvSpPr>
            <a:spLocks noGrp="1"/>
          </p:cNvSpPr>
          <p:nvPr>
            <p:ph type="body" idx="1"/>
          </p:nvPr>
        </p:nvSpPr>
        <p:spPr/>
        <p:txBody>
          <a:bodyPr/>
          <a:lstStyle/>
          <a:p>
            <a:r>
              <a:rPr lang="pt-BR" sz="1200" b="1" kern="1200" dirty="0">
                <a:solidFill>
                  <a:schemeClr val="tx1"/>
                </a:solidFill>
                <a:effectLst/>
                <a:latin typeface="+mn-lt"/>
                <a:ea typeface="+mn-ea"/>
                <a:cs typeface="+mn-cs"/>
              </a:rPr>
              <a:t>O Problema: A "Régua Rígida"</a:t>
            </a:r>
          </a:p>
          <a:p>
            <a:r>
              <a:rPr lang="pt-BR" sz="1200" kern="1200" dirty="0">
                <a:solidFill>
                  <a:schemeClr val="tx1"/>
                </a:solidFill>
                <a:effectLst/>
                <a:latin typeface="+mn-lt"/>
                <a:ea typeface="+mn-ea"/>
                <a:cs typeface="+mn-cs"/>
              </a:rPr>
              <a:t>O PCA é uma técnica </a:t>
            </a:r>
            <a:r>
              <a:rPr lang="pt-BR" sz="1200" b="1" kern="1200" dirty="0">
                <a:solidFill>
                  <a:schemeClr val="tx1"/>
                </a:solidFill>
                <a:effectLst/>
                <a:latin typeface="+mn-lt"/>
                <a:ea typeface="+mn-ea"/>
                <a:cs typeface="+mn-cs"/>
              </a:rPr>
              <a:t>linear</a:t>
            </a:r>
            <a:r>
              <a:rPr lang="pt-BR" sz="1200" kern="1200" dirty="0">
                <a:solidFill>
                  <a:schemeClr val="tx1"/>
                </a:solidFill>
                <a:effectLst/>
                <a:latin typeface="+mn-lt"/>
                <a:ea typeface="+mn-ea"/>
                <a:cs typeface="+mn-cs"/>
              </a:rPr>
              <a:t>. Como você pode ver na figura, ele tenta traçar linhas retas ($PC_1$ e $PC_2$) para capturar a variância.</a:t>
            </a:r>
          </a:p>
          <a:p>
            <a:r>
              <a:rPr lang="pt-BR" sz="1200" kern="1200" dirty="0">
                <a:solidFill>
                  <a:schemeClr val="tx1"/>
                </a:solidFill>
                <a:effectLst/>
                <a:latin typeface="+mn-lt"/>
                <a:ea typeface="+mn-ea"/>
                <a:cs typeface="+mn-cs"/>
              </a:rPr>
              <a:t>Se os dados formam uma curva (não linear), o PCA vai tentar "esmagar" essa curva em uma linha reta.</a:t>
            </a:r>
          </a:p>
          <a:p>
            <a:r>
              <a:rPr lang="pt-BR" sz="1200" b="1" kern="1200" dirty="0">
                <a:solidFill>
                  <a:schemeClr val="tx1"/>
                </a:solidFill>
                <a:effectLst/>
                <a:latin typeface="+mn-lt"/>
                <a:ea typeface="+mn-ea"/>
                <a:cs typeface="+mn-cs"/>
              </a:rPr>
              <a:t>Resultado:</a:t>
            </a:r>
            <a:r>
              <a:rPr lang="pt-BR" sz="1200" kern="1200" dirty="0">
                <a:solidFill>
                  <a:schemeClr val="tx1"/>
                </a:solidFill>
                <a:effectLst/>
                <a:latin typeface="+mn-lt"/>
                <a:ea typeface="+mn-ea"/>
                <a:cs typeface="+mn-cs"/>
              </a:rPr>
              <a:t> Você perde a estrutura real dos dados. É como tentar descrever uma mola usando apenas uma régua reta; você perde toda a informação da espiral.</a:t>
            </a:r>
          </a:p>
        </p:txBody>
      </p:sp>
      <p:sp>
        <p:nvSpPr>
          <p:cNvPr id="4" name="Slide Number Placeholder 3">
            <a:extLst>
              <a:ext uri="{FF2B5EF4-FFF2-40B4-BE49-F238E27FC236}">
                <a16:creationId xmlns:a16="http://schemas.microsoft.com/office/drawing/2014/main" id="{4661C39A-BA44-919F-9164-4B9F42BBC900}"/>
              </a:ext>
            </a:extLst>
          </p:cNvPr>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8694682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8519919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04/02/2026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intro_eda.ipynb"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jpeg"/><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Transformações dos dados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5778595-FA45-2665-F4CA-BDE619496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043" y="1366894"/>
            <a:ext cx="8171095" cy="4456961"/>
          </a:xfrm>
          <a:prstGeom prst="rect">
            <a:avLst/>
          </a:prstGeom>
        </p:spPr>
      </p:pic>
      <p:sp>
        <p:nvSpPr>
          <p:cNvPr id="7" name="TextBox 6">
            <a:extLst>
              <a:ext uri="{FF2B5EF4-FFF2-40B4-BE49-F238E27FC236}">
                <a16:creationId xmlns:a16="http://schemas.microsoft.com/office/drawing/2014/main" id="{0998BB58-D4F0-B94D-2632-92980C5EFACB}"/>
              </a:ext>
            </a:extLst>
          </p:cNvPr>
          <p:cNvSpPr txBox="1"/>
          <p:nvPr/>
        </p:nvSpPr>
        <p:spPr>
          <a:xfrm>
            <a:off x="8643256" y="2564324"/>
            <a:ext cx="3145971" cy="2062103"/>
          </a:xfrm>
          <a:prstGeom prst="rect">
            <a:avLst/>
          </a:prstGeom>
          <a:noFill/>
        </p:spPr>
        <p:txBody>
          <a:bodyPr wrap="square" rtlCol="0">
            <a:spAutoFit/>
          </a:bodyPr>
          <a:lstStyle/>
          <a:p>
            <a:pPr algn="ctr"/>
            <a:r>
              <a:rPr lang="pt-BR" sz="3200" dirty="0"/>
              <a:t>Continuamos na jornada de curadoria dos dados.</a:t>
            </a:r>
            <a:endParaRPr lang="en-US" sz="3200" dirty="0"/>
          </a:p>
        </p:txBody>
      </p:sp>
    </p:spTree>
    <p:extLst>
      <p:ext uri="{BB962C8B-B14F-4D97-AF65-F5344CB8AC3E}">
        <p14:creationId xmlns:p14="http://schemas.microsoft.com/office/powerpoint/2010/main" val="159864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138C-5788-AD2E-09D4-61ED99259645}"/>
              </a:ext>
            </a:extLst>
          </p:cNvPr>
          <p:cNvSpPr>
            <a:spLocks noGrp="1"/>
          </p:cNvSpPr>
          <p:nvPr>
            <p:ph type="title"/>
          </p:nvPr>
        </p:nvSpPr>
        <p:spPr/>
        <p:txBody>
          <a:bodyPr/>
          <a:lstStyle/>
          <a:p>
            <a:r>
              <a:rPr lang="pt-BR" dirty="0"/>
              <a:t>O que veremos?</a:t>
            </a:r>
            <a:endParaRPr lang="en-US" dirty="0"/>
          </a:p>
        </p:txBody>
      </p:sp>
      <p:sp>
        <p:nvSpPr>
          <p:cNvPr id="3" name="Content Placeholder 2">
            <a:extLst>
              <a:ext uri="{FF2B5EF4-FFF2-40B4-BE49-F238E27FC236}">
                <a16:creationId xmlns:a16="http://schemas.microsoft.com/office/drawing/2014/main" id="{237157C1-7A3A-AC9B-369C-8CDFEAD7A84F}"/>
              </a:ext>
            </a:extLst>
          </p:cNvPr>
          <p:cNvSpPr>
            <a:spLocks noGrp="1"/>
          </p:cNvSpPr>
          <p:nvPr>
            <p:ph idx="1"/>
          </p:nvPr>
        </p:nvSpPr>
        <p:spPr>
          <a:xfrm>
            <a:off x="838199" y="1825625"/>
            <a:ext cx="11070771" cy="4351338"/>
          </a:xfrm>
        </p:spPr>
        <p:txBody>
          <a:bodyPr/>
          <a:lstStyle/>
          <a:p>
            <a:r>
              <a:rPr lang="pt-BR" dirty="0"/>
              <a:t>Veremos algumas técnicas de transformação ou pré-processamento dos dados:</a:t>
            </a:r>
          </a:p>
          <a:p>
            <a:pPr lvl="1">
              <a:buFont typeface="Wingdings" panose="05000000000000000000" pitchFamily="2" charset="2"/>
              <a:buChar char="§"/>
            </a:pPr>
            <a:r>
              <a:rPr lang="en-US" dirty="0" err="1"/>
              <a:t>Escalonamento</a:t>
            </a:r>
            <a:r>
              <a:rPr lang="en-US" dirty="0"/>
              <a:t> de </a:t>
            </a:r>
            <a:r>
              <a:rPr lang="en-US" dirty="0" err="1"/>
              <a:t>atributos</a:t>
            </a:r>
            <a:r>
              <a:rPr lang="en-US" dirty="0"/>
              <a:t>, </a:t>
            </a:r>
          </a:p>
          <a:p>
            <a:pPr lvl="1">
              <a:buFont typeface="Wingdings" panose="05000000000000000000" pitchFamily="2" charset="2"/>
              <a:buChar char="§"/>
            </a:pPr>
            <a:r>
              <a:rPr lang="en-US" dirty="0" err="1"/>
              <a:t>Codificação</a:t>
            </a:r>
            <a:r>
              <a:rPr lang="en-US" dirty="0"/>
              <a:t> de </a:t>
            </a:r>
            <a:r>
              <a:rPr lang="en-US" dirty="0" err="1"/>
              <a:t>atributos</a:t>
            </a:r>
            <a:r>
              <a:rPr lang="en-US" dirty="0"/>
              <a:t>, </a:t>
            </a:r>
          </a:p>
          <a:p>
            <a:pPr lvl="1">
              <a:buFont typeface="Wingdings" panose="05000000000000000000" pitchFamily="2" charset="2"/>
              <a:buChar char="§"/>
            </a:pPr>
            <a:r>
              <a:rPr lang="en-US" dirty="0" err="1"/>
              <a:t>Engenharia</a:t>
            </a:r>
            <a:r>
              <a:rPr lang="en-US" dirty="0"/>
              <a:t> de </a:t>
            </a:r>
            <a:r>
              <a:rPr lang="en-US" dirty="0" err="1"/>
              <a:t>atributos</a:t>
            </a:r>
            <a:r>
              <a:rPr lang="en-US" dirty="0"/>
              <a:t>, </a:t>
            </a:r>
          </a:p>
          <a:p>
            <a:pPr lvl="1">
              <a:buFont typeface="Wingdings" panose="05000000000000000000" pitchFamily="2" charset="2"/>
              <a:buChar char="§"/>
            </a:pPr>
            <a:r>
              <a:rPr lang="en-US" dirty="0" err="1"/>
              <a:t>Extração</a:t>
            </a:r>
            <a:r>
              <a:rPr lang="en-US" dirty="0"/>
              <a:t> de </a:t>
            </a:r>
            <a:r>
              <a:rPr lang="en-US" dirty="0" err="1"/>
              <a:t>atributos</a:t>
            </a:r>
            <a:r>
              <a:rPr lang="en-US" dirty="0"/>
              <a:t>,</a:t>
            </a:r>
          </a:p>
          <a:p>
            <a:pPr lvl="1">
              <a:buFont typeface="Wingdings" panose="05000000000000000000" pitchFamily="2" charset="2"/>
              <a:buChar char="§"/>
            </a:pPr>
            <a:r>
              <a:rPr lang="en-US" dirty="0" err="1"/>
              <a:t>Seleção</a:t>
            </a:r>
            <a:r>
              <a:rPr lang="en-US" dirty="0"/>
              <a:t> de </a:t>
            </a:r>
            <a:r>
              <a:rPr lang="en-US" dirty="0" err="1"/>
              <a:t>atribuitos</a:t>
            </a:r>
            <a:r>
              <a:rPr lang="en-US" dirty="0"/>
              <a:t>,</a:t>
            </a:r>
          </a:p>
          <a:p>
            <a:pPr lvl="1">
              <a:buFont typeface="Wingdings" panose="05000000000000000000" pitchFamily="2" charset="2"/>
              <a:buChar char="§"/>
            </a:pPr>
            <a:r>
              <a:rPr lang="en-US" dirty="0" err="1"/>
              <a:t>Divisão</a:t>
            </a:r>
            <a:r>
              <a:rPr lang="en-US" dirty="0"/>
              <a:t> do </a:t>
            </a:r>
            <a:r>
              <a:rPr lang="en-US" i="1" dirty="0"/>
              <a:t>dataset</a:t>
            </a:r>
            <a:r>
              <a:rPr lang="en-US" dirty="0"/>
              <a:t>.</a:t>
            </a:r>
          </a:p>
        </p:txBody>
      </p:sp>
    </p:spTree>
    <p:extLst>
      <p:ext uri="{BB962C8B-B14F-4D97-AF65-F5344CB8AC3E}">
        <p14:creationId xmlns:p14="http://schemas.microsoft.com/office/powerpoint/2010/main" val="2078483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55A6E-1BBE-1B2F-EFA7-34BD6DADFF3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8F56E1-39E7-4262-76D8-430FD829E766}"/>
                  </a:ext>
                </a:extLst>
              </p:cNvPr>
              <p:cNvSpPr>
                <a:spLocks noGrp="1"/>
              </p:cNvSpPr>
              <p:nvPr>
                <p:ph idx="1"/>
              </p:nvPr>
            </p:nvSpPr>
            <p:spPr>
              <a:xfrm>
                <a:off x="5314950" y="1825624"/>
                <a:ext cx="6681108" cy="5032375"/>
              </a:xfrm>
            </p:spPr>
            <p:txBody>
              <a:bodyPr>
                <a:normAutofit/>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8E8F56E1-39E7-4262-76D8-430FD829E766}"/>
                  </a:ext>
                </a:extLst>
              </p:cNvPr>
              <p:cNvSpPr>
                <a:spLocks noGrp="1" noRot="1" noChangeAspect="1" noMove="1" noResize="1" noEditPoints="1" noAdjustHandles="1" noChangeArrowheads="1" noChangeShapeType="1" noTextEdit="1"/>
              </p:cNvSpPr>
              <p:nvPr>
                <p:ph idx="1"/>
              </p:nvPr>
            </p:nvSpPr>
            <p:spPr>
              <a:xfrm>
                <a:off x="5314950" y="1825624"/>
                <a:ext cx="6681108" cy="5032375"/>
              </a:xfrm>
              <a:blipFill>
                <a:blip r:embed="rId3"/>
                <a:stretch>
                  <a:fillRect l="-1642" t="-1937" r="-1734"/>
                </a:stretch>
              </a:blipFill>
            </p:spPr>
            <p:txBody>
              <a:bodyPr/>
              <a:lstStyle/>
              <a:p>
                <a:r>
                  <a:rPr lang="en-US">
                    <a:noFill/>
                  </a:rPr>
                  <a:t> </a:t>
                </a:r>
              </a:p>
            </p:txBody>
          </p:sp>
        </mc:Fallback>
      </mc:AlternateContent>
      <p:pic>
        <p:nvPicPr>
          <p:cNvPr id="4098" name="Picture 2" descr="All about Feature Scaling | Towards Data Science">
            <a:extLst>
              <a:ext uri="{FF2B5EF4-FFF2-40B4-BE49-F238E27FC236}">
                <a16:creationId xmlns:a16="http://schemas.microsoft.com/office/drawing/2014/main" id="{E9F4CF00-3351-2EA1-5BB3-94F874A657C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947" t="19206" r="23305" b="15555"/>
          <a:stretch>
            <a:fillRect/>
          </a:stretch>
        </p:blipFill>
        <p:spPr bwMode="auto">
          <a:xfrm>
            <a:off x="293913" y="2038577"/>
            <a:ext cx="4855991" cy="38505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5884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7226-7B42-3182-D8AB-53A5644A3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A1BEE6-4EE6-2F0F-46BF-CB428A23F7D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CB23DF-6C9E-C6A9-F0A3-434E8D55B692}"/>
                  </a:ext>
                </a:extLst>
              </p:cNvPr>
              <p:cNvSpPr>
                <a:spLocks noGrp="1"/>
              </p:cNvSpPr>
              <p:nvPr>
                <p:ph idx="1"/>
              </p:nvPr>
            </p:nvSpPr>
            <p:spPr>
              <a:xfrm>
                <a:off x="6705601" y="1825624"/>
                <a:ext cx="5246914" cy="5032375"/>
              </a:xfrm>
            </p:spPr>
            <p:txBody>
              <a:bodyPr>
                <a:normAutofit lnSpcReduction="10000"/>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B3CB23DF-6C9E-C6A9-F0A3-434E8D55B692}"/>
                  </a:ext>
                </a:extLst>
              </p:cNvPr>
              <p:cNvSpPr>
                <a:spLocks noGrp="1" noRot="1" noChangeAspect="1" noMove="1" noResize="1" noEditPoints="1" noAdjustHandles="1" noChangeArrowheads="1" noChangeShapeType="1" noTextEdit="1"/>
              </p:cNvSpPr>
              <p:nvPr>
                <p:ph idx="1"/>
              </p:nvPr>
            </p:nvSpPr>
            <p:spPr>
              <a:xfrm>
                <a:off x="6705601" y="1825624"/>
                <a:ext cx="5246914" cy="5032375"/>
              </a:xfrm>
              <a:blipFill>
                <a:blip r:embed="rId3"/>
                <a:stretch>
                  <a:fillRect l="-2091" t="-2663" r="-278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E228E2A-3289-7CEE-B490-080A4F44354B}"/>
              </a:ext>
            </a:extLst>
          </p:cNvPr>
          <p:cNvPicPr>
            <a:picLocks noChangeAspect="1"/>
          </p:cNvPicPr>
          <p:nvPr/>
        </p:nvPicPr>
        <p:blipFill>
          <a:blip r:embed="rId4">
            <a:extLst>
              <a:ext uri="{28A0092B-C50C-407E-A947-70E740481C1C}">
                <a14:useLocalDpi xmlns:a14="http://schemas.microsoft.com/office/drawing/2010/main" val="0"/>
              </a:ext>
            </a:extLst>
          </a:blip>
          <a:srcRect t="10223"/>
          <a:stretch>
            <a:fillRect/>
          </a:stretch>
        </p:blipFill>
        <p:spPr>
          <a:xfrm>
            <a:off x="108857" y="2384466"/>
            <a:ext cx="6512302" cy="3189020"/>
          </a:xfrm>
          <a:prstGeom prst="rect">
            <a:avLst/>
          </a:prstGeom>
        </p:spPr>
      </p:pic>
    </p:spTree>
    <p:extLst>
      <p:ext uri="{BB962C8B-B14F-4D97-AF65-F5344CB8AC3E}">
        <p14:creationId xmlns:p14="http://schemas.microsoft.com/office/powerpoint/2010/main" val="731185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3B732-FD8C-AC6A-90A0-C71B105F5566}"/>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637ED040-A025-7A5E-ECF6-6400B7A21C47}"/>
              </a:ext>
            </a:extLst>
          </p:cNvPr>
          <p:cNvSpPr>
            <a:spLocks noGrp="1"/>
          </p:cNvSpPr>
          <p:nvPr>
            <p:ph idx="1"/>
          </p:nvPr>
        </p:nvSpPr>
        <p:spPr>
          <a:xfrm>
            <a:off x="5497285" y="1825624"/>
            <a:ext cx="6498771" cy="5032375"/>
          </a:xfrm>
        </p:spPr>
        <p:txBody>
          <a:bodyPr>
            <a:normAutofit/>
          </a:bodyPr>
          <a:lstStyle/>
          <a:p>
            <a:r>
              <a:rPr lang="pt-BR" dirty="0"/>
              <a:t>Modelos de ML baseados em </a:t>
            </a:r>
            <a:r>
              <a:rPr lang="pt-BR" b="1" dirty="0"/>
              <a:t>distância</a:t>
            </a:r>
            <a:r>
              <a:rPr lang="pt-BR" dirty="0"/>
              <a:t> (e.g., KNN, SVM, PCA) ou </a:t>
            </a:r>
            <a:r>
              <a:rPr lang="pt-BR" b="1" dirty="0"/>
              <a:t>gradiente</a:t>
            </a:r>
            <a:r>
              <a:rPr lang="pt-BR" dirty="0"/>
              <a:t> (e.g., regressão linear/logística, redes neurais) são sensíveis à escala dos atributos.</a:t>
            </a:r>
          </a:p>
          <a:p>
            <a:r>
              <a:rPr lang="pt-BR" dirty="0"/>
              <a:t>Atributos com escala muito maior influenciam muito mais a previsão dos modelos do que atributos com escala menor.</a:t>
            </a:r>
          </a:p>
          <a:p>
            <a:pPr lvl="1">
              <a:buFont typeface="Wingdings" panose="05000000000000000000" pitchFamily="2" charset="2"/>
              <a:buChar char="§"/>
            </a:pPr>
            <a:r>
              <a:rPr lang="pt-BR" dirty="0"/>
              <a:t>No exemplo da previsão do preço de casas, o modelo ignoraria os quartos e focaria só na área.</a:t>
            </a:r>
          </a:p>
        </p:txBody>
      </p:sp>
      <p:pic>
        <p:nvPicPr>
          <p:cNvPr id="5122" name="Picture 2" descr="Why Feature Scaling Is Essential in Machine Learning | by Jack Ka-Chun, Yu  | Learning Data | Medium">
            <a:extLst>
              <a:ext uri="{FF2B5EF4-FFF2-40B4-BE49-F238E27FC236}">
                <a16:creationId xmlns:a16="http://schemas.microsoft.com/office/drawing/2014/main" id="{99B43FBF-4616-53AA-030A-E722F67C4B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505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1FC5D-6FEC-A156-FC5A-F69925275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CAF9A-32DA-5822-59B2-8972B59B9FCF}"/>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BF6B24C7-41C3-6780-C1B8-EBBB5A57F866}"/>
              </a:ext>
            </a:extLst>
          </p:cNvPr>
          <p:cNvSpPr>
            <a:spLocks noGrp="1"/>
          </p:cNvSpPr>
          <p:nvPr>
            <p:ph idx="1"/>
          </p:nvPr>
        </p:nvSpPr>
        <p:spPr>
          <a:xfrm>
            <a:off x="5464629" y="1825624"/>
            <a:ext cx="6542314" cy="5032375"/>
          </a:xfrm>
        </p:spPr>
        <p:txBody>
          <a:bodyPr>
            <a:normAutofit/>
          </a:bodyPr>
          <a:lstStyle/>
          <a:p>
            <a:r>
              <a:rPr lang="pt-BR" dirty="0"/>
              <a:t>Mas e se todos os atributos são importantes para a previsão do modelo?</a:t>
            </a:r>
          </a:p>
          <a:p>
            <a:r>
              <a:rPr lang="pt-BR" dirty="0"/>
              <a:t>O escalonamento iguala a influência dos atributos no modelo.</a:t>
            </a:r>
          </a:p>
          <a:p>
            <a:r>
              <a:rPr lang="pt-BR" dirty="0"/>
              <a:t>Escalonamento transforma valores de atributos para uma mesma escala, geralmente sem unidade definida.</a:t>
            </a:r>
          </a:p>
          <a:p>
            <a:r>
              <a:rPr lang="pt-BR" dirty="0"/>
              <a:t>Principais técnicas de escalonamento:</a:t>
            </a:r>
          </a:p>
          <a:p>
            <a:pPr lvl="1">
              <a:buFont typeface="Wingdings" panose="05000000000000000000" pitchFamily="2" charset="2"/>
              <a:buChar char="§"/>
            </a:pPr>
            <a:r>
              <a:rPr lang="pt-BR" dirty="0"/>
              <a:t>Padronização</a:t>
            </a:r>
          </a:p>
          <a:p>
            <a:pPr lvl="1">
              <a:buFont typeface="Wingdings" panose="05000000000000000000" pitchFamily="2" charset="2"/>
              <a:buChar char="§"/>
            </a:pPr>
            <a:r>
              <a:rPr lang="pt-BR" dirty="0"/>
              <a:t>Normalização</a:t>
            </a:r>
          </a:p>
          <a:p>
            <a:pPr lvl="1">
              <a:buFont typeface="Wingdings" panose="05000000000000000000" pitchFamily="2" charset="2"/>
              <a:buChar char="§"/>
            </a:pPr>
            <a:r>
              <a:rPr lang="pt-BR" dirty="0"/>
              <a:t>Escalonamento robusto</a:t>
            </a:r>
          </a:p>
          <a:p>
            <a:pPr lvl="1"/>
            <a:endParaRPr lang="pt-BR" b="1" dirty="0"/>
          </a:p>
        </p:txBody>
      </p:sp>
      <p:pic>
        <p:nvPicPr>
          <p:cNvPr id="4" name="Picture 2" descr="Why Feature Scaling Is Essential in Machine Learning | by Jack Ka-Chun, Yu  | Learning Data | Medium">
            <a:extLst>
              <a:ext uri="{FF2B5EF4-FFF2-40B4-BE49-F238E27FC236}">
                <a16:creationId xmlns:a16="http://schemas.microsoft.com/office/drawing/2014/main" id="{BB65CFC1-6B1D-D444-7DAB-75B58C5A828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5983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E4DD6-C949-62F0-7FF2-D821C5B36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0504D-CF81-0763-876C-200B893A15F3}"/>
              </a:ext>
            </a:extLst>
          </p:cNvPr>
          <p:cNvSpPr>
            <a:spLocks noGrp="1"/>
          </p:cNvSpPr>
          <p:nvPr>
            <p:ph type="title"/>
          </p:nvPr>
        </p:nvSpPr>
        <p:spPr/>
        <p:txBody>
          <a:bodyPr/>
          <a:lstStyle/>
          <a:p>
            <a:r>
              <a:rPr lang="en-US" dirty="0" err="1"/>
              <a:t>Normalização</a:t>
            </a:r>
            <a:r>
              <a:rPr lang="en-US" dirty="0"/>
              <a:t> (Min-Max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AE468C-2D90-73D6-314C-18370D8F7415}"/>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Transforma todos os valores numéricos para uma escala fixa, geralmente entre 0 e 1.</a:t>
                </a:r>
                <a:endParaRPr lang="pt-BR" b="1" dirty="0"/>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 1],</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p:txBody>
          </p:sp>
        </mc:Choice>
        <mc:Fallback xmlns="">
          <p:sp>
            <p:nvSpPr>
              <p:cNvPr id="3" name="Content Placeholder 2">
                <a:extLst>
                  <a:ext uri="{FF2B5EF4-FFF2-40B4-BE49-F238E27FC236}">
                    <a16:creationId xmlns:a16="http://schemas.microsoft.com/office/drawing/2014/main" id="{D1AE468C-2D90-73D6-314C-18370D8F7415}"/>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1937"/>
                </a:stretch>
              </a:blipFill>
            </p:spPr>
            <p:txBody>
              <a:bodyPr/>
              <a:lstStyle/>
              <a:p>
                <a:r>
                  <a:rPr lang="en-US">
                    <a:noFill/>
                  </a:rPr>
                  <a:t> </a:t>
                </a:r>
              </a:p>
            </p:txBody>
          </p:sp>
        </mc:Fallback>
      </mc:AlternateContent>
    </p:spTree>
    <p:extLst>
      <p:ext uri="{BB962C8B-B14F-4D97-AF65-F5344CB8AC3E}">
        <p14:creationId xmlns:p14="http://schemas.microsoft.com/office/powerpoint/2010/main" val="1023058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A9B45-E0AC-C9AE-5FD5-5497AD766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6165C-B0D9-0375-517C-218CA055B30C}"/>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42C156B7-5901-102A-9736-A2EAAA0CF708}"/>
              </a:ext>
            </a:extLst>
          </p:cNvPr>
          <p:cNvSpPr>
            <a:spLocks noGrp="1"/>
          </p:cNvSpPr>
          <p:nvPr>
            <p:ph idx="1"/>
          </p:nvPr>
        </p:nvSpPr>
        <p:spPr>
          <a:xfrm>
            <a:off x="838199" y="1825624"/>
            <a:ext cx="11179630" cy="5032375"/>
          </a:xfrm>
        </p:spPr>
        <p:txBody>
          <a:bodyPr>
            <a:normAutofit/>
          </a:bodyPr>
          <a:lstStyle/>
          <a:p>
            <a:r>
              <a:rPr lang="pt-BR" b="1" dirty="0"/>
              <a:t>Quando usar:</a:t>
            </a:r>
            <a:r>
              <a:rPr lang="pt-BR" dirty="0"/>
              <a:t> </a:t>
            </a:r>
          </a:p>
          <a:p>
            <a:pPr lvl="1">
              <a:buFont typeface="Wingdings" panose="05000000000000000000" pitchFamily="2" charset="2"/>
              <a:buChar char="§"/>
            </a:pPr>
            <a:r>
              <a:rPr lang="pt-BR" dirty="0"/>
              <a:t>Dados sem </a:t>
            </a:r>
            <a:r>
              <a:rPr lang="pt-BR" i="1" dirty="0"/>
              <a:t>outliers</a:t>
            </a:r>
            <a:r>
              <a:rPr lang="pt-BR" dirty="0"/>
              <a:t> (analisar e remover antes), </a:t>
            </a:r>
          </a:p>
          <a:p>
            <a:pPr lvl="1">
              <a:buFont typeface="Wingdings" panose="05000000000000000000" pitchFamily="2" charset="2"/>
              <a:buChar char="§"/>
            </a:pPr>
            <a:r>
              <a:rPr lang="pt-BR" dirty="0"/>
              <a:t>com algoritmos que não pressupõem nenhuma distribuição (e.g., redes neurais, KNN) </a:t>
            </a:r>
          </a:p>
          <a:p>
            <a:pPr lvl="1">
              <a:buFont typeface="Wingdings" panose="05000000000000000000" pitchFamily="2" charset="2"/>
              <a:buChar char="§"/>
            </a:pPr>
            <a:r>
              <a:rPr lang="pt-BR" dirty="0"/>
              <a:t>e/ou que algoritmos que exigem entradas limitadas como os baseados em distância (e.g., </a:t>
            </a:r>
            <a:r>
              <a:rPr lang="en-US" dirty="0"/>
              <a:t>KNN, SVM, K-Means)</a:t>
            </a:r>
            <a:r>
              <a:rPr lang="pt-BR" dirty="0"/>
              <a:t> e gradiente (</a:t>
            </a:r>
            <a:r>
              <a:rPr lang="en-US" dirty="0"/>
              <a:t>Redes </a:t>
            </a:r>
            <a:r>
              <a:rPr lang="en-US" dirty="0" err="1"/>
              <a:t>Neurais</a:t>
            </a:r>
            <a:r>
              <a:rPr lang="en-US" dirty="0"/>
              <a:t>, </a:t>
            </a:r>
            <a:r>
              <a:rPr lang="en-US" dirty="0" err="1"/>
              <a:t>Regressões</a:t>
            </a:r>
            <a:r>
              <a:rPr lang="pt-BR" dirty="0"/>
              <a:t>).</a:t>
            </a:r>
          </a:p>
          <a:p>
            <a:r>
              <a:rPr lang="pt-BR" b="1" dirty="0"/>
              <a:t>Cuidado:</a:t>
            </a:r>
            <a:r>
              <a:rPr lang="pt-BR" dirty="0"/>
              <a:t> Muito sensível a </a:t>
            </a:r>
            <a:r>
              <a:rPr lang="pt-BR" i="1" dirty="0"/>
              <a:t>outliers. </a:t>
            </a:r>
            <a:r>
              <a:rPr lang="pt-BR" dirty="0"/>
              <a:t>Um </a:t>
            </a:r>
            <a:r>
              <a:rPr lang="pt-BR" i="1" dirty="0"/>
              <a:t>outlier</a:t>
            </a:r>
            <a:r>
              <a:rPr lang="pt-BR" dirty="0"/>
              <a:t> extremo “esmaga” todos os outros valores para um intervalo muito pequeno próximo de zero.</a:t>
            </a:r>
          </a:p>
          <a:p>
            <a:pPr lvl="1">
              <a:buFont typeface="Wingdings" panose="05000000000000000000" pitchFamily="2" charset="2"/>
              <a:buChar char="§"/>
            </a:pPr>
            <a:r>
              <a:rPr lang="pt-BR" dirty="0"/>
              <a:t>Os valores (que não são </a:t>
            </a:r>
            <a:r>
              <a:rPr lang="pt-BR" i="1" dirty="0"/>
              <a:t>outliers</a:t>
            </a:r>
            <a:r>
              <a:rPr lang="pt-BR" dirty="0"/>
              <a:t>) acabam sendo transformados em valores muito pequenos, próximos de zero, perdendo a distinção entre eles.</a:t>
            </a:r>
          </a:p>
          <a:p>
            <a:pPr lvl="1">
              <a:buFont typeface="Wingdings" panose="05000000000000000000" pitchFamily="2" charset="2"/>
              <a:buChar char="§"/>
            </a:pPr>
            <a:r>
              <a:rPr lang="pt-BR" dirty="0"/>
              <a:t>Isso reduz a eficácia do aprendizado, pois a diferença entre os valores reais é praticamente eliminada na escala normalizada. </a:t>
            </a:r>
          </a:p>
        </p:txBody>
      </p:sp>
    </p:spTree>
    <p:extLst>
      <p:ext uri="{BB962C8B-B14F-4D97-AF65-F5344CB8AC3E}">
        <p14:creationId xmlns:p14="http://schemas.microsoft.com/office/powerpoint/2010/main" val="924674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562E0-2AE8-02FC-9DCC-C800C0195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BB7EC-614D-E681-2988-577536743FD0}"/>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7A472B20-73AA-CEC0-1896-5F09B228AB36}"/>
              </a:ext>
            </a:extLst>
          </p:cNvPr>
          <p:cNvSpPr>
            <a:spLocks noGrp="1"/>
          </p:cNvSpPr>
          <p:nvPr>
            <p:ph idx="1"/>
          </p:nvPr>
        </p:nvSpPr>
        <p:spPr>
          <a:xfrm>
            <a:off x="838199" y="1825624"/>
            <a:ext cx="11179630" cy="5032375"/>
          </a:xfrm>
        </p:spPr>
        <p:txBody>
          <a:bodyPr>
            <a:normAutofit lnSpcReduction="10000"/>
          </a:bodyPr>
          <a:lstStyle/>
          <a:p>
            <a:pPr marL="0" indent="0">
              <a:buNone/>
            </a:pPr>
            <a:r>
              <a:rPr lang="pt-BR" dirty="0" err="1">
                <a:latin typeface="Consolas" panose="020B0609020204030204" pitchFamily="49" charset="0"/>
              </a:rPr>
              <a:t>from</a:t>
            </a:r>
            <a:r>
              <a:rPr lang="pt-BR" dirty="0">
                <a:latin typeface="Consolas" panose="020B0609020204030204" pitchFamily="49" charset="0"/>
              </a:rPr>
              <a:t> </a:t>
            </a:r>
            <a:r>
              <a:rPr lang="pt-BR" dirty="0" err="1">
                <a:latin typeface="Consolas" panose="020B0609020204030204" pitchFamily="49" charset="0"/>
              </a:rPr>
              <a:t>sklearn.preprocessing</a:t>
            </a:r>
            <a:r>
              <a:rPr lang="pt-BR" dirty="0">
                <a:latin typeface="Consolas" panose="020B0609020204030204" pitchFamily="49" charset="0"/>
              </a:rPr>
              <a:t> </a:t>
            </a:r>
            <a:r>
              <a:rPr lang="pt-BR" dirty="0" err="1">
                <a:latin typeface="Consolas" panose="020B0609020204030204" pitchFamily="49" charset="0"/>
              </a:rPr>
              <a:t>import</a:t>
            </a:r>
            <a:r>
              <a:rPr lang="pt-BR" dirty="0">
                <a:latin typeface="Consolas" panose="020B0609020204030204" pitchFamily="49" charset="0"/>
              </a:rPr>
              <a:t> </a:t>
            </a:r>
            <a:r>
              <a:rPr lang="pt-BR" dirty="0" err="1">
                <a:latin typeface="Consolas" panose="020B0609020204030204" pitchFamily="49" charset="0"/>
              </a:rPr>
              <a:t>MinMaxScaler</a:t>
            </a:r>
            <a:endParaRPr lang="pt-BR"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normalizador</a:t>
            </a:r>
            <a:r>
              <a:rPr lang="en-US" i="1" dirty="0">
                <a:latin typeface="Consolas" panose="020B0609020204030204" pitchFamily="49" charset="0"/>
              </a:rPr>
              <a:t> com </a:t>
            </a:r>
            <a:r>
              <a:rPr lang="en-US" i="1" dirty="0" err="1">
                <a:latin typeface="Consolas" panose="020B0609020204030204" pitchFamily="49" charset="0"/>
              </a:rPr>
              <a:t>intervalo</a:t>
            </a:r>
            <a:r>
              <a:rPr lang="en-US" i="1" dirty="0">
                <a:latin typeface="Consolas" panose="020B0609020204030204" pitchFamily="49" charset="0"/>
              </a:rPr>
              <a:t> de 0 a 1</a:t>
            </a:r>
          </a:p>
          <a:p>
            <a:pPr marL="0" indent="0">
              <a:buNone/>
            </a:pPr>
            <a:r>
              <a:rPr lang="en-US" dirty="0">
                <a:latin typeface="Consolas" panose="020B0609020204030204" pitchFamily="49" charset="0"/>
              </a:rPr>
              <a:t>scaler = </a:t>
            </a:r>
            <a:r>
              <a:rPr lang="pt-BR" dirty="0" err="1">
                <a:latin typeface="Consolas" panose="020B0609020204030204" pitchFamily="49" charset="0"/>
              </a:rPr>
              <a:t>MinMaxScaler</a:t>
            </a:r>
            <a:r>
              <a:rPr lang="en-US" dirty="0">
                <a:latin typeface="Consolas" panose="020B0609020204030204" pitchFamily="49" charset="0"/>
              </a:rPr>
              <a:t>(</a:t>
            </a:r>
            <a:r>
              <a:rPr lang="en-US" dirty="0" err="1">
                <a:latin typeface="Consolas" panose="020B0609020204030204" pitchFamily="49" charset="0"/>
              </a:rPr>
              <a:t>feature_range</a:t>
            </a:r>
            <a:r>
              <a:rPr lang="en-US" dirty="0">
                <a:latin typeface="Consolas" panose="020B0609020204030204" pitchFamily="49" charset="0"/>
              </a:rPr>
              <a:t>=(0, 1))</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normalização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a:p>
            <a:pPr marL="0" indent="0">
              <a:buNone/>
            </a:pPr>
            <a:endParaRPr lang="pt-BR" dirty="0">
              <a:latin typeface="Consolas" panose="020B0609020204030204" pitchFamily="49" charset="0"/>
            </a:endParaRPr>
          </a:p>
        </p:txBody>
      </p:sp>
    </p:spTree>
    <p:extLst>
      <p:ext uri="{BB962C8B-B14F-4D97-AF65-F5344CB8AC3E}">
        <p14:creationId xmlns:p14="http://schemas.microsoft.com/office/powerpoint/2010/main" val="37375293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7E27A-F64F-BD37-64AC-DCE4D923E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24F9A-6932-BA2B-0C8B-88280995A611}"/>
              </a:ext>
            </a:extLst>
          </p:cNvPr>
          <p:cNvSpPr>
            <a:spLocks noGrp="1"/>
          </p:cNvSpPr>
          <p:nvPr>
            <p:ph type="title"/>
          </p:nvPr>
        </p:nvSpPr>
        <p:spPr/>
        <p:txBody>
          <a:bodyPr/>
          <a:lstStyle/>
          <a:p>
            <a:r>
              <a:rPr lang="en-US" dirty="0" err="1"/>
              <a:t>Padronização</a:t>
            </a:r>
            <a:r>
              <a:rPr lang="en-US" dirty="0"/>
              <a:t> (Standard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E7A4F3-D98D-3713-FDAB-EE34883FF2A8}"/>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Transforma os atributos para terem média 0 e desvio padrão 1, não impondo limites.</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𝜇</m:t>
                              </m:r>
                            </m:e>
                            <m:sub>
                              <m:r>
                                <a:rPr lang="pt-BR" b="0" i="1" smtClean="0">
                                  <a:latin typeface="Cambria Math" panose="02040503050406030204" pitchFamily="18" charset="0"/>
                                </a:rPr>
                                <m:t>𝑥</m:t>
                              </m:r>
                            </m:sub>
                          </m:sSub>
                        </m:num>
                        <m:den>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𝜎</m:t>
                              </m:r>
                            </m:e>
                            <m:sub>
                              <m:r>
                                <a:rPr lang="pt-BR" b="0" i="1" smtClean="0">
                                  <a:latin typeface="Cambria Math" panose="02040503050406030204" pitchFamily="18" charset="0"/>
                                </a:rPr>
                                <m:t>𝑥</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𝜇</m:t>
                        </m:r>
                      </m:e>
                      <m:sub>
                        <m:r>
                          <a:rPr lang="pt-BR" i="1">
                            <a:latin typeface="Cambria Math" panose="02040503050406030204" pitchFamily="18" charset="0"/>
                          </a:rPr>
                          <m:t>𝑥</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𝜎</m:t>
                        </m:r>
                      </m:e>
                      <m:sub>
                        <m:r>
                          <a:rPr lang="pt-BR" i="1">
                            <a:latin typeface="Cambria Math" panose="02040503050406030204" pitchFamily="18" charset="0"/>
                          </a:rPr>
                          <m:t>𝑥</m:t>
                        </m:r>
                      </m:sub>
                    </m:sSub>
                  </m:oMath>
                </a14:m>
                <a:r>
                  <a:rPr lang="pt-BR" dirty="0"/>
                  <a:t> são a média e o desvio padrão de uma coluna (i.e., atributo).</a:t>
                </a:r>
              </a:p>
              <a:p>
                <a:r>
                  <a:rPr lang="pt-BR" b="1" dirty="0"/>
                  <a:t>Vantagens</a:t>
                </a:r>
                <a:r>
                  <a:rPr lang="pt-BR" dirty="0"/>
                  <a:t>: </a:t>
                </a:r>
              </a:p>
              <a:p>
                <a:pPr lvl="1">
                  <a:buFont typeface="Wingdings" panose="05000000000000000000" pitchFamily="2" charset="2"/>
                  <a:buChar char="§"/>
                </a:pPr>
                <a:r>
                  <a:rPr lang="pt-BR" dirty="0"/>
                  <a:t>Torna os dados "comparáveis" em termos do número de desvios padrão da média.</a:t>
                </a:r>
              </a:p>
              <a:p>
                <a:pPr lvl="1">
                  <a:buFont typeface="Wingdings" panose="05000000000000000000" pitchFamily="2" charset="2"/>
                  <a:buChar char="§"/>
                </a:pPr>
                <a:r>
                  <a:rPr lang="pt-BR" dirty="0"/>
                  <a:t>Mais robusto a </a:t>
                </a:r>
                <a:r>
                  <a:rPr lang="pt-BR" i="1" dirty="0"/>
                  <a:t>outliers</a:t>
                </a:r>
                <a:r>
                  <a:rPr lang="pt-BR" dirty="0"/>
                  <a:t>, mas não a </a:t>
                </a:r>
                <a:r>
                  <a:rPr lang="pt-BR" i="1" dirty="0"/>
                  <a:t>outliers</a:t>
                </a:r>
                <a:r>
                  <a:rPr lang="pt-BR" dirty="0"/>
                  <a:t> extremos.</a:t>
                </a:r>
              </a:p>
              <a:p>
                <a:pPr lvl="2">
                  <a:buFont typeface="Wingdings" panose="05000000000000000000" pitchFamily="2" charset="2"/>
                  <a:buChar char="§"/>
                </a:pPr>
                <a:r>
                  <a:rPr lang="pt-BR" dirty="0"/>
                  <a:t>Por não dividir os valores por um denominador muito grande, no caso da presença de </a:t>
                </a:r>
                <a:r>
                  <a:rPr lang="pt-BR" i="1" dirty="0"/>
                  <a:t>outliers</a:t>
                </a:r>
                <a:r>
                  <a:rPr lang="pt-BR" dirty="0"/>
                  <a:t>, não os transforma em valores próximos de zero e, portanto, não se perde a distinção entre eles.</a:t>
                </a:r>
              </a:p>
            </p:txBody>
          </p:sp>
        </mc:Choice>
        <mc:Fallback xmlns="">
          <p:sp>
            <p:nvSpPr>
              <p:cNvPr id="3" name="Content Placeholder 2">
                <a:extLst>
                  <a:ext uri="{FF2B5EF4-FFF2-40B4-BE49-F238E27FC236}">
                    <a16:creationId xmlns:a16="http://schemas.microsoft.com/office/drawing/2014/main" id="{E4E7A4F3-D98D-3713-FDAB-EE34883FF2A8}"/>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a:stretch>
              </a:blipFill>
            </p:spPr>
            <p:txBody>
              <a:bodyPr/>
              <a:lstStyle/>
              <a:p>
                <a:r>
                  <a:rPr lang="en-US">
                    <a:noFill/>
                  </a:rPr>
                  <a:t> </a:t>
                </a:r>
              </a:p>
            </p:txBody>
          </p:sp>
        </mc:Fallback>
      </mc:AlternateContent>
    </p:spTree>
    <p:extLst>
      <p:ext uri="{BB962C8B-B14F-4D97-AF65-F5344CB8AC3E}">
        <p14:creationId xmlns:p14="http://schemas.microsoft.com/office/powerpoint/2010/main" val="38910390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55876-1E2F-A829-24D7-6E67D43437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15A8A1-ABB5-8D3A-D7B8-B702B33BEB9C}"/>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CEE08648-F204-3557-03A6-4A8A9392651A}"/>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Em geral, com algoritmos que assumem distribuição "normal" ou Gaussiana (e.g., GNB</a:t>
            </a:r>
            <a:r>
              <a:rPr lang="en-US" dirty="0"/>
              <a:t>, GMM, </a:t>
            </a:r>
            <a:r>
              <a:rPr lang="en-US" dirty="0" err="1"/>
              <a:t>alguns</a:t>
            </a:r>
            <a:r>
              <a:rPr lang="en-US" dirty="0"/>
              <a:t> </a:t>
            </a:r>
            <a:r>
              <a:rPr lang="en-US" dirty="0" err="1"/>
              <a:t>modelos</a:t>
            </a:r>
            <a:r>
              <a:rPr lang="en-US" dirty="0"/>
              <a:t> para </a:t>
            </a:r>
            <a:r>
              <a:rPr lang="en-US" dirty="0" err="1"/>
              <a:t>detecção</a:t>
            </a:r>
            <a:r>
              <a:rPr lang="en-US" dirty="0"/>
              <a:t> de </a:t>
            </a:r>
            <a:r>
              <a:rPr lang="en-US" dirty="0" err="1"/>
              <a:t>anomalias</a:t>
            </a:r>
            <a:r>
              <a:rPr lang="en-US" dirty="0"/>
              <a:t>)</a:t>
            </a:r>
            <a:r>
              <a:rPr lang="pt-BR" dirty="0"/>
              <a:t>, e </a:t>
            </a:r>
          </a:p>
          <a:p>
            <a:pPr lvl="1">
              <a:buFont typeface="Wingdings" panose="05000000000000000000" pitchFamily="2" charset="2"/>
              <a:buChar char="§"/>
            </a:pPr>
            <a:r>
              <a:rPr lang="pt-BR" dirty="0"/>
              <a:t>quando os dados possuem </a:t>
            </a:r>
            <a:r>
              <a:rPr lang="pt-BR" i="1" dirty="0"/>
              <a:t>outliers</a:t>
            </a:r>
            <a:r>
              <a:rPr lang="en-US" dirty="0"/>
              <a:t>.</a:t>
            </a:r>
            <a:endParaRPr lang="pt-BR" dirty="0"/>
          </a:p>
          <a:p>
            <a:r>
              <a:rPr lang="pt-BR" b="1" dirty="0"/>
              <a:t>Cuidado: </a:t>
            </a:r>
            <a:r>
              <a:rPr lang="pt-BR" dirty="0"/>
              <a:t>Se os dados originais são assimétricos, eles continuarão assimétricos, apenas centralizados e com variância igual a 1. </a:t>
            </a:r>
          </a:p>
          <a:p>
            <a:r>
              <a:rPr lang="pt-BR" b="1" dirty="0"/>
              <a:t>Importante:</a:t>
            </a:r>
            <a:r>
              <a:rPr lang="pt-BR" dirty="0"/>
              <a:t> Se o conjunto de dados tiver </a:t>
            </a:r>
            <a:r>
              <a:rPr lang="pt-BR" i="1" dirty="0"/>
              <a:t>outliers</a:t>
            </a:r>
            <a:r>
              <a:rPr lang="pt-BR" dirty="0"/>
              <a:t> extremos, o escalonador robusto é uma opção superior à padronização, pois ignora os valores discrepantes no cálculo do escalonamento.</a:t>
            </a:r>
          </a:p>
          <a:p>
            <a:pPr lvl="1">
              <a:buFont typeface="Wingdings" panose="05000000000000000000" pitchFamily="2" charset="2"/>
              <a:buChar char="§"/>
            </a:pPr>
            <a:r>
              <a:rPr lang="pt-BR" i="1" dirty="0"/>
              <a:t>Outliers</a:t>
            </a:r>
            <a:r>
              <a:rPr lang="pt-BR" dirty="0"/>
              <a:t> podem influenciar a média e variância dos atributos de forma negativa.</a:t>
            </a:r>
          </a:p>
        </p:txBody>
      </p:sp>
    </p:spTree>
    <p:extLst>
      <p:ext uri="{BB962C8B-B14F-4D97-AF65-F5344CB8AC3E}">
        <p14:creationId xmlns:p14="http://schemas.microsoft.com/office/powerpoint/2010/main" val="34479378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77714-D30D-81C3-3BE9-7601747F5F66}"/>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1CD4492A-4A23-9842-8A7E-76151D3DB0D1}"/>
              </a:ext>
            </a:extLst>
          </p:cNvPr>
          <p:cNvSpPr>
            <a:spLocks noGrp="1"/>
          </p:cNvSpPr>
          <p:nvPr>
            <p:ph idx="1"/>
          </p:nvPr>
        </p:nvSpPr>
        <p:spPr>
          <a:xfrm>
            <a:off x="838199" y="1825624"/>
            <a:ext cx="10994571"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StandardScaler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padronizador</a:t>
            </a:r>
            <a:endParaRPr lang="en-US" i="1"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StandardScaler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padronização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16908145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4F0F9-20D7-154F-370F-D835643F1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CDABA-9A41-573A-0CB1-602907ED9D70}"/>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F3830B-DEF6-A0F3-3AF2-EBB9B6E8B5C1}"/>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Usa mediana e distância interquartil no escalonamento.</a:t>
                </a:r>
                <a:endParaRPr lang="pt-BR" b="1" dirty="0">
                  <a:solidFill>
                    <a:srgbClr val="FF0000"/>
                  </a:solidFill>
                </a:endParaRP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r>
                            <m:rPr>
                              <m:sty m:val="p"/>
                            </m:rPr>
                            <a:rPr lang="pt-BR" b="0" i="0" smtClean="0">
                              <a:latin typeface="Cambria Math" panose="02040503050406030204" pitchFamily="18" charset="0"/>
                            </a:rPr>
                            <m:t>mediana</m:t>
                          </m:r>
                        </m:num>
                        <m:den>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i="1">
                                          <a:latin typeface="Cambria Math" panose="02040503050406030204" pitchFamily="18" charset="0"/>
                                        </a:rPr>
                                        <m:t>1</m:t>
                                      </m:r>
                                    </m:sub>
                                  </m:sSub>
                                </m:e>
                              </m:groupChr>
                            </m:e>
                            <m:lim>
                              <m:r>
                                <m:rPr>
                                  <m:sty m:val="p"/>
                                </m:rPr>
                                <a:rPr lang="pt-BR" b="0" i="0" smtClean="0">
                                  <a:latin typeface="Cambria Math" panose="02040503050406030204" pitchFamily="18" charset="0"/>
                                </a:rPr>
                                <m:t>IQR</m:t>
                              </m:r>
                            </m:lim>
                          </m:limLow>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e </a:t>
                </a:r>
                <a14:m>
                  <m:oMath xmlns:m="http://schemas.openxmlformats.org/officeDocument/2006/math">
                    <m:r>
                      <m:rPr>
                        <m:sty m:val="p"/>
                      </m:rPr>
                      <a:rPr lang="pt-BR">
                        <a:latin typeface="Cambria Math" panose="02040503050406030204" pitchFamily="18" charset="0"/>
                      </a:rPr>
                      <m:t>IQR</m:t>
                    </m:r>
                  </m:oMath>
                </a14:m>
                <a:r>
                  <a:rPr lang="pt-BR" dirty="0"/>
                  <a:t> é a distância interquartil de um atributo.</a:t>
                </a:r>
              </a:p>
              <a:p>
                <a:r>
                  <a:rPr lang="pt-BR" b="1" dirty="0"/>
                  <a:t>Vantagem</a:t>
                </a:r>
                <a:r>
                  <a:rPr lang="pt-BR" dirty="0"/>
                  <a:t>: Por utilizar a mediana e o </a:t>
                </a:r>
                <a14:m>
                  <m:oMath xmlns:m="http://schemas.openxmlformats.org/officeDocument/2006/math">
                    <m:r>
                      <m:rPr>
                        <m:sty m:val="p"/>
                      </m:rPr>
                      <a:rPr lang="pt-BR">
                        <a:latin typeface="Cambria Math" panose="02040503050406030204" pitchFamily="18" charset="0"/>
                      </a:rPr>
                      <m:t>IQR</m:t>
                    </m:r>
                  </m:oMath>
                </a14:m>
                <a:r>
                  <a:rPr lang="pt-BR" dirty="0"/>
                  <a:t> em vez da média e do desvio padrão, os </a:t>
                </a:r>
                <a:r>
                  <a:rPr lang="pt-BR" i="1" dirty="0"/>
                  <a:t>outliers</a:t>
                </a:r>
                <a:r>
                  <a:rPr lang="pt-BR" dirty="0"/>
                  <a:t> têm influência mínima nos dados escalonados.</a:t>
                </a:r>
              </a:p>
              <a:p>
                <a:pPr lvl="1">
                  <a:buFont typeface="Wingdings" panose="05000000000000000000" pitchFamily="2" charset="2"/>
                  <a:buChar char="§"/>
                </a:pPr>
                <a:r>
                  <a:rPr lang="pt-BR" dirty="0"/>
                  <a:t>Mantém a relação de distância entre os valores não-discrepantes melhor que a padronização quando existem </a:t>
                </a:r>
                <a:r>
                  <a:rPr lang="pt-BR" i="1" dirty="0"/>
                  <a:t>outliers</a:t>
                </a:r>
                <a:r>
                  <a:rPr lang="pt-BR" dirty="0"/>
                  <a:t> extremos.</a:t>
                </a:r>
              </a:p>
              <a:p>
                <a:pPr lvl="1">
                  <a:buFont typeface="Wingdings" panose="05000000000000000000" pitchFamily="2" charset="2"/>
                  <a:buChar char="§"/>
                </a:pPr>
                <a:r>
                  <a:rPr lang="pt-BR" dirty="0"/>
                  <a:t>Ou seja, não deixa que </a:t>
                </a:r>
                <a:r>
                  <a:rPr lang="pt-BR" i="1" dirty="0"/>
                  <a:t>outliers</a:t>
                </a:r>
                <a:r>
                  <a:rPr lang="pt-BR" dirty="0"/>
                  <a:t> extremos esmaguem os valores não-discrepantes em valores próximos de 0.</a:t>
                </a:r>
              </a:p>
            </p:txBody>
          </p:sp>
        </mc:Choice>
        <mc:Fallback xmlns="">
          <p:sp>
            <p:nvSpPr>
              <p:cNvPr id="3" name="Content Placeholder 2">
                <a:extLst>
                  <a:ext uri="{FF2B5EF4-FFF2-40B4-BE49-F238E27FC236}">
                    <a16:creationId xmlns:a16="http://schemas.microsoft.com/office/drawing/2014/main" id="{D8F3830B-DEF6-A0F3-3AF2-EBB9B6E8B5C1}"/>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r="-751" b="-1816"/>
                </a:stretch>
              </a:blipFill>
            </p:spPr>
            <p:txBody>
              <a:bodyPr/>
              <a:lstStyle/>
              <a:p>
                <a:r>
                  <a:rPr lang="en-US">
                    <a:noFill/>
                  </a:rPr>
                  <a:t> </a:t>
                </a:r>
              </a:p>
            </p:txBody>
          </p:sp>
        </mc:Fallback>
      </mc:AlternateContent>
    </p:spTree>
    <p:extLst>
      <p:ext uri="{BB962C8B-B14F-4D97-AF65-F5344CB8AC3E}">
        <p14:creationId xmlns:p14="http://schemas.microsoft.com/office/powerpoint/2010/main" val="1309608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E9AD0-32FE-7BB6-65F1-4C9F82FC99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EB2E1-2720-CBAD-00A2-4211C0FA6998}"/>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3FFCF40E-198B-DB74-AFFD-EA10FEF889B4}"/>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Quando há </a:t>
            </a:r>
            <a:r>
              <a:rPr lang="pt-BR" i="1" dirty="0"/>
              <a:t>outliers</a:t>
            </a:r>
            <a:r>
              <a:rPr lang="pt-BR" dirty="0"/>
              <a:t> significativos, mas desejamos mantê-los sem impactar o escalonamento. </a:t>
            </a:r>
          </a:p>
          <a:p>
            <a:pPr lvl="1">
              <a:buFont typeface="Wingdings" panose="05000000000000000000" pitchFamily="2" charset="2"/>
              <a:buChar char="§"/>
            </a:pPr>
            <a:r>
              <a:rPr lang="pt-BR" dirty="0"/>
              <a:t>Quando as distribuições são assimétricas ou com caudas longas.</a:t>
            </a:r>
          </a:p>
          <a:p>
            <a:r>
              <a:rPr lang="pt-BR" b="1" dirty="0"/>
              <a:t>Cuidado: </a:t>
            </a:r>
          </a:p>
          <a:p>
            <a:pPr lvl="1">
              <a:buFont typeface="Wingdings" panose="05000000000000000000" pitchFamily="2" charset="2"/>
              <a:buChar char="§"/>
            </a:pPr>
            <a:r>
              <a:rPr lang="pt-BR" dirty="0"/>
              <a:t>Como não remove os </a:t>
            </a:r>
            <a:r>
              <a:rPr lang="pt-BR" i="1" dirty="0"/>
              <a:t>outliers</a:t>
            </a:r>
            <a:r>
              <a:rPr lang="pt-BR" dirty="0"/>
              <a:t>, algoritmos sensíveis à distância (e.g., KNN, </a:t>
            </a:r>
            <a:r>
              <a:rPr lang="pt-BR" dirty="0" err="1"/>
              <a:t>Regressores</a:t>
            </a:r>
            <a:r>
              <a:rPr lang="pt-BR" dirty="0"/>
              <a:t>) podem ter seu aprendizado impactado.</a:t>
            </a:r>
          </a:p>
          <a:p>
            <a:pPr lvl="1">
              <a:buFont typeface="Wingdings" panose="05000000000000000000" pitchFamily="2" charset="2"/>
              <a:buChar char="§"/>
            </a:pPr>
            <a:r>
              <a:rPr lang="pt-BR" dirty="0"/>
              <a:t>A escala dos dados não discrepantes é mantida, mas ele não esconde os </a:t>
            </a:r>
            <a:r>
              <a:rPr lang="pt-BR" i="1" dirty="0"/>
              <a:t>outliers</a:t>
            </a:r>
            <a:r>
              <a:rPr lang="pt-BR" dirty="0"/>
              <a:t>.</a:t>
            </a:r>
          </a:p>
        </p:txBody>
      </p:sp>
    </p:spTree>
    <p:extLst>
      <p:ext uri="{BB962C8B-B14F-4D97-AF65-F5344CB8AC3E}">
        <p14:creationId xmlns:p14="http://schemas.microsoft.com/office/powerpoint/2010/main" val="990042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38CB-284D-B132-E982-E10E2E0A6C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7015A9-D416-BD11-58AD-7B62F1B4A5E1}"/>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25F49F56-D00F-7D12-5FCD-BB6DCFC23C65}"/>
              </a:ext>
            </a:extLst>
          </p:cNvPr>
          <p:cNvSpPr>
            <a:spLocks noGrp="1"/>
          </p:cNvSpPr>
          <p:nvPr>
            <p:ph idx="1"/>
          </p:nvPr>
        </p:nvSpPr>
        <p:spPr>
          <a:xfrm>
            <a:off x="838199" y="1825624"/>
            <a:ext cx="11179630"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RobustScaler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Instância</a:t>
            </a:r>
            <a:r>
              <a:rPr lang="en-US" dirty="0">
                <a:latin typeface="Consolas" panose="020B0609020204030204" pitchFamily="49" charset="0"/>
              </a:rPr>
              <a:t> do </a:t>
            </a:r>
            <a:r>
              <a:rPr lang="en-US" dirty="0" err="1">
                <a:latin typeface="Consolas" panose="020B0609020204030204" pitchFamily="49" charset="0"/>
              </a:rPr>
              <a:t>escalonador</a:t>
            </a:r>
            <a:r>
              <a:rPr lang="en-US" dirty="0">
                <a:latin typeface="Consolas" panose="020B0609020204030204" pitchFamily="49" charset="0"/>
              </a:rPr>
              <a:t> </a:t>
            </a:r>
            <a:r>
              <a:rPr lang="en-US" dirty="0" err="1">
                <a:latin typeface="Consolas" panose="020B0609020204030204" pitchFamily="49" charset="0"/>
              </a:rPr>
              <a:t>robusto</a:t>
            </a:r>
            <a:endParaRPr lang="en-US"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RobustScaler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Aprende</a:t>
            </a:r>
            <a:r>
              <a:rPr lang="en-US" dirty="0">
                <a:latin typeface="Consolas" panose="020B0609020204030204" pitchFamily="49" charset="0"/>
              </a:rPr>
              <a:t> </a:t>
            </a:r>
            <a:r>
              <a:rPr lang="en-US" dirty="0" err="1">
                <a:latin typeface="Consolas" panose="020B0609020204030204" pitchFamily="49" charset="0"/>
              </a:rPr>
              <a:t>os</a:t>
            </a:r>
            <a:r>
              <a:rPr lang="en-US" dirty="0">
                <a:latin typeface="Consolas" panose="020B0609020204030204" pitchFamily="49" charset="0"/>
              </a:rPr>
              <a:t> </a:t>
            </a:r>
            <a:r>
              <a:rPr lang="en-US" dirty="0" err="1">
                <a:latin typeface="Consolas" panose="020B0609020204030204" pitchFamily="49" charset="0"/>
              </a:rPr>
              <a:t>parâmetros</a:t>
            </a:r>
            <a:r>
              <a:rPr lang="en-US" dirty="0">
                <a:latin typeface="Consolas" panose="020B0609020204030204" pitchFamily="49" charset="0"/>
              </a:rPr>
              <a:t> de </a:t>
            </a:r>
            <a:r>
              <a:rPr lang="en-US" dirty="0" err="1">
                <a:latin typeface="Consolas" panose="020B0609020204030204" pitchFamily="49" charset="0"/>
              </a:rPr>
              <a:t>escalonamento</a:t>
            </a:r>
            <a:r>
              <a:rPr lang="en-US" dirty="0">
                <a:latin typeface="Consolas" panose="020B0609020204030204" pitchFamily="49" charset="0"/>
              </a:rPr>
              <a:t> no </a:t>
            </a:r>
            <a:r>
              <a:rPr lang="en-US" dirty="0" err="1">
                <a:latin typeface="Consolas" panose="020B0609020204030204" pitchFamily="49" charset="0"/>
              </a:rPr>
              <a:t>treino</a:t>
            </a:r>
            <a:endParaRPr lang="en-US"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Aplica</a:t>
            </a:r>
            <a:r>
              <a:rPr lang="en-US" dirty="0">
                <a:latin typeface="Consolas" panose="020B0609020204030204" pitchFamily="49" charset="0"/>
              </a:rPr>
              <a:t> o scaler </a:t>
            </a:r>
            <a:r>
              <a:rPr lang="en-US" dirty="0" err="1">
                <a:latin typeface="Consolas" panose="020B0609020204030204" pitchFamily="49" charset="0"/>
              </a:rPr>
              <a:t>aprendido</a:t>
            </a:r>
            <a:r>
              <a:rPr lang="en-US"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7554837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2465D-3B71-C4D6-425F-FF182A6659D8}"/>
              </a:ext>
            </a:extLst>
          </p:cNvPr>
          <p:cNvSpPr>
            <a:spLocks noGrp="1"/>
          </p:cNvSpPr>
          <p:nvPr>
            <p:ph type="title"/>
          </p:nvPr>
        </p:nvSpPr>
        <p:spPr/>
        <p:txBody>
          <a:bodyPr/>
          <a:lstStyle/>
          <a:p>
            <a:r>
              <a:rPr lang="pt-BR" dirty="0"/>
              <a:t>Armadilhas comuns durante o escalonamento</a:t>
            </a:r>
            <a:endParaRPr lang="en-US" dirty="0"/>
          </a:p>
        </p:txBody>
      </p:sp>
      <p:sp>
        <p:nvSpPr>
          <p:cNvPr id="3" name="Content Placeholder 2">
            <a:extLst>
              <a:ext uri="{FF2B5EF4-FFF2-40B4-BE49-F238E27FC236}">
                <a16:creationId xmlns:a16="http://schemas.microsoft.com/office/drawing/2014/main" id="{59848CE3-22F4-8F30-72FB-7BA864CCB15B}"/>
              </a:ext>
            </a:extLst>
          </p:cNvPr>
          <p:cNvSpPr>
            <a:spLocks noGrp="1"/>
          </p:cNvSpPr>
          <p:nvPr>
            <p:ph idx="1"/>
          </p:nvPr>
        </p:nvSpPr>
        <p:spPr>
          <a:xfrm>
            <a:off x="838199" y="1825624"/>
            <a:ext cx="11081657" cy="5032375"/>
          </a:xfrm>
        </p:spPr>
        <p:txBody>
          <a:bodyPr>
            <a:normAutofit/>
          </a:bodyPr>
          <a:lstStyle/>
          <a:p>
            <a:r>
              <a:rPr lang="pt-BR" dirty="0"/>
              <a:t>Para evitar vazamento de dados, o escalonador deve sempre ser ajustado no conjunto de treinamento.</a:t>
            </a:r>
          </a:p>
          <a:p>
            <a:r>
              <a:rPr lang="pt-BR" dirty="0"/>
              <a:t>Os conjuntos de validação e teste, são transformados com os valores encontrados com o conjunto e treinamento.</a:t>
            </a:r>
          </a:p>
          <a:p>
            <a:r>
              <a:rPr lang="pt-BR" dirty="0"/>
              <a:t>Geralmente, não se aplica escalonamento à variável algo, i.e., os rótulos, apenas aos atributos.</a:t>
            </a:r>
          </a:p>
          <a:p>
            <a:r>
              <a:rPr lang="pt-BR" dirty="0"/>
              <a:t>Não se deve escalonar atributos binários ou </a:t>
            </a:r>
            <a:r>
              <a:rPr lang="pt-BR" i="1" dirty="0" err="1"/>
              <a:t>one</a:t>
            </a:r>
            <a:r>
              <a:rPr lang="pt-BR" i="1" dirty="0"/>
              <a:t>-hot</a:t>
            </a:r>
            <a:r>
              <a:rPr lang="pt-BR" dirty="0"/>
              <a:t> sem necessidade, pois pode-se criar valores fracionários desnecessários.</a:t>
            </a:r>
          </a:p>
        </p:txBody>
      </p:sp>
    </p:spTree>
    <p:extLst>
      <p:ext uri="{BB962C8B-B14F-4D97-AF65-F5344CB8AC3E}">
        <p14:creationId xmlns:p14="http://schemas.microsoft.com/office/powerpoint/2010/main" val="8775267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8DCA9-22E3-E7D2-4335-66012FBB163E}"/>
              </a:ext>
            </a:extLst>
          </p:cNvPr>
          <p:cNvSpPr>
            <a:spLocks noGrp="1"/>
          </p:cNvSpPr>
          <p:nvPr>
            <p:ph type="title"/>
          </p:nvPr>
        </p:nvSpPr>
        <p:spPr/>
        <p:txBody>
          <a:bodyPr/>
          <a:lstStyle/>
          <a:p>
            <a:r>
              <a:rPr lang="en-US" dirty="0" err="1"/>
              <a:t>Codificação</a:t>
            </a:r>
            <a:r>
              <a:rPr lang="en-US" dirty="0"/>
              <a:t> de </a:t>
            </a:r>
            <a:r>
              <a:rPr lang="en-US" dirty="0" err="1"/>
              <a:t>atributos</a:t>
            </a:r>
            <a:r>
              <a:rPr lang="en-US" dirty="0"/>
              <a:t> </a:t>
            </a:r>
            <a:r>
              <a:rPr lang="en-US" dirty="0" err="1"/>
              <a:t>categóricos</a:t>
            </a:r>
            <a:endParaRPr lang="en-US" dirty="0"/>
          </a:p>
        </p:txBody>
      </p:sp>
      <p:sp>
        <p:nvSpPr>
          <p:cNvPr id="3" name="Content Placeholder 2">
            <a:extLst>
              <a:ext uri="{FF2B5EF4-FFF2-40B4-BE49-F238E27FC236}">
                <a16:creationId xmlns:a16="http://schemas.microsoft.com/office/drawing/2014/main" id="{A6E35704-3008-E5B2-8105-C96099FC4FDB}"/>
              </a:ext>
            </a:extLst>
          </p:cNvPr>
          <p:cNvSpPr>
            <a:spLocks noGrp="1"/>
          </p:cNvSpPr>
          <p:nvPr>
            <p:ph idx="1"/>
          </p:nvPr>
        </p:nvSpPr>
        <p:spPr>
          <a:xfrm>
            <a:off x="838199" y="1825624"/>
            <a:ext cx="11125201" cy="5032375"/>
          </a:xfrm>
        </p:spPr>
        <p:txBody>
          <a:bodyPr>
            <a:normAutofit/>
          </a:bodyPr>
          <a:lstStyle/>
          <a:p>
            <a:r>
              <a:rPr lang="pt-BR" b="1" dirty="0"/>
              <a:t>Motivação</a:t>
            </a:r>
            <a:r>
              <a:rPr lang="pt-BR" dirty="0"/>
              <a:t>: Modelos matemáticos não entendem texto, portanto, precisamos converter categorias em números.</a:t>
            </a:r>
          </a:p>
          <a:p>
            <a:r>
              <a:rPr lang="en-US" dirty="0"/>
              <a:t>As </a:t>
            </a:r>
            <a:r>
              <a:rPr lang="en-US" dirty="0" err="1"/>
              <a:t>principais</a:t>
            </a:r>
            <a:r>
              <a:rPr lang="en-US" dirty="0"/>
              <a:t> </a:t>
            </a:r>
            <a:r>
              <a:rPr lang="en-US" dirty="0" err="1"/>
              <a:t>técnicas</a:t>
            </a:r>
            <a:r>
              <a:rPr lang="en-US" dirty="0"/>
              <a:t> de </a:t>
            </a:r>
            <a:r>
              <a:rPr lang="en-US" dirty="0" err="1"/>
              <a:t>codificação</a:t>
            </a:r>
            <a:r>
              <a:rPr lang="en-US" dirty="0"/>
              <a:t> </a:t>
            </a:r>
            <a:r>
              <a:rPr lang="en-US" dirty="0" err="1"/>
              <a:t>são</a:t>
            </a:r>
            <a:r>
              <a:rPr lang="en-US" dirty="0"/>
              <a:t>:</a:t>
            </a:r>
            <a:endParaRPr lang="pt-BR" dirty="0"/>
          </a:p>
          <a:p>
            <a:pPr lvl="1">
              <a:buFont typeface="Wingdings" panose="05000000000000000000" pitchFamily="2" charset="2"/>
              <a:buChar char="§"/>
            </a:pPr>
            <a:r>
              <a:rPr lang="en-US" dirty="0"/>
              <a:t>One-Hot encoding</a:t>
            </a:r>
          </a:p>
          <a:p>
            <a:pPr lvl="1">
              <a:buFont typeface="Wingdings" panose="05000000000000000000" pitchFamily="2" charset="2"/>
              <a:buChar char="§"/>
            </a:pPr>
            <a:r>
              <a:rPr lang="en-US" dirty="0"/>
              <a:t>Label encoding</a:t>
            </a:r>
          </a:p>
          <a:p>
            <a:pPr lvl="1">
              <a:buFont typeface="Wingdings" panose="05000000000000000000" pitchFamily="2" charset="2"/>
              <a:buChar char="§"/>
            </a:pPr>
            <a:r>
              <a:rPr lang="en-US" dirty="0"/>
              <a:t>Target encoding</a:t>
            </a:r>
          </a:p>
          <a:p>
            <a:pPr lvl="1">
              <a:buFont typeface="Wingdings" panose="05000000000000000000" pitchFamily="2" charset="2"/>
              <a:buChar char="§"/>
            </a:pPr>
            <a:r>
              <a:rPr lang="en-US"/>
              <a:t>Binary </a:t>
            </a:r>
            <a:r>
              <a:rPr lang="en-US" dirty="0"/>
              <a:t>e</a:t>
            </a:r>
            <a:r>
              <a:rPr lang="en-US"/>
              <a:t>ncoding</a:t>
            </a:r>
            <a:endParaRPr lang="pt-BR" dirty="0"/>
          </a:p>
          <a:p>
            <a:r>
              <a:rPr lang="pt-BR" b="1" dirty="0"/>
              <a:t>OBS</a:t>
            </a:r>
            <a:r>
              <a:rPr lang="pt-BR" dirty="0"/>
              <a:t>.: A codificação pode ser considerada uma forma de engenharia de atributos.</a:t>
            </a:r>
            <a:endParaRPr lang="en-US" dirty="0"/>
          </a:p>
        </p:txBody>
      </p:sp>
    </p:spTree>
    <p:extLst>
      <p:ext uri="{BB962C8B-B14F-4D97-AF65-F5344CB8AC3E}">
        <p14:creationId xmlns:p14="http://schemas.microsoft.com/office/powerpoint/2010/main" val="3687315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389AB-09B4-AB30-AAD4-587A6426A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9514B5-016A-AF18-EA86-F01A6813676C}"/>
              </a:ext>
            </a:extLst>
          </p:cNvPr>
          <p:cNvSpPr>
            <a:spLocks noGrp="1"/>
          </p:cNvSpPr>
          <p:nvPr>
            <p:ph type="title"/>
          </p:nvPr>
        </p:nvSpPr>
        <p:spPr/>
        <p:txBody>
          <a:bodyPr/>
          <a:lstStyle/>
          <a:p>
            <a:r>
              <a:rPr lang="en-US" i="1" dirty="0"/>
              <a:t>One-Hot encoding</a:t>
            </a:r>
          </a:p>
        </p:txBody>
      </p:sp>
      <p:sp>
        <p:nvSpPr>
          <p:cNvPr id="3" name="Content Placeholder 2">
            <a:extLst>
              <a:ext uri="{FF2B5EF4-FFF2-40B4-BE49-F238E27FC236}">
                <a16:creationId xmlns:a16="http://schemas.microsoft.com/office/drawing/2014/main" id="{44B52C18-6F1E-8230-5D96-63D8A5144D41}"/>
              </a:ext>
            </a:extLst>
          </p:cNvPr>
          <p:cNvSpPr>
            <a:spLocks noGrp="1"/>
          </p:cNvSpPr>
          <p:nvPr>
            <p:ph idx="1"/>
          </p:nvPr>
        </p:nvSpPr>
        <p:spPr>
          <a:xfrm>
            <a:off x="5791200" y="1825624"/>
            <a:ext cx="6172199" cy="5032375"/>
          </a:xfrm>
        </p:spPr>
        <p:txBody>
          <a:bodyPr>
            <a:normAutofit/>
          </a:bodyPr>
          <a:lstStyle/>
          <a:p>
            <a:r>
              <a:rPr lang="pt-BR" dirty="0"/>
              <a:t>Usada com atributos nominais (i.e., sem ordem) e com baixa cardinalidade (i.e., com poucas categorias distintas). </a:t>
            </a:r>
          </a:p>
          <a:p>
            <a:r>
              <a:rPr lang="pt-BR" b="1" dirty="0"/>
              <a:t>Como funciona:</a:t>
            </a:r>
            <a:r>
              <a:rPr lang="pt-BR" dirty="0"/>
              <a:t> Cria uma nova coluna binária para cada categoria distinta.</a:t>
            </a:r>
          </a:p>
          <a:p>
            <a:r>
              <a:rPr lang="pt-BR" b="1" dirty="0"/>
              <a:t>Limitação:</a:t>
            </a:r>
            <a:r>
              <a:rPr lang="pt-BR" dirty="0"/>
              <a:t> Gera alta dimensionalidade (i.e., muitas colunas) se houver muitas categorias, aumentando o custo computacional.</a:t>
            </a:r>
          </a:p>
          <a:p>
            <a:pPr lvl="1">
              <a:buFont typeface="Wingdings" panose="05000000000000000000" pitchFamily="2" charset="2"/>
              <a:buChar char="§"/>
            </a:pPr>
            <a:r>
              <a:rPr lang="pt-BR" dirty="0"/>
              <a:t>Pode criar o problema conhecido como a “maldição da dimensionalidade”.</a:t>
            </a:r>
          </a:p>
        </p:txBody>
      </p:sp>
      <p:pic>
        <p:nvPicPr>
          <p:cNvPr id="2051" name="Picture 3" descr="One-Hot Encoding: A Comprehensive Guide with Python Implementation | by  Shubham Sangole | GoPenAI">
            <a:extLst>
              <a:ext uri="{FF2B5EF4-FFF2-40B4-BE49-F238E27FC236}">
                <a16:creationId xmlns:a16="http://schemas.microsoft.com/office/drawing/2014/main" id="{04411FF2-E0FD-9D33-63B9-86F2888D8A5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237" t="8519" r="2382" b="57788"/>
          <a:stretch>
            <a:fillRect/>
          </a:stretch>
        </p:blipFill>
        <p:spPr bwMode="auto">
          <a:xfrm>
            <a:off x="381001" y="2846613"/>
            <a:ext cx="5072743" cy="21662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27027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9C30-8D7C-8A1B-D798-06ED56DFC7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49E73-5A60-3934-DCFD-CA42C618F8F5}"/>
              </a:ext>
            </a:extLst>
          </p:cNvPr>
          <p:cNvSpPr>
            <a:spLocks noGrp="1"/>
          </p:cNvSpPr>
          <p:nvPr>
            <p:ph type="title"/>
          </p:nvPr>
        </p:nvSpPr>
        <p:spPr/>
        <p:txBody>
          <a:bodyPr/>
          <a:lstStyle/>
          <a:p>
            <a:r>
              <a:rPr lang="en-US" i="1" dirty="0"/>
              <a:t>Label encoding</a:t>
            </a:r>
          </a:p>
        </p:txBody>
      </p:sp>
      <p:sp>
        <p:nvSpPr>
          <p:cNvPr id="3" name="Content Placeholder 2">
            <a:extLst>
              <a:ext uri="{FF2B5EF4-FFF2-40B4-BE49-F238E27FC236}">
                <a16:creationId xmlns:a16="http://schemas.microsoft.com/office/drawing/2014/main" id="{0418BA66-6028-330D-1D57-30D6366EC343}"/>
              </a:ext>
            </a:extLst>
          </p:cNvPr>
          <p:cNvSpPr>
            <a:spLocks noGrp="1"/>
          </p:cNvSpPr>
          <p:nvPr>
            <p:ph idx="1"/>
          </p:nvPr>
        </p:nvSpPr>
        <p:spPr>
          <a:xfrm>
            <a:off x="5138058" y="1825624"/>
            <a:ext cx="6945086" cy="5032375"/>
          </a:xfrm>
        </p:spPr>
        <p:txBody>
          <a:bodyPr>
            <a:normAutofit lnSpcReduction="10000"/>
          </a:bodyPr>
          <a:lstStyle/>
          <a:p>
            <a:r>
              <a:rPr lang="pt-BR" dirty="0"/>
              <a:t>Converte cada categoria em um número inteiro único, mas sem considerar uma ordem. </a:t>
            </a:r>
          </a:p>
          <a:p>
            <a:r>
              <a:rPr lang="pt-BR" b="1" dirty="0"/>
              <a:t>Uso:</a:t>
            </a:r>
            <a:r>
              <a:rPr lang="pt-BR" dirty="0"/>
              <a:t> Indicada principalmente para a codificação do rótulo em problemas de classificação.</a:t>
            </a:r>
          </a:p>
          <a:p>
            <a:r>
              <a:rPr lang="pt-BR" b="1" dirty="0"/>
              <a:t>Risco:</a:t>
            </a:r>
            <a:r>
              <a:rPr lang="pt-BR" dirty="0"/>
              <a:t> Pode introduzir uma relação de ordem falsa que afeta negativamente algoritmos sensíveis a distâncias ou magnitudes (e.g., </a:t>
            </a:r>
            <a:r>
              <a:rPr lang="pt-BR" dirty="0" err="1"/>
              <a:t>regressores</a:t>
            </a:r>
            <a:r>
              <a:rPr lang="pt-BR" dirty="0"/>
              <a:t> linear e logístico e KNN).</a:t>
            </a:r>
          </a:p>
          <a:p>
            <a:pPr lvl="1">
              <a:buFont typeface="Wingdings" panose="05000000000000000000" pitchFamily="2" charset="2"/>
              <a:buChar char="§"/>
            </a:pPr>
            <a:r>
              <a:rPr lang="pt-BR" dirty="0"/>
              <a:t>Para tamanho de camisetas (P, M, G), faz sentido (ordinal).</a:t>
            </a:r>
          </a:p>
          <a:p>
            <a:pPr lvl="1">
              <a:buFont typeface="Wingdings" panose="05000000000000000000" pitchFamily="2" charset="2"/>
              <a:buChar char="§"/>
            </a:pPr>
            <a:r>
              <a:rPr lang="pt-BR" dirty="0"/>
              <a:t>Para animais e cores, não (nominal).</a:t>
            </a:r>
          </a:p>
        </p:txBody>
      </p:sp>
      <p:pic>
        <p:nvPicPr>
          <p:cNvPr id="8" name="Picture 7">
            <a:extLst>
              <a:ext uri="{FF2B5EF4-FFF2-40B4-BE49-F238E27FC236}">
                <a16:creationId xmlns:a16="http://schemas.microsoft.com/office/drawing/2014/main" id="{7529D32B-8978-31FB-62B1-9E8E3D400419}"/>
              </a:ext>
            </a:extLst>
          </p:cNvPr>
          <p:cNvPicPr>
            <a:picLocks noChangeAspect="1"/>
          </p:cNvPicPr>
          <p:nvPr/>
        </p:nvPicPr>
        <p:blipFill>
          <a:blip r:embed="rId3">
            <a:extLst>
              <a:ext uri="{28A0092B-C50C-407E-A947-70E740481C1C}">
                <a14:useLocalDpi xmlns:a14="http://schemas.microsoft.com/office/drawing/2010/main" val="0"/>
              </a:ext>
            </a:extLst>
          </a:blip>
          <a:srcRect l="4261" t="7152" r="5331" b="8009"/>
          <a:stretch>
            <a:fillRect/>
          </a:stretch>
        </p:blipFill>
        <p:spPr>
          <a:xfrm>
            <a:off x="250371" y="2895600"/>
            <a:ext cx="4616969" cy="2166256"/>
          </a:xfrm>
          <a:prstGeom prst="rect">
            <a:avLst/>
          </a:prstGeom>
        </p:spPr>
      </p:pic>
    </p:spTree>
    <p:extLst>
      <p:ext uri="{BB962C8B-B14F-4D97-AF65-F5344CB8AC3E}">
        <p14:creationId xmlns:p14="http://schemas.microsoft.com/office/powerpoint/2010/main" val="9110565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883D4-BDD8-E7FF-C7AE-3D255B8711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7E13F8-6196-AD06-DE47-12B16A60FC57}"/>
              </a:ext>
            </a:extLst>
          </p:cNvPr>
          <p:cNvSpPr>
            <a:spLocks noGrp="1"/>
          </p:cNvSpPr>
          <p:nvPr>
            <p:ph type="title"/>
          </p:nvPr>
        </p:nvSpPr>
        <p:spPr/>
        <p:txBody>
          <a:bodyPr/>
          <a:lstStyle/>
          <a:p>
            <a:r>
              <a:rPr lang="en-US" i="1" dirty="0"/>
              <a:t>Target encoding</a:t>
            </a:r>
          </a:p>
        </p:txBody>
      </p:sp>
      <p:sp>
        <p:nvSpPr>
          <p:cNvPr id="3" name="Content Placeholder 2">
            <a:extLst>
              <a:ext uri="{FF2B5EF4-FFF2-40B4-BE49-F238E27FC236}">
                <a16:creationId xmlns:a16="http://schemas.microsoft.com/office/drawing/2014/main" id="{3933F122-99CE-8A1C-8288-BA542054EAA8}"/>
              </a:ext>
            </a:extLst>
          </p:cNvPr>
          <p:cNvSpPr>
            <a:spLocks noGrp="1"/>
          </p:cNvSpPr>
          <p:nvPr>
            <p:ph idx="1"/>
          </p:nvPr>
        </p:nvSpPr>
        <p:spPr>
          <a:xfrm>
            <a:off x="5399314" y="1825624"/>
            <a:ext cx="6640286" cy="5032375"/>
          </a:xfrm>
        </p:spPr>
        <p:txBody>
          <a:bodyPr>
            <a:normAutofit lnSpcReduction="10000"/>
          </a:bodyPr>
          <a:lstStyle/>
          <a:p>
            <a:r>
              <a:rPr lang="pt-BR" dirty="0"/>
              <a:t>Substitui cada categoria pela média do valor do alvo correspondente a essa categoria.</a:t>
            </a:r>
          </a:p>
          <a:p>
            <a:r>
              <a:rPr lang="pt-BR" b="1" dirty="0"/>
              <a:t>Quando usar:</a:t>
            </a:r>
            <a:r>
              <a:rPr lang="pt-BR" dirty="0"/>
              <a:t> Ideal para variáveis de alta cardinalidade, pois não aumenta a dimensionalidade do conjunto de dados e quando há relação entre a categoria e o </a:t>
            </a:r>
            <a:r>
              <a:rPr lang="pt-BR" i="1" dirty="0"/>
              <a:t>target</a:t>
            </a:r>
            <a:r>
              <a:rPr lang="pt-BR" dirty="0"/>
              <a:t>.</a:t>
            </a:r>
          </a:p>
          <a:p>
            <a:r>
              <a:rPr lang="pt-BR" b="1" dirty="0"/>
              <a:t>Risco:</a:t>
            </a:r>
            <a:r>
              <a:rPr lang="pt-BR" dirty="0"/>
              <a:t> </a:t>
            </a:r>
            <a:r>
              <a:rPr lang="pt-BR" i="1" dirty="0" err="1"/>
              <a:t>Overfitting</a:t>
            </a:r>
            <a:r>
              <a:rPr lang="pt-BR" dirty="0"/>
              <a:t> quando uma categoria tem poucos exemplos.</a:t>
            </a:r>
          </a:p>
          <a:p>
            <a:pPr lvl="1">
              <a:buFont typeface="Wingdings" panose="05000000000000000000" pitchFamily="2" charset="2"/>
              <a:buChar char="§"/>
            </a:pPr>
            <a:r>
              <a:rPr lang="pt-BR" dirty="0"/>
              <a:t>A média do </a:t>
            </a:r>
            <a:r>
              <a:rPr lang="pt-BR" i="1" dirty="0"/>
              <a:t>target</a:t>
            </a:r>
            <a:r>
              <a:rPr lang="pt-BR" dirty="0"/>
              <a:t> pode refletir mais ruído do que padrão real dos dados, prejudicando a generalização.</a:t>
            </a:r>
          </a:p>
        </p:txBody>
      </p:sp>
      <p:pic>
        <p:nvPicPr>
          <p:cNvPr id="2050" name="Picture 2" descr="Data Transformation: one-hot vs target encoding">
            <a:extLst>
              <a:ext uri="{FF2B5EF4-FFF2-40B4-BE49-F238E27FC236}">
                <a16:creationId xmlns:a16="http://schemas.microsoft.com/office/drawing/2014/main" id="{7BB7010D-52CF-95E3-7867-6467D4626A4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39" t="23968" r="4286" b="15079"/>
          <a:stretch>
            <a:fillRect/>
          </a:stretch>
        </p:blipFill>
        <p:spPr bwMode="auto">
          <a:xfrm>
            <a:off x="228600" y="3023466"/>
            <a:ext cx="4789715" cy="1766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5399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DD75A-3D20-1CFF-0CAC-A5CB15BA9A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6F2449-F38A-4DF6-443B-1B77E3F39668}"/>
              </a:ext>
            </a:extLst>
          </p:cNvPr>
          <p:cNvSpPr>
            <a:spLocks noGrp="1"/>
          </p:cNvSpPr>
          <p:nvPr>
            <p:ph type="title"/>
          </p:nvPr>
        </p:nvSpPr>
        <p:spPr/>
        <p:txBody>
          <a:bodyPr/>
          <a:lstStyle/>
          <a:p>
            <a:r>
              <a:rPr lang="en-US" i="1" dirty="0"/>
              <a:t>Binary encoding</a:t>
            </a:r>
          </a:p>
        </p:txBody>
      </p:sp>
      <p:sp>
        <p:nvSpPr>
          <p:cNvPr id="3" name="Content Placeholder 2">
            <a:extLst>
              <a:ext uri="{FF2B5EF4-FFF2-40B4-BE49-F238E27FC236}">
                <a16:creationId xmlns:a16="http://schemas.microsoft.com/office/drawing/2014/main" id="{14A68C86-94AE-24AE-A0EF-6A9D083052C7}"/>
              </a:ext>
            </a:extLst>
          </p:cNvPr>
          <p:cNvSpPr>
            <a:spLocks noGrp="1"/>
          </p:cNvSpPr>
          <p:nvPr>
            <p:ph idx="1"/>
          </p:nvPr>
        </p:nvSpPr>
        <p:spPr>
          <a:xfrm>
            <a:off x="5321642" y="1825625"/>
            <a:ext cx="6750615" cy="5032375"/>
          </a:xfrm>
        </p:spPr>
        <p:txBody>
          <a:bodyPr>
            <a:normAutofit lnSpcReduction="10000"/>
          </a:bodyPr>
          <a:lstStyle/>
          <a:p>
            <a:r>
              <a:rPr lang="pt-BR" dirty="0"/>
              <a:t>Combina os benefícios das codificações </a:t>
            </a:r>
            <a:r>
              <a:rPr lang="pt-BR" i="1" dirty="0" err="1"/>
              <a:t>One</a:t>
            </a:r>
            <a:r>
              <a:rPr lang="pt-BR" i="1" dirty="0"/>
              <a:t>-Hot</a:t>
            </a:r>
            <a:r>
              <a:rPr lang="pt-BR" dirty="0"/>
              <a:t> e </a:t>
            </a:r>
            <a:r>
              <a:rPr lang="pt-BR" i="1" dirty="0" err="1"/>
              <a:t>Label</a:t>
            </a:r>
            <a:r>
              <a:rPr lang="pt-BR" dirty="0"/>
              <a:t>. </a:t>
            </a:r>
          </a:p>
          <a:p>
            <a:r>
              <a:rPr lang="pt-BR" dirty="0"/>
              <a:t>Cada categoria recebe um número inteiro (</a:t>
            </a:r>
            <a:r>
              <a:rPr lang="pt-BR" i="1" dirty="0" err="1"/>
              <a:t>Label</a:t>
            </a:r>
            <a:r>
              <a:rPr lang="pt-BR" dirty="0"/>
              <a:t>), e depois esse número é convertido </a:t>
            </a:r>
            <a:r>
              <a:rPr lang="en-US" dirty="0"/>
              <a:t>para </a:t>
            </a:r>
            <a:r>
              <a:rPr lang="en-US" dirty="0" err="1"/>
              <a:t>sua</a:t>
            </a:r>
            <a:r>
              <a:rPr lang="en-US" dirty="0"/>
              <a:t> </a:t>
            </a:r>
            <a:r>
              <a:rPr lang="en-US" dirty="0" err="1"/>
              <a:t>representação</a:t>
            </a:r>
            <a:r>
              <a:rPr lang="en-US" dirty="0"/>
              <a:t> </a:t>
            </a:r>
            <a:r>
              <a:rPr lang="en-US" dirty="0" err="1"/>
              <a:t>binária</a:t>
            </a:r>
            <a:r>
              <a:rPr lang="pt-BR" dirty="0"/>
              <a:t>, criando colunas para cada bit.</a:t>
            </a:r>
          </a:p>
          <a:p>
            <a:r>
              <a:rPr lang="pt-BR" b="1" dirty="0"/>
              <a:t>Quando usar:</a:t>
            </a:r>
            <a:r>
              <a:rPr lang="pt-BR" dirty="0"/>
              <a:t> Ótimo para variáveis categóricas de alta cardinalidade.</a:t>
            </a:r>
          </a:p>
          <a:p>
            <a:r>
              <a:rPr lang="pt-BR" b="1" dirty="0"/>
              <a:t>Desvantagem</a:t>
            </a:r>
            <a:r>
              <a:rPr lang="pt-BR" dirty="0"/>
              <a:t>: Por algumas categorias compartilharem bits, modelos lineares podem achar que existe uma relação matemática entre elas. Modelos de árvore (e.g., DT, RF) lidam bem com isso.</a:t>
            </a:r>
          </a:p>
        </p:txBody>
      </p:sp>
      <p:pic>
        <p:nvPicPr>
          <p:cNvPr id="3074" name="Picture 2" descr="7 Must-know Techniques For Encoding Categorical Feature">
            <a:extLst>
              <a:ext uri="{FF2B5EF4-FFF2-40B4-BE49-F238E27FC236}">
                <a16:creationId xmlns:a16="http://schemas.microsoft.com/office/drawing/2014/main" id="{7AEBA2C1-6D35-7636-7CD6-AC297809D19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1" t="10457" r="5625" b="19838"/>
          <a:stretch>
            <a:fillRect/>
          </a:stretch>
        </p:blipFill>
        <p:spPr bwMode="auto">
          <a:xfrm>
            <a:off x="283028" y="3177218"/>
            <a:ext cx="4833257" cy="17757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48256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E6AEB-4BFC-EF3A-CCC7-C66FB3B5B1FB}"/>
              </a:ext>
            </a:extLst>
          </p:cNvPr>
          <p:cNvSpPr>
            <a:spLocks noGrp="1"/>
          </p:cNvSpPr>
          <p:nvPr>
            <p:ph type="title"/>
          </p:nvPr>
        </p:nvSpPr>
        <p:spPr/>
        <p:txBody>
          <a:bodyPr/>
          <a:lstStyle/>
          <a:p>
            <a:r>
              <a:rPr lang="pt-BR" dirty="0"/>
              <a:t>Exemplos de </a:t>
            </a:r>
            <a:r>
              <a:rPr lang="pt-BR" i="1" dirty="0" err="1"/>
              <a:t>encoding</a:t>
            </a:r>
            <a:endParaRPr lang="en-US" i="1" dirty="0"/>
          </a:p>
        </p:txBody>
      </p:sp>
      <p:sp>
        <p:nvSpPr>
          <p:cNvPr id="3" name="Content Placeholder 2">
            <a:extLst>
              <a:ext uri="{FF2B5EF4-FFF2-40B4-BE49-F238E27FC236}">
                <a16:creationId xmlns:a16="http://schemas.microsoft.com/office/drawing/2014/main" id="{D2AD9A45-89F4-0472-434E-82FA5060D20B}"/>
              </a:ext>
            </a:extLst>
          </p:cNvPr>
          <p:cNvSpPr>
            <a:spLocks noGrp="1"/>
          </p:cNvSpPr>
          <p:nvPr>
            <p:ph idx="1"/>
          </p:nvPr>
        </p:nvSpPr>
        <p:spPr>
          <a:xfrm>
            <a:off x="838199" y="1825624"/>
            <a:ext cx="11179629" cy="5032375"/>
          </a:xfrm>
        </p:spPr>
        <p:txBody>
          <a:bodyPr>
            <a:noAutofit/>
          </a:bodyPr>
          <a:lstStyle/>
          <a:p>
            <a:pPr marL="0" indent="0">
              <a:buNone/>
            </a:pPr>
            <a:r>
              <a:rPr lang="en-US" sz="2300" dirty="0">
                <a:latin typeface="Consolas" panose="020B0609020204030204" pitchFamily="49" charset="0"/>
              </a:rPr>
              <a:t>from </a:t>
            </a:r>
            <a:r>
              <a:rPr lang="en-US" sz="2300" dirty="0" err="1">
                <a:latin typeface="Consolas" panose="020B0609020204030204" pitchFamily="49" charset="0"/>
              </a:rPr>
              <a:t>sklearn.preprocessing</a:t>
            </a:r>
            <a:r>
              <a:rPr lang="en-US" sz="2300" dirty="0">
                <a:latin typeface="Consolas" panose="020B0609020204030204" pitchFamily="49" charset="0"/>
              </a:rPr>
              <a:t> import </a:t>
            </a:r>
            <a:r>
              <a:rPr lang="en-US" sz="2300" dirty="0" err="1">
                <a:latin typeface="Consolas" panose="020B0609020204030204" pitchFamily="49" charset="0"/>
              </a:rPr>
              <a:t>OneHotEncoder</a:t>
            </a:r>
            <a:r>
              <a:rPr lang="en-US" sz="2300" dirty="0">
                <a:latin typeface="Consolas" panose="020B0609020204030204" pitchFamily="49" charset="0"/>
              </a:rPr>
              <a:t>, </a:t>
            </a:r>
            <a:r>
              <a:rPr lang="en-US" sz="2300" dirty="0" err="1">
                <a:latin typeface="Consolas" panose="020B0609020204030204" pitchFamily="49" charset="0"/>
              </a:rPr>
              <a:t>LabelEncoder</a:t>
            </a:r>
            <a:r>
              <a:rPr lang="en-US" sz="2300" dirty="0">
                <a:latin typeface="Consolas" panose="020B0609020204030204" pitchFamily="49" charset="0"/>
              </a:rPr>
              <a:t>, </a:t>
            </a:r>
            <a:r>
              <a:rPr lang="en-US" sz="2300" dirty="0" err="1">
                <a:latin typeface="Consolas" panose="020B0609020204030204" pitchFamily="49" charset="0"/>
              </a:rPr>
              <a:t>TargetEncoder</a:t>
            </a:r>
            <a:endParaRPr lang="en-US" sz="2300" dirty="0">
              <a:latin typeface="Consolas" panose="020B0609020204030204" pitchFamily="49" charset="0"/>
            </a:endParaRPr>
          </a:p>
          <a:p>
            <a:pPr marL="0" indent="0">
              <a:buNone/>
            </a:pPr>
            <a:r>
              <a:rPr lang="en-US" sz="2300" i="1" dirty="0">
                <a:latin typeface="Consolas" panose="020B0609020204030204" pitchFamily="49" charset="0"/>
              </a:rPr>
              <a:t># </a:t>
            </a:r>
            <a:r>
              <a:rPr lang="en-US" sz="2300" i="1" dirty="0" err="1">
                <a:latin typeface="Consolas" panose="020B0609020204030204" pitchFamily="49" charset="0"/>
              </a:rPr>
              <a:t>SciKit</a:t>
            </a:r>
            <a:r>
              <a:rPr lang="en-US" sz="2300" i="1" dirty="0">
                <a:latin typeface="Consolas" panose="020B0609020204030204" pitchFamily="49" charset="0"/>
              </a:rPr>
              <a:t>-Learn </a:t>
            </a:r>
            <a:r>
              <a:rPr lang="en-US" sz="2300" i="1" dirty="0" err="1">
                <a:latin typeface="Consolas" panose="020B0609020204030204" pitchFamily="49" charset="0"/>
              </a:rPr>
              <a:t>não</a:t>
            </a:r>
            <a:r>
              <a:rPr lang="en-US" sz="2300" i="1" dirty="0">
                <a:latin typeface="Consolas" panose="020B0609020204030204" pitchFamily="49" charset="0"/>
              </a:rPr>
              <a:t> </a:t>
            </a:r>
            <a:r>
              <a:rPr lang="en-US" sz="2300" i="1" dirty="0" err="1">
                <a:latin typeface="Consolas" panose="020B0609020204030204" pitchFamily="49" charset="0"/>
              </a:rPr>
              <a:t>implementa</a:t>
            </a:r>
            <a:r>
              <a:rPr lang="en-US" sz="2300" i="1" dirty="0">
                <a:latin typeface="Consolas" panose="020B0609020204030204" pitchFamily="49" charset="0"/>
              </a:rPr>
              <a:t> o </a:t>
            </a:r>
            <a:r>
              <a:rPr lang="en-US" sz="2300" i="1" dirty="0" err="1">
                <a:latin typeface="Consolas" panose="020B0609020204030204" pitchFamily="49" charset="0"/>
              </a:rPr>
              <a:t>codificador</a:t>
            </a:r>
            <a:r>
              <a:rPr lang="en-US" sz="2300" i="1" dirty="0">
                <a:latin typeface="Consolas" panose="020B0609020204030204" pitchFamily="49" charset="0"/>
              </a:rPr>
              <a:t> </a:t>
            </a:r>
            <a:r>
              <a:rPr lang="en-US" sz="2300" i="1" dirty="0" err="1">
                <a:latin typeface="Consolas" panose="020B0609020204030204" pitchFamily="49" charset="0"/>
              </a:rPr>
              <a:t>binário</a:t>
            </a:r>
            <a:r>
              <a:rPr lang="en-US" sz="2300" i="1" dirty="0">
                <a:latin typeface="Consolas" panose="020B0609020204030204" pitchFamily="49" charset="0"/>
              </a:rPr>
              <a:t> (pip install </a:t>
            </a:r>
            <a:r>
              <a:rPr lang="en-US" sz="2300" i="1" dirty="0" err="1">
                <a:latin typeface="Consolas" panose="020B0609020204030204" pitchFamily="49" charset="0"/>
              </a:rPr>
              <a:t>category_encoders</a:t>
            </a:r>
            <a:r>
              <a:rPr lang="en-US" sz="2300" i="1" dirty="0">
                <a:latin typeface="Consolas" panose="020B0609020204030204" pitchFamily="49" charset="0"/>
              </a:rPr>
              <a:t>)</a:t>
            </a:r>
          </a:p>
          <a:p>
            <a:pPr marL="0" indent="0">
              <a:buNone/>
            </a:pPr>
            <a:r>
              <a:rPr lang="en-US" sz="2300" dirty="0">
                <a:latin typeface="Consolas" panose="020B0609020204030204" pitchFamily="49" charset="0"/>
              </a:rPr>
              <a:t>from </a:t>
            </a:r>
            <a:r>
              <a:rPr lang="en-US" sz="2300" dirty="0" err="1">
                <a:latin typeface="Consolas" panose="020B0609020204030204" pitchFamily="49" charset="0"/>
              </a:rPr>
              <a:t>category_encoders</a:t>
            </a:r>
            <a:r>
              <a:rPr lang="en-US" sz="2300" dirty="0">
                <a:latin typeface="Consolas" panose="020B0609020204030204" pitchFamily="49" charset="0"/>
              </a:rPr>
              <a:t> import </a:t>
            </a:r>
            <a:r>
              <a:rPr lang="en-US" sz="2300" dirty="0" err="1">
                <a:latin typeface="Consolas" panose="020B0609020204030204" pitchFamily="49" charset="0"/>
              </a:rPr>
              <a:t>BinaryEncoder</a:t>
            </a:r>
            <a:endParaRPr lang="en-US" sz="2300" dirty="0">
              <a:latin typeface="Consolas" panose="020B0609020204030204" pitchFamily="49" charset="0"/>
            </a:endParaRPr>
          </a:p>
          <a:p>
            <a:pPr marL="0" indent="0">
              <a:buNone/>
            </a:pPr>
            <a:endParaRPr lang="en-US" sz="2300" dirty="0">
              <a:latin typeface="Consolas" panose="020B0609020204030204" pitchFamily="49" charset="0"/>
            </a:endParaRPr>
          </a:p>
          <a:p>
            <a:pPr marL="0" indent="0">
              <a:buNone/>
            </a:pPr>
            <a:r>
              <a:rPr lang="en-US" sz="2300" i="1" dirty="0">
                <a:latin typeface="Consolas" panose="020B0609020204030204" pitchFamily="49" charset="0"/>
              </a:rPr>
              <a:t># </a:t>
            </a:r>
            <a:r>
              <a:rPr lang="en-US" sz="2300" i="1" dirty="0" err="1">
                <a:latin typeface="Consolas" panose="020B0609020204030204" pitchFamily="49" charset="0"/>
              </a:rPr>
              <a:t>LabelEncoder</a:t>
            </a:r>
            <a:r>
              <a:rPr lang="en-US" sz="2300" i="1" dirty="0">
                <a:latin typeface="Consolas" panose="020B0609020204030204" pitchFamily="49" charset="0"/>
              </a:rPr>
              <a:t>(), </a:t>
            </a:r>
            <a:r>
              <a:rPr lang="en-US" sz="2300" i="1" dirty="0" err="1">
                <a:latin typeface="Consolas" panose="020B0609020204030204" pitchFamily="49" charset="0"/>
              </a:rPr>
              <a:t>TargetEncoder</a:t>
            </a:r>
            <a:r>
              <a:rPr lang="en-US" sz="2300" i="1" dirty="0">
                <a:latin typeface="Consolas" panose="020B0609020204030204" pitchFamily="49" charset="0"/>
              </a:rPr>
              <a:t>() </a:t>
            </a:r>
            <a:r>
              <a:rPr lang="en-US" sz="2300" i="1" dirty="0" err="1">
                <a:latin typeface="Consolas" panose="020B0609020204030204" pitchFamily="49" charset="0"/>
              </a:rPr>
              <a:t>ou</a:t>
            </a:r>
            <a:r>
              <a:rPr lang="en-US" sz="2300" i="1" dirty="0">
                <a:latin typeface="Consolas" panose="020B0609020204030204" pitchFamily="49" charset="0"/>
              </a:rPr>
              <a:t> </a:t>
            </a:r>
            <a:r>
              <a:rPr lang="en-US" sz="2300" i="1" dirty="0" err="1">
                <a:latin typeface="Consolas" panose="020B0609020204030204" pitchFamily="49" charset="0"/>
              </a:rPr>
              <a:t>BinaryEncoder</a:t>
            </a:r>
            <a:r>
              <a:rPr lang="en-US" sz="2300" i="1" dirty="0">
                <a:latin typeface="Consolas" panose="020B0609020204030204" pitchFamily="49" charset="0"/>
              </a:rPr>
              <a:t>()</a:t>
            </a:r>
            <a:endParaRPr lang="en-US" sz="2300" dirty="0">
              <a:latin typeface="Consolas" panose="020B0609020204030204" pitchFamily="49" charset="0"/>
            </a:endParaRPr>
          </a:p>
          <a:p>
            <a:pPr marL="0" indent="0">
              <a:buNone/>
            </a:pPr>
            <a:r>
              <a:rPr lang="en-US" sz="2300" dirty="0">
                <a:latin typeface="Consolas" panose="020B0609020204030204" pitchFamily="49" charset="0"/>
              </a:rPr>
              <a:t>enc = </a:t>
            </a:r>
            <a:r>
              <a:rPr lang="en-US" sz="2300" dirty="0" err="1">
                <a:latin typeface="Consolas" panose="020B0609020204030204" pitchFamily="49" charset="0"/>
              </a:rPr>
              <a:t>OneHotEncoder</a:t>
            </a:r>
            <a:r>
              <a:rPr lang="en-US" sz="2300" dirty="0">
                <a:latin typeface="Consolas" panose="020B0609020204030204" pitchFamily="49" charset="0"/>
              </a:rPr>
              <a:t>()</a:t>
            </a:r>
            <a:endParaRPr lang="en-US" sz="2300" i="1" dirty="0">
              <a:latin typeface="Consolas" panose="020B0609020204030204" pitchFamily="49" charset="0"/>
            </a:endParaRPr>
          </a:p>
          <a:p>
            <a:pPr marL="0" indent="0">
              <a:buNone/>
            </a:pPr>
            <a:r>
              <a:rPr lang="en-US" sz="2300" dirty="0" err="1">
                <a:latin typeface="Consolas" panose="020B0609020204030204" pitchFamily="49" charset="0"/>
              </a:rPr>
              <a:t>enc.fit_transform</a:t>
            </a:r>
            <a:r>
              <a:rPr lang="en-US" sz="2300" dirty="0">
                <a:latin typeface="Consolas" panose="020B0609020204030204" pitchFamily="49" charset="0"/>
              </a:rPr>
              <a:t>(</a:t>
            </a:r>
            <a:r>
              <a:rPr lang="en-US" sz="2300" dirty="0" err="1">
                <a:latin typeface="Consolas" panose="020B0609020204030204" pitchFamily="49" charset="0"/>
              </a:rPr>
              <a:t>X_train</a:t>
            </a:r>
            <a:r>
              <a:rPr lang="en-US" sz="2300" dirty="0">
                <a:latin typeface="Consolas" panose="020B0609020204030204" pitchFamily="49" charset="0"/>
              </a:rPr>
              <a:t>)</a:t>
            </a:r>
          </a:p>
          <a:p>
            <a:pPr marL="0" indent="0">
              <a:buNone/>
            </a:pPr>
            <a:endParaRPr lang="en-US" sz="2300" dirty="0">
              <a:latin typeface="Consolas" panose="020B0609020204030204" pitchFamily="49" charset="0"/>
            </a:endParaRPr>
          </a:p>
          <a:p>
            <a:pPr marL="0" indent="0">
              <a:buNone/>
            </a:pPr>
            <a:r>
              <a:rPr lang="en-US" sz="2300" dirty="0" err="1">
                <a:latin typeface="Consolas" panose="020B0609020204030204" pitchFamily="49" charset="0"/>
              </a:rPr>
              <a:t>enc.transform</a:t>
            </a:r>
            <a:r>
              <a:rPr lang="en-US" sz="2300" dirty="0">
                <a:latin typeface="Consolas" panose="020B0609020204030204" pitchFamily="49" charset="0"/>
              </a:rPr>
              <a:t>(</a:t>
            </a:r>
            <a:r>
              <a:rPr lang="en-US" sz="2300" dirty="0" err="1">
                <a:latin typeface="Consolas" panose="020B0609020204030204" pitchFamily="49" charset="0"/>
              </a:rPr>
              <a:t>X_test</a:t>
            </a:r>
            <a:r>
              <a:rPr lang="en-US" sz="2300" dirty="0">
                <a:latin typeface="Consolas" panose="020B0609020204030204" pitchFamily="49" charset="0"/>
              </a:rPr>
              <a:t>)     </a:t>
            </a:r>
          </a:p>
          <a:p>
            <a:pPr marL="0" indent="0">
              <a:buNone/>
            </a:pPr>
            <a:r>
              <a:rPr lang="en-US" sz="2300" dirty="0" err="1">
                <a:latin typeface="Consolas" panose="020B0609020204030204" pitchFamily="49" charset="0"/>
              </a:rPr>
              <a:t>enc.inverse_transform</a:t>
            </a:r>
            <a:r>
              <a:rPr lang="en-US" sz="2300" dirty="0">
                <a:latin typeface="Consolas" panose="020B0609020204030204" pitchFamily="49" charset="0"/>
              </a:rPr>
              <a:t>(</a:t>
            </a:r>
            <a:r>
              <a:rPr lang="en-US" sz="2300" dirty="0" err="1">
                <a:latin typeface="Consolas" panose="020B0609020204030204" pitchFamily="49" charset="0"/>
              </a:rPr>
              <a:t>X_test</a:t>
            </a:r>
            <a:r>
              <a:rPr lang="en-US" sz="2300" dirty="0">
                <a:latin typeface="Consolas" panose="020B0609020204030204" pitchFamily="49" charset="0"/>
              </a:rPr>
              <a:t>)</a:t>
            </a:r>
          </a:p>
        </p:txBody>
      </p:sp>
    </p:spTree>
    <p:extLst>
      <p:ext uri="{BB962C8B-B14F-4D97-AF65-F5344CB8AC3E}">
        <p14:creationId xmlns:p14="http://schemas.microsoft.com/office/powerpoint/2010/main" val="17171935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DE3AC-BF5D-66CC-4338-E24FCABF9097}"/>
              </a:ext>
            </a:extLst>
          </p:cNvPr>
          <p:cNvSpPr>
            <a:spLocks noGrp="1"/>
          </p:cNvSpPr>
          <p:nvPr>
            <p:ph type="title"/>
          </p:nvPr>
        </p:nvSpPr>
        <p:spPr/>
        <p:txBody>
          <a:bodyPr/>
          <a:lstStyle/>
          <a:p>
            <a:r>
              <a:rPr lang="en-US" dirty="0" err="1"/>
              <a:t>Engenharia</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63AE027-526F-64B6-C706-EA359C1FC44D}"/>
                  </a:ext>
                </a:extLst>
              </p:cNvPr>
              <p:cNvSpPr>
                <a:spLocks noGrp="1"/>
              </p:cNvSpPr>
              <p:nvPr>
                <p:ph idx="1"/>
              </p:nvPr>
            </p:nvSpPr>
            <p:spPr>
              <a:xfrm>
                <a:off x="838199" y="1825624"/>
                <a:ext cx="11223172" cy="5032375"/>
              </a:xfrm>
            </p:spPr>
            <p:txBody>
              <a:bodyPr>
                <a:normAutofit/>
              </a:bodyPr>
              <a:lstStyle/>
              <a:p>
                <a:r>
                  <a:rPr lang="pt-BR" b="1" dirty="0"/>
                  <a:t>Definição: </a:t>
                </a:r>
                <a:r>
                  <a:rPr lang="pt-BR" dirty="0"/>
                  <a:t>É a transformação ou criação de novos atributos que sejam mais úteis e informativos. </a:t>
                </a:r>
              </a:p>
              <a:p>
                <a:r>
                  <a:rPr lang="en-US" b="1" dirty="0"/>
                  <a:t>Por </a:t>
                </a:r>
                <a:r>
                  <a:rPr lang="en-US" b="1" dirty="0" err="1"/>
                  <a:t>que</a:t>
                </a:r>
                <a:r>
                  <a:rPr lang="en-US" b="1" dirty="0"/>
                  <a:t> </a:t>
                </a:r>
                <a:r>
                  <a:rPr lang="en-US" b="1" dirty="0" err="1"/>
                  <a:t>fazer</a:t>
                </a:r>
                <a:r>
                  <a:rPr lang="en-US" dirty="0"/>
                  <a:t>: </a:t>
                </a:r>
                <a:r>
                  <a:rPr lang="pt-BR" dirty="0"/>
                  <a:t>Ajuda o modelo a enxergar relações que não estão óbvias.</a:t>
                </a:r>
              </a:p>
              <a:p>
                <a:r>
                  <a:rPr lang="pt-BR" b="1" dirty="0"/>
                  <a:t>Objetivo</a:t>
                </a:r>
                <a:r>
                  <a:rPr lang="pt-BR" dirty="0"/>
                  <a:t>: Melhorar a capacidade de predição (generalização) do modelo.</a:t>
                </a:r>
              </a:p>
              <a:p>
                <a:r>
                  <a:rPr lang="pt-BR" b="1" dirty="0"/>
                  <a:t>Exemplos</a:t>
                </a:r>
                <a:r>
                  <a:rPr lang="pt-BR" dirty="0"/>
                  <a:t>: </a:t>
                </a:r>
              </a:p>
              <a:p>
                <a:pPr lvl="1">
                  <a:buFont typeface="Wingdings" panose="05000000000000000000" pitchFamily="2" charset="2"/>
                  <a:buChar char="§"/>
                </a:pPr>
                <a:r>
                  <a:rPr lang="pt-BR" dirty="0"/>
                  <a:t>Data de nascimento → Idade, faixa etária.</a:t>
                </a:r>
              </a:p>
              <a:p>
                <a:pPr lvl="1">
                  <a:buFont typeface="Wingdings" panose="05000000000000000000" pitchFamily="2" charset="2"/>
                  <a:buChar char="§"/>
                </a:pPr>
                <a:r>
                  <a:rPr lang="pt-BR" dirty="0"/>
                  <a:t>Coordenadas GPS → Distância até certo ponto.</a:t>
                </a:r>
              </a:p>
              <a:p>
                <a:pPr lvl="1">
                  <a:buFont typeface="Wingdings" panose="05000000000000000000" pitchFamily="2" charset="2"/>
                  <a:buChar char="§"/>
                </a:pPr>
                <a:r>
                  <a:rPr lang="pt-BR" dirty="0"/>
                  <a:t>Preço e quantidade → Valor total da venda.</a:t>
                </a:r>
              </a:p>
              <a:p>
                <a:pPr lvl="1">
                  <a:buFont typeface="Wingdings" panose="05000000000000000000" pitchFamily="2" charset="2"/>
                  <a:buChar char="§"/>
                </a:pPr>
                <a:r>
                  <a:rPr lang="pt-BR" i="1" dirty="0" err="1"/>
                  <a:t>Timestamp</a:t>
                </a:r>
                <a:r>
                  <a:rPr lang="pt-BR" dirty="0"/>
                  <a:t> → Hora, dia da semana, feriado?</a:t>
                </a:r>
              </a:p>
              <a:p>
                <a:pPr lvl="1">
                  <a:buFont typeface="Wingdings" panose="05000000000000000000" pitchFamily="2" charset="2"/>
                  <a:buChar char="§"/>
                </a:pPr>
                <a:r>
                  <a:rPr lang="pt-BR" dirty="0"/>
                  <a:t>Comprimento e largura → Área.</a:t>
                </a:r>
              </a:p>
              <a:p>
                <a:pPr lvl="1">
                  <a:buFont typeface="Wingdings" panose="05000000000000000000" pitchFamily="2" charset="2"/>
                  <a:buChar char="§"/>
                </a:pPr>
                <a:r>
                  <a:rPr lang="pt-BR" dirty="0"/>
                  <a:t>Interação entre atributos → Polinômios (e.g.,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𝑥</m:t>
                        </m:r>
                      </m:e>
                      <m:sub>
                        <m:r>
                          <a:rPr lang="pt-BR" i="1">
                            <a:latin typeface="Cambria Math" panose="02040503050406030204" pitchFamily="18" charset="0"/>
                          </a:rPr>
                          <m:t>1</m:t>
                        </m:r>
                      </m:sub>
                      <m:sup>
                        <m:r>
                          <a:rPr lang="pt-BR" i="1">
                            <a:latin typeface="Cambria Math" panose="02040503050406030204" pitchFamily="18" charset="0"/>
                          </a:rPr>
                          <m:t>′</m:t>
                        </m:r>
                      </m:sup>
                    </m:sSubSup>
                    <m:r>
                      <a:rPr lang="pt-BR" i="1">
                        <a:latin typeface="Cambria Math" panose="02040503050406030204" pitchFamily="18" charset="0"/>
                      </a:rPr>
                      <m:t> =</m:t>
                    </m:r>
                    <m:sSubSup>
                      <m:sSubSupPr>
                        <m:ctrlPr>
                          <a:rPr lang="pt-BR" i="1">
                            <a:latin typeface="Cambria Math" panose="02040503050406030204" pitchFamily="18" charset="0"/>
                          </a:rPr>
                        </m:ctrlPr>
                      </m:sSub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1</m:t>
                        </m:r>
                      </m:sub>
                      <m:sup>
                        <m:r>
                          <a:rPr lang="pt-BR" i="1">
                            <a:latin typeface="Cambria Math" panose="02040503050406030204" pitchFamily="18" charset="0"/>
                          </a:rPr>
                          <m:t>2</m:t>
                        </m:r>
                      </m:sup>
                    </m:sSubSup>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a:t>
                </a:r>
              </a:p>
              <a:p>
                <a:pPr lvl="1">
                  <a:buFont typeface="Wingdings" panose="05000000000000000000" pitchFamily="2" charset="2"/>
                  <a:buChar char="§"/>
                </a:pPr>
                <a:endParaRPr lang="pt-BR" dirty="0"/>
              </a:p>
              <a:p>
                <a:endParaRPr lang="pt-BR" dirty="0"/>
              </a:p>
              <a:p>
                <a:endParaRPr lang="en-US" dirty="0"/>
              </a:p>
            </p:txBody>
          </p:sp>
        </mc:Choice>
        <mc:Fallback xmlns="">
          <p:sp>
            <p:nvSpPr>
              <p:cNvPr id="3" name="Content Placeholder 2">
                <a:extLst>
                  <a:ext uri="{FF2B5EF4-FFF2-40B4-BE49-F238E27FC236}">
                    <a16:creationId xmlns:a16="http://schemas.microsoft.com/office/drawing/2014/main" id="{763AE027-526F-64B6-C706-EA359C1FC44D}"/>
                  </a:ext>
                </a:extLst>
              </p:cNvPr>
              <p:cNvSpPr>
                <a:spLocks noGrp="1" noRot="1" noChangeAspect="1" noMove="1" noResize="1" noEditPoints="1" noAdjustHandles="1" noChangeArrowheads="1" noChangeShapeType="1" noTextEdit="1"/>
              </p:cNvSpPr>
              <p:nvPr>
                <p:ph idx="1"/>
              </p:nvPr>
            </p:nvSpPr>
            <p:spPr>
              <a:xfrm>
                <a:off x="838199" y="1825624"/>
                <a:ext cx="11223172" cy="5032375"/>
              </a:xfrm>
              <a:blipFill>
                <a:blip r:embed="rId3"/>
                <a:stretch>
                  <a:fillRect l="-923" t="-1937"/>
                </a:stretch>
              </a:blipFill>
            </p:spPr>
            <p:txBody>
              <a:bodyPr/>
              <a:lstStyle/>
              <a:p>
                <a:r>
                  <a:rPr lang="en-US">
                    <a:noFill/>
                  </a:rPr>
                  <a:t> </a:t>
                </a:r>
              </a:p>
            </p:txBody>
          </p:sp>
        </mc:Fallback>
      </mc:AlternateContent>
    </p:spTree>
    <p:extLst>
      <p:ext uri="{BB962C8B-B14F-4D97-AF65-F5344CB8AC3E}">
        <p14:creationId xmlns:p14="http://schemas.microsoft.com/office/powerpoint/2010/main" val="33674785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9595A-2BE1-288D-C430-B42FA27A3AAD}"/>
              </a:ext>
            </a:extLst>
          </p:cNvPr>
          <p:cNvSpPr>
            <a:spLocks noGrp="1"/>
          </p:cNvSpPr>
          <p:nvPr>
            <p:ph type="title"/>
          </p:nvPr>
        </p:nvSpPr>
        <p:spPr/>
        <p:txBody>
          <a:bodyPr/>
          <a:lstStyle/>
          <a:p>
            <a:r>
              <a:rPr lang="en-US" dirty="0" err="1"/>
              <a:t>Engenharia</a:t>
            </a:r>
            <a:r>
              <a:rPr lang="en-US" dirty="0"/>
              <a:t> de </a:t>
            </a:r>
            <a:r>
              <a:rPr lang="en-US"/>
              <a:t>atributos</a:t>
            </a:r>
          </a:p>
        </p:txBody>
      </p:sp>
      <p:sp>
        <p:nvSpPr>
          <p:cNvPr id="3" name="Content Placeholder 2">
            <a:extLst>
              <a:ext uri="{FF2B5EF4-FFF2-40B4-BE49-F238E27FC236}">
                <a16:creationId xmlns:a16="http://schemas.microsoft.com/office/drawing/2014/main" id="{DC8B16F1-8959-5098-25C2-B111C8BE4B80}"/>
              </a:ext>
            </a:extLst>
          </p:cNvPr>
          <p:cNvSpPr>
            <a:spLocks noGrp="1"/>
          </p:cNvSpPr>
          <p:nvPr>
            <p:ph idx="1"/>
          </p:nvPr>
        </p:nvSpPr>
        <p:spPr>
          <a:xfrm>
            <a:off x="838199" y="1825624"/>
            <a:ext cx="11157857" cy="5032375"/>
          </a:xfrm>
        </p:spPr>
        <p:txBody>
          <a:bodyPr>
            <a:normAutofit fontScale="92500" lnSpcReduction="10000"/>
          </a:bodyPr>
          <a:lstStyle/>
          <a:p>
            <a:pPr marL="0" indent="0">
              <a:buNone/>
            </a:pPr>
            <a:r>
              <a:rPr lang="pt-BR" dirty="0" err="1">
                <a:latin typeface="Consolas" panose="020B0609020204030204" pitchFamily="49" charset="0"/>
              </a:rPr>
              <a:t>import</a:t>
            </a:r>
            <a:r>
              <a:rPr lang="pt-BR" dirty="0">
                <a:latin typeface="Consolas" panose="020B0609020204030204" pitchFamily="49" charset="0"/>
              </a:rPr>
              <a:t> pandas as </a:t>
            </a:r>
            <a:r>
              <a:rPr lang="pt-BR" dirty="0" err="1">
                <a:latin typeface="Consolas" panose="020B0609020204030204" pitchFamily="49" charset="0"/>
              </a:rPr>
              <a:t>pd</a:t>
            </a:r>
            <a:endParaRPr lang="pt-BR" dirty="0">
              <a:latin typeface="Consolas" panose="020B0609020204030204" pitchFamily="49" charset="0"/>
            </a:endParaRPr>
          </a:p>
          <a:p>
            <a:pPr marL="0" indent="0">
              <a:buNone/>
            </a:pPr>
            <a:endParaRPr lang="pt-BR" dirty="0">
              <a:latin typeface="Consolas" panose="020B0609020204030204" pitchFamily="49" charset="0"/>
            </a:endParaRPr>
          </a:p>
          <a:p>
            <a:pPr marL="0" indent="0">
              <a:buNone/>
            </a:pPr>
            <a:r>
              <a:rPr lang="pt-BR" dirty="0">
                <a:latin typeface="Consolas" panose="020B0609020204030204" pitchFamily="49" charset="0"/>
              </a:rPr>
              <a:t># Exemplo de dados</a:t>
            </a:r>
          </a:p>
          <a:p>
            <a:pPr marL="0" indent="0">
              <a:buNone/>
            </a:pPr>
            <a:r>
              <a:rPr lang="pt-BR" dirty="0" err="1">
                <a:latin typeface="Consolas" panose="020B0609020204030204" pitchFamily="49" charset="0"/>
              </a:rPr>
              <a:t>df</a:t>
            </a:r>
            <a:r>
              <a:rPr lang="pt-BR" dirty="0">
                <a:latin typeface="Consolas" panose="020B0609020204030204" pitchFamily="49" charset="0"/>
              </a:rPr>
              <a:t> = </a:t>
            </a:r>
            <a:r>
              <a:rPr lang="pt-BR" dirty="0" err="1">
                <a:latin typeface="Consolas" panose="020B0609020204030204" pitchFamily="49" charset="0"/>
              </a:rPr>
              <a:t>pd.DataFrame</a:t>
            </a:r>
            <a:r>
              <a:rPr lang="pt-BR" dirty="0">
                <a:latin typeface="Consolas" panose="020B0609020204030204" pitchFamily="49" charset="0"/>
              </a:rPr>
              <a:t>({</a:t>
            </a:r>
          </a:p>
          <a:p>
            <a:pPr marL="0" indent="0">
              <a:buNone/>
            </a:pPr>
            <a:r>
              <a:rPr lang="pt-BR" dirty="0">
                <a:latin typeface="Consolas" panose="020B0609020204030204" pitchFamily="49" charset="0"/>
              </a:rPr>
              <a:t>    "</a:t>
            </a:r>
            <a:r>
              <a:rPr lang="pt-BR" dirty="0" err="1">
                <a:latin typeface="Consolas" panose="020B0609020204030204" pitchFamily="49" charset="0"/>
              </a:rPr>
              <a:t>preco</a:t>
            </a:r>
            <a:r>
              <a:rPr lang="pt-BR" dirty="0">
                <a:latin typeface="Consolas" panose="020B0609020204030204" pitchFamily="49" charset="0"/>
              </a:rPr>
              <a:t>": [10, 20, 15],</a:t>
            </a:r>
          </a:p>
          <a:p>
            <a:pPr marL="0" indent="0">
              <a:buNone/>
            </a:pPr>
            <a:r>
              <a:rPr lang="pt-BR" dirty="0">
                <a:latin typeface="Consolas" panose="020B0609020204030204" pitchFamily="49" charset="0"/>
              </a:rPr>
              <a:t>    "quantidade": [2, 1, 3],</a:t>
            </a:r>
          </a:p>
          <a:p>
            <a:pPr marL="0" indent="0">
              <a:buNone/>
            </a:pPr>
            <a:r>
              <a:rPr lang="pt-BR" dirty="0">
                <a:latin typeface="Consolas" panose="020B0609020204030204" pitchFamily="49" charset="0"/>
              </a:rPr>
              <a:t>    "desconto": [0, 5, 0]})</a:t>
            </a:r>
          </a:p>
          <a:p>
            <a:pPr marL="0" indent="0">
              <a:buNone/>
            </a:pPr>
            <a:endParaRPr lang="pt-BR" dirty="0">
              <a:latin typeface="Consolas" panose="020B0609020204030204" pitchFamily="49" charset="0"/>
            </a:endParaRPr>
          </a:p>
          <a:p>
            <a:pPr marL="0" indent="0">
              <a:buNone/>
            </a:pPr>
            <a:r>
              <a:rPr lang="pt-BR" dirty="0">
                <a:latin typeface="Consolas" panose="020B0609020204030204" pitchFamily="49" charset="0"/>
              </a:rPr>
              <a:t># Feature </a:t>
            </a:r>
            <a:r>
              <a:rPr lang="pt-BR" dirty="0" err="1">
                <a:latin typeface="Consolas" panose="020B0609020204030204" pitchFamily="49" charset="0"/>
              </a:rPr>
              <a:t>Engineering</a:t>
            </a:r>
            <a:endParaRPr lang="pt-BR" dirty="0">
              <a:latin typeface="Consolas" panose="020B0609020204030204" pitchFamily="49" charset="0"/>
            </a:endParaRPr>
          </a:p>
          <a:p>
            <a:pPr marL="0" indent="0">
              <a:buNone/>
            </a:pPr>
            <a:r>
              <a:rPr lang="pt-BR" dirty="0" err="1">
                <a:latin typeface="Consolas" panose="020B0609020204030204" pitchFamily="49" charset="0"/>
              </a:rPr>
              <a:t>df</a:t>
            </a:r>
            <a:r>
              <a:rPr lang="pt-BR" dirty="0">
                <a:latin typeface="Consolas" panose="020B0609020204030204" pitchFamily="49" charset="0"/>
              </a:rPr>
              <a:t>["</a:t>
            </a:r>
            <a:r>
              <a:rPr lang="pt-BR" dirty="0" err="1">
                <a:latin typeface="Consolas" panose="020B0609020204030204" pitchFamily="49" charset="0"/>
              </a:rPr>
              <a:t>valor_total</a:t>
            </a:r>
            <a:r>
              <a:rPr lang="pt-BR" dirty="0">
                <a:latin typeface="Consolas" panose="020B0609020204030204" pitchFamily="49" charset="0"/>
              </a:rPr>
              <a:t>"] = </a:t>
            </a:r>
            <a:r>
              <a:rPr lang="pt-BR" dirty="0" err="1">
                <a:latin typeface="Consolas" panose="020B0609020204030204" pitchFamily="49" charset="0"/>
              </a:rPr>
              <a:t>df</a:t>
            </a:r>
            <a:r>
              <a:rPr lang="pt-BR" dirty="0">
                <a:latin typeface="Consolas" panose="020B0609020204030204" pitchFamily="49" charset="0"/>
              </a:rPr>
              <a:t>["</a:t>
            </a:r>
            <a:r>
              <a:rPr lang="pt-BR" dirty="0" err="1">
                <a:latin typeface="Consolas" panose="020B0609020204030204" pitchFamily="49" charset="0"/>
              </a:rPr>
              <a:t>preco</a:t>
            </a:r>
            <a:r>
              <a:rPr lang="pt-BR" dirty="0">
                <a:latin typeface="Consolas" panose="020B0609020204030204" pitchFamily="49" charset="0"/>
              </a:rPr>
              <a:t>"] * </a:t>
            </a:r>
            <a:r>
              <a:rPr lang="pt-BR" dirty="0" err="1">
                <a:latin typeface="Consolas" panose="020B0609020204030204" pitchFamily="49" charset="0"/>
              </a:rPr>
              <a:t>df</a:t>
            </a:r>
            <a:r>
              <a:rPr lang="pt-BR" dirty="0">
                <a:latin typeface="Consolas" panose="020B0609020204030204" pitchFamily="49" charset="0"/>
              </a:rPr>
              <a:t>["quantidade"]</a:t>
            </a:r>
          </a:p>
          <a:p>
            <a:pPr marL="0" indent="0">
              <a:buNone/>
            </a:pPr>
            <a:r>
              <a:rPr lang="pt-BR" dirty="0" err="1">
                <a:latin typeface="Consolas" panose="020B0609020204030204" pitchFamily="49" charset="0"/>
              </a:rPr>
              <a:t>df</a:t>
            </a:r>
            <a:r>
              <a:rPr lang="pt-BR" dirty="0">
                <a:latin typeface="Consolas" panose="020B0609020204030204" pitchFamily="49" charset="0"/>
              </a:rPr>
              <a:t>["</a:t>
            </a:r>
            <a:r>
              <a:rPr lang="pt-BR" dirty="0" err="1">
                <a:latin typeface="Consolas" panose="020B0609020204030204" pitchFamily="49" charset="0"/>
              </a:rPr>
              <a:t>houve_desconto</a:t>
            </a:r>
            <a:r>
              <a:rPr lang="pt-BR" dirty="0">
                <a:latin typeface="Consolas" panose="020B0609020204030204" pitchFamily="49" charset="0"/>
              </a:rPr>
              <a:t>"] = (</a:t>
            </a:r>
            <a:r>
              <a:rPr lang="pt-BR" dirty="0" err="1">
                <a:latin typeface="Consolas" panose="020B0609020204030204" pitchFamily="49" charset="0"/>
              </a:rPr>
              <a:t>df</a:t>
            </a:r>
            <a:r>
              <a:rPr lang="pt-BR" dirty="0">
                <a:latin typeface="Consolas" panose="020B0609020204030204" pitchFamily="49" charset="0"/>
              </a:rPr>
              <a:t>["desconto"] &gt; 0).</a:t>
            </a:r>
            <a:r>
              <a:rPr lang="pt-BR" dirty="0" err="1">
                <a:latin typeface="Consolas" panose="020B0609020204030204" pitchFamily="49" charset="0"/>
              </a:rPr>
              <a:t>astype</a:t>
            </a:r>
            <a:r>
              <a:rPr lang="pt-BR" dirty="0">
                <a:latin typeface="Consolas" panose="020B0609020204030204" pitchFamily="49" charset="0"/>
              </a:rPr>
              <a:t>(</a:t>
            </a:r>
            <a:r>
              <a:rPr lang="pt-BR" dirty="0" err="1">
                <a:latin typeface="Consolas" panose="020B0609020204030204" pitchFamily="49" charset="0"/>
              </a:rPr>
              <a:t>int</a:t>
            </a:r>
            <a:r>
              <a:rPr lang="pt-BR" dirty="0">
                <a:latin typeface="Consolas" panose="020B0609020204030204" pitchFamily="49" charset="0"/>
              </a:rPr>
              <a:t>)</a:t>
            </a:r>
          </a:p>
        </p:txBody>
      </p:sp>
    </p:spTree>
    <p:extLst>
      <p:ext uri="{BB962C8B-B14F-4D97-AF65-F5344CB8AC3E}">
        <p14:creationId xmlns:p14="http://schemas.microsoft.com/office/powerpoint/2010/main" val="41099880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6D7A6-03D2-CFC6-1F7F-CDB7CAC29001}"/>
              </a:ext>
            </a:extLst>
          </p:cNvPr>
          <p:cNvSpPr>
            <a:spLocks noGrp="1"/>
          </p:cNvSpPr>
          <p:nvPr>
            <p:ph type="title"/>
          </p:nvPr>
        </p:nvSpPr>
        <p:spPr/>
        <p:txBody>
          <a:bodyPr/>
          <a:lstStyle/>
          <a:p>
            <a:r>
              <a:rPr lang="pt-BR" dirty="0"/>
              <a:t>Extração de atributos</a:t>
            </a:r>
            <a:endParaRPr lang="en-US" dirty="0"/>
          </a:p>
        </p:txBody>
      </p:sp>
      <p:sp>
        <p:nvSpPr>
          <p:cNvPr id="3" name="Content Placeholder 2">
            <a:extLst>
              <a:ext uri="{FF2B5EF4-FFF2-40B4-BE49-F238E27FC236}">
                <a16:creationId xmlns:a16="http://schemas.microsoft.com/office/drawing/2014/main" id="{51EB6DEA-DC3C-E32E-8B87-E61169FB316F}"/>
              </a:ext>
            </a:extLst>
          </p:cNvPr>
          <p:cNvSpPr>
            <a:spLocks noGrp="1"/>
          </p:cNvSpPr>
          <p:nvPr>
            <p:ph idx="1"/>
          </p:nvPr>
        </p:nvSpPr>
        <p:spPr>
          <a:xfrm>
            <a:off x="838199" y="1825624"/>
            <a:ext cx="11179629" cy="5032375"/>
          </a:xfrm>
        </p:spPr>
        <p:txBody>
          <a:bodyPr>
            <a:normAutofit lnSpcReduction="10000"/>
          </a:bodyPr>
          <a:lstStyle/>
          <a:p>
            <a:r>
              <a:rPr lang="pt-BR" b="1" dirty="0"/>
              <a:t>Definição</a:t>
            </a:r>
            <a:r>
              <a:rPr lang="pt-BR" dirty="0"/>
              <a:t>: É o processo de </a:t>
            </a:r>
            <a:r>
              <a:rPr lang="pt-BR" b="1" dirty="0"/>
              <a:t>transformar</a:t>
            </a:r>
            <a:r>
              <a:rPr lang="pt-BR" dirty="0"/>
              <a:t> dados brutos em um conjunto menor de atributos significativos que podem ser processados de forma mais eficiente, mantendo as informações essenciais (perde parte da informação).</a:t>
            </a:r>
          </a:p>
          <a:p>
            <a:pPr lvl="1">
              <a:buFont typeface="Wingdings" panose="05000000000000000000" pitchFamily="2" charset="2"/>
              <a:buChar char="§"/>
            </a:pPr>
            <a:r>
              <a:rPr lang="pt-BR" b="1" dirty="0"/>
              <a:t>Transforma os dados em uma representação mais eficiente</a:t>
            </a:r>
            <a:r>
              <a:rPr lang="pt-BR" dirty="0"/>
              <a:t>.</a:t>
            </a:r>
          </a:p>
          <a:p>
            <a:r>
              <a:rPr lang="pt-BR" b="1" dirty="0"/>
              <a:t>Por que fazer</a:t>
            </a:r>
            <a:r>
              <a:rPr lang="pt-BR" dirty="0"/>
              <a:t>: </a:t>
            </a:r>
          </a:p>
          <a:p>
            <a:pPr lvl="1">
              <a:buFont typeface="Wingdings" panose="05000000000000000000" pitchFamily="2" charset="2"/>
              <a:buChar char="§"/>
            </a:pPr>
            <a:r>
              <a:rPr lang="pt-BR" dirty="0"/>
              <a:t>Reduz a dimensionalidade,</a:t>
            </a:r>
          </a:p>
          <a:p>
            <a:pPr lvl="1">
              <a:buFont typeface="Wingdings" panose="05000000000000000000" pitchFamily="2" charset="2"/>
              <a:buChar char="§"/>
            </a:pPr>
            <a:r>
              <a:rPr lang="pt-BR" dirty="0"/>
              <a:t>Remove redundância,</a:t>
            </a:r>
          </a:p>
          <a:p>
            <a:pPr lvl="1">
              <a:buFont typeface="Wingdings" panose="05000000000000000000" pitchFamily="2" charset="2"/>
              <a:buChar char="§"/>
            </a:pPr>
            <a:r>
              <a:rPr lang="pt-BR" dirty="0"/>
              <a:t>Reduz os recursos computacionais necessários para armazenamento, processamento e treinamento,</a:t>
            </a:r>
          </a:p>
          <a:p>
            <a:pPr lvl="1">
              <a:buFont typeface="Wingdings" panose="05000000000000000000" pitchFamily="2" charset="2"/>
              <a:buChar char="§"/>
            </a:pPr>
            <a:r>
              <a:rPr lang="pt-BR" dirty="0"/>
              <a:t>Acelera o treinamento,</a:t>
            </a:r>
          </a:p>
          <a:p>
            <a:pPr lvl="1">
              <a:buFont typeface="Wingdings" panose="05000000000000000000" pitchFamily="2" charset="2"/>
              <a:buChar char="§"/>
            </a:pPr>
            <a:r>
              <a:rPr lang="pt-BR" dirty="0"/>
              <a:t>Melhora o desempenho do modelo, pois os dados são mais informativos e menos ruidosos.</a:t>
            </a:r>
          </a:p>
        </p:txBody>
      </p:sp>
    </p:spTree>
    <p:extLst>
      <p:ext uri="{BB962C8B-B14F-4D97-AF65-F5344CB8AC3E}">
        <p14:creationId xmlns:p14="http://schemas.microsoft.com/office/powerpoint/2010/main" val="36401856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EF4B4-F659-1DE7-6E62-D371CCA00E4B}"/>
              </a:ext>
            </a:extLst>
          </p:cNvPr>
          <p:cNvSpPr>
            <a:spLocks noGrp="1"/>
          </p:cNvSpPr>
          <p:nvPr>
            <p:ph type="title"/>
          </p:nvPr>
        </p:nvSpPr>
        <p:spPr>
          <a:xfrm>
            <a:off x="838200" y="365125"/>
            <a:ext cx="10515600" cy="1325563"/>
          </a:xfrm>
        </p:spPr>
        <p:txBody>
          <a:bodyPr/>
          <a:lstStyle/>
          <a:p>
            <a:r>
              <a:rPr lang="pt-BR" dirty="0"/>
              <a:t>Técnicas comuns para extração de atributos</a:t>
            </a:r>
            <a:endParaRPr lang="en-US" dirty="0"/>
          </a:p>
        </p:txBody>
      </p:sp>
      <p:sp>
        <p:nvSpPr>
          <p:cNvPr id="3" name="Content Placeholder 2">
            <a:extLst>
              <a:ext uri="{FF2B5EF4-FFF2-40B4-BE49-F238E27FC236}">
                <a16:creationId xmlns:a16="http://schemas.microsoft.com/office/drawing/2014/main" id="{D7B26942-5206-022D-4BE0-7148B25012C9}"/>
              </a:ext>
            </a:extLst>
          </p:cNvPr>
          <p:cNvSpPr>
            <a:spLocks noGrp="1"/>
          </p:cNvSpPr>
          <p:nvPr>
            <p:ph idx="1"/>
          </p:nvPr>
        </p:nvSpPr>
        <p:spPr>
          <a:xfrm>
            <a:off x="838200" y="1825624"/>
            <a:ext cx="10972800" cy="5032375"/>
          </a:xfrm>
        </p:spPr>
        <p:txBody>
          <a:bodyPr>
            <a:normAutofit/>
          </a:bodyPr>
          <a:lstStyle/>
          <a:p>
            <a:r>
              <a:rPr lang="en-US" b="1" dirty="0"/>
              <a:t>Dados </a:t>
            </a:r>
            <a:r>
              <a:rPr lang="en-US" b="1" dirty="0" err="1"/>
              <a:t>tabulares</a:t>
            </a:r>
            <a:r>
              <a:rPr lang="en-US" b="1" dirty="0"/>
              <a:t>: </a:t>
            </a:r>
            <a:r>
              <a:rPr lang="pt-BR" dirty="0"/>
              <a:t>Análise de componentes principais (PCA) e análise de componentes independentes (ICA)</a:t>
            </a:r>
            <a:r>
              <a:rPr lang="en-US" dirty="0"/>
              <a:t>.</a:t>
            </a:r>
          </a:p>
          <a:p>
            <a:pPr lvl="1">
              <a:buFont typeface="Wingdings" panose="05000000000000000000" pitchFamily="2" charset="2"/>
              <a:buChar char="§"/>
            </a:pPr>
            <a:r>
              <a:rPr lang="pt-BR" dirty="0"/>
              <a:t>Criam novos atributos não correlacionados que capturam a variância máxima (PCA) ou a independência dos atributos (ICA).</a:t>
            </a:r>
          </a:p>
          <a:p>
            <a:r>
              <a:rPr lang="en-US" b="1" dirty="0" err="1"/>
              <a:t>Texto</a:t>
            </a:r>
            <a:r>
              <a:rPr lang="en-US" dirty="0"/>
              <a:t>: </a:t>
            </a:r>
            <a:r>
              <a:rPr lang="pt-BR" i="1" dirty="0"/>
              <a:t>Bag </a:t>
            </a:r>
            <a:r>
              <a:rPr lang="pt-BR" i="1" dirty="0" err="1"/>
              <a:t>of</a:t>
            </a:r>
            <a:r>
              <a:rPr lang="pt-BR" i="1" dirty="0"/>
              <a:t> words </a:t>
            </a:r>
            <a:r>
              <a:rPr lang="pt-BR" dirty="0"/>
              <a:t>(</a:t>
            </a:r>
            <a:r>
              <a:rPr lang="pt-BR" dirty="0" err="1"/>
              <a:t>BoW</a:t>
            </a:r>
            <a:r>
              <a:rPr lang="pt-BR" dirty="0"/>
              <a:t>), </a:t>
            </a:r>
            <a:r>
              <a:rPr lang="pt-BR" i="1" dirty="0" err="1"/>
              <a:t>Term</a:t>
            </a:r>
            <a:r>
              <a:rPr lang="pt-BR" i="1" dirty="0"/>
              <a:t> Frequency-</a:t>
            </a:r>
            <a:r>
              <a:rPr lang="pt-BR" i="1" dirty="0" err="1"/>
              <a:t>Inverse</a:t>
            </a:r>
            <a:r>
              <a:rPr lang="pt-BR" i="1" dirty="0"/>
              <a:t> </a:t>
            </a:r>
            <a:r>
              <a:rPr lang="pt-BR" i="1" dirty="0" err="1"/>
              <a:t>Document</a:t>
            </a:r>
            <a:r>
              <a:rPr lang="pt-BR" i="1" dirty="0"/>
              <a:t> Frequency</a:t>
            </a:r>
            <a:r>
              <a:rPr lang="pt-BR" dirty="0"/>
              <a:t> (TF-IDF), </a:t>
            </a:r>
            <a:r>
              <a:rPr lang="pt-BR" i="1" dirty="0"/>
              <a:t>Word </a:t>
            </a:r>
            <a:r>
              <a:rPr lang="pt-BR" i="1" dirty="0" err="1"/>
              <a:t>Embeddings</a:t>
            </a:r>
            <a:r>
              <a:rPr lang="pt-BR" dirty="0"/>
              <a:t>.</a:t>
            </a:r>
          </a:p>
          <a:p>
            <a:pPr lvl="1">
              <a:buFont typeface="Wingdings" panose="05000000000000000000" pitchFamily="2" charset="2"/>
              <a:buChar char="§"/>
            </a:pPr>
            <a:r>
              <a:rPr lang="pt-BR" dirty="0"/>
              <a:t>Transformam texto em representações numéricas (modelos de ML entendem números), variando de contagens simples de palavras, a pesos informativos, até vetores densos que capturam significado e contexto.</a:t>
            </a:r>
          </a:p>
        </p:txBody>
      </p:sp>
    </p:spTree>
    <p:extLst>
      <p:ext uri="{BB962C8B-B14F-4D97-AF65-F5344CB8AC3E}">
        <p14:creationId xmlns:p14="http://schemas.microsoft.com/office/powerpoint/2010/main" val="25340486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A50CC-E4E4-866D-D5C7-E4222B31A3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68C7CA-8174-8A0F-0146-60743B66301E}"/>
              </a:ext>
            </a:extLst>
          </p:cNvPr>
          <p:cNvSpPr>
            <a:spLocks noGrp="1"/>
          </p:cNvSpPr>
          <p:nvPr>
            <p:ph type="title"/>
          </p:nvPr>
        </p:nvSpPr>
        <p:spPr>
          <a:xfrm>
            <a:off x="838200" y="365125"/>
            <a:ext cx="10515600" cy="1325563"/>
          </a:xfrm>
        </p:spPr>
        <p:txBody>
          <a:bodyPr/>
          <a:lstStyle/>
          <a:p>
            <a:r>
              <a:rPr lang="pt-BR" dirty="0"/>
              <a:t>Técnicas comuns para extração de atributos</a:t>
            </a:r>
            <a:endParaRPr lang="en-US" dirty="0"/>
          </a:p>
        </p:txBody>
      </p:sp>
      <p:sp>
        <p:nvSpPr>
          <p:cNvPr id="3" name="Content Placeholder 2">
            <a:extLst>
              <a:ext uri="{FF2B5EF4-FFF2-40B4-BE49-F238E27FC236}">
                <a16:creationId xmlns:a16="http://schemas.microsoft.com/office/drawing/2014/main" id="{1749F228-6F7A-6925-AA1A-83CC98A35408}"/>
              </a:ext>
            </a:extLst>
          </p:cNvPr>
          <p:cNvSpPr>
            <a:spLocks noGrp="1"/>
          </p:cNvSpPr>
          <p:nvPr>
            <p:ph idx="1"/>
          </p:nvPr>
        </p:nvSpPr>
        <p:spPr>
          <a:xfrm>
            <a:off x="838199" y="1825624"/>
            <a:ext cx="11081657" cy="5032375"/>
          </a:xfrm>
        </p:spPr>
        <p:txBody>
          <a:bodyPr>
            <a:normAutofit/>
          </a:bodyPr>
          <a:lstStyle/>
          <a:p>
            <a:r>
              <a:rPr lang="en-US" b="1" dirty="0" err="1"/>
              <a:t>Imagem</a:t>
            </a:r>
            <a:r>
              <a:rPr lang="en-US" dirty="0"/>
              <a:t>: </a:t>
            </a:r>
            <a:r>
              <a:rPr lang="en-US" i="1" dirty="0"/>
              <a:t>Histogram of Oriented Gradients</a:t>
            </a:r>
            <a:r>
              <a:rPr lang="en-US" dirty="0"/>
              <a:t> (HOG), </a:t>
            </a:r>
            <a:r>
              <a:rPr lang="en-US" i="1" dirty="0"/>
              <a:t>Scale-Invariant Feature Transform</a:t>
            </a:r>
            <a:r>
              <a:rPr lang="en-US" dirty="0"/>
              <a:t> (SIFT), </a:t>
            </a:r>
            <a:r>
              <a:rPr lang="en-US" i="1" dirty="0"/>
              <a:t>Convolutional Neural Network</a:t>
            </a:r>
            <a:r>
              <a:rPr lang="en-US" dirty="0"/>
              <a:t> (CNN).</a:t>
            </a:r>
          </a:p>
          <a:p>
            <a:pPr lvl="1">
              <a:buFont typeface="Wingdings" panose="05000000000000000000" pitchFamily="2" charset="2"/>
              <a:buChar char="§"/>
            </a:pPr>
            <a:r>
              <a:rPr lang="pt-BR" dirty="0"/>
              <a:t>Transformam </a:t>
            </a:r>
            <a:r>
              <a:rPr lang="pt-BR" i="1" dirty="0"/>
              <a:t>pixels</a:t>
            </a:r>
            <a:r>
              <a:rPr lang="pt-BR" dirty="0"/>
              <a:t> brutos em representações numéricas que capturam padrões visuais relevantes, como bordas, texturas, cores e estruturas semânticas, para facilitar o aprendizado dos modelos.</a:t>
            </a:r>
          </a:p>
          <a:p>
            <a:r>
              <a:rPr lang="pt-BR" b="1" dirty="0"/>
              <a:t>Séries temporais (áudio)</a:t>
            </a:r>
            <a:r>
              <a:rPr lang="pt-BR" dirty="0"/>
              <a:t>: </a:t>
            </a:r>
            <a:r>
              <a:rPr lang="en-US" i="1" dirty="0"/>
              <a:t>Mel-frequency cepstral coefficients</a:t>
            </a:r>
            <a:r>
              <a:rPr lang="en-US" dirty="0"/>
              <a:t> (MFCCs), </a:t>
            </a:r>
            <a:r>
              <a:rPr lang="en-US" dirty="0" err="1"/>
              <a:t>Transformada</a:t>
            </a:r>
            <a:r>
              <a:rPr lang="en-US" dirty="0"/>
              <a:t> </a:t>
            </a:r>
            <a:r>
              <a:rPr lang="en-US" dirty="0" err="1"/>
              <a:t>rápida</a:t>
            </a:r>
            <a:r>
              <a:rPr lang="en-US" dirty="0"/>
              <a:t> de Fourier (FFT), </a:t>
            </a:r>
            <a:r>
              <a:rPr lang="en-US" dirty="0" err="1"/>
              <a:t>Espectogramas</a:t>
            </a:r>
            <a:r>
              <a:rPr lang="en-US" dirty="0"/>
              <a:t>, </a:t>
            </a:r>
            <a:r>
              <a:rPr lang="en-US" dirty="0" err="1"/>
              <a:t>Transformada</a:t>
            </a:r>
            <a:r>
              <a:rPr lang="en-US" dirty="0"/>
              <a:t> de </a:t>
            </a:r>
            <a:r>
              <a:rPr lang="en-US" i="1" dirty="0"/>
              <a:t>Wavelet</a:t>
            </a:r>
            <a:r>
              <a:rPr lang="en-US" dirty="0"/>
              <a:t>.</a:t>
            </a:r>
          </a:p>
          <a:p>
            <a:pPr lvl="1">
              <a:buFont typeface="Wingdings" panose="05000000000000000000" pitchFamily="2" charset="2"/>
              <a:buChar char="§"/>
            </a:pPr>
            <a:r>
              <a:rPr lang="pt-BR" dirty="0"/>
              <a:t>Transformam os sinais em características que capturam propriedades espectrais ou de tempo-frequência.</a:t>
            </a:r>
            <a:endParaRPr lang="en-US" dirty="0"/>
          </a:p>
        </p:txBody>
      </p:sp>
    </p:spTree>
    <p:extLst>
      <p:ext uri="{BB962C8B-B14F-4D97-AF65-F5344CB8AC3E}">
        <p14:creationId xmlns:p14="http://schemas.microsoft.com/office/powerpoint/2010/main" val="23360758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2A07421-70E9-CE6B-B44C-E12574A16A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70997" y="625688"/>
            <a:ext cx="6250006" cy="5606623"/>
          </a:xfrm>
          <a:prstGeom prst="rect">
            <a:avLst/>
          </a:prstGeom>
        </p:spPr>
      </p:pic>
    </p:spTree>
    <p:extLst>
      <p:ext uri="{BB962C8B-B14F-4D97-AF65-F5344CB8AC3E}">
        <p14:creationId xmlns:p14="http://schemas.microsoft.com/office/powerpoint/2010/main" val="39752009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A5E37-BFF0-D601-7CAC-F57F89EADFA9}"/>
              </a:ext>
            </a:extLst>
          </p:cNvPr>
          <p:cNvSpPr>
            <a:spLocks noGrp="1"/>
          </p:cNvSpPr>
          <p:nvPr>
            <p:ph type="title"/>
          </p:nvPr>
        </p:nvSpPr>
        <p:spPr/>
        <p:txBody>
          <a:bodyPr/>
          <a:lstStyle/>
          <a:p>
            <a:r>
              <a:rPr lang="pt-BR" dirty="0"/>
              <a:t>Análise de componentes principais (PCA)</a:t>
            </a:r>
            <a:endParaRPr lang="en-US" dirty="0"/>
          </a:p>
        </p:txBody>
      </p:sp>
      <p:sp>
        <p:nvSpPr>
          <p:cNvPr id="3" name="Content Placeholder 2">
            <a:extLst>
              <a:ext uri="{FF2B5EF4-FFF2-40B4-BE49-F238E27FC236}">
                <a16:creationId xmlns:a16="http://schemas.microsoft.com/office/drawing/2014/main" id="{33AD06C3-5EDF-4BF5-C344-E650C60EE3F5}"/>
              </a:ext>
            </a:extLst>
          </p:cNvPr>
          <p:cNvSpPr>
            <a:spLocks noGrp="1"/>
          </p:cNvSpPr>
          <p:nvPr>
            <p:ph idx="1"/>
          </p:nvPr>
        </p:nvSpPr>
        <p:spPr>
          <a:xfrm>
            <a:off x="838199" y="1825624"/>
            <a:ext cx="11223171" cy="5032375"/>
          </a:xfrm>
        </p:spPr>
        <p:txBody>
          <a:bodyPr>
            <a:normAutofit/>
          </a:bodyPr>
          <a:lstStyle/>
          <a:p>
            <a:r>
              <a:rPr lang="pt-BR" dirty="0"/>
              <a:t>PCA funciona encontrando novas direções (componentes principais) que capturam o máximo de variância dos dados e </a:t>
            </a:r>
            <a:r>
              <a:rPr lang="pt-BR" b="1" dirty="0"/>
              <a:t>projetando</a:t>
            </a:r>
            <a:r>
              <a:rPr lang="pt-BR" dirty="0"/>
              <a:t> os dados nessas direções para reduzir a dimensionalidade com mínima perda de informação.</a:t>
            </a:r>
            <a:endParaRPr lang="en-US" dirty="0"/>
          </a:p>
        </p:txBody>
      </p:sp>
      <p:pic>
        <p:nvPicPr>
          <p:cNvPr id="1026" name="Picture 2" descr="How PCA simplifies dimensionality reduction for data science | Parviz  Jabrayilli posted on the topic | LinkedIn">
            <a:extLst>
              <a:ext uri="{FF2B5EF4-FFF2-40B4-BE49-F238E27FC236}">
                <a16:creationId xmlns:a16="http://schemas.microsoft.com/office/drawing/2014/main" id="{95832D94-6CA3-74CA-953F-81502243BA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00" t="29387" r="4428" b="8776"/>
          <a:stretch>
            <a:fillRect/>
          </a:stretch>
        </p:blipFill>
        <p:spPr bwMode="auto">
          <a:xfrm>
            <a:off x="2508564" y="3429000"/>
            <a:ext cx="7174871" cy="34289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68346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BD960-B60C-7D80-DEBE-951EAB97B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D1ACB-37E4-1262-7CA1-257836C87326}"/>
              </a:ext>
            </a:extLst>
          </p:cNvPr>
          <p:cNvSpPr>
            <a:spLocks noGrp="1"/>
          </p:cNvSpPr>
          <p:nvPr>
            <p:ph type="title"/>
          </p:nvPr>
        </p:nvSpPr>
        <p:spPr/>
        <p:txBody>
          <a:bodyPr/>
          <a:lstStyle/>
          <a:p>
            <a:r>
              <a:rPr lang="pt-BR" dirty="0"/>
              <a:t>Análise de componentes principais (PCA)</a:t>
            </a:r>
            <a:endParaRPr lang="en-US" dirty="0"/>
          </a:p>
        </p:txBody>
      </p:sp>
      <p:sp>
        <p:nvSpPr>
          <p:cNvPr id="3" name="Content Placeholder 2">
            <a:extLst>
              <a:ext uri="{FF2B5EF4-FFF2-40B4-BE49-F238E27FC236}">
                <a16:creationId xmlns:a16="http://schemas.microsoft.com/office/drawing/2014/main" id="{A76563BA-A520-CEA6-4C95-B4E96386BB2F}"/>
              </a:ext>
            </a:extLst>
          </p:cNvPr>
          <p:cNvSpPr>
            <a:spLocks noGrp="1"/>
          </p:cNvSpPr>
          <p:nvPr>
            <p:ph idx="1"/>
          </p:nvPr>
        </p:nvSpPr>
        <p:spPr>
          <a:xfrm>
            <a:off x="6258745" y="1825624"/>
            <a:ext cx="5857055" cy="5032375"/>
          </a:xfrm>
        </p:spPr>
        <p:txBody>
          <a:bodyPr>
            <a:normAutofit lnSpcReduction="10000"/>
          </a:bodyPr>
          <a:lstStyle/>
          <a:p>
            <a:r>
              <a:rPr lang="pt-BR" dirty="0"/>
              <a:t>O algoritmo encontra as direções que melhor descrevem como os dados estão espalhados (i.e., máxima variância).</a:t>
            </a:r>
          </a:p>
          <a:p>
            <a:r>
              <a:rPr lang="pt-BR" dirty="0"/>
              <a:t>Na figura, PC1 é a direção onde os dados variam mais.</a:t>
            </a:r>
          </a:p>
          <a:p>
            <a:r>
              <a:rPr lang="pt-BR" dirty="0"/>
              <a:t>Já PC2 é a direção ortogonal à PC1 com a segunda maior variância.</a:t>
            </a:r>
          </a:p>
          <a:p>
            <a:r>
              <a:rPr lang="pt-BR" dirty="0"/>
              <a:t>Mantendo PC1, preserva-se a maior parte da informação.</a:t>
            </a:r>
          </a:p>
          <a:p>
            <a:r>
              <a:rPr lang="pt-BR" dirty="0"/>
              <a:t>PC2 representa variação residual (menor importância).</a:t>
            </a:r>
          </a:p>
          <a:p>
            <a:endParaRPr lang="pt-BR" dirty="0"/>
          </a:p>
          <a:p>
            <a:endParaRPr lang="en-US" dirty="0"/>
          </a:p>
        </p:txBody>
      </p:sp>
      <p:pic>
        <p:nvPicPr>
          <p:cNvPr id="1026" name="Picture 2" descr="How PCA simplifies dimensionality reduction for data science | Parviz  Jabrayilli posted on the topic | LinkedIn">
            <a:extLst>
              <a:ext uri="{FF2B5EF4-FFF2-40B4-BE49-F238E27FC236}">
                <a16:creationId xmlns:a16="http://schemas.microsoft.com/office/drawing/2014/main" id="{2042F2C9-8E5E-6B1C-CA29-BEF6D914A6A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00" t="29387" r="4428" b="8776"/>
          <a:stretch>
            <a:fillRect/>
          </a:stretch>
        </p:blipFill>
        <p:spPr bwMode="auto">
          <a:xfrm>
            <a:off x="108856" y="2370591"/>
            <a:ext cx="6149889" cy="2939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2703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31546-F5F9-DFE0-8083-0625699012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4E97D0-8FC3-8364-395F-A8F74B389404}"/>
              </a:ext>
            </a:extLst>
          </p:cNvPr>
          <p:cNvSpPr>
            <a:spLocks noGrp="1"/>
          </p:cNvSpPr>
          <p:nvPr>
            <p:ph type="title"/>
          </p:nvPr>
        </p:nvSpPr>
        <p:spPr/>
        <p:txBody>
          <a:bodyPr/>
          <a:lstStyle/>
          <a:p>
            <a:r>
              <a:rPr lang="pt-BR" dirty="0"/>
              <a:t>Análise de componentes principais (PCA)</a:t>
            </a:r>
            <a:endParaRPr lang="en-US" dirty="0"/>
          </a:p>
        </p:txBody>
      </p:sp>
      <p:sp>
        <p:nvSpPr>
          <p:cNvPr id="3" name="Content Placeholder 2">
            <a:extLst>
              <a:ext uri="{FF2B5EF4-FFF2-40B4-BE49-F238E27FC236}">
                <a16:creationId xmlns:a16="http://schemas.microsoft.com/office/drawing/2014/main" id="{8892F978-6C6D-84DF-EA37-4EBED96DE34D}"/>
              </a:ext>
            </a:extLst>
          </p:cNvPr>
          <p:cNvSpPr>
            <a:spLocks noGrp="1"/>
          </p:cNvSpPr>
          <p:nvPr>
            <p:ph idx="1"/>
          </p:nvPr>
        </p:nvSpPr>
        <p:spPr>
          <a:xfrm>
            <a:off x="838200" y="1825624"/>
            <a:ext cx="11179628" cy="5032375"/>
          </a:xfrm>
        </p:spPr>
        <p:txBody>
          <a:bodyPr>
            <a:normAutofit/>
          </a:bodyPr>
          <a:lstStyle/>
          <a:p>
            <a:r>
              <a:rPr lang="pt-BR" dirty="0"/>
              <a:t>As PCs são ordenadas por variância.</a:t>
            </a:r>
          </a:p>
          <a:p>
            <a:pPr lvl="1">
              <a:buFont typeface="Wingdings" panose="05000000000000000000" pitchFamily="2" charset="2"/>
              <a:buChar char="§"/>
            </a:pPr>
            <a:r>
              <a:rPr lang="pt-BR" dirty="0"/>
              <a:t>A matriz de </a:t>
            </a:r>
            <a:r>
              <a:rPr lang="pt-BR" b="1" dirty="0"/>
              <a:t>projeção</a:t>
            </a:r>
            <a:r>
              <a:rPr lang="pt-BR" dirty="0"/>
              <a:t> é ordenada da componente de maior variância para a menor.</a:t>
            </a:r>
          </a:p>
          <a:p>
            <a:r>
              <a:rPr lang="pt-BR" dirty="0"/>
              <a:t>Cada componente é uma </a:t>
            </a:r>
            <a:r>
              <a:rPr lang="pt-BR" b="1" dirty="0"/>
              <a:t>combinação linear</a:t>
            </a:r>
            <a:r>
              <a:rPr lang="pt-BR" dirty="0"/>
              <a:t> dos atributos originais.</a:t>
            </a:r>
          </a:p>
          <a:p>
            <a:r>
              <a:rPr lang="pt-BR" dirty="0"/>
              <a:t>O PCA </a:t>
            </a:r>
            <a:r>
              <a:rPr lang="pt-BR" b="1" dirty="0"/>
              <a:t>assume relações lineares entre os atributos </a:t>
            </a:r>
            <a:r>
              <a:rPr lang="pt-BR" dirty="0"/>
              <a:t>(traça linhas retas para capturar as variâncias).</a:t>
            </a:r>
          </a:p>
          <a:p>
            <a:pPr lvl="1">
              <a:buFont typeface="Wingdings" panose="05000000000000000000" pitchFamily="2" charset="2"/>
              <a:buChar char="§"/>
            </a:pPr>
            <a:r>
              <a:rPr lang="pt-BR" dirty="0"/>
              <a:t>Se os dados originais seguem um padrão curvo (como uma senoide	, meia lua ou um círculo), o PCA vai ter um desempenho bem ruim.</a:t>
            </a:r>
          </a:p>
          <a:p>
            <a:pPr lvl="1">
              <a:buFont typeface="Wingdings" panose="05000000000000000000" pitchFamily="2" charset="2"/>
              <a:buChar char="§"/>
            </a:pPr>
            <a:r>
              <a:rPr lang="pt-BR" dirty="0"/>
              <a:t>Usar técnicas não lineares como </a:t>
            </a:r>
            <a:r>
              <a:rPr lang="en-US" dirty="0"/>
              <a:t>Kernel PCA e t-SNE.</a:t>
            </a:r>
            <a:endParaRPr lang="pt-BR" dirty="0"/>
          </a:p>
          <a:p>
            <a:r>
              <a:rPr lang="pt-BR" dirty="0"/>
              <a:t>Deve ser aplicado após a separação do dados em conjuntos de treinamento, validação e teste para evitar vazamento.</a:t>
            </a:r>
          </a:p>
        </p:txBody>
      </p:sp>
    </p:spTree>
    <p:extLst>
      <p:ext uri="{BB962C8B-B14F-4D97-AF65-F5344CB8AC3E}">
        <p14:creationId xmlns:p14="http://schemas.microsoft.com/office/powerpoint/2010/main" val="28271458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F3F2D-3BEE-7F15-4F99-AF9C21DAB2F1}"/>
              </a:ext>
            </a:extLst>
          </p:cNvPr>
          <p:cNvSpPr>
            <a:spLocks noGrp="1"/>
          </p:cNvSpPr>
          <p:nvPr>
            <p:ph type="title"/>
          </p:nvPr>
        </p:nvSpPr>
        <p:spPr/>
        <p:txBody>
          <a:bodyPr/>
          <a:lstStyle/>
          <a:p>
            <a:r>
              <a:rPr lang="pt-BR"/>
              <a:t>Análise de componentes principais (PCA)</a:t>
            </a:r>
            <a:endParaRPr lang="en-US"/>
          </a:p>
        </p:txBody>
      </p:sp>
      <p:sp>
        <p:nvSpPr>
          <p:cNvPr id="3" name="Content Placeholder 2">
            <a:extLst>
              <a:ext uri="{FF2B5EF4-FFF2-40B4-BE49-F238E27FC236}">
                <a16:creationId xmlns:a16="http://schemas.microsoft.com/office/drawing/2014/main" id="{5492C856-EB66-8FEA-48EB-605CA54FC1D8}"/>
              </a:ext>
            </a:extLst>
          </p:cNvPr>
          <p:cNvSpPr>
            <a:spLocks noGrp="1"/>
          </p:cNvSpPr>
          <p:nvPr>
            <p:ph idx="1"/>
          </p:nvPr>
        </p:nvSpPr>
        <p:spPr>
          <a:xfrm>
            <a:off x="838199" y="1825624"/>
            <a:ext cx="11157857" cy="5032375"/>
          </a:xfrm>
        </p:spPr>
        <p:txBody>
          <a:bodyPr>
            <a:normAutofit fontScale="92500" lnSpcReduction="2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sklearn.decomposition</a:t>
            </a:r>
            <a:r>
              <a:rPr lang="en-US" dirty="0">
                <a:latin typeface="Consolas" panose="020B0609020204030204" pitchFamily="49" charset="0"/>
              </a:rPr>
              <a:t> import PCA</a:t>
            </a:r>
          </a:p>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StandardScaler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Escalonar</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dados antes do PCA (é </a:t>
            </a:r>
            <a:r>
              <a:rPr lang="en-US" i="1" dirty="0" err="1">
                <a:latin typeface="Consolas" panose="020B0609020204030204" pitchFamily="49" charset="0"/>
              </a:rPr>
              <a:t>obrigatório</a:t>
            </a:r>
            <a:r>
              <a:rPr lang="en-US" i="1" dirty="0">
                <a:latin typeface="Consolas" panose="020B0609020204030204" pitchFamily="49" charset="0"/>
              </a:rPr>
              <a:t> </a:t>
            </a:r>
            <a:r>
              <a:rPr lang="en-US" i="1" dirty="0" err="1">
                <a:latin typeface="Consolas" panose="020B0609020204030204" pitchFamily="49" charset="0"/>
              </a:rPr>
              <a:t>que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atributos</a:t>
            </a:r>
            <a:r>
              <a:rPr lang="en-US" i="1" dirty="0">
                <a:latin typeface="Consolas" panose="020B0609020204030204" pitchFamily="49" charset="0"/>
              </a:rPr>
              <a:t> </a:t>
            </a:r>
            <a:r>
              <a:rPr lang="en-US" i="1" dirty="0" err="1">
                <a:latin typeface="Consolas" panose="020B0609020204030204" pitchFamily="49" charset="0"/>
              </a:rPr>
              <a:t>tenham</a:t>
            </a:r>
            <a:r>
              <a:rPr lang="en-US" i="1" dirty="0">
                <a:latin typeface="Consolas" panose="020B0609020204030204" pitchFamily="49" charset="0"/>
              </a:rPr>
              <a:t> a </a:t>
            </a:r>
            <a:r>
              <a:rPr lang="en-US" i="1" dirty="0" err="1">
                <a:latin typeface="Consolas" panose="020B0609020204030204" pitchFamily="49" charset="0"/>
              </a:rPr>
              <a:t>mesma</a:t>
            </a:r>
            <a:r>
              <a:rPr lang="en-US" i="1" dirty="0">
                <a:latin typeface="Consolas" panose="020B0609020204030204" pitchFamily="49" charset="0"/>
              </a:rPr>
              <a:t> </a:t>
            </a:r>
            <a:r>
              <a:rPr lang="en-US" i="1" dirty="0" err="1">
                <a:latin typeface="Consolas" panose="020B0609020204030204" pitchFamily="49" charset="0"/>
              </a:rPr>
              <a:t>variância</a:t>
            </a:r>
            <a:r>
              <a:rPr lang="en-US" i="1" dirty="0">
                <a:latin typeface="Consolas" panose="020B0609020204030204" pitchFamily="49" charset="0"/>
              </a:rPr>
              <a:t>)</a:t>
            </a: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StandardScaler</a:t>
            </a:r>
            <a:r>
              <a:rPr lang="en-US" dirty="0">
                <a:latin typeface="Consolas" panose="020B0609020204030204" pitchFamily="49" charset="0"/>
              </a:rPr>
              <a:t>().</a:t>
            </a:r>
            <a:r>
              <a:rPr lang="en-US" dirty="0" err="1">
                <a:latin typeface="Consolas" panose="020B0609020204030204" pitchFamily="49" charset="0"/>
              </a:rPr>
              <a:t>fit_transform</a:t>
            </a:r>
            <a:r>
              <a:rPr lang="en-US" dirty="0">
                <a:latin typeface="Consolas" panose="020B0609020204030204" pitchFamily="49" charset="0"/>
              </a:rPr>
              <a:t>(X)</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Extrair</a:t>
            </a:r>
            <a:r>
              <a:rPr lang="en-US" i="1" dirty="0">
                <a:latin typeface="Consolas" panose="020B0609020204030204" pitchFamily="49" charset="0"/>
              </a:rPr>
              <a:t> 2 </a:t>
            </a:r>
            <a:r>
              <a:rPr lang="en-US" i="1" dirty="0" err="1">
                <a:latin typeface="Consolas" panose="020B0609020204030204" pitchFamily="49" charset="0"/>
              </a:rPr>
              <a:t>componentes</a:t>
            </a:r>
            <a:endParaRPr lang="en-US" i="1" dirty="0">
              <a:latin typeface="Consolas" panose="020B0609020204030204" pitchFamily="49" charset="0"/>
            </a:endParaRPr>
          </a:p>
          <a:p>
            <a:pPr marL="0" indent="0">
              <a:buNone/>
            </a:pPr>
            <a:r>
              <a:rPr lang="en-US" dirty="0" err="1">
                <a:latin typeface="Consolas" panose="020B0609020204030204" pitchFamily="49" charset="0"/>
              </a:rPr>
              <a:t>pca</a:t>
            </a:r>
            <a:r>
              <a:rPr lang="en-US" dirty="0">
                <a:latin typeface="Consolas" panose="020B0609020204030204" pitchFamily="49" charset="0"/>
              </a:rPr>
              <a:t> = PCA(</a:t>
            </a:r>
            <a:r>
              <a:rPr lang="en-US" dirty="0" err="1">
                <a:latin typeface="Consolas" panose="020B0609020204030204" pitchFamily="49" charset="0"/>
              </a:rPr>
              <a:t>n_components</a:t>
            </a:r>
            <a:r>
              <a:rPr lang="en-US" dirty="0">
                <a:latin typeface="Consolas" panose="020B0609020204030204" pitchFamily="49" charset="0"/>
              </a:rPr>
              <a:t>=2)</a:t>
            </a:r>
          </a:p>
          <a:p>
            <a:pPr marL="0" indent="0">
              <a:buNone/>
            </a:pPr>
            <a:r>
              <a:rPr lang="en-US" dirty="0" err="1">
                <a:latin typeface="Consolas" panose="020B0609020204030204" pitchFamily="49" charset="0"/>
              </a:rPr>
              <a:t>X_pca</a:t>
            </a:r>
            <a:r>
              <a:rPr lang="en-US" dirty="0">
                <a:latin typeface="Consolas" panose="020B0609020204030204" pitchFamily="49" charset="0"/>
              </a:rPr>
              <a:t> = </a:t>
            </a:r>
            <a:r>
              <a:rPr lang="en-US" dirty="0" err="1">
                <a:latin typeface="Consolas" panose="020B0609020204030204" pitchFamily="49" charset="0"/>
              </a:rPr>
              <a:t>pca.fit_transform</a:t>
            </a:r>
            <a:r>
              <a:rPr lang="en-US" dirty="0">
                <a:latin typeface="Consolas" panose="020B0609020204030204" pitchFamily="49" charset="0"/>
              </a:rPr>
              <a:t>(</a:t>
            </a:r>
            <a:r>
              <a:rPr lang="en-US" dirty="0" err="1">
                <a:latin typeface="Consolas" panose="020B0609020204030204" pitchFamily="49" charset="0"/>
              </a:rPr>
              <a:t>X_scaled</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print(</a:t>
            </a:r>
            <a:r>
              <a:rPr lang="en-US" dirty="0" err="1">
                <a:latin typeface="Consolas" panose="020B0609020204030204" pitchFamily="49" charset="0"/>
              </a:rPr>
              <a:t>pca.explained_variance_ratio</a:t>
            </a:r>
            <a:r>
              <a:rPr lang="en-US" dirty="0">
                <a:latin typeface="Consolas" panose="020B0609020204030204" pitchFamily="49" charset="0"/>
              </a:rPr>
              <a:t>_)</a:t>
            </a:r>
          </a:p>
        </p:txBody>
      </p:sp>
      <p:sp>
        <p:nvSpPr>
          <p:cNvPr id="5" name="TextBox 4">
            <a:extLst>
              <a:ext uri="{FF2B5EF4-FFF2-40B4-BE49-F238E27FC236}">
                <a16:creationId xmlns:a16="http://schemas.microsoft.com/office/drawing/2014/main" id="{EC8214E1-81F4-96EA-7AE9-0BB856B13E0B}"/>
              </a:ext>
            </a:extLst>
          </p:cNvPr>
          <p:cNvSpPr txBox="1"/>
          <p:nvPr/>
        </p:nvSpPr>
        <p:spPr>
          <a:xfrm>
            <a:off x="8784771" y="4341811"/>
            <a:ext cx="2862944" cy="1477328"/>
          </a:xfrm>
          <a:prstGeom prst="rect">
            <a:avLst/>
          </a:prstGeom>
          <a:noFill/>
        </p:spPr>
        <p:txBody>
          <a:bodyPr wrap="square">
            <a:spAutoFit/>
          </a:bodyPr>
          <a:lstStyle/>
          <a:p>
            <a:pPr algn="ctr"/>
            <a:r>
              <a:rPr lang="en-US" b="1" dirty="0"/>
              <a:t>OBS</a:t>
            </a:r>
            <a:r>
              <a:rPr lang="en-US" dirty="0"/>
              <a:t>.: “</a:t>
            </a:r>
            <a:r>
              <a:rPr lang="en-US" dirty="0" err="1"/>
              <a:t>n_components</a:t>
            </a:r>
            <a:r>
              <a:rPr lang="en-US" dirty="0"/>
              <a:t>” </a:t>
            </a:r>
            <a:r>
              <a:rPr lang="en-US" dirty="0" err="1"/>
              <a:t>pode</a:t>
            </a:r>
            <a:r>
              <a:rPr lang="en-US" dirty="0"/>
              <a:t> ser </a:t>
            </a:r>
            <a:r>
              <a:rPr lang="en-US" dirty="0" err="1"/>
              <a:t>também</a:t>
            </a:r>
            <a:r>
              <a:rPr lang="en-US" dirty="0"/>
              <a:t> um </a:t>
            </a:r>
            <a:r>
              <a:rPr lang="en-US" dirty="0" err="1"/>
              <a:t>número</a:t>
            </a:r>
            <a:r>
              <a:rPr lang="en-US" dirty="0"/>
              <a:t> entre 0 e 1 </a:t>
            </a:r>
            <a:r>
              <a:rPr lang="en-US" dirty="0" err="1"/>
              <a:t>especificando</a:t>
            </a:r>
            <a:r>
              <a:rPr lang="en-US" dirty="0"/>
              <a:t> o </a:t>
            </a:r>
            <a:r>
              <a:rPr lang="en-US" dirty="0" err="1"/>
              <a:t>mínimo</a:t>
            </a:r>
            <a:r>
              <a:rPr lang="en-US" dirty="0"/>
              <a:t> de </a:t>
            </a:r>
            <a:r>
              <a:rPr lang="en-US" dirty="0" err="1"/>
              <a:t>variância</a:t>
            </a:r>
            <a:r>
              <a:rPr lang="en-US" dirty="0"/>
              <a:t> </a:t>
            </a:r>
            <a:r>
              <a:rPr lang="en-US" dirty="0" err="1"/>
              <a:t>explicada</a:t>
            </a:r>
            <a:r>
              <a:rPr lang="en-US" dirty="0"/>
              <a:t> </a:t>
            </a:r>
            <a:r>
              <a:rPr lang="en-US" dirty="0" err="1"/>
              <a:t>desejada</a:t>
            </a:r>
            <a:r>
              <a:rPr lang="en-US" dirty="0"/>
              <a:t>. </a:t>
            </a:r>
          </a:p>
        </p:txBody>
      </p:sp>
      <p:cxnSp>
        <p:nvCxnSpPr>
          <p:cNvPr id="7" name="Straight Arrow Connector 6">
            <a:extLst>
              <a:ext uri="{FF2B5EF4-FFF2-40B4-BE49-F238E27FC236}">
                <a16:creationId xmlns:a16="http://schemas.microsoft.com/office/drawing/2014/main" id="{3471AF8A-303A-1F0A-B73F-224FDADDE806}"/>
              </a:ext>
            </a:extLst>
          </p:cNvPr>
          <p:cNvCxnSpPr/>
          <p:nvPr/>
        </p:nvCxnSpPr>
        <p:spPr>
          <a:xfrm flipH="1">
            <a:off x="4572000" y="4506686"/>
            <a:ext cx="4288971" cy="435428"/>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997080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88CA0-AD15-F319-5BD3-1CF603A1B2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32CE608-79E4-6AB9-07A8-FA80CE49C283}"/>
              </a:ext>
            </a:extLst>
          </p:cNvPr>
          <p:cNvSpPr>
            <a:spLocks noGrp="1"/>
          </p:cNvSpPr>
          <p:nvPr>
            <p:ph idx="1"/>
          </p:nvPr>
        </p:nvSpPr>
        <p:spPr/>
        <p:txBody>
          <a:bodyPr>
            <a:normAutofit/>
          </a:bodyPr>
          <a:lstStyle/>
          <a:p>
            <a:r>
              <a:rPr lang="pt-BR" sz="5400" dirty="0">
                <a:solidFill>
                  <a:srgbClr val="FF0000"/>
                </a:solidFill>
              </a:rPr>
              <a:t>PAREI AQUIIIIIIIIIIIIII!!!!!!!!!!!!!!</a:t>
            </a:r>
            <a:endParaRPr lang="en-US" sz="5400" dirty="0">
              <a:solidFill>
                <a:srgbClr val="FF0000"/>
              </a:solidFill>
            </a:endParaRPr>
          </a:p>
        </p:txBody>
      </p:sp>
    </p:spTree>
    <p:extLst>
      <p:ext uri="{BB962C8B-B14F-4D97-AF65-F5344CB8AC3E}">
        <p14:creationId xmlns:p14="http://schemas.microsoft.com/office/powerpoint/2010/main" val="1793584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9AE6D-1C0A-9901-3435-DE81DB262495}"/>
              </a:ext>
            </a:extLst>
          </p:cNvPr>
          <p:cNvSpPr>
            <a:spLocks noGrp="1"/>
          </p:cNvSpPr>
          <p:nvPr>
            <p:ph type="title"/>
          </p:nvPr>
        </p:nvSpPr>
        <p:spPr/>
        <p:txBody>
          <a:bodyPr/>
          <a:lstStyle/>
          <a:p>
            <a:r>
              <a:rPr lang="pt-BR" dirty="0"/>
              <a:t>Seleção de atributos</a:t>
            </a:r>
            <a:endParaRPr lang="en-US" dirty="0"/>
          </a:p>
        </p:txBody>
      </p:sp>
      <p:sp>
        <p:nvSpPr>
          <p:cNvPr id="3" name="Content Placeholder 2">
            <a:extLst>
              <a:ext uri="{FF2B5EF4-FFF2-40B4-BE49-F238E27FC236}">
                <a16:creationId xmlns:a16="http://schemas.microsoft.com/office/drawing/2014/main" id="{D8D2D9C9-C956-E042-6573-941646858986}"/>
              </a:ext>
            </a:extLst>
          </p:cNvPr>
          <p:cNvSpPr>
            <a:spLocks noGrp="1"/>
          </p:cNvSpPr>
          <p:nvPr>
            <p:ph idx="1"/>
          </p:nvPr>
        </p:nvSpPr>
        <p:spPr>
          <a:xfrm>
            <a:off x="838199" y="1825624"/>
            <a:ext cx="11146971" cy="5032375"/>
          </a:xfrm>
        </p:spPr>
        <p:txBody>
          <a:bodyPr>
            <a:normAutofit/>
          </a:bodyPr>
          <a:lstStyle/>
          <a:p>
            <a:r>
              <a:rPr lang="pt-BR" b="1" dirty="0"/>
              <a:t>Definição</a:t>
            </a:r>
            <a:r>
              <a:rPr lang="pt-BR" dirty="0"/>
              <a:t>: É o processo de selecionar um subconjunto de atributos que contribuem para a melhoria do desempenho do modelo.</a:t>
            </a:r>
          </a:p>
          <a:p>
            <a:r>
              <a:rPr lang="pt-BR" dirty="0"/>
              <a:t>Por que usar?</a:t>
            </a:r>
          </a:p>
          <a:p>
            <a:pPr lvl="1">
              <a:buFont typeface="Wingdings" panose="05000000000000000000" pitchFamily="2" charset="2"/>
              <a:buChar char="§"/>
            </a:pPr>
            <a:r>
              <a:rPr lang="pt-BR" dirty="0"/>
              <a:t>Reduz </a:t>
            </a:r>
            <a:r>
              <a:rPr lang="pt-BR" i="1" dirty="0" err="1"/>
              <a:t>overfitting</a:t>
            </a:r>
            <a:endParaRPr lang="pt-BR" i="1" dirty="0"/>
          </a:p>
          <a:p>
            <a:pPr lvl="1">
              <a:buFont typeface="Wingdings" panose="05000000000000000000" pitchFamily="2" charset="2"/>
              <a:buChar char="§"/>
            </a:pPr>
            <a:r>
              <a:rPr lang="pt-BR" dirty="0"/>
              <a:t>Reduz custo computacional</a:t>
            </a:r>
          </a:p>
          <a:p>
            <a:pPr lvl="1">
              <a:buFont typeface="Wingdings" panose="05000000000000000000" pitchFamily="2" charset="2"/>
              <a:buChar char="§"/>
            </a:pPr>
            <a:r>
              <a:rPr lang="pt-BR" dirty="0"/>
              <a:t>Facilita interpretação</a:t>
            </a:r>
          </a:p>
          <a:p>
            <a:r>
              <a:rPr lang="pt-BR" dirty="0"/>
              <a:t>Técnicas de seleção</a:t>
            </a:r>
          </a:p>
          <a:p>
            <a:pPr lvl="1">
              <a:buFont typeface="Wingdings" panose="05000000000000000000" pitchFamily="2" charset="2"/>
              <a:buChar char="§"/>
            </a:pPr>
            <a:r>
              <a:rPr lang="pt-BR" dirty="0"/>
              <a:t>Filtragem: Baseados em medidas estatísticas como correlação.</a:t>
            </a:r>
          </a:p>
          <a:p>
            <a:pPr lvl="1">
              <a:buFont typeface="Wingdings" panose="05000000000000000000" pitchFamily="2" charset="2"/>
              <a:buChar char="§"/>
            </a:pPr>
            <a:r>
              <a:rPr lang="pt-BR" dirty="0"/>
              <a:t>Encapsulamento: Selecionam com base no desempenho do modelo.</a:t>
            </a:r>
          </a:p>
          <a:p>
            <a:pPr lvl="1">
              <a:buFont typeface="Wingdings" panose="05000000000000000000" pitchFamily="2" charset="2"/>
              <a:buChar char="§"/>
            </a:pPr>
            <a:r>
              <a:rPr lang="pt-BR" dirty="0"/>
              <a:t>Embarcado: Seleção de recursos integrada ao treinamento do modelo.</a:t>
            </a:r>
            <a:endParaRPr lang="en-US" dirty="0"/>
          </a:p>
        </p:txBody>
      </p:sp>
    </p:spTree>
    <p:extLst>
      <p:ext uri="{BB962C8B-B14F-4D97-AF65-F5344CB8AC3E}">
        <p14:creationId xmlns:p14="http://schemas.microsoft.com/office/powerpoint/2010/main" val="42455900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76600-9357-87C1-67B2-7ED0D413361E}"/>
              </a:ext>
            </a:extLst>
          </p:cNvPr>
          <p:cNvSpPr>
            <a:spLocks noGrp="1"/>
          </p:cNvSpPr>
          <p:nvPr>
            <p:ph type="title"/>
          </p:nvPr>
        </p:nvSpPr>
        <p:spPr/>
        <p:txBody>
          <a:bodyPr/>
          <a:lstStyle/>
          <a:p>
            <a:r>
              <a:rPr lang="pt-BR" dirty="0"/>
              <a:t>Extração vs. seleção de atributos</a:t>
            </a:r>
            <a:endParaRPr lang="en-US" dirty="0"/>
          </a:p>
        </p:txBody>
      </p:sp>
      <p:sp>
        <p:nvSpPr>
          <p:cNvPr id="3" name="Content Placeholder 2">
            <a:extLst>
              <a:ext uri="{FF2B5EF4-FFF2-40B4-BE49-F238E27FC236}">
                <a16:creationId xmlns:a16="http://schemas.microsoft.com/office/drawing/2014/main" id="{8EF91E9A-DCA0-4C49-3A03-40A802DE895B}"/>
              </a:ext>
            </a:extLst>
          </p:cNvPr>
          <p:cNvSpPr>
            <a:spLocks noGrp="1"/>
          </p:cNvSpPr>
          <p:nvPr>
            <p:ph idx="1"/>
          </p:nvPr>
        </p:nvSpPr>
        <p:spPr/>
        <p:txBody>
          <a:bodyPr/>
          <a:lstStyle/>
          <a:p>
            <a:r>
              <a:rPr lang="pt-BR" dirty="0"/>
              <a:t>A extração </a:t>
            </a:r>
            <a:r>
              <a:rPr lang="pt-BR" b="1" dirty="0"/>
              <a:t>transforma</a:t>
            </a:r>
            <a:r>
              <a:rPr lang="pt-BR" dirty="0"/>
              <a:t> os atributos originais para criar novas, geralmente reduzindo a dimensionalidade.</a:t>
            </a:r>
          </a:p>
          <a:p>
            <a:r>
              <a:rPr lang="pt-BR" dirty="0"/>
              <a:t>A seleção </a:t>
            </a:r>
            <a:r>
              <a:rPr lang="pt-BR" b="1" dirty="0"/>
              <a:t>escolhe</a:t>
            </a:r>
            <a:r>
              <a:rPr lang="pt-BR" dirty="0"/>
              <a:t> um subconjunto dos atributos existentes mais relevantes sem alterá-los.</a:t>
            </a:r>
            <a:endParaRPr lang="en-US" dirty="0"/>
          </a:p>
        </p:txBody>
      </p:sp>
    </p:spTree>
    <p:extLst>
      <p:ext uri="{BB962C8B-B14F-4D97-AF65-F5344CB8AC3E}">
        <p14:creationId xmlns:p14="http://schemas.microsoft.com/office/powerpoint/2010/main" val="29596588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DE41F-CBCE-DE3E-FF96-C1FE35436245}"/>
              </a:ext>
            </a:extLst>
          </p:cNvPr>
          <p:cNvSpPr>
            <a:spLocks noGrp="1"/>
          </p:cNvSpPr>
          <p:nvPr>
            <p:ph type="title"/>
          </p:nvPr>
        </p:nvSpPr>
        <p:spPr/>
        <p:txBody>
          <a:bodyPr/>
          <a:lstStyle/>
          <a:p>
            <a:r>
              <a:rPr lang="en-US" dirty="0"/>
              <a:t>Pipeline de </a:t>
            </a:r>
            <a:r>
              <a:rPr lang="en-US" dirty="0" err="1"/>
              <a:t>pré-processamento</a:t>
            </a:r>
            <a:endParaRPr lang="en-US" dirty="0"/>
          </a:p>
        </p:txBody>
      </p:sp>
      <p:sp>
        <p:nvSpPr>
          <p:cNvPr id="3" name="Content Placeholder 2">
            <a:extLst>
              <a:ext uri="{FF2B5EF4-FFF2-40B4-BE49-F238E27FC236}">
                <a16:creationId xmlns:a16="http://schemas.microsoft.com/office/drawing/2014/main" id="{16B9CA14-0993-D9E3-35BD-F02EF871BEEC}"/>
              </a:ext>
            </a:extLst>
          </p:cNvPr>
          <p:cNvSpPr>
            <a:spLocks noGrp="1"/>
          </p:cNvSpPr>
          <p:nvPr>
            <p:ph idx="1"/>
          </p:nvPr>
        </p:nvSpPr>
        <p:spPr/>
        <p:txBody>
          <a:bodyPr/>
          <a:lstStyle/>
          <a:p>
            <a:r>
              <a:rPr lang="pt-BR" dirty="0"/>
              <a:t>Combinar tudo em etapas:</a:t>
            </a:r>
          </a:p>
          <a:p>
            <a:pPr lvl="1"/>
            <a:r>
              <a:rPr lang="pt-BR" dirty="0"/>
              <a:t>Limpeza</a:t>
            </a:r>
          </a:p>
          <a:p>
            <a:pPr lvl="1"/>
            <a:r>
              <a:rPr lang="pt-BR" dirty="0"/>
              <a:t>Transformações (</a:t>
            </a:r>
            <a:r>
              <a:rPr lang="pt-BR" dirty="0" err="1"/>
              <a:t>encoding</a:t>
            </a:r>
            <a:r>
              <a:rPr lang="pt-BR" dirty="0"/>
              <a:t>, </a:t>
            </a:r>
            <a:r>
              <a:rPr lang="pt-BR"/>
              <a:t>imputação)</a:t>
            </a:r>
          </a:p>
          <a:p>
            <a:pPr lvl="1"/>
            <a:r>
              <a:rPr lang="pt-BR"/>
              <a:t>Escalonamento</a:t>
            </a:r>
            <a:endParaRPr lang="pt-BR" dirty="0"/>
          </a:p>
          <a:p>
            <a:r>
              <a:rPr lang="pt-BR" dirty="0"/>
              <a:t>🔧 Em Python com </a:t>
            </a:r>
            <a:r>
              <a:rPr lang="pt-BR" dirty="0" err="1"/>
              <a:t>scikit-learn</a:t>
            </a:r>
            <a:r>
              <a:rPr lang="pt-BR" dirty="0"/>
              <a:t>:</a:t>
            </a:r>
          </a:p>
          <a:p>
            <a:pPr lvl="1"/>
            <a:r>
              <a:rPr lang="en-US" dirty="0"/>
              <a:t>from </a:t>
            </a:r>
            <a:r>
              <a:rPr lang="en-US" dirty="0" err="1"/>
              <a:t>sklearn.pipeline</a:t>
            </a:r>
            <a:r>
              <a:rPr lang="en-US" dirty="0"/>
              <a:t> import Pipeline</a:t>
            </a:r>
          </a:p>
        </p:txBody>
      </p:sp>
    </p:spTree>
    <p:extLst>
      <p:ext uri="{BB962C8B-B14F-4D97-AF65-F5344CB8AC3E}">
        <p14:creationId xmlns:p14="http://schemas.microsoft.com/office/powerpoint/2010/main" val="30577340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530B7-1112-FD32-D48E-0B4653A613E1}"/>
              </a:ext>
            </a:extLst>
          </p:cNvPr>
          <p:cNvSpPr>
            <a:spLocks noGrp="1"/>
          </p:cNvSpPr>
          <p:nvPr>
            <p:ph type="title"/>
          </p:nvPr>
        </p:nvSpPr>
        <p:spPr/>
        <p:txBody>
          <a:bodyPr>
            <a:normAutofit/>
          </a:bodyPr>
          <a:lstStyle/>
          <a:p>
            <a:r>
              <a:rPr lang="en-US" dirty="0"/>
              <a:t>Split Dataset Into Training, Evaluation and Validation Sets</a:t>
            </a:r>
          </a:p>
        </p:txBody>
      </p:sp>
      <p:sp>
        <p:nvSpPr>
          <p:cNvPr id="3" name="Content Placeholder 2">
            <a:extLst>
              <a:ext uri="{FF2B5EF4-FFF2-40B4-BE49-F238E27FC236}">
                <a16:creationId xmlns:a16="http://schemas.microsoft.com/office/drawing/2014/main" id="{8EA279AF-2AEF-E057-E9A3-00F53ED5A25A}"/>
              </a:ext>
            </a:extLst>
          </p:cNvPr>
          <p:cNvSpPr>
            <a:spLocks noGrp="1"/>
          </p:cNvSpPr>
          <p:nvPr>
            <p:ph idx="1"/>
          </p:nvPr>
        </p:nvSpPr>
        <p:spPr/>
        <p:txBody>
          <a:bodyPr/>
          <a:lstStyle/>
          <a:p>
            <a:pPr fontAlgn="base"/>
            <a:r>
              <a:rPr lang="en-US" dirty="0"/>
              <a:t>This is the final step among the data preprocessing steps. It’s time to divide your dataset into training, evaluation, and validation sets. The training set is the data you’ll use to train your machine learning model. The evaluation set will assess the data and the model, while the validation set will validate it.</a:t>
            </a:r>
          </a:p>
          <a:p>
            <a:endParaRPr lang="en-US" dirty="0"/>
          </a:p>
        </p:txBody>
      </p:sp>
    </p:spTree>
    <p:extLst>
      <p:ext uri="{BB962C8B-B14F-4D97-AF65-F5344CB8AC3E}">
        <p14:creationId xmlns:p14="http://schemas.microsoft.com/office/powerpoint/2010/main" val="42505085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14A78-63ED-67C2-7C75-578530B33A41}"/>
              </a:ext>
            </a:extLst>
          </p:cNvPr>
          <p:cNvSpPr>
            <a:spLocks noGrp="1"/>
          </p:cNvSpPr>
          <p:nvPr>
            <p:ph type="title"/>
          </p:nvPr>
        </p:nvSpPr>
        <p:spPr/>
        <p:txBody>
          <a:bodyPr/>
          <a:lstStyle/>
          <a:p>
            <a:r>
              <a:rPr lang="pt-BR" dirty="0"/>
              <a:t>Divisão do </a:t>
            </a:r>
            <a:r>
              <a:rPr lang="pt-BR" i="1" dirty="0"/>
              <a:t>dataset</a:t>
            </a:r>
            <a:endParaRPr lang="en-US" i="1" dirty="0"/>
          </a:p>
        </p:txBody>
      </p:sp>
      <p:sp>
        <p:nvSpPr>
          <p:cNvPr id="3" name="Content Placeholder 2">
            <a:extLst>
              <a:ext uri="{FF2B5EF4-FFF2-40B4-BE49-F238E27FC236}">
                <a16:creationId xmlns:a16="http://schemas.microsoft.com/office/drawing/2014/main" id="{59FAA6DB-6F6F-4101-954E-36363841E93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139014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82FA0-BE50-3672-2983-ADEDC8EB3E4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9FE0867-339F-DA7E-6C6B-FE3B75C233D3}"/>
              </a:ext>
            </a:extLst>
          </p:cNvPr>
          <p:cNvSpPr>
            <a:spLocks noGrp="1"/>
          </p:cNvSpPr>
          <p:nvPr>
            <p:ph idx="1"/>
          </p:nvPr>
        </p:nvSpPr>
        <p:spPr>
          <a:xfrm>
            <a:off x="6096000" y="1825625"/>
            <a:ext cx="5257800" cy="4351338"/>
          </a:xfrm>
        </p:spPr>
        <p:txBody>
          <a:bodyPr/>
          <a:lstStyle/>
          <a:p>
            <a:endParaRPr lang="en-US"/>
          </a:p>
        </p:txBody>
      </p:sp>
      <p:pic>
        <p:nvPicPr>
          <p:cNvPr id="1026" name="Picture 2" descr="What is Feature Engineering? - GeeksforGeeks">
            <a:extLst>
              <a:ext uri="{FF2B5EF4-FFF2-40B4-BE49-F238E27FC236}">
                <a16:creationId xmlns:a16="http://schemas.microsoft.com/office/drawing/2014/main" id="{A8B67E60-12C6-B884-D57E-AA2267FBB8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5382" y="2676525"/>
            <a:ext cx="3028950" cy="1504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eature engineering - Machine Learning Lens">
            <a:extLst>
              <a:ext uri="{FF2B5EF4-FFF2-40B4-BE49-F238E27FC236}">
                <a16:creationId xmlns:a16="http://schemas.microsoft.com/office/drawing/2014/main" id="{85AC8CC3-B8FA-0E04-A364-6DA3A4065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323" y="4081463"/>
            <a:ext cx="2181225" cy="2095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55837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intro_eda.ipynb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8639</TotalTime>
  <Words>4267</Words>
  <Application>Microsoft Office PowerPoint</Application>
  <PresentationFormat>Widescreen</PresentationFormat>
  <Paragraphs>349</Paragraphs>
  <Slides>43</Slides>
  <Notes>26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43</vt:i4>
      </vt:variant>
    </vt:vector>
  </HeadingPairs>
  <TitlesOfParts>
    <vt:vector size="50" baseType="lpstr">
      <vt:lpstr>Arial</vt:lpstr>
      <vt:lpstr>Calibri</vt:lpstr>
      <vt:lpstr>Calibri Light</vt:lpstr>
      <vt:lpstr>Cambria Math</vt:lpstr>
      <vt:lpstr>Consolas</vt:lpstr>
      <vt:lpstr>Wingdings</vt:lpstr>
      <vt:lpstr>Tema do Office</vt:lpstr>
      <vt:lpstr>C24 - Inteligência Artificial: Transformações dos dados</vt:lpstr>
      <vt:lpstr>PowerPoint Presentation</vt:lpstr>
      <vt:lpstr>O que veremos?</vt:lpstr>
      <vt:lpstr>Escalonamento de atributos</vt:lpstr>
      <vt:lpstr>Escalonamento de atributos</vt:lpstr>
      <vt:lpstr>Por que escalonar os atributos?</vt:lpstr>
      <vt:lpstr>Por que escalonar os atributos?</vt:lpstr>
      <vt:lpstr>Normalização (Min-Max Scaling)</vt:lpstr>
      <vt:lpstr>Normalização (Min-Max Scaling)</vt:lpstr>
      <vt:lpstr>Normalização (Min-Max Scaling)</vt:lpstr>
      <vt:lpstr>Padronização (Standard Scaling)</vt:lpstr>
      <vt:lpstr>Padronização (Standard Scaling)</vt:lpstr>
      <vt:lpstr>Padronização (Standard Scaling)</vt:lpstr>
      <vt:lpstr>Escalonamento robusto (Robust Scaling)</vt:lpstr>
      <vt:lpstr>Escalonamento robusto (Robust Scaling)</vt:lpstr>
      <vt:lpstr>Escalonamento robusto (Robust Scaling)</vt:lpstr>
      <vt:lpstr>Armadilhas comuns durante o escalonamento</vt:lpstr>
      <vt:lpstr>Codificação de atributos categóricos</vt:lpstr>
      <vt:lpstr>One-Hot encoding</vt:lpstr>
      <vt:lpstr>Label encoding</vt:lpstr>
      <vt:lpstr>Target encoding</vt:lpstr>
      <vt:lpstr>Binary encoding</vt:lpstr>
      <vt:lpstr>Exemplos de encoding</vt:lpstr>
      <vt:lpstr>Engenharia de atributos</vt:lpstr>
      <vt:lpstr>Engenharia de atributos</vt:lpstr>
      <vt:lpstr>Extração de atributos</vt:lpstr>
      <vt:lpstr>Técnicas comuns para extração de atributos</vt:lpstr>
      <vt:lpstr>Técnicas comuns para extração de atributos</vt:lpstr>
      <vt:lpstr>PowerPoint Presentation</vt:lpstr>
      <vt:lpstr>Análise de componentes principais (PCA)</vt:lpstr>
      <vt:lpstr>Análise de componentes principais (PCA)</vt:lpstr>
      <vt:lpstr>Análise de componentes principais (PCA)</vt:lpstr>
      <vt:lpstr>Análise de componentes principais (PCA)</vt:lpstr>
      <vt:lpstr>PowerPoint Presentation</vt:lpstr>
      <vt:lpstr>Seleção de atributos</vt:lpstr>
      <vt:lpstr>Extração vs. seleção de atributos</vt:lpstr>
      <vt:lpstr>Pipeline de pré-processamento</vt:lpstr>
      <vt:lpstr>Split Dataset Into Training, Evaluation and Validation Sets</vt:lpstr>
      <vt:lpstr>Divisão do dataset</vt:lpstr>
      <vt:lpstr>PowerPoint Presentation</vt:lpstr>
      <vt:lpstr>Exemplo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1904</cp:revision>
  <dcterms:created xsi:type="dcterms:W3CDTF">2020-01-20T13:50:05Z</dcterms:created>
  <dcterms:modified xsi:type="dcterms:W3CDTF">2026-02-04T20:20:08Z</dcterms:modified>
</cp:coreProperties>
</file>