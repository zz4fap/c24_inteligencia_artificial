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5"/>
  </p:notesMasterIdLst>
  <p:handoutMasterIdLst>
    <p:handoutMasterId r:id="rId56"/>
  </p:handoutMasterIdLst>
  <p:sldIdLst>
    <p:sldId id="256" r:id="rId2"/>
    <p:sldId id="322" r:id="rId3"/>
    <p:sldId id="316" r:id="rId4"/>
    <p:sldId id="363" r:id="rId5"/>
    <p:sldId id="374" r:id="rId6"/>
    <p:sldId id="376" r:id="rId7"/>
    <p:sldId id="337" r:id="rId8"/>
    <p:sldId id="377" r:id="rId9"/>
    <p:sldId id="365" r:id="rId10"/>
    <p:sldId id="378" r:id="rId11"/>
    <p:sldId id="330" r:id="rId12"/>
    <p:sldId id="319" r:id="rId13"/>
    <p:sldId id="329" r:id="rId14"/>
    <p:sldId id="327" r:id="rId15"/>
    <p:sldId id="341" r:id="rId16"/>
    <p:sldId id="334" r:id="rId17"/>
    <p:sldId id="380" r:id="rId18"/>
    <p:sldId id="382" r:id="rId19"/>
    <p:sldId id="335" r:id="rId20"/>
    <p:sldId id="339" r:id="rId21"/>
    <p:sldId id="340" r:id="rId22"/>
    <p:sldId id="336" r:id="rId23"/>
    <p:sldId id="343" r:id="rId24"/>
    <p:sldId id="342" r:id="rId25"/>
    <p:sldId id="328" r:id="rId26"/>
    <p:sldId id="344" r:id="rId27"/>
    <p:sldId id="345" r:id="rId28"/>
    <p:sldId id="346" r:id="rId29"/>
    <p:sldId id="347" r:id="rId30"/>
    <p:sldId id="348" r:id="rId31"/>
    <p:sldId id="349" r:id="rId32"/>
    <p:sldId id="317" r:id="rId33"/>
    <p:sldId id="320" r:id="rId34"/>
    <p:sldId id="353" r:id="rId35"/>
    <p:sldId id="354" r:id="rId36"/>
    <p:sldId id="355" r:id="rId37"/>
    <p:sldId id="366" r:id="rId38"/>
    <p:sldId id="357" r:id="rId39"/>
    <p:sldId id="359" r:id="rId40"/>
    <p:sldId id="360" r:id="rId41"/>
    <p:sldId id="358" r:id="rId42"/>
    <p:sldId id="362" r:id="rId43"/>
    <p:sldId id="367" r:id="rId44"/>
    <p:sldId id="368" r:id="rId45"/>
    <p:sldId id="370" r:id="rId46"/>
    <p:sldId id="372" r:id="rId47"/>
    <p:sldId id="371" r:id="rId48"/>
    <p:sldId id="373" r:id="rId49"/>
    <p:sldId id="356" r:id="rId50"/>
    <p:sldId id="338" r:id="rId51"/>
    <p:sldId id="395" r:id="rId52"/>
    <p:sldId id="293" r:id="rId53"/>
    <p:sldId id="306" r:id="rId54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8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61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9/03/2026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machine-learning/information-gain-and-mutual-information-for-machine-learning/" TargetMode="External"/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ths/mean-absolute-deviation/" TargetMode="External"/><Relationship Id="rId3" Type="http://schemas.openxmlformats.org/officeDocument/2006/relationships/hyperlink" Target="https://www.geeksforgeeks.org/machine-learning/information-gain-and-mutual-information-for-machine-learning/" TargetMode="External"/><Relationship Id="rId7" Type="http://schemas.openxmlformats.org/officeDocument/2006/relationships/hyperlink" Target="https://www.geeksforgeeks.org/machine-learning/variance-threshold/" TargetMode="External"/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eeksforgeeks.org/maths/pearson-correlation-coefficient/" TargetMode="External"/><Relationship Id="rId5" Type="http://schemas.openxmlformats.org/officeDocument/2006/relationships/hyperlink" Target="https://www.geeksforgeeks.org/r-language/fishers-f-test-in-r-programming/" TargetMode="External"/><Relationship Id="rId4" Type="http://schemas.openxmlformats.org/officeDocument/2006/relationships/hyperlink" Target="https://www.geeksforgeeks.org/maths/chi-square-test/" TargetMode="External"/><Relationship Id="rId9" Type="http://schemas.openxmlformats.org/officeDocument/2006/relationships/hyperlink" Target="https://www.geeksforgeeks.org/maths/measures-of-dispersion/" TargetMode="Externa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cuidar, selecionar, organizar, adaptar 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530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Quando usar seleção antes da extração</a:t>
            </a:r>
          </a:p>
          <a:p>
            <a:endParaRPr lang="pt-BR" dirty="0"/>
          </a:p>
          <a:p>
            <a:r>
              <a:rPr lang="pt-BR" dirty="0"/>
              <a:t>Há casos onde pode ser preferível: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dados com muitos atributos irrelevantes:</a:t>
            </a:r>
            <a:r>
              <a:rPr lang="pt-BR" dirty="0"/>
              <a:t> remover atributos inúteis </a:t>
            </a:r>
            <a:r>
              <a:rPr lang="pt-BR" i="1" dirty="0"/>
              <a:t>antes</a:t>
            </a:r>
            <a:r>
              <a:rPr lang="pt-BR" dirty="0"/>
              <a:t> de extrair ajuda a evitar que métodos de extração (como PCA) sejam influenciados por ruído ou redundância.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recursos computacionais limitados:</a:t>
            </a:r>
            <a:r>
              <a:rPr lang="pt-BR" dirty="0"/>
              <a:t> uma seleção inicial pode reduzir drasticamente a quantidade de dados que métodos de extração precisam processar.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25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Embora um modelo possa parecer funcionar bem quando testado nos mesmos dados usados no treinamento, </a:t>
            </a:r>
            <a:r>
              <a:rPr lang="pt-BR" b="1" dirty="0"/>
              <a:t>isso não significa que ele realmente aprendeu a generalizar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Se o mesmo conjunto de dados for usado para treinamento e teste, ocorre um problema chamado </a:t>
            </a:r>
            <a:r>
              <a:rPr lang="pt-BR" b="1" dirty="0" err="1"/>
              <a:t>overfitting</a:t>
            </a:r>
            <a:r>
              <a:rPr lang="pt-BR" dirty="0"/>
              <a:t> ou </a:t>
            </a:r>
            <a:r>
              <a:rPr lang="pt-BR" b="1" dirty="0" err="1"/>
              <a:t>sobreajuste</a:t>
            </a:r>
            <a:r>
              <a:rPr lang="pt-BR" dirty="0"/>
              <a:t>. Nesse caso, o modelo pode simplesmente </a:t>
            </a:r>
            <a:r>
              <a:rPr lang="pt-BR" b="1" dirty="0"/>
              <a:t>memorizar os exemplos do treinamento</a:t>
            </a:r>
            <a:r>
              <a:rPr lang="pt-BR" dirty="0"/>
              <a:t>, em vez de aprender padrões gerais dos dados. O resultado é uma </a:t>
            </a:r>
            <a:r>
              <a:rPr lang="pt-BR" b="1" dirty="0"/>
              <a:t>avaliação artificialmente otimista</a:t>
            </a:r>
            <a:r>
              <a:rPr lang="pt-BR" dirty="0"/>
              <a:t>, pois o modelo é testado em dados que ele já “viu”. </a:t>
            </a:r>
          </a:p>
          <a:p>
            <a:r>
              <a:rPr lang="pt-BR" dirty="0"/>
              <a:t>Além disso, usar o mesmo conjunto de dados em todas as etapas pode causar </a:t>
            </a:r>
            <a:r>
              <a:rPr lang="pt-BR" b="1" dirty="0"/>
              <a:t>data </a:t>
            </a:r>
            <a:r>
              <a:rPr lang="pt-BR" b="1" dirty="0" err="1"/>
              <a:t>leakage</a:t>
            </a:r>
            <a:r>
              <a:rPr lang="pt-BR" b="1" dirty="0"/>
              <a:t> (vazamento de dados)</a:t>
            </a:r>
            <a:r>
              <a:rPr lang="pt-BR" dirty="0"/>
              <a:t>, ou seja, informações do conjunto de teste acabam influenciando o treinamento do modelo. Isso compromete completamente a avaliação do sistema e pode levar a decisões erradas sobre sua qualidade ou aplicabilidade. </a:t>
            </a:r>
          </a:p>
          <a:p>
            <a:endParaRPr lang="pt-BR" dirty="0"/>
          </a:p>
          <a:p>
            <a:r>
              <a:rPr lang="pt-BR" dirty="0"/>
              <a:t>Portanto, a mensagem principal deste slide é que </a:t>
            </a:r>
            <a:r>
              <a:rPr lang="pt-BR" b="1" dirty="0"/>
              <a:t>avaliar um modelo com os mesmos dados usados no treinamento não mede sua capacidade real de generalização</a:t>
            </a:r>
            <a:r>
              <a:rPr lang="pt-BR" dirty="0"/>
              <a:t>. Para obter uma avaliação confiável, é necessário garantir que os dados de treinamento, validação e teste sejam </a:t>
            </a:r>
            <a:r>
              <a:rPr lang="pt-BR" b="1" dirty="0"/>
              <a:t>separados e independentes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58961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Data </a:t>
            </a:r>
            <a:r>
              <a:rPr lang="pt-BR" dirty="0" err="1"/>
              <a:t>leakage</a:t>
            </a:r>
            <a:r>
              <a:rPr lang="pt-BR" dirty="0"/>
              <a:t> é quando o modelo usa </a:t>
            </a:r>
            <a:r>
              <a:rPr lang="pt-BR" b="1" dirty="0"/>
              <a:t>informações do futuro, do conjunto de teste/validação ou da variável alvo</a:t>
            </a:r>
            <a:r>
              <a:rPr lang="pt-BR" dirty="0"/>
              <a:t> durante o treinamento.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05037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69032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0B7CE7C-1B9C-3577-0509-E7A5D0B64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2CD71494-58AF-B2D4-27F6-AD8D416405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117AC2ED-524B-B44D-B62C-0905C56D8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que significa “representativo” na prática</a:t>
            </a:r>
          </a:p>
          <a:p>
            <a:r>
              <a:rPr lang="pt-BR" dirty="0"/>
              <a:t>Cada conjunto deve manter aproximadamente:</a:t>
            </a:r>
          </a:p>
          <a:p>
            <a:r>
              <a:rPr lang="pt-BR" b="1" dirty="0"/>
              <a:t>Mesma distribuição das classes</a:t>
            </a:r>
            <a:endParaRPr lang="pt-BR" dirty="0"/>
          </a:p>
          <a:p>
            <a:r>
              <a:rPr lang="pt-BR" b="1" dirty="0"/>
              <a:t>Mesmo tipo de exemplos</a:t>
            </a:r>
            <a:endParaRPr lang="pt-BR" dirty="0"/>
          </a:p>
          <a:p>
            <a:r>
              <a:rPr lang="pt-BR" b="1" dirty="0"/>
              <a:t>Mesma faixa de valores das variáveis</a:t>
            </a:r>
            <a:endParaRPr lang="pt-BR" dirty="0"/>
          </a:p>
          <a:p>
            <a:r>
              <a:rPr lang="pt-BR" b="1" dirty="0"/>
              <a:t>Mesmo comportamento estatístico dos dados</a:t>
            </a:r>
            <a:endParaRPr lang="pt-BR" dirty="0"/>
          </a:p>
          <a:p>
            <a:r>
              <a:rPr lang="pt-BR" dirty="0"/>
              <a:t>Isso é importante porque o conjunto de teste deve representar </a:t>
            </a:r>
            <a:r>
              <a:rPr lang="pt-BR" b="1" dirty="0"/>
              <a:t>os dados que o modelo encontrará no mundo real</a:t>
            </a:r>
            <a:r>
              <a:rPr lang="pt-BR" dirty="0"/>
              <a:t>, permitindo avaliar corretamente sua capacidade de generalização.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6818A30D-9EF0-2610-E10F-9DEFB1A5C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51285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F104F64-359D-B866-632E-1525166D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D5E216A-92E3-EC84-99B4-F917C76BC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E210488-755C-A3D5-6753-6ACA1D1AF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51C5698-8B49-29BF-453E-FB2DB9A56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76497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3BAD7AA-0655-8E48-DF0B-8D4DDCC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3E214CE0-9112-17E5-F67C-A2291E223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48B5CB0-BEA9-3AEB-315C-471D7DA8D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0744580F-B050-B7E1-BBD1-F4C92C2D8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702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4135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C89BA35-6F89-0BB9-6A15-9A14EACDB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6066353-8D75-DA06-B6B6-3EEE5474E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4C1F271-2284-A7E4-9254-5F8452B69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8048099E-2282-DD7D-6C34-5E9A5168DC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8817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BDED0CA-78E3-EA29-70A5-6545A644B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C559884F-E702-79E1-9E1E-0B2445D46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0B43843-7B98-0234-A23B-F468EDAA4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580E6C1-419B-5940-971A-A218E9D158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83576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52F8A2C-ADE6-950F-1696-F46F7CEBB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B3D7BCA1-C677-8F52-5427-0F691AE70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ADD0D15-A25E-65FD-F1A5-513ED5641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r>
              <a:rPr lang="en-US" b="1" dirty="0"/>
              <a:t/>
            </a:r>
            <a:br>
              <a:rPr lang="en-US" b="1" dirty="0"/>
            </a:br>
            <a:r>
              <a:rPr lang="en-US" b="1" dirty="0"/>
              <a:t/>
            </a: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F90D2D6-5D54-2470-89D5-A060CBE89E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1308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1D28CA1-01F6-4480-35DB-8BB34983B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159398D-07A6-7B0D-340C-EFF1B2885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76081E3-4839-F706-AA6D-36B8D101B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r>
              <a:rPr lang="en-US" b="1" dirty="0"/>
              <a:t/>
            </a:r>
            <a:br>
              <a:rPr lang="en-US" b="1" dirty="0"/>
            </a:br>
            <a:r>
              <a:rPr lang="en-US" b="1" dirty="0"/>
              <a:t/>
            </a: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Musk."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31F2532-F79F-CBC9-E9FF-E998E79153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82371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C5AAF4-3E4E-61DB-5981-D83FCAD12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3AB07ACA-77DF-28FA-3B66-1B244EECB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7ADE028-FFFC-7435-BB36-CD3A24200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Oferece um meio-termo que mantém os dados em uma escala semelhante à da padronização, mas garante que a escala não seja distorcida por valores extremos.</a:t>
            </a:r>
          </a:p>
          <a:p>
            <a:endParaRPr lang="pt-BR" b="1" dirty="0"/>
          </a:p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99A12BF-2D34-C626-F9C4-AF0F7CD163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66141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CAD7A17-F670-79CF-DF05-7BF12108E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35DE1E6-3C6D-845B-07FE-6000E19D15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427E17B7-4F2C-8B34-0F7C-2CB52C0B3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distribuição assimétrica ocorre quando </a:t>
            </a:r>
            <a:r>
              <a:rPr lang="pt-BR" b="1" dirty="0"/>
              <a:t>os dados não são equilibrados em torno do centro</a:t>
            </a:r>
            <a:r>
              <a:rPr lang="pt-BR" dirty="0"/>
              <a:t>, formando uma </a:t>
            </a:r>
            <a:r>
              <a:rPr lang="pt-BR" b="1" dirty="0"/>
              <a:t>cauda mais longa em um dos lados da distribuição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Em uma distribuição </a:t>
            </a:r>
            <a:r>
              <a:rPr lang="pt-BR" b="1" dirty="0"/>
              <a:t>simétrica</a:t>
            </a:r>
            <a:r>
              <a:rPr lang="pt-BR" dirty="0"/>
              <a:t>, os lados esquerdo e direito são como um </a:t>
            </a:r>
            <a:r>
              <a:rPr lang="pt-BR" b="1" dirty="0"/>
              <a:t>espelho</a:t>
            </a:r>
            <a:r>
              <a:rPr lang="pt-BR" dirty="0"/>
              <a:t> (ex.: distribuição normal).</a:t>
            </a:r>
            <a:br>
              <a:rPr lang="pt-BR" dirty="0"/>
            </a:br>
            <a:r>
              <a:rPr lang="pt-BR" dirty="0"/>
              <a:t>Em uma </a:t>
            </a:r>
            <a:r>
              <a:rPr lang="pt-BR" b="1" dirty="0"/>
              <a:t>distribuição assimétrica</a:t>
            </a:r>
            <a:r>
              <a:rPr lang="pt-BR" dirty="0"/>
              <a:t>, um dos lados possui uma </a:t>
            </a:r>
            <a:r>
              <a:rPr lang="pt-BR" b="1" dirty="0"/>
              <a:t>cauda mais longa</a:t>
            </a:r>
            <a:r>
              <a:rPr lang="pt-BR" dirty="0"/>
              <a:t>, indicando maior concentração de valores em um lado.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FD7E354-A812-3533-15B8-B2C05476CD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62444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1BD578-D126-C8CD-C2BA-CBFC787EA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2FE7FEA-16F0-9910-0989-1883BB321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1E8219F0-D8E8-8A81-97B4-AECF0BBEA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mantém a relação de distância entre os dados não-discrepantes melhor que o Standard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há ruído extremo.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i.e., eles não distorcem tanto a escala geral.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98A5AC8A-50E7-6136-9B5C-235A931AE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45151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02758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145AACA-C1BE-8A29-1FCB-662C7528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4175792-3F26-46A3-22E7-4BD98B3697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05A760E0-F44C-F8E7-EA56-D8E5837C2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3157961-DACC-B2D1-355A-7BFFF155D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54628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ED1B8E2-8FB4-ABBE-C258-A19EABAE8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54AA54D-D921-A0D1-8F81-E689E5B46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16C5C974-F53B-919C-4B9E-3E911E541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evitar o risco de ordem falsa introduzida pelo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/>
            </a:r>
            <a:br>
              <a:rPr lang="pt-BR" dirty="0"/>
            </a:br>
            <a:r>
              <a:rPr lang="pt-BR" dirty="0"/>
              <a:t>usar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 para variáveis </a:t>
            </a:r>
            <a:r>
              <a:rPr lang="pt-BR" b="1" dirty="0"/>
              <a:t>nominais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/>
              <a:t>Ordinal/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b="1" dirty="0"/>
              <a:t> apenas quando existe ordem real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ou usar </a:t>
            </a:r>
            <a:r>
              <a:rPr lang="pt-BR" b="1" dirty="0"/>
              <a:t>modelos baseados em árvores</a:t>
            </a:r>
            <a:r>
              <a:rPr lang="pt-BR" dirty="0"/>
              <a:t>, que não são sensíveis a essa ordem.</a:t>
            </a:r>
          </a:p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0DFC15CB-C54E-7FB2-B15A-8FAC11003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93482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CC55CC4-F30A-A9FA-9DDD-082690987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4F220E7-8A30-2A57-6CC8-32EB4AE20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2864DC2E-4BED-69DA-25A3-14C1CC6DE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Em vez de usar números arbitrários (como no 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(como no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o Target </a:t>
            </a:r>
            <a:r>
              <a:rPr lang="pt-BR" dirty="0" err="1"/>
              <a:t>Encoding</a:t>
            </a:r>
            <a:r>
              <a:rPr lang="pt-BR" dirty="0"/>
              <a:t> utiliza </a:t>
            </a:r>
            <a:r>
              <a:rPr lang="pt-BR" b="1" dirty="0"/>
              <a:t>informação estatística do próprio problema supervisionado</a:t>
            </a:r>
            <a:r>
              <a:rPr lang="pt-BR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b="1" dirty="0"/>
              <a:t>Quando usar</a:t>
            </a:r>
          </a:p>
          <a:p>
            <a:r>
              <a:rPr lang="pt-BR" dirty="0"/>
              <a:t>Target </a:t>
            </a:r>
            <a:r>
              <a:rPr lang="pt-BR" dirty="0" err="1"/>
              <a:t>Encoding</a:t>
            </a:r>
            <a:r>
              <a:rPr lang="pt-BR" dirty="0"/>
              <a:t> é especialmente útil quando:</a:t>
            </a:r>
          </a:p>
          <a:p>
            <a:r>
              <a:rPr lang="pt-BR" dirty="0"/>
              <a:t>a variável categórica tem </a:t>
            </a:r>
            <a:r>
              <a:rPr lang="pt-BR" b="1" dirty="0"/>
              <a:t>muitas categorias (alta cardinalidade)</a:t>
            </a:r>
            <a:endParaRPr lang="pt-BR" dirty="0"/>
          </a:p>
          <a:p>
            <a:r>
              <a:rPr lang="pt-BR" dirty="0" err="1"/>
              <a:t>One</a:t>
            </a:r>
            <a:r>
              <a:rPr lang="pt-BR" dirty="0"/>
              <a:t>-Hot criaria </a:t>
            </a:r>
            <a:r>
              <a:rPr lang="pt-BR" b="1" dirty="0"/>
              <a:t>muitas colunas</a:t>
            </a:r>
            <a:endParaRPr lang="pt-BR" dirty="0"/>
          </a:p>
          <a:p>
            <a:r>
              <a:rPr lang="pt-BR" dirty="0"/>
              <a:t>existe </a:t>
            </a:r>
            <a:r>
              <a:rPr lang="pt-BR" b="1" dirty="0"/>
              <a:t>relação forte entre categoria e target</a:t>
            </a:r>
            <a:r>
              <a:rPr lang="pt-BR" dirty="0"/>
              <a:t> </a:t>
            </a:r>
          </a:p>
          <a:p>
            <a:r>
              <a:rPr lang="pt-BR" dirty="0"/>
              <a:t>Exemplos:</a:t>
            </a:r>
          </a:p>
          <a:p>
            <a:r>
              <a:rPr lang="pt-BR" dirty="0"/>
              <a:t>cidade (milhares de valores)</a:t>
            </a:r>
          </a:p>
          <a:p>
            <a:r>
              <a:rPr lang="pt-BR" dirty="0"/>
              <a:t>produto</a:t>
            </a:r>
          </a:p>
          <a:p>
            <a:r>
              <a:rPr lang="pt-BR" dirty="0"/>
              <a:t>ID de usuário</a:t>
            </a:r>
          </a:p>
          <a:p>
            <a:r>
              <a:rPr lang="pt-BR" dirty="0"/>
              <a:t>código postal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b="1" dirty="0" err="1"/>
              <a:t>Vantagens</a:t>
            </a:r>
            <a:endParaRPr lang="en-US" b="1" dirty="0"/>
          </a:p>
          <a:p>
            <a:r>
              <a:rPr lang="en-US" dirty="0"/>
              <a:t>✔ </a:t>
            </a:r>
            <a:r>
              <a:rPr lang="en-US" dirty="0" err="1"/>
              <a:t>reduz</a:t>
            </a:r>
            <a:r>
              <a:rPr lang="en-US" dirty="0"/>
              <a:t> </a:t>
            </a:r>
            <a:r>
              <a:rPr lang="en-US" dirty="0" err="1"/>
              <a:t>dimensionalidade</a:t>
            </a:r>
            <a:r>
              <a:rPr lang="en-US" dirty="0"/>
              <a:t> (</a:t>
            </a:r>
            <a:r>
              <a:rPr lang="en-US" dirty="0" err="1"/>
              <a:t>diferente</a:t>
            </a:r>
            <a:r>
              <a:rPr lang="en-US" dirty="0"/>
              <a:t> do One-Hot)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captura</a:t>
            </a:r>
            <a:r>
              <a:rPr lang="en-US" dirty="0"/>
              <a:t> </a:t>
            </a:r>
            <a:r>
              <a:rPr lang="en-US" dirty="0" err="1"/>
              <a:t>relação</a:t>
            </a:r>
            <a:r>
              <a:rPr lang="en-US" dirty="0"/>
              <a:t> entre feature e target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b="1" dirty="0" err="1"/>
              <a:t>categorias</a:t>
            </a:r>
            <a:r>
              <a:rPr lang="en-US" b="1" dirty="0"/>
              <a:t> </a:t>
            </a:r>
            <a:r>
              <a:rPr lang="en-US" b="1" dirty="0" err="1"/>
              <a:t>numerosas</a:t>
            </a:r>
            <a:r>
              <a:rPr lang="en-US" dirty="0"/>
              <a:t> </a:t>
            </a: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  <a:p>
            <a:r>
              <a:rPr lang="en-US" b="1" dirty="0" err="1"/>
              <a:t>Problema</a:t>
            </a:r>
            <a:r>
              <a:rPr lang="en-US" b="1" dirty="0"/>
              <a:t> </a:t>
            </a:r>
            <a:r>
              <a:rPr lang="en-US" b="1" dirty="0" err="1"/>
              <a:t>importante</a:t>
            </a:r>
            <a:r>
              <a:rPr lang="en-US" b="1" dirty="0"/>
              <a:t>: Data Leakage</a:t>
            </a:r>
          </a:p>
          <a:p>
            <a:r>
              <a:rPr lang="en-US" dirty="0"/>
              <a:t>Target Encoding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causar</a:t>
            </a:r>
            <a:r>
              <a:rPr lang="en-US" dirty="0"/>
              <a:t> </a:t>
            </a:r>
            <a:r>
              <a:rPr lang="en-US" b="1" dirty="0"/>
              <a:t>data leakage</a:t>
            </a:r>
            <a:r>
              <a:rPr lang="en-US" dirty="0"/>
              <a:t> se a </a:t>
            </a:r>
            <a:r>
              <a:rPr lang="en-US" dirty="0" err="1"/>
              <a:t>média</a:t>
            </a:r>
            <a:r>
              <a:rPr lang="en-US" dirty="0"/>
              <a:t> for </a:t>
            </a:r>
            <a:r>
              <a:rPr lang="en-US" dirty="0" err="1"/>
              <a:t>calculada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todo</a:t>
            </a:r>
            <a:r>
              <a:rPr lang="en-US" dirty="0"/>
              <a:t> o dataset.</a:t>
            </a:r>
          </a:p>
          <a:p>
            <a:r>
              <a:rPr lang="en-US" dirty="0"/>
              <a:t>Por </a:t>
            </a:r>
            <a:r>
              <a:rPr lang="en-US" dirty="0" err="1"/>
              <a:t>isso</a:t>
            </a:r>
            <a:r>
              <a:rPr lang="en-US" dirty="0"/>
              <a:t> </a:t>
            </a:r>
            <a:r>
              <a:rPr lang="en-US" dirty="0" err="1"/>
              <a:t>normalmente</a:t>
            </a:r>
            <a:r>
              <a:rPr lang="en-US" dirty="0"/>
              <a:t> se </a:t>
            </a:r>
            <a:r>
              <a:rPr lang="en-US" dirty="0" err="1"/>
              <a:t>usa</a:t>
            </a:r>
            <a:r>
              <a:rPr lang="en-US" dirty="0"/>
              <a:t>:</a:t>
            </a:r>
          </a:p>
          <a:p>
            <a:r>
              <a:rPr lang="en-US" b="1" dirty="0"/>
              <a:t>cross-validation</a:t>
            </a:r>
            <a:endParaRPr lang="en-US" dirty="0"/>
          </a:p>
          <a:p>
            <a:r>
              <a:rPr lang="en-US" b="1" dirty="0"/>
              <a:t>out-of-fold encoding</a:t>
            </a:r>
            <a:endParaRPr lang="en-US" dirty="0"/>
          </a:p>
          <a:p>
            <a:r>
              <a:rPr lang="en-US" b="1" dirty="0" err="1"/>
              <a:t>regularização</a:t>
            </a:r>
            <a:r>
              <a:rPr lang="en-US" b="1" dirty="0"/>
              <a:t>/smoothing</a:t>
            </a:r>
            <a:endParaRPr lang="en-US" dirty="0"/>
          </a:p>
          <a:p>
            <a:r>
              <a:rPr lang="en-US" dirty="0"/>
              <a:t>para </a:t>
            </a:r>
            <a:r>
              <a:rPr lang="en-US" dirty="0" err="1"/>
              <a:t>evitar</a:t>
            </a:r>
            <a:r>
              <a:rPr lang="en-US" dirty="0"/>
              <a:t> </a:t>
            </a:r>
            <a:r>
              <a:rPr lang="en-US" b="1" dirty="0"/>
              <a:t>overfitting</a:t>
            </a:r>
            <a:r>
              <a:rPr lang="en-US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BDD61D4-F283-FA5C-B9B3-7B9D25FCB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9925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360111E-C562-814A-4B28-55A0BF53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DB3F6C9-39CC-9515-FB72-E68168A7A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63698751-6CC0-5667-0E8C-ED24F1B26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BEA7BB1-A2E9-8F2F-66E3-17600B04B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57752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Engineering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(Engenharia de Atributos/Features) </a:t>
            </a:r>
            <a:r>
              <a:rPr lang="pt-BR" dirty="0"/>
              <a:t>é o processo crucial de usar conhecimento de domínio e criatividade para transformar dados brutos em variáveis (features) mais úteis e informativas</a:t>
            </a:r>
            <a:endParaRPr lang="pt-BR" b="1" dirty="0"/>
          </a:p>
          <a:p>
            <a:pPr marL="0" indent="0">
              <a:buNone/>
            </a:pPr>
            <a:endParaRPr lang="pt-BR" b="1" dirty="0"/>
          </a:p>
          <a:p>
            <a:pPr marL="0" indent="0">
              <a:buNone/>
            </a:pPr>
            <a:r>
              <a:rPr lang="pt-BR" b="1" dirty="0"/>
              <a:t>Definição:</a:t>
            </a:r>
            <a:r>
              <a:rPr lang="pt-BR" dirty="0"/>
              <a:t> Usar conhecimento de domínio para criar variáveis que o modelo entenda melhor.</a:t>
            </a:r>
          </a:p>
          <a:p>
            <a:pPr marL="0" indent="0">
              <a:buNone/>
            </a:pPr>
            <a:r>
              <a:rPr lang="pt-BR" dirty="0"/>
              <a:t>É a arte de criar novas colunas a partir das existentes para facilitar a descoberta de padrões.</a:t>
            </a:r>
          </a:p>
          <a:p>
            <a:pPr marL="0" indent="0">
              <a:buNone/>
            </a:pPr>
            <a:r>
              <a:rPr lang="pt-BR" dirty="0"/>
              <a:t>Criar novas variáveis a partir das existentes para melhorar a capacidade de predição.</a:t>
            </a:r>
          </a:p>
          <a:p>
            <a:pPr marL="0" indent="0">
              <a:buNone/>
            </a:pPr>
            <a:endParaRPr lang="pt-BR" dirty="0"/>
          </a:p>
          <a:p>
            <a:r>
              <a:rPr lang="pt-BR" b="1" dirty="0"/>
              <a:t>conhecimento de domínio</a:t>
            </a:r>
            <a:r>
              <a:rPr lang="pt-BR" dirty="0"/>
              <a:t> é o </a:t>
            </a:r>
            <a:r>
              <a:rPr lang="pt-BR" b="1" dirty="0"/>
              <a:t>entendimento profundo do contexto real do problema</a:t>
            </a:r>
            <a:r>
              <a:rPr lang="pt-BR" dirty="0"/>
              <a:t>, do negócio ou da área onde os dados foram gerados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825169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207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Extração de atributos (feature </a:t>
            </a:r>
            <a:r>
              <a:rPr lang="pt-BR" b="1" dirty="0" err="1"/>
              <a:t>extraction</a:t>
            </a:r>
            <a:r>
              <a:rPr lang="pt-BR" b="1" dirty="0"/>
              <a:t>):</a:t>
            </a:r>
            <a:r>
              <a:rPr lang="pt-BR" dirty="0"/>
              <a:t> cria </a:t>
            </a:r>
            <a:r>
              <a:rPr lang="pt-BR" i="1" dirty="0"/>
              <a:t>novas</a:t>
            </a:r>
            <a:r>
              <a:rPr lang="pt-BR" dirty="0"/>
              <a:t> representações dos dados (ex.: PCA, </a:t>
            </a:r>
            <a:r>
              <a:rPr lang="pt-BR" dirty="0" err="1"/>
              <a:t>autoencoders</a:t>
            </a:r>
            <a:r>
              <a:rPr lang="pt-BR" dirty="0"/>
              <a:t>), reduzindo dimensionalidade através de transformações.</a:t>
            </a:r>
          </a:p>
          <a:p>
            <a:endParaRPr lang="pt-BR" dirty="0"/>
          </a:p>
          <a:p>
            <a:r>
              <a:rPr lang="pt-BR" dirty="0"/>
              <a:t>A extração de características em aprendizado de máquina é o processo de transformar dados brutos em um conjunto menor de características numéricas significativas que podem ser processadas de forma mais eficiente, mantendo as informações essenciais.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o processo de redução da quantidade de atributos a serem processados ​​utilizando técnicas de redução de dimensionalidade.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 conjunto de dados menor e mais refinado requer menos recursos computacionais para armazenamento, processamento e treinamento, o que é crucial para conjuntos de dados grandes.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87811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40257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A57ABA2-3850-7615-FB8C-3EDA185E6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3430495-A427-A07D-66C6-44A1AB4C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D543CE4F-5059-FE45-AEEF-D1290A432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420A46B-CEA0-D388-0846-98A3CA0C0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036598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0E5FE33-E198-F37E-DB7F-2131AC105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68AC853-E4F7-D306-2683-D5A081D6D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BCC6B000-368B-B2C7-C3B9-F74524B80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Problema: A "Régua Rígida"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PCA é uma técnica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Como você pode ver na figura, ele tenta traçar linhas retas ($PC_1$ e $PC_2$) para capturar a variância.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os dados formam uma curva (não linear), o PCA vai tentar "esmagar" essa curva em uma linha reta.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Você perde a estrutura real dos dados. É como tentar descrever uma mola usando apenas uma régua reta; você perde toda a informação da espiral.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4661C39A-BA44-919F-9164-4B9F42BBC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946826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https://www.analyticsvidhya.com/blog/2020/10/feature-selection-techniques-in-machine-learning/</a:t>
            </a:r>
          </a:p>
          <a:p>
            <a:pPr fontAlgn="base"/>
            <a:endParaRPr lang="en-US" sz="1200" b="1" i="0" u="sng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  <a:hlinkClick r:id="rId3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18758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60575ED-00EA-1A5C-013A-B92A0B0E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C0C3B23E-78FC-1419-5528-C98DB1CDA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20FC7E3C-4FAE-6137-2627-124C0A123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Rápidos e eficientes:</a:t>
            </a:r>
            <a:r>
              <a:rPr lang="pt-BR" dirty="0"/>
              <a:t> Métodos de filtro são computacionalmente baratos, sendo ideais para grandes conjuntos de dados.</a:t>
            </a:r>
          </a:p>
          <a:p>
            <a:r>
              <a:rPr lang="pt-BR" b="1" dirty="0"/>
              <a:t>Fáceis de implementar:</a:t>
            </a:r>
            <a:r>
              <a:rPr lang="pt-BR" dirty="0"/>
              <a:t> Geralmente estão disponíveis em bibliotecas populares de machine learning, exigindo pouco esforço de codificação.</a:t>
            </a:r>
          </a:p>
          <a:p>
            <a:r>
              <a:rPr lang="pt-BR" b="1" dirty="0"/>
              <a:t>Independentes do modelo:</a:t>
            </a:r>
            <a:r>
              <a:rPr lang="pt-BR" dirty="0"/>
              <a:t> Podem ser usados com qualquer tipo de modelo de machine learning, o que os torna bastante versáteis.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Interação limitada com o modelo:</a:t>
            </a:r>
            <a:r>
              <a:rPr lang="pt-BR" dirty="0"/>
              <a:t> Por operarem de forma independente, podem não capturar interações entre variáveis importantes para a predição.</a:t>
            </a:r>
          </a:p>
          <a:p>
            <a:r>
              <a:rPr lang="pt-BR" b="1" dirty="0"/>
              <a:t>Escolha da métrica adequada:</a:t>
            </a:r>
            <a:r>
              <a:rPr lang="pt-BR" dirty="0"/>
              <a:t> Selecionar a métrica correta para o tipo de dado e tarefa é essencial para um bom desempenho.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Information Gain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reduction in entropy when a feature is used.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Chi-square test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Checks the relationship between categorical features.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Fisher’s Score: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Ranks features based on class separability.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Pearson’s Correlation Coefficient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linear relationship between two continuous variables.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Variance Threshold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Removes features with very low variance.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Mean Absolute Difference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Similar to variance threshold but uses absolute differences.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Dispersion ratio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Ratio of arithmetic mean to geometric mean; higher values indicate useful features.</a:t>
            </a:r>
          </a:p>
          <a:p>
            <a:pPr rtl="0" fontAlgn="base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AE77C362-F337-06BC-CC04-92D6048655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714696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AF5CF05-A8E3-D5CD-E9EE-05102DB6E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2531E76-80A9-71A3-8F89-738DF3884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3F4280E-BA2D-FD05-3DD6-97CBAD9429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Otimização específica para o modelo:</a:t>
            </a:r>
            <a:r>
              <a:rPr lang="pt-BR" dirty="0"/>
              <a:t> Métodos </a:t>
            </a:r>
            <a:r>
              <a:rPr lang="pt-BR" dirty="0" err="1"/>
              <a:t>wrapper</a:t>
            </a:r>
            <a:r>
              <a:rPr lang="pt-BR" dirty="0"/>
              <a:t> consideram diretamente como as features influenciam o modelo, podendo levar a um desempenho superior em comparação aos métodos de filtro.</a:t>
            </a:r>
          </a:p>
          <a:p>
            <a:r>
              <a:rPr lang="pt-BR" b="1" dirty="0"/>
              <a:t>Flexíveis:</a:t>
            </a:r>
            <a:r>
              <a:rPr lang="pt-BR" dirty="0"/>
              <a:t> Podem ser adaptados a diferentes tipos de modelos e métricas de avaliação.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Alto custo computacional:</a:t>
            </a:r>
            <a:r>
              <a:rPr lang="pt-BR" dirty="0"/>
              <a:t> Avaliar diferentes combinações de features pode ser demorado, especialmente em conjuntos de dados grandes.</a:t>
            </a:r>
          </a:p>
          <a:p>
            <a:r>
              <a:rPr lang="pt-BR" b="1" dirty="0"/>
              <a:t>Risco de </a:t>
            </a:r>
            <a:r>
              <a:rPr lang="pt-BR" b="1" dirty="0" err="1"/>
              <a:t>overfitting</a:t>
            </a:r>
            <a:r>
              <a:rPr lang="pt-BR" b="1" dirty="0"/>
              <a:t>:</a:t>
            </a:r>
            <a:r>
              <a:rPr lang="pt-BR" dirty="0"/>
              <a:t> Ajustar excessivamente as features a um modelo específico pode gerar um modelo </a:t>
            </a:r>
            <a:r>
              <a:rPr lang="pt-BR" dirty="0" err="1"/>
              <a:t>sobreajustado</a:t>
            </a:r>
            <a:r>
              <a:rPr lang="pt-BR" dirty="0"/>
              <a:t>, com baixo desempenho em dados não vistos.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1F71FF8-EE8E-4813-AB94-9DE983B6A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616102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79B3CB2-A980-1ABA-D325-CB60F398B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902818D-0A75-815E-1CAC-5E6927BED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6B83EF4-31C3-80B2-3905-E05181C70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Eficientes e eficazes: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alcançar bons resultados sem o alto custo computacional de alguns métodos </a:t>
            </a:r>
            <a:r>
              <a:rPr lang="pt-BR" dirty="0" err="1"/>
              <a:t>wrapper</a:t>
            </a:r>
            <a:r>
              <a:rPr lang="pt-BR" dirty="0"/>
              <a:t>.</a:t>
            </a:r>
          </a:p>
          <a:p>
            <a:r>
              <a:rPr lang="pt-BR" b="1" dirty="0"/>
              <a:t>Aprendizado específico do modelo:</a:t>
            </a:r>
            <a:r>
              <a:rPr lang="pt-BR" dirty="0"/>
              <a:t> Assim como os métodos </a:t>
            </a:r>
            <a:r>
              <a:rPr lang="pt-BR" dirty="0" err="1"/>
              <a:t>wrapper</a:t>
            </a:r>
            <a:r>
              <a:rPr lang="pt-BR" dirty="0"/>
              <a:t>, essas técnicas utilizam o próprio processo de aprendizado para identificar as features mais relevantes.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Interpretabilidade limitada: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ser mais difíceis de interpretar em comparação aos métodos de filtro, tornando menos claro o motivo da escolha de determinadas features.</a:t>
            </a:r>
          </a:p>
          <a:p>
            <a:r>
              <a:rPr lang="pt-BR" b="1" dirty="0"/>
              <a:t>Aplicabilidade restrita:</a:t>
            </a:r>
            <a:r>
              <a:rPr lang="pt-BR" dirty="0"/>
              <a:t> Nem todos os algoritmos de machine learning suportam técnicas </a:t>
            </a:r>
            <a:r>
              <a:rPr lang="pt-BR" dirty="0" err="1"/>
              <a:t>embedded</a:t>
            </a:r>
            <a:r>
              <a:rPr lang="pt-BR" dirty="0"/>
              <a:t> de seleção de features.</a:t>
            </a:r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9AD3269-1FB1-61A3-8368-DEEFE1D3C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62101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199190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pre_processing.ipynb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jpeg"/><Relationship Id="rId4" Type="http://schemas.openxmlformats.org/officeDocument/2006/relationships/image" Target="../media/image23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4%20-%20Transforma%C3%A7%C3%B5es.pdf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Transformações dos dados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45778595-FA45-2665-F4CA-BDE619496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43" y="1366894"/>
            <a:ext cx="8171095" cy="44569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0998BB58-D4F0-B94D-2632-92980C5EFACB}"/>
              </a:ext>
            </a:extLst>
          </p:cNvPr>
          <p:cNvSpPr txBox="1"/>
          <p:nvPr/>
        </p:nvSpPr>
        <p:spPr>
          <a:xfrm>
            <a:off x="8643256" y="2564324"/>
            <a:ext cx="314597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Continuamos na jornada de curadoria dos dados.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9864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DDE138C-5788-AD2E-09D4-61ED9925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veremos?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37157C1-7A3A-AC9B-369C-8CDFEAD7A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771" cy="4351338"/>
          </a:xfrm>
        </p:spPr>
        <p:txBody>
          <a:bodyPr/>
          <a:lstStyle/>
          <a:p>
            <a:r>
              <a:rPr lang="pt-BR" dirty="0"/>
              <a:t>Veremos algumas técnicas de transformação ou pré-processamento dos dados: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Divisão</a:t>
            </a:r>
            <a:r>
              <a:rPr lang="en-US" dirty="0"/>
              <a:t> do </a:t>
            </a:r>
            <a:r>
              <a:rPr lang="en-US" i="1" dirty="0"/>
              <a:t>dataset,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Extração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Seleção</a:t>
            </a:r>
            <a:r>
              <a:rPr lang="en-US" dirty="0"/>
              <a:t> de </a:t>
            </a:r>
            <a:r>
              <a:rPr lang="en-US" dirty="0" err="1"/>
              <a:t>atribuitos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78483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711B1FA-D3D9-B761-84A9-4EE944FE6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Antes de falarmos sobre as transformações, temos que falar sobre a divisão do </a:t>
            </a:r>
            <a:r>
              <a:rPr lang="pt-BR" sz="6600" i="1" dirty="0"/>
              <a:t>dataset</a:t>
            </a:r>
            <a:r>
              <a:rPr lang="pt-BR" sz="6600" dirty="0"/>
              <a:t> original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299129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31553833-8E1E-E8EA-BC34-739B9DD9C6F3}"/>
              </a:ext>
            </a:extLst>
          </p:cNvPr>
          <p:cNvSpPr txBox="1"/>
          <p:nvPr/>
        </p:nvSpPr>
        <p:spPr>
          <a:xfrm>
            <a:off x="7489371" y="2151727"/>
            <a:ext cx="40209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Não é correto usar o mesmo conjunto de dados para treinamento, validação e teste!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F916EEDC-16EC-1AA3-D7CC-99F0FE4B71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227" y="163285"/>
            <a:ext cx="4354285" cy="6531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649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1529" cy="1325563"/>
          </a:xfrm>
        </p:spPr>
        <p:txBody>
          <a:bodyPr/>
          <a:lstStyle/>
          <a:p>
            <a:r>
              <a:rPr lang="pt-BR" dirty="0"/>
              <a:t>Por que não usar os mesmos dados para treino e teste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091530" cy="5032375"/>
          </a:xfrm>
        </p:spPr>
        <p:txBody>
          <a:bodyPr>
            <a:normAutofit/>
          </a:bodyPr>
          <a:lstStyle/>
          <a:p>
            <a:r>
              <a:rPr lang="pt-BR" dirty="0"/>
              <a:t>Avaliar um modelo com os mesmos dados usados no treinamento </a:t>
            </a:r>
            <a:r>
              <a:rPr lang="pt-BR" b="1" dirty="0">
                <a:solidFill>
                  <a:srgbClr val="7030A0"/>
                </a:solidFill>
              </a:rPr>
              <a:t>não mede sua capacidade real de generalização</a:t>
            </a:r>
            <a:r>
              <a:rPr lang="pt-BR" dirty="0"/>
              <a:t>. </a:t>
            </a:r>
          </a:p>
          <a:p>
            <a:r>
              <a:rPr lang="pt-BR" dirty="0"/>
              <a:t>O resultado da avaliação pode ser </a:t>
            </a:r>
            <a:r>
              <a:rPr lang="pt-BR" b="1" dirty="0"/>
              <a:t>artificialmente otimista</a:t>
            </a:r>
            <a:r>
              <a:rPr lang="pt-BR" dirty="0"/>
              <a:t>, pois o modelo é testado com dados que já conhece.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memorizar os dados de treinamento (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i="1" dirty="0"/>
              <a:t>)</a:t>
            </a:r>
            <a:r>
              <a:rPr lang="pt-BR" dirty="0"/>
              <a:t> em vez de aprender padrões gerais, o resultado da avaliação será excelente, mas o modelo pode não generalizar bem.</a:t>
            </a:r>
          </a:p>
          <a:p>
            <a:r>
              <a:rPr lang="pt-BR" dirty="0"/>
              <a:t>Além disso, se o modelo for otimizado com o mesmo conjunto de treinamento, ocorrerá </a:t>
            </a:r>
            <a:r>
              <a:rPr lang="pt-BR" b="1" dirty="0">
                <a:solidFill>
                  <a:schemeClr val="accent2"/>
                </a:solidFill>
              </a:rPr>
              <a:t>vazamento de dados </a:t>
            </a:r>
            <a:r>
              <a:rPr lang="pt-BR" dirty="0"/>
              <a:t>(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i="1" dirty="0"/>
              <a:t>)</a:t>
            </a:r>
            <a:r>
              <a:rPr lang="pt-BR" dirty="0"/>
              <a:t>, comprometendo a avaliação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modelo será otimizado para o conjunto de treinamento, causando </a:t>
            </a:r>
            <a:r>
              <a:rPr lang="pt-BR" b="1" i="1" dirty="0" err="1"/>
              <a:t>overfitting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697249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7E14A78-63ED-67C2-7C75-578530B33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9FAA6DB-6F6F-4101-954E-36363841E9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704113" cy="5032375"/>
          </a:xfrm>
        </p:spPr>
        <p:txBody>
          <a:bodyPr>
            <a:normAutofit/>
          </a:bodyPr>
          <a:lstStyle/>
          <a:p>
            <a:r>
              <a:rPr lang="pt-BR" dirty="0"/>
              <a:t>Como em ML, o objetivo é encontrar modelos que </a:t>
            </a:r>
            <a:r>
              <a:rPr lang="pt-BR" b="1" dirty="0">
                <a:solidFill>
                  <a:srgbClr val="7030A0"/>
                </a:solidFill>
              </a:rPr>
              <a:t>generalizem</a:t>
            </a:r>
            <a:r>
              <a:rPr lang="pt-BR" dirty="0"/>
              <a:t> bem para dados novos (i.e., </a:t>
            </a:r>
            <a:r>
              <a:rPr lang="pt-BR" b="1" dirty="0">
                <a:solidFill>
                  <a:schemeClr val="accent2"/>
                </a:solidFill>
              </a:rPr>
              <a:t>inéditos</a:t>
            </a:r>
            <a:r>
              <a:rPr lang="pt-BR" dirty="0"/>
              <a:t>), precisamos definir uma forma de avaliar a generalização.</a:t>
            </a:r>
          </a:p>
          <a:p>
            <a:r>
              <a:rPr lang="pt-BR" dirty="0"/>
              <a:t>Para isso, o conjunto total de amostras (</a:t>
            </a:r>
            <a:r>
              <a:rPr lang="pt-BR" i="1" dirty="0" err="1"/>
              <a:t>dataset</a:t>
            </a:r>
            <a:r>
              <a:rPr lang="pt-BR" dirty="0"/>
              <a:t>) é dividido em três subconjuntos </a:t>
            </a:r>
            <a:r>
              <a:rPr lang="pt-BR" b="1" dirty="0">
                <a:solidFill>
                  <a:srgbClr val="0070C0"/>
                </a:solidFill>
              </a:rPr>
              <a:t>independentes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Validação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Teste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AAF16A50-1431-9CAC-7F71-5A27C394F4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r="6250"/>
          <a:stretch>
            <a:fillRect/>
          </a:stretch>
        </p:blipFill>
        <p:spPr>
          <a:xfrm>
            <a:off x="152402" y="2373084"/>
            <a:ext cx="6215145" cy="2924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797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9E4324A-F45D-0632-1A25-0A760DDDE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D305F83-6AB4-A14A-E0B6-E213747DC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EADDC91-563F-33AB-2873-3F7B30C772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Todos os três devem ser </a:t>
            </a:r>
            <a:r>
              <a:rPr lang="pt-BR" b="1" dirty="0"/>
              <a:t>representativos do problema/fenômeno</a:t>
            </a:r>
            <a:r>
              <a:rPr lang="pt-BR" dirty="0"/>
              <a:t> sendo analisado.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Representativos: </a:t>
            </a:r>
            <a:r>
              <a:rPr lang="pt-BR" dirty="0"/>
              <a:t>O </a:t>
            </a:r>
            <a:r>
              <a:rPr lang="pt-BR" i="1" dirty="0"/>
              <a:t>dataset</a:t>
            </a:r>
            <a:r>
              <a:rPr lang="pt-BR" dirty="0"/>
              <a:t> completo e, consequentemente, os subconjuntos devem </a:t>
            </a:r>
            <a:r>
              <a:rPr lang="pt-BR" b="1" dirty="0">
                <a:solidFill>
                  <a:srgbClr val="0070C0"/>
                </a:solidFill>
              </a:rPr>
              <a:t>refletir</a:t>
            </a:r>
            <a:r>
              <a:rPr lang="pt-BR" dirty="0"/>
              <a:t> a </a:t>
            </a:r>
            <a:r>
              <a:rPr lang="pt-BR" b="1" dirty="0">
                <a:solidFill>
                  <a:srgbClr val="0070C0"/>
                </a:solidFill>
              </a:rPr>
              <a:t>mesma distribuição</a:t>
            </a:r>
            <a:r>
              <a:rPr lang="pt-BR" dirty="0"/>
              <a:t> de dados do problema.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Exemplo</a:t>
            </a:r>
            <a:r>
              <a:rPr lang="pt-BR" dirty="0"/>
              <a:t>: Se no </a:t>
            </a:r>
            <a:r>
              <a:rPr lang="pt-BR" i="1" dirty="0"/>
              <a:t>dataset</a:t>
            </a:r>
            <a:r>
              <a:rPr lang="pt-BR" dirty="0"/>
              <a:t> completo 70% das amostras são de </a:t>
            </a:r>
            <a:r>
              <a:rPr lang="pt-BR" i="1" dirty="0" err="1"/>
              <a:t>emails</a:t>
            </a:r>
            <a:r>
              <a:rPr lang="pt-BR" dirty="0"/>
              <a:t> legítimos e 30% são </a:t>
            </a:r>
            <a:r>
              <a:rPr lang="pt-BR" i="1" dirty="0"/>
              <a:t>spams</a:t>
            </a:r>
            <a:r>
              <a:rPr lang="pt-BR" dirty="0"/>
              <a:t>, os 3 subconjuntos devem manter estas porcentagens.</a:t>
            </a:r>
          </a:p>
          <a:p>
            <a:r>
              <a:rPr lang="pt-BR" dirty="0"/>
              <a:t>Em geral, mas não é regra, divide-se o </a:t>
            </a:r>
            <a:r>
              <a:rPr lang="pt-BR" i="1" dirty="0"/>
              <a:t>dataset</a:t>
            </a:r>
            <a:r>
              <a:rPr lang="pt-BR" dirty="0"/>
              <a:t> original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70%, 15%, 15%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80%, 10%, 10%</a:t>
            </a:r>
          </a:p>
        </p:txBody>
      </p:sp>
    </p:spTree>
    <p:extLst>
      <p:ext uri="{BB962C8B-B14F-4D97-AF65-F5344CB8AC3E}">
        <p14:creationId xmlns:p14="http://schemas.microsoft.com/office/powerpoint/2010/main" val="3207299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DE11FA-E96F-DB4C-09E3-2099E3AC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7E2A02C-D48D-8EC7-5CF4-A33BDCB9C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D1C9DBC-518B-A226-F3EB-82943F83AF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O conjunto de </a:t>
            </a:r>
            <a:r>
              <a:rPr lang="pt-BR" b="1" dirty="0"/>
              <a:t>treinamento</a:t>
            </a:r>
            <a:r>
              <a:rPr lang="pt-BR" dirty="0"/>
              <a:t> é para </a:t>
            </a:r>
            <a:r>
              <a:rPr lang="pt-BR" b="1" dirty="0">
                <a:solidFill>
                  <a:srgbClr val="0070C0"/>
                </a:solidFill>
              </a:rPr>
              <a:t>treinar</a:t>
            </a:r>
            <a:r>
              <a:rPr lang="pt-BR" dirty="0"/>
              <a:t> os modelos de ML.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onde o modelo “aprende” os padrões dos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Quanto maior, mais diverso e variado, melhor o aprendizado.</a:t>
            </a:r>
          </a:p>
          <a:p>
            <a:r>
              <a:rPr lang="pt-BR" dirty="0"/>
              <a:t>O conjunto de </a:t>
            </a:r>
            <a:r>
              <a:rPr lang="pt-BR" b="1" dirty="0"/>
              <a:t>validação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avalia o modelo durante o desenvolvimento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Evita que o modelo decore os dados de treinamento (i.e., </a:t>
            </a:r>
            <a:r>
              <a:rPr lang="pt-BR" i="1" dirty="0" err="1"/>
              <a:t>overfit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hiperparâmetros.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arquiteturas.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Decidir quando parar o treinamento (</a:t>
            </a:r>
            <a:r>
              <a:rPr lang="pt-BR" i="1" dirty="0"/>
              <a:t>early stopping</a:t>
            </a:r>
            <a:r>
              <a:rPr lang="pt-BR" dirty="0"/>
              <a:t>).</a:t>
            </a:r>
          </a:p>
          <a:p>
            <a:r>
              <a:rPr lang="pt-BR" dirty="0"/>
              <a:t>O conjunto de </a:t>
            </a:r>
            <a:r>
              <a:rPr lang="pt-BR" b="1" dirty="0"/>
              <a:t>teste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valida a capacidade de generalização </a:t>
            </a:r>
            <a:r>
              <a:rPr lang="pt-BR" dirty="0"/>
              <a:t>dos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Usado uma única vez, ao final.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Fornece uma estimativa imparcial do desempenho real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Simula dados nunca vistos.</a:t>
            </a:r>
          </a:p>
        </p:txBody>
      </p:sp>
    </p:spTree>
    <p:extLst>
      <p:ext uri="{BB962C8B-B14F-4D97-AF65-F5344CB8AC3E}">
        <p14:creationId xmlns:p14="http://schemas.microsoft.com/office/powerpoint/2010/main" val="1527454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3BE4444-161D-B9BC-4CA6-AFC9D140B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CDD5405-D201-E375-6B5B-16B6AAF9B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56189" y="1751805"/>
            <a:ext cx="4517571" cy="3354389"/>
          </a:xfrm>
        </p:spPr>
        <p:txBody>
          <a:bodyPr>
            <a:normAutofit fontScale="92500"/>
          </a:bodyPr>
          <a:lstStyle/>
          <a:p>
            <a:pPr marL="0" indent="0" algn="ctr">
              <a:buNone/>
            </a:pPr>
            <a:r>
              <a:rPr lang="pt-BR" sz="3600" dirty="0"/>
              <a:t>Agora veremos algumas transformações aplicadas aos dados que ajudam no aprendizado dos modelos, sendo a primeira delas, o </a:t>
            </a:r>
            <a:r>
              <a:rPr lang="pt-BR" sz="3600" b="1" dirty="0"/>
              <a:t>escalonamento</a:t>
            </a:r>
            <a:r>
              <a:rPr lang="pt-BR" sz="3600" dirty="0"/>
              <a:t>.</a:t>
            </a:r>
            <a:endParaRPr lang="en-US" sz="3600" dirty="0"/>
          </a:p>
        </p:txBody>
      </p:sp>
      <p:pic>
        <p:nvPicPr>
          <p:cNvPr id="2" name="Picture 2" descr="Feature Scaling in Machine Learning: What It Is, Why It Matters, and How to  Apply It">
            <a:extLst>
              <a:ext uri="{FF2B5EF4-FFF2-40B4-BE49-F238E27FC236}">
                <a16:creationId xmlns:a16="http://schemas.microsoft.com/office/drawing/2014/main" xmlns="" id="{B0B1ADBD-C39A-E2D0-6C43-5AE5055FBF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94" t="3865" r="10478" b="7102"/>
          <a:stretch>
            <a:fillRect/>
          </a:stretch>
        </p:blipFill>
        <p:spPr bwMode="auto">
          <a:xfrm>
            <a:off x="316212" y="1322613"/>
            <a:ext cx="6748093" cy="4212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34777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ECE7226-7B42-3182-D8AB-53A5644A3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2A1BEE6-4EE6-2F0F-46BF-CB428A23F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B3CB23DF-6C9E-C6A9-F0A3-434E8D55B6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A</a:t>
                </a:r>
                <a:r>
                  <a:rPr lang="pt-BR" dirty="0"/>
                  <a:t>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B</a:t>
                </a:r>
                <a:r>
                  <a:rPr lang="pt-BR" dirty="0"/>
                  <a:t>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</a:t>
                </a:r>
                <a:r>
                  <a:rPr lang="pt-BR" b="1" dirty="0">
                    <a:solidFill>
                      <a:srgbClr val="7030A0"/>
                    </a:solidFill>
                  </a:rPr>
                  <a:t>não conhecem as unidades</a:t>
                </a:r>
                <a:r>
                  <a:rPr lang="pt-BR" dirty="0"/>
                  <a:t> do mundo real, eles </a:t>
                </a:r>
                <a:r>
                  <a:rPr lang="pt-BR" b="1" dirty="0">
                    <a:solidFill>
                      <a:srgbClr val="7030A0"/>
                    </a:solidFill>
                  </a:rPr>
                  <a:t>conhecem apenas números</a:t>
                </a:r>
                <a:r>
                  <a:rPr lang="pt-BR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  <a:blipFill>
                <a:blip r:embed="rId3"/>
                <a:stretch>
                  <a:fillRect l="-1989" t="-1937" r="-22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2E228E2A-3289-7CEE-B490-080A4F4435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3"/>
          <a:stretch>
            <a:fillRect/>
          </a:stretch>
        </p:blipFill>
        <p:spPr>
          <a:xfrm>
            <a:off x="97971" y="2392362"/>
            <a:ext cx="6135406" cy="300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85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A93B732-FD8C-AC6A-90A0-C71B105F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37ED040-A025-7A5E-ECF6-6400B7A21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7285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Modelos de ML baseados em </a:t>
            </a:r>
            <a:r>
              <a:rPr lang="pt-BR" b="1" dirty="0"/>
              <a:t>distância</a:t>
            </a:r>
            <a:r>
              <a:rPr lang="pt-BR" dirty="0"/>
              <a:t> (e.g., KNN, SVM, PCA) ou </a:t>
            </a:r>
            <a:r>
              <a:rPr lang="pt-BR" b="1" dirty="0"/>
              <a:t>gradiente</a:t>
            </a:r>
            <a:r>
              <a:rPr lang="pt-BR" dirty="0"/>
              <a:t> (e.g., regressão linear/logística, redes neurais) </a:t>
            </a:r>
            <a:r>
              <a:rPr lang="pt-BR" b="1" dirty="0">
                <a:solidFill>
                  <a:srgbClr val="7030A0"/>
                </a:solidFill>
              </a:rPr>
              <a:t>são sensíveis à escala dos atributos</a:t>
            </a:r>
            <a:r>
              <a:rPr lang="pt-BR" dirty="0"/>
              <a:t>.</a:t>
            </a:r>
          </a:p>
          <a:p>
            <a:r>
              <a:rPr lang="pt-BR" dirty="0"/>
              <a:t>Atributos com </a:t>
            </a:r>
            <a:r>
              <a:rPr lang="pt-BR" b="1" dirty="0">
                <a:solidFill>
                  <a:schemeClr val="accent1"/>
                </a:solidFill>
              </a:rPr>
              <a:t>escala muito maior influenciam muito mais a previsão </a:t>
            </a:r>
            <a:r>
              <a:rPr lang="pt-BR" dirty="0"/>
              <a:t>dos modelos do que atributos com escala menor.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exemplo da previsão do preço de casas, o modelo ignoraria os quartos e focaria só na área.</a:t>
            </a:r>
          </a:p>
        </p:txBody>
      </p:sp>
      <p:pic>
        <p:nvPicPr>
          <p:cNvPr id="5122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xmlns="" id="{99B43FBF-4616-53AA-030A-E722F67C4B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0516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B51FC5D-6FEC-A156-FC5A-F6992527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EBCAF9A-32DA-5822-59B2-8972B59B9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F6B24C7-41C3-6780-C1B8-EBBB5A57F8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4629" y="1825624"/>
            <a:ext cx="6542314" cy="5032375"/>
          </a:xfrm>
        </p:spPr>
        <p:txBody>
          <a:bodyPr>
            <a:normAutofit/>
          </a:bodyPr>
          <a:lstStyle/>
          <a:p>
            <a:r>
              <a:rPr lang="pt-BR" dirty="0"/>
              <a:t>Mas e se todos os atributos são importantes para a previsão do modelo?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escalonamento iguala a influência </a:t>
            </a:r>
            <a:r>
              <a:rPr lang="pt-BR" dirty="0"/>
              <a:t>dos atributos no modelo.</a:t>
            </a:r>
          </a:p>
          <a:p>
            <a:r>
              <a:rPr lang="pt-BR" dirty="0"/>
              <a:t>Escalonamento transforma valores de atributos para uma mesma escala.</a:t>
            </a:r>
          </a:p>
          <a:p>
            <a:r>
              <a:rPr lang="pt-BR" dirty="0"/>
              <a:t>Principais técnicas de escalonamento: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Padronização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Normalização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Escalonamento robusto</a:t>
            </a:r>
          </a:p>
          <a:p>
            <a:pPr lvl="1"/>
            <a:endParaRPr lang="pt-BR" b="1" dirty="0"/>
          </a:p>
        </p:txBody>
      </p:sp>
      <p:pic>
        <p:nvPicPr>
          <p:cNvPr id="4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xmlns="" id="{BB65CFC1-6B1D-D444-7DAB-75B58C5A8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59833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CBE4DD6-C949-62F0-7FF2-D821C5B3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B30504D-CF81-0763-876C-200B893A1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D1AE468C-2D90-73D6-314C-18370D8F7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7963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todos os valores numéricos para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escala fixa, geralmente entre 0 e 1</a:t>
                </a:r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[0, 1],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𝑎𝑥</m:t>
                        </m:r>
                      </m:sub>
                    </m:sSub>
                  </m:oMath>
                </a14:m>
                <a:r>
                  <a:rPr lang="pt-BR" dirty="0"/>
                  <a:t> são os valores mínimo e máximo de um atributo (e.g., a coluna de um </a:t>
                </a:r>
                <a:r>
                  <a:rPr lang="pt-BR" i="1" dirty="0"/>
                  <a:t>dataset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79630" cy="5032375"/>
              </a:xfrm>
              <a:blipFill>
                <a:blip r:embed="rId3"/>
                <a:stretch>
                  <a:fillRect l="-109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30588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A0A9B45-E0AC-C9AE-5FD5-5497AD766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C76165C-B0D9-0375-517C-218CA055B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2C156B7-5901-102A-9736-A2EAAA0CF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</a:t>
            </a:r>
            <a:r>
              <a:rPr lang="pt-BR" dirty="0"/>
              <a:t>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Dados sem </a:t>
            </a:r>
            <a:r>
              <a:rPr lang="pt-BR" i="1" dirty="0"/>
              <a:t>outliers</a:t>
            </a:r>
            <a:r>
              <a:rPr lang="pt-BR" dirty="0"/>
              <a:t> (analisar e remover antes),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 algoritmos que </a:t>
            </a:r>
            <a:r>
              <a:rPr lang="pt-BR" b="1" dirty="0">
                <a:solidFill>
                  <a:schemeClr val="accent2"/>
                </a:solidFill>
              </a:rPr>
              <a:t>não pressupõem </a:t>
            </a:r>
            <a:r>
              <a:rPr lang="pt-BR" dirty="0"/>
              <a:t>nenhuma </a:t>
            </a:r>
            <a:r>
              <a:rPr lang="pt-BR" b="1" dirty="0">
                <a:solidFill>
                  <a:schemeClr val="accent2"/>
                </a:solidFill>
              </a:rPr>
              <a:t>distribuição</a:t>
            </a:r>
            <a:r>
              <a:rPr lang="pt-BR" dirty="0"/>
              <a:t> (e.g., redes neurais, KNN),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 algoritmos </a:t>
            </a:r>
            <a:r>
              <a:rPr lang="pt-BR" b="1" dirty="0">
                <a:solidFill>
                  <a:schemeClr val="accent2"/>
                </a:solidFill>
              </a:rPr>
              <a:t>baseados em distância</a:t>
            </a:r>
            <a:r>
              <a:rPr lang="pt-BR" dirty="0"/>
              <a:t> (e.g., </a:t>
            </a:r>
            <a:r>
              <a:rPr lang="en-US" dirty="0"/>
              <a:t>KNN, SVM, K-Means)</a:t>
            </a:r>
            <a:r>
              <a:rPr lang="pt-BR" dirty="0"/>
              <a:t> e gradiente (</a:t>
            </a:r>
            <a:r>
              <a:rPr lang="en-US" dirty="0"/>
              <a:t>Redes </a:t>
            </a:r>
            <a:r>
              <a:rPr lang="en-US" dirty="0" err="1"/>
              <a:t>Neurais</a:t>
            </a:r>
            <a:r>
              <a:rPr lang="en-US" dirty="0"/>
              <a:t>, </a:t>
            </a:r>
            <a:r>
              <a:rPr lang="en-US" dirty="0" err="1"/>
              <a:t>Regressões</a:t>
            </a:r>
            <a:r>
              <a:rPr lang="pt-BR" dirty="0"/>
              <a:t>).</a:t>
            </a:r>
          </a:p>
          <a:p>
            <a:r>
              <a:rPr lang="pt-BR" b="1" dirty="0"/>
              <a:t>Cuidado:</a:t>
            </a:r>
            <a:r>
              <a:rPr lang="pt-BR" dirty="0"/>
              <a:t> Muito sensível a </a:t>
            </a:r>
            <a:r>
              <a:rPr lang="pt-BR" i="1" dirty="0"/>
              <a:t>outliers.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extremo “</a:t>
            </a:r>
            <a:r>
              <a:rPr lang="pt-BR" b="1" dirty="0">
                <a:solidFill>
                  <a:srgbClr val="7030A0"/>
                </a:solidFill>
              </a:rPr>
              <a:t>esmaga</a:t>
            </a:r>
            <a:r>
              <a:rPr lang="pt-BR" dirty="0"/>
              <a:t>” todos os outros valores </a:t>
            </a:r>
            <a:r>
              <a:rPr lang="pt-BR" b="1" dirty="0">
                <a:solidFill>
                  <a:srgbClr val="7030A0"/>
                </a:solidFill>
              </a:rPr>
              <a:t>para um intervalo muito pequeno próximo de zero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Perde-se a </a:t>
            </a:r>
            <a:r>
              <a:rPr lang="pt-BR" b="1" dirty="0">
                <a:solidFill>
                  <a:srgbClr val="7030A0"/>
                </a:solidFill>
              </a:rPr>
              <a:t>distinção entre valores típicos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Isso reduz a eficácia do aprendizado, pois a </a:t>
            </a:r>
            <a:r>
              <a:rPr lang="pt-BR" b="1" dirty="0">
                <a:solidFill>
                  <a:srgbClr val="00B050"/>
                </a:solidFill>
              </a:rPr>
              <a:t>diferença entre os valores típicos é praticamente eliminada</a:t>
            </a:r>
            <a:r>
              <a:rPr lang="pt-BR" dirty="0"/>
              <a:t> na escala normalizada.</a:t>
            </a:r>
          </a:p>
        </p:txBody>
      </p:sp>
    </p:spTree>
    <p:extLst>
      <p:ext uri="{BB962C8B-B14F-4D97-AF65-F5344CB8AC3E}">
        <p14:creationId xmlns:p14="http://schemas.microsoft.com/office/powerpoint/2010/main" val="9246743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17562E0-2AE8-02FC-9DCC-C800C0195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71BB7EC-614D-E681-2988-57753674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A472B20-73AA-CEC0-1896-5F09B228A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from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sklearn.preprocessing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normalizador</a:t>
            </a:r>
            <a:r>
              <a:rPr lang="en-US" i="1" dirty="0">
                <a:latin typeface="Consolas" panose="020B0609020204030204" pitchFamily="49" charset="0"/>
              </a:rPr>
              <a:t> com </a:t>
            </a:r>
            <a:r>
              <a:rPr lang="en-US" i="1" dirty="0" err="1">
                <a:latin typeface="Consolas" panose="020B0609020204030204" pitchFamily="49" charset="0"/>
              </a:rPr>
              <a:t>intervalo</a:t>
            </a:r>
            <a:r>
              <a:rPr lang="en-US" i="1" dirty="0">
                <a:latin typeface="Consolas" panose="020B0609020204030204" pitchFamily="49" charset="0"/>
              </a:rPr>
              <a:t> de 0 a 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feature_range</a:t>
            </a:r>
            <a:r>
              <a:rPr lang="en-US" dirty="0">
                <a:latin typeface="Consolas" panose="020B0609020204030204" pitchFamily="49" charset="0"/>
              </a:rPr>
              <a:t>=(0, 1))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Aprende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parâmetros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de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normalização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(min e max) no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treino</a:t>
            </a:r>
            <a:endParaRPr lang="en-US" b="1" i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Aplica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o scaler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aprendido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conjunto de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75293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04E68CA-D24D-3A59-2454-962A7341F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9E72AB6-BCB8-5FD1-C056-8FD29D1A2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Por que não calculamos os parâmetros de escalonamento usando o conjunto completo?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25582661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A25218C-1075-A083-A4CA-ADA8E8133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EABB49B-5EBD-DA72-FD55-8FDDE8F82C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5" y="1995288"/>
            <a:ext cx="11070770" cy="286742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Para não haver vazamento de informações do “futuro” no treinamento.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19688936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097E27A-F64F-BD37-64AC-DCE4D923E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D724F9A-6932-BA2B-0C8B-88280995A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E4E7A4F3-D98D-3713-FDAB-EE34883FF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os atributos para terem </a:t>
                </a:r>
                <a:r>
                  <a:rPr lang="pt-BR" b="1" dirty="0">
                    <a:solidFill>
                      <a:schemeClr val="accent2"/>
                    </a:solidFill>
                  </a:rPr>
                  <a:t>média 0 e desvio padrão 1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6"/>
                    </a:solidFill>
                  </a:rPr>
                  <a:t>não impondo limites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são a média e o desvio padrão de um atributo.</a:t>
                </a:r>
              </a:p>
              <a:p>
                <a:r>
                  <a:rPr lang="pt-BR" b="1" dirty="0"/>
                  <a:t>Vantagens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Torna os dados "comparáveis" em termos do número de desvios padrão da média.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7030A0"/>
                    </a:solidFill>
                  </a:rPr>
                  <a:t>Mais robusto </a:t>
                </a:r>
                <a:r>
                  <a:rPr lang="pt-BR" dirty="0"/>
                  <a:t>a </a:t>
                </a:r>
                <a:r>
                  <a:rPr lang="pt-BR" i="1" dirty="0"/>
                  <a:t>outliers</a:t>
                </a:r>
                <a:r>
                  <a:rPr lang="pt-BR" dirty="0"/>
                  <a:t>, mas não a </a:t>
                </a:r>
                <a:r>
                  <a:rPr lang="pt-BR" i="1" dirty="0"/>
                  <a:t>outliers</a:t>
                </a:r>
                <a:r>
                  <a:rPr lang="pt-BR" dirty="0"/>
                  <a:t> extremos.</a:t>
                </a:r>
              </a:p>
              <a:p>
                <a:pPr lvl="2">
                  <a:buFont typeface="Wingdings" panose="05000000000000000000" pitchFamily="2" charset="2"/>
                  <a:buChar char="§"/>
                </a:pPr>
                <a:r>
                  <a:rPr lang="pt-BR" dirty="0"/>
                  <a:t>Por não dividir os valores por um denominador muito grande, no caso da presença de </a:t>
                </a:r>
                <a:r>
                  <a:rPr lang="pt-BR" i="1" dirty="0"/>
                  <a:t>outliers</a:t>
                </a:r>
                <a:r>
                  <a:rPr lang="pt-BR" dirty="0"/>
                  <a:t>, não os transforma em valores próximos de zero e, portanto, não se perde a distinção entre eles.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10390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9855876-1E2F-A829-24D7-6E67D4343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C15A8A1-ABB5-8D3A-D7B8-B702B33BE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EE08648-F204-3557-03A6-4A8A93926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geral, com algoritmos que assumem distribuição "normal" ou Gaussiana (e.g., GNB</a:t>
            </a:r>
            <a:r>
              <a:rPr lang="en-US" dirty="0"/>
              <a:t>, GMM, </a:t>
            </a:r>
            <a:r>
              <a:rPr lang="en-US" dirty="0" err="1"/>
              <a:t>alguns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 para </a:t>
            </a:r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anomalias</a:t>
            </a:r>
            <a:r>
              <a:rPr lang="en-US" dirty="0"/>
              <a:t>)</a:t>
            </a:r>
            <a:r>
              <a:rPr lang="pt-BR" dirty="0"/>
              <a:t>,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os dados possuem </a:t>
            </a:r>
            <a:r>
              <a:rPr lang="pt-BR" i="1" dirty="0"/>
              <a:t>outliers</a:t>
            </a:r>
            <a:r>
              <a:rPr lang="en-US" dirty="0"/>
              <a:t>, mas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extremos</a:t>
            </a:r>
            <a:r>
              <a:rPr lang="en-US" dirty="0"/>
              <a:t>.</a:t>
            </a:r>
            <a:endParaRPr lang="pt-BR" dirty="0"/>
          </a:p>
          <a:p>
            <a:r>
              <a:rPr lang="pt-BR" b="1" dirty="0"/>
              <a:t>Cuidado: </a:t>
            </a:r>
            <a:r>
              <a:rPr lang="pt-BR" dirty="0"/>
              <a:t>Se os dados originais são assimétricos (i.e., cauda longa), eles continuarão assimétricos, apenas centralizados e com variância igual a 1. </a:t>
            </a:r>
          </a:p>
          <a:p>
            <a:r>
              <a:rPr lang="pt-BR" b="1" dirty="0"/>
              <a:t>Importante:</a:t>
            </a:r>
            <a:r>
              <a:rPr lang="pt-BR" dirty="0"/>
              <a:t> Se o conjunto de dados tiver </a:t>
            </a:r>
            <a:r>
              <a:rPr lang="pt-BR" b="1" i="1" dirty="0">
                <a:solidFill>
                  <a:srgbClr val="7030A0"/>
                </a:solidFill>
              </a:rPr>
              <a:t>outliers</a:t>
            </a:r>
            <a:r>
              <a:rPr lang="pt-BR" b="1" dirty="0">
                <a:solidFill>
                  <a:srgbClr val="7030A0"/>
                </a:solidFill>
              </a:rPr>
              <a:t> extremos</a:t>
            </a:r>
            <a:r>
              <a:rPr lang="pt-BR" dirty="0"/>
              <a:t>, o </a:t>
            </a:r>
            <a:r>
              <a:rPr lang="pt-BR" b="1" dirty="0">
                <a:solidFill>
                  <a:srgbClr val="00B050"/>
                </a:solidFill>
              </a:rPr>
              <a:t>escalonador robusto é uma opção superior </a:t>
            </a:r>
            <a:r>
              <a:rPr lang="pt-BR" dirty="0"/>
              <a:t>à padronização, pois ignora os valores discrepantes no cálculo do escalonamento.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7030A0"/>
                </a:solidFill>
              </a:rPr>
              <a:t>Outliers</a:t>
            </a:r>
            <a:r>
              <a:rPr lang="pt-BR" b="1" dirty="0">
                <a:solidFill>
                  <a:srgbClr val="7030A0"/>
                </a:solidFill>
              </a:rPr>
              <a:t> extremos</a:t>
            </a:r>
            <a:r>
              <a:rPr lang="pt-BR" dirty="0"/>
              <a:t> podem </a:t>
            </a:r>
            <a:r>
              <a:rPr lang="pt-BR" b="1" dirty="0">
                <a:solidFill>
                  <a:srgbClr val="7030A0"/>
                </a:solidFill>
              </a:rPr>
              <a:t>influenciar a média e a variância </a:t>
            </a:r>
            <a:r>
              <a:rPr lang="pt-BR" dirty="0"/>
              <a:t>dos atributos de forma negativa.</a:t>
            </a:r>
          </a:p>
        </p:txBody>
      </p:sp>
    </p:spTree>
    <p:extLst>
      <p:ext uri="{BB962C8B-B14F-4D97-AF65-F5344CB8AC3E}">
        <p14:creationId xmlns:p14="http://schemas.microsoft.com/office/powerpoint/2010/main" val="34479378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6577714-D30D-81C3-3BE9-7601747F5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1CD4492A-4A23-9842-8A7E-76151D3DB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94571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padronizador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padronização</a:t>
            </a:r>
            <a:r>
              <a:rPr lang="en-US" i="1" dirty="0">
                <a:latin typeface="Consolas" panose="020B0609020204030204" pitchFamily="49" charset="0"/>
              </a:rPr>
              <a:t> no </a:t>
            </a:r>
            <a:r>
              <a:rPr lang="en-US" i="1" dirty="0" err="1">
                <a:latin typeface="Consolas" panose="020B0609020204030204" pitchFamily="49" charset="0"/>
              </a:rPr>
              <a:t>treino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8145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944F0F9-20D7-154F-370F-D835643F1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81CDABA-9A41-573A-0CB1-602907ED9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D8F3830B-DEF6-A0F3-3AF2-EBB9B6E8B5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Usa </a:t>
                </a:r>
                <a:r>
                  <a:rPr lang="pt-BR" b="1" dirty="0">
                    <a:solidFill>
                      <a:srgbClr val="00B050"/>
                    </a:solidFill>
                  </a:rPr>
                  <a:t>mediana e distância interquartil</a:t>
                </a:r>
                <a:r>
                  <a:rPr lang="pt-BR" dirty="0"/>
                  <a:t> no escalonamento.</a:t>
                </a:r>
                <a:endParaRPr lang="pt-BR" b="1" dirty="0">
                  <a:solidFill>
                    <a:srgbClr val="FF0000"/>
                  </a:solidFill>
                </a:endParaRP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mediana</m:t>
                          </m:r>
                        </m:num>
                        <m:den>
                          <m:limLow>
                            <m:limLow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IQR</m:t>
                              </m:r>
                            </m:lim>
                          </m:limLow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é a distância interquartil de um atributo.</a:t>
                </a:r>
              </a:p>
              <a:p>
                <a:r>
                  <a:rPr lang="pt-BR" b="1" dirty="0"/>
                  <a:t>Vantagem</a:t>
                </a:r>
                <a:r>
                  <a:rPr lang="pt-BR" dirty="0"/>
                  <a:t>: Por utilizar a mediana e 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em vez da média e do desvio padrão, os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b="1" dirty="0">
                    <a:solidFill>
                      <a:schemeClr val="accent2"/>
                    </a:solidFill>
                  </a:rPr>
                  <a:t> têm influência mínima </a:t>
                </a:r>
                <a:r>
                  <a:rPr lang="pt-BR" dirty="0"/>
                  <a:t>no escalonamento.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Mantém a relação de distância entre os valores típicos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melhor que a padronização quando existem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b="1" dirty="0">
                    <a:solidFill>
                      <a:schemeClr val="accent2"/>
                    </a:solidFill>
                  </a:rPr>
                  <a:t> extremos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seja, não deixa que </a:t>
                </a:r>
                <a:r>
                  <a:rPr lang="pt-BR" i="1" dirty="0"/>
                  <a:t>outliers</a:t>
                </a:r>
                <a:r>
                  <a:rPr lang="pt-BR" dirty="0"/>
                  <a:t> extremos “esmaguem” os valores típicos em valores próximos de 0.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 b="-1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96080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68E9AD0-32FE-7BB6-65F1-4C9F82FC9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84EB2E1-2720-CBAD-00A2-4211C0FA6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FFCF40E-198B-DB74-AFFD-EA10FEF88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há </a:t>
            </a:r>
            <a:r>
              <a:rPr lang="pt-BR" i="1" dirty="0"/>
              <a:t>outliers</a:t>
            </a:r>
            <a:r>
              <a:rPr lang="pt-BR" dirty="0"/>
              <a:t> significativos, mas desejamos mantê-los sem impactar o escalonamento.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as distribuições são assimétricas (i.e., com cauda longa).</a:t>
            </a:r>
          </a:p>
          <a:p>
            <a:r>
              <a:rPr lang="pt-BR" b="1" dirty="0"/>
              <a:t>Cuidado: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Como, em geral, </a:t>
            </a:r>
            <a:r>
              <a:rPr lang="pt-BR" b="1" dirty="0">
                <a:solidFill>
                  <a:schemeClr val="accent2"/>
                </a:solidFill>
              </a:rPr>
              <a:t>não se remove</a:t>
            </a:r>
            <a:r>
              <a:rPr lang="pt-BR" dirty="0"/>
              <a:t> os </a:t>
            </a:r>
            <a:r>
              <a:rPr lang="pt-BR" i="1" dirty="0"/>
              <a:t>outliers</a:t>
            </a:r>
            <a:r>
              <a:rPr lang="pt-BR" dirty="0"/>
              <a:t>, algoritmos </a:t>
            </a:r>
            <a:r>
              <a:rPr lang="pt-BR" b="1" dirty="0">
                <a:solidFill>
                  <a:schemeClr val="accent2"/>
                </a:solidFill>
              </a:rPr>
              <a:t>sensíveis à distância </a:t>
            </a:r>
            <a:r>
              <a:rPr lang="pt-BR" dirty="0"/>
              <a:t>(e.g., KNN, </a:t>
            </a:r>
            <a:r>
              <a:rPr lang="pt-BR" dirty="0" err="1"/>
              <a:t>Regressores</a:t>
            </a:r>
            <a:r>
              <a:rPr lang="pt-BR" dirty="0"/>
              <a:t>) podem ter seu </a:t>
            </a:r>
            <a:r>
              <a:rPr lang="pt-BR" b="1" dirty="0">
                <a:solidFill>
                  <a:schemeClr val="accent2"/>
                </a:solidFill>
              </a:rPr>
              <a:t>aprendizado impactado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Preserva a escala </a:t>
            </a:r>
            <a:r>
              <a:rPr lang="pt-BR" dirty="0"/>
              <a:t>dos dados típicos, </a:t>
            </a:r>
            <a:r>
              <a:rPr lang="pt-BR" b="1" dirty="0">
                <a:solidFill>
                  <a:srgbClr val="00B050"/>
                </a:solidFill>
              </a:rPr>
              <a:t>mas não elimina nem disfarça </a:t>
            </a:r>
            <a:r>
              <a:rPr lang="pt-BR" dirty="0"/>
              <a:t>os </a:t>
            </a:r>
            <a:r>
              <a:rPr lang="pt-BR" i="1" dirty="0"/>
              <a:t>outliers.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900424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0A438CB-284D-B132-E982-E10E2E0A6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A7015A9-D416-BD11-58AD-7B62F1B4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5F49F56-D00F-7D12-5FCD-BB6DCFC23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Instância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escalonador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robusto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Aprende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os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parâmetros</a:t>
            </a:r>
            <a:r>
              <a:rPr lang="en-US" dirty="0">
                <a:latin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</a:rPr>
              <a:t>escalonamento</a:t>
            </a:r>
            <a:r>
              <a:rPr lang="en-US" dirty="0">
                <a:latin typeface="Consolas" panose="020B0609020204030204" pitchFamily="49" charset="0"/>
              </a:rPr>
              <a:t> no </a:t>
            </a:r>
            <a:r>
              <a:rPr lang="en-US" dirty="0" err="1">
                <a:latin typeface="Consolas" panose="020B0609020204030204" pitchFamily="49" charset="0"/>
              </a:rPr>
              <a:t>treino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Aplica</a:t>
            </a:r>
            <a:r>
              <a:rPr lang="en-US" dirty="0">
                <a:latin typeface="Consolas" panose="020B0609020204030204" pitchFamily="49" charset="0"/>
              </a:rPr>
              <a:t> o scaler </a:t>
            </a:r>
            <a:r>
              <a:rPr lang="en-US" dirty="0" err="1">
                <a:latin typeface="Consolas" panose="020B0609020204030204" pitchFamily="49" charset="0"/>
              </a:rPr>
              <a:t>aprendido</a:t>
            </a:r>
            <a:r>
              <a:rPr lang="en-US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554837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F12465D-3B71-C4D6-425F-FF182A665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Armadilhas comuns durante o escalonamento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9848CE3-22F4-8F30-72FB-7BA864CCB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5"/>
          </a:xfrm>
        </p:spPr>
        <p:txBody>
          <a:bodyPr>
            <a:normAutofit/>
          </a:bodyPr>
          <a:lstStyle/>
          <a:p>
            <a:r>
              <a:rPr lang="pt-BR" dirty="0"/>
              <a:t>Para evitar </a:t>
            </a:r>
            <a:r>
              <a:rPr lang="pt-BR" b="1" dirty="0">
                <a:solidFill>
                  <a:schemeClr val="accent2"/>
                </a:solidFill>
              </a:rPr>
              <a:t>vazamento de dados</a:t>
            </a:r>
            <a:r>
              <a:rPr lang="pt-BR" dirty="0"/>
              <a:t>, o escalonador deve sempre ser </a:t>
            </a:r>
            <a:r>
              <a:rPr lang="pt-BR" b="1" dirty="0">
                <a:solidFill>
                  <a:schemeClr val="accent2"/>
                </a:solidFill>
              </a:rPr>
              <a:t>ajustado no conjunto de treinamento</a:t>
            </a:r>
            <a:r>
              <a:rPr lang="pt-BR" dirty="0"/>
              <a:t>.</a:t>
            </a:r>
          </a:p>
          <a:p>
            <a:r>
              <a:rPr lang="pt-BR" dirty="0"/>
              <a:t>Os conjuntos de validação e teste, são </a:t>
            </a:r>
            <a:r>
              <a:rPr lang="pt-BR" b="1" dirty="0">
                <a:solidFill>
                  <a:schemeClr val="accent1"/>
                </a:solidFill>
              </a:rPr>
              <a:t>transformados com os parâmetros encontrados com o conjunto e treinamento</a:t>
            </a:r>
            <a:r>
              <a:rPr lang="pt-BR" dirty="0"/>
              <a:t>.</a:t>
            </a:r>
          </a:p>
          <a:p>
            <a:r>
              <a:rPr lang="pt-BR" dirty="0"/>
              <a:t>Geralmente, </a:t>
            </a:r>
            <a:r>
              <a:rPr lang="pt-BR" b="1" dirty="0">
                <a:solidFill>
                  <a:srgbClr val="7030A0"/>
                </a:solidFill>
              </a:rPr>
              <a:t>não se aplica escalonamento à variável alvo</a:t>
            </a:r>
            <a:r>
              <a:rPr lang="pt-BR" dirty="0"/>
              <a:t>, i.e., os rótulos, apenas aos atributos.</a:t>
            </a:r>
          </a:p>
          <a:p>
            <a:r>
              <a:rPr lang="pt-BR" dirty="0"/>
              <a:t>Em geral, </a:t>
            </a:r>
            <a:r>
              <a:rPr lang="pt-BR" b="1" dirty="0">
                <a:solidFill>
                  <a:schemeClr val="accent6"/>
                </a:solidFill>
              </a:rPr>
              <a:t>não se escalona atributos binários ou </a:t>
            </a:r>
            <a:r>
              <a:rPr lang="pt-BR" b="1" i="1" dirty="0" err="1">
                <a:solidFill>
                  <a:schemeClr val="accent6"/>
                </a:solidFill>
              </a:rPr>
              <a:t>one</a:t>
            </a:r>
            <a:r>
              <a:rPr lang="pt-BR" b="1" i="1" dirty="0">
                <a:solidFill>
                  <a:schemeClr val="accent6"/>
                </a:solidFill>
              </a:rPr>
              <a:t>-hot</a:t>
            </a:r>
            <a:r>
              <a:rPr lang="pt-BR" b="1" dirty="0">
                <a:solidFill>
                  <a:schemeClr val="accent6"/>
                </a:solidFill>
              </a:rPr>
              <a:t> </a:t>
            </a:r>
            <a:r>
              <a:rPr lang="pt-BR" dirty="0"/>
              <a:t>sem necessidade, pois pode-se criar valores fracionários desnecessários.</a:t>
            </a:r>
          </a:p>
        </p:txBody>
      </p:sp>
    </p:spTree>
    <p:extLst>
      <p:ext uri="{BB962C8B-B14F-4D97-AF65-F5344CB8AC3E}">
        <p14:creationId xmlns:p14="http://schemas.microsoft.com/office/powerpoint/2010/main" val="8775267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3C8DCA9-22E3-E7D2-4335-66012FBB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categóricos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6E35704-3008-E5B2-8105-C96099FC4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25201" cy="5032375"/>
          </a:xfrm>
        </p:spPr>
        <p:txBody>
          <a:bodyPr>
            <a:normAutofit/>
          </a:bodyPr>
          <a:lstStyle/>
          <a:p>
            <a:r>
              <a:rPr lang="pt-BR" b="1" dirty="0"/>
              <a:t>Motivação</a:t>
            </a:r>
            <a:r>
              <a:rPr lang="pt-BR" dirty="0"/>
              <a:t>: Modelos </a:t>
            </a:r>
            <a:r>
              <a:rPr lang="pt-BR" dirty="0" smtClean="0"/>
              <a:t>de ML não </a:t>
            </a:r>
            <a:r>
              <a:rPr lang="pt-BR" dirty="0"/>
              <a:t>entendem texto, portanto, precisamos converter categorias em números.</a:t>
            </a:r>
          </a:p>
          <a:p>
            <a:r>
              <a:rPr lang="en-US" dirty="0"/>
              <a:t>As </a:t>
            </a:r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técnicas</a:t>
            </a:r>
            <a:r>
              <a:rPr lang="en-US" dirty="0"/>
              <a:t> de </a:t>
            </a:r>
            <a:r>
              <a:rPr lang="en-US" dirty="0" err="1"/>
              <a:t>codificação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: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One-Hot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Label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Target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Binary encoding</a:t>
            </a:r>
            <a:endParaRPr lang="pt-BR" dirty="0"/>
          </a:p>
          <a:p>
            <a:r>
              <a:rPr lang="pt-BR" b="1" dirty="0"/>
              <a:t>OBS</a:t>
            </a:r>
            <a:r>
              <a:rPr lang="pt-BR" dirty="0"/>
              <a:t>.: A codificação pode ser considerada uma forma de </a:t>
            </a:r>
            <a:r>
              <a:rPr lang="pt-BR" b="1" dirty="0">
                <a:solidFill>
                  <a:schemeClr val="accent1"/>
                </a:solidFill>
              </a:rPr>
              <a:t>engenharia de atributos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Processo de </a:t>
            </a:r>
            <a:r>
              <a:rPr lang="pt-BR" b="1" dirty="0">
                <a:solidFill>
                  <a:schemeClr val="accent6"/>
                </a:solidFill>
              </a:rPr>
              <a:t>criar atributos </a:t>
            </a:r>
            <a:r>
              <a:rPr lang="pt-BR" dirty="0"/>
              <a:t>relevantes a </a:t>
            </a:r>
            <a:r>
              <a:rPr lang="pt-BR" b="1" dirty="0">
                <a:solidFill>
                  <a:schemeClr val="accent6"/>
                </a:solidFill>
              </a:rPr>
              <a:t>partir dos existentes</a:t>
            </a:r>
            <a:r>
              <a:rPr lang="pt-BR" dirty="0"/>
              <a:t> para melhorar o desempenho de um modelo de ML.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3156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C7389AB-09B4-AB30-AAD4-587A6426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29514B5-016A-AF18-EA86-F01A68136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4B52C18-6F1E-8230-5D96-63D8A5144D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0" y="1825624"/>
            <a:ext cx="6302829" cy="5032375"/>
          </a:xfrm>
        </p:spPr>
        <p:txBody>
          <a:bodyPr>
            <a:normAutofit/>
          </a:bodyPr>
          <a:lstStyle/>
          <a:p>
            <a:r>
              <a:rPr lang="pt-BR" dirty="0"/>
              <a:t>Usada com atributos nominais (i.e., sem ordem) e com baixa cardinalidade (i.e., com poucas categorias distintas). </a:t>
            </a:r>
          </a:p>
          <a:p>
            <a:r>
              <a:rPr lang="pt-BR" b="1" dirty="0"/>
              <a:t>Como funciona:</a:t>
            </a:r>
            <a:r>
              <a:rPr lang="pt-BR" dirty="0"/>
              <a:t> Cria uma nova </a:t>
            </a:r>
            <a:r>
              <a:rPr lang="pt-BR" b="1" dirty="0">
                <a:solidFill>
                  <a:schemeClr val="accent1"/>
                </a:solidFill>
              </a:rPr>
              <a:t>coluna binária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1"/>
                </a:solidFill>
              </a:rPr>
              <a:t>cada categoria </a:t>
            </a:r>
            <a:r>
              <a:rPr lang="pt-BR" dirty="0"/>
              <a:t>distinta.</a:t>
            </a:r>
          </a:p>
          <a:p>
            <a:r>
              <a:rPr lang="pt-BR" b="1" dirty="0"/>
              <a:t>Limitação:</a:t>
            </a:r>
            <a:r>
              <a:rPr lang="pt-BR" dirty="0"/>
              <a:t> Gera alta dimensionalidade (i.e., muitas colunas) se houver muitas categorias.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criar o problema conhecido como a “</a:t>
            </a:r>
            <a:r>
              <a:rPr lang="pt-BR" b="1" dirty="0">
                <a:solidFill>
                  <a:srgbClr val="7030A0"/>
                </a:solidFill>
              </a:rPr>
              <a:t>maldição da dimensionalidade</a:t>
            </a:r>
            <a:r>
              <a:rPr lang="pt-BR" dirty="0"/>
              <a:t>”.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Pontos ficam muito distantes (perde-se noção de similaridade), dificulta a </a:t>
            </a:r>
            <a:r>
              <a:rPr lang="pt-BR" dirty="0" smtClean="0"/>
              <a:t>visualização </a:t>
            </a:r>
            <a:r>
              <a:rPr lang="pt-BR" dirty="0"/>
              <a:t>e aumenta o custo computacional.</a:t>
            </a:r>
          </a:p>
        </p:txBody>
      </p:sp>
      <p:pic>
        <p:nvPicPr>
          <p:cNvPr id="2051" name="Picture 3" descr="One-Hot Encoding: A Comprehensive Guide with Python Implementation | by  Shubham Sangole | GoPenAI">
            <a:extLst>
              <a:ext uri="{FF2B5EF4-FFF2-40B4-BE49-F238E27FC236}">
                <a16:creationId xmlns:a16="http://schemas.microsoft.com/office/drawing/2014/main" xmlns="" id="{04411FF2-E0FD-9D33-63B9-86F2888D8A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37" t="8519" r="2382" b="57788"/>
          <a:stretch>
            <a:fillRect/>
          </a:stretch>
        </p:blipFill>
        <p:spPr bwMode="auto">
          <a:xfrm>
            <a:off x="381001" y="2846613"/>
            <a:ext cx="5072743" cy="2166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27027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97A9C30-8D7C-8A1B-D798-06ED56DFC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B549E73-5A60-3934-DCFD-CA42C618F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</a:t>
            </a:r>
            <a:r>
              <a:rPr lang="en-US" dirty="0"/>
              <a:t>e</a:t>
            </a:r>
            <a:r>
              <a:rPr lang="en-US" i="1" dirty="0"/>
              <a:t> ordinal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418BA66-6028-330D-1D57-30D6366E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0" y="1825624"/>
            <a:ext cx="6858000" cy="5032375"/>
          </a:xfrm>
        </p:spPr>
        <p:txBody>
          <a:bodyPr>
            <a:normAutofit/>
          </a:bodyPr>
          <a:lstStyle/>
          <a:p>
            <a:r>
              <a:rPr lang="pt-BR" dirty="0"/>
              <a:t>Converte </a:t>
            </a:r>
            <a:r>
              <a:rPr lang="pt-BR" b="1" dirty="0">
                <a:solidFill>
                  <a:srgbClr val="00B050"/>
                </a:solidFill>
              </a:rPr>
              <a:t>cada categoria em um número inteiro </a:t>
            </a:r>
            <a:r>
              <a:rPr lang="pt-BR" b="1" dirty="0">
                <a:solidFill>
                  <a:schemeClr val="accent2"/>
                </a:solidFill>
              </a:rPr>
              <a:t>único</a:t>
            </a:r>
            <a:r>
              <a:rPr lang="pt-BR" dirty="0"/>
              <a:t>, considerando (</a:t>
            </a:r>
            <a:r>
              <a:rPr lang="pt-BR" i="1" dirty="0"/>
              <a:t>ordinal</a:t>
            </a:r>
            <a:r>
              <a:rPr lang="pt-BR" dirty="0"/>
              <a:t>) ou não uma ordem (</a:t>
            </a:r>
            <a:r>
              <a:rPr lang="pt-BR" i="1" dirty="0" err="1"/>
              <a:t>label</a:t>
            </a:r>
            <a:r>
              <a:rPr lang="pt-BR" dirty="0"/>
              <a:t>). </a:t>
            </a:r>
          </a:p>
          <a:p>
            <a:r>
              <a:rPr lang="pt-BR" i="1" dirty="0" err="1"/>
              <a:t>Label</a:t>
            </a:r>
            <a:r>
              <a:rPr lang="pt-BR" dirty="0"/>
              <a:t> é usada com rótulos em problemas de classificação e </a:t>
            </a:r>
            <a:r>
              <a:rPr lang="pt-BR" i="1" dirty="0"/>
              <a:t>ordinal</a:t>
            </a:r>
            <a:r>
              <a:rPr lang="pt-BR" dirty="0"/>
              <a:t> com variáveis ordinais.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tamanho de camisetas (P, M, G): </a:t>
            </a:r>
            <a:r>
              <a:rPr lang="pt-BR" i="1" dirty="0"/>
              <a:t>ordinal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animais e cores: </a:t>
            </a:r>
            <a:r>
              <a:rPr lang="pt-BR" i="1" dirty="0" err="1"/>
              <a:t>label</a:t>
            </a:r>
            <a:r>
              <a:rPr lang="pt-BR" i="1" dirty="0"/>
              <a:t>/ordinal</a:t>
            </a:r>
            <a:r>
              <a:rPr lang="pt-BR" dirty="0"/>
              <a:t>.</a:t>
            </a:r>
          </a:p>
          <a:p>
            <a:r>
              <a:rPr lang="pt-BR" b="1" dirty="0"/>
              <a:t>Risco:</a:t>
            </a:r>
            <a:r>
              <a:rPr lang="pt-BR" dirty="0"/>
              <a:t> </a:t>
            </a:r>
            <a:r>
              <a:rPr lang="pt-BR" i="1" dirty="0" err="1"/>
              <a:t>Label</a:t>
            </a:r>
            <a:r>
              <a:rPr lang="pt-BR" dirty="0"/>
              <a:t> pode introduzir uma </a:t>
            </a:r>
            <a:r>
              <a:rPr lang="pt-BR" b="1" dirty="0">
                <a:solidFill>
                  <a:srgbClr val="7030A0"/>
                </a:solidFill>
              </a:rPr>
              <a:t>relação de ordem falsa</a:t>
            </a:r>
            <a:r>
              <a:rPr lang="pt-BR" dirty="0"/>
              <a:t> que afeta negativamente algoritmos </a:t>
            </a:r>
            <a:r>
              <a:rPr lang="pt-BR" b="1" i="1" dirty="0">
                <a:solidFill>
                  <a:srgbClr val="7030A0"/>
                </a:solidFill>
              </a:rPr>
              <a:t>sensíveis a distâncias </a:t>
            </a:r>
            <a:r>
              <a:rPr lang="pt-BR" dirty="0"/>
              <a:t>(e.g., </a:t>
            </a:r>
            <a:r>
              <a:rPr lang="pt-BR" dirty="0" err="1"/>
              <a:t>regressores</a:t>
            </a:r>
            <a:r>
              <a:rPr lang="pt-BR" dirty="0"/>
              <a:t> e KNN).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7529D32B-8978-31FB-62B1-9E8E3D4004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1" t="7152" r="5331" b="8009"/>
          <a:stretch>
            <a:fillRect/>
          </a:stretch>
        </p:blipFill>
        <p:spPr>
          <a:xfrm>
            <a:off x="304798" y="2895600"/>
            <a:ext cx="4616969" cy="2166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0565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E3883D4-BDD8-E7FF-C7AE-3D255B871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07E13F8-6196-AD06-DE47-12B16A60F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933F122-99CE-8A1C-8288-BA542054EA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9314" y="1825624"/>
            <a:ext cx="6792686" cy="5032375"/>
          </a:xfrm>
        </p:spPr>
        <p:txBody>
          <a:bodyPr>
            <a:normAutofit/>
          </a:bodyPr>
          <a:lstStyle/>
          <a:p>
            <a:r>
              <a:rPr lang="pt-BR" dirty="0"/>
              <a:t>Substitui cada categoria pela </a:t>
            </a:r>
            <a:r>
              <a:rPr lang="pt-BR" b="1" dirty="0">
                <a:solidFill>
                  <a:srgbClr val="7030A0"/>
                </a:solidFill>
              </a:rPr>
              <a:t>média do valor do alvo</a:t>
            </a:r>
            <a:r>
              <a:rPr lang="pt-BR" dirty="0"/>
              <a:t> correspondente a essa categoria.</a:t>
            </a:r>
          </a:p>
          <a:p>
            <a:r>
              <a:rPr lang="pt-BR" b="1" dirty="0"/>
              <a:t>Quando usar:</a:t>
            </a:r>
            <a:r>
              <a:rPr lang="pt-BR" dirty="0"/>
              <a:t> Ideal para atributos de </a:t>
            </a:r>
            <a:r>
              <a:rPr lang="pt-BR" b="1" dirty="0">
                <a:solidFill>
                  <a:schemeClr val="accent2"/>
                </a:solidFill>
              </a:rPr>
              <a:t>alta cardinalidade</a:t>
            </a:r>
            <a:r>
              <a:rPr lang="pt-BR" dirty="0"/>
              <a:t>, pois não aumenta a dimensionalidade do </a:t>
            </a:r>
            <a:r>
              <a:rPr lang="pt-BR" i="1" dirty="0"/>
              <a:t>dataset</a:t>
            </a:r>
            <a:r>
              <a:rPr lang="pt-BR" dirty="0"/>
              <a:t> e quando há </a:t>
            </a:r>
            <a:r>
              <a:rPr lang="pt-BR" b="1" dirty="0">
                <a:solidFill>
                  <a:schemeClr val="accent6"/>
                </a:solidFill>
              </a:rPr>
              <a:t>relação forte entre a categoria e o </a:t>
            </a:r>
            <a:r>
              <a:rPr lang="pt-BR" b="1" i="1" dirty="0">
                <a:solidFill>
                  <a:schemeClr val="accent6"/>
                </a:solidFill>
              </a:rPr>
              <a:t>target</a:t>
            </a:r>
            <a:r>
              <a:rPr lang="pt-BR" dirty="0"/>
              <a:t>.</a:t>
            </a:r>
          </a:p>
          <a:p>
            <a:r>
              <a:rPr lang="pt-BR" b="1" dirty="0"/>
              <a:t>Risco:</a:t>
            </a:r>
            <a:r>
              <a:rPr lang="pt-BR" dirty="0"/>
              <a:t> </a:t>
            </a:r>
            <a:r>
              <a:rPr lang="pt-BR" i="1" dirty="0" err="1"/>
              <a:t>Overfitting</a:t>
            </a:r>
            <a:r>
              <a:rPr lang="pt-BR" dirty="0"/>
              <a:t> por 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dirty="0"/>
              <a:t> e </a:t>
            </a:r>
            <a:r>
              <a:rPr lang="pt-BR" dirty="0" smtClean="0"/>
              <a:t>por categorias com poucas </a:t>
            </a:r>
            <a:r>
              <a:rPr lang="pt-BR" dirty="0"/>
              <a:t>amostras.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for calculado </a:t>
            </a:r>
            <a:r>
              <a:rPr lang="pt-BR" b="1" dirty="0">
                <a:solidFill>
                  <a:schemeClr val="accent1"/>
                </a:solidFill>
              </a:rPr>
              <a:t>usando todo o dataset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Categorias com poucos exemplos produzem </a:t>
            </a:r>
            <a:r>
              <a:rPr lang="pt-BR" b="1" dirty="0">
                <a:solidFill>
                  <a:schemeClr val="accent1"/>
                </a:solidFill>
              </a:rPr>
              <a:t>estimativas de média muito ruidosas</a:t>
            </a:r>
            <a:r>
              <a:rPr lang="pt-BR" dirty="0"/>
              <a:t>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:a16="http://schemas.microsoft.com/office/drawing/2014/main" xmlns="" id="{7BB7010D-52CF-95E3-7867-6467D4626A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152400" y="3023466"/>
            <a:ext cx="4996357" cy="1842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3E6C73B1-9431-A33E-28D2-A93D904893DD}"/>
              </a:ext>
            </a:extLst>
          </p:cNvPr>
          <p:cNvSpPr txBox="1"/>
          <p:nvPr/>
        </p:nvSpPr>
        <p:spPr>
          <a:xfrm>
            <a:off x="272142" y="5151032"/>
            <a:ext cx="470262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Em vez de usar números arbitrários (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</a:t>
            </a:r>
            <a:r>
              <a:rPr lang="pt-BR" b="1" dirty="0">
                <a:solidFill>
                  <a:schemeClr val="accent2"/>
                </a:solidFill>
              </a:rPr>
              <a:t>usa informação estatística do próprio problema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3991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1EDD75A-3D20-1CFF-0CAC-A5CB15BA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26F2449-F38A-4DF6-443B-1B77E3F39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14A68C86-94AE-24AE-A0EF-6A9D08305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1642" y="1825625"/>
            <a:ext cx="6870358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Combina os benefícios das codificações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 e </a:t>
            </a:r>
            <a:r>
              <a:rPr lang="pt-BR" i="1" dirty="0" err="1"/>
              <a:t>Label</a:t>
            </a:r>
            <a:r>
              <a:rPr lang="pt-BR" dirty="0"/>
              <a:t>. </a:t>
            </a:r>
          </a:p>
          <a:p>
            <a:r>
              <a:rPr lang="pt-BR" dirty="0"/>
              <a:t>Cada </a:t>
            </a:r>
            <a:r>
              <a:rPr lang="pt-BR" b="1" dirty="0">
                <a:solidFill>
                  <a:schemeClr val="accent1"/>
                </a:solidFill>
              </a:rPr>
              <a:t>categoria recebe um número inteiro </a:t>
            </a:r>
            <a:r>
              <a:rPr lang="pt-BR" dirty="0"/>
              <a:t>(</a:t>
            </a:r>
            <a:r>
              <a:rPr lang="pt-BR" i="1" dirty="0" err="1"/>
              <a:t>Label</a:t>
            </a:r>
            <a:r>
              <a:rPr lang="pt-BR" dirty="0"/>
              <a:t>) que é </a:t>
            </a:r>
            <a:r>
              <a:rPr lang="pt-BR" b="1" dirty="0">
                <a:solidFill>
                  <a:schemeClr val="accent1"/>
                </a:solidFill>
              </a:rPr>
              <a:t>convertido </a:t>
            </a:r>
            <a:r>
              <a:rPr lang="en-US" b="1" dirty="0">
                <a:solidFill>
                  <a:schemeClr val="accent1"/>
                </a:solidFill>
              </a:rPr>
              <a:t>para </a:t>
            </a:r>
            <a:r>
              <a:rPr lang="en-US" b="1" dirty="0" err="1">
                <a:solidFill>
                  <a:schemeClr val="accent1"/>
                </a:solidFill>
              </a:rPr>
              <a:t>sua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representação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binária</a:t>
            </a:r>
            <a:r>
              <a:rPr lang="pt-BR" dirty="0"/>
              <a:t>, criando colunas para cada bit.</a:t>
            </a:r>
          </a:p>
          <a:p>
            <a:r>
              <a:rPr lang="pt-BR" b="1" dirty="0"/>
              <a:t>Quando usar:</a:t>
            </a:r>
            <a:r>
              <a:rPr lang="pt-BR" dirty="0"/>
              <a:t> Ótimo para variáveis categóricas de alta cardinalidade.</a:t>
            </a:r>
          </a:p>
          <a:p>
            <a:r>
              <a:rPr lang="pt-BR" b="1" dirty="0"/>
              <a:t>Desvantagem</a:t>
            </a:r>
            <a:r>
              <a:rPr lang="pt-BR" dirty="0"/>
              <a:t>: Por algumas categorias </a:t>
            </a:r>
            <a:r>
              <a:rPr lang="pt-BR" b="1" dirty="0">
                <a:solidFill>
                  <a:schemeClr val="accent2"/>
                </a:solidFill>
              </a:rPr>
              <a:t>compartilharem bits, modelos lineares podem achar que existe uma relação entre elas</a:t>
            </a:r>
            <a:r>
              <a:rPr lang="pt-BR" dirty="0"/>
              <a:t>. Modelos de árvore </a:t>
            </a:r>
            <a:r>
              <a:rPr lang="pt-BR" dirty="0" smtClean="0"/>
              <a:t>lidam </a:t>
            </a:r>
            <a:r>
              <a:rPr lang="pt-BR" dirty="0"/>
              <a:t>bem com isso.</a:t>
            </a:r>
          </a:p>
        </p:txBody>
      </p:sp>
      <p:pic>
        <p:nvPicPr>
          <p:cNvPr id="3074" name="Picture 2" descr="7 Must-know Techniques For Encoding Categorical Feature">
            <a:extLst>
              <a:ext uri="{FF2B5EF4-FFF2-40B4-BE49-F238E27FC236}">
                <a16:creationId xmlns:a16="http://schemas.microsoft.com/office/drawing/2014/main" xmlns="" id="{7AEBA2C1-6D35-7636-7CD6-AC297809D1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t="10457" r="5625" b="19838"/>
          <a:stretch>
            <a:fillRect/>
          </a:stretch>
        </p:blipFill>
        <p:spPr bwMode="auto">
          <a:xfrm>
            <a:off x="283028" y="3177218"/>
            <a:ext cx="4833257" cy="1775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48256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83E6AEB-4BFC-EF3A-CCC7-C66FB3B5B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Exemplos de </a:t>
            </a:r>
            <a:r>
              <a:rPr lang="pt-BR" i="1" dirty="0" err="1"/>
              <a:t>encoding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2AD9A45-89F4-0472-434E-82FA5060D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sklearn.preprocessing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LabelEncoder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OrdinalEncoder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TargetEncoder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SciKit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-Learn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não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implementa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o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codificador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binário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i="1" dirty="0">
                <a:latin typeface="Consolas" panose="020B0609020204030204" pitchFamily="49" charset="0"/>
              </a:rPr>
              <a:t>(pip install </a:t>
            </a:r>
            <a:r>
              <a:rPr lang="en-US" sz="2300" i="1" dirty="0" err="1">
                <a:latin typeface="Consolas" panose="020B0609020204030204" pitchFamily="49" charset="0"/>
              </a:rPr>
              <a:t>category_encoders</a:t>
            </a:r>
            <a:r>
              <a:rPr lang="en-US" sz="2300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category_encoders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BinaryEncoder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TargetEncoder</a:t>
            </a:r>
            <a:r>
              <a:rPr lang="en-US" sz="2300" i="1" dirty="0">
                <a:latin typeface="Consolas" panose="020B0609020204030204" pitchFamily="49" charset="0"/>
              </a:rPr>
              <a:t>() </a:t>
            </a:r>
            <a:r>
              <a:rPr lang="en-US" sz="2300" i="1" dirty="0" err="1">
                <a:latin typeface="Consolas" panose="020B0609020204030204" pitchFamily="49" charset="0"/>
              </a:rPr>
              <a:t>ou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BinaryEncoder</a:t>
            </a:r>
            <a:r>
              <a:rPr lang="en-US" sz="2300" i="1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enc =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()</a:t>
            </a:r>
            <a:endParaRPr lang="en-US" sz="2300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enc.fit_transform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X_train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     </a:t>
            </a: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enc.inverse_transform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171935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05DE3AC-BF5D-66CC-4338-E24FCABF9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63AE027-526F-64B6-C706-EA359C1FC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Definição: </a:t>
                </a:r>
                <a:r>
                  <a:rPr lang="pt-BR" dirty="0"/>
                  <a:t>É a transformação </a:t>
                </a:r>
                <a:r>
                  <a:rPr lang="pt-BR" dirty="0" smtClean="0"/>
                  <a:t>dos atributos originais em atributos, mais </a:t>
                </a:r>
                <a:r>
                  <a:rPr lang="pt-BR" dirty="0"/>
                  <a:t>úteis e informativos. </a:t>
                </a:r>
              </a:p>
              <a:p>
                <a:r>
                  <a:rPr lang="en-US" b="1" dirty="0"/>
                  <a:t>Por que </a:t>
                </a:r>
                <a:r>
                  <a:rPr lang="en-US" b="1" dirty="0" err="1" smtClean="0"/>
                  <a:t>fazer</a:t>
                </a:r>
                <a:r>
                  <a:rPr lang="en-US" dirty="0"/>
                  <a:t>?</a:t>
                </a:r>
                <a:r>
                  <a:rPr lang="en-US" dirty="0" smtClean="0"/>
                  <a:t> </a:t>
                </a:r>
                <a:r>
                  <a:rPr lang="pt-BR" dirty="0"/>
                  <a:t>Ajuda o modelo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enxergar relações que não estão óbvias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Objetivo</a:t>
                </a:r>
                <a:r>
                  <a:rPr lang="pt-BR" dirty="0"/>
                  <a:t>: </a:t>
                </a:r>
                <a:r>
                  <a:rPr lang="pt-BR" b="1" dirty="0">
                    <a:solidFill>
                      <a:srgbClr val="00B050"/>
                    </a:solidFill>
                  </a:rPr>
                  <a:t>Melhorar</a:t>
                </a:r>
                <a:r>
                  <a:rPr lang="pt-BR" dirty="0"/>
                  <a:t> a capacidade de </a:t>
                </a:r>
                <a:r>
                  <a:rPr lang="pt-BR" b="1" dirty="0">
                    <a:solidFill>
                      <a:srgbClr val="00B050"/>
                    </a:solidFill>
                  </a:rPr>
                  <a:t>predição (generalização) do modelo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Exemplos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Data de nascimento → Idade, faixa etária.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Coordenadas GPS → Distância até certo ponto.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Preço e quantidade → Valor total da venda.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i="1" dirty="0" err="1"/>
                  <a:t>Timestamp</a:t>
                </a:r>
                <a:r>
                  <a:rPr lang="pt-BR" dirty="0"/>
                  <a:t> → Hora, dia da semana, feriado?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Comprimento e largura → Área.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Atributos → Interação entre atributos: Polinômios (e.g.,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 =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+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63AE027-526F-64B6-C706-EA359C1FC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  <a:blipFill rotWithShape="0">
                <a:blip r:embed="rId3"/>
                <a:stretch>
                  <a:fillRect l="-923" t="-1937" r="-5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4785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949595A-2BE1-288D-C430-B42FA27A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/>
              <a:t>atributos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C8B16F1-8959-5098-25C2-B111C8BE4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pandas as </a:t>
            </a:r>
            <a:r>
              <a:rPr lang="pt-BR" dirty="0" err="1">
                <a:latin typeface="Consolas" panose="020B0609020204030204" pitchFamily="49" charset="0"/>
              </a:rPr>
              <a:t>pd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Exemplo de dados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pd.DataFrame</a:t>
            </a:r>
            <a:r>
              <a:rPr lang="pt-BR" dirty="0">
                <a:latin typeface="Consolas" panose="020B0609020204030204" pitchFamily="49" charset="0"/>
              </a:rPr>
              <a:t>({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": [10, 20, 15],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"quantidade": [2, 1, 3],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"desconto": [0, 5, 0]})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Feature </a:t>
            </a:r>
            <a:r>
              <a:rPr lang="pt-BR" dirty="0" err="1">
                <a:latin typeface="Consolas" panose="020B0609020204030204" pitchFamily="49" charset="0"/>
              </a:rPr>
              <a:t>Engineering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valor_total</a:t>
            </a:r>
            <a:r>
              <a:rPr lang="pt-BR" dirty="0">
                <a:latin typeface="Consolas" panose="020B0609020204030204" pitchFamily="49" charset="0"/>
              </a:rPr>
              <a:t>"]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"] *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["quantidade"]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houve_desconto</a:t>
            </a:r>
            <a:r>
              <a:rPr lang="pt-BR" dirty="0">
                <a:latin typeface="Consolas" panose="020B0609020204030204" pitchFamily="49" charset="0"/>
              </a:rPr>
              <a:t>"] = 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["desconto"] &gt; 0).</a:t>
            </a:r>
            <a:r>
              <a:rPr lang="pt-BR" dirty="0" err="1">
                <a:latin typeface="Consolas" panose="020B0609020204030204" pitchFamily="49" charset="0"/>
              </a:rPr>
              <a:t>astype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int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099880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436D7A6-03D2-CFC6-1F7F-CDB7CAC29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1EB6DEA-DC3C-E32E-8B87-E61169FB3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>
                <a:solidFill>
                  <a:srgbClr val="00B050"/>
                </a:solidFill>
              </a:rPr>
              <a:t>transformar dados </a:t>
            </a:r>
            <a:r>
              <a:rPr lang="pt-BR" dirty="0" smtClean="0"/>
              <a:t>em </a:t>
            </a:r>
            <a:r>
              <a:rPr lang="pt-BR" dirty="0"/>
              <a:t>um </a:t>
            </a:r>
            <a:r>
              <a:rPr lang="pt-BR" b="1" dirty="0">
                <a:solidFill>
                  <a:srgbClr val="00B050"/>
                </a:solidFill>
              </a:rPr>
              <a:t>conjunto menor de atributos significativos</a:t>
            </a:r>
            <a:r>
              <a:rPr lang="pt-BR" dirty="0"/>
              <a:t> que podem ser </a:t>
            </a:r>
            <a:r>
              <a:rPr lang="pt-BR" b="1" dirty="0">
                <a:solidFill>
                  <a:schemeClr val="accent2"/>
                </a:solidFill>
              </a:rPr>
              <a:t>processados de forma mais eficiente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mantendo as informações essenciais </a:t>
            </a:r>
            <a:r>
              <a:rPr lang="pt-BR" dirty="0"/>
              <a:t>(em geral, </a:t>
            </a:r>
            <a:r>
              <a:rPr lang="pt-BR" dirty="0" smtClean="0"/>
              <a:t>perde-se </a:t>
            </a:r>
            <a:r>
              <a:rPr lang="pt-BR" dirty="0"/>
              <a:t>parte da informação).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Transforma os dados em uma </a:t>
            </a:r>
            <a:r>
              <a:rPr lang="pt-BR" b="1" dirty="0" smtClean="0"/>
              <a:t>representação mais eficiente, em geral, de menor dimensão</a:t>
            </a:r>
            <a:r>
              <a:rPr lang="pt-BR" dirty="0" smtClean="0"/>
              <a:t>.</a:t>
            </a:r>
            <a:endParaRPr lang="pt-BR" dirty="0"/>
          </a:p>
          <a:p>
            <a:r>
              <a:rPr lang="pt-BR" b="1" dirty="0"/>
              <a:t>Por que </a:t>
            </a:r>
            <a:r>
              <a:rPr lang="pt-BR" b="1" dirty="0" smtClean="0"/>
              <a:t>fazer</a:t>
            </a:r>
            <a:r>
              <a:rPr lang="pt-BR" dirty="0"/>
              <a:t>?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a dimensionalidade,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 redundância,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os recursos computacionais necessários para </a:t>
            </a:r>
            <a:r>
              <a:rPr lang="pt-BR" dirty="0" smtClean="0"/>
              <a:t>armazenamento</a:t>
            </a:r>
            <a:r>
              <a:rPr lang="pt-BR" dirty="0"/>
              <a:t> </a:t>
            </a:r>
            <a:r>
              <a:rPr lang="pt-BR" dirty="0" smtClean="0"/>
              <a:t>e</a:t>
            </a:r>
            <a:r>
              <a:rPr lang="pt-BR" dirty="0" smtClean="0"/>
              <a:t> </a:t>
            </a:r>
            <a:r>
              <a:rPr lang="pt-BR" dirty="0"/>
              <a:t>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Acelera o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Melhora o desempenho do modelo, pois os dados são mais informativos e menos ruidosos.</a:t>
            </a:r>
          </a:p>
        </p:txBody>
      </p:sp>
    </p:spTree>
    <p:extLst>
      <p:ext uri="{BB962C8B-B14F-4D97-AF65-F5344CB8AC3E}">
        <p14:creationId xmlns:p14="http://schemas.microsoft.com/office/powerpoint/2010/main" val="36401856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4CEF4B4-F659-1DE7-6E62-D371CCA00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7B26942-5206-022D-4BE0-7148B2501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972800" cy="5032375"/>
          </a:xfrm>
        </p:spPr>
        <p:txBody>
          <a:bodyPr>
            <a:normAutofit/>
          </a:bodyPr>
          <a:lstStyle/>
          <a:p>
            <a:r>
              <a:rPr lang="en-US" b="1" dirty="0"/>
              <a:t>Dados </a:t>
            </a:r>
            <a:r>
              <a:rPr lang="en-US" b="1" dirty="0" err="1"/>
              <a:t>tabulares</a:t>
            </a:r>
            <a:r>
              <a:rPr lang="en-US" b="1" dirty="0"/>
              <a:t>: </a:t>
            </a:r>
            <a:r>
              <a:rPr lang="pt-BR" dirty="0"/>
              <a:t>Análise de componentes principais (PCA) e análise de componentes independentes (ICA)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Criam novos </a:t>
            </a:r>
            <a:r>
              <a:rPr lang="pt-BR" b="1" dirty="0">
                <a:solidFill>
                  <a:srgbClr val="7030A0"/>
                </a:solidFill>
              </a:rPr>
              <a:t>atributos não correlacionados </a:t>
            </a:r>
            <a:r>
              <a:rPr lang="pt-BR" dirty="0"/>
              <a:t>que </a:t>
            </a:r>
            <a:r>
              <a:rPr lang="pt-BR" b="1" dirty="0">
                <a:solidFill>
                  <a:srgbClr val="7030A0"/>
                </a:solidFill>
              </a:rPr>
              <a:t>capturam as direções de variância máxima </a:t>
            </a:r>
            <a:r>
              <a:rPr lang="pt-BR" dirty="0"/>
              <a:t>(PCA) </a:t>
            </a:r>
            <a:r>
              <a:rPr lang="pt-BR" dirty="0" smtClean="0"/>
              <a:t>ou</a:t>
            </a:r>
            <a:r>
              <a:rPr lang="pt-BR" b="1" dirty="0" smtClean="0">
                <a:solidFill>
                  <a:srgbClr val="7030A0"/>
                </a:solidFill>
              </a:rPr>
              <a:t> atributos que são independentes </a:t>
            </a:r>
            <a:r>
              <a:rPr lang="pt-BR" dirty="0"/>
              <a:t>(ICA).</a:t>
            </a:r>
          </a:p>
          <a:p>
            <a:r>
              <a:rPr lang="en-US" b="1" dirty="0" err="1"/>
              <a:t>Texto</a:t>
            </a:r>
            <a:r>
              <a:rPr lang="en-US" dirty="0"/>
              <a:t>: </a:t>
            </a:r>
            <a:r>
              <a:rPr lang="pt-BR" i="1" dirty="0"/>
              <a:t>Bag </a:t>
            </a:r>
            <a:r>
              <a:rPr lang="pt-BR" i="1" dirty="0" err="1"/>
              <a:t>of</a:t>
            </a:r>
            <a:r>
              <a:rPr lang="pt-BR" i="1" dirty="0"/>
              <a:t> words </a:t>
            </a:r>
            <a:r>
              <a:rPr lang="pt-BR" dirty="0"/>
              <a:t>(</a:t>
            </a:r>
            <a:r>
              <a:rPr lang="pt-BR" dirty="0" err="1"/>
              <a:t>BoW</a:t>
            </a:r>
            <a:r>
              <a:rPr lang="pt-BR" dirty="0"/>
              <a:t>), </a:t>
            </a:r>
            <a:r>
              <a:rPr lang="pt-BR" i="1" dirty="0" err="1"/>
              <a:t>Term</a:t>
            </a:r>
            <a:r>
              <a:rPr lang="pt-BR" i="1" dirty="0"/>
              <a:t> Frequency-</a:t>
            </a:r>
            <a:r>
              <a:rPr lang="pt-BR" i="1" dirty="0" err="1"/>
              <a:t>Inverse</a:t>
            </a:r>
            <a:r>
              <a:rPr lang="pt-BR" i="1" dirty="0"/>
              <a:t> </a:t>
            </a:r>
            <a:r>
              <a:rPr lang="pt-BR" i="1" dirty="0" err="1"/>
              <a:t>Document</a:t>
            </a:r>
            <a:r>
              <a:rPr lang="pt-BR" i="1" dirty="0"/>
              <a:t> Frequency</a:t>
            </a:r>
            <a:r>
              <a:rPr lang="pt-BR" dirty="0"/>
              <a:t> (TF-IDF), </a:t>
            </a:r>
            <a:r>
              <a:rPr lang="pt-BR" i="1" dirty="0"/>
              <a:t>Word </a:t>
            </a:r>
            <a:r>
              <a:rPr lang="pt-BR" i="1" dirty="0" err="1"/>
              <a:t>Embeddings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Transformam texto em representações numéricas </a:t>
            </a:r>
            <a:r>
              <a:rPr lang="pt-BR" dirty="0"/>
              <a:t>(modelos de ML entendem números), variando da </a:t>
            </a:r>
            <a:r>
              <a:rPr lang="pt-BR" b="1" dirty="0">
                <a:solidFill>
                  <a:srgbClr val="00B050"/>
                </a:solidFill>
              </a:rPr>
              <a:t>frequência de palavras </a:t>
            </a:r>
            <a:r>
              <a:rPr lang="pt-BR" dirty="0"/>
              <a:t>até </a:t>
            </a:r>
            <a:r>
              <a:rPr lang="pt-BR" b="1" dirty="0">
                <a:solidFill>
                  <a:srgbClr val="00B050"/>
                </a:solidFill>
              </a:rPr>
              <a:t>vetores que capturam significado e contexto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340486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9DA50CC-E4E4-866D-D5C7-E4222B31A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968C7CA-8174-8A0F-0146-60743B663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1749F228-6F7A-6925-AA1A-83CC98A35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r>
              <a:rPr lang="en-US" b="1" dirty="0" err="1"/>
              <a:t>Imagem</a:t>
            </a:r>
            <a:r>
              <a:rPr lang="en-US" dirty="0"/>
              <a:t>: </a:t>
            </a:r>
            <a:r>
              <a:rPr lang="en-US" i="1" dirty="0"/>
              <a:t>Histogram of Oriented Gradients</a:t>
            </a:r>
            <a:r>
              <a:rPr lang="en-US" dirty="0"/>
              <a:t> (HOG), </a:t>
            </a:r>
            <a:r>
              <a:rPr lang="en-US" i="1" dirty="0"/>
              <a:t>Scale-Invariant Feature Transform</a:t>
            </a:r>
            <a:r>
              <a:rPr lang="en-US" dirty="0"/>
              <a:t> (SIFT), </a:t>
            </a:r>
            <a:r>
              <a:rPr lang="en-US" i="1" dirty="0"/>
              <a:t>Convolutional Neural Network</a:t>
            </a:r>
            <a:r>
              <a:rPr lang="en-US" dirty="0"/>
              <a:t> (CNN).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Transformam </a:t>
            </a:r>
            <a:r>
              <a:rPr lang="pt-BR" b="1" i="1" dirty="0">
                <a:solidFill>
                  <a:schemeClr val="accent2"/>
                </a:solidFill>
              </a:rPr>
              <a:t>pixels</a:t>
            </a:r>
            <a:r>
              <a:rPr lang="pt-BR" b="1" dirty="0">
                <a:solidFill>
                  <a:schemeClr val="accent2"/>
                </a:solidFill>
              </a:rPr>
              <a:t> em representações numéricas que capturam padrões visuais</a:t>
            </a:r>
            <a:r>
              <a:rPr lang="pt-BR" dirty="0"/>
              <a:t>, como bordas, texturas, cores e estruturas semânticas, para facilitar o aprendizado dos modelos.</a:t>
            </a:r>
          </a:p>
          <a:p>
            <a:r>
              <a:rPr lang="pt-BR" b="1" dirty="0"/>
              <a:t>Séries temporais (áudio)</a:t>
            </a:r>
            <a:r>
              <a:rPr lang="pt-BR" dirty="0"/>
              <a:t>: </a:t>
            </a:r>
            <a:r>
              <a:rPr lang="en-US" i="1" dirty="0"/>
              <a:t>Mel-frequency cepstral coefficients</a:t>
            </a:r>
            <a:r>
              <a:rPr lang="en-US" dirty="0"/>
              <a:t> (MFCCs), </a:t>
            </a:r>
            <a:r>
              <a:rPr lang="en-US" dirty="0" err="1"/>
              <a:t>Transformada</a:t>
            </a:r>
            <a:r>
              <a:rPr lang="en-US" dirty="0"/>
              <a:t> </a:t>
            </a:r>
            <a:r>
              <a:rPr lang="en-US" dirty="0" err="1"/>
              <a:t>rápida</a:t>
            </a:r>
            <a:r>
              <a:rPr lang="en-US" dirty="0"/>
              <a:t> de Fourier (FFT), </a:t>
            </a:r>
            <a:r>
              <a:rPr lang="en-US" dirty="0" err="1"/>
              <a:t>Espectogramas</a:t>
            </a:r>
            <a:r>
              <a:rPr lang="en-US" dirty="0"/>
              <a:t>, </a:t>
            </a:r>
            <a:r>
              <a:rPr lang="en-US" dirty="0" err="1"/>
              <a:t>Transformada</a:t>
            </a:r>
            <a:r>
              <a:rPr lang="en-US" dirty="0"/>
              <a:t> de </a:t>
            </a:r>
            <a:r>
              <a:rPr lang="en-US" i="1" dirty="0"/>
              <a:t>Wavelet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os sinais em </a:t>
            </a:r>
            <a:r>
              <a:rPr lang="pt-BR" b="1" dirty="0">
                <a:solidFill>
                  <a:srgbClr val="00B050"/>
                </a:solidFill>
              </a:rPr>
              <a:t>características que capturam propriedades espectrais ou de tempo-frequência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0758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3A246D2-1EAD-7218-711B-2937C4B7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Uma garrafa de vinho com forte sombra - Foto de stock de Garrafa de Vinho - Garrafa royalty-free">
            <a:extLst>
              <a:ext uri="{FF2B5EF4-FFF2-40B4-BE49-F238E27FC236}">
                <a16:creationId xmlns:a16="http://schemas.microsoft.com/office/drawing/2014/main" xmlns="" id="{F9318A64-59F1-5972-C02D-9238A2EE2F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26" t="10008" r="11161" b="20216"/>
          <a:stretch>
            <a:fillRect/>
          </a:stretch>
        </p:blipFill>
        <p:spPr bwMode="auto">
          <a:xfrm>
            <a:off x="2291442" y="941613"/>
            <a:ext cx="7609115" cy="4539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74A67754-AECE-E9E2-F60A-39D9E47534ED}"/>
              </a:ext>
            </a:extLst>
          </p:cNvPr>
          <p:cNvSpPr txBox="1"/>
          <p:nvPr/>
        </p:nvSpPr>
        <p:spPr>
          <a:xfrm>
            <a:off x="0" y="5780782"/>
            <a:ext cx="12192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b="0" i="0" dirty="0">
                <a:effectLst/>
              </a:rPr>
              <a:t>O PCA projeta dados de alta dimensão em um espaço de menor dimensão.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7279142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32A5E37-BFF0-D601-7CAC-F57F89EAD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3AD06C3-5EDF-4BF5-C344-E650C60EE3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6096001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PCA encontra as </a:t>
            </a:r>
            <a:r>
              <a:rPr lang="pt-BR" b="1" dirty="0"/>
              <a:t>direções </a:t>
            </a:r>
            <a:r>
              <a:rPr lang="pt-BR" dirty="0"/>
              <a:t>(</a:t>
            </a:r>
            <a:r>
              <a:rPr lang="pt-BR" b="1" dirty="0">
                <a:solidFill>
                  <a:schemeClr val="accent2"/>
                </a:solidFill>
              </a:rPr>
              <a:t>componentes principais</a:t>
            </a:r>
            <a:r>
              <a:rPr lang="pt-BR" dirty="0"/>
              <a:t>) </a:t>
            </a:r>
            <a:r>
              <a:rPr lang="pt-BR" b="1" dirty="0"/>
              <a:t>onde os dados mais variam</a:t>
            </a:r>
            <a:r>
              <a:rPr lang="pt-BR" dirty="0"/>
              <a:t> e </a:t>
            </a:r>
            <a:r>
              <a:rPr lang="pt-BR" b="1" dirty="0">
                <a:solidFill>
                  <a:schemeClr val="accent1"/>
                </a:solidFill>
              </a:rPr>
              <a:t>projeta</a:t>
            </a:r>
            <a:r>
              <a:rPr lang="pt-BR" dirty="0"/>
              <a:t> os dados nessas direções.</a:t>
            </a:r>
          </a:p>
          <a:p>
            <a:r>
              <a:rPr lang="pt-BR" dirty="0" smtClean="0"/>
              <a:t>Ele encontra </a:t>
            </a:r>
            <a:r>
              <a:rPr lang="pt-BR" dirty="0"/>
              <a:t>as </a:t>
            </a:r>
            <a:r>
              <a:rPr lang="pt-BR" b="1" dirty="0">
                <a:solidFill>
                  <a:srgbClr val="00B050"/>
                </a:solidFill>
              </a:rPr>
              <a:t>direções que descrevem como os dados estão espalhados </a:t>
            </a:r>
            <a:r>
              <a:rPr lang="pt-BR" dirty="0"/>
              <a:t>(i.e., máxima variância).</a:t>
            </a:r>
          </a:p>
          <a:p>
            <a:r>
              <a:rPr lang="pt-BR" dirty="0"/>
              <a:t>O objetivo é </a:t>
            </a:r>
            <a:r>
              <a:rPr lang="pt-BR" b="1" dirty="0">
                <a:solidFill>
                  <a:srgbClr val="7030A0"/>
                </a:solidFill>
              </a:rPr>
              <a:t>reduzir a dimensionalidade</a:t>
            </a:r>
            <a:r>
              <a:rPr lang="pt-BR" dirty="0"/>
              <a:t> com </a:t>
            </a:r>
            <a:r>
              <a:rPr lang="pt-BR" b="1" dirty="0">
                <a:solidFill>
                  <a:srgbClr val="7030A0"/>
                </a:solidFill>
              </a:rPr>
              <a:t>mínima perda de informação</a:t>
            </a:r>
            <a:r>
              <a:rPr lang="pt-BR" dirty="0"/>
              <a:t>.</a:t>
            </a:r>
          </a:p>
          <a:p>
            <a:r>
              <a:rPr lang="pt-BR" dirty="0"/>
              <a:t>Aplicado através de </a:t>
            </a:r>
            <a:r>
              <a:rPr lang="pt-BR" b="1" dirty="0">
                <a:solidFill>
                  <a:schemeClr val="accent6"/>
                </a:solidFill>
              </a:rPr>
              <a:t>transformação matricial</a:t>
            </a:r>
            <a:r>
              <a:rPr lang="pt-BR" dirty="0"/>
              <a:t>.</a:t>
            </a:r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xmlns="" id="{95832D94-6CA3-74CA-953F-81502243BA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57248" y="2612571"/>
            <a:ext cx="5853780" cy="2797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683463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BBBD960-B60C-7D80-DEBE-951EAB97B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F4D1ACB-37E4-1262-7CA1-257836C8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76563BA-A520-CEA6-4C95-B4E96386B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7486" y="1825624"/>
            <a:ext cx="5018314" cy="5032375"/>
          </a:xfrm>
        </p:spPr>
        <p:txBody>
          <a:bodyPr>
            <a:normAutofit/>
          </a:bodyPr>
          <a:lstStyle/>
          <a:p>
            <a:r>
              <a:rPr lang="pt-BR" dirty="0"/>
              <a:t>Na figura, </a:t>
            </a:r>
            <a:r>
              <a:rPr lang="pt-BR" b="1" dirty="0">
                <a:solidFill>
                  <a:schemeClr val="accent1"/>
                </a:solidFill>
              </a:rPr>
              <a:t>PC1</a:t>
            </a:r>
            <a:r>
              <a:rPr lang="pt-BR" dirty="0"/>
              <a:t> é a direção onde os </a:t>
            </a:r>
            <a:r>
              <a:rPr lang="pt-BR" b="1" dirty="0">
                <a:solidFill>
                  <a:schemeClr val="accent1"/>
                </a:solidFill>
              </a:rPr>
              <a:t>dados variam mais</a:t>
            </a:r>
            <a:r>
              <a:rPr lang="pt-BR" dirty="0"/>
              <a:t>.</a:t>
            </a:r>
          </a:p>
          <a:p>
            <a:r>
              <a:rPr lang="pt-BR" dirty="0"/>
              <a:t>Já </a:t>
            </a:r>
            <a:r>
              <a:rPr lang="pt-BR" b="1" dirty="0">
                <a:solidFill>
                  <a:schemeClr val="accent1"/>
                </a:solidFill>
              </a:rPr>
              <a:t>PC2</a:t>
            </a:r>
            <a:r>
              <a:rPr lang="pt-BR" dirty="0"/>
              <a:t> é a direção </a:t>
            </a:r>
            <a:r>
              <a:rPr lang="pt-BR" b="1" dirty="0">
                <a:solidFill>
                  <a:srgbClr val="7030A0"/>
                </a:solidFill>
              </a:rPr>
              <a:t>ortogonal</a:t>
            </a:r>
            <a:r>
              <a:rPr lang="pt-BR" dirty="0"/>
              <a:t> à PC1 com a </a:t>
            </a:r>
            <a:r>
              <a:rPr lang="pt-BR" b="1" dirty="0">
                <a:solidFill>
                  <a:schemeClr val="accent1"/>
                </a:solidFill>
              </a:rPr>
              <a:t>segunda maior variância</a:t>
            </a:r>
            <a:r>
              <a:rPr lang="pt-BR" dirty="0"/>
              <a:t>.</a:t>
            </a:r>
          </a:p>
          <a:p>
            <a:r>
              <a:rPr lang="pt-BR" dirty="0"/>
              <a:t>Mantendo </a:t>
            </a:r>
            <a:r>
              <a:rPr lang="pt-BR" b="1" dirty="0">
                <a:solidFill>
                  <a:srgbClr val="00B050"/>
                </a:solidFill>
              </a:rPr>
              <a:t>PC1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preserva-se a maior parte da informação</a:t>
            </a:r>
            <a:r>
              <a:rPr lang="pt-BR" dirty="0"/>
              <a:t>.</a:t>
            </a:r>
          </a:p>
          <a:p>
            <a:r>
              <a:rPr lang="pt-BR" dirty="0"/>
              <a:t>PC2 representa variação residual (menor importância).</a:t>
            </a:r>
          </a:p>
          <a:p>
            <a:endParaRPr lang="pt-BR" dirty="0"/>
          </a:p>
          <a:p>
            <a:endParaRPr lang="en-US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xmlns="" id="{2042F2C9-8E5E-6B1C-CA29-BEF6D914A6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08856" y="2370591"/>
            <a:ext cx="6792878" cy="3246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27032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9831546-F5F9-DFE0-8083-062569901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E4E97D0-8FC3-8364-395F-A8F74B389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892F978-6C6D-84DF-EA37-4EBED96DE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66714" cy="5032375"/>
          </a:xfrm>
        </p:spPr>
        <p:txBody>
          <a:bodyPr>
            <a:normAutofit/>
          </a:bodyPr>
          <a:lstStyle/>
          <a:p>
            <a:r>
              <a:rPr lang="pt-BR" dirty="0"/>
              <a:t>As PCs são ordenadas por variância.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matriz de </a:t>
            </a:r>
            <a:r>
              <a:rPr lang="pt-BR" b="1" dirty="0"/>
              <a:t>projeção</a:t>
            </a:r>
            <a:r>
              <a:rPr lang="pt-BR" dirty="0"/>
              <a:t> é ordenada da </a:t>
            </a:r>
            <a:r>
              <a:rPr lang="pt-BR" b="1" dirty="0">
                <a:solidFill>
                  <a:schemeClr val="accent6"/>
                </a:solidFill>
              </a:rPr>
              <a:t>componente de maior variância para a menor</a:t>
            </a:r>
            <a:r>
              <a:rPr lang="pt-BR" dirty="0"/>
              <a:t>.</a:t>
            </a:r>
          </a:p>
          <a:p>
            <a:r>
              <a:rPr lang="pt-BR" dirty="0"/>
              <a:t>O PCA </a:t>
            </a:r>
            <a:r>
              <a:rPr lang="pt-BR" b="1" dirty="0"/>
              <a:t>assume </a:t>
            </a:r>
            <a:r>
              <a:rPr lang="pt-BR" b="1" dirty="0">
                <a:solidFill>
                  <a:schemeClr val="accent1"/>
                </a:solidFill>
              </a:rPr>
              <a:t>relações lineares entre os atributos </a:t>
            </a:r>
            <a:r>
              <a:rPr lang="pt-BR" dirty="0"/>
              <a:t>(traça linhas retas para capturar as variâncias).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os dados </a:t>
            </a:r>
            <a:r>
              <a:rPr lang="pt-BR" b="1" dirty="0">
                <a:solidFill>
                  <a:srgbClr val="7030A0"/>
                </a:solidFill>
              </a:rPr>
              <a:t>não são lineares</a:t>
            </a:r>
            <a:r>
              <a:rPr lang="pt-BR" dirty="0"/>
              <a:t> (como uma senoide, meia lua ou um círculo), o </a:t>
            </a:r>
            <a:r>
              <a:rPr lang="pt-BR" b="1" dirty="0">
                <a:solidFill>
                  <a:srgbClr val="7030A0"/>
                </a:solidFill>
              </a:rPr>
              <a:t>PCA vai ter um desempenho bem ruim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Nestes casos, deve-se usar técnicas não lineares como </a:t>
            </a:r>
            <a:r>
              <a:rPr lang="en-US" dirty="0"/>
              <a:t>Kernel PCA e t-SNE.</a:t>
            </a:r>
            <a:endParaRPr lang="pt-BR" dirty="0"/>
          </a:p>
          <a:p>
            <a:r>
              <a:rPr lang="pt-BR" dirty="0"/>
              <a:t>Deve ser </a:t>
            </a:r>
            <a:r>
              <a:rPr lang="pt-BR" b="1" dirty="0">
                <a:solidFill>
                  <a:schemeClr val="accent6"/>
                </a:solidFill>
              </a:rPr>
              <a:t>aplicado após a separação do dados</a:t>
            </a:r>
            <a:r>
              <a:rPr lang="pt-BR" dirty="0"/>
              <a:t> em conjuntos de treinamento, validação e teste para evitar vazamento de dados.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2"/>
                </a:solidFill>
              </a:rPr>
              <a:t>dados devem ser padronizados </a:t>
            </a:r>
            <a:r>
              <a:rPr lang="pt-BR" dirty="0"/>
              <a:t>antes de sua aplicação.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Sem padronização, </a:t>
            </a:r>
            <a:r>
              <a:rPr lang="pt-BR" b="1" dirty="0">
                <a:solidFill>
                  <a:srgbClr val="00B050"/>
                </a:solidFill>
              </a:rPr>
              <a:t>atributos com maior escala dominam</a:t>
            </a:r>
            <a:r>
              <a:rPr lang="pt-BR" dirty="0"/>
              <a:t> as componentes principais.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271458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02F3F2D-3BEE-7F15-4F99-AF9C21DAB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Análise de componentes principais (PCA)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492C856-EB66-8FEA-48EB-605CA54FC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sklearn.decomposition</a:t>
            </a:r>
            <a:r>
              <a:rPr lang="en-US" dirty="0">
                <a:latin typeface="Consolas" panose="020B0609020204030204" pitchFamily="49" charset="0"/>
              </a:rPr>
              <a:t> import PCA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Padronizar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dados antes do PCA</a:t>
            </a:r>
          </a:p>
          <a:p>
            <a:pPr marL="0" indent="0">
              <a:buNone/>
            </a:pPr>
            <a:r>
              <a:rPr lang="en-US" dirty="0" err="1" smtClean="0">
                <a:latin typeface="Consolas" panose="020B0609020204030204" pitchFamily="49" charset="0"/>
              </a:rPr>
              <a:t>X_train_scaled</a:t>
            </a:r>
            <a:r>
              <a:rPr lang="en-US" dirty="0" smtClean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 smtClean="0">
                <a:latin typeface="Consolas" panose="020B0609020204030204" pitchFamily="49" charset="0"/>
              </a:rPr>
              <a:t>fit_transform</a:t>
            </a:r>
            <a:r>
              <a:rPr lang="en-US" dirty="0" smtClean="0">
                <a:latin typeface="Consolas" panose="020B0609020204030204" pitchFamily="49" charset="0"/>
              </a:rPr>
              <a:t>(</a:t>
            </a:r>
            <a:r>
              <a:rPr lang="en-US" dirty="0" err="1" smtClean="0">
                <a:latin typeface="Consolas" panose="020B0609020204030204" pitchFamily="49" charset="0"/>
              </a:rPr>
              <a:t>X_train</a:t>
            </a:r>
            <a:r>
              <a:rPr lang="en-US" dirty="0" smtClean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 smtClean="0">
                <a:latin typeface="Consolas" panose="020B0609020204030204" pitchFamily="49" charset="0"/>
              </a:rPr>
              <a:t>X_test_scaled</a:t>
            </a:r>
            <a:r>
              <a:rPr lang="en-US" dirty="0" smtClean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 smtClean="0">
                <a:latin typeface="Consolas" panose="020B0609020204030204" pitchFamily="49" charset="0"/>
              </a:rPr>
              <a:t>().transform(</a:t>
            </a:r>
            <a:r>
              <a:rPr lang="en-US" dirty="0" err="1" smtClean="0">
                <a:latin typeface="Consolas" panose="020B0609020204030204" pitchFamily="49" charset="0"/>
              </a:rPr>
              <a:t>X_test</a:t>
            </a:r>
            <a:r>
              <a:rPr lang="en-US" dirty="0" smtClean="0">
                <a:latin typeface="Consolas" panose="020B0609020204030204" pitchFamily="49" charset="0"/>
              </a:rPr>
              <a:t>)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Extrair</a:t>
            </a:r>
            <a:r>
              <a:rPr lang="en-US" i="1" dirty="0">
                <a:latin typeface="Consolas" panose="020B0609020204030204" pitchFamily="49" charset="0"/>
              </a:rPr>
              <a:t> 2 </a:t>
            </a:r>
            <a:r>
              <a:rPr lang="en-US" i="1" dirty="0" err="1">
                <a:latin typeface="Consolas" panose="020B0609020204030204" pitchFamily="49" charset="0"/>
              </a:rPr>
              <a:t>componentes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pca</a:t>
            </a:r>
            <a:r>
              <a:rPr lang="en-US" dirty="0">
                <a:latin typeface="Consolas" panose="020B0609020204030204" pitchFamily="49" charset="0"/>
              </a:rPr>
              <a:t> = PCA(</a:t>
            </a:r>
            <a:r>
              <a:rPr lang="en-US" dirty="0" err="1">
                <a:latin typeface="Consolas" panose="020B0609020204030204" pitchFamily="49" charset="0"/>
              </a:rPr>
              <a:t>n_components</a:t>
            </a:r>
            <a:r>
              <a:rPr lang="en-US" dirty="0">
                <a:latin typeface="Consolas" panose="020B0609020204030204" pitchFamily="49" charset="0"/>
              </a:rPr>
              <a:t>=2)</a:t>
            </a:r>
          </a:p>
          <a:p>
            <a:pPr marL="0" indent="0">
              <a:buNone/>
            </a:pPr>
            <a:r>
              <a:rPr lang="en-US" dirty="0" err="1" smtClean="0">
                <a:latin typeface="Consolas" panose="020B0609020204030204" pitchFamily="49" charset="0"/>
              </a:rPr>
              <a:t>X_train_pca</a:t>
            </a:r>
            <a:r>
              <a:rPr lang="en-US" dirty="0" smtClean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= </a:t>
            </a:r>
            <a:r>
              <a:rPr lang="en-US" dirty="0" err="1" smtClean="0">
                <a:latin typeface="Consolas" panose="020B0609020204030204" pitchFamily="49" charset="0"/>
              </a:rPr>
              <a:t>pca.fit_transform</a:t>
            </a:r>
            <a:r>
              <a:rPr lang="en-US" dirty="0" smtClean="0">
                <a:latin typeface="Consolas" panose="020B0609020204030204" pitchFamily="49" charset="0"/>
              </a:rPr>
              <a:t>(</a:t>
            </a:r>
            <a:r>
              <a:rPr lang="en-US" dirty="0" err="1" smtClean="0">
                <a:latin typeface="Consolas" panose="020B0609020204030204" pitchFamily="49" charset="0"/>
              </a:rPr>
              <a:t>X_train_scaled</a:t>
            </a:r>
            <a:r>
              <a:rPr lang="en-US" dirty="0" smtClean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 smtClean="0">
                <a:latin typeface="Consolas" panose="020B0609020204030204" pitchFamily="49" charset="0"/>
              </a:rPr>
              <a:t>X_test_pca</a:t>
            </a:r>
            <a:r>
              <a:rPr lang="en-US" dirty="0" smtClean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= </a:t>
            </a:r>
            <a:r>
              <a:rPr lang="en-US" dirty="0" err="1" smtClean="0">
                <a:latin typeface="Consolas" panose="020B0609020204030204" pitchFamily="49" charset="0"/>
              </a:rPr>
              <a:t>pca.transform</a:t>
            </a:r>
            <a:r>
              <a:rPr lang="en-US" dirty="0" smtClean="0">
                <a:latin typeface="Consolas" panose="020B0609020204030204" pitchFamily="49" charset="0"/>
              </a:rPr>
              <a:t>(</a:t>
            </a:r>
            <a:r>
              <a:rPr lang="en-US" dirty="0" err="1" smtClean="0">
                <a:latin typeface="Consolas" panose="020B0609020204030204" pitchFamily="49" charset="0"/>
              </a:rPr>
              <a:t>X_test_scaled</a:t>
            </a:r>
            <a:r>
              <a:rPr lang="en-US" dirty="0" smtClean="0">
                <a:latin typeface="Consolas" panose="020B0609020204030204" pitchFamily="49" charset="0"/>
              </a:rPr>
              <a:t>)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pca.explained_variance_ratio</a:t>
            </a:r>
            <a:r>
              <a:rPr lang="en-US" dirty="0">
                <a:latin typeface="Consolas" panose="020B0609020204030204" pitchFamily="49" charset="0"/>
              </a:rPr>
              <a:t>_)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EC8214E1-81F4-96EA-7AE9-0BB856B13E0B}"/>
              </a:ext>
            </a:extLst>
          </p:cNvPr>
          <p:cNvSpPr txBox="1"/>
          <p:nvPr/>
        </p:nvSpPr>
        <p:spPr>
          <a:xfrm>
            <a:off x="8784771" y="4341811"/>
            <a:ext cx="286294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OBS</a:t>
            </a:r>
            <a:r>
              <a:rPr lang="en-US" dirty="0"/>
              <a:t>.: “</a:t>
            </a:r>
            <a:r>
              <a:rPr lang="en-US" dirty="0" err="1"/>
              <a:t>n_components</a:t>
            </a:r>
            <a:r>
              <a:rPr lang="en-US" dirty="0"/>
              <a:t>”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dirty="0" err="1"/>
              <a:t>também</a:t>
            </a:r>
            <a:r>
              <a:rPr lang="en-US" dirty="0"/>
              <a:t> um </a:t>
            </a:r>
            <a:r>
              <a:rPr lang="en-US" dirty="0" err="1"/>
              <a:t>número</a:t>
            </a:r>
            <a:r>
              <a:rPr lang="en-US" dirty="0"/>
              <a:t> entre 0 e 1 </a:t>
            </a:r>
            <a:r>
              <a:rPr lang="en-US" dirty="0" err="1"/>
              <a:t>especificando</a:t>
            </a:r>
            <a:r>
              <a:rPr lang="en-US" dirty="0"/>
              <a:t> o </a:t>
            </a:r>
            <a:r>
              <a:rPr lang="en-US" dirty="0" err="1"/>
              <a:t>mínimo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 </a:t>
            </a:r>
            <a:r>
              <a:rPr lang="en-US" dirty="0" err="1"/>
              <a:t>explicada</a:t>
            </a:r>
            <a:r>
              <a:rPr lang="en-US" dirty="0"/>
              <a:t> </a:t>
            </a:r>
            <a:r>
              <a:rPr lang="en-US" dirty="0" err="1"/>
              <a:t>desejada</a:t>
            </a:r>
            <a:r>
              <a:rPr lang="en-US" dirty="0"/>
              <a:t>.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Se </a:t>
            </a:r>
            <a:r>
              <a:rPr lang="en-US" dirty="0" err="1"/>
              <a:t>não</a:t>
            </a:r>
            <a:r>
              <a:rPr lang="en-US" dirty="0"/>
              <a:t> for </a:t>
            </a:r>
            <a:r>
              <a:rPr lang="en-US" dirty="0" err="1"/>
              <a:t>definido</a:t>
            </a:r>
            <a:r>
              <a:rPr lang="en-US" dirty="0"/>
              <a:t>, </a:t>
            </a:r>
            <a:r>
              <a:rPr lang="en-US" dirty="0" err="1"/>
              <a:t>todas</a:t>
            </a:r>
            <a:r>
              <a:rPr lang="en-US" dirty="0"/>
              <a:t> as components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usadas</a:t>
            </a:r>
            <a:r>
              <a:rPr lang="en-US" dirty="0"/>
              <a:t>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xmlns="" id="{3471AF8A-303A-1F0A-B73F-224FDADDE806}"/>
              </a:ext>
            </a:extLst>
          </p:cNvPr>
          <p:cNvCxnSpPr/>
          <p:nvPr/>
        </p:nvCxnSpPr>
        <p:spPr>
          <a:xfrm flipH="1">
            <a:off x="5037513" y="4506686"/>
            <a:ext cx="3823459" cy="514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7080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7B9AE6D-1C0A-9901-3435-DE81DB262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8D2D9C9-C956-E042-6573-941646858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>
                <a:solidFill>
                  <a:srgbClr val="00B050"/>
                </a:solidFill>
              </a:rPr>
              <a:t>selecionar um subconjunto de atributos </a:t>
            </a:r>
            <a:r>
              <a:rPr lang="pt-BR" dirty="0"/>
              <a:t>que contribuem para a </a:t>
            </a:r>
            <a:r>
              <a:rPr lang="pt-BR" b="1" dirty="0">
                <a:solidFill>
                  <a:srgbClr val="00B050"/>
                </a:solidFill>
              </a:rPr>
              <a:t>melhoria do desempenho do modelo</a:t>
            </a:r>
            <a:r>
              <a:rPr lang="pt-BR" dirty="0"/>
              <a:t>.</a:t>
            </a:r>
          </a:p>
          <a:p>
            <a:r>
              <a:rPr lang="pt-BR" dirty="0"/>
              <a:t>Por que usar?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</a:t>
            </a:r>
            <a:r>
              <a:rPr lang="pt-BR" b="1" i="1" dirty="0" err="1"/>
              <a:t>overfitting</a:t>
            </a:r>
            <a:r>
              <a:rPr lang="pt-BR" i="1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Modelos mais simples </a:t>
            </a:r>
            <a:r>
              <a:rPr lang="pt-BR" dirty="0"/>
              <a:t>com menos atributos tendem a </a:t>
            </a:r>
            <a:r>
              <a:rPr lang="pt-BR" b="1" dirty="0">
                <a:solidFill>
                  <a:schemeClr val="accent2"/>
                </a:solidFill>
              </a:rPr>
              <a:t>generalizar melhor </a:t>
            </a:r>
            <a:r>
              <a:rPr lang="pt-BR" dirty="0"/>
              <a:t>para novos dados.</a:t>
            </a:r>
            <a:endParaRPr lang="pt-BR" i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custo computacional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Menos dados </a:t>
            </a:r>
            <a:r>
              <a:rPr lang="pt-BR" dirty="0"/>
              <a:t>significam </a:t>
            </a:r>
            <a:r>
              <a:rPr lang="pt-BR" b="1" dirty="0">
                <a:solidFill>
                  <a:schemeClr val="accent2"/>
                </a:solidFill>
              </a:rPr>
              <a:t>algoritmos</a:t>
            </a:r>
            <a:r>
              <a:rPr lang="pt-BR" dirty="0"/>
              <a:t> que processam </a:t>
            </a:r>
            <a:r>
              <a:rPr lang="pt-BR" b="1" dirty="0">
                <a:solidFill>
                  <a:schemeClr val="accent2"/>
                </a:solidFill>
              </a:rPr>
              <a:t>mais rápido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Facilita interpretação</a:t>
            </a:r>
            <a:r>
              <a:rPr lang="pt-BR" dirty="0"/>
              <a:t>: É mais </a:t>
            </a:r>
            <a:r>
              <a:rPr lang="pt-BR" b="1" dirty="0">
                <a:solidFill>
                  <a:schemeClr val="accent2"/>
                </a:solidFill>
              </a:rPr>
              <a:t>fácil explicar </a:t>
            </a:r>
            <a:r>
              <a:rPr lang="pt-BR" dirty="0"/>
              <a:t>um modelo que utiliza 5 variáveis do que um que utiliza 500.</a:t>
            </a:r>
          </a:p>
        </p:txBody>
      </p:sp>
    </p:spTree>
    <p:extLst>
      <p:ext uri="{BB962C8B-B14F-4D97-AF65-F5344CB8AC3E}">
        <p14:creationId xmlns:p14="http://schemas.microsoft.com/office/powerpoint/2010/main" val="42455900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1D58860-65D7-D491-9562-1DB8A3BE6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617A552-B57A-0603-BA2B-092430CA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07398A6-8EF0-205A-E092-0E8C53D1A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2" cy="5032375"/>
          </a:xfrm>
        </p:spPr>
        <p:txBody>
          <a:bodyPr>
            <a:normAutofit/>
          </a:bodyPr>
          <a:lstStyle/>
          <a:p>
            <a:r>
              <a:rPr lang="pt-BR" dirty="0"/>
              <a:t>Existem três tipos principais de técnicas de seleção de atributos: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Filtragem</a:t>
            </a:r>
            <a:r>
              <a:rPr lang="pt-BR" dirty="0"/>
              <a:t>: Baseados em </a:t>
            </a:r>
            <a:r>
              <a:rPr lang="pt-BR" b="1" dirty="0">
                <a:solidFill>
                  <a:srgbClr val="7030A0"/>
                </a:solidFill>
              </a:rPr>
              <a:t>medidas estatísticas dos dados</a:t>
            </a:r>
            <a:r>
              <a:rPr lang="pt-BR" dirty="0"/>
              <a:t>, </a:t>
            </a:r>
            <a:r>
              <a:rPr lang="pt-BR" dirty="0" smtClean="0"/>
              <a:t>como a </a:t>
            </a:r>
            <a:r>
              <a:rPr lang="pt-BR" dirty="0"/>
              <a:t>correlação.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Correlação de Pearson/</a:t>
            </a:r>
            <a:r>
              <a:rPr lang="pt-BR" dirty="0" err="1"/>
              <a:t>Spearman</a:t>
            </a:r>
            <a:r>
              <a:rPr lang="en-US" dirty="0"/>
              <a:t>, Teste qui-</a:t>
            </a:r>
            <a:r>
              <a:rPr lang="en-US" dirty="0" err="1"/>
              <a:t>quadrado</a:t>
            </a:r>
            <a:r>
              <a:rPr lang="en-US" dirty="0"/>
              <a:t>, </a:t>
            </a:r>
            <a:r>
              <a:rPr lang="en-US" dirty="0" err="1"/>
              <a:t>limiar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, </a:t>
            </a:r>
            <a:r>
              <a:rPr lang="en-US" dirty="0" err="1"/>
              <a:t>ganho</a:t>
            </a:r>
            <a:r>
              <a:rPr lang="en-US" dirty="0"/>
              <a:t> de </a:t>
            </a:r>
            <a:r>
              <a:rPr lang="en-US" dirty="0" err="1"/>
              <a:t>informação</a:t>
            </a:r>
            <a:r>
              <a:rPr lang="en-US" dirty="0"/>
              <a:t>, </a:t>
            </a:r>
            <a:r>
              <a:rPr lang="en-US" dirty="0" err="1"/>
              <a:t>informação</a:t>
            </a:r>
            <a:r>
              <a:rPr lang="en-US" dirty="0"/>
              <a:t> </a:t>
            </a:r>
            <a:r>
              <a:rPr lang="en-US" dirty="0" err="1"/>
              <a:t>mútua</a:t>
            </a:r>
            <a:r>
              <a:rPr lang="en-US" dirty="0"/>
              <a:t>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Encapsulamento</a:t>
            </a:r>
            <a:r>
              <a:rPr lang="pt-BR" dirty="0"/>
              <a:t>: </a:t>
            </a:r>
            <a:r>
              <a:rPr lang="pt-BR" b="1" dirty="0">
                <a:solidFill>
                  <a:srgbClr val="7030A0"/>
                </a:solidFill>
              </a:rPr>
              <a:t>Usa o próprio modelo de ML para testar subconjuntos </a:t>
            </a:r>
            <a:r>
              <a:rPr lang="pt-BR" dirty="0"/>
              <a:t>de variáveis e avaliar a performance.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Eliminação recursiva </a:t>
            </a:r>
            <a:r>
              <a:rPr lang="pt-BR" dirty="0"/>
              <a:t>de </a:t>
            </a:r>
            <a:r>
              <a:rPr lang="pt-BR" dirty="0" smtClean="0"/>
              <a:t>atributos.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Embarcado</a:t>
            </a:r>
            <a:r>
              <a:rPr lang="pt-BR" dirty="0"/>
              <a:t>: A </a:t>
            </a:r>
            <a:r>
              <a:rPr lang="pt-BR" b="1" dirty="0">
                <a:solidFill>
                  <a:srgbClr val="7030A0"/>
                </a:solidFill>
              </a:rPr>
              <a:t>seleção ocorre durante o processo de treinamento </a:t>
            </a:r>
            <a:r>
              <a:rPr lang="pt-BR" dirty="0"/>
              <a:t>do próprio algoritmo. É </a:t>
            </a:r>
            <a:r>
              <a:rPr lang="pt-BR" b="1" dirty="0">
                <a:solidFill>
                  <a:srgbClr val="7030A0"/>
                </a:solidFill>
              </a:rPr>
              <a:t>integrada</a:t>
            </a:r>
            <a:r>
              <a:rPr lang="pt-BR" dirty="0"/>
              <a:t> (i.e., embarcada) no </a:t>
            </a:r>
            <a:r>
              <a:rPr lang="pt-BR" b="1" dirty="0">
                <a:solidFill>
                  <a:srgbClr val="7030A0"/>
                </a:solidFill>
              </a:rPr>
              <a:t>treinamento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Regressão LASSO e árvores de decisão.</a:t>
            </a:r>
          </a:p>
          <a:p>
            <a:r>
              <a:rPr lang="pt-BR" dirty="0"/>
              <a:t>Filtragem usa apenas informações do </a:t>
            </a:r>
            <a:r>
              <a:rPr lang="pt-BR" i="1" dirty="0"/>
              <a:t>dataset</a:t>
            </a:r>
            <a:r>
              <a:rPr lang="pt-BR" dirty="0"/>
              <a:t>, já o encapsulamento e o embarcado, usam informações do </a:t>
            </a:r>
            <a:r>
              <a:rPr lang="pt-BR" i="1" dirty="0"/>
              <a:t>dataset</a:t>
            </a:r>
            <a:r>
              <a:rPr lang="pt-BR" dirty="0"/>
              <a:t> e do modelo para selecionar os atributos.</a:t>
            </a:r>
          </a:p>
        </p:txBody>
      </p:sp>
    </p:spTree>
    <p:extLst>
      <p:ext uri="{BB962C8B-B14F-4D97-AF65-F5344CB8AC3E}">
        <p14:creationId xmlns:p14="http://schemas.microsoft.com/office/powerpoint/2010/main" val="33974441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CC01CC2-CD7B-126A-B75F-51795F14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C54ABDE-7CD5-03FF-4BA7-BC9477C65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Métodos de filtro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xmlns="" id="{ABBB3C58-BD3E-E320-2711-DF4496A3A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9143" y="1825624"/>
            <a:ext cx="5442857" cy="5032375"/>
          </a:xfrm>
        </p:spPr>
        <p:txBody>
          <a:bodyPr>
            <a:normAutofit/>
          </a:bodyPr>
          <a:lstStyle/>
          <a:p>
            <a:r>
              <a:rPr lang="pt-BR" dirty="0"/>
              <a:t>São </a:t>
            </a:r>
            <a:r>
              <a:rPr lang="pt-BR" b="1" dirty="0"/>
              <a:t>rápidos e independentes do modelo de ML</a:t>
            </a:r>
            <a:r>
              <a:rPr lang="pt-BR" dirty="0"/>
              <a:t>.</a:t>
            </a:r>
          </a:p>
          <a:p>
            <a:r>
              <a:rPr lang="pt-BR" dirty="0"/>
              <a:t>Escala bem para </a:t>
            </a:r>
            <a:r>
              <a:rPr lang="pt-BR" i="1" dirty="0" err="1"/>
              <a:t>datasets</a:t>
            </a:r>
            <a:r>
              <a:rPr lang="pt-BR" dirty="0"/>
              <a:t> grandes.</a:t>
            </a:r>
          </a:p>
          <a:p>
            <a:r>
              <a:rPr lang="pt-BR" dirty="0"/>
              <a:t>Filtros simples podem </a:t>
            </a:r>
            <a:r>
              <a:rPr lang="pt-BR" b="1" dirty="0"/>
              <a:t>ignorar interações relevantes </a:t>
            </a:r>
            <a:r>
              <a:rPr lang="pt-BR" dirty="0"/>
              <a:t>entre atributos (e.g., usar apenas a </a:t>
            </a:r>
            <a:r>
              <a:rPr lang="pt-BR" b="1" dirty="0"/>
              <a:t>correlação entre atributo e alvo</a:t>
            </a:r>
            <a:r>
              <a:rPr lang="pt-BR" dirty="0"/>
              <a:t>).</a:t>
            </a:r>
          </a:p>
          <a:p>
            <a:r>
              <a:rPr lang="pt-BR" dirty="0"/>
              <a:t>Dependem da escolha adequada da métrica (e.g., relações lineares e não lineares).</a:t>
            </a:r>
            <a:endParaRPr lang="en-US" dirty="0"/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xmlns="" id="{A3CE7DC7-8E77-95A6-7CCE-6EAB1A78A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6" r="6022"/>
          <a:stretch>
            <a:fillRect/>
          </a:stretch>
        </p:blipFill>
        <p:spPr>
          <a:xfrm>
            <a:off x="174170" y="2133600"/>
            <a:ext cx="6360280" cy="3704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5281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9E47926-99C2-2D03-BBC9-E0B2BBB3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17BA196-AA4F-8DFB-EA4F-DE2070CF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de encapsulamento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EFA8F44C-FCBF-8760-0A7D-09EA95AC7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6" y="1825624"/>
            <a:ext cx="5570633" cy="5032375"/>
          </a:xfrm>
        </p:spPr>
        <p:txBody>
          <a:bodyPr/>
          <a:lstStyle/>
          <a:p>
            <a:r>
              <a:rPr lang="pt-BR" b="1" dirty="0">
                <a:solidFill>
                  <a:srgbClr val="7030A0"/>
                </a:solidFill>
              </a:rPr>
              <a:t>Otimizam</a:t>
            </a:r>
            <a:r>
              <a:rPr lang="pt-BR" dirty="0"/>
              <a:t> os atributos </a:t>
            </a:r>
            <a:r>
              <a:rPr lang="pt-BR" b="1" dirty="0">
                <a:solidFill>
                  <a:srgbClr val="7030A0"/>
                </a:solidFill>
              </a:rPr>
              <a:t>para um modelo específico</a:t>
            </a:r>
            <a:r>
              <a:rPr lang="pt-BR" dirty="0"/>
              <a:t>.</a:t>
            </a:r>
          </a:p>
          <a:p>
            <a:r>
              <a:rPr lang="pt-BR" dirty="0"/>
              <a:t>Em geral, tem têm </a:t>
            </a:r>
            <a:r>
              <a:rPr lang="pt-BR" b="1" dirty="0">
                <a:solidFill>
                  <a:srgbClr val="7030A0"/>
                </a:solidFill>
              </a:rPr>
              <a:t>desempenho superior </a:t>
            </a:r>
            <a:r>
              <a:rPr lang="pt-BR" dirty="0"/>
              <a:t>aos métodos de </a:t>
            </a:r>
            <a:r>
              <a:rPr lang="pt-BR" b="1" dirty="0">
                <a:solidFill>
                  <a:srgbClr val="7030A0"/>
                </a:solidFill>
              </a:rPr>
              <a:t>filtragem</a:t>
            </a:r>
            <a:r>
              <a:rPr lang="pt-BR" dirty="0"/>
              <a:t>.</a:t>
            </a:r>
          </a:p>
          <a:p>
            <a:r>
              <a:rPr lang="pt-BR" dirty="0"/>
              <a:t>Porém, são </a:t>
            </a:r>
            <a:r>
              <a:rPr lang="pt-BR" b="1" dirty="0">
                <a:solidFill>
                  <a:schemeClr val="accent2"/>
                </a:solidFill>
              </a:rPr>
              <a:t>computacionalmente caros</a:t>
            </a:r>
            <a:r>
              <a:rPr lang="pt-BR" dirty="0"/>
              <a:t> e </a:t>
            </a:r>
            <a:r>
              <a:rPr lang="pt-BR" b="1" dirty="0">
                <a:solidFill>
                  <a:schemeClr val="accent2"/>
                </a:solidFill>
              </a:rPr>
              <a:t>suscetíveis ao 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dirty="0"/>
              <a:t>, pois podem </a:t>
            </a:r>
            <a:r>
              <a:rPr lang="pt-BR" b="1" dirty="0">
                <a:solidFill>
                  <a:schemeClr val="accent5"/>
                </a:solidFill>
              </a:rPr>
              <a:t>ajustar excessivamente</a:t>
            </a:r>
            <a:r>
              <a:rPr lang="pt-BR" dirty="0"/>
              <a:t> os </a:t>
            </a:r>
            <a:r>
              <a:rPr lang="pt-BR" b="1" dirty="0">
                <a:solidFill>
                  <a:schemeClr val="accent5"/>
                </a:solidFill>
              </a:rPr>
              <a:t>atributos</a:t>
            </a:r>
            <a:r>
              <a:rPr lang="pt-BR" dirty="0"/>
              <a:t> a um </a:t>
            </a:r>
            <a:r>
              <a:rPr lang="pt-BR" b="1" dirty="0">
                <a:solidFill>
                  <a:schemeClr val="accent5"/>
                </a:solidFill>
              </a:rPr>
              <a:t>modelo específico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xmlns="" id="{48660767-9E5D-79F3-0C90-BEEF045A78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02" r="5947"/>
          <a:stretch>
            <a:fillRect/>
          </a:stretch>
        </p:blipFill>
        <p:spPr>
          <a:xfrm>
            <a:off x="130627" y="2264229"/>
            <a:ext cx="6336295" cy="353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23168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7DD008B-2DA9-867B-7932-40CC20832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7CB5404-B5B4-16EF-E1B0-AE0FE920E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embarcados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A260B74E-723F-0F17-2C56-2A47AE327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6" y="1825624"/>
            <a:ext cx="5570633" cy="5032375"/>
          </a:xfrm>
        </p:spPr>
        <p:txBody>
          <a:bodyPr/>
          <a:lstStyle/>
          <a:p>
            <a:r>
              <a:rPr lang="pt-BR" dirty="0"/>
              <a:t>Selecionam atributos </a:t>
            </a:r>
            <a:r>
              <a:rPr lang="pt-BR" b="1" dirty="0">
                <a:solidFill>
                  <a:schemeClr val="accent2"/>
                </a:solidFill>
              </a:rPr>
              <a:t>durante o treinamento</a:t>
            </a:r>
            <a:r>
              <a:rPr lang="pt-BR" dirty="0"/>
              <a:t> do modelo.</a:t>
            </a:r>
          </a:p>
          <a:p>
            <a:r>
              <a:rPr lang="pt-BR" dirty="0"/>
              <a:t>Apresenta </a:t>
            </a:r>
            <a:r>
              <a:rPr lang="pt-BR" b="1" dirty="0">
                <a:solidFill>
                  <a:schemeClr val="accent2"/>
                </a:solidFill>
              </a:rPr>
              <a:t>equilíbrio</a:t>
            </a:r>
            <a:r>
              <a:rPr lang="pt-BR" dirty="0"/>
              <a:t> entre </a:t>
            </a:r>
            <a:r>
              <a:rPr lang="pt-BR" b="1" dirty="0">
                <a:solidFill>
                  <a:schemeClr val="accent2"/>
                </a:solidFill>
              </a:rPr>
              <a:t>desempenho e tempo para seleção</a:t>
            </a:r>
            <a:r>
              <a:rPr lang="pt-BR" dirty="0"/>
              <a:t>.</a:t>
            </a:r>
          </a:p>
          <a:p>
            <a:r>
              <a:rPr lang="pt-BR" dirty="0"/>
              <a:t>Porém, têm </a:t>
            </a:r>
            <a:r>
              <a:rPr lang="pt-BR" b="1" dirty="0">
                <a:solidFill>
                  <a:srgbClr val="7030A0"/>
                </a:solidFill>
              </a:rPr>
              <a:t>interpretabilidade limitada</a:t>
            </a:r>
            <a:r>
              <a:rPr lang="pt-BR" dirty="0"/>
              <a:t> (por que um atributo foi removido?) e </a:t>
            </a:r>
            <a:r>
              <a:rPr lang="pt-BR" b="1" dirty="0">
                <a:solidFill>
                  <a:srgbClr val="7030A0"/>
                </a:solidFill>
              </a:rPr>
              <a:t>não são suportados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por todos os algoritmos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1B45D6DA-65C4-DEF1-91AD-82E997F1C3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0" r="6296"/>
          <a:stretch>
            <a:fillRect/>
          </a:stretch>
        </p:blipFill>
        <p:spPr>
          <a:xfrm>
            <a:off x="130627" y="2240756"/>
            <a:ext cx="6394617" cy="360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5752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25B31A4-C585-0094-27DF-9EB6149E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Seleção de atributos na biblioteca </a:t>
            </a:r>
            <a:r>
              <a:rPr lang="pt-BR" noProof="0" dirty="0" err="1"/>
              <a:t>SciKit-learn</a:t>
            </a:r>
            <a:endParaRPr lang="pt-B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6446D82-5B94-346A-4A16-ED16D509B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O módulo </a:t>
            </a:r>
            <a:r>
              <a:rPr lang="pt-BR" noProof="0" dirty="0" err="1">
                <a:latin typeface="Consolas" panose="020B0609020204030204" pitchFamily="49" charset="0"/>
              </a:rPr>
              <a:t>sklearn.feature_selection</a:t>
            </a:r>
            <a:r>
              <a:rPr lang="pt-BR" noProof="0" dirty="0"/>
              <a:t> implementa vários métodos de seleção de atributos, dentre eles podemos citar: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 </a:t>
            </a:r>
            <a:r>
              <a:rPr lang="en-US" dirty="0" err="1"/>
              <a:t>Filtragem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VarianceThreshold</a:t>
            </a:r>
            <a:r>
              <a:rPr lang="pt-BR" dirty="0"/>
              <a:t>: Elimina atributos com variância abaixo do limiar configurado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SelectKBest</a:t>
            </a:r>
            <a:r>
              <a:rPr lang="pt-BR" dirty="0"/>
              <a:t>: Seleciona os K melhores atributos de acordo com um </a:t>
            </a:r>
            <a:r>
              <a:rPr lang="pt-BR" i="1" dirty="0"/>
              <a:t>score</a:t>
            </a:r>
            <a:r>
              <a:rPr lang="pt-BR" dirty="0"/>
              <a:t> definido (e.g., informação mútua, ganho de informação, etc.)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Encapsulamento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latin typeface="Consolas" panose="020B0609020204030204" pitchFamily="49" charset="0"/>
              </a:rPr>
              <a:t>RFE</a:t>
            </a:r>
            <a:r>
              <a:rPr lang="pt-BR" dirty="0"/>
              <a:t>: Elimina os atributos de forma recursiva até que apenas as melhores permaneçam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noProof="0" dirty="0" err="1"/>
              <a:t>Embarcado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SelectFromModel</a:t>
            </a:r>
            <a:r>
              <a:rPr lang="pt-BR" dirty="0"/>
              <a:t>: Seleção </a:t>
            </a:r>
            <a:r>
              <a:rPr lang="pt-BR" noProof="0" dirty="0"/>
              <a:t>usando modelos com penalidade L1 ou baseados em árvore, como LASSO e árvores de decisão.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noProof="0" dirty="0"/>
          </a:p>
          <a:p>
            <a:pPr lvl="1">
              <a:buFont typeface="Wingdings" panose="05000000000000000000" pitchFamily="2" charset="2"/>
              <a:buChar char="§"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5479342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3637FC5-962E-E2AD-1217-72A38BC6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9185EA9-B2C7-CDCD-B7C0-DAB5D8FD3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 na biblioteca </a:t>
            </a:r>
            <a:r>
              <a:rPr lang="pt-BR" dirty="0" err="1"/>
              <a:t>SciKit-learn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1019C3F-9C7C-06B2-C6DF-8E58E02A23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6874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sklearn.feature_selection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Remove features com </a:t>
            </a:r>
            <a:r>
              <a:rPr lang="en-US" dirty="0" err="1">
                <a:latin typeface="Consolas" panose="020B0609020204030204" pitchFamily="49" charset="0"/>
              </a:rPr>
              <a:t>variância</a:t>
            </a:r>
            <a:r>
              <a:rPr lang="en-US" dirty="0">
                <a:latin typeface="Consolas" panose="020B0609020204030204" pitchFamily="49" charset="0"/>
              </a:rPr>
              <a:t> &lt;= 0.1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selector =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r>
              <a:rPr lang="en-US" dirty="0">
                <a:latin typeface="Consolas" panose="020B0609020204030204" pitchFamily="49" charset="0"/>
              </a:rPr>
              <a:t>(threshold=0.1)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73773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1676600-9357-87C1-67B2-7ED0D4133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vs. 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EF91E9A-DCA0-4C49-3A03-40A802DE8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5"/>
          </a:xfrm>
        </p:spPr>
        <p:txBody>
          <a:bodyPr/>
          <a:lstStyle/>
          <a:p>
            <a:r>
              <a:rPr lang="pt-BR" dirty="0"/>
              <a:t>A extração </a:t>
            </a:r>
            <a:r>
              <a:rPr lang="pt-BR" b="1" dirty="0"/>
              <a:t>transforma</a:t>
            </a:r>
            <a:r>
              <a:rPr lang="pt-BR" dirty="0"/>
              <a:t> os </a:t>
            </a:r>
            <a:r>
              <a:rPr lang="pt-BR" b="1" dirty="0">
                <a:solidFill>
                  <a:schemeClr val="accent2"/>
                </a:solidFill>
              </a:rPr>
              <a:t>atributos originais para criar novos</a:t>
            </a:r>
            <a:r>
              <a:rPr lang="pt-BR" dirty="0"/>
              <a:t>, geralmente reduzindo a dimensionalidade.</a:t>
            </a:r>
          </a:p>
          <a:p>
            <a:r>
              <a:rPr lang="pt-BR" dirty="0"/>
              <a:t>A seleção </a:t>
            </a:r>
            <a:r>
              <a:rPr lang="pt-BR" b="1" dirty="0"/>
              <a:t>escolhe</a:t>
            </a:r>
            <a:r>
              <a:rPr lang="pt-BR" dirty="0"/>
              <a:t> um </a:t>
            </a:r>
            <a:r>
              <a:rPr lang="pt-BR" b="1" dirty="0">
                <a:solidFill>
                  <a:srgbClr val="7030A0"/>
                </a:solidFill>
              </a:rPr>
              <a:t>subconjunto dos atributos existentes </a:t>
            </a:r>
            <a:r>
              <a:rPr lang="pt-BR" dirty="0"/>
              <a:t>mais relevantes </a:t>
            </a:r>
            <a:r>
              <a:rPr lang="pt-BR" b="1" dirty="0">
                <a:solidFill>
                  <a:srgbClr val="7030A0"/>
                </a:solidFill>
              </a:rPr>
              <a:t>sem alterá-los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5965887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pre_processing.ipynb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xmlns="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xmlns="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xmlns="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xmlns="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xmlns="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</a:t>
            </a:r>
            <a:r>
              <a:rPr lang="pt-BR" dirty="0" err="1"/>
              <a:t>exrcícios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#4 – Transformações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9237</TotalTime>
  <Words>4276</Words>
  <Application>Microsoft Office PowerPoint</Application>
  <PresentationFormat>Widescreen</PresentationFormat>
  <Paragraphs>505</Paragraphs>
  <Slides>53</Slides>
  <Notes>34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53</vt:i4>
      </vt:variant>
    </vt:vector>
  </HeadingPairs>
  <TitlesOfParts>
    <vt:vector size="61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Tema do Office</vt:lpstr>
      <vt:lpstr>C24 - Inteligência Artificial: Transformações dos dados</vt:lpstr>
      <vt:lpstr>Apresentação do PowerPoint</vt:lpstr>
      <vt:lpstr>O que veremos?</vt:lpstr>
      <vt:lpstr>Apresentação do PowerPoint</vt:lpstr>
      <vt:lpstr>Apresentação do PowerPoint</vt:lpstr>
      <vt:lpstr>Por que não usar os mesmos dados para treino e teste</vt:lpstr>
      <vt:lpstr>Divisão do dataset</vt:lpstr>
      <vt:lpstr>Divisão do dataset</vt:lpstr>
      <vt:lpstr>Divisão do dataset</vt:lpstr>
      <vt:lpstr>Apresentação do PowerPoint</vt:lpstr>
      <vt:lpstr>Escalonamento de atributos</vt:lpstr>
      <vt:lpstr>Por que escalonar os atributos?</vt:lpstr>
      <vt:lpstr>Por que escalonar os atributos?</vt:lpstr>
      <vt:lpstr>Normalização (Min-Max Scaling)</vt:lpstr>
      <vt:lpstr>Normalização (Min-Max Scaling)</vt:lpstr>
      <vt:lpstr>Normalização (Min-Max Scaling)</vt:lpstr>
      <vt:lpstr>Apresentação do PowerPoint</vt:lpstr>
      <vt:lpstr>Apresentação do PowerPoint</vt:lpstr>
      <vt:lpstr>Padronização (Standard Scaling)</vt:lpstr>
      <vt:lpstr>Padronização (Standard Scaling)</vt:lpstr>
      <vt:lpstr>Padronização (Standard Scaling)</vt:lpstr>
      <vt:lpstr>Escalonamento robusto (Robust Scaling)</vt:lpstr>
      <vt:lpstr>Escalonamento robusto (Robust Scaling)</vt:lpstr>
      <vt:lpstr>Escalonamento robusto (Robust Scaling)</vt:lpstr>
      <vt:lpstr>Armadilhas comuns durante o escalonamento</vt:lpstr>
      <vt:lpstr>Codificação de atributos categóricos</vt:lpstr>
      <vt:lpstr>One-Hot encoding</vt:lpstr>
      <vt:lpstr>Label e ordinal encoding</vt:lpstr>
      <vt:lpstr>Target encoding</vt:lpstr>
      <vt:lpstr>Binary encoding</vt:lpstr>
      <vt:lpstr>Exemplos de encoding</vt:lpstr>
      <vt:lpstr>Engenharia de atributos</vt:lpstr>
      <vt:lpstr>Engenharia de atributos</vt:lpstr>
      <vt:lpstr>Extração de atributos</vt:lpstr>
      <vt:lpstr>Técnicas comuns para extração de atributos</vt:lpstr>
      <vt:lpstr>Técnicas comuns para extração de atributos</vt:lpstr>
      <vt:lpstr>Apresentação do PowerPoint</vt:lpstr>
      <vt:lpstr>Análise de componentes principais (PCA)</vt:lpstr>
      <vt:lpstr>Análise de componentes principais (PCA)</vt:lpstr>
      <vt:lpstr>Análise de componentes principais (PCA)</vt:lpstr>
      <vt:lpstr>Análise de componentes principais (PCA)</vt:lpstr>
      <vt:lpstr>Seleção de atributos</vt:lpstr>
      <vt:lpstr>Seleção de atributos</vt:lpstr>
      <vt:lpstr>Métodos de filtro</vt:lpstr>
      <vt:lpstr>Métodos de encapsulamento</vt:lpstr>
      <vt:lpstr>Métodos embarcados</vt:lpstr>
      <vt:lpstr>Seleção de atributos na biblioteca SciKit-learn</vt:lpstr>
      <vt:lpstr>Seleção de atributos na biblioteca SciKit-learn</vt:lpstr>
      <vt:lpstr>Extração vs. seleção de atributos</vt:lpstr>
      <vt:lpstr>Exemplo</vt:lpstr>
      <vt:lpstr>Lista de exrcícios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2069</cp:revision>
  <dcterms:created xsi:type="dcterms:W3CDTF">2020-01-20T13:50:05Z</dcterms:created>
  <dcterms:modified xsi:type="dcterms:W3CDTF">2026-03-09T21:57:20Z</dcterms:modified>
</cp:coreProperties>
</file>