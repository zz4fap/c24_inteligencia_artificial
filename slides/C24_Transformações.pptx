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4"/>
  </p:notesMasterIdLst>
  <p:handoutMasterIdLst>
    <p:handoutMasterId r:id="rId65"/>
  </p:handoutMasterIdLst>
  <p:sldIdLst>
    <p:sldId id="256" r:id="rId2"/>
    <p:sldId id="322" r:id="rId3"/>
    <p:sldId id="316" r:id="rId4"/>
    <p:sldId id="363" r:id="rId5"/>
    <p:sldId id="374" r:id="rId6"/>
    <p:sldId id="376" r:id="rId7"/>
    <p:sldId id="337" r:id="rId8"/>
    <p:sldId id="377" r:id="rId9"/>
    <p:sldId id="365" r:id="rId10"/>
    <p:sldId id="399" r:id="rId11"/>
    <p:sldId id="378" r:id="rId12"/>
    <p:sldId id="330" r:id="rId13"/>
    <p:sldId id="319" r:id="rId14"/>
    <p:sldId id="329" r:id="rId15"/>
    <p:sldId id="327" r:id="rId16"/>
    <p:sldId id="396" r:id="rId17"/>
    <p:sldId id="334" r:id="rId18"/>
    <p:sldId id="380" r:id="rId19"/>
    <p:sldId id="382" r:id="rId20"/>
    <p:sldId id="400" r:id="rId21"/>
    <p:sldId id="335" r:id="rId22"/>
    <p:sldId id="398" r:id="rId23"/>
    <p:sldId id="340" r:id="rId24"/>
    <p:sldId id="336" r:id="rId25"/>
    <p:sldId id="343" r:id="rId26"/>
    <p:sldId id="342" r:id="rId27"/>
    <p:sldId id="328" r:id="rId28"/>
    <p:sldId id="344" r:id="rId29"/>
    <p:sldId id="345" r:id="rId30"/>
    <p:sldId id="401" r:id="rId31"/>
    <p:sldId id="346" r:id="rId32"/>
    <p:sldId id="402" r:id="rId33"/>
    <p:sldId id="347" r:id="rId34"/>
    <p:sldId id="403" r:id="rId35"/>
    <p:sldId id="348" r:id="rId36"/>
    <p:sldId id="405" r:id="rId37"/>
    <p:sldId id="349" r:id="rId38"/>
    <p:sldId id="317" r:id="rId39"/>
    <p:sldId id="320" r:id="rId40"/>
    <p:sldId id="353" r:id="rId41"/>
    <p:sldId id="354" r:id="rId42"/>
    <p:sldId id="355" r:id="rId43"/>
    <p:sldId id="406" r:id="rId44"/>
    <p:sldId id="407" r:id="rId45"/>
    <p:sldId id="408" r:id="rId46"/>
    <p:sldId id="366" r:id="rId47"/>
    <p:sldId id="357" r:id="rId48"/>
    <p:sldId id="359" r:id="rId49"/>
    <p:sldId id="360" r:id="rId50"/>
    <p:sldId id="358" r:id="rId51"/>
    <p:sldId id="362" r:id="rId52"/>
    <p:sldId id="367" r:id="rId53"/>
    <p:sldId id="368" r:id="rId54"/>
    <p:sldId id="370" r:id="rId55"/>
    <p:sldId id="372" r:id="rId56"/>
    <p:sldId id="371" r:id="rId57"/>
    <p:sldId id="373" r:id="rId58"/>
    <p:sldId id="356" r:id="rId59"/>
    <p:sldId id="338" r:id="rId60"/>
    <p:sldId id="395" r:id="rId61"/>
    <p:sldId id="293" r:id="rId62"/>
    <p:sldId id="306" r:id="rId63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91621" autoAdjust="0"/>
  </p:normalViewPr>
  <p:slideViewPr>
    <p:cSldViewPr snapToGrid="0">
      <p:cViewPr varScale="1">
        <p:scale>
          <a:sx n="101" d="100"/>
          <a:sy n="101" d="100"/>
        </p:scale>
        <p:origin x="1218" y="96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24/08/2026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machine-learning/information-gain-and-mutual-information-for-machine-learning/" TargetMode="External"/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ths/mean-absolute-deviation/" TargetMode="External"/><Relationship Id="rId3" Type="http://schemas.openxmlformats.org/officeDocument/2006/relationships/hyperlink" Target="https://www.geeksforgeeks.org/machine-learning/information-gain-and-mutual-information-for-machine-learning/" TargetMode="External"/><Relationship Id="rId7" Type="http://schemas.openxmlformats.org/officeDocument/2006/relationships/hyperlink" Target="https://www.geeksforgeeks.org/machine-learning/variance-threshold/" TargetMode="External"/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eeksforgeeks.org/maths/pearson-correlation-coefficient/" TargetMode="External"/><Relationship Id="rId5" Type="http://schemas.openxmlformats.org/officeDocument/2006/relationships/hyperlink" Target="https://www.geeksforgeeks.org/r-language/fishers-f-test-in-r-programming/" TargetMode="External"/><Relationship Id="rId4" Type="http://schemas.openxmlformats.org/officeDocument/2006/relationships/hyperlink" Target="https://www.geeksforgeeks.org/maths/chi-square-test/" TargetMode="External"/><Relationship Id="rId9" Type="http://schemas.openxmlformats.org/officeDocument/2006/relationships/hyperlink" Target="https://www.geeksforgeeks.org/maths/measures-of-dispersion/" TargetMode="Externa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cuidar, selecionar, organizar, adaptar 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530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Quando usar seleção antes da extração</a:t>
            </a:r>
          </a:p>
          <a:p>
            <a:endParaRPr lang="pt-BR" dirty="0"/>
          </a:p>
          <a:p>
            <a:r>
              <a:rPr lang="pt-BR" dirty="0"/>
              <a:t>Há casos onde pode ser preferível: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dados com muitos atributos irrelevantes:</a:t>
            </a:r>
            <a:r>
              <a:rPr lang="pt-BR" dirty="0"/>
              <a:t> remover atributos inúteis </a:t>
            </a:r>
            <a:r>
              <a:rPr lang="pt-BR" i="1" dirty="0"/>
              <a:t>antes</a:t>
            </a:r>
            <a:r>
              <a:rPr lang="pt-BR" dirty="0"/>
              <a:t> de extrair ajuda a evitar que métodos de extração (como PCA) sejam influenciados por ruído ou redundância.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recursos computacionais limitados:</a:t>
            </a:r>
            <a:r>
              <a:rPr lang="pt-BR" dirty="0"/>
              <a:t> uma seleção inicial pode reduzir drasticamente a quantidade de dados que métodos de extração precisam processar.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25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Embora um modelo possa parecer funcionar bem quando testado nos mesmos dados usados no treinamento, </a:t>
            </a:r>
            <a:r>
              <a:rPr lang="pt-BR" b="1" dirty="0"/>
              <a:t>isso não significa que ele realmente aprendeu a generalizar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Se o mesmo conjunto de dados for usado para treinamento e teste, ocorre um problema chamado </a:t>
            </a:r>
            <a:r>
              <a:rPr lang="pt-BR" b="1" dirty="0" err="1"/>
              <a:t>overfitting</a:t>
            </a:r>
            <a:r>
              <a:rPr lang="pt-BR" dirty="0"/>
              <a:t> ou </a:t>
            </a:r>
            <a:r>
              <a:rPr lang="pt-BR" b="1" dirty="0" err="1"/>
              <a:t>sobreajuste</a:t>
            </a:r>
            <a:r>
              <a:rPr lang="pt-BR" dirty="0"/>
              <a:t>. Nesse caso, o modelo pode simplesmente </a:t>
            </a:r>
            <a:r>
              <a:rPr lang="pt-BR" b="1" dirty="0"/>
              <a:t>memorizar os exemplos do treinamento</a:t>
            </a:r>
            <a:r>
              <a:rPr lang="pt-BR" dirty="0"/>
              <a:t>, em vez de aprender padrões gerais dos dados. O resultado é uma </a:t>
            </a:r>
            <a:r>
              <a:rPr lang="pt-BR" b="1" dirty="0"/>
              <a:t>avaliação artificialmente otimista</a:t>
            </a:r>
            <a:r>
              <a:rPr lang="pt-BR" dirty="0"/>
              <a:t>, pois o modelo é testado em dados que ele já “viu”. </a:t>
            </a:r>
          </a:p>
          <a:p>
            <a:r>
              <a:rPr lang="pt-BR" dirty="0"/>
              <a:t>Além disso, usar o mesmo conjunto de dados em todas as etapas pode causar </a:t>
            </a:r>
            <a:r>
              <a:rPr lang="pt-BR" b="1" dirty="0"/>
              <a:t>data </a:t>
            </a:r>
            <a:r>
              <a:rPr lang="pt-BR" b="1" dirty="0" err="1"/>
              <a:t>leakage</a:t>
            </a:r>
            <a:r>
              <a:rPr lang="pt-BR" b="1" dirty="0"/>
              <a:t> (vazamento de dados)</a:t>
            </a:r>
            <a:r>
              <a:rPr lang="pt-BR" dirty="0"/>
              <a:t>, ou seja, informações do conjunto de teste acabam influenciando o treinamento do modelo. Isso compromete completamente a avaliação do sistema e pode levar a decisões erradas sobre sua qualidade ou aplicabilidade. </a:t>
            </a:r>
          </a:p>
          <a:p>
            <a:endParaRPr lang="pt-BR" dirty="0"/>
          </a:p>
          <a:p>
            <a:r>
              <a:rPr lang="pt-BR" dirty="0"/>
              <a:t>Portanto, a mensagem principal deste slide é que </a:t>
            </a:r>
            <a:r>
              <a:rPr lang="pt-BR" b="1" dirty="0"/>
              <a:t>avaliar um modelo com os mesmos dados usados no treinamento não mede sua capacidade real de generalização</a:t>
            </a:r>
            <a:r>
              <a:rPr lang="pt-BR" dirty="0"/>
              <a:t>. Para obter uma avaliação confiável, é necessário garantir que os dados de treinamento, validação e teste sejam </a:t>
            </a:r>
            <a:r>
              <a:rPr lang="pt-BR" b="1" dirty="0"/>
              <a:t>separados e independentes</a:t>
            </a:r>
            <a:r>
              <a:rPr lang="pt-BR" dirty="0"/>
              <a:t>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58961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Data </a:t>
            </a:r>
            <a:r>
              <a:rPr lang="pt-BR" dirty="0" err="1"/>
              <a:t>leakage</a:t>
            </a:r>
            <a:r>
              <a:rPr lang="pt-BR" dirty="0"/>
              <a:t> é quando o modelo usa </a:t>
            </a:r>
            <a:r>
              <a:rPr lang="pt-BR" b="1" dirty="0"/>
              <a:t>informações do futuro, do conjunto de teste/validação ou da variável alvo</a:t>
            </a:r>
            <a:r>
              <a:rPr lang="pt-BR" dirty="0"/>
              <a:t> durante o treinamento.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505037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69032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7CE7C-1B9C-3577-0509-E7A5D0B64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D71494-58AF-B2D4-27F6-AD8D416405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17AC2ED-524B-B44D-B62C-0905C56D8E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que significa “representativo” na prática</a:t>
            </a:r>
          </a:p>
          <a:p>
            <a:r>
              <a:rPr lang="pt-BR" dirty="0"/>
              <a:t>Cada conjunto deve manter aproximadamente:</a:t>
            </a:r>
          </a:p>
          <a:p>
            <a:r>
              <a:rPr lang="pt-BR" b="1" dirty="0"/>
              <a:t>Mesma distribuição das classes</a:t>
            </a:r>
            <a:endParaRPr lang="pt-BR" dirty="0"/>
          </a:p>
          <a:p>
            <a:r>
              <a:rPr lang="pt-BR" b="1" dirty="0"/>
              <a:t>Mesmo tipo de exemplos</a:t>
            </a:r>
            <a:endParaRPr lang="pt-BR" dirty="0"/>
          </a:p>
          <a:p>
            <a:r>
              <a:rPr lang="pt-BR" b="1" dirty="0"/>
              <a:t>Mesma faixa de valores das variáveis</a:t>
            </a:r>
            <a:endParaRPr lang="pt-BR" dirty="0"/>
          </a:p>
          <a:p>
            <a:r>
              <a:rPr lang="pt-BR" b="1" dirty="0"/>
              <a:t>Mesmo comportamento estatístico dos dados</a:t>
            </a:r>
            <a:endParaRPr lang="pt-BR" dirty="0"/>
          </a:p>
          <a:p>
            <a:r>
              <a:rPr lang="pt-BR" dirty="0"/>
              <a:t>Isso é importante porque o conjunto de teste deve representar </a:t>
            </a:r>
            <a:r>
              <a:rPr lang="pt-BR" b="1" dirty="0"/>
              <a:t>os dados que o modelo encontrará no mundo real</a:t>
            </a:r>
            <a:r>
              <a:rPr lang="pt-BR" dirty="0"/>
              <a:t>, permitindo avaliar corretamente sua capacidade de generalização.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18A30D-9EF0-2610-E10F-9DEFB1A5CD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512850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04F64-359D-B866-632E-1525166D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E216A-92E3-EC84-99B4-F917C76BC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10488-755C-A3D5-6753-6ACA1D1AF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1C5698-8B49-29BF-453E-FB2DB9A56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764975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AD7AA-0655-8E48-DF0B-8D4DDCC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214CE0-9112-17E5-F67C-A2291E223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8B5CB0-BEA9-3AEB-315C-471D7DA8D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4580F-B050-B7E1-BBD1-F4C92C2D8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7021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41353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826CC-0BCF-3ECB-60E8-91663141E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C6691E-F680-8390-3915-8E56B33079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4317FD-50FD-FC24-1294-DB0B3F59B2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985BED-0D18-5510-4CC5-1C03B1C3F8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679628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ED0CA-78E3-EA29-70A5-6545A644B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59884F-E702-79E1-9E1E-0B2445D46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B43843-7B98-0234-A23B-F468EDAA4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80E6C1-419B-5940-971A-A218E9D158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835760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F8A2C-ADE6-950F-1696-F46F7CEBB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D7BCA1-C677-8F52-5427-0F691AE70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DD0D15-A25E-65FD-F1A5-513ED5641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0D2D6-5D54-2470-89D5-A060CBE89E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13082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https://scikit-learn.org/stable/auto_examples/preprocessing/plot_all_scaling.html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537470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5AAF4-3E4E-61DB-5981-D83FCAD12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07ACA-77DF-28FA-3B66-1B244EECB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ADE028-FFFC-7435-BB36-CD3A24200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Centraliza pela mediana e escala pelo IQR, tornando os parâmetros da transformação pouco sensíveis a um pequeno número de </a:t>
            </a:r>
            <a:r>
              <a:rPr lang="pt-BR" dirty="0" err="1"/>
              <a:t>outliers</a:t>
            </a:r>
            <a:r>
              <a:rPr lang="pt-BR" dirty="0"/>
              <a:t> muito grandes.</a:t>
            </a:r>
          </a:p>
          <a:p>
            <a:endParaRPr lang="pt-BR" dirty="0"/>
          </a:p>
          <a:p>
            <a:r>
              <a:rPr lang="pt-BR" dirty="0"/>
              <a:t>Oferece um meio-termo que mantém os dados em uma escala semelhante à da padronização, mas garante que a escala não seja distorcida por valores extremos.</a:t>
            </a:r>
          </a:p>
          <a:p>
            <a:endParaRPr lang="pt-BR" b="1" dirty="0"/>
          </a:p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A12BF-2D34-C626-F9C4-AF0F7CD163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66141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D7A17-F670-79CF-DF05-7BF12108E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5DE1E6-3C6D-845B-07FE-6000E19D15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7E17B7-4F2C-8B34-0F7C-2CB52C0B3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Mantém melhor a escala relativa dos valores típicos quando existem </a:t>
            </a:r>
            <a:r>
              <a:rPr lang="pt-BR" dirty="0" err="1"/>
              <a:t>outliers</a:t>
            </a:r>
            <a:r>
              <a:rPr lang="pt-BR" dirty="0"/>
              <a:t> extremos, evitando que eles comprimam excessivamente os demais valores.</a:t>
            </a:r>
          </a:p>
          <a:p>
            <a:r>
              <a:rPr lang="pt-BR" dirty="0"/>
              <a:t>O </a:t>
            </a:r>
            <a:r>
              <a:rPr lang="pt-BR" dirty="0" err="1"/>
              <a:t>RobustScaler</a:t>
            </a:r>
            <a:r>
              <a:rPr lang="pt-BR" dirty="0"/>
              <a:t> não transforma um </a:t>
            </a:r>
            <a:r>
              <a:rPr lang="pt-BR" dirty="0" err="1"/>
              <a:t>outlier</a:t>
            </a:r>
            <a:r>
              <a:rPr lang="pt-BR" dirty="0"/>
              <a:t> em um valor “normal”; ele apenas evita que o </a:t>
            </a:r>
            <a:r>
              <a:rPr lang="pt-BR" dirty="0" err="1"/>
              <a:t>outlier</a:t>
            </a:r>
            <a:r>
              <a:rPr lang="pt-BR" dirty="0"/>
              <a:t> tenha grande influência na </a:t>
            </a:r>
            <a:r>
              <a:rPr lang="pt-BR" b="1" dirty="0"/>
              <a:t>definição da escala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Uma distribuição assimétrica ocorre quando </a:t>
            </a:r>
            <a:r>
              <a:rPr lang="pt-BR" b="1" dirty="0"/>
              <a:t>os dados não são equilibrados em torno do centro</a:t>
            </a:r>
            <a:r>
              <a:rPr lang="pt-BR" dirty="0"/>
              <a:t>, formando uma </a:t>
            </a:r>
            <a:r>
              <a:rPr lang="pt-BR" b="1" dirty="0"/>
              <a:t>cauda mais longa em um dos lados da distribuição</a:t>
            </a:r>
            <a:r>
              <a:rPr lang="pt-BR" dirty="0"/>
              <a:t>.</a:t>
            </a:r>
          </a:p>
          <a:p>
            <a:endParaRPr lang="pt-BR" dirty="0"/>
          </a:p>
          <a:p>
            <a:r>
              <a:rPr lang="pt-BR" dirty="0"/>
              <a:t>Em uma distribuição </a:t>
            </a:r>
            <a:r>
              <a:rPr lang="pt-BR" b="1" dirty="0"/>
              <a:t>simétrica</a:t>
            </a:r>
            <a:r>
              <a:rPr lang="pt-BR" dirty="0"/>
              <a:t>, os lados esquerdo e direito são como um </a:t>
            </a:r>
            <a:r>
              <a:rPr lang="pt-BR" b="1" dirty="0"/>
              <a:t>espelho</a:t>
            </a:r>
            <a:r>
              <a:rPr lang="pt-BR" dirty="0"/>
              <a:t> (ex.: distribuição normal).</a:t>
            </a:r>
            <a:br>
              <a:rPr lang="pt-BR" dirty="0"/>
            </a:br>
            <a:r>
              <a:rPr lang="pt-BR" dirty="0"/>
              <a:t>Em uma </a:t>
            </a:r>
            <a:r>
              <a:rPr lang="pt-BR" b="1" dirty="0"/>
              <a:t>distribuição assimétrica</a:t>
            </a:r>
            <a:r>
              <a:rPr lang="pt-BR" dirty="0"/>
              <a:t>, um dos lados possui uma </a:t>
            </a:r>
            <a:r>
              <a:rPr lang="pt-BR" b="1" dirty="0"/>
              <a:t>cauda mais longa</a:t>
            </a:r>
            <a:r>
              <a:rPr lang="pt-BR" dirty="0"/>
              <a:t>, indicando maior concentração de valores em um lado.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D7E354-A812-3533-15B8-B2C05476CD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62444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D578-D126-C8CD-C2BA-CBFC787EA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FE7FEA-16F0-9910-0989-1883BB321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8219F0-D8E8-8A81-97B4-AECF0BBEA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mantém a relação de distância entre os dados não-discrepantes melhor que o Standard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há ruído extremo.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i.e., eles não distorcem tanto a escala geral.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5AC8A-50E7-6136-9B5C-235A931AE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451518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"E.g."</a:t>
            </a:r>
            <a:r>
              <a:rPr lang="en-US" dirty="0"/>
              <a:t> </a:t>
            </a:r>
            <a:r>
              <a:rPr lang="en-US" dirty="0" err="1"/>
              <a:t>vem</a:t>
            </a:r>
            <a:r>
              <a:rPr lang="en-US" dirty="0"/>
              <a:t> do </a:t>
            </a:r>
            <a:r>
              <a:rPr lang="en-US" dirty="0" err="1"/>
              <a:t>latim</a:t>
            </a:r>
            <a:r>
              <a:rPr lang="en-US" dirty="0"/>
              <a:t> </a:t>
            </a:r>
            <a:r>
              <a:rPr lang="en-US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exempli gratia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02758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5AACA-C1BE-8A29-1FCB-662C7528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75792-3F26-46A3-22E7-4BD98B3697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A760E0-F44C-F8E7-EA56-D8E5837C2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é a </a:t>
            </a:r>
            <a:r>
              <a:rPr lang="pt-BR" b="1" dirty="0"/>
              <a:t>“maldição da dimensionalidade”?</a:t>
            </a:r>
            <a:br>
              <a:rPr lang="pt-BR" b="1" dirty="0"/>
            </a:b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exponencial do espaço: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Adicionar dimensões faz o volume crescer muito rápido, espalhando os pontos de dados.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Escassez de dados: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Os pontos ficam muito distantes uns dos outros, "quase não há vizinhos", perdendo a noção de similaridade.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Dificuldade de visualização e processamento: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Torna-se difícil visualizar e exige muito mais poder computacional para análise.</a:t>
            </a:r>
          </a:p>
          <a:p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afeta o Machine 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Perda de significado da distância: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diferença entre o ponto mais próximo e o mais distante se torna mínima, prejudicando algoritmos baseados em distância (como KNN).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Modelos podem se ajustar ao ruído em vez dos padrões reais, pois há muitas dimensões e poucos pontos por área.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da complexidade: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Aumenta o custo computacional e a necessidade de dados de treinamento.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57961-DACC-B2D1-355A-7BFFF155D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546282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51856-3702-9AD5-B715-6A7DE7C8A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DC8C9-BB83-81A4-2822-15760584E2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7EE26F-07DC-7ADE-9CA8-592386F5BB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é a </a:t>
            </a:r>
            <a:r>
              <a:rPr lang="pt-BR" b="1" dirty="0"/>
              <a:t>“maldição da dimensionalidade”?</a:t>
            </a:r>
            <a:br>
              <a:rPr lang="pt-BR" b="1" dirty="0"/>
            </a:b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exponencial do espaço: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Adicionar dimensões faz o volume crescer muito rápido, espalhando os pontos de dados.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Escassez de dados: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Os pontos ficam muito distantes uns dos outros, "quase não há vizinhos", perdendo a noção de similaridade.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Dificuldade de visualização e processamento: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Torna-se difícil visualizar e exige muito mais poder computacional para análise.</a:t>
            </a:r>
          </a:p>
          <a:p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afeta o Machine 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Perda de significado da distância: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diferença entre o ponto mais próximo e o mais distante se torna mínima, prejudicando algoritmos baseados em distância (como KNN).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Modelos podem se ajustar ao ruído em vez dos padrões reais, pois há muitas dimensões e poucos pontos por área.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da complexidade: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Aumenta o custo computacional e a necessidade de dados de treinamento.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7E4D07-D248-7C47-B626-8365D4DB85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5028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1B8E2-8FB4-ABBE-C258-A19EABAE8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AA54D-D921-A0D1-8F81-E689E5B46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C5C974-F53B-919C-4B9E-3E911E541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evitar o risco de ordem falsa introduzida pelo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 para variáveis </a:t>
            </a:r>
            <a:r>
              <a:rPr lang="pt-BR" b="1" dirty="0"/>
              <a:t>nominais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/>
              <a:t>Ordinal/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b="1" dirty="0"/>
              <a:t> apenas quando existe ordem real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ou usar </a:t>
            </a:r>
            <a:r>
              <a:rPr lang="pt-BR" b="1" dirty="0"/>
              <a:t>modelos baseados em árvores</a:t>
            </a:r>
            <a:r>
              <a:rPr lang="pt-BR" dirty="0"/>
              <a:t>, que não são sensíveis a essa ordem.</a:t>
            </a:r>
          </a:p>
          <a:p>
            <a:pPr lvl="0">
              <a:buFont typeface="Wingdings" panose="05000000000000000000" pitchFamily="2" charset="2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FC15CB-C54E-7FB2-B15A-8FAC11003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93482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3399E5-DDE1-00EF-E1F6-2F3BF0626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5877D2-1574-B409-7E04-DBD5E1813C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21D69-065F-BCC4-9AF4-94895F2CF9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Para evitar o risco de ordem falsa introduzida pelo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 para variáveis </a:t>
            </a:r>
            <a:r>
              <a:rPr lang="pt-BR" b="1" dirty="0"/>
              <a:t>nominais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usar </a:t>
            </a:r>
            <a:r>
              <a:rPr lang="pt-BR" b="1" dirty="0"/>
              <a:t>Ordinal/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b="1" dirty="0"/>
              <a:t> apenas quando existe ordem real</a:t>
            </a:r>
            <a:r>
              <a:rPr lang="pt-BR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dirty="0"/>
              <a:t>ou usar </a:t>
            </a:r>
            <a:r>
              <a:rPr lang="pt-BR" b="1" dirty="0"/>
              <a:t>modelos baseados em árvores</a:t>
            </a:r>
            <a:r>
              <a:rPr lang="pt-BR" dirty="0"/>
              <a:t>, que não são sensíveis a essa ordem.</a:t>
            </a:r>
          </a:p>
          <a:p>
            <a:pPr lvl="0">
              <a:buFont typeface="Wingdings" panose="05000000000000000000" pitchFamily="2" charset="2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658760-A057-4F0E-9736-8C30F0D6C9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1827788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55CC4-F30A-A9FA-9DDD-082690987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220E7-8A30-2A57-6CC8-32EB4AE20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64DC2E-4BED-69DA-25A3-14C1CC6DE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alta cardinalidade: muitas categorias únicas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Em vez de usar números arbitrários (como no 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) ou criar várias colunas (como no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), o Target </a:t>
            </a:r>
            <a:r>
              <a:rPr lang="pt-BR" dirty="0" err="1"/>
              <a:t>Encoding</a:t>
            </a:r>
            <a:r>
              <a:rPr lang="pt-BR" dirty="0"/>
              <a:t> utiliza </a:t>
            </a:r>
            <a:r>
              <a:rPr lang="pt-BR" b="1" dirty="0"/>
              <a:t>informação estatística do próprio problema supervisionado</a:t>
            </a:r>
            <a:r>
              <a:rPr lang="pt-BR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b="1" dirty="0"/>
              <a:t>Quando usar</a:t>
            </a:r>
          </a:p>
          <a:p>
            <a:r>
              <a:rPr lang="pt-BR" dirty="0"/>
              <a:t>Target </a:t>
            </a:r>
            <a:r>
              <a:rPr lang="pt-BR" dirty="0" err="1"/>
              <a:t>Encoding</a:t>
            </a:r>
            <a:r>
              <a:rPr lang="pt-BR" dirty="0"/>
              <a:t> é especialmente útil quando:</a:t>
            </a:r>
          </a:p>
          <a:p>
            <a:r>
              <a:rPr lang="pt-BR" dirty="0"/>
              <a:t>a variável categórica tem </a:t>
            </a:r>
            <a:r>
              <a:rPr lang="pt-BR" b="1" dirty="0"/>
              <a:t>muitas categorias (alta cardinalidade)</a:t>
            </a:r>
            <a:endParaRPr lang="pt-BR" dirty="0"/>
          </a:p>
          <a:p>
            <a:r>
              <a:rPr lang="pt-BR" dirty="0" err="1"/>
              <a:t>One</a:t>
            </a:r>
            <a:r>
              <a:rPr lang="pt-BR" dirty="0"/>
              <a:t>-Hot criaria </a:t>
            </a:r>
            <a:r>
              <a:rPr lang="pt-BR" b="1" dirty="0"/>
              <a:t>muitas colunas</a:t>
            </a:r>
            <a:endParaRPr lang="pt-BR" dirty="0"/>
          </a:p>
          <a:p>
            <a:r>
              <a:rPr lang="pt-BR" dirty="0"/>
              <a:t>existe </a:t>
            </a:r>
            <a:r>
              <a:rPr lang="pt-BR" b="1" dirty="0"/>
              <a:t>relação forte entre categoria e target</a:t>
            </a:r>
            <a:r>
              <a:rPr lang="pt-BR" dirty="0"/>
              <a:t> </a:t>
            </a:r>
          </a:p>
          <a:p>
            <a:r>
              <a:rPr lang="pt-BR" dirty="0"/>
              <a:t>Exemplos:</a:t>
            </a:r>
          </a:p>
          <a:p>
            <a:r>
              <a:rPr lang="pt-BR" dirty="0"/>
              <a:t>cidade (milhares de valores)</a:t>
            </a:r>
          </a:p>
          <a:p>
            <a:r>
              <a:rPr lang="pt-BR" dirty="0"/>
              <a:t>produto</a:t>
            </a:r>
          </a:p>
          <a:p>
            <a:r>
              <a:rPr lang="pt-BR" dirty="0"/>
              <a:t>ID de usuário</a:t>
            </a:r>
          </a:p>
          <a:p>
            <a:r>
              <a:rPr lang="pt-BR" dirty="0"/>
              <a:t>código postal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b="1" dirty="0" err="1"/>
              <a:t>Vantagens</a:t>
            </a:r>
            <a:endParaRPr lang="en-US" b="1" dirty="0"/>
          </a:p>
          <a:p>
            <a:r>
              <a:rPr lang="en-US" dirty="0"/>
              <a:t>✔ </a:t>
            </a:r>
            <a:r>
              <a:rPr lang="en-US" dirty="0" err="1"/>
              <a:t>reduz</a:t>
            </a:r>
            <a:r>
              <a:rPr lang="en-US" dirty="0"/>
              <a:t> </a:t>
            </a:r>
            <a:r>
              <a:rPr lang="en-US" dirty="0" err="1"/>
              <a:t>dimensionalidade</a:t>
            </a:r>
            <a:r>
              <a:rPr lang="en-US" dirty="0"/>
              <a:t> (</a:t>
            </a:r>
            <a:r>
              <a:rPr lang="en-US" dirty="0" err="1"/>
              <a:t>diferente</a:t>
            </a:r>
            <a:r>
              <a:rPr lang="en-US" dirty="0"/>
              <a:t> do One-Hot)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captura</a:t>
            </a:r>
            <a:r>
              <a:rPr lang="en-US" dirty="0"/>
              <a:t> </a:t>
            </a:r>
            <a:r>
              <a:rPr lang="en-US" dirty="0" err="1"/>
              <a:t>relação</a:t>
            </a:r>
            <a:r>
              <a:rPr lang="en-US" dirty="0"/>
              <a:t> entre feature e target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b="1" dirty="0" err="1"/>
              <a:t>categorias</a:t>
            </a:r>
            <a:r>
              <a:rPr lang="en-US" b="1" dirty="0"/>
              <a:t> </a:t>
            </a:r>
            <a:r>
              <a:rPr lang="en-US" b="1" dirty="0" err="1"/>
              <a:t>numerosas</a:t>
            </a:r>
            <a:r>
              <a:rPr lang="en-US" dirty="0"/>
              <a:t> 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 err="1"/>
              <a:t>Problema</a:t>
            </a:r>
            <a:r>
              <a:rPr lang="en-US" b="1" dirty="0"/>
              <a:t> </a:t>
            </a:r>
            <a:r>
              <a:rPr lang="en-US" b="1" dirty="0" err="1"/>
              <a:t>importante</a:t>
            </a:r>
            <a:r>
              <a:rPr lang="en-US" b="1" dirty="0"/>
              <a:t>: Data Leakage</a:t>
            </a:r>
          </a:p>
          <a:p>
            <a:r>
              <a:rPr lang="en-US" dirty="0"/>
              <a:t>Target Encoding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causar</a:t>
            </a:r>
            <a:r>
              <a:rPr lang="en-US" dirty="0"/>
              <a:t> </a:t>
            </a:r>
            <a:r>
              <a:rPr lang="en-US" b="1" dirty="0"/>
              <a:t>data leakage</a:t>
            </a:r>
            <a:r>
              <a:rPr lang="en-US" dirty="0"/>
              <a:t> se a </a:t>
            </a:r>
            <a:r>
              <a:rPr lang="en-US" dirty="0" err="1"/>
              <a:t>média</a:t>
            </a:r>
            <a:r>
              <a:rPr lang="en-US" dirty="0"/>
              <a:t> for </a:t>
            </a:r>
            <a:r>
              <a:rPr lang="en-US" dirty="0" err="1"/>
              <a:t>calculada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todo</a:t>
            </a:r>
            <a:r>
              <a:rPr lang="en-US" dirty="0"/>
              <a:t> o dataset.</a:t>
            </a:r>
          </a:p>
          <a:p>
            <a:r>
              <a:rPr lang="en-US" dirty="0"/>
              <a:t>Por </a:t>
            </a:r>
            <a:r>
              <a:rPr lang="en-US" dirty="0" err="1"/>
              <a:t>isso</a:t>
            </a:r>
            <a:r>
              <a:rPr lang="en-US" dirty="0"/>
              <a:t> </a:t>
            </a:r>
            <a:r>
              <a:rPr lang="en-US" dirty="0" err="1"/>
              <a:t>normalmente</a:t>
            </a:r>
            <a:r>
              <a:rPr lang="en-US" dirty="0"/>
              <a:t> se </a:t>
            </a:r>
            <a:r>
              <a:rPr lang="en-US" dirty="0" err="1"/>
              <a:t>usa</a:t>
            </a:r>
            <a:r>
              <a:rPr lang="en-US" dirty="0"/>
              <a:t>:</a:t>
            </a:r>
          </a:p>
          <a:p>
            <a:r>
              <a:rPr lang="en-US" b="1" dirty="0"/>
              <a:t>cross-validation</a:t>
            </a:r>
            <a:endParaRPr lang="en-US" dirty="0"/>
          </a:p>
          <a:p>
            <a:r>
              <a:rPr lang="en-US" b="1" dirty="0"/>
              <a:t>out-of-fold encoding</a:t>
            </a:r>
            <a:endParaRPr lang="en-US" dirty="0"/>
          </a:p>
          <a:p>
            <a:r>
              <a:rPr lang="en-US" b="1" dirty="0" err="1"/>
              <a:t>regularização</a:t>
            </a:r>
            <a:r>
              <a:rPr lang="en-US" b="1" dirty="0"/>
              <a:t>/smoothing</a:t>
            </a:r>
            <a:endParaRPr lang="en-US" dirty="0"/>
          </a:p>
          <a:p>
            <a:r>
              <a:rPr lang="en-US" dirty="0"/>
              <a:t>para </a:t>
            </a:r>
            <a:r>
              <a:rPr lang="en-US" dirty="0" err="1"/>
              <a:t>evitar</a:t>
            </a:r>
            <a:r>
              <a:rPr lang="en-US" dirty="0"/>
              <a:t> </a:t>
            </a:r>
            <a:r>
              <a:rPr lang="en-US" b="1" dirty="0"/>
              <a:t>overfitting</a:t>
            </a:r>
            <a:r>
              <a:rPr lang="en-US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DD61D4-F283-FA5C-B9B3-7B9D25FCB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99254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16457-E42C-8759-1B96-A79198B44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E0FA61-6097-8E7F-A9FF-8B1461130E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4CEC44F-055B-FE46-DC81-26AC2E4836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alta cardinalidade: muitas categorias únicas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Em vez de usar números arbitrários (como no </a:t>
            </a:r>
            <a:r>
              <a:rPr lang="pt-BR" b="1" dirty="0" err="1"/>
              <a:t>Label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) ou criar várias colunas (como no </a:t>
            </a:r>
            <a:r>
              <a:rPr lang="pt-BR" b="1" dirty="0" err="1"/>
              <a:t>One</a:t>
            </a:r>
            <a:r>
              <a:rPr lang="pt-BR" b="1" dirty="0"/>
              <a:t>-Hot </a:t>
            </a:r>
            <a:r>
              <a:rPr lang="pt-BR" b="1" dirty="0" err="1"/>
              <a:t>Encoding</a:t>
            </a:r>
            <a:r>
              <a:rPr lang="pt-BR" dirty="0"/>
              <a:t>), o Target </a:t>
            </a:r>
            <a:r>
              <a:rPr lang="pt-BR" dirty="0" err="1"/>
              <a:t>Encoding</a:t>
            </a:r>
            <a:r>
              <a:rPr lang="pt-BR" dirty="0"/>
              <a:t> utiliza </a:t>
            </a:r>
            <a:r>
              <a:rPr lang="pt-BR" b="1" dirty="0"/>
              <a:t>informação estatística do próprio problema supervisionado</a:t>
            </a:r>
            <a:r>
              <a:rPr lang="pt-BR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b="1" dirty="0"/>
              <a:t>Quando usar</a:t>
            </a:r>
          </a:p>
          <a:p>
            <a:r>
              <a:rPr lang="pt-BR" dirty="0"/>
              <a:t>Target </a:t>
            </a:r>
            <a:r>
              <a:rPr lang="pt-BR" dirty="0" err="1"/>
              <a:t>Encoding</a:t>
            </a:r>
            <a:r>
              <a:rPr lang="pt-BR" dirty="0"/>
              <a:t> é especialmente útil quando:</a:t>
            </a:r>
          </a:p>
          <a:p>
            <a:r>
              <a:rPr lang="pt-BR" dirty="0"/>
              <a:t>a variável categórica tem </a:t>
            </a:r>
            <a:r>
              <a:rPr lang="pt-BR" b="1" dirty="0"/>
              <a:t>muitas categorias (alta cardinalidade)</a:t>
            </a:r>
            <a:endParaRPr lang="pt-BR" dirty="0"/>
          </a:p>
          <a:p>
            <a:r>
              <a:rPr lang="pt-BR" dirty="0" err="1"/>
              <a:t>One</a:t>
            </a:r>
            <a:r>
              <a:rPr lang="pt-BR" dirty="0"/>
              <a:t>-Hot criaria </a:t>
            </a:r>
            <a:r>
              <a:rPr lang="pt-BR" b="1" dirty="0"/>
              <a:t>muitas colunas</a:t>
            </a:r>
            <a:endParaRPr lang="pt-BR" dirty="0"/>
          </a:p>
          <a:p>
            <a:r>
              <a:rPr lang="pt-BR" dirty="0"/>
              <a:t>existe </a:t>
            </a:r>
            <a:r>
              <a:rPr lang="pt-BR" b="1" dirty="0"/>
              <a:t>relação forte entre categoria e target</a:t>
            </a:r>
            <a:r>
              <a:rPr lang="pt-BR" dirty="0"/>
              <a:t> </a:t>
            </a:r>
          </a:p>
          <a:p>
            <a:r>
              <a:rPr lang="pt-BR" dirty="0"/>
              <a:t>Exemplos:</a:t>
            </a:r>
          </a:p>
          <a:p>
            <a:r>
              <a:rPr lang="pt-BR" dirty="0"/>
              <a:t>cidade (milhares de valores)</a:t>
            </a:r>
          </a:p>
          <a:p>
            <a:r>
              <a:rPr lang="pt-BR" dirty="0"/>
              <a:t>produto</a:t>
            </a:r>
          </a:p>
          <a:p>
            <a:r>
              <a:rPr lang="pt-BR" dirty="0"/>
              <a:t>ID de usuário</a:t>
            </a:r>
          </a:p>
          <a:p>
            <a:r>
              <a:rPr lang="pt-BR" dirty="0"/>
              <a:t>código postal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b="1" dirty="0" err="1"/>
              <a:t>Vantagens</a:t>
            </a:r>
            <a:endParaRPr lang="en-US" b="1" dirty="0"/>
          </a:p>
          <a:p>
            <a:r>
              <a:rPr lang="en-US" dirty="0"/>
              <a:t>✔ </a:t>
            </a:r>
            <a:r>
              <a:rPr lang="en-US" dirty="0" err="1"/>
              <a:t>reduz</a:t>
            </a:r>
            <a:r>
              <a:rPr lang="en-US" dirty="0"/>
              <a:t> </a:t>
            </a:r>
            <a:r>
              <a:rPr lang="en-US" dirty="0" err="1"/>
              <a:t>dimensionalidade</a:t>
            </a:r>
            <a:r>
              <a:rPr lang="en-US" dirty="0"/>
              <a:t> (</a:t>
            </a:r>
            <a:r>
              <a:rPr lang="en-US" dirty="0" err="1"/>
              <a:t>diferente</a:t>
            </a:r>
            <a:r>
              <a:rPr lang="en-US" dirty="0"/>
              <a:t> do One-Hot)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captura</a:t>
            </a:r>
            <a:r>
              <a:rPr lang="en-US" dirty="0"/>
              <a:t> </a:t>
            </a:r>
            <a:r>
              <a:rPr lang="en-US" dirty="0" err="1"/>
              <a:t>relação</a:t>
            </a:r>
            <a:r>
              <a:rPr lang="en-US" dirty="0"/>
              <a:t> entre feature e target</a:t>
            </a:r>
            <a:br>
              <a:rPr lang="en-US" dirty="0"/>
            </a:br>
            <a:r>
              <a:rPr lang="en-US" dirty="0"/>
              <a:t>✔ </a:t>
            </a:r>
            <a:r>
              <a:rPr lang="en-US" dirty="0" err="1"/>
              <a:t>funciona</a:t>
            </a:r>
            <a:r>
              <a:rPr lang="en-US" dirty="0"/>
              <a:t> </a:t>
            </a:r>
            <a:r>
              <a:rPr lang="en-US" dirty="0" err="1"/>
              <a:t>bem</a:t>
            </a:r>
            <a:r>
              <a:rPr lang="en-US" dirty="0"/>
              <a:t> com </a:t>
            </a:r>
            <a:r>
              <a:rPr lang="en-US" b="1" dirty="0" err="1"/>
              <a:t>categorias</a:t>
            </a:r>
            <a:r>
              <a:rPr lang="en-US" b="1" dirty="0"/>
              <a:t> </a:t>
            </a:r>
            <a:r>
              <a:rPr lang="en-US" b="1" dirty="0" err="1"/>
              <a:t>numerosas</a:t>
            </a:r>
            <a:r>
              <a:rPr lang="en-US" dirty="0"/>
              <a:t> </a:t>
            </a:r>
          </a:p>
          <a:p>
            <a:br>
              <a:rPr lang="en-US" dirty="0"/>
            </a:br>
            <a:endParaRPr lang="en-US" dirty="0"/>
          </a:p>
          <a:p>
            <a:r>
              <a:rPr lang="en-US" b="1" dirty="0" err="1"/>
              <a:t>Problema</a:t>
            </a:r>
            <a:r>
              <a:rPr lang="en-US" b="1" dirty="0"/>
              <a:t> </a:t>
            </a:r>
            <a:r>
              <a:rPr lang="en-US" b="1" dirty="0" err="1"/>
              <a:t>importante</a:t>
            </a:r>
            <a:r>
              <a:rPr lang="en-US" b="1" dirty="0"/>
              <a:t>: Data Leakage</a:t>
            </a:r>
          </a:p>
          <a:p>
            <a:r>
              <a:rPr lang="en-US" dirty="0"/>
              <a:t>Target Encoding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causar</a:t>
            </a:r>
            <a:r>
              <a:rPr lang="en-US" dirty="0"/>
              <a:t> </a:t>
            </a:r>
            <a:r>
              <a:rPr lang="en-US" b="1" dirty="0"/>
              <a:t>data leakage</a:t>
            </a:r>
            <a:r>
              <a:rPr lang="en-US" dirty="0"/>
              <a:t> se a </a:t>
            </a:r>
            <a:r>
              <a:rPr lang="en-US" dirty="0" err="1"/>
              <a:t>média</a:t>
            </a:r>
            <a:r>
              <a:rPr lang="en-US" dirty="0"/>
              <a:t> for </a:t>
            </a:r>
            <a:r>
              <a:rPr lang="en-US" dirty="0" err="1"/>
              <a:t>calculada</a:t>
            </a:r>
            <a:r>
              <a:rPr lang="en-US" dirty="0"/>
              <a:t> </a:t>
            </a:r>
            <a:r>
              <a:rPr lang="en-US" dirty="0" err="1"/>
              <a:t>usando</a:t>
            </a:r>
            <a:r>
              <a:rPr lang="en-US" dirty="0"/>
              <a:t> </a:t>
            </a:r>
            <a:r>
              <a:rPr lang="en-US" dirty="0" err="1"/>
              <a:t>todo</a:t>
            </a:r>
            <a:r>
              <a:rPr lang="en-US" dirty="0"/>
              <a:t> o dataset.</a:t>
            </a:r>
          </a:p>
          <a:p>
            <a:r>
              <a:rPr lang="en-US" dirty="0"/>
              <a:t>Por </a:t>
            </a:r>
            <a:r>
              <a:rPr lang="en-US" dirty="0" err="1"/>
              <a:t>isso</a:t>
            </a:r>
            <a:r>
              <a:rPr lang="en-US" dirty="0"/>
              <a:t> </a:t>
            </a:r>
            <a:r>
              <a:rPr lang="en-US" dirty="0" err="1"/>
              <a:t>normalmente</a:t>
            </a:r>
            <a:r>
              <a:rPr lang="en-US" dirty="0"/>
              <a:t> se </a:t>
            </a:r>
            <a:r>
              <a:rPr lang="en-US" dirty="0" err="1"/>
              <a:t>usa</a:t>
            </a:r>
            <a:r>
              <a:rPr lang="en-US" dirty="0"/>
              <a:t>:</a:t>
            </a:r>
          </a:p>
          <a:p>
            <a:r>
              <a:rPr lang="en-US" b="1" dirty="0"/>
              <a:t>cross-validation</a:t>
            </a:r>
            <a:endParaRPr lang="en-US" dirty="0"/>
          </a:p>
          <a:p>
            <a:r>
              <a:rPr lang="en-US" b="1" dirty="0"/>
              <a:t>out-of-fold encoding</a:t>
            </a:r>
            <a:endParaRPr lang="en-US" dirty="0"/>
          </a:p>
          <a:p>
            <a:r>
              <a:rPr lang="en-US" b="1" dirty="0" err="1"/>
              <a:t>regularização</a:t>
            </a:r>
            <a:r>
              <a:rPr lang="en-US" b="1" dirty="0"/>
              <a:t>/smoothing</a:t>
            </a:r>
            <a:endParaRPr lang="en-US" dirty="0"/>
          </a:p>
          <a:p>
            <a:r>
              <a:rPr lang="en-US" dirty="0"/>
              <a:t>para </a:t>
            </a:r>
            <a:r>
              <a:rPr lang="en-US" dirty="0" err="1"/>
              <a:t>evitar</a:t>
            </a:r>
            <a:r>
              <a:rPr lang="en-US" dirty="0"/>
              <a:t> </a:t>
            </a:r>
            <a:r>
              <a:rPr lang="en-US" b="1" dirty="0"/>
              <a:t>overfitting</a:t>
            </a:r>
            <a:r>
              <a:rPr lang="en-US" dirty="0"/>
              <a:t>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036C0F-B0F6-6B99-A65C-B5901810A7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1989598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0111E-C562-814A-4B28-55A0BF53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3F6C9-39CC-9515-FB72-E68168A7A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698751-6CC0-5667-0E8C-ED24F1B26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DT: Decision </a:t>
            </a:r>
            <a:r>
              <a:rPr lang="pt-BR" dirty="0" err="1"/>
              <a:t>Trees</a:t>
            </a:r>
            <a:endParaRPr lang="pt-BR" dirty="0"/>
          </a:p>
          <a:p>
            <a:r>
              <a:rPr lang="pt-BR" dirty="0"/>
              <a:t>RF: Random </a:t>
            </a:r>
            <a:r>
              <a:rPr lang="pt-BR" dirty="0" err="1"/>
              <a:t>Forests</a:t>
            </a:r>
            <a:br>
              <a:rPr lang="pt-BR" dirty="0"/>
            </a:br>
            <a:endParaRPr lang="pt-BR" dirty="0"/>
          </a:p>
          <a:p>
            <a:r>
              <a:rPr lang="pt-BR" dirty="0"/>
              <a:t>Por algumas categorias compartilharem bits, modelos lineares podem achar que existe uma relação matemática entre essas categorias.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Binary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 é uma solução intermediária brilhante. Ele resolve o problema da "explosão de colunas" do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r>
              <a:rPr lang="pt-BR" dirty="0"/>
              <a:t> sem criar uma hierarquia falsa como 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. É como se fosse um "meio-termo" inteligente para </a:t>
            </a:r>
            <a:r>
              <a:rPr lang="pt-BR" dirty="0" err="1"/>
              <a:t>datasets</a:t>
            </a:r>
            <a:r>
              <a:rPr lang="pt-BR" dirty="0"/>
              <a:t> com muitas categorias.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Para regressões simples o modelo pode achar que existe uma relação matemática entre categorias que compartilham o mesmo bit."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EA7BB1-A2E9-8F2F-66E3-17600B04B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57752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172FF-0DD0-B2F0-E0DD-7F87B7BBD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94B114-95C4-D77A-75C9-57BCEBCCB7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C3651C-2E00-F61E-4AA1-54FC44F2C4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DT: Decision </a:t>
            </a:r>
            <a:r>
              <a:rPr lang="pt-BR" dirty="0" err="1"/>
              <a:t>Trees</a:t>
            </a:r>
            <a:endParaRPr lang="pt-BR" dirty="0"/>
          </a:p>
          <a:p>
            <a:r>
              <a:rPr lang="pt-BR" dirty="0"/>
              <a:t>RF: Random </a:t>
            </a:r>
            <a:r>
              <a:rPr lang="pt-BR" dirty="0" err="1"/>
              <a:t>Forests</a:t>
            </a:r>
            <a:br>
              <a:rPr lang="pt-BR" dirty="0"/>
            </a:br>
            <a:endParaRPr lang="pt-BR" dirty="0"/>
          </a:p>
          <a:p>
            <a:r>
              <a:rPr lang="pt-BR" dirty="0"/>
              <a:t>Por algumas categorias compartilharem bits, modelos lineares podem achar que existe uma relação matemática entre essas categorias.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Binary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 é uma solução intermediária brilhante. Ele resolve o problema da "explosão de colunas" do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r>
              <a:rPr lang="pt-BR" dirty="0"/>
              <a:t> sem criar uma hierarquia falsa como 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. É como se fosse um "meio-termo" inteligente para </a:t>
            </a:r>
            <a:r>
              <a:rPr lang="pt-BR" dirty="0" err="1"/>
              <a:t>datasets</a:t>
            </a:r>
            <a:r>
              <a:rPr lang="pt-BR" dirty="0"/>
              <a:t> com muitas categorias.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Para regressões simples o modelo pode achar que existe uma relação matemática entre categorias que compartilham o mesmo bit."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CDF128-3C63-661B-E3DA-578A6D3A7E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307589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Engineering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(Engenharia de Atributos/Features) </a:t>
            </a:r>
            <a:r>
              <a:rPr lang="pt-BR" dirty="0"/>
              <a:t>é o processo crucial de usar conhecimento de domínio e criatividade para transformar dados brutos em variáveis (features) mais úteis e informativas</a:t>
            </a:r>
            <a:endParaRPr lang="pt-BR" b="1" dirty="0"/>
          </a:p>
          <a:p>
            <a:pPr marL="0" indent="0">
              <a:buNone/>
            </a:pPr>
            <a:endParaRPr lang="pt-BR" b="1" dirty="0"/>
          </a:p>
          <a:p>
            <a:pPr marL="0" indent="0">
              <a:buNone/>
            </a:pPr>
            <a:r>
              <a:rPr lang="pt-BR" b="1" dirty="0"/>
              <a:t>Definição:</a:t>
            </a:r>
            <a:r>
              <a:rPr lang="pt-BR" dirty="0"/>
              <a:t> Usar conhecimento de domínio para criar variáveis que o modelo entenda melhor.</a:t>
            </a:r>
          </a:p>
          <a:p>
            <a:pPr marL="0" indent="0">
              <a:buNone/>
            </a:pPr>
            <a:r>
              <a:rPr lang="pt-BR" dirty="0"/>
              <a:t>É a arte de criar novas colunas a partir das existentes para facilitar a descoberta de padrões.</a:t>
            </a:r>
          </a:p>
          <a:p>
            <a:pPr marL="0" indent="0">
              <a:buNone/>
            </a:pPr>
            <a:r>
              <a:rPr lang="pt-BR" dirty="0"/>
              <a:t>Criar novas variáveis a partir das existentes para melhorar a capacidade de predição.</a:t>
            </a:r>
          </a:p>
          <a:p>
            <a:pPr marL="0" indent="0">
              <a:buNone/>
            </a:pPr>
            <a:endParaRPr lang="pt-BR" dirty="0"/>
          </a:p>
          <a:p>
            <a:r>
              <a:rPr lang="pt-BR" b="1" dirty="0"/>
              <a:t>conhecimento de domínio</a:t>
            </a:r>
            <a:r>
              <a:rPr lang="pt-BR" dirty="0"/>
              <a:t> é o </a:t>
            </a:r>
            <a:r>
              <a:rPr lang="pt-BR" b="1" dirty="0"/>
              <a:t>entendimento profundo do contexto real do problema</a:t>
            </a:r>
            <a:r>
              <a:rPr lang="pt-BR" dirty="0"/>
              <a:t>, do negócio ou da área onde os dados foram gerados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825169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2072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Extração de atributos (feature </a:t>
            </a:r>
            <a:r>
              <a:rPr lang="pt-BR" b="1" dirty="0" err="1"/>
              <a:t>extraction</a:t>
            </a:r>
            <a:r>
              <a:rPr lang="pt-BR" b="1" dirty="0"/>
              <a:t>):</a:t>
            </a:r>
            <a:r>
              <a:rPr lang="pt-BR" dirty="0"/>
              <a:t> cria </a:t>
            </a:r>
            <a:r>
              <a:rPr lang="pt-BR" i="1" dirty="0"/>
              <a:t>novas</a:t>
            </a:r>
            <a:r>
              <a:rPr lang="pt-BR" dirty="0"/>
              <a:t> representações dos dados (ex.: PCA, </a:t>
            </a:r>
            <a:r>
              <a:rPr lang="pt-BR" dirty="0" err="1"/>
              <a:t>autoencoders</a:t>
            </a:r>
            <a:r>
              <a:rPr lang="pt-BR" dirty="0"/>
              <a:t>), reduzindo dimensionalidade através de transformações.</a:t>
            </a:r>
          </a:p>
          <a:p>
            <a:endParaRPr lang="pt-BR" dirty="0"/>
          </a:p>
          <a:p>
            <a:r>
              <a:rPr lang="pt-BR" dirty="0"/>
              <a:t>A extração de características em aprendizado de máquina é o processo de transformar dados brutos em um conjunto menor de características numéricas significativas que podem ser processadas de forma mais eficiente, mantendo as informações essenciais.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o processo de redução da quantidade de atributos a serem processados ​​utilizando técnicas de redução de dimensionalidade.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 conjunto de dados menor e mais refinado requer menos recursos computacionais para armazenamento, processamento e treinamento, o que é crucial para conjuntos de dados grandes.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87811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40257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7ABA2-3850-7615-FB8C-3EDA185E6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0495-A427-A07D-66C6-44A1AB4C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43CE4F-5059-FE45-AEEF-D1290A432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0A46B-CEA0-D388-0846-98A3CA0C0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036598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5FE33-E198-F37E-DB7F-2131AC105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8AC853-E4F7-D306-2683-D5A081D6D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C6B000-368B-B2C7-C3B9-F74524B80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Como o PCA </a:t>
            </a:r>
            <a:r>
              <a:rPr lang="en-US" dirty="0" err="1"/>
              <a:t>procura</a:t>
            </a:r>
            <a:r>
              <a:rPr lang="en-US" dirty="0"/>
              <a:t> as </a:t>
            </a:r>
            <a:r>
              <a:rPr lang="en-US" dirty="0" err="1"/>
              <a:t>direções</a:t>
            </a:r>
            <a:r>
              <a:rPr lang="en-US" dirty="0"/>
              <a:t> de </a:t>
            </a:r>
            <a:r>
              <a:rPr lang="en-US" dirty="0" err="1"/>
              <a:t>maior</a:t>
            </a:r>
            <a:r>
              <a:rPr lang="en-US" dirty="0"/>
              <a:t> </a:t>
            </a:r>
            <a:r>
              <a:rPr lang="en-US" dirty="0" err="1"/>
              <a:t>variância</a:t>
            </a:r>
            <a:r>
              <a:rPr lang="en-US" dirty="0"/>
              <a:t>, </a:t>
            </a:r>
            <a:r>
              <a:rPr lang="en-US" dirty="0" err="1"/>
              <a:t>uma</a:t>
            </a:r>
            <a:r>
              <a:rPr lang="en-US" dirty="0"/>
              <a:t> </a:t>
            </a:r>
            <a:r>
              <a:rPr lang="en-US" dirty="0" err="1"/>
              <a:t>variável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possui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</a:t>
            </a:r>
            <a:r>
              <a:rPr lang="en-US" dirty="0" err="1"/>
              <a:t>numericamente</a:t>
            </a:r>
            <a:r>
              <a:rPr lang="en-US" dirty="0"/>
              <a:t> </a:t>
            </a:r>
            <a:r>
              <a:rPr lang="en-US" dirty="0" err="1"/>
              <a:t>muito</a:t>
            </a:r>
            <a:r>
              <a:rPr lang="en-US" dirty="0"/>
              <a:t> </a:t>
            </a:r>
            <a:r>
              <a:rPr lang="en-US" dirty="0" err="1"/>
              <a:t>maiores</a:t>
            </a:r>
            <a:r>
              <a:rPr lang="en-US" dirty="0"/>
              <a:t> </a:t>
            </a:r>
            <a:r>
              <a:rPr lang="en-US" dirty="0" err="1"/>
              <a:t>pode</a:t>
            </a:r>
            <a:r>
              <a:rPr lang="en-US" dirty="0"/>
              <a:t> </a:t>
            </a:r>
            <a:r>
              <a:rPr lang="en-US" dirty="0" err="1"/>
              <a:t>influenciar</a:t>
            </a:r>
            <a:r>
              <a:rPr lang="en-US" dirty="0"/>
              <a:t> fortemente as </a:t>
            </a:r>
            <a:r>
              <a:rPr lang="en-US" dirty="0" err="1"/>
              <a:t>componentes</a:t>
            </a:r>
            <a:r>
              <a:rPr lang="en-US" dirty="0"/>
              <a:t> </a:t>
            </a:r>
            <a:r>
              <a:rPr lang="en-US" dirty="0" err="1"/>
              <a:t>principais</a:t>
            </a:r>
            <a:r>
              <a:rPr lang="en-US" dirty="0"/>
              <a:t>, </a:t>
            </a:r>
            <a:r>
              <a:rPr lang="en-US" dirty="0" err="1"/>
              <a:t>mesmo</a:t>
            </a:r>
            <a:r>
              <a:rPr lang="en-US" dirty="0"/>
              <a:t> </a:t>
            </a:r>
            <a:r>
              <a:rPr lang="en-US" dirty="0" err="1"/>
              <a:t>que</a:t>
            </a:r>
            <a:r>
              <a:rPr lang="en-US" dirty="0"/>
              <a:t> </a:t>
            </a:r>
            <a:r>
              <a:rPr lang="en-US" dirty="0" err="1"/>
              <a:t>isso</a:t>
            </a:r>
            <a:r>
              <a:rPr lang="en-US" dirty="0"/>
              <a:t> </a:t>
            </a:r>
            <a:r>
              <a:rPr lang="en-US" dirty="0" err="1"/>
              <a:t>seja</a:t>
            </a:r>
            <a:r>
              <a:rPr lang="en-US" dirty="0"/>
              <a:t> </a:t>
            </a:r>
            <a:r>
              <a:rPr lang="en-US" dirty="0" err="1"/>
              <a:t>apenas</a:t>
            </a:r>
            <a:r>
              <a:rPr lang="en-US" dirty="0"/>
              <a:t> </a:t>
            </a:r>
            <a:r>
              <a:rPr lang="en-US" dirty="0" err="1"/>
              <a:t>consequência</a:t>
            </a:r>
            <a:r>
              <a:rPr lang="en-US" dirty="0"/>
              <a:t> da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escala</a:t>
            </a:r>
            <a:r>
              <a:rPr lang="en-US" dirty="0"/>
              <a:t> de </a:t>
            </a:r>
            <a:r>
              <a:rPr lang="en-US" dirty="0" err="1"/>
              <a:t>medida</a:t>
            </a:r>
            <a:r>
              <a:rPr lang="en-US" dirty="0"/>
              <a:t>. Por </a:t>
            </a:r>
            <a:r>
              <a:rPr lang="en-US" dirty="0" err="1"/>
              <a:t>isso</a:t>
            </a:r>
            <a:r>
              <a:rPr lang="en-US" dirty="0"/>
              <a:t>, </a:t>
            </a:r>
            <a:r>
              <a:rPr lang="en-US" dirty="0" err="1"/>
              <a:t>quando</a:t>
            </a:r>
            <a:r>
              <a:rPr lang="en-US" dirty="0"/>
              <a:t> as </a:t>
            </a:r>
            <a:r>
              <a:rPr lang="en-US" dirty="0" err="1"/>
              <a:t>variáveis</a:t>
            </a:r>
            <a:r>
              <a:rPr lang="en-US" dirty="0"/>
              <a:t> </a:t>
            </a:r>
            <a:r>
              <a:rPr lang="en-US" dirty="0" err="1"/>
              <a:t>estão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escalas</a:t>
            </a:r>
            <a:r>
              <a:rPr lang="en-US" dirty="0"/>
              <a:t> </a:t>
            </a:r>
            <a:r>
              <a:rPr lang="en-US" dirty="0" err="1"/>
              <a:t>diferentes</a:t>
            </a:r>
            <a:r>
              <a:rPr lang="en-US" dirty="0"/>
              <a:t>, é </a:t>
            </a:r>
            <a:r>
              <a:rPr lang="en-US" dirty="0" err="1"/>
              <a:t>comum</a:t>
            </a:r>
            <a:r>
              <a:rPr lang="en-US" dirty="0"/>
              <a:t> </a:t>
            </a:r>
            <a:r>
              <a:rPr lang="en-US" dirty="0" err="1"/>
              <a:t>padronizá</a:t>
            </a:r>
            <a:r>
              <a:rPr lang="en-US" dirty="0"/>
              <a:t>-las antes de </a:t>
            </a:r>
            <a:r>
              <a:rPr lang="en-US" dirty="0" err="1"/>
              <a:t>aplicar</a:t>
            </a:r>
            <a:r>
              <a:rPr lang="en-US" dirty="0"/>
              <a:t> o PCA.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</a:p>
          <a:p>
            <a:endParaRPr lang="pt-BR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Problema: A "Régua Rígida"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PCA é uma técnica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Como você pode ver na figura, ele tenta traçar linhas retas ($PC_1$ e $PC_2$) para capturar a variância.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os dados formam uma curva (não linear), o PCA vai tentar "esmagar" essa curva em uma linha reta.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Você perde a estrutura real dos dados. É como tentar descrever uma mola usando apenas uma régua reta; você perde toda a informação da espiral.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61C39A-BA44-919F-9164-4B9F42BBC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946826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https://www.analyticsvidhya.com/blog/2020/10/feature-selection-techniques-in-machine-learning/</a:t>
            </a:r>
          </a:p>
          <a:p>
            <a:pPr fontAlgn="base"/>
            <a:endParaRPr lang="en-US" sz="1200" b="1" i="0" u="sng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  <a:hlinkClick r:id="rId3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18758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575ED-00EA-1A5C-013A-B92A0B0E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C3B23E-78FC-1419-5528-C98DB1CDA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FC7E3C-4FAE-6137-2627-124C0A123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Rápidos e eficientes:</a:t>
            </a:r>
            <a:r>
              <a:rPr lang="pt-BR" dirty="0"/>
              <a:t> Métodos de filtro são computacionalmente baratos, sendo ideais para grandes conjuntos de dados.</a:t>
            </a:r>
          </a:p>
          <a:p>
            <a:r>
              <a:rPr lang="pt-BR" b="1" dirty="0"/>
              <a:t>Fáceis de implementar:</a:t>
            </a:r>
            <a:r>
              <a:rPr lang="pt-BR" dirty="0"/>
              <a:t> Geralmente estão disponíveis em bibliotecas populares de machine learning, exigindo pouco esforço de codificação.</a:t>
            </a:r>
          </a:p>
          <a:p>
            <a:r>
              <a:rPr lang="pt-BR" b="1" dirty="0"/>
              <a:t>Independentes do modelo:</a:t>
            </a:r>
            <a:r>
              <a:rPr lang="pt-BR" dirty="0"/>
              <a:t> Podem ser usados com qualquer tipo de modelo de machine learning, o que os torna bastante versáteis.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Interação limitada com o modelo:</a:t>
            </a:r>
            <a:r>
              <a:rPr lang="pt-BR" dirty="0"/>
              <a:t> Por operarem de forma independente, podem não capturar interações entre variáveis importantes para a predição.</a:t>
            </a:r>
          </a:p>
          <a:p>
            <a:r>
              <a:rPr lang="pt-BR" b="1" dirty="0"/>
              <a:t>Escolha da métrica adequada:</a:t>
            </a:r>
            <a:r>
              <a:rPr lang="pt-BR" dirty="0"/>
              <a:t> Selecionar a métrica correta para o tipo de dado e tarefa é essencial para um bom desempenho.</a:t>
            </a:r>
          </a:p>
          <a:p>
            <a:pPr fontAlgn="base"/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Information Gain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reduction in entropy when a feature is used.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Chi-square test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Checks the relationship between categorical features.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Fisher’s Score: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Ranks features based on class separability.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Pearson’s Correlation Coefficient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linear relationship between two continuous variables.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Variance Threshold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Removes features with very low variance.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Mean Absolute Difference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Similar to variance threshold but uses absolute differences.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Dispersion ratio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Ratio of arithmetic mean to geometric mean; higher values indicate useful features.</a:t>
            </a:r>
          </a:p>
          <a:p>
            <a:pPr rtl="0" fontAlgn="base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7C362-F337-06BC-CC04-92D6048655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714696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5CF05-A8E3-D5CD-E9EE-05102DB6E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531E76-80A9-71A3-8F89-738DF3884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F4280E-BA2D-FD05-3DD6-97CBAD9429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Otimização específica para o modelo:</a:t>
            </a:r>
            <a:r>
              <a:rPr lang="pt-BR" dirty="0"/>
              <a:t> Métodos </a:t>
            </a:r>
            <a:r>
              <a:rPr lang="pt-BR" dirty="0" err="1"/>
              <a:t>wrapper</a:t>
            </a:r>
            <a:r>
              <a:rPr lang="pt-BR" dirty="0"/>
              <a:t> consideram diretamente como as features influenciam o modelo, podendo levar a um desempenho superior em comparação aos métodos de filtro.</a:t>
            </a:r>
          </a:p>
          <a:p>
            <a:r>
              <a:rPr lang="pt-BR" b="1" dirty="0"/>
              <a:t>Flexíveis:</a:t>
            </a:r>
            <a:r>
              <a:rPr lang="pt-BR" dirty="0"/>
              <a:t> Podem ser adaptados a diferentes tipos de modelos e métricas de avaliação.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Alto custo computacional:</a:t>
            </a:r>
            <a:r>
              <a:rPr lang="pt-BR" dirty="0"/>
              <a:t> Avaliar diferentes combinações de features pode ser demorado, especialmente em conjuntos de dados grandes.</a:t>
            </a:r>
          </a:p>
          <a:p>
            <a:r>
              <a:rPr lang="pt-BR" b="1" dirty="0"/>
              <a:t>Risco de </a:t>
            </a:r>
            <a:r>
              <a:rPr lang="pt-BR" b="1" dirty="0" err="1"/>
              <a:t>overfitting</a:t>
            </a:r>
            <a:r>
              <a:rPr lang="pt-BR" b="1" dirty="0"/>
              <a:t>:</a:t>
            </a:r>
            <a:r>
              <a:rPr lang="pt-BR" dirty="0"/>
              <a:t> Ajustar excessivamente as features a um modelo específico pode gerar um modelo </a:t>
            </a:r>
            <a:r>
              <a:rPr lang="pt-BR" dirty="0" err="1"/>
              <a:t>sobreajustado</a:t>
            </a:r>
            <a:r>
              <a:rPr lang="pt-BR" dirty="0"/>
              <a:t>, com baixo desempenho em dados não vistos.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71FF8-EE8E-4813-AB94-9DE983B6A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616102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B3CB2-A980-1ABA-D325-CB60F398B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02818D-0A75-815E-1CAC-5E6927BED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B83EF4-31C3-80B2-3905-E05181C70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Eficientes e eficazes: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alcançar bons resultados sem o alto custo computacional de alguns métodos </a:t>
            </a:r>
            <a:r>
              <a:rPr lang="pt-BR" dirty="0" err="1"/>
              <a:t>wrapper</a:t>
            </a:r>
            <a:r>
              <a:rPr lang="pt-BR" dirty="0"/>
              <a:t>.</a:t>
            </a:r>
          </a:p>
          <a:p>
            <a:r>
              <a:rPr lang="pt-BR" b="1" dirty="0"/>
              <a:t>Aprendizado específico do modelo:</a:t>
            </a:r>
            <a:r>
              <a:rPr lang="pt-BR" dirty="0"/>
              <a:t> Assim como os métodos </a:t>
            </a:r>
            <a:r>
              <a:rPr lang="pt-BR" dirty="0" err="1"/>
              <a:t>wrapper</a:t>
            </a:r>
            <a:r>
              <a:rPr lang="pt-BR" dirty="0"/>
              <a:t>, essas técnicas utilizam o próprio processo de aprendizado para identificar as features mais relevantes.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Interpretabilidade limitada: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ser mais difíceis de interpretar em comparação aos métodos de filtro, tornando menos claro o motivo da escolha de determinadas features.</a:t>
            </a:r>
          </a:p>
          <a:p>
            <a:r>
              <a:rPr lang="pt-BR" b="1" dirty="0"/>
              <a:t>Aplicabilidade restrita:</a:t>
            </a:r>
            <a:r>
              <a:rPr lang="pt-BR" dirty="0"/>
              <a:t> Nem todos os algoritmos de machine learning suportam técnicas </a:t>
            </a:r>
            <a:r>
              <a:rPr lang="pt-BR" dirty="0" err="1"/>
              <a:t>embedded</a:t>
            </a:r>
            <a:r>
              <a:rPr lang="pt-BR" dirty="0"/>
              <a:t> de seleção de features.</a:t>
            </a:r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AD3269-1FB1-61A3-8368-DEEFE1D3C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621013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https://scikit-learn.org/stable/modules/feature_selection.html</a:t>
            </a:r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96903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199190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24/08/2026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cikit-learn.org/stable/modules/feature_selection.html" TargetMode="Externa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pre_processing.ipynb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jpeg"/><Relationship Id="rId4" Type="http://schemas.openxmlformats.org/officeDocument/2006/relationships/image" Target="../media/image26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zz4fap/c24_inteligencia_artificial/blob/main/listas/Lista%204%20-%20Transforma%C3%A7%C3%B5es.pdf" TargetMode="Externa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Transformações dos dados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5778595-FA45-2665-F4CA-BDE619496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43" y="1366894"/>
            <a:ext cx="8171095" cy="44569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998BB58-D4F0-B94D-2632-92980C5EFACB}"/>
              </a:ext>
            </a:extLst>
          </p:cNvPr>
          <p:cNvSpPr txBox="1"/>
          <p:nvPr/>
        </p:nvSpPr>
        <p:spPr>
          <a:xfrm>
            <a:off x="8643256" y="2564324"/>
            <a:ext cx="314597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Continuamos na jornada de curadoria dos dados.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9864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E138C-5788-AD2E-09D4-61ED99259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veremos?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157C1-7A3A-AC9B-369C-8CDFEAD7A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771" cy="4351338"/>
          </a:xfrm>
        </p:spPr>
        <p:txBody>
          <a:bodyPr/>
          <a:lstStyle/>
          <a:p>
            <a:r>
              <a:rPr lang="pt-BR" dirty="0"/>
              <a:t>Veremos algumas técnicas de preparação e transformação (ou pré-processamento) dos dados: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Divisão</a:t>
            </a:r>
            <a:r>
              <a:rPr lang="en-US" dirty="0"/>
              <a:t> do </a:t>
            </a:r>
            <a:r>
              <a:rPr lang="en-US" i="1" dirty="0"/>
              <a:t>dataset,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Extração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Seleção</a:t>
            </a:r>
            <a:r>
              <a:rPr lang="en-US" dirty="0"/>
              <a:t> de </a:t>
            </a:r>
            <a:r>
              <a:rPr lang="en-US" dirty="0" err="1"/>
              <a:t>atribuitos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78483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1B1FA-D3D9-B761-84A9-4EE944FE6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Antes de falarmos sobre as transformações, temos que falar sobre a divisão do </a:t>
            </a:r>
            <a:r>
              <a:rPr lang="pt-BR" sz="6600" i="1" dirty="0"/>
              <a:t>dataset</a:t>
            </a:r>
            <a:r>
              <a:rPr lang="pt-BR" sz="6600" dirty="0"/>
              <a:t> original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299129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1553833-8E1E-E8EA-BC34-739B9DD9C6F3}"/>
              </a:ext>
            </a:extLst>
          </p:cNvPr>
          <p:cNvSpPr txBox="1"/>
          <p:nvPr/>
        </p:nvSpPr>
        <p:spPr>
          <a:xfrm>
            <a:off x="6887497" y="2397947"/>
            <a:ext cx="4431057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Não é correto usar o mesmo conjunto de dados para treinamento e avaliação dos modelos!</a:t>
            </a:r>
            <a:endParaRPr lang="en-US" sz="3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16EEDC-16EC-1AA3-D7CC-99F0FE4B71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2227" y="163285"/>
            <a:ext cx="4354285" cy="6531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0649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8199" y="365125"/>
            <a:ext cx="11091529" cy="1325563"/>
          </a:xfrm>
        </p:spPr>
        <p:txBody>
          <a:bodyPr/>
          <a:lstStyle/>
          <a:p>
            <a:r>
              <a:rPr lang="pt-BR" dirty="0"/>
              <a:t>Por que não usar os mesmos dados para treinamento e teste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Avaliar um modelo com os mesmos dados usados no treinamento </a:t>
            </a:r>
            <a:r>
              <a:rPr lang="pt-BR" b="1" dirty="0">
                <a:solidFill>
                  <a:srgbClr val="7030A0"/>
                </a:solidFill>
              </a:rPr>
              <a:t>não mede sua capacidade real de generalização</a:t>
            </a:r>
            <a:r>
              <a:rPr lang="pt-BR" dirty="0"/>
              <a:t>. </a:t>
            </a:r>
          </a:p>
          <a:p>
            <a:r>
              <a:rPr lang="pt-BR" dirty="0"/>
              <a:t>O resultado pode ser bastante </a:t>
            </a:r>
            <a:r>
              <a:rPr lang="pt-BR" b="1" dirty="0">
                <a:solidFill>
                  <a:schemeClr val="accent6"/>
                </a:solidFill>
              </a:rPr>
              <a:t>otimista</a:t>
            </a:r>
            <a:r>
              <a:rPr lang="pt-BR" dirty="0"/>
              <a:t>, pois o modelo é avaliado nos mesmos dados utilizados para seu ajuste.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 modelo </a:t>
            </a:r>
            <a:r>
              <a:rPr lang="pt-BR" b="1" dirty="0">
                <a:solidFill>
                  <a:schemeClr val="accent2"/>
                </a:solidFill>
              </a:rPr>
              <a:t>memorizar os dados de treinamento </a:t>
            </a:r>
            <a:r>
              <a:rPr lang="pt-BR" dirty="0"/>
              <a:t>(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i="1" dirty="0"/>
              <a:t>)</a:t>
            </a:r>
            <a:r>
              <a:rPr lang="pt-BR" dirty="0"/>
              <a:t> em vez de aprender padrões gerais, o resultado da avaliação será excelente, mas o modelo pode não generalizar bem.</a:t>
            </a:r>
          </a:p>
          <a:p>
            <a:r>
              <a:rPr lang="pt-BR" dirty="0"/>
              <a:t>Além disso, se o modelo for </a:t>
            </a:r>
            <a:r>
              <a:rPr lang="pt-BR" b="1" dirty="0">
                <a:solidFill>
                  <a:schemeClr val="accent5"/>
                </a:solidFill>
              </a:rPr>
              <a:t>otimizado</a:t>
            </a:r>
            <a:r>
              <a:rPr lang="pt-BR" dirty="0"/>
              <a:t> com base no desempenho no próprio conjunto de treinamento, pode ocorrer </a:t>
            </a:r>
            <a:r>
              <a:rPr lang="pt-BR" b="1" i="1" dirty="0" err="1">
                <a:solidFill>
                  <a:schemeClr val="accent2"/>
                </a:solidFill>
              </a:rPr>
              <a:t>overfitting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/>
              <a:t>aos dados de treinamento.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</a:t>
            </a:r>
            <a:r>
              <a:rPr lang="pt-BR" dirty="0" err="1"/>
              <a:t>hiperparâmetros</a:t>
            </a:r>
            <a:r>
              <a:rPr lang="pt-BR" dirty="0"/>
              <a:t> do modelo podem ser ajustados excessivamente às características específicas do conjunto de treinamento, </a:t>
            </a:r>
            <a:r>
              <a:rPr lang="pt-BR" b="1" dirty="0">
                <a:solidFill>
                  <a:srgbClr val="7030A0"/>
                </a:solidFill>
              </a:rPr>
              <a:t>comprometendo sua capacidade de generalização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697249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14A78-63ED-67C2-7C75-578530B33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AA6DB-6F6F-4101-954E-36363841E9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87886" y="1825624"/>
            <a:ext cx="5704113" cy="5032375"/>
          </a:xfrm>
        </p:spPr>
        <p:txBody>
          <a:bodyPr>
            <a:normAutofit/>
          </a:bodyPr>
          <a:lstStyle/>
          <a:p>
            <a:r>
              <a:rPr lang="pt-BR" dirty="0"/>
              <a:t>Como em ML, o </a:t>
            </a:r>
            <a:r>
              <a:rPr lang="pt-BR" b="1" dirty="0">
                <a:solidFill>
                  <a:schemeClr val="accent6"/>
                </a:solidFill>
              </a:rPr>
              <a:t>objetivo é encontrar modelos que </a:t>
            </a:r>
            <a:r>
              <a:rPr lang="pt-BR" b="1" dirty="0">
                <a:solidFill>
                  <a:srgbClr val="7030A0"/>
                </a:solidFill>
              </a:rPr>
              <a:t>generalizem</a:t>
            </a:r>
            <a:r>
              <a:rPr lang="pt-BR" dirty="0"/>
              <a:t> bem para dados novos (i.e., </a:t>
            </a:r>
            <a:r>
              <a:rPr lang="pt-BR" b="1" dirty="0">
                <a:solidFill>
                  <a:schemeClr val="accent2"/>
                </a:solidFill>
              </a:rPr>
              <a:t>inéditos</a:t>
            </a:r>
            <a:r>
              <a:rPr lang="pt-BR" dirty="0"/>
              <a:t>), precisamos definir uma </a:t>
            </a:r>
            <a:r>
              <a:rPr lang="pt-BR" b="1" dirty="0">
                <a:solidFill>
                  <a:schemeClr val="accent2"/>
                </a:solidFill>
              </a:rPr>
              <a:t>forma de avaliar a generalização</a:t>
            </a:r>
            <a:r>
              <a:rPr lang="pt-BR" dirty="0"/>
              <a:t>.</a:t>
            </a:r>
          </a:p>
          <a:p>
            <a:r>
              <a:rPr lang="pt-BR" dirty="0"/>
              <a:t>Para isso, o conjunto total de amostras (</a:t>
            </a:r>
            <a:r>
              <a:rPr lang="pt-BR" i="1" dirty="0" err="1"/>
              <a:t>dataset</a:t>
            </a:r>
            <a:r>
              <a:rPr lang="pt-BR" dirty="0"/>
              <a:t>) é </a:t>
            </a:r>
            <a:r>
              <a:rPr lang="pt-BR" b="1" dirty="0">
                <a:solidFill>
                  <a:srgbClr val="00B050"/>
                </a:solidFill>
              </a:rPr>
              <a:t>dividido em três subconjuntos </a:t>
            </a:r>
            <a:r>
              <a:rPr lang="pt-BR" b="1" dirty="0">
                <a:solidFill>
                  <a:srgbClr val="0070C0"/>
                </a:solidFill>
              </a:rPr>
              <a:t>independentes</a:t>
            </a:r>
            <a:r>
              <a:rPr lang="pt-BR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Validação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Teste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F16A50-1431-9CAC-7F71-5A27C394F4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r="6250"/>
          <a:stretch>
            <a:fillRect/>
          </a:stretch>
        </p:blipFill>
        <p:spPr>
          <a:xfrm>
            <a:off x="152402" y="2373084"/>
            <a:ext cx="6215145" cy="2924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7979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4324A-F45D-0632-1A25-0A760DDDE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05F83-6AB4-A14A-E0B6-E213747DCC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ADDC91-563F-33AB-2873-3F7B30C772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89145" cy="5032375"/>
          </a:xfrm>
        </p:spPr>
        <p:txBody>
          <a:bodyPr>
            <a:normAutofit/>
          </a:bodyPr>
          <a:lstStyle/>
          <a:p>
            <a:r>
              <a:rPr lang="pt-BR" dirty="0"/>
              <a:t>Todos os três devem ser </a:t>
            </a:r>
            <a:r>
              <a:rPr lang="pt-BR" b="1" dirty="0"/>
              <a:t>representativos do problema ou fenômeno</a:t>
            </a:r>
            <a:r>
              <a:rPr lang="pt-BR" dirty="0"/>
              <a:t> sendo analisado.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Representativos: </a:t>
            </a:r>
            <a:r>
              <a:rPr lang="pt-BR" dirty="0"/>
              <a:t>O </a:t>
            </a:r>
            <a:r>
              <a:rPr lang="pt-BR" i="1" dirty="0"/>
              <a:t>dataset</a:t>
            </a:r>
            <a:r>
              <a:rPr lang="pt-BR" dirty="0"/>
              <a:t> completo e, consequentemente, os subconjuntos devem </a:t>
            </a:r>
            <a:r>
              <a:rPr lang="pt-BR" b="1" dirty="0">
                <a:solidFill>
                  <a:srgbClr val="0070C0"/>
                </a:solidFill>
              </a:rPr>
              <a:t>refletir a mesma distribuição de dados do problema.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Exemplo</a:t>
            </a:r>
            <a:r>
              <a:rPr lang="pt-BR" dirty="0"/>
              <a:t>: Se no </a:t>
            </a:r>
            <a:r>
              <a:rPr lang="pt-BR" i="1" dirty="0"/>
              <a:t>dataset</a:t>
            </a:r>
            <a:r>
              <a:rPr lang="pt-BR" dirty="0"/>
              <a:t> completo 70% das amostras são de </a:t>
            </a:r>
            <a:r>
              <a:rPr lang="pt-BR" i="1" dirty="0" err="1"/>
              <a:t>emails</a:t>
            </a:r>
            <a:r>
              <a:rPr lang="pt-BR" dirty="0"/>
              <a:t> legítimos e 30% são </a:t>
            </a:r>
            <a:r>
              <a:rPr lang="pt-BR" i="1" dirty="0"/>
              <a:t>spams</a:t>
            </a:r>
            <a:r>
              <a:rPr lang="pt-BR" dirty="0"/>
              <a:t>, os 3 subconjuntos devem manter estas porcentagens.</a:t>
            </a:r>
          </a:p>
          <a:p>
            <a:r>
              <a:rPr lang="pt-BR" dirty="0"/>
              <a:t>Em geral, mas não é regra, divide-se o </a:t>
            </a:r>
            <a:r>
              <a:rPr lang="pt-BR" i="1" dirty="0"/>
              <a:t>dataset</a:t>
            </a:r>
            <a:r>
              <a:rPr lang="pt-BR" dirty="0"/>
              <a:t> original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70%, 15%, 15%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80%, 10%, 10%</a:t>
            </a:r>
          </a:p>
        </p:txBody>
      </p:sp>
    </p:spTree>
    <p:extLst>
      <p:ext uri="{BB962C8B-B14F-4D97-AF65-F5344CB8AC3E}">
        <p14:creationId xmlns:p14="http://schemas.microsoft.com/office/powerpoint/2010/main" val="3207299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E11FA-E96F-DB4C-09E3-2099E3AC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2A02C-D48D-8EC7-5CF4-A33BDCB9C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C9DBC-518B-A226-F3EB-82943F83AF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O conjunto de </a:t>
            </a:r>
            <a:r>
              <a:rPr lang="pt-BR" b="1" dirty="0"/>
              <a:t>treinamento</a:t>
            </a:r>
            <a:r>
              <a:rPr lang="pt-BR" dirty="0"/>
              <a:t> é para </a:t>
            </a:r>
            <a:r>
              <a:rPr lang="pt-BR" b="1" dirty="0">
                <a:solidFill>
                  <a:srgbClr val="0070C0"/>
                </a:solidFill>
              </a:rPr>
              <a:t>treinar</a:t>
            </a:r>
            <a:r>
              <a:rPr lang="pt-BR" dirty="0"/>
              <a:t> os modelos de ML.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onde o modelo “aprende” os padrões dos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Quanto maior, mais diverso e variado, melhor o aprendizado.</a:t>
            </a:r>
          </a:p>
          <a:p>
            <a:r>
              <a:rPr lang="pt-BR" dirty="0"/>
              <a:t>O conjunto de </a:t>
            </a:r>
            <a:r>
              <a:rPr lang="pt-BR" b="1" dirty="0"/>
              <a:t>validação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avalia o modelo durante o desenvolvimento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Evita que o modelo decore os dados de treinamento (i.e., </a:t>
            </a:r>
            <a:r>
              <a:rPr lang="pt-BR" i="1" dirty="0" err="1"/>
              <a:t>overfitting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hiperparâmetros.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arquiteturas.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Decidir quando parar o treinamento (</a:t>
            </a:r>
            <a:r>
              <a:rPr lang="pt-BR" i="1" dirty="0"/>
              <a:t>early stopping</a:t>
            </a:r>
            <a:r>
              <a:rPr lang="pt-BR" dirty="0"/>
              <a:t>).</a:t>
            </a:r>
          </a:p>
          <a:p>
            <a:r>
              <a:rPr lang="pt-BR" dirty="0"/>
              <a:t>O conjunto de </a:t>
            </a:r>
            <a:r>
              <a:rPr lang="pt-BR" b="1" dirty="0"/>
              <a:t>teste</a:t>
            </a:r>
            <a:r>
              <a:rPr lang="pt-BR" dirty="0"/>
              <a:t> </a:t>
            </a:r>
            <a:r>
              <a:rPr lang="pt-BR" b="1" dirty="0">
                <a:solidFill>
                  <a:srgbClr val="0070C0"/>
                </a:solidFill>
              </a:rPr>
              <a:t>valida a capacidade de generalização </a:t>
            </a:r>
            <a:r>
              <a:rPr lang="pt-BR" dirty="0"/>
              <a:t>dos modelos.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Usado uma única vez, ao final de todo o processo.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Fornece uma estimativa imparcial do desempenho real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Simula dados nunca vistos.</a:t>
            </a:r>
          </a:p>
        </p:txBody>
      </p:sp>
    </p:spTree>
    <p:extLst>
      <p:ext uri="{BB962C8B-B14F-4D97-AF65-F5344CB8AC3E}">
        <p14:creationId xmlns:p14="http://schemas.microsoft.com/office/powerpoint/2010/main" val="15274548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D77ACB-09E5-6436-B74F-CAB7A55F7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6C90B1-721E-003C-85EE-B8AA0DAD5C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14370" cy="4857277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sklearn.model_selection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train_test_split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X, y: conjunto total de dados, </a:t>
            </a:r>
            <a:r>
              <a:rPr lang="en-US" i="1" dirty="0" err="1">
                <a:latin typeface="Consolas" panose="020B0609020204030204" pitchFamily="49" charset="0"/>
              </a:rPr>
              <a:t>incluindo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atributos</a:t>
            </a:r>
            <a:r>
              <a:rPr lang="en-US" i="1" dirty="0">
                <a:latin typeface="Consolas" panose="020B0609020204030204" pitchFamily="49" charset="0"/>
              </a:rPr>
              <a:t> e </a:t>
            </a:r>
            <a:r>
              <a:rPr lang="en-US" i="1" dirty="0" err="1">
                <a:latin typeface="Consolas" panose="020B0609020204030204" pitchFamily="49" charset="0"/>
              </a:rPr>
              <a:t>rótulos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test_size</a:t>
            </a:r>
            <a:r>
              <a:rPr lang="en-US" dirty="0">
                <a:latin typeface="Consolas" panose="020B0609020204030204" pitchFamily="49" charset="0"/>
              </a:rPr>
              <a:t>: </a:t>
            </a:r>
            <a:r>
              <a:rPr lang="en-US" dirty="0" err="1">
                <a:latin typeface="Consolas" panose="020B0609020204030204" pitchFamily="49" charset="0"/>
              </a:rPr>
              <a:t>especifica</a:t>
            </a:r>
            <a:r>
              <a:rPr lang="en-US" dirty="0">
                <a:latin typeface="Consolas" panose="020B0609020204030204" pitchFamily="49" charset="0"/>
              </a:rPr>
              <a:t> a </a:t>
            </a:r>
            <a:r>
              <a:rPr lang="en-US" dirty="0" err="1">
                <a:latin typeface="Consolas" panose="020B0609020204030204" pitchFamily="49" charset="0"/>
              </a:rPr>
              <a:t>porcentagem</a:t>
            </a:r>
            <a:r>
              <a:rPr lang="en-US" dirty="0">
                <a:latin typeface="Consolas" panose="020B0609020204030204" pitchFamily="49" charset="0"/>
              </a:rPr>
              <a:t> de teste.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y_train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</a:rPr>
              <a:t>y_test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train_test_split</a:t>
            </a:r>
            <a:r>
              <a:rPr lang="en-US" dirty="0">
                <a:latin typeface="Consolas" panose="020B0609020204030204" pitchFamily="49" charset="0"/>
              </a:rPr>
              <a:t>(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    X, y, </a:t>
            </a:r>
            <a:r>
              <a:rPr lang="en-US" dirty="0" err="1">
                <a:latin typeface="Consolas" panose="020B0609020204030204" pitchFamily="49" charset="0"/>
              </a:rPr>
              <a:t>test_size</a:t>
            </a:r>
            <a:r>
              <a:rPr lang="en-US" dirty="0">
                <a:latin typeface="Consolas" panose="020B0609020204030204" pitchFamily="49" charset="0"/>
              </a:rPr>
              <a:t>=0.2, </a:t>
            </a:r>
            <a:r>
              <a:rPr lang="en-US" dirty="0" err="1">
                <a:latin typeface="Consolas" panose="020B0609020204030204" pitchFamily="49" charset="0"/>
              </a:rPr>
              <a:t>random_state</a:t>
            </a:r>
            <a:r>
              <a:rPr lang="en-US" dirty="0">
                <a:latin typeface="Consolas" panose="020B0609020204030204" pitchFamily="49" charset="0"/>
              </a:rPr>
              <a:t>=42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71264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E4444-161D-B9BC-4CA6-AFC9D140B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D5405-D201-E375-6B5B-16B6AAF9BF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56189" y="1751805"/>
            <a:ext cx="4517571" cy="3354389"/>
          </a:xfrm>
        </p:spPr>
        <p:txBody>
          <a:bodyPr>
            <a:normAutofit fontScale="92500"/>
          </a:bodyPr>
          <a:lstStyle/>
          <a:p>
            <a:pPr marL="0" indent="0" algn="ctr">
              <a:buNone/>
            </a:pPr>
            <a:r>
              <a:rPr lang="pt-BR" sz="3600" dirty="0"/>
              <a:t>Agora veremos algumas </a:t>
            </a:r>
            <a:r>
              <a:rPr lang="pt-BR" sz="3600" b="1" dirty="0">
                <a:solidFill>
                  <a:srgbClr val="00B050"/>
                </a:solidFill>
              </a:rPr>
              <a:t>transformações</a:t>
            </a:r>
            <a:r>
              <a:rPr lang="pt-BR" sz="3600" dirty="0"/>
              <a:t> aplicadas aos dados que </a:t>
            </a:r>
            <a:r>
              <a:rPr lang="pt-BR" sz="3600" b="1" dirty="0">
                <a:solidFill>
                  <a:srgbClr val="7030A0"/>
                </a:solidFill>
              </a:rPr>
              <a:t>ajudam no aprendizado dos modelos</a:t>
            </a:r>
            <a:r>
              <a:rPr lang="pt-BR" sz="3600" dirty="0"/>
              <a:t>, sendo a primeira delas, o </a:t>
            </a:r>
            <a:r>
              <a:rPr lang="pt-BR" sz="3600" b="1" dirty="0"/>
              <a:t>escalonamento</a:t>
            </a:r>
            <a:r>
              <a:rPr lang="pt-BR" sz="3600" dirty="0"/>
              <a:t>.</a:t>
            </a:r>
            <a:endParaRPr lang="en-US" sz="3600" dirty="0"/>
          </a:p>
        </p:txBody>
      </p:sp>
      <p:pic>
        <p:nvPicPr>
          <p:cNvPr id="2" name="Picture 2" descr="Feature Scaling in Machine Learning: What It Is, Why It Matters, and How to  Apply It">
            <a:extLst>
              <a:ext uri="{FF2B5EF4-FFF2-40B4-BE49-F238E27FC236}">
                <a16:creationId xmlns:a16="http://schemas.microsoft.com/office/drawing/2014/main" id="{B0B1ADBD-C39A-E2D0-6C43-5AE5055FBF0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94" t="3865" r="10478" b="7102"/>
          <a:stretch>
            <a:fillRect/>
          </a:stretch>
        </p:blipFill>
        <p:spPr bwMode="auto">
          <a:xfrm>
            <a:off x="316212" y="1322613"/>
            <a:ext cx="6748093" cy="42127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234777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7226-7B42-3182-D8AB-53A5644A3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1BEE6-4EE6-2F0F-46BF-CB428A23F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74972" y="1825624"/>
                <a:ext cx="551905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Atributo A</a:t>
                </a:r>
                <a:r>
                  <a:rPr lang="pt-BR" dirty="0"/>
                  <a:t>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/>
                  <a:t>Atributo B</a:t>
                </a:r>
                <a:r>
                  <a:rPr lang="pt-BR" dirty="0"/>
                  <a:t>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</a:t>
                </a:r>
                <a:r>
                  <a:rPr lang="pt-BR" b="1" dirty="0">
                    <a:solidFill>
                      <a:srgbClr val="7030A0"/>
                    </a:solidFill>
                  </a:rPr>
                  <a:t>não conhecem as unidades</a:t>
                </a:r>
                <a:r>
                  <a:rPr lang="pt-BR" dirty="0"/>
                  <a:t> do mundo real, eles </a:t>
                </a:r>
                <a:r>
                  <a:rPr lang="pt-BR" b="1" dirty="0">
                    <a:solidFill>
                      <a:srgbClr val="7030A0"/>
                    </a:solidFill>
                  </a:rPr>
                  <a:t>conhecem apenas números</a:t>
                </a:r>
                <a:r>
                  <a:rPr lang="pt-BR" dirty="0"/>
                  <a:t>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74972" y="1825624"/>
                <a:ext cx="5519058" cy="5032375"/>
              </a:xfrm>
              <a:blipFill>
                <a:blip r:embed="rId3"/>
                <a:stretch>
                  <a:fillRect l="-1989" t="-1937" r="-22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E228E2A-3289-7CEE-B490-080A4F4435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23"/>
          <a:stretch>
            <a:fillRect/>
          </a:stretch>
        </p:blipFill>
        <p:spPr>
          <a:xfrm>
            <a:off x="97971" y="2392362"/>
            <a:ext cx="6135406" cy="3004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857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B732-FD8C-AC6A-90A0-C71B105F5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ED040-A025-7A5E-ECF6-6400B7A21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7285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Modelos de ML baseados em </a:t>
            </a:r>
            <a:r>
              <a:rPr lang="pt-BR" b="1" dirty="0"/>
              <a:t>distância</a:t>
            </a:r>
            <a:r>
              <a:rPr lang="pt-BR" dirty="0"/>
              <a:t> (e.g., KNN, SVM, PCA) ou </a:t>
            </a:r>
            <a:r>
              <a:rPr lang="pt-BR" b="1" dirty="0"/>
              <a:t>gradiente</a:t>
            </a:r>
            <a:r>
              <a:rPr lang="pt-BR" dirty="0"/>
              <a:t> (e.g., regressão linear/logística, redes neurais) </a:t>
            </a:r>
            <a:r>
              <a:rPr lang="pt-BR" b="1" dirty="0">
                <a:solidFill>
                  <a:srgbClr val="7030A0"/>
                </a:solidFill>
              </a:rPr>
              <a:t>são sensíveis à escala dos atributos</a:t>
            </a:r>
            <a:r>
              <a:rPr lang="pt-BR" dirty="0"/>
              <a:t>.</a:t>
            </a:r>
          </a:p>
          <a:p>
            <a:r>
              <a:rPr lang="pt-BR" dirty="0"/>
              <a:t>Atributos com </a:t>
            </a:r>
            <a:r>
              <a:rPr lang="pt-BR" b="1" dirty="0">
                <a:solidFill>
                  <a:schemeClr val="accent1"/>
                </a:solidFill>
              </a:rPr>
              <a:t>escala muito maior influenciam muito mais a previsão </a:t>
            </a:r>
            <a:r>
              <a:rPr lang="pt-BR" dirty="0"/>
              <a:t>dos modelos do que atributos com escala menor.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exemplo da previsão do preço de casas, o modelo ignoraria os quartos e focaria só na área.</a:t>
            </a:r>
          </a:p>
        </p:txBody>
      </p:sp>
      <p:pic>
        <p:nvPicPr>
          <p:cNvPr id="5122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99B43FBF-4616-53AA-030A-E722F67C4B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0516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1FC5D-6FEC-A156-FC5A-F6992527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CAF9A-32DA-5822-59B2-8972B59B9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B24C7-41C3-6780-C1B8-EBBB5A57F8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4629" y="1825624"/>
            <a:ext cx="6542314" cy="5032375"/>
          </a:xfrm>
        </p:spPr>
        <p:txBody>
          <a:bodyPr>
            <a:normAutofit/>
          </a:bodyPr>
          <a:lstStyle/>
          <a:p>
            <a:r>
              <a:rPr lang="pt-BR" dirty="0"/>
              <a:t>Mas e se todos os atributos são importantes para a previsão do modelo?</a:t>
            </a:r>
          </a:p>
          <a:p>
            <a:r>
              <a:rPr lang="pt-BR" dirty="0"/>
              <a:t>O </a:t>
            </a:r>
            <a:r>
              <a:rPr lang="pt-BR" b="1" dirty="0">
                <a:solidFill>
                  <a:schemeClr val="accent1"/>
                </a:solidFill>
              </a:rPr>
              <a:t>escalonamento iguala a influência </a:t>
            </a:r>
            <a:r>
              <a:rPr lang="pt-BR" dirty="0"/>
              <a:t>dos atributos no modelo.</a:t>
            </a:r>
          </a:p>
          <a:p>
            <a:r>
              <a:rPr lang="pt-BR" dirty="0"/>
              <a:t>Escalonamento transforma valores de atributos para uma mesma escala.</a:t>
            </a:r>
          </a:p>
          <a:p>
            <a:r>
              <a:rPr lang="pt-BR" dirty="0"/>
              <a:t>Principais técnicas de escalonamento: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Normalização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Padronização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Escalonamento robusto</a:t>
            </a:r>
          </a:p>
          <a:p>
            <a:pPr lvl="1"/>
            <a:endParaRPr lang="pt-BR" b="1" dirty="0"/>
          </a:p>
        </p:txBody>
      </p:sp>
      <p:pic>
        <p:nvPicPr>
          <p:cNvPr id="4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BB65CFC1-6B1D-D444-7DAB-75B58C5A8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59833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E4DD6-C949-62F0-7FF2-D821C5B36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504D-CF81-0763-876C-200B893A1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22680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os valores numéricos para 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escala fixa, geralmente, entre 0 e 1</a:t>
                </a:r>
                <a:r>
                  <a:rPr lang="pt-BR" dirty="0"/>
                  <a:t>.</a:t>
                </a:r>
                <a:endParaRPr lang="pt-BR" b="1" dirty="0"/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den>
                      </m:f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[0, 1],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𝑎𝑥</m:t>
                        </m:r>
                      </m:sub>
                    </m:sSub>
                  </m:oMath>
                </a14:m>
                <a:r>
                  <a:rPr lang="pt-BR" dirty="0"/>
                  <a:t> são os valores mínimo e máximo de um atributo (e.g., a coluna de um </a:t>
                </a:r>
                <a:r>
                  <a:rPr lang="pt-BR" i="1" dirty="0"/>
                  <a:t>dataset</a:t>
                </a:r>
                <a:r>
                  <a:rPr lang="pt-BR" dirty="0"/>
                  <a:t>).</a:t>
                </a:r>
              </a:p>
              <a:p>
                <a:r>
                  <a:rPr lang="pt-BR" b="1" dirty="0"/>
                  <a:t>Quando usar:</a:t>
                </a:r>
                <a:r>
                  <a:rPr lang="pt-BR" dirty="0"/>
                  <a:t>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Indicada para conjuntos de dados sem </a:t>
                </a:r>
                <a:r>
                  <a:rPr lang="pt-BR" i="1" dirty="0" err="1"/>
                  <a:t>outliers</a:t>
                </a:r>
                <a:r>
                  <a:rPr lang="pt-BR" dirty="0"/>
                  <a:t> (analisar e remover antes),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algoritmos que </a:t>
                </a:r>
                <a:r>
                  <a:rPr lang="pt-BR" b="1" dirty="0">
                    <a:solidFill>
                      <a:schemeClr val="accent2"/>
                    </a:solidFill>
                  </a:rPr>
                  <a:t>não pressupõem </a:t>
                </a:r>
                <a:r>
                  <a:rPr lang="pt-BR" dirty="0"/>
                  <a:t>nenhuma </a:t>
                </a:r>
                <a:r>
                  <a:rPr lang="pt-BR" b="1" dirty="0">
                    <a:solidFill>
                      <a:schemeClr val="accent2"/>
                    </a:solidFill>
                  </a:rPr>
                  <a:t>distribuição</a:t>
                </a:r>
                <a:r>
                  <a:rPr lang="pt-BR" dirty="0"/>
                  <a:t> (e.g., redes neurais, KNN),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algoritmos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baseados em distância</a:t>
                </a:r>
                <a:r>
                  <a:rPr lang="pt-BR" dirty="0"/>
                  <a:t> (e.g., </a:t>
                </a:r>
                <a:r>
                  <a:rPr lang="en-US" dirty="0"/>
                  <a:t>KNN, SVM, K-Means)</a:t>
                </a:r>
                <a:r>
                  <a:rPr lang="pt-BR" dirty="0"/>
                  <a:t> e </a:t>
                </a:r>
                <a:r>
                  <a:rPr lang="pt-BR" b="1" dirty="0">
                    <a:solidFill>
                      <a:schemeClr val="accent2"/>
                    </a:solidFill>
                  </a:rPr>
                  <a:t>gradiente</a:t>
                </a:r>
                <a:r>
                  <a:rPr lang="pt-BR" dirty="0"/>
                  <a:t> (e.g., </a:t>
                </a:r>
                <a:r>
                  <a:rPr lang="en-US" dirty="0"/>
                  <a:t>Redes </a:t>
                </a:r>
                <a:r>
                  <a:rPr lang="en-US" dirty="0" err="1"/>
                  <a:t>Neurais</a:t>
                </a:r>
                <a:r>
                  <a:rPr lang="en-US" dirty="0"/>
                  <a:t>, Regressor linear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226801" cy="5032375"/>
              </a:xfrm>
              <a:blipFill>
                <a:blip r:embed="rId3"/>
                <a:stretch>
                  <a:fillRect l="-1086" t="-2663" b="-1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30588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693C35-0BAE-236E-0E16-3609D1EC6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799F0-7D38-84F2-99A3-01227FE47C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A462A-E2CB-B9E8-7273-2A7428D8AD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4376057"/>
            <a:ext cx="11179630" cy="2481942"/>
          </a:xfrm>
        </p:spPr>
        <p:txBody>
          <a:bodyPr>
            <a:normAutofit/>
          </a:bodyPr>
          <a:lstStyle/>
          <a:p>
            <a:r>
              <a:rPr lang="pt-BR" b="1" dirty="0"/>
              <a:t>Cuidado:</a:t>
            </a:r>
            <a:r>
              <a:rPr lang="pt-BR" dirty="0"/>
              <a:t> Técnica muito sensível a </a:t>
            </a:r>
            <a:r>
              <a:rPr lang="pt-BR" i="1" dirty="0"/>
              <a:t>outliers.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extremo “</a:t>
            </a:r>
            <a:r>
              <a:rPr lang="pt-BR" b="1" dirty="0">
                <a:solidFill>
                  <a:srgbClr val="7030A0"/>
                </a:solidFill>
              </a:rPr>
              <a:t>esmaga</a:t>
            </a:r>
            <a:r>
              <a:rPr lang="pt-BR" dirty="0"/>
              <a:t>” todos os outros valores </a:t>
            </a:r>
            <a:r>
              <a:rPr lang="pt-BR" b="1" dirty="0">
                <a:solidFill>
                  <a:srgbClr val="7030A0"/>
                </a:solidFill>
              </a:rPr>
              <a:t>para um intervalo muito pequeno próximo de zero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Perde-se a </a:t>
            </a:r>
            <a:r>
              <a:rPr lang="pt-BR" b="1" dirty="0">
                <a:solidFill>
                  <a:srgbClr val="7030A0"/>
                </a:solidFill>
              </a:rPr>
              <a:t>distinção entre valores típicos (i.e., </a:t>
            </a:r>
            <a:r>
              <a:rPr lang="pt-BR" b="1" i="1" dirty="0" err="1">
                <a:solidFill>
                  <a:srgbClr val="7030A0"/>
                </a:solidFill>
              </a:rPr>
              <a:t>inliers</a:t>
            </a:r>
            <a:r>
              <a:rPr lang="pt-BR" b="1" dirty="0">
                <a:solidFill>
                  <a:srgbClr val="7030A0"/>
                </a:solidFill>
              </a:rPr>
              <a:t>)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Isso reduz a eficácia do aprendizado, pois a </a:t>
            </a:r>
            <a:r>
              <a:rPr lang="pt-BR" b="1" dirty="0">
                <a:solidFill>
                  <a:srgbClr val="00B050"/>
                </a:solidFill>
              </a:rPr>
              <a:t>diferença entre os valores típicos é praticamente eliminada</a:t>
            </a:r>
            <a:r>
              <a:rPr lang="pt-BR" dirty="0"/>
              <a:t> na escala normalizada.</a:t>
            </a:r>
          </a:p>
        </p:txBody>
      </p:sp>
      <p:pic>
        <p:nvPicPr>
          <p:cNvPr id="8" name="Imagem 1" descr="Gráfico, Histograma&#10;&#10;O conteúdo gerado por IA pode estar incorreto.">
            <a:extLst>
              <a:ext uri="{FF2B5EF4-FFF2-40B4-BE49-F238E27FC236}">
                <a16:creationId xmlns:a16="http://schemas.microsoft.com/office/drawing/2014/main" id="{6CAE746A-31B0-AF3F-E475-B6FE328BAB3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3226" t="23024" r="8179" b="58286"/>
          <a:stretch>
            <a:fillRect/>
          </a:stretch>
        </p:blipFill>
        <p:spPr>
          <a:xfrm>
            <a:off x="1680417" y="2031999"/>
            <a:ext cx="8831165" cy="190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35721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562E0-2AE8-02FC-9DCC-C800C0195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BB7EC-614D-E681-2988-57753674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</a:t>
            </a:r>
            <a:r>
              <a:rPr lang="en-US" i="1" dirty="0"/>
              <a:t>Min-Max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72B20-73AA-CEC0-1896-5F09B228A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from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sklearn.preprocessing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normalizador</a:t>
            </a:r>
            <a:r>
              <a:rPr lang="en-US" i="1" dirty="0">
                <a:latin typeface="Consolas" panose="020B0609020204030204" pitchFamily="49" charset="0"/>
              </a:rPr>
              <a:t> com </a:t>
            </a:r>
            <a:r>
              <a:rPr lang="en-US" i="1" dirty="0" err="1">
                <a:latin typeface="Consolas" panose="020B0609020204030204" pitchFamily="49" charset="0"/>
              </a:rPr>
              <a:t>intervalo</a:t>
            </a:r>
            <a:r>
              <a:rPr lang="en-US" i="1" dirty="0">
                <a:latin typeface="Consolas" panose="020B0609020204030204" pitchFamily="49" charset="0"/>
              </a:rPr>
              <a:t> de 0 a 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feature_range</a:t>
            </a:r>
            <a:r>
              <a:rPr lang="en-US" dirty="0">
                <a:latin typeface="Consolas" panose="020B0609020204030204" pitchFamily="49" charset="0"/>
              </a:rPr>
              <a:t>=(0, 1))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Aprende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os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parâmetros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de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normalização</a:t>
            </a:r>
            <a:r>
              <a:rPr lang="en-US" b="1" i="1" dirty="0">
                <a:solidFill>
                  <a:srgbClr val="00B050"/>
                </a:solidFill>
                <a:latin typeface="Consolas" panose="020B0609020204030204" pitchFamily="49" charset="0"/>
              </a:rPr>
              <a:t> (min e max) no conjunto de </a:t>
            </a:r>
            <a:r>
              <a:rPr lang="en-US" b="1" i="1" dirty="0" err="1">
                <a:solidFill>
                  <a:srgbClr val="00B050"/>
                </a:solidFill>
                <a:latin typeface="Consolas" panose="020B0609020204030204" pitchFamily="49" charset="0"/>
              </a:rPr>
              <a:t>treinamento</a:t>
            </a:r>
            <a:endParaRPr lang="en-US" b="1" i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Aplica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o scaler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aprendido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 err="1">
                <a:solidFill>
                  <a:schemeClr val="accent2"/>
                </a:solidFill>
                <a:latin typeface="Consolas" panose="020B0609020204030204" pitchFamily="49" charset="0"/>
              </a:rPr>
              <a:t>ao</a:t>
            </a:r>
            <a:r>
              <a:rPr lang="en-US" b="1" i="1" dirty="0">
                <a:solidFill>
                  <a:schemeClr val="accent2"/>
                </a:solidFill>
                <a:latin typeface="Consolas" panose="020B0609020204030204" pitchFamily="49" charset="0"/>
              </a:rPr>
              <a:t> conjunto de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75293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E68CA-D24D-3A59-2454-962A7341F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E72AB6-BCB8-5FD1-C056-8FD29D1A2A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Por que não calculamos os parâmetros de escalonamento usando o conjunto completo?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25582661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25218C-1075-A083-A4CA-ADA8E8133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ABB49B-5EBD-DA72-FD55-8FDDE8F82C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5" y="1995288"/>
            <a:ext cx="11070770" cy="286742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Para não haver </a:t>
            </a:r>
            <a:r>
              <a:rPr lang="pt-BR" sz="6600" b="1" dirty="0">
                <a:solidFill>
                  <a:schemeClr val="accent2"/>
                </a:solidFill>
              </a:rPr>
              <a:t>vazamento</a:t>
            </a:r>
            <a:r>
              <a:rPr lang="pt-BR" sz="6600" dirty="0"/>
              <a:t> de informações do “futuro” no treinamento.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19688936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i="1" dirty="0"/>
              <a:t>Data </a:t>
            </a:r>
            <a:r>
              <a:rPr lang="pt-BR" i="1" dirty="0" err="1"/>
              <a:t>leakage</a:t>
            </a:r>
            <a:endParaRPr lang="pt-BR" i="1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1825624"/>
            <a:ext cx="11206017" cy="5032375"/>
          </a:xfrm>
        </p:spPr>
        <p:txBody>
          <a:bodyPr/>
          <a:lstStyle/>
          <a:p>
            <a:r>
              <a:rPr lang="pt-BR" i="1" dirty="0"/>
              <a:t>Data </a:t>
            </a:r>
            <a:r>
              <a:rPr lang="pt-BR" i="1" dirty="0" err="1"/>
              <a:t>leakage</a:t>
            </a:r>
            <a:r>
              <a:rPr lang="pt-BR" i="1" dirty="0"/>
              <a:t> </a:t>
            </a:r>
            <a:r>
              <a:rPr lang="pt-BR" dirty="0"/>
              <a:t>ocorre quando informações </a:t>
            </a:r>
            <a:r>
              <a:rPr lang="pt-BR" b="1" dirty="0">
                <a:solidFill>
                  <a:schemeClr val="accent2"/>
                </a:solidFill>
              </a:rPr>
              <a:t>que não deveriam estar disponíveis durante o treinamento </a:t>
            </a:r>
            <a:r>
              <a:rPr lang="pt-BR" dirty="0"/>
              <a:t>influenciam o </a:t>
            </a:r>
            <a:r>
              <a:rPr lang="pt-BR" b="1" dirty="0">
                <a:solidFill>
                  <a:schemeClr val="accent6"/>
                </a:solidFill>
              </a:rPr>
              <a:t>aprendizado do modelo, sua otimização ou sua avaliação</a:t>
            </a:r>
            <a:r>
              <a:rPr lang="pt-BR" dirty="0"/>
              <a:t>.</a:t>
            </a:r>
          </a:p>
          <a:p>
            <a:r>
              <a:rPr lang="pt-BR" dirty="0"/>
              <a:t>O princípio é: </a:t>
            </a:r>
            <a:r>
              <a:rPr lang="pt-BR" b="1" dirty="0"/>
              <a:t>os conjuntos de validação e teste não devem influenciar as decisões de construção do modelo</a:t>
            </a:r>
            <a:r>
              <a:rPr lang="pt-BR" dirty="0"/>
              <a:t>.</a:t>
            </a:r>
          </a:p>
          <a:p>
            <a:r>
              <a:rPr lang="pt-BR" dirty="0"/>
              <a:t>Os </a:t>
            </a:r>
            <a:r>
              <a:rPr lang="pt-BR" b="1" dirty="0">
                <a:solidFill>
                  <a:srgbClr val="7030A0"/>
                </a:solidFill>
              </a:rPr>
              <a:t>parâmetros de pré-processamento devem ser aprendidos exclusivamente com os dados de treinamento </a:t>
            </a:r>
            <a:r>
              <a:rPr lang="pt-BR" dirty="0"/>
              <a:t>e posteriormente aplicados aos dados de validação e teste.</a:t>
            </a:r>
          </a:p>
          <a:p>
            <a:r>
              <a:rPr lang="pt-BR" dirty="0"/>
              <a:t>Isso se aplica a praticamente todas as transformações que aprendem informações dos dados: escalonamento, imputação, seleção e extração de atributos, etc.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967190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7E27A-F64F-BD37-64AC-DCE4D923E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24F9A-6932-BA2B-0C8B-88280995A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Faz com que os atributos tenham </a:t>
                </a:r>
                <a:r>
                  <a:rPr lang="pt-BR" b="1" dirty="0">
                    <a:solidFill>
                      <a:schemeClr val="accent2"/>
                    </a:solidFill>
                  </a:rPr>
                  <a:t>média 0 e desvio padrão igual a 1</a:t>
                </a:r>
                <a:r>
                  <a:rPr lang="pt-BR" dirty="0"/>
                  <a:t>, </a:t>
                </a:r>
                <a:r>
                  <a:rPr lang="pt-BR" b="1" dirty="0">
                    <a:solidFill>
                      <a:schemeClr val="accent6"/>
                    </a:solidFill>
                  </a:rPr>
                  <a:t>não impondo limites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são a média e o desvio padrão de um atributo.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E4E7A4F3-D98D-3713-FDAB-EE34883FF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 rotWithShape="0">
                <a:blip r:embed="rId3"/>
                <a:stretch>
                  <a:fillRect l="-1074" t="-1937" r="-12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778E434A-5584-A754-0A64-3211A1D8CEA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73"/>
          <a:stretch>
            <a:fillRect/>
          </a:stretch>
        </p:blipFill>
        <p:spPr>
          <a:xfrm>
            <a:off x="2698238" y="4875107"/>
            <a:ext cx="6795523" cy="1754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10390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770D24-BE35-A8CA-AC54-E04E7F8FC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38ADD2-CAB1-6B09-1356-F48CAA4A35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40730" cy="5032375"/>
          </a:xfrm>
        </p:spPr>
        <p:txBody>
          <a:bodyPr/>
          <a:lstStyle/>
          <a:p>
            <a:r>
              <a:rPr lang="pt-BR" b="1" dirty="0"/>
              <a:t>Vantagem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Coloca os atributos em uma escala comparável, </a:t>
            </a:r>
            <a:r>
              <a:rPr lang="pt-BR" b="1" dirty="0">
                <a:solidFill>
                  <a:schemeClr val="accent6"/>
                </a:solidFill>
              </a:rPr>
              <a:t>expressando os valores em termos de desvios padrão em relação à média</a:t>
            </a:r>
            <a:r>
              <a:rPr lang="pt-BR" dirty="0"/>
              <a:t>.</a:t>
            </a:r>
          </a:p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geral, com algoritmos que </a:t>
            </a:r>
            <a:r>
              <a:rPr lang="pt-BR" b="1" dirty="0">
                <a:solidFill>
                  <a:schemeClr val="accent1"/>
                </a:solidFill>
              </a:rPr>
              <a:t>assumem distribuições aproximadamente Gaussianas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</a:t>
            </a:r>
            <a:r>
              <a:rPr lang="pt-BR" b="1" dirty="0">
                <a:solidFill>
                  <a:schemeClr val="accent2"/>
                </a:solidFill>
              </a:rPr>
              <a:t>que dependem de operações baseadas em distância ou gradiente</a:t>
            </a:r>
            <a:r>
              <a:rPr lang="pt-BR" dirty="0"/>
              <a:t>, como </a:t>
            </a:r>
            <a:r>
              <a:rPr lang="pt-BR" dirty="0" err="1"/>
              <a:t>regressor</a:t>
            </a:r>
            <a:r>
              <a:rPr lang="pt-BR" dirty="0"/>
              <a:t> linear, SVM e redes neurais.</a:t>
            </a:r>
          </a:p>
          <a:p>
            <a:r>
              <a:rPr lang="en-US" b="1" dirty="0" err="1"/>
              <a:t>Cuidado</a:t>
            </a:r>
            <a:r>
              <a:rPr lang="en-US" b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Sensível a </a:t>
            </a:r>
            <a:r>
              <a:rPr lang="pt-BR" i="1" dirty="0" err="1"/>
              <a:t>outliers</a:t>
            </a:r>
            <a:r>
              <a:rPr lang="pt-BR" dirty="0"/>
              <a:t>, pois a </a:t>
            </a:r>
            <a:r>
              <a:rPr lang="pt-BR" b="1" dirty="0">
                <a:solidFill>
                  <a:srgbClr val="7030A0"/>
                </a:solidFill>
              </a:rPr>
              <a:t>média e o desvio padrão</a:t>
            </a:r>
            <a:r>
              <a:rPr lang="pt-BR" dirty="0"/>
              <a:t> são </a:t>
            </a:r>
            <a:r>
              <a:rPr lang="pt-BR" b="1" dirty="0">
                <a:solidFill>
                  <a:srgbClr val="7030A0"/>
                </a:solidFill>
              </a:rPr>
              <a:t>influenciados por valores extremos</a:t>
            </a:r>
            <a:r>
              <a:rPr lang="pt-BR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Pode fazer com que os valores</a:t>
            </a:r>
            <a:r>
              <a:rPr lang="pt-BR" b="1" dirty="0"/>
              <a:t> típicos </a:t>
            </a:r>
            <a:r>
              <a:rPr lang="pt-BR" dirty="0"/>
              <a:t>sejam comprimidos próximos de zero.</a:t>
            </a:r>
          </a:p>
          <a:p>
            <a:pPr lvl="2">
              <a:buFont typeface="Wingdings" panose="05000000000000000000" pitchFamily="2" charset="2"/>
              <a:buChar char="§"/>
            </a:pPr>
            <a:endParaRPr lang="pt-BR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863626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77714-D30D-81C3-3BE9-7601747F5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</a:t>
            </a:r>
            <a:r>
              <a:rPr lang="en-US" i="1" dirty="0"/>
              <a:t>Standard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4492A-4A23-9842-8A7E-76151D3DB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94571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padronizador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padronização</a:t>
            </a:r>
            <a:r>
              <a:rPr lang="en-US" i="1" dirty="0">
                <a:latin typeface="Consolas" panose="020B0609020204030204" pitchFamily="49" charset="0"/>
              </a:rPr>
              <a:t> no conjunto de </a:t>
            </a:r>
            <a:r>
              <a:rPr lang="en-US" i="1" dirty="0" err="1">
                <a:latin typeface="Consolas" panose="020B0609020204030204" pitchFamily="49" charset="0"/>
              </a:rPr>
              <a:t>treinamento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081455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4F0F9-20D7-154F-370F-D835643F1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CDABA-9A41-573A-0CB1-602907ED9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Usa a </a:t>
                </a:r>
                <a:r>
                  <a:rPr lang="pt-BR" b="1" dirty="0">
                    <a:solidFill>
                      <a:srgbClr val="00B050"/>
                    </a:solidFill>
                  </a:rPr>
                  <a:t>mediana,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𝑸</m:t>
                        </m:r>
                      </m:e>
                      <m:sub>
                        <m:r>
                          <a:rPr lang="pt-BR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pt-BR" b="1" dirty="0">
                    <a:solidFill>
                      <a:srgbClr val="00B050"/>
                    </a:solidFill>
                  </a:rPr>
                  <a:t>, e a distância interquartil (IQR)</a:t>
                </a:r>
                <a:r>
                  <a:rPr lang="pt-BR" dirty="0"/>
                  <a:t> no escalonamento.</a:t>
                </a:r>
                <a:endParaRPr lang="pt-BR" b="1" dirty="0">
                  <a:solidFill>
                    <a:srgbClr val="FF0000"/>
                  </a:solidFill>
                </a:endParaRP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limLow>
                            <m:limLow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pos m:val="bot"/>
                                  <m:vertJc m:val="top"/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)−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IQR</m:t>
                              </m:r>
                              <m: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lim>
                          </m:limLow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são a mediana e a distância interquartil de um atributo.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2" cy="5032375"/>
              </a:xfrm>
              <a:blipFill>
                <a:blip r:embed="rId3"/>
                <a:stretch>
                  <a:fillRect l="-107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m 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6" t="15862" r="710" b="17661"/>
          <a:stretch/>
        </p:blipFill>
        <p:spPr>
          <a:xfrm>
            <a:off x="2414588" y="5217911"/>
            <a:ext cx="7011590" cy="1582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96080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E9AD0-32FE-7BB6-65F1-4C9F82FC9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EB2E1-2720-CBAD-00A2-4211C0FA6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FCF40E-198B-DB74-AFFD-EA10FEF889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Vantagem</a:t>
                </a:r>
                <a:r>
                  <a:rPr lang="pt-BR" dirty="0"/>
                  <a:t>: Por utilizar a mediana e 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,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outliers</a:t>
                </a:r>
                <a:r>
                  <a:rPr lang="pt-BR" b="1" dirty="0">
                    <a:solidFill>
                      <a:schemeClr val="accent2"/>
                    </a:solidFill>
                  </a:rPr>
                  <a:t> têm influência reduzida </a:t>
                </a:r>
                <a:r>
                  <a:rPr lang="pt-BR" dirty="0"/>
                  <a:t>no escalonamento.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mediana e o IQR são muito </a:t>
                </a:r>
                <a:r>
                  <a:rPr lang="pt-BR" b="1" dirty="0">
                    <a:solidFill>
                      <a:srgbClr val="7030A0"/>
                    </a:solidFill>
                  </a:rPr>
                  <a:t>menos afetados </a:t>
                </a:r>
                <a:r>
                  <a:rPr lang="pt-BR" b="1" dirty="0">
                    <a:solidFill>
                      <a:srgbClr val="00B0F0"/>
                    </a:solidFill>
                  </a:rPr>
                  <a:t>por poucos </a:t>
                </a:r>
                <a:r>
                  <a:rPr lang="pt-BR" b="1" i="1" dirty="0" err="1">
                    <a:solidFill>
                      <a:srgbClr val="7030A0"/>
                    </a:solidFill>
                  </a:rPr>
                  <a:t>outliers</a:t>
                </a:r>
                <a:r>
                  <a:rPr lang="pt-BR" b="1" dirty="0">
                    <a:solidFill>
                      <a:srgbClr val="7030A0"/>
                    </a:solidFill>
                  </a:rPr>
                  <a:t> extremos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Reduz o efeito de </a:t>
                </a:r>
                <a:r>
                  <a:rPr lang="pt-BR" i="1" dirty="0" err="1"/>
                  <a:t>outliers</a:t>
                </a:r>
                <a:r>
                  <a:rPr lang="pt-BR" dirty="0"/>
                  <a:t> extremos sobre a escala dos valores típicos, </a:t>
                </a:r>
                <a:r>
                  <a:rPr lang="pt-BR" b="1" dirty="0">
                    <a:solidFill>
                      <a:srgbClr val="00B050"/>
                    </a:solidFill>
                  </a:rPr>
                  <a:t>evitando sua compressão excessiva em torno de zero</a:t>
                </a:r>
                <a:r>
                  <a:rPr lang="pt-BR" dirty="0"/>
                  <a:t>.</a:t>
                </a:r>
                <a:endParaRPr lang="pt-BR" b="1" dirty="0"/>
              </a:p>
              <a:p>
                <a:r>
                  <a:rPr lang="pt-BR" b="1" dirty="0"/>
                  <a:t>Quando usar: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Quando há </a:t>
                </a:r>
                <a:r>
                  <a:rPr lang="pt-BR" i="1" dirty="0" err="1"/>
                  <a:t>outliers</a:t>
                </a:r>
                <a:r>
                  <a:rPr lang="pt-BR" dirty="0"/>
                  <a:t> significativos e desejamos mantê-los sem impactar o escalonamento.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Quando as distribuições são fortemente assimétricas (i.e., com cauda longa).</a:t>
                </a:r>
              </a:p>
              <a:p>
                <a:r>
                  <a:rPr lang="pt-BR" b="1" dirty="0"/>
                  <a:t>Cuidado: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b="1" dirty="0">
                    <a:solidFill>
                      <a:srgbClr val="00B050"/>
                    </a:solidFill>
                  </a:rPr>
                  <a:t>Preserva melhor a escala </a:t>
                </a:r>
                <a:r>
                  <a:rPr lang="pt-BR" dirty="0"/>
                  <a:t>dos dados típicos, </a:t>
                </a:r>
                <a:r>
                  <a:rPr lang="pt-BR" b="1" dirty="0">
                    <a:solidFill>
                      <a:srgbClr val="00B050"/>
                    </a:solidFill>
                  </a:rPr>
                  <a:t>mas não elimina nem disfarça </a:t>
                </a:r>
                <a:r>
                  <a:rPr lang="pt-BR" dirty="0"/>
                  <a:t>os </a:t>
                </a:r>
                <a:r>
                  <a:rPr lang="pt-BR" i="1" dirty="0"/>
                  <a:t>outliers. </a:t>
                </a:r>
                <a:r>
                  <a:rPr lang="pt-BR" dirty="0"/>
                  <a:t>Eles continuam nos dados.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Como os </a:t>
                </a:r>
                <a:r>
                  <a:rPr lang="pt-BR" i="1" dirty="0" err="1"/>
                  <a:t>outliers</a:t>
                </a:r>
                <a:r>
                  <a:rPr lang="pt-BR" i="1" dirty="0"/>
                  <a:t> </a:t>
                </a:r>
                <a:r>
                  <a:rPr lang="pt-BR" dirty="0"/>
                  <a:t>não são removidos, algoritmos </a:t>
                </a:r>
                <a:r>
                  <a:rPr lang="pt-BR" b="1" dirty="0">
                    <a:solidFill>
                      <a:schemeClr val="accent2"/>
                    </a:solidFill>
                  </a:rPr>
                  <a:t>baseados em distância </a:t>
                </a:r>
                <a:r>
                  <a:rPr lang="pt-BR" dirty="0"/>
                  <a:t>(KNN, k-</a:t>
                </a:r>
                <a:r>
                  <a:rPr lang="pt-BR" dirty="0" err="1"/>
                  <a:t>means</a:t>
                </a:r>
                <a:r>
                  <a:rPr lang="pt-BR" dirty="0"/>
                  <a:t>) e </a:t>
                </a:r>
                <a:r>
                  <a:rPr lang="pt-BR" b="1" dirty="0">
                    <a:solidFill>
                      <a:schemeClr val="accent2"/>
                    </a:solidFill>
                  </a:rPr>
                  <a:t>gradiente</a:t>
                </a:r>
                <a:r>
                  <a:rPr lang="pt-BR" dirty="0"/>
                  <a:t> (RNA e </a:t>
                </a:r>
                <a:r>
                  <a:rPr lang="pt-BR" dirty="0" err="1"/>
                  <a:t>Regressor</a:t>
                </a:r>
                <a:r>
                  <a:rPr lang="pt-BR" dirty="0"/>
                  <a:t> linear) podem ter seu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impactado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FCF40E-198B-DB74-AFFD-EA10FEF889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>
                <a:blip r:embed="rId3"/>
                <a:stretch>
                  <a:fillRect l="-967" t="-2663" r="-806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004248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438CB-284D-B132-E982-E10E2E0A6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015A9-D416-BD11-58AD-7B62F1B4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</a:t>
            </a:r>
            <a:r>
              <a:rPr lang="en-US" i="1" dirty="0"/>
              <a:t>Robust Scaling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49F56-D00F-7D12-5FCD-BB6DCFC23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Instância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escalonador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robusto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Aprende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os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parâmetros</a:t>
            </a:r>
            <a:r>
              <a:rPr lang="en-US" dirty="0">
                <a:latin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</a:rPr>
              <a:t>escalonamento</a:t>
            </a:r>
            <a:r>
              <a:rPr lang="en-US" dirty="0">
                <a:latin typeface="Consolas" panose="020B0609020204030204" pitchFamily="49" charset="0"/>
              </a:rPr>
              <a:t> no </a:t>
            </a:r>
            <a:r>
              <a:rPr lang="en-US" dirty="0" err="1">
                <a:latin typeface="Consolas" panose="020B0609020204030204" pitchFamily="49" charset="0"/>
              </a:rPr>
              <a:t>treino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Aplica</a:t>
            </a:r>
            <a:r>
              <a:rPr lang="en-US" dirty="0">
                <a:latin typeface="Consolas" panose="020B0609020204030204" pitchFamily="49" charset="0"/>
              </a:rPr>
              <a:t> o scaler </a:t>
            </a:r>
            <a:r>
              <a:rPr lang="en-US" dirty="0" err="1">
                <a:latin typeface="Consolas" panose="020B0609020204030204" pitchFamily="49" charset="0"/>
              </a:rPr>
              <a:t>aprendido</a:t>
            </a:r>
            <a:r>
              <a:rPr lang="en-US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554837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2465D-3B71-C4D6-425F-FF182A665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Armadilhas comuns durante o escalonamento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48CE3-22F4-8F30-72FB-7BA864CCB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23172" cy="5032375"/>
          </a:xfrm>
        </p:spPr>
        <p:txBody>
          <a:bodyPr>
            <a:normAutofit/>
          </a:bodyPr>
          <a:lstStyle/>
          <a:p>
            <a:r>
              <a:rPr lang="pt-BR" dirty="0"/>
              <a:t>Para evitar </a:t>
            </a:r>
            <a:r>
              <a:rPr lang="pt-BR" b="1" dirty="0">
                <a:solidFill>
                  <a:schemeClr val="accent2"/>
                </a:solidFill>
              </a:rPr>
              <a:t>vazamento de dados</a:t>
            </a:r>
            <a:r>
              <a:rPr lang="pt-BR" dirty="0"/>
              <a:t>, o escalonador deve sempre ser </a:t>
            </a:r>
            <a:r>
              <a:rPr lang="pt-BR" b="1" dirty="0">
                <a:solidFill>
                  <a:schemeClr val="accent2"/>
                </a:solidFill>
              </a:rPr>
              <a:t>ajustado no conjunto de treinamento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Assim, os conjuntos de validação e teste, são </a:t>
            </a:r>
            <a:r>
              <a:rPr lang="pt-BR" b="1" dirty="0">
                <a:solidFill>
                  <a:schemeClr val="accent1"/>
                </a:solidFill>
              </a:rPr>
              <a:t>transformados com os parâmetros encontrados com o conjunto e treinamento</a:t>
            </a:r>
            <a:r>
              <a:rPr lang="pt-BR" dirty="0"/>
              <a:t>.</a:t>
            </a:r>
          </a:p>
          <a:p>
            <a:r>
              <a:rPr lang="pt-BR" dirty="0"/>
              <a:t>Geralmente, </a:t>
            </a:r>
            <a:r>
              <a:rPr lang="pt-BR" b="1" dirty="0">
                <a:solidFill>
                  <a:srgbClr val="7030A0"/>
                </a:solidFill>
              </a:rPr>
              <a:t>não se aplica escalonamento à variável alvo</a:t>
            </a:r>
            <a:r>
              <a:rPr lang="pt-BR" dirty="0"/>
              <a:t>, i.e., os rótulos, apenas aos atributos.</a:t>
            </a:r>
          </a:p>
          <a:p>
            <a:r>
              <a:rPr lang="pt-BR" dirty="0"/>
              <a:t>Em geral, </a:t>
            </a:r>
            <a:r>
              <a:rPr lang="pt-BR" b="1" dirty="0"/>
              <a:t>atributos binários ou </a:t>
            </a:r>
            <a:r>
              <a:rPr lang="pt-BR" b="1" i="1" dirty="0" err="1"/>
              <a:t>one</a:t>
            </a:r>
            <a:r>
              <a:rPr lang="pt-BR" b="1" i="1" dirty="0"/>
              <a:t>-hot</a:t>
            </a:r>
            <a:r>
              <a:rPr lang="pt-BR" b="1" dirty="0"/>
              <a:t> </a:t>
            </a:r>
            <a:r>
              <a:rPr lang="pt-BR" b="1" dirty="0">
                <a:solidFill>
                  <a:srgbClr val="00B050"/>
                </a:solidFill>
              </a:rPr>
              <a:t>não precisam ser escalonados</a:t>
            </a:r>
            <a:r>
              <a:rPr lang="pt-BR" dirty="0"/>
              <a:t>, especialmente quando já estão na mesma escala entre 0 e 1.</a:t>
            </a:r>
          </a:p>
        </p:txBody>
      </p:sp>
    </p:spTree>
    <p:extLst>
      <p:ext uri="{BB962C8B-B14F-4D97-AF65-F5344CB8AC3E}">
        <p14:creationId xmlns:p14="http://schemas.microsoft.com/office/powerpoint/2010/main" val="8775267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8DCA9-22E3-E7D2-4335-66012FBB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categóricos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35704-3008-E5B2-8105-C96099FC4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Motivação</a:t>
            </a:r>
            <a:r>
              <a:rPr lang="pt-BR" noProof="0" dirty="0"/>
              <a:t>: </a:t>
            </a:r>
            <a:r>
              <a:rPr lang="pt-BR" b="1" noProof="0" dirty="0">
                <a:solidFill>
                  <a:schemeClr val="accent2"/>
                </a:solidFill>
              </a:rPr>
              <a:t>Modelos de ML não entendem atributos categóricos (e.g., texto)</a:t>
            </a:r>
            <a:r>
              <a:rPr lang="pt-BR" noProof="0" dirty="0"/>
              <a:t>, portanto, precisamos converte-los em </a:t>
            </a:r>
            <a:r>
              <a:rPr lang="pt-BR" b="1" noProof="0" dirty="0">
                <a:solidFill>
                  <a:srgbClr val="00B050"/>
                </a:solidFill>
              </a:rPr>
              <a:t>números</a:t>
            </a:r>
            <a:r>
              <a:rPr lang="pt-BR" noProof="0" dirty="0"/>
              <a:t>.</a:t>
            </a:r>
          </a:p>
          <a:p>
            <a:r>
              <a:rPr lang="pt-BR" noProof="0" dirty="0"/>
              <a:t>As principais técnicas de codificação são: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One</a:t>
            </a:r>
            <a:r>
              <a:rPr lang="pt-BR" noProof="0" dirty="0"/>
              <a:t>-Hot </a:t>
            </a:r>
            <a:r>
              <a:rPr lang="pt-BR" noProof="0" dirty="0" err="1"/>
              <a:t>encoding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Label</a:t>
            </a:r>
            <a:r>
              <a:rPr lang="pt-BR" noProof="0" dirty="0"/>
              <a:t> </a:t>
            </a:r>
            <a:r>
              <a:rPr lang="pt-BR" noProof="0" dirty="0" err="1"/>
              <a:t>encoding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Target </a:t>
            </a:r>
            <a:r>
              <a:rPr lang="pt-BR" noProof="0" dirty="0" err="1"/>
              <a:t>encoding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 err="1"/>
              <a:t>Binary</a:t>
            </a:r>
            <a:r>
              <a:rPr lang="pt-BR" noProof="0" dirty="0"/>
              <a:t> </a:t>
            </a:r>
            <a:r>
              <a:rPr lang="pt-BR" noProof="0" dirty="0" err="1"/>
              <a:t>encoding</a:t>
            </a:r>
            <a:endParaRPr lang="pt-BR" noProof="0" dirty="0"/>
          </a:p>
          <a:p>
            <a:r>
              <a:rPr lang="pt-BR" noProof="0" dirty="0"/>
              <a:t>A escolha da técnica correta é fundamental, pois uma </a:t>
            </a:r>
            <a:r>
              <a:rPr lang="pt-BR" b="1" noProof="0" dirty="0">
                <a:solidFill>
                  <a:srgbClr val="00B050"/>
                </a:solidFill>
              </a:rPr>
              <a:t>codificação inadequada pode induzir o modelo a </a:t>
            </a:r>
            <a:r>
              <a:rPr lang="pt-BR" b="1" noProof="0" dirty="0">
                <a:solidFill>
                  <a:schemeClr val="accent1"/>
                </a:solidFill>
              </a:rPr>
              <a:t>interpretar falsas relações </a:t>
            </a:r>
            <a:r>
              <a:rPr lang="pt-BR" noProof="0" dirty="0"/>
              <a:t>matemáticas.</a:t>
            </a:r>
          </a:p>
        </p:txBody>
      </p:sp>
    </p:spTree>
    <p:extLst>
      <p:ext uri="{BB962C8B-B14F-4D97-AF65-F5344CB8AC3E}">
        <p14:creationId xmlns:p14="http://schemas.microsoft.com/office/powerpoint/2010/main" val="36873156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389AB-09B4-AB30-AAD4-587A6426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514B5-016A-AF18-EA86-F01A68136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52C18-6F1E-8230-5D96-63D8A5144D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4068" y="1825624"/>
            <a:ext cx="5907932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Usada com atributos </a:t>
            </a:r>
            <a:r>
              <a:rPr lang="pt-BR" b="1" noProof="0" dirty="0">
                <a:solidFill>
                  <a:srgbClr val="00B050"/>
                </a:solidFill>
              </a:rPr>
              <a:t>nominais</a:t>
            </a:r>
            <a:r>
              <a:rPr lang="pt-BR" noProof="0" dirty="0"/>
              <a:t> (sem ordem/hierarquia) e com </a:t>
            </a:r>
            <a:r>
              <a:rPr lang="pt-BR" b="1" noProof="0" dirty="0">
                <a:solidFill>
                  <a:srgbClr val="00B050"/>
                </a:solidFill>
              </a:rPr>
              <a:t>baixa</a:t>
            </a:r>
            <a:r>
              <a:rPr lang="pt-BR" noProof="0" dirty="0"/>
              <a:t> </a:t>
            </a:r>
            <a:r>
              <a:rPr lang="pt-BR" b="1" noProof="0" dirty="0">
                <a:solidFill>
                  <a:srgbClr val="00B050"/>
                </a:solidFill>
              </a:rPr>
              <a:t>cardinalidade</a:t>
            </a:r>
            <a:r>
              <a:rPr lang="pt-BR" noProof="0" dirty="0"/>
              <a:t> (com poucas categorias distintas). </a:t>
            </a:r>
          </a:p>
          <a:p>
            <a:r>
              <a:rPr lang="pt-BR" b="1" noProof="0" dirty="0"/>
              <a:t>Como funciona:</a:t>
            </a:r>
            <a:r>
              <a:rPr lang="pt-BR" noProof="0" dirty="0"/>
              <a:t> Cria uma nova </a:t>
            </a:r>
            <a:r>
              <a:rPr lang="pt-BR" b="1" noProof="0" dirty="0">
                <a:solidFill>
                  <a:schemeClr val="accent1"/>
                </a:solidFill>
              </a:rPr>
              <a:t>coluna binária</a:t>
            </a:r>
            <a:r>
              <a:rPr lang="pt-BR" noProof="0" dirty="0"/>
              <a:t> para </a:t>
            </a:r>
            <a:r>
              <a:rPr lang="pt-BR" b="1" noProof="0" dirty="0">
                <a:solidFill>
                  <a:schemeClr val="accent1"/>
                </a:solidFill>
              </a:rPr>
              <a:t>cada categoria </a:t>
            </a:r>
            <a:r>
              <a:rPr lang="pt-BR" noProof="0" dirty="0"/>
              <a:t>distinta presente no atributo original, </a:t>
            </a:r>
            <a:r>
              <a:rPr lang="pt-BR" b="1" noProof="0" dirty="0">
                <a:solidFill>
                  <a:schemeClr val="accent2"/>
                </a:solidFill>
              </a:rPr>
              <a:t>indicando a presença ou ausência daquela categoria </a:t>
            </a:r>
            <a:r>
              <a:rPr lang="pt-BR" noProof="0" dirty="0"/>
              <a:t>em cada observação </a:t>
            </a:r>
            <a:r>
              <a:rPr lang="pt-BR" b="1" noProof="0" dirty="0">
                <a:solidFill>
                  <a:srgbClr val="7030A0"/>
                </a:solidFill>
              </a:rPr>
              <a:t>de forma binária</a:t>
            </a:r>
            <a:r>
              <a:rPr lang="pt-BR" noProof="0" dirty="0"/>
              <a:t> (1 ou 0).</a:t>
            </a:r>
          </a:p>
        </p:txBody>
      </p:sp>
      <p:grpSp>
        <p:nvGrpSpPr>
          <p:cNvPr id="7" name="Agrupar 6">
            <a:extLst>
              <a:ext uri="{FF2B5EF4-FFF2-40B4-BE49-F238E27FC236}">
                <a16:creationId xmlns:a16="http://schemas.microsoft.com/office/drawing/2014/main" id="{4ED1F471-447F-6E20-0C8A-5AF78B2F65A0}"/>
              </a:ext>
            </a:extLst>
          </p:cNvPr>
          <p:cNvGrpSpPr/>
          <p:nvPr/>
        </p:nvGrpSpPr>
        <p:grpSpPr>
          <a:xfrm>
            <a:off x="204285" y="2564830"/>
            <a:ext cx="5733562" cy="2746472"/>
            <a:chOff x="97277" y="2564830"/>
            <a:chExt cx="5733562" cy="2746472"/>
          </a:xfrm>
        </p:grpSpPr>
        <p:pic>
          <p:nvPicPr>
            <p:cNvPr id="2051" name="Picture 3" descr="One-Hot Encoding: A Comprehensive Guide with Python Implementation | by  Shubham Sangole | GoPenAI">
              <a:extLst>
                <a:ext uri="{FF2B5EF4-FFF2-40B4-BE49-F238E27FC236}">
                  <a16:creationId xmlns:a16="http://schemas.microsoft.com/office/drawing/2014/main" id="{04411FF2-E0FD-9D33-63B9-86F2888D8A5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237" t="8519" r="2382" b="57788"/>
            <a:stretch>
              <a:fillRect/>
            </a:stretch>
          </p:blipFill>
          <p:spPr bwMode="auto">
            <a:xfrm>
              <a:off x="264269" y="2934162"/>
              <a:ext cx="5566570" cy="2377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CaixaDeTexto 3">
              <a:extLst>
                <a:ext uri="{FF2B5EF4-FFF2-40B4-BE49-F238E27FC236}">
                  <a16:creationId xmlns:a16="http://schemas.microsoft.com/office/drawing/2014/main" id="{6EE1F129-CDC7-C1C6-8EEE-0B4A9666A387}"/>
                </a:ext>
              </a:extLst>
            </p:cNvPr>
            <p:cNvSpPr txBox="1"/>
            <p:nvPr/>
          </p:nvSpPr>
          <p:spPr>
            <a:xfrm>
              <a:off x="97277" y="2564830"/>
              <a:ext cx="17170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Atributo original</a:t>
              </a:r>
              <a:endParaRPr lang="en-US" dirty="0"/>
            </a:p>
          </p:txBody>
        </p:sp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0CDFF252-05A8-7FE4-75C8-69BED8429C65}"/>
                </a:ext>
              </a:extLst>
            </p:cNvPr>
            <p:cNvSpPr txBox="1"/>
            <p:nvPr/>
          </p:nvSpPr>
          <p:spPr>
            <a:xfrm>
              <a:off x="2918299" y="2564830"/>
              <a:ext cx="28210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Atributo codificado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927027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51C8B-BBE1-EBED-640A-049FFD7EBC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34503-0C1E-6E4A-F863-85DA53C2B1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C0240C-2CF4-C09C-EC83-6F3D86FB3F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0200" y="1825624"/>
            <a:ext cx="6781800" cy="5032375"/>
          </a:xfrm>
        </p:spPr>
        <p:txBody>
          <a:bodyPr>
            <a:normAutofit/>
          </a:bodyPr>
          <a:lstStyle/>
          <a:p>
            <a:r>
              <a:rPr lang="pt-BR" b="1" dirty="0"/>
              <a:t>Vantagem</a:t>
            </a:r>
            <a:r>
              <a:rPr lang="pt-BR" dirty="0"/>
              <a:t>: Evita que o algoritmo </a:t>
            </a:r>
            <a:r>
              <a:rPr lang="pt-BR" b="1" dirty="0">
                <a:solidFill>
                  <a:schemeClr val="accent2"/>
                </a:solidFill>
              </a:rPr>
              <a:t>assuma qualquer relação de grandeza ou ordem</a:t>
            </a:r>
            <a:r>
              <a:rPr lang="pt-BR" dirty="0"/>
              <a:t> </a:t>
            </a:r>
            <a:r>
              <a:rPr lang="pt-BR" b="1" dirty="0">
                <a:solidFill>
                  <a:srgbClr val="00B0F0"/>
                </a:solidFill>
              </a:rPr>
              <a:t>artificial</a:t>
            </a:r>
            <a:r>
              <a:rPr lang="pt-BR" dirty="0"/>
              <a:t> entre as categorias. </a:t>
            </a:r>
          </a:p>
          <a:p>
            <a:r>
              <a:rPr lang="pt-BR" b="1" noProof="0" dirty="0"/>
              <a:t>Limitação:</a:t>
            </a:r>
            <a:r>
              <a:rPr lang="pt-BR" noProof="0" dirty="0"/>
              <a:t> Gera </a:t>
            </a:r>
            <a:r>
              <a:rPr lang="pt-BR" b="1" noProof="0" dirty="0">
                <a:solidFill>
                  <a:schemeClr val="accent6"/>
                </a:solidFill>
              </a:rPr>
              <a:t>alta dimensionalidade </a:t>
            </a:r>
            <a:r>
              <a:rPr lang="pt-BR" noProof="0" dirty="0"/>
              <a:t>(muitas colunas) se um atributo possuir muitas categorias distintas.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Pode criar o problema conhecido como a “</a:t>
            </a:r>
            <a:r>
              <a:rPr lang="pt-BR" b="1" noProof="0" dirty="0">
                <a:solidFill>
                  <a:srgbClr val="7030A0"/>
                </a:solidFill>
              </a:rPr>
              <a:t>maldição da dimensionalidade</a:t>
            </a:r>
            <a:r>
              <a:rPr lang="pt-BR" noProof="0" dirty="0"/>
              <a:t>”.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Pontos ficam </a:t>
            </a:r>
            <a:r>
              <a:rPr lang="pt-BR" b="1" noProof="0" dirty="0">
                <a:solidFill>
                  <a:srgbClr val="0070C0"/>
                </a:solidFill>
              </a:rPr>
              <a:t>muito distantes uns dos outros</a:t>
            </a:r>
            <a:r>
              <a:rPr lang="pt-BR" noProof="0" dirty="0"/>
              <a:t> (perde-se noção de proximidade), </a:t>
            </a:r>
            <a:r>
              <a:rPr lang="pt-BR" dirty="0"/>
              <a:t>prejudicando algoritmos baseados em distância (e.g., KNN).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</a:t>
            </a:r>
            <a:r>
              <a:rPr lang="pt-BR" noProof="0" dirty="0" err="1"/>
              <a:t>ificulta</a:t>
            </a:r>
            <a:r>
              <a:rPr lang="pt-BR" noProof="0" dirty="0"/>
              <a:t> a visualização e aumenta o custo computacional.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F0084FC5-4512-47C1-23FB-5A6B3318D438}"/>
              </a:ext>
            </a:extLst>
          </p:cNvPr>
          <p:cNvGrpSpPr/>
          <p:nvPr/>
        </p:nvGrpSpPr>
        <p:grpSpPr>
          <a:xfrm>
            <a:off x="117197" y="2895600"/>
            <a:ext cx="5151489" cy="2415701"/>
            <a:chOff x="97277" y="2564830"/>
            <a:chExt cx="5733562" cy="2746472"/>
          </a:xfrm>
        </p:grpSpPr>
        <p:pic>
          <p:nvPicPr>
            <p:cNvPr id="5" name="Picture 3" descr="One-Hot Encoding: A Comprehensive Guide with Python Implementation | by  Shubham Sangole | GoPenAI">
              <a:extLst>
                <a:ext uri="{FF2B5EF4-FFF2-40B4-BE49-F238E27FC236}">
                  <a16:creationId xmlns:a16="http://schemas.microsoft.com/office/drawing/2014/main" id="{7CF08F08-7DEB-A4D1-9198-731AA3AA1CF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3237" t="8519" r="2382" b="57788"/>
            <a:stretch>
              <a:fillRect/>
            </a:stretch>
          </p:blipFill>
          <p:spPr bwMode="auto">
            <a:xfrm>
              <a:off x="264269" y="2934162"/>
              <a:ext cx="5566570" cy="2377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ED1EA21E-3735-6AFC-C1BC-7C7808C9E49B}"/>
                </a:ext>
              </a:extLst>
            </p:cNvPr>
            <p:cNvSpPr txBox="1"/>
            <p:nvPr/>
          </p:nvSpPr>
          <p:spPr>
            <a:xfrm>
              <a:off x="97277" y="2564830"/>
              <a:ext cx="17170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Atributo original</a:t>
              </a:r>
              <a:endParaRPr lang="en-US" dirty="0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8815B10C-76BA-C7A9-5A1C-BB0478A7556D}"/>
                </a:ext>
              </a:extLst>
            </p:cNvPr>
            <p:cNvSpPr txBox="1"/>
            <p:nvPr/>
          </p:nvSpPr>
          <p:spPr>
            <a:xfrm>
              <a:off x="2918299" y="2564830"/>
              <a:ext cx="282102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Atributo codificado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5572435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A9C30-8D7C-8A1B-D798-06ED56DFC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49E73-5A60-3934-DCFD-CA42C618F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Label </a:t>
            </a:r>
            <a:r>
              <a:rPr lang="en-US" dirty="0"/>
              <a:t>e</a:t>
            </a:r>
            <a:r>
              <a:rPr lang="en-US" i="1" dirty="0"/>
              <a:t> ordinal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8BA66-6028-330D-1D57-30D6366E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2486" y="1825624"/>
            <a:ext cx="6999515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Converte </a:t>
            </a:r>
            <a:r>
              <a:rPr lang="pt-BR" b="1" noProof="0" dirty="0">
                <a:solidFill>
                  <a:srgbClr val="00B050"/>
                </a:solidFill>
              </a:rPr>
              <a:t>cada categoria de um atributo em um </a:t>
            </a:r>
            <a:r>
              <a:rPr lang="pt-BR" b="1" noProof="0" dirty="0">
                <a:solidFill>
                  <a:srgbClr val="00B0F0"/>
                </a:solidFill>
              </a:rPr>
              <a:t>número inteiro</a:t>
            </a:r>
            <a:r>
              <a:rPr lang="pt-BR" b="1" noProof="0" dirty="0">
                <a:solidFill>
                  <a:srgbClr val="00B050"/>
                </a:solidFill>
              </a:rPr>
              <a:t> </a:t>
            </a:r>
            <a:r>
              <a:rPr lang="pt-BR" b="1" noProof="0" dirty="0">
                <a:solidFill>
                  <a:schemeClr val="accent2"/>
                </a:solidFill>
              </a:rPr>
              <a:t>único</a:t>
            </a:r>
            <a:r>
              <a:rPr lang="pt-BR" noProof="0" dirty="0"/>
              <a:t>.</a:t>
            </a:r>
          </a:p>
          <a:p>
            <a:r>
              <a:rPr lang="pt-BR" i="1" noProof="0" dirty="0" err="1"/>
              <a:t>Label</a:t>
            </a:r>
            <a:r>
              <a:rPr lang="pt-BR" i="1" noProof="0" dirty="0"/>
              <a:t> </a:t>
            </a:r>
            <a:r>
              <a:rPr lang="pt-BR" i="1" noProof="0" dirty="0" err="1"/>
              <a:t>Encoding</a:t>
            </a:r>
            <a:r>
              <a:rPr lang="pt-BR" i="1" noProof="0" dirty="0"/>
              <a:t> </a:t>
            </a:r>
            <a:r>
              <a:rPr lang="pt-BR" noProof="0" dirty="0"/>
              <a:t>é usado na </a:t>
            </a:r>
            <a:r>
              <a:rPr lang="pt-BR" b="1" noProof="0" dirty="0">
                <a:solidFill>
                  <a:srgbClr val="0070C0"/>
                </a:solidFill>
              </a:rPr>
              <a:t>conversão da variável alvo </a:t>
            </a:r>
            <a:r>
              <a:rPr lang="pt-BR" noProof="0" dirty="0"/>
              <a:t>(rótulos).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animais: Gato=0, Cachorro=1.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existe necessariamente uma ordem: Cachorro não é maior do que Gato.</a:t>
            </a:r>
            <a:endParaRPr lang="pt-BR" noProof="0" dirty="0"/>
          </a:p>
          <a:p>
            <a:r>
              <a:rPr lang="pt-BR" i="1" noProof="0" dirty="0"/>
              <a:t>Ordinal </a:t>
            </a:r>
            <a:r>
              <a:rPr lang="pt-BR" i="1" noProof="0" dirty="0" err="1"/>
              <a:t>Encoding</a:t>
            </a:r>
            <a:r>
              <a:rPr lang="pt-BR" i="1" noProof="0" dirty="0"/>
              <a:t> </a:t>
            </a:r>
            <a:r>
              <a:rPr lang="pt-BR" noProof="0" dirty="0"/>
              <a:t>é usado na </a:t>
            </a:r>
            <a:r>
              <a:rPr lang="pt-BR" b="1" noProof="0" dirty="0">
                <a:solidFill>
                  <a:srgbClr val="0070C0"/>
                </a:solidFill>
              </a:rPr>
              <a:t>conversão atributos</a:t>
            </a:r>
            <a:r>
              <a:rPr lang="pt-BR" noProof="0" dirty="0"/>
              <a:t> que possuem </a:t>
            </a:r>
            <a:r>
              <a:rPr lang="pt-BR" b="1" noProof="0" dirty="0">
                <a:solidFill>
                  <a:srgbClr val="7030A0"/>
                </a:solidFill>
              </a:rPr>
              <a:t>ordem ou hierarquia</a:t>
            </a:r>
            <a:r>
              <a:rPr lang="pt-BR" noProof="0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</a:t>
            </a:r>
            <a:r>
              <a:rPr lang="pt-BR" noProof="0" dirty="0" err="1"/>
              <a:t>or</a:t>
            </a:r>
            <a:r>
              <a:rPr lang="pt-BR" noProof="0" dirty="0"/>
              <a:t> exemplo, tamanho de roupas: P=0, M=1, G=2.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Existe uma </a:t>
            </a:r>
            <a:r>
              <a:rPr lang="pt-BR" b="1" dirty="0"/>
              <a:t>ordem real</a:t>
            </a:r>
            <a:r>
              <a:rPr lang="pt-BR" dirty="0"/>
              <a:t>: P &lt; M &lt; G.</a:t>
            </a:r>
            <a:endParaRPr lang="pt-BR" noProof="0" dirty="0"/>
          </a:p>
        </p:txBody>
      </p:sp>
      <p:grpSp>
        <p:nvGrpSpPr>
          <p:cNvPr id="9" name="Agrupar 8">
            <a:extLst>
              <a:ext uri="{FF2B5EF4-FFF2-40B4-BE49-F238E27FC236}">
                <a16:creationId xmlns:a16="http://schemas.microsoft.com/office/drawing/2014/main" id="{629611F3-BA2F-01EA-B485-DBC1B53A843C}"/>
              </a:ext>
            </a:extLst>
          </p:cNvPr>
          <p:cNvGrpSpPr/>
          <p:nvPr/>
        </p:nvGrpSpPr>
        <p:grpSpPr>
          <a:xfrm>
            <a:off x="73651" y="2570748"/>
            <a:ext cx="5363174" cy="2491108"/>
            <a:chOff x="204283" y="2570748"/>
            <a:chExt cx="5363174" cy="2491108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7529D32B-8978-31FB-62B1-9E8E3D4004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61" t="7152" r="5331" b="8009"/>
            <a:stretch>
              <a:fillRect/>
            </a:stretch>
          </p:blipFill>
          <p:spPr>
            <a:xfrm>
              <a:off x="304798" y="2895600"/>
              <a:ext cx="4616969" cy="2166256"/>
            </a:xfrm>
            <a:prstGeom prst="rect">
              <a:avLst/>
            </a:prstGeom>
          </p:spPr>
        </p:pic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71854768-2470-C9E2-78AD-3CDB97E52FCC}"/>
                </a:ext>
              </a:extLst>
            </p:cNvPr>
            <p:cNvSpPr txBox="1"/>
            <p:nvPr/>
          </p:nvSpPr>
          <p:spPr>
            <a:xfrm>
              <a:off x="204283" y="2570748"/>
              <a:ext cx="1542755" cy="3248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Atributo original</a:t>
              </a:r>
              <a:endParaRPr lang="en-US" dirty="0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F6A173A7-D63D-F612-1BCB-1AFF88B80D2B}"/>
                </a:ext>
              </a:extLst>
            </p:cNvPr>
            <p:cNvSpPr txBox="1"/>
            <p:nvPr/>
          </p:nvSpPr>
          <p:spPr>
            <a:xfrm>
              <a:off x="3032828" y="2571608"/>
              <a:ext cx="2534629" cy="3248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Atributo codificado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91105652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C1BE54-26F4-ABC0-7BC0-5A041E99D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CF2D17-1B55-E33E-D5AC-EA02B0CB5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Label </a:t>
            </a:r>
            <a:r>
              <a:rPr lang="en-US" dirty="0"/>
              <a:t>e</a:t>
            </a:r>
            <a:r>
              <a:rPr lang="en-US" i="1" dirty="0"/>
              <a:t> ordinal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F6AF0-B741-B2F9-3ACB-CAE98548DF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72545" y="1825624"/>
            <a:ext cx="6719455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Quando usar:</a:t>
            </a:r>
            <a:r>
              <a:rPr lang="pt-BR" noProof="0" dirty="0"/>
              <a:t> </a:t>
            </a:r>
            <a:r>
              <a:rPr lang="pt-BR" b="1" dirty="0">
                <a:solidFill>
                  <a:srgbClr val="00B0F0"/>
                </a:solidFill>
              </a:rPr>
              <a:t>apenas com rótulos </a:t>
            </a:r>
            <a:r>
              <a:rPr lang="pt-BR" dirty="0"/>
              <a:t>(</a:t>
            </a:r>
            <a:r>
              <a:rPr lang="pt-BR" i="1" dirty="0" err="1"/>
              <a:t>label</a:t>
            </a:r>
            <a:r>
              <a:rPr lang="pt-BR" dirty="0"/>
              <a:t>) ou </a:t>
            </a:r>
            <a:r>
              <a:rPr lang="pt-BR" noProof="0" dirty="0"/>
              <a:t>quando o </a:t>
            </a:r>
            <a:r>
              <a:rPr lang="pt-BR" b="1" noProof="0" dirty="0">
                <a:solidFill>
                  <a:schemeClr val="accent2"/>
                </a:solidFill>
              </a:rPr>
              <a:t>atributo possuir ordem ou hierarquia</a:t>
            </a:r>
            <a:r>
              <a:rPr lang="pt-BR" noProof="0" dirty="0"/>
              <a:t> (</a:t>
            </a:r>
            <a:r>
              <a:rPr lang="pt-BR" i="1" noProof="0" dirty="0"/>
              <a:t>ordinal</a:t>
            </a:r>
            <a:r>
              <a:rPr lang="pt-BR" noProof="0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Caso contrário, usar </a:t>
            </a:r>
            <a:r>
              <a:rPr lang="pt-BR" i="1" noProof="0" dirty="0" err="1"/>
              <a:t>one</a:t>
            </a:r>
            <a:r>
              <a:rPr lang="pt-BR" i="1" noProof="0" dirty="0"/>
              <a:t>-hot </a:t>
            </a:r>
            <a:r>
              <a:rPr lang="pt-BR" i="1" noProof="0" dirty="0" err="1"/>
              <a:t>encoding</a:t>
            </a:r>
            <a:r>
              <a:rPr lang="pt-BR" noProof="0" dirty="0"/>
              <a:t>.</a:t>
            </a:r>
          </a:p>
          <a:p>
            <a:r>
              <a:rPr lang="pt-BR" b="1" noProof="0" dirty="0"/>
              <a:t>Risco:</a:t>
            </a:r>
            <a:r>
              <a:rPr lang="pt-BR" noProof="0" dirty="0"/>
              <a:t> </a:t>
            </a:r>
            <a:r>
              <a:rPr lang="pt-BR" i="1" noProof="0" dirty="0"/>
              <a:t>Ordinal </a:t>
            </a:r>
            <a:r>
              <a:rPr lang="pt-BR" i="1" noProof="0" dirty="0" err="1"/>
              <a:t>encoding</a:t>
            </a:r>
            <a:r>
              <a:rPr lang="pt-BR" noProof="0" dirty="0"/>
              <a:t> pode introduzir uma </a:t>
            </a:r>
            <a:r>
              <a:rPr lang="pt-BR" b="1" noProof="0" dirty="0">
                <a:solidFill>
                  <a:srgbClr val="7030A0"/>
                </a:solidFill>
              </a:rPr>
              <a:t>relação de ordem falsa</a:t>
            </a:r>
            <a:r>
              <a:rPr lang="pt-BR" noProof="0" dirty="0"/>
              <a:t>, prejudicando </a:t>
            </a:r>
            <a:r>
              <a:rPr lang="pt-BR" b="1" noProof="0" dirty="0">
                <a:solidFill>
                  <a:srgbClr val="00B050"/>
                </a:solidFill>
              </a:rPr>
              <a:t>modelos que interpretam os códigos como valores numéricos </a:t>
            </a:r>
            <a:r>
              <a:rPr lang="pt-BR" noProof="0" dirty="0"/>
              <a:t>(e.g., regressor linear, KNN e k-</a:t>
            </a:r>
            <a:r>
              <a:rPr lang="pt-BR" noProof="0" dirty="0" err="1"/>
              <a:t>Means</a:t>
            </a:r>
            <a:r>
              <a:rPr lang="pt-BR" noProof="0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Por exemplo, na figura, </a:t>
            </a:r>
            <a:r>
              <a:rPr lang="pt-BR" b="1" noProof="0" dirty="0"/>
              <a:t>não existe uma relação de ordem entre as cores: </a:t>
            </a:r>
            <a:r>
              <a:rPr lang="pt-BR" noProof="0" dirty="0" err="1"/>
              <a:t>Red</a:t>
            </a:r>
            <a:r>
              <a:rPr lang="pt-BR" noProof="0" dirty="0"/>
              <a:t> &lt; Green &lt; Blue.</a:t>
            </a:r>
          </a:p>
        </p:txBody>
      </p:sp>
      <p:grpSp>
        <p:nvGrpSpPr>
          <p:cNvPr id="4" name="Agrupar 3">
            <a:extLst>
              <a:ext uri="{FF2B5EF4-FFF2-40B4-BE49-F238E27FC236}">
                <a16:creationId xmlns:a16="http://schemas.microsoft.com/office/drawing/2014/main" id="{1A2AA811-9C12-C6DA-F5FC-8EEC77455865}"/>
              </a:ext>
            </a:extLst>
          </p:cNvPr>
          <p:cNvGrpSpPr/>
          <p:nvPr/>
        </p:nvGrpSpPr>
        <p:grpSpPr>
          <a:xfrm>
            <a:off x="236937" y="2603405"/>
            <a:ext cx="5363174" cy="2491108"/>
            <a:chOff x="204283" y="2570748"/>
            <a:chExt cx="5363174" cy="2491108"/>
          </a:xfrm>
        </p:grpSpPr>
        <p:pic>
          <p:nvPicPr>
            <p:cNvPr id="5" name="Picture 7">
              <a:extLst>
                <a:ext uri="{FF2B5EF4-FFF2-40B4-BE49-F238E27FC236}">
                  <a16:creationId xmlns:a16="http://schemas.microsoft.com/office/drawing/2014/main" id="{ECA447B4-8678-E08F-4C10-35C1EDD692B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261" t="7152" r="5331" b="8009"/>
            <a:stretch>
              <a:fillRect/>
            </a:stretch>
          </p:blipFill>
          <p:spPr>
            <a:xfrm>
              <a:off x="304798" y="2895600"/>
              <a:ext cx="4616969" cy="2166256"/>
            </a:xfrm>
            <a:prstGeom prst="rect">
              <a:avLst/>
            </a:prstGeom>
          </p:spPr>
        </p:pic>
        <p:sp>
          <p:nvSpPr>
            <p:cNvPr id="6" name="CaixaDeTexto 5">
              <a:extLst>
                <a:ext uri="{FF2B5EF4-FFF2-40B4-BE49-F238E27FC236}">
                  <a16:creationId xmlns:a16="http://schemas.microsoft.com/office/drawing/2014/main" id="{631A6321-76FE-1DAB-86DD-5D5D9D69F27C}"/>
                </a:ext>
              </a:extLst>
            </p:cNvPr>
            <p:cNvSpPr txBox="1"/>
            <p:nvPr/>
          </p:nvSpPr>
          <p:spPr>
            <a:xfrm>
              <a:off x="204283" y="2570748"/>
              <a:ext cx="1542755" cy="32485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Atributo original</a:t>
              </a:r>
              <a:endParaRPr lang="en-US" dirty="0"/>
            </a:p>
          </p:txBody>
        </p:sp>
        <p:sp>
          <p:nvSpPr>
            <p:cNvPr id="7" name="CaixaDeTexto 6">
              <a:extLst>
                <a:ext uri="{FF2B5EF4-FFF2-40B4-BE49-F238E27FC236}">
                  <a16:creationId xmlns:a16="http://schemas.microsoft.com/office/drawing/2014/main" id="{610C9D61-2288-A2C4-704D-060CA0B85AE0}"/>
                </a:ext>
              </a:extLst>
            </p:cNvPr>
            <p:cNvSpPr txBox="1"/>
            <p:nvPr/>
          </p:nvSpPr>
          <p:spPr>
            <a:xfrm>
              <a:off x="3032828" y="2571608"/>
              <a:ext cx="2534629" cy="3248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dirty="0"/>
                <a:t>Atributo codificado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82387068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883D4-BDD8-E7FF-C7AE-3D255B871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E13F8-6196-AD06-DE47-12B16A60F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Target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3F122-99CE-8A1C-8288-BA542054EA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95257" y="1825625"/>
            <a:ext cx="6444343" cy="5032375"/>
          </a:xfrm>
        </p:spPr>
        <p:txBody>
          <a:bodyPr>
            <a:normAutofit/>
          </a:bodyPr>
          <a:lstStyle/>
          <a:p>
            <a:r>
              <a:rPr lang="pt-BR" dirty="0"/>
              <a:t>Em vez de usar números arbitrários (</a:t>
            </a:r>
            <a:r>
              <a:rPr lang="pt-BR" b="1" i="1" dirty="0" err="1"/>
              <a:t>Label</a:t>
            </a:r>
            <a:r>
              <a:rPr lang="pt-BR" b="1" i="1" dirty="0"/>
              <a:t>/Ordinal </a:t>
            </a:r>
            <a:r>
              <a:rPr lang="pt-BR" b="1" i="1" dirty="0" err="1"/>
              <a:t>Encoding</a:t>
            </a:r>
            <a:r>
              <a:rPr lang="pt-BR" dirty="0"/>
              <a:t>) ou criar várias colunas (</a:t>
            </a:r>
            <a:r>
              <a:rPr lang="pt-BR" b="1" i="1" dirty="0" err="1"/>
              <a:t>One</a:t>
            </a:r>
            <a:r>
              <a:rPr lang="pt-BR" b="1" i="1" dirty="0"/>
              <a:t>-Hot </a:t>
            </a:r>
            <a:r>
              <a:rPr lang="pt-BR" b="1" i="1" dirty="0" err="1"/>
              <a:t>Encoding</a:t>
            </a:r>
            <a:r>
              <a:rPr lang="pt-BR" dirty="0"/>
              <a:t>), </a:t>
            </a:r>
            <a:r>
              <a:rPr lang="pt-BR" b="1" dirty="0">
                <a:solidFill>
                  <a:schemeClr val="accent2"/>
                </a:solidFill>
              </a:rPr>
              <a:t>usa informação estatística extraída da </a:t>
            </a:r>
            <a:r>
              <a:rPr lang="pt-BR" b="1" dirty="0">
                <a:solidFill>
                  <a:schemeClr val="accent1"/>
                </a:solidFill>
              </a:rPr>
              <a:t>variável alvo (i.e., rótulo)</a:t>
            </a:r>
            <a:r>
              <a:rPr lang="pt-BR" dirty="0"/>
              <a:t>.</a:t>
            </a:r>
          </a:p>
          <a:p>
            <a:r>
              <a:rPr lang="pt-BR" dirty="0"/>
              <a:t>Substitui </a:t>
            </a:r>
            <a:r>
              <a:rPr lang="pt-BR" b="1" dirty="0">
                <a:solidFill>
                  <a:srgbClr val="00B050"/>
                </a:solidFill>
              </a:rPr>
              <a:t>cada categoria de um atributo </a:t>
            </a:r>
            <a:r>
              <a:rPr lang="pt-BR" dirty="0"/>
              <a:t>pela </a:t>
            </a:r>
            <a:r>
              <a:rPr lang="pt-BR" b="1" dirty="0">
                <a:solidFill>
                  <a:srgbClr val="7030A0"/>
                </a:solidFill>
              </a:rPr>
              <a:t>média do valor do rótulo</a:t>
            </a:r>
            <a:r>
              <a:rPr lang="pt-BR" dirty="0"/>
              <a:t> correspondente àquela categoria.</a:t>
            </a:r>
          </a:p>
          <a:p>
            <a:r>
              <a:rPr lang="pt-BR" b="1" dirty="0"/>
              <a:t>Quando usar:</a:t>
            </a:r>
            <a:r>
              <a:rPr lang="pt-BR" dirty="0"/>
              <a:t> Útil para atributos de </a:t>
            </a:r>
            <a:r>
              <a:rPr lang="pt-BR" b="1" dirty="0">
                <a:solidFill>
                  <a:schemeClr val="accent2"/>
                </a:solidFill>
              </a:rPr>
              <a:t>alta cardinalidade</a:t>
            </a:r>
            <a:r>
              <a:rPr lang="pt-BR" dirty="0"/>
              <a:t>, pois não aumenta a dimensionalidade do </a:t>
            </a:r>
            <a:r>
              <a:rPr lang="pt-BR" i="1" dirty="0"/>
              <a:t>dataset</a:t>
            </a:r>
            <a:r>
              <a:rPr lang="pt-BR" dirty="0"/>
              <a:t>.</a:t>
            </a:r>
          </a:p>
        </p:txBody>
      </p:sp>
      <p:pic>
        <p:nvPicPr>
          <p:cNvPr id="2050" name="Picture 2" descr="Data Transformation: one-hot vs target encoding">
            <a:extLst>
              <a:ext uri="{FF2B5EF4-FFF2-40B4-BE49-F238E27FC236}">
                <a16:creationId xmlns:a16="http://schemas.microsoft.com/office/drawing/2014/main" id="{7BB7010D-52CF-95E3-7867-6467D4626A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9" t="23968" r="4286" b="15079"/>
          <a:stretch>
            <a:fillRect/>
          </a:stretch>
        </p:blipFill>
        <p:spPr bwMode="auto">
          <a:xfrm>
            <a:off x="152400" y="3023466"/>
            <a:ext cx="4996357" cy="1842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A0E93EB7-CF75-0ECD-107B-45D0EB7789D2}"/>
              </a:ext>
            </a:extLst>
          </p:cNvPr>
          <p:cNvSpPr txBox="1"/>
          <p:nvPr/>
        </p:nvSpPr>
        <p:spPr>
          <a:xfrm>
            <a:off x="272142" y="2438691"/>
            <a:ext cx="916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952ACB53-D4C2-C123-5775-AE089EA6B362}"/>
              </a:ext>
            </a:extLst>
          </p:cNvPr>
          <p:cNvSpPr txBox="1"/>
          <p:nvPr/>
        </p:nvSpPr>
        <p:spPr>
          <a:xfrm>
            <a:off x="1209747" y="2560950"/>
            <a:ext cx="9169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Rótulo</a:t>
            </a:r>
            <a:endParaRPr lang="en-US" sz="14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B9AFBB5-5460-BC22-C425-37D0A6E88658}"/>
              </a:ext>
            </a:extLst>
          </p:cNvPr>
          <p:cNvSpPr txBox="1"/>
          <p:nvPr/>
        </p:nvSpPr>
        <p:spPr>
          <a:xfrm>
            <a:off x="2251975" y="2438691"/>
            <a:ext cx="916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B3D0426-F194-92F1-8940-EE59D0CAF924}"/>
              </a:ext>
            </a:extLst>
          </p:cNvPr>
          <p:cNvSpPr txBox="1"/>
          <p:nvPr/>
        </p:nvSpPr>
        <p:spPr>
          <a:xfrm>
            <a:off x="3103608" y="2445960"/>
            <a:ext cx="10628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Média do rótulo</a:t>
            </a:r>
            <a:endParaRPr lang="en-US" sz="1400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9D80FA95-5A7E-B33A-F0E0-309FD6C2EC4A}"/>
              </a:ext>
            </a:extLst>
          </p:cNvPr>
          <p:cNvSpPr txBox="1"/>
          <p:nvPr/>
        </p:nvSpPr>
        <p:spPr>
          <a:xfrm>
            <a:off x="4166088" y="2453229"/>
            <a:ext cx="11830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codificado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7053991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F47F9-36E3-BB7D-BE3A-BC9CDAF93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C7A34-E6CC-477D-4263-3C881F34D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Target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C1C2A9-9D68-7B83-C72F-7FE4A4FCE0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29942" y="1825624"/>
            <a:ext cx="6662057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Risco:</a:t>
            </a:r>
            <a:r>
              <a:rPr lang="pt-BR" noProof="0" dirty="0"/>
              <a:t> </a:t>
            </a:r>
            <a:r>
              <a:rPr lang="pt-BR" i="1" noProof="0" dirty="0"/>
              <a:t>data </a:t>
            </a:r>
            <a:r>
              <a:rPr lang="pt-BR" i="1" noProof="0" dirty="0" err="1"/>
              <a:t>leakage</a:t>
            </a:r>
            <a:r>
              <a:rPr lang="pt-BR" noProof="0" dirty="0"/>
              <a:t> e </a:t>
            </a:r>
            <a:r>
              <a:rPr lang="pt-BR" i="1" noProof="0" dirty="0" err="1"/>
              <a:t>overfitting</a:t>
            </a:r>
            <a:r>
              <a:rPr lang="pt-BR" noProof="0" dirty="0"/>
              <a:t>, especialmente em categorias com poucas amostras.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i="1" noProof="0" dirty="0"/>
              <a:t>Data </a:t>
            </a:r>
            <a:r>
              <a:rPr lang="pt-BR" b="1" i="1" noProof="0" dirty="0" err="1"/>
              <a:t>leakage</a:t>
            </a:r>
            <a:r>
              <a:rPr lang="pt-BR" b="1" noProof="0" dirty="0"/>
              <a:t>:</a:t>
            </a:r>
            <a:r>
              <a:rPr lang="pt-BR" noProof="0" dirty="0"/>
              <a:t> ocorre se os </a:t>
            </a:r>
            <a:r>
              <a:rPr lang="pt-BR" b="1" noProof="0" dirty="0">
                <a:solidFill>
                  <a:schemeClr val="accent1"/>
                </a:solidFill>
              </a:rPr>
              <a:t>rótulos do conjunto de validação/teste forem utilizados na codificação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Usar apenas conjunto de treinamento.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/>
              <a:t>Categorias raras:</a:t>
            </a:r>
            <a:r>
              <a:rPr lang="pt-BR" noProof="0" dirty="0"/>
              <a:t> poucas observações podem produzir </a:t>
            </a:r>
            <a:r>
              <a:rPr lang="pt-BR" b="1" noProof="0" dirty="0">
                <a:solidFill>
                  <a:schemeClr val="accent1"/>
                </a:solidFill>
              </a:rPr>
              <a:t>estimativas de média instáveis </a:t>
            </a:r>
            <a:r>
              <a:rPr lang="pt-BR" noProof="0" dirty="0"/>
              <a:t>(i.e., ruidosas).</a:t>
            </a:r>
          </a:p>
        </p:txBody>
      </p:sp>
      <p:pic>
        <p:nvPicPr>
          <p:cNvPr id="2050" name="Picture 2" descr="Data Transformation: one-hot vs target encoding">
            <a:extLst>
              <a:ext uri="{FF2B5EF4-FFF2-40B4-BE49-F238E27FC236}">
                <a16:creationId xmlns:a16="http://schemas.microsoft.com/office/drawing/2014/main" id="{3712F927-3FFE-9BB8-9B42-9D67BB0C91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9" t="23968" r="4286" b="15079"/>
          <a:stretch>
            <a:fillRect/>
          </a:stretch>
        </p:blipFill>
        <p:spPr bwMode="auto">
          <a:xfrm>
            <a:off x="152400" y="3023466"/>
            <a:ext cx="4996357" cy="18424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BFEF0253-27B5-8A1C-8AF9-117740E8F5AF}"/>
              </a:ext>
            </a:extLst>
          </p:cNvPr>
          <p:cNvSpPr txBox="1"/>
          <p:nvPr/>
        </p:nvSpPr>
        <p:spPr>
          <a:xfrm>
            <a:off x="272142" y="2438691"/>
            <a:ext cx="916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72F2E856-9CBE-4B2E-3888-BE07F4350DE8}"/>
              </a:ext>
            </a:extLst>
          </p:cNvPr>
          <p:cNvSpPr txBox="1"/>
          <p:nvPr/>
        </p:nvSpPr>
        <p:spPr>
          <a:xfrm>
            <a:off x="1209747" y="2560950"/>
            <a:ext cx="9169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Rótulo</a:t>
            </a:r>
            <a:endParaRPr lang="en-US" sz="1400" dirty="0"/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34FF057D-1D3E-E75A-B566-12E821F655B4}"/>
              </a:ext>
            </a:extLst>
          </p:cNvPr>
          <p:cNvSpPr txBox="1"/>
          <p:nvPr/>
        </p:nvSpPr>
        <p:spPr>
          <a:xfrm>
            <a:off x="2251975" y="2438691"/>
            <a:ext cx="916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D58F44C6-595F-C678-DBC7-DEBA3D2EC862}"/>
              </a:ext>
            </a:extLst>
          </p:cNvPr>
          <p:cNvSpPr txBox="1"/>
          <p:nvPr/>
        </p:nvSpPr>
        <p:spPr>
          <a:xfrm>
            <a:off x="3103608" y="2445960"/>
            <a:ext cx="10628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Média do rótulo</a:t>
            </a:r>
            <a:endParaRPr lang="en-US" sz="1400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06A6D904-14FD-282C-454E-2F34B481277A}"/>
              </a:ext>
            </a:extLst>
          </p:cNvPr>
          <p:cNvSpPr txBox="1"/>
          <p:nvPr/>
        </p:nvSpPr>
        <p:spPr>
          <a:xfrm>
            <a:off x="4166088" y="2453229"/>
            <a:ext cx="11830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codificado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19389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DD75A-3D20-1CFF-0CAC-A5CB15BA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F2449-F38A-4DF6-443B-1B77E3F39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Binary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68C86-94AE-24AE-A0EF-6A9D08305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9098" y="1825625"/>
            <a:ext cx="6692902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Cada </a:t>
            </a:r>
            <a:r>
              <a:rPr lang="pt-BR" b="1" noProof="0" dirty="0">
                <a:solidFill>
                  <a:schemeClr val="accent1"/>
                </a:solidFill>
              </a:rPr>
              <a:t>categoria recebe um número inteiro </a:t>
            </a:r>
            <a:r>
              <a:rPr lang="pt-BR" noProof="0" dirty="0"/>
              <a:t>(</a:t>
            </a:r>
            <a:r>
              <a:rPr lang="pt-BR" i="1" noProof="0" dirty="0" err="1"/>
              <a:t>Label</a:t>
            </a:r>
            <a:r>
              <a:rPr lang="pt-BR" noProof="0" dirty="0"/>
              <a:t>) que é </a:t>
            </a:r>
            <a:r>
              <a:rPr lang="pt-BR" b="1" noProof="0" dirty="0">
                <a:solidFill>
                  <a:schemeClr val="accent1"/>
                </a:solidFill>
              </a:rPr>
              <a:t>convertido para sua representação binária</a:t>
            </a:r>
            <a:r>
              <a:rPr lang="pt-BR" noProof="0" dirty="0"/>
              <a:t>, criando colunas para cada </a:t>
            </a:r>
            <a:r>
              <a:rPr lang="pt-BR" i="1" noProof="0" dirty="0"/>
              <a:t>bit</a:t>
            </a:r>
            <a:r>
              <a:rPr lang="pt-BR" noProof="0" dirty="0"/>
              <a:t>.</a:t>
            </a:r>
          </a:p>
          <a:p>
            <a:r>
              <a:rPr lang="pt-BR" b="1" noProof="0" dirty="0"/>
              <a:t>Quando usar:</a:t>
            </a:r>
            <a:r>
              <a:rPr lang="pt-BR" noProof="0" dirty="0"/>
              <a:t>  Útil para atributos de </a:t>
            </a:r>
            <a:r>
              <a:rPr lang="pt-BR" b="1" noProof="0" dirty="0">
                <a:solidFill>
                  <a:schemeClr val="accent2"/>
                </a:solidFill>
              </a:rPr>
              <a:t>alta cardinalidade</a:t>
            </a:r>
            <a:r>
              <a:rPr lang="pt-BR" noProof="0" dirty="0"/>
              <a:t>.</a:t>
            </a:r>
          </a:p>
          <a:p>
            <a:r>
              <a:rPr lang="pt-BR" noProof="0" dirty="0"/>
              <a:t>O número de colunas adicionais </a:t>
            </a:r>
            <a:r>
              <a:rPr lang="pt-BR" b="1" noProof="0" dirty="0">
                <a:solidFill>
                  <a:srgbClr val="00B050"/>
                </a:solidFill>
              </a:rPr>
              <a:t>cresce de forma logarítmica</a:t>
            </a:r>
            <a:r>
              <a:rPr lang="pt-BR" noProof="0" dirty="0"/>
              <a:t>, em vez de crescer linearmente como no </a:t>
            </a:r>
            <a:r>
              <a:rPr lang="pt-BR" i="1" noProof="0" dirty="0" err="1"/>
              <a:t>One</a:t>
            </a:r>
            <a:r>
              <a:rPr lang="pt-BR" i="1" noProof="0" dirty="0"/>
              <a:t>-Hot </a:t>
            </a:r>
            <a:r>
              <a:rPr lang="pt-BR" i="1" noProof="0" dirty="0" err="1"/>
              <a:t>Encoding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um atributo com 4 categorias, exigiria 2 colunas ao invés de 4 com o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.</a:t>
            </a:r>
            <a:endParaRPr lang="pt-BR" noProof="0" dirty="0"/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833DB7AC-C788-9C11-438C-72E37C1AA5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6258665"/>
              </p:ext>
            </p:extLst>
          </p:nvPr>
        </p:nvGraphicFramePr>
        <p:xfrm>
          <a:off x="330199" y="2906486"/>
          <a:ext cx="1016001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1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Color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Green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 err="1"/>
                        <a:t>Red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Black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Orange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36B97648-B236-103B-6E37-82247EC0D8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8212194"/>
              </p:ext>
            </p:extLst>
          </p:nvPr>
        </p:nvGraphicFramePr>
        <p:xfrm>
          <a:off x="1799771" y="2906486"/>
          <a:ext cx="1016001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1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 err="1"/>
                        <a:t>Label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2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3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FE85DCDA-AB92-4219-6A1C-448BE8FE5D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3779457"/>
              </p:ext>
            </p:extLst>
          </p:nvPr>
        </p:nvGraphicFramePr>
        <p:xfrm>
          <a:off x="3285670" y="2906486"/>
          <a:ext cx="1743530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765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  <a:gridCol w="871765">
                  <a:extLst>
                    <a:ext uri="{9D8B030D-6E8A-4147-A177-3AD203B41FA5}">
                      <a16:colId xmlns:a16="http://schemas.microsoft.com/office/drawing/2014/main" val="2024755769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Color 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Color 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sp>
        <p:nvSpPr>
          <p:cNvPr id="10" name="CaixaDeTexto 9">
            <a:extLst>
              <a:ext uri="{FF2B5EF4-FFF2-40B4-BE49-F238E27FC236}">
                <a16:creationId xmlns:a16="http://schemas.microsoft.com/office/drawing/2014/main" id="{19285A5F-440B-0F0E-CA90-AEED8634E6D6}"/>
              </a:ext>
            </a:extLst>
          </p:cNvPr>
          <p:cNvSpPr txBox="1"/>
          <p:nvPr/>
        </p:nvSpPr>
        <p:spPr>
          <a:xfrm>
            <a:off x="330199" y="2383266"/>
            <a:ext cx="101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AFEE8A7-9C6D-1E81-9E8B-C3992D629254}"/>
              </a:ext>
            </a:extLst>
          </p:cNvPr>
          <p:cNvSpPr txBox="1"/>
          <p:nvPr/>
        </p:nvSpPr>
        <p:spPr>
          <a:xfrm>
            <a:off x="1815192" y="2383266"/>
            <a:ext cx="101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Número inteiro</a:t>
            </a:r>
            <a:endParaRPr lang="en-US" sz="1400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6F6FC0D0-46E1-11C2-0D8C-5EC422B9D872}"/>
              </a:ext>
            </a:extLst>
          </p:cNvPr>
          <p:cNvSpPr txBox="1"/>
          <p:nvPr/>
        </p:nvSpPr>
        <p:spPr>
          <a:xfrm>
            <a:off x="3285670" y="2490987"/>
            <a:ext cx="17435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codificado</a:t>
            </a:r>
            <a:endParaRPr lang="en-US" sz="1400" dirty="0"/>
          </a:p>
        </p:txBody>
      </p:sp>
      <p:sp>
        <p:nvSpPr>
          <p:cNvPr id="15" name="Seta: para a Direita 14">
            <a:extLst>
              <a:ext uri="{FF2B5EF4-FFF2-40B4-BE49-F238E27FC236}">
                <a16:creationId xmlns:a16="http://schemas.microsoft.com/office/drawing/2014/main" id="{E74122E2-0E03-547E-179F-0F89C5FDA46C}"/>
              </a:ext>
            </a:extLst>
          </p:cNvPr>
          <p:cNvSpPr/>
          <p:nvPr/>
        </p:nvSpPr>
        <p:spPr>
          <a:xfrm>
            <a:off x="2949574" y="3749524"/>
            <a:ext cx="217715" cy="3483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eta: para a Direita 16">
            <a:extLst>
              <a:ext uri="{FF2B5EF4-FFF2-40B4-BE49-F238E27FC236}">
                <a16:creationId xmlns:a16="http://schemas.microsoft.com/office/drawing/2014/main" id="{4E40A058-1C2F-7DF8-DDB1-AC22185FEDB6}"/>
              </a:ext>
            </a:extLst>
          </p:cNvPr>
          <p:cNvSpPr/>
          <p:nvPr/>
        </p:nvSpPr>
        <p:spPr>
          <a:xfrm>
            <a:off x="1471837" y="3721705"/>
            <a:ext cx="217715" cy="3483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82561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D446C-D2CD-A42F-E647-EA154C5CB9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BD6AC-1B29-65D4-720A-F48BA4EC1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Binary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55A9F6-A8AB-54FE-6DD8-091BC8E4D9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20342" y="1825625"/>
            <a:ext cx="7271658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Vantagem: </a:t>
            </a:r>
            <a:r>
              <a:rPr lang="pt-BR" b="1" noProof="0" dirty="0">
                <a:solidFill>
                  <a:srgbClr val="00B050"/>
                </a:solidFill>
              </a:rPr>
              <a:t>Reduz a dimensionalidade</a:t>
            </a:r>
            <a:r>
              <a:rPr lang="pt-BR" noProof="0" dirty="0"/>
              <a:t> em atributos de alta cardinalidade, </a:t>
            </a:r>
            <a:r>
              <a:rPr lang="pt-BR" b="1" noProof="0" dirty="0">
                <a:solidFill>
                  <a:srgbClr val="7030A0"/>
                </a:solidFill>
              </a:rPr>
              <a:t>diminuindo o custo computacional </a:t>
            </a:r>
            <a:r>
              <a:rPr lang="pt-BR" noProof="0" dirty="0"/>
              <a:t>e </a:t>
            </a:r>
            <a:r>
              <a:rPr lang="pt-BR" b="1" dirty="0">
                <a:solidFill>
                  <a:schemeClr val="accent1"/>
                </a:solidFill>
              </a:rPr>
              <a:t>reduzindo problemas associados à alta dimensionalidade</a:t>
            </a:r>
            <a:r>
              <a:rPr lang="pt-BR" noProof="0" dirty="0"/>
              <a:t>.</a:t>
            </a:r>
            <a:endParaRPr lang="pt-BR" b="1" noProof="0" dirty="0"/>
          </a:p>
          <a:p>
            <a:r>
              <a:rPr lang="pt-BR" b="1" noProof="0" dirty="0"/>
              <a:t>Desvantagens</a:t>
            </a:r>
            <a:r>
              <a:rPr lang="pt-BR" noProof="0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</a:t>
            </a:r>
            <a:r>
              <a:rPr lang="pt-BR" b="1" dirty="0">
                <a:solidFill>
                  <a:schemeClr val="accent2"/>
                </a:solidFill>
              </a:rPr>
              <a:t>mapeamento</a:t>
            </a:r>
            <a:r>
              <a:rPr lang="pt-BR" dirty="0"/>
              <a:t> da categoria em um inteiro </a:t>
            </a:r>
            <a:r>
              <a:rPr lang="pt-BR" b="1" dirty="0">
                <a:solidFill>
                  <a:schemeClr val="accent2"/>
                </a:solidFill>
              </a:rPr>
              <a:t>é arbitrário</a:t>
            </a:r>
            <a:r>
              <a:rPr lang="pt-BR" dirty="0"/>
              <a:t> e pode </a:t>
            </a:r>
            <a:r>
              <a:rPr lang="pt-BR" b="1" dirty="0">
                <a:solidFill>
                  <a:schemeClr val="accent2"/>
                </a:solidFill>
              </a:rPr>
              <a:t>afetar o desempenho </a:t>
            </a:r>
            <a:r>
              <a:rPr lang="pt-BR" dirty="0"/>
              <a:t>de alguns modelos.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as categorias são representadas por </a:t>
            </a:r>
            <a:r>
              <a:rPr lang="pt-BR" b="1" i="1" dirty="0"/>
              <a:t>bits</a:t>
            </a:r>
            <a:r>
              <a:rPr lang="pt-BR" b="1" dirty="0"/>
              <a:t> compartilhados</a:t>
            </a:r>
            <a:r>
              <a:rPr lang="pt-BR" dirty="0"/>
              <a:t>, </a:t>
            </a:r>
            <a:r>
              <a:rPr lang="pt-BR" b="1" dirty="0">
                <a:solidFill>
                  <a:srgbClr val="00B0F0"/>
                </a:solidFill>
              </a:rPr>
              <a:t>modelos lineares podem não representar</a:t>
            </a:r>
            <a:r>
              <a:rPr lang="pt-BR" dirty="0"/>
              <a:t> adequadamente </a:t>
            </a:r>
            <a:r>
              <a:rPr lang="pt-BR" b="1" dirty="0">
                <a:solidFill>
                  <a:srgbClr val="00B0F0"/>
                </a:solidFill>
              </a:rPr>
              <a:t>relações arbitrárias entre categorias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Modelos baseados em árvores lidam bem com isso.</a:t>
            </a:r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E0DBA1CB-619E-6013-61DB-6F661A96A3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356131"/>
              </p:ext>
            </p:extLst>
          </p:nvPr>
        </p:nvGraphicFramePr>
        <p:xfrm>
          <a:off x="156025" y="2906486"/>
          <a:ext cx="1016001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1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Color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Green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 err="1"/>
                        <a:t>Red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Black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Orange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graphicFrame>
        <p:nvGraphicFramePr>
          <p:cNvPr id="6" name="Tabela 5">
            <a:extLst>
              <a:ext uri="{FF2B5EF4-FFF2-40B4-BE49-F238E27FC236}">
                <a16:creationId xmlns:a16="http://schemas.microsoft.com/office/drawing/2014/main" id="{228B348A-91CF-B22F-384F-9E3453DCB1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4668646"/>
              </p:ext>
            </p:extLst>
          </p:nvPr>
        </p:nvGraphicFramePr>
        <p:xfrm>
          <a:off x="1625597" y="2906486"/>
          <a:ext cx="1016001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1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 err="1"/>
                        <a:t>Label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2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3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graphicFrame>
        <p:nvGraphicFramePr>
          <p:cNvPr id="8" name="Tabela 7">
            <a:extLst>
              <a:ext uri="{FF2B5EF4-FFF2-40B4-BE49-F238E27FC236}">
                <a16:creationId xmlns:a16="http://schemas.microsoft.com/office/drawing/2014/main" id="{59D657C8-8900-7C10-9FA4-286D78D5FDB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6934471"/>
              </p:ext>
            </p:extLst>
          </p:nvPr>
        </p:nvGraphicFramePr>
        <p:xfrm>
          <a:off x="3111496" y="2906486"/>
          <a:ext cx="1743530" cy="2034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765">
                  <a:extLst>
                    <a:ext uri="{9D8B030D-6E8A-4147-A177-3AD203B41FA5}">
                      <a16:colId xmlns:a16="http://schemas.microsoft.com/office/drawing/2014/main" val="3986580886"/>
                    </a:ext>
                  </a:extLst>
                </a:gridCol>
                <a:gridCol w="871765">
                  <a:extLst>
                    <a:ext uri="{9D8B030D-6E8A-4147-A177-3AD203B41FA5}">
                      <a16:colId xmlns:a16="http://schemas.microsoft.com/office/drawing/2014/main" val="2024755769"/>
                    </a:ext>
                  </a:extLst>
                </a:gridCol>
              </a:tblGrid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dirty="0"/>
                        <a:t>Color 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t-BR" dirty="0"/>
                        <a:t>Color 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9861207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1663543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9717036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0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6167824"/>
                  </a:ext>
                </a:extLst>
              </a:tr>
              <a:tr h="406884"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b="1" dirty="0"/>
                        <a:t>1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75348175"/>
                  </a:ext>
                </a:extLst>
              </a:tr>
            </a:tbl>
          </a:graphicData>
        </a:graphic>
      </p:graphicFrame>
      <p:sp>
        <p:nvSpPr>
          <p:cNvPr id="10" name="CaixaDeTexto 9">
            <a:extLst>
              <a:ext uri="{FF2B5EF4-FFF2-40B4-BE49-F238E27FC236}">
                <a16:creationId xmlns:a16="http://schemas.microsoft.com/office/drawing/2014/main" id="{2F80B181-5154-B834-D6B2-602D727B3D29}"/>
              </a:ext>
            </a:extLst>
          </p:cNvPr>
          <p:cNvSpPr txBox="1"/>
          <p:nvPr/>
        </p:nvSpPr>
        <p:spPr>
          <a:xfrm>
            <a:off x="156025" y="2383266"/>
            <a:ext cx="101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original</a:t>
            </a:r>
            <a:endParaRPr lang="en-US" sz="1400" dirty="0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E7D2111-848A-1CEF-D7D9-307ACB519DEA}"/>
              </a:ext>
            </a:extLst>
          </p:cNvPr>
          <p:cNvSpPr txBox="1"/>
          <p:nvPr/>
        </p:nvSpPr>
        <p:spPr>
          <a:xfrm>
            <a:off x="1641018" y="2383266"/>
            <a:ext cx="101600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Número inteiro</a:t>
            </a:r>
            <a:endParaRPr lang="en-US" sz="1400" dirty="0"/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29C38DF6-9D8B-6CA5-5FFB-B33A7EC02EBC}"/>
              </a:ext>
            </a:extLst>
          </p:cNvPr>
          <p:cNvSpPr txBox="1"/>
          <p:nvPr/>
        </p:nvSpPr>
        <p:spPr>
          <a:xfrm>
            <a:off x="3111496" y="2490987"/>
            <a:ext cx="174353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400" dirty="0"/>
              <a:t>Atributo codificado</a:t>
            </a:r>
            <a:endParaRPr lang="en-US" sz="1400" dirty="0"/>
          </a:p>
        </p:txBody>
      </p:sp>
      <p:sp>
        <p:nvSpPr>
          <p:cNvPr id="15" name="Seta: para a Direita 14">
            <a:extLst>
              <a:ext uri="{FF2B5EF4-FFF2-40B4-BE49-F238E27FC236}">
                <a16:creationId xmlns:a16="http://schemas.microsoft.com/office/drawing/2014/main" id="{5EBBFA7B-7A25-6B0C-DF81-41317DFB1E30}"/>
              </a:ext>
            </a:extLst>
          </p:cNvPr>
          <p:cNvSpPr/>
          <p:nvPr/>
        </p:nvSpPr>
        <p:spPr>
          <a:xfrm>
            <a:off x="2775400" y="3749524"/>
            <a:ext cx="217715" cy="3483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Seta: para a Direita 16">
            <a:extLst>
              <a:ext uri="{FF2B5EF4-FFF2-40B4-BE49-F238E27FC236}">
                <a16:creationId xmlns:a16="http://schemas.microsoft.com/office/drawing/2014/main" id="{AA2D5669-6B79-AFB9-1CBF-D41C3C83E4DD}"/>
              </a:ext>
            </a:extLst>
          </p:cNvPr>
          <p:cNvSpPr/>
          <p:nvPr/>
        </p:nvSpPr>
        <p:spPr>
          <a:xfrm>
            <a:off x="1297663" y="3721705"/>
            <a:ext cx="217715" cy="348343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58891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E6AEB-4BFC-EF3A-CCC7-C66FB3B5B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Exemplos de </a:t>
            </a:r>
            <a:r>
              <a:rPr lang="pt-BR" i="1" dirty="0" err="1"/>
              <a:t>encoding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D9A45-89F4-0472-434E-82FA5060D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sklearn.preprocessing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LabelEncoder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OrdinalEncoder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TargetEncoder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SciKit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-Learn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não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implementa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o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codificador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b="1" i="1" dirty="0" err="1">
                <a:solidFill>
                  <a:srgbClr val="7030A0"/>
                </a:solidFill>
                <a:latin typeface="Consolas" panose="020B0609020204030204" pitchFamily="49" charset="0"/>
              </a:rPr>
              <a:t>binário</a:t>
            </a:r>
            <a:r>
              <a:rPr lang="en-US" sz="2300" b="1" i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sz="2300" i="1" dirty="0">
                <a:latin typeface="Consolas" panose="020B0609020204030204" pitchFamily="49" charset="0"/>
              </a:rPr>
              <a:t>(pip install </a:t>
            </a:r>
            <a:r>
              <a:rPr lang="en-US" sz="2300" i="1" dirty="0" err="1">
                <a:latin typeface="Consolas" panose="020B0609020204030204" pitchFamily="49" charset="0"/>
              </a:rPr>
              <a:t>category_encoders</a:t>
            </a:r>
            <a:r>
              <a:rPr lang="en-US" sz="2300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category_encoders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BinaryEncoder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2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TargetEncoder</a:t>
            </a:r>
            <a:r>
              <a:rPr lang="en-US" sz="2300" i="1" dirty="0">
                <a:latin typeface="Consolas" panose="020B0609020204030204" pitchFamily="49" charset="0"/>
              </a:rPr>
              <a:t>() </a:t>
            </a:r>
            <a:r>
              <a:rPr lang="en-US" sz="2300" i="1" dirty="0" err="1">
                <a:latin typeface="Consolas" panose="020B0609020204030204" pitchFamily="49" charset="0"/>
              </a:rPr>
              <a:t>ou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BinaryEncoder</a:t>
            </a:r>
            <a:r>
              <a:rPr lang="en-US" sz="2300" i="1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enc =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()</a:t>
            </a:r>
            <a:endParaRPr lang="en-US" sz="2300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enc.fit_transform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X_train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10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     </a:t>
            </a: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enc.inverse_transform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171935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DE3AC-BF5D-66CC-4338-E24FCABF9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Definição: </a:t>
                </a:r>
                <a:r>
                  <a:rPr lang="pt-BR" b="1" dirty="0">
                    <a:solidFill>
                      <a:schemeClr val="accent6"/>
                    </a:solidFill>
                  </a:rPr>
                  <a:t>Processo de </a:t>
                </a:r>
                <a:r>
                  <a:rPr lang="pt-BR" b="1" dirty="0">
                    <a:solidFill>
                      <a:schemeClr val="accent1"/>
                    </a:solidFill>
                  </a:rPr>
                  <a:t>criar atributos</a:t>
                </a:r>
                <a:r>
                  <a:rPr lang="pt-BR" b="1" dirty="0">
                    <a:solidFill>
                      <a:schemeClr val="accent6"/>
                    </a:solidFill>
                  </a:rPr>
                  <a:t> </a:t>
                </a:r>
                <a:r>
                  <a:rPr lang="pt-BR" b="1" dirty="0">
                    <a:solidFill>
                      <a:schemeClr val="accent2"/>
                    </a:solidFill>
                  </a:rPr>
                  <a:t>relevantes</a:t>
                </a:r>
                <a:r>
                  <a:rPr lang="pt-BR" dirty="0"/>
                  <a:t> (mais úteis e informativos) a </a:t>
                </a:r>
                <a:r>
                  <a:rPr lang="pt-BR" b="1" dirty="0">
                    <a:solidFill>
                      <a:schemeClr val="accent6"/>
                    </a:solidFill>
                  </a:rPr>
                  <a:t>partir dos existentes</a:t>
                </a:r>
                <a:r>
                  <a:rPr lang="pt-BR" dirty="0"/>
                  <a:t> para melhorar o desempenho de um modelo de ML.</a:t>
                </a:r>
              </a:p>
              <a:p>
                <a:r>
                  <a:rPr lang="en-US" b="1" dirty="0"/>
                  <a:t>Por que </a:t>
                </a:r>
                <a:r>
                  <a:rPr lang="en-US" b="1" dirty="0" err="1"/>
                  <a:t>fazer</a:t>
                </a:r>
                <a:r>
                  <a:rPr lang="en-US" dirty="0"/>
                  <a:t>? </a:t>
                </a:r>
                <a:r>
                  <a:rPr lang="pt-BR" dirty="0"/>
                  <a:t>Ajuda o modelo a </a:t>
                </a:r>
                <a:r>
                  <a:rPr lang="pt-BR" b="1" dirty="0">
                    <a:solidFill>
                      <a:schemeClr val="accent2"/>
                    </a:solidFill>
                  </a:rPr>
                  <a:t>enxergar relações que não estão óbvias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Objetivo</a:t>
                </a:r>
                <a:r>
                  <a:rPr lang="pt-BR" dirty="0"/>
                  <a:t>: </a:t>
                </a:r>
                <a:r>
                  <a:rPr lang="pt-BR" b="1" dirty="0">
                    <a:solidFill>
                      <a:srgbClr val="00B050"/>
                    </a:solidFill>
                  </a:rPr>
                  <a:t>Melhorar</a:t>
                </a:r>
                <a:r>
                  <a:rPr lang="pt-BR" dirty="0"/>
                  <a:t> a capacidade de </a:t>
                </a:r>
                <a:r>
                  <a:rPr lang="pt-BR" b="1" dirty="0">
                    <a:solidFill>
                      <a:srgbClr val="00B050"/>
                    </a:solidFill>
                  </a:rPr>
                  <a:t>generalização do modelo</a:t>
                </a:r>
                <a:r>
                  <a:rPr lang="pt-BR" dirty="0"/>
                  <a:t>.</a:t>
                </a:r>
              </a:p>
              <a:p>
                <a:r>
                  <a:rPr lang="pt-BR" b="1" dirty="0"/>
                  <a:t>Exemplos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Data de nascimento → Idade, faixa etária.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Coordenadas GPS → Distância até certo ponto.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Preço e quantidade → Valor total da venda.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i="1" dirty="0" err="1"/>
                  <a:t>Timestamp</a:t>
                </a:r>
                <a:r>
                  <a:rPr lang="pt-BR" dirty="0"/>
                  <a:t> → Hora, dia da semana, feriado?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Comprimento e largura → Área.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Atributos → Interação entre atributos: Polinômios (e.g.,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 =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+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codificação de atributos é considerada uma forma de engenharia de atributos.</a:t>
                </a:r>
              </a:p>
              <a:p>
                <a:endParaRPr lang="pt-BR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  <a:blipFill>
                <a:blip r:embed="rId3"/>
                <a:stretch>
                  <a:fillRect l="-923" t="-2663" r="-163" b="-25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47859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9595A-2BE1-288D-C430-B42FA27A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/>
              <a:t>atributos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B16F1-8959-5098-25C2-B111C8BE4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pandas as </a:t>
            </a:r>
            <a:r>
              <a:rPr lang="pt-BR" dirty="0" err="1">
                <a:latin typeface="Consolas" panose="020B0609020204030204" pitchFamily="49" charset="0"/>
              </a:rPr>
              <a:t>pd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Exemplo de dados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pd.DataFrame</a:t>
            </a:r>
            <a:r>
              <a:rPr lang="pt-BR" dirty="0">
                <a:latin typeface="Consolas" panose="020B0609020204030204" pitchFamily="49" charset="0"/>
              </a:rPr>
              <a:t>({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": [10, 20, 15],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"quantidade": [2, 1, 3],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"desconto": [0, 5, 0]})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Feature </a:t>
            </a:r>
            <a:r>
              <a:rPr lang="pt-BR" dirty="0" err="1">
                <a:latin typeface="Consolas" panose="020B0609020204030204" pitchFamily="49" charset="0"/>
              </a:rPr>
              <a:t>Engineering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valor_total</a:t>
            </a:r>
            <a:r>
              <a:rPr lang="pt-BR" dirty="0">
                <a:latin typeface="Consolas" panose="020B0609020204030204" pitchFamily="49" charset="0"/>
              </a:rPr>
              <a:t>"]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"] *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["quantidade"]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houve_desconto</a:t>
            </a:r>
            <a:r>
              <a:rPr lang="pt-BR" dirty="0">
                <a:latin typeface="Consolas" panose="020B0609020204030204" pitchFamily="49" charset="0"/>
              </a:rPr>
              <a:t>"] = 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["desconto"] &gt; 0).</a:t>
            </a:r>
            <a:r>
              <a:rPr lang="pt-BR" dirty="0" err="1">
                <a:latin typeface="Consolas" panose="020B0609020204030204" pitchFamily="49" charset="0"/>
              </a:rPr>
              <a:t>astype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int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954CC983-E5A6-EA4D-A9D8-6C42575F0CAD}"/>
              </a:ext>
            </a:extLst>
          </p:cNvPr>
          <p:cNvSpPr txBox="1"/>
          <p:nvPr/>
        </p:nvSpPr>
        <p:spPr>
          <a:xfrm>
            <a:off x="6814457" y="2547256"/>
            <a:ext cx="4974772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b="1" noProof="0">
                <a:solidFill>
                  <a:schemeClr val="accent2"/>
                </a:solidFill>
              </a:rPr>
              <a:t>Utilizamos o raciocínio humano e o conhecimento de negócio para criar novas variáveis.</a:t>
            </a:r>
          </a:p>
        </p:txBody>
      </p:sp>
    </p:spTree>
    <p:extLst>
      <p:ext uri="{BB962C8B-B14F-4D97-AF65-F5344CB8AC3E}">
        <p14:creationId xmlns:p14="http://schemas.microsoft.com/office/powerpoint/2010/main" val="41099880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6D7A6-03D2-CFC6-1F7F-CDB7CAC29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B6DEA-DC3C-E32E-8B87-E61169FB3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Definição</a:t>
            </a:r>
            <a:r>
              <a:rPr lang="pt-BR" noProof="0" dirty="0"/>
              <a:t>: Processo que </a:t>
            </a:r>
            <a:r>
              <a:rPr lang="pt-BR" b="1" noProof="0" dirty="0">
                <a:solidFill>
                  <a:schemeClr val="accent2"/>
                </a:solidFill>
              </a:rPr>
              <a:t>transforma os dados originais </a:t>
            </a:r>
            <a:r>
              <a:rPr lang="pt-BR" dirty="0"/>
              <a:t>em</a:t>
            </a:r>
            <a:r>
              <a:rPr lang="pt-BR" b="1" noProof="0" dirty="0">
                <a:solidFill>
                  <a:schemeClr val="accent2"/>
                </a:solidFill>
              </a:rPr>
              <a:t> </a:t>
            </a:r>
            <a:r>
              <a:rPr lang="pt-BR" dirty="0"/>
              <a:t>uma </a:t>
            </a:r>
            <a:r>
              <a:rPr lang="pt-BR" b="1" dirty="0">
                <a:solidFill>
                  <a:srgbClr val="00B050"/>
                </a:solidFill>
              </a:rPr>
              <a:t>representação numérica mais adequada ou eficiente</a:t>
            </a:r>
            <a:r>
              <a:rPr lang="pt-BR" dirty="0"/>
              <a:t> para um algoritmo de aprendizado.</a:t>
            </a:r>
            <a:endParaRPr lang="pt-BR" noProof="0" dirty="0"/>
          </a:p>
          <a:p>
            <a:r>
              <a:rPr lang="pt-BR" b="1" noProof="0" dirty="0"/>
              <a:t>Por que fazer</a:t>
            </a:r>
            <a:r>
              <a:rPr lang="pt-BR" noProof="0" dirty="0"/>
              <a:t>? </a:t>
            </a:r>
            <a:r>
              <a:rPr lang="pt-BR" b="1" noProof="0" dirty="0"/>
              <a:t>Para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tornar o dado utilizável pelo algoritmo (e.g., transformar texto em números),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destacar informação relevante,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remover redundância e ruído,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melhorar o desempenho do modelo (dados mais informativos e menos ruidosos).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</a:t>
            </a:r>
            <a:r>
              <a:rPr lang="pt-BR" noProof="0" dirty="0"/>
              <a:t>eduzir a dimensionalidade, mas </a:t>
            </a:r>
            <a:r>
              <a:rPr lang="pt-BR" b="1" dirty="0">
                <a:solidFill>
                  <a:schemeClr val="accent6"/>
                </a:solidFill>
              </a:rPr>
              <a:t>perde-se parte da informação </a:t>
            </a:r>
            <a:r>
              <a:rPr lang="pt-BR" dirty="0"/>
              <a:t>no processo.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</a:t>
            </a:r>
            <a:r>
              <a:rPr lang="pt-BR" noProof="0" dirty="0"/>
              <a:t>eduzir os recursos computacionais necessários para armazenamento e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</a:t>
            </a:r>
            <a:r>
              <a:rPr lang="pt-BR" noProof="0" dirty="0" err="1"/>
              <a:t>celerar</a:t>
            </a:r>
            <a:r>
              <a:rPr lang="pt-BR" noProof="0" dirty="0"/>
              <a:t> o treinamento,</a:t>
            </a:r>
          </a:p>
        </p:txBody>
      </p:sp>
    </p:spTree>
    <p:extLst>
      <p:ext uri="{BB962C8B-B14F-4D97-AF65-F5344CB8AC3E}">
        <p14:creationId xmlns:p14="http://schemas.microsoft.com/office/powerpoint/2010/main" val="36401856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EF4B4-F659-1DE7-6E62-D371CCA00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26942-5206-022D-4BE0-7148B2501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12286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Dados tabulares: </a:t>
            </a:r>
            <a:r>
              <a:rPr lang="pt-BR" noProof="0" dirty="0"/>
              <a:t>Análise de componentes principais (PCA) e análise de componentes independentes (ICA).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Em geral, o objetivo é reduzir o número de atributos originais.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Criam novos </a:t>
            </a:r>
            <a:r>
              <a:rPr lang="pt-BR" b="1" noProof="0" dirty="0">
                <a:solidFill>
                  <a:schemeClr val="accent2"/>
                </a:solidFill>
              </a:rPr>
              <a:t>atributos não correlacionados</a:t>
            </a:r>
            <a:r>
              <a:rPr lang="pt-BR" b="1" noProof="0" dirty="0">
                <a:solidFill>
                  <a:srgbClr val="7030A0"/>
                </a:solidFill>
              </a:rPr>
              <a:t> </a:t>
            </a:r>
            <a:r>
              <a:rPr lang="pt-BR" noProof="0" dirty="0"/>
              <a:t>que </a:t>
            </a:r>
            <a:r>
              <a:rPr lang="pt-BR" b="1" noProof="0" dirty="0">
                <a:solidFill>
                  <a:srgbClr val="7030A0"/>
                </a:solidFill>
              </a:rPr>
              <a:t>capturam as direções de máxima variância </a:t>
            </a:r>
            <a:r>
              <a:rPr lang="pt-BR" noProof="0" dirty="0"/>
              <a:t>(PCA) ou</a:t>
            </a:r>
            <a:r>
              <a:rPr lang="pt-BR" b="1" noProof="0" dirty="0">
                <a:solidFill>
                  <a:srgbClr val="7030A0"/>
                </a:solidFill>
              </a:rPr>
              <a:t> atributos que são independentes </a:t>
            </a:r>
            <a:r>
              <a:rPr lang="pt-BR" noProof="0" dirty="0"/>
              <a:t>(ICA).</a:t>
            </a:r>
          </a:p>
          <a:p>
            <a:r>
              <a:rPr lang="pt-BR" b="1" noProof="0" dirty="0"/>
              <a:t>Texto</a:t>
            </a:r>
            <a:r>
              <a:rPr lang="pt-BR" noProof="0" dirty="0"/>
              <a:t>: </a:t>
            </a:r>
            <a:r>
              <a:rPr lang="pt-BR" i="1" noProof="0" dirty="0"/>
              <a:t>Bag </a:t>
            </a:r>
            <a:r>
              <a:rPr lang="pt-BR" i="1" noProof="0" dirty="0" err="1"/>
              <a:t>of</a:t>
            </a:r>
            <a:r>
              <a:rPr lang="pt-BR" i="1" noProof="0" dirty="0"/>
              <a:t> words </a:t>
            </a:r>
            <a:r>
              <a:rPr lang="pt-BR" noProof="0" dirty="0"/>
              <a:t>(</a:t>
            </a:r>
            <a:r>
              <a:rPr lang="pt-BR" noProof="0" dirty="0" err="1"/>
              <a:t>BoW</a:t>
            </a:r>
            <a:r>
              <a:rPr lang="pt-BR" noProof="0" dirty="0"/>
              <a:t>), </a:t>
            </a:r>
            <a:r>
              <a:rPr lang="pt-BR" i="1" noProof="0" dirty="0" err="1"/>
              <a:t>Term</a:t>
            </a:r>
            <a:r>
              <a:rPr lang="pt-BR" i="1" noProof="0" dirty="0"/>
              <a:t> Frequency-</a:t>
            </a:r>
            <a:r>
              <a:rPr lang="pt-BR" i="1" noProof="0" dirty="0" err="1"/>
              <a:t>Inverse</a:t>
            </a:r>
            <a:r>
              <a:rPr lang="pt-BR" i="1" noProof="0" dirty="0"/>
              <a:t> </a:t>
            </a:r>
            <a:r>
              <a:rPr lang="pt-BR" i="1" noProof="0" dirty="0" err="1"/>
              <a:t>Document</a:t>
            </a:r>
            <a:r>
              <a:rPr lang="pt-BR" i="1" noProof="0" dirty="0"/>
              <a:t> Frequency</a:t>
            </a:r>
            <a:r>
              <a:rPr lang="pt-BR" noProof="0" dirty="0"/>
              <a:t> (TF-IDF), </a:t>
            </a:r>
            <a:r>
              <a:rPr lang="pt-BR" i="1" noProof="0" dirty="0"/>
              <a:t>Word </a:t>
            </a:r>
            <a:r>
              <a:rPr lang="pt-BR" i="1" noProof="0" dirty="0" err="1"/>
              <a:t>Embeddings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>
                <a:solidFill>
                  <a:srgbClr val="00B050"/>
                </a:solidFill>
              </a:rPr>
              <a:t>Transformam texto em representações numéricas</a:t>
            </a:r>
            <a:r>
              <a:rPr lang="pt-BR" noProof="0" dirty="0"/>
              <a:t>, variando da </a:t>
            </a:r>
            <a:r>
              <a:rPr lang="pt-BR" b="1" noProof="0" dirty="0">
                <a:solidFill>
                  <a:srgbClr val="00B050"/>
                </a:solidFill>
              </a:rPr>
              <a:t>frequência de palavras </a:t>
            </a:r>
            <a:r>
              <a:rPr lang="pt-BR" noProof="0" dirty="0"/>
              <a:t>até </a:t>
            </a:r>
            <a:r>
              <a:rPr lang="pt-BR" b="1" noProof="0" dirty="0">
                <a:solidFill>
                  <a:srgbClr val="00B050"/>
                </a:solidFill>
              </a:rPr>
              <a:t>vetores que capturam significado e contexto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OBS.: modelos de ML entendem apenas números.</a:t>
            </a: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5340486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A50CC-E4E4-866D-D5C7-E4222B31A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8C7CA-8174-8A0F-0146-60743B663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9F228-6F7A-6925-AA1A-83CC98A35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01401" cy="5032375"/>
          </a:xfrm>
        </p:spPr>
        <p:txBody>
          <a:bodyPr>
            <a:normAutofit/>
          </a:bodyPr>
          <a:lstStyle/>
          <a:p>
            <a:r>
              <a:rPr lang="pt-BR" b="1" noProof="0" dirty="0"/>
              <a:t>Imagem</a:t>
            </a:r>
            <a:r>
              <a:rPr lang="pt-BR" noProof="0" dirty="0"/>
              <a:t>: </a:t>
            </a:r>
            <a:r>
              <a:rPr lang="pt-BR" i="1" noProof="0" dirty="0" err="1"/>
              <a:t>Histogram</a:t>
            </a:r>
            <a:r>
              <a:rPr lang="pt-BR" i="1" noProof="0" dirty="0"/>
              <a:t> </a:t>
            </a:r>
            <a:r>
              <a:rPr lang="pt-BR" i="1" noProof="0" dirty="0" err="1"/>
              <a:t>of</a:t>
            </a:r>
            <a:r>
              <a:rPr lang="pt-BR" i="1" noProof="0" dirty="0"/>
              <a:t> </a:t>
            </a:r>
            <a:r>
              <a:rPr lang="pt-BR" i="1" noProof="0" dirty="0" err="1"/>
              <a:t>Oriented</a:t>
            </a:r>
            <a:r>
              <a:rPr lang="pt-BR" i="1" noProof="0" dirty="0"/>
              <a:t> </a:t>
            </a:r>
            <a:r>
              <a:rPr lang="pt-BR" i="1" noProof="0" dirty="0" err="1"/>
              <a:t>Gradients</a:t>
            </a:r>
            <a:r>
              <a:rPr lang="pt-BR" noProof="0" dirty="0"/>
              <a:t> (HOG), </a:t>
            </a:r>
            <a:r>
              <a:rPr lang="pt-BR" i="1" noProof="0" dirty="0" err="1"/>
              <a:t>Scale-Invariant</a:t>
            </a:r>
            <a:r>
              <a:rPr lang="pt-BR" i="1" noProof="0" dirty="0"/>
              <a:t> Feature </a:t>
            </a:r>
            <a:r>
              <a:rPr lang="pt-BR" i="1" noProof="0" dirty="0" err="1"/>
              <a:t>Transform</a:t>
            </a:r>
            <a:r>
              <a:rPr lang="pt-BR" noProof="0" dirty="0"/>
              <a:t> (SIFT), </a:t>
            </a:r>
            <a:r>
              <a:rPr lang="pt-BR" i="1" noProof="0" dirty="0" err="1"/>
              <a:t>Convolutional</a:t>
            </a:r>
            <a:r>
              <a:rPr lang="pt-BR" i="1" noProof="0" dirty="0"/>
              <a:t> Neural Network</a:t>
            </a:r>
            <a:r>
              <a:rPr lang="pt-BR" noProof="0" dirty="0"/>
              <a:t> (CNN).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>
                <a:solidFill>
                  <a:schemeClr val="accent2"/>
                </a:solidFill>
              </a:rPr>
              <a:t>Transformam os </a:t>
            </a:r>
            <a:r>
              <a:rPr lang="pt-BR" b="1" i="1" noProof="0" dirty="0">
                <a:solidFill>
                  <a:schemeClr val="accent2"/>
                </a:solidFill>
              </a:rPr>
              <a:t>pixels</a:t>
            </a:r>
            <a:r>
              <a:rPr lang="pt-BR" b="1" noProof="0" dirty="0">
                <a:solidFill>
                  <a:schemeClr val="accent2"/>
                </a:solidFill>
              </a:rPr>
              <a:t> de uma imagem em representações numéricas que capturam padrões visuais</a:t>
            </a:r>
            <a:r>
              <a:rPr lang="pt-BR" noProof="0" dirty="0"/>
              <a:t>, como bordas, texturas, cores e estruturas semânticas, para </a:t>
            </a:r>
            <a:r>
              <a:rPr lang="pt-BR" b="1" noProof="0" dirty="0">
                <a:solidFill>
                  <a:srgbClr val="00B0F0"/>
                </a:solidFill>
              </a:rPr>
              <a:t>facilitar o aprendizado dos modelos</a:t>
            </a:r>
            <a:r>
              <a:rPr lang="pt-BR" noProof="0" dirty="0"/>
              <a:t>.</a:t>
            </a:r>
          </a:p>
          <a:p>
            <a:r>
              <a:rPr lang="pt-BR" b="1" noProof="0" dirty="0"/>
              <a:t>Áudio e séries temporais</a:t>
            </a:r>
            <a:r>
              <a:rPr lang="pt-BR" noProof="0" dirty="0"/>
              <a:t>: </a:t>
            </a:r>
            <a:r>
              <a:rPr lang="pt-BR" i="1" noProof="0" dirty="0"/>
              <a:t>Mel-</a:t>
            </a:r>
            <a:r>
              <a:rPr lang="pt-BR" i="1" noProof="0" dirty="0" err="1"/>
              <a:t>frequency</a:t>
            </a:r>
            <a:r>
              <a:rPr lang="pt-BR" i="1" noProof="0" dirty="0"/>
              <a:t> </a:t>
            </a:r>
            <a:r>
              <a:rPr lang="pt-BR" i="1" noProof="0" dirty="0" err="1"/>
              <a:t>cepstral</a:t>
            </a:r>
            <a:r>
              <a:rPr lang="pt-BR" i="1" noProof="0" dirty="0"/>
              <a:t> </a:t>
            </a:r>
            <a:r>
              <a:rPr lang="pt-BR" i="1" noProof="0" dirty="0" err="1"/>
              <a:t>coefficients</a:t>
            </a:r>
            <a:r>
              <a:rPr lang="pt-BR" noProof="0" dirty="0"/>
              <a:t> (</a:t>
            </a:r>
            <a:r>
              <a:rPr lang="pt-BR" noProof="0" dirty="0" err="1"/>
              <a:t>MFCCs</a:t>
            </a:r>
            <a:r>
              <a:rPr lang="pt-BR" noProof="0" dirty="0"/>
              <a:t>), Transformada rápida de Fourier (FFT), </a:t>
            </a:r>
            <a:r>
              <a:rPr lang="pt-BR" noProof="0" dirty="0" err="1"/>
              <a:t>Espectogramas</a:t>
            </a:r>
            <a:r>
              <a:rPr lang="pt-BR" noProof="0" dirty="0"/>
              <a:t>, Transformada de </a:t>
            </a:r>
            <a:r>
              <a:rPr lang="pt-BR" i="1" noProof="0" dirty="0" err="1"/>
              <a:t>Wavelet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Transformam os sinais em </a:t>
            </a:r>
            <a:r>
              <a:rPr lang="pt-BR" b="1" noProof="0" dirty="0">
                <a:solidFill>
                  <a:srgbClr val="00B050"/>
                </a:solidFill>
              </a:rPr>
              <a:t>representações que capturam propriedades espectrais ou de tempo-frequência</a:t>
            </a:r>
            <a:r>
              <a:rPr lang="pt-BR" noProof="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360758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3090DBA-24DF-7D0F-2F18-3327653CB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Redução de dimensionalidade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6BAB3E5-4775-C42F-44CE-A651D3A434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881049" cy="4351338"/>
          </a:xfrm>
        </p:spPr>
        <p:txBody>
          <a:bodyPr/>
          <a:lstStyle/>
          <a:p>
            <a:r>
              <a:rPr lang="pt-BR" noProof="0" dirty="0"/>
              <a:t>Como trabalharemos bastante com dados tabulares, vamos entender uma das técnicas mais usadas para </a:t>
            </a:r>
            <a:r>
              <a:rPr lang="pt-BR" b="1" noProof="0" dirty="0">
                <a:solidFill>
                  <a:srgbClr val="00B0F0"/>
                </a:solidFill>
              </a:rPr>
              <a:t>redução de dimensionalidade</a:t>
            </a:r>
            <a:r>
              <a:rPr lang="pt-BR" noProof="0" dirty="0"/>
              <a:t> em da</a:t>
            </a:r>
            <a:r>
              <a:rPr lang="pt-BR" dirty="0"/>
              <a:t>dos estruturados (tabulares) a</a:t>
            </a:r>
            <a:endParaRPr lang="pt-BR" noProof="0" dirty="0"/>
          </a:p>
          <a:p>
            <a:pPr marL="0" indent="0" algn="ctr">
              <a:buNone/>
            </a:pPr>
            <a:r>
              <a:rPr lang="pt-BR" sz="3600" b="1" dirty="0">
                <a:solidFill>
                  <a:srgbClr val="7030A0"/>
                </a:solidFill>
              </a:rPr>
              <a:t>A</a:t>
            </a:r>
            <a:r>
              <a:rPr lang="pt-BR" sz="3600" b="1" noProof="0" dirty="0" err="1">
                <a:solidFill>
                  <a:srgbClr val="7030A0"/>
                </a:solidFill>
              </a:rPr>
              <a:t>nálise</a:t>
            </a:r>
            <a:r>
              <a:rPr lang="pt-BR" sz="3600" b="1" noProof="0" dirty="0">
                <a:solidFill>
                  <a:srgbClr val="7030A0"/>
                </a:solidFill>
              </a:rPr>
              <a:t> de componentes principais (</a:t>
            </a:r>
            <a:r>
              <a:rPr lang="pt-BR" sz="3600" b="1" i="1" noProof="0" dirty="0">
                <a:solidFill>
                  <a:srgbClr val="7030A0"/>
                </a:solidFill>
              </a:rPr>
              <a:t>Principal </a:t>
            </a:r>
            <a:r>
              <a:rPr lang="pt-BR" sz="3600" b="1" i="1" noProof="0" dirty="0" err="1">
                <a:solidFill>
                  <a:srgbClr val="7030A0"/>
                </a:solidFill>
              </a:rPr>
              <a:t>Component</a:t>
            </a:r>
            <a:r>
              <a:rPr lang="pt-BR" sz="3600" b="1" i="1" noProof="0" dirty="0">
                <a:solidFill>
                  <a:srgbClr val="7030A0"/>
                </a:solidFill>
              </a:rPr>
              <a:t> </a:t>
            </a:r>
            <a:r>
              <a:rPr lang="pt-BR" sz="3600" b="1" i="1" noProof="0" dirty="0" err="1">
                <a:solidFill>
                  <a:srgbClr val="7030A0"/>
                </a:solidFill>
              </a:rPr>
              <a:t>Analysis</a:t>
            </a:r>
            <a:r>
              <a:rPr lang="pt-BR" sz="3600" b="1" noProof="0" dirty="0">
                <a:solidFill>
                  <a:srgbClr val="7030A0"/>
                </a:solidFill>
              </a:rPr>
              <a:t> - PCA)</a:t>
            </a:r>
          </a:p>
        </p:txBody>
      </p:sp>
    </p:spTree>
    <p:extLst>
      <p:ext uri="{BB962C8B-B14F-4D97-AF65-F5344CB8AC3E}">
        <p14:creationId xmlns:p14="http://schemas.microsoft.com/office/powerpoint/2010/main" val="17546347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87538-46AE-D2B2-22D0-FAB3BA923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346234D-D962-AB1B-C211-E1791D646674}"/>
              </a:ext>
            </a:extLst>
          </p:cNvPr>
          <p:cNvSpPr txBox="1"/>
          <p:nvPr/>
        </p:nvSpPr>
        <p:spPr>
          <a:xfrm>
            <a:off x="0" y="5288340"/>
            <a:ext cx="12192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noProof="0" dirty="0"/>
              <a:t>O PCA realiza uma </a:t>
            </a:r>
            <a:r>
              <a:rPr lang="pt-BR" sz="3200" b="1" noProof="0" dirty="0">
                <a:solidFill>
                  <a:srgbClr val="7030A0"/>
                </a:solidFill>
              </a:rPr>
              <a:t>transformação linear</a:t>
            </a:r>
            <a:r>
              <a:rPr lang="pt-BR" sz="3200" noProof="0" dirty="0"/>
              <a:t> que </a:t>
            </a:r>
            <a:r>
              <a:rPr lang="pt-BR" sz="3200" b="1" noProof="0" dirty="0">
                <a:solidFill>
                  <a:schemeClr val="accent2"/>
                </a:solidFill>
              </a:rPr>
              <a:t>projeta</a:t>
            </a:r>
            <a:r>
              <a:rPr lang="pt-BR" sz="3200" noProof="0" dirty="0"/>
              <a:t> os dados originais </a:t>
            </a:r>
            <a:r>
              <a:rPr lang="pt-BR" sz="3200" b="1" noProof="0" dirty="0">
                <a:solidFill>
                  <a:schemeClr val="accent2"/>
                </a:solidFill>
              </a:rPr>
              <a:t>em um novo sistema de coordenadas</a:t>
            </a:r>
            <a:r>
              <a:rPr lang="pt-BR" sz="3200" noProof="0" dirty="0"/>
              <a:t>, definido pelas </a:t>
            </a:r>
            <a:r>
              <a:rPr lang="pt-BR" sz="3200" b="1" noProof="0" dirty="0">
                <a:solidFill>
                  <a:srgbClr val="00B050"/>
                </a:solidFill>
              </a:rPr>
              <a:t>direções que capturam a maior variância</a:t>
            </a:r>
            <a:r>
              <a:rPr lang="pt-BR" sz="3200" noProof="0" dirty="0"/>
              <a:t> presente nos dados.</a:t>
            </a:r>
            <a:endParaRPr lang="pt-BR" sz="4800" b="0" i="0" noProof="0" dirty="0">
              <a:effectLst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C9366A72-36ED-B11F-5E78-3470449B8D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0768" y="503457"/>
            <a:ext cx="7660102" cy="456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085756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F1CEC-BD6E-409D-6A05-D3BEAC702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D9E91AC-8BC8-BB90-22EC-183A9962B9E9}"/>
              </a:ext>
            </a:extLst>
          </p:cNvPr>
          <p:cNvSpPr txBox="1"/>
          <p:nvPr/>
        </p:nvSpPr>
        <p:spPr>
          <a:xfrm>
            <a:off x="0" y="5288340"/>
            <a:ext cx="12192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noProof="0" dirty="0"/>
              <a:t>As </a:t>
            </a:r>
            <a:r>
              <a:rPr lang="pt-BR" sz="3200" b="1" noProof="0" dirty="0">
                <a:solidFill>
                  <a:srgbClr val="7030A0"/>
                </a:solidFill>
              </a:rPr>
              <a:t>direções que capturam a maior variância </a:t>
            </a:r>
            <a:r>
              <a:rPr lang="pt-BR" sz="3200" noProof="0" dirty="0"/>
              <a:t>dos dados são chamadas </a:t>
            </a:r>
            <a:r>
              <a:rPr lang="pt-BR" sz="3200" dirty="0"/>
              <a:t>de </a:t>
            </a:r>
            <a:r>
              <a:rPr lang="pt-BR" sz="3200" b="1" dirty="0">
                <a:solidFill>
                  <a:schemeClr val="accent2"/>
                </a:solidFill>
              </a:rPr>
              <a:t>componentes principais.</a:t>
            </a:r>
            <a:endParaRPr lang="pt-BR" sz="4800" b="1" i="0" noProof="0" dirty="0">
              <a:solidFill>
                <a:schemeClr val="accent2"/>
              </a:solidFill>
              <a:effectLst/>
            </a:endParaRP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972D2EA-67EE-D849-380D-488F81A7EE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0768" y="503457"/>
            <a:ext cx="7660102" cy="4563064"/>
          </a:xfrm>
          <a:prstGeom prst="rect">
            <a:avLst/>
          </a:prstGeom>
        </p:spPr>
      </p:pic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74911388-D85A-7933-0E35-DCCA17CFBF4E}"/>
              </a:ext>
            </a:extLst>
          </p:cNvPr>
          <p:cNvCxnSpPr>
            <a:cxnSpLocks/>
          </p:cNvCxnSpPr>
          <p:nvPr/>
        </p:nvCxnSpPr>
        <p:spPr>
          <a:xfrm>
            <a:off x="2304661" y="1315616"/>
            <a:ext cx="4786604" cy="2537927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139766BF-808D-68E2-8D4D-3EA94E72D9B0}"/>
              </a:ext>
            </a:extLst>
          </p:cNvPr>
          <p:cNvCxnSpPr>
            <a:cxnSpLocks/>
          </p:cNvCxnSpPr>
          <p:nvPr/>
        </p:nvCxnSpPr>
        <p:spPr>
          <a:xfrm flipH="1">
            <a:off x="5290457" y="2612571"/>
            <a:ext cx="805543" cy="1147666"/>
          </a:xfrm>
          <a:prstGeom prst="line">
            <a:avLst/>
          </a:prstGeom>
          <a:ln w="38100">
            <a:solidFill>
              <a:srgbClr val="00B0F0"/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10" name="CaixaDeTexto 9">
            <a:extLst>
              <a:ext uri="{FF2B5EF4-FFF2-40B4-BE49-F238E27FC236}">
                <a16:creationId xmlns:a16="http://schemas.microsoft.com/office/drawing/2014/main" id="{1A55D258-81F6-11E8-C88A-1B69FE5E0EE7}"/>
              </a:ext>
            </a:extLst>
          </p:cNvPr>
          <p:cNvSpPr txBox="1"/>
          <p:nvPr/>
        </p:nvSpPr>
        <p:spPr>
          <a:xfrm>
            <a:off x="643812" y="1978090"/>
            <a:ext cx="2440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Componente principal 1</a:t>
            </a:r>
            <a:endParaRPr lang="en-US" dirty="0"/>
          </a:p>
        </p:txBody>
      </p: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DEDEFED8-D6D0-733D-6CC6-FFA18CDF6AFF}"/>
              </a:ext>
            </a:extLst>
          </p:cNvPr>
          <p:cNvCxnSpPr>
            <a:endCxn id="10" idx="0"/>
          </p:cNvCxnSpPr>
          <p:nvPr/>
        </p:nvCxnSpPr>
        <p:spPr>
          <a:xfrm flipH="1">
            <a:off x="1863954" y="1548882"/>
            <a:ext cx="729956" cy="4292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E99A6636-D642-42DA-D733-44AA9556AF14}"/>
              </a:ext>
            </a:extLst>
          </p:cNvPr>
          <p:cNvSpPr txBox="1"/>
          <p:nvPr/>
        </p:nvSpPr>
        <p:spPr>
          <a:xfrm>
            <a:off x="2427187" y="3774377"/>
            <a:ext cx="2440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Componente principal 2</a:t>
            </a:r>
            <a:endParaRPr lang="en-US" dirty="0"/>
          </a:p>
        </p:txBody>
      </p: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C79C7808-8A85-E9A8-B319-02E189D813AB}"/>
              </a:ext>
            </a:extLst>
          </p:cNvPr>
          <p:cNvCxnSpPr>
            <a:cxnSpLocks/>
          </p:cNvCxnSpPr>
          <p:nvPr/>
        </p:nvCxnSpPr>
        <p:spPr>
          <a:xfrm flipH="1">
            <a:off x="4010608" y="3384149"/>
            <a:ext cx="1374710" cy="37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76844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246D2-1EAD-7218-711B-2937C4B7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A67754-AECE-E9E2-F60A-39D9E47534ED}"/>
              </a:ext>
            </a:extLst>
          </p:cNvPr>
          <p:cNvSpPr txBox="1"/>
          <p:nvPr/>
        </p:nvSpPr>
        <p:spPr>
          <a:xfrm>
            <a:off x="0" y="5780782"/>
            <a:ext cx="1219200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b="0" i="0" dirty="0">
                <a:effectLst/>
              </a:rPr>
              <a:t>O PCA pode </a:t>
            </a:r>
            <a:r>
              <a:rPr lang="pt-BR" sz="3200" b="1" i="0" dirty="0">
                <a:solidFill>
                  <a:srgbClr val="7030A0"/>
                </a:solidFill>
                <a:effectLst/>
              </a:rPr>
              <a:t>projetar</a:t>
            </a:r>
            <a:r>
              <a:rPr lang="pt-BR" sz="3200" b="0" i="0" dirty="0">
                <a:effectLst/>
              </a:rPr>
              <a:t> dados de </a:t>
            </a:r>
            <a:r>
              <a:rPr lang="pt-BR" sz="3200" b="1" i="0" dirty="0">
                <a:solidFill>
                  <a:schemeClr val="accent2"/>
                </a:solidFill>
                <a:effectLst/>
              </a:rPr>
              <a:t>alta dimensão em um espaço de menor dimensão</a:t>
            </a:r>
            <a:r>
              <a:rPr lang="pt-BR" sz="3200" b="0" i="0" dirty="0">
                <a:effectLst/>
              </a:rPr>
              <a:t> </a:t>
            </a:r>
            <a:r>
              <a:rPr lang="pt-BR" sz="3200" b="1" i="0" dirty="0">
                <a:solidFill>
                  <a:srgbClr val="00B0F0"/>
                </a:solidFill>
                <a:effectLst/>
              </a:rPr>
              <a:t>formado por algumas </a:t>
            </a:r>
            <a:r>
              <a:rPr lang="pt-BR" sz="3200" b="0" i="0" dirty="0">
                <a:effectLst/>
              </a:rPr>
              <a:t>componentes principais.</a:t>
            </a:r>
          </a:p>
        </p:txBody>
      </p:sp>
      <p:pic>
        <p:nvPicPr>
          <p:cNvPr id="6" name="Imagem 5">
            <a:extLst>
              <a:ext uri="{FF2B5EF4-FFF2-40B4-BE49-F238E27FC236}">
                <a16:creationId xmlns:a16="http://schemas.microsoft.com/office/drawing/2014/main" id="{582220A7-1B68-9DE7-C4E5-716FF00A66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40768" y="503457"/>
            <a:ext cx="7660102" cy="4563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91420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A5E37-BFF0-D601-7CAC-F57F89EAD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D06C3-5EDF-4BF5-C344-E650C60EE3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5"/>
            <a:ext cx="6096001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O PCA encontra as </a:t>
            </a:r>
            <a:r>
              <a:rPr lang="pt-BR" b="1" noProof="0" dirty="0"/>
              <a:t>direções onde os dados mais variam</a:t>
            </a:r>
            <a:r>
              <a:rPr lang="pt-BR" noProof="0" dirty="0"/>
              <a:t> (</a:t>
            </a:r>
            <a:r>
              <a:rPr lang="pt-BR" b="1" noProof="0" dirty="0">
                <a:solidFill>
                  <a:schemeClr val="accent2"/>
                </a:solidFill>
              </a:rPr>
              <a:t>componentes principais</a:t>
            </a:r>
            <a:r>
              <a:rPr lang="pt-BR" noProof="0" dirty="0"/>
              <a:t>) e </a:t>
            </a:r>
            <a:r>
              <a:rPr lang="pt-BR" b="1" noProof="0" dirty="0">
                <a:solidFill>
                  <a:schemeClr val="accent1"/>
                </a:solidFill>
              </a:rPr>
              <a:t>projeta</a:t>
            </a:r>
            <a:r>
              <a:rPr lang="pt-BR" noProof="0" dirty="0"/>
              <a:t> os dados nessas direções.</a:t>
            </a:r>
          </a:p>
          <a:p>
            <a:r>
              <a:rPr lang="pt-BR" noProof="0" dirty="0"/>
              <a:t>Na figura ao lado: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PC1 (1ª Componente): é a </a:t>
            </a:r>
            <a:r>
              <a:rPr lang="pt-BR" b="1" dirty="0">
                <a:solidFill>
                  <a:srgbClr val="7030A0"/>
                </a:solidFill>
              </a:rPr>
              <a:t>direção</a:t>
            </a:r>
            <a:r>
              <a:rPr lang="pt-BR" noProof="0" dirty="0"/>
              <a:t> que captura </a:t>
            </a:r>
            <a:r>
              <a:rPr lang="pt-BR" b="1" noProof="0" dirty="0">
                <a:solidFill>
                  <a:srgbClr val="00B0F0"/>
                </a:solidFill>
              </a:rPr>
              <a:t>a maior variância </a:t>
            </a:r>
            <a:r>
              <a:rPr lang="pt-BR" noProof="0" dirty="0"/>
              <a:t>presente nos dados originais.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PC2 (2ª Componente): é a </a:t>
            </a:r>
            <a:r>
              <a:rPr lang="pt-BR" b="1" noProof="0" dirty="0">
                <a:solidFill>
                  <a:srgbClr val="7030A0"/>
                </a:solidFill>
              </a:rPr>
              <a:t>direção</a:t>
            </a:r>
            <a:r>
              <a:rPr lang="pt-BR" noProof="0" dirty="0"/>
              <a:t> </a:t>
            </a:r>
            <a:r>
              <a:rPr lang="pt-BR" b="1" noProof="0" dirty="0">
                <a:solidFill>
                  <a:srgbClr val="00B050"/>
                </a:solidFill>
              </a:rPr>
              <a:t>ortogonal</a:t>
            </a:r>
            <a:r>
              <a:rPr lang="pt-BR" noProof="0" dirty="0"/>
              <a:t> à PC1 que captura </a:t>
            </a:r>
            <a:r>
              <a:rPr lang="pt-BR" b="1" noProof="0" dirty="0">
                <a:solidFill>
                  <a:srgbClr val="00B0F0"/>
                </a:solidFill>
              </a:rPr>
              <a:t>a segunda maior variância</a:t>
            </a:r>
            <a:r>
              <a:rPr lang="pt-BR" noProof="0" dirty="0"/>
              <a:t> possível.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PC1 e PC2 contém grande parte da, se não, toda informação dos dados.</a:t>
            </a:r>
            <a:endParaRPr lang="pt-BR" noProof="0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95832D94-6CA3-74CA-953F-81502243BA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57248" y="2612571"/>
            <a:ext cx="5853780" cy="27976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683463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BD960-B60C-7D80-DEBE-951EAB97B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D1ACB-37E4-1262-7CA1-257836C87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563BA-A520-CEA6-4C95-B4E96386B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8082" y="1825624"/>
            <a:ext cx="5613918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As PCs são sempre </a:t>
            </a:r>
            <a:r>
              <a:rPr lang="pt-BR" b="1" noProof="0" dirty="0">
                <a:solidFill>
                  <a:srgbClr val="00B050"/>
                </a:solidFill>
              </a:rPr>
              <a:t>ordenadas da maior para a menor variância explicada</a:t>
            </a:r>
            <a:r>
              <a:rPr lang="pt-BR" noProof="0" dirty="0"/>
              <a:t>. </a:t>
            </a:r>
          </a:p>
          <a:p>
            <a:r>
              <a:rPr lang="pt-BR" noProof="0" dirty="0"/>
              <a:t>Assim, é possível </a:t>
            </a:r>
            <a:r>
              <a:rPr lang="pt-BR" b="1" noProof="0" dirty="0">
                <a:solidFill>
                  <a:schemeClr val="accent2"/>
                </a:solidFill>
              </a:rPr>
              <a:t>representar os dados utilizando apenas as primeiras componentes</a:t>
            </a:r>
            <a:r>
              <a:rPr lang="pt-BR" noProof="0" dirty="0"/>
              <a:t>. </a:t>
            </a:r>
          </a:p>
          <a:p>
            <a:r>
              <a:rPr lang="pt-BR" noProof="0" dirty="0"/>
              <a:t>Isso </a:t>
            </a:r>
            <a:r>
              <a:rPr lang="pt-BR" b="1" noProof="0" dirty="0">
                <a:solidFill>
                  <a:srgbClr val="7030A0"/>
                </a:solidFill>
              </a:rPr>
              <a:t>preserva grande parte da informação original </a:t>
            </a:r>
            <a:r>
              <a:rPr lang="pt-BR" noProof="0" dirty="0"/>
              <a:t>enquanto reduzimos a dimensionalidade dos dados.</a:t>
            </a:r>
          </a:p>
          <a:p>
            <a:endParaRPr lang="pt-BR" noProof="0" dirty="0"/>
          </a:p>
          <a:p>
            <a:endParaRPr lang="pt-BR" noProof="0" dirty="0"/>
          </a:p>
          <a:p>
            <a:endParaRPr lang="pt-BR" noProof="0" dirty="0"/>
          </a:p>
          <a:p>
            <a:endParaRPr lang="pt-BR" noProof="0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2042F2C9-8E5E-6B1C-CA29-BEF6D914A6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08856" y="2574321"/>
            <a:ext cx="6366589" cy="3042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270325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31546-F5F9-DFE0-8083-062569901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E97D0-8FC3-8364-395F-A8F74B389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2F978-6C6D-84DF-EA37-4EBED96DE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266714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O PCA </a:t>
            </a:r>
            <a:r>
              <a:rPr lang="pt-BR" b="1" noProof="0" dirty="0"/>
              <a:t>assume </a:t>
            </a:r>
            <a:r>
              <a:rPr lang="pt-BR" b="1" noProof="0" dirty="0">
                <a:solidFill>
                  <a:schemeClr val="accent1"/>
                </a:solidFill>
              </a:rPr>
              <a:t>relações lineares entre os atributos.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Se os dados </a:t>
            </a:r>
            <a:r>
              <a:rPr lang="pt-BR" b="1" noProof="0" dirty="0">
                <a:solidFill>
                  <a:srgbClr val="7030A0"/>
                </a:solidFill>
              </a:rPr>
              <a:t>não são lineares</a:t>
            </a:r>
            <a:r>
              <a:rPr lang="pt-BR" noProof="0" dirty="0"/>
              <a:t> (e.g., senoides, espirais, meias-luas e círculos), o </a:t>
            </a:r>
            <a:r>
              <a:rPr lang="pt-BR" b="1" noProof="0" dirty="0">
                <a:solidFill>
                  <a:srgbClr val="7030A0"/>
                </a:solidFill>
              </a:rPr>
              <a:t>PCA falhará em preservar a estrutura dos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Nesses casos, podem ser utilizadas técnicas capazes de capturar estruturas não lineares, como Kernel PCA e </a:t>
            </a:r>
            <a:r>
              <a:rPr lang="pt-BR" dirty="0" err="1"/>
              <a:t>Isomap</a:t>
            </a:r>
            <a:r>
              <a:rPr lang="pt-BR" noProof="0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F0"/>
                </a:solidFill>
              </a:rPr>
              <a:t>matriz de transformação </a:t>
            </a:r>
            <a:r>
              <a:rPr lang="pt-BR" b="1" dirty="0">
                <a:solidFill>
                  <a:schemeClr val="accent2"/>
                </a:solidFill>
              </a:rPr>
              <a:t>deve ser calculada no conjunto de treinamento </a:t>
            </a:r>
            <a:r>
              <a:rPr lang="pt-BR" dirty="0"/>
              <a:t>e depois aplicada aos conjuntos de validação e teste.</a:t>
            </a:r>
            <a:endParaRPr lang="pt-BR" noProof="0" dirty="0"/>
          </a:p>
          <a:p>
            <a:r>
              <a:rPr lang="pt-BR" dirty="0"/>
              <a:t>O PCA é </a:t>
            </a:r>
            <a:r>
              <a:rPr lang="pt-BR" b="1" dirty="0">
                <a:solidFill>
                  <a:srgbClr val="00B050"/>
                </a:solidFill>
              </a:rPr>
              <a:t>sensível à escala dos dados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os </a:t>
            </a:r>
            <a:r>
              <a:rPr lang="pt-BR" b="1" dirty="0">
                <a:solidFill>
                  <a:srgbClr val="0070C0"/>
                </a:solidFill>
              </a:rPr>
              <a:t>atributos estão em escalas diferentes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recomenda-se padronizá-los </a:t>
            </a:r>
            <a:r>
              <a:rPr lang="pt-BR" dirty="0"/>
              <a:t>antes da aplicação.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>
                <a:solidFill>
                  <a:srgbClr val="7030A0"/>
                </a:solidFill>
              </a:rPr>
              <a:t>Sem padronização</a:t>
            </a:r>
            <a:r>
              <a:rPr lang="pt-BR" dirty="0"/>
              <a:t>, </a:t>
            </a:r>
            <a:r>
              <a:rPr lang="pt-BR" b="1" dirty="0">
                <a:solidFill>
                  <a:srgbClr val="7030A0"/>
                </a:solidFill>
              </a:rPr>
              <a:t>atributos com maior variância podem dominar </a:t>
            </a:r>
            <a:r>
              <a:rPr lang="pt-BR" dirty="0"/>
              <a:t>as componentes principais.</a:t>
            </a: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282714582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F3F2D-3BEE-7F15-4F99-AF9C21DAB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Análise de componentes principais (PCA)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2C856-EB66-8FEA-48EB-605CA54FC1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sklearn.decomposition</a:t>
            </a:r>
            <a:r>
              <a:rPr lang="en-US" dirty="0">
                <a:latin typeface="Consolas" panose="020B0609020204030204" pitchFamily="49" charset="0"/>
              </a:rPr>
              <a:t> import PCA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Padronizar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dados antes de </a:t>
            </a:r>
            <a:r>
              <a:rPr lang="en-US" i="1" dirty="0" err="1">
                <a:latin typeface="Consolas" panose="020B0609020204030204" pitchFamily="49" charset="0"/>
              </a:rPr>
              <a:t>aplicar</a:t>
            </a:r>
            <a:r>
              <a:rPr lang="en-US" i="1" dirty="0">
                <a:latin typeface="Consolas" panose="020B0609020204030204" pitchFamily="49" charset="0"/>
              </a:rPr>
              <a:t> o PCA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().transform(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Extrair</a:t>
            </a:r>
            <a:r>
              <a:rPr lang="en-US" i="1" dirty="0">
                <a:latin typeface="Consolas" panose="020B0609020204030204" pitchFamily="49" charset="0"/>
              </a:rPr>
              <a:t> 2 </a:t>
            </a:r>
            <a:r>
              <a:rPr lang="en-US" i="1" dirty="0" err="1">
                <a:latin typeface="Consolas" panose="020B0609020204030204" pitchFamily="49" charset="0"/>
              </a:rPr>
              <a:t>componentes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pca</a:t>
            </a:r>
            <a:r>
              <a:rPr lang="en-US" dirty="0">
                <a:latin typeface="Consolas" panose="020B0609020204030204" pitchFamily="49" charset="0"/>
              </a:rPr>
              <a:t> = PCA(</a:t>
            </a:r>
            <a:r>
              <a:rPr lang="en-US" dirty="0" err="1">
                <a:latin typeface="Consolas" panose="020B0609020204030204" pitchFamily="49" charset="0"/>
              </a:rPr>
              <a:t>n_components</a:t>
            </a:r>
            <a:r>
              <a:rPr lang="en-US" dirty="0">
                <a:latin typeface="Consolas" panose="020B0609020204030204" pitchFamily="49" charset="0"/>
              </a:rPr>
              <a:t>=2)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pca.explained_variance_ratio</a:t>
            </a:r>
            <a:r>
              <a:rPr lang="en-US" dirty="0">
                <a:latin typeface="Consolas" panose="020B0609020204030204" pitchFamily="49" charset="0"/>
              </a:rPr>
              <a:t>_)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8214E1-81F4-96EA-7AE9-0BB856B13E0B}"/>
              </a:ext>
            </a:extLst>
          </p:cNvPr>
          <p:cNvSpPr txBox="1"/>
          <p:nvPr/>
        </p:nvSpPr>
        <p:spPr>
          <a:xfrm>
            <a:off x="8784771" y="4341811"/>
            <a:ext cx="286294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OBS</a:t>
            </a:r>
            <a:r>
              <a:rPr lang="en-US" dirty="0"/>
              <a:t>.: “</a:t>
            </a:r>
            <a:r>
              <a:rPr lang="en-US" dirty="0" err="1"/>
              <a:t>n_components</a:t>
            </a:r>
            <a:r>
              <a:rPr lang="en-US" dirty="0"/>
              <a:t>”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dirty="0" err="1"/>
              <a:t>também</a:t>
            </a:r>
            <a:r>
              <a:rPr lang="en-US" dirty="0"/>
              <a:t> um </a:t>
            </a:r>
            <a:r>
              <a:rPr lang="en-US" dirty="0" err="1"/>
              <a:t>número</a:t>
            </a:r>
            <a:r>
              <a:rPr lang="en-US" dirty="0"/>
              <a:t> entre 0 e 1 </a:t>
            </a:r>
            <a:r>
              <a:rPr lang="en-US" dirty="0" err="1"/>
              <a:t>especificando</a:t>
            </a:r>
            <a:r>
              <a:rPr lang="en-US" dirty="0"/>
              <a:t> o </a:t>
            </a:r>
            <a:r>
              <a:rPr lang="en-US" dirty="0" err="1"/>
              <a:t>mínimo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 </a:t>
            </a:r>
            <a:r>
              <a:rPr lang="en-US" dirty="0" err="1"/>
              <a:t>explicada</a:t>
            </a:r>
            <a:r>
              <a:rPr lang="en-US" dirty="0"/>
              <a:t> </a:t>
            </a:r>
            <a:r>
              <a:rPr lang="en-US" dirty="0" err="1"/>
              <a:t>desejada</a:t>
            </a:r>
            <a:r>
              <a:rPr lang="en-US" dirty="0"/>
              <a:t>.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Se </a:t>
            </a:r>
            <a:r>
              <a:rPr lang="en-US" dirty="0" err="1"/>
              <a:t>não</a:t>
            </a:r>
            <a:r>
              <a:rPr lang="en-US" dirty="0"/>
              <a:t> for </a:t>
            </a:r>
            <a:r>
              <a:rPr lang="en-US" dirty="0" err="1"/>
              <a:t>definido</a:t>
            </a:r>
            <a:r>
              <a:rPr lang="en-US" dirty="0"/>
              <a:t>, </a:t>
            </a:r>
            <a:r>
              <a:rPr lang="en-US" dirty="0" err="1"/>
              <a:t>todas</a:t>
            </a:r>
            <a:r>
              <a:rPr lang="en-US" dirty="0"/>
              <a:t> as </a:t>
            </a:r>
            <a:r>
              <a:rPr lang="en-US" dirty="0" err="1"/>
              <a:t>componentes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 </a:t>
            </a:r>
            <a:r>
              <a:rPr lang="en-US" dirty="0" err="1"/>
              <a:t>usadas</a:t>
            </a:r>
            <a:r>
              <a:rPr lang="en-US" dirty="0"/>
              <a:t>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471AF8A-303A-1F0A-B73F-224FDADDE806}"/>
              </a:ext>
            </a:extLst>
          </p:cNvPr>
          <p:cNvCxnSpPr/>
          <p:nvPr/>
        </p:nvCxnSpPr>
        <p:spPr>
          <a:xfrm flipH="1">
            <a:off x="5037513" y="4506686"/>
            <a:ext cx="3823459" cy="51420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70803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9AE6D-1C0A-9901-3435-DE81DB262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2D9C9-C956-E042-6573-941646858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>
                <a:solidFill>
                  <a:srgbClr val="00B050"/>
                </a:solidFill>
              </a:rPr>
              <a:t>selecionar um </a:t>
            </a:r>
            <a:r>
              <a:rPr lang="pt-BR" b="1" dirty="0">
                <a:solidFill>
                  <a:srgbClr val="00B0F0"/>
                </a:solidFill>
              </a:rPr>
              <a:t>subconjunto</a:t>
            </a:r>
            <a:r>
              <a:rPr lang="pt-BR" b="1" dirty="0">
                <a:solidFill>
                  <a:srgbClr val="00B050"/>
                </a:solidFill>
              </a:rPr>
              <a:t> de atributos </a:t>
            </a:r>
            <a:r>
              <a:rPr lang="pt-BR" dirty="0"/>
              <a:t>que contribuem para a </a:t>
            </a:r>
            <a:r>
              <a:rPr lang="pt-BR" b="1" dirty="0">
                <a:solidFill>
                  <a:srgbClr val="00B050"/>
                </a:solidFill>
              </a:rPr>
              <a:t>melhoria do desempenho do modelo</a:t>
            </a:r>
            <a:r>
              <a:rPr lang="pt-BR" dirty="0"/>
              <a:t>.</a:t>
            </a:r>
          </a:p>
          <a:p>
            <a:r>
              <a:rPr lang="pt-BR" dirty="0"/>
              <a:t>Por que usar?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Reduz </a:t>
            </a:r>
            <a:r>
              <a:rPr lang="pt-BR" b="1" i="1" dirty="0" err="1"/>
              <a:t>overfitting</a:t>
            </a:r>
            <a:r>
              <a:rPr lang="pt-BR" i="1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Modelos mais simples </a:t>
            </a:r>
            <a:r>
              <a:rPr lang="pt-BR" dirty="0"/>
              <a:t>com menos atributos tendem a </a:t>
            </a:r>
            <a:r>
              <a:rPr lang="pt-BR" b="1" dirty="0">
                <a:solidFill>
                  <a:schemeClr val="accent2"/>
                </a:solidFill>
              </a:rPr>
              <a:t>generalizar melhor </a:t>
            </a:r>
            <a:r>
              <a:rPr lang="pt-BR" dirty="0"/>
              <a:t>para novos dados.</a:t>
            </a:r>
            <a:endParaRPr lang="pt-BR" i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Reduz custo computacional</a:t>
            </a:r>
            <a:r>
              <a:rPr lang="pt-BR" dirty="0"/>
              <a:t>: </a:t>
            </a:r>
            <a:r>
              <a:rPr lang="pt-BR" b="1" dirty="0">
                <a:solidFill>
                  <a:schemeClr val="accent2"/>
                </a:solidFill>
              </a:rPr>
              <a:t>Menos dados </a:t>
            </a:r>
            <a:r>
              <a:rPr lang="pt-BR" dirty="0"/>
              <a:t>significam </a:t>
            </a:r>
            <a:r>
              <a:rPr lang="pt-BR" b="1" dirty="0">
                <a:solidFill>
                  <a:schemeClr val="accent2"/>
                </a:solidFill>
              </a:rPr>
              <a:t>algoritmos</a:t>
            </a:r>
            <a:r>
              <a:rPr lang="pt-BR" dirty="0"/>
              <a:t> que processam </a:t>
            </a:r>
            <a:r>
              <a:rPr lang="pt-BR" b="1" dirty="0">
                <a:solidFill>
                  <a:schemeClr val="accent2"/>
                </a:solidFill>
              </a:rPr>
              <a:t>mais rápido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Facilita interpretação</a:t>
            </a:r>
            <a:r>
              <a:rPr lang="pt-BR" dirty="0"/>
              <a:t>: É mais </a:t>
            </a:r>
            <a:r>
              <a:rPr lang="pt-BR" b="1" dirty="0">
                <a:solidFill>
                  <a:schemeClr val="accent2"/>
                </a:solidFill>
              </a:rPr>
              <a:t>fácil explicar </a:t>
            </a:r>
            <a:r>
              <a:rPr lang="pt-BR" dirty="0"/>
              <a:t>um modelo que utiliza 5 atributos do que um que utiliza 500.</a:t>
            </a:r>
          </a:p>
        </p:txBody>
      </p:sp>
    </p:spTree>
    <p:extLst>
      <p:ext uri="{BB962C8B-B14F-4D97-AF65-F5344CB8AC3E}">
        <p14:creationId xmlns:p14="http://schemas.microsoft.com/office/powerpoint/2010/main" val="42455900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58860-65D7-D491-9562-1DB8A3BE6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7A552-B57A-0603-BA2B-092430CA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398A6-8EF0-205A-E092-0E8C53D1A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353800" cy="5032375"/>
          </a:xfrm>
        </p:spPr>
        <p:txBody>
          <a:bodyPr>
            <a:normAutofit lnSpcReduction="10000"/>
          </a:bodyPr>
          <a:lstStyle/>
          <a:p>
            <a:r>
              <a:rPr lang="pt-BR" noProof="0" dirty="0"/>
              <a:t>Existem três tipos principais de técnicas de seleção de atributos: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/>
              <a:t>Filtragem</a:t>
            </a:r>
            <a:r>
              <a:rPr lang="pt-BR" noProof="0" dirty="0"/>
              <a:t>: Baseados em </a:t>
            </a:r>
            <a:r>
              <a:rPr lang="pt-BR" b="1" noProof="0" dirty="0">
                <a:solidFill>
                  <a:srgbClr val="7030A0"/>
                </a:solidFill>
              </a:rPr>
              <a:t>medidas estatísticas dos dados</a:t>
            </a:r>
            <a:r>
              <a:rPr lang="pt-BR" noProof="0" dirty="0"/>
              <a:t>, como variância e correlação.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noProof="0" dirty="0"/>
              <a:t>Exemplos</a:t>
            </a:r>
            <a:r>
              <a:rPr lang="pt-BR" noProof="0" dirty="0"/>
              <a:t>: Correlação de Pearson/</a:t>
            </a:r>
            <a:r>
              <a:rPr lang="pt-BR" noProof="0" dirty="0" err="1"/>
              <a:t>Spearman</a:t>
            </a:r>
            <a:r>
              <a:rPr lang="pt-BR" noProof="0" dirty="0"/>
              <a:t>, limiar de variância, ganho de informação, </a:t>
            </a:r>
            <a:r>
              <a:rPr lang="pt-BR" dirty="0"/>
              <a:t>informação mútua e teste </a:t>
            </a:r>
            <a:r>
              <a:rPr lang="pt-BR" dirty="0" err="1"/>
              <a:t>qui</a:t>
            </a:r>
            <a:r>
              <a:rPr lang="pt-BR" dirty="0"/>
              <a:t>-quadrado.</a:t>
            </a:r>
            <a:endParaRPr lang="pt-BR" noProof="0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/>
              <a:t>Encapsulamento</a:t>
            </a:r>
            <a:r>
              <a:rPr lang="pt-BR" noProof="0" dirty="0"/>
              <a:t>: </a:t>
            </a:r>
            <a:r>
              <a:rPr lang="pt-BR" b="1" noProof="0" dirty="0">
                <a:solidFill>
                  <a:srgbClr val="7030A0"/>
                </a:solidFill>
              </a:rPr>
              <a:t>Usa </a:t>
            </a:r>
            <a:r>
              <a:rPr lang="pt-BR" b="1" dirty="0">
                <a:solidFill>
                  <a:srgbClr val="7030A0"/>
                </a:solidFill>
              </a:rPr>
              <a:t>um </a:t>
            </a:r>
            <a:r>
              <a:rPr lang="pt-BR" b="1" noProof="0" dirty="0">
                <a:solidFill>
                  <a:srgbClr val="7030A0"/>
                </a:solidFill>
              </a:rPr>
              <a:t>modelo de ML para testar subconjuntos </a:t>
            </a:r>
            <a:r>
              <a:rPr lang="pt-BR" noProof="0" dirty="0"/>
              <a:t>de atributos e avaliar a performance.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noProof="0" dirty="0"/>
              <a:t>Exemplo</a:t>
            </a:r>
            <a:r>
              <a:rPr lang="pt-BR" noProof="0" dirty="0"/>
              <a:t>: </a:t>
            </a:r>
            <a:r>
              <a:rPr lang="pt-BR" b="1" noProof="0" dirty="0">
                <a:solidFill>
                  <a:schemeClr val="accent2"/>
                </a:solidFill>
              </a:rPr>
              <a:t>Eliminação recursiva </a:t>
            </a:r>
            <a:r>
              <a:rPr lang="pt-BR" noProof="0" dirty="0"/>
              <a:t>de atributos.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/>
              <a:t>Embarcado</a:t>
            </a:r>
            <a:r>
              <a:rPr lang="pt-BR" noProof="0" dirty="0"/>
              <a:t>: A </a:t>
            </a:r>
            <a:r>
              <a:rPr lang="pt-BR" b="1" noProof="0" dirty="0">
                <a:solidFill>
                  <a:srgbClr val="7030A0"/>
                </a:solidFill>
              </a:rPr>
              <a:t>seleção ocorre durante o processo de treinamento </a:t>
            </a:r>
            <a:r>
              <a:rPr lang="pt-BR" noProof="0" dirty="0"/>
              <a:t>do modelo de ML. </a:t>
            </a:r>
            <a:r>
              <a:rPr lang="pt-BR" dirty="0"/>
              <a:t>Essa técnica é</a:t>
            </a:r>
            <a:r>
              <a:rPr lang="pt-BR" noProof="0" dirty="0"/>
              <a:t> </a:t>
            </a:r>
            <a:r>
              <a:rPr lang="pt-BR" b="1" noProof="0" dirty="0">
                <a:solidFill>
                  <a:srgbClr val="7030A0"/>
                </a:solidFill>
              </a:rPr>
              <a:t>integrada</a:t>
            </a:r>
            <a:r>
              <a:rPr lang="pt-BR" noProof="0" dirty="0"/>
              <a:t> (i.e., embarcada) </a:t>
            </a:r>
            <a:r>
              <a:rPr lang="pt-BR" dirty="0"/>
              <a:t>ao</a:t>
            </a:r>
            <a:r>
              <a:rPr lang="pt-BR" noProof="0" dirty="0"/>
              <a:t> </a:t>
            </a:r>
            <a:r>
              <a:rPr lang="pt-BR" b="1" noProof="0" dirty="0">
                <a:solidFill>
                  <a:srgbClr val="7030A0"/>
                </a:solidFill>
              </a:rPr>
              <a:t>treinamento do modelo</a:t>
            </a:r>
            <a:r>
              <a:rPr lang="pt-BR" noProof="0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noProof="0" dirty="0"/>
              <a:t>Exemplos</a:t>
            </a:r>
            <a:r>
              <a:rPr lang="pt-BR" noProof="0" dirty="0"/>
              <a:t>: Regressão LASSO e árvores de decisão.</a:t>
            </a:r>
          </a:p>
          <a:p>
            <a:r>
              <a:rPr lang="pt-BR" b="1" noProof="0" dirty="0">
                <a:solidFill>
                  <a:schemeClr val="accent1"/>
                </a:solidFill>
              </a:rPr>
              <a:t>Filtragem usa apenas informações do </a:t>
            </a:r>
            <a:r>
              <a:rPr lang="pt-BR" b="1" i="1" noProof="0" dirty="0">
                <a:solidFill>
                  <a:schemeClr val="accent1"/>
                </a:solidFill>
              </a:rPr>
              <a:t>dataset</a:t>
            </a:r>
            <a:r>
              <a:rPr lang="pt-BR" noProof="0" dirty="0"/>
              <a:t>, já o </a:t>
            </a:r>
            <a:r>
              <a:rPr lang="pt-BR" b="1" noProof="0" dirty="0">
                <a:solidFill>
                  <a:srgbClr val="00B050"/>
                </a:solidFill>
              </a:rPr>
              <a:t>encapsulamento e o embarcado, usam informações do </a:t>
            </a:r>
            <a:r>
              <a:rPr lang="pt-BR" b="1" i="1" noProof="0" dirty="0">
                <a:solidFill>
                  <a:srgbClr val="00B050"/>
                </a:solidFill>
              </a:rPr>
              <a:t>dataset</a:t>
            </a:r>
            <a:r>
              <a:rPr lang="pt-BR" b="1" noProof="0" dirty="0">
                <a:solidFill>
                  <a:srgbClr val="00B050"/>
                </a:solidFill>
              </a:rPr>
              <a:t> e do modelo </a:t>
            </a:r>
            <a:r>
              <a:rPr lang="pt-BR" noProof="0" dirty="0"/>
              <a:t>para selecionar os atributos.</a:t>
            </a:r>
          </a:p>
        </p:txBody>
      </p:sp>
    </p:spTree>
    <p:extLst>
      <p:ext uri="{BB962C8B-B14F-4D97-AF65-F5344CB8AC3E}">
        <p14:creationId xmlns:p14="http://schemas.microsoft.com/office/powerpoint/2010/main" val="339744414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01CC2-CD7B-126A-B75F-51795F14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4ABDE-7CD5-03FF-4BA7-BC9477C65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Métodos de filtro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BBB3C58-BD3E-E320-2711-DF4496A3A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4450" y="1825624"/>
            <a:ext cx="5657551" cy="5032375"/>
          </a:xfrm>
        </p:spPr>
        <p:txBody>
          <a:bodyPr>
            <a:normAutofit/>
          </a:bodyPr>
          <a:lstStyle/>
          <a:p>
            <a:r>
              <a:rPr lang="pt-BR" noProof="0" dirty="0"/>
              <a:t>São </a:t>
            </a:r>
            <a:r>
              <a:rPr lang="pt-BR" b="1" noProof="0" dirty="0"/>
              <a:t>rápidos e independentes do modelo de ML</a:t>
            </a:r>
            <a:r>
              <a:rPr lang="pt-BR" noProof="0" dirty="0"/>
              <a:t>.</a:t>
            </a:r>
          </a:p>
          <a:p>
            <a:r>
              <a:rPr lang="pt-BR" noProof="0" dirty="0"/>
              <a:t>Escalam bem para </a:t>
            </a:r>
            <a:r>
              <a:rPr lang="pt-BR" i="1" noProof="0" dirty="0" err="1"/>
              <a:t>datasets</a:t>
            </a:r>
            <a:r>
              <a:rPr lang="pt-BR" noProof="0" dirty="0"/>
              <a:t> grandes.</a:t>
            </a:r>
          </a:p>
          <a:p>
            <a:r>
              <a:rPr lang="pt-BR" noProof="0" dirty="0"/>
              <a:t>Filtros </a:t>
            </a:r>
            <a:r>
              <a:rPr lang="pt-BR" b="1" noProof="0" dirty="0">
                <a:solidFill>
                  <a:schemeClr val="accent1"/>
                </a:solidFill>
              </a:rPr>
              <a:t>avaliam os atributos de forma isolada</a:t>
            </a:r>
            <a:r>
              <a:rPr lang="pt-BR" noProof="0" dirty="0"/>
              <a:t>, </a:t>
            </a:r>
            <a:r>
              <a:rPr lang="pt-BR" b="1" noProof="0" dirty="0">
                <a:solidFill>
                  <a:srgbClr val="7030A0"/>
                </a:solidFill>
              </a:rPr>
              <a:t>ignorando interações relevantes </a:t>
            </a:r>
            <a:r>
              <a:rPr lang="pt-BR" noProof="0" dirty="0"/>
              <a:t>entre eles. </a:t>
            </a:r>
          </a:p>
          <a:p>
            <a:r>
              <a:rPr lang="pt-BR" noProof="0" dirty="0"/>
              <a:t>Porém, em muitos casos, o </a:t>
            </a:r>
            <a:r>
              <a:rPr lang="pt-BR" b="1" noProof="0" dirty="0">
                <a:solidFill>
                  <a:schemeClr val="accent2"/>
                </a:solidFill>
              </a:rPr>
              <a:t>valor preditivo de um atributo depende de sua </a:t>
            </a:r>
            <a:r>
              <a:rPr lang="pt-BR" b="1" noProof="0" dirty="0">
                <a:solidFill>
                  <a:srgbClr val="00B0F0"/>
                </a:solidFill>
              </a:rPr>
              <a:t>interação com outros</a:t>
            </a:r>
            <a:r>
              <a:rPr lang="pt-BR" noProof="0" dirty="0"/>
              <a:t>.</a:t>
            </a:r>
          </a:p>
          <a:p>
            <a:r>
              <a:rPr lang="pt-BR" noProof="0" dirty="0"/>
              <a:t>Nesses casos, usamos técnicas de encapsulamento.</a:t>
            </a:r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A3CE7DC7-8E77-95A6-7CCE-6EAB1A78AC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6" r="6022"/>
          <a:stretch>
            <a:fillRect/>
          </a:stretch>
        </p:blipFill>
        <p:spPr>
          <a:xfrm>
            <a:off x="174170" y="2225964"/>
            <a:ext cx="6201686" cy="3611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52812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47926-99C2-2D03-BBC9-E0B2BBB31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BA196-AA4F-8DFB-EA4F-DE2070CF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de encapsulamento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A8F44C-FCBF-8760-0A7D-09EA95AC7D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1825624"/>
            <a:ext cx="6095999" cy="5032375"/>
          </a:xfrm>
        </p:spPr>
        <p:txBody>
          <a:bodyPr>
            <a:normAutofit lnSpcReduction="10000"/>
          </a:bodyPr>
          <a:lstStyle/>
          <a:p>
            <a:r>
              <a:rPr lang="pt-BR" b="1" noProof="0" dirty="0">
                <a:solidFill>
                  <a:srgbClr val="7030A0"/>
                </a:solidFill>
              </a:rPr>
              <a:t>Selecionam</a:t>
            </a:r>
            <a:r>
              <a:rPr lang="pt-BR" noProof="0" dirty="0"/>
              <a:t> o melhor subconjunto de atributos </a:t>
            </a:r>
            <a:r>
              <a:rPr lang="pt-BR" b="1" noProof="0" dirty="0">
                <a:solidFill>
                  <a:srgbClr val="7030A0"/>
                </a:solidFill>
              </a:rPr>
              <a:t>usando um modelo de ML</a:t>
            </a:r>
            <a:r>
              <a:rPr lang="pt-BR" noProof="0" dirty="0"/>
              <a:t>.</a:t>
            </a:r>
          </a:p>
          <a:p>
            <a:r>
              <a:rPr lang="pt-BR" noProof="0" dirty="0"/>
              <a:t>Em geral, têm </a:t>
            </a:r>
            <a:r>
              <a:rPr lang="pt-BR" b="1" noProof="0" dirty="0">
                <a:solidFill>
                  <a:srgbClr val="7030A0"/>
                </a:solidFill>
              </a:rPr>
              <a:t>desempenho superior </a:t>
            </a:r>
            <a:r>
              <a:rPr lang="pt-BR" noProof="0" dirty="0"/>
              <a:t>aos métodos de </a:t>
            </a:r>
            <a:r>
              <a:rPr lang="pt-BR" b="1" noProof="0" dirty="0">
                <a:solidFill>
                  <a:srgbClr val="7030A0"/>
                </a:solidFill>
              </a:rPr>
              <a:t>filtragem</a:t>
            </a:r>
            <a:r>
              <a:rPr lang="pt-BR" noProof="0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noProof="0" dirty="0">
                <a:solidFill>
                  <a:srgbClr val="00B0F0"/>
                </a:solidFill>
              </a:rPr>
              <a:t>Consideram interações entre atributos </a:t>
            </a:r>
            <a:r>
              <a:rPr lang="pt-BR" noProof="0" dirty="0"/>
              <a:t>e avaliam o desempenho do modelo.</a:t>
            </a:r>
          </a:p>
          <a:p>
            <a:r>
              <a:rPr lang="pt-BR" noProof="0" dirty="0"/>
              <a:t>Porém, são </a:t>
            </a:r>
            <a:r>
              <a:rPr lang="pt-BR" b="1" noProof="0" dirty="0">
                <a:solidFill>
                  <a:schemeClr val="accent2"/>
                </a:solidFill>
              </a:rPr>
              <a:t>computacionalmente mais caros.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Envolvem o treinamento do modelo e, em alguns casos, busca iterativa.</a:t>
            </a:r>
          </a:p>
          <a:p>
            <a:r>
              <a:rPr lang="pt-BR" noProof="0" dirty="0"/>
              <a:t>E são </a:t>
            </a:r>
            <a:r>
              <a:rPr lang="pt-BR" b="1" noProof="0" dirty="0">
                <a:solidFill>
                  <a:srgbClr val="00B050"/>
                </a:solidFill>
              </a:rPr>
              <a:t>suscetíveis ao </a:t>
            </a:r>
            <a:r>
              <a:rPr lang="pt-BR" b="1" i="1" noProof="0" dirty="0" err="1">
                <a:solidFill>
                  <a:srgbClr val="00B050"/>
                </a:solidFill>
              </a:rPr>
              <a:t>overfitting</a:t>
            </a:r>
            <a:r>
              <a:rPr lang="pt-BR" noProof="0" dirty="0"/>
              <a:t>, pois podem </a:t>
            </a:r>
            <a:r>
              <a:rPr lang="pt-BR" b="1" noProof="0" dirty="0">
                <a:solidFill>
                  <a:schemeClr val="accent5"/>
                </a:solidFill>
              </a:rPr>
              <a:t>ajustar excessivamente</a:t>
            </a:r>
            <a:r>
              <a:rPr lang="pt-BR" noProof="0" dirty="0"/>
              <a:t> os </a:t>
            </a:r>
            <a:r>
              <a:rPr lang="pt-BR" b="1" noProof="0" dirty="0">
                <a:solidFill>
                  <a:schemeClr val="accent5"/>
                </a:solidFill>
              </a:rPr>
              <a:t>atributos</a:t>
            </a:r>
            <a:r>
              <a:rPr lang="pt-BR" noProof="0" dirty="0"/>
              <a:t> a um </a:t>
            </a:r>
            <a:r>
              <a:rPr lang="pt-BR" b="1" noProof="0" dirty="0">
                <a:solidFill>
                  <a:schemeClr val="accent5"/>
                </a:solidFill>
              </a:rPr>
              <a:t>modelo específico</a:t>
            </a:r>
            <a:r>
              <a:rPr lang="pt-BR" noProof="0" dirty="0"/>
              <a:t>.</a:t>
            </a:r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48660767-9E5D-79F3-0C90-BEEF045A78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02" r="5947"/>
          <a:stretch>
            <a:fillRect/>
          </a:stretch>
        </p:blipFill>
        <p:spPr>
          <a:xfrm>
            <a:off x="130628" y="2569317"/>
            <a:ext cx="5789881" cy="3232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23168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D008B-2DA9-867B-7932-40CC20832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5404-B5B4-16EF-E1B0-AE0FE920E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embarcados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60B74E-723F-0F17-2C56-2A47AE327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6" y="1825624"/>
            <a:ext cx="5570633" cy="5032375"/>
          </a:xfrm>
        </p:spPr>
        <p:txBody>
          <a:bodyPr/>
          <a:lstStyle/>
          <a:p>
            <a:r>
              <a:rPr lang="pt-BR" dirty="0"/>
              <a:t>Selecionam atributos </a:t>
            </a:r>
            <a:r>
              <a:rPr lang="pt-BR" b="1" dirty="0">
                <a:solidFill>
                  <a:schemeClr val="accent2"/>
                </a:solidFill>
              </a:rPr>
              <a:t>durante o treinamento</a:t>
            </a:r>
            <a:r>
              <a:rPr lang="pt-BR" dirty="0"/>
              <a:t> do modelo.</a:t>
            </a:r>
          </a:p>
          <a:p>
            <a:r>
              <a:rPr lang="pt-BR" dirty="0"/>
              <a:t>Apresenta </a:t>
            </a:r>
            <a:r>
              <a:rPr lang="pt-BR" b="1" dirty="0">
                <a:solidFill>
                  <a:schemeClr val="accent2"/>
                </a:solidFill>
              </a:rPr>
              <a:t>equilíbrio</a:t>
            </a:r>
            <a:r>
              <a:rPr lang="pt-BR" dirty="0"/>
              <a:t> entre </a:t>
            </a:r>
            <a:r>
              <a:rPr lang="pt-BR" b="1" dirty="0">
                <a:solidFill>
                  <a:schemeClr val="accent2"/>
                </a:solidFill>
              </a:rPr>
              <a:t>desempenho e tempo para seleção</a:t>
            </a:r>
            <a:r>
              <a:rPr lang="pt-BR" dirty="0"/>
              <a:t>.</a:t>
            </a:r>
          </a:p>
          <a:p>
            <a:r>
              <a:rPr lang="pt-BR" dirty="0"/>
              <a:t>Porém, têm </a:t>
            </a:r>
            <a:r>
              <a:rPr lang="pt-BR" b="1" dirty="0">
                <a:solidFill>
                  <a:srgbClr val="7030A0"/>
                </a:solidFill>
              </a:rPr>
              <a:t>interpretabilidade limitada</a:t>
            </a:r>
            <a:r>
              <a:rPr lang="pt-BR" dirty="0"/>
              <a:t> (por que um atributo foi removido?) e </a:t>
            </a:r>
            <a:r>
              <a:rPr lang="pt-BR" b="1" dirty="0">
                <a:solidFill>
                  <a:srgbClr val="7030A0"/>
                </a:solidFill>
              </a:rPr>
              <a:t>não são suportados</a:t>
            </a:r>
            <a:r>
              <a:rPr lang="pt-BR" dirty="0"/>
              <a:t> </a:t>
            </a:r>
            <a:r>
              <a:rPr lang="pt-BR" b="1" dirty="0">
                <a:solidFill>
                  <a:srgbClr val="7030A0"/>
                </a:solidFill>
              </a:rPr>
              <a:t>por todos os algoritmos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45D6DA-65C4-DEF1-91AD-82E997F1C3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0" r="6296"/>
          <a:stretch>
            <a:fillRect/>
          </a:stretch>
        </p:blipFill>
        <p:spPr>
          <a:xfrm>
            <a:off x="130627" y="2240756"/>
            <a:ext cx="6394617" cy="360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57521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B31A4-C585-0094-27DF-9EB6149E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Seleção de atributos na biblioteca </a:t>
            </a:r>
            <a:r>
              <a:rPr lang="pt-BR" noProof="0" dirty="0" err="1"/>
              <a:t>SciKit-learn</a:t>
            </a:r>
            <a:endParaRPr lang="pt-BR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446D82-5B94-346A-4A16-ED16D509BAF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noProof="0" dirty="0"/>
                  <a:t>O módulo </a:t>
                </a:r>
                <a:r>
                  <a:rPr lang="pt-BR" noProof="0" dirty="0" err="1">
                    <a:latin typeface="Consolas" panose="020B0609020204030204" pitchFamily="49" charset="0"/>
                  </a:rPr>
                  <a:t>sklearn.feature_selection</a:t>
                </a:r>
                <a:r>
                  <a:rPr lang="pt-BR" noProof="0" dirty="0"/>
                  <a:t> implementa vários métodos de seleção de atributos, dentre eles podemos citar: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 </a:t>
                </a:r>
                <a:r>
                  <a:rPr lang="en-US" dirty="0" err="1"/>
                  <a:t>Filtragem</a:t>
                </a:r>
                <a:endParaRPr lang="pt-BR" noProof="0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 err="1">
                    <a:latin typeface="Consolas" panose="020B0609020204030204" pitchFamily="49" charset="0"/>
                  </a:rPr>
                  <a:t>VarianceThreshold</a:t>
                </a:r>
                <a:r>
                  <a:rPr lang="pt-BR" dirty="0"/>
                  <a:t>: Elimina atributos com variância abaixo do limiar configurado</a:t>
                </a:r>
                <a:r>
                  <a:rPr lang="pt-BR" noProof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 err="1">
                    <a:latin typeface="Consolas" panose="020B0609020204030204" pitchFamily="49" charset="0"/>
                  </a:rPr>
                  <a:t>SelectKBest</a:t>
                </a:r>
                <a:r>
                  <a:rPr lang="pt-BR" dirty="0"/>
                  <a:t>: Seleciona os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dirty="0"/>
                  <a:t> melhores atributos de acordo com um </a:t>
                </a:r>
                <a:r>
                  <a:rPr lang="pt-BR" i="1" dirty="0"/>
                  <a:t>score</a:t>
                </a:r>
                <a:r>
                  <a:rPr lang="pt-BR" dirty="0"/>
                  <a:t> definido (e.g., informação mútua, ganho de informação, etc.)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 err="1"/>
                  <a:t>Encapsulamento</a:t>
                </a:r>
                <a:endParaRPr lang="pt-BR" noProof="0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 err="1">
                    <a:latin typeface="Consolas" panose="020B0609020204030204" pitchFamily="49" charset="0"/>
                  </a:rPr>
                  <a:t>Recursive</a:t>
                </a:r>
                <a:r>
                  <a:rPr lang="pt-BR" dirty="0">
                    <a:latin typeface="Consolas" panose="020B0609020204030204" pitchFamily="49" charset="0"/>
                  </a:rPr>
                  <a:t> Feature </a:t>
                </a:r>
                <a:r>
                  <a:rPr lang="pt-BR" dirty="0" err="1">
                    <a:latin typeface="Consolas" panose="020B0609020204030204" pitchFamily="49" charset="0"/>
                  </a:rPr>
                  <a:t>Elimination</a:t>
                </a:r>
                <a:r>
                  <a:rPr lang="pt-BR" dirty="0">
                    <a:latin typeface="Consolas" panose="020B0609020204030204" pitchFamily="49" charset="0"/>
                  </a:rPr>
                  <a:t> (RFE)</a:t>
                </a:r>
                <a:r>
                  <a:rPr lang="pt-BR" dirty="0"/>
                  <a:t>: Elimina os atributos de forma recursiva até que apenas os melhores permaneçam</a:t>
                </a:r>
                <a:r>
                  <a:rPr lang="pt-BR" noProof="0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noProof="0" dirty="0" err="1"/>
                  <a:t>Embarcado</a:t>
                </a:r>
                <a:endParaRPr lang="pt-BR" noProof="0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 err="1">
                    <a:latin typeface="Consolas" panose="020B0609020204030204" pitchFamily="49" charset="0"/>
                  </a:rPr>
                  <a:t>SelectFromModel</a:t>
                </a:r>
                <a:r>
                  <a:rPr lang="pt-BR" dirty="0"/>
                  <a:t>: Seleção </a:t>
                </a:r>
                <a:r>
                  <a:rPr lang="pt-BR" noProof="0" dirty="0"/>
                  <a:t>usando modelos com penalidade L1 ou baseados em árvores, como LASSO e árvores de decisão.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en-US" noProof="0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pt-BR" noProof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446D82-5B94-346A-4A16-ED16D509BA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353801" cy="5032375"/>
              </a:xfrm>
              <a:blipFill>
                <a:blip r:embed="rId3"/>
                <a:stretch>
                  <a:fillRect l="-913" t="-20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aixaDeTexto 4">
            <a:extLst>
              <a:ext uri="{FF2B5EF4-FFF2-40B4-BE49-F238E27FC236}">
                <a16:creationId xmlns:a16="http://schemas.microsoft.com/office/drawing/2014/main" id="{68F44427-9DFC-625D-B47A-4A9BA36B264B}"/>
              </a:ext>
            </a:extLst>
          </p:cNvPr>
          <p:cNvSpPr txBox="1"/>
          <p:nvPr/>
        </p:nvSpPr>
        <p:spPr>
          <a:xfrm>
            <a:off x="8115300" y="6578895"/>
            <a:ext cx="40767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hlinkClick r:id="rId4"/>
              </a:rPr>
              <a:t>https://scikit-learn.org/stable/modules/feature_selection.html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54793428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37FC5-962E-E2AD-1217-72A38BC6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85EA9-B2C7-CDCD-B7C0-DAB5D8FD3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 na biblioteca </a:t>
            </a:r>
            <a:r>
              <a:rPr lang="pt-BR" dirty="0" err="1"/>
              <a:t>SciKit-learn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19C3F-9C7C-06B2-C6DF-8E58E02A23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68743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sklearn.feature_selection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Remove </a:t>
            </a:r>
            <a:r>
              <a:rPr lang="en-US" dirty="0" err="1">
                <a:latin typeface="Consolas" panose="020B0609020204030204" pitchFamily="49" charset="0"/>
              </a:rPr>
              <a:t>atributos</a:t>
            </a:r>
            <a:r>
              <a:rPr lang="en-US" dirty="0">
                <a:latin typeface="Consolas" panose="020B0609020204030204" pitchFamily="49" charset="0"/>
              </a:rPr>
              <a:t> com </a:t>
            </a:r>
            <a:r>
              <a:rPr lang="en-US" dirty="0" err="1">
                <a:latin typeface="Consolas" panose="020B0609020204030204" pitchFamily="49" charset="0"/>
              </a:rPr>
              <a:t>variância</a:t>
            </a:r>
            <a:r>
              <a:rPr lang="en-US" dirty="0">
                <a:latin typeface="Consolas" panose="020B0609020204030204" pitchFamily="49" charset="0"/>
              </a:rPr>
              <a:t> &lt;= 0.1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selector =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r>
              <a:rPr lang="en-US" dirty="0">
                <a:latin typeface="Consolas" panose="020B0609020204030204" pitchFamily="49" charset="0"/>
              </a:rPr>
              <a:t>(threshold=0.1)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X_train_reduced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737730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76600-9357-87C1-67B2-7ED0D4133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vs. 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91E9A-DCA0-4C49-3A03-40A802DE8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5"/>
          </a:xfrm>
        </p:spPr>
        <p:txBody>
          <a:bodyPr/>
          <a:lstStyle/>
          <a:p>
            <a:r>
              <a:rPr lang="pt-BR" dirty="0"/>
              <a:t>A </a:t>
            </a:r>
            <a:r>
              <a:rPr lang="pt-BR" b="1" dirty="0">
                <a:solidFill>
                  <a:srgbClr val="00B0F0"/>
                </a:solidFill>
              </a:rPr>
              <a:t>extração</a:t>
            </a:r>
            <a:r>
              <a:rPr lang="pt-BR" dirty="0"/>
              <a:t> </a:t>
            </a:r>
            <a:r>
              <a:rPr lang="pt-BR" b="1" dirty="0">
                <a:solidFill>
                  <a:srgbClr val="FF0000"/>
                </a:solidFill>
              </a:rPr>
              <a:t>transforma</a:t>
            </a:r>
            <a:r>
              <a:rPr lang="pt-BR" dirty="0"/>
              <a:t> os </a:t>
            </a:r>
            <a:r>
              <a:rPr lang="pt-BR" b="1" dirty="0">
                <a:solidFill>
                  <a:schemeClr val="accent2"/>
                </a:solidFill>
              </a:rPr>
              <a:t>atributos originais para criar novos</a:t>
            </a:r>
            <a:r>
              <a:rPr lang="pt-BR" dirty="0"/>
              <a:t>.</a:t>
            </a:r>
          </a:p>
          <a:p>
            <a:r>
              <a:rPr lang="pt-BR" dirty="0"/>
              <a:t>A </a:t>
            </a:r>
            <a:r>
              <a:rPr lang="pt-BR" b="1" dirty="0">
                <a:solidFill>
                  <a:srgbClr val="00B0F0"/>
                </a:solidFill>
              </a:rPr>
              <a:t>seleção</a:t>
            </a:r>
            <a:r>
              <a:rPr lang="pt-BR" dirty="0"/>
              <a:t> </a:t>
            </a:r>
            <a:r>
              <a:rPr lang="pt-BR" b="1" dirty="0">
                <a:solidFill>
                  <a:srgbClr val="FF0000"/>
                </a:solidFill>
              </a:rPr>
              <a:t>seleciona</a:t>
            </a:r>
            <a:r>
              <a:rPr lang="pt-BR" dirty="0"/>
              <a:t> um </a:t>
            </a:r>
            <a:r>
              <a:rPr lang="pt-BR" b="1" dirty="0">
                <a:solidFill>
                  <a:srgbClr val="7030A0"/>
                </a:solidFill>
              </a:rPr>
              <a:t>subconjunto dos atributos existentes </a:t>
            </a:r>
            <a:r>
              <a:rPr lang="pt-BR" dirty="0"/>
              <a:t>mais relevantes </a:t>
            </a:r>
            <a:r>
              <a:rPr lang="pt-BR" b="1" dirty="0">
                <a:solidFill>
                  <a:srgbClr val="7030A0"/>
                </a:solidFill>
              </a:rPr>
              <a:t>sem alterá-los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5965887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pre_processing.ipynb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>
                <a:hlinkClick r:id="rId2"/>
              </a:rPr>
              <a:t>Lista #4 – Transformações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35604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9894</TotalTime>
  <Words>7529</Words>
  <Application>Microsoft Office PowerPoint</Application>
  <PresentationFormat>Widescreen</PresentationFormat>
  <Paragraphs>680</Paragraphs>
  <Slides>62</Slides>
  <Notes>39</Notes>
  <HiddenSlides>0</HiddenSlides>
  <MMClips>0</MMClips>
  <ScaleCrop>false</ScaleCrop>
  <HeadingPairs>
    <vt:vector size="6" baseType="variant">
      <vt:variant>
        <vt:lpstr>Fontes usadas</vt:lpstr>
      </vt:variant>
      <vt:variant>
        <vt:i4>8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62</vt:i4>
      </vt:variant>
    </vt:vector>
  </HeadingPairs>
  <TitlesOfParts>
    <vt:vector size="71" baseType="lpstr">
      <vt:lpstr>Arial</vt:lpstr>
      <vt:lpstr>Calibri</vt:lpstr>
      <vt:lpstr>Calibri Light</vt:lpstr>
      <vt:lpstr>Cambria Math</vt:lpstr>
      <vt:lpstr>Consolas</vt:lpstr>
      <vt:lpstr>Courier New</vt:lpstr>
      <vt:lpstr>Roboto</vt:lpstr>
      <vt:lpstr>Wingdings</vt:lpstr>
      <vt:lpstr>Tema do Office</vt:lpstr>
      <vt:lpstr>C24 - Inteligência Artificial: Transformações dos dados</vt:lpstr>
      <vt:lpstr>Apresentação do PowerPoint</vt:lpstr>
      <vt:lpstr>O que veremos?</vt:lpstr>
      <vt:lpstr>Apresentação do PowerPoint</vt:lpstr>
      <vt:lpstr>Apresentação do PowerPoint</vt:lpstr>
      <vt:lpstr>Por que não usar os mesmos dados para treinamento e teste</vt:lpstr>
      <vt:lpstr>Divisão do dataset</vt:lpstr>
      <vt:lpstr>Divisão do dataset</vt:lpstr>
      <vt:lpstr>Divisão do dataset</vt:lpstr>
      <vt:lpstr>Divisão do dataset</vt:lpstr>
      <vt:lpstr>Apresentação do PowerPoint</vt:lpstr>
      <vt:lpstr>Escalonamento de atributos</vt:lpstr>
      <vt:lpstr>Por que escalonar os atributos?</vt:lpstr>
      <vt:lpstr>Por que escalonar os atributos?</vt:lpstr>
      <vt:lpstr>Normalização (Min-Max Scaling)</vt:lpstr>
      <vt:lpstr>Normalização (Min-Max Scaling)</vt:lpstr>
      <vt:lpstr>Normalização (Min-Max Scaling)</vt:lpstr>
      <vt:lpstr>Apresentação do PowerPoint</vt:lpstr>
      <vt:lpstr>Apresentação do PowerPoint</vt:lpstr>
      <vt:lpstr>Data leakage</vt:lpstr>
      <vt:lpstr>Padronização (Standard Scaling)</vt:lpstr>
      <vt:lpstr>Padronização (Standard Scaling)</vt:lpstr>
      <vt:lpstr>Padronização (Standard Scaling)</vt:lpstr>
      <vt:lpstr>Escalonamento robusto (Robust Scaling)</vt:lpstr>
      <vt:lpstr>Escalonamento robusto (Robust Scaling)</vt:lpstr>
      <vt:lpstr>Escalonamento robusto (Robust Scaling)</vt:lpstr>
      <vt:lpstr>Armadilhas comuns durante o escalonamento</vt:lpstr>
      <vt:lpstr>Codificação de atributos categóricos</vt:lpstr>
      <vt:lpstr>One-Hot encoding</vt:lpstr>
      <vt:lpstr>One-Hot encoding</vt:lpstr>
      <vt:lpstr>Label e ordinal encoding</vt:lpstr>
      <vt:lpstr>Label e ordinal encoding</vt:lpstr>
      <vt:lpstr>Target encoding</vt:lpstr>
      <vt:lpstr>Target encoding</vt:lpstr>
      <vt:lpstr>Binary encoding</vt:lpstr>
      <vt:lpstr>Binary encoding</vt:lpstr>
      <vt:lpstr>Exemplos de encoding</vt:lpstr>
      <vt:lpstr>Engenharia de atributos</vt:lpstr>
      <vt:lpstr>Engenharia de atributos</vt:lpstr>
      <vt:lpstr>Extração de atributos</vt:lpstr>
      <vt:lpstr>Técnicas comuns para extração de atributos</vt:lpstr>
      <vt:lpstr>Técnicas comuns para extração de atributos</vt:lpstr>
      <vt:lpstr>Redução de dimensionalidade</vt:lpstr>
      <vt:lpstr>Apresentação do PowerPoint</vt:lpstr>
      <vt:lpstr>Apresentação do PowerPoint</vt:lpstr>
      <vt:lpstr>Apresentação do PowerPoint</vt:lpstr>
      <vt:lpstr>Análise de componentes principais (PCA)</vt:lpstr>
      <vt:lpstr>Análise de componentes principais (PCA)</vt:lpstr>
      <vt:lpstr>Análise de componentes principais (PCA)</vt:lpstr>
      <vt:lpstr>Análise de componentes principais (PCA)</vt:lpstr>
      <vt:lpstr>Seleção de atributos</vt:lpstr>
      <vt:lpstr>Seleção de atributos</vt:lpstr>
      <vt:lpstr>Métodos de filtro</vt:lpstr>
      <vt:lpstr>Métodos de encapsulamento</vt:lpstr>
      <vt:lpstr>Métodos embarcados</vt:lpstr>
      <vt:lpstr>Seleção de atributos na biblioteca SciKit-learn</vt:lpstr>
      <vt:lpstr>Seleção de atributos na biblioteca SciKit-learn</vt:lpstr>
      <vt:lpstr>Extração vs. seleção de atributos</vt:lpstr>
      <vt:lpstr>Exemplo</vt:lpstr>
      <vt:lpstr>Lista de exercícios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2279</cp:revision>
  <dcterms:created xsi:type="dcterms:W3CDTF">2020-01-20T13:50:05Z</dcterms:created>
  <dcterms:modified xsi:type="dcterms:W3CDTF">2026-08-24T12:18:07Z</dcterms:modified>
</cp:coreProperties>
</file>