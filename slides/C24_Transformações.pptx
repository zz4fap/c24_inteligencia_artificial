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316" r:id="rId3"/>
    <p:sldId id="308" r:id="rId4"/>
    <p:sldId id="317" r:id="rId5"/>
    <p:sldId id="320" r:id="rId6"/>
    <p:sldId id="318" r:id="rId7"/>
    <p:sldId id="319" r:id="rId8"/>
    <p:sldId id="315" r:id="rId9"/>
    <p:sldId id="293" r:id="rId10"/>
    <p:sldId id="306" r:id="rId1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28/01/2026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28/01/2026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96843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9369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Transformações ou pré-processamento dos dados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</a:rPr>
              <a:t>Sobre o que falar?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sz="4000" b="1" dirty="0">
                <a:solidFill>
                  <a:srgbClr val="FF0000"/>
                </a:solidFill>
              </a:rPr>
              <a:t>Transformações</a:t>
            </a:r>
          </a:p>
          <a:p>
            <a:r>
              <a:rPr lang="pt-BR" sz="4000" b="1" dirty="0">
                <a:solidFill>
                  <a:srgbClr val="FF0000"/>
                </a:solidFill>
              </a:rPr>
              <a:t>Engenharia e Seleção de Atributos (A Alquimia):</a:t>
            </a:r>
            <a:r>
              <a:rPr lang="pt-BR" sz="4000" dirty="0">
                <a:solidFill>
                  <a:srgbClr val="FF0000"/>
                </a:solidFill>
              </a:rPr>
              <a:t> 50 min</a:t>
            </a:r>
          </a:p>
          <a:p>
            <a:pPr lvl="1"/>
            <a:r>
              <a:rPr lang="pt-BR" sz="3600" b="1" dirty="0">
                <a:solidFill>
                  <a:srgbClr val="FF0000"/>
                </a:solidFill>
              </a:rPr>
              <a:t>Feature </a:t>
            </a:r>
            <a:r>
              <a:rPr lang="pt-BR" sz="3600" b="1" dirty="0" err="1">
                <a:solidFill>
                  <a:srgbClr val="FF0000"/>
                </a:solidFill>
              </a:rPr>
              <a:t>engineering</a:t>
            </a:r>
            <a:r>
              <a:rPr lang="pt-BR" sz="3600" dirty="0">
                <a:solidFill>
                  <a:srgbClr val="FF0000"/>
                </a:solidFill>
              </a:rPr>
              <a:t> (criar variáveis que façam sentido). </a:t>
            </a:r>
          </a:p>
          <a:p>
            <a:r>
              <a:rPr lang="pt-BR" sz="4000" b="1" dirty="0">
                <a:solidFill>
                  <a:srgbClr val="FF0000"/>
                </a:solidFill>
              </a:rPr>
              <a:t>Escalonamento (Ajustando as Lentes):</a:t>
            </a:r>
            <a:r>
              <a:rPr lang="pt-BR" sz="4000" dirty="0">
                <a:solidFill>
                  <a:srgbClr val="FF0000"/>
                </a:solidFill>
              </a:rPr>
              <a:t> 25 min</a:t>
            </a:r>
          </a:p>
          <a:p>
            <a:pPr lvl="1"/>
            <a:r>
              <a:rPr lang="pt-BR" sz="3600" dirty="0">
                <a:solidFill>
                  <a:srgbClr val="FF0000"/>
                </a:solidFill>
              </a:rPr>
              <a:t>Normalização e padronização (escala de variáveis). </a:t>
            </a:r>
          </a:p>
          <a:p>
            <a:r>
              <a:rPr lang="pt-BR" sz="4000" b="1" dirty="0">
                <a:solidFill>
                  <a:srgbClr val="FF0000"/>
                </a:solidFill>
              </a:rPr>
              <a:t>Codificação de variáveis categóricas:</a:t>
            </a:r>
            <a:r>
              <a:rPr lang="pt-BR" sz="4000" dirty="0">
                <a:solidFill>
                  <a:srgbClr val="FF0000"/>
                </a:solidFill>
              </a:rPr>
              <a:t> </a:t>
            </a:r>
            <a:r>
              <a:rPr lang="pt-BR" sz="4000" dirty="0" err="1">
                <a:solidFill>
                  <a:srgbClr val="FF0000"/>
                </a:solidFill>
              </a:rPr>
              <a:t>one</a:t>
            </a:r>
            <a:r>
              <a:rPr lang="pt-BR" sz="4000" dirty="0">
                <a:solidFill>
                  <a:srgbClr val="FF0000"/>
                </a:solidFill>
              </a:rPr>
              <a:t>-hot, </a:t>
            </a:r>
            <a:r>
              <a:rPr lang="pt-BR" sz="4000" dirty="0" err="1">
                <a:solidFill>
                  <a:srgbClr val="FF0000"/>
                </a:solidFill>
              </a:rPr>
              <a:t>label</a:t>
            </a:r>
            <a:r>
              <a:rPr lang="pt-BR" sz="4000" dirty="0">
                <a:solidFill>
                  <a:srgbClr val="FF0000"/>
                </a:solidFill>
              </a:rPr>
              <a:t> </a:t>
            </a:r>
            <a:r>
              <a:rPr lang="pt-BR" sz="4000" dirty="0" err="1">
                <a:solidFill>
                  <a:srgbClr val="FF0000"/>
                </a:solidFill>
              </a:rPr>
              <a:t>encoding</a:t>
            </a:r>
            <a:r>
              <a:rPr lang="pt-BR" sz="4000" dirty="0">
                <a:solidFill>
                  <a:srgbClr val="FF00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E027-526F-64B6-C706-EA359C1FC4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Transformar ou criar novos atributos para extrair mais significado.</a:t>
            </a:r>
          </a:p>
          <a:p>
            <a:r>
              <a:rPr lang="pt-BR" dirty="0"/>
              <a:t>➡ Exemplo: separar data em:</a:t>
            </a:r>
          </a:p>
          <a:p>
            <a:r>
              <a:rPr lang="pt-BR" dirty="0"/>
              <a:t>dia, mês, ano</a:t>
            </a:r>
          </a:p>
          <a:p>
            <a:r>
              <a:rPr lang="pt-BR" dirty="0"/>
              <a:t>dia da semana</a:t>
            </a:r>
          </a:p>
          <a:p>
            <a:r>
              <a:rPr lang="pt-BR" dirty="0"/>
              <a:t>💡 Atividade rápida: </a:t>
            </a:r>
            <a:r>
              <a:rPr lang="pt-BR" i="1" dirty="0"/>
              <a:t>Crie uma feature divertida (ex.: “hora do dia” → manhã/tarde/noite).</a:t>
            </a:r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pt-BR" b="1" dirty="0"/>
              <a:t>Texto do slide:</a:t>
            </a:r>
            <a:endParaRPr lang="pt-BR" dirty="0"/>
          </a:p>
          <a:p>
            <a:r>
              <a:rPr lang="pt-BR" dirty="0"/>
              <a:t>Criar features a partir de: datas, texto, agregações, interações</a:t>
            </a:r>
          </a:p>
          <a:p>
            <a:r>
              <a:rPr lang="pt-BR" dirty="0"/>
              <a:t>Exemplos: </a:t>
            </a:r>
            <a:r>
              <a:rPr lang="pt-BR" dirty="0" err="1"/>
              <a:t>dia_da_semana</a:t>
            </a:r>
            <a:r>
              <a:rPr lang="pt-BR" dirty="0"/>
              <a:t>, </a:t>
            </a:r>
            <a:r>
              <a:rPr lang="pt-BR" dirty="0" err="1"/>
              <a:t>tempo_desde_ultima_compra</a:t>
            </a:r>
            <a:r>
              <a:rPr lang="pt-BR" dirty="0"/>
              <a:t>, </a:t>
            </a:r>
            <a:r>
              <a:rPr lang="pt-BR" dirty="0" err="1"/>
              <a:t>freq_media</a:t>
            </a:r>
            <a:endParaRPr lang="pt-BR" dirty="0"/>
          </a:p>
          <a:p>
            <a:r>
              <a:rPr lang="pt-BR" b="1" dirty="0"/>
              <a:t>Notas do professor:</a:t>
            </a:r>
            <a:endParaRPr lang="pt-BR" dirty="0"/>
          </a:p>
          <a:p>
            <a:r>
              <a:rPr lang="pt-BR" dirty="0"/>
              <a:t>Mostrar antes/depois: como uma nova feature melhora correlação com target.</a:t>
            </a:r>
          </a:p>
          <a:p>
            <a:r>
              <a:rPr lang="pt-BR" dirty="0"/>
              <a:t>Atividade curta (5 min): em grupos, pensem numa feature nova para um dataset de e‑commerce.</a:t>
            </a:r>
          </a:p>
          <a:p>
            <a:r>
              <a:rPr lang="pt-BR" b="1" dirty="0"/>
              <a:t>Código curto:</a:t>
            </a:r>
            <a:endParaRPr lang="pt-BR" dirty="0"/>
          </a:p>
          <a:p>
            <a:r>
              <a:rPr lang="pt-BR" dirty="0" err="1"/>
              <a:t>df</a:t>
            </a:r>
            <a:r>
              <a:rPr lang="pt-BR" dirty="0"/>
              <a:t>['</a:t>
            </a:r>
            <a:r>
              <a:rPr lang="pt-BR" dirty="0" err="1"/>
              <a:t>dia_semana</a:t>
            </a:r>
            <a:r>
              <a:rPr lang="pt-BR" dirty="0"/>
              <a:t>'] = </a:t>
            </a:r>
            <a:r>
              <a:rPr lang="pt-BR" dirty="0" err="1"/>
              <a:t>df</a:t>
            </a:r>
            <a:r>
              <a:rPr lang="pt-BR" dirty="0"/>
              <a:t>['</a:t>
            </a:r>
            <a:r>
              <a:rPr lang="pt-BR" dirty="0" err="1"/>
              <a:t>data_compra</a:t>
            </a:r>
            <a:r>
              <a:rPr lang="pt-BR" dirty="0"/>
              <a:t>'].</a:t>
            </a:r>
            <a:r>
              <a:rPr lang="pt-BR" dirty="0" err="1"/>
              <a:t>dt.dayofweek</a:t>
            </a:r>
            <a:endParaRPr lang="pt-BR" dirty="0"/>
          </a:p>
          <a:p>
            <a:r>
              <a:rPr lang="pt-BR" b="1" dirty="0"/>
              <a:t>Dica divertida:</a:t>
            </a:r>
            <a:r>
              <a:rPr lang="pt-BR" dirty="0"/>
              <a:t> transforme datas em categorias como "madrugada", "hora do almoço".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DF078-B9E8-64A5-59BB-3F6BD098D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variáveis</a:t>
            </a:r>
            <a:r>
              <a:rPr lang="en-US" dirty="0"/>
              <a:t> </a:t>
            </a:r>
            <a:r>
              <a:rPr lang="en-US" dirty="0" err="1"/>
              <a:t>categóricas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C64E6-60A5-6C81-8D65-4C4765C4A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Transformar texto em número:</a:t>
            </a:r>
            <a:br>
              <a:rPr lang="pt-BR" dirty="0"/>
            </a:br>
            <a:r>
              <a:rPr lang="pt-BR" dirty="0"/>
              <a:t>✔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br>
              <a:rPr lang="pt-BR" dirty="0"/>
            </a:br>
            <a:r>
              <a:rPr lang="pt-BR" dirty="0"/>
              <a:t>✔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endParaRPr lang="pt-BR" dirty="0"/>
          </a:p>
          <a:p>
            <a:r>
              <a:rPr lang="pt-BR" dirty="0"/>
              <a:t>Exemplo:</a:t>
            </a:r>
          </a:p>
          <a:p>
            <a:r>
              <a:rPr lang="pt-BR" dirty="0"/>
              <a:t>Cor vermelho azul→ → →vermelho:1, azul:0</a:t>
            </a:r>
          </a:p>
          <a:p>
            <a:r>
              <a:rPr lang="pt-BR" dirty="0"/>
              <a:t>Dica prática: use emojis para representar categorias!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3539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Por que escalar?</a:t>
            </a:r>
            <a:br>
              <a:rPr lang="pt-BR" dirty="0"/>
            </a:br>
            <a:r>
              <a:rPr lang="pt-BR" dirty="0"/>
              <a:t>✔ Modelos são sensíveis à escala</a:t>
            </a:r>
            <a:br>
              <a:rPr lang="pt-BR" dirty="0"/>
            </a:br>
            <a:r>
              <a:rPr lang="pt-BR" dirty="0"/>
              <a:t>✔ Igualar influência das features</a:t>
            </a:r>
          </a:p>
          <a:p>
            <a:r>
              <a:rPr lang="pt-BR" dirty="0"/>
              <a:t>Técnicas:</a:t>
            </a:r>
          </a:p>
          <a:p>
            <a:r>
              <a:rPr lang="pt-BR" dirty="0" err="1"/>
              <a:t>StandardScaler</a:t>
            </a:r>
            <a:r>
              <a:rPr lang="pt-BR" dirty="0"/>
              <a:t> (média 0, var 1)</a:t>
            </a:r>
          </a:p>
          <a:p>
            <a:r>
              <a:rPr lang="pt-BR" dirty="0" err="1"/>
              <a:t>MinMaxScaler</a:t>
            </a:r>
            <a:r>
              <a:rPr lang="pt-BR" dirty="0"/>
              <a:t> (entre 0 e 1)</a:t>
            </a:r>
          </a:p>
          <a:p>
            <a:r>
              <a:rPr lang="pt-BR" dirty="0"/>
              <a:t>Analogia divertida: </a:t>
            </a:r>
            <a:r>
              <a:rPr lang="pt-BR" i="1" dirty="0"/>
              <a:t>pense em altura vs. peso — precisamos “normalizar” pra comparar! 🧍📏⚖</a:t>
            </a:r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DE41F-CBCE-DE3E-FF96-C1FE35436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de </a:t>
            </a:r>
            <a:r>
              <a:rPr lang="en-US" dirty="0" err="1"/>
              <a:t>pré-processamento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9CA14-0993-D9E3-35BD-F02EF871B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Combinar tudo em etapas:</a:t>
            </a:r>
          </a:p>
          <a:p>
            <a:pPr lvl="1"/>
            <a:r>
              <a:rPr lang="pt-BR" dirty="0"/>
              <a:t>Limpeza</a:t>
            </a:r>
          </a:p>
          <a:p>
            <a:pPr lvl="1"/>
            <a:r>
              <a:rPr lang="pt-BR" dirty="0"/>
              <a:t>Transformações (</a:t>
            </a:r>
            <a:r>
              <a:rPr lang="pt-BR" dirty="0" err="1"/>
              <a:t>encoding</a:t>
            </a:r>
            <a:r>
              <a:rPr lang="pt-BR" dirty="0"/>
              <a:t>, </a:t>
            </a:r>
            <a:r>
              <a:rPr lang="pt-BR"/>
              <a:t>imputação)</a:t>
            </a:r>
          </a:p>
          <a:p>
            <a:pPr lvl="1"/>
            <a:r>
              <a:rPr lang="pt-BR"/>
              <a:t>Escalonamento</a:t>
            </a:r>
            <a:endParaRPr lang="pt-BR" dirty="0"/>
          </a:p>
          <a:p>
            <a:r>
              <a:rPr lang="pt-BR" dirty="0"/>
              <a:t>🔧 Em Python com </a:t>
            </a:r>
            <a:r>
              <a:rPr lang="pt-BR" dirty="0" err="1"/>
              <a:t>scikit-learn</a:t>
            </a:r>
            <a:r>
              <a:rPr lang="pt-BR" dirty="0"/>
              <a:t>:</a:t>
            </a:r>
          </a:p>
          <a:p>
            <a:pPr lvl="1"/>
            <a:r>
              <a:rPr lang="en-US" dirty="0"/>
              <a:t>from </a:t>
            </a:r>
            <a:r>
              <a:rPr lang="en-US" dirty="0" err="1"/>
              <a:t>sklearn.pipeline</a:t>
            </a:r>
            <a:r>
              <a:rPr lang="en-US" dirty="0"/>
              <a:t> import Pipeline</a:t>
            </a:r>
          </a:p>
        </p:txBody>
      </p:sp>
    </p:spTree>
    <p:extLst>
      <p:ext uri="{BB962C8B-B14F-4D97-AF65-F5344CB8AC3E}">
        <p14:creationId xmlns:p14="http://schemas.microsoft.com/office/powerpoint/2010/main" val="3057734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7898</TotalTime>
  <Words>378</Words>
  <Application>Microsoft Office PowerPoint</Application>
  <PresentationFormat>Widescreen</PresentationFormat>
  <Paragraphs>52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Tema do Office</vt:lpstr>
      <vt:lpstr>C24 - Inteligência Artificial: Transformações dos dados</vt:lpstr>
      <vt:lpstr>Introdução</vt:lpstr>
      <vt:lpstr>Sobre o que falar?</vt:lpstr>
      <vt:lpstr>Engenharia de atributos</vt:lpstr>
      <vt:lpstr>Engenharia de atributos</vt:lpstr>
      <vt:lpstr>Codificação de variáveis categóricas</vt:lpstr>
      <vt:lpstr>Escalonamento de atributos</vt:lpstr>
      <vt:lpstr>Pipeline de pré-processamento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1738</cp:revision>
  <dcterms:created xsi:type="dcterms:W3CDTF">2020-01-20T13:50:05Z</dcterms:created>
  <dcterms:modified xsi:type="dcterms:W3CDTF">2026-01-28T12:01:08Z</dcterms:modified>
</cp:coreProperties>
</file>