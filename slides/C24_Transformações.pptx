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6"/>
  </p:notesMasterIdLst>
  <p:handoutMasterIdLst>
    <p:handoutMasterId r:id="rId37"/>
  </p:handoutMasterIdLst>
  <p:sldIdLst>
    <p:sldId id="256" r:id="rId2"/>
    <p:sldId id="322" r:id="rId3"/>
    <p:sldId id="316" r:id="rId4"/>
    <p:sldId id="326" r:id="rId5"/>
    <p:sldId id="330" r:id="rId6"/>
    <p:sldId id="319" r:id="rId7"/>
    <p:sldId id="329" r:id="rId8"/>
    <p:sldId id="327" r:id="rId9"/>
    <p:sldId id="341" r:id="rId10"/>
    <p:sldId id="334" r:id="rId11"/>
    <p:sldId id="335" r:id="rId12"/>
    <p:sldId id="339" r:id="rId13"/>
    <p:sldId id="340" r:id="rId14"/>
    <p:sldId id="336" r:id="rId15"/>
    <p:sldId id="343" r:id="rId16"/>
    <p:sldId id="342" r:id="rId17"/>
    <p:sldId id="328" r:id="rId18"/>
    <p:sldId id="323" r:id="rId19"/>
    <p:sldId id="344" r:id="rId20"/>
    <p:sldId id="345" r:id="rId21"/>
    <p:sldId id="346" r:id="rId22"/>
    <p:sldId id="347" r:id="rId23"/>
    <p:sldId id="348" r:id="rId24"/>
    <p:sldId id="349" r:id="rId25"/>
    <p:sldId id="308" r:id="rId26"/>
    <p:sldId id="317" r:id="rId27"/>
    <p:sldId id="320" r:id="rId28"/>
    <p:sldId id="315" r:id="rId29"/>
    <p:sldId id="324" r:id="rId30"/>
    <p:sldId id="337" r:id="rId31"/>
    <p:sldId id="321" r:id="rId32"/>
    <p:sldId id="338" r:id="rId33"/>
    <p:sldId id="293" r:id="rId34"/>
    <p:sldId id="306" r:id="rId35"/>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79540" autoAdjust="0"/>
  </p:normalViewPr>
  <p:slideViewPr>
    <p:cSldViewPr snapToGrid="0">
      <p:cViewPr varScale="1">
        <p:scale>
          <a:sx n="88" d="100"/>
          <a:sy n="88" d="100"/>
        </p:scale>
        <p:origin x="1698" y="6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handoutMaster" Target="handoutMasters/handout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2/02/2026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02/02/2026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Curadoria significa </a:t>
            </a:r>
            <a:r>
              <a:rPr lang="pt-BR" dirty="0"/>
              <a:t>o ato de cuidar, selecionar, organizar, adaptar os dados.</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21553005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7106401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BAD7AA-0655-8E48-DF0B-8D4DDCC2FC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214CE0-9112-17E5-F67C-A2291E223D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8B5CB0-BEA9-3AEB-315C-471D7DA8D7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44580F-B050-B7E1-BBD1-F4C92C2D8A99}"/>
              </a:ext>
            </a:extLst>
          </p:cNvPr>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2508702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O Exemplo Prático (Pixels):</a:t>
            </a:r>
            <a:r>
              <a:rPr lang="pt-BR" dirty="0"/>
              <a:t> "Onde isso brilha? Imagens! Um pixel vai de 0 (preto) a 255 (branco). O computador adora trabalhar com 0 e 1, então a gente divide tudo por 255. Simples assim. Redes Neurais amam isso."</a:t>
            </a:r>
          </a:p>
          <a:p>
            <a:r>
              <a:rPr lang="pt-BR" b="1" dirty="0"/>
              <a:t>O Momento "Ah, não!" (O Perigo dos Outliers):</a:t>
            </a:r>
            <a:r>
              <a:rPr lang="pt-BR" dirty="0"/>
              <a:t> "Mas cuidado! O Min-Max </a:t>
            </a:r>
            <a:r>
              <a:rPr lang="pt-BR" dirty="0" err="1"/>
              <a:t>Scaling</a:t>
            </a:r>
            <a:r>
              <a:rPr lang="pt-BR" dirty="0"/>
              <a:t> tem um inimigo mortal: o </a:t>
            </a:r>
            <a:r>
              <a:rPr lang="pt-BR" b="1" dirty="0"/>
              <a:t>Outlier</a:t>
            </a:r>
            <a:r>
              <a:rPr lang="pt-BR" dirty="0"/>
              <a:t>. Imaginem que vamos normalizar os salários desta sala. Todo mundo ganha entre R$ 2.000 e R$ 10.000. De repente, o </a:t>
            </a:r>
            <a:r>
              <a:rPr lang="pt-BR" b="1" dirty="0"/>
              <a:t>Elon Musk</a:t>
            </a:r>
            <a:r>
              <a:rPr lang="pt-BR" dirty="0"/>
              <a:t> entra na sala.</a:t>
            </a:r>
          </a:p>
          <a:p>
            <a:r>
              <a:rPr lang="pt-BR" dirty="0"/>
              <a:t>Salário Mínimo: 2.000 (vira 0).</a:t>
            </a:r>
          </a:p>
          <a:p>
            <a:r>
              <a:rPr lang="pt-BR" dirty="0"/>
              <a:t>Salário Musk: 1 Bilhão (vira 1).</a:t>
            </a:r>
          </a:p>
          <a:p>
            <a:r>
              <a:rPr lang="pt-BR" dirty="0"/>
              <a:t>Onde ficam os nossos salários? Eles vão ser esmagados para </a:t>
            </a:r>
            <a:r>
              <a:rPr lang="pt-BR" b="1" dirty="0"/>
              <a:t>0,000001</a:t>
            </a:r>
            <a:r>
              <a:rPr lang="pt-BR" dirty="0"/>
              <a:t>. Para o modelo, eu, você e o estagiário viramos a mesma coisa: quase zero. A presença do Musk destruiu a nossa diferenciação. Se tiver </a:t>
            </a:r>
            <a:r>
              <a:rPr lang="pt-BR" i="1" dirty="0"/>
              <a:t>outliers</a:t>
            </a:r>
            <a:r>
              <a:rPr lang="pt-BR" dirty="0"/>
              <a:t>, não usem Min-Max, usem a Padronização (que veremos no próximo slide)!"</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9784135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9BA35-6F89-0BB9-6A15-9A14EACDB5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066353-8D75-DA06-B6B6-3EEE5474E6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C1F271-2284-A7E4-9254-5F8452B69AD2}"/>
              </a:ext>
            </a:extLst>
          </p:cNvPr>
          <p:cNvSpPr>
            <a:spLocks noGrp="1"/>
          </p:cNvSpPr>
          <p:nvPr>
            <p:ph type="body" idx="1"/>
          </p:nvPr>
        </p:nvSpPr>
        <p:spPr/>
        <p:txBody>
          <a:bodyPr/>
          <a:lstStyle/>
          <a:p>
            <a:r>
              <a:rPr lang="pt-BR" b="1" dirty="0"/>
              <a:t>O Exemplo Prático (Pixels):</a:t>
            </a:r>
            <a:r>
              <a:rPr lang="pt-BR" dirty="0"/>
              <a:t> "Onde isso brilha? Imagens! Um pixel vai de 0 (preto) a 255 (branco). O computador adora trabalhar com 0 e 1, então a gente divide tudo por 255. Simples assim. Redes Neurais amam isso."</a:t>
            </a:r>
          </a:p>
          <a:p>
            <a:r>
              <a:rPr lang="pt-BR" b="1" dirty="0"/>
              <a:t>O Momento "Ah, não!" (O Perigo dos Outliers):</a:t>
            </a:r>
            <a:r>
              <a:rPr lang="pt-BR" dirty="0"/>
              <a:t> "Mas cuidado! O Min-Max </a:t>
            </a:r>
            <a:r>
              <a:rPr lang="pt-BR" dirty="0" err="1"/>
              <a:t>Scaling</a:t>
            </a:r>
            <a:r>
              <a:rPr lang="pt-BR" dirty="0"/>
              <a:t> tem um inimigo mortal: o </a:t>
            </a:r>
            <a:r>
              <a:rPr lang="pt-BR" b="1" dirty="0"/>
              <a:t>Outlier</a:t>
            </a:r>
            <a:r>
              <a:rPr lang="pt-BR" dirty="0"/>
              <a:t>. Imaginem que vamos normalizar os salários desta sala. Todo mundo ganha entre R$ 2.000 e R$ 10.000. De repente, o </a:t>
            </a:r>
            <a:r>
              <a:rPr lang="pt-BR" b="1" dirty="0"/>
              <a:t>Elon Musk</a:t>
            </a:r>
            <a:r>
              <a:rPr lang="pt-BR" dirty="0"/>
              <a:t> entra na sala.</a:t>
            </a:r>
          </a:p>
          <a:p>
            <a:r>
              <a:rPr lang="pt-BR" dirty="0"/>
              <a:t>Salário Mínimo: 2.000 (vira 0).</a:t>
            </a:r>
          </a:p>
          <a:p>
            <a:r>
              <a:rPr lang="pt-BR" dirty="0"/>
              <a:t>Salário Musk: 1 Bilhão (vira 1).</a:t>
            </a:r>
          </a:p>
          <a:p>
            <a:r>
              <a:rPr lang="pt-BR" dirty="0"/>
              <a:t>Onde ficam os nossos salários? Eles vão ser esmagados para </a:t>
            </a:r>
            <a:r>
              <a:rPr lang="pt-BR" b="1" dirty="0"/>
              <a:t>0,000001</a:t>
            </a:r>
            <a:r>
              <a:rPr lang="pt-BR" dirty="0"/>
              <a:t>. Para o modelo, eu, você e o estagiário viramos a mesma coisa: quase zero. A presença do Musk destruiu a nossa diferenciação. Se tiver </a:t>
            </a:r>
            <a:r>
              <a:rPr lang="pt-BR" i="1" dirty="0"/>
              <a:t>outliers</a:t>
            </a:r>
            <a:r>
              <a:rPr lang="pt-BR" dirty="0"/>
              <a:t>, não usem Min-Max, usem a Padronização (que veremos no próximo slide)!"</a:t>
            </a:r>
          </a:p>
          <a:p>
            <a:endParaRPr lang="en-US" dirty="0"/>
          </a:p>
        </p:txBody>
      </p:sp>
      <p:sp>
        <p:nvSpPr>
          <p:cNvPr id="4" name="Slide Number Placeholder 3">
            <a:extLst>
              <a:ext uri="{FF2B5EF4-FFF2-40B4-BE49-F238E27FC236}">
                <a16:creationId xmlns:a16="http://schemas.microsoft.com/office/drawing/2014/main" id="{8048099E-2282-DD7D-6C34-5E9A5168DC68}"/>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3958817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ED0CA-78E3-EA29-70A5-6545A644B6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59884F-E702-79E1-9E1E-0B2445D46D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B43843-7B98-0234-A23B-F468EDAA4C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580E6C1-419B-5940-971A-A218E9D15896}"/>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40583576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F8A2C-ADE6-950F-1696-F46F7CEBB4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D7BCA1-C677-8F52-5427-0F691AE705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DD0D15-A25E-65FD-F1A5-513ED564175A}"/>
              </a:ext>
            </a:extLst>
          </p:cNvPr>
          <p:cNvSpPr>
            <a:spLocks noGrp="1"/>
          </p:cNvSpPr>
          <p:nvPr>
            <p:ph type="body" idx="1"/>
          </p:nvPr>
        </p:nvSpPr>
        <p:spPr/>
        <p:txBody>
          <a:bodyPr/>
          <a:lstStyle/>
          <a:p>
            <a:r>
              <a:rPr lang="pt-BR" b="0" dirty="0"/>
              <a:t>GNB: </a:t>
            </a:r>
            <a:r>
              <a:rPr lang="en-US" b="0" dirty="0"/>
              <a:t>Gaussian Naive Bayes</a:t>
            </a:r>
          </a:p>
          <a:p>
            <a:r>
              <a:rPr lang="en-US" b="0" dirty="0"/>
              <a:t>GMM: gaussian Mixture Model</a:t>
            </a:r>
            <a:br>
              <a:rPr lang="en-US" b="1" dirty="0"/>
            </a:br>
            <a:br>
              <a:rPr lang="en-US" b="1" dirty="0"/>
            </a:br>
            <a:r>
              <a:rPr lang="pt-BR" b="1" dirty="0"/>
              <a:t>O Resgate do Exemplo do Elon Musk (A Vantagem):</a:t>
            </a:r>
            <a:r>
              <a:rPr lang="pt-BR" dirty="0"/>
              <a:t> "Lembram do Elon Musk estragando nosso Min-Max </a:t>
            </a:r>
            <a:r>
              <a:rPr lang="pt-BR" dirty="0" err="1"/>
              <a:t>Scaling</a:t>
            </a:r>
            <a:r>
              <a:rPr lang="pt-BR" dirty="0"/>
              <a:t>? No </a:t>
            </a:r>
            <a:r>
              <a:rPr lang="pt-BR" dirty="0" err="1"/>
              <a:t>StandardScaler</a:t>
            </a:r>
            <a:r>
              <a:rPr lang="pt-BR" dirty="0"/>
              <a:t>, se o Musk entrar na sala, a média de salário sobe e o desvio padrão explode. O Musk vai ter um Z-score de, sei lá, 500. Mas o meu salário e o seu ainda estarão próximos de 0 (talvez -0.1). </a:t>
            </a:r>
            <a:r>
              <a:rPr lang="pt-BR" b="1" dirty="0"/>
              <a:t>A grande sacada:</a:t>
            </a:r>
            <a:r>
              <a:rPr lang="pt-BR" dirty="0"/>
              <a:t> A estrutura dos nossos dados 'normais' é preservada. Não somos esmagados só porque existe um gigante na sala. O modelo consegue enxergar a gente e enxergar o Musk.“</a:t>
            </a:r>
            <a:br>
              <a:rPr lang="pt-BR" dirty="0"/>
            </a:br>
            <a:br>
              <a:rPr lang="pt-BR" dirty="0"/>
            </a:br>
            <a:r>
              <a:rPr lang="pt-BR" sz="1200" b="1" i="0" kern="1200" dirty="0">
                <a:solidFill>
                  <a:schemeClr val="tx1"/>
                </a:solidFill>
                <a:effectLst/>
                <a:latin typeface="+mn-lt"/>
                <a:ea typeface="+mn-ea"/>
                <a:cs typeface="+mn-cs"/>
              </a:rPr>
              <a:t>Exemplo Prático</a:t>
            </a:r>
          </a:p>
          <a:p>
            <a:r>
              <a:rPr lang="pt-BR" sz="1200" b="0" i="0" kern="1200" dirty="0">
                <a:solidFill>
                  <a:schemeClr val="tx1"/>
                </a:solidFill>
                <a:effectLst/>
                <a:latin typeface="+mn-lt"/>
                <a:ea typeface="+mn-ea"/>
                <a:cs typeface="+mn-cs"/>
              </a:rPr>
              <a:t>Imagine dados de salários, onde a maioria das pessoas ganha entre R$ 2.000 e R$ 10.000, mas há um CEO que ganha R$ 1.000.000.</a:t>
            </a:r>
          </a:p>
          <a:p>
            <a:r>
              <a:rPr lang="pt-BR" sz="1200" b="1" i="0" kern="1200" dirty="0">
                <a:solidFill>
                  <a:schemeClr val="tx1"/>
                </a:solidFill>
                <a:effectLst/>
                <a:latin typeface="+mn-lt"/>
                <a:ea typeface="+mn-ea"/>
                <a:cs typeface="+mn-cs"/>
              </a:rPr>
              <a:t>Sem o outlier:</a:t>
            </a:r>
            <a:r>
              <a:rPr lang="pt-BR" sz="1200" b="0" i="0" kern="1200" dirty="0">
                <a:solidFill>
                  <a:schemeClr val="tx1"/>
                </a:solidFill>
                <a:effectLst/>
                <a:latin typeface="+mn-lt"/>
                <a:ea typeface="+mn-ea"/>
                <a:cs typeface="+mn-cs"/>
              </a:rPr>
              <a:t> A faixa é 2.000 a 10.000.</a:t>
            </a:r>
          </a:p>
          <a:p>
            <a:r>
              <a:rPr lang="pt-BR" sz="1200" b="1" i="0" kern="1200" dirty="0">
                <a:solidFill>
                  <a:schemeClr val="tx1"/>
                </a:solidFill>
                <a:effectLst/>
                <a:latin typeface="+mn-lt"/>
                <a:ea typeface="+mn-ea"/>
                <a:cs typeface="+mn-cs"/>
              </a:rPr>
              <a:t>Com o outlier (1.000.000):</a:t>
            </a:r>
            <a:r>
              <a:rPr lang="pt-BR" sz="1200" b="0" i="0" kern="1200" dirty="0">
                <a:solidFill>
                  <a:schemeClr val="tx1"/>
                </a:solidFill>
                <a:effectLst/>
                <a:latin typeface="+mn-lt"/>
                <a:ea typeface="+mn-ea"/>
                <a:cs typeface="+mn-cs"/>
              </a:rPr>
              <a:t> O Min-Max vai forçar o 1.000.000 a ser 1 e o 2.000 a ser 0.</a:t>
            </a:r>
          </a:p>
          <a:p>
            <a:r>
              <a:rPr lang="pt-BR" sz="1200" b="1" i="0" kern="1200" dirty="0">
                <a:solidFill>
                  <a:schemeClr val="tx1"/>
                </a:solidFill>
                <a:effectLst/>
                <a:latin typeface="+mn-lt"/>
                <a:ea typeface="+mn-ea"/>
                <a:cs typeface="+mn-cs"/>
              </a:rPr>
              <a:t>Resultado:</a:t>
            </a:r>
            <a:r>
              <a:rPr lang="pt-BR" sz="1200" b="0" i="0" kern="1200" dirty="0">
                <a:solidFill>
                  <a:schemeClr val="tx1"/>
                </a:solidFill>
                <a:effectLst/>
                <a:latin typeface="+mn-lt"/>
                <a:ea typeface="+mn-ea"/>
                <a:cs typeface="+mn-cs"/>
              </a:rPr>
              <a:t> Todos os salários normais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3000, 5000, 8000) serão comprimidos para valores muito próximos de zero,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0.001, 0.003, 0.006. O modelo de machine learning terá dificuldade em diferenciar essas pequenas variações. </a:t>
            </a:r>
          </a:p>
          <a:p>
            <a:endParaRPr lang="en-US" dirty="0"/>
          </a:p>
        </p:txBody>
      </p:sp>
      <p:sp>
        <p:nvSpPr>
          <p:cNvPr id="4" name="Slide Number Placeholder 3">
            <a:extLst>
              <a:ext uri="{FF2B5EF4-FFF2-40B4-BE49-F238E27FC236}">
                <a16:creationId xmlns:a16="http://schemas.microsoft.com/office/drawing/2014/main" id="{5F90D2D6-5D54-2470-89D5-A060CBE89EF9}"/>
              </a:ext>
            </a:extLst>
          </p:cNvPr>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20813082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D28CA1-01F6-4480-35DB-8BB34983B1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59398D-07A6-7B0D-340C-EFF1B2885D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6081E3-4839-F706-AA6D-36B8D101BA06}"/>
              </a:ext>
            </a:extLst>
          </p:cNvPr>
          <p:cNvSpPr>
            <a:spLocks noGrp="1"/>
          </p:cNvSpPr>
          <p:nvPr>
            <p:ph type="body" idx="1"/>
          </p:nvPr>
        </p:nvSpPr>
        <p:spPr/>
        <p:txBody>
          <a:bodyPr/>
          <a:lstStyle/>
          <a:p>
            <a:r>
              <a:rPr lang="pt-BR" b="0" dirty="0"/>
              <a:t>GNB: </a:t>
            </a:r>
            <a:r>
              <a:rPr lang="en-US" b="0" dirty="0"/>
              <a:t>Gaussian Naive Bayes</a:t>
            </a:r>
          </a:p>
          <a:p>
            <a:r>
              <a:rPr lang="en-US" b="0" dirty="0"/>
              <a:t>GMM: gaussian Mixture Model</a:t>
            </a:r>
            <a:br>
              <a:rPr lang="en-US" b="1" dirty="0"/>
            </a:br>
            <a:br>
              <a:rPr lang="en-US" b="1" dirty="0"/>
            </a:br>
            <a:r>
              <a:rPr lang="pt-BR" b="1" dirty="0"/>
              <a:t>O Resgate do Exemplo do Elon Musk (A Vantagem):</a:t>
            </a:r>
            <a:r>
              <a:rPr lang="pt-BR" dirty="0"/>
              <a:t> "Lembram do Elon Musk estragando nosso Min-Max </a:t>
            </a:r>
            <a:r>
              <a:rPr lang="pt-BR" dirty="0" err="1"/>
              <a:t>Scaling</a:t>
            </a:r>
            <a:r>
              <a:rPr lang="pt-BR" dirty="0"/>
              <a:t>? No </a:t>
            </a:r>
            <a:r>
              <a:rPr lang="pt-BR" dirty="0" err="1"/>
              <a:t>StandardScaler</a:t>
            </a:r>
            <a:r>
              <a:rPr lang="pt-BR" dirty="0"/>
              <a:t>, se o Musk entrar na sala, a média de salário sobe e o desvio padrão explode. O Musk vai ter um Z-score de, sei lá, 500. Mas o meu salário e o seu ainda estarão próximos de 0 (talvez -0.1). </a:t>
            </a:r>
            <a:r>
              <a:rPr lang="pt-BR" b="1" dirty="0"/>
              <a:t>A grande sacada:</a:t>
            </a:r>
            <a:r>
              <a:rPr lang="pt-BR" dirty="0"/>
              <a:t> A estrutura dos nossos dados 'normais' é preservada. Não somos esmagados só porque existe um gigante na sala. O modelo consegue enxergar a gente e enxergar o Musk."</a:t>
            </a:r>
            <a:endParaRPr lang="en-US" dirty="0"/>
          </a:p>
        </p:txBody>
      </p:sp>
      <p:sp>
        <p:nvSpPr>
          <p:cNvPr id="4" name="Slide Number Placeholder 3">
            <a:extLst>
              <a:ext uri="{FF2B5EF4-FFF2-40B4-BE49-F238E27FC236}">
                <a16:creationId xmlns:a16="http://schemas.microsoft.com/office/drawing/2014/main" id="{B31F2532-F79F-CBC9-E9FF-E998E79153E4}"/>
              </a:ext>
            </a:extLst>
          </p:cNvPr>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2282371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C5AAF4-3E4E-61DB-5981-D83FCAD12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B07ACA-77DF-28FA-3B66-1B244EECB2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ADE028-FFFC-7435-BB36-CD3A24200449}"/>
              </a:ext>
            </a:extLst>
          </p:cNvPr>
          <p:cNvSpPr>
            <a:spLocks noGrp="1"/>
          </p:cNvSpPr>
          <p:nvPr>
            <p:ph type="body" idx="1"/>
          </p:nvPr>
        </p:nvSpPr>
        <p:spPr/>
        <p:txBody>
          <a:bodyPr/>
          <a:lstStyle/>
          <a:p>
            <a:r>
              <a:rPr lang="pt-BR" dirty="0"/>
              <a:t>Oferece um meio-termo que mantém os dados em uma escala semelhante à da padronização, mas garante que a escala não seja distorcida por valores extremos.</a:t>
            </a:r>
          </a:p>
          <a:p>
            <a:endParaRPr lang="pt-BR" b="1" dirty="0"/>
          </a:p>
          <a:p>
            <a:r>
              <a:rPr lang="pt-BR" b="1" dirty="0"/>
              <a:t>Por que Mediana e não Média?</a:t>
            </a:r>
            <a:r>
              <a:rPr lang="pt-BR" dirty="0"/>
              <a:t> "Imagine que temos 5 pessoas em um bar e cada uma ganha R$ 2.000. A média é 2.000. Se o Jeff Bezos entra no bar, a média vai para milhões, mas a </a:t>
            </a:r>
            <a:r>
              <a:rPr lang="pt-BR" b="1" dirty="0"/>
              <a:t>mediana</a:t>
            </a:r>
            <a:r>
              <a:rPr lang="pt-BR" dirty="0"/>
              <a:t> (o valor central) continua sendo 2.000. </a:t>
            </a:r>
            <a:endParaRPr lang="en-US" dirty="0"/>
          </a:p>
        </p:txBody>
      </p:sp>
      <p:sp>
        <p:nvSpPr>
          <p:cNvPr id="4" name="Slide Number Placeholder 3">
            <a:extLst>
              <a:ext uri="{FF2B5EF4-FFF2-40B4-BE49-F238E27FC236}">
                <a16:creationId xmlns:a16="http://schemas.microsoft.com/office/drawing/2014/main" id="{799A12BF-2D34-C626-F9C4-AF0F7CD163B2}"/>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7166141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AD7A17-F670-79CF-DF05-7BF12108EA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5DE1E6-3C6D-845B-07FE-6000E19D15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7E17B7-4F2C-8B34-0F7C-2CB52C0B3FA9}"/>
              </a:ext>
            </a:extLst>
          </p:cNvPr>
          <p:cNvSpPr>
            <a:spLocks noGrp="1"/>
          </p:cNvSpPr>
          <p:nvPr>
            <p:ph type="body" idx="1"/>
          </p:nvPr>
        </p:nvSpPr>
        <p:spPr/>
        <p:txBody>
          <a:bodyPr/>
          <a:lstStyle/>
          <a:p>
            <a:r>
              <a:rPr lang="pt-BR" b="1" dirty="0"/>
              <a:t>Por que Mediana e não Média?</a:t>
            </a:r>
            <a:r>
              <a:rPr lang="pt-BR" dirty="0"/>
              <a:t> "Imagine que temos 5 pessoas em um bar e cada uma ganha R$ 2.000. A média é 2.000. Se o Jeff Bezos entra no bar, a média vai para milhões, mas a </a:t>
            </a:r>
            <a:r>
              <a:rPr lang="pt-BR" b="1" dirty="0"/>
              <a:t>mediana</a:t>
            </a:r>
            <a:r>
              <a:rPr lang="pt-BR" dirty="0"/>
              <a:t> (o valor central) continua sendo 2.000. </a:t>
            </a:r>
            <a:endParaRPr lang="en-US" dirty="0"/>
          </a:p>
        </p:txBody>
      </p:sp>
      <p:sp>
        <p:nvSpPr>
          <p:cNvPr id="4" name="Slide Number Placeholder 3">
            <a:extLst>
              <a:ext uri="{FF2B5EF4-FFF2-40B4-BE49-F238E27FC236}">
                <a16:creationId xmlns:a16="http://schemas.microsoft.com/office/drawing/2014/main" id="{1FD7E354-A812-3533-15B8-B2C05476CDAC}"/>
              </a:ext>
            </a:extLst>
          </p:cNvPr>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19862444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BD578-D126-C8CD-C2BA-CBFC787EA4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FE7FEA-16F0-9910-0989-1883BB321C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8219F0-D8E8-8A81-97B4-AECF0BBEA14F}"/>
              </a:ext>
            </a:extLst>
          </p:cNvPr>
          <p:cNvSpPr>
            <a:spLocks noGrp="1"/>
          </p:cNvSpPr>
          <p:nvPr>
            <p:ph type="body" idx="1"/>
          </p:nvPr>
        </p:nvSpPr>
        <p:spPr/>
        <p:txBody>
          <a:bodyPr/>
          <a:lstStyle/>
          <a:p>
            <a:r>
              <a:rPr lang="pt-BR" sz="1200" b="0" i="0" kern="1200" dirty="0">
                <a:solidFill>
                  <a:schemeClr val="tx1"/>
                </a:solidFill>
                <a:effectLst/>
                <a:latin typeface="+mn-lt"/>
                <a:ea typeface="+mn-ea"/>
                <a:cs typeface="+mn-cs"/>
              </a:rPr>
              <a:t>Ele mantém a relação de distância entre os dados não-discrepantes melhor que o Standard </a:t>
            </a:r>
            <a:r>
              <a:rPr lang="pt-BR" sz="1200" b="0" i="0" kern="1200" dirty="0" err="1">
                <a:solidFill>
                  <a:schemeClr val="tx1"/>
                </a:solidFill>
                <a:effectLst/>
                <a:latin typeface="+mn-lt"/>
                <a:ea typeface="+mn-ea"/>
                <a:cs typeface="+mn-cs"/>
              </a:rPr>
              <a:t>Scaler</a:t>
            </a:r>
            <a:r>
              <a:rPr lang="pt-BR" sz="1200" b="0" i="0" kern="1200" dirty="0">
                <a:solidFill>
                  <a:schemeClr val="tx1"/>
                </a:solidFill>
                <a:effectLst/>
                <a:latin typeface="+mn-lt"/>
                <a:ea typeface="+mn-ea"/>
                <a:cs typeface="+mn-cs"/>
              </a:rPr>
              <a:t> quando há ruído extremo.</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i.e., eles não distorcem tanto a escala geral.</a:t>
            </a:r>
          </a:p>
          <a:p>
            <a:endParaRPr lang="en-US" dirty="0"/>
          </a:p>
        </p:txBody>
      </p:sp>
      <p:sp>
        <p:nvSpPr>
          <p:cNvPr id="4" name="Slide Number Placeholder 3">
            <a:extLst>
              <a:ext uri="{FF2B5EF4-FFF2-40B4-BE49-F238E27FC236}">
                <a16:creationId xmlns:a16="http://schemas.microsoft.com/office/drawing/2014/main" id="{98A5AC8A-50E7-6136-9B5C-235A931AE1D4}"/>
              </a:ext>
            </a:extLst>
          </p:cNvPr>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11045151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108027583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45AACA-C1BE-8A29-1FCB-662C75286B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175792-3F26-46A3-22E7-4BD98B3697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A760E0-F44C-F8E7-EA56-D8E5837C26DC}"/>
              </a:ext>
            </a:extLst>
          </p:cNvPr>
          <p:cNvSpPr>
            <a:spLocks noGrp="1"/>
          </p:cNvSpPr>
          <p:nvPr>
            <p:ph type="body" idx="1"/>
          </p:nvPr>
        </p:nvSpPr>
        <p:spPr/>
        <p:txBody>
          <a:bodyPr/>
          <a:lstStyle/>
          <a:p>
            <a:r>
              <a:rPr lang="pt-BR" sz="1200" b="1" i="0" kern="1200" dirty="0">
                <a:solidFill>
                  <a:schemeClr val="tx1"/>
                </a:solidFill>
                <a:effectLst/>
                <a:latin typeface="+mn-lt"/>
                <a:ea typeface="+mn-ea"/>
                <a:cs typeface="+mn-cs"/>
              </a:rPr>
              <a:t>O que é a </a:t>
            </a:r>
            <a:r>
              <a:rPr lang="pt-BR" b="1" dirty="0"/>
              <a:t>“maldição da dimensionalidade”?</a:t>
            </a:r>
            <a:br>
              <a:rPr lang="pt-BR" b="1" dirty="0"/>
            </a:br>
            <a:endParaRPr lang="pt-BR"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pt-BR" sz="1200" b="1" i="0" kern="1200" dirty="0">
                <a:solidFill>
                  <a:schemeClr val="tx1"/>
                </a:solidFill>
                <a:effectLst/>
                <a:latin typeface="+mn-lt"/>
                <a:ea typeface="+mn-ea"/>
                <a:cs typeface="+mn-cs"/>
              </a:rPr>
              <a:t>Aumento exponencial do espaço:</a:t>
            </a:r>
            <a:r>
              <a:rPr lang="pt-BR" sz="1200" b="0" i="0" kern="1200" dirty="0">
                <a:solidFill>
                  <a:schemeClr val="tx1"/>
                </a:solidFill>
                <a:effectLst/>
                <a:latin typeface="+mn-lt"/>
                <a:ea typeface="+mn-ea"/>
                <a:cs typeface="+mn-cs"/>
              </a:rPr>
              <a:t> Adicionar dimensões faz o volume crescer muito rápido, espalhando os pontos de dados.</a:t>
            </a:r>
          </a:p>
          <a:p>
            <a:pPr marL="171450" indent="-171450">
              <a:buFont typeface="Arial" panose="020B0604020202020204" pitchFamily="34" charset="0"/>
              <a:buChar char="•"/>
            </a:pPr>
            <a:r>
              <a:rPr lang="pt-BR" sz="1200" b="1" i="0" kern="1200" dirty="0">
                <a:solidFill>
                  <a:schemeClr val="tx1"/>
                </a:solidFill>
                <a:effectLst/>
                <a:latin typeface="+mn-lt"/>
                <a:ea typeface="+mn-ea"/>
                <a:cs typeface="+mn-cs"/>
              </a:rPr>
              <a:t>Escassez de dados:</a:t>
            </a:r>
            <a:r>
              <a:rPr lang="pt-BR" sz="1200" b="0" i="0" kern="1200" dirty="0">
                <a:solidFill>
                  <a:schemeClr val="tx1"/>
                </a:solidFill>
                <a:effectLst/>
                <a:latin typeface="+mn-lt"/>
                <a:ea typeface="+mn-ea"/>
                <a:cs typeface="+mn-cs"/>
              </a:rPr>
              <a:t> Os pontos ficam muito distantes uns dos outros, "quase não há vizinhos", perdendo a noção de similaridade.</a:t>
            </a:r>
          </a:p>
          <a:p>
            <a:pPr marL="171450" indent="-171450">
              <a:buFont typeface="Arial" panose="020B0604020202020204" pitchFamily="34" charset="0"/>
              <a:buChar char="•"/>
            </a:pPr>
            <a:r>
              <a:rPr lang="pt-BR" sz="1200" b="1" i="0" kern="1200" dirty="0">
                <a:solidFill>
                  <a:schemeClr val="tx1"/>
                </a:solidFill>
                <a:effectLst/>
                <a:latin typeface="+mn-lt"/>
                <a:ea typeface="+mn-ea"/>
                <a:cs typeface="+mn-cs"/>
              </a:rPr>
              <a:t>Dificuldade de visualização e processamento:</a:t>
            </a:r>
            <a:r>
              <a:rPr lang="pt-BR" sz="1200" b="0" i="0" kern="1200" dirty="0">
                <a:solidFill>
                  <a:schemeClr val="tx1"/>
                </a:solidFill>
                <a:effectLst/>
                <a:latin typeface="+mn-lt"/>
                <a:ea typeface="+mn-ea"/>
                <a:cs typeface="+mn-cs"/>
              </a:rPr>
              <a:t> Torna-se difícil visualizar e exige muito mais poder computacional para análise.</a:t>
            </a:r>
          </a:p>
          <a:p>
            <a:endParaRPr lang="pt-BR" sz="1200" b="1" i="0" kern="1200" dirty="0">
              <a:solidFill>
                <a:schemeClr val="tx1"/>
              </a:solidFill>
              <a:effectLst/>
              <a:latin typeface="+mn-lt"/>
              <a:ea typeface="+mn-ea"/>
              <a:cs typeface="+mn-cs"/>
            </a:endParaRPr>
          </a:p>
          <a:p>
            <a:r>
              <a:rPr lang="pt-BR" sz="1200" b="1" i="0" kern="1200" dirty="0">
                <a:solidFill>
                  <a:schemeClr val="tx1"/>
                </a:solidFill>
                <a:effectLst/>
                <a:latin typeface="+mn-lt"/>
                <a:ea typeface="+mn-ea"/>
                <a:cs typeface="+mn-cs"/>
              </a:rPr>
              <a:t>Como afeta o Machine Learning</a:t>
            </a:r>
          </a:p>
          <a:p>
            <a:pPr marL="171450" indent="-171450">
              <a:buFont typeface="Arial" panose="020B0604020202020204" pitchFamily="34" charset="0"/>
              <a:buChar char="•"/>
            </a:pPr>
            <a:r>
              <a:rPr lang="pt-BR" sz="1200" b="1" i="0" kern="1200" dirty="0">
                <a:solidFill>
                  <a:schemeClr val="tx1"/>
                </a:solidFill>
                <a:effectLst/>
                <a:latin typeface="+mn-lt"/>
                <a:ea typeface="+mn-ea"/>
                <a:cs typeface="+mn-cs"/>
              </a:rPr>
              <a:t>Perda de significado da distância:</a:t>
            </a:r>
            <a:r>
              <a:rPr lang="pt-BR" sz="1200" b="0" i="0" kern="1200" dirty="0">
                <a:solidFill>
                  <a:schemeClr val="tx1"/>
                </a:solidFill>
                <a:effectLst/>
                <a:latin typeface="+mn-lt"/>
                <a:ea typeface="+mn-ea"/>
                <a:cs typeface="+mn-cs"/>
              </a:rPr>
              <a:t> A diferença entre o ponto mais próximo e o mais distante se torna mínima, prejudicando algoritmos baseados em distância (como KNN).</a:t>
            </a:r>
          </a:p>
          <a:p>
            <a:pPr marL="171450" indent="-171450">
              <a:buFont typeface="Arial" panose="020B0604020202020204" pitchFamily="34" charset="0"/>
              <a:buChar char="•"/>
            </a:pPr>
            <a:r>
              <a:rPr lang="pt-BR" sz="1200" b="1" i="0" kern="1200" dirty="0">
                <a:solidFill>
                  <a:schemeClr val="tx1"/>
                </a:solidFill>
                <a:effectLst/>
                <a:latin typeface="+mn-lt"/>
                <a:ea typeface="+mn-ea"/>
                <a:cs typeface="+mn-cs"/>
              </a:rPr>
              <a:t>Sobreajuste (</a:t>
            </a:r>
            <a:r>
              <a:rPr lang="pt-BR" sz="1200" b="1" i="0" kern="1200" dirty="0" err="1">
                <a:solidFill>
                  <a:schemeClr val="tx1"/>
                </a:solidFill>
                <a:effectLst/>
                <a:latin typeface="+mn-lt"/>
                <a:ea typeface="+mn-ea"/>
                <a:cs typeface="+mn-cs"/>
              </a:rPr>
              <a:t>Overfitting</a:t>
            </a:r>
            <a:r>
              <a:rPr lang="pt-BR" sz="1200" b="1" i="0" kern="1200" dirty="0">
                <a:solidFill>
                  <a:schemeClr val="tx1"/>
                </a:solidFill>
                <a:effectLst/>
                <a:latin typeface="+mn-lt"/>
                <a:ea typeface="+mn-ea"/>
                <a:cs typeface="+mn-cs"/>
              </a:rPr>
              <a:t>):</a:t>
            </a:r>
            <a:r>
              <a:rPr lang="pt-BR" sz="1200" b="0" i="0" kern="1200" dirty="0">
                <a:solidFill>
                  <a:schemeClr val="tx1"/>
                </a:solidFill>
                <a:effectLst/>
                <a:latin typeface="+mn-lt"/>
                <a:ea typeface="+mn-ea"/>
                <a:cs typeface="+mn-cs"/>
              </a:rPr>
              <a:t> Modelos podem se ajustar ao ruído em vez dos padrões reais, pois há muitas dimensões e poucos pontos por área.</a:t>
            </a:r>
          </a:p>
          <a:p>
            <a:pPr marL="171450" indent="-171450">
              <a:buFont typeface="Arial" panose="020B0604020202020204" pitchFamily="34" charset="0"/>
              <a:buChar char="•"/>
            </a:pPr>
            <a:r>
              <a:rPr lang="pt-BR" sz="1200" b="1" i="0" kern="1200" dirty="0">
                <a:solidFill>
                  <a:schemeClr val="tx1"/>
                </a:solidFill>
                <a:effectLst/>
                <a:latin typeface="+mn-lt"/>
                <a:ea typeface="+mn-ea"/>
                <a:cs typeface="+mn-cs"/>
              </a:rPr>
              <a:t>Aumento da complexidade:</a:t>
            </a:r>
            <a:r>
              <a:rPr lang="pt-BR" sz="1200" b="0" i="0" kern="1200" dirty="0">
                <a:solidFill>
                  <a:schemeClr val="tx1"/>
                </a:solidFill>
                <a:effectLst/>
                <a:latin typeface="+mn-lt"/>
                <a:ea typeface="+mn-ea"/>
                <a:cs typeface="+mn-cs"/>
              </a:rPr>
              <a:t> Aumenta o custo computacional e a necessidade de dados de treinamento.</a:t>
            </a:r>
          </a:p>
          <a:p>
            <a:endParaRPr lang="en-US" dirty="0"/>
          </a:p>
        </p:txBody>
      </p:sp>
      <p:sp>
        <p:nvSpPr>
          <p:cNvPr id="4" name="Slide Number Placeholder 3">
            <a:extLst>
              <a:ext uri="{FF2B5EF4-FFF2-40B4-BE49-F238E27FC236}">
                <a16:creationId xmlns:a16="http://schemas.microsoft.com/office/drawing/2014/main" id="{F3157961-DACC-B2D1-355A-7BFFF155D892}"/>
              </a:ext>
            </a:extLst>
          </p:cNvPr>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36654628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1B8E2-8FB4-ABBE-C258-A19EABAE8D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4AA54D-D921-A0D1-8F81-E689E5B46F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C5C974-F53B-919C-4B9E-3E911E541210}"/>
              </a:ext>
            </a:extLst>
          </p:cNvPr>
          <p:cNvSpPr>
            <a:spLocks noGrp="1"/>
          </p:cNvSpPr>
          <p:nvPr>
            <p:ph type="body" idx="1"/>
          </p:nvPr>
        </p:nvSpPr>
        <p:spPr/>
        <p:txBody>
          <a:bodyPr/>
          <a:lstStyle/>
          <a:p>
            <a:pPr lvl="0">
              <a:buFont typeface="Wingdings" panose="05000000000000000000" pitchFamily="2" charset="2"/>
              <a:buNone/>
            </a:pPr>
            <a:endParaRPr lang="en-US" dirty="0"/>
          </a:p>
        </p:txBody>
      </p:sp>
      <p:sp>
        <p:nvSpPr>
          <p:cNvPr id="4" name="Slide Number Placeholder 3">
            <a:extLst>
              <a:ext uri="{FF2B5EF4-FFF2-40B4-BE49-F238E27FC236}">
                <a16:creationId xmlns:a16="http://schemas.microsoft.com/office/drawing/2014/main" id="{0DFC15CB-C54E-7FB2-B15A-8FAC110034B8}"/>
              </a:ext>
            </a:extLst>
          </p:cNvPr>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4793482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C55CC4-F30A-A9FA-9DDD-0826909871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F220E7-8A30-2A57-6CC8-32EB4AE20B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64DC2E-4BED-69DA-25A3-14C1CC6DEC90}"/>
              </a:ext>
            </a:extLst>
          </p:cNvPr>
          <p:cNvSpPr>
            <a:spLocks noGrp="1"/>
          </p:cNvSpPr>
          <p:nvPr>
            <p:ph type="body" idx="1"/>
          </p:nvPr>
        </p:nvSpPr>
        <p:spPr/>
        <p:txBody>
          <a:bodyPr/>
          <a:lstStyle/>
          <a:p>
            <a:r>
              <a:rPr lang="pt-BR" dirty="0"/>
              <a:t>alta cardinalidade: muitas categorias únicas</a:t>
            </a:r>
            <a:endParaRPr lang="pt-BR"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FBDD61D4-F283-FA5C-B9B3-7B9D25FCB4EA}"/>
              </a:ext>
            </a:extLst>
          </p:cNvPr>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365199254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0111E-C562-814A-4B28-55A0BF53C8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B3F6C9-39CC-9515-FB72-E68168A7A8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698751-6CC0-5667-0E8C-ED24F1B26AB5}"/>
              </a:ext>
            </a:extLst>
          </p:cNvPr>
          <p:cNvSpPr>
            <a:spLocks noGrp="1"/>
          </p:cNvSpPr>
          <p:nvPr>
            <p:ph type="body" idx="1"/>
          </p:nvPr>
        </p:nvSpPr>
        <p:spPr/>
        <p:txBody>
          <a:bodyPr/>
          <a:lstStyle/>
          <a:p>
            <a:endParaRPr lang="pt-BR"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DBEA7BB1-A2E9-8F2F-66E3-17600B04B681}"/>
              </a:ext>
            </a:extLst>
          </p:cNvPr>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79577522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6896843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28222072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17741442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02/02/2026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02/02/2026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intro_eda.ipynb"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jpeg"/><Relationship Id="rId4"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Transformações dos dados</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5778595-FA45-2665-F4CA-BDE6194966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4043" y="1366894"/>
            <a:ext cx="8171095" cy="4456961"/>
          </a:xfrm>
          <a:prstGeom prst="rect">
            <a:avLst/>
          </a:prstGeom>
        </p:spPr>
      </p:pic>
      <p:sp>
        <p:nvSpPr>
          <p:cNvPr id="7" name="TextBox 6">
            <a:extLst>
              <a:ext uri="{FF2B5EF4-FFF2-40B4-BE49-F238E27FC236}">
                <a16:creationId xmlns:a16="http://schemas.microsoft.com/office/drawing/2014/main" id="{0998BB58-D4F0-B94D-2632-92980C5EFACB}"/>
              </a:ext>
            </a:extLst>
          </p:cNvPr>
          <p:cNvSpPr txBox="1"/>
          <p:nvPr/>
        </p:nvSpPr>
        <p:spPr>
          <a:xfrm>
            <a:off x="8643256" y="2564324"/>
            <a:ext cx="3145971" cy="2062103"/>
          </a:xfrm>
          <a:prstGeom prst="rect">
            <a:avLst/>
          </a:prstGeom>
          <a:noFill/>
        </p:spPr>
        <p:txBody>
          <a:bodyPr wrap="square" rtlCol="0">
            <a:spAutoFit/>
          </a:bodyPr>
          <a:lstStyle/>
          <a:p>
            <a:pPr algn="ctr"/>
            <a:r>
              <a:rPr lang="pt-BR" sz="3200" dirty="0"/>
              <a:t>Continuamos na jornada de curadoria dos dados.</a:t>
            </a:r>
            <a:endParaRPr lang="en-US" sz="3200" dirty="0"/>
          </a:p>
        </p:txBody>
      </p:sp>
    </p:spTree>
    <p:extLst>
      <p:ext uri="{BB962C8B-B14F-4D97-AF65-F5344CB8AC3E}">
        <p14:creationId xmlns:p14="http://schemas.microsoft.com/office/powerpoint/2010/main" val="15986440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DE138C-5788-AD2E-09D4-61ED99259645}"/>
              </a:ext>
            </a:extLst>
          </p:cNvPr>
          <p:cNvSpPr>
            <a:spLocks noGrp="1"/>
          </p:cNvSpPr>
          <p:nvPr>
            <p:ph type="title"/>
          </p:nvPr>
        </p:nvSpPr>
        <p:spPr/>
        <p:txBody>
          <a:bodyPr/>
          <a:lstStyle/>
          <a:p>
            <a:r>
              <a:rPr lang="pt-BR" dirty="0"/>
              <a:t>O que veremos?</a:t>
            </a:r>
            <a:endParaRPr lang="en-US" dirty="0"/>
          </a:p>
        </p:txBody>
      </p:sp>
      <p:sp>
        <p:nvSpPr>
          <p:cNvPr id="3" name="Content Placeholder 2">
            <a:extLst>
              <a:ext uri="{FF2B5EF4-FFF2-40B4-BE49-F238E27FC236}">
                <a16:creationId xmlns:a16="http://schemas.microsoft.com/office/drawing/2014/main" id="{237157C1-7A3A-AC9B-369C-8CDFEAD7A84F}"/>
              </a:ext>
            </a:extLst>
          </p:cNvPr>
          <p:cNvSpPr>
            <a:spLocks noGrp="1"/>
          </p:cNvSpPr>
          <p:nvPr>
            <p:ph idx="1"/>
          </p:nvPr>
        </p:nvSpPr>
        <p:spPr>
          <a:xfrm>
            <a:off x="838199" y="1825625"/>
            <a:ext cx="11070771" cy="4351338"/>
          </a:xfrm>
        </p:spPr>
        <p:txBody>
          <a:bodyPr/>
          <a:lstStyle/>
          <a:p>
            <a:r>
              <a:rPr lang="pt-BR" dirty="0"/>
              <a:t>Veremos algumas técnicas de transformação ou pré-processamento dos dados:</a:t>
            </a:r>
          </a:p>
          <a:p>
            <a:pPr lvl="1">
              <a:buFont typeface="Wingdings" panose="05000000000000000000" pitchFamily="2" charset="2"/>
              <a:buChar char="§"/>
            </a:pPr>
            <a:r>
              <a:rPr lang="en-US" dirty="0" err="1"/>
              <a:t>Escalonamento</a:t>
            </a:r>
            <a:r>
              <a:rPr lang="en-US" dirty="0"/>
              <a:t> de </a:t>
            </a:r>
            <a:r>
              <a:rPr lang="en-US" dirty="0" err="1"/>
              <a:t>atributos</a:t>
            </a:r>
            <a:r>
              <a:rPr lang="en-US" dirty="0"/>
              <a:t>, </a:t>
            </a:r>
          </a:p>
          <a:p>
            <a:pPr lvl="1">
              <a:buFont typeface="Wingdings" panose="05000000000000000000" pitchFamily="2" charset="2"/>
              <a:buChar char="§"/>
            </a:pPr>
            <a:r>
              <a:rPr lang="en-US" dirty="0" err="1"/>
              <a:t>Codificação</a:t>
            </a:r>
            <a:r>
              <a:rPr lang="en-US" dirty="0"/>
              <a:t> de </a:t>
            </a:r>
            <a:r>
              <a:rPr lang="en-US" dirty="0" err="1"/>
              <a:t>atributos</a:t>
            </a:r>
            <a:r>
              <a:rPr lang="en-US" dirty="0"/>
              <a:t>, </a:t>
            </a:r>
          </a:p>
          <a:p>
            <a:pPr lvl="1">
              <a:buFont typeface="Wingdings" panose="05000000000000000000" pitchFamily="2" charset="2"/>
              <a:buChar char="§"/>
            </a:pPr>
            <a:r>
              <a:rPr lang="en-US" dirty="0" err="1"/>
              <a:t>Engenharia</a:t>
            </a:r>
            <a:r>
              <a:rPr lang="en-US" dirty="0"/>
              <a:t> de </a:t>
            </a:r>
            <a:r>
              <a:rPr lang="en-US" dirty="0" err="1"/>
              <a:t>atributos</a:t>
            </a:r>
            <a:r>
              <a:rPr lang="en-US" dirty="0"/>
              <a:t>, </a:t>
            </a:r>
          </a:p>
          <a:p>
            <a:pPr lvl="1">
              <a:buFont typeface="Wingdings" panose="05000000000000000000" pitchFamily="2" charset="2"/>
              <a:buChar char="§"/>
            </a:pPr>
            <a:r>
              <a:rPr lang="en-US" dirty="0" err="1"/>
              <a:t>Seleção</a:t>
            </a:r>
            <a:r>
              <a:rPr lang="en-US" dirty="0"/>
              <a:t> de </a:t>
            </a:r>
            <a:r>
              <a:rPr lang="en-US" dirty="0" err="1"/>
              <a:t>atribuitos</a:t>
            </a:r>
            <a:r>
              <a:rPr lang="en-US" dirty="0"/>
              <a:t>,</a:t>
            </a:r>
          </a:p>
          <a:p>
            <a:pPr lvl="1">
              <a:buFont typeface="Wingdings" panose="05000000000000000000" pitchFamily="2" charset="2"/>
              <a:buChar char="§"/>
            </a:pPr>
            <a:r>
              <a:rPr lang="en-US" dirty="0" err="1"/>
              <a:t>Redução</a:t>
            </a:r>
            <a:r>
              <a:rPr lang="en-US" dirty="0"/>
              <a:t> de </a:t>
            </a:r>
            <a:r>
              <a:rPr lang="en-US" dirty="0" err="1"/>
              <a:t>dimensionalidade</a:t>
            </a:r>
            <a:r>
              <a:rPr lang="en-US" dirty="0"/>
              <a:t> dos dados,</a:t>
            </a:r>
          </a:p>
          <a:p>
            <a:pPr lvl="1">
              <a:buFont typeface="Wingdings" panose="05000000000000000000" pitchFamily="2" charset="2"/>
              <a:buChar char="§"/>
            </a:pPr>
            <a:r>
              <a:rPr lang="en-US" dirty="0" err="1"/>
              <a:t>Divisão</a:t>
            </a:r>
            <a:r>
              <a:rPr lang="en-US" dirty="0"/>
              <a:t> do </a:t>
            </a:r>
            <a:r>
              <a:rPr lang="en-US" i="1" dirty="0"/>
              <a:t>dataset</a:t>
            </a:r>
            <a:r>
              <a:rPr lang="en-US" dirty="0"/>
              <a:t>.</a:t>
            </a:r>
          </a:p>
        </p:txBody>
      </p:sp>
    </p:spTree>
    <p:extLst>
      <p:ext uri="{BB962C8B-B14F-4D97-AF65-F5344CB8AC3E}">
        <p14:creationId xmlns:p14="http://schemas.microsoft.com/office/powerpoint/2010/main" val="20784831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55A6E-1BBE-1B2F-EFA7-34BD6DADFF31}"/>
              </a:ext>
            </a:extLst>
          </p:cNvPr>
          <p:cNvSpPr>
            <a:spLocks noGrp="1"/>
          </p:cNvSpPr>
          <p:nvPr>
            <p:ph type="title"/>
          </p:nvPr>
        </p:nvSpPr>
        <p:spPr/>
        <p:txBody>
          <a:bodyPr/>
          <a:lstStyle/>
          <a:p>
            <a:r>
              <a:rPr lang="en-US" dirty="0" err="1"/>
              <a:t>Escalonamento</a:t>
            </a:r>
            <a:r>
              <a:rPr lang="en-US" dirty="0"/>
              <a:t> de </a:t>
            </a:r>
            <a:r>
              <a:rPr lang="en-US" dirty="0" err="1"/>
              <a:t>atributos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8F56E1-39E7-4262-76D8-430FD829E766}"/>
                  </a:ext>
                </a:extLst>
              </p:cNvPr>
              <p:cNvSpPr>
                <a:spLocks noGrp="1"/>
              </p:cNvSpPr>
              <p:nvPr>
                <p:ph idx="1"/>
              </p:nvPr>
            </p:nvSpPr>
            <p:spPr>
              <a:xfrm>
                <a:off x="5314950" y="1825624"/>
                <a:ext cx="6681108" cy="5032375"/>
              </a:xfrm>
            </p:spPr>
            <p:txBody>
              <a:bodyPr>
                <a:normAutofit/>
              </a:bodyPr>
              <a:lstStyle/>
              <a:p>
                <a:r>
                  <a:rPr lang="pt-BR" dirty="0"/>
                  <a:t>Precisamos colocar todos os dados na mesma régua (i.e., </a:t>
                </a:r>
                <a:r>
                  <a:rPr lang="pt-BR" b="1" dirty="0"/>
                  <a:t>escala</a:t>
                </a:r>
                <a:r>
                  <a:rPr lang="pt-BR" dirty="0"/>
                  <a:t>).</a:t>
                </a:r>
              </a:p>
              <a:p>
                <a:r>
                  <a:rPr lang="pt-BR" dirty="0"/>
                  <a:t>Imaginem criar um modelo para a previsão do preço de casas.</a:t>
                </a:r>
              </a:p>
              <a:p>
                <a:pPr lvl="1">
                  <a:buFont typeface="Wingdings" panose="05000000000000000000" pitchFamily="2" charset="2"/>
                  <a:buChar char="§"/>
                </a:pPr>
                <a:r>
                  <a:rPr lang="pt-BR" dirty="0"/>
                  <a:t>Atributo A: Número de quartos (1 a 5).</a:t>
                </a:r>
              </a:p>
              <a:p>
                <a:pPr lvl="1">
                  <a:buFont typeface="Wingdings" panose="05000000000000000000" pitchFamily="2" charset="2"/>
                  <a:buChar char="§"/>
                </a:pPr>
                <a:r>
                  <a:rPr lang="pt-BR" dirty="0"/>
                  <a:t>Atributo B: Área em </a:t>
                </a:r>
                <a14:m>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𝑚</m:t>
                        </m:r>
                      </m:e>
                      <m:sup>
                        <m:r>
                          <a:rPr lang="pt-BR" b="0" i="1" smtClean="0">
                            <a:latin typeface="Cambria Math" panose="02040503050406030204" pitchFamily="18" charset="0"/>
                          </a:rPr>
                          <m:t>2</m:t>
                        </m:r>
                      </m:sup>
                    </m:sSup>
                  </m:oMath>
                </a14:m>
                <a:r>
                  <a:rPr lang="pt-BR" dirty="0"/>
                  <a:t> (40 a 500).</a:t>
                </a:r>
              </a:p>
              <a:p>
                <a:r>
                  <a:rPr lang="pt-BR" dirty="0"/>
                  <a:t>Para o modelo, 1 quarto é igual a 1 </a:t>
                </a:r>
                <a14:m>
                  <m:oMath xmlns:m="http://schemas.openxmlformats.org/officeDocument/2006/math">
                    <m:sSup>
                      <m:sSupPr>
                        <m:ctrlPr>
                          <a:rPr lang="pt-BR" i="1">
                            <a:latin typeface="Cambria Math" panose="02040503050406030204" pitchFamily="18" charset="0"/>
                          </a:rPr>
                        </m:ctrlPr>
                      </m:sSupPr>
                      <m:e>
                        <m:r>
                          <a:rPr lang="pt-BR" i="1">
                            <a:latin typeface="Cambria Math" panose="02040503050406030204" pitchFamily="18" charset="0"/>
                          </a:rPr>
                          <m:t>𝑚</m:t>
                        </m:r>
                      </m:e>
                      <m:sup>
                        <m:r>
                          <a:rPr lang="pt-BR" i="1">
                            <a:latin typeface="Cambria Math" panose="02040503050406030204" pitchFamily="18" charset="0"/>
                          </a:rPr>
                          <m:t>2</m:t>
                        </m:r>
                      </m:sup>
                    </m:sSup>
                  </m:oMath>
                </a14:m>
                <a:r>
                  <a:rPr lang="pt-BR" dirty="0"/>
                  <a:t>.</a:t>
                </a:r>
              </a:p>
              <a:p>
                <a:pPr lvl="1">
                  <a:buFont typeface="Wingdings" panose="05000000000000000000" pitchFamily="2" charset="2"/>
                  <a:buChar char="§"/>
                </a:pPr>
                <a:r>
                  <a:rPr lang="pt-BR" dirty="0"/>
                  <a:t>Os modelos não conhecem as unidades do mundo real, eles conhecem apenas números!</a:t>
                </a:r>
              </a:p>
            </p:txBody>
          </p:sp>
        </mc:Choice>
        <mc:Fallback xmlns="">
          <p:sp>
            <p:nvSpPr>
              <p:cNvPr id="3" name="Content Placeholder 2">
                <a:extLst>
                  <a:ext uri="{FF2B5EF4-FFF2-40B4-BE49-F238E27FC236}">
                    <a16:creationId xmlns:a16="http://schemas.microsoft.com/office/drawing/2014/main" id="{8E8F56E1-39E7-4262-76D8-430FD829E766}"/>
                  </a:ext>
                </a:extLst>
              </p:cNvPr>
              <p:cNvSpPr>
                <a:spLocks noGrp="1" noRot="1" noChangeAspect="1" noMove="1" noResize="1" noEditPoints="1" noAdjustHandles="1" noChangeArrowheads="1" noChangeShapeType="1" noTextEdit="1"/>
              </p:cNvSpPr>
              <p:nvPr>
                <p:ph idx="1"/>
              </p:nvPr>
            </p:nvSpPr>
            <p:spPr>
              <a:xfrm>
                <a:off x="5314950" y="1825624"/>
                <a:ext cx="6681108" cy="5032375"/>
              </a:xfrm>
              <a:blipFill>
                <a:blip r:embed="rId3"/>
                <a:stretch>
                  <a:fillRect l="-1642" t="-1937" r="-1734"/>
                </a:stretch>
              </a:blipFill>
            </p:spPr>
            <p:txBody>
              <a:bodyPr/>
              <a:lstStyle/>
              <a:p>
                <a:r>
                  <a:rPr lang="en-US">
                    <a:noFill/>
                  </a:rPr>
                  <a:t> </a:t>
                </a:r>
              </a:p>
            </p:txBody>
          </p:sp>
        </mc:Fallback>
      </mc:AlternateContent>
      <p:pic>
        <p:nvPicPr>
          <p:cNvPr id="4098" name="Picture 2" descr="All about Feature Scaling | Towards Data Science">
            <a:extLst>
              <a:ext uri="{FF2B5EF4-FFF2-40B4-BE49-F238E27FC236}">
                <a16:creationId xmlns:a16="http://schemas.microsoft.com/office/drawing/2014/main" id="{E9F4CF00-3351-2EA1-5BB3-94F874A657C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947" t="19206" r="23305" b="15555"/>
          <a:stretch>
            <a:fillRect/>
          </a:stretch>
        </p:blipFill>
        <p:spPr bwMode="auto">
          <a:xfrm>
            <a:off x="293913" y="2038577"/>
            <a:ext cx="4855991" cy="38505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58847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E7226-7B42-3182-D8AB-53A5644A3D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A1BEE6-4EE6-2F0F-46BF-CB428A23F7D1}"/>
              </a:ext>
            </a:extLst>
          </p:cNvPr>
          <p:cNvSpPr>
            <a:spLocks noGrp="1"/>
          </p:cNvSpPr>
          <p:nvPr>
            <p:ph type="title"/>
          </p:nvPr>
        </p:nvSpPr>
        <p:spPr/>
        <p:txBody>
          <a:bodyPr/>
          <a:lstStyle/>
          <a:p>
            <a:r>
              <a:rPr lang="en-US" dirty="0" err="1"/>
              <a:t>Escalonamento</a:t>
            </a:r>
            <a:r>
              <a:rPr lang="en-US" dirty="0"/>
              <a:t> de </a:t>
            </a:r>
            <a:r>
              <a:rPr lang="en-US" dirty="0" err="1"/>
              <a:t>atributos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3CB23DF-6C9E-C6A9-F0A3-434E8D55B692}"/>
                  </a:ext>
                </a:extLst>
              </p:cNvPr>
              <p:cNvSpPr>
                <a:spLocks noGrp="1"/>
              </p:cNvSpPr>
              <p:nvPr>
                <p:ph idx="1"/>
              </p:nvPr>
            </p:nvSpPr>
            <p:spPr>
              <a:xfrm>
                <a:off x="6705601" y="1825624"/>
                <a:ext cx="5246914" cy="5032375"/>
              </a:xfrm>
            </p:spPr>
            <p:txBody>
              <a:bodyPr>
                <a:normAutofit lnSpcReduction="10000"/>
              </a:bodyPr>
              <a:lstStyle/>
              <a:p>
                <a:r>
                  <a:rPr lang="pt-BR" dirty="0"/>
                  <a:t>Precisamos colocar todos os dados na mesma régua (i.e., </a:t>
                </a:r>
                <a:r>
                  <a:rPr lang="pt-BR" b="1" dirty="0"/>
                  <a:t>escala</a:t>
                </a:r>
                <a:r>
                  <a:rPr lang="pt-BR" dirty="0"/>
                  <a:t>).</a:t>
                </a:r>
              </a:p>
              <a:p>
                <a:r>
                  <a:rPr lang="pt-BR" dirty="0"/>
                  <a:t>Imaginem criar um modelo para a previsão do preço de casas.</a:t>
                </a:r>
              </a:p>
              <a:p>
                <a:pPr lvl="1">
                  <a:buFont typeface="Wingdings" panose="05000000000000000000" pitchFamily="2" charset="2"/>
                  <a:buChar char="§"/>
                </a:pPr>
                <a:r>
                  <a:rPr lang="pt-BR" dirty="0"/>
                  <a:t>Atributo A: Número de quartos (1 a 5).</a:t>
                </a:r>
              </a:p>
              <a:p>
                <a:pPr lvl="1">
                  <a:buFont typeface="Wingdings" panose="05000000000000000000" pitchFamily="2" charset="2"/>
                  <a:buChar char="§"/>
                </a:pPr>
                <a:r>
                  <a:rPr lang="pt-BR" dirty="0"/>
                  <a:t>Atributo B: Área em </a:t>
                </a:r>
                <a14:m>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𝑚</m:t>
                        </m:r>
                      </m:e>
                      <m:sup>
                        <m:r>
                          <a:rPr lang="pt-BR" b="0" i="1" smtClean="0">
                            <a:latin typeface="Cambria Math" panose="02040503050406030204" pitchFamily="18" charset="0"/>
                          </a:rPr>
                          <m:t>2</m:t>
                        </m:r>
                      </m:sup>
                    </m:sSup>
                  </m:oMath>
                </a14:m>
                <a:r>
                  <a:rPr lang="pt-BR" dirty="0"/>
                  <a:t> (40 a 500).</a:t>
                </a:r>
              </a:p>
              <a:p>
                <a:r>
                  <a:rPr lang="pt-BR" dirty="0"/>
                  <a:t>Para o modelo, 1 quarto é igual a 1 </a:t>
                </a:r>
                <a14:m>
                  <m:oMath xmlns:m="http://schemas.openxmlformats.org/officeDocument/2006/math">
                    <m:sSup>
                      <m:sSupPr>
                        <m:ctrlPr>
                          <a:rPr lang="pt-BR" i="1">
                            <a:latin typeface="Cambria Math" panose="02040503050406030204" pitchFamily="18" charset="0"/>
                          </a:rPr>
                        </m:ctrlPr>
                      </m:sSupPr>
                      <m:e>
                        <m:r>
                          <a:rPr lang="pt-BR" i="1">
                            <a:latin typeface="Cambria Math" panose="02040503050406030204" pitchFamily="18" charset="0"/>
                          </a:rPr>
                          <m:t>𝑚</m:t>
                        </m:r>
                      </m:e>
                      <m:sup>
                        <m:r>
                          <a:rPr lang="pt-BR" i="1">
                            <a:latin typeface="Cambria Math" panose="02040503050406030204" pitchFamily="18" charset="0"/>
                          </a:rPr>
                          <m:t>2</m:t>
                        </m:r>
                      </m:sup>
                    </m:sSup>
                  </m:oMath>
                </a14:m>
                <a:r>
                  <a:rPr lang="pt-BR" dirty="0"/>
                  <a:t>.</a:t>
                </a:r>
              </a:p>
              <a:p>
                <a:pPr lvl="1">
                  <a:buFont typeface="Wingdings" panose="05000000000000000000" pitchFamily="2" charset="2"/>
                  <a:buChar char="§"/>
                </a:pPr>
                <a:r>
                  <a:rPr lang="pt-BR" dirty="0"/>
                  <a:t>Os modelos não conhecem as unidades do mundo real, eles conhecem apenas números!</a:t>
                </a:r>
              </a:p>
            </p:txBody>
          </p:sp>
        </mc:Choice>
        <mc:Fallback xmlns="">
          <p:sp>
            <p:nvSpPr>
              <p:cNvPr id="3" name="Content Placeholder 2">
                <a:extLst>
                  <a:ext uri="{FF2B5EF4-FFF2-40B4-BE49-F238E27FC236}">
                    <a16:creationId xmlns:a16="http://schemas.microsoft.com/office/drawing/2014/main" id="{B3CB23DF-6C9E-C6A9-F0A3-434E8D55B692}"/>
                  </a:ext>
                </a:extLst>
              </p:cNvPr>
              <p:cNvSpPr>
                <a:spLocks noGrp="1" noRot="1" noChangeAspect="1" noMove="1" noResize="1" noEditPoints="1" noAdjustHandles="1" noChangeArrowheads="1" noChangeShapeType="1" noTextEdit="1"/>
              </p:cNvSpPr>
              <p:nvPr>
                <p:ph idx="1"/>
              </p:nvPr>
            </p:nvSpPr>
            <p:spPr>
              <a:xfrm>
                <a:off x="6705601" y="1825624"/>
                <a:ext cx="5246914" cy="5032375"/>
              </a:xfrm>
              <a:blipFill>
                <a:blip r:embed="rId3"/>
                <a:stretch>
                  <a:fillRect l="-2091" t="-2663" r="-2787"/>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2E228E2A-3289-7CEE-B490-080A4F44354B}"/>
              </a:ext>
            </a:extLst>
          </p:cNvPr>
          <p:cNvPicPr>
            <a:picLocks noChangeAspect="1"/>
          </p:cNvPicPr>
          <p:nvPr/>
        </p:nvPicPr>
        <p:blipFill>
          <a:blip r:embed="rId4">
            <a:extLst>
              <a:ext uri="{28A0092B-C50C-407E-A947-70E740481C1C}">
                <a14:useLocalDpi xmlns:a14="http://schemas.microsoft.com/office/drawing/2010/main" val="0"/>
              </a:ext>
            </a:extLst>
          </a:blip>
          <a:srcRect t="10223"/>
          <a:stretch>
            <a:fillRect/>
          </a:stretch>
        </p:blipFill>
        <p:spPr>
          <a:xfrm>
            <a:off x="108857" y="2384466"/>
            <a:ext cx="6512302" cy="3189020"/>
          </a:xfrm>
          <a:prstGeom prst="rect">
            <a:avLst/>
          </a:prstGeom>
        </p:spPr>
      </p:pic>
    </p:spTree>
    <p:extLst>
      <p:ext uri="{BB962C8B-B14F-4D97-AF65-F5344CB8AC3E}">
        <p14:creationId xmlns:p14="http://schemas.microsoft.com/office/powerpoint/2010/main" val="7311857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93B732-FD8C-AC6A-90A0-C71B105F5566}"/>
              </a:ext>
            </a:extLst>
          </p:cNvPr>
          <p:cNvSpPr>
            <a:spLocks noGrp="1"/>
          </p:cNvSpPr>
          <p:nvPr>
            <p:ph type="title"/>
          </p:nvPr>
        </p:nvSpPr>
        <p:spPr/>
        <p:txBody>
          <a:bodyPr/>
          <a:lstStyle/>
          <a:p>
            <a:r>
              <a:rPr lang="pt-BR" dirty="0"/>
              <a:t>Por que escalonar os</a:t>
            </a:r>
            <a:r>
              <a:rPr lang="en-US" dirty="0"/>
              <a:t> </a:t>
            </a:r>
            <a:r>
              <a:rPr lang="en-US" dirty="0" err="1"/>
              <a:t>atributos</a:t>
            </a:r>
            <a:r>
              <a:rPr lang="en-US" dirty="0"/>
              <a:t>?</a:t>
            </a:r>
          </a:p>
        </p:txBody>
      </p:sp>
      <p:sp>
        <p:nvSpPr>
          <p:cNvPr id="3" name="Content Placeholder 2">
            <a:extLst>
              <a:ext uri="{FF2B5EF4-FFF2-40B4-BE49-F238E27FC236}">
                <a16:creationId xmlns:a16="http://schemas.microsoft.com/office/drawing/2014/main" id="{637ED040-A025-7A5E-ECF6-6400B7A21C47}"/>
              </a:ext>
            </a:extLst>
          </p:cNvPr>
          <p:cNvSpPr>
            <a:spLocks noGrp="1"/>
          </p:cNvSpPr>
          <p:nvPr>
            <p:ph idx="1"/>
          </p:nvPr>
        </p:nvSpPr>
        <p:spPr>
          <a:xfrm>
            <a:off x="5497285" y="1825624"/>
            <a:ext cx="6498771" cy="5032375"/>
          </a:xfrm>
        </p:spPr>
        <p:txBody>
          <a:bodyPr>
            <a:normAutofit/>
          </a:bodyPr>
          <a:lstStyle/>
          <a:p>
            <a:r>
              <a:rPr lang="pt-BR" dirty="0"/>
              <a:t>Modelos de ML baseados em </a:t>
            </a:r>
            <a:r>
              <a:rPr lang="pt-BR" b="1" dirty="0"/>
              <a:t>distância</a:t>
            </a:r>
            <a:r>
              <a:rPr lang="pt-BR" dirty="0"/>
              <a:t> (e.g., KNN, SVM, PCA) ou </a:t>
            </a:r>
            <a:r>
              <a:rPr lang="pt-BR" b="1" dirty="0"/>
              <a:t>gradiente</a:t>
            </a:r>
            <a:r>
              <a:rPr lang="pt-BR" dirty="0"/>
              <a:t> (e.g., regressão linear/logística, redes neurais) são sensíveis à escala dos atributos.</a:t>
            </a:r>
          </a:p>
          <a:p>
            <a:r>
              <a:rPr lang="pt-BR" dirty="0"/>
              <a:t>Atributos com escala muito maior influenciam muito mais a previsão dos modelos do que atributos com escala menor.</a:t>
            </a:r>
          </a:p>
          <a:p>
            <a:pPr lvl="1">
              <a:buFont typeface="Wingdings" panose="05000000000000000000" pitchFamily="2" charset="2"/>
              <a:buChar char="§"/>
            </a:pPr>
            <a:r>
              <a:rPr lang="pt-BR" dirty="0"/>
              <a:t>No exemplo da previsão do preço de casas, o modelo ignoraria os quartos e focaria só na área.</a:t>
            </a:r>
          </a:p>
        </p:txBody>
      </p:sp>
      <p:pic>
        <p:nvPicPr>
          <p:cNvPr id="5122" name="Picture 2" descr="Why Feature Scaling Is Essential in Machine Learning | by Jack Ka-Chun, Yu  | Learning Data | Medium">
            <a:extLst>
              <a:ext uri="{FF2B5EF4-FFF2-40B4-BE49-F238E27FC236}">
                <a16:creationId xmlns:a16="http://schemas.microsoft.com/office/drawing/2014/main" id="{99B43FBF-4616-53AA-030A-E722F67C4B4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90" t="6667" r="7461" b="9682"/>
          <a:stretch>
            <a:fillRect/>
          </a:stretch>
        </p:blipFill>
        <p:spPr bwMode="auto">
          <a:xfrm>
            <a:off x="620486" y="1919287"/>
            <a:ext cx="4561114" cy="44185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650516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1FC5D-6FEC-A156-FC5A-F69925275B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BCAF9A-32DA-5822-59B2-8972B59B9FCF}"/>
              </a:ext>
            </a:extLst>
          </p:cNvPr>
          <p:cNvSpPr>
            <a:spLocks noGrp="1"/>
          </p:cNvSpPr>
          <p:nvPr>
            <p:ph type="title"/>
          </p:nvPr>
        </p:nvSpPr>
        <p:spPr/>
        <p:txBody>
          <a:bodyPr/>
          <a:lstStyle/>
          <a:p>
            <a:r>
              <a:rPr lang="pt-BR" dirty="0"/>
              <a:t>Por que escalonar os</a:t>
            </a:r>
            <a:r>
              <a:rPr lang="en-US" dirty="0"/>
              <a:t> </a:t>
            </a:r>
            <a:r>
              <a:rPr lang="en-US" dirty="0" err="1"/>
              <a:t>atributos</a:t>
            </a:r>
            <a:r>
              <a:rPr lang="en-US" dirty="0"/>
              <a:t>?</a:t>
            </a:r>
          </a:p>
        </p:txBody>
      </p:sp>
      <p:sp>
        <p:nvSpPr>
          <p:cNvPr id="3" name="Content Placeholder 2">
            <a:extLst>
              <a:ext uri="{FF2B5EF4-FFF2-40B4-BE49-F238E27FC236}">
                <a16:creationId xmlns:a16="http://schemas.microsoft.com/office/drawing/2014/main" id="{BF6B24C7-41C3-6780-C1B8-EBBB5A57F866}"/>
              </a:ext>
            </a:extLst>
          </p:cNvPr>
          <p:cNvSpPr>
            <a:spLocks noGrp="1"/>
          </p:cNvSpPr>
          <p:nvPr>
            <p:ph idx="1"/>
          </p:nvPr>
        </p:nvSpPr>
        <p:spPr>
          <a:xfrm>
            <a:off x="5464629" y="1825624"/>
            <a:ext cx="6542314" cy="5032375"/>
          </a:xfrm>
        </p:spPr>
        <p:txBody>
          <a:bodyPr>
            <a:normAutofit/>
          </a:bodyPr>
          <a:lstStyle/>
          <a:p>
            <a:r>
              <a:rPr lang="pt-BR" dirty="0"/>
              <a:t>Mas e se todos os atributos são importantes para a previsão do modelo?</a:t>
            </a:r>
          </a:p>
          <a:p>
            <a:r>
              <a:rPr lang="pt-BR" dirty="0"/>
              <a:t>O escalonamento iguala a influência dos atributos no modelo.</a:t>
            </a:r>
          </a:p>
          <a:p>
            <a:r>
              <a:rPr lang="pt-BR" dirty="0"/>
              <a:t>Escalonamento transforma valores de atributos para uma mesma escala, geralmente sem unidade definida.</a:t>
            </a:r>
          </a:p>
          <a:p>
            <a:r>
              <a:rPr lang="pt-BR" dirty="0"/>
              <a:t>Principais técnicas de escalonamento:</a:t>
            </a:r>
          </a:p>
          <a:p>
            <a:pPr lvl="1">
              <a:buFont typeface="Wingdings" panose="05000000000000000000" pitchFamily="2" charset="2"/>
              <a:buChar char="§"/>
            </a:pPr>
            <a:r>
              <a:rPr lang="pt-BR" dirty="0"/>
              <a:t>Padronização</a:t>
            </a:r>
          </a:p>
          <a:p>
            <a:pPr lvl="1">
              <a:buFont typeface="Wingdings" panose="05000000000000000000" pitchFamily="2" charset="2"/>
              <a:buChar char="§"/>
            </a:pPr>
            <a:r>
              <a:rPr lang="pt-BR" dirty="0"/>
              <a:t>Normalização</a:t>
            </a:r>
          </a:p>
          <a:p>
            <a:pPr lvl="1">
              <a:buFont typeface="Wingdings" panose="05000000000000000000" pitchFamily="2" charset="2"/>
              <a:buChar char="§"/>
            </a:pPr>
            <a:r>
              <a:rPr lang="pt-BR" dirty="0"/>
              <a:t>Escalonamento robusto</a:t>
            </a:r>
          </a:p>
          <a:p>
            <a:pPr lvl="1"/>
            <a:endParaRPr lang="pt-BR" b="1" dirty="0"/>
          </a:p>
        </p:txBody>
      </p:sp>
      <p:pic>
        <p:nvPicPr>
          <p:cNvPr id="4" name="Picture 2" descr="Why Feature Scaling Is Essential in Machine Learning | by Jack Ka-Chun, Yu  | Learning Data | Medium">
            <a:extLst>
              <a:ext uri="{FF2B5EF4-FFF2-40B4-BE49-F238E27FC236}">
                <a16:creationId xmlns:a16="http://schemas.microsoft.com/office/drawing/2014/main" id="{BB65CFC1-6B1D-D444-7DAB-75B58C5A828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90" t="6667" r="7461" b="9682"/>
          <a:stretch>
            <a:fillRect/>
          </a:stretch>
        </p:blipFill>
        <p:spPr bwMode="auto">
          <a:xfrm>
            <a:off x="620486" y="1919287"/>
            <a:ext cx="4561114" cy="44185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59833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BE4DD6-C949-62F0-7FF2-D821C5B36B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30504D-CF81-0763-876C-200B893A15F3}"/>
              </a:ext>
            </a:extLst>
          </p:cNvPr>
          <p:cNvSpPr>
            <a:spLocks noGrp="1"/>
          </p:cNvSpPr>
          <p:nvPr>
            <p:ph type="title"/>
          </p:nvPr>
        </p:nvSpPr>
        <p:spPr/>
        <p:txBody>
          <a:bodyPr/>
          <a:lstStyle/>
          <a:p>
            <a:r>
              <a:rPr lang="en-US" dirty="0" err="1"/>
              <a:t>Normalização</a:t>
            </a:r>
            <a:r>
              <a:rPr lang="en-US" dirty="0"/>
              <a:t> (Min-Max Scaling)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1AE468C-2D90-73D6-314C-18370D8F7415}"/>
                  </a:ext>
                </a:extLst>
              </p:cNvPr>
              <p:cNvSpPr>
                <a:spLocks noGrp="1"/>
              </p:cNvSpPr>
              <p:nvPr>
                <p:ph idx="1"/>
              </p:nvPr>
            </p:nvSpPr>
            <p:spPr>
              <a:xfrm>
                <a:off x="838199" y="1825624"/>
                <a:ext cx="11179630" cy="5032375"/>
              </a:xfrm>
            </p:spPr>
            <p:txBody>
              <a:bodyPr>
                <a:normAutofit/>
              </a:bodyPr>
              <a:lstStyle/>
              <a:p>
                <a:r>
                  <a:rPr lang="pt-BR" b="1" dirty="0"/>
                  <a:t>Como funciona</a:t>
                </a:r>
                <a:r>
                  <a:rPr lang="pt-BR" dirty="0"/>
                  <a:t>: Transforma todos os valores numéricos para uma escala fixa, geralmente entre 0 e 1.</a:t>
                </a:r>
                <a:endParaRPr lang="pt-BR" b="1" dirty="0"/>
              </a:p>
              <a:p>
                <a:r>
                  <a:rPr lang="pt-BR" b="1" dirty="0"/>
                  <a:t>Fórmula:</a:t>
                </a:r>
              </a:p>
              <a:p>
                <a:pPr marL="0" indent="0" algn="ctr">
                  <a:buNone/>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m:t>
                          </m:r>
                        </m:sup>
                      </m:sSup>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𝑥</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𝑚𝑖𝑛</m:t>
                              </m:r>
                            </m:sub>
                          </m:sSub>
                        </m:num>
                        <m:den>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m:t>
                              </m:r>
                              <m:r>
                                <a:rPr lang="pt-BR" b="0" i="1" smtClean="0">
                                  <a:latin typeface="Cambria Math" panose="02040503050406030204" pitchFamily="18" charset="0"/>
                                </a:rPr>
                                <m:t>𝑎𝑥</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𝑚𝑖𝑛</m:t>
                              </m:r>
                            </m:sub>
                          </m:sSub>
                        </m:den>
                      </m:f>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[0, 1],</m:t>
                      </m:r>
                    </m:oMath>
                  </m:oMathPara>
                </a14:m>
                <a:endParaRPr lang="pt-BR" b="0" dirty="0"/>
              </a:p>
              <a:p>
                <a:pPr marL="0" indent="0">
                  <a:buNone/>
                </a:pPr>
                <a:r>
                  <a:rPr lang="pt-BR" dirty="0"/>
                  <a:t>onde </a:t>
                </a:r>
                <a14:m>
                  <m:oMath xmlns:m="http://schemas.openxmlformats.org/officeDocument/2006/math">
                    <m:r>
                      <a:rPr lang="pt-BR" i="1">
                        <a:latin typeface="Cambria Math" panose="02040503050406030204" pitchFamily="18" charset="0"/>
                      </a:rPr>
                      <m:t>𝑥</m:t>
                    </m:r>
                  </m:oMath>
                </a14:m>
                <a:r>
                  <a:rPr lang="pt-BR" dirty="0"/>
                  <a:t> é o valor original,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𝑚𝑖𝑛</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m:t>
                        </m:r>
                        <m:r>
                          <a:rPr lang="pt-BR" b="0" i="1" smtClean="0">
                            <a:latin typeface="Cambria Math" panose="02040503050406030204" pitchFamily="18" charset="0"/>
                          </a:rPr>
                          <m:t>𝑎𝑥</m:t>
                        </m:r>
                      </m:sub>
                    </m:sSub>
                  </m:oMath>
                </a14:m>
                <a:r>
                  <a:rPr lang="pt-BR" dirty="0"/>
                  <a:t> são os valores mínimo e máximo de uma coluna (i.e., atributo).</a:t>
                </a:r>
              </a:p>
            </p:txBody>
          </p:sp>
        </mc:Choice>
        <mc:Fallback xmlns="">
          <p:sp>
            <p:nvSpPr>
              <p:cNvPr id="3" name="Content Placeholder 2">
                <a:extLst>
                  <a:ext uri="{FF2B5EF4-FFF2-40B4-BE49-F238E27FC236}">
                    <a16:creationId xmlns:a16="http://schemas.microsoft.com/office/drawing/2014/main" id="{D1AE468C-2D90-73D6-314C-18370D8F7415}"/>
                  </a:ext>
                </a:extLst>
              </p:cNvPr>
              <p:cNvSpPr>
                <a:spLocks noGrp="1" noRot="1" noChangeAspect="1" noMove="1" noResize="1" noEditPoints="1" noAdjustHandles="1" noChangeArrowheads="1" noChangeShapeType="1" noTextEdit="1"/>
              </p:cNvSpPr>
              <p:nvPr>
                <p:ph idx="1"/>
              </p:nvPr>
            </p:nvSpPr>
            <p:spPr>
              <a:xfrm>
                <a:off x="838199" y="1825624"/>
                <a:ext cx="11179630" cy="5032375"/>
              </a:xfrm>
              <a:blipFill>
                <a:blip r:embed="rId3"/>
                <a:stretch>
                  <a:fillRect l="-1091" t="-1937"/>
                </a:stretch>
              </a:blipFill>
            </p:spPr>
            <p:txBody>
              <a:bodyPr/>
              <a:lstStyle/>
              <a:p>
                <a:r>
                  <a:rPr lang="en-US">
                    <a:noFill/>
                  </a:rPr>
                  <a:t> </a:t>
                </a:r>
              </a:p>
            </p:txBody>
          </p:sp>
        </mc:Fallback>
      </mc:AlternateContent>
    </p:spTree>
    <p:extLst>
      <p:ext uri="{BB962C8B-B14F-4D97-AF65-F5344CB8AC3E}">
        <p14:creationId xmlns:p14="http://schemas.microsoft.com/office/powerpoint/2010/main" val="10230588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A9B45-E0AC-C9AE-5FD5-5497AD766E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76165C-B0D9-0375-517C-218CA055B30C}"/>
              </a:ext>
            </a:extLst>
          </p:cNvPr>
          <p:cNvSpPr>
            <a:spLocks noGrp="1"/>
          </p:cNvSpPr>
          <p:nvPr>
            <p:ph type="title"/>
          </p:nvPr>
        </p:nvSpPr>
        <p:spPr/>
        <p:txBody>
          <a:bodyPr/>
          <a:lstStyle/>
          <a:p>
            <a:r>
              <a:rPr lang="en-US" dirty="0" err="1"/>
              <a:t>Normalização</a:t>
            </a:r>
            <a:r>
              <a:rPr lang="en-US" dirty="0"/>
              <a:t> (Min-Max Scaling)</a:t>
            </a:r>
          </a:p>
        </p:txBody>
      </p:sp>
      <p:sp>
        <p:nvSpPr>
          <p:cNvPr id="3" name="Content Placeholder 2">
            <a:extLst>
              <a:ext uri="{FF2B5EF4-FFF2-40B4-BE49-F238E27FC236}">
                <a16:creationId xmlns:a16="http://schemas.microsoft.com/office/drawing/2014/main" id="{42C156B7-5901-102A-9736-A2EAAA0CF708}"/>
              </a:ext>
            </a:extLst>
          </p:cNvPr>
          <p:cNvSpPr>
            <a:spLocks noGrp="1"/>
          </p:cNvSpPr>
          <p:nvPr>
            <p:ph idx="1"/>
          </p:nvPr>
        </p:nvSpPr>
        <p:spPr>
          <a:xfrm>
            <a:off x="838199" y="1825624"/>
            <a:ext cx="11179630" cy="5032375"/>
          </a:xfrm>
        </p:spPr>
        <p:txBody>
          <a:bodyPr>
            <a:normAutofit/>
          </a:bodyPr>
          <a:lstStyle/>
          <a:p>
            <a:r>
              <a:rPr lang="pt-BR" b="1" dirty="0"/>
              <a:t>Quando usar:</a:t>
            </a:r>
            <a:r>
              <a:rPr lang="pt-BR" dirty="0"/>
              <a:t> </a:t>
            </a:r>
          </a:p>
          <a:p>
            <a:pPr lvl="1">
              <a:buFont typeface="Wingdings" panose="05000000000000000000" pitchFamily="2" charset="2"/>
              <a:buChar char="§"/>
            </a:pPr>
            <a:r>
              <a:rPr lang="pt-BR" dirty="0"/>
              <a:t>Dados sem </a:t>
            </a:r>
            <a:r>
              <a:rPr lang="pt-BR" i="1" dirty="0"/>
              <a:t>outliers</a:t>
            </a:r>
            <a:r>
              <a:rPr lang="pt-BR" dirty="0"/>
              <a:t> (analisar e remover antes), </a:t>
            </a:r>
          </a:p>
          <a:p>
            <a:pPr lvl="1">
              <a:buFont typeface="Wingdings" panose="05000000000000000000" pitchFamily="2" charset="2"/>
              <a:buChar char="§"/>
            </a:pPr>
            <a:r>
              <a:rPr lang="pt-BR" dirty="0"/>
              <a:t>com algoritmos que não pressupõem nenhuma distribuição (e.g., redes neurais, KNN) </a:t>
            </a:r>
          </a:p>
          <a:p>
            <a:pPr lvl="1">
              <a:buFont typeface="Wingdings" panose="05000000000000000000" pitchFamily="2" charset="2"/>
              <a:buChar char="§"/>
            </a:pPr>
            <a:r>
              <a:rPr lang="pt-BR" dirty="0"/>
              <a:t>e/ou que algoritmos que exigem entradas limitadas como os baseados em distância (e.g., </a:t>
            </a:r>
            <a:r>
              <a:rPr lang="en-US" dirty="0"/>
              <a:t>KNN, SVM, K-Means)</a:t>
            </a:r>
            <a:r>
              <a:rPr lang="pt-BR" dirty="0"/>
              <a:t> e gradiente (</a:t>
            </a:r>
            <a:r>
              <a:rPr lang="en-US" dirty="0"/>
              <a:t>Redes </a:t>
            </a:r>
            <a:r>
              <a:rPr lang="en-US" dirty="0" err="1"/>
              <a:t>Neurais</a:t>
            </a:r>
            <a:r>
              <a:rPr lang="en-US" dirty="0"/>
              <a:t>, </a:t>
            </a:r>
            <a:r>
              <a:rPr lang="en-US" dirty="0" err="1"/>
              <a:t>Regressões</a:t>
            </a:r>
            <a:r>
              <a:rPr lang="pt-BR" dirty="0"/>
              <a:t>).</a:t>
            </a:r>
          </a:p>
          <a:p>
            <a:r>
              <a:rPr lang="pt-BR" b="1" dirty="0"/>
              <a:t>Cuidado:</a:t>
            </a:r>
            <a:r>
              <a:rPr lang="pt-BR" dirty="0"/>
              <a:t> Muito sensível a </a:t>
            </a:r>
            <a:r>
              <a:rPr lang="pt-BR" i="1" dirty="0"/>
              <a:t>outliers. </a:t>
            </a:r>
            <a:r>
              <a:rPr lang="pt-BR" dirty="0"/>
              <a:t>Um </a:t>
            </a:r>
            <a:r>
              <a:rPr lang="pt-BR" i="1" dirty="0"/>
              <a:t>outlier</a:t>
            </a:r>
            <a:r>
              <a:rPr lang="pt-BR" dirty="0"/>
              <a:t> extremo “esmaga” todos os outros valores para um intervalo muito pequeno próximo de zero.</a:t>
            </a:r>
          </a:p>
          <a:p>
            <a:pPr lvl="1">
              <a:buFont typeface="Wingdings" panose="05000000000000000000" pitchFamily="2" charset="2"/>
              <a:buChar char="§"/>
            </a:pPr>
            <a:r>
              <a:rPr lang="pt-BR" dirty="0"/>
              <a:t>Os valores (que não são </a:t>
            </a:r>
            <a:r>
              <a:rPr lang="pt-BR" i="1" dirty="0"/>
              <a:t>outliers</a:t>
            </a:r>
            <a:r>
              <a:rPr lang="pt-BR" dirty="0"/>
              <a:t>) acabam sendo transformados em valores muito pequenos, próximos de zero, perdendo a distinção entre eles.</a:t>
            </a:r>
          </a:p>
          <a:p>
            <a:pPr lvl="1">
              <a:buFont typeface="Wingdings" panose="05000000000000000000" pitchFamily="2" charset="2"/>
              <a:buChar char="§"/>
            </a:pPr>
            <a:r>
              <a:rPr lang="pt-BR" dirty="0"/>
              <a:t>Isso reduz a eficácia do aprendizado, pois a diferença entre os valores reais é praticamente eliminada na escala normalizada. </a:t>
            </a:r>
          </a:p>
        </p:txBody>
      </p:sp>
    </p:spTree>
    <p:extLst>
      <p:ext uri="{BB962C8B-B14F-4D97-AF65-F5344CB8AC3E}">
        <p14:creationId xmlns:p14="http://schemas.microsoft.com/office/powerpoint/2010/main" val="9246743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562E0-2AE8-02FC-9DCC-C800C01951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1BB7EC-614D-E681-2988-577536743FD0}"/>
              </a:ext>
            </a:extLst>
          </p:cNvPr>
          <p:cNvSpPr>
            <a:spLocks noGrp="1"/>
          </p:cNvSpPr>
          <p:nvPr>
            <p:ph type="title"/>
          </p:nvPr>
        </p:nvSpPr>
        <p:spPr/>
        <p:txBody>
          <a:bodyPr/>
          <a:lstStyle/>
          <a:p>
            <a:r>
              <a:rPr lang="en-US" dirty="0" err="1"/>
              <a:t>Normalização</a:t>
            </a:r>
            <a:r>
              <a:rPr lang="en-US" dirty="0"/>
              <a:t> (Min-Max Scaling)</a:t>
            </a:r>
          </a:p>
        </p:txBody>
      </p:sp>
      <p:sp>
        <p:nvSpPr>
          <p:cNvPr id="3" name="Content Placeholder 2">
            <a:extLst>
              <a:ext uri="{FF2B5EF4-FFF2-40B4-BE49-F238E27FC236}">
                <a16:creationId xmlns:a16="http://schemas.microsoft.com/office/drawing/2014/main" id="{7A472B20-73AA-CEC0-1896-5F09B228AB36}"/>
              </a:ext>
            </a:extLst>
          </p:cNvPr>
          <p:cNvSpPr>
            <a:spLocks noGrp="1"/>
          </p:cNvSpPr>
          <p:nvPr>
            <p:ph idx="1"/>
          </p:nvPr>
        </p:nvSpPr>
        <p:spPr>
          <a:xfrm>
            <a:off x="838199" y="1825624"/>
            <a:ext cx="11179630" cy="5032375"/>
          </a:xfrm>
        </p:spPr>
        <p:txBody>
          <a:bodyPr>
            <a:normAutofit lnSpcReduction="10000"/>
          </a:bodyPr>
          <a:lstStyle/>
          <a:p>
            <a:pPr marL="0" indent="0">
              <a:buNone/>
            </a:pPr>
            <a:r>
              <a:rPr lang="pt-BR" dirty="0" err="1">
                <a:latin typeface="Consolas" panose="020B0609020204030204" pitchFamily="49" charset="0"/>
              </a:rPr>
              <a:t>from</a:t>
            </a:r>
            <a:r>
              <a:rPr lang="pt-BR" dirty="0">
                <a:latin typeface="Consolas" panose="020B0609020204030204" pitchFamily="49" charset="0"/>
              </a:rPr>
              <a:t> </a:t>
            </a:r>
            <a:r>
              <a:rPr lang="pt-BR" dirty="0" err="1">
                <a:latin typeface="Consolas" panose="020B0609020204030204" pitchFamily="49" charset="0"/>
              </a:rPr>
              <a:t>sklearn.preprocessing</a:t>
            </a:r>
            <a:r>
              <a:rPr lang="pt-BR" dirty="0">
                <a:latin typeface="Consolas" panose="020B0609020204030204" pitchFamily="49" charset="0"/>
              </a:rPr>
              <a:t> </a:t>
            </a:r>
            <a:r>
              <a:rPr lang="pt-BR" dirty="0" err="1">
                <a:latin typeface="Consolas" panose="020B0609020204030204" pitchFamily="49" charset="0"/>
              </a:rPr>
              <a:t>import</a:t>
            </a:r>
            <a:r>
              <a:rPr lang="pt-BR" dirty="0">
                <a:latin typeface="Consolas" panose="020B0609020204030204" pitchFamily="49" charset="0"/>
              </a:rPr>
              <a:t> </a:t>
            </a:r>
            <a:r>
              <a:rPr lang="pt-BR" dirty="0" err="1">
                <a:latin typeface="Consolas" panose="020B0609020204030204" pitchFamily="49" charset="0"/>
              </a:rPr>
              <a:t>MinMaxScaler</a:t>
            </a:r>
            <a:endParaRPr lang="pt-BR" dirty="0">
              <a:latin typeface="Consolas" panose="020B0609020204030204" pitchFamily="49" charset="0"/>
            </a:endParaRP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Instância</a:t>
            </a:r>
            <a:r>
              <a:rPr lang="en-US" i="1" dirty="0">
                <a:latin typeface="Consolas" panose="020B0609020204030204" pitchFamily="49" charset="0"/>
              </a:rPr>
              <a:t> do </a:t>
            </a:r>
            <a:r>
              <a:rPr lang="en-US" i="1" dirty="0" err="1">
                <a:latin typeface="Consolas" panose="020B0609020204030204" pitchFamily="49" charset="0"/>
              </a:rPr>
              <a:t>normalizador</a:t>
            </a:r>
            <a:r>
              <a:rPr lang="en-US" i="1" dirty="0">
                <a:latin typeface="Consolas" panose="020B0609020204030204" pitchFamily="49" charset="0"/>
              </a:rPr>
              <a:t> com </a:t>
            </a:r>
            <a:r>
              <a:rPr lang="en-US" i="1" dirty="0" err="1">
                <a:latin typeface="Consolas" panose="020B0609020204030204" pitchFamily="49" charset="0"/>
              </a:rPr>
              <a:t>intervalo</a:t>
            </a:r>
            <a:r>
              <a:rPr lang="en-US" i="1" dirty="0">
                <a:latin typeface="Consolas" panose="020B0609020204030204" pitchFamily="49" charset="0"/>
              </a:rPr>
              <a:t> de 0 a 1</a:t>
            </a:r>
          </a:p>
          <a:p>
            <a:pPr marL="0" indent="0">
              <a:buNone/>
            </a:pPr>
            <a:r>
              <a:rPr lang="en-US" dirty="0">
                <a:latin typeface="Consolas" panose="020B0609020204030204" pitchFamily="49" charset="0"/>
              </a:rPr>
              <a:t>scaler = </a:t>
            </a:r>
            <a:r>
              <a:rPr lang="pt-BR" dirty="0" err="1">
                <a:latin typeface="Consolas" panose="020B0609020204030204" pitchFamily="49" charset="0"/>
              </a:rPr>
              <a:t>MinMaxScaler</a:t>
            </a:r>
            <a:r>
              <a:rPr lang="en-US" dirty="0">
                <a:latin typeface="Consolas" panose="020B0609020204030204" pitchFamily="49" charset="0"/>
              </a:rPr>
              <a:t>(</a:t>
            </a:r>
            <a:r>
              <a:rPr lang="en-US" dirty="0" err="1">
                <a:latin typeface="Consolas" panose="020B0609020204030204" pitchFamily="49" charset="0"/>
              </a:rPr>
              <a:t>feature_range</a:t>
            </a:r>
            <a:r>
              <a:rPr lang="en-US" dirty="0">
                <a:latin typeface="Consolas" panose="020B0609020204030204" pitchFamily="49" charset="0"/>
              </a:rPr>
              <a:t>=(0, 1))</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Aprende</a:t>
            </a:r>
            <a:r>
              <a:rPr lang="en-US" i="1" dirty="0">
                <a:latin typeface="Consolas" panose="020B0609020204030204" pitchFamily="49" charset="0"/>
              </a:rPr>
              <a:t> </a:t>
            </a:r>
            <a:r>
              <a:rPr lang="en-US" i="1" dirty="0" err="1">
                <a:latin typeface="Consolas" panose="020B0609020204030204" pitchFamily="49" charset="0"/>
              </a:rPr>
              <a:t>os</a:t>
            </a:r>
            <a:r>
              <a:rPr lang="en-US" i="1" dirty="0">
                <a:latin typeface="Consolas" panose="020B0609020204030204" pitchFamily="49" charset="0"/>
              </a:rPr>
              <a:t> </a:t>
            </a:r>
            <a:r>
              <a:rPr lang="en-US" i="1" dirty="0" err="1">
                <a:latin typeface="Consolas" panose="020B0609020204030204" pitchFamily="49" charset="0"/>
              </a:rPr>
              <a:t>parâmetros</a:t>
            </a:r>
            <a:r>
              <a:rPr lang="en-US" i="1" dirty="0">
                <a:latin typeface="Consolas" panose="020B0609020204030204" pitchFamily="49" charset="0"/>
              </a:rPr>
              <a:t> de </a:t>
            </a:r>
            <a:r>
              <a:rPr lang="en-US" i="1" dirty="0" err="1">
                <a:latin typeface="Consolas" panose="020B0609020204030204" pitchFamily="49" charset="0"/>
              </a:rPr>
              <a:t>normalização</a:t>
            </a:r>
            <a:r>
              <a:rPr lang="en-US" i="1" dirty="0">
                <a:latin typeface="Consolas" panose="020B0609020204030204" pitchFamily="49" charset="0"/>
              </a:rPr>
              <a:t> no </a:t>
            </a:r>
            <a:r>
              <a:rPr lang="en-US" i="1" dirty="0" err="1">
                <a:latin typeface="Consolas" panose="020B0609020204030204" pitchFamily="49" charset="0"/>
              </a:rPr>
              <a:t>treino</a:t>
            </a:r>
            <a:endParaRPr lang="en-US" i="1" dirty="0">
              <a:latin typeface="Consolas" panose="020B0609020204030204" pitchFamily="49" charset="0"/>
            </a:endParaRPr>
          </a:p>
          <a:p>
            <a:pPr marL="0" indent="0">
              <a:buNone/>
            </a:pPr>
            <a:r>
              <a:rPr lang="en-US" dirty="0" err="1">
                <a:latin typeface="Consolas" panose="020B0609020204030204" pitchFamily="49" charset="0"/>
              </a:rPr>
              <a:t>X_scaled</a:t>
            </a:r>
            <a:r>
              <a:rPr lang="en-US" dirty="0">
                <a:latin typeface="Consolas" panose="020B0609020204030204" pitchFamily="49" charset="0"/>
              </a:rPr>
              <a:t> = </a:t>
            </a:r>
            <a:r>
              <a:rPr lang="en-US" dirty="0" err="1">
                <a:latin typeface="Consolas" panose="020B0609020204030204" pitchFamily="49" charset="0"/>
              </a:rPr>
              <a:t>scaler.fit_transform</a:t>
            </a:r>
            <a:r>
              <a:rPr lang="en-US" dirty="0">
                <a:latin typeface="Consolas" panose="020B0609020204030204" pitchFamily="49" charset="0"/>
              </a:rPr>
              <a:t>(</a:t>
            </a:r>
            <a:r>
              <a:rPr lang="en-US" dirty="0" err="1">
                <a:latin typeface="Consolas" panose="020B0609020204030204" pitchFamily="49" charset="0"/>
              </a:rPr>
              <a:t>X_train</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Aplica</a:t>
            </a:r>
            <a:r>
              <a:rPr lang="en-US" i="1" dirty="0">
                <a:latin typeface="Consolas" panose="020B0609020204030204" pitchFamily="49" charset="0"/>
              </a:rPr>
              <a:t> o scaler </a:t>
            </a:r>
            <a:r>
              <a:rPr lang="en-US" i="1" dirty="0" err="1">
                <a:latin typeface="Consolas" panose="020B0609020204030204" pitchFamily="49" charset="0"/>
              </a:rPr>
              <a:t>aprendido</a:t>
            </a:r>
            <a:r>
              <a:rPr lang="en-US" i="1" dirty="0">
                <a:latin typeface="Consolas" panose="020B0609020204030204" pitchFamily="49" charset="0"/>
              </a:rPr>
              <a:t> no teste</a:t>
            </a:r>
          </a:p>
          <a:p>
            <a:pPr marL="0" indent="0">
              <a:buNone/>
            </a:pPr>
            <a:r>
              <a:rPr lang="en-US" dirty="0" err="1">
                <a:latin typeface="Consolas" panose="020B0609020204030204" pitchFamily="49" charset="0"/>
              </a:rPr>
              <a:t>X_test_scaled</a:t>
            </a:r>
            <a:r>
              <a:rPr lang="en-US" dirty="0">
                <a:latin typeface="Consolas" panose="020B0609020204030204" pitchFamily="49" charset="0"/>
              </a:rPr>
              <a:t> = </a:t>
            </a:r>
            <a:r>
              <a:rPr lang="en-US" dirty="0" err="1">
                <a:latin typeface="Consolas" panose="020B0609020204030204" pitchFamily="49" charset="0"/>
              </a:rPr>
              <a:t>scaler.transform</a:t>
            </a:r>
            <a:r>
              <a:rPr lang="en-US" dirty="0">
                <a:latin typeface="Consolas" panose="020B0609020204030204" pitchFamily="49" charset="0"/>
              </a:rPr>
              <a:t>(</a:t>
            </a:r>
            <a:r>
              <a:rPr lang="en-US" dirty="0" err="1">
                <a:latin typeface="Consolas" panose="020B0609020204030204" pitchFamily="49" charset="0"/>
              </a:rPr>
              <a:t>X_test</a:t>
            </a:r>
            <a:r>
              <a:rPr lang="en-US" dirty="0">
                <a:latin typeface="Consolas" panose="020B0609020204030204" pitchFamily="49" charset="0"/>
              </a:rPr>
              <a:t>)</a:t>
            </a:r>
          </a:p>
          <a:p>
            <a:pPr marL="0" indent="0">
              <a:buNone/>
            </a:pPr>
            <a:endParaRPr lang="pt-BR" dirty="0">
              <a:latin typeface="Consolas" panose="020B0609020204030204" pitchFamily="49" charset="0"/>
            </a:endParaRPr>
          </a:p>
        </p:txBody>
      </p:sp>
    </p:spTree>
    <p:extLst>
      <p:ext uri="{BB962C8B-B14F-4D97-AF65-F5344CB8AC3E}">
        <p14:creationId xmlns:p14="http://schemas.microsoft.com/office/powerpoint/2010/main" val="37375293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7E27A-F64F-BD37-64AC-DCE4D923EC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724F9A-6932-BA2B-0C8B-88280995A611}"/>
              </a:ext>
            </a:extLst>
          </p:cNvPr>
          <p:cNvSpPr>
            <a:spLocks noGrp="1"/>
          </p:cNvSpPr>
          <p:nvPr>
            <p:ph type="title"/>
          </p:nvPr>
        </p:nvSpPr>
        <p:spPr/>
        <p:txBody>
          <a:bodyPr/>
          <a:lstStyle/>
          <a:p>
            <a:r>
              <a:rPr lang="en-US" dirty="0" err="1"/>
              <a:t>Padronização</a:t>
            </a:r>
            <a:r>
              <a:rPr lang="en-US" dirty="0"/>
              <a:t> (Standard Scaling)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4E7A4F3-D98D-3713-FDAB-EE34883FF2A8}"/>
                  </a:ext>
                </a:extLst>
              </p:cNvPr>
              <p:cNvSpPr>
                <a:spLocks noGrp="1"/>
              </p:cNvSpPr>
              <p:nvPr>
                <p:ph idx="1"/>
              </p:nvPr>
            </p:nvSpPr>
            <p:spPr>
              <a:xfrm>
                <a:off x="838198" y="1825624"/>
                <a:ext cx="11353801" cy="5032375"/>
              </a:xfrm>
            </p:spPr>
            <p:txBody>
              <a:bodyPr>
                <a:normAutofit/>
              </a:bodyPr>
              <a:lstStyle/>
              <a:p>
                <a:r>
                  <a:rPr lang="pt-BR" b="1" dirty="0"/>
                  <a:t>Como funciona</a:t>
                </a:r>
                <a:r>
                  <a:rPr lang="pt-BR" dirty="0"/>
                  <a:t>: Transforma os atributos para terem média 0 e desvio padrão 1, não impondo limites.</a:t>
                </a:r>
              </a:p>
              <a:p>
                <a:r>
                  <a:rPr lang="pt-BR" b="1" dirty="0"/>
                  <a:t>Fórmula:</a:t>
                </a:r>
              </a:p>
              <a:p>
                <a:pPr marL="0" indent="0" algn="ctr">
                  <a:buNone/>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m:t>
                          </m:r>
                        </m:sup>
                      </m:sSup>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𝑥</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𝜇</m:t>
                              </m:r>
                            </m:e>
                            <m:sub>
                              <m:r>
                                <a:rPr lang="pt-BR" b="0" i="1" smtClean="0">
                                  <a:latin typeface="Cambria Math" panose="02040503050406030204" pitchFamily="18" charset="0"/>
                                </a:rPr>
                                <m:t>𝑥</m:t>
                              </m:r>
                            </m:sub>
                          </m:sSub>
                        </m:num>
                        <m:den>
                          <m:sSub>
                            <m:sSubPr>
                              <m:ctrlPr>
                                <a:rPr lang="pt-BR" b="0" i="1" smtClean="0">
                                  <a:latin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𝜎</m:t>
                              </m:r>
                            </m:e>
                            <m:sub>
                              <m:r>
                                <a:rPr lang="pt-BR" b="0" i="1" smtClean="0">
                                  <a:latin typeface="Cambria Math" panose="02040503050406030204" pitchFamily="18" charset="0"/>
                                </a:rPr>
                                <m:t>𝑥</m:t>
                              </m:r>
                            </m:sub>
                          </m:sSub>
                        </m:den>
                      </m:f>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r>
                      <a:rPr lang="pt-BR" i="1">
                        <a:latin typeface="Cambria Math" panose="02040503050406030204" pitchFamily="18" charset="0"/>
                      </a:rPr>
                      <m:t>𝑥</m:t>
                    </m:r>
                  </m:oMath>
                </a14:m>
                <a:r>
                  <a:rPr lang="pt-BR" dirty="0"/>
                  <a:t> é o valor original,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ea typeface="Cambria Math" panose="02040503050406030204" pitchFamily="18" charset="0"/>
                          </a:rPr>
                          <m:t>𝜇</m:t>
                        </m:r>
                      </m:e>
                      <m:sub>
                        <m:r>
                          <a:rPr lang="pt-BR" i="1">
                            <a:latin typeface="Cambria Math" panose="02040503050406030204" pitchFamily="18" charset="0"/>
                          </a:rPr>
                          <m:t>𝑥</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ea typeface="Cambria Math" panose="02040503050406030204" pitchFamily="18" charset="0"/>
                          </a:rPr>
                          <m:t>𝜎</m:t>
                        </m:r>
                      </m:e>
                      <m:sub>
                        <m:r>
                          <a:rPr lang="pt-BR" i="1">
                            <a:latin typeface="Cambria Math" panose="02040503050406030204" pitchFamily="18" charset="0"/>
                          </a:rPr>
                          <m:t>𝑥</m:t>
                        </m:r>
                      </m:sub>
                    </m:sSub>
                  </m:oMath>
                </a14:m>
                <a:r>
                  <a:rPr lang="pt-BR" dirty="0"/>
                  <a:t> são a média e o desvio padrão de uma coluna (i.e., atributo).</a:t>
                </a:r>
              </a:p>
              <a:p>
                <a:r>
                  <a:rPr lang="pt-BR" b="1" dirty="0"/>
                  <a:t>Vantagens</a:t>
                </a:r>
                <a:r>
                  <a:rPr lang="pt-BR" dirty="0"/>
                  <a:t>: </a:t>
                </a:r>
              </a:p>
              <a:p>
                <a:pPr lvl="1">
                  <a:buFont typeface="Wingdings" panose="05000000000000000000" pitchFamily="2" charset="2"/>
                  <a:buChar char="§"/>
                </a:pPr>
                <a:r>
                  <a:rPr lang="pt-BR" dirty="0"/>
                  <a:t>Torna os dados "comparáveis" em termos do número de desvios padrão da média.</a:t>
                </a:r>
              </a:p>
              <a:p>
                <a:pPr lvl="1">
                  <a:buFont typeface="Wingdings" panose="05000000000000000000" pitchFamily="2" charset="2"/>
                  <a:buChar char="§"/>
                </a:pPr>
                <a:r>
                  <a:rPr lang="pt-BR" dirty="0"/>
                  <a:t>Mais robusto a </a:t>
                </a:r>
                <a:r>
                  <a:rPr lang="pt-BR" i="1" dirty="0"/>
                  <a:t>outliers</a:t>
                </a:r>
                <a:r>
                  <a:rPr lang="pt-BR" dirty="0"/>
                  <a:t>, mas não a </a:t>
                </a:r>
                <a:r>
                  <a:rPr lang="pt-BR" i="1" dirty="0"/>
                  <a:t>outliers</a:t>
                </a:r>
                <a:r>
                  <a:rPr lang="pt-BR" dirty="0"/>
                  <a:t> extremos.</a:t>
                </a:r>
              </a:p>
              <a:p>
                <a:pPr lvl="2">
                  <a:buFont typeface="Wingdings" panose="05000000000000000000" pitchFamily="2" charset="2"/>
                  <a:buChar char="§"/>
                </a:pPr>
                <a:r>
                  <a:rPr lang="pt-BR" dirty="0"/>
                  <a:t>Por não dividir os valores por um denominador muito grande, no caso da presença de </a:t>
                </a:r>
                <a:r>
                  <a:rPr lang="pt-BR" i="1" dirty="0"/>
                  <a:t>outliers</a:t>
                </a:r>
                <a:r>
                  <a:rPr lang="pt-BR" dirty="0"/>
                  <a:t>, não os transforma em valores próximos de zero e, portanto, não se perde a distinção entre eles.</a:t>
                </a:r>
              </a:p>
            </p:txBody>
          </p:sp>
        </mc:Choice>
        <mc:Fallback xmlns="">
          <p:sp>
            <p:nvSpPr>
              <p:cNvPr id="3" name="Content Placeholder 2">
                <a:extLst>
                  <a:ext uri="{FF2B5EF4-FFF2-40B4-BE49-F238E27FC236}">
                    <a16:creationId xmlns:a16="http://schemas.microsoft.com/office/drawing/2014/main" id="{E4E7A4F3-D98D-3713-FDAB-EE34883FF2A8}"/>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3"/>
                <a:stretch>
                  <a:fillRect l="-1074" t="-1937"/>
                </a:stretch>
              </a:blipFill>
            </p:spPr>
            <p:txBody>
              <a:bodyPr/>
              <a:lstStyle/>
              <a:p>
                <a:r>
                  <a:rPr lang="en-US">
                    <a:noFill/>
                  </a:rPr>
                  <a:t> </a:t>
                </a:r>
              </a:p>
            </p:txBody>
          </p:sp>
        </mc:Fallback>
      </mc:AlternateContent>
    </p:spTree>
    <p:extLst>
      <p:ext uri="{BB962C8B-B14F-4D97-AF65-F5344CB8AC3E}">
        <p14:creationId xmlns:p14="http://schemas.microsoft.com/office/powerpoint/2010/main" val="38910390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55876-1E2F-A829-24D7-6E67D43437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15A8A1-ABB5-8D3A-D7B8-B702B33BEB9C}"/>
              </a:ext>
            </a:extLst>
          </p:cNvPr>
          <p:cNvSpPr>
            <a:spLocks noGrp="1"/>
          </p:cNvSpPr>
          <p:nvPr>
            <p:ph type="title"/>
          </p:nvPr>
        </p:nvSpPr>
        <p:spPr/>
        <p:txBody>
          <a:bodyPr/>
          <a:lstStyle/>
          <a:p>
            <a:r>
              <a:rPr lang="en-US" dirty="0" err="1"/>
              <a:t>Padronização</a:t>
            </a:r>
            <a:r>
              <a:rPr lang="en-US" dirty="0"/>
              <a:t> (Standard Scaling)</a:t>
            </a:r>
          </a:p>
        </p:txBody>
      </p:sp>
      <p:sp>
        <p:nvSpPr>
          <p:cNvPr id="3" name="Content Placeholder 2">
            <a:extLst>
              <a:ext uri="{FF2B5EF4-FFF2-40B4-BE49-F238E27FC236}">
                <a16:creationId xmlns:a16="http://schemas.microsoft.com/office/drawing/2014/main" id="{CEE08648-F204-3557-03A6-4A8A9392651A}"/>
              </a:ext>
            </a:extLst>
          </p:cNvPr>
          <p:cNvSpPr>
            <a:spLocks noGrp="1"/>
          </p:cNvSpPr>
          <p:nvPr>
            <p:ph idx="1"/>
          </p:nvPr>
        </p:nvSpPr>
        <p:spPr>
          <a:xfrm>
            <a:off x="838199" y="1825624"/>
            <a:ext cx="11179630" cy="5032375"/>
          </a:xfrm>
        </p:spPr>
        <p:txBody>
          <a:bodyPr>
            <a:normAutofit/>
          </a:bodyPr>
          <a:lstStyle/>
          <a:p>
            <a:r>
              <a:rPr lang="pt-BR" b="1" dirty="0"/>
              <a:t>Quando usar: </a:t>
            </a:r>
          </a:p>
          <a:p>
            <a:pPr lvl="1">
              <a:buFont typeface="Wingdings" panose="05000000000000000000" pitchFamily="2" charset="2"/>
              <a:buChar char="§"/>
            </a:pPr>
            <a:r>
              <a:rPr lang="pt-BR" dirty="0"/>
              <a:t>Em geral, com algoritmos que assumem distribuição "normal" ou Gaussiana (e.g., GNB</a:t>
            </a:r>
            <a:r>
              <a:rPr lang="en-US" dirty="0"/>
              <a:t>, GMM, </a:t>
            </a:r>
            <a:r>
              <a:rPr lang="en-US" dirty="0" err="1"/>
              <a:t>alguns</a:t>
            </a:r>
            <a:r>
              <a:rPr lang="en-US" dirty="0"/>
              <a:t> </a:t>
            </a:r>
            <a:r>
              <a:rPr lang="en-US" dirty="0" err="1"/>
              <a:t>modelos</a:t>
            </a:r>
            <a:r>
              <a:rPr lang="en-US" dirty="0"/>
              <a:t> para </a:t>
            </a:r>
            <a:r>
              <a:rPr lang="en-US" dirty="0" err="1"/>
              <a:t>detecção</a:t>
            </a:r>
            <a:r>
              <a:rPr lang="en-US" dirty="0"/>
              <a:t> de </a:t>
            </a:r>
            <a:r>
              <a:rPr lang="en-US" dirty="0" err="1"/>
              <a:t>anomalias</a:t>
            </a:r>
            <a:r>
              <a:rPr lang="en-US" dirty="0"/>
              <a:t>)</a:t>
            </a:r>
            <a:r>
              <a:rPr lang="pt-BR" dirty="0"/>
              <a:t>, e </a:t>
            </a:r>
          </a:p>
          <a:p>
            <a:pPr lvl="1">
              <a:buFont typeface="Wingdings" panose="05000000000000000000" pitchFamily="2" charset="2"/>
              <a:buChar char="§"/>
            </a:pPr>
            <a:r>
              <a:rPr lang="pt-BR" dirty="0"/>
              <a:t>quando os dados possuem </a:t>
            </a:r>
            <a:r>
              <a:rPr lang="pt-BR" i="1" dirty="0"/>
              <a:t>outliers</a:t>
            </a:r>
            <a:r>
              <a:rPr lang="en-US" dirty="0"/>
              <a:t>.</a:t>
            </a:r>
            <a:endParaRPr lang="pt-BR" dirty="0"/>
          </a:p>
          <a:p>
            <a:r>
              <a:rPr lang="pt-BR" b="1" dirty="0"/>
              <a:t>Cuidado: </a:t>
            </a:r>
            <a:r>
              <a:rPr lang="pt-BR" dirty="0"/>
              <a:t>Se os dados originais são assimétricos, eles continuarão assimétricos, apenas centralizados e com variância igual a 1. </a:t>
            </a:r>
          </a:p>
          <a:p>
            <a:r>
              <a:rPr lang="pt-BR" b="1" dirty="0"/>
              <a:t>Importante:</a:t>
            </a:r>
            <a:r>
              <a:rPr lang="pt-BR" dirty="0"/>
              <a:t> Se o conjunto de dados tiver </a:t>
            </a:r>
            <a:r>
              <a:rPr lang="pt-BR" i="1" dirty="0"/>
              <a:t>outliers</a:t>
            </a:r>
            <a:r>
              <a:rPr lang="pt-BR" dirty="0"/>
              <a:t> extremos, o escalonador robusto é uma opção superior à padronização, pois ignora os valores discrepantes no cálculo do escalonamento.</a:t>
            </a:r>
          </a:p>
          <a:p>
            <a:pPr lvl="1">
              <a:buFont typeface="Wingdings" panose="05000000000000000000" pitchFamily="2" charset="2"/>
              <a:buChar char="§"/>
            </a:pPr>
            <a:r>
              <a:rPr lang="pt-BR" i="1" dirty="0"/>
              <a:t>Outliers</a:t>
            </a:r>
            <a:r>
              <a:rPr lang="pt-BR" dirty="0"/>
              <a:t> podem influenciar a média e variância dos atributos de forma negativa.</a:t>
            </a:r>
          </a:p>
        </p:txBody>
      </p:sp>
    </p:spTree>
    <p:extLst>
      <p:ext uri="{BB962C8B-B14F-4D97-AF65-F5344CB8AC3E}">
        <p14:creationId xmlns:p14="http://schemas.microsoft.com/office/powerpoint/2010/main" val="34479378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77714-D30D-81C3-3BE9-7601747F5F66}"/>
              </a:ext>
            </a:extLst>
          </p:cNvPr>
          <p:cNvSpPr>
            <a:spLocks noGrp="1"/>
          </p:cNvSpPr>
          <p:nvPr>
            <p:ph type="title"/>
          </p:nvPr>
        </p:nvSpPr>
        <p:spPr/>
        <p:txBody>
          <a:bodyPr/>
          <a:lstStyle/>
          <a:p>
            <a:r>
              <a:rPr lang="en-US" dirty="0" err="1"/>
              <a:t>Padronização</a:t>
            </a:r>
            <a:r>
              <a:rPr lang="en-US" dirty="0"/>
              <a:t> (Standard Scaling)</a:t>
            </a:r>
          </a:p>
        </p:txBody>
      </p:sp>
      <p:sp>
        <p:nvSpPr>
          <p:cNvPr id="3" name="Content Placeholder 2">
            <a:extLst>
              <a:ext uri="{FF2B5EF4-FFF2-40B4-BE49-F238E27FC236}">
                <a16:creationId xmlns:a16="http://schemas.microsoft.com/office/drawing/2014/main" id="{1CD4492A-4A23-9842-8A7E-76151D3DB0D1}"/>
              </a:ext>
            </a:extLst>
          </p:cNvPr>
          <p:cNvSpPr>
            <a:spLocks noGrp="1"/>
          </p:cNvSpPr>
          <p:nvPr>
            <p:ph idx="1"/>
          </p:nvPr>
        </p:nvSpPr>
        <p:spPr>
          <a:xfrm>
            <a:off x="838199" y="1825624"/>
            <a:ext cx="10994571" cy="5032375"/>
          </a:xfrm>
        </p:spPr>
        <p:txBody>
          <a:bodyPr>
            <a:normAutofit lnSpcReduction="10000"/>
          </a:bodyPr>
          <a:lstStyle/>
          <a:p>
            <a:pPr marL="0" indent="0">
              <a:buNone/>
            </a:pPr>
            <a:r>
              <a:rPr lang="en-US" dirty="0">
                <a:latin typeface="Consolas" panose="020B0609020204030204" pitchFamily="49" charset="0"/>
              </a:rPr>
              <a:t>from </a:t>
            </a:r>
            <a:r>
              <a:rPr lang="en-US" dirty="0" err="1">
                <a:latin typeface="Consolas" panose="020B0609020204030204" pitchFamily="49" charset="0"/>
              </a:rPr>
              <a:t>sklearn.preprocessing</a:t>
            </a:r>
            <a:r>
              <a:rPr lang="en-US" dirty="0">
                <a:latin typeface="Consolas" panose="020B0609020204030204" pitchFamily="49" charset="0"/>
              </a:rPr>
              <a:t> import </a:t>
            </a:r>
            <a:r>
              <a:rPr lang="en-US" dirty="0" err="1">
                <a:latin typeface="Consolas" panose="020B0609020204030204" pitchFamily="49" charset="0"/>
              </a:rPr>
              <a:t>StandardScaler</a:t>
            </a:r>
            <a:endParaRPr lang="en-US" dirty="0">
              <a:latin typeface="Consolas" panose="020B0609020204030204" pitchFamily="49" charset="0"/>
            </a:endParaRP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Instância</a:t>
            </a:r>
            <a:r>
              <a:rPr lang="en-US" i="1" dirty="0">
                <a:latin typeface="Consolas" panose="020B0609020204030204" pitchFamily="49" charset="0"/>
              </a:rPr>
              <a:t> do </a:t>
            </a:r>
            <a:r>
              <a:rPr lang="en-US" i="1" dirty="0" err="1">
                <a:latin typeface="Consolas" panose="020B0609020204030204" pitchFamily="49" charset="0"/>
              </a:rPr>
              <a:t>padronizador</a:t>
            </a:r>
            <a:endParaRPr lang="en-US" i="1" dirty="0">
              <a:latin typeface="Consolas" panose="020B0609020204030204" pitchFamily="49" charset="0"/>
            </a:endParaRPr>
          </a:p>
          <a:p>
            <a:pPr marL="0" indent="0">
              <a:buNone/>
            </a:pPr>
            <a:r>
              <a:rPr lang="en-US" dirty="0">
                <a:latin typeface="Consolas" panose="020B0609020204030204" pitchFamily="49" charset="0"/>
              </a:rPr>
              <a:t>scaler = </a:t>
            </a:r>
            <a:r>
              <a:rPr lang="en-US" dirty="0" err="1">
                <a:latin typeface="Consolas" panose="020B0609020204030204" pitchFamily="49" charset="0"/>
              </a:rPr>
              <a:t>StandardScaler</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Aprende</a:t>
            </a:r>
            <a:r>
              <a:rPr lang="en-US" i="1" dirty="0">
                <a:latin typeface="Consolas" panose="020B0609020204030204" pitchFamily="49" charset="0"/>
              </a:rPr>
              <a:t> </a:t>
            </a:r>
            <a:r>
              <a:rPr lang="en-US" i="1" dirty="0" err="1">
                <a:latin typeface="Consolas" panose="020B0609020204030204" pitchFamily="49" charset="0"/>
              </a:rPr>
              <a:t>os</a:t>
            </a:r>
            <a:r>
              <a:rPr lang="en-US" i="1" dirty="0">
                <a:latin typeface="Consolas" panose="020B0609020204030204" pitchFamily="49" charset="0"/>
              </a:rPr>
              <a:t> </a:t>
            </a:r>
            <a:r>
              <a:rPr lang="en-US" i="1" dirty="0" err="1">
                <a:latin typeface="Consolas" panose="020B0609020204030204" pitchFamily="49" charset="0"/>
              </a:rPr>
              <a:t>parâmetros</a:t>
            </a:r>
            <a:r>
              <a:rPr lang="en-US" i="1" dirty="0">
                <a:latin typeface="Consolas" panose="020B0609020204030204" pitchFamily="49" charset="0"/>
              </a:rPr>
              <a:t> de </a:t>
            </a:r>
            <a:r>
              <a:rPr lang="en-US" i="1" dirty="0" err="1">
                <a:latin typeface="Consolas" panose="020B0609020204030204" pitchFamily="49" charset="0"/>
              </a:rPr>
              <a:t>padronização</a:t>
            </a:r>
            <a:r>
              <a:rPr lang="en-US" i="1" dirty="0">
                <a:latin typeface="Consolas" panose="020B0609020204030204" pitchFamily="49" charset="0"/>
              </a:rPr>
              <a:t> no </a:t>
            </a:r>
            <a:r>
              <a:rPr lang="en-US" i="1" dirty="0" err="1">
                <a:latin typeface="Consolas" panose="020B0609020204030204" pitchFamily="49" charset="0"/>
              </a:rPr>
              <a:t>treino</a:t>
            </a:r>
            <a:endParaRPr lang="en-US" i="1" dirty="0">
              <a:latin typeface="Consolas" panose="020B0609020204030204" pitchFamily="49" charset="0"/>
            </a:endParaRPr>
          </a:p>
          <a:p>
            <a:pPr marL="0" indent="0">
              <a:buNone/>
            </a:pPr>
            <a:r>
              <a:rPr lang="en-US" dirty="0" err="1">
                <a:latin typeface="Consolas" panose="020B0609020204030204" pitchFamily="49" charset="0"/>
              </a:rPr>
              <a:t>X_scaled</a:t>
            </a:r>
            <a:r>
              <a:rPr lang="en-US" dirty="0">
                <a:latin typeface="Consolas" panose="020B0609020204030204" pitchFamily="49" charset="0"/>
              </a:rPr>
              <a:t> = </a:t>
            </a:r>
            <a:r>
              <a:rPr lang="en-US" dirty="0" err="1">
                <a:latin typeface="Consolas" panose="020B0609020204030204" pitchFamily="49" charset="0"/>
              </a:rPr>
              <a:t>scaler.fit_transform</a:t>
            </a:r>
            <a:r>
              <a:rPr lang="en-US" dirty="0">
                <a:latin typeface="Consolas" panose="020B0609020204030204" pitchFamily="49" charset="0"/>
              </a:rPr>
              <a:t>(</a:t>
            </a:r>
            <a:r>
              <a:rPr lang="en-US" dirty="0" err="1">
                <a:latin typeface="Consolas" panose="020B0609020204030204" pitchFamily="49" charset="0"/>
              </a:rPr>
              <a:t>X_train</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i="1" dirty="0">
                <a:latin typeface="Consolas" panose="020B0609020204030204" pitchFamily="49" charset="0"/>
              </a:rPr>
              <a:t># </a:t>
            </a:r>
            <a:r>
              <a:rPr lang="en-US" i="1" dirty="0" err="1">
                <a:latin typeface="Consolas" panose="020B0609020204030204" pitchFamily="49" charset="0"/>
              </a:rPr>
              <a:t>Aplica</a:t>
            </a:r>
            <a:r>
              <a:rPr lang="en-US" i="1" dirty="0">
                <a:latin typeface="Consolas" panose="020B0609020204030204" pitchFamily="49" charset="0"/>
              </a:rPr>
              <a:t> o scaler </a:t>
            </a:r>
            <a:r>
              <a:rPr lang="en-US" i="1" dirty="0" err="1">
                <a:latin typeface="Consolas" panose="020B0609020204030204" pitchFamily="49" charset="0"/>
              </a:rPr>
              <a:t>aprendido</a:t>
            </a:r>
            <a:r>
              <a:rPr lang="en-US" i="1" dirty="0">
                <a:latin typeface="Consolas" panose="020B0609020204030204" pitchFamily="49" charset="0"/>
              </a:rPr>
              <a:t> no teste</a:t>
            </a:r>
          </a:p>
          <a:p>
            <a:pPr marL="0" indent="0">
              <a:buNone/>
            </a:pPr>
            <a:r>
              <a:rPr lang="en-US" dirty="0" err="1">
                <a:latin typeface="Consolas" panose="020B0609020204030204" pitchFamily="49" charset="0"/>
              </a:rPr>
              <a:t>X_test_scaled</a:t>
            </a:r>
            <a:r>
              <a:rPr lang="en-US" dirty="0">
                <a:latin typeface="Consolas" panose="020B0609020204030204" pitchFamily="49" charset="0"/>
              </a:rPr>
              <a:t> = </a:t>
            </a:r>
            <a:r>
              <a:rPr lang="en-US" dirty="0" err="1">
                <a:latin typeface="Consolas" panose="020B0609020204030204" pitchFamily="49" charset="0"/>
              </a:rPr>
              <a:t>scaler.transform</a:t>
            </a:r>
            <a:r>
              <a:rPr lang="en-US" dirty="0">
                <a:latin typeface="Consolas" panose="020B0609020204030204" pitchFamily="49" charset="0"/>
              </a:rPr>
              <a:t>(</a:t>
            </a:r>
            <a:r>
              <a:rPr lang="en-US" dirty="0" err="1">
                <a:latin typeface="Consolas" panose="020B0609020204030204" pitchFamily="49" charset="0"/>
              </a:rPr>
              <a:t>X_test</a:t>
            </a:r>
            <a:r>
              <a:rPr lang="en-US" dirty="0">
                <a:latin typeface="Consolas" panose="020B0609020204030204" pitchFamily="49" charset="0"/>
              </a:rPr>
              <a:t>)</a:t>
            </a:r>
          </a:p>
        </p:txBody>
      </p:sp>
    </p:spTree>
    <p:extLst>
      <p:ext uri="{BB962C8B-B14F-4D97-AF65-F5344CB8AC3E}">
        <p14:creationId xmlns:p14="http://schemas.microsoft.com/office/powerpoint/2010/main" val="16908145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4F0F9-20D7-154F-370F-D835643F17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CDABA-9A41-573A-0CB1-602907ED9D70}"/>
              </a:ext>
            </a:extLst>
          </p:cNvPr>
          <p:cNvSpPr>
            <a:spLocks noGrp="1"/>
          </p:cNvSpPr>
          <p:nvPr>
            <p:ph type="title"/>
          </p:nvPr>
        </p:nvSpPr>
        <p:spPr/>
        <p:txBody>
          <a:bodyPr/>
          <a:lstStyle/>
          <a:p>
            <a:r>
              <a:rPr lang="en-US" dirty="0" err="1"/>
              <a:t>Escalonamento</a:t>
            </a:r>
            <a:r>
              <a:rPr lang="en-US" dirty="0"/>
              <a:t> </a:t>
            </a:r>
            <a:r>
              <a:rPr lang="en-US" dirty="0" err="1"/>
              <a:t>robusto</a:t>
            </a:r>
            <a:r>
              <a:rPr lang="en-US" dirty="0"/>
              <a:t> (Robust Scaling)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8F3830B-DEF6-A0F3-3AF2-EBB9B6E8B5C1}"/>
                  </a:ext>
                </a:extLst>
              </p:cNvPr>
              <p:cNvSpPr>
                <a:spLocks noGrp="1"/>
              </p:cNvSpPr>
              <p:nvPr>
                <p:ph idx="1"/>
              </p:nvPr>
            </p:nvSpPr>
            <p:spPr>
              <a:xfrm>
                <a:off x="838198" y="1825624"/>
                <a:ext cx="11353801" cy="5032375"/>
              </a:xfrm>
            </p:spPr>
            <p:txBody>
              <a:bodyPr>
                <a:normAutofit/>
              </a:bodyPr>
              <a:lstStyle/>
              <a:p>
                <a:r>
                  <a:rPr lang="pt-BR" b="1" dirty="0"/>
                  <a:t>Como funciona</a:t>
                </a:r>
                <a:r>
                  <a:rPr lang="pt-BR" dirty="0"/>
                  <a:t>: Usa mediana e distância interquartil no escalonamento.</a:t>
                </a:r>
                <a:endParaRPr lang="pt-BR" b="1" dirty="0">
                  <a:solidFill>
                    <a:srgbClr val="FF0000"/>
                  </a:solidFill>
                </a:endParaRPr>
              </a:p>
              <a:p>
                <a:r>
                  <a:rPr lang="pt-BR" b="1" dirty="0"/>
                  <a:t>Fórmula:</a:t>
                </a:r>
              </a:p>
              <a:p>
                <a:pPr marL="0" indent="0" algn="ctr">
                  <a:buNone/>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m:t>
                          </m:r>
                        </m:sup>
                      </m:sSup>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𝑥</m:t>
                          </m:r>
                          <m:r>
                            <a:rPr lang="pt-BR" b="0" i="1" smtClean="0">
                              <a:latin typeface="Cambria Math" panose="02040503050406030204" pitchFamily="18" charset="0"/>
                            </a:rPr>
                            <m:t>−</m:t>
                          </m:r>
                          <m:r>
                            <m:rPr>
                              <m:sty m:val="p"/>
                            </m:rPr>
                            <a:rPr lang="pt-BR" b="0" i="0" smtClean="0">
                              <a:latin typeface="Cambria Math" panose="02040503050406030204" pitchFamily="18" charset="0"/>
                            </a:rPr>
                            <m:t>mediana</m:t>
                          </m:r>
                        </m:num>
                        <m:den>
                          <m:limLow>
                            <m:limLowPr>
                              <m:ctrlPr>
                                <a:rPr lang="pt-BR" b="0" i="1" smtClean="0">
                                  <a:latin typeface="Cambria Math" panose="02040503050406030204" pitchFamily="18" charset="0"/>
                                </a:rPr>
                              </m:ctrlPr>
                            </m:limLowPr>
                            <m:e>
                              <m:groupChr>
                                <m:groupChrPr>
                                  <m:chr m:val="⏟"/>
                                  <m:ctrlPr>
                                    <a:rPr lang="pt-BR" b="0" i="1" smtClean="0">
                                      <a:latin typeface="Cambria Math" panose="02040503050406030204" pitchFamily="18" charset="0"/>
                                    </a:rPr>
                                  </m:ctrlPr>
                                </m:groupChrPr>
                                <m:e>
                                  <m:sSub>
                                    <m:sSubPr>
                                      <m:ctrlPr>
                                        <a:rPr lang="pt-BR" i="1">
                                          <a:latin typeface="Cambria Math" panose="02040503050406030204" pitchFamily="18" charset="0"/>
                                        </a:rPr>
                                      </m:ctrlPr>
                                    </m:sSubPr>
                                    <m:e>
                                      <m:r>
                                        <a:rPr lang="pt-BR" i="1">
                                          <a:latin typeface="Cambria Math" panose="02040503050406030204" pitchFamily="18" charset="0"/>
                                        </a:rPr>
                                        <m:t>𝑄</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𝑄</m:t>
                                      </m:r>
                                    </m:e>
                                    <m:sub>
                                      <m:r>
                                        <a:rPr lang="pt-BR" i="1">
                                          <a:latin typeface="Cambria Math" panose="02040503050406030204" pitchFamily="18" charset="0"/>
                                        </a:rPr>
                                        <m:t>1</m:t>
                                      </m:r>
                                    </m:sub>
                                  </m:sSub>
                                </m:e>
                              </m:groupChr>
                            </m:e>
                            <m:lim>
                              <m:r>
                                <m:rPr>
                                  <m:sty m:val="p"/>
                                </m:rPr>
                                <a:rPr lang="pt-BR" b="0" i="0" smtClean="0">
                                  <a:latin typeface="Cambria Math" panose="02040503050406030204" pitchFamily="18" charset="0"/>
                                </a:rPr>
                                <m:t>IQR</m:t>
                              </m:r>
                            </m:lim>
                          </m:limLow>
                        </m:den>
                      </m:f>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r>
                      <a:rPr lang="pt-BR" i="1">
                        <a:latin typeface="Cambria Math" panose="02040503050406030204" pitchFamily="18" charset="0"/>
                      </a:rPr>
                      <m:t>𝑥</m:t>
                    </m:r>
                  </m:oMath>
                </a14:m>
                <a:r>
                  <a:rPr lang="pt-BR" dirty="0"/>
                  <a:t> é o valor original e </a:t>
                </a:r>
                <a14:m>
                  <m:oMath xmlns:m="http://schemas.openxmlformats.org/officeDocument/2006/math">
                    <m:r>
                      <m:rPr>
                        <m:sty m:val="p"/>
                      </m:rPr>
                      <a:rPr lang="pt-BR">
                        <a:latin typeface="Cambria Math" panose="02040503050406030204" pitchFamily="18" charset="0"/>
                      </a:rPr>
                      <m:t>IQR</m:t>
                    </m:r>
                  </m:oMath>
                </a14:m>
                <a:r>
                  <a:rPr lang="pt-BR" dirty="0"/>
                  <a:t> é a distância interquartil de um atributo.</a:t>
                </a:r>
              </a:p>
              <a:p>
                <a:r>
                  <a:rPr lang="pt-BR" b="1" dirty="0"/>
                  <a:t>Vantagem</a:t>
                </a:r>
                <a:r>
                  <a:rPr lang="pt-BR" dirty="0"/>
                  <a:t>: Por utilizar a mediana e o </a:t>
                </a:r>
                <a14:m>
                  <m:oMath xmlns:m="http://schemas.openxmlformats.org/officeDocument/2006/math">
                    <m:r>
                      <m:rPr>
                        <m:sty m:val="p"/>
                      </m:rPr>
                      <a:rPr lang="pt-BR">
                        <a:latin typeface="Cambria Math" panose="02040503050406030204" pitchFamily="18" charset="0"/>
                      </a:rPr>
                      <m:t>IQR</m:t>
                    </m:r>
                  </m:oMath>
                </a14:m>
                <a:r>
                  <a:rPr lang="pt-BR" dirty="0"/>
                  <a:t> em vez da média e do desvio padrão, os </a:t>
                </a:r>
                <a:r>
                  <a:rPr lang="pt-BR" i="1" dirty="0"/>
                  <a:t>outliers</a:t>
                </a:r>
                <a:r>
                  <a:rPr lang="pt-BR" dirty="0"/>
                  <a:t> têm influência mínima nos dados escalonados.</a:t>
                </a:r>
              </a:p>
              <a:p>
                <a:pPr lvl="1">
                  <a:buFont typeface="Wingdings" panose="05000000000000000000" pitchFamily="2" charset="2"/>
                  <a:buChar char="§"/>
                </a:pPr>
                <a:r>
                  <a:rPr lang="pt-BR" dirty="0"/>
                  <a:t>Mantém a relação de distância entre os valores não-discrepantes melhor que a padronização quando existem </a:t>
                </a:r>
                <a:r>
                  <a:rPr lang="pt-BR" i="1" dirty="0"/>
                  <a:t>outliers</a:t>
                </a:r>
                <a:r>
                  <a:rPr lang="pt-BR" dirty="0"/>
                  <a:t> extremos.</a:t>
                </a:r>
              </a:p>
              <a:p>
                <a:pPr lvl="1">
                  <a:buFont typeface="Wingdings" panose="05000000000000000000" pitchFamily="2" charset="2"/>
                  <a:buChar char="§"/>
                </a:pPr>
                <a:r>
                  <a:rPr lang="pt-BR" dirty="0"/>
                  <a:t>Ou seja, não deixa que </a:t>
                </a:r>
                <a:r>
                  <a:rPr lang="pt-BR" i="1" dirty="0"/>
                  <a:t>outliers</a:t>
                </a:r>
                <a:r>
                  <a:rPr lang="pt-BR" dirty="0"/>
                  <a:t> extremos esmaguem os valores não-discrepantes em valores próximos de 0.</a:t>
                </a:r>
              </a:p>
            </p:txBody>
          </p:sp>
        </mc:Choice>
        <mc:Fallback xmlns="">
          <p:sp>
            <p:nvSpPr>
              <p:cNvPr id="3" name="Content Placeholder 2">
                <a:extLst>
                  <a:ext uri="{FF2B5EF4-FFF2-40B4-BE49-F238E27FC236}">
                    <a16:creationId xmlns:a16="http://schemas.microsoft.com/office/drawing/2014/main" id="{D8F3830B-DEF6-A0F3-3AF2-EBB9B6E8B5C1}"/>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3"/>
                <a:stretch>
                  <a:fillRect l="-1074" t="-1937" r="-751" b="-1816"/>
                </a:stretch>
              </a:blipFill>
            </p:spPr>
            <p:txBody>
              <a:bodyPr/>
              <a:lstStyle/>
              <a:p>
                <a:r>
                  <a:rPr lang="en-US">
                    <a:noFill/>
                  </a:rPr>
                  <a:t> </a:t>
                </a:r>
              </a:p>
            </p:txBody>
          </p:sp>
        </mc:Fallback>
      </mc:AlternateContent>
    </p:spTree>
    <p:extLst>
      <p:ext uri="{BB962C8B-B14F-4D97-AF65-F5344CB8AC3E}">
        <p14:creationId xmlns:p14="http://schemas.microsoft.com/office/powerpoint/2010/main" val="13096080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8E9AD0-32FE-7BB6-65F1-4C9F82FC99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4EB2E1-2720-CBAD-00A2-4211C0FA6998}"/>
              </a:ext>
            </a:extLst>
          </p:cNvPr>
          <p:cNvSpPr>
            <a:spLocks noGrp="1"/>
          </p:cNvSpPr>
          <p:nvPr>
            <p:ph type="title"/>
          </p:nvPr>
        </p:nvSpPr>
        <p:spPr/>
        <p:txBody>
          <a:bodyPr/>
          <a:lstStyle/>
          <a:p>
            <a:r>
              <a:rPr lang="en-US" dirty="0" err="1"/>
              <a:t>Escalonamento</a:t>
            </a:r>
            <a:r>
              <a:rPr lang="en-US" dirty="0"/>
              <a:t> </a:t>
            </a:r>
            <a:r>
              <a:rPr lang="en-US" dirty="0" err="1"/>
              <a:t>robusto</a:t>
            </a:r>
            <a:r>
              <a:rPr lang="en-US" dirty="0"/>
              <a:t> (Robust Scaling)</a:t>
            </a:r>
          </a:p>
        </p:txBody>
      </p:sp>
      <p:sp>
        <p:nvSpPr>
          <p:cNvPr id="3" name="Content Placeholder 2">
            <a:extLst>
              <a:ext uri="{FF2B5EF4-FFF2-40B4-BE49-F238E27FC236}">
                <a16:creationId xmlns:a16="http://schemas.microsoft.com/office/drawing/2014/main" id="{3FFCF40E-198B-DB74-AFFD-EA10FEF889B4}"/>
              </a:ext>
            </a:extLst>
          </p:cNvPr>
          <p:cNvSpPr>
            <a:spLocks noGrp="1"/>
          </p:cNvSpPr>
          <p:nvPr>
            <p:ph idx="1"/>
          </p:nvPr>
        </p:nvSpPr>
        <p:spPr>
          <a:xfrm>
            <a:off x="838199" y="1825624"/>
            <a:ext cx="11179630" cy="5032375"/>
          </a:xfrm>
        </p:spPr>
        <p:txBody>
          <a:bodyPr>
            <a:normAutofit/>
          </a:bodyPr>
          <a:lstStyle/>
          <a:p>
            <a:r>
              <a:rPr lang="pt-BR" b="1" dirty="0"/>
              <a:t>Quando usar: </a:t>
            </a:r>
          </a:p>
          <a:p>
            <a:pPr lvl="1">
              <a:buFont typeface="Wingdings" panose="05000000000000000000" pitchFamily="2" charset="2"/>
              <a:buChar char="§"/>
            </a:pPr>
            <a:r>
              <a:rPr lang="pt-BR" dirty="0"/>
              <a:t>Quando há </a:t>
            </a:r>
            <a:r>
              <a:rPr lang="pt-BR" i="1" dirty="0"/>
              <a:t>outliers</a:t>
            </a:r>
            <a:r>
              <a:rPr lang="pt-BR" dirty="0"/>
              <a:t> significativos, mas desejamos mantê-los sem impactar o escalonamento. </a:t>
            </a:r>
          </a:p>
          <a:p>
            <a:pPr lvl="1">
              <a:buFont typeface="Wingdings" panose="05000000000000000000" pitchFamily="2" charset="2"/>
              <a:buChar char="§"/>
            </a:pPr>
            <a:r>
              <a:rPr lang="pt-BR" dirty="0"/>
              <a:t>Quando as distribuições são assimétricas ou com caudas longas.</a:t>
            </a:r>
          </a:p>
          <a:p>
            <a:r>
              <a:rPr lang="pt-BR" b="1" dirty="0"/>
              <a:t>Cuidado: </a:t>
            </a:r>
          </a:p>
          <a:p>
            <a:pPr lvl="1">
              <a:buFont typeface="Wingdings" panose="05000000000000000000" pitchFamily="2" charset="2"/>
              <a:buChar char="§"/>
            </a:pPr>
            <a:r>
              <a:rPr lang="pt-BR" dirty="0"/>
              <a:t>Como não remove os </a:t>
            </a:r>
            <a:r>
              <a:rPr lang="pt-BR" i="1" dirty="0"/>
              <a:t>outliers</a:t>
            </a:r>
            <a:r>
              <a:rPr lang="pt-BR" dirty="0"/>
              <a:t>, algoritmos sensíveis à distância (e.g., KNN, </a:t>
            </a:r>
            <a:r>
              <a:rPr lang="pt-BR" dirty="0" err="1"/>
              <a:t>Regressores</a:t>
            </a:r>
            <a:r>
              <a:rPr lang="pt-BR" dirty="0"/>
              <a:t>) podem ter seu aprendizado impactado.</a:t>
            </a:r>
          </a:p>
          <a:p>
            <a:pPr lvl="1">
              <a:buFont typeface="Wingdings" panose="05000000000000000000" pitchFamily="2" charset="2"/>
              <a:buChar char="§"/>
            </a:pPr>
            <a:r>
              <a:rPr lang="pt-BR" dirty="0"/>
              <a:t>A escala dos dados não discrepantes é mantida, mas ele não esconde os </a:t>
            </a:r>
            <a:r>
              <a:rPr lang="pt-BR" i="1" dirty="0"/>
              <a:t>outliers</a:t>
            </a:r>
            <a:r>
              <a:rPr lang="pt-BR" dirty="0"/>
              <a:t>.</a:t>
            </a:r>
          </a:p>
        </p:txBody>
      </p:sp>
    </p:spTree>
    <p:extLst>
      <p:ext uri="{BB962C8B-B14F-4D97-AF65-F5344CB8AC3E}">
        <p14:creationId xmlns:p14="http://schemas.microsoft.com/office/powerpoint/2010/main" val="9900424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438CB-284D-B132-E982-E10E2E0A6C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7015A9-D416-BD11-58AD-7B62F1B4A5E1}"/>
              </a:ext>
            </a:extLst>
          </p:cNvPr>
          <p:cNvSpPr>
            <a:spLocks noGrp="1"/>
          </p:cNvSpPr>
          <p:nvPr>
            <p:ph type="title"/>
          </p:nvPr>
        </p:nvSpPr>
        <p:spPr/>
        <p:txBody>
          <a:bodyPr/>
          <a:lstStyle/>
          <a:p>
            <a:r>
              <a:rPr lang="en-US" dirty="0" err="1"/>
              <a:t>Escalonamento</a:t>
            </a:r>
            <a:r>
              <a:rPr lang="en-US" dirty="0"/>
              <a:t> </a:t>
            </a:r>
            <a:r>
              <a:rPr lang="en-US" dirty="0" err="1"/>
              <a:t>robusto</a:t>
            </a:r>
            <a:r>
              <a:rPr lang="en-US" dirty="0"/>
              <a:t> (Robust Scaling)</a:t>
            </a:r>
          </a:p>
        </p:txBody>
      </p:sp>
      <p:sp>
        <p:nvSpPr>
          <p:cNvPr id="3" name="Content Placeholder 2">
            <a:extLst>
              <a:ext uri="{FF2B5EF4-FFF2-40B4-BE49-F238E27FC236}">
                <a16:creationId xmlns:a16="http://schemas.microsoft.com/office/drawing/2014/main" id="{25F49F56-D00F-7D12-5FCD-BB6DCFC23C65}"/>
              </a:ext>
            </a:extLst>
          </p:cNvPr>
          <p:cNvSpPr>
            <a:spLocks noGrp="1"/>
          </p:cNvSpPr>
          <p:nvPr>
            <p:ph idx="1"/>
          </p:nvPr>
        </p:nvSpPr>
        <p:spPr>
          <a:xfrm>
            <a:off x="838199" y="1825624"/>
            <a:ext cx="11179630" cy="5032375"/>
          </a:xfrm>
        </p:spPr>
        <p:txBody>
          <a:bodyPr>
            <a:normAutofit lnSpcReduction="10000"/>
          </a:bodyPr>
          <a:lstStyle/>
          <a:p>
            <a:pPr marL="0" indent="0">
              <a:buNone/>
            </a:pPr>
            <a:r>
              <a:rPr lang="en-US" dirty="0">
                <a:latin typeface="Consolas" panose="020B0609020204030204" pitchFamily="49" charset="0"/>
              </a:rPr>
              <a:t>from </a:t>
            </a:r>
            <a:r>
              <a:rPr lang="en-US" dirty="0" err="1">
                <a:latin typeface="Consolas" panose="020B0609020204030204" pitchFamily="49" charset="0"/>
              </a:rPr>
              <a:t>sklearn.preprocessing</a:t>
            </a:r>
            <a:r>
              <a:rPr lang="en-US" dirty="0">
                <a:latin typeface="Consolas" panose="020B0609020204030204" pitchFamily="49" charset="0"/>
              </a:rPr>
              <a:t> import </a:t>
            </a:r>
            <a:r>
              <a:rPr lang="en-US" dirty="0" err="1">
                <a:latin typeface="Consolas" panose="020B0609020204030204" pitchFamily="49" charset="0"/>
              </a:rPr>
              <a:t>RobustScaler</a:t>
            </a:r>
            <a:endParaRPr lang="en-US" dirty="0">
              <a:latin typeface="Consolas" panose="020B0609020204030204" pitchFamily="49" charset="0"/>
            </a:endParaRPr>
          </a:p>
          <a:p>
            <a:pPr marL="0" indent="0">
              <a:buNone/>
            </a:pPr>
            <a:endParaRPr lang="en-US" dirty="0">
              <a:latin typeface="Consolas" panose="020B0609020204030204" pitchFamily="49" charset="0"/>
            </a:endParaRPr>
          </a:p>
          <a:p>
            <a:pPr marL="0" indent="0">
              <a:buNone/>
            </a:pPr>
            <a:r>
              <a:rPr lang="en-US" dirty="0">
                <a:latin typeface="Consolas" panose="020B0609020204030204" pitchFamily="49" charset="0"/>
              </a:rPr>
              <a:t># </a:t>
            </a:r>
            <a:r>
              <a:rPr lang="en-US" dirty="0" err="1">
                <a:latin typeface="Consolas" panose="020B0609020204030204" pitchFamily="49" charset="0"/>
              </a:rPr>
              <a:t>Instância</a:t>
            </a:r>
            <a:r>
              <a:rPr lang="en-US" dirty="0">
                <a:latin typeface="Consolas" panose="020B0609020204030204" pitchFamily="49" charset="0"/>
              </a:rPr>
              <a:t> do </a:t>
            </a:r>
            <a:r>
              <a:rPr lang="en-US" dirty="0" err="1">
                <a:latin typeface="Consolas" panose="020B0609020204030204" pitchFamily="49" charset="0"/>
              </a:rPr>
              <a:t>escalonador</a:t>
            </a:r>
            <a:r>
              <a:rPr lang="en-US" dirty="0">
                <a:latin typeface="Consolas" panose="020B0609020204030204" pitchFamily="49" charset="0"/>
              </a:rPr>
              <a:t> </a:t>
            </a:r>
            <a:r>
              <a:rPr lang="en-US" dirty="0" err="1">
                <a:latin typeface="Consolas" panose="020B0609020204030204" pitchFamily="49" charset="0"/>
              </a:rPr>
              <a:t>robusto</a:t>
            </a:r>
            <a:endParaRPr lang="en-US" dirty="0">
              <a:latin typeface="Consolas" panose="020B0609020204030204" pitchFamily="49" charset="0"/>
            </a:endParaRPr>
          </a:p>
          <a:p>
            <a:pPr marL="0" indent="0">
              <a:buNone/>
            </a:pPr>
            <a:r>
              <a:rPr lang="en-US" dirty="0">
                <a:latin typeface="Consolas" panose="020B0609020204030204" pitchFamily="49" charset="0"/>
              </a:rPr>
              <a:t>scaler = </a:t>
            </a:r>
            <a:r>
              <a:rPr lang="en-US" dirty="0" err="1">
                <a:latin typeface="Consolas" panose="020B0609020204030204" pitchFamily="49" charset="0"/>
              </a:rPr>
              <a:t>RobustScaler</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dirty="0">
                <a:latin typeface="Consolas" panose="020B0609020204030204" pitchFamily="49" charset="0"/>
              </a:rPr>
              <a:t># </a:t>
            </a:r>
            <a:r>
              <a:rPr lang="en-US" dirty="0" err="1">
                <a:latin typeface="Consolas" panose="020B0609020204030204" pitchFamily="49" charset="0"/>
              </a:rPr>
              <a:t>Aprende</a:t>
            </a:r>
            <a:r>
              <a:rPr lang="en-US" dirty="0">
                <a:latin typeface="Consolas" panose="020B0609020204030204" pitchFamily="49" charset="0"/>
              </a:rPr>
              <a:t> </a:t>
            </a:r>
            <a:r>
              <a:rPr lang="en-US" dirty="0" err="1">
                <a:latin typeface="Consolas" panose="020B0609020204030204" pitchFamily="49" charset="0"/>
              </a:rPr>
              <a:t>os</a:t>
            </a:r>
            <a:r>
              <a:rPr lang="en-US" dirty="0">
                <a:latin typeface="Consolas" panose="020B0609020204030204" pitchFamily="49" charset="0"/>
              </a:rPr>
              <a:t> </a:t>
            </a:r>
            <a:r>
              <a:rPr lang="en-US" dirty="0" err="1">
                <a:latin typeface="Consolas" panose="020B0609020204030204" pitchFamily="49" charset="0"/>
              </a:rPr>
              <a:t>parâmetros</a:t>
            </a:r>
            <a:r>
              <a:rPr lang="en-US" dirty="0">
                <a:latin typeface="Consolas" panose="020B0609020204030204" pitchFamily="49" charset="0"/>
              </a:rPr>
              <a:t> de </a:t>
            </a:r>
            <a:r>
              <a:rPr lang="en-US" dirty="0" err="1">
                <a:latin typeface="Consolas" panose="020B0609020204030204" pitchFamily="49" charset="0"/>
              </a:rPr>
              <a:t>escalonamento</a:t>
            </a:r>
            <a:r>
              <a:rPr lang="en-US" dirty="0">
                <a:latin typeface="Consolas" panose="020B0609020204030204" pitchFamily="49" charset="0"/>
              </a:rPr>
              <a:t> no </a:t>
            </a:r>
            <a:r>
              <a:rPr lang="en-US" dirty="0" err="1">
                <a:latin typeface="Consolas" panose="020B0609020204030204" pitchFamily="49" charset="0"/>
              </a:rPr>
              <a:t>treino</a:t>
            </a:r>
            <a:endParaRPr lang="en-US" dirty="0">
              <a:latin typeface="Consolas" panose="020B0609020204030204" pitchFamily="49" charset="0"/>
            </a:endParaRPr>
          </a:p>
          <a:p>
            <a:pPr marL="0" indent="0">
              <a:buNone/>
            </a:pPr>
            <a:r>
              <a:rPr lang="en-US" dirty="0" err="1">
                <a:latin typeface="Consolas" panose="020B0609020204030204" pitchFamily="49" charset="0"/>
              </a:rPr>
              <a:t>X_scaled</a:t>
            </a:r>
            <a:r>
              <a:rPr lang="en-US" dirty="0">
                <a:latin typeface="Consolas" panose="020B0609020204030204" pitchFamily="49" charset="0"/>
              </a:rPr>
              <a:t> = </a:t>
            </a:r>
            <a:r>
              <a:rPr lang="en-US" dirty="0" err="1">
                <a:latin typeface="Consolas" panose="020B0609020204030204" pitchFamily="49" charset="0"/>
              </a:rPr>
              <a:t>scaler.fit_transform</a:t>
            </a:r>
            <a:r>
              <a:rPr lang="en-US" dirty="0">
                <a:latin typeface="Consolas" panose="020B0609020204030204" pitchFamily="49" charset="0"/>
              </a:rPr>
              <a:t>(</a:t>
            </a:r>
            <a:r>
              <a:rPr lang="en-US" dirty="0" err="1">
                <a:latin typeface="Consolas" panose="020B0609020204030204" pitchFamily="49" charset="0"/>
              </a:rPr>
              <a:t>X_train</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dirty="0">
                <a:latin typeface="Consolas" panose="020B0609020204030204" pitchFamily="49" charset="0"/>
              </a:rPr>
              <a:t># </a:t>
            </a:r>
            <a:r>
              <a:rPr lang="en-US" dirty="0" err="1">
                <a:latin typeface="Consolas" panose="020B0609020204030204" pitchFamily="49" charset="0"/>
              </a:rPr>
              <a:t>Aplica</a:t>
            </a:r>
            <a:r>
              <a:rPr lang="en-US" dirty="0">
                <a:latin typeface="Consolas" panose="020B0609020204030204" pitchFamily="49" charset="0"/>
              </a:rPr>
              <a:t> o scaler </a:t>
            </a:r>
            <a:r>
              <a:rPr lang="en-US" dirty="0" err="1">
                <a:latin typeface="Consolas" panose="020B0609020204030204" pitchFamily="49" charset="0"/>
              </a:rPr>
              <a:t>aprendido</a:t>
            </a:r>
            <a:r>
              <a:rPr lang="en-US" dirty="0">
                <a:latin typeface="Consolas" panose="020B0609020204030204" pitchFamily="49" charset="0"/>
              </a:rPr>
              <a:t> no teste</a:t>
            </a:r>
          </a:p>
          <a:p>
            <a:pPr marL="0" indent="0">
              <a:buNone/>
            </a:pPr>
            <a:r>
              <a:rPr lang="en-US" dirty="0" err="1">
                <a:latin typeface="Consolas" panose="020B0609020204030204" pitchFamily="49" charset="0"/>
              </a:rPr>
              <a:t>X_test_scaled</a:t>
            </a:r>
            <a:r>
              <a:rPr lang="en-US" dirty="0">
                <a:latin typeface="Consolas" panose="020B0609020204030204" pitchFamily="49" charset="0"/>
              </a:rPr>
              <a:t> = </a:t>
            </a:r>
            <a:r>
              <a:rPr lang="en-US" dirty="0" err="1">
                <a:latin typeface="Consolas" panose="020B0609020204030204" pitchFamily="49" charset="0"/>
              </a:rPr>
              <a:t>scaler.transform</a:t>
            </a:r>
            <a:r>
              <a:rPr lang="en-US" dirty="0">
                <a:latin typeface="Consolas" panose="020B0609020204030204" pitchFamily="49" charset="0"/>
              </a:rPr>
              <a:t>(</a:t>
            </a:r>
            <a:r>
              <a:rPr lang="en-US" dirty="0" err="1">
                <a:latin typeface="Consolas" panose="020B0609020204030204" pitchFamily="49" charset="0"/>
              </a:rPr>
              <a:t>X_test</a:t>
            </a:r>
            <a:r>
              <a:rPr lang="en-US" dirty="0">
                <a:latin typeface="Consolas" panose="020B0609020204030204" pitchFamily="49" charset="0"/>
              </a:rPr>
              <a:t>)</a:t>
            </a:r>
          </a:p>
        </p:txBody>
      </p:sp>
    </p:spTree>
    <p:extLst>
      <p:ext uri="{BB962C8B-B14F-4D97-AF65-F5344CB8AC3E}">
        <p14:creationId xmlns:p14="http://schemas.microsoft.com/office/powerpoint/2010/main" val="7554837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12465D-3B71-C4D6-425F-FF182A6659D8}"/>
              </a:ext>
            </a:extLst>
          </p:cNvPr>
          <p:cNvSpPr>
            <a:spLocks noGrp="1"/>
          </p:cNvSpPr>
          <p:nvPr>
            <p:ph type="title"/>
          </p:nvPr>
        </p:nvSpPr>
        <p:spPr/>
        <p:txBody>
          <a:bodyPr/>
          <a:lstStyle/>
          <a:p>
            <a:r>
              <a:rPr lang="pt-BR" dirty="0"/>
              <a:t>Armadilhas comuns durante o escalonamento</a:t>
            </a:r>
            <a:endParaRPr lang="en-US" dirty="0"/>
          </a:p>
        </p:txBody>
      </p:sp>
      <p:sp>
        <p:nvSpPr>
          <p:cNvPr id="3" name="Content Placeholder 2">
            <a:extLst>
              <a:ext uri="{FF2B5EF4-FFF2-40B4-BE49-F238E27FC236}">
                <a16:creationId xmlns:a16="http://schemas.microsoft.com/office/drawing/2014/main" id="{59848CE3-22F4-8F30-72FB-7BA864CCB15B}"/>
              </a:ext>
            </a:extLst>
          </p:cNvPr>
          <p:cNvSpPr>
            <a:spLocks noGrp="1"/>
          </p:cNvSpPr>
          <p:nvPr>
            <p:ph idx="1"/>
          </p:nvPr>
        </p:nvSpPr>
        <p:spPr>
          <a:xfrm>
            <a:off x="838199" y="1825624"/>
            <a:ext cx="11081657" cy="5032375"/>
          </a:xfrm>
        </p:spPr>
        <p:txBody>
          <a:bodyPr>
            <a:normAutofit/>
          </a:bodyPr>
          <a:lstStyle/>
          <a:p>
            <a:r>
              <a:rPr lang="pt-BR" dirty="0"/>
              <a:t>Para evitar vazamento de dados, o escalonador deve sempre ser ajustado no conjunto de treinamento.</a:t>
            </a:r>
          </a:p>
          <a:p>
            <a:r>
              <a:rPr lang="pt-BR" dirty="0"/>
              <a:t>Os conjuntos de validação e teste, são transformados com os valores encontrados com o conjunto e treinamento.</a:t>
            </a:r>
          </a:p>
          <a:p>
            <a:r>
              <a:rPr lang="pt-BR" dirty="0"/>
              <a:t>Geralmente, não se aplica escalonamento à variável algo, i.e., os rótulos, apenas aos atributos.</a:t>
            </a:r>
          </a:p>
          <a:p>
            <a:r>
              <a:rPr lang="pt-BR" dirty="0"/>
              <a:t>Não se deve escalonar atributos binários ou </a:t>
            </a:r>
            <a:r>
              <a:rPr lang="pt-BR" i="1" dirty="0" err="1"/>
              <a:t>one</a:t>
            </a:r>
            <a:r>
              <a:rPr lang="pt-BR" i="1" dirty="0"/>
              <a:t>-hot</a:t>
            </a:r>
            <a:r>
              <a:rPr lang="pt-BR" dirty="0"/>
              <a:t> sem necessidade, pois pode-se criar valores fracionários desnecessários.</a:t>
            </a:r>
          </a:p>
        </p:txBody>
      </p:sp>
    </p:spTree>
    <p:extLst>
      <p:ext uri="{BB962C8B-B14F-4D97-AF65-F5344CB8AC3E}">
        <p14:creationId xmlns:p14="http://schemas.microsoft.com/office/powerpoint/2010/main" val="8775267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388CA0-AD15-F319-5BD3-1CF603A1B20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32CE608-79E4-6AB9-07A8-FA80CE49C283}"/>
              </a:ext>
            </a:extLst>
          </p:cNvPr>
          <p:cNvSpPr>
            <a:spLocks noGrp="1"/>
          </p:cNvSpPr>
          <p:nvPr>
            <p:ph idx="1"/>
          </p:nvPr>
        </p:nvSpPr>
        <p:spPr/>
        <p:txBody>
          <a:bodyPr>
            <a:normAutofit/>
          </a:bodyPr>
          <a:lstStyle/>
          <a:p>
            <a:r>
              <a:rPr lang="pt-BR" sz="5400" dirty="0">
                <a:solidFill>
                  <a:srgbClr val="FF0000"/>
                </a:solidFill>
              </a:rPr>
              <a:t>PAREI AQUIIIIIIIIIIIIII!!!!!!!!!!!!!!</a:t>
            </a:r>
            <a:endParaRPr lang="en-US" sz="5400" dirty="0">
              <a:solidFill>
                <a:srgbClr val="FF0000"/>
              </a:solidFill>
            </a:endParaRPr>
          </a:p>
        </p:txBody>
      </p:sp>
    </p:spTree>
    <p:extLst>
      <p:ext uri="{BB962C8B-B14F-4D97-AF65-F5344CB8AC3E}">
        <p14:creationId xmlns:p14="http://schemas.microsoft.com/office/powerpoint/2010/main" val="27288111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C8DCA9-22E3-E7D2-4335-66012FBB163E}"/>
              </a:ext>
            </a:extLst>
          </p:cNvPr>
          <p:cNvSpPr>
            <a:spLocks noGrp="1"/>
          </p:cNvSpPr>
          <p:nvPr>
            <p:ph type="title"/>
          </p:nvPr>
        </p:nvSpPr>
        <p:spPr/>
        <p:txBody>
          <a:bodyPr/>
          <a:lstStyle/>
          <a:p>
            <a:r>
              <a:rPr lang="en-US" dirty="0" err="1"/>
              <a:t>Codificação</a:t>
            </a:r>
            <a:r>
              <a:rPr lang="en-US" dirty="0"/>
              <a:t> de </a:t>
            </a:r>
            <a:r>
              <a:rPr lang="en-US" dirty="0" err="1"/>
              <a:t>atributos</a:t>
            </a:r>
            <a:r>
              <a:rPr lang="en-US" dirty="0"/>
              <a:t> </a:t>
            </a:r>
            <a:r>
              <a:rPr lang="en-US" dirty="0" err="1"/>
              <a:t>categóricos</a:t>
            </a:r>
            <a:endParaRPr lang="en-US" dirty="0"/>
          </a:p>
        </p:txBody>
      </p:sp>
      <p:sp>
        <p:nvSpPr>
          <p:cNvPr id="3" name="Content Placeholder 2">
            <a:extLst>
              <a:ext uri="{FF2B5EF4-FFF2-40B4-BE49-F238E27FC236}">
                <a16:creationId xmlns:a16="http://schemas.microsoft.com/office/drawing/2014/main" id="{A6E35704-3008-E5B2-8105-C96099FC4FDB}"/>
              </a:ext>
            </a:extLst>
          </p:cNvPr>
          <p:cNvSpPr>
            <a:spLocks noGrp="1"/>
          </p:cNvSpPr>
          <p:nvPr>
            <p:ph idx="1"/>
          </p:nvPr>
        </p:nvSpPr>
        <p:spPr>
          <a:xfrm>
            <a:off x="838199" y="1825624"/>
            <a:ext cx="11125201" cy="5032375"/>
          </a:xfrm>
        </p:spPr>
        <p:txBody>
          <a:bodyPr>
            <a:normAutofit/>
          </a:bodyPr>
          <a:lstStyle/>
          <a:p>
            <a:r>
              <a:rPr lang="pt-BR" b="1" dirty="0"/>
              <a:t>Motivação</a:t>
            </a:r>
            <a:r>
              <a:rPr lang="pt-BR" dirty="0"/>
              <a:t>: Modelos matemáticos não entendem texto, portanto, precisamos converter categorias em números.</a:t>
            </a:r>
          </a:p>
          <a:p>
            <a:r>
              <a:rPr lang="en-US" dirty="0"/>
              <a:t>As </a:t>
            </a:r>
            <a:r>
              <a:rPr lang="en-US" dirty="0" err="1"/>
              <a:t>principais</a:t>
            </a:r>
            <a:r>
              <a:rPr lang="en-US" dirty="0"/>
              <a:t> </a:t>
            </a:r>
            <a:r>
              <a:rPr lang="en-US" dirty="0" err="1"/>
              <a:t>técnicas</a:t>
            </a:r>
            <a:r>
              <a:rPr lang="en-US" dirty="0"/>
              <a:t> de </a:t>
            </a:r>
            <a:r>
              <a:rPr lang="en-US" dirty="0" err="1"/>
              <a:t>codificação</a:t>
            </a:r>
            <a:r>
              <a:rPr lang="en-US" dirty="0"/>
              <a:t> </a:t>
            </a:r>
            <a:r>
              <a:rPr lang="en-US" dirty="0" err="1"/>
              <a:t>são</a:t>
            </a:r>
            <a:r>
              <a:rPr lang="en-US" dirty="0"/>
              <a:t>:</a:t>
            </a:r>
            <a:endParaRPr lang="pt-BR" dirty="0"/>
          </a:p>
          <a:p>
            <a:pPr lvl="1">
              <a:buFont typeface="Wingdings" panose="05000000000000000000" pitchFamily="2" charset="2"/>
              <a:buChar char="§"/>
            </a:pPr>
            <a:r>
              <a:rPr lang="en-US" dirty="0"/>
              <a:t>One-Hot encoding</a:t>
            </a:r>
          </a:p>
          <a:p>
            <a:pPr lvl="1">
              <a:buFont typeface="Wingdings" panose="05000000000000000000" pitchFamily="2" charset="2"/>
              <a:buChar char="§"/>
            </a:pPr>
            <a:r>
              <a:rPr lang="en-US" dirty="0"/>
              <a:t>Label encoding</a:t>
            </a:r>
          </a:p>
          <a:p>
            <a:pPr lvl="1">
              <a:buFont typeface="Wingdings" panose="05000000000000000000" pitchFamily="2" charset="2"/>
              <a:buChar char="§"/>
            </a:pPr>
            <a:r>
              <a:rPr lang="en-US" dirty="0"/>
              <a:t>Target encoding</a:t>
            </a:r>
          </a:p>
          <a:p>
            <a:pPr lvl="1">
              <a:buFont typeface="Wingdings" panose="05000000000000000000" pitchFamily="2" charset="2"/>
              <a:buChar char="§"/>
            </a:pPr>
            <a:r>
              <a:rPr lang="en-US"/>
              <a:t>Binary </a:t>
            </a:r>
            <a:r>
              <a:rPr lang="en-US" dirty="0"/>
              <a:t>e</a:t>
            </a:r>
            <a:r>
              <a:rPr lang="en-US"/>
              <a:t>ncoding</a:t>
            </a:r>
            <a:endParaRPr lang="pt-BR" dirty="0"/>
          </a:p>
          <a:p>
            <a:r>
              <a:rPr lang="pt-BR" b="1" dirty="0"/>
              <a:t>OBS</a:t>
            </a:r>
            <a:r>
              <a:rPr lang="pt-BR" dirty="0"/>
              <a:t>.: A codificação pode ser considerada uma forma de engenharia de atributos.</a:t>
            </a:r>
            <a:endParaRPr lang="en-US" dirty="0"/>
          </a:p>
        </p:txBody>
      </p:sp>
    </p:spTree>
    <p:extLst>
      <p:ext uri="{BB962C8B-B14F-4D97-AF65-F5344CB8AC3E}">
        <p14:creationId xmlns:p14="http://schemas.microsoft.com/office/powerpoint/2010/main" val="36873156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389AB-09B4-AB30-AAD4-587A6426A3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9514B5-016A-AF18-EA86-F01A6813676C}"/>
              </a:ext>
            </a:extLst>
          </p:cNvPr>
          <p:cNvSpPr>
            <a:spLocks noGrp="1"/>
          </p:cNvSpPr>
          <p:nvPr>
            <p:ph type="title"/>
          </p:nvPr>
        </p:nvSpPr>
        <p:spPr/>
        <p:txBody>
          <a:bodyPr/>
          <a:lstStyle/>
          <a:p>
            <a:r>
              <a:rPr lang="en-US" i="1" dirty="0"/>
              <a:t>One-Hot encoding</a:t>
            </a:r>
          </a:p>
        </p:txBody>
      </p:sp>
      <p:sp>
        <p:nvSpPr>
          <p:cNvPr id="3" name="Content Placeholder 2">
            <a:extLst>
              <a:ext uri="{FF2B5EF4-FFF2-40B4-BE49-F238E27FC236}">
                <a16:creationId xmlns:a16="http://schemas.microsoft.com/office/drawing/2014/main" id="{44B52C18-6F1E-8230-5D96-63D8A5144D41}"/>
              </a:ext>
            </a:extLst>
          </p:cNvPr>
          <p:cNvSpPr>
            <a:spLocks noGrp="1"/>
          </p:cNvSpPr>
          <p:nvPr>
            <p:ph idx="1"/>
          </p:nvPr>
        </p:nvSpPr>
        <p:spPr>
          <a:xfrm>
            <a:off x="5791200" y="1825624"/>
            <a:ext cx="6172199" cy="5032375"/>
          </a:xfrm>
        </p:spPr>
        <p:txBody>
          <a:bodyPr>
            <a:normAutofit/>
          </a:bodyPr>
          <a:lstStyle/>
          <a:p>
            <a:r>
              <a:rPr lang="pt-BR" dirty="0"/>
              <a:t>Usada com atributos nominais (i.e., sem ordem) e com baixa cardinalidade (i.e., com poucas categorias distintas). </a:t>
            </a:r>
          </a:p>
          <a:p>
            <a:r>
              <a:rPr lang="pt-BR" b="1" dirty="0"/>
              <a:t>Como funciona:</a:t>
            </a:r>
            <a:r>
              <a:rPr lang="pt-BR" dirty="0"/>
              <a:t> Cria uma nova coluna binária para cada categoria distinta.</a:t>
            </a:r>
          </a:p>
          <a:p>
            <a:r>
              <a:rPr lang="pt-BR" b="1" dirty="0"/>
              <a:t>Limitação:</a:t>
            </a:r>
            <a:r>
              <a:rPr lang="pt-BR" dirty="0"/>
              <a:t> Gera alta dimensionalidade (i.e., muitas colunas) se houver muitas categorias, aumentando o custo computacional.</a:t>
            </a:r>
          </a:p>
          <a:p>
            <a:pPr lvl="1">
              <a:buFont typeface="Wingdings" panose="05000000000000000000" pitchFamily="2" charset="2"/>
              <a:buChar char="§"/>
            </a:pPr>
            <a:r>
              <a:rPr lang="pt-BR" dirty="0"/>
              <a:t>Pode criar o problema conhecido como a “maldição da dimensionalidade”.</a:t>
            </a:r>
          </a:p>
        </p:txBody>
      </p:sp>
      <p:pic>
        <p:nvPicPr>
          <p:cNvPr id="2051" name="Picture 3" descr="One-Hot Encoding: A Comprehensive Guide with Python Implementation | by  Shubham Sangole | GoPenAI">
            <a:extLst>
              <a:ext uri="{FF2B5EF4-FFF2-40B4-BE49-F238E27FC236}">
                <a16:creationId xmlns:a16="http://schemas.microsoft.com/office/drawing/2014/main" id="{04411FF2-E0FD-9D33-63B9-86F2888D8A5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3237" t="8519" r="2382" b="57788"/>
          <a:stretch>
            <a:fillRect/>
          </a:stretch>
        </p:blipFill>
        <p:spPr bwMode="auto">
          <a:xfrm>
            <a:off x="381001" y="2846613"/>
            <a:ext cx="5072743" cy="21662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927027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7A9C30-8D7C-8A1B-D798-06ED56DFC7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549E73-5A60-3934-DCFD-CA42C618F8F5}"/>
              </a:ext>
            </a:extLst>
          </p:cNvPr>
          <p:cNvSpPr>
            <a:spLocks noGrp="1"/>
          </p:cNvSpPr>
          <p:nvPr>
            <p:ph type="title"/>
          </p:nvPr>
        </p:nvSpPr>
        <p:spPr/>
        <p:txBody>
          <a:bodyPr/>
          <a:lstStyle/>
          <a:p>
            <a:r>
              <a:rPr lang="en-US" i="1" dirty="0"/>
              <a:t>Label encoding</a:t>
            </a:r>
          </a:p>
        </p:txBody>
      </p:sp>
      <p:sp>
        <p:nvSpPr>
          <p:cNvPr id="3" name="Content Placeholder 2">
            <a:extLst>
              <a:ext uri="{FF2B5EF4-FFF2-40B4-BE49-F238E27FC236}">
                <a16:creationId xmlns:a16="http://schemas.microsoft.com/office/drawing/2014/main" id="{0418BA66-6028-330D-1D57-30D6366EC343}"/>
              </a:ext>
            </a:extLst>
          </p:cNvPr>
          <p:cNvSpPr>
            <a:spLocks noGrp="1"/>
          </p:cNvSpPr>
          <p:nvPr>
            <p:ph idx="1"/>
          </p:nvPr>
        </p:nvSpPr>
        <p:spPr>
          <a:xfrm>
            <a:off x="5138058" y="1825624"/>
            <a:ext cx="6945086" cy="5032375"/>
          </a:xfrm>
        </p:spPr>
        <p:txBody>
          <a:bodyPr>
            <a:normAutofit lnSpcReduction="10000"/>
          </a:bodyPr>
          <a:lstStyle/>
          <a:p>
            <a:r>
              <a:rPr lang="pt-BR" dirty="0"/>
              <a:t>Converte cada categoria em um número inteiro único, mas sem considerar uma ordem. </a:t>
            </a:r>
          </a:p>
          <a:p>
            <a:r>
              <a:rPr lang="pt-BR" b="1" dirty="0"/>
              <a:t>Uso:</a:t>
            </a:r>
            <a:r>
              <a:rPr lang="pt-BR" dirty="0"/>
              <a:t> Indicada principalmente para a codificação do rótulo em problemas de classificação.</a:t>
            </a:r>
          </a:p>
          <a:p>
            <a:r>
              <a:rPr lang="pt-BR" b="1" dirty="0"/>
              <a:t>Risco:</a:t>
            </a:r>
            <a:r>
              <a:rPr lang="pt-BR" dirty="0"/>
              <a:t> Pode introduzir uma relação de ordem falsa que afeta negativamente algoritmos sensíveis a distâncias ou magnitudes (e.g., </a:t>
            </a:r>
            <a:r>
              <a:rPr lang="pt-BR" dirty="0" err="1"/>
              <a:t>regressores</a:t>
            </a:r>
            <a:r>
              <a:rPr lang="pt-BR" dirty="0"/>
              <a:t> linear e logístico e KNN).</a:t>
            </a:r>
          </a:p>
          <a:p>
            <a:pPr lvl="1">
              <a:buFont typeface="Wingdings" panose="05000000000000000000" pitchFamily="2" charset="2"/>
              <a:buChar char="§"/>
            </a:pPr>
            <a:r>
              <a:rPr lang="pt-BR" dirty="0"/>
              <a:t>Para tamanho de camisetas (P, M, G), faz sentido (ordinal).</a:t>
            </a:r>
          </a:p>
          <a:p>
            <a:pPr lvl="1">
              <a:buFont typeface="Wingdings" panose="05000000000000000000" pitchFamily="2" charset="2"/>
              <a:buChar char="§"/>
            </a:pPr>
            <a:r>
              <a:rPr lang="pt-BR" dirty="0"/>
              <a:t>Para animais e cores, não (nominal).</a:t>
            </a:r>
          </a:p>
        </p:txBody>
      </p:sp>
      <p:pic>
        <p:nvPicPr>
          <p:cNvPr id="8" name="Picture 7">
            <a:extLst>
              <a:ext uri="{FF2B5EF4-FFF2-40B4-BE49-F238E27FC236}">
                <a16:creationId xmlns:a16="http://schemas.microsoft.com/office/drawing/2014/main" id="{7529D32B-8978-31FB-62B1-9E8E3D400419}"/>
              </a:ext>
            </a:extLst>
          </p:cNvPr>
          <p:cNvPicPr>
            <a:picLocks noChangeAspect="1"/>
          </p:cNvPicPr>
          <p:nvPr/>
        </p:nvPicPr>
        <p:blipFill>
          <a:blip r:embed="rId3">
            <a:extLst>
              <a:ext uri="{28A0092B-C50C-407E-A947-70E740481C1C}">
                <a14:useLocalDpi xmlns:a14="http://schemas.microsoft.com/office/drawing/2010/main" val="0"/>
              </a:ext>
            </a:extLst>
          </a:blip>
          <a:srcRect l="4261" t="7152" r="5331" b="8009"/>
          <a:stretch>
            <a:fillRect/>
          </a:stretch>
        </p:blipFill>
        <p:spPr>
          <a:xfrm>
            <a:off x="250371" y="2895600"/>
            <a:ext cx="4616969" cy="2166256"/>
          </a:xfrm>
          <a:prstGeom prst="rect">
            <a:avLst/>
          </a:prstGeom>
        </p:spPr>
      </p:pic>
    </p:spTree>
    <p:extLst>
      <p:ext uri="{BB962C8B-B14F-4D97-AF65-F5344CB8AC3E}">
        <p14:creationId xmlns:p14="http://schemas.microsoft.com/office/powerpoint/2010/main" val="91105652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883D4-BDD8-E7FF-C7AE-3D255B8711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7E13F8-6196-AD06-DE47-12B16A60FC57}"/>
              </a:ext>
            </a:extLst>
          </p:cNvPr>
          <p:cNvSpPr>
            <a:spLocks noGrp="1"/>
          </p:cNvSpPr>
          <p:nvPr>
            <p:ph type="title"/>
          </p:nvPr>
        </p:nvSpPr>
        <p:spPr/>
        <p:txBody>
          <a:bodyPr/>
          <a:lstStyle/>
          <a:p>
            <a:r>
              <a:rPr lang="en-US" i="1" dirty="0"/>
              <a:t>Target encoding</a:t>
            </a:r>
          </a:p>
        </p:txBody>
      </p:sp>
      <p:sp>
        <p:nvSpPr>
          <p:cNvPr id="3" name="Content Placeholder 2">
            <a:extLst>
              <a:ext uri="{FF2B5EF4-FFF2-40B4-BE49-F238E27FC236}">
                <a16:creationId xmlns:a16="http://schemas.microsoft.com/office/drawing/2014/main" id="{3933F122-99CE-8A1C-8288-BA542054EAA8}"/>
              </a:ext>
            </a:extLst>
          </p:cNvPr>
          <p:cNvSpPr>
            <a:spLocks noGrp="1"/>
          </p:cNvSpPr>
          <p:nvPr>
            <p:ph idx="1"/>
          </p:nvPr>
        </p:nvSpPr>
        <p:spPr>
          <a:xfrm>
            <a:off x="5399314" y="1825624"/>
            <a:ext cx="6640286" cy="5032375"/>
          </a:xfrm>
        </p:spPr>
        <p:txBody>
          <a:bodyPr>
            <a:normAutofit lnSpcReduction="10000"/>
          </a:bodyPr>
          <a:lstStyle/>
          <a:p>
            <a:r>
              <a:rPr lang="pt-BR" dirty="0"/>
              <a:t>Substitui cada categoria pela média do valor do alvo correspondente a essa categoria.</a:t>
            </a:r>
          </a:p>
          <a:p>
            <a:r>
              <a:rPr lang="pt-BR" b="1" dirty="0"/>
              <a:t>Quando usar:</a:t>
            </a:r>
            <a:r>
              <a:rPr lang="pt-BR" dirty="0"/>
              <a:t> Ideal para variáveis de alta cardinalidade, pois não aumenta a dimensionalidade do conjunto de dados e quando há relação entre a categoria e o </a:t>
            </a:r>
            <a:r>
              <a:rPr lang="pt-BR" i="1" dirty="0"/>
              <a:t>target</a:t>
            </a:r>
            <a:r>
              <a:rPr lang="pt-BR" dirty="0"/>
              <a:t>.</a:t>
            </a:r>
          </a:p>
          <a:p>
            <a:r>
              <a:rPr lang="pt-BR" b="1" dirty="0"/>
              <a:t>Risco:</a:t>
            </a:r>
            <a:r>
              <a:rPr lang="pt-BR" dirty="0"/>
              <a:t> Risco de </a:t>
            </a:r>
            <a:r>
              <a:rPr lang="pt-BR" i="1" dirty="0" err="1"/>
              <a:t>overfitting</a:t>
            </a:r>
            <a:r>
              <a:rPr lang="pt-BR" dirty="0"/>
              <a:t> quando uma categoria tem poucos exemplos.</a:t>
            </a:r>
          </a:p>
          <a:p>
            <a:pPr lvl="1">
              <a:buFont typeface="Wingdings" panose="05000000000000000000" pitchFamily="2" charset="2"/>
              <a:buChar char="§"/>
            </a:pPr>
            <a:r>
              <a:rPr lang="pt-BR" dirty="0"/>
              <a:t>A média do </a:t>
            </a:r>
            <a:r>
              <a:rPr lang="pt-BR" i="1" dirty="0"/>
              <a:t>target</a:t>
            </a:r>
            <a:r>
              <a:rPr lang="pt-BR" dirty="0"/>
              <a:t> pode refletir mais ruído do que padrão real dos dados, prejudicando a generalização.</a:t>
            </a:r>
          </a:p>
        </p:txBody>
      </p:sp>
      <p:pic>
        <p:nvPicPr>
          <p:cNvPr id="2050" name="Picture 2" descr="Data Transformation: one-hot vs target encoding">
            <a:extLst>
              <a:ext uri="{FF2B5EF4-FFF2-40B4-BE49-F238E27FC236}">
                <a16:creationId xmlns:a16="http://schemas.microsoft.com/office/drawing/2014/main" id="{7BB7010D-52CF-95E3-7867-6467D4626A4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39" t="23968" r="4286" b="15079"/>
          <a:stretch>
            <a:fillRect/>
          </a:stretch>
        </p:blipFill>
        <p:spPr bwMode="auto">
          <a:xfrm>
            <a:off x="228600" y="3023466"/>
            <a:ext cx="4789715" cy="17662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053991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DD75A-3D20-1CFF-0CAC-A5CB15BA9A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6F2449-F38A-4DF6-443B-1B77E3F39668}"/>
              </a:ext>
            </a:extLst>
          </p:cNvPr>
          <p:cNvSpPr>
            <a:spLocks noGrp="1"/>
          </p:cNvSpPr>
          <p:nvPr>
            <p:ph type="title"/>
          </p:nvPr>
        </p:nvSpPr>
        <p:spPr/>
        <p:txBody>
          <a:bodyPr/>
          <a:lstStyle/>
          <a:p>
            <a:r>
              <a:rPr lang="en-US" i="1" dirty="0"/>
              <a:t>Binary encoding</a:t>
            </a:r>
          </a:p>
        </p:txBody>
      </p:sp>
      <p:sp>
        <p:nvSpPr>
          <p:cNvPr id="3" name="Content Placeholder 2">
            <a:extLst>
              <a:ext uri="{FF2B5EF4-FFF2-40B4-BE49-F238E27FC236}">
                <a16:creationId xmlns:a16="http://schemas.microsoft.com/office/drawing/2014/main" id="{14A68C86-94AE-24AE-A0EF-6A9D083052C7}"/>
              </a:ext>
            </a:extLst>
          </p:cNvPr>
          <p:cNvSpPr>
            <a:spLocks noGrp="1"/>
          </p:cNvSpPr>
          <p:nvPr>
            <p:ph idx="1"/>
          </p:nvPr>
        </p:nvSpPr>
        <p:spPr>
          <a:xfrm>
            <a:off x="5791200" y="1825624"/>
            <a:ext cx="6172199" cy="5032375"/>
          </a:xfrm>
        </p:spPr>
        <p:txBody>
          <a:bodyPr>
            <a:normAutofit/>
          </a:bodyPr>
          <a:lstStyle/>
          <a:p>
            <a:r>
              <a:rPr lang="pt-BR" dirty="0"/>
              <a:t>Combina os benefícios das codificações </a:t>
            </a:r>
            <a:r>
              <a:rPr lang="pt-BR" i="1" dirty="0" err="1"/>
              <a:t>One</a:t>
            </a:r>
            <a:r>
              <a:rPr lang="pt-BR" i="1" dirty="0"/>
              <a:t>-Hot</a:t>
            </a:r>
            <a:r>
              <a:rPr lang="pt-BR" dirty="0"/>
              <a:t> e </a:t>
            </a:r>
            <a:r>
              <a:rPr lang="pt-BR" i="1" dirty="0" err="1"/>
              <a:t>Label</a:t>
            </a:r>
            <a:r>
              <a:rPr lang="pt-BR" dirty="0"/>
              <a:t>. </a:t>
            </a:r>
          </a:p>
          <a:p>
            <a:r>
              <a:rPr lang="pt-BR" dirty="0"/>
              <a:t>As categorias são convertidas em números (</a:t>
            </a:r>
            <a:r>
              <a:rPr lang="pt-BR" i="1" dirty="0" err="1"/>
              <a:t>Label</a:t>
            </a:r>
            <a:r>
              <a:rPr lang="pt-BR" dirty="0"/>
              <a:t>), e depois esses números são convertidos em seus valores binários, criando colunas separadas para cada bit.</a:t>
            </a:r>
          </a:p>
          <a:p>
            <a:r>
              <a:rPr lang="pt-BR" b="1" dirty="0"/>
              <a:t>Quando usar:</a:t>
            </a:r>
            <a:r>
              <a:rPr lang="pt-BR" dirty="0"/>
              <a:t> Ótimo para variáveis categóricas de alta cardinalidade.</a:t>
            </a:r>
          </a:p>
          <a:p>
            <a:r>
              <a:rPr lang="pt-BR" sz="3600" b="1">
                <a:solidFill>
                  <a:srgbClr val="FF0000"/>
                </a:solidFill>
              </a:rPr>
              <a:t>Desvantagem:XXXXXXXXXXX</a:t>
            </a:r>
            <a:endParaRPr lang="pt-BR" b="1" dirty="0">
              <a:solidFill>
                <a:srgbClr val="FF0000"/>
              </a:solidFill>
            </a:endParaRPr>
          </a:p>
        </p:txBody>
      </p:sp>
      <p:pic>
        <p:nvPicPr>
          <p:cNvPr id="3074" name="Picture 2" descr="7 Must-know Techniques For Encoding Categorical Feature">
            <a:extLst>
              <a:ext uri="{FF2B5EF4-FFF2-40B4-BE49-F238E27FC236}">
                <a16:creationId xmlns:a16="http://schemas.microsoft.com/office/drawing/2014/main" id="{7AEBA2C1-6D35-7636-7CD6-AC297809D19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161" t="10457" r="5625" b="19838"/>
          <a:stretch>
            <a:fillRect/>
          </a:stretch>
        </p:blipFill>
        <p:spPr bwMode="auto">
          <a:xfrm>
            <a:off x="152400" y="2906486"/>
            <a:ext cx="5125700" cy="18832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248256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3E6AEB-4BFC-EF3A-CCC7-C66FB3B5B1FB}"/>
              </a:ext>
            </a:extLst>
          </p:cNvPr>
          <p:cNvSpPr>
            <a:spLocks noGrp="1"/>
          </p:cNvSpPr>
          <p:nvPr>
            <p:ph type="title"/>
          </p:nvPr>
        </p:nvSpPr>
        <p:spPr/>
        <p:txBody>
          <a:bodyPr/>
          <a:lstStyle/>
          <a:p>
            <a:r>
              <a:rPr lang="pt-BR" dirty="0"/>
              <a:t>Exemplos de </a:t>
            </a:r>
            <a:r>
              <a:rPr lang="pt-BR" i="1" dirty="0" err="1"/>
              <a:t>encoding</a:t>
            </a:r>
            <a:endParaRPr lang="en-US" i="1" dirty="0"/>
          </a:p>
        </p:txBody>
      </p:sp>
      <p:sp>
        <p:nvSpPr>
          <p:cNvPr id="3" name="Content Placeholder 2">
            <a:extLst>
              <a:ext uri="{FF2B5EF4-FFF2-40B4-BE49-F238E27FC236}">
                <a16:creationId xmlns:a16="http://schemas.microsoft.com/office/drawing/2014/main" id="{D2AD9A45-89F4-0472-434E-82FA5060D20B}"/>
              </a:ext>
            </a:extLst>
          </p:cNvPr>
          <p:cNvSpPr>
            <a:spLocks noGrp="1"/>
          </p:cNvSpPr>
          <p:nvPr>
            <p:ph idx="1"/>
          </p:nvPr>
        </p:nvSpPr>
        <p:spPr/>
        <p:txBody>
          <a:bodyPr>
            <a:normAutofit fontScale="92500" lnSpcReduction="10000"/>
          </a:bodyPr>
          <a:lstStyle/>
          <a:p>
            <a:pPr marL="0" indent="0">
              <a:buNone/>
            </a:pPr>
            <a:r>
              <a:rPr lang="en-US" dirty="0">
                <a:latin typeface="Consolas" panose="020B0609020204030204" pitchFamily="49" charset="0"/>
              </a:rPr>
              <a:t>from </a:t>
            </a:r>
            <a:r>
              <a:rPr lang="en-US" dirty="0" err="1">
                <a:latin typeface="Consolas" panose="020B0609020204030204" pitchFamily="49" charset="0"/>
              </a:rPr>
              <a:t>sklearn.preprocessing</a:t>
            </a:r>
            <a:r>
              <a:rPr lang="en-US" dirty="0">
                <a:latin typeface="Consolas" panose="020B0609020204030204" pitchFamily="49" charset="0"/>
              </a:rPr>
              <a:t> import </a:t>
            </a:r>
            <a:r>
              <a:rPr lang="en-US" dirty="0" err="1"/>
              <a:t>OneHotEncoder</a:t>
            </a:r>
            <a:r>
              <a:rPr lang="en-US" dirty="0">
                <a:latin typeface="Consolas" panose="020B0609020204030204" pitchFamily="49" charset="0"/>
              </a:rPr>
              <a:t>,</a:t>
            </a:r>
            <a:r>
              <a:rPr lang="en-US" dirty="0"/>
              <a:t> </a:t>
            </a:r>
            <a:r>
              <a:rPr lang="en-US" dirty="0" err="1"/>
              <a:t>OrdinalEncoder</a:t>
            </a:r>
            <a:r>
              <a:rPr lang="en-US" dirty="0"/>
              <a:t>,</a:t>
            </a:r>
            <a:r>
              <a:rPr lang="en-US" dirty="0">
                <a:latin typeface="Consolas" panose="020B0609020204030204" pitchFamily="49" charset="0"/>
              </a:rPr>
              <a:t> </a:t>
            </a:r>
            <a:r>
              <a:rPr lang="en-US" dirty="0" err="1">
                <a:latin typeface="Consolas" panose="020B0609020204030204" pitchFamily="49" charset="0"/>
              </a:rPr>
              <a:t>LabelEncoder</a:t>
            </a:r>
            <a:r>
              <a:rPr lang="en-US" dirty="0">
                <a:latin typeface="Consolas" panose="020B0609020204030204" pitchFamily="49" charset="0"/>
              </a:rPr>
              <a:t>, </a:t>
            </a:r>
            <a:r>
              <a:rPr lang="en-US" dirty="0" err="1"/>
              <a:t>TargetEncoder</a:t>
            </a:r>
            <a:endParaRPr lang="en-US" dirty="0"/>
          </a:p>
          <a:p>
            <a:pPr marL="0" indent="0">
              <a:buNone/>
            </a:pPr>
            <a:endParaRPr lang="en-US" dirty="0"/>
          </a:p>
          <a:p>
            <a:pPr marL="0" indent="0">
              <a:buNone/>
            </a:pPr>
            <a:endParaRPr lang="en-US" dirty="0">
              <a:latin typeface="Consolas" panose="020B0609020204030204" pitchFamily="49" charset="0"/>
            </a:endParaRPr>
          </a:p>
          <a:p>
            <a:pPr marL="0" indent="0">
              <a:buNone/>
            </a:pPr>
            <a:endParaRPr lang="en-US" dirty="0">
              <a:latin typeface="Consolas" panose="020B0609020204030204" pitchFamily="49" charset="0"/>
            </a:endParaRPr>
          </a:p>
          <a:p>
            <a:pPr marL="0" indent="0">
              <a:buNone/>
            </a:pPr>
            <a:r>
              <a:rPr lang="en-US" dirty="0">
                <a:latin typeface="Consolas" panose="020B0609020204030204" pitchFamily="49" charset="0"/>
              </a:rPr>
              <a:t>enc = </a:t>
            </a:r>
            <a:r>
              <a:rPr lang="en-US" dirty="0" err="1">
                <a:latin typeface="Consolas" panose="020B0609020204030204" pitchFamily="49" charset="0"/>
              </a:rPr>
              <a:t>LabelEncoder</a:t>
            </a:r>
            <a:r>
              <a:rPr lang="en-US" dirty="0">
                <a:latin typeface="Consolas" panose="020B0609020204030204" pitchFamily="49" charset="0"/>
              </a:rPr>
              <a:t>()</a:t>
            </a:r>
          </a:p>
          <a:p>
            <a:pPr marL="0" indent="0">
              <a:buNone/>
            </a:pPr>
            <a:r>
              <a:rPr lang="en-US" dirty="0" err="1">
                <a:latin typeface="Consolas" panose="020B0609020204030204" pitchFamily="49" charset="0"/>
              </a:rPr>
              <a:t>enc.fit_transform</a:t>
            </a:r>
            <a:r>
              <a:rPr lang="en-US" dirty="0">
                <a:latin typeface="Consolas" panose="020B0609020204030204" pitchFamily="49" charset="0"/>
              </a:rPr>
              <a:t>(</a:t>
            </a:r>
            <a:r>
              <a:rPr lang="en-US" dirty="0" err="1">
                <a:latin typeface="Consolas" panose="020B0609020204030204" pitchFamily="49" charset="0"/>
              </a:rPr>
              <a:t>X_train</a:t>
            </a:r>
            <a:r>
              <a:rPr lang="en-US" dirty="0">
                <a:latin typeface="Consolas" panose="020B0609020204030204" pitchFamily="49" charset="0"/>
              </a:rPr>
              <a:t>)</a:t>
            </a:r>
          </a:p>
          <a:p>
            <a:pPr marL="0" indent="0">
              <a:buNone/>
            </a:pPr>
            <a:endParaRPr lang="en-US" dirty="0">
              <a:latin typeface="Consolas" panose="020B0609020204030204" pitchFamily="49" charset="0"/>
            </a:endParaRPr>
          </a:p>
          <a:p>
            <a:pPr marL="0" indent="0">
              <a:buNone/>
            </a:pPr>
            <a:r>
              <a:rPr lang="en-US" dirty="0" err="1">
                <a:latin typeface="Consolas" panose="020B0609020204030204" pitchFamily="49" charset="0"/>
              </a:rPr>
              <a:t>enc.transform</a:t>
            </a:r>
            <a:r>
              <a:rPr lang="en-US" dirty="0">
                <a:latin typeface="Consolas" panose="020B0609020204030204" pitchFamily="49" charset="0"/>
              </a:rPr>
              <a:t>(</a:t>
            </a:r>
            <a:r>
              <a:rPr lang="en-US" dirty="0" err="1">
                <a:latin typeface="Consolas" panose="020B0609020204030204" pitchFamily="49" charset="0"/>
              </a:rPr>
              <a:t>X_test</a:t>
            </a:r>
            <a:r>
              <a:rPr lang="en-US" dirty="0">
                <a:latin typeface="Consolas" panose="020B0609020204030204" pitchFamily="49" charset="0"/>
              </a:rPr>
              <a:t>)     </a:t>
            </a:r>
          </a:p>
          <a:p>
            <a:pPr marL="0" indent="0">
              <a:buNone/>
            </a:pPr>
            <a:r>
              <a:rPr lang="en-US" dirty="0" err="1">
                <a:latin typeface="Consolas" panose="020B0609020204030204" pitchFamily="49" charset="0"/>
              </a:rPr>
              <a:t>enc.inverse_transform</a:t>
            </a:r>
            <a:r>
              <a:rPr lang="en-US" dirty="0">
                <a:latin typeface="Consolas" panose="020B0609020204030204" pitchFamily="49" charset="0"/>
              </a:rPr>
              <a:t>(</a:t>
            </a:r>
            <a:r>
              <a:rPr lang="en-US" dirty="0" err="1">
                <a:latin typeface="Consolas" panose="020B0609020204030204" pitchFamily="49" charset="0"/>
              </a:rPr>
              <a:t>X_test</a:t>
            </a:r>
            <a:r>
              <a:rPr lang="en-US" dirty="0">
                <a:latin typeface="Consolas" panose="020B0609020204030204" pitchFamily="49" charset="0"/>
              </a:rPr>
              <a:t>)</a:t>
            </a:r>
          </a:p>
        </p:txBody>
      </p:sp>
    </p:spTree>
    <p:extLst>
      <p:ext uri="{BB962C8B-B14F-4D97-AF65-F5344CB8AC3E}">
        <p14:creationId xmlns:p14="http://schemas.microsoft.com/office/powerpoint/2010/main" val="17171935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solidFill>
                  <a:srgbClr val="FF0000"/>
                </a:solidFill>
              </a:rPr>
              <a:t>Sobre o que falar?</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normAutofit/>
          </a:bodyPr>
          <a:lstStyle/>
          <a:p>
            <a:pPr marL="0" indent="0">
              <a:buNone/>
            </a:pPr>
            <a:r>
              <a:rPr lang="pt-BR" sz="4000" b="1" dirty="0">
                <a:solidFill>
                  <a:srgbClr val="FF0000"/>
                </a:solidFill>
              </a:rPr>
              <a:t>Transformações</a:t>
            </a:r>
          </a:p>
          <a:p>
            <a:r>
              <a:rPr lang="pt-BR" sz="4000" b="1" dirty="0">
                <a:solidFill>
                  <a:srgbClr val="FF0000"/>
                </a:solidFill>
              </a:rPr>
              <a:t>Engenharia e Seleção de Atributos (A Alquimia):</a:t>
            </a:r>
            <a:r>
              <a:rPr lang="pt-BR" sz="4000" dirty="0">
                <a:solidFill>
                  <a:srgbClr val="FF0000"/>
                </a:solidFill>
              </a:rPr>
              <a:t> 50 min</a:t>
            </a:r>
          </a:p>
          <a:p>
            <a:pPr lvl="1"/>
            <a:r>
              <a:rPr lang="pt-BR" sz="3600" b="1" dirty="0">
                <a:solidFill>
                  <a:srgbClr val="FF0000"/>
                </a:solidFill>
              </a:rPr>
              <a:t>Feature </a:t>
            </a:r>
            <a:r>
              <a:rPr lang="pt-BR" sz="3600" b="1" dirty="0" err="1">
                <a:solidFill>
                  <a:srgbClr val="FF0000"/>
                </a:solidFill>
              </a:rPr>
              <a:t>engineering</a:t>
            </a:r>
            <a:r>
              <a:rPr lang="pt-BR" sz="3600" dirty="0">
                <a:solidFill>
                  <a:srgbClr val="FF0000"/>
                </a:solidFill>
              </a:rPr>
              <a:t> (criar variáveis que façam sentido). </a:t>
            </a:r>
          </a:p>
          <a:p>
            <a:r>
              <a:rPr lang="pt-BR" sz="4000" b="1" dirty="0">
                <a:solidFill>
                  <a:srgbClr val="FF0000"/>
                </a:solidFill>
              </a:rPr>
              <a:t>Codificação de variáveis categóricas:</a:t>
            </a:r>
            <a:r>
              <a:rPr lang="pt-BR" sz="4000" dirty="0">
                <a:solidFill>
                  <a:srgbClr val="FF0000"/>
                </a:solidFill>
              </a:rPr>
              <a:t> </a:t>
            </a:r>
            <a:r>
              <a:rPr lang="pt-BR" sz="4000" dirty="0" err="1">
                <a:solidFill>
                  <a:srgbClr val="FF0000"/>
                </a:solidFill>
              </a:rPr>
              <a:t>one</a:t>
            </a:r>
            <a:r>
              <a:rPr lang="pt-BR" sz="4000" dirty="0">
                <a:solidFill>
                  <a:srgbClr val="FF0000"/>
                </a:solidFill>
              </a:rPr>
              <a:t>-hot, </a:t>
            </a:r>
            <a:r>
              <a:rPr lang="pt-BR" sz="4000" dirty="0" err="1">
                <a:solidFill>
                  <a:srgbClr val="FF0000"/>
                </a:solidFill>
              </a:rPr>
              <a:t>label</a:t>
            </a:r>
            <a:r>
              <a:rPr lang="pt-BR" sz="4000" dirty="0">
                <a:solidFill>
                  <a:srgbClr val="FF0000"/>
                </a:solidFill>
              </a:rPr>
              <a:t> </a:t>
            </a:r>
            <a:r>
              <a:rPr lang="pt-BR" sz="4000" dirty="0" err="1">
                <a:solidFill>
                  <a:srgbClr val="FF0000"/>
                </a:solidFill>
              </a:rPr>
              <a:t>encoding</a:t>
            </a:r>
            <a:r>
              <a:rPr lang="pt-BR" sz="4000" dirty="0">
                <a:solidFill>
                  <a:srgbClr val="FF0000"/>
                </a:solidFill>
              </a:rPr>
              <a:t>.</a:t>
            </a:r>
          </a:p>
        </p:txBody>
      </p:sp>
    </p:spTree>
    <p:extLst>
      <p:ext uri="{BB962C8B-B14F-4D97-AF65-F5344CB8AC3E}">
        <p14:creationId xmlns:p14="http://schemas.microsoft.com/office/powerpoint/2010/main" val="31870715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DE3AC-BF5D-66CC-4338-E24FCABF9097}"/>
              </a:ext>
            </a:extLst>
          </p:cNvPr>
          <p:cNvSpPr>
            <a:spLocks noGrp="1"/>
          </p:cNvSpPr>
          <p:nvPr>
            <p:ph type="title"/>
          </p:nvPr>
        </p:nvSpPr>
        <p:spPr/>
        <p:txBody>
          <a:bodyPr/>
          <a:lstStyle/>
          <a:p>
            <a:r>
              <a:rPr lang="en-US" dirty="0" err="1"/>
              <a:t>Engenharia</a:t>
            </a:r>
            <a:r>
              <a:rPr lang="en-US" dirty="0"/>
              <a:t> de </a:t>
            </a:r>
            <a:r>
              <a:rPr lang="en-US" dirty="0" err="1"/>
              <a:t>atributos</a:t>
            </a:r>
            <a:endParaRPr lang="en-US" dirty="0"/>
          </a:p>
        </p:txBody>
      </p:sp>
      <p:sp>
        <p:nvSpPr>
          <p:cNvPr id="3" name="Content Placeholder 2">
            <a:extLst>
              <a:ext uri="{FF2B5EF4-FFF2-40B4-BE49-F238E27FC236}">
                <a16:creationId xmlns:a16="http://schemas.microsoft.com/office/drawing/2014/main" id="{763AE027-526F-64B6-C706-EA359C1FC44D}"/>
              </a:ext>
            </a:extLst>
          </p:cNvPr>
          <p:cNvSpPr>
            <a:spLocks noGrp="1"/>
          </p:cNvSpPr>
          <p:nvPr>
            <p:ph idx="1"/>
          </p:nvPr>
        </p:nvSpPr>
        <p:spPr/>
        <p:txBody>
          <a:bodyPr/>
          <a:lstStyle/>
          <a:p>
            <a:r>
              <a:rPr lang="pt-BR" dirty="0"/>
              <a:t>Transformar ou criar novos atributos para extrair mais significado.</a:t>
            </a:r>
          </a:p>
          <a:p>
            <a:r>
              <a:rPr lang="pt-BR" dirty="0"/>
              <a:t>➡ Exemplo: separar data em:</a:t>
            </a:r>
          </a:p>
          <a:p>
            <a:r>
              <a:rPr lang="pt-BR" dirty="0"/>
              <a:t>dia, mês, ano</a:t>
            </a:r>
          </a:p>
          <a:p>
            <a:r>
              <a:rPr lang="pt-BR" dirty="0"/>
              <a:t>dia da semana</a:t>
            </a:r>
          </a:p>
          <a:p>
            <a:r>
              <a:rPr lang="pt-BR" dirty="0"/>
              <a:t>💡 Atividade rápida: </a:t>
            </a:r>
            <a:r>
              <a:rPr lang="pt-BR" i="1" dirty="0"/>
              <a:t>Crie uma feature divertida (ex.: “hora do dia” → manhã/tarde/noite).</a:t>
            </a:r>
            <a:endParaRPr lang="pt-BR" dirty="0"/>
          </a:p>
          <a:p>
            <a:endParaRPr lang="en-US" dirty="0"/>
          </a:p>
        </p:txBody>
      </p:sp>
    </p:spTree>
    <p:extLst>
      <p:ext uri="{BB962C8B-B14F-4D97-AF65-F5344CB8AC3E}">
        <p14:creationId xmlns:p14="http://schemas.microsoft.com/office/powerpoint/2010/main" val="33674785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49595A-2BE1-288D-C430-B42FA27A3AAD}"/>
              </a:ext>
            </a:extLst>
          </p:cNvPr>
          <p:cNvSpPr>
            <a:spLocks noGrp="1"/>
          </p:cNvSpPr>
          <p:nvPr>
            <p:ph type="title"/>
          </p:nvPr>
        </p:nvSpPr>
        <p:spPr/>
        <p:txBody>
          <a:bodyPr/>
          <a:lstStyle/>
          <a:p>
            <a:r>
              <a:rPr lang="en-US" dirty="0" err="1"/>
              <a:t>Engenharia</a:t>
            </a:r>
            <a:r>
              <a:rPr lang="en-US" dirty="0"/>
              <a:t> de </a:t>
            </a:r>
            <a:r>
              <a:rPr lang="en-US"/>
              <a:t>atributos</a:t>
            </a:r>
          </a:p>
        </p:txBody>
      </p:sp>
      <p:sp>
        <p:nvSpPr>
          <p:cNvPr id="3" name="Content Placeholder 2">
            <a:extLst>
              <a:ext uri="{FF2B5EF4-FFF2-40B4-BE49-F238E27FC236}">
                <a16:creationId xmlns:a16="http://schemas.microsoft.com/office/drawing/2014/main" id="{DC8B16F1-8959-5098-25C2-B111C8BE4B80}"/>
              </a:ext>
            </a:extLst>
          </p:cNvPr>
          <p:cNvSpPr>
            <a:spLocks noGrp="1"/>
          </p:cNvSpPr>
          <p:nvPr>
            <p:ph idx="1"/>
          </p:nvPr>
        </p:nvSpPr>
        <p:spPr/>
        <p:txBody>
          <a:bodyPr>
            <a:normAutofit fontScale="85000" lnSpcReduction="10000"/>
          </a:bodyPr>
          <a:lstStyle/>
          <a:p>
            <a:r>
              <a:rPr lang="pt-BR" b="1" dirty="0"/>
              <a:t>Texto do slide:</a:t>
            </a:r>
            <a:endParaRPr lang="pt-BR" dirty="0"/>
          </a:p>
          <a:p>
            <a:r>
              <a:rPr lang="pt-BR" dirty="0"/>
              <a:t>Criar features a partir de: datas, texto, agregações, interações</a:t>
            </a:r>
          </a:p>
          <a:p>
            <a:r>
              <a:rPr lang="pt-BR" dirty="0"/>
              <a:t>Exemplos: </a:t>
            </a:r>
            <a:r>
              <a:rPr lang="pt-BR" dirty="0" err="1"/>
              <a:t>dia_da_semana</a:t>
            </a:r>
            <a:r>
              <a:rPr lang="pt-BR" dirty="0"/>
              <a:t>, </a:t>
            </a:r>
            <a:r>
              <a:rPr lang="pt-BR" dirty="0" err="1"/>
              <a:t>tempo_desde_ultima_compra</a:t>
            </a:r>
            <a:r>
              <a:rPr lang="pt-BR" dirty="0"/>
              <a:t>, </a:t>
            </a:r>
            <a:r>
              <a:rPr lang="pt-BR" dirty="0" err="1"/>
              <a:t>freq_media</a:t>
            </a:r>
            <a:endParaRPr lang="pt-BR" dirty="0"/>
          </a:p>
          <a:p>
            <a:r>
              <a:rPr lang="pt-BR" b="1" dirty="0"/>
              <a:t>Notas do professor:</a:t>
            </a:r>
            <a:endParaRPr lang="pt-BR" dirty="0"/>
          </a:p>
          <a:p>
            <a:r>
              <a:rPr lang="pt-BR" dirty="0"/>
              <a:t>Mostrar antes/depois: como uma nova feature melhora correlação com target.</a:t>
            </a:r>
          </a:p>
          <a:p>
            <a:r>
              <a:rPr lang="pt-BR" dirty="0"/>
              <a:t>Atividade curta (5 min): em grupos, pensem numa feature nova para um dataset de e‑commerce.</a:t>
            </a:r>
          </a:p>
          <a:p>
            <a:r>
              <a:rPr lang="pt-BR" b="1" dirty="0"/>
              <a:t>Código curto:</a:t>
            </a:r>
            <a:endParaRPr lang="pt-BR" dirty="0"/>
          </a:p>
          <a:p>
            <a:r>
              <a:rPr lang="pt-BR" dirty="0" err="1"/>
              <a:t>df</a:t>
            </a:r>
            <a:r>
              <a:rPr lang="pt-BR" dirty="0"/>
              <a:t>['</a:t>
            </a:r>
            <a:r>
              <a:rPr lang="pt-BR" dirty="0" err="1"/>
              <a:t>dia_semana</a:t>
            </a:r>
            <a:r>
              <a:rPr lang="pt-BR" dirty="0"/>
              <a:t>'] = </a:t>
            </a:r>
            <a:r>
              <a:rPr lang="pt-BR" dirty="0" err="1"/>
              <a:t>df</a:t>
            </a:r>
            <a:r>
              <a:rPr lang="pt-BR" dirty="0"/>
              <a:t>['</a:t>
            </a:r>
            <a:r>
              <a:rPr lang="pt-BR" dirty="0" err="1"/>
              <a:t>data_compra</a:t>
            </a:r>
            <a:r>
              <a:rPr lang="pt-BR" dirty="0"/>
              <a:t>'].</a:t>
            </a:r>
            <a:r>
              <a:rPr lang="pt-BR" dirty="0" err="1"/>
              <a:t>dt.dayofweek</a:t>
            </a:r>
            <a:endParaRPr lang="pt-BR" dirty="0"/>
          </a:p>
          <a:p>
            <a:r>
              <a:rPr lang="pt-BR" b="1" dirty="0"/>
              <a:t>Dica divertida:</a:t>
            </a:r>
            <a:r>
              <a:rPr lang="pt-BR" dirty="0"/>
              <a:t> transforme datas em categorias como "madrugada", "hora do almoço".</a:t>
            </a:r>
          </a:p>
        </p:txBody>
      </p:sp>
    </p:spTree>
    <p:extLst>
      <p:ext uri="{BB962C8B-B14F-4D97-AF65-F5344CB8AC3E}">
        <p14:creationId xmlns:p14="http://schemas.microsoft.com/office/powerpoint/2010/main" val="41099880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8DE41F-CBCE-DE3E-FF96-C1FE35436245}"/>
              </a:ext>
            </a:extLst>
          </p:cNvPr>
          <p:cNvSpPr>
            <a:spLocks noGrp="1"/>
          </p:cNvSpPr>
          <p:nvPr>
            <p:ph type="title"/>
          </p:nvPr>
        </p:nvSpPr>
        <p:spPr/>
        <p:txBody>
          <a:bodyPr/>
          <a:lstStyle/>
          <a:p>
            <a:r>
              <a:rPr lang="en-US" dirty="0"/>
              <a:t>Pipeline de </a:t>
            </a:r>
            <a:r>
              <a:rPr lang="en-US" dirty="0" err="1"/>
              <a:t>pré-processamento</a:t>
            </a:r>
            <a:endParaRPr lang="en-US" dirty="0"/>
          </a:p>
        </p:txBody>
      </p:sp>
      <p:sp>
        <p:nvSpPr>
          <p:cNvPr id="3" name="Content Placeholder 2">
            <a:extLst>
              <a:ext uri="{FF2B5EF4-FFF2-40B4-BE49-F238E27FC236}">
                <a16:creationId xmlns:a16="http://schemas.microsoft.com/office/drawing/2014/main" id="{16B9CA14-0993-D9E3-35BD-F02EF871BEEC}"/>
              </a:ext>
            </a:extLst>
          </p:cNvPr>
          <p:cNvSpPr>
            <a:spLocks noGrp="1"/>
          </p:cNvSpPr>
          <p:nvPr>
            <p:ph idx="1"/>
          </p:nvPr>
        </p:nvSpPr>
        <p:spPr/>
        <p:txBody>
          <a:bodyPr/>
          <a:lstStyle/>
          <a:p>
            <a:r>
              <a:rPr lang="pt-BR" dirty="0"/>
              <a:t>Combinar tudo em etapas:</a:t>
            </a:r>
          </a:p>
          <a:p>
            <a:pPr lvl="1"/>
            <a:r>
              <a:rPr lang="pt-BR" dirty="0"/>
              <a:t>Limpeza</a:t>
            </a:r>
          </a:p>
          <a:p>
            <a:pPr lvl="1"/>
            <a:r>
              <a:rPr lang="pt-BR" dirty="0"/>
              <a:t>Transformações (</a:t>
            </a:r>
            <a:r>
              <a:rPr lang="pt-BR" dirty="0" err="1"/>
              <a:t>encoding</a:t>
            </a:r>
            <a:r>
              <a:rPr lang="pt-BR" dirty="0"/>
              <a:t>, </a:t>
            </a:r>
            <a:r>
              <a:rPr lang="pt-BR"/>
              <a:t>imputação)</a:t>
            </a:r>
          </a:p>
          <a:p>
            <a:pPr lvl="1"/>
            <a:r>
              <a:rPr lang="pt-BR"/>
              <a:t>Escalonamento</a:t>
            </a:r>
            <a:endParaRPr lang="pt-BR" dirty="0"/>
          </a:p>
          <a:p>
            <a:r>
              <a:rPr lang="pt-BR" dirty="0"/>
              <a:t>🔧 Em Python com </a:t>
            </a:r>
            <a:r>
              <a:rPr lang="pt-BR" dirty="0" err="1"/>
              <a:t>scikit-learn</a:t>
            </a:r>
            <a:r>
              <a:rPr lang="pt-BR" dirty="0"/>
              <a:t>:</a:t>
            </a:r>
          </a:p>
          <a:p>
            <a:pPr lvl="1"/>
            <a:r>
              <a:rPr lang="en-US" dirty="0"/>
              <a:t>from </a:t>
            </a:r>
            <a:r>
              <a:rPr lang="en-US" dirty="0" err="1"/>
              <a:t>sklearn.pipeline</a:t>
            </a:r>
            <a:r>
              <a:rPr lang="en-US" dirty="0"/>
              <a:t> import Pipeline</a:t>
            </a:r>
          </a:p>
        </p:txBody>
      </p:sp>
    </p:spTree>
    <p:extLst>
      <p:ext uri="{BB962C8B-B14F-4D97-AF65-F5344CB8AC3E}">
        <p14:creationId xmlns:p14="http://schemas.microsoft.com/office/powerpoint/2010/main" val="30577340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530B7-1112-FD32-D48E-0B4653A613E1}"/>
              </a:ext>
            </a:extLst>
          </p:cNvPr>
          <p:cNvSpPr>
            <a:spLocks noGrp="1"/>
          </p:cNvSpPr>
          <p:nvPr>
            <p:ph type="title"/>
          </p:nvPr>
        </p:nvSpPr>
        <p:spPr/>
        <p:txBody>
          <a:bodyPr>
            <a:normAutofit/>
          </a:bodyPr>
          <a:lstStyle/>
          <a:p>
            <a:r>
              <a:rPr lang="en-US" dirty="0"/>
              <a:t>Split Dataset Into Training, Evaluation and Validation Sets</a:t>
            </a:r>
          </a:p>
        </p:txBody>
      </p:sp>
      <p:sp>
        <p:nvSpPr>
          <p:cNvPr id="3" name="Content Placeholder 2">
            <a:extLst>
              <a:ext uri="{FF2B5EF4-FFF2-40B4-BE49-F238E27FC236}">
                <a16:creationId xmlns:a16="http://schemas.microsoft.com/office/drawing/2014/main" id="{8EA279AF-2AEF-E057-E9A3-00F53ED5A25A}"/>
              </a:ext>
            </a:extLst>
          </p:cNvPr>
          <p:cNvSpPr>
            <a:spLocks noGrp="1"/>
          </p:cNvSpPr>
          <p:nvPr>
            <p:ph idx="1"/>
          </p:nvPr>
        </p:nvSpPr>
        <p:spPr/>
        <p:txBody>
          <a:bodyPr/>
          <a:lstStyle/>
          <a:p>
            <a:pPr fontAlgn="base"/>
            <a:r>
              <a:rPr lang="en-US" dirty="0"/>
              <a:t>This is the final step among the data preprocessing steps. It’s time to divide your dataset into training, evaluation, and validation sets. The training set is the data you’ll use to train your machine learning model. The evaluation set will assess the data and the model, while the validation set will validate it.</a:t>
            </a:r>
          </a:p>
          <a:p>
            <a:endParaRPr lang="en-US" dirty="0"/>
          </a:p>
        </p:txBody>
      </p:sp>
    </p:spTree>
    <p:extLst>
      <p:ext uri="{BB962C8B-B14F-4D97-AF65-F5344CB8AC3E}">
        <p14:creationId xmlns:p14="http://schemas.microsoft.com/office/powerpoint/2010/main" val="42505085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E14A78-63ED-67C2-7C75-578530B33A41}"/>
              </a:ext>
            </a:extLst>
          </p:cNvPr>
          <p:cNvSpPr>
            <a:spLocks noGrp="1"/>
          </p:cNvSpPr>
          <p:nvPr>
            <p:ph type="title"/>
          </p:nvPr>
        </p:nvSpPr>
        <p:spPr/>
        <p:txBody>
          <a:bodyPr/>
          <a:lstStyle/>
          <a:p>
            <a:r>
              <a:rPr lang="pt-BR" dirty="0"/>
              <a:t>Divisão do </a:t>
            </a:r>
            <a:r>
              <a:rPr lang="pt-BR" i="1" dirty="0"/>
              <a:t>dataset</a:t>
            </a:r>
            <a:endParaRPr lang="en-US" i="1" dirty="0"/>
          </a:p>
        </p:txBody>
      </p:sp>
      <p:sp>
        <p:nvSpPr>
          <p:cNvPr id="3" name="Content Placeholder 2">
            <a:extLst>
              <a:ext uri="{FF2B5EF4-FFF2-40B4-BE49-F238E27FC236}">
                <a16:creationId xmlns:a16="http://schemas.microsoft.com/office/drawing/2014/main" id="{59FAA6DB-6F6F-4101-954E-36363841E93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913901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82FA0-BE50-3672-2983-ADEDC8EB3E4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9FE0867-339F-DA7E-6C6B-FE3B75C233D3}"/>
              </a:ext>
            </a:extLst>
          </p:cNvPr>
          <p:cNvSpPr>
            <a:spLocks noGrp="1"/>
          </p:cNvSpPr>
          <p:nvPr>
            <p:ph idx="1"/>
          </p:nvPr>
        </p:nvSpPr>
        <p:spPr>
          <a:xfrm>
            <a:off x="6096000" y="1825625"/>
            <a:ext cx="5257800" cy="4351338"/>
          </a:xfrm>
        </p:spPr>
        <p:txBody>
          <a:bodyPr/>
          <a:lstStyle/>
          <a:p>
            <a:endParaRPr lang="en-US"/>
          </a:p>
        </p:txBody>
      </p:sp>
      <p:pic>
        <p:nvPicPr>
          <p:cNvPr id="1026" name="Picture 2" descr="What is Feature Engineering? - GeeksforGeeks">
            <a:extLst>
              <a:ext uri="{FF2B5EF4-FFF2-40B4-BE49-F238E27FC236}">
                <a16:creationId xmlns:a16="http://schemas.microsoft.com/office/drawing/2014/main" id="{A8B67E60-12C6-B884-D57E-AA2267FBB8B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85382" y="2676525"/>
            <a:ext cx="3028950" cy="150495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Feature engineering - Machine Learning Lens">
            <a:extLst>
              <a:ext uri="{FF2B5EF4-FFF2-40B4-BE49-F238E27FC236}">
                <a16:creationId xmlns:a16="http://schemas.microsoft.com/office/drawing/2014/main" id="{85AC8CC3-B8FA-0E04-A364-6DA3A40656D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3323" y="4081463"/>
            <a:ext cx="2181225" cy="2095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55837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intro_eda.ipynb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8406</TotalTime>
  <Words>3047</Words>
  <Application>Microsoft Office PowerPoint</Application>
  <PresentationFormat>Widescreen</PresentationFormat>
  <Paragraphs>252</Paragraphs>
  <Slides>34</Slides>
  <Notes>20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34</vt:i4>
      </vt:variant>
    </vt:vector>
  </HeadingPairs>
  <TitlesOfParts>
    <vt:vector size="41" baseType="lpstr">
      <vt:lpstr>Arial</vt:lpstr>
      <vt:lpstr>Calibri</vt:lpstr>
      <vt:lpstr>Calibri Light</vt:lpstr>
      <vt:lpstr>Cambria Math</vt:lpstr>
      <vt:lpstr>Consolas</vt:lpstr>
      <vt:lpstr>Wingdings</vt:lpstr>
      <vt:lpstr>Tema do Office</vt:lpstr>
      <vt:lpstr>C24 - Inteligência Artificial: Transformações dos dados</vt:lpstr>
      <vt:lpstr>PowerPoint Presentation</vt:lpstr>
      <vt:lpstr>O que veremos?</vt:lpstr>
      <vt:lpstr>Escalonamento de atributos</vt:lpstr>
      <vt:lpstr>Escalonamento de atributos</vt:lpstr>
      <vt:lpstr>Por que escalonar os atributos?</vt:lpstr>
      <vt:lpstr>Por que escalonar os atributos?</vt:lpstr>
      <vt:lpstr>Normalização (Min-Max Scaling)</vt:lpstr>
      <vt:lpstr>Normalização (Min-Max Scaling)</vt:lpstr>
      <vt:lpstr>Normalização (Min-Max Scaling)</vt:lpstr>
      <vt:lpstr>Padronização (Standard Scaling)</vt:lpstr>
      <vt:lpstr>Padronização (Standard Scaling)</vt:lpstr>
      <vt:lpstr>Padronização (Standard Scaling)</vt:lpstr>
      <vt:lpstr>Escalonamento robusto (Robust Scaling)</vt:lpstr>
      <vt:lpstr>Escalonamento robusto (Robust Scaling)</vt:lpstr>
      <vt:lpstr>Escalonamento robusto (Robust Scaling)</vt:lpstr>
      <vt:lpstr>Armadilhas comuns durante o escalonamento</vt:lpstr>
      <vt:lpstr>PowerPoint Presentation</vt:lpstr>
      <vt:lpstr>Codificação de atributos categóricos</vt:lpstr>
      <vt:lpstr>One-Hot encoding</vt:lpstr>
      <vt:lpstr>Label encoding</vt:lpstr>
      <vt:lpstr>Target encoding</vt:lpstr>
      <vt:lpstr>Binary encoding</vt:lpstr>
      <vt:lpstr>Exemplos de encoding</vt:lpstr>
      <vt:lpstr>Sobre o que falar?</vt:lpstr>
      <vt:lpstr>Engenharia de atributos</vt:lpstr>
      <vt:lpstr>Engenharia de atributos</vt:lpstr>
      <vt:lpstr>Pipeline de pré-processamento</vt:lpstr>
      <vt:lpstr>Split Dataset Into Training, Evaluation and Validation Sets</vt:lpstr>
      <vt:lpstr>Divisão do dataset</vt:lpstr>
      <vt:lpstr>PowerPoint Presentation</vt:lpstr>
      <vt:lpstr>Exemplo</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1845</cp:revision>
  <dcterms:created xsi:type="dcterms:W3CDTF">2020-01-20T13:50:05Z</dcterms:created>
  <dcterms:modified xsi:type="dcterms:W3CDTF">2026-02-02T21:12:58Z</dcterms:modified>
</cp:coreProperties>
</file>