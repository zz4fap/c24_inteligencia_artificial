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handoutMasterIdLst>
    <p:handoutMasterId r:id="rId59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39" r:id="rId24"/>
    <p:sldId id="340" r:id="rId25"/>
    <p:sldId id="336" r:id="rId26"/>
    <p:sldId id="343" r:id="rId27"/>
    <p:sldId id="342" r:id="rId28"/>
    <p:sldId id="328" r:id="rId29"/>
    <p:sldId id="344" r:id="rId30"/>
    <p:sldId id="345" r:id="rId31"/>
    <p:sldId id="346" r:id="rId32"/>
    <p:sldId id="347" r:id="rId33"/>
    <p:sldId id="348" r:id="rId34"/>
    <p:sldId id="349" r:id="rId35"/>
    <p:sldId id="317" r:id="rId36"/>
    <p:sldId id="320" r:id="rId37"/>
    <p:sldId id="353" r:id="rId38"/>
    <p:sldId id="354" r:id="rId39"/>
    <p:sldId id="355" r:id="rId40"/>
    <p:sldId id="366" r:id="rId41"/>
    <p:sldId id="357" r:id="rId42"/>
    <p:sldId id="359" r:id="rId43"/>
    <p:sldId id="360" r:id="rId44"/>
    <p:sldId id="358" r:id="rId45"/>
    <p:sldId id="362" r:id="rId46"/>
    <p:sldId id="367" r:id="rId47"/>
    <p:sldId id="368" r:id="rId48"/>
    <p:sldId id="370" r:id="rId49"/>
    <p:sldId id="372" r:id="rId50"/>
    <p:sldId id="371" r:id="rId51"/>
    <p:sldId id="373" r:id="rId52"/>
    <p:sldId id="356" r:id="rId53"/>
    <p:sldId id="338" r:id="rId54"/>
    <p:sldId id="395" r:id="rId55"/>
    <p:sldId id="293" r:id="rId56"/>
    <p:sldId id="306" r:id="rId57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8620" autoAdjust="0"/>
  </p:normalViewPr>
  <p:slideViewPr>
    <p:cSldViewPr snapToGrid="0">
      <p:cViewPr varScale="1">
        <p:scale>
          <a:sx n="65" d="100"/>
          <a:sy n="65" d="100"/>
        </p:scale>
        <p:origin x="1098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16/08/2026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r>
              <a:rPr lang="en-US" b="1" dirty="0"/>
              <a:t/>
            </a:r>
            <a:br>
              <a:rPr lang="en-US" b="1" dirty="0"/>
            </a:br>
            <a:r>
              <a:rPr lang="en-US" b="1" dirty="0"/>
              <a:t/>
            </a: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/>
            </a:r>
            <a:br>
              <a:rPr lang="pt-BR" dirty="0"/>
            </a:b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16/08/2026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25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</a:t>
            </a:r>
            <a:r>
              <a:rPr lang="pt-BR" dirty="0" smtClean="0"/>
              <a:t>preparação e transformação (ou pré-processamento) </a:t>
            </a:r>
            <a:r>
              <a:rPr lang="pt-BR" dirty="0"/>
              <a:t>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</a:t>
            </a:r>
            <a:r>
              <a:rPr lang="pt-BR" sz="3200" dirty="0" smtClean="0"/>
              <a:t>treinamento</a:t>
            </a:r>
            <a:r>
              <a:rPr lang="pt-BR" sz="3200" dirty="0"/>
              <a:t> </a:t>
            </a:r>
            <a:r>
              <a:rPr lang="pt-BR" sz="3200" dirty="0" smtClean="0"/>
              <a:t>e avaliação dos modelos</a:t>
            </a:r>
            <a:r>
              <a:rPr lang="pt-BR" sz="3200" dirty="0" smtClean="0"/>
              <a:t>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</a:t>
            </a:r>
            <a:r>
              <a:rPr lang="pt-BR" dirty="0" smtClean="0"/>
              <a:t>treinamento e </a:t>
            </a:r>
            <a:r>
              <a:rPr lang="pt-BR" dirty="0"/>
              <a:t>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5981" cy="5032375"/>
          </a:xfrm>
        </p:spPr>
        <p:txBody>
          <a:bodyPr>
            <a:normAutofit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 smtClean="0"/>
              <a:t>O </a:t>
            </a:r>
            <a:r>
              <a:rPr lang="pt-BR" dirty="0"/>
              <a:t>resultado </a:t>
            </a:r>
            <a:r>
              <a:rPr lang="pt-BR" dirty="0" smtClean="0"/>
              <a:t>tende </a:t>
            </a:r>
            <a:r>
              <a:rPr lang="pt-BR" dirty="0"/>
              <a:t>a ser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 smtClean="0"/>
              <a:t>Além </a:t>
            </a:r>
            <a:r>
              <a:rPr lang="pt-BR" dirty="0"/>
              <a:t>disso, se </a:t>
            </a:r>
            <a:r>
              <a:rPr lang="pt-BR" dirty="0" smtClean="0"/>
              <a:t>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 smtClean="0"/>
              <a:t> com </a:t>
            </a:r>
            <a:r>
              <a:rPr lang="pt-BR" dirty="0"/>
              <a:t>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 </a:t>
            </a:r>
            <a:r>
              <a:rPr lang="pt-BR" dirty="0"/>
              <a:t>modelo pode ser ajustado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forma de avaliar a generalização.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problema/fenômeno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</a:t>
            </a:r>
            <a:r>
              <a:rPr lang="pt-BR" dirty="0"/>
              <a:t> a </a:t>
            </a:r>
            <a:r>
              <a:rPr lang="pt-BR" b="1" dirty="0">
                <a:solidFill>
                  <a:srgbClr val="0070C0"/>
                </a:solidFill>
              </a:rPr>
              <a:t>mesma distribuição</a:t>
            </a:r>
            <a:r>
              <a:rPr lang="pt-BR" dirty="0"/>
              <a:t>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transformações aplicadas aos dados que ajudam no aprendizado dos modelos,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xmlns="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xmlns="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</a:t>
                </a:r>
                <a:r>
                  <a:rPr lang="pt-BR" b="1" dirty="0" smtClean="0">
                    <a:solidFill>
                      <a:schemeClr val="accent2"/>
                    </a:solidFill>
                  </a:rPr>
                  <a:t>geralmente,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Dados sem </a:t>
                </a:r>
                <a:r>
                  <a:rPr lang="pt-BR" i="1" dirty="0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</a:t>
                </a:r>
                <a:r>
                  <a:rPr lang="en-US" dirty="0" err="1" smtClean="0"/>
                  <a:t>Regressores</a:t>
                </a:r>
                <a:r>
                  <a:rPr lang="pt-BR" dirty="0" smtClean="0"/>
                  <a:t>).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 rotWithShape="0"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xmlns="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smtClean="0"/>
              <a:t>Data </a:t>
            </a:r>
            <a:r>
              <a:rPr lang="pt-BR" i="1" dirty="0" err="1" smtClean="0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1" y="1825624"/>
            <a:ext cx="11093244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</a:t>
            </a:r>
            <a:r>
              <a:rPr lang="pt-BR" dirty="0" smtClean="0"/>
              <a:t>o aprendizado do modelo, sua otimização ou </a:t>
            </a:r>
            <a:r>
              <a:rPr lang="pt-BR" dirty="0"/>
              <a:t>sua avaliação</a:t>
            </a:r>
            <a:r>
              <a:rPr lang="pt-BR" dirty="0" smtClean="0"/>
              <a:t>.</a:t>
            </a:r>
          </a:p>
          <a:p>
            <a:r>
              <a:rPr lang="pt-BR" dirty="0"/>
              <a:t>O princípio é: </a:t>
            </a:r>
            <a:r>
              <a:rPr lang="pt-BR" b="1" dirty="0" smtClean="0"/>
              <a:t>os conjuntos de validação e </a:t>
            </a:r>
            <a:r>
              <a:rPr lang="pt-BR" b="1" dirty="0"/>
              <a:t>teste não </a:t>
            </a:r>
            <a:r>
              <a:rPr lang="pt-BR" b="1" dirty="0" smtClean="0"/>
              <a:t>devem </a:t>
            </a:r>
            <a:r>
              <a:rPr lang="pt-BR" b="1" dirty="0"/>
              <a:t>influenciar as decisões de construção do modelo</a:t>
            </a:r>
            <a:r>
              <a:rPr lang="pt-BR" dirty="0" smtClean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</a:t>
            </a:r>
            <a:r>
              <a:rPr lang="pt-BR" b="1" dirty="0" smtClean="0">
                <a:solidFill>
                  <a:srgbClr val="7030A0"/>
                </a:solidFill>
              </a:rPr>
              <a:t>de </a:t>
            </a:r>
            <a:r>
              <a:rPr lang="pt-BR" b="1" dirty="0">
                <a:solidFill>
                  <a:srgbClr val="7030A0"/>
                </a:solidFill>
              </a:rPr>
              <a:t>pré-processamento devem ser aprendidos exclusivamente com os dados de treinamento </a:t>
            </a:r>
            <a:r>
              <a:rPr lang="pt-BR" dirty="0"/>
              <a:t>e posteriormente aplicados aos dados de validação e teste</a:t>
            </a:r>
            <a:r>
              <a:rPr lang="pt-BR" dirty="0" smtClean="0"/>
              <a:t>.</a:t>
            </a:r>
          </a:p>
          <a:p>
            <a:r>
              <a:rPr lang="pt-BR" dirty="0" smtClean="0"/>
              <a:t>Isso se </a:t>
            </a:r>
            <a:r>
              <a:rPr lang="pt-BR" dirty="0"/>
              <a:t>aplica a praticamente todas as transformações que aprendem informações dos </a:t>
            </a:r>
            <a:r>
              <a:rPr lang="pt-BR" dirty="0" smtClean="0"/>
              <a:t>dados</a:t>
            </a:r>
            <a:r>
              <a:rPr lang="pt-BR" dirty="0"/>
              <a:t>: escalonamento, imputação, seleção de atributos, </a:t>
            </a:r>
            <a:r>
              <a:rPr lang="pt-BR" dirty="0" smtClean="0"/>
              <a:t>PCA,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pt-BR" b="1" dirty="0"/>
              <a:t>Vantagens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 os dados "comparáveis" em termos do número de desvios padrão da média.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Mais robusto </a:t>
            </a:r>
            <a:r>
              <a:rPr lang="pt-BR" dirty="0"/>
              <a:t>a </a:t>
            </a:r>
            <a:r>
              <a:rPr lang="pt-BR" i="1" dirty="0"/>
              <a:t>outliers</a:t>
            </a:r>
            <a:r>
              <a:rPr lang="pt-BR" dirty="0"/>
              <a:t>, mas não a </a:t>
            </a:r>
            <a:r>
              <a:rPr lang="pt-BR" i="1" dirty="0"/>
              <a:t>outliers</a:t>
            </a:r>
            <a:r>
              <a:rPr lang="pt-BR" dirty="0"/>
              <a:t> extremos.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Por não dividir os valores por um denominador muito grande, no caso da presença de </a:t>
            </a:r>
            <a:r>
              <a:rPr lang="pt-BR" i="1" dirty="0"/>
              <a:t>outliers</a:t>
            </a:r>
            <a:r>
              <a:rPr lang="pt-BR" dirty="0"/>
              <a:t>, não os transforma em valores próximos de zero e, portanto, não se perde a distinção entre eles.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, mas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extremos</a:t>
            </a:r>
            <a:r>
              <a:rPr lang="en-US" dirty="0"/>
              <a:t>.</a:t>
            </a: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Cuidado: </a:t>
            </a:r>
            <a:r>
              <a:rPr lang="pt-BR" dirty="0"/>
              <a:t>Se os dados originais são assimétricos (i.e., cauda longa),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 extremos</a:t>
            </a:r>
            <a:r>
              <a:rPr lang="pt-BR" dirty="0"/>
              <a:t>, o </a:t>
            </a:r>
            <a:r>
              <a:rPr lang="pt-BR" b="1" dirty="0">
                <a:solidFill>
                  <a:srgbClr val="00B050"/>
                </a:solidFill>
              </a:rPr>
              <a:t>escalonador robusto é uma opção superior </a:t>
            </a:r>
            <a:r>
              <a:rPr lang="pt-BR" dirty="0"/>
              <a:t>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7030A0"/>
                </a:solidFill>
              </a:rPr>
              <a:t>Outliers</a:t>
            </a:r>
            <a:r>
              <a:rPr lang="pt-BR" b="1" dirty="0">
                <a:solidFill>
                  <a:srgbClr val="7030A0"/>
                </a:solidFill>
              </a:rPr>
              <a:t> extremos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influenciar a média e a variância </a:t>
            </a:r>
            <a:r>
              <a:rPr lang="pt-BR" dirty="0"/>
              <a:t>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 e distância interquartil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xmlns="" id="{8B201E44-EC57-A929-79A3-B49B7ED33C2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237" t="70676" r="8114" b="10537"/>
          <a:stretch>
            <a:fillRect/>
          </a:stretch>
        </p:blipFill>
        <p:spPr>
          <a:xfrm>
            <a:off x="2159000" y="4790719"/>
            <a:ext cx="7874000" cy="1702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mínima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típicos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melhor que a padronização quando existem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“esmaguem” os valores típicos em valores próximos de 0.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/>
                  <a:t>outliers</a:t>
                </a:r>
                <a:r>
                  <a:rPr lang="pt-BR" dirty="0"/>
                  <a:t> significativos, mas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Como, em geral,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se remove</a:t>
                </a:r>
                <a:r>
                  <a:rPr lang="pt-BR" dirty="0"/>
                  <a:t> os </a:t>
                </a:r>
                <a:r>
                  <a:rPr lang="pt-BR" i="1" dirty="0"/>
                  <a:t>outliers</a:t>
                </a:r>
                <a:r>
                  <a:rPr lang="pt-BR" dirty="0"/>
                  <a:t>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sensíveis à distância </a:t>
                </a:r>
                <a:r>
                  <a:rPr lang="pt-BR" dirty="0"/>
                  <a:t>(e.g., KNN, </a:t>
                </a:r>
                <a:r>
                  <a:rPr lang="pt-BR" dirty="0" err="1"/>
                  <a:t>Regressores</a:t>
                </a:r>
                <a:r>
                  <a:rPr lang="pt-BR" dirty="0"/>
                  <a:t>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913" t="-26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r>
              <a:rPr lang="pt-BR" dirty="0"/>
              <a:t>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>
                <a:solidFill>
                  <a:schemeClr val="accent6"/>
                </a:solidFill>
              </a:rPr>
              <a:t>não se escalona atributos binários ou </a:t>
            </a:r>
            <a:r>
              <a:rPr lang="pt-BR" b="1" i="1" dirty="0" err="1">
                <a:solidFill>
                  <a:schemeClr val="accent6"/>
                </a:solidFill>
              </a:rPr>
              <a:t>one</a:t>
            </a:r>
            <a:r>
              <a:rPr lang="pt-BR" b="1" i="1" dirty="0">
                <a:solidFill>
                  <a:schemeClr val="accent6"/>
                </a:solidFill>
              </a:rPr>
              <a:t>-hot</a:t>
            </a:r>
            <a:r>
              <a:rPr lang="pt-BR" b="1" dirty="0">
                <a:solidFill>
                  <a:schemeClr val="accent6"/>
                </a:solidFill>
              </a:rPr>
              <a:t> </a:t>
            </a:r>
            <a:r>
              <a:rPr lang="pt-BR" dirty="0"/>
              <a:t>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de ML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Binary encoding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</a:t>
            </a:r>
            <a:r>
              <a:rPr lang="pt-BR" b="1" dirty="0">
                <a:solidFill>
                  <a:schemeClr val="accent1"/>
                </a:solidFill>
              </a:rPr>
              <a:t>engenharia de atributos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Processo de </a:t>
            </a:r>
            <a:r>
              <a:rPr lang="pt-BR" b="1" dirty="0">
                <a:solidFill>
                  <a:schemeClr val="accent6"/>
                </a:solidFill>
              </a:rPr>
              <a:t>criar atributos </a:t>
            </a:r>
            <a:r>
              <a:rPr lang="pt-BR" dirty="0"/>
              <a:t>relevantes a </a:t>
            </a:r>
            <a:r>
              <a:rPr lang="pt-BR" b="1" dirty="0">
                <a:solidFill>
                  <a:schemeClr val="accent6"/>
                </a:solidFill>
              </a:rPr>
              <a:t>partir dos existentes</a:t>
            </a:r>
            <a:r>
              <a:rPr lang="pt-BR" dirty="0"/>
              <a:t> para melhorar o desempenho de um modelo de ML.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30282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</a:t>
            </a:r>
            <a:r>
              <a:rPr lang="pt-BR" b="1" dirty="0">
                <a:solidFill>
                  <a:schemeClr val="accent1"/>
                </a:solidFill>
              </a:rPr>
              <a:t>coluna binária</a:t>
            </a:r>
            <a:r>
              <a:rPr lang="pt-BR" dirty="0"/>
              <a:t> para </a:t>
            </a:r>
            <a:r>
              <a:rPr lang="pt-BR" b="1" dirty="0">
                <a:solidFill>
                  <a:schemeClr val="accent1"/>
                </a:solidFill>
              </a:rPr>
              <a:t>cada categoria </a:t>
            </a:r>
            <a:r>
              <a:rPr lang="pt-BR" dirty="0"/>
              <a:t>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</a:t>
            </a:r>
            <a:r>
              <a:rPr lang="pt-BR" b="1" dirty="0">
                <a:solidFill>
                  <a:srgbClr val="7030A0"/>
                </a:solidFill>
              </a:rPr>
              <a:t>maldição da dimensionalidade</a:t>
            </a:r>
            <a:r>
              <a:rPr lang="pt-BR" dirty="0"/>
              <a:t>”.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Pontos ficam muito distantes (perde-se noção de similaridade), dificulta a visualização e aumenta o custo computacional.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xmlns="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8000" cy="5032375"/>
          </a:xfrm>
        </p:spPr>
        <p:txBody>
          <a:bodyPr>
            <a:normAutofit/>
          </a:bodyPr>
          <a:lstStyle/>
          <a:p>
            <a:r>
              <a:rPr lang="pt-BR" dirty="0"/>
              <a:t>Converte </a:t>
            </a:r>
            <a:r>
              <a:rPr lang="pt-BR" b="1" dirty="0">
                <a:solidFill>
                  <a:srgbClr val="00B050"/>
                </a:solidFill>
              </a:rPr>
              <a:t>cada categoria em um número inteiro </a:t>
            </a:r>
            <a:r>
              <a:rPr lang="pt-BR" b="1" dirty="0">
                <a:solidFill>
                  <a:schemeClr val="accent2"/>
                </a:solidFill>
              </a:rPr>
              <a:t>único</a:t>
            </a:r>
            <a:r>
              <a:rPr lang="pt-BR" dirty="0"/>
              <a:t>, considerando (</a:t>
            </a:r>
            <a:r>
              <a:rPr lang="pt-BR" i="1" dirty="0"/>
              <a:t>ordinal</a:t>
            </a:r>
            <a:r>
              <a:rPr lang="pt-BR" dirty="0"/>
              <a:t>) ou não uma ordem (</a:t>
            </a:r>
            <a:r>
              <a:rPr lang="pt-BR" i="1" dirty="0" err="1"/>
              <a:t>label</a:t>
            </a:r>
            <a:r>
              <a:rPr lang="pt-BR" dirty="0"/>
              <a:t>). </a:t>
            </a:r>
          </a:p>
          <a:p>
            <a:r>
              <a:rPr lang="pt-BR" i="1" dirty="0" err="1"/>
              <a:t>Label</a:t>
            </a:r>
            <a:r>
              <a:rPr lang="pt-BR" dirty="0"/>
              <a:t> é usada com rótulos em problemas de classificação e </a:t>
            </a:r>
            <a:r>
              <a:rPr lang="pt-BR" i="1" dirty="0"/>
              <a:t>ordinal</a:t>
            </a:r>
            <a:r>
              <a:rPr lang="pt-BR" dirty="0"/>
              <a:t> com variáveis ordinais.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G): </a:t>
            </a:r>
            <a:r>
              <a:rPr lang="pt-BR" i="1" dirty="0"/>
              <a:t>ordinal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cores: </a:t>
            </a:r>
            <a:r>
              <a:rPr lang="pt-BR" i="1" dirty="0" err="1"/>
              <a:t>label</a:t>
            </a:r>
            <a:r>
              <a:rPr lang="pt-BR" i="1" dirty="0"/>
              <a:t>/ordinal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Label</a:t>
            </a:r>
            <a:r>
              <a:rPr lang="pt-BR" dirty="0"/>
              <a:t> pode introduzir uma </a:t>
            </a:r>
            <a:r>
              <a:rPr lang="pt-BR" b="1" dirty="0">
                <a:solidFill>
                  <a:srgbClr val="7030A0"/>
                </a:solidFill>
              </a:rPr>
              <a:t>relação de ordem falsa</a:t>
            </a:r>
            <a:r>
              <a:rPr lang="pt-BR" dirty="0"/>
              <a:t> que afeta negativamente algoritmos </a:t>
            </a:r>
            <a:r>
              <a:rPr lang="pt-BR" b="1" i="1" dirty="0">
                <a:solidFill>
                  <a:srgbClr val="7030A0"/>
                </a:solidFill>
              </a:rPr>
              <a:t>sensíveis a distâncias </a:t>
            </a:r>
            <a:r>
              <a:rPr lang="pt-BR" dirty="0"/>
              <a:t>(e.g., </a:t>
            </a:r>
            <a:r>
              <a:rPr lang="pt-BR" dirty="0" err="1"/>
              <a:t>regressores</a:t>
            </a:r>
            <a:r>
              <a:rPr lang="pt-BR" dirty="0"/>
              <a:t> e KNN).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304798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792686" cy="5032375"/>
          </a:xfrm>
        </p:spPr>
        <p:txBody>
          <a:bodyPr>
            <a:normAutofit/>
          </a:bodyPr>
          <a:lstStyle/>
          <a:p>
            <a:r>
              <a:rPr lang="pt-BR" dirty="0"/>
              <a:t>Substitui cada categoria pela </a:t>
            </a:r>
            <a:r>
              <a:rPr lang="pt-BR" b="1" dirty="0">
                <a:solidFill>
                  <a:srgbClr val="7030A0"/>
                </a:solidFill>
              </a:rPr>
              <a:t>média do valor do alvo</a:t>
            </a:r>
            <a:r>
              <a:rPr lang="pt-BR" dirty="0"/>
              <a:t>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 e quando há </a:t>
            </a:r>
            <a:r>
              <a:rPr lang="pt-BR" b="1" dirty="0">
                <a:solidFill>
                  <a:schemeClr val="accent6"/>
                </a:solidFill>
              </a:rPr>
              <a:t>relação forte entre a categoria e o </a:t>
            </a:r>
            <a:r>
              <a:rPr lang="pt-BR" b="1" i="1" dirty="0">
                <a:solidFill>
                  <a:schemeClr val="accent6"/>
                </a:solidFill>
              </a:rPr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por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 e por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for calculado </a:t>
            </a:r>
            <a:r>
              <a:rPr lang="pt-BR" b="1" dirty="0">
                <a:solidFill>
                  <a:schemeClr val="accent1"/>
                </a:solidFill>
              </a:rPr>
              <a:t>usando todo o dataset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Categorias com poucos exemplos produzem </a:t>
            </a:r>
            <a:r>
              <a:rPr lang="pt-BR" b="1" dirty="0">
                <a:solidFill>
                  <a:schemeClr val="accent1"/>
                </a:solidFill>
              </a:rPr>
              <a:t>estimativas de média muito ruidosas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xmlns="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3E6C73B1-9431-A33E-28D2-A93D904893DD}"/>
              </a:ext>
            </a:extLst>
          </p:cNvPr>
          <p:cNvSpPr txBox="1"/>
          <p:nvPr/>
        </p:nvSpPr>
        <p:spPr>
          <a:xfrm>
            <a:off x="272142" y="5151032"/>
            <a:ext cx="47026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Em vez de usar números arbitrários (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do próprio problema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870358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</a:t>
            </a:r>
            <a:r>
              <a:rPr lang="pt-BR" b="1" dirty="0">
                <a:solidFill>
                  <a:schemeClr val="accent1"/>
                </a:solidFill>
              </a:rPr>
              <a:t>categoria recebe um número inteiro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que é </a:t>
            </a:r>
            <a:r>
              <a:rPr lang="pt-BR" b="1" dirty="0">
                <a:solidFill>
                  <a:schemeClr val="accent1"/>
                </a:solidFill>
              </a:rPr>
              <a:t>convertido </a:t>
            </a:r>
            <a:r>
              <a:rPr lang="en-US" b="1" dirty="0">
                <a:solidFill>
                  <a:schemeClr val="accent1"/>
                </a:solidFill>
              </a:rPr>
              <a:t>para </a:t>
            </a:r>
            <a:r>
              <a:rPr lang="en-US" b="1" dirty="0" err="1">
                <a:solidFill>
                  <a:schemeClr val="accent1"/>
                </a:solidFill>
              </a:rPr>
              <a:t>sua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representação</a:t>
            </a:r>
            <a:r>
              <a:rPr lang="en-US" b="1" dirty="0">
                <a:solidFill>
                  <a:schemeClr val="accent1"/>
                </a:solidFill>
              </a:rPr>
              <a:t> </a:t>
            </a:r>
            <a:r>
              <a:rPr lang="en-US" b="1" dirty="0" err="1">
                <a:solidFill>
                  <a:schemeClr val="accent1"/>
                </a:solidFill>
              </a:rPr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</a:t>
            </a:r>
            <a:r>
              <a:rPr lang="pt-BR" b="1" dirty="0">
                <a:solidFill>
                  <a:schemeClr val="accent2"/>
                </a:solidFill>
              </a:rPr>
              <a:t>compartilharem bits, modelos lineares podem achar que existe uma relação entre elas</a:t>
            </a:r>
            <a:r>
              <a:rPr lang="pt-BR" dirty="0"/>
              <a:t>. Modelos de árvore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xmlns="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dos atributos originais em atributos, mais úteis e informativos. 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predição (generalização)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 rotWithShape="0">
                <a:blip r:embed="rId3"/>
                <a:stretch>
                  <a:fillRect l="-923" t="-1937" r="-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transformar dados </a:t>
            </a:r>
            <a:r>
              <a:rPr lang="pt-BR" dirty="0"/>
              <a:t>em um </a:t>
            </a:r>
            <a:r>
              <a:rPr lang="pt-BR" b="1" dirty="0">
                <a:solidFill>
                  <a:srgbClr val="00B050"/>
                </a:solidFill>
              </a:rPr>
              <a:t>conjunto menor de atributos significativos</a:t>
            </a:r>
            <a:r>
              <a:rPr lang="pt-BR" dirty="0"/>
              <a:t> que podem ser </a:t>
            </a:r>
            <a:r>
              <a:rPr lang="pt-BR" b="1" dirty="0">
                <a:solidFill>
                  <a:schemeClr val="accent2"/>
                </a:solidFill>
              </a:rPr>
              <a:t>processados de forma mais eficiente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mantendo as informações essenciais </a:t>
            </a:r>
            <a:r>
              <a:rPr lang="pt-BR" dirty="0"/>
              <a:t>(em geral, perde-se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eficiente, em geral, de menor dimensão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</a:t>
            </a:r>
            <a:r>
              <a:rPr lang="pt-BR" b="1" dirty="0">
                <a:solidFill>
                  <a:srgbClr val="7030A0"/>
                </a:solidFill>
              </a:rPr>
              <a:t>atributos não correlacionados </a:t>
            </a:r>
            <a:r>
              <a:rPr lang="pt-BR" dirty="0"/>
              <a:t>que </a:t>
            </a:r>
            <a:r>
              <a:rPr lang="pt-BR" b="1" dirty="0">
                <a:solidFill>
                  <a:srgbClr val="7030A0"/>
                </a:solidFill>
              </a:rPr>
              <a:t>capturam as direções de variância máxima </a:t>
            </a:r>
            <a:r>
              <a:rPr lang="pt-BR" dirty="0"/>
              <a:t>(PCA) ou</a:t>
            </a:r>
            <a:r>
              <a:rPr lang="pt-BR" b="1" dirty="0">
                <a:solidFill>
                  <a:srgbClr val="7030A0"/>
                </a:solidFill>
              </a:rPr>
              <a:t> atributos que são independentes </a:t>
            </a:r>
            <a:r>
              <a:rPr lang="pt-BR" dirty="0"/>
              <a:t>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Transformam texto em representações numéricas </a:t>
            </a:r>
            <a:r>
              <a:rPr lang="pt-BR" dirty="0"/>
              <a:t>(modelos de ML entendem números), variando da </a:t>
            </a:r>
            <a:r>
              <a:rPr lang="pt-BR" b="1" dirty="0">
                <a:solidFill>
                  <a:srgbClr val="00B050"/>
                </a:solidFill>
              </a:rPr>
              <a:t>frequência de palavras </a:t>
            </a:r>
            <a:r>
              <a:rPr lang="pt-BR" dirty="0"/>
              <a:t>até </a:t>
            </a:r>
            <a:r>
              <a:rPr lang="pt-BR" b="1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2"/>
                </a:solidFill>
              </a:rPr>
              <a:t>Transformam </a:t>
            </a:r>
            <a:r>
              <a:rPr lang="pt-BR" b="1" i="1" dirty="0">
                <a:solidFill>
                  <a:schemeClr val="accent2"/>
                </a:solidFill>
              </a:rPr>
              <a:t>pixels</a:t>
            </a:r>
            <a:r>
              <a:rPr lang="pt-BR" b="1" dirty="0">
                <a:solidFill>
                  <a:schemeClr val="accent2"/>
                </a:solidFill>
              </a:rPr>
              <a:t> em representações numéricas que capturam padrões visuais</a:t>
            </a:r>
            <a:r>
              <a:rPr lang="pt-BR" dirty="0"/>
              <a:t>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</a:t>
            </a:r>
            <a:r>
              <a:rPr lang="pt-BR" b="1" dirty="0">
                <a:solidFill>
                  <a:srgbClr val="00B050"/>
                </a:solidFill>
              </a:rPr>
              <a:t>características que capturam propriedades espectrais ou de tempo-frequência</a:t>
            </a:r>
            <a:r>
              <a:rPr lang="pt-BR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xmlns="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2291442" y="941613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projeta dados de alta dimensão em um espaço de menor dimensão.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PCA encontra as </a:t>
            </a:r>
            <a:r>
              <a:rPr lang="pt-BR" b="1" dirty="0"/>
              <a:t>direções </a:t>
            </a:r>
            <a:r>
              <a:rPr lang="pt-BR" dirty="0"/>
              <a:t>(</a:t>
            </a:r>
            <a:r>
              <a:rPr lang="pt-BR" b="1" dirty="0">
                <a:solidFill>
                  <a:schemeClr val="accent2"/>
                </a:solidFill>
              </a:rPr>
              <a:t>componentes principais</a:t>
            </a:r>
            <a:r>
              <a:rPr lang="pt-BR" dirty="0"/>
              <a:t>) </a:t>
            </a:r>
            <a:r>
              <a:rPr lang="pt-BR" b="1" dirty="0"/>
              <a:t>onde os dados mais variam</a:t>
            </a:r>
            <a:r>
              <a:rPr lang="pt-BR" dirty="0"/>
              <a:t> e </a:t>
            </a:r>
            <a:r>
              <a:rPr lang="pt-BR" b="1" dirty="0">
                <a:solidFill>
                  <a:schemeClr val="accent1"/>
                </a:solidFill>
              </a:rPr>
              <a:t>projeta</a:t>
            </a:r>
            <a:r>
              <a:rPr lang="pt-BR" dirty="0"/>
              <a:t> os dados nessas direções.</a:t>
            </a:r>
          </a:p>
          <a:p>
            <a:r>
              <a:rPr lang="pt-BR" dirty="0"/>
              <a:t>Ele encontra as </a:t>
            </a:r>
            <a:r>
              <a:rPr lang="pt-BR" b="1" dirty="0">
                <a:solidFill>
                  <a:srgbClr val="00B050"/>
                </a:solidFill>
              </a:rPr>
              <a:t>direções que descrevem como os dados estão espalhados </a:t>
            </a:r>
            <a:r>
              <a:rPr lang="pt-BR" dirty="0"/>
              <a:t>(i.e., máxima variância).</a:t>
            </a:r>
          </a:p>
          <a:p>
            <a:r>
              <a:rPr lang="pt-BR" dirty="0"/>
              <a:t>O objetivo é </a:t>
            </a:r>
            <a:r>
              <a:rPr lang="pt-BR" b="1" dirty="0">
                <a:solidFill>
                  <a:srgbClr val="7030A0"/>
                </a:solidFill>
              </a:rPr>
              <a:t>reduzir a dimensionalidade</a:t>
            </a:r>
            <a:r>
              <a:rPr lang="pt-BR" dirty="0"/>
              <a:t> com </a:t>
            </a:r>
            <a:r>
              <a:rPr lang="pt-BR" b="1" dirty="0">
                <a:solidFill>
                  <a:srgbClr val="7030A0"/>
                </a:solidFill>
              </a:rPr>
              <a:t>mínima perda de informação</a:t>
            </a:r>
            <a:r>
              <a:rPr lang="pt-BR" dirty="0"/>
              <a:t>.</a:t>
            </a:r>
          </a:p>
          <a:p>
            <a:r>
              <a:rPr lang="pt-BR" dirty="0"/>
              <a:t>Aplicado através de </a:t>
            </a:r>
            <a:r>
              <a:rPr lang="pt-BR" b="1" dirty="0">
                <a:solidFill>
                  <a:schemeClr val="accent6"/>
                </a:solidFill>
              </a:rPr>
              <a:t>transformação matricial</a:t>
            </a:r>
            <a:r>
              <a:rPr lang="pt-BR" dirty="0"/>
              <a:t>.</a:t>
            </a:r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7486" y="1825624"/>
            <a:ext cx="5018314" cy="5032375"/>
          </a:xfrm>
        </p:spPr>
        <p:txBody>
          <a:bodyPr>
            <a:normAutofit/>
          </a:bodyPr>
          <a:lstStyle/>
          <a:p>
            <a:r>
              <a:rPr lang="pt-BR" dirty="0"/>
              <a:t>Na figura, </a:t>
            </a:r>
            <a:r>
              <a:rPr lang="pt-BR" b="1" dirty="0">
                <a:solidFill>
                  <a:schemeClr val="accent1"/>
                </a:solidFill>
              </a:rPr>
              <a:t>PC1</a:t>
            </a:r>
            <a:r>
              <a:rPr lang="pt-BR" dirty="0"/>
              <a:t> é a direção onde os </a:t>
            </a:r>
            <a:r>
              <a:rPr lang="pt-BR" b="1" dirty="0">
                <a:solidFill>
                  <a:schemeClr val="accent1"/>
                </a:solidFill>
              </a:rPr>
              <a:t>dados variam mais</a:t>
            </a:r>
            <a:r>
              <a:rPr lang="pt-BR" dirty="0"/>
              <a:t>.</a:t>
            </a:r>
          </a:p>
          <a:p>
            <a:r>
              <a:rPr lang="pt-BR" dirty="0"/>
              <a:t>Já </a:t>
            </a:r>
            <a:r>
              <a:rPr lang="pt-BR" b="1" dirty="0">
                <a:solidFill>
                  <a:schemeClr val="accent1"/>
                </a:solidFill>
              </a:rPr>
              <a:t>PC2</a:t>
            </a:r>
            <a:r>
              <a:rPr lang="pt-BR" dirty="0"/>
              <a:t> é a direção </a:t>
            </a:r>
            <a:r>
              <a:rPr lang="pt-BR" b="1" dirty="0">
                <a:solidFill>
                  <a:srgbClr val="7030A0"/>
                </a:solidFill>
              </a:rPr>
              <a:t>ortogonal</a:t>
            </a:r>
            <a:r>
              <a:rPr lang="pt-BR" dirty="0"/>
              <a:t> à PC1 com a </a:t>
            </a:r>
            <a:r>
              <a:rPr lang="pt-BR" b="1" dirty="0">
                <a:solidFill>
                  <a:schemeClr val="accent1"/>
                </a:solidFill>
              </a:rPr>
              <a:t>segunda maior variância</a:t>
            </a:r>
            <a:r>
              <a:rPr lang="pt-BR" dirty="0"/>
              <a:t>.</a:t>
            </a:r>
          </a:p>
          <a:p>
            <a:r>
              <a:rPr lang="pt-BR" dirty="0"/>
              <a:t>Mantendo </a:t>
            </a:r>
            <a:r>
              <a:rPr lang="pt-BR" b="1" dirty="0">
                <a:solidFill>
                  <a:srgbClr val="00B050"/>
                </a:solidFill>
              </a:rPr>
              <a:t>PC1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preserva-se a maior parte da informação</a:t>
            </a:r>
            <a:r>
              <a:rPr lang="pt-BR" dirty="0"/>
              <a:t>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xmlns="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792878" cy="32464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</a:t>
            </a:r>
            <a:r>
              <a:rPr lang="pt-BR" b="1" dirty="0">
                <a:solidFill>
                  <a:schemeClr val="accent6"/>
                </a:solidFill>
              </a:rPr>
              <a:t>componente de maior variância para a menor</a:t>
            </a:r>
            <a:r>
              <a:rPr lang="pt-BR" dirty="0"/>
              <a:t>.</a:t>
            </a:r>
          </a:p>
          <a:p>
            <a:r>
              <a:rPr lang="pt-BR" dirty="0"/>
              <a:t>O PCA </a:t>
            </a:r>
            <a:r>
              <a:rPr lang="pt-BR" b="1" dirty="0"/>
              <a:t>assume </a:t>
            </a:r>
            <a:r>
              <a:rPr lang="pt-BR" b="1" dirty="0">
                <a:solidFill>
                  <a:schemeClr val="accent1"/>
                </a:solidFill>
              </a:rPr>
              <a:t>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</a:t>
            </a:r>
            <a:r>
              <a:rPr lang="pt-BR" b="1" dirty="0">
                <a:solidFill>
                  <a:srgbClr val="7030A0"/>
                </a:solidFill>
              </a:rPr>
              <a:t>não são lineares</a:t>
            </a:r>
            <a:r>
              <a:rPr lang="pt-BR" dirty="0"/>
              <a:t> (como uma senoide, meia lua ou um círculo), o </a:t>
            </a:r>
            <a:r>
              <a:rPr lang="pt-BR" b="1" dirty="0">
                <a:solidFill>
                  <a:srgbClr val="7030A0"/>
                </a:solidFill>
              </a:rPr>
              <a:t>PCA vai ter um desempenho bem ruim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Nestes casos, deve-se 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</a:t>
            </a:r>
            <a:r>
              <a:rPr lang="pt-BR" b="1" dirty="0">
                <a:solidFill>
                  <a:schemeClr val="accent6"/>
                </a:solidFill>
              </a:rPr>
              <a:t>aplicado após a separação do dados</a:t>
            </a:r>
            <a:r>
              <a:rPr lang="pt-BR" dirty="0"/>
              <a:t> em conjuntos de treinamento, validação e teste para evitar vazamento de dados.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chemeClr val="accent2"/>
                </a:solidFill>
              </a:rPr>
              <a:t>dados devem ser padronizados </a:t>
            </a:r>
            <a:r>
              <a:rPr lang="pt-BR" dirty="0"/>
              <a:t>antes de sua aplicação.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Sem padronização, </a:t>
            </a:r>
            <a:r>
              <a:rPr lang="pt-BR" b="1" dirty="0">
                <a:solidFill>
                  <a:srgbClr val="00B050"/>
                </a:solidFill>
              </a:rPr>
              <a:t>atributos com maior escala dominam</a:t>
            </a:r>
            <a:r>
              <a:rPr lang="pt-BR" dirty="0"/>
              <a:t> as componentes principais.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components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xmlns="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subconjunto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</a:t>
            </a:r>
            <a:r>
              <a:rPr lang="pt-BR" b="1" dirty="0">
                <a:solidFill>
                  <a:srgbClr val="7030A0"/>
                </a:solidFill>
              </a:rPr>
              <a:t>medidas estatísticas dos dados</a:t>
            </a:r>
            <a:r>
              <a:rPr lang="pt-BR" dirty="0"/>
              <a:t>, como a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Usa o próprio modelo de ML para testar subconjuntos </a:t>
            </a:r>
            <a:r>
              <a:rPr lang="pt-BR" dirty="0"/>
              <a:t>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Eliminação recursiva </a:t>
            </a:r>
            <a:r>
              <a:rPr lang="pt-BR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</a:t>
            </a:r>
            <a:r>
              <a:rPr lang="pt-BR" b="1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dirty="0"/>
              <a:t>do próprio algoritmo. É </a:t>
            </a:r>
            <a:r>
              <a:rPr lang="pt-BR" b="1" dirty="0">
                <a:solidFill>
                  <a:srgbClr val="7030A0"/>
                </a:solidFill>
              </a:rPr>
              <a:t>integrada</a:t>
            </a:r>
            <a:r>
              <a:rPr lang="pt-BR" dirty="0"/>
              <a:t> (i.e., embarcada) no </a:t>
            </a:r>
            <a:r>
              <a:rPr lang="pt-BR" b="1" dirty="0">
                <a:solidFill>
                  <a:srgbClr val="7030A0"/>
                </a:solidFill>
              </a:rPr>
              <a:t>treinamento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  <a:p>
            <a:r>
              <a:rPr lang="pt-BR" dirty="0"/>
              <a:t>Filtragem usa apenas informações do </a:t>
            </a:r>
            <a:r>
              <a:rPr lang="pt-BR" i="1" dirty="0"/>
              <a:t>dataset</a:t>
            </a:r>
            <a:r>
              <a:rPr lang="pt-BR" dirty="0"/>
              <a:t>, já o encapsulamento e o embarcado, usam informações do </a:t>
            </a:r>
            <a:r>
              <a:rPr lang="pt-BR" i="1" dirty="0"/>
              <a:t>dataset</a:t>
            </a:r>
            <a:r>
              <a:rPr lang="pt-BR" dirty="0"/>
              <a:t> e do modelo 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xmlns="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1825624"/>
            <a:ext cx="5442857" cy="5032375"/>
          </a:xfrm>
        </p:spPr>
        <p:txBody>
          <a:bodyPr>
            <a:normAutofit/>
          </a:bodyPr>
          <a:lstStyle/>
          <a:p>
            <a:r>
              <a:rPr lang="pt-BR" dirty="0"/>
              <a:t>São </a:t>
            </a:r>
            <a:r>
              <a:rPr lang="pt-BR" b="1" dirty="0"/>
              <a:t>rápidos e independentes do modelo de ML</a:t>
            </a:r>
            <a:r>
              <a:rPr lang="pt-BR" dirty="0"/>
              <a:t>.</a:t>
            </a:r>
          </a:p>
          <a:p>
            <a:r>
              <a:rPr lang="pt-BR" dirty="0"/>
              <a:t>Escala bem para </a:t>
            </a:r>
            <a:r>
              <a:rPr lang="pt-BR" i="1" dirty="0" err="1"/>
              <a:t>datasets</a:t>
            </a:r>
            <a:r>
              <a:rPr lang="pt-BR" dirty="0"/>
              <a:t> grandes.</a:t>
            </a:r>
          </a:p>
          <a:p>
            <a:r>
              <a:rPr lang="pt-BR" dirty="0"/>
              <a:t>Filtros simples podem </a:t>
            </a:r>
            <a:r>
              <a:rPr lang="pt-BR" b="1" dirty="0"/>
              <a:t>ignorar interações relevantes </a:t>
            </a:r>
            <a:r>
              <a:rPr lang="pt-BR" dirty="0"/>
              <a:t>entre atributos (e.g., usar apenas a </a:t>
            </a:r>
            <a:r>
              <a:rPr lang="pt-BR" b="1" dirty="0"/>
              <a:t>correlação entre atributo e alvo</a:t>
            </a:r>
            <a:r>
              <a:rPr lang="pt-BR" dirty="0"/>
              <a:t>).</a:t>
            </a:r>
          </a:p>
          <a:p>
            <a:r>
              <a:rPr lang="pt-BR" dirty="0"/>
              <a:t>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xmlns="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133600"/>
            <a:ext cx="6360280" cy="370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b="1" dirty="0">
                <a:solidFill>
                  <a:srgbClr val="7030A0"/>
                </a:solidFill>
              </a:rPr>
              <a:t>Otimizam</a:t>
            </a:r>
            <a:r>
              <a:rPr lang="pt-BR" dirty="0"/>
              <a:t> os atributos </a:t>
            </a:r>
            <a:r>
              <a:rPr lang="pt-BR" b="1" dirty="0">
                <a:solidFill>
                  <a:srgbClr val="7030A0"/>
                </a:solidFill>
              </a:rPr>
              <a:t>para um modelo específico</a:t>
            </a:r>
            <a:r>
              <a:rPr lang="pt-BR" dirty="0"/>
              <a:t>.</a:t>
            </a:r>
          </a:p>
          <a:p>
            <a:r>
              <a:rPr lang="pt-BR" dirty="0"/>
              <a:t>Em geral, tem têm </a:t>
            </a:r>
            <a:r>
              <a:rPr lang="pt-BR" b="1" dirty="0">
                <a:solidFill>
                  <a:srgbClr val="7030A0"/>
                </a:solidFill>
              </a:rPr>
              <a:t>desempenho superior </a:t>
            </a:r>
            <a:r>
              <a:rPr lang="pt-BR" dirty="0"/>
              <a:t>aos métodos de </a:t>
            </a:r>
            <a:r>
              <a:rPr lang="pt-BR" b="1" dirty="0">
                <a:solidFill>
                  <a:srgbClr val="7030A0"/>
                </a:solidFill>
              </a:rPr>
              <a:t>filtragem</a:t>
            </a:r>
            <a:r>
              <a:rPr lang="pt-BR" dirty="0"/>
              <a:t>.</a:t>
            </a:r>
          </a:p>
          <a:p>
            <a:r>
              <a:rPr lang="pt-BR" dirty="0"/>
              <a:t>Porém, são </a:t>
            </a:r>
            <a:r>
              <a:rPr lang="pt-BR" b="1" dirty="0">
                <a:solidFill>
                  <a:schemeClr val="accent2"/>
                </a:solidFill>
              </a:rPr>
              <a:t>computacionalmente caros</a:t>
            </a:r>
            <a:r>
              <a:rPr lang="pt-BR" dirty="0"/>
              <a:t> e </a:t>
            </a:r>
            <a:r>
              <a:rPr lang="pt-BR" b="1" dirty="0">
                <a:solidFill>
                  <a:schemeClr val="accent2"/>
                </a:solidFill>
              </a:rPr>
              <a:t>suscetíveis ao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/>
              <a:t>, pois podem </a:t>
            </a:r>
            <a:r>
              <a:rPr lang="pt-BR" b="1" dirty="0">
                <a:solidFill>
                  <a:schemeClr val="accent5"/>
                </a:solidFill>
              </a:rPr>
              <a:t>ajustar excessivamente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5"/>
                </a:solidFill>
              </a:rPr>
              <a:t>atributos</a:t>
            </a:r>
            <a:r>
              <a:rPr lang="pt-BR" dirty="0"/>
              <a:t> a um </a:t>
            </a:r>
            <a:r>
              <a:rPr lang="pt-BR" b="1" dirty="0">
                <a:solidFill>
                  <a:schemeClr val="accent5"/>
                </a:solidFill>
              </a:rPr>
              <a:t>modelo específico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xmlns="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64229"/>
            <a:ext cx="6336295" cy="353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podemos citar: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 </a:t>
            </a:r>
            <a:r>
              <a:rPr lang="en-US" dirty="0" err="1"/>
              <a:t>Filtragem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VarianceThreshold</a:t>
            </a:r>
            <a:r>
              <a:rPr lang="pt-BR" dirty="0"/>
              <a:t>: Elimina atributos com variância abaixo do limiar configurado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SelectKBest</a:t>
            </a:r>
            <a:r>
              <a:rPr lang="pt-BR" dirty="0"/>
              <a:t>: Seleciona os K melhores atributos de acordo com um </a:t>
            </a:r>
            <a:r>
              <a:rPr lang="pt-BR" i="1" dirty="0"/>
              <a:t>score</a:t>
            </a:r>
            <a:r>
              <a:rPr lang="pt-BR" dirty="0"/>
              <a:t> definido (e.g., informação mútua, ganho de informação, etc.)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Encapsulamento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>
                <a:latin typeface="Consolas" panose="020B0609020204030204" pitchFamily="49" charset="0"/>
              </a:rPr>
              <a:t>RFE</a:t>
            </a:r>
            <a:r>
              <a:rPr lang="pt-BR" dirty="0"/>
              <a:t>: Elimina os atributos de forma recursiva até que apenas as melhores permaneçam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noProof="0" dirty="0" err="1"/>
              <a:t>Embarcado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dirty="0"/>
              <a:t>: Seleção </a:t>
            </a:r>
            <a:r>
              <a:rPr lang="pt-BR" noProof="0" dirty="0"/>
              <a:t>usando modelos com penalidade L1 ou baseados em árvore, como LASSO e árvores de decisão.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noProof="0" dirty="0"/>
          </a:p>
          <a:p>
            <a:pPr lvl="1">
              <a:buFont typeface="Wingdings" panose="05000000000000000000" pitchFamily="2" charset="2"/>
              <a:buChar char="§"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9305</TotalTime>
  <Words>4548</Words>
  <Application>Microsoft Office PowerPoint</Application>
  <PresentationFormat>Widescreen</PresentationFormat>
  <Paragraphs>526</Paragraphs>
  <Slides>56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56</vt:i4>
      </vt:variant>
    </vt:vector>
  </HeadingPairs>
  <TitlesOfParts>
    <vt:vector size="65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 ordinal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2088</cp:revision>
  <dcterms:created xsi:type="dcterms:W3CDTF">2020-01-20T13:50:05Z</dcterms:created>
  <dcterms:modified xsi:type="dcterms:W3CDTF">2026-08-16T21:27:03Z</dcterms:modified>
</cp:coreProperties>
</file>