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handoutMasterIdLst>
    <p:handoutMasterId r:id="rId51"/>
  </p:handoutMasterIdLst>
  <p:sldIdLst>
    <p:sldId id="256" r:id="rId2"/>
    <p:sldId id="322" r:id="rId3"/>
    <p:sldId id="316" r:id="rId4"/>
    <p:sldId id="363" r:id="rId5"/>
    <p:sldId id="337" r:id="rId6"/>
    <p:sldId id="365" r:id="rId7"/>
    <p:sldId id="326" r:id="rId8"/>
    <p:sldId id="330" r:id="rId9"/>
    <p:sldId id="319" r:id="rId10"/>
    <p:sldId id="329" r:id="rId11"/>
    <p:sldId id="327" r:id="rId12"/>
    <p:sldId id="341" r:id="rId13"/>
    <p:sldId id="334" r:id="rId14"/>
    <p:sldId id="335" r:id="rId15"/>
    <p:sldId id="339" r:id="rId16"/>
    <p:sldId id="340" r:id="rId17"/>
    <p:sldId id="336" r:id="rId18"/>
    <p:sldId id="343" r:id="rId19"/>
    <p:sldId id="342" r:id="rId20"/>
    <p:sldId id="328" r:id="rId21"/>
    <p:sldId id="344" r:id="rId22"/>
    <p:sldId id="345" r:id="rId23"/>
    <p:sldId id="346" r:id="rId24"/>
    <p:sldId id="347" r:id="rId25"/>
    <p:sldId id="348" r:id="rId26"/>
    <p:sldId id="349" r:id="rId27"/>
    <p:sldId id="317" r:id="rId28"/>
    <p:sldId id="320" r:id="rId29"/>
    <p:sldId id="353" r:id="rId30"/>
    <p:sldId id="354" r:id="rId31"/>
    <p:sldId id="355" r:id="rId32"/>
    <p:sldId id="361" r:id="rId33"/>
    <p:sldId id="366" r:id="rId34"/>
    <p:sldId id="357" r:id="rId35"/>
    <p:sldId id="359" r:id="rId36"/>
    <p:sldId id="360" r:id="rId37"/>
    <p:sldId id="358" r:id="rId38"/>
    <p:sldId id="362" r:id="rId39"/>
    <p:sldId id="367" r:id="rId40"/>
    <p:sldId id="368" r:id="rId41"/>
    <p:sldId id="370" r:id="rId42"/>
    <p:sldId id="372" r:id="rId43"/>
    <p:sldId id="371" r:id="rId44"/>
    <p:sldId id="373" r:id="rId45"/>
    <p:sldId id="356" r:id="rId46"/>
    <p:sldId id="338" r:id="rId47"/>
    <p:sldId id="293" r:id="rId48"/>
    <p:sldId id="306" r:id="rId4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5/02/2026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dimensionalidade</a:t>
            </a:r>
            <a:r>
              <a:rPr lang="en-US" dirty="0"/>
              <a:t> dos dados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0640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Em ML, o objetivo não é apenas aprender os dados disponíveis, mas generalizar bem para dados novos (i.e., inéditos).</a:t>
            </a:r>
          </a:p>
          <a:p>
            <a:r>
              <a:rPr lang="pt-BR" dirty="0"/>
              <a:t>Para isso, o </a:t>
            </a:r>
            <a:r>
              <a:rPr lang="pt-BR" i="1" dirty="0"/>
              <a:t>dataset</a:t>
            </a:r>
            <a:r>
              <a:rPr lang="pt-BR" dirty="0"/>
              <a:t> é dividido em três subconjuntos: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  <a:p>
            <a:r>
              <a:rPr lang="pt-BR" dirty="0"/>
              <a:t>Todos os três devem ser representativos do problema/fenômeno sendo analisado.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70, 15, 15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80, 10, 10</a:t>
            </a:r>
          </a:p>
        </p:txBody>
      </p:sp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treinamento é para treinar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mais representativo, melhor o aprendizado.</a:t>
            </a:r>
          </a:p>
          <a:p>
            <a:r>
              <a:rPr lang="pt-BR" dirty="0"/>
              <a:t>O conjunto de validação avalia o modelo durante o desenvolvimento.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se sobreajuste/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teste valida a capacidade de generalização 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55A6E-1BBE-1B2F-EFA7-34BD6DAD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  <a:blipFill>
                <a:blip r:embed="rId3"/>
                <a:stretch>
                  <a:fillRect l="-1642" t="-1937"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ll about Feature Scaling | Towards Data Science">
            <a:extLst>
              <a:ext uri="{FF2B5EF4-FFF2-40B4-BE49-F238E27FC236}">
                <a16:creationId xmlns:a16="http://schemas.microsoft.com/office/drawing/2014/main" id="{E9F4CF00-3351-2EA1-5BB3-94F874A657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7" t="19206" r="23305" b="15555"/>
          <a:stretch>
            <a:fillRect/>
          </a:stretch>
        </p:blipFill>
        <p:spPr bwMode="auto">
          <a:xfrm>
            <a:off x="293913" y="2038577"/>
            <a:ext cx="4855991" cy="385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884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  <a:blipFill>
                <a:blip r:embed="rId3"/>
                <a:stretch>
                  <a:fillRect l="-2091" t="-2663" r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108857" y="2384466"/>
            <a:ext cx="6512302" cy="31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são sensíveis à escala dos atributos.</a:t>
            </a:r>
          </a:p>
          <a:p>
            <a:r>
              <a:rPr lang="pt-BR" dirty="0"/>
              <a:t>Atributos com escala muito maior influenciam muito mais a previsão 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escalonamento iguala a influência dos atributos no modelo.</a:t>
            </a:r>
          </a:p>
          <a:p>
            <a:r>
              <a:rPr lang="pt-BR" dirty="0"/>
              <a:t>Escalonamento transforma valores de atributos para uma mesma escala, geralmente sem unidade definida.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escala fixa, geralmente entre 0 e 1.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uma coluna (i.e., atributo).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não pressupõem nenhuma distribuição (e.g., redes neurais, KNN)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e/ou que algoritmos que exigem entradas limitadas como os baseados em distância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“esmaga” todos os outros valores para um intervalo muito pequeno próximo de zero.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valores (que não são </a:t>
            </a:r>
            <a:r>
              <a:rPr lang="pt-BR" i="1" dirty="0"/>
              <a:t>outliers</a:t>
            </a:r>
            <a:r>
              <a:rPr lang="pt-BR" dirty="0"/>
              <a:t>) acabam sendo transformados em valores muito pequenos, próximos de zero, perdendo a distinção entre eles.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diferença entre os valores reais é praticamente eliminada na escala normalizada. 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normalização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média 0 e desvio padrão 1, não impondo limites.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uma coluna (i.e., atributo).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Mais robusto 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i="1" dirty="0"/>
              <a:t>outliers</a:t>
            </a:r>
            <a:r>
              <a:rPr lang="pt-BR" dirty="0"/>
              <a:t> extremos, o escalonador robusto é uma opção superior 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influenciar a média e variância 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mediana e distância interquartil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i="1" dirty="0"/>
                  <a:t>outliers</a:t>
                </a:r>
                <a:r>
                  <a:rPr lang="pt-BR" dirty="0"/>
                  <a:t> têm influência mínima nos dados escalonados.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não-discrepantes melhor que a padronização quando existem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esmaguem os valores não-discrepantes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751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ou com caudas longas.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não remove os </a:t>
            </a:r>
            <a:r>
              <a:rPr lang="pt-BR" i="1" dirty="0"/>
              <a:t>outliers</a:t>
            </a:r>
            <a:r>
              <a:rPr lang="pt-BR" dirty="0"/>
              <a:t>, algoritmos sensíveis à distância (e.g., KNN, </a:t>
            </a:r>
            <a:r>
              <a:rPr lang="pt-BR" dirty="0" err="1"/>
              <a:t>Regressores</a:t>
            </a:r>
            <a:r>
              <a:rPr lang="pt-BR" dirty="0"/>
              <a:t>) podem ter seu aprendizado impactado.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escala dos dados não discrepantes é mantida, mas ele não esconde 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vazamento de dados, o escalonador deve sempre ser ajustado no conjunto de treinamento.</a:t>
            </a:r>
          </a:p>
          <a:p>
            <a:r>
              <a:rPr lang="pt-BR" dirty="0"/>
              <a:t>Os conjuntos de validação e teste, são transformados com os valores encontrados com o conjunto e treinamento.</a:t>
            </a:r>
          </a:p>
          <a:p>
            <a:r>
              <a:rPr lang="pt-BR" dirty="0"/>
              <a:t>Geralmente, não se aplica escalonamento à variável algo, i.e., os rótulos, apenas aos atributos.</a:t>
            </a:r>
          </a:p>
          <a:p>
            <a:r>
              <a:rPr lang="pt-BR" dirty="0"/>
              <a:t>Não se deve escalonar atributos binários ou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/>
              <a:t>Binary </a:t>
            </a:r>
            <a:r>
              <a:rPr lang="en-US" dirty="0"/>
              <a:t>e</a:t>
            </a:r>
            <a:r>
              <a:rPr lang="en-US"/>
              <a:t>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17219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coluna binária para cada categoria 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categorias, aumentando o custo computacional.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“maldição da dimensionalidade”.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058" y="1825624"/>
            <a:ext cx="69450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Converte cada categoria em um número inteiro único, mas sem considerar uma ordem. </a:t>
            </a:r>
          </a:p>
          <a:p>
            <a:r>
              <a:rPr lang="pt-BR" b="1" dirty="0"/>
              <a:t>Uso:</a:t>
            </a:r>
            <a:r>
              <a:rPr lang="pt-BR" dirty="0"/>
              <a:t> Indicada principalmente para a codificação do rótulo em problemas de classificação.</a:t>
            </a:r>
          </a:p>
          <a:p>
            <a:r>
              <a:rPr lang="pt-BR" b="1" dirty="0"/>
              <a:t>Risco:</a:t>
            </a:r>
            <a:r>
              <a:rPr lang="pt-BR" dirty="0"/>
              <a:t> Pode introduzir uma relação de ordem falsa que afeta negativamente algoritmos sensíveis a distâncias ou magnitudes (e.g., </a:t>
            </a:r>
            <a:r>
              <a:rPr lang="pt-BR" dirty="0" err="1"/>
              <a:t>regressores</a:t>
            </a:r>
            <a:r>
              <a:rPr lang="pt-BR" dirty="0"/>
              <a:t> linear e logístico e KNN).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G), faz sentido (ordinal).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cores, não (nominal).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250371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640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Substitui cada categoria pela média do valor do alvo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variáveis de alta cardinalidade, pois não aumenta a dimensionalidade do conjunto de dados e quando há relação entre a categoria e o </a:t>
            </a:r>
            <a:r>
              <a:rPr lang="pt-BR" i="1" dirty="0"/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quando uma categoria tem poucos exemplos.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média do </a:t>
            </a:r>
            <a:r>
              <a:rPr lang="pt-BR" i="1" dirty="0"/>
              <a:t>target</a:t>
            </a:r>
            <a:r>
              <a:rPr lang="pt-BR" dirty="0"/>
              <a:t> pode refletir mais ruído do que padrão real dos dados, prejudicando a generalização.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228600" y="3023466"/>
            <a:ext cx="4789715" cy="176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75061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categoria recebe um número inteiro (</a:t>
            </a:r>
            <a:r>
              <a:rPr lang="pt-BR" i="1" dirty="0" err="1"/>
              <a:t>Label</a:t>
            </a:r>
            <a:r>
              <a:rPr lang="pt-BR" dirty="0"/>
              <a:t>), e depois esse número é convertido </a:t>
            </a:r>
            <a:r>
              <a:rPr lang="en-US" dirty="0"/>
              <a:t>para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representação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compartilharem bits, modelos lineares podem achar que existe uma relação matemática entre elas.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SciKit</a:t>
            </a:r>
            <a:r>
              <a:rPr lang="en-US" sz="2300" i="1" dirty="0">
                <a:latin typeface="Consolas" panose="020B0609020204030204" pitchFamily="49" charset="0"/>
              </a:rPr>
              <a:t>-Learn </a:t>
            </a:r>
            <a:r>
              <a:rPr lang="en-US" sz="2300" i="1" dirty="0" err="1">
                <a:latin typeface="Consolas" panose="020B0609020204030204" pitchFamily="49" charset="0"/>
              </a:rPr>
              <a:t>não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implementa</a:t>
            </a:r>
            <a:r>
              <a:rPr lang="en-US" sz="2300" i="1" dirty="0">
                <a:latin typeface="Consolas" panose="020B0609020204030204" pitchFamily="49" charset="0"/>
              </a:rPr>
              <a:t> o </a:t>
            </a:r>
            <a:r>
              <a:rPr lang="en-US" sz="2300" i="1" dirty="0" err="1">
                <a:latin typeface="Consolas" panose="020B0609020204030204" pitchFamily="49" charset="0"/>
              </a:rPr>
              <a:t>codificador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binário</a:t>
            </a:r>
            <a:r>
              <a:rPr lang="en-US" sz="2300" i="1" dirty="0">
                <a:latin typeface="Consolas" panose="020B0609020204030204" pitchFamily="49" charset="0"/>
              </a:rPr>
              <a:t> 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enxergar relações que não estão óbvias.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Melhorar a capacidade de predição (generalização) do modelo.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Interação entre atributos →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/>
              <a:t>transformar</a:t>
            </a:r>
            <a:r>
              <a:rPr lang="pt-BR" dirty="0"/>
              <a:t> dados brutos em um conjunto menor de atributos significativos que podem ser processados de forma mais eficiente, mantendo as informações essenciais (perde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atributos não correlacionados que capturam a variância máxima (PCA) ou a independência dos atributos 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texto em representações numéricas (modelos de ML entendem números), variando de contagens simples de palavras, a pesos informativos, até vetores densos que capturam significado e contexto.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</a:t>
            </a:r>
            <a:r>
              <a:rPr lang="pt-BR" i="1" dirty="0"/>
              <a:t>pixels</a:t>
            </a:r>
            <a:r>
              <a:rPr lang="pt-BR" dirty="0"/>
              <a:t> brutos em representações numéricas que capturam padrões visuais relevantes,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características que capturam propriedades espectrais ou de tempo-frequência.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A07421-70E9-CE6B-B44C-E12574A1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97" y="625688"/>
            <a:ext cx="6250006" cy="560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00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1905000" y="1159328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1281792" y="6179012"/>
            <a:ext cx="9628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i="0" dirty="0">
                <a:effectLst/>
              </a:rPr>
              <a:t>O PCA projeta dados de alta dimensão em um espaço de menor dimensão.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PCA funciona encontrando novas direções (componentes principais) que capturam o máximo de variância dos dados e </a:t>
            </a:r>
            <a:r>
              <a:rPr lang="pt-BR" b="1" dirty="0"/>
              <a:t>projetando</a:t>
            </a:r>
            <a:r>
              <a:rPr lang="pt-BR" dirty="0"/>
              <a:t> os dados nessas direções para reduzir a dimensionalidade com mínima perda de informação.</a:t>
            </a:r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2508564" y="3429000"/>
            <a:ext cx="7174871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8745" y="1825624"/>
            <a:ext cx="58570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algoritmo encontra as direções que melhor descrevem como os dados estão espalhados (i.e., máxima variância).</a:t>
            </a:r>
          </a:p>
          <a:p>
            <a:r>
              <a:rPr lang="pt-BR" dirty="0"/>
              <a:t>Na figura, PC1 é a direção onde os dados variam mais.</a:t>
            </a:r>
          </a:p>
          <a:p>
            <a:r>
              <a:rPr lang="pt-BR" dirty="0"/>
              <a:t>Já PC2 é a direção ortogonal à PC1 com a segunda maior variância.</a:t>
            </a:r>
          </a:p>
          <a:p>
            <a:r>
              <a:rPr lang="pt-BR" dirty="0"/>
              <a:t>Mantendo PC1, preserva-se a maior parte da informação.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149889" cy="2939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9628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componente de maior variância para a menor.</a:t>
            </a:r>
          </a:p>
          <a:p>
            <a:r>
              <a:rPr lang="pt-BR" dirty="0"/>
              <a:t>Cada componente é uma </a:t>
            </a:r>
            <a:r>
              <a:rPr lang="pt-BR" b="1" dirty="0"/>
              <a:t>combinação linear</a:t>
            </a:r>
            <a:r>
              <a:rPr lang="pt-BR" dirty="0"/>
              <a:t> dos atributos originais.</a:t>
            </a:r>
          </a:p>
          <a:p>
            <a:r>
              <a:rPr lang="pt-BR" dirty="0"/>
              <a:t>O PCA </a:t>
            </a:r>
            <a:r>
              <a:rPr lang="pt-BR" b="1" dirty="0"/>
              <a:t>assume 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originais seguem um padrão curvo (como uma senoide	, meia lua ou um círculo), o PCA vai ter um desempenho bem ruim.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vazamento.</a:t>
            </a:r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Escalonar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 (é </a:t>
            </a:r>
            <a:r>
              <a:rPr lang="en-US" i="1" dirty="0" err="1">
                <a:latin typeface="Consolas" panose="020B0609020204030204" pitchFamily="49" charset="0"/>
              </a:rPr>
              <a:t>obrigatório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que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tenham</a:t>
            </a:r>
            <a:r>
              <a:rPr lang="en-US" i="1" dirty="0">
                <a:latin typeface="Consolas" panose="020B0609020204030204" pitchFamily="49" charset="0"/>
              </a:rPr>
              <a:t> a </a:t>
            </a:r>
            <a:r>
              <a:rPr lang="en-US" i="1" dirty="0" err="1">
                <a:latin typeface="Consolas" panose="020B0609020204030204" pitchFamily="49" charset="0"/>
              </a:rPr>
              <a:t>mesma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variância</a:t>
            </a:r>
            <a:r>
              <a:rPr lang="en-US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selecionar um subconjunto de atributos que contribuem para a melhoria do desempenho do modelo.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</a:t>
            </a:r>
            <a:r>
              <a:rPr lang="pt-BR" i="1" dirty="0" err="1"/>
              <a:t>overfitting</a:t>
            </a:r>
            <a:r>
              <a:rPr lang="pt-BR" i="1" dirty="0"/>
              <a:t>: </a:t>
            </a:r>
            <a:r>
              <a:rPr lang="pt-BR" dirty="0"/>
              <a:t>Modelos mais simples com menos atributos tendem a generalizar melhor 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custo computacional: Menos dados significam algoritmos que processam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Facilita interpretação: É mais fácil explicar 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medidas estatísticas dos dados,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Usa o próprio modelo de ML para testar subconjuntos 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Eliminação recursiva de atributos, 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seleção ocorre durante o processo de treinamento do próprio algoritmo. É integrada (i.e., embarcada) no treinamento.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4" y="1825625"/>
            <a:ext cx="4942116" cy="4351338"/>
          </a:xfrm>
        </p:spPr>
        <p:txBody>
          <a:bodyPr/>
          <a:lstStyle/>
          <a:p>
            <a:r>
              <a:rPr lang="pt-BR" dirty="0"/>
              <a:t>São rápidos, simples e independentes do modelo, mas podem ignorar interações relevantes entre atributos (devido à independência do modelo) e 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1951506"/>
            <a:ext cx="6672944" cy="388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Otimizam os atributos para um modelo específico e podem ter desempenho superior em comparação aos métodos de filtro, mas são computacionalmente caros e suscetíveis ao </a:t>
            </a:r>
            <a:r>
              <a:rPr lang="pt-BR" i="1" dirty="0" err="1"/>
              <a:t>overfitting</a:t>
            </a:r>
            <a:r>
              <a:rPr lang="pt-BR" dirty="0"/>
              <a:t>, pois podem ajustar excessivamente os atributos a um modelo específico.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43309"/>
            <a:ext cx="6373763" cy="355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Selecionam atributos durante o treinamento do modelo de forma eficiente, apresenta equilíbrio entre desempenho e tempo para seleção, mas têm interpretabilidade limitada e não são suportados por todos os algoritmos.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81657" cy="4351338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estão: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Limiar de variância (</a:t>
            </a:r>
            <a:r>
              <a:rPr lang="pt-BR" noProof="0" dirty="0" err="1">
                <a:latin typeface="Consolas" panose="020B0609020204030204" pitchFamily="49" charset="0"/>
              </a:rPr>
              <a:t>VarianceThreshold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Eliminação recursiva de atributos (</a:t>
            </a:r>
            <a:r>
              <a:rPr lang="pt-BR" noProof="0" dirty="0">
                <a:latin typeface="Consolas" panose="020B0609020204030204" pitchFamily="49" charset="0"/>
              </a:rPr>
              <a:t>RFE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Selecione os K melhores atributos de acordo com um </a:t>
            </a:r>
            <a:r>
              <a:rPr lang="pt-BR" i="1" noProof="0" dirty="0"/>
              <a:t>score</a:t>
            </a:r>
            <a:r>
              <a:rPr lang="pt-BR" noProof="0" dirty="0"/>
              <a:t> (</a:t>
            </a:r>
            <a:r>
              <a:rPr lang="pt-BR" noProof="0" dirty="0" err="1">
                <a:latin typeface="Consolas" panose="020B0609020204030204" pitchFamily="49" charset="0"/>
              </a:rPr>
              <a:t>SelectKBest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Seleção usando modelos com penalidade L1 ou baseados em árvore (</a:t>
            </a: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Seleção de atributos sequencial (</a:t>
            </a:r>
            <a:r>
              <a:rPr lang="en-US" dirty="0" err="1">
                <a:latin typeface="Consolas" panose="020B0609020204030204" pitchFamily="49" charset="0"/>
              </a:rPr>
              <a:t>SequentialFeatureSelector</a:t>
            </a:r>
            <a:r>
              <a:rPr lang="en-US" dirty="0"/>
              <a:t>)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Quais features </a:t>
            </a:r>
            <a:r>
              <a:rPr lang="en-US" dirty="0" err="1">
                <a:latin typeface="Consolas" panose="020B0609020204030204" pitchFamily="49" charset="0"/>
              </a:rPr>
              <a:t>foram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mantidas</a:t>
            </a:r>
            <a:r>
              <a:rPr lang="en-US" dirty="0">
                <a:latin typeface="Consolas" panose="020B0609020204030204" pitchFamily="49" charset="0"/>
              </a:rPr>
              <a:t>?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df.columns</a:t>
            </a: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selector.get_support</a:t>
            </a:r>
            <a:r>
              <a:rPr lang="en-US" dirty="0">
                <a:latin typeface="Consolas" panose="020B0609020204030204" pitchFamily="49" charset="0"/>
              </a:rPr>
              <a:t>()]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print("\</a:t>
            </a:r>
            <a:r>
              <a:rPr lang="en-US" dirty="0" err="1">
                <a:latin typeface="Consolas" panose="020B0609020204030204" pitchFamily="49" charset="0"/>
              </a:rPr>
              <a:t>nFeatures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selecionadas</a:t>
            </a:r>
            <a:r>
              <a:rPr lang="en-US" dirty="0">
                <a:latin typeface="Consolas" panose="020B0609020204030204" pitchFamily="49" charset="0"/>
              </a:rPr>
              <a:t>:")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atributos originais para criar novas,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subconjunto dos atributos existentes mais relevantes sem alterá-los.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8888</TotalTime>
  <Words>5178</Words>
  <Application>Microsoft Office PowerPoint</Application>
  <PresentationFormat>Widescreen</PresentationFormat>
  <Paragraphs>429</Paragraphs>
  <Slides>48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Divisão do dataset</vt:lpstr>
      <vt:lpstr>Divisão do dataset</vt:lpstr>
      <vt:lpstr>Escalonamento de atributos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1945</cp:revision>
  <dcterms:created xsi:type="dcterms:W3CDTF">2020-01-20T13:50:05Z</dcterms:created>
  <dcterms:modified xsi:type="dcterms:W3CDTF">2026-02-05T20:03:08Z</dcterms:modified>
</cp:coreProperties>
</file>