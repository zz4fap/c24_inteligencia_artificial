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256" r:id="rId2"/>
    <p:sldId id="322" r:id="rId3"/>
    <p:sldId id="316" r:id="rId4"/>
    <p:sldId id="363" r:id="rId5"/>
    <p:sldId id="374" r:id="rId6"/>
    <p:sldId id="375" r:id="rId7"/>
    <p:sldId id="376" r:id="rId8"/>
    <p:sldId id="337" r:id="rId9"/>
    <p:sldId id="365" r:id="rId10"/>
    <p:sldId id="326" r:id="rId11"/>
    <p:sldId id="330" r:id="rId12"/>
    <p:sldId id="319" r:id="rId13"/>
    <p:sldId id="329" r:id="rId14"/>
    <p:sldId id="327" r:id="rId15"/>
    <p:sldId id="341" r:id="rId16"/>
    <p:sldId id="334" r:id="rId17"/>
    <p:sldId id="335" r:id="rId18"/>
    <p:sldId id="339" r:id="rId19"/>
    <p:sldId id="340" r:id="rId20"/>
    <p:sldId id="336" r:id="rId21"/>
    <p:sldId id="343" r:id="rId22"/>
    <p:sldId id="342" r:id="rId23"/>
    <p:sldId id="328" r:id="rId24"/>
    <p:sldId id="344" r:id="rId25"/>
    <p:sldId id="345" r:id="rId26"/>
    <p:sldId id="346" r:id="rId27"/>
    <p:sldId id="347" r:id="rId28"/>
    <p:sldId id="348" r:id="rId29"/>
    <p:sldId id="349" r:id="rId30"/>
    <p:sldId id="317" r:id="rId31"/>
    <p:sldId id="320" r:id="rId32"/>
    <p:sldId id="353" r:id="rId33"/>
    <p:sldId id="354" r:id="rId34"/>
    <p:sldId id="355" r:id="rId35"/>
    <p:sldId id="361" r:id="rId36"/>
    <p:sldId id="366" r:id="rId37"/>
    <p:sldId id="357" r:id="rId38"/>
    <p:sldId id="359" r:id="rId39"/>
    <p:sldId id="360" r:id="rId40"/>
    <p:sldId id="358" r:id="rId41"/>
    <p:sldId id="362" r:id="rId42"/>
    <p:sldId id="367" r:id="rId43"/>
    <p:sldId id="368" r:id="rId44"/>
    <p:sldId id="370" r:id="rId45"/>
    <p:sldId id="372" r:id="rId46"/>
    <p:sldId id="371" r:id="rId47"/>
    <p:sldId id="373" r:id="rId48"/>
    <p:sldId id="356" r:id="rId49"/>
    <p:sldId id="338" r:id="rId50"/>
    <p:sldId id="293" r:id="rId51"/>
    <p:sldId id="306" r:id="rId5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Embora um modelo possa parecer funcionar bem quando testado nos mesmos dados usados no treinamento, </a:t>
            </a:r>
            <a:r>
              <a:rPr lang="pt-BR" b="1" dirty="0" smtClean="0"/>
              <a:t>isso não significa que ele realmente aprendeu a generalizar</a:t>
            </a:r>
            <a:r>
              <a:rPr lang="pt-BR" dirty="0" smtClean="0"/>
              <a:t>.</a:t>
            </a:r>
          </a:p>
          <a:p>
            <a:endParaRPr lang="pt-BR" dirty="0" smtClean="0"/>
          </a:p>
          <a:p>
            <a:r>
              <a:rPr lang="pt-BR" dirty="0" smtClean="0"/>
              <a:t>Se o mesmo conjunto de dados for usado para treinamento e teste, ocorre um problema chamado </a:t>
            </a:r>
            <a:r>
              <a:rPr lang="pt-BR" b="1" dirty="0" err="1" smtClean="0"/>
              <a:t>overfitting</a:t>
            </a:r>
            <a:r>
              <a:rPr lang="pt-BR" dirty="0" smtClean="0"/>
              <a:t> ou </a:t>
            </a:r>
            <a:r>
              <a:rPr lang="pt-BR" b="1" dirty="0" err="1" smtClean="0"/>
              <a:t>sobreajuste</a:t>
            </a:r>
            <a:r>
              <a:rPr lang="pt-BR" dirty="0" smtClean="0"/>
              <a:t>. Nesse caso, o modelo pode simplesmente </a:t>
            </a:r>
            <a:r>
              <a:rPr lang="pt-BR" b="1" dirty="0" smtClean="0"/>
              <a:t>memorizar os exemplos do treinamento</a:t>
            </a:r>
            <a:r>
              <a:rPr lang="pt-BR" dirty="0" smtClean="0"/>
              <a:t>, em vez de aprender padrões gerais dos dados. O resultado é uma </a:t>
            </a:r>
            <a:r>
              <a:rPr lang="pt-BR" b="1" dirty="0" smtClean="0"/>
              <a:t>avaliação artificialmente otimista</a:t>
            </a:r>
            <a:r>
              <a:rPr lang="pt-BR" dirty="0" smtClean="0"/>
              <a:t>, pois o modelo é testado em dados que ele já “viu”. </a:t>
            </a:r>
          </a:p>
          <a:p>
            <a:r>
              <a:rPr lang="pt-BR" dirty="0" smtClean="0"/>
              <a:t>Além disso, usar o mesmo conjunto de dados em todas as etapas pode causar </a:t>
            </a:r>
            <a:r>
              <a:rPr lang="pt-BR" b="1" dirty="0" smtClean="0"/>
              <a:t>data </a:t>
            </a:r>
            <a:r>
              <a:rPr lang="pt-BR" b="1" dirty="0" err="1" smtClean="0"/>
              <a:t>leakage</a:t>
            </a:r>
            <a:r>
              <a:rPr lang="pt-BR" b="1" dirty="0" smtClean="0"/>
              <a:t> (vazamento de dados)</a:t>
            </a:r>
            <a:r>
              <a:rPr lang="pt-BR" dirty="0" smtClean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 smtClean="0"/>
          </a:p>
          <a:p>
            <a:r>
              <a:rPr lang="pt-BR" dirty="0" smtClean="0"/>
              <a:t>Portanto, a mensagem principal deste slide é que </a:t>
            </a:r>
            <a:r>
              <a:rPr lang="pt-BR" b="1" dirty="0" smtClean="0"/>
              <a:t>avaliar um modelo com os mesmos dados usados no treinamento não mede sua capacidade real de generalização</a:t>
            </a:r>
            <a:r>
              <a:rPr lang="pt-BR" dirty="0" smtClean="0"/>
              <a:t>. Para obter uma avaliação confiável, é necessário garantir que os dados de treinamento, validação e teste sejam </a:t>
            </a:r>
            <a:r>
              <a:rPr lang="pt-BR" b="1" dirty="0" smtClean="0"/>
              <a:t>separados e independentes</a:t>
            </a:r>
            <a:r>
              <a:rPr lang="pt-BR" dirty="0" smtClean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Embora um modelo possa parecer funcionar bem quando testado nos mesmos dados usados no treinamento, </a:t>
            </a:r>
            <a:r>
              <a:rPr lang="pt-BR" b="1" dirty="0" smtClean="0"/>
              <a:t>isso não significa que ele realmente aprendeu a generalizar</a:t>
            </a:r>
            <a:r>
              <a:rPr lang="pt-BR" dirty="0" smtClean="0"/>
              <a:t>.</a:t>
            </a:r>
          </a:p>
          <a:p>
            <a:endParaRPr lang="pt-BR" dirty="0" smtClean="0"/>
          </a:p>
          <a:p>
            <a:r>
              <a:rPr lang="pt-BR" dirty="0" smtClean="0"/>
              <a:t>Se o mesmo conjunto de dados for usado para treinamento e teste, ocorre um problema chamado </a:t>
            </a:r>
            <a:r>
              <a:rPr lang="pt-BR" b="1" dirty="0" err="1" smtClean="0"/>
              <a:t>overfitting</a:t>
            </a:r>
            <a:r>
              <a:rPr lang="pt-BR" dirty="0" smtClean="0"/>
              <a:t> ou </a:t>
            </a:r>
            <a:r>
              <a:rPr lang="pt-BR" b="1" dirty="0" err="1" smtClean="0"/>
              <a:t>sobreajuste</a:t>
            </a:r>
            <a:r>
              <a:rPr lang="pt-BR" dirty="0" smtClean="0"/>
              <a:t>. Nesse caso, o modelo pode simplesmente </a:t>
            </a:r>
            <a:r>
              <a:rPr lang="pt-BR" b="1" dirty="0" smtClean="0"/>
              <a:t>memorizar os exemplos do treinamento</a:t>
            </a:r>
            <a:r>
              <a:rPr lang="pt-BR" dirty="0" smtClean="0"/>
              <a:t>, em vez de aprender padrões gerais dos dados. O resultado é uma </a:t>
            </a:r>
            <a:r>
              <a:rPr lang="pt-BR" b="1" dirty="0" smtClean="0"/>
              <a:t>avaliação artificialmente otimista</a:t>
            </a:r>
            <a:r>
              <a:rPr lang="pt-BR" dirty="0" smtClean="0"/>
              <a:t>, pois o modelo é testado em dados que ele já “viu”. </a:t>
            </a:r>
          </a:p>
          <a:p>
            <a:r>
              <a:rPr lang="pt-BR" dirty="0" smtClean="0"/>
              <a:t>Além disso, usar o mesmo conjunto de dados em todas as etapas pode causar </a:t>
            </a:r>
            <a:r>
              <a:rPr lang="pt-BR" b="1" dirty="0" smtClean="0"/>
              <a:t>data </a:t>
            </a:r>
            <a:r>
              <a:rPr lang="pt-BR" b="1" dirty="0" err="1" smtClean="0"/>
              <a:t>leakage</a:t>
            </a:r>
            <a:r>
              <a:rPr lang="pt-BR" b="1" dirty="0" smtClean="0"/>
              <a:t> (vazamento de dados)</a:t>
            </a:r>
            <a:r>
              <a:rPr lang="pt-BR" dirty="0" smtClean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 smtClean="0"/>
          </a:p>
          <a:p>
            <a:r>
              <a:rPr lang="pt-BR" dirty="0" smtClean="0"/>
              <a:t>Portanto, a mensagem principal deste slide é que </a:t>
            </a:r>
            <a:r>
              <a:rPr lang="pt-BR" b="1" dirty="0" smtClean="0"/>
              <a:t>avaliar um modelo com os mesmos dados usados no treinamento não mede sua capacidade real de generalização</a:t>
            </a:r>
            <a:r>
              <a:rPr lang="pt-BR" dirty="0" smtClean="0"/>
              <a:t>. Para obter uma avaliação confiável, é necessário garantir que os dados de treinamento, validação e teste sejam </a:t>
            </a:r>
            <a:r>
              <a:rPr lang="pt-BR" b="1" dirty="0" smtClean="0"/>
              <a:t>separados e independentes</a:t>
            </a:r>
            <a:r>
              <a:rPr lang="pt-BR" dirty="0" smtClean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0811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adient descent is all you need">
            <a:extLst>
              <a:ext uri="{FF2B5EF4-FFF2-40B4-BE49-F238E27FC236}">
                <a16:creationId xmlns:a16="http://schemas.microsoft.com/office/drawing/2014/main" xmlns="" id="{48F31731-76FF-D522-9CDE-14730A05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539" y="554152"/>
            <a:ext cx="4645752" cy="5749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1553833-8E1E-E8EA-BC34-739B9DD9C6F3}"/>
              </a:ext>
            </a:extLst>
          </p:cNvPr>
          <p:cNvSpPr txBox="1"/>
          <p:nvPr/>
        </p:nvSpPr>
        <p:spPr>
          <a:xfrm>
            <a:off x="73369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adient descent is all you need">
            <a:extLst>
              <a:ext uri="{FF2B5EF4-FFF2-40B4-BE49-F238E27FC236}">
                <a16:creationId xmlns:a16="http://schemas.microsoft.com/office/drawing/2014/main" xmlns="" id="{48F31731-76FF-D522-9CDE-14730A05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39" y="554152"/>
            <a:ext cx="4645752" cy="5749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2686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 err="1"/>
              <a:t>dataset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A</a:t>
            </a:r>
            <a:r>
              <a:rPr lang="pt-BR" dirty="0" smtClean="0">
                <a:solidFill>
                  <a:srgbClr val="FF0000"/>
                </a:solidFill>
              </a:rPr>
              <a:t>valiar </a:t>
            </a:r>
            <a:r>
              <a:rPr lang="pt-BR" dirty="0">
                <a:solidFill>
                  <a:srgbClr val="FF0000"/>
                </a:solidFill>
              </a:rPr>
              <a:t>um modelo com os mesmos dados usados no treinamento não mede sua capacidade real de generalização. </a:t>
            </a:r>
            <a:endParaRPr lang="pt-BR" dirty="0" smtClean="0">
              <a:solidFill>
                <a:srgbClr val="FF0000"/>
              </a:solidFill>
            </a:endParaRPr>
          </a:p>
          <a:p>
            <a:r>
              <a:rPr lang="pt-BR" dirty="0" smtClean="0">
                <a:solidFill>
                  <a:srgbClr val="FF0000"/>
                </a:solidFill>
              </a:rPr>
              <a:t>O </a:t>
            </a:r>
            <a:r>
              <a:rPr lang="pt-BR" dirty="0">
                <a:solidFill>
                  <a:srgbClr val="FF0000"/>
                </a:solidFill>
              </a:rPr>
              <a:t>resultado </a:t>
            </a:r>
            <a:r>
              <a:rPr lang="pt-BR" dirty="0" smtClean="0">
                <a:solidFill>
                  <a:srgbClr val="FF0000"/>
                </a:solidFill>
              </a:rPr>
              <a:t>da avaliação pode ser artificialmente </a:t>
            </a:r>
            <a:r>
              <a:rPr lang="pt-BR" dirty="0">
                <a:solidFill>
                  <a:srgbClr val="FF0000"/>
                </a:solidFill>
              </a:rPr>
              <a:t>otimista, pois o modelo é testado com dados que já </a:t>
            </a:r>
            <a:r>
              <a:rPr lang="pt-BR" dirty="0" smtClean="0">
                <a:solidFill>
                  <a:srgbClr val="FF0000"/>
                </a:solidFill>
              </a:rPr>
              <a:t>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FF0000"/>
                </a:solidFill>
              </a:rPr>
              <a:t>Se o modelo memorizar </a:t>
            </a:r>
            <a:r>
              <a:rPr lang="pt-BR" dirty="0">
                <a:solidFill>
                  <a:srgbClr val="FF0000"/>
                </a:solidFill>
              </a:rPr>
              <a:t>os dados de </a:t>
            </a:r>
            <a:r>
              <a:rPr lang="pt-BR" dirty="0" smtClean="0">
                <a:solidFill>
                  <a:srgbClr val="FF0000"/>
                </a:solidFill>
              </a:rPr>
              <a:t>treinamento (</a:t>
            </a:r>
            <a:r>
              <a:rPr lang="pt-BR" i="1" dirty="0" err="1" smtClean="0">
                <a:solidFill>
                  <a:srgbClr val="FF0000"/>
                </a:solidFill>
              </a:rPr>
              <a:t>overfitting</a:t>
            </a:r>
            <a:r>
              <a:rPr lang="pt-BR" i="1" dirty="0">
                <a:solidFill>
                  <a:srgbClr val="FF0000"/>
                </a:solidFill>
              </a:rPr>
              <a:t>)</a:t>
            </a:r>
            <a:r>
              <a:rPr lang="pt-BR" dirty="0" smtClean="0">
                <a:solidFill>
                  <a:srgbClr val="FF0000"/>
                </a:solidFill>
              </a:rPr>
              <a:t> </a:t>
            </a:r>
            <a:r>
              <a:rPr lang="pt-BR" dirty="0">
                <a:solidFill>
                  <a:srgbClr val="FF0000"/>
                </a:solidFill>
              </a:rPr>
              <a:t>em vez de aprender padrões </a:t>
            </a:r>
            <a:r>
              <a:rPr lang="pt-BR" dirty="0" smtClean="0">
                <a:solidFill>
                  <a:srgbClr val="FF0000"/>
                </a:solidFill>
              </a:rPr>
              <a:t>gerais, o resultado da avaliação será excelente.</a:t>
            </a:r>
          </a:p>
          <a:p>
            <a:r>
              <a:rPr lang="pt-BR" dirty="0" smtClean="0">
                <a:solidFill>
                  <a:srgbClr val="FFFF00"/>
                </a:solidFill>
              </a:rPr>
              <a:t>Além </a:t>
            </a:r>
            <a:r>
              <a:rPr lang="pt-BR" dirty="0">
                <a:solidFill>
                  <a:srgbClr val="FFFF00"/>
                </a:solidFill>
              </a:rPr>
              <a:t>disso, pode ocorrer data </a:t>
            </a:r>
            <a:r>
              <a:rPr lang="pt-BR" dirty="0" err="1">
                <a:solidFill>
                  <a:srgbClr val="FFFF00"/>
                </a:solidFill>
              </a:rPr>
              <a:t>leakage</a:t>
            </a:r>
            <a:r>
              <a:rPr lang="pt-BR" dirty="0">
                <a:solidFill>
                  <a:srgbClr val="FFFF00"/>
                </a:solidFill>
              </a:rPr>
              <a:t>, comprometendo a avaliação do modelo</a:t>
            </a:r>
            <a:r>
              <a:rPr lang="pt-BR" dirty="0" smtClean="0">
                <a:solidFill>
                  <a:srgbClr val="FFFF00"/>
                </a:solidFill>
              </a:rPr>
              <a:t>.</a:t>
            </a:r>
            <a:endParaRPr lang="pt-BR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Em ML, o objetivo não é apenas aprender os dados disponíveis, mas </a:t>
            </a:r>
            <a:r>
              <a:rPr lang="pt-BR" b="1" dirty="0"/>
              <a:t>generalizar</a:t>
            </a:r>
            <a:r>
              <a:rPr lang="pt-BR" dirty="0"/>
              <a:t> bem para dados novos (i.e., inéditos).</a:t>
            </a:r>
          </a:p>
          <a:p>
            <a:r>
              <a:rPr lang="pt-BR" dirty="0"/>
              <a:t>Para isso, </a:t>
            </a:r>
            <a:r>
              <a:rPr lang="pt-BR" dirty="0" smtClean="0"/>
              <a:t>o conjunto total de amostras (</a:t>
            </a:r>
            <a:r>
              <a:rPr lang="pt-BR" i="1" dirty="0" err="1" smtClean="0"/>
              <a:t>dataset</a:t>
            </a:r>
            <a:r>
              <a:rPr lang="pt-BR" dirty="0" smtClean="0"/>
              <a:t>) é </a:t>
            </a:r>
            <a:r>
              <a:rPr lang="pt-BR" dirty="0"/>
              <a:t>dividido em três </a:t>
            </a:r>
            <a:r>
              <a:rPr lang="pt-BR" dirty="0" smtClean="0"/>
              <a:t>subconjuntos independentes: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70</a:t>
            </a:r>
            <a:r>
              <a:rPr lang="pt-BR" dirty="0"/>
              <a:t>%, 15%, 15%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xmlns="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xmlns="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xmlns="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xmlns="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(em geral, 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xmlns="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xmlns="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xmlns="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xmlns="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8928</TotalTime>
  <Words>4001</Words>
  <Application>Microsoft Office PowerPoint</Application>
  <PresentationFormat>Widescreen</PresentationFormat>
  <Paragraphs>455</Paragraphs>
  <Slides>51</Slides>
  <Notes>34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Apresentação do PowerPoint</vt:lpstr>
      <vt:lpstr>Divisão do dataset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1958</cp:revision>
  <dcterms:created xsi:type="dcterms:W3CDTF">2020-01-20T13:50:05Z</dcterms:created>
  <dcterms:modified xsi:type="dcterms:W3CDTF">2026-03-09T03:06:01Z</dcterms:modified>
</cp:coreProperties>
</file>