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7"/>
  </p:notesMasterIdLst>
  <p:handoutMasterIdLst>
    <p:handoutMasterId r:id="rId58"/>
  </p:handoutMasterIdLst>
  <p:sldIdLst>
    <p:sldId id="256" r:id="rId2"/>
    <p:sldId id="322" r:id="rId3"/>
    <p:sldId id="316" r:id="rId4"/>
    <p:sldId id="363" r:id="rId5"/>
    <p:sldId id="374" r:id="rId6"/>
    <p:sldId id="376" r:id="rId7"/>
    <p:sldId id="337" r:id="rId8"/>
    <p:sldId id="377" r:id="rId9"/>
    <p:sldId id="365" r:id="rId10"/>
    <p:sldId id="399" r:id="rId11"/>
    <p:sldId id="378" r:id="rId12"/>
    <p:sldId id="330" r:id="rId13"/>
    <p:sldId id="319" r:id="rId14"/>
    <p:sldId id="329" r:id="rId15"/>
    <p:sldId id="327" r:id="rId16"/>
    <p:sldId id="396" r:id="rId17"/>
    <p:sldId id="334" r:id="rId18"/>
    <p:sldId id="380" r:id="rId19"/>
    <p:sldId id="382" r:id="rId20"/>
    <p:sldId id="335" r:id="rId21"/>
    <p:sldId id="398" r:id="rId22"/>
    <p:sldId id="339" r:id="rId23"/>
    <p:sldId id="340" r:id="rId24"/>
    <p:sldId id="336" r:id="rId25"/>
    <p:sldId id="343" r:id="rId26"/>
    <p:sldId id="342" r:id="rId27"/>
    <p:sldId id="328" r:id="rId28"/>
    <p:sldId id="344" r:id="rId29"/>
    <p:sldId id="345" r:id="rId30"/>
    <p:sldId id="346" r:id="rId31"/>
    <p:sldId id="347" r:id="rId32"/>
    <p:sldId id="348" r:id="rId33"/>
    <p:sldId id="349" r:id="rId34"/>
    <p:sldId id="317" r:id="rId35"/>
    <p:sldId id="320" r:id="rId36"/>
    <p:sldId id="353" r:id="rId37"/>
    <p:sldId id="354" r:id="rId38"/>
    <p:sldId id="355" r:id="rId39"/>
    <p:sldId id="366" r:id="rId40"/>
    <p:sldId id="357" r:id="rId41"/>
    <p:sldId id="359" r:id="rId42"/>
    <p:sldId id="360" r:id="rId43"/>
    <p:sldId id="358" r:id="rId44"/>
    <p:sldId id="362" r:id="rId45"/>
    <p:sldId id="367" r:id="rId46"/>
    <p:sldId id="368" r:id="rId47"/>
    <p:sldId id="370" r:id="rId48"/>
    <p:sldId id="372" r:id="rId49"/>
    <p:sldId id="371" r:id="rId50"/>
    <p:sldId id="373" r:id="rId51"/>
    <p:sldId id="356" r:id="rId52"/>
    <p:sldId id="338" r:id="rId53"/>
    <p:sldId id="395" r:id="rId54"/>
    <p:sldId id="293" r:id="rId55"/>
    <p:sldId id="306" r:id="rId56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88620" autoAdjust="0"/>
  </p:normalViewPr>
  <p:slideViewPr>
    <p:cSldViewPr snapToGrid="0">
      <p:cViewPr varScale="1">
        <p:scale>
          <a:sx n="98" d="100"/>
          <a:sy n="98" d="100"/>
        </p:scale>
        <p:origin x="1296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16/03/2026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machine-learning/information-gain-and-mutual-information-for-machine-learning/" TargetMode="External"/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geeksforgeeks.org/maths/mean-absolute-deviation/" TargetMode="External"/><Relationship Id="rId3" Type="http://schemas.openxmlformats.org/officeDocument/2006/relationships/hyperlink" Target="https://www.geeksforgeeks.org/machine-learning/information-gain-and-mutual-information-for-machine-learning/" TargetMode="External"/><Relationship Id="rId7" Type="http://schemas.openxmlformats.org/officeDocument/2006/relationships/hyperlink" Target="https://www.geeksforgeeks.org/machine-learning/variance-threshold/" TargetMode="External"/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www.geeksforgeeks.org/maths/pearson-correlation-coefficient/" TargetMode="External"/><Relationship Id="rId5" Type="http://schemas.openxmlformats.org/officeDocument/2006/relationships/hyperlink" Target="https://www.geeksforgeeks.org/r-language/fishers-f-test-in-r-programming/" TargetMode="External"/><Relationship Id="rId4" Type="http://schemas.openxmlformats.org/officeDocument/2006/relationships/hyperlink" Target="https://www.geeksforgeeks.org/maths/chi-square-test/" TargetMode="External"/><Relationship Id="rId9" Type="http://schemas.openxmlformats.org/officeDocument/2006/relationships/hyperlink" Target="https://www.geeksforgeeks.org/maths/measures-of-dispersion/" TargetMode="Externa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Curadoria significa </a:t>
            </a:r>
            <a:r>
              <a:rPr lang="pt-BR" dirty="0"/>
              <a:t>o ato de cuidar, selecionar, organizar, adaptar os dados.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553005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Quando usar seleção antes da extração</a:t>
            </a:r>
          </a:p>
          <a:p>
            <a:endParaRPr lang="pt-BR" dirty="0"/>
          </a:p>
          <a:p>
            <a:r>
              <a:rPr lang="pt-BR" dirty="0"/>
              <a:t>Há casos onde pode ser preferível: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dados com muitos atributos irrelevantes:</a:t>
            </a:r>
            <a:r>
              <a:rPr lang="pt-BR" dirty="0"/>
              <a:t> remover atributos inúteis </a:t>
            </a:r>
            <a:r>
              <a:rPr lang="pt-BR" i="1" dirty="0"/>
              <a:t>antes</a:t>
            </a:r>
            <a:r>
              <a:rPr lang="pt-BR" dirty="0"/>
              <a:t> de extrair ajuda a evitar que métodos de extração (como PCA) sejam influenciados por ruído ou redundância.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recursos computacionais limitados:</a:t>
            </a:r>
            <a:r>
              <a:rPr lang="pt-BR" dirty="0"/>
              <a:t> uma seleção inicial pode reduzir drasticamente a quantidade de dados que métodos de extração precisam processar.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253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Embora um modelo possa parecer funcionar bem quando testado nos mesmos dados usados no treinamento, </a:t>
            </a:r>
            <a:r>
              <a:rPr lang="pt-BR" b="1" dirty="0"/>
              <a:t>isso não significa que ele realmente aprendeu a generalizar</a:t>
            </a:r>
            <a:r>
              <a:rPr lang="pt-BR" dirty="0"/>
              <a:t>.</a:t>
            </a:r>
          </a:p>
          <a:p>
            <a:endParaRPr lang="pt-BR" dirty="0"/>
          </a:p>
          <a:p>
            <a:r>
              <a:rPr lang="pt-BR" dirty="0"/>
              <a:t>Se o mesmo conjunto de dados for usado para treinamento e teste, ocorre um problema chamado </a:t>
            </a:r>
            <a:r>
              <a:rPr lang="pt-BR" b="1" dirty="0" err="1"/>
              <a:t>overfitting</a:t>
            </a:r>
            <a:r>
              <a:rPr lang="pt-BR" dirty="0"/>
              <a:t> ou </a:t>
            </a:r>
            <a:r>
              <a:rPr lang="pt-BR" b="1" dirty="0" err="1"/>
              <a:t>sobreajuste</a:t>
            </a:r>
            <a:r>
              <a:rPr lang="pt-BR" dirty="0"/>
              <a:t>. Nesse caso, o modelo pode simplesmente </a:t>
            </a:r>
            <a:r>
              <a:rPr lang="pt-BR" b="1" dirty="0"/>
              <a:t>memorizar os exemplos do treinamento</a:t>
            </a:r>
            <a:r>
              <a:rPr lang="pt-BR" dirty="0"/>
              <a:t>, em vez de aprender padrões gerais dos dados. O resultado é uma </a:t>
            </a:r>
            <a:r>
              <a:rPr lang="pt-BR" b="1" dirty="0"/>
              <a:t>avaliação artificialmente otimista</a:t>
            </a:r>
            <a:r>
              <a:rPr lang="pt-BR" dirty="0"/>
              <a:t>, pois o modelo é testado em dados que ele já “viu”. </a:t>
            </a:r>
          </a:p>
          <a:p>
            <a:r>
              <a:rPr lang="pt-BR" dirty="0"/>
              <a:t>Além disso, usar o mesmo conjunto de dados em todas as etapas pode causar </a:t>
            </a:r>
            <a:r>
              <a:rPr lang="pt-BR" b="1" dirty="0"/>
              <a:t>data </a:t>
            </a:r>
            <a:r>
              <a:rPr lang="pt-BR" b="1" dirty="0" err="1"/>
              <a:t>leakage</a:t>
            </a:r>
            <a:r>
              <a:rPr lang="pt-BR" b="1" dirty="0"/>
              <a:t> (vazamento de dados)</a:t>
            </a:r>
            <a:r>
              <a:rPr lang="pt-BR" dirty="0"/>
              <a:t>, ou seja, informações do conjunto de teste acabam influenciando o treinamento do modelo. Isso compromete completamente a avaliação do sistema e pode levar a decisões erradas sobre sua qualidade ou aplicabilidade. </a:t>
            </a:r>
          </a:p>
          <a:p>
            <a:endParaRPr lang="pt-BR" dirty="0"/>
          </a:p>
          <a:p>
            <a:r>
              <a:rPr lang="pt-BR" dirty="0"/>
              <a:t>Portanto, a mensagem principal deste slide é que </a:t>
            </a:r>
            <a:r>
              <a:rPr lang="pt-BR" b="1" dirty="0"/>
              <a:t>avaliar um modelo com os mesmos dados usados no treinamento não mede sua capacidade real de generalização</a:t>
            </a:r>
            <a:r>
              <a:rPr lang="pt-BR" dirty="0"/>
              <a:t>. Para obter uma avaliação confiável, é necessário garantir que os dados de treinamento, validação e teste sejam </a:t>
            </a:r>
            <a:r>
              <a:rPr lang="pt-BR" b="1" dirty="0"/>
              <a:t>separados e independentes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58961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Data </a:t>
            </a:r>
            <a:r>
              <a:rPr lang="pt-BR" dirty="0" err="1"/>
              <a:t>leakage</a:t>
            </a:r>
            <a:r>
              <a:rPr lang="pt-BR" dirty="0"/>
              <a:t> é quando o modelo usa </a:t>
            </a:r>
            <a:r>
              <a:rPr lang="pt-BR" b="1" dirty="0"/>
              <a:t>informações do futuro, do conjunto de teste/validação ou da variável alvo</a:t>
            </a:r>
            <a:r>
              <a:rPr lang="pt-BR" dirty="0"/>
              <a:t> durante o treinamento.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05037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69032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7CE7C-1B9C-3577-0509-E7A5D0B64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D71494-58AF-B2D4-27F6-AD8D416405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7AC2ED-524B-B44D-B62C-0905C56D8E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que significa “representativo” na prática</a:t>
            </a:r>
          </a:p>
          <a:p>
            <a:r>
              <a:rPr lang="pt-BR" dirty="0"/>
              <a:t>Cada conjunto deve manter aproximadamente:</a:t>
            </a:r>
          </a:p>
          <a:p>
            <a:r>
              <a:rPr lang="pt-BR" b="1" dirty="0"/>
              <a:t>Mesma distribuição das classes</a:t>
            </a:r>
            <a:endParaRPr lang="pt-BR" dirty="0"/>
          </a:p>
          <a:p>
            <a:r>
              <a:rPr lang="pt-BR" b="1" dirty="0"/>
              <a:t>Mesmo tipo de exemplos</a:t>
            </a:r>
            <a:endParaRPr lang="pt-BR" dirty="0"/>
          </a:p>
          <a:p>
            <a:r>
              <a:rPr lang="pt-BR" b="1" dirty="0"/>
              <a:t>Mesma faixa de valores das variáveis</a:t>
            </a:r>
            <a:endParaRPr lang="pt-BR" dirty="0"/>
          </a:p>
          <a:p>
            <a:r>
              <a:rPr lang="pt-BR" b="1" dirty="0"/>
              <a:t>Mesmo comportamento estatístico dos dados</a:t>
            </a:r>
            <a:endParaRPr lang="pt-BR" dirty="0"/>
          </a:p>
          <a:p>
            <a:r>
              <a:rPr lang="pt-BR" dirty="0"/>
              <a:t>Isso é importante porque o conjunto de teste deve representar </a:t>
            </a:r>
            <a:r>
              <a:rPr lang="pt-BR" b="1" dirty="0"/>
              <a:t>os dados que o modelo encontrará no mundo real</a:t>
            </a:r>
            <a:r>
              <a:rPr lang="pt-BR" dirty="0"/>
              <a:t>, permitindo avaliar corretamente sua capacidade de generalização.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18A30D-9EF0-2610-E10F-9DEFB1A5CD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51285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04F64-359D-B866-632E-1525166D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5E216A-92E3-EC84-99B4-F917C76BC9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210488-755C-A3D5-6753-6ACA1D1AF8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1C5698-8B49-29BF-453E-FB2DB9A56D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376497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AD7AA-0655-8E48-DF0B-8D4DDCC2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214CE0-9112-17E5-F67C-A2291E223D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8B5CB0-BEA9-3AEB-315C-471D7DA8D7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44580F-B050-B7E1-BBD1-F4C92C2D8A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8702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Exemplo Prático (Pixels):</a:t>
            </a:r>
            <a:r>
              <a:rPr lang="pt-BR" dirty="0"/>
              <a:t> "Onde isso brilha? Imagens! Um pixel vai de 0 (preto) a 255 (branco). O computador adora trabalhar com 0 e 1, então a gente divide tudo por 255. Simples assim. Redes Neurais amam isso."</a:t>
            </a:r>
          </a:p>
          <a:p>
            <a:r>
              <a:rPr lang="pt-BR" b="1" dirty="0"/>
              <a:t>O Momento "Ah, não!" (O Perigo dos Outliers):</a:t>
            </a:r>
            <a:r>
              <a:rPr lang="pt-BR" dirty="0"/>
              <a:t> "Mas cuidado! O Min-Max </a:t>
            </a:r>
            <a:r>
              <a:rPr lang="pt-BR" dirty="0" err="1"/>
              <a:t>Scaling</a:t>
            </a:r>
            <a:r>
              <a:rPr lang="pt-BR" dirty="0"/>
              <a:t> tem um inimigo mortal: o </a:t>
            </a:r>
            <a:r>
              <a:rPr lang="pt-BR" b="1" dirty="0"/>
              <a:t>Outlier</a:t>
            </a:r>
            <a:r>
              <a:rPr lang="pt-BR" dirty="0"/>
              <a:t>. Imaginem que vamos normalizar os salários desta sala. Todo mundo ganha entre R$ 2.000 e R$ 10.000. De repente, o </a:t>
            </a:r>
            <a:r>
              <a:rPr lang="pt-BR" b="1" dirty="0"/>
              <a:t>Elon Musk</a:t>
            </a:r>
            <a:r>
              <a:rPr lang="pt-BR" dirty="0"/>
              <a:t> entra na sala.</a:t>
            </a:r>
          </a:p>
          <a:p>
            <a:r>
              <a:rPr lang="pt-BR" dirty="0"/>
              <a:t>Salário Mínimo: 2.000 (vira 0).</a:t>
            </a:r>
          </a:p>
          <a:p>
            <a:r>
              <a:rPr lang="pt-BR" dirty="0"/>
              <a:t>Salário Musk: 1 Bilhão (vira 1).</a:t>
            </a:r>
          </a:p>
          <a:p>
            <a:r>
              <a:rPr lang="pt-BR" dirty="0"/>
              <a:t>Onde ficam os nossos salários? Eles vão ser esmagados para </a:t>
            </a:r>
            <a:r>
              <a:rPr lang="pt-BR" b="1" dirty="0"/>
              <a:t>0,000001</a:t>
            </a:r>
            <a:r>
              <a:rPr lang="pt-BR" dirty="0"/>
              <a:t>. Para o modelo, eu, você e o estagiário viramos a mesma coisa: quase zero. A presença do Musk destruiu a nossa diferenciação. Se tiver </a:t>
            </a:r>
            <a:r>
              <a:rPr lang="pt-BR" i="1" dirty="0"/>
              <a:t>outliers</a:t>
            </a:r>
            <a:r>
              <a:rPr lang="pt-BR" dirty="0"/>
              <a:t>, não usem Min-Max, usem a Padronização (que veremos no próximo slide)!"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841353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826CC-0BCF-3ECB-60E8-91663141E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C6691E-F680-8390-3915-8E56B33079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4317FD-50FD-FC24-1294-DB0B3F59B2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Exemplo Prático (Pixels):</a:t>
            </a:r>
            <a:r>
              <a:rPr lang="pt-BR" dirty="0"/>
              <a:t> "Onde isso brilha? Imagens! Um pixel vai de 0 (preto) a 255 (branco). O computador adora trabalhar com 0 e 1, então a gente divide tudo por 255. Simples assim. Redes Neurais amam isso."</a:t>
            </a:r>
          </a:p>
          <a:p>
            <a:r>
              <a:rPr lang="pt-BR" b="1" dirty="0"/>
              <a:t>O Momento "Ah, não!" (O Perigo dos Outliers):</a:t>
            </a:r>
            <a:r>
              <a:rPr lang="pt-BR" dirty="0"/>
              <a:t> "Mas cuidado! O Min-Max </a:t>
            </a:r>
            <a:r>
              <a:rPr lang="pt-BR" dirty="0" err="1"/>
              <a:t>Scaling</a:t>
            </a:r>
            <a:r>
              <a:rPr lang="pt-BR" dirty="0"/>
              <a:t> tem um inimigo mortal: o </a:t>
            </a:r>
            <a:r>
              <a:rPr lang="pt-BR" b="1" dirty="0"/>
              <a:t>Outlier</a:t>
            </a:r>
            <a:r>
              <a:rPr lang="pt-BR" dirty="0"/>
              <a:t>. Imaginem que vamos normalizar os salários desta sala. Todo mundo ganha entre R$ 2.000 e R$ 10.000. De repente, o </a:t>
            </a:r>
            <a:r>
              <a:rPr lang="pt-BR" b="1" dirty="0"/>
              <a:t>Elon Musk</a:t>
            </a:r>
            <a:r>
              <a:rPr lang="pt-BR" dirty="0"/>
              <a:t> entra na sala.</a:t>
            </a:r>
          </a:p>
          <a:p>
            <a:r>
              <a:rPr lang="pt-BR" dirty="0"/>
              <a:t>Salário Mínimo: 2.000 (vira 0).</a:t>
            </a:r>
          </a:p>
          <a:p>
            <a:r>
              <a:rPr lang="pt-BR" dirty="0"/>
              <a:t>Salário Musk: 1 Bilhão (vira 1).</a:t>
            </a:r>
          </a:p>
          <a:p>
            <a:r>
              <a:rPr lang="pt-BR" dirty="0"/>
              <a:t>Onde ficam os nossos salários? Eles vão ser esmagados para </a:t>
            </a:r>
            <a:r>
              <a:rPr lang="pt-BR" b="1" dirty="0"/>
              <a:t>0,000001</a:t>
            </a:r>
            <a:r>
              <a:rPr lang="pt-BR" dirty="0"/>
              <a:t>. Para o modelo, eu, você e o estagiário viramos a mesma coisa: quase zero. A presença do Musk destruiu a nossa diferenciação. Se tiver </a:t>
            </a:r>
            <a:r>
              <a:rPr lang="pt-BR" i="1" dirty="0"/>
              <a:t>outliers</a:t>
            </a:r>
            <a:r>
              <a:rPr lang="pt-BR" dirty="0"/>
              <a:t>, não usem Min-Max, usem a Padronização (que veremos no próximo slide)!"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985BED-0D18-5510-4CC5-1C03B1C3F8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467962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ED0CA-78E3-EA29-70A5-6545A644B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59884F-E702-79E1-9E1E-0B2445D46D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B43843-7B98-0234-A23B-F468EDAA4C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80E6C1-419B-5940-971A-A218E9D158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583576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F8A2C-ADE6-950F-1696-F46F7CEBB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D7BCA1-C677-8F52-5427-0F691AE705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DD0D15-A25E-65FD-F1A5-513ED56417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GNB: </a:t>
            </a:r>
            <a:r>
              <a:rPr lang="en-US" b="0" dirty="0"/>
              <a:t>Gaussian Naive Bayes</a:t>
            </a:r>
          </a:p>
          <a:p>
            <a:r>
              <a:rPr lang="en-US" b="0" dirty="0"/>
              <a:t>GMM: gaussian Mixture Model</a:t>
            </a:r>
            <a:br>
              <a:rPr lang="en-US" b="1" dirty="0"/>
            </a:br>
            <a:br>
              <a:rPr lang="en-US" b="1" dirty="0"/>
            </a:br>
            <a:r>
              <a:rPr lang="pt-BR" b="1" dirty="0"/>
              <a:t>O Resgate do Exemplo do Elon Musk (A Vantagem):</a:t>
            </a:r>
            <a:r>
              <a:rPr lang="pt-BR" dirty="0"/>
              <a:t> "Lembram do Elon Musk estragando nosso Min-Max </a:t>
            </a:r>
            <a:r>
              <a:rPr lang="pt-BR" dirty="0" err="1"/>
              <a:t>Scaling</a:t>
            </a:r>
            <a:r>
              <a:rPr lang="pt-BR" dirty="0"/>
              <a:t>? No </a:t>
            </a:r>
            <a:r>
              <a:rPr lang="pt-BR" dirty="0" err="1"/>
              <a:t>StandardScaler</a:t>
            </a:r>
            <a:r>
              <a:rPr lang="pt-BR" dirty="0"/>
              <a:t>, se o Musk entrar na sala, a média de salário sobe e o desvio padrão explode. O Musk vai ter um Z-score de, sei lá, 500. Mas o meu salário e o seu ainda estarão próximos de 0 (talvez -0.1). </a:t>
            </a:r>
            <a:r>
              <a:rPr lang="pt-BR" b="1" dirty="0"/>
              <a:t>A grande sacada:</a:t>
            </a:r>
            <a:r>
              <a:rPr lang="pt-BR" dirty="0"/>
              <a:t> A estrutura dos nossos dados 'normais' é preservada. Não somos esmagados só porque existe um gigante na sala. O modelo consegue enxergar a gente e enxergar o Musk.“</a:t>
            </a:r>
            <a:br>
              <a:rPr lang="pt-BR" dirty="0"/>
            </a:br>
            <a:br>
              <a:rPr lang="pt-BR" dirty="0"/>
            </a:b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Exemplo Prático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dados de salários, onde a maioria das pessoas ganha entre R$ 2.000 e R$ 10.000, mas há um CEO que ganha R$ 1.000.000.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Sem o outlier: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faixa é 2.000 a 10.000.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o outlier (1.000.000):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 Min-Max vai forçar o 1.000.000 a ser 1 e o 2.000 a ser 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Resultado: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Todos os salários normais (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3000, 5000, 8000) serão comprimidos para valores muito próximos de zero,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0.001, 0.003, 0.006. O modelo de machine learning terá dificuldade em diferenciar essas pequenas variações. 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90D2D6-5D54-2470-89D5-A060CBE89E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813082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GNB: </a:t>
            </a:r>
            <a:r>
              <a:rPr lang="en-US" b="0" dirty="0"/>
              <a:t>Gaussian Naive Bayes</a:t>
            </a:r>
          </a:p>
          <a:p>
            <a:r>
              <a:rPr lang="en-US" b="0" dirty="0"/>
              <a:t>GMM: gaussian Mixture Model</a:t>
            </a:r>
            <a:br>
              <a:rPr lang="en-US" b="1" dirty="0"/>
            </a:br>
            <a:br>
              <a:rPr lang="en-US" b="1" dirty="0"/>
            </a:br>
            <a:r>
              <a:rPr lang="pt-BR" b="1" dirty="0"/>
              <a:t>O Resgate do Exemplo do Elon Musk (A Vantagem):</a:t>
            </a:r>
            <a:r>
              <a:rPr lang="pt-BR" dirty="0"/>
              <a:t> "Lembram do Elon Musk estragando nosso Min-Max </a:t>
            </a:r>
            <a:r>
              <a:rPr lang="pt-BR" dirty="0" err="1"/>
              <a:t>Scaling</a:t>
            </a:r>
            <a:r>
              <a:rPr lang="pt-BR" dirty="0"/>
              <a:t>? No </a:t>
            </a:r>
            <a:r>
              <a:rPr lang="pt-BR" dirty="0" err="1"/>
              <a:t>StandardScaler</a:t>
            </a:r>
            <a:r>
              <a:rPr lang="pt-BR" dirty="0"/>
              <a:t>, se o Musk entrar na sala, a média de salário sobe e o desvio padrão explode. O Musk vai ter um Z-score de, sei lá, 500. Mas o meu salário e o seu ainda estarão próximos de 0 (talvez -0.1). </a:t>
            </a:r>
            <a:r>
              <a:rPr lang="pt-BR" b="1" dirty="0"/>
              <a:t>A grande sacada:</a:t>
            </a:r>
            <a:r>
              <a:rPr lang="pt-BR" dirty="0"/>
              <a:t> A estrutura dos nossos dados 'normais' é preservada. Não somos esmagados só porque existe um gigante na sala. O modelo consegue enxergar a gente e enxergar o Musk.“</a:t>
            </a:r>
            <a:br>
              <a:rPr lang="pt-BR" dirty="0"/>
            </a:br>
            <a:br>
              <a:rPr lang="pt-BR" dirty="0"/>
            </a:b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Exemplo Prático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dados de salários, onde a maioria das pessoas ganha entre R$ 2.000 e R$ 10.000, mas há um CEO que ganha R$ 1.000.000.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Sem o outlier: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faixa é 2.000 a 10.000.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o outlier (1.000.000):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 Min-Max vai forçar o 1.000.000 a ser 1 e o 2.000 a ser 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Resultado: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Todos os salários normais (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3000, 5000, 8000) serão comprimidos para valores muito próximos de zero,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0.001, 0.003, 0.006. O modelo de machine learning terá dificuldade em diferenciar essas pequenas variações. 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5374708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D28CA1-01F6-4480-35DB-8BB34983B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59398D-07A6-7B0D-340C-EFF1B2885D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6081E3-4839-F706-AA6D-36B8D101BA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GNB: </a:t>
            </a:r>
            <a:r>
              <a:rPr lang="en-US" b="0" dirty="0"/>
              <a:t>Gaussian Naive Bayes</a:t>
            </a:r>
          </a:p>
          <a:p>
            <a:r>
              <a:rPr lang="en-US" b="0" dirty="0"/>
              <a:t>GMM: gaussian Mixture Model</a:t>
            </a:r>
            <a:br>
              <a:rPr lang="en-US" b="1" dirty="0"/>
            </a:br>
            <a:br>
              <a:rPr lang="en-US" b="1" dirty="0"/>
            </a:br>
            <a:r>
              <a:rPr lang="pt-BR" b="1" dirty="0"/>
              <a:t>O Resgate do Exemplo do Elon Musk (A Vantagem):</a:t>
            </a:r>
            <a:r>
              <a:rPr lang="pt-BR" dirty="0"/>
              <a:t> "Lembram do Elon Musk estragando nosso Min-Max </a:t>
            </a:r>
            <a:r>
              <a:rPr lang="pt-BR" dirty="0" err="1"/>
              <a:t>Scaling</a:t>
            </a:r>
            <a:r>
              <a:rPr lang="pt-BR" dirty="0"/>
              <a:t>? No </a:t>
            </a:r>
            <a:r>
              <a:rPr lang="pt-BR" dirty="0" err="1"/>
              <a:t>StandardScaler</a:t>
            </a:r>
            <a:r>
              <a:rPr lang="pt-BR" dirty="0"/>
              <a:t>, se o Musk entrar na sala, a média de salário sobe e o desvio padrão explode. O Musk vai ter um Z-score de, sei lá, 500. Mas o meu salário e o seu ainda estarão próximos de 0 (talvez -0.1). </a:t>
            </a:r>
            <a:r>
              <a:rPr lang="pt-BR" b="1" dirty="0"/>
              <a:t>A grande sacada:</a:t>
            </a:r>
            <a:r>
              <a:rPr lang="pt-BR" dirty="0"/>
              <a:t> A estrutura dos nossos dados 'normais' é preservada. Não somos esmagados só porque existe um gigante na sala. O modelo consegue enxergar a gente e enxergar o Musk."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1F2532-F79F-CBC9-E9FF-E998E79153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2823715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5AAF4-3E4E-61DB-5981-D83FCAD12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B07ACA-77DF-28FA-3B66-1B244EECB2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ADE028-FFFC-7435-BB36-CD3A242004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Oferece um meio-termo que mantém os dados em uma escala semelhante à da padronização, mas garante que a escala não seja distorcida por valores extremos.</a:t>
            </a:r>
          </a:p>
          <a:p>
            <a:endParaRPr lang="pt-BR" b="1" dirty="0"/>
          </a:p>
          <a:p>
            <a:r>
              <a:rPr lang="pt-BR" b="1" dirty="0"/>
              <a:t>Por que Mediana e não Média?</a:t>
            </a:r>
            <a:r>
              <a:rPr lang="pt-BR" dirty="0"/>
              <a:t> "Imagine que temos 5 pessoas em um bar e cada uma ganha R$ 2.000. A média é 2.000. Se o Jeff Bezos entra no bar, a média vai para milhões, mas a </a:t>
            </a:r>
            <a:r>
              <a:rPr lang="pt-BR" b="1" dirty="0"/>
              <a:t>mediana</a:t>
            </a:r>
            <a:r>
              <a:rPr lang="pt-BR" dirty="0"/>
              <a:t> (o valor central) continua sendo 2.000.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9A12BF-2D34-C626-F9C4-AF0F7CD163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661416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D7A17-F670-79CF-DF05-7BF12108E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5DE1E6-3C6D-845B-07FE-6000E19D15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7E17B7-4F2C-8B34-0F7C-2CB52C0B3F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Uma distribuição assimétrica ocorre quando </a:t>
            </a:r>
            <a:r>
              <a:rPr lang="pt-BR" b="1" dirty="0"/>
              <a:t>os dados não são equilibrados em torno do centro</a:t>
            </a:r>
            <a:r>
              <a:rPr lang="pt-BR" dirty="0"/>
              <a:t>, formando uma </a:t>
            </a:r>
            <a:r>
              <a:rPr lang="pt-BR" b="1" dirty="0"/>
              <a:t>cauda mais longa em um dos lados da distribuição</a:t>
            </a:r>
            <a:r>
              <a:rPr lang="pt-BR" dirty="0"/>
              <a:t>.</a:t>
            </a:r>
          </a:p>
          <a:p>
            <a:endParaRPr lang="pt-BR" dirty="0"/>
          </a:p>
          <a:p>
            <a:r>
              <a:rPr lang="pt-BR" dirty="0"/>
              <a:t>Em uma distribuição </a:t>
            </a:r>
            <a:r>
              <a:rPr lang="pt-BR" b="1" dirty="0"/>
              <a:t>simétrica</a:t>
            </a:r>
            <a:r>
              <a:rPr lang="pt-BR" dirty="0"/>
              <a:t>, os lados esquerdo e direito são como um </a:t>
            </a:r>
            <a:r>
              <a:rPr lang="pt-BR" b="1" dirty="0"/>
              <a:t>espelho</a:t>
            </a:r>
            <a:r>
              <a:rPr lang="pt-BR" dirty="0"/>
              <a:t> (ex.: distribuição normal).</a:t>
            </a:r>
            <a:br>
              <a:rPr lang="pt-BR" dirty="0"/>
            </a:br>
            <a:r>
              <a:rPr lang="pt-BR" dirty="0"/>
              <a:t>Em uma </a:t>
            </a:r>
            <a:r>
              <a:rPr lang="pt-BR" b="1" dirty="0"/>
              <a:t>distribuição assimétrica</a:t>
            </a:r>
            <a:r>
              <a:rPr lang="pt-BR" dirty="0"/>
              <a:t>, um dos lados possui uma </a:t>
            </a:r>
            <a:r>
              <a:rPr lang="pt-BR" b="1" dirty="0"/>
              <a:t>cauda mais longa</a:t>
            </a:r>
            <a:r>
              <a:rPr lang="pt-BR" dirty="0"/>
              <a:t>, indicando maior concentração de valores em um lado.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D7E354-A812-3533-15B8-B2C05476CD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624440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BD578-D126-C8CD-C2BA-CBFC787EA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FE7FEA-16F0-9910-0989-1883BB321C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8219F0-D8E8-8A81-97B4-AECF0BBEA1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 mantém a relação de distância entre os dados não-discrepantes melhor que o Standard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Scaler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há ruído extremo.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i.e., eles não distorcem tanto a escala geral.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A5AC8A-50E7-6136-9B5C-235A931AE1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451518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027583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5AACA-C1BE-8A29-1FCB-662C75286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175792-3F26-46A3-22E7-4BD98B3697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A760E0-F44C-F8E7-EA56-D8E5837C26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que é a </a:t>
            </a:r>
            <a:r>
              <a:rPr lang="pt-BR" b="1" dirty="0"/>
              <a:t>“maldição da dimensionalidade”?</a:t>
            </a:r>
            <a:br>
              <a:rPr lang="pt-BR" b="1" dirty="0"/>
            </a:br>
            <a:endParaRPr lang="pt-B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Aumento exponencial do espaço: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Adicionar dimensões faz o volume crescer muito rápido, espalhando os pontos de dados.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Escassez de dados: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Os pontos ficam muito distantes uns dos outros, "quase não há vizinhos", perdendo a noção de similaridade.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Dificuldade de visualização e processamento: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Torna-se difícil visualizar e exige muito mais poder computacional para análise.</a:t>
            </a:r>
          </a:p>
          <a:p>
            <a:endParaRPr lang="pt-B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afeta o Machine Learning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Perda de significado da distância: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diferença entre o ponto mais próximo e o mais distante se torna mínima, prejudicando algoritmos baseados em distância (como KNN).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Sobreajuste (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Overfitting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Modelos podem se ajustar ao ruído em vez dos padrões reais, pois há muitas dimensões e poucos pontos por área.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Aumento da complexidade: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Aumenta o custo computacional e a necessidade de dados de treinamento.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157961-DACC-B2D1-355A-7BFFF155D8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546282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D1B8E2-8FB4-ABBE-C258-A19EABAE8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4AA54D-D921-A0D1-8F81-E689E5B46F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C5C974-F53B-919C-4B9E-3E911E5412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Para evitar o risco de ordem falsa introduzida pelo </a:t>
            </a:r>
            <a:r>
              <a:rPr lang="pt-BR" dirty="0" err="1"/>
              <a:t>Label</a:t>
            </a:r>
            <a:r>
              <a:rPr lang="pt-BR" dirty="0"/>
              <a:t> </a:t>
            </a:r>
            <a:r>
              <a:rPr lang="pt-BR" dirty="0" err="1"/>
              <a:t>Encoding</a:t>
            </a:r>
            <a:r>
              <a:rPr lang="pt-BR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br>
              <a:rPr lang="pt-BR" dirty="0"/>
            </a:br>
            <a:r>
              <a:rPr lang="pt-BR" dirty="0"/>
              <a:t>usar </a:t>
            </a:r>
            <a:r>
              <a:rPr lang="pt-BR" b="1" dirty="0" err="1"/>
              <a:t>One</a:t>
            </a:r>
            <a:r>
              <a:rPr lang="pt-BR" b="1" dirty="0"/>
              <a:t>-Hot </a:t>
            </a:r>
            <a:r>
              <a:rPr lang="pt-BR" b="1" dirty="0" err="1"/>
              <a:t>Encoding</a:t>
            </a:r>
            <a:r>
              <a:rPr lang="pt-BR" dirty="0"/>
              <a:t> para variáveis </a:t>
            </a:r>
            <a:r>
              <a:rPr lang="pt-BR" b="1" dirty="0"/>
              <a:t>nominais</a:t>
            </a:r>
            <a:r>
              <a:rPr lang="pt-BR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usar </a:t>
            </a:r>
            <a:r>
              <a:rPr lang="pt-BR" b="1" dirty="0"/>
              <a:t>Ordinal/</a:t>
            </a:r>
            <a:r>
              <a:rPr lang="pt-BR" b="1" dirty="0" err="1"/>
              <a:t>Label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b="1" dirty="0"/>
              <a:t> apenas quando existe ordem real</a:t>
            </a:r>
            <a:r>
              <a:rPr lang="pt-BR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ou usar </a:t>
            </a:r>
            <a:r>
              <a:rPr lang="pt-BR" b="1" dirty="0"/>
              <a:t>modelos baseados em árvores</a:t>
            </a:r>
            <a:r>
              <a:rPr lang="pt-BR" dirty="0"/>
              <a:t>, que não são sensíveis a essa ordem.</a:t>
            </a:r>
          </a:p>
          <a:p>
            <a:pPr lvl="0">
              <a:buFont typeface="Wingdings" panose="05000000000000000000" pitchFamily="2" charset="2"/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FC15CB-C54E-7FB2-B15A-8FAC110034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7934820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55CC4-F30A-A9FA-9DDD-082690987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F220E7-8A30-2A57-6CC8-32EB4AE20B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64DC2E-4BED-69DA-25A3-14C1CC6DEC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alta cardinalidade: muitas categorias únicas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Em vez de usar números arbitrários (como no </a:t>
            </a:r>
            <a:r>
              <a:rPr lang="pt-BR" b="1" dirty="0" err="1"/>
              <a:t>Label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dirty="0"/>
              <a:t>) ou criar várias colunas (como no </a:t>
            </a:r>
            <a:r>
              <a:rPr lang="pt-BR" b="1" dirty="0" err="1"/>
              <a:t>One</a:t>
            </a:r>
            <a:r>
              <a:rPr lang="pt-BR" b="1" dirty="0"/>
              <a:t>-Hot </a:t>
            </a:r>
            <a:r>
              <a:rPr lang="pt-BR" b="1" dirty="0" err="1"/>
              <a:t>Encoding</a:t>
            </a:r>
            <a:r>
              <a:rPr lang="pt-BR" dirty="0"/>
              <a:t>), o Target </a:t>
            </a:r>
            <a:r>
              <a:rPr lang="pt-BR" dirty="0" err="1"/>
              <a:t>Encoding</a:t>
            </a:r>
            <a:r>
              <a:rPr lang="pt-BR" dirty="0"/>
              <a:t> utiliza </a:t>
            </a:r>
            <a:r>
              <a:rPr lang="pt-BR" b="1" dirty="0"/>
              <a:t>informação estatística do próprio problema supervisionado</a:t>
            </a:r>
            <a:r>
              <a:rPr lang="pt-BR" dirty="0"/>
              <a:t>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b="1" dirty="0"/>
              <a:t>Quando usar</a:t>
            </a:r>
          </a:p>
          <a:p>
            <a:r>
              <a:rPr lang="pt-BR" dirty="0"/>
              <a:t>Target </a:t>
            </a:r>
            <a:r>
              <a:rPr lang="pt-BR" dirty="0" err="1"/>
              <a:t>Encoding</a:t>
            </a:r>
            <a:r>
              <a:rPr lang="pt-BR" dirty="0"/>
              <a:t> é especialmente útil quando:</a:t>
            </a:r>
          </a:p>
          <a:p>
            <a:r>
              <a:rPr lang="pt-BR" dirty="0"/>
              <a:t>a variável categórica tem </a:t>
            </a:r>
            <a:r>
              <a:rPr lang="pt-BR" b="1" dirty="0"/>
              <a:t>muitas categorias (alta cardinalidade)</a:t>
            </a:r>
            <a:endParaRPr lang="pt-BR" dirty="0"/>
          </a:p>
          <a:p>
            <a:r>
              <a:rPr lang="pt-BR" dirty="0" err="1"/>
              <a:t>One</a:t>
            </a:r>
            <a:r>
              <a:rPr lang="pt-BR" dirty="0"/>
              <a:t>-Hot criaria </a:t>
            </a:r>
            <a:r>
              <a:rPr lang="pt-BR" b="1" dirty="0"/>
              <a:t>muitas colunas</a:t>
            </a:r>
            <a:endParaRPr lang="pt-BR" dirty="0"/>
          </a:p>
          <a:p>
            <a:r>
              <a:rPr lang="pt-BR" dirty="0"/>
              <a:t>existe </a:t>
            </a:r>
            <a:r>
              <a:rPr lang="pt-BR" b="1" dirty="0"/>
              <a:t>relação forte entre categoria e target</a:t>
            </a:r>
            <a:r>
              <a:rPr lang="pt-BR" dirty="0"/>
              <a:t> </a:t>
            </a:r>
          </a:p>
          <a:p>
            <a:r>
              <a:rPr lang="pt-BR" dirty="0"/>
              <a:t>Exemplos:</a:t>
            </a:r>
          </a:p>
          <a:p>
            <a:r>
              <a:rPr lang="pt-BR" dirty="0"/>
              <a:t>cidade (milhares de valores)</a:t>
            </a:r>
          </a:p>
          <a:p>
            <a:r>
              <a:rPr lang="pt-BR" dirty="0"/>
              <a:t>produto</a:t>
            </a:r>
          </a:p>
          <a:p>
            <a:r>
              <a:rPr lang="pt-BR" dirty="0"/>
              <a:t>ID de usuário</a:t>
            </a:r>
          </a:p>
          <a:p>
            <a:r>
              <a:rPr lang="pt-BR" dirty="0"/>
              <a:t>código postal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b="1" dirty="0" err="1"/>
              <a:t>Vantagens</a:t>
            </a:r>
            <a:endParaRPr lang="en-US" b="1" dirty="0"/>
          </a:p>
          <a:p>
            <a:r>
              <a:rPr lang="en-US" dirty="0"/>
              <a:t>✔ </a:t>
            </a:r>
            <a:r>
              <a:rPr lang="en-US" dirty="0" err="1"/>
              <a:t>reduz</a:t>
            </a:r>
            <a:r>
              <a:rPr lang="en-US" dirty="0"/>
              <a:t> </a:t>
            </a:r>
            <a:r>
              <a:rPr lang="en-US" dirty="0" err="1"/>
              <a:t>dimensionalidade</a:t>
            </a:r>
            <a:r>
              <a:rPr lang="en-US" dirty="0"/>
              <a:t> (</a:t>
            </a:r>
            <a:r>
              <a:rPr lang="en-US" dirty="0" err="1"/>
              <a:t>diferente</a:t>
            </a:r>
            <a:r>
              <a:rPr lang="en-US" dirty="0"/>
              <a:t> do One-Hot)</a:t>
            </a:r>
            <a:br>
              <a:rPr lang="en-US" dirty="0"/>
            </a:br>
            <a:r>
              <a:rPr lang="en-US" dirty="0"/>
              <a:t>✔ </a:t>
            </a:r>
            <a:r>
              <a:rPr lang="en-US" dirty="0" err="1"/>
              <a:t>captura</a:t>
            </a:r>
            <a:r>
              <a:rPr lang="en-US" dirty="0"/>
              <a:t> </a:t>
            </a:r>
            <a:r>
              <a:rPr lang="en-US" dirty="0" err="1"/>
              <a:t>relação</a:t>
            </a:r>
            <a:r>
              <a:rPr lang="en-US" dirty="0"/>
              <a:t> entre feature e target</a:t>
            </a:r>
            <a:br>
              <a:rPr lang="en-US" dirty="0"/>
            </a:br>
            <a:r>
              <a:rPr lang="en-US" dirty="0"/>
              <a:t>✔ </a:t>
            </a:r>
            <a:r>
              <a:rPr lang="en-US" dirty="0" err="1"/>
              <a:t>funciona</a:t>
            </a:r>
            <a:r>
              <a:rPr lang="en-US" dirty="0"/>
              <a:t> </a:t>
            </a:r>
            <a:r>
              <a:rPr lang="en-US" dirty="0" err="1"/>
              <a:t>bem</a:t>
            </a:r>
            <a:r>
              <a:rPr lang="en-US" dirty="0"/>
              <a:t> com </a:t>
            </a:r>
            <a:r>
              <a:rPr lang="en-US" b="1" dirty="0" err="1"/>
              <a:t>categorias</a:t>
            </a:r>
            <a:r>
              <a:rPr lang="en-US" b="1" dirty="0"/>
              <a:t> </a:t>
            </a:r>
            <a:r>
              <a:rPr lang="en-US" b="1" dirty="0" err="1"/>
              <a:t>numerosas</a:t>
            </a:r>
            <a:r>
              <a:rPr lang="en-US" dirty="0"/>
              <a:t> 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 err="1"/>
              <a:t>Problema</a:t>
            </a:r>
            <a:r>
              <a:rPr lang="en-US" b="1" dirty="0"/>
              <a:t> </a:t>
            </a:r>
            <a:r>
              <a:rPr lang="en-US" b="1" dirty="0" err="1"/>
              <a:t>importante</a:t>
            </a:r>
            <a:r>
              <a:rPr lang="en-US" b="1" dirty="0"/>
              <a:t>: Data Leakage</a:t>
            </a:r>
          </a:p>
          <a:p>
            <a:r>
              <a:rPr lang="en-US" dirty="0"/>
              <a:t>Target Encoding </a:t>
            </a:r>
            <a:r>
              <a:rPr lang="en-US" dirty="0" err="1"/>
              <a:t>pode</a:t>
            </a:r>
            <a:r>
              <a:rPr lang="en-US" dirty="0"/>
              <a:t> </a:t>
            </a:r>
            <a:r>
              <a:rPr lang="en-US" dirty="0" err="1"/>
              <a:t>causar</a:t>
            </a:r>
            <a:r>
              <a:rPr lang="en-US" dirty="0"/>
              <a:t> </a:t>
            </a:r>
            <a:r>
              <a:rPr lang="en-US" b="1" dirty="0"/>
              <a:t>data leakage</a:t>
            </a:r>
            <a:r>
              <a:rPr lang="en-US" dirty="0"/>
              <a:t> se a </a:t>
            </a:r>
            <a:r>
              <a:rPr lang="en-US" dirty="0" err="1"/>
              <a:t>média</a:t>
            </a:r>
            <a:r>
              <a:rPr lang="en-US" dirty="0"/>
              <a:t> for </a:t>
            </a:r>
            <a:r>
              <a:rPr lang="en-US" dirty="0" err="1"/>
              <a:t>calculada</a:t>
            </a:r>
            <a:r>
              <a:rPr lang="en-US" dirty="0"/>
              <a:t> </a:t>
            </a:r>
            <a:r>
              <a:rPr lang="en-US" dirty="0" err="1"/>
              <a:t>usando</a:t>
            </a:r>
            <a:r>
              <a:rPr lang="en-US" dirty="0"/>
              <a:t> </a:t>
            </a:r>
            <a:r>
              <a:rPr lang="en-US" dirty="0" err="1"/>
              <a:t>todo</a:t>
            </a:r>
            <a:r>
              <a:rPr lang="en-US" dirty="0"/>
              <a:t> o dataset.</a:t>
            </a:r>
          </a:p>
          <a:p>
            <a:r>
              <a:rPr lang="en-US" dirty="0"/>
              <a:t>Por </a:t>
            </a:r>
            <a:r>
              <a:rPr lang="en-US" dirty="0" err="1"/>
              <a:t>isso</a:t>
            </a:r>
            <a:r>
              <a:rPr lang="en-US" dirty="0"/>
              <a:t> </a:t>
            </a:r>
            <a:r>
              <a:rPr lang="en-US" dirty="0" err="1"/>
              <a:t>normalmente</a:t>
            </a:r>
            <a:r>
              <a:rPr lang="en-US" dirty="0"/>
              <a:t> se </a:t>
            </a:r>
            <a:r>
              <a:rPr lang="en-US" dirty="0" err="1"/>
              <a:t>usa</a:t>
            </a:r>
            <a:r>
              <a:rPr lang="en-US" dirty="0"/>
              <a:t>:</a:t>
            </a:r>
          </a:p>
          <a:p>
            <a:r>
              <a:rPr lang="en-US" b="1" dirty="0"/>
              <a:t>cross-validation</a:t>
            </a:r>
            <a:endParaRPr lang="en-US" dirty="0"/>
          </a:p>
          <a:p>
            <a:r>
              <a:rPr lang="en-US" b="1" dirty="0"/>
              <a:t>out-of-fold encoding</a:t>
            </a:r>
            <a:endParaRPr lang="en-US" dirty="0"/>
          </a:p>
          <a:p>
            <a:r>
              <a:rPr lang="en-US" b="1" dirty="0" err="1"/>
              <a:t>regularização</a:t>
            </a:r>
            <a:r>
              <a:rPr lang="en-US" b="1" dirty="0"/>
              <a:t>/smoothing</a:t>
            </a:r>
            <a:endParaRPr lang="en-US" dirty="0"/>
          </a:p>
          <a:p>
            <a:r>
              <a:rPr lang="en-US" dirty="0"/>
              <a:t>para </a:t>
            </a:r>
            <a:r>
              <a:rPr lang="en-US" dirty="0" err="1"/>
              <a:t>evitar</a:t>
            </a:r>
            <a:r>
              <a:rPr lang="en-US" dirty="0"/>
              <a:t> </a:t>
            </a:r>
            <a:r>
              <a:rPr lang="en-US" b="1" dirty="0"/>
              <a:t>overfitting</a:t>
            </a:r>
            <a:r>
              <a:rPr lang="en-US" dirty="0"/>
              <a:t>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DD61D4-F283-FA5C-B9B3-7B9D25FCB4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5199254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0111E-C562-814A-4B28-55A0BF53C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B3F6C9-39CC-9515-FB72-E68168A7A8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698751-6CC0-5667-0E8C-ED24F1B26A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DT: Decision </a:t>
            </a:r>
            <a:r>
              <a:rPr lang="pt-BR" dirty="0" err="1"/>
              <a:t>Trees</a:t>
            </a:r>
            <a:endParaRPr lang="pt-BR" dirty="0"/>
          </a:p>
          <a:p>
            <a:r>
              <a:rPr lang="pt-BR" dirty="0"/>
              <a:t>RF: Random </a:t>
            </a:r>
            <a:r>
              <a:rPr lang="pt-BR" dirty="0" err="1"/>
              <a:t>Forests</a:t>
            </a:r>
            <a:br>
              <a:rPr lang="pt-BR" dirty="0"/>
            </a:br>
            <a:endParaRPr lang="pt-BR" dirty="0"/>
          </a:p>
          <a:p>
            <a:r>
              <a:rPr lang="pt-BR" dirty="0"/>
              <a:t>Por algumas categorias compartilharem bits, modelos lineares podem achar que existe uma relação matemática entre essas categorias.</a:t>
            </a:r>
          </a:p>
          <a:p>
            <a:endParaRPr lang="pt-BR" dirty="0"/>
          </a:p>
          <a:p>
            <a:r>
              <a:rPr lang="pt-BR" dirty="0"/>
              <a:t>O </a:t>
            </a:r>
            <a:r>
              <a:rPr lang="pt-BR" b="1" dirty="0" err="1"/>
              <a:t>Binary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dirty="0"/>
              <a:t> é uma solução intermediária brilhante. Ele resolve o problema da "explosão de colunas" do </a:t>
            </a:r>
            <a:r>
              <a:rPr lang="pt-BR" dirty="0" err="1"/>
              <a:t>One</a:t>
            </a:r>
            <a:r>
              <a:rPr lang="pt-BR" dirty="0"/>
              <a:t>-Hot </a:t>
            </a:r>
            <a:r>
              <a:rPr lang="pt-BR" dirty="0" err="1"/>
              <a:t>Encoding</a:t>
            </a:r>
            <a:r>
              <a:rPr lang="pt-BR" dirty="0"/>
              <a:t> sem criar uma hierarquia falsa como o </a:t>
            </a:r>
            <a:r>
              <a:rPr lang="pt-BR" dirty="0" err="1"/>
              <a:t>Label</a:t>
            </a:r>
            <a:r>
              <a:rPr lang="pt-BR" dirty="0"/>
              <a:t> </a:t>
            </a:r>
            <a:r>
              <a:rPr lang="pt-BR" dirty="0" err="1"/>
              <a:t>Encoding</a:t>
            </a:r>
            <a:r>
              <a:rPr lang="pt-BR" dirty="0"/>
              <a:t>. É como se fosse um "meio-termo" inteligente para </a:t>
            </a:r>
            <a:r>
              <a:rPr lang="pt-BR" dirty="0" err="1"/>
              <a:t>datasets</a:t>
            </a:r>
            <a:r>
              <a:rPr lang="pt-BR" dirty="0"/>
              <a:t> com muitas categorias.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Para regressões simples o modelo pode achar que existe uma relação matemática entre categorias que compartilham o mesmo bit."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EA7BB1-A2E9-8F2F-66E3-17600B04B6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9577522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Feature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Engineering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(Engenharia de Atributos/Features) </a:t>
            </a:r>
            <a:r>
              <a:rPr lang="pt-BR" dirty="0"/>
              <a:t>é o processo crucial de usar conhecimento de domínio e criatividade para transformar dados brutos em variáveis (features) mais úteis e informativas</a:t>
            </a:r>
            <a:endParaRPr lang="pt-BR" b="1" dirty="0"/>
          </a:p>
          <a:p>
            <a:pPr marL="0" indent="0">
              <a:buNone/>
            </a:pPr>
            <a:endParaRPr lang="pt-BR" b="1" dirty="0"/>
          </a:p>
          <a:p>
            <a:pPr marL="0" indent="0">
              <a:buNone/>
            </a:pPr>
            <a:r>
              <a:rPr lang="pt-BR" b="1" dirty="0"/>
              <a:t>Definição:</a:t>
            </a:r>
            <a:r>
              <a:rPr lang="pt-BR" dirty="0"/>
              <a:t> Usar conhecimento de domínio para criar variáveis que o modelo entenda melhor.</a:t>
            </a:r>
          </a:p>
          <a:p>
            <a:pPr marL="0" indent="0">
              <a:buNone/>
            </a:pPr>
            <a:r>
              <a:rPr lang="pt-BR" dirty="0"/>
              <a:t>É a arte de criar novas colunas a partir das existentes para facilitar a descoberta de padrões.</a:t>
            </a:r>
          </a:p>
          <a:p>
            <a:pPr marL="0" indent="0">
              <a:buNone/>
            </a:pPr>
            <a:r>
              <a:rPr lang="pt-BR" dirty="0"/>
              <a:t>Criar novas variáveis a partir das existentes para melhorar a capacidade de predição.</a:t>
            </a:r>
          </a:p>
          <a:p>
            <a:pPr marL="0" indent="0">
              <a:buNone/>
            </a:pPr>
            <a:endParaRPr lang="pt-BR" dirty="0"/>
          </a:p>
          <a:p>
            <a:r>
              <a:rPr lang="pt-BR" b="1" dirty="0"/>
              <a:t>conhecimento de domínio</a:t>
            </a:r>
            <a:r>
              <a:rPr lang="pt-BR" dirty="0"/>
              <a:t> é o </a:t>
            </a:r>
            <a:r>
              <a:rPr lang="pt-BR" b="1" dirty="0"/>
              <a:t>entendimento profundo do contexto real do problema</a:t>
            </a:r>
            <a:r>
              <a:rPr lang="pt-BR" dirty="0"/>
              <a:t>, do negócio ou da área onde os dados foram gerados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2825169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22072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Extração de atributos (feature </a:t>
            </a:r>
            <a:r>
              <a:rPr lang="pt-BR" b="1" dirty="0" err="1"/>
              <a:t>extraction</a:t>
            </a:r>
            <a:r>
              <a:rPr lang="pt-BR" b="1" dirty="0"/>
              <a:t>):</a:t>
            </a:r>
            <a:r>
              <a:rPr lang="pt-BR" dirty="0"/>
              <a:t> cria </a:t>
            </a:r>
            <a:r>
              <a:rPr lang="pt-BR" i="1" dirty="0"/>
              <a:t>novas</a:t>
            </a:r>
            <a:r>
              <a:rPr lang="pt-BR" dirty="0"/>
              <a:t> representações dos dados (ex.: PCA, </a:t>
            </a:r>
            <a:r>
              <a:rPr lang="pt-BR" dirty="0" err="1"/>
              <a:t>autoencoders</a:t>
            </a:r>
            <a:r>
              <a:rPr lang="pt-BR" dirty="0"/>
              <a:t>), reduzindo dimensionalidade através de transformações.</a:t>
            </a:r>
          </a:p>
          <a:p>
            <a:endParaRPr lang="pt-BR" dirty="0"/>
          </a:p>
          <a:p>
            <a:r>
              <a:rPr lang="pt-BR" dirty="0"/>
              <a:t>A extração de características em aprendizado de máquina é o processo de transformar dados brutos em um conjunto menor de características numéricas significativas que podem ser processadas de forma mais eficiente, mantendo as informações essenciais.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É o processo de redução da quantidade de atributos a serem processados ​​utilizando técnicas de redução de dimensionalidade.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 conjunto de dados menor e mais refinado requer menos recursos computacionais para armazenamento, processamento e treinamento, o que é crucial para conjuntos de dados grandes.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878115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dados devem ser padronizados antes do PCA porque o método é baseado em variância, e sem padronização as features com maior escala dominam os componentes principais.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40257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7ABA2-3850-7615-FB8C-3EDA185E6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430495-A427-A07D-66C6-44A1AB4CD0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43CE4F-5059-FE45-AEEF-D1290A432F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dados devem ser padronizados antes do PCA porque o método é baseado em variância, e sem padronização as features com maior escala dominam os componentes principais.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20A46B-CEA0-D388-0846-98A3CA0C0C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2036598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5FE33-E198-F37E-DB7F-2131AC105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8AC853-E4F7-D306-2683-D5A081D6DA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C6B000-368B-B2C7-C3B9-F74524B809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Problema: A "Régua Rígida"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PCA é uma técnica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linear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Como você pode ver na figura, ele tenta traçar linhas retas ($PC_1$ e $PC_2$) para capturar a variância.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 os dados formam uma curva (não linear), o PCA vai tentar "esmagar" essa curva em uma linha reta.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Resultado: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Você perde a estrutura real dos dados. É como tentar descrever uma mola usando apenas uma régua reta; você perde toda a informação da espiral.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61C39A-BA44-919F-9164-4B9F42BBC9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946826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https://www.analyticsvidhya.com/blog/2020/10/feature-selection-techniques-in-machine-learning/</a:t>
            </a:r>
          </a:p>
          <a:p>
            <a:pPr fontAlgn="base"/>
            <a:endParaRPr lang="en-US" sz="1200" b="1" i="0" u="sng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  <a:hlinkClick r:id="rId3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518758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575ED-00EA-1A5C-013A-B92A0B0E1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C3B23E-78FC-1419-5528-C98DB1CDAA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FC7E3C-4FAE-6137-2627-124C0A1235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Rápidos e eficientes:</a:t>
            </a:r>
            <a:r>
              <a:rPr lang="pt-BR" dirty="0"/>
              <a:t> Métodos de filtro são computacionalmente baratos, sendo ideais para grandes conjuntos de dados.</a:t>
            </a:r>
          </a:p>
          <a:p>
            <a:r>
              <a:rPr lang="pt-BR" b="1" dirty="0"/>
              <a:t>Fáceis de implementar:</a:t>
            </a:r>
            <a:r>
              <a:rPr lang="pt-BR" dirty="0"/>
              <a:t> Geralmente estão disponíveis em bibliotecas populares de machine learning, exigindo pouco esforço de codificação.</a:t>
            </a:r>
          </a:p>
          <a:p>
            <a:r>
              <a:rPr lang="pt-BR" b="1" dirty="0"/>
              <a:t>Independentes do modelo:</a:t>
            </a:r>
            <a:r>
              <a:rPr lang="pt-BR" dirty="0"/>
              <a:t> Podem ser usados com qualquer tipo de modelo de machine learning, o que os torna bastante versáteis.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Interação limitada com o modelo:</a:t>
            </a:r>
            <a:r>
              <a:rPr lang="pt-BR" dirty="0"/>
              <a:t> Por operarem de forma independente, podem não capturar interações entre variáveis importantes para a predição.</a:t>
            </a:r>
          </a:p>
          <a:p>
            <a:r>
              <a:rPr lang="pt-BR" b="1" dirty="0"/>
              <a:t>Escolha da métrica adequada:</a:t>
            </a:r>
            <a:r>
              <a:rPr lang="pt-BR" dirty="0"/>
              <a:t> Selecionar a métrica correta para o tipo de dado e tarefa é essencial para um bom desempenho.</a:t>
            </a:r>
          </a:p>
          <a:p>
            <a:pPr fontAlgn="base"/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Information Gain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Measures reduction in entropy when a feature is used.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Chi-square test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Checks the relationship between categorical features.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Fisher’s Score: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Ranks features based on class separability.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/>
              </a:rPr>
              <a:t>Pearson’s Correlation Coefficient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Measures linear relationship between two continuous variables.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/>
              </a:rPr>
              <a:t>Variance Threshold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Removes features with very low variance.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/>
              </a:rPr>
              <a:t>Mean Absolute Difference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Similar to variance threshold but uses absolute differences.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/>
              </a:rPr>
              <a:t>Dispersion ratio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Ratio of arithmetic mean to geometric mean; higher values indicate useful features.</a:t>
            </a:r>
          </a:p>
          <a:p>
            <a:pPr rtl="0" fontAlgn="base"/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77C362-F337-06BC-CC04-92D6048655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714696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5CF05-A8E3-D5CD-E9EE-05102DB6E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531E76-80A9-71A3-8F89-738DF3884F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F4280E-BA2D-FD05-3DD6-97CBAD9429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Otimização específica para o modelo:</a:t>
            </a:r>
            <a:r>
              <a:rPr lang="pt-BR" dirty="0"/>
              <a:t> Métodos </a:t>
            </a:r>
            <a:r>
              <a:rPr lang="pt-BR" dirty="0" err="1"/>
              <a:t>wrapper</a:t>
            </a:r>
            <a:r>
              <a:rPr lang="pt-BR" dirty="0"/>
              <a:t> consideram diretamente como as features influenciam o modelo, podendo levar a um desempenho superior em comparação aos métodos de filtro.</a:t>
            </a:r>
          </a:p>
          <a:p>
            <a:r>
              <a:rPr lang="pt-BR" b="1" dirty="0"/>
              <a:t>Flexíveis:</a:t>
            </a:r>
            <a:r>
              <a:rPr lang="pt-BR" dirty="0"/>
              <a:t> Podem ser adaptados a diferentes tipos de modelos e métricas de avaliação.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Alto custo computacional:</a:t>
            </a:r>
            <a:r>
              <a:rPr lang="pt-BR" dirty="0"/>
              <a:t> Avaliar diferentes combinações de features pode ser demorado, especialmente em conjuntos de dados grandes.</a:t>
            </a:r>
          </a:p>
          <a:p>
            <a:r>
              <a:rPr lang="pt-BR" b="1" dirty="0"/>
              <a:t>Risco de </a:t>
            </a:r>
            <a:r>
              <a:rPr lang="pt-BR" b="1" dirty="0" err="1"/>
              <a:t>overfitting</a:t>
            </a:r>
            <a:r>
              <a:rPr lang="pt-BR" b="1" dirty="0"/>
              <a:t>:</a:t>
            </a:r>
            <a:r>
              <a:rPr lang="pt-BR" dirty="0"/>
              <a:t> Ajustar excessivamente as features a um modelo específico pode gerar um modelo </a:t>
            </a:r>
            <a:r>
              <a:rPr lang="pt-BR" dirty="0" err="1"/>
              <a:t>sobreajustado</a:t>
            </a:r>
            <a:r>
              <a:rPr lang="pt-BR" dirty="0"/>
              <a:t>, com baixo desempenho em dados não vistos.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F71FF8-EE8E-4813-AB94-9DE983B6AA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616102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9B3CB2-A980-1ABA-D325-CB60F398B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02818D-0A75-815E-1CAC-5E6927BED1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B83EF4-31C3-80B2-3905-E05181C705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Eficientes e eficazes:</a:t>
            </a:r>
            <a:r>
              <a:rPr lang="pt-BR" dirty="0"/>
              <a:t> Métodos </a:t>
            </a:r>
            <a:r>
              <a:rPr lang="pt-BR" dirty="0" err="1"/>
              <a:t>embedded</a:t>
            </a:r>
            <a:r>
              <a:rPr lang="pt-BR" dirty="0"/>
              <a:t> podem alcançar bons resultados sem o alto custo computacional de alguns métodos </a:t>
            </a:r>
            <a:r>
              <a:rPr lang="pt-BR" dirty="0" err="1"/>
              <a:t>wrapper</a:t>
            </a:r>
            <a:r>
              <a:rPr lang="pt-BR" dirty="0"/>
              <a:t>.</a:t>
            </a:r>
          </a:p>
          <a:p>
            <a:r>
              <a:rPr lang="pt-BR" b="1" dirty="0"/>
              <a:t>Aprendizado específico do modelo:</a:t>
            </a:r>
            <a:r>
              <a:rPr lang="pt-BR" dirty="0"/>
              <a:t> Assim como os métodos </a:t>
            </a:r>
            <a:r>
              <a:rPr lang="pt-BR" dirty="0" err="1"/>
              <a:t>wrapper</a:t>
            </a:r>
            <a:r>
              <a:rPr lang="pt-BR" dirty="0"/>
              <a:t>, essas técnicas utilizam o próprio processo de aprendizado para identificar as features mais relevantes.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Interpretabilidade limitada:</a:t>
            </a:r>
            <a:r>
              <a:rPr lang="pt-BR" dirty="0"/>
              <a:t> Métodos </a:t>
            </a:r>
            <a:r>
              <a:rPr lang="pt-BR" dirty="0" err="1"/>
              <a:t>embedded</a:t>
            </a:r>
            <a:r>
              <a:rPr lang="pt-BR" dirty="0"/>
              <a:t> podem ser mais difíceis de interpretar em comparação aos métodos de filtro, tornando menos claro o motivo da escolha de determinadas features.</a:t>
            </a:r>
          </a:p>
          <a:p>
            <a:r>
              <a:rPr lang="pt-BR" b="1" dirty="0"/>
              <a:t>Aplicabilidade restrita:</a:t>
            </a:r>
            <a:r>
              <a:rPr lang="pt-BR" dirty="0"/>
              <a:t> Nem todos os algoritmos de machine learning suportam técnicas </a:t>
            </a:r>
            <a:r>
              <a:rPr lang="pt-BR" dirty="0" err="1"/>
              <a:t>embedded</a:t>
            </a:r>
            <a:r>
              <a:rPr lang="pt-BR" dirty="0"/>
              <a:t> de seleção de features.</a:t>
            </a:r>
          </a:p>
          <a:p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AD3269-1FB1-61A3-8368-DEEFE1D3C0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3621013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5199190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Referencias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41442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jpe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pre_processing.ipynb" TargetMode="Externa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jpeg"/><Relationship Id="rId4" Type="http://schemas.openxmlformats.org/officeDocument/2006/relationships/image" Target="../media/image24.pn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/blob/main/listas/Lista%204%20-%20Transforma%C3%A7%C3%B5es.pdf" TargetMode="Externa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br>
              <a:rPr lang="pt-BR" sz="7200" dirty="0"/>
            </a:br>
            <a:r>
              <a:rPr lang="pt-BR" sz="7200" b="1" i="1" dirty="0"/>
              <a:t>Transformações dos dados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5778595-FA45-2665-F4CA-BDE6194966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043" y="1366894"/>
            <a:ext cx="8171095" cy="445696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998BB58-D4F0-B94D-2632-92980C5EFACB}"/>
              </a:ext>
            </a:extLst>
          </p:cNvPr>
          <p:cNvSpPr txBox="1"/>
          <p:nvPr/>
        </p:nvSpPr>
        <p:spPr>
          <a:xfrm>
            <a:off x="8643256" y="2564324"/>
            <a:ext cx="3145971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Continuamos na jornada de curadoria dos dados.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59864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E138C-5788-AD2E-09D4-61ED99259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veremos?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157C1-7A3A-AC9B-369C-8CDFEAD7A8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70771" cy="4351338"/>
          </a:xfrm>
        </p:spPr>
        <p:txBody>
          <a:bodyPr/>
          <a:lstStyle/>
          <a:p>
            <a:r>
              <a:rPr lang="pt-BR" dirty="0"/>
              <a:t>Veremos algumas técnicas de transformação ou pré-processamento dos dados: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Divisão</a:t>
            </a:r>
            <a:r>
              <a:rPr lang="en-US" dirty="0"/>
              <a:t> do </a:t>
            </a:r>
            <a:r>
              <a:rPr lang="en-US" i="1" dirty="0"/>
              <a:t>dataset,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Escalonamento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Codificação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Extração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Seleção</a:t>
            </a:r>
            <a:r>
              <a:rPr lang="en-US" dirty="0"/>
              <a:t> de </a:t>
            </a:r>
            <a:r>
              <a:rPr lang="en-US" dirty="0" err="1"/>
              <a:t>atribuitos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784831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11B1FA-D3D9-B761-84A9-4EE944FE65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5927"/>
            <a:ext cx="10515600" cy="380614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Antes de falarmos sobre as transformações, temos que falar sobre a divisão do </a:t>
            </a:r>
            <a:r>
              <a:rPr lang="pt-BR" sz="6600" i="1" dirty="0"/>
              <a:t>dataset</a:t>
            </a:r>
            <a:r>
              <a:rPr lang="pt-BR" sz="6600" dirty="0"/>
              <a:t> original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32991292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1553833-8E1E-E8EA-BC34-739B9DD9C6F3}"/>
              </a:ext>
            </a:extLst>
          </p:cNvPr>
          <p:cNvSpPr txBox="1"/>
          <p:nvPr/>
        </p:nvSpPr>
        <p:spPr>
          <a:xfrm>
            <a:off x="7489371" y="2151727"/>
            <a:ext cx="402091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Não é correto usar o mesmo conjunto de dados para treinamento, validação e teste!</a:t>
            </a:r>
            <a:endParaRPr lang="en-US" sz="3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916EEDC-16EC-1AA3-D7CC-99F0FE4B71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2227" y="163285"/>
            <a:ext cx="4354285" cy="6531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06493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091529" cy="1325563"/>
          </a:xfrm>
        </p:spPr>
        <p:txBody>
          <a:bodyPr/>
          <a:lstStyle/>
          <a:p>
            <a:r>
              <a:rPr lang="pt-BR" dirty="0"/>
              <a:t>Por que não usar os mesmos dados para treino e teste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091530" cy="5032375"/>
          </a:xfrm>
        </p:spPr>
        <p:txBody>
          <a:bodyPr>
            <a:normAutofit/>
          </a:bodyPr>
          <a:lstStyle/>
          <a:p>
            <a:r>
              <a:rPr lang="pt-BR" dirty="0"/>
              <a:t>Avaliar um modelo com os mesmos dados usados no treinamento </a:t>
            </a:r>
            <a:r>
              <a:rPr lang="pt-BR" b="1" dirty="0">
                <a:solidFill>
                  <a:srgbClr val="7030A0"/>
                </a:solidFill>
              </a:rPr>
              <a:t>não mede sua capacidade real de generalização</a:t>
            </a:r>
            <a:r>
              <a:rPr lang="pt-BR" dirty="0"/>
              <a:t>. </a:t>
            </a:r>
          </a:p>
          <a:p>
            <a:r>
              <a:rPr lang="pt-BR" dirty="0"/>
              <a:t>O resultado da avaliação pode ser </a:t>
            </a:r>
            <a:r>
              <a:rPr lang="pt-BR" b="1" dirty="0"/>
              <a:t>artificialmente otimista</a:t>
            </a:r>
            <a:r>
              <a:rPr lang="pt-BR" dirty="0"/>
              <a:t>, pois o modelo é testado com dados que já conhece.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o modelo memorizar os dados de treinamento (</a:t>
            </a:r>
            <a:r>
              <a:rPr lang="pt-BR" b="1" i="1" dirty="0" err="1">
                <a:solidFill>
                  <a:schemeClr val="accent2"/>
                </a:solidFill>
              </a:rPr>
              <a:t>overfitting</a:t>
            </a:r>
            <a:r>
              <a:rPr lang="pt-BR" i="1" dirty="0"/>
              <a:t>)</a:t>
            </a:r>
            <a:r>
              <a:rPr lang="pt-BR" dirty="0"/>
              <a:t> em vez de aprender padrões gerais, o resultado da avaliação será excelente, mas o modelo pode não generalizar bem.</a:t>
            </a:r>
          </a:p>
          <a:p>
            <a:r>
              <a:rPr lang="pt-BR" dirty="0"/>
              <a:t>Além disso, se o modelo for otimizado com o mesmo conjunto de treinamento, ocorrerá </a:t>
            </a:r>
            <a:r>
              <a:rPr lang="pt-BR" b="1" dirty="0">
                <a:solidFill>
                  <a:schemeClr val="accent2"/>
                </a:solidFill>
              </a:rPr>
              <a:t>vazamento de dados </a:t>
            </a:r>
            <a:r>
              <a:rPr lang="pt-BR" dirty="0"/>
              <a:t>(</a:t>
            </a:r>
            <a:r>
              <a:rPr lang="pt-BR" i="1" dirty="0"/>
              <a:t>data </a:t>
            </a:r>
            <a:r>
              <a:rPr lang="pt-BR" i="1" dirty="0" err="1"/>
              <a:t>leakage</a:t>
            </a:r>
            <a:r>
              <a:rPr lang="pt-BR" i="1" dirty="0"/>
              <a:t>)</a:t>
            </a:r>
            <a:r>
              <a:rPr lang="pt-BR" dirty="0"/>
              <a:t>, comprometendo a avaliação do modelo.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modelo será otimizado para o conjunto de treinamento, causando </a:t>
            </a:r>
            <a:r>
              <a:rPr lang="pt-BR" b="1" i="1" dirty="0" err="1"/>
              <a:t>overfitting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697249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14A78-63ED-67C2-7C75-578530B33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FAA6DB-6F6F-4101-954E-36363841E9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7886" y="1825624"/>
            <a:ext cx="5704113" cy="5032375"/>
          </a:xfrm>
        </p:spPr>
        <p:txBody>
          <a:bodyPr>
            <a:normAutofit/>
          </a:bodyPr>
          <a:lstStyle/>
          <a:p>
            <a:r>
              <a:rPr lang="pt-BR" dirty="0"/>
              <a:t>Como em ML, o objetivo é encontrar modelos que </a:t>
            </a:r>
            <a:r>
              <a:rPr lang="pt-BR" b="1" dirty="0">
                <a:solidFill>
                  <a:srgbClr val="7030A0"/>
                </a:solidFill>
              </a:rPr>
              <a:t>generalizem</a:t>
            </a:r>
            <a:r>
              <a:rPr lang="pt-BR" dirty="0"/>
              <a:t> bem para dados novos (i.e., </a:t>
            </a:r>
            <a:r>
              <a:rPr lang="pt-BR" b="1" dirty="0">
                <a:solidFill>
                  <a:schemeClr val="accent2"/>
                </a:solidFill>
              </a:rPr>
              <a:t>inéditos</a:t>
            </a:r>
            <a:r>
              <a:rPr lang="pt-BR" dirty="0"/>
              <a:t>), precisamos definir uma forma de avaliar a generalização.</a:t>
            </a:r>
          </a:p>
          <a:p>
            <a:r>
              <a:rPr lang="pt-BR" dirty="0"/>
              <a:t>Para isso, o conjunto total de amostras (</a:t>
            </a:r>
            <a:r>
              <a:rPr lang="pt-BR" i="1" dirty="0" err="1"/>
              <a:t>dataset</a:t>
            </a:r>
            <a:r>
              <a:rPr lang="pt-BR" dirty="0"/>
              <a:t>) é dividido em três subconjuntos </a:t>
            </a:r>
            <a:r>
              <a:rPr lang="pt-BR" b="1" dirty="0">
                <a:solidFill>
                  <a:srgbClr val="0070C0"/>
                </a:solidFill>
              </a:rPr>
              <a:t>independentes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Treinamento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Validação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Teste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F16A50-1431-9CAC-7F71-5A27C394F4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61" r="6250"/>
          <a:stretch>
            <a:fillRect/>
          </a:stretch>
        </p:blipFill>
        <p:spPr>
          <a:xfrm>
            <a:off x="152402" y="2373084"/>
            <a:ext cx="6215145" cy="2924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7979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E4324A-F45D-0632-1A25-0A760DDDE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05F83-6AB4-A14A-E0B6-E213747DC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ADDC91-563F-33AB-2873-3F7B30C772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5"/>
          </a:xfrm>
        </p:spPr>
        <p:txBody>
          <a:bodyPr>
            <a:normAutofit/>
          </a:bodyPr>
          <a:lstStyle/>
          <a:p>
            <a:r>
              <a:rPr lang="pt-BR" dirty="0"/>
              <a:t>Todos os três devem ser </a:t>
            </a:r>
            <a:r>
              <a:rPr lang="pt-BR" b="1" dirty="0"/>
              <a:t>representativos do problema/fenômeno</a:t>
            </a:r>
            <a:r>
              <a:rPr lang="pt-BR" dirty="0"/>
              <a:t> sendo analisado.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Representativos: </a:t>
            </a:r>
            <a:r>
              <a:rPr lang="pt-BR" dirty="0"/>
              <a:t>O </a:t>
            </a:r>
            <a:r>
              <a:rPr lang="pt-BR" i="1" dirty="0"/>
              <a:t>dataset</a:t>
            </a:r>
            <a:r>
              <a:rPr lang="pt-BR" dirty="0"/>
              <a:t> completo e, consequentemente, os subconjuntos devem </a:t>
            </a:r>
            <a:r>
              <a:rPr lang="pt-BR" b="1" dirty="0">
                <a:solidFill>
                  <a:srgbClr val="0070C0"/>
                </a:solidFill>
              </a:rPr>
              <a:t>refletir</a:t>
            </a:r>
            <a:r>
              <a:rPr lang="pt-BR" dirty="0"/>
              <a:t> a </a:t>
            </a:r>
            <a:r>
              <a:rPr lang="pt-BR" b="1" dirty="0">
                <a:solidFill>
                  <a:srgbClr val="0070C0"/>
                </a:solidFill>
              </a:rPr>
              <a:t>mesma distribuição</a:t>
            </a:r>
            <a:r>
              <a:rPr lang="pt-BR" dirty="0"/>
              <a:t> de dados do problema.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Exemplo</a:t>
            </a:r>
            <a:r>
              <a:rPr lang="pt-BR" dirty="0"/>
              <a:t>: Se no </a:t>
            </a:r>
            <a:r>
              <a:rPr lang="pt-BR" i="1" dirty="0"/>
              <a:t>dataset</a:t>
            </a:r>
            <a:r>
              <a:rPr lang="pt-BR" dirty="0"/>
              <a:t> completo 70% das amostras são de </a:t>
            </a:r>
            <a:r>
              <a:rPr lang="pt-BR" i="1" dirty="0" err="1"/>
              <a:t>emails</a:t>
            </a:r>
            <a:r>
              <a:rPr lang="pt-BR" dirty="0"/>
              <a:t> legítimos e 30% são </a:t>
            </a:r>
            <a:r>
              <a:rPr lang="pt-BR" i="1" dirty="0"/>
              <a:t>spams</a:t>
            </a:r>
            <a:r>
              <a:rPr lang="pt-BR" dirty="0"/>
              <a:t>, os 3 subconjuntos devem manter estas porcentagens.</a:t>
            </a:r>
          </a:p>
          <a:p>
            <a:r>
              <a:rPr lang="pt-BR" dirty="0"/>
              <a:t>Em geral, mas não é regra, divide-se o </a:t>
            </a:r>
            <a:r>
              <a:rPr lang="pt-BR" i="1" dirty="0"/>
              <a:t>dataset</a:t>
            </a:r>
            <a:r>
              <a:rPr lang="pt-BR" dirty="0"/>
              <a:t> original da seguinte forma: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70%, 15%, 15%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80%, 10%, 10%</a:t>
            </a:r>
          </a:p>
        </p:txBody>
      </p:sp>
    </p:spTree>
    <p:extLst>
      <p:ext uri="{BB962C8B-B14F-4D97-AF65-F5344CB8AC3E}">
        <p14:creationId xmlns:p14="http://schemas.microsoft.com/office/powerpoint/2010/main" val="3207299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E11FA-E96F-DB4C-09E3-2099E3ACF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2A02C-D48D-8EC7-5CF4-A33BDCB9CB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1C9DBC-518B-A226-F3EB-82943F83AF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5"/>
          </a:xfrm>
        </p:spPr>
        <p:txBody>
          <a:bodyPr>
            <a:normAutofit/>
          </a:bodyPr>
          <a:lstStyle/>
          <a:p>
            <a:r>
              <a:rPr lang="pt-BR" dirty="0"/>
              <a:t>O conjunto de </a:t>
            </a:r>
            <a:r>
              <a:rPr lang="pt-BR" b="1" dirty="0"/>
              <a:t>treinamento</a:t>
            </a:r>
            <a:r>
              <a:rPr lang="pt-BR" dirty="0"/>
              <a:t> é para </a:t>
            </a:r>
            <a:r>
              <a:rPr lang="pt-BR" b="1" dirty="0">
                <a:solidFill>
                  <a:srgbClr val="0070C0"/>
                </a:solidFill>
              </a:rPr>
              <a:t>treinar</a:t>
            </a:r>
            <a:r>
              <a:rPr lang="pt-BR" dirty="0"/>
              <a:t> os modelos de ML.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onde o modelo “aprende” os padrões dos dados.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Quanto maior, mais diverso e variado, melhor o aprendizado.</a:t>
            </a:r>
          </a:p>
          <a:p>
            <a:r>
              <a:rPr lang="pt-BR" dirty="0"/>
              <a:t>O conjunto de </a:t>
            </a:r>
            <a:r>
              <a:rPr lang="pt-BR" b="1" dirty="0"/>
              <a:t>validação</a:t>
            </a:r>
            <a:r>
              <a:rPr lang="pt-BR" dirty="0"/>
              <a:t> </a:t>
            </a:r>
            <a:r>
              <a:rPr lang="pt-BR" b="1" dirty="0">
                <a:solidFill>
                  <a:srgbClr val="0070C0"/>
                </a:solidFill>
              </a:rPr>
              <a:t>avalia o modelo durante o desenvolvimento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Evita que o modelo decore os dados de treinamento (i.e., </a:t>
            </a:r>
            <a:r>
              <a:rPr lang="pt-BR" i="1" dirty="0" err="1"/>
              <a:t>overfit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Ajustar hiperparâmetros.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Escolher arquiteturas.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Decidir quando parar o treinamento (</a:t>
            </a:r>
            <a:r>
              <a:rPr lang="pt-BR" i="1" dirty="0"/>
              <a:t>early stopping</a:t>
            </a:r>
            <a:r>
              <a:rPr lang="pt-BR" dirty="0"/>
              <a:t>).</a:t>
            </a:r>
          </a:p>
          <a:p>
            <a:r>
              <a:rPr lang="pt-BR" dirty="0"/>
              <a:t>O conjunto de </a:t>
            </a:r>
            <a:r>
              <a:rPr lang="pt-BR" b="1" dirty="0"/>
              <a:t>teste</a:t>
            </a:r>
            <a:r>
              <a:rPr lang="pt-BR" dirty="0"/>
              <a:t> </a:t>
            </a:r>
            <a:r>
              <a:rPr lang="pt-BR" b="1" dirty="0">
                <a:solidFill>
                  <a:srgbClr val="0070C0"/>
                </a:solidFill>
              </a:rPr>
              <a:t>valida a capacidade de generalização </a:t>
            </a:r>
            <a:r>
              <a:rPr lang="pt-BR" dirty="0"/>
              <a:t>dos modelos.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Usado uma única vez, ao final.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Fornece uma estimativa imparcial do desempenho real do modelo.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Simula dados nunca vistos.</a:t>
            </a:r>
          </a:p>
        </p:txBody>
      </p:sp>
    </p:spTree>
    <p:extLst>
      <p:ext uri="{BB962C8B-B14F-4D97-AF65-F5344CB8AC3E}">
        <p14:creationId xmlns:p14="http://schemas.microsoft.com/office/powerpoint/2010/main" val="15274548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D77ACB-09E5-6436-B74F-CAB7A55F7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6C90B1-721E-003C-85EE-B8AA0DAD5C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14370" cy="4857277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sklearn.model_selection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train_test_split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X, y: conjunto total de dados, </a:t>
            </a:r>
            <a:r>
              <a:rPr lang="en-US" i="1" dirty="0" err="1">
                <a:latin typeface="Consolas" panose="020B0609020204030204" pitchFamily="49" charset="0"/>
              </a:rPr>
              <a:t>incluindo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atributos</a:t>
            </a:r>
            <a:r>
              <a:rPr lang="en-US" i="1" dirty="0">
                <a:latin typeface="Consolas" panose="020B0609020204030204" pitchFamily="49" charset="0"/>
              </a:rPr>
              <a:t> e </a:t>
            </a:r>
            <a:r>
              <a:rPr lang="en-US" i="1" dirty="0" err="1">
                <a:latin typeface="Consolas" panose="020B0609020204030204" pitchFamily="49" charset="0"/>
              </a:rPr>
              <a:t>rótulos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test_size</a:t>
            </a:r>
            <a:r>
              <a:rPr lang="en-US" dirty="0">
                <a:latin typeface="Consolas" panose="020B0609020204030204" pitchFamily="49" charset="0"/>
              </a:rPr>
              <a:t>: </a:t>
            </a:r>
            <a:r>
              <a:rPr lang="en-US" dirty="0" err="1">
                <a:latin typeface="Consolas" panose="020B0609020204030204" pitchFamily="49" charset="0"/>
              </a:rPr>
              <a:t>especifica</a:t>
            </a:r>
            <a:r>
              <a:rPr lang="en-US" dirty="0">
                <a:latin typeface="Consolas" panose="020B0609020204030204" pitchFamily="49" charset="0"/>
              </a:rPr>
              <a:t> a </a:t>
            </a:r>
            <a:r>
              <a:rPr lang="en-US" dirty="0" err="1">
                <a:latin typeface="Consolas" panose="020B0609020204030204" pitchFamily="49" charset="0"/>
              </a:rPr>
              <a:t>porcentagem</a:t>
            </a:r>
            <a:r>
              <a:rPr lang="en-US" dirty="0">
                <a:latin typeface="Consolas" panose="020B0609020204030204" pitchFamily="49" charset="0"/>
              </a:rPr>
              <a:t> de teste.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y_train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y_test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train_test_split</a:t>
            </a:r>
            <a:r>
              <a:rPr lang="en-US" dirty="0">
                <a:latin typeface="Consolas" panose="020B0609020204030204" pitchFamily="49" charset="0"/>
              </a:rPr>
              <a:t>(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    X, y, </a:t>
            </a:r>
            <a:r>
              <a:rPr lang="en-US" dirty="0" err="1">
                <a:latin typeface="Consolas" panose="020B0609020204030204" pitchFamily="49" charset="0"/>
              </a:rPr>
              <a:t>test_size</a:t>
            </a:r>
            <a:r>
              <a:rPr lang="en-US" dirty="0">
                <a:latin typeface="Consolas" panose="020B0609020204030204" pitchFamily="49" charset="0"/>
              </a:rPr>
              <a:t>=0.2, </a:t>
            </a:r>
            <a:r>
              <a:rPr lang="en-US" dirty="0" err="1">
                <a:latin typeface="Consolas" panose="020B0609020204030204" pitchFamily="49" charset="0"/>
              </a:rPr>
              <a:t>random_state</a:t>
            </a:r>
            <a:r>
              <a:rPr lang="en-US" dirty="0">
                <a:latin typeface="Consolas" panose="020B0609020204030204" pitchFamily="49" charset="0"/>
              </a:rPr>
              <a:t>=42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71264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E4444-161D-B9BC-4CA6-AFC9D140B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DD5405-D201-E375-6B5B-16B6AAF9BF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56189" y="1751805"/>
            <a:ext cx="4517571" cy="3354389"/>
          </a:xfrm>
        </p:spPr>
        <p:txBody>
          <a:bodyPr>
            <a:normAutofit fontScale="92500"/>
          </a:bodyPr>
          <a:lstStyle/>
          <a:p>
            <a:pPr marL="0" indent="0" algn="ctr">
              <a:buNone/>
            </a:pPr>
            <a:r>
              <a:rPr lang="pt-BR" sz="3600" dirty="0"/>
              <a:t>Agora veremos algumas transformações aplicadas aos dados que ajudam no aprendizado dos modelos, sendo a primeira delas, o </a:t>
            </a:r>
            <a:r>
              <a:rPr lang="pt-BR" sz="3600" b="1" dirty="0"/>
              <a:t>escalonamento</a:t>
            </a:r>
            <a:r>
              <a:rPr lang="pt-BR" sz="3600" dirty="0"/>
              <a:t>.</a:t>
            </a:r>
            <a:endParaRPr lang="en-US" sz="3600" dirty="0"/>
          </a:p>
        </p:txBody>
      </p:sp>
      <p:pic>
        <p:nvPicPr>
          <p:cNvPr id="2" name="Picture 2" descr="Feature Scaling in Machine Learning: What It Is, Why It Matters, and How to  Apply It">
            <a:extLst>
              <a:ext uri="{FF2B5EF4-FFF2-40B4-BE49-F238E27FC236}">
                <a16:creationId xmlns:a16="http://schemas.microsoft.com/office/drawing/2014/main" id="{B0B1ADBD-C39A-E2D0-6C43-5AE5055FBF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94" t="3865" r="10478" b="7102"/>
          <a:stretch>
            <a:fillRect/>
          </a:stretch>
        </p:blipFill>
        <p:spPr bwMode="auto">
          <a:xfrm>
            <a:off x="316212" y="1322613"/>
            <a:ext cx="6748093" cy="42127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34777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E7226-7B42-3182-D8AB-53A5644A3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1BEE6-4EE6-2F0F-46BF-CB428A23F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CB23DF-6C9E-C6A9-F0A3-434E8D55B6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74972" y="1825624"/>
                <a:ext cx="551905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Precisamos colocar todos os dados na mesma régua (i.e., </a:t>
                </a:r>
                <a:r>
                  <a:rPr lang="pt-BR" b="1" dirty="0"/>
                  <a:t>escala</a:t>
                </a:r>
                <a:r>
                  <a:rPr lang="pt-BR" dirty="0"/>
                  <a:t>).</a:t>
                </a:r>
              </a:p>
              <a:p>
                <a:r>
                  <a:rPr lang="pt-BR" dirty="0"/>
                  <a:t>Imaginem criar um modelo para a previsão do preço de casas.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Atributo A</a:t>
                </a:r>
                <a:r>
                  <a:rPr lang="pt-BR" dirty="0"/>
                  <a:t>: Número de quartos (1 a 5).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Atributo B</a:t>
                </a:r>
                <a:r>
                  <a:rPr lang="pt-BR" dirty="0"/>
                  <a:t>: Área em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 (40 a 500).</a:t>
                </a:r>
              </a:p>
              <a:p>
                <a:r>
                  <a:rPr lang="pt-BR" dirty="0"/>
                  <a:t>Para o modelo, 1 quarto é igual a 1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modelos </a:t>
                </a:r>
                <a:r>
                  <a:rPr lang="pt-BR" b="1" dirty="0">
                    <a:solidFill>
                      <a:srgbClr val="7030A0"/>
                    </a:solidFill>
                  </a:rPr>
                  <a:t>não conhecem as unidades</a:t>
                </a:r>
                <a:r>
                  <a:rPr lang="pt-BR" dirty="0"/>
                  <a:t> do mundo real, eles </a:t>
                </a:r>
                <a:r>
                  <a:rPr lang="pt-BR" b="1" dirty="0">
                    <a:solidFill>
                      <a:srgbClr val="7030A0"/>
                    </a:solidFill>
                  </a:rPr>
                  <a:t>conhecem apenas números</a:t>
                </a:r>
                <a:r>
                  <a:rPr lang="pt-BR" dirty="0"/>
                  <a:t>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CB23DF-6C9E-C6A9-F0A3-434E8D55B6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74972" y="1825624"/>
                <a:ext cx="5519058" cy="5032375"/>
              </a:xfrm>
              <a:blipFill>
                <a:blip r:embed="rId3"/>
                <a:stretch>
                  <a:fillRect l="-1989" t="-1937" r="-22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2E228E2A-3289-7CEE-B490-080A4F4435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223"/>
          <a:stretch>
            <a:fillRect/>
          </a:stretch>
        </p:blipFill>
        <p:spPr>
          <a:xfrm>
            <a:off x="97971" y="2392362"/>
            <a:ext cx="6135406" cy="3004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1857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3B732-FD8C-AC6A-90A0-C71B105F5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escalonar os</a:t>
            </a:r>
            <a:r>
              <a:rPr lang="en-US" dirty="0"/>
              <a:t> </a:t>
            </a:r>
            <a:r>
              <a:rPr lang="en-US" dirty="0" err="1"/>
              <a:t>atributos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ED040-A025-7A5E-ECF6-6400B7A21C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97285" y="1825624"/>
            <a:ext cx="6498771" cy="5032375"/>
          </a:xfrm>
        </p:spPr>
        <p:txBody>
          <a:bodyPr>
            <a:normAutofit/>
          </a:bodyPr>
          <a:lstStyle/>
          <a:p>
            <a:r>
              <a:rPr lang="pt-BR" dirty="0"/>
              <a:t>Modelos de ML baseados em </a:t>
            </a:r>
            <a:r>
              <a:rPr lang="pt-BR" b="1" dirty="0"/>
              <a:t>distância</a:t>
            </a:r>
            <a:r>
              <a:rPr lang="pt-BR" dirty="0"/>
              <a:t> (e.g., KNN, SVM, PCA) ou </a:t>
            </a:r>
            <a:r>
              <a:rPr lang="pt-BR" b="1" dirty="0"/>
              <a:t>gradiente</a:t>
            </a:r>
            <a:r>
              <a:rPr lang="pt-BR" dirty="0"/>
              <a:t> (e.g., regressão linear/logística, redes neurais) </a:t>
            </a:r>
            <a:r>
              <a:rPr lang="pt-BR" b="1" dirty="0">
                <a:solidFill>
                  <a:srgbClr val="7030A0"/>
                </a:solidFill>
              </a:rPr>
              <a:t>são sensíveis à escala dos atributos</a:t>
            </a:r>
            <a:r>
              <a:rPr lang="pt-BR" dirty="0"/>
              <a:t>.</a:t>
            </a:r>
          </a:p>
          <a:p>
            <a:r>
              <a:rPr lang="pt-BR" dirty="0"/>
              <a:t>Atributos com </a:t>
            </a:r>
            <a:r>
              <a:rPr lang="pt-BR" b="1" dirty="0">
                <a:solidFill>
                  <a:schemeClr val="accent1"/>
                </a:solidFill>
              </a:rPr>
              <a:t>escala muito maior influenciam muito mais a previsão </a:t>
            </a:r>
            <a:r>
              <a:rPr lang="pt-BR" dirty="0"/>
              <a:t>dos modelos do que atributos com escala menor.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No exemplo da previsão do preço de casas, o modelo ignoraria os quartos e focaria só na área.</a:t>
            </a:r>
          </a:p>
        </p:txBody>
      </p:sp>
      <p:pic>
        <p:nvPicPr>
          <p:cNvPr id="5122" name="Picture 2" descr="Why Feature Scaling Is Essential in Machine Learning | by Jack Ka-Chun, Yu  | Learning Data | Medium">
            <a:extLst>
              <a:ext uri="{FF2B5EF4-FFF2-40B4-BE49-F238E27FC236}">
                <a16:creationId xmlns:a16="http://schemas.microsoft.com/office/drawing/2014/main" id="{99B43FBF-4616-53AA-030A-E722F67C4B4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0" t="6667" r="7461" b="9682"/>
          <a:stretch>
            <a:fillRect/>
          </a:stretch>
        </p:blipFill>
        <p:spPr bwMode="auto">
          <a:xfrm>
            <a:off x="620486" y="1919287"/>
            <a:ext cx="4561114" cy="4418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50516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51FC5D-6FEC-A156-FC5A-F69925275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CAF9A-32DA-5822-59B2-8972B59B9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escalonar os</a:t>
            </a:r>
            <a:r>
              <a:rPr lang="en-US" dirty="0"/>
              <a:t> </a:t>
            </a:r>
            <a:r>
              <a:rPr lang="en-US" dirty="0" err="1"/>
              <a:t>atributos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6B24C7-41C3-6780-C1B8-EBBB5A57F8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4629" y="1825624"/>
            <a:ext cx="6542314" cy="5032375"/>
          </a:xfrm>
        </p:spPr>
        <p:txBody>
          <a:bodyPr>
            <a:normAutofit/>
          </a:bodyPr>
          <a:lstStyle/>
          <a:p>
            <a:r>
              <a:rPr lang="pt-BR" dirty="0"/>
              <a:t>Mas e se todos os atributos são importantes para a previsão do modelo?</a:t>
            </a:r>
          </a:p>
          <a:p>
            <a:r>
              <a:rPr lang="pt-BR" dirty="0"/>
              <a:t>O </a:t>
            </a:r>
            <a:r>
              <a:rPr lang="pt-BR" b="1" dirty="0">
                <a:solidFill>
                  <a:schemeClr val="accent1"/>
                </a:solidFill>
              </a:rPr>
              <a:t>escalonamento iguala a influência </a:t>
            </a:r>
            <a:r>
              <a:rPr lang="pt-BR" dirty="0"/>
              <a:t>dos atributos no modelo.</a:t>
            </a:r>
          </a:p>
          <a:p>
            <a:r>
              <a:rPr lang="pt-BR" dirty="0"/>
              <a:t>Escalonamento transforma valores de atributos para uma mesma escala.</a:t>
            </a:r>
          </a:p>
          <a:p>
            <a:r>
              <a:rPr lang="pt-BR" dirty="0"/>
              <a:t>Principais técnicas de escalonamento: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Padronização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Normalização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Escalonamento robusto</a:t>
            </a:r>
          </a:p>
          <a:p>
            <a:pPr lvl="1"/>
            <a:endParaRPr lang="pt-BR" b="1" dirty="0"/>
          </a:p>
        </p:txBody>
      </p:sp>
      <p:pic>
        <p:nvPicPr>
          <p:cNvPr id="4" name="Picture 2" descr="Why Feature Scaling Is Essential in Machine Learning | by Jack Ka-Chun, Yu  | Learning Data | Medium">
            <a:extLst>
              <a:ext uri="{FF2B5EF4-FFF2-40B4-BE49-F238E27FC236}">
                <a16:creationId xmlns:a16="http://schemas.microsoft.com/office/drawing/2014/main" id="{BB65CFC1-6B1D-D444-7DAB-75B58C5A8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0" t="6667" r="7461" b="9682"/>
          <a:stretch>
            <a:fillRect/>
          </a:stretch>
        </p:blipFill>
        <p:spPr bwMode="auto">
          <a:xfrm>
            <a:off x="620486" y="1919287"/>
            <a:ext cx="4561114" cy="4418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059833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BE4DD6-C949-62F0-7FF2-D821C5B36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0504D-CF81-0763-876C-200B893A1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</a:t>
            </a:r>
            <a:r>
              <a:rPr lang="en-US" i="1" dirty="0"/>
              <a:t>Min-Max Scaling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AE468C-2D90-73D6-314C-18370D8F74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2268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Transforma os valores numéricos para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escala fixa, geralmente entre 0 e 1</a:t>
                </a:r>
                <a:r>
                  <a:rPr lang="pt-BR" dirty="0"/>
                  <a:t>.</a:t>
                </a:r>
                <a:endParaRPr lang="pt-BR" b="1" dirty="0"/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𝑚𝑖𝑛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𝑎𝑥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𝑚𝑖𝑛</m:t>
                              </m:r>
                            </m:sub>
                          </m:sSub>
                        </m:den>
                      </m:f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[0, 1],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𝑚𝑖𝑛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𝑎𝑥</m:t>
                        </m:r>
                      </m:sub>
                    </m:sSub>
                  </m:oMath>
                </a14:m>
                <a:r>
                  <a:rPr lang="pt-BR" dirty="0"/>
                  <a:t> são os valores mínimo e máximo de um atributo (e.g., a coluna de um </a:t>
                </a:r>
                <a:r>
                  <a:rPr lang="pt-BR" i="1" dirty="0"/>
                  <a:t>dataset</a:t>
                </a:r>
                <a:r>
                  <a:rPr lang="pt-BR" dirty="0"/>
                  <a:t>).</a:t>
                </a:r>
              </a:p>
              <a:p>
                <a:r>
                  <a:rPr lang="pt-BR" b="1" dirty="0"/>
                  <a:t>Quando usar:</a:t>
                </a:r>
                <a:r>
                  <a:rPr lang="pt-BR" dirty="0"/>
                  <a:t>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Dados sem </a:t>
                </a:r>
                <a:r>
                  <a:rPr lang="pt-BR" i="1" dirty="0"/>
                  <a:t>outliers</a:t>
                </a:r>
                <a:r>
                  <a:rPr lang="pt-BR" dirty="0"/>
                  <a:t> (analisar e remover antes),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 algoritmos que </a:t>
                </a:r>
                <a:r>
                  <a:rPr lang="pt-BR" b="1" dirty="0">
                    <a:solidFill>
                      <a:schemeClr val="accent2"/>
                    </a:solidFill>
                  </a:rPr>
                  <a:t>não pressupõem </a:t>
                </a:r>
                <a:r>
                  <a:rPr lang="pt-BR" dirty="0"/>
                  <a:t>nenhuma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distribuição</a:t>
                </a:r>
                <a:r>
                  <a:rPr lang="pt-BR" dirty="0"/>
                  <a:t> (e.g., redes neurais, KNN),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 algoritmos </a:t>
                </a:r>
                <a:r>
                  <a:rPr lang="pt-BR" b="1" dirty="0">
                    <a:solidFill>
                      <a:schemeClr val="accent2"/>
                    </a:solidFill>
                  </a:rPr>
                  <a:t>baseados em distância</a:t>
                </a:r>
                <a:r>
                  <a:rPr lang="pt-BR" dirty="0"/>
                  <a:t> (e.g., </a:t>
                </a:r>
                <a:r>
                  <a:rPr lang="en-US" dirty="0"/>
                  <a:t>KNN, SVM, K-Means)</a:t>
                </a:r>
                <a:r>
                  <a:rPr lang="pt-BR" dirty="0"/>
                  <a:t> e gradiente (</a:t>
                </a:r>
                <a:r>
                  <a:rPr lang="en-US" dirty="0"/>
                  <a:t>Redes </a:t>
                </a:r>
                <a:r>
                  <a:rPr lang="en-US" dirty="0" err="1"/>
                  <a:t>Neurais</a:t>
                </a:r>
                <a:r>
                  <a:rPr lang="en-US" dirty="0"/>
                  <a:t>, </a:t>
                </a:r>
                <a:r>
                  <a:rPr lang="en-US" dirty="0" err="1"/>
                  <a:t>Regressões</a:t>
                </a:r>
                <a:r>
                  <a:rPr lang="pt-BR" dirty="0"/>
                  <a:t>).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AE468C-2D90-73D6-314C-18370D8F74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226801" cy="5032375"/>
              </a:xfrm>
              <a:blipFill>
                <a:blip r:embed="rId3"/>
                <a:stretch>
                  <a:fillRect l="-1086" t="-2663" b="-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230588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93C35-0BAE-236E-0E16-3609D1EC6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799F0-7D38-84F2-99A3-01227FE47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</a:t>
            </a:r>
            <a:r>
              <a:rPr lang="en-US" i="1" dirty="0"/>
              <a:t>Min-Max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4A462A-E2CB-B9E8-7273-2A7428D8AD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4376057"/>
            <a:ext cx="11179630" cy="2481942"/>
          </a:xfrm>
        </p:spPr>
        <p:txBody>
          <a:bodyPr>
            <a:normAutofit/>
          </a:bodyPr>
          <a:lstStyle/>
          <a:p>
            <a:r>
              <a:rPr lang="pt-BR" b="1" dirty="0"/>
              <a:t>Cuidado:</a:t>
            </a:r>
            <a:r>
              <a:rPr lang="pt-BR" dirty="0"/>
              <a:t> Muito sensível a </a:t>
            </a:r>
            <a:r>
              <a:rPr lang="pt-BR" i="1" dirty="0"/>
              <a:t>outliers.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</a:t>
            </a:r>
            <a:r>
              <a:rPr lang="pt-BR" i="1" dirty="0"/>
              <a:t>outlier</a:t>
            </a:r>
            <a:r>
              <a:rPr lang="pt-BR" dirty="0"/>
              <a:t> extremo “</a:t>
            </a:r>
            <a:r>
              <a:rPr lang="pt-BR" b="1" dirty="0">
                <a:solidFill>
                  <a:srgbClr val="7030A0"/>
                </a:solidFill>
              </a:rPr>
              <a:t>esmaga</a:t>
            </a:r>
            <a:r>
              <a:rPr lang="pt-BR" dirty="0"/>
              <a:t>” todos os outros valores </a:t>
            </a:r>
            <a:r>
              <a:rPr lang="pt-BR" b="1" dirty="0">
                <a:solidFill>
                  <a:srgbClr val="7030A0"/>
                </a:solidFill>
              </a:rPr>
              <a:t>para um intervalo muito pequeno próximo de zero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Perde-se a </a:t>
            </a:r>
            <a:r>
              <a:rPr lang="pt-BR" b="1" dirty="0">
                <a:solidFill>
                  <a:srgbClr val="7030A0"/>
                </a:solidFill>
              </a:rPr>
              <a:t>distinção entre valores típicos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Isso reduz a eficácia do aprendizado, pois a </a:t>
            </a:r>
            <a:r>
              <a:rPr lang="pt-BR" b="1" dirty="0">
                <a:solidFill>
                  <a:srgbClr val="00B050"/>
                </a:solidFill>
              </a:rPr>
              <a:t>diferença entre os valores típicos é praticamente eliminada</a:t>
            </a:r>
            <a:r>
              <a:rPr lang="pt-BR" dirty="0"/>
              <a:t> na escala normalizada.</a:t>
            </a:r>
          </a:p>
        </p:txBody>
      </p:sp>
      <p:pic>
        <p:nvPicPr>
          <p:cNvPr id="8" name="Imagem 1" descr="Gráfico, Histograma&#10;&#10;O conteúdo gerado por IA pode estar incorreto.">
            <a:extLst>
              <a:ext uri="{FF2B5EF4-FFF2-40B4-BE49-F238E27FC236}">
                <a16:creationId xmlns:a16="http://schemas.microsoft.com/office/drawing/2014/main" id="{6CAE746A-31B0-AF3F-E475-B6FE328BAB3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3226" t="23024" r="8179" b="58286"/>
          <a:stretch>
            <a:fillRect/>
          </a:stretch>
        </p:blipFill>
        <p:spPr>
          <a:xfrm>
            <a:off x="1680417" y="2031999"/>
            <a:ext cx="8831165" cy="1901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35721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562E0-2AE8-02FC-9DCC-C800C0195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BB7EC-614D-E681-2988-577536743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</a:t>
            </a:r>
            <a:r>
              <a:rPr lang="en-US" i="1" dirty="0"/>
              <a:t>Min-Max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472B20-73AA-CEC0-1896-5F09B228AB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from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sklearn.preprocessing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import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MinMaxScaler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Instância</a:t>
            </a:r>
            <a:r>
              <a:rPr lang="en-US" i="1" dirty="0">
                <a:latin typeface="Consolas" panose="020B0609020204030204" pitchFamily="49" charset="0"/>
              </a:rPr>
              <a:t> do </a:t>
            </a:r>
            <a:r>
              <a:rPr lang="en-US" i="1" dirty="0" err="1">
                <a:latin typeface="Consolas" panose="020B0609020204030204" pitchFamily="49" charset="0"/>
              </a:rPr>
              <a:t>normalizador</a:t>
            </a:r>
            <a:r>
              <a:rPr lang="en-US" i="1" dirty="0">
                <a:latin typeface="Consolas" panose="020B0609020204030204" pitchFamily="49" charset="0"/>
              </a:rPr>
              <a:t> com </a:t>
            </a:r>
            <a:r>
              <a:rPr lang="en-US" i="1" dirty="0" err="1">
                <a:latin typeface="Consolas" panose="020B0609020204030204" pitchFamily="49" charset="0"/>
              </a:rPr>
              <a:t>intervalo</a:t>
            </a:r>
            <a:r>
              <a:rPr lang="en-US" i="1" dirty="0">
                <a:latin typeface="Consolas" panose="020B0609020204030204" pitchFamily="49" charset="0"/>
              </a:rPr>
              <a:t> de 0 a 1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pt-BR" dirty="0" err="1">
                <a:latin typeface="Consolas" panose="020B0609020204030204" pitchFamily="49" charset="0"/>
              </a:rPr>
              <a:t>MinMaxScaler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feature_range</a:t>
            </a:r>
            <a:r>
              <a:rPr lang="en-US" dirty="0">
                <a:latin typeface="Consolas" panose="020B0609020204030204" pitchFamily="49" charset="0"/>
              </a:rPr>
              <a:t>=(0, 1))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Aprende</a:t>
            </a:r>
            <a:r>
              <a:rPr lang="en-US" b="1" i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os</a:t>
            </a:r>
            <a:r>
              <a:rPr lang="en-US" b="1" i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parâmetros</a:t>
            </a:r>
            <a:r>
              <a:rPr lang="en-US" b="1" i="1" dirty="0">
                <a:solidFill>
                  <a:srgbClr val="00B050"/>
                </a:solidFill>
                <a:latin typeface="Consolas" panose="020B0609020204030204" pitchFamily="49" charset="0"/>
              </a:rPr>
              <a:t> de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normalização</a:t>
            </a:r>
            <a:r>
              <a:rPr lang="en-US" b="1" i="1" dirty="0">
                <a:solidFill>
                  <a:srgbClr val="00B050"/>
                </a:solidFill>
                <a:latin typeface="Consolas" panose="020B0609020204030204" pitchFamily="49" charset="0"/>
              </a:rPr>
              <a:t> (min e max) no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treino</a:t>
            </a:r>
            <a:endParaRPr lang="en-US" b="1" i="1" dirty="0">
              <a:solidFill>
                <a:srgbClr val="00B05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b="1" i="1" dirty="0" err="1">
                <a:solidFill>
                  <a:schemeClr val="accent2"/>
                </a:solidFill>
                <a:latin typeface="Consolas" panose="020B0609020204030204" pitchFamily="49" charset="0"/>
              </a:rPr>
              <a:t>Aplica</a:t>
            </a:r>
            <a:r>
              <a:rPr lang="en-US" b="1" i="1" dirty="0">
                <a:solidFill>
                  <a:schemeClr val="accent2"/>
                </a:solidFill>
                <a:latin typeface="Consolas" panose="020B0609020204030204" pitchFamily="49" charset="0"/>
              </a:rPr>
              <a:t> o scaler </a:t>
            </a:r>
            <a:r>
              <a:rPr lang="en-US" b="1" i="1" dirty="0" err="1">
                <a:solidFill>
                  <a:schemeClr val="accent2"/>
                </a:solidFill>
                <a:latin typeface="Consolas" panose="020B0609020204030204" pitchFamily="49" charset="0"/>
              </a:rPr>
              <a:t>aprendido</a:t>
            </a:r>
            <a:r>
              <a:rPr lang="en-US" b="1" i="1" dirty="0">
                <a:solidFill>
                  <a:schemeClr val="accent2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 err="1">
                <a:solidFill>
                  <a:schemeClr val="accent2"/>
                </a:solidFill>
                <a:latin typeface="Consolas" panose="020B0609020204030204" pitchFamily="49" charset="0"/>
              </a:rPr>
              <a:t>ao</a:t>
            </a:r>
            <a:r>
              <a:rPr lang="en-US" b="1" i="1" dirty="0">
                <a:solidFill>
                  <a:schemeClr val="accent2"/>
                </a:solidFill>
                <a:latin typeface="Consolas" panose="020B0609020204030204" pitchFamily="49" charset="0"/>
              </a:rPr>
              <a:t> conjunto de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75293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E68CA-D24D-3A59-2454-962A7341FD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E72AB6-BCB8-5FD1-C056-8FD29D1A2A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5927"/>
            <a:ext cx="10515600" cy="380614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Por que não calculamos os parâmetros de escalonamento usando o conjunto completo?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25582661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5218C-1075-A083-A4CA-ADA8E81330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ABB49B-5EBD-DA72-FD55-8FDDE8F82C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615" y="1995288"/>
            <a:ext cx="11070770" cy="286742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Para não haver vazamento de informações do “futuro” no treinamento.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19688936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7E27A-F64F-BD37-64AC-DCE4D923E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24F9A-6932-BA2B-0C8B-88280995A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</a:t>
            </a:r>
            <a:r>
              <a:rPr lang="en-US" i="1" dirty="0"/>
              <a:t>Standard Scaling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E7A4F3-D98D-3713-FDAB-EE34883FF2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Faz com que os atributos tenham </a:t>
                </a:r>
                <a:r>
                  <a:rPr lang="pt-BR" b="1" dirty="0">
                    <a:solidFill>
                      <a:schemeClr val="accent2"/>
                    </a:solidFill>
                  </a:rPr>
                  <a:t>média 0 e desvio padrão 1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chemeClr val="accent6"/>
                    </a:solidFill>
                  </a:rPr>
                  <a:t>não impondo limites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pt-BR" dirty="0"/>
                  <a:t> são a média e o desvio padrão de um atributo.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E7A4F3-D98D-3713-FDAB-EE34883FF2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3"/>
                <a:stretch>
                  <a:fillRect l="-1074" t="-1937" r="-12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778E434A-5584-A754-0A64-3211A1D8CEA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73"/>
          <a:stretch>
            <a:fillRect/>
          </a:stretch>
        </p:blipFill>
        <p:spPr>
          <a:xfrm>
            <a:off x="2698238" y="4875107"/>
            <a:ext cx="6795523" cy="1754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10390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770D24-BE35-A8CA-AC54-E04E7F8FC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</a:t>
            </a:r>
            <a:r>
              <a:rPr lang="en-US" i="1" dirty="0"/>
              <a:t>Standard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38ADD2-CAB1-6B09-1356-F48CAA4A35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/>
          <a:lstStyle/>
          <a:p>
            <a:r>
              <a:rPr lang="pt-BR" b="1" dirty="0"/>
              <a:t>Vantagens</a:t>
            </a:r>
            <a:r>
              <a:rPr lang="pt-BR" dirty="0"/>
              <a:t>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Torna os dados "comparáveis" em termos do número de desvios padrão da média.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7030A0"/>
                </a:solidFill>
              </a:rPr>
              <a:t>Mais robusto </a:t>
            </a:r>
            <a:r>
              <a:rPr lang="pt-BR" dirty="0"/>
              <a:t>a </a:t>
            </a:r>
            <a:r>
              <a:rPr lang="pt-BR" i="1" dirty="0"/>
              <a:t>outliers</a:t>
            </a:r>
            <a:r>
              <a:rPr lang="pt-BR" dirty="0"/>
              <a:t>, mas não a </a:t>
            </a:r>
            <a:r>
              <a:rPr lang="pt-BR" i="1" dirty="0"/>
              <a:t>outliers</a:t>
            </a:r>
            <a:r>
              <a:rPr lang="pt-BR" dirty="0"/>
              <a:t> extremos.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Por não dividir os valores por um denominador muito grande, no caso da presença de </a:t>
            </a:r>
            <a:r>
              <a:rPr lang="pt-BR" i="1" dirty="0"/>
              <a:t>outliers</a:t>
            </a:r>
            <a:r>
              <a:rPr lang="pt-BR" dirty="0"/>
              <a:t>, não os transforma em valores próximos de zero e, portanto, não se perde a distinção entre eles.</a:t>
            </a:r>
          </a:p>
          <a:p>
            <a:r>
              <a:rPr lang="pt-BR" b="1" dirty="0"/>
              <a:t>Quando usar: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Em geral, com algoritmos que assumem distribuição "normal" ou Gaussiana (e.g., GNB</a:t>
            </a:r>
            <a:r>
              <a:rPr lang="en-US" dirty="0"/>
              <a:t>, GMM, </a:t>
            </a:r>
            <a:r>
              <a:rPr lang="en-US" dirty="0" err="1"/>
              <a:t>alguns</a:t>
            </a:r>
            <a:r>
              <a:rPr lang="en-US" dirty="0"/>
              <a:t> </a:t>
            </a:r>
            <a:r>
              <a:rPr lang="en-US" dirty="0" err="1"/>
              <a:t>modelos</a:t>
            </a:r>
            <a:r>
              <a:rPr lang="en-US" dirty="0"/>
              <a:t> para </a:t>
            </a:r>
            <a:r>
              <a:rPr lang="en-US" dirty="0" err="1"/>
              <a:t>detecção</a:t>
            </a:r>
            <a:r>
              <a:rPr lang="en-US" dirty="0"/>
              <a:t> de </a:t>
            </a:r>
            <a:r>
              <a:rPr lang="en-US" dirty="0" err="1"/>
              <a:t>anomalias</a:t>
            </a:r>
            <a:r>
              <a:rPr lang="en-US" dirty="0"/>
              <a:t>)</a:t>
            </a:r>
            <a:r>
              <a:rPr lang="pt-BR" dirty="0"/>
              <a:t>, e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quando os dados possuem </a:t>
            </a:r>
            <a:r>
              <a:rPr lang="pt-BR" i="1" dirty="0"/>
              <a:t>outliers</a:t>
            </a:r>
            <a:r>
              <a:rPr lang="en-US" dirty="0"/>
              <a:t>, mas </a:t>
            </a:r>
            <a:r>
              <a:rPr lang="en-US" dirty="0" err="1"/>
              <a:t>não</a:t>
            </a:r>
            <a:r>
              <a:rPr lang="en-US" dirty="0"/>
              <a:t> </a:t>
            </a:r>
            <a:r>
              <a:rPr lang="en-US" dirty="0" err="1"/>
              <a:t>extremos</a:t>
            </a:r>
            <a:r>
              <a:rPr lang="en-US" dirty="0"/>
              <a:t>.</a:t>
            </a:r>
            <a:endParaRPr lang="pt-BR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863626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55876-1E2F-A829-24D7-6E67D4343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5A8A1-ABB5-8D3A-D7B8-B702B33BE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</a:t>
            </a:r>
            <a:r>
              <a:rPr lang="en-US" i="1" dirty="0"/>
              <a:t>Standard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E08648-F204-3557-03A6-4A8A939265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/>
          </a:bodyPr>
          <a:lstStyle/>
          <a:p>
            <a:r>
              <a:rPr lang="pt-BR" b="1" dirty="0"/>
              <a:t>Cuidado: </a:t>
            </a:r>
            <a:r>
              <a:rPr lang="pt-BR" dirty="0"/>
              <a:t>Se os dados originais são assimétricos (i.e., cauda longa), eles continuarão assimétricos, apenas centralizados e com variância igual a 1. </a:t>
            </a:r>
          </a:p>
          <a:p>
            <a:r>
              <a:rPr lang="pt-BR" b="1" dirty="0"/>
              <a:t>Importante:</a:t>
            </a:r>
            <a:r>
              <a:rPr lang="pt-BR" dirty="0"/>
              <a:t> Se o conjunto de dados tiver </a:t>
            </a:r>
            <a:r>
              <a:rPr lang="pt-BR" b="1" i="1" dirty="0">
                <a:solidFill>
                  <a:srgbClr val="7030A0"/>
                </a:solidFill>
              </a:rPr>
              <a:t>outliers</a:t>
            </a:r>
            <a:r>
              <a:rPr lang="pt-BR" b="1" dirty="0">
                <a:solidFill>
                  <a:srgbClr val="7030A0"/>
                </a:solidFill>
              </a:rPr>
              <a:t> extremos</a:t>
            </a:r>
            <a:r>
              <a:rPr lang="pt-BR" dirty="0"/>
              <a:t>, o </a:t>
            </a:r>
            <a:r>
              <a:rPr lang="pt-BR" b="1" dirty="0">
                <a:solidFill>
                  <a:srgbClr val="00B050"/>
                </a:solidFill>
              </a:rPr>
              <a:t>escalonador robusto é uma opção superior </a:t>
            </a:r>
            <a:r>
              <a:rPr lang="pt-BR" dirty="0"/>
              <a:t>à padronização, pois ignora os valores discrepantes no cálculo do escalonamento.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>
                <a:solidFill>
                  <a:srgbClr val="7030A0"/>
                </a:solidFill>
              </a:rPr>
              <a:t>Outliers</a:t>
            </a:r>
            <a:r>
              <a:rPr lang="pt-BR" b="1" dirty="0">
                <a:solidFill>
                  <a:srgbClr val="7030A0"/>
                </a:solidFill>
              </a:rPr>
              <a:t> extremos</a:t>
            </a:r>
            <a:r>
              <a:rPr lang="pt-BR" dirty="0"/>
              <a:t> podem </a:t>
            </a:r>
            <a:r>
              <a:rPr lang="pt-BR" b="1" dirty="0">
                <a:solidFill>
                  <a:srgbClr val="7030A0"/>
                </a:solidFill>
              </a:rPr>
              <a:t>influenciar a média e a variância </a:t>
            </a:r>
            <a:r>
              <a:rPr lang="pt-BR" dirty="0"/>
              <a:t>dos atributos de forma negativa.</a:t>
            </a:r>
          </a:p>
        </p:txBody>
      </p:sp>
    </p:spTree>
    <p:extLst>
      <p:ext uri="{BB962C8B-B14F-4D97-AF65-F5344CB8AC3E}">
        <p14:creationId xmlns:p14="http://schemas.microsoft.com/office/powerpoint/2010/main" val="34479378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577714-D30D-81C3-3BE9-7601747F5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</a:t>
            </a:r>
            <a:r>
              <a:rPr lang="en-US" i="1" dirty="0"/>
              <a:t>Standard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D4492A-4A23-9842-8A7E-76151D3DB0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0994571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Instância</a:t>
            </a:r>
            <a:r>
              <a:rPr lang="en-US" i="1" dirty="0">
                <a:latin typeface="Consolas" panose="020B0609020204030204" pitchFamily="49" charset="0"/>
              </a:rPr>
              <a:t> do </a:t>
            </a:r>
            <a:r>
              <a:rPr lang="en-US" i="1" dirty="0" err="1">
                <a:latin typeface="Consolas" panose="020B0609020204030204" pitchFamily="49" charset="0"/>
              </a:rPr>
              <a:t>padronizador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Aprende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os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parâmetros</a:t>
            </a:r>
            <a:r>
              <a:rPr lang="en-US" i="1" dirty="0">
                <a:latin typeface="Consolas" panose="020B0609020204030204" pitchFamily="49" charset="0"/>
              </a:rPr>
              <a:t> de </a:t>
            </a:r>
            <a:r>
              <a:rPr lang="en-US" i="1" dirty="0" err="1">
                <a:latin typeface="Consolas" panose="020B0609020204030204" pitchFamily="49" charset="0"/>
              </a:rPr>
              <a:t>padronização</a:t>
            </a:r>
            <a:r>
              <a:rPr lang="en-US" i="1" dirty="0">
                <a:latin typeface="Consolas" panose="020B0609020204030204" pitchFamily="49" charset="0"/>
              </a:rPr>
              <a:t> no </a:t>
            </a:r>
            <a:r>
              <a:rPr lang="en-US" i="1" dirty="0" err="1">
                <a:latin typeface="Consolas" panose="020B0609020204030204" pitchFamily="49" charset="0"/>
              </a:rPr>
              <a:t>treino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Aplica</a:t>
            </a:r>
            <a:r>
              <a:rPr lang="en-US" i="1" dirty="0">
                <a:latin typeface="Consolas" panose="020B0609020204030204" pitchFamily="49" charset="0"/>
              </a:rPr>
              <a:t> o scaler </a:t>
            </a:r>
            <a:r>
              <a:rPr lang="en-US" i="1" dirty="0" err="1">
                <a:latin typeface="Consolas" panose="020B0609020204030204" pitchFamily="49" charset="0"/>
              </a:rPr>
              <a:t>aprendido</a:t>
            </a:r>
            <a:r>
              <a:rPr lang="en-US" i="1" dirty="0">
                <a:latin typeface="Consolas" panose="020B0609020204030204" pitchFamily="49" charset="0"/>
              </a:rPr>
              <a:t> no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908145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4F0F9-20D7-154F-370F-D835643F1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1CDABA-9A41-573A-0CB1-602907ED9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</a:t>
            </a:r>
            <a:r>
              <a:rPr lang="en-US" i="1" dirty="0"/>
              <a:t>Robust Scaling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F3830B-DEF6-A0F3-3AF2-EBB9B6E8B5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Usa </a:t>
                </a:r>
                <a:r>
                  <a:rPr lang="pt-BR" b="1" dirty="0">
                    <a:solidFill>
                      <a:srgbClr val="00B050"/>
                    </a:solidFill>
                  </a:rPr>
                  <a:t>mediana e distância interquartil</a:t>
                </a:r>
                <a:r>
                  <a:rPr lang="pt-BR" dirty="0"/>
                  <a:t> no escalonamento.</a:t>
                </a:r>
                <a:endParaRPr lang="pt-BR" b="1" dirty="0">
                  <a:solidFill>
                    <a:srgbClr val="FF0000"/>
                  </a:solidFill>
                </a:endParaRPr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mediana</m:t>
                          </m:r>
                        </m:num>
                        <m:den>
                          <m:limLow>
                            <m:limLow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groupCh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</a:rPr>
                                <m:t>IQR</m:t>
                              </m:r>
                            </m:lim>
                          </m:limLow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 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IQR</m:t>
                    </m:r>
                  </m:oMath>
                </a14:m>
                <a:r>
                  <a:rPr lang="pt-BR" dirty="0"/>
                  <a:t> é a distância interquartil de um atributo.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F3830B-DEF6-A0F3-3AF2-EBB9B6E8B5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3"/>
                <a:stretch>
                  <a:fillRect l="-107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1" descr="Gráfico, Histograma&#10;&#10;O conteúdo gerado por IA pode estar incorreto.">
            <a:extLst>
              <a:ext uri="{FF2B5EF4-FFF2-40B4-BE49-F238E27FC236}">
                <a16:creationId xmlns:a16="http://schemas.microsoft.com/office/drawing/2014/main" id="{8B201E44-EC57-A929-79A3-B49B7ED33C2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3237" t="70676" r="8114" b="10537"/>
          <a:stretch>
            <a:fillRect/>
          </a:stretch>
        </p:blipFill>
        <p:spPr>
          <a:xfrm>
            <a:off x="2159000" y="4790719"/>
            <a:ext cx="7874000" cy="1702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6080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E9AD0-32FE-7BB6-65F1-4C9F82FC9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EB2E1-2720-CBAD-00A2-4211C0FA6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</a:t>
            </a:r>
            <a:r>
              <a:rPr lang="en-US" i="1" dirty="0"/>
              <a:t>Robust Scaling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FCF40E-198B-DB74-AFFD-EA10FEF889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dirty="0"/>
                  <a:t>Vantagem</a:t>
                </a:r>
                <a:r>
                  <a:rPr lang="pt-BR" dirty="0"/>
                  <a:t>: Por utilizar a mediana e 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IQR</m:t>
                    </m:r>
                  </m:oMath>
                </a14:m>
                <a:r>
                  <a:rPr lang="pt-BR" dirty="0"/>
                  <a:t> em vez da média e do desvio padrão, os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outliers</a:t>
                </a:r>
                <a:r>
                  <a:rPr lang="pt-BR" b="1" dirty="0">
                    <a:solidFill>
                      <a:schemeClr val="accent2"/>
                    </a:solidFill>
                  </a:rPr>
                  <a:t> têm influência mínima </a:t>
                </a:r>
                <a:r>
                  <a:rPr lang="pt-BR" dirty="0"/>
                  <a:t>no escalonamento.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Mantém a relação de distância entre os valores típicos </a:t>
                </a:r>
                <a:r>
                  <a:rPr lang="pt-BR" b="1" dirty="0">
                    <a:solidFill>
                      <a:schemeClr val="accent2"/>
                    </a:solidFill>
                  </a:rPr>
                  <a:t>melhor que a padronização quando existem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outliers</a:t>
                </a:r>
                <a:r>
                  <a:rPr lang="pt-BR" b="1" dirty="0">
                    <a:solidFill>
                      <a:schemeClr val="accent2"/>
                    </a:solidFill>
                  </a:rPr>
                  <a:t> extremos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Ou seja, não deixa que </a:t>
                </a:r>
                <a:r>
                  <a:rPr lang="pt-BR" i="1" dirty="0"/>
                  <a:t>outliers</a:t>
                </a:r>
                <a:r>
                  <a:rPr lang="pt-BR" dirty="0"/>
                  <a:t> extremos “esmaguem” os valores típicos em valores próximos de 0.</a:t>
                </a:r>
                <a:endParaRPr lang="pt-BR" b="1" dirty="0"/>
              </a:p>
              <a:p>
                <a:r>
                  <a:rPr lang="pt-BR" b="1" dirty="0"/>
                  <a:t>Quando usar: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Quando há </a:t>
                </a:r>
                <a:r>
                  <a:rPr lang="pt-BR" i="1" dirty="0"/>
                  <a:t>outliers</a:t>
                </a:r>
                <a:r>
                  <a:rPr lang="pt-BR" dirty="0"/>
                  <a:t> significativos, mas desejamos mantê-los sem impactar o escalonamento.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Quando as distribuições são assimétricas (i.e., com cauda longa).</a:t>
                </a:r>
              </a:p>
              <a:p>
                <a:r>
                  <a:rPr lang="pt-BR" b="1" dirty="0"/>
                  <a:t>Cuidado: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Como, em geral, </a:t>
                </a:r>
                <a:r>
                  <a:rPr lang="pt-BR" b="1" dirty="0">
                    <a:solidFill>
                      <a:schemeClr val="accent2"/>
                    </a:solidFill>
                  </a:rPr>
                  <a:t>não se remove</a:t>
                </a:r>
                <a:r>
                  <a:rPr lang="pt-BR" dirty="0"/>
                  <a:t> os </a:t>
                </a:r>
                <a:r>
                  <a:rPr lang="pt-BR" i="1" dirty="0"/>
                  <a:t>outliers</a:t>
                </a:r>
                <a:r>
                  <a:rPr lang="pt-BR" dirty="0"/>
                  <a:t>, algoritmos </a:t>
                </a:r>
                <a:r>
                  <a:rPr lang="pt-BR" b="1" dirty="0">
                    <a:solidFill>
                      <a:schemeClr val="accent2"/>
                    </a:solidFill>
                  </a:rPr>
                  <a:t>sensíveis à distância </a:t>
                </a:r>
                <a:r>
                  <a:rPr lang="pt-BR" dirty="0"/>
                  <a:t>(e.g., KNN, </a:t>
                </a:r>
                <a:r>
                  <a:rPr lang="pt-BR" dirty="0" err="1"/>
                  <a:t>Regressores</a:t>
                </a:r>
                <a:r>
                  <a:rPr lang="pt-BR" dirty="0"/>
                  <a:t>) podem ter seu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aprendizado impactado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rgbClr val="00B050"/>
                    </a:solidFill>
                  </a:rPr>
                  <a:t>Preserva a escala </a:t>
                </a:r>
                <a:r>
                  <a:rPr lang="pt-BR" dirty="0"/>
                  <a:t>dos dados típicos, </a:t>
                </a:r>
                <a:r>
                  <a:rPr lang="pt-BR" b="1" dirty="0">
                    <a:solidFill>
                      <a:srgbClr val="00B050"/>
                    </a:solidFill>
                  </a:rPr>
                  <a:t>mas não elimina nem disfarça </a:t>
                </a:r>
                <a:r>
                  <a:rPr lang="pt-BR" dirty="0"/>
                  <a:t>os </a:t>
                </a:r>
                <a:r>
                  <a:rPr lang="pt-BR" i="1" dirty="0"/>
                  <a:t>outliers.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FCF40E-198B-DB74-AFFD-EA10FEF889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3"/>
                <a:stretch>
                  <a:fillRect l="-913" t="-2663" b="-25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900424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438CB-284D-B132-E982-E10E2E0A6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015A9-D416-BD11-58AD-7B62F1B4A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</a:t>
            </a:r>
            <a:r>
              <a:rPr lang="en-US" i="1" dirty="0"/>
              <a:t>Robust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F49F56-D00F-7D12-5FCD-BB6DCFC23C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RobustScaler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Instância</a:t>
            </a:r>
            <a:r>
              <a:rPr lang="en-US" dirty="0">
                <a:latin typeface="Consolas" panose="020B0609020204030204" pitchFamily="49" charset="0"/>
              </a:rPr>
              <a:t> do </a:t>
            </a:r>
            <a:r>
              <a:rPr lang="en-US" dirty="0" err="1">
                <a:latin typeface="Consolas" panose="020B0609020204030204" pitchFamily="49" charset="0"/>
              </a:rPr>
              <a:t>escalonador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robusto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en-US" dirty="0" err="1">
                <a:latin typeface="Consolas" panose="020B0609020204030204" pitchFamily="49" charset="0"/>
              </a:rPr>
              <a:t>RobustScaler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Aprende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os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parâmetros</a:t>
            </a:r>
            <a:r>
              <a:rPr lang="en-US" dirty="0">
                <a:latin typeface="Consolas" panose="020B0609020204030204" pitchFamily="49" charset="0"/>
              </a:rPr>
              <a:t> de </a:t>
            </a:r>
            <a:r>
              <a:rPr lang="en-US" dirty="0" err="1">
                <a:latin typeface="Consolas" panose="020B0609020204030204" pitchFamily="49" charset="0"/>
              </a:rPr>
              <a:t>escalonamento</a:t>
            </a:r>
            <a:r>
              <a:rPr lang="en-US" dirty="0">
                <a:latin typeface="Consolas" panose="020B0609020204030204" pitchFamily="49" charset="0"/>
              </a:rPr>
              <a:t> no </a:t>
            </a:r>
            <a:r>
              <a:rPr lang="en-US" dirty="0" err="1">
                <a:latin typeface="Consolas" panose="020B0609020204030204" pitchFamily="49" charset="0"/>
              </a:rPr>
              <a:t>treino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Aplica</a:t>
            </a:r>
            <a:r>
              <a:rPr lang="en-US" dirty="0">
                <a:latin typeface="Consolas" panose="020B0609020204030204" pitchFamily="49" charset="0"/>
              </a:rPr>
              <a:t> o scaler </a:t>
            </a:r>
            <a:r>
              <a:rPr lang="en-US" dirty="0" err="1">
                <a:latin typeface="Consolas" panose="020B0609020204030204" pitchFamily="49" charset="0"/>
              </a:rPr>
              <a:t>aprendido</a:t>
            </a:r>
            <a:r>
              <a:rPr lang="en-US" dirty="0">
                <a:latin typeface="Consolas" panose="020B0609020204030204" pitchFamily="49" charset="0"/>
              </a:rPr>
              <a:t> no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7554837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2465D-3B71-C4D6-425F-FF182A665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Armadilhas comuns durante o escalonamento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848CE3-22F4-8F30-72FB-7BA864CCB1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23172" cy="5032375"/>
          </a:xfrm>
        </p:spPr>
        <p:txBody>
          <a:bodyPr>
            <a:normAutofit/>
          </a:bodyPr>
          <a:lstStyle/>
          <a:p>
            <a:r>
              <a:rPr lang="pt-BR" dirty="0"/>
              <a:t>Para evitar </a:t>
            </a:r>
            <a:r>
              <a:rPr lang="pt-BR" b="1" dirty="0">
                <a:solidFill>
                  <a:schemeClr val="accent2"/>
                </a:solidFill>
              </a:rPr>
              <a:t>vazamento de dados</a:t>
            </a:r>
            <a:r>
              <a:rPr lang="pt-BR" dirty="0"/>
              <a:t>, o escalonador deve sempre ser </a:t>
            </a:r>
            <a:r>
              <a:rPr lang="pt-BR" b="1" dirty="0">
                <a:solidFill>
                  <a:schemeClr val="accent2"/>
                </a:solidFill>
              </a:rPr>
              <a:t>ajustado no conjunto de treinamento</a:t>
            </a:r>
            <a:r>
              <a:rPr lang="pt-BR" dirty="0"/>
              <a:t>.</a:t>
            </a:r>
          </a:p>
          <a:p>
            <a:r>
              <a:rPr lang="pt-BR" dirty="0"/>
              <a:t>Os conjuntos de validação e teste, são </a:t>
            </a:r>
            <a:r>
              <a:rPr lang="pt-BR" b="1" dirty="0">
                <a:solidFill>
                  <a:schemeClr val="accent1"/>
                </a:solidFill>
              </a:rPr>
              <a:t>transformados com os parâmetros encontrados com o conjunto e treinamento</a:t>
            </a:r>
            <a:r>
              <a:rPr lang="pt-BR" dirty="0"/>
              <a:t>.</a:t>
            </a:r>
          </a:p>
          <a:p>
            <a:r>
              <a:rPr lang="pt-BR" dirty="0"/>
              <a:t>Geralmente, </a:t>
            </a:r>
            <a:r>
              <a:rPr lang="pt-BR" b="1" dirty="0">
                <a:solidFill>
                  <a:srgbClr val="7030A0"/>
                </a:solidFill>
              </a:rPr>
              <a:t>não se aplica escalonamento à variável alvo</a:t>
            </a:r>
            <a:r>
              <a:rPr lang="pt-BR" dirty="0"/>
              <a:t>, i.e., os rótulos, apenas aos atributos.</a:t>
            </a:r>
          </a:p>
          <a:p>
            <a:r>
              <a:rPr lang="pt-BR" dirty="0"/>
              <a:t>Em geral, </a:t>
            </a:r>
            <a:r>
              <a:rPr lang="pt-BR" b="1" dirty="0">
                <a:solidFill>
                  <a:schemeClr val="accent6"/>
                </a:solidFill>
              </a:rPr>
              <a:t>não se escalona atributos binários ou </a:t>
            </a:r>
            <a:r>
              <a:rPr lang="pt-BR" b="1" i="1" dirty="0" err="1">
                <a:solidFill>
                  <a:schemeClr val="accent6"/>
                </a:solidFill>
              </a:rPr>
              <a:t>one</a:t>
            </a:r>
            <a:r>
              <a:rPr lang="pt-BR" b="1" i="1" dirty="0">
                <a:solidFill>
                  <a:schemeClr val="accent6"/>
                </a:solidFill>
              </a:rPr>
              <a:t>-hot</a:t>
            </a:r>
            <a:r>
              <a:rPr lang="pt-BR" b="1" dirty="0">
                <a:solidFill>
                  <a:schemeClr val="accent6"/>
                </a:solidFill>
              </a:rPr>
              <a:t> </a:t>
            </a:r>
            <a:r>
              <a:rPr lang="pt-BR" dirty="0"/>
              <a:t>sem necessidade, pois pode-se criar valores fracionários desnecessários.</a:t>
            </a:r>
          </a:p>
        </p:txBody>
      </p:sp>
    </p:spTree>
    <p:extLst>
      <p:ext uri="{BB962C8B-B14F-4D97-AF65-F5344CB8AC3E}">
        <p14:creationId xmlns:p14="http://schemas.microsoft.com/office/powerpoint/2010/main" val="8775267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8DCA9-22E3-E7D2-4335-66012FBB1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Codificação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 </a:t>
            </a:r>
            <a:r>
              <a:rPr lang="en-US" dirty="0" err="1"/>
              <a:t>categóricos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E35704-3008-E5B2-8105-C96099FC4F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25201" cy="5032375"/>
          </a:xfrm>
        </p:spPr>
        <p:txBody>
          <a:bodyPr>
            <a:normAutofit/>
          </a:bodyPr>
          <a:lstStyle/>
          <a:p>
            <a:r>
              <a:rPr lang="pt-BR" b="1" dirty="0"/>
              <a:t>Motivação</a:t>
            </a:r>
            <a:r>
              <a:rPr lang="pt-BR" dirty="0"/>
              <a:t>: Modelos de ML não entendem texto, portanto, precisamos converter categorias em números.</a:t>
            </a:r>
          </a:p>
          <a:p>
            <a:r>
              <a:rPr lang="en-US" dirty="0"/>
              <a:t>As </a:t>
            </a:r>
            <a:r>
              <a:rPr lang="en-US" dirty="0" err="1"/>
              <a:t>principais</a:t>
            </a:r>
            <a:r>
              <a:rPr lang="en-US" dirty="0"/>
              <a:t> </a:t>
            </a:r>
            <a:r>
              <a:rPr lang="en-US" dirty="0" err="1"/>
              <a:t>técnicas</a:t>
            </a:r>
            <a:r>
              <a:rPr lang="en-US" dirty="0"/>
              <a:t> de </a:t>
            </a:r>
            <a:r>
              <a:rPr lang="en-US" dirty="0" err="1"/>
              <a:t>codificação</a:t>
            </a:r>
            <a:r>
              <a:rPr lang="en-US" dirty="0"/>
              <a:t> </a:t>
            </a:r>
            <a:r>
              <a:rPr lang="en-US" dirty="0" err="1"/>
              <a:t>são</a:t>
            </a:r>
            <a:r>
              <a:rPr lang="en-US" dirty="0"/>
              <a:t>: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One-Hot encoding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Label encoding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Target encoding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Binary encoding</a:t>
            </a:r>
            <a:endParaRPr lang="pt-BR" dirty="0"/>
          </a:p>
          <a:p>
            <a:r>
              <a:rPr lang="pt-BR" b="1" dirty="0"/>
              <a:t>OBS</a:t>
            </a:r>
            <a:r>
              <a:rPr lang="pt-BR" dirty="0"/>
              <a:t>.: A codificação pode ser considerada uma forma de </a:t>
            </a:r>
            <a:r>
              <a:rPr lang="pt-BR" b="1" dirty="0">
                <a:solidFill>
                  <a:schemeClr val="accent1"/>
                </a:solidFill>
              </a:rPr>
              <a:t>engenharia de atributos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Processo de </a:t>
            </a:r>
            <a:r>
              <a:rPr lang="pt-BR" b="1" dirty="0">
                <a:solidFill>
                  <a:schemeClr val="accent6"/>
                </a:solidFill>
              </a:rPr>
              <a:t>criar atributos </a:t>
            </a:r>
            <a:r>
              <a:rPr lang="pt-BR" dirty="0"/>
              <a:t>relevantes a </a:t>
            </a:r>
            <a:r>
              <a:rPr lang="pt-BR" b="1" dirty="0">
                <a:solidFill>
                  <a:schemeClr val="accent6"/>
                </a:solidFill>
              </a:rPr>
              <a:t>partir dos existentes</a:t>
            </a:r>
            <a:r>
              <a:rPr lang="pt-BR" dirty="0"/>
              <a:t> para melhorar o desempenho de um modelo de ML.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3156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7389AB-09B4-AB30-AAD4-587A6426A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514B5-016A-AF18-EA86-F01A68136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One-Hot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B52C18-6F1E-8230-5D96-63D8A5144D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91200" y="1825624"/>
            <a:ext cx="6302829" cy="5032375"/>
          </a:xfrm>
        </p:spPr>
        <p:txBody>
          <a:bodyPr>
            <a:normAutofit/>
          </a:bodyPr>
          <a:lstStyle/>
          <a:p>
            <a:r>
              <a:rPr lang="pt-BR" dirty="0"/>
              <a:t>Usada com atributos nominais (i.e., sem ordem) e com baixa cardinalidade (i.e., com poucas categorias distintas). </a:t>
            </a:r>
          </a:p>
          <a:p>
            <a:r>
              <a:rPr lang="pt-BR" b="1" dirty="0"/>
              <a:t>Como funciona:</a:t>
            </a:r>
            <a:r>
              <a:rPr lang="pt-BR" dirty="0"/>
              <a:t> Cria uma nova </a:t>
            </a:r>
            <a:r>
              <a:rPr lang="pt-BR" b="1" dirty="0">
                <a:solidFill>
                  <a:schemeClr val="accent1"/>
                </a:solidFill>
              </a:rPr>
              <a:t>coluna binária</a:t>
            </a:r>
            <a:r>
              <a:rPr lang="pt-BR" dirty="0"/>
              <a:t> para </a:t>
            </a:r>
            <a:r>
              <a:rPr lang="pt-BR" b="1" dirty="0">
                <a:solidFill>
                  <a:schemeClr val="accent1"/>
                </a:solidFill>
              </a:rPr>
              <a:t>cada categoria </a:t>
            </a:r>
            <a:r>
              <a:rPr lang="pt-BR" dirty="0"/>
              <a:t>distinta.</a:t>
            </a:r>
          </a:p>
          <a:p>
            <a:r>
              <a:rPr lang="pt-BR" b="1" dirty="0"/>
              <a:t>Limitação:</a:t>
            </a:r>
            <a:r>
              <a:rPr lang="pt-BR" dirty="0"/>
              <a:t> Gera alta dimensionalidade (i.e., muitas colunas) se houver muitas categorias.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criar o problema conhecido como a “</a:t>
            </a:r>
            <a:r>
              <a:rPr lang="pt-BR" b="1" dirty="0">
                <a:solidFill>
                  <a:srgbClr val="7030A0"/>
                </a:solidFill>
              </a:rPr>
              <a:t>maldição da dimensionalidade</a:t>
            </a:r>
            <a:r>
              <a:rPr lang="pt-BR" dirty="0"/>
              <a:t>”.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Pontos ficam muito distantes (perde-se noção de similaridade), dificulta a visualização e aumenta o custo computacional.</a:t>
            </a:r>
          </a:p>
        </p:txBody>
      </p:sp>
      <p:pic>
        <p:nvPicPr>
          <p:cNvPr id="2051" name="Picture 3" descr="One-Hot Encoding: A Comprehensive Guide with Python Implementation | by  Shubham Sangole | GoPenAI">
            <a:extLst>
              <a:ext uri="{FF2B5EF4-FFF2-40B4-BE49-F238E27FC236}">
                <a16:creationId xmlns:a16="http://schemas.microsoft.com/office/drawing/2014/main" id="{04411FF2-E0FD-9D33-63B9-86F2888D8A5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237" t="8519" r="2382" b="57788"/>
          <a:stretch>
            <a:fillRect/>
          </a:stretch>
        </p:blipFill>
        <p:spPr bwMode="auto">
          <a:xfrm>
            <a:off x="381001" y="2846613"/>
            <a:ext cx="5072743" cy="2166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927027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A9C30-8D7C-8A1B-D798-06ED56DFC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549E73-5A60-3934-DCFD-CA42C618F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Label </a:t>
            </a:r>
            <a:r>
              <a:rPr lang="en-US" dirty="0"/>
              <a:t>e</a:t>
            </a:r>
            <a:r>
              <a:rPr lang="en-US" i="1" dirty="0"/>
              <a:t> ordinal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18BA66-6028-330D-1D57-30D6366EC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4000" y="1825624"/>
            <a:ext cx="6858000" cy="5032375"/>
          </a:xfrm>
        </p:spPr>
        <p:txBody>
          <a:bodyPr>
            <a:normAutofit/>
          </a:bodyPr>
          <a:lstStyle/>
          <a:p>
            <a:r>
              <a:rPr lang="pt-BR" dirty="0"/>
              <a:t>Converte </a:t>
            </a:r>
            <a:r>
              <a:rPr lang="pt-BR" b="1" dirty="0">
                <a:solidFill>
                  <a:srgbClr val="00B050"/>
                </a:solidFill>
              </a:rPr>
              <a:t>cada categoria em um número inteiro </a:t>
            </a:r>
            <a:r>
              <a:rPr lang="pt-BR" b="1" dirty="0">
                <a:solidFill>
                  <a:schemeClr val="accent2"/>
                </a:solidFill>
              </a:rPr>
              <a:t>único</a:t>
            </a:r>
            <a:r>
              <a:rPr lang="pt-BR" dirty="0"/>
              <a:t>, considerando (</a:t>
            </a:r>
            <a:r>
              <a:rPr lang="pt-BR" i="1" dirty="0"/>
              <a:t>ordinal</a:t>
            </a:r>
            <a:r>
              <a:rPr lang="pt-BR" dirty="0"/>
              <a:t>) ou não uma ordem (</a:t>
            </a:r>
            <a:r>
              <a:rPr lang="pt-BR" i="1" dirty="0" err="1"/>
              <a:t>label</a:t>
            </a:r>
            <a:r>
              <a:rPr lang="pt-BR" dirty="0"/>
              <a:t>). </a:t>
            </a:r>
          </a:p>
          <a:p>
            <a:r>
              <a:rPr lang="pt-BR" i="1" dirty="0" err="1"/>
              <a:t>Label</a:t>
            </a:r>
            <a:r>
              <a:rPr lang="pt-BR" dirty="0"/>
              <a:t> é usada com rótulos em problemas de classificação e </a:t>
            </a:r>
            <a:r>
              <a:rPr lang="pt-BR" i="1" dirty="0"/>
              <a:t>ordinal</a:t>
            </a:r>
            <a:r>
              <a:rPr lang="pt-BR" dirty="0"/>
              <a:t> com variáveis ordinais.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Para tamanho de camisetas (P, M, G): </a:t>
            </a:r>
            <a:r>
              <a:rPr lang="pt-BR" i="1" dirty="0"/>
              <a:t>ordinal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Para animais e cores: </a:t>
            </a:r>
            <a:r>
              <a:rPr lang="pt-BR" i="1" dirty="0" err="1"/>
              <a:t>label</a:t>
            </a:r>
            <a:r>
              <a:rPr lang="pt-BR" i="1" dirty="0"/>
              <a:t>/ordinal</a:t>
            </a:r>
            <a:r>
              <a:rPr lang="pt-BR" dirty="0"/>
              <a:t>.</a:t>
            </a:r>
          </a:p>
          <a:p>
            <a:r>
              <a:rPr lang="pt-BR" b="1" dirty="0"/>
              <a:t>Risco:</a:t>
            </a:r>
            <a:r>
              <a:rPr lang="pt-BR" dirty="0"/>
              <a:t> </a:t>
            </a:r>
            <a:r>
              <a:rPr lang="pt-BR" i="1" dirty="0" err="1"/>
              <a:t>Label</a:t>
            </a:r>
            <a:r>
              <a:rPr lang="pt-BR" dirty="0"/>
              <a:t> pode introduzir uma </a:t>
            </a:r>
            <a:r>
              <a:rPr lang="pt-BR" b="1" dirty="0">
                <a:solidFill>
                  <a:srgbClr val="7030A0"/>
                </a:solidFill>
              </a:rPr>
              <a:t>relação de ordem falsa</a:t>
            </a:r>
            <a:r>
              <a:rPr lang="pt-BR" dirty="0"/>
              <a:t> que afeta negativamente algoritmos </a:t>
            </a:r>
            <a:r>
              <a:rPr lang="pt-BR" b="1" i="1" dirty="0">
                <a:solidFill>
                  <a:srgbClr val="7030A0"/>
                </a:solidFill>
              </a:rPr>
              <a:t>sensíveis a distâncias </a:t>
            </a:r>
            <a:r>
              <a:rPr lang="pt-BR" dirty="0"/>
              <a:t>(e.g., </a:t>
            </a:r>
            <a:r>
              <a:rPr lang="pt-BR" dirty="0" err="1"/>
              <a:t>regressores</a:t>
            </a:r>
            <a:r>
              <a:rPr lang="pt-BR" dirty="0"/>
              <a:t> e KNN).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529D32B-8978-31FB-62B1-9E8E3D4004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61" t="7152" r="5331" b="8009"/>
          <a:stretch>
            <a:fillRect/>
          </a:stretch>
        </p:blipFill>
        <p:spPr>
          <a:xfrm>
            <a:off x="304798" y="2895600"/>
            <a:ext cx="4616969" cy="2166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0565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883D4-BDD8-E7FF-C7AE-3D255B871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E13F8-6196-AD06-DE47-12B16A60F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Target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3F122-99CE-8A1C-8288-BA542054EA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9314" y="1825624"/>
            <a:ext cx="6792686" cy="5032375"/>
          </a:xfrm>
        </p:spPr>
        <p:txBody>
          <a:bodyPr>
            <a:normAutofit/>
          </a:bodyPr>
          <a:lstStyle/>
          <a:p>
            <a:r>
              <a:rPr lang="pt-BR" dirty="0"/>
              <a:t>Substitui cada categoria pela </a:t>
            </a:r>
            <a:r>
              <a:rPr lang="pt-BR" b="1" dirty="0">
                <a:solidFill>
                  <a:srgbClr val="7030A0"/>
                </a:solidFill>
              </a:rPr>
              <a:t>média do valor do alvo</a:t>
            </a:r>
            <a:r>
              <a:rPr lang="pt-BR" dirty="0"/>
              <a:t> correspondente a essa categoria.</a:t>
            </a:r>
          </a:p>
          <a:p>
            <a:r>
              <a:rPr lang="pt-BR" b="1" dirty="0"/>
              <a:t>Quando usar:</a:t>
            </a:r>
            <a:r>
              <a:rPr lang="pt-BR" dirty="0"/>
              <a:t> Ideal para atributos de </a:t>
            </a:r>
            <a:r>
              <a:rPr lang="pt-BR" b="1" dirty="0">
                <a:solidFill>
                  <a:schemeClr val="accent2"/>
                </a:solidFill>
              </a:rPr>
              <a:t>alta cardinalidade</a:t>
            </a:r>
            <a:r>
              <a:rPr lang="pt-BR" dirty="0"/>
              <a:t>, pois não aumenta a dimensionalidade do </a:t>
            </a:r>
            <a:r>
              <a:rPr lang="pt-BR" i="1" dirty="0"/>
              <a:t>dataset</a:t>
            </a:r>
            <a:r>
              <a:rPr lang="pt-BR" dirty="0"/>
              <a:t> e quando há </a:t>
            </a:r>
            <a:r>
              <a:rPr lang="pt-BR" b="1" dirty="0">
                <a:solidFill>
                  <a:schemeClr val="accent6"/>
                </a:solidFill>
              </a:rPr>
              <a:t>relação forte entre a categoria e o </a:t>
            </a:r>
            <a:r>
              <a:rPr lang="pt-BR" b="1" i="1" dirty="0">
                <a:solidFill>
                  <a:schemeClr val="accent6"/>
                </a:solidFill>
              </a:rPr>
              <a:t>target</a:t>
            </a:r>
            <a:r>
              <a:rPr lang="pt-BR" dirty="0"/>
              <a:t>.</a:t>
            </a:r>
          </a:p>
          <a:p>
            <a:r>
              <a:rPr lang="pt-BR" b="1" dirty="0"/>
              <a:t>Risco:</a:t>
            </a:r>
            <a:r>
              <a:rPr lang="pt-BR" dirty="0"/>
              <a:t> </a:t>
            </a:r>
            <a:r>
              <a:rPr lang="pt-BR" i="1" dirty="0" err="1"/>
              <a:t>Overfitting</a:t>
            </a:r>
            <a:r>
              <a:rPr lang="pt-BR" dirty="0"/>
              <a:t> por </a:t>
            </a:r>
            <a:r>
              <a:rPr lang="pt-BR" i="1" dirty="0"/>
              <a:t>data </a:t>
            </a:r>
            <a:r>
              <a:rPr lang="pt-BR" i="1" dirty="0" err="1"/>
              <a:t>leakage</a:t>
            </a:r>
            <a:r>
              <a:rPr lang="pt-BR" dirty="0"/>
              <a:t> e por categorias com poucas amostras.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for calculado </a:t>
            </a:r>
            <a:r>
              <a:rPr lang="pt-BR" b="1" dirty="0">
                <a:solidFill>
                  <a:schemeClr val="accent1"/>
                </a:solidFill>
              </a:rPr>
              <a:t>usando todo o dataset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Categorias com poucos exemplos produzem </a:t>
            </a:r>
            <a:r>
              <a:rPr lang="pt-BR" b="1" dirty="0">
                <a:solidFill>
                  <a:schemeClr val="accent1"/>
                </a:solidFill>
              </a:rPr>
              <a:t>estimativas de média muito ruidosas</a:t>
            </a:r>
            <a:r>
              <a:rPr lang="pt-BR" dirty="0"/>
              <a:t>.</a:t>
            </a:r>
          </a:p>
        </p:txBody>
      </p:sp>
      <p:pic>
        <p:nvPicPr>
          <p:cNvPr id="2050" name="Picture 2" descr="Data Transformation: one-hot vs target encoding">
            <a:extLst>
              <a:ext uri="{FF2B5EF4-FFF2-40B4-BE49-F238E27FC236}">
                <a16:creationId xmlns:a16="http://schemas.microsoft.com/office/drawing/2014/main" id="{7BB7010D-52CF-95E3-7867-6467D4626A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9" t="23968" r="4286" b="15079"/>
          <a:stretch>
            <a:fillRect/>
          </a:stretch>
        </p:blipFill>
        <p:spPr bwMode="auto">
          <a:xfrm>
            <a:off x="152400" y="3023466"/>
            <a:ext cx="4996357" cy="1842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E6C73B1-9431-A33E-28D2-A93D904893DD}"/>
              </a:ext>
            </a:extLst>
          </p:cNvPr>
          <p:cNvSpPr txBox="1"/>
          <p:nvPr/>
        </p:nvSpPr>
        <p:spPr>
          <a:xfrm>
            <a:off x="272142" y="5151032"/>
            <a:ext cx="470262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dirty="0"/>
              <a:t>Em vez de usar números arbitrários (</a:t>
            </a:r>
            <a:r>
              <a:rPr lang="pt-BR" b="1" dirty="0" err="1"/>
              <a:t>Label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dirty="0"/>
              <a:t>) ou criar várias colunas (</a:t>
            </a:r>
            <a:r>
              <a:rPr lang="pt-BR" b="1" dirty="0" err="1"/>
              <a:t>One</a:t>
            </a:r>
            <a:r>
              <a:rPr lang="pt-BR" b="1" dirty="0"/>
              <a:t>-Hot </a:t>
            </a:r>
            <a:r>
              <a:rPr lang="pt-BR" b="1" dirty="0" err="1"/>
              <a:t>Encoding</a:t>
            </a:r>
            <a:r>
              <a:rPr lang="pt-BR" dirty="0"/>
              <a:t>), </a:t>
            </a:r>
            <a:r>
              <a:rPr lang="pt-BR" b="1" dirty="0">
                <a:solidFill>
                  <a:schemeClr val="accent2"/>
                </a:solidFill>
              </a:rPr>
              <a:t>usa informação estatística do próprio problema</a:t>
            </a:r>
            <a:r>
              <a:rPr lang="pt-BR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539919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DD75A-3D20-1CFF-0CAC-A5CB15BA9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F2449-F38A-4DF6-443B-1B77E3F39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Binary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A68C86-94AE-24AE-A0EF-6A9D083052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21642" y="1825625"/>
            <a:ext cx="6870358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Combina os benefícios das codificações </a:t>
            </a:r>
            <a:r>
              <a:rPr lang="pt-BR" i="1" dirty="0" err="1"/>
              <a:t>One</a:t>
            </a:r>
            <a:r>
              <a:rPr lang="pt-BR" i="1" dirty="0"/>
              <a:t>-Hot</a:t>
            </a:r>
            <a:r>
              <a:rPr lang="pt-BR" dirty="0"/>
              <a:t> e </a:t>
            </a:r>
            <a:r>
              <a:rPr lang="pt-BR" i="1" dirty="0" err="1"/>
              <a:t>Label</a:t>
            </a:r>
            <a:r>
              <a:rPr lang="pt-BR" dirty="0"/>
              <a:t>. </a:t>
            </a:r>
          </a:p>
          <a:p>
            <a:r>
              <a:rPr lang="pt-BR" dirty="0"/>
              <a:t>Cada </a:t>
            </a:r>
            <a:r>
              <a:rPr lang="pt-BR" b="1" dirty="0">
                <a:solidFill>
                  <a:schemeClr val="accent1"/>
                </a:solidFill>
              </a:rPr>
              <a:t>categoria recebe um número inteiro </a:t>
            </a:r>
            <a:r>
              <a:rPr lang="pt-BR" dirty="0"/>
              <a:t>(</a:t>
            </a:r>
            <a:r>
              <a:rPr lang="pt-BR" i="1" dirty="0" err="1"/>
              <a:t>Label</a:t>
            </a:r>
            <a:r>
              <a:rPr lang="pt-BR" dirty="0"/>
              <a:t>) que é </a:t>
            </a:r>
            <a:r>
              <a:rPr lang="pt-BR" b="1" dirty="0">
                <a:solidFill>
                  <a:schemeClr val="accent1"/>
                </a:solidFill>
              </a:rPr>
              <a:t>convertido </a:t>
            </a:r>
            <a:r>
              <a:rPr lang="en-US" b="1" dirty="0">
                <a:solidFill>
                  <a:schemeClr val="accent1"/>
                </a:solidFill>
              </a:rPr>
              <a:t>para </a:t>
            </a:r>
            <a:r>
              <a:rPr lang="en-US" b="1" dirty="0" err="1">
                <a:solidFill>
                  <a:schemeClr val="accent1"/>
                </a:solidFill>
              </a:rPr>
              <a:t>sua</a:t>
            </a:r>
            <a:r>
              <a:rPr lang="en-US" b="1" dirty="0">
                <a:solidFill>
                  <a:schemeClr val="accent1"/>
                </a:solidFill>
              </a:rPr>
              <a:t> </a:t>
            </a:r>
            <a:r>
              <a:rPr lang="en-US" b="1" dirty="0" err="1">
                <a:solidFill>
                  <a:schemeClr val="accent1"/>
                </a:solidFill>
              </a:rPr>
              <a:t>representação</a:t>
            </a:r>
            <a:r>
              <a:rPr lang="en-US" b="1" dirty="0">
                <a:solidFill>
                  <a:schemeClr val="accent1"/>
                </a:solidFill>
              </a:rPr>
              <a:t> </a:t>
            </a:r>
            <a:r>
              <a:rPr lang="en-US" b="1" dirty="0" err="1">
                <a:solidFill>
                  <a:schemeClr val="accent1"/>
                </a:solidFill>
              </a:rPr>
              <a:t>binária</a:t>
            </a:r>
            <a:r>
              <a:rPr lang="pt-BR" dirty="0"/>
              <a:t>, criando colunas para cada bit.</a:t>
            </a:r>
          </a:p>
          <a:p>
            <a:r>
              <a:rPr lang="pt-BR" b="1" dirty="0"/>
              <a:t>Quando usar:</a:t>
            </a:r>
            <a:r>
              <a:rPr lang="pt-BR" dirty="0"/>
              <a:t> Ótimo para variáveis categóricas de alta cardinalidade.</a:t>
            </a:r>
          </a:p>
          <a:p>
            <a:r>
              <a:rPr lang="pt-BR" b="1" dirty="0"/>
              <a:t>Desvantagem</a:t>
            </a:r>
            <a:r>
              <a:rPr lang="pt-BR" dirty="0"/>
              <a:t>: Por algumas categorias </a:t>
            </a:r>
            <a:r>
              <a:rPr lang="pt-BR" b="1" dirty="0">
                <a:solidFill>
                  <a:schemeClr val="accent2"/>
                </a:solidFill>
              </a:rPr>
              <a:t>compartilharem bits, modelos lineares podem achar que existe uma relação entre elas</a:t>
            </a:r>
            <a:r>
              <a:rPr lang="pt-BR" dirty="0"/>
              <a:t>. Modelos de árvore lidam bem com isso.</a:t>
            </a:r>
          </a:p>
        </p:txBody>
      </p:sp>
      <p:pic>
        <p:nvPicPr>
          <p:cNvPr id="3074" name="Picture 2" descr="7 Must-know Techniques For Encoding Categorical Feature">
            <a:extLst>
              <a:ext uri="{FF2B5EF4-FFF2-40B4-BE49-F238E27FC236}">
                <a16:creationId xmlns:a16="http://schemas.microsoft.com/office/drawing/2014/main" id="{7AEBA2C1-6D35-7636-7CD6-AC297809D19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61" t="10457" r="5625" b="19838"/>
          <a:stretch>
            <a:fillRect/>
          </a:stretch>
        </p:blipFill>
        <p:spPr bwMode="auto">
          <a:xfrm>
            <a:off x="283028" y="3177218"/>
            <a:ext cx="4833257" cy="17757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482561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E6AEB-4BFC-EF3A-CCC7-C66FB3B5B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Exemplos de </a:t>
            </a:r>
            <a:r>
              <a:rPr lang="pt-BR" i="1" dirty="0" err="1"/>
              <a:t>encoding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AD9A45-89F4-0472-434E-82FA5060D2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from </a:t>
            </a:r>
            <a:r>
              <a:rPr lang="en-US" sz="2300" dirty="0" err="1">
                <a:latin typeface="Consolas" panose="020B0609020204030204" pitchFamily="49" charset="0"/>
              </a:rPr>
              <a:t>sklearn.preprocessing</a:t>
            </a:r>
            <a:r>
              <a:rPr lang="en-US" sz="2300" dirty="0">
                <a:latin typeface="Consolas" panose="020B0609020204030204" pitchFamily="49" charset="0"/>
              </a:rPr>
              <a:t> import </a:t>
            </a:r>
            <a:r>
              <a:rPr lang="en-US" sz="2300" dirty="0" err="1">
                <a:latin typeface="Consolas" panose="020B0609020204030204" pitchFamily="49" charset="0"/>
              </a:rPr>
              <a:t>OneHotEncoder</a:t>
            </a:r>
            <a:r>
              <a:rPr lang="en-US" sz="2300" dirty="0">
                <a:latin typeface="Consolas" panose="020B0609020204030204" pitchFamily="49" charset="0"/>
              </a:rPr>
              <a:t>, </a:t>
            </a:r>
            <a:r>
              <a:rPr lang="en-US" sz="2300" dirty="0" err="1">
                <a:latin typeface="Consolas" panose="020B0609020204030204" pitchFamily="49" charset="0"/>
              </a:rPr>
              <a:t>LabelEncoder</a:t>
            </a:r>
            <a:r>
              <a:rPr lang="en-US" sz="2300" dirty="0">
                <a:latin typeface="Consolas" panose="020B0609020204030204" pitchFamily="49" charset="0"/>
              </a:rPr>
              <a:t>, </a:t>
            </a:r>
            <a:r>
              <a:rPr lang="en-US" sz="2300" dirty="0" err="1">
                <a:latin typeface="Consolas" panose="020B0609020204030204" pitchFamily="49" charset="0"/>
              </a:rPr>
              <a:t>OrdinalEncoder</a:t>
            </a:r>
            <a:r>
              <a:rPr lang="en-US" sz="2300" dirty="0">
                <a:latin typeface="Consolas" panose="020B0609020204030204" pitchFamily="49" charset="0"/>
              </a:rPr>
              <a:t>, </a:t>
            </a:r>
            <a:r>
              <a:rPr lang="en-US" sz="2300" dirty="0" err="1">
                <a:latin typeface="Consolas" panose="020B0609020204030204" pitchFamily="49" charset="0"/>
              </a:rPr>
              <a:t>TargetEncoder</a:t>
            </a: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i="1" dirty="0">
                <a:latin typeface="Consolas" panose="020B0609020204030204" pitchFamily="49" charset="0"/>
              </a:rPr>
              <a:t>#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SciKit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-Learn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não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implementa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 o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codificador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binário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sz="2300" i="1" dirty="0">
                <a:latin typeface="Consolas" panose="020B0609020204030204" pitchFamily="49" charset="0"/>
              </a:rPr>
              <a:t>(pip install </a:t>
            </a:r>
            <a:r>
              <a:rPr lang="en-US" sz="2300" i="1" dirty="0" err="1">
                <a:latin typeface="Consolas" panose="020B0609020204030204" pitchFamily="49" charset="0"/>
              </a:rPr>
              <a:t>category_encoders</a:t>
            </a:r>
            <a:r>
              <a:rPr lang="en-US" sz="2300" i="1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from </a:t>
            </a:r>
            <a:r>
              <a:rPr lang="en-US" sz="2300" dirty="0" err="1">
                <a:latin typeface="Consolas" panose="020B0609020204030204" pitchFamily="49" charset="0"/>
              </a:rPr>
              <a:t>category_encoders</a:t>
            </a:r>
            <a:r>
              <a:rPr lang="en-US" sz="2300" dirty="0">
                <a:latin typeface="Consolas" panose="020B0609020204030204" pitchFamily="49" charset="0"/>
              </a:rPr>
              <a:t> import </a:t>
            </a:r>
            <a:r>
              <a:rPr lang="en-US" sz="2300" dirty="0" err="1">
                <a:latin typeface="Consolas" panose="020B0609020204030204" pitchFamily="49" charset="0"/>
              </a:rPr>
              <a:t>BinaryEncoder</a:t>
            </a: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i="1" dirty="0">
                <a:latin typeface="Consolas" panose="020B0609020204030204" pitchFamily="49" charset="0"/>
              </a:rPr>
              <a:t># </a:t>
            </a:r>
            <a:r>
              <a:rPr lang="en-US" sz="2300" i="1" dirty="0" err="1">
                <a:latin typeface="Consolas" panose="020B0609020204030204" pitchFamily="49" charset="0"/>
              </a:rPr>
              <a:t>LabelEncoder</a:t>
            </a:r>
            <a:r>
              <a:rPr lang="en-US" sz="2300" i="1" dirty="0">
                <a:latin typeface="Consolas" panose="020B0609020204030204" pitchFamily="49" charset="0"/>
              </a:rPr>
              <a:t>(), </a:t>
            </a:r>
            <a:r>
              <a:rPr lang="en-US" sz="2300" i="1" dirty="0" err="1">
                <a:latin typeface="Consolas" panose="020B0609020204030204" pitchFamily="49" charset="0"/>
              </a:rPr>
              <a:t>LabelEncoder</a:t>
            </a:r>
            <a:r>
              <a:rPr lang="en-US" sz="2300" i="1" dirty="0">
                <a:latin typeface="Consolas" panose="020B0609020204030204" pitchFamily="49" charset="0"/>
              </a:rPr>
              <a:t>(), </a:t>
            </a:r>
            <a:r>
              <a:rPr lang="en-US" sz="2300" i="1" dirty="0" err="1">
                <a:latin typeface="Consolas" panose="020B0609020204030204" pitchFamily="49" charset="0"/>
              </a:rPr>
              <a:t>TargetEncoder</a:t>
            </a:r>
            <a:r>
              <a:rPr lang="en-US" sz="2300" i="1" dirty="0">
                <a:latin typeface="Consolas" panose="020B0609020204030204" pitchFamily="49" charset="0"/>
              </a:rPr>
              <a:t>() </a:t>
            </a:r>
            <a:r>
              <a:rPr lang="en-US" sz="2300" i="1" dirty="0" err="1">
                <a:latin typeface="Consolas" panose="020B0609020204030204" pitchFamily="49" charset="0"/>
              </a:rPr>
              <a:t>ou</a:t>
            </a:r>
            <a:r>
              <a:rPr lang="en-US" sz="2300" i="1" dirty="0">
                <a:latin typeface="Consolas" panose="020B0609020204030204" pitchFamily="49" charset="0"/>
              </a:rPr>
              <a:t> </a:t>
            </a:r>
            <a:r>
              <a:rPr lang="en-US" sz="2300" i="1" dirty="0" err="1">
                <a:latin typeface="Consolas" panose="020B0609020204030204" pitchFamily="49" charset="0"/>
              </a:rPr>
              <a:t>BinaryEncoder</a:t>
            </a:r>
            <a:r>
              <a:rPr lang="en-US" sz="2300" i="1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enc = </a:t>
            </a:r>
            <a:r>
              <a:rPr lang="en-US" sz="2300" dirty="0" err="1">
                <a:latin typeface="Consolas" panose="020B0609020204030204" pitchFamily="49" charset="0"/>
              </a:rPr>
              <a:t>OneHotEncoder</a:t>
            </a:r>
            <a:r>
              <a:rPr lang="en-US" sz="2300" dirty="0">
                <a:latin typeface="Consolas" panose="020B0609020204030204" pitchFamily="49" charset="0"/>
              </a:rPr>
              <a:t>()</a:t>
            </a:r>
            <a:endParaRPr lang="en-US" sz="2300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enc.fit_transform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X_train</a:t>
            </a:r>
            <a:r>
              <a:rPr lang="en-US" sz="23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X_test</a:t>
            </a:r>
            <a:r>
              <a:rPr lang="en-US" sz="2300" dirty="0">
                <a:latin typeface="Consolas" panose="020B0609020204030204" pitchFamily="49" charset="0"/>
              </a:rPr>
              <a:t>)     </a:t>
            </a: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enc.inverse_transform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X_test</a:t>
            </a:r>
            <a:r>
              <a:rPr lang="en-US" sz="230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171935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DE3AC-BF5D-66CC-4338-E24FCABF9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3AE027-526F-64B6-C706-EA359C1FC4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23172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Definição: </a:t>
                </a:r>
                <a:r>
                  <a:rPr lang="pt-BR" dirty="0"/>
                  <a:t>É a transformação dos atributos originais em atributos, mais úteis e informativos. </a:t>
                </a:r>
              </a:p>
              <a:p>
                <a:r>
                  <a:rPr lang="en-US" b="1" dirty="0"/>
                  <a:t>Por que </a:t>
                </a:r>
                <a:r>
                  <a:rPr lang="en-US" b="1" dirty="0" err="1"/>
                  <a:t>fazer</a:t>
                </a:r>
                <a:r>
                  <a:rPr lang="en-US" dirty="0"/>
                  <a:t>? </a:t>
                </a:r>
                <a:r>
                  <a:rPr lang="pt-BR" dirty="0"/>
                  <a:t>Ajuda o modelo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enxergar relações que não estão óbvias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Objetivo</a:t>
                </a:r>
                <a:r>
                  <a:rPr lang="pt-BR" dirty="0"/>
                  <a:t>: </a:t>
                </a:r>
                <a:r>
                  <a:rPr lang="pt-BR" b="1" dirty="0">
                    <a:solidFill>
                      <a:srgbClr val="00B050"/>
                    </a:solidFill>
                  </a:rPr>
                  <a:t>Melhorar</a:t>
                </a:r>
                <a:r>
                  <a:rPr lang="pt-BR" dirty="0"/>
                  <a:t> a capacidade de </a:t>
                </a:r>
                <a:r>
                  <a:rPr lang="pt-BR" b="1" dirty="0">
                    <a:solidFill>
                      <a:srgbClr val="00B050"/>
                    </a:solidFill>
                  </a:rPr>
                  <a:t>predição (generalização) do modelo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Exemplos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Data de nascimento → Idade, faixa etária.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Coordenadas GPS → Distância até certo ponto.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Preço e quantidade → Valor total da venda.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i="1" dirty="0" err="1"/>
                  <a:t>Timestamp</a:t>
                </a:r>
                <a:r>
                  <a:rPr lang="pt-BR" dirty="0"/>
                  <a:t> → Hora, dia da semana, feriado?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Comprimento e largura → Área.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Atributos → Interação entre atributos: Polinômios (e.g.,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pt-BR" i="1">
                        <a:latin typeface="Cambria Math" panose="02040503050406030204" pitchFamily="18" charset="0"/>
                      </a:rPr>
                      <m:t> =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+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763AE027-526F-64B6-C706-EA359C1FC4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23172" cy="5032375"/>
              </a:xfrm>
              <a:blipFill rotWithShape="0">
                <a:blip r:embed="rId3"/>
                <a:stretch>
                  <a:fillRect l="-923" t="-1937" r="-5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74785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9595A-2BE1-288D-C430-B42FA27A3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/>
              <a:t>atributos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8B16F1-8959-5098-25C2-B111C8BE4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57857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import</a:t>
            </a:r>
            <a:r>
              <a:rPr lang="pt-BR" dirty="0">
                <a:latin typeface="Consolas" panose="020B0609020204030204" pitchFamily="49" charset="0"/>
              </a:rPr>
              <a:t> pandas as </a:t>
            </a:r>
            <a:r>
              <a:rPr lang="pt-BR" dirty="0" err="1">
                <a:latin typeface="Consolas" panose="020B0609020204030204" pitchFamily="49" charset="0"/>
              </a:rPr>
              <a:t>pd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# Exemplo de dados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pd.DataFrame</a:t>
            </a:r>
            <a:r>
              <a:rPr lang="pt-BR" dirty="0">
                <a:latin typeface="Consolas" panose="020B0609020204030204" pitchFamily="49" charset="0"/>
              </a:rPr>
              <a:t>({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</a:t>
            </a:r>
            <a:r>
              <a:rPr lang="pt-BR" dirty="0" err="1">
                <a:latin typeface="Consolas" panose="020B0609020204030204" pitchFamily="49" charset="0"/>
              </a:rPr>
              <a:t>preco</a:t>
            </a:r>
            <a:r>
              <a:rPr lang="pt-BR" dirty="0">
                <a:latin typeface="Consolas" panose="020B0609020204030204" pitchFamily="49" charset="0"/>
              </a:rPr>
              <a:t>": [10, 20, 15],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"quantidade": [2, 1, 3],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"desconto": [0, 5, 0]})</a:t>
            </a: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# Feature </a:t>
            </a:r>
            <a:r>
              <a:rPr lang="pt-BR" dirty="0" err="1">
                <a:latin typeface="Consolas" panose="020B0609020204030204" pitchFamily="49" charset="0"/>
              </a:rPr>
              <a:t>Engineering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valor_total</a:t>
            </a:r>
            <a:r>
              <a:rPr lang="pt-BR" dirty="0">
                <a:latin typeface="Consolas" panose="020B0609020204030204" pitchFamily="49" charset="0"/>
              </a:rPr>
              <a:t>"]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preco</a:t>
            </a:r>
            <a:r>
              <a:rPr lang="pt-BR" dirty="0">
                <a:latin typeface="Consolas" panose="020B0609020204030204" pitchFamily="49" charset="0"/>
              </a:rPr>
              <a:t>"] *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["quantidade"]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houve_desconto</a:t>
            </a:r>
            <a:r>
              <a:rPr lang="pt-BR" dirty="0">
                <a:latin typeface="Consolas" panose="020B0609020204030204" pitchFamily="49" charset="0"/>
              </a:rPr>
              <a:t>"] = 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["desconto"] &gt; 0).</a:t>
            </a:r>
            <a:r>
              <a:rPr lang="pt-BR" dirty="0" err="1">
                <a:latin typeface="Consolas" panose="020B0609020204030204" pitchFamily="49" charset="0"/>
              </a:rPr>
              <a:t>astype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int</a:t>
            </a:r>
            <a:r>
              <a:rPr lang="pt-BR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10998805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6D7A6-03D2-CFC6-1F7F-CDB7CAC29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EB6DEA-DC3C-E32E-8B87-E61169FB31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 lnSpcReduction="10000"/>
          </a:bodyPr>
          <a:lstStyle/>
          <a:p>
            <a:r>
              <a:rPr lang="pt-BR" b="1" dirty="0"/>
              <a:t>Definição</a:t>
            </a:r>
            <a:r>
              <a:rPr lang="pt-BR" dirty="0"/>
              <a:t>: É o processo de </a:t>
            </a:r>
            <a:r>
              <a:rPr lang="pt-BR" b="1" dirty="0">
                <a:solidFill>
                  <a:srgbClr val="00B050"/>
                </a:solidFill>
              </a:rPr>
              <a:t>transformar dados </a:t>
            </a:r>
            <a:r>
              <a:rPr lang="pt-BR" dirty="0"/>
              <a:t>em um </a:t>
            </a:r>
            <a:r>
              <a:rPr lang="pt-BR" b="1" dirty="0">
                <a:solidFill>
                  <a:srgbClr val="00B050"/>
                </a:solidFill>
              </a:rPr>
              <a:t>conjunto menor de atributos significativos</a:t>
            </a:r>
            <a:r>
              <a:rPr lang="pt-BR" dirty="0"/>
              <a:t> que podem ser </a:t>
            </a:r>
            <a:r>
              <a:rPr lang="pt-BR" b="1" dirty="0">
                <a:solidFill>
                  <a:schemeClr val="accent2"/>
                </a:solidFill>
              </a:rPr>
              <a:t>processados de forma mais eficiente</a:t>
            </a:r>
            <a:r>
              <a:rPr lang="pt-BR" dirty="0"/>
              <a:t>, </a:t>
            </a:r>
            <a:r>
              <a:rPr lang="pt-BR" b="1" dirty="0">
                <a:solidFill>
                  <a:srgbClr val="7030A0"/>
                </a:solidFill>
              </a:rPr>
              <a:t>mantendo as informações essenciais </a:t>
            </a:r>
            <a:r>
              <a:rPr lang="pt-BR" dirty="0"/>
              <a:t>(em geral, perde-se parte da informação).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Transforma os dados em uma representação mais eficiente, em geral, de menor dimensão</a:t>
            </a:r>
            <a:r>
              <a:rPr lang="pt-BR" dirty="0"/>
              <a:t>.</a:t>
            </a:r>
          </a:p>
          <a:p>
            <a:r>
              <a:rPr lang="pt-BR" b="1" dirty="0"/>
              <a:t>Por que fazer</a:t>
            </a:r>
            <a:r>
              <a:rPr lang="pt-BR" dirty="0"/>
              <a:t>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 a dimensionalidade,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Remove redundância,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 os recursos computacionais necessários para armazenamento e treinamento,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Acelera o treinamento,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Melhora o desempenho do modelo, pois os dados são mais informativos e menos ruidosos.</a:t>
            </a:r>
          </a:p>
        </p:txBody>
      </p:sp>
    </p:spTree>
    <p:extLst>
      <p:ext uri="{BB962C8B-B14F-4D97-AF65-F5344CB8AC3E}">
        <p14:creationId xmlns:p14="http://schemas.microsoft.com/office/powerpoint/2010/main" val="364018562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CEF4B4-F659-1DE7-6E62-D371CCA00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pt-BR" dirty="0"/>
              <a:t>Técnicas comuns para 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B26942-5206-022D-4BE0-7148B25012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972800" cy="5032375"/>
          </a:xfrm>
        </p:spPr>
        <p:txBody>
          <a:bodyPr>
            <a:normAutofit/>
          </a:bodyPr>
          <a:lstStyle/>
          <a:p>
            <a:r>
              <a:rPr lang="en-US" b="1" dirty="0"/>
              <a:t>Dados </a:t>
            </a:r>
            <a:r>
              <a:rPr lang="en-US" b="1" dirty="0" err="1"/>
              <a:t>tabulares</a:t>
            </a:r>
            <a:r>
              <a:rPr lang="en-US" b="1" dirty="0"/>
              <a:t>: </a:t>
            </a:r>
            <a:r>
              <a:rPr lang="pt-BR" dirty="0"/>
              <a:t>Análise de componentes principais (PCA) e análise de componentes independentes (ICA)</a:t>
            </a:r>
            <a:r>
              <a:rPr lang="en-US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Criam novos </a:t>
            </a:r>
            <a:r>
              <a:rPr lang="pt-BR" b="1" dirty="0">
                <a:solidFill>
                  <a:srgbClr val="7030A0"/>
                </a:solidFill>
              </a:rPr>
              <a:t>atributos não correlacionados </a:t>
            </a:r>
            <a:r>
              <a:rPr lang="pt-BR" dirty="0"/>
              <a:t>que </a:t>
            </a:r>
            <a:r>
              <a:rPr lang="pt-BR" b="1" dirty="0">
                <a:solidFill>
                  <a:srgbClr val="7030A0"/>
                </a:solidFill>
              </a:rPr>
              <a:t>capturam as direções de variância máxima </a:t>
            </a:r>
            <a:r>
              <a:rPr lang="pt-BR" dirty="0"/>
              <a:t>(PCA) ou</a:t>
            </a:r>
            <a:r>
              <a:rPr lang="pt-BR" b="1" dirty="0">
                <a:solidFill>
                  <a:srgbClr val="7030A0"/>
                </a:solidFill>
              </a:rPr>
              <a:t> atributos que são independentes </a:t>
            </a:r>
            <a:r>
              <a:rPr lang="pt-BR" dirty="0"/>
              <a:t>(ICA).</a:t>
            </a:r>
          </a:p>
          <a:p>
            <a:r>
              <a:rPr lang="en-US" b="1" dirty="0" err="1"/>
              <a:t>Texto</a:t>
            </a:r>
            <a:r>
              <a:rPr lang="en-US" dirty="0"/>
              <a:t>: </a:t>
            </a:r>
            <a:r>
              <a:rPr lang="pt-BR" i="1" dirty="0"/>
              <a:t>Bag </a:t>
            </a:r>
            <a:r>
              <a:rPr lang="pt-BR" i="1" dirty="0" err="1"/>
              <a:t>of</a:t>
            </a:r>
            <a:r>
              <a:rPr lang="pt-BR" i="1" dirty="0"/>
              <a:t> words </a:t>
            </a:r>
            <a:r>
              <a:rPr lang="pt-BR" dirty="0"/>
              <a:t>(</a:t>
            </a:r>
            <a:r>
              <a:rPr lang="pt-BR" dirty="0" err="1"/>
              <a:t>BoW</a:t>
            </a:r>
            <a:r>
              <a:rPr lang="pt-BR" dirty="0"/>
              <a:t>), </a:t>
            </a:r>
            <a:r>
              <a:rPr lang="pt-BR" i="1" dirty="0" err="1"/>
              <a:t>Term</a:t>
            </a:r>
            <a:r>
              <a:rPr lang="pt-BR" i="1" dirty="0"/>
              <a:t> Frequency-</a:t>
            </a:r>
            <a:r>
              <a:rPr lang="pt-BR" i="1" dirty="0" err="1"/>
              <a:t>Inverse</a:t>
            </a:r>
            <a:r>
              <a:rPr lang="pt-BR" i="1" dirty="0"/>
              <a:t> </a:t>
            </a:r>
            <a:r>
              <a:rPr lang="pt-BR" i="1" dirty="0" err="1"/>
              <a:t>Document</a:t>
            </a:r>
            <a:r>
              <a:rPr lang="pt-BR" i="1" dirty="0"/>
              <a:t> Frequency</a:t>
            </a:r>
            <a:r>
              <a:rPr lang="pt-BR" dirty="0"/>
              <a:t> (TF-IDF), </a:t>
            </a:r>
            <a:r>
              <a:rPr lang="pt-BR" i="1" dirty="0"/>
              <a:t>Word </a:t>
            </a:r>
            <a:r>
              <a:rPr lang="pt-BR" i="1" dirty="0" err="1"/>
              <a:t>Embeddings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B050"/>
                </a:solidFill>
              </a:rPr>
              <a:t>Transformam texto em representações numéricas </a:t>
            </a:r>
            <a:r>
              <a:rPr lang="pt-BR" dirty="0"/>
              <a:t>(modelos de ML entendem números), variando da </a:t>
            </a:r>
            <a:r>
              <a:rPr lang="pt-BR" b="1" dirty="0">
                <a:solidFill>
                  <a:srgbClr val="00B050"/>
                </a:solidFill>
              </a:rPr>
              <a:t>frequência de palavras </a:t>
            </a:r>
            <a:r>
              <a:rPr lang="pt-BR" dirty="0"/>
              <a:t>até </a:t>
            </a:r>
            <a:r>
              <a:rPr lang="pt-BR" b="1" dirty="0">
                <a:solidFill>
                  <a:srgbClr val="00B050"/>
                </a:solidFill>
              </a:rPr>
              <a:t>vetores que capturam significado e contexto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3404861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A50CC-E4E4-866D-D5C7-E4222B31A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8C7CA-8174-8A0F-0146-60743B663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pt-BR" dirty="0"/>
              <a:t>Técnicas comuns para 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49F228-6F7A-6925-AA1A-83CC98A35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81657" cy="5032375"/>
          </a:xfrm>
        </p:spPr>
        <p:txBody>
          <a:bodyPr>
            <a:normAutofit/>
          </a:bodyPr>
          <a:lstStyle/>
          <a:p>
            <a:r>
              <a:rPr lang="en-US" b="1" dirty="0" err="1"/>
              <a:t>Imagem</a:t>
            </a:r>
            <a:r>
              <a:rPr lang="en-US" dirty="0"/>
              <a:t>: </a:t>
            </a:r>
            <a:r>
              <a:rPr lang="en-US" i="1" dirty="0"/>
              <a:t>Histogram of Oriented Gradients</a:t>
            </a:r>
            <a:r>
              <a:rPr lang="en-US" dirty="0"/>
              <a:t> (HOG), </a:t>
            </a:r>
            <a:r>
              <a:rPr lang="en-US" i="1" dirty="0"/>
              <a:t>Scale-Invariant Feature Transform</a:t>
            </a:r>
            <a:r>
              <a:rPr lang="en-US" dirty="0"/>
              <a:t> (SIFT), </a:t>
            </a:r>
            <a:r>
              <a:rPr lang="en-US" i="1" dirty="0"/>
              <a:t>Convolutional Neural Network</a:t>
            </a:r>
            <a:r>
              <a:rPr lang="en-US" dirty="0"/>
              <a:t> (CNN).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chemeClr val="accent2"/>
                </a:solidFill>
              </a:rPr>
              <a:t>Transformam </a:t>
            </a:r>
            <a:r>
              <a:rPr lang="pt-BR" b="1" i="1" dirty="0">
                <a:solidFill>
                  <a:schemeClr val="accent2"/>
                </a:solidFill>
              </a:rPr>
              <a:t>pixels</a:t>
            </a:r>
            <a:r>
              <a:rPr lang="pt-BR" b="1" dirty="0">
                <a:solidFill>
                  <a:schemeClr val="accent2"/>
                </a:solidFill>
              </a:rPr>
              <a:t> em representações numéricas que capturam padrões visuais</a:t>
            </a:r>
            <a:r>
              <a:rPr lang="pt-BR" dirty="0"/>
              <a:t>, como bordas, texturas, cores e estruturas semânticas, para facilitar o aprendizado dos modelos.</a:t>
            </a:r>
          </a:p>
          <a:p>
            <a:r>
              <a:rPr lang="pt-BR" b="1" dirty="0"/>
              <a:t>Séries temporais (áudio)</a:t>
            </a:r>
            <a:r>
              <a:rPr lang="pt-BR" dirty="0"/>
              <a:t>: </a:t>
            </a:r>
            <a:r>
              <a:rPr lang="en-US" i="1" dirty="0"/>
              <a:t>Mel-frequency cepstral coefficients</a:t>
            </a:r>
            <a:r>
              <a:rPr lang="en-US" dirty="0"/>
              <a:t> (MFCCs), </a:t>
            </a:r>
            <a:r>
              <a:rPr lang="en-US" dirty="0" err="1"/>
              <a:t>Transformada</a:t>
            </a:r>
            <a:r>
              <a:rPr lang="en-US" dirty="0"/>
              <a:t> </a:t>
            </a:r>
            <a:r>
              <a:rPr lang="en-US" dirty="0" err="1"/>
              <a:t>rápida</a:t>
            </a:r>
            <a:r>
              <a:rPr lang="en-US" dirty="0"/>
              <a:t> de Fourier (FFT), </a:t>
            </a:r>
            <a:r>
              <a:rPr lang="en-US" dirty="0" err="1"/>
              <a:t>Espectogramas</a:t>
            </a:r>
            <a:r>
              <a:rPr lang="en-US" dirty="0"/>
              <a:t>, </a:t>
            </a:r>
            <a:r>
              <a:rPr lang="en-US" dirty="0" err="1"/>
              <a:t>Transformada</a:t>
            </a:r>
            <a:r>
              <a:rPr lang="en-US" dirty="0"/>
              <a:t> de </a:t>
            </a:r>
            <a:r>
              <a:rPr lang="en-US" i="1" dirty="0"/>
              <a:t>Wavelet</a:t>
            </a:r>
            <a:r>
              <a:rPr lang="en-US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Transformam os sinais em </a:t>
            </a:r>
            <a:r>
              <a:rPr lang="pt-BR" b="1" dirty="0">
                <a:solidFill>
                  <a:srgbClr val="00B050"/>
                </a:solidFill>
              </a:rPr>
              <a:t>características que capturam propriedades espectrais ou de tempo-frequência</a:t>
            </a:r>
            <a:r>
              <a:rPr lang="pt-BR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607587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246D2-1EAD-7218-711B-2937C4B7B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Uma garrafa de vinho com forte sombra - Foto de stock de Garrafa de Vinho - Garrafa royalty-free">
            <a:extLst>
              <a:ext uri="{FF2B5EF4-FFF2-40B4-BE49-F238E27FC236}">
                <a16:creationId xmlns:a16="http://schemas.microsoft.com/office/drawing/2014/main" id="{F9318A64-59F1-5972-C02D-9238A2EE2F4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826" t="10008" r="11161" b="20216"/>
          <a:stretch>
            <a:fillRect/>
          </a:stretch>
        </p:blipFill>
        <p:spPr bwMode="auto">
          <a:xfrm>
            <a:off x="2291442" y="941613"/>
            <a:ext cx="7609115" cy="45393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4A67754-AECE-E9E2-F60A-39D9E47534ED}"/>
              </a:ext>
            </a:extLst>
          </p:cNvPr>
          <p:cNvSpPr txBox="1"/>
          <p:nvPr/>
        </p:nvSpPr>
        <p:spPr>
          <a:xfrm>
            <a:off x="0" y="5780782"/>
            <a:ext cx="121920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b="0" i="0" dirty="0">
                <a:effectLst/>
              </a:rPr>
              <a:t>O PCA projeta dados de alta dimensão em um espaço de menor dimensão.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72791420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A5E37-BFF0-D601-7CAC-F57F89EAD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AD06C3-5EDF-4BF5-C344-E650C60EE3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6096001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PCA encontra as </a:t>
            </a:r>
            <a:r>
              <a:rPr lang="pt-BR" b="1" dirty="0"/>
              <a:t>direções </a:t>
            </a:r>
            <a:r>
              <a:rPr lang="pt-BR" dirty="0"/>
              <a:t>(</a:t>
            </a:r>
            <a:r>
              <a:rPr lang="pt-BR" b="1" dirty="0">
                <a:solidFill>
                  <a:schemeClr val="accent2"/>
                </a:solidFill>
              </a:rPr>
              <a:t>componentes principais</a:t>
            </a:r>
            <a:r>
              <a:rPr lang="pt-BR" dirty="0"/>
              <a:t>) </a:t>
            </a:r>
            <a:r>
              <a:rPr lang="pt-BR" b="1" dirty="0"/>
              <a:t>onde os dados mais variam</a:t>
            </a:r>
            <a:r>
              <a:rPr lang="pt-BR" dirty="0"/>
              <a:t> e </a:t>
            </a:r>
            <a:r>
              <a:rPr lang="pt-BR" b="1" dirty="0">
                <a:solidFill>
                  <a:schemeClr val="accent1"/>
                </a:solidFill>
              </a:rPr>
              <a:t>projeta</a:t>
            </a:r>
            <a:r>
              <a:rPr lang="pt-BR" dirty="0"/>
              <a:t> os dados nessas direções.</a:t>
            </a:r>
          </a:p>
          <a:p>
            <a:r>
              <a:rPr lang="pt-BR" dirty="0"/>
              <a:t>Ele encontra as </a:t>
            </a:r>
            <a:r>
              <a:rPr lang="pt-BR" b="1" dirty="0">
                <a:solidFill>
                  <a:srgbClr val="00B050"/>
                </a:solidFill>
              </a:rPr>
              <a:t>direções que descrevem como os dados estão espalhados </a:t>
            </a:r>
            <a:r>
              <a:rPr lang="pt-BR" dirty="0"/>
              <a:t>(i.e., máxima variância).</a:t>
            </a:r>
          </a:p>
          <a:p>
            <a:r>
              <a:rPr lang="pt-BR" dirty="0"/>
              <a:t>O objetivo é </a:t>
            </a:r>
            <a:r>
              <a:rPr lang="pt-BR" b="1" dirty="0">
                <a:solidFill>
                  <a:srgbClr val="7030A0"/>
                </a:solidFill>
              </a:rPr>
              <a:t>reduzir a dimensionalidade</a:t>
            </a:r>
            <a:r>
              <a:rPr lang="pt-BR" dirty="0"/>
              <a:t> com </a:t>
            </a:r>
            <a:r>
              <a:rPr lang="pt-BR" b="1" dirty="0">
                <a:solidFill>
                  <a:srgbClr val="7030A0"/>
                </a:solidFill>
              </a:rPr>
              <a:t>mínima perda de informação</a:t>
            </a:r>
            <a:r>
              <a:rPr lang="pt-BR" dirty="0"/>
              <a:t>.</a:t>
            </a:r>
          </a:p>
          <a:p>
            <a:r>
              <a:rPr lang="pt-BR" dirty="0"/>
              <a:t>Aplicado através de </a:t>
            </a:r>
            <a:r>
              <a:rPr lang="pt-BR" b="1" dirty="0">
                <a:solidFill>
                  <a:schemeClr val="accent6"/>
                </a:solidFill>
              </a:rPr>
              <a:t>transformação matricial</a:t>
            </a:r>
            <a:r>
              <a:rPr lang="pt-BR" dirty="0"/>
              <a:t>.</a:t>
            </a:r>
          </a:p>
        </p:txBody>
      </p:sp>
      <p:pic>
        <p:nvPicPr>
          <p:cNvPr id="1026" name="Picture 2" descr="How PCA simplifies dimensionality reduction for data science | Parviz  Jabrayilli posted on the topic | LinkedIn">
            <a:extLst>
              <a:ext uri="{FF2B5EF4-FFF2-40B4-BE49-F238E27FC236}">
                <a16:creationId xmlns:a16="http://schemas.microsoft.com/office/drawing/2014/main" id="{95832D94-6CA3-74CA-953F-81502243BAF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29387" r="4428" b="8776"/>
          <a:stretch>
            <a:fillRect/>
          </a:stretch>
        </p:blipFill>
        <p:spPr bwMode="auto">
          <a:xfrm>
            <a:off x="157248" y="2612571"/>
            <a:ext cx="5853780" cy="2797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683463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BD960-B60C-7D80-DEBE-951EAB97B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D1ACB-37E4-1262-7CA1-257836C87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563BA-A520-CEA6-4C95-B4E96386BB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97486" y="1825624"/>
            <a:ext cx="5018314" cy="5032375"/>
          </a:xfrm>
        </p:spPr>
        <p:txBody>
          <a:bodyPr>
            <a:normAutofit/>
          </a:bodyPr>
          <a:lstStyle/>
          <a:p>
            <a:r>
              <a:rPr lang="pt-BR" dirty="0"/>
              <a:t>Na figura, </a:t>
            </a:r>
            <a:r>
              <a:rPr lang="pt-BR" b="1" dirty="0">
                <a:solidFill>
                  <a:schemeClr val="accent1"/>
                </a:solidFill>
              </a:rPr>
              <a:t>PC1</a:t>
            </a:r>
            <a:r>
              <a:rPr lang="pt-BR" dirty="0"/>
              <a:t> é a direção onde os </a:t>
            </a:r>
            <a:r>
              <a:rPr lang="pt-BR" b="1" dirty="0">
                <a:solidFill>
                  <a:schemeClr val="accent1"/>
                </a:solidFill>
              </a:rPr>
              <a:t>dados variam mais</a:t>
            </a:r>
            <a:r>
              <a:rPr lang="pt-BR" dirty="0"/>
              <a:t>.</a:t>
            </a:r>
          </a:p>
          <a:p>
            <a:r>
              <a:rPr lang="pt-BR" dirty="0"/>
              <a:t>Já </a:t>
            </a:r>
            <a:r>
              <a:rPr lang="pt-BR" b="1" dirty="0">
                <a:solidFill>
                  <a:schemeClr val="accent1"/>
                </a:solidFill>
              </a:rPr>
              <a:t>PC2</a:t>
            </a:r>
            <a:r>
              <a:rPr lang="pt-BR" dirty="0"/>
              <a:t> é a direção </a:t>
            </a:r>
            <a:r>
              <a:rPr lang="pt-BR" b="1" dirty="0">
                <a:solidFill>
                  <a:srgbClr val="7030A0"/>
                </a:solidFill>
              </a:rPr>
              <a:t>ortogonal</a:t>
            </a:r>
            <a:r>
              <a:rPr lang="pt-BR" dirty="0"/>
              <a:t> à PC1 com a </a:t>
            </a:r>
            <a:r>
              <a:rPr lang="pt-BR" b="1" dirty="0">
                <a:solidFill>
                  <a:schemeClr val="accent1"/>
                </a:solidFill>
              </a:rPr>
              <a:t>segunda maior variância</a:t>
            </a:r>
            <a:r>
              <a:rPr lang="pt-BR" dirty="0"/>
              <a:t>.</a:t>
            </a:r>
          </a:p>
          <a:p>
            <a:r>
              <a:rPr lang="pt-BR" dirty="0"/>
              <a:t>Mantendo </a:t>
            </a:r>
            <a:r>
              <a:rPr lang="pt-BR" b="1" dirty="0">
                <a:solidFill>
                  <a:srgbClr val="00B050"/>
                </a:solidFill>
              </a:rPr>
              <a:t>PC1</a:t>
            </a:r>
            <a:r>
              <a:rPr lang="pt-BR" dirty="0"/>
              <a:t>, </a:t>
            </a:r>
            <a:r>
              <a:rPr lang="pt-BR" b="1" dirty="0">
                <a:solidFill>
                  <a:srgbClr val="00B050"/>
                </a:solidFill>
              </a:rPr>
              <a:t>preserva-se a maior parte da informação</a:t>
            </a:r>
            <a:r>
              <a:rPr lang="pt-BR" dirty="0"/>
              <a:t>.</a:t>
            </a:r>
          </a:p>
          <a:p>
            <a:r>
              <a:rPr lang="pt-BR" dirty="0"/>
              <a:t>PC2 representa variação residual (menor importância).</a:t>
            </a:r>
          </a:p>
          <a:p>
            <a:endParaRPr lang="pt-BR" dirty="0"/>
          </a:p>
          <a:p>
            <a:endParaRPr lang="en-US" dirty="0"/>
          </a:p>
        </p:txBody>
      </p:sp>
      <p:pic>
        <p:nvPicPr>
          <p:cNvPr id="1026" name="Picture 2" descr="How PCA simplifies dimensionality reduction for data science | Parviz  Jabrayilli posted on the topic | LinkedIn">
            <a:extLst>
              <a:ext uri="{FF2B5EF4-FFF2-40B4-BE49-F238E27FC236}">
                <a16:creationId xmlns:a16="http://schemas.microsoft.com/office/drawing/2014/main" id="{2042F2C9-8E5E-6B1C-CA29-BEF6D914A6A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29387" r="4428" b="8776"/>
          <a:stretch>
            <a:fillRect/>
          </a:stretch>
        </p:blipFill>
        <p:spPr bwMode="auto">
          <a:xfrm>
            <a:off x="108856" y="2370591"/>
            <a:ext cx="6792878" cy="32464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3270325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31546-F5F9-DFE0-8083-062569901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E97D0-8FC3-8364-395F-A8F74B389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92F978-6C6D-84DF-EA37-4EBED96DE3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66714" cy="5032375"/>
          </a:xfrm>
        </p:spPr>
        <p:txBody>
          <a:bodyPr>
            <a:normAutofit/>
          </a:bodyPr>
          <a:lstStyle/>
          <a:p>
            <a:r>
              <a:rPr lang="pt-BR" dirty="0"/>
              <a:t>As PCs são ordenadas por variância.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matriz de </a:t>
            </a:r>
            <a:r>
              <a:rPr lang="pt-BR" b="1" dirty="0"/>
              <a:t>projeção</a:t>
            </a:r>
            <a:r>
              <a:rPr lang="pt-BR" dirty="0"/>
              <a:t> é ordenada da </a:t>
            </a:r>
            <a:r>
              <a:rPr lang="pt-BR" b="1" dirty="0">
                <a:solidFill>
                  <a:schemeClr val="accent6"/>
                </a:solidFill>
              </a:rPr>
              <a:t>componente de maior variância para a menor</a:t>
            </a:r>
            <a:r>
              <a:rPr lang="pt-BR" dirty="0"/>
              <a:t>.</a:t>
            </a:r>
          </a:p>
          <a:p>
            <a:r>
              <a:rPr lang="pt-BR" dirty="0"/>
              <a:t>O PCA </a:t>
            </a:r>
            <a:r>
              <a:rPr lang="pt-BR" b="1" dirty="0"/>
              <a:t>assume </a:t>
            </a:r>
            <a:r>
              <a:rPr lang="pt-BR" b="1" dirty="0">
                <a:solidFill>
                  <a:schemeClr val="accent1"/>
                </a:solidFill>
              </a:rPr>
              <a:t>relações lineares entre os atributos </a:t>
            </a:r>
            <a:r>
              <a:rPr lang="pt-BR" dirty="0"/>
              <a:t>(traça linhas retas para capturar as variâncias).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os dados </a:t>
            </a:r>
            <a:r>
              <a:rPr lang="pt-BR" b="1" dirty="0">
                <a:solidFill>
                  <a:srgbClr val="7030A0"/>
                </a:solidFill>
              </a:rPr>
              <a:t>não são lineares</a:t>
            </a:r>
            <a:r>
              <a:rPr lang="pt-BR" dirty="0"/>
              <a:t> (como uma senoide, meia lua ou um círculo), o </a:t>
            </a:r>
            <a:r>
              <a:rPr lang="pt-BR" b="1" dirty="0">
                <a:solidFill>
                  <a:srgbClr val="7030A0"/>
                </a:solidFill>
              </a:rPr>
              <a:t>PCA vai ter um desempenho bem ruim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Nestes casos, deve-se usar técnicas não lineares como </a:t>
            </a:r>
            <a:r>
              <a:rPr lang="en-US" dirty="0"/>
              <a:t>Kernel PCA e t-SNE.</a:t>
            </a:r>
            <a:endParaRPr lang="pt-BR" dirty="0"/>
          </a:p>
          <a:p>
            <a:r>
              <a:rPr lang="pt-BR" dirty="0"/>
              <a:t>Deve ser </a:t>
            </a:r>
            <a:r>
              <a:rPr lang="pt-BR" b="1" dirty="0">
                <a:solidFill>
                  <a:schemeClr val="accent6"/>
                </a:solidFill>
              </a:rPr>
              <a:t>aplicado após a separação do dados</a:t>
            </a:r>
            <a:r>
              <a:rPr lang="pt-BR" dirty="0"/>
              <a:t> em conjuntos de treinamento, validação e teste para evitar vazamento de dados.</a:t>
            </a:r>
          </a:p>
          <a:p>
            <a:r>
              <a:rPr lang="pt-BR" dirty="0"/>
              <a:t>Os </a:t>
            </a:r>
            <a:r>
              <a:rPr lang="pt-BR" b="1" dirty="0">
                <a:solidFill>
                  <a:schemeClr val="accent2"/>
                </a:solidFill>
              </a:rPr>
              <a:t>dados devem ser padronizados </a:t>
            </a:r>
            <a:r>
              <a:rPr lang="pt-BR" dirty="0"/>
              <a:t>antes de sua aplicação.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Sem padronização, </a:t>
            </a:r>
            <a:r>
              <a:rPr lang="pt-BR" b="1" dirty="0">
                <a:solidFill>
                  <a:srgbClr val="00B050"/>
                </a:solidFill>
              </a:rPr>
              <a:t>atributos com maior escala dominam</a:t>
            </a:r>
            <a:r>
              <a:rPr lang="pt-BR" dirty="0"/>
              <a:t> as componentes principais.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2714582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F3F2D-3BEE-7F15-4F99-AF9C21DAB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Análise de componentes principais (PCA)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2C856-EB66-8FEA-48EB-605CA54FC1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57857" cy="5032375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sklearn.decomposition</a:t>
            </a:r>
            <a:r>
              <a:rPr lang="en-US" dirty="0">
                <a:latin typeface="Consolas" panose="020B0609020204030204" pitchFamily="49" charset="0"/>
              </a:rPr>
              <a:t> import PCA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Padronizar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os</a:t>
            </a:r>
            <a:r>
              <a:rPr lang="en-US" i="1" dirty="0">
                <a:latin typeface="Consolas" panose="020B0609020204030204" pitchFamily="49" charset="0"/>
              </a:rPr>
              <a:t> dados antes do PCA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X_train_scaled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r>
              <a:rPr lang="en-US" dirty="0">
                <a:latin typeface="Consolas" panose="020B0609020204030204" pitchFamily="49" charset="0"/>
              </a:rPr>
              <a:t>().</a:t>
            </a:r>
            <a:r>
              <a:rPr lang="en-US" dirty="0" err="1">
                <a:latin typeface="Consolas" panose="020B0609020204030204" pitchFamily="49" charset="0"/>
              </a:rPr>
              <a:t>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r>
              <a:rPr lang="en-US" dirty="0">
                <a:latin typeface="Consolas" panose="020B0609020204030204" pitchFamily="49" charset="0"/>
              </a:rPr>
              <a:t>().transform(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Extrair</a:t>
            </a:r>
            <a:r>
              <a:rPr lang="en-US" i="1" dirty="0">
                <a:latin typeface="Consolas" panose="020B0609020204030204" pitchFamily="49" charset="0"/>
              </a:rPr>
              <a:t> 2 </a:t>
            </a:r>
            <a:r>
              <a:rPr lang="en-US" i="1" dirty="0" err="1">
                <a:latin typeface="Consolas" panose="020B0609020204030204" pitchFamily="49" charset="0"/>
              </a:rPr>
              <a:t>componentes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pca</a:t>
            </a:r>
            <a:r>
              <a:rPr lang="en-US" dirty="0">
                <a:latin typeface="Consolas" panose="020B0609020204030204" pitchFamily="49" charset="0"/>
              </a:rPr>
              <a:t> = PCA(</a:t>
            </a:r>
            <a:r>
              <a:rPr lang="en-US" dirty="0" err="1">
                <a:latin typeface="Consolas" panose="020B0609020204030204" pitchFamily="49" charset="0"/>
              </a:rPr>
              <a:t>n_components</a:t>
            </a:r>
            <a:r>
              <a:rPr lang="en-US" dirty="0">
                <a:latin typeface="Consolas" panose="020B0609020204030204" pitchFamily="49" charset="0"/>
              </a:rPr>
              <a:t>=2)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X_train_pca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pca.fit_transform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X_train_scaled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X_test_pca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pca.transform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print(</a:t>
            </a:r>
            <a:r>
              <a:rPr lang="en-US" dirty="0" err="1">
                <a:latin typeface="Consolas" panose="020B0609020204030204" pitchFamily="49" charset="0"/>
              </a:rPr>
              <a:t>pca.explained_variance_ratio</a:t>
            </a:r>
            <a:r>
              <a:rPr lang="en-US" dirty="0">
                <a:latin typeface="Consolas" panose="020B0609020204030204" pitchFamily="49" charset="0"/>
              </a:rPr>
              <a:t>_)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8214E1-81F4-96EA-7AE9-0BB856B13E0B}"/>
              </a:ext>
            </a:extLst>
          </p:cNvPr>
          <p:cNvSpPr txBox="1"/>
          <p:nvPr/>
        </p:nvSpPr>
        <p:spPr>
          <a:xfrm>
            <a:off x="8784771" y="4341811"/>
            <a:ext cx="286294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OBS</a:t>
            </a:r>
            <a:r>
              <a:rPr lang="en-US" dirty="0"/>
              <a:t>.: “</a:t>
            </a:r>
            <a:r>
              <a:rPr lang="en-US" dirty="0" err="1"/>
              <a:t>n_components</a:t>
            </a:r>
            <a:r>
              <a:rPr lang="en-US" dirty="0"/>
              <a:t>” </a:t>
            </a:r>
            <a:r>
              <a:rPr lang="en-US" dirty="0" err="1"/>
              <a:t>pode</a:t>
            </a:r>
            <a:r>
              <a:rPr lang="en-US" dirty="0"/>
              <a:t> ser </a:t>
            </a:r>
            <a:r>
              <a:rPr lang="en-US" dirty="0" err="1"/>
              <a:t>também</a:t>
            </a:r>
            <a:r>
              <a:rPr lang="en-US" dirty="0"/>
              <a:t> um </a:t>
            </a:r>
            <a:r>
              <a:rPr lang="en-US" dirty="0" err="1"/>
              <a:t>número</a:t>
            </a:r>
            <a:r>
              <a:rPr lang="en-US" dirty="0"/>
              <a:t> entre 0 e 1 </a:t>
            </a:r>
            <a:r>
              <a:rPr lang="en-US" dirty="0" err="1"/>
              <a:t>especificando</a:t>
            </a:r>
            <a:r>
              <a:rPr lang="en-US" dirty="0"/>
              <a:t> o </a:t>
            </a:r>
            <a:r>
              <a:rPr lang="en-US" dirty="0" err="1"/>
              <a:t>mínimo</a:t>
            </a:r>
            <a:r>
              <a:rPr lang="en-US" dirty="0"/>
              <a:t> de </a:t>
            </a:r>
            <a:r>
              <a:rPr lang="en-US" dirty="0" err="1"/>
              <a:t>variância</a:t>
            </a:r>
            <a:r>
              <a:rPr lang="en-US" dirty="0"/>
              <a:t> </a:t>
            </a:r>
            <a:r>
              <a:rPr lang="en-US" dirty="0" err="1"/>
              <a:t>explicada</a:t>
            </a:r>
            <a:r>
              <a:rPr lang="en-US" dirty="0"/>
              <a:t> </a:t>
            </a:r>
            <a:r>
              <a:rPr lang="en-US" dirty="0" err="1"/>
              <a:t>desejada</a:t>
            </a:r>
            <a:r>
              <a:rPr lang="en-US" dirty="0"/>
              <a:t>. 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Se </a:t>
            </a:r>
            <a:r>
              <a:rPr lang="en-US" dirty="0" err="1"/>
              <a:t>não</a:t>
            </a:r>
            <a:r>
              <a:rPr lang="en-US" dirty="0"/>
              <a:t> for </a:t>
            </a:r>
            <a:r>
              <a:rPr lang="en-US" dirty="0" err="1"/>
              <a:t>definido</a:t>
            </a:r>
            <a:r>
              <a:rPr lang="en-US" dirty="0"/>
              <a:t>, </a:t>
            </a:r>
            <a:r>
              <a:rPr lang="en-US" dirty="0" err="1"/>
              <a:t>todas</a:t>
            </a:r>
            <a:r>
              <a:rPr lang="en-US" dirty="0"/>
              <a:t> as components </a:t>
            </a:r>
            <a:r>
              <a:rPr lang="en-US" dirty="0" err="1"/>
              <a:t>são</a:t>
            </a:r>
            <a:r>
              <a:rPr lang="en-US" dirty="0"/>
              <a:t> </a:t>
            </a:r>
            <a:r>
              <a:rPr lang="en-US" dirty="0" err="1"/>
              <a:t>usadas</a:t>
            </a:r>
            <a:r>
              <a:rPr lang="en-US" dirty="0"/>
              <a:t>.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471AF8A-303A-1F0A-B73F-224FDADDE806}"/>
              </a:ext>
            </a:extLst>
          </p:cNvPr>
          <p:cNvCxnSpPr/>
          <p:nvPr/>
        </p:nvCxnSpPr>
        <p:spPr>
          <a:xfrm flipH="1">
            <a:off x="5037513" y="4506686"/>
            <a:ext cx="3823459" cy="5142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70803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B9AE6D-1C0A-9901-3435-DE81DB262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2D9C9-C956-E042-6573-9416468589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46971" cy="5032375"/>
          </a:xfrm>
        </p:spPr>
        <p:txBody>
          <a:bodyPr>
            <a:normAutofit/>
          </a:bodyPr>
          <a:lstStyle/>
          <a:p>
            <a:r>
              <a:rPr lang="pt-BR" b="1" dirty="0"/>
              <a:t>Definição</a:t>
            </a:r>
            <a:r>
              <a:rPr lang="pt-BR" dirty="0"/>
              <a:t>: É o processo de </a:t>
            </a:r>
            <a:r>
              <a:rPr lang="pt-BR" b="1" dirty="0">
                <a:solidFill>
                  <a:srgbClr val="00B050"/>
                </a:solidFill>
              </a:rPr>
              <a:t>selecionar um subconjunto de atributos </a:t>
            </a:r>
            <a:r>
              <a:rPr lang="pt-BR" dirty="0"/>
              <a:t>que contribuem para a </a:t>
            </a:r>
            <a:r>
              <a:rPr lang="pt-BR" b="1" dirty="0">
                <a:solidFill>
                  <a:srgbClr val="00B050"/>
                </a:solidFill>
              </a:rPr>
              <a:t>melhoria do desempenho do modelo</a:t>
            </a:r>
            <a:r>
              <a:rPr lang="pt-BR" dirty="0"/>
              <a:t>.</a:t>
            </a:r>
          </a:p>
          <a:p>
            <a:r>
              <a:rPr lang="pt-BR" dirty="0"/>
              <a:t>Por que usar?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Reduz </a:t>
            </a:r>
            <a:r>
              <a:rPr lang="pt-BR" b="1" i="1" dirty="0" err="1"/>
              <a:t>overfitting</a:t>
            </a:r>
            <a:r>
              <a:rPr lang="pt-BR" i="1" dirty="0"/>
              <a:t>: </a:t>
            </a:r>
            <a:r>
              <a:rPr lang="pt-BR" b="1" dirty="0">
                <a:solidFill>
                  <a:schemeClr val="accent2"/>
                </a:solidFill>
              </a:rPr>
              <a:t>Modelos mais simples </a:t>
            </a:r>
            <a:r>
              <a:rPr lang="pt-BR" dirty="0"/>
              <a:t>com menos atributos tendem a </a:t>
            </a:r>
            <a:r>
              <a:rPr lang="pt-BR" b="1" dirty="0">
                <a:solidFill>
                  <a:schemeClr val="accent2"/>
                </a:solidFill>
              </a:rPr>
              <a:t>generalizar melhor </a:t>
            </a:r>
            <a:r>
              <a:rPr lang="pt-BR" dirty="0"/>
              <a:t>para novos dados.</a:t>
            </a:r>
            <a:endParaRPr lang="pt-BR" i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Reduz custo computacional</a:t>
            </a:r>
            <a:r>
              <a:rPr lang="pt-BR" dirty="0"/>
              <a:t>: </a:t>
            </a:r>
            <a:r>
              <a:rPr lang="pt-BR" b="1" dirty="0">
                <a:solidFill>
                  <a:schemeClr val="accent2"/>
                </a:solidFill>
              </a:rPr>
              <a:t>Menos dados </a:t>
            </a:r>
            <a:r>
              <a:rPr lang="pt-BR" dirty="0"/>
              <a:t>significam </a:t>
            </a:r>
            <a:r>
              <a:rPr lang="pt-BR" b="1" dirty="0">
                <a:solidFill>
                  <a:schemeClr val="accent2"/>
                </a:solidFill>
              </a:rPr>
              <a:t>algoritmos</a:t>
            </a:r>
            <a:r>
              <a:rPr lang="pt-BR" dirty="0"/>
              <a:t> que processam </a:t>
            </a:r>
            <a:r>
              <a:rPr lang="pt-BR" b="1" dirty="0">
                <a:solidFill>
                  <a:schemeClr val="accent2"/>
                </a:solidFill>
              </a:rPr>
              <a:t>mais rápido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Facilita interpretação</a:t>
            </a:r>
            <a:r>
              <a:rPr lang="pt-BR" dirty="0"/>
              <a:t>: É mais </a:t>
            </a:r>
            <a:r>
              <a:rPr lang="pt-BR" b="1" dirty="0">
                <a:solidFill>
                  <a:schemeClr val="accent2"/>
                </a:solidFill>
              </a:rPr>
              <a:t>fácil explicar </a:t>
            </a:r>
            <a:r>
              <a:rPr lang="pt-BR" dirty="0"/>
              <a:t>um modelo que utiliza 5 variáveis do que um que utiliza 500.</a:t>
            </a:r>
          </a:p>
        </p:txBody>
      </p:sp>
    </p:spTree>
    <p:extLst>
      <p:ext uri="{BB962C8B-B14F-4D97-AF65-F5344CB8AC3E}">
        <p14:creationId xmlns:p14="http://schemas.microsoft.com/office/powerpoint/2010/main" val="424559009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58860-65D7-D491-9562-1DB8A3BE6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7A552-B57A-0603-BA2B-092430CA2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7398A6-8EF0-205A-E092-0E8C53D1A2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46972" cy="5032375"/>
          </a:xfrm>
        </p:spPr>
        <p:txBody>
          <a:bodyPr>
            <a:normAutofit/>
          </a:bodyPr>
          <a:lstStyle/>
          <a:p>
            <a:r>
              <a:rPr lang="pt-BR" dirty="0"/>
              <a:t>Existem três tipos principais de técnicas de seleção de atributos: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Filtragem</a:t>
            </a:r>
            <a:r>
              <a:rPr lang="pt-BR" dirty="0"/>
              <a:t>: Baseados em </a:t>
            </a:r>
            <a:r>
              <a:rPr lang="pt-BR" b="1" dirty="0">
                <a:solidFill>
                  <a:srgbClr val="7030A0"/>
                </a:solidFill>
              </a:rPr>
              <a:t>medidas estatísticas dos dados</a:t>
            </a:r>
            <a:r>
              <a:rPr lang="pt-BR" dirty="0"/>
              <a:t>, como a correlação.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/>
              <a:t>Exemplos</a:t>
            </a:r>
            <a:r>
              <a:rPr lang="pt-BR" dirty="0"/>
              <a:t>: Correlação de Pearson/</a:t>
            </a:r>
            <a:r>
              <a:rPr lang="pt-BR" dirty="0" err="1"/>
              <a:t>Spearman</a:t>
            </a:r>
            <a:r>
              <a:rPr lang="en-US" dirty="0"/>
              <a:t>, Teste qui-</a:t>
            </a:r>
            <a:r>
              <a:rPr lang="en-US" dirty="0" err="1"/>
              <a:t>quadrado</a:t>
            </a:r>
            <a:r>
              <a:rPr lang="en-US" dirty="0"/>
              <a:t>, </a:t>
            </a:r>
            <a:r>
              <a:rPr lang="en-US" dirty="0" err="1"/>
              <a:t>limiar</a:t>
            </a:r>
            <a:r>
              <a:rPr lang="en-US" dirty="0"/>
              <a:t> de </a:t>
            </a:r>
            <a:r>
              <a:rPr lang="en-US" dirty="0" err="1"/>
              <a:t>variância</a:t>
            </a:r>
            <a:r>
              <a:rPr lang="en-US" dirty="0"/>
              <a:t>, </a:t>
            </a:r>
            <a:r>
              <a:rPr lang="en-US" dirty="0" err="1"/>
              <a:t>ganho</a:t>
            </a:r>
            <a:r>
              <a:rPr lang="en-US" dirty="0"/>
              <a:t> de </a:t>
            </a:r>
            <a:r>
              <a:rPr lang="en-US" dirty="0" err="1"/>
              <a:t>informação</a:t>
            </a:r>
            <a:r>
              <a:rPr lang="en-US" dirty="0"/>
              <a:t>, </a:t>
            </a:r>
            <a:r>
              <a:rPr lang="en-US" dirty="0" err="1"/>
              <a:t>informação</a:t>
            </a:r>
            <a:r>
              <a:rPr lang="en-US" dirty="0"/>
              <a:t> </a:t>
            </a:r>
            <a:r>
              <a:rPr lang="en-US" dirty="0" err="1"/>
              <a:t>mútua</a:t>
            </a:r>
            <a:r>
              <a:rPr lang="en-US" dirty="0"/>
              <a:t>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Encapsulamento</a:t>
            </a:r>
            <a:r>
              <a:rPr lang="pt-BR" dirty="0"/>
              <a:t>: </a:t>
            </a:r>
            <a:r>
              <a:rPr lang="pt-BR" b="1" dirty="0">
                <a:solidFill>
                  <a:srgbClr val="7030A0"/>
                </a:solidFill>
              </a:rPr>
              <a:t>Usa o próprio modelo de ML para testar subconjuntos </a:t>
            </a:r>
            <a:r>
              <a:rPr lang="pt-BR" dirty="0"/>
              <a:t>de variáveis e avaliar a performance.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/>
              <a:t>Exemplo</a:t>
            </a:r>
            <a:r>
              <a:rPr lang="pt-BR" dirty="0"/>
              <a:t>: </a:t>
            </a:r>
            <a:r>
              <a:rPr lang="pt-BR" b="1" dirty="0">
                <a:solidFill>
                  <a:schemeClr val="accent2"/>
                </a:solidFill>
              </a:rPr>
              <a:t>Eliminação recursiva </a:t>
            </a:r>
            <a:r>
              <a:rPr lang="pt-BR" dirty="0"/>
              <a:t>de atributos.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Embarcado</a:t>
            </a:r>
            <a:r>
              <a:rPr lang="pt-BR" dirty="0"/>
              <a:t>: A </a:t>
            </a:r>
            <a:r>
              <a:rPr lang="pt-BR" b="1" dirty="0">
                <a:solidFill>
                  <a:srgbClr val="7030A0"/>
                </a:solidFill>
              </a:rPr>
              <a:t>seleção ocorre durante o processo de treinamento </a:t>
            </a:r>
            <a:r>
              <a:rPr lang="pt-BR" dirty="0"/>
              <a:t>do próprio algoritmo. É </a:t>
            </a:r>
            <a:r>
              <a:rPr lang="pt-BR" b="1" dirty="0">
                <a:solidFill>
                  <a:srgbClr val="7030A0"/>
                </a:solidFill>
              </a:rPr>
              <a:t>integrada</a:t>
            </a:r>
            <a:r>
              <a:rPr lang="pt-BR" dirty="0"/>
              <a:t> (i.e., embarcada) no </a:t>
            </a:r>
            <a:r>
              <a:rPr lang="pt-BR" b="1" dirty="0">
                <a:solidFill>
                  <a:srgbClr val="7030A0"/>
                </a:solidFill>
              </a:rPr>
              <a:t>treinamento</a:t>
            </a:r>
            <a:r>
              <a:rPr lang="pt-BR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/>
              <a:t>Exemplos</a:t>
            </a:r>
            <a:r>
              <a:rPr lang="pt-BR" dirty="0"/>
              <a:t>: Regressão LASSO e árvores de decisão.</a:t>
            </a:r>
          </a:p>
          <a:p>
            <a:r>
              <a:rPr lang="pt-BR" dirty="0"/>
              <a:t>Filtragem usa apenas informações do </a:t>
            </a:r>
            <a:r>
              <a:rPr lang="pt-BR" i="1" dirty="0"/>
              <a:t>dataset</a:t>
            </a:r>
            <a:r>
              <a:rPr lang="pt-BR" dirty="0"/>
              <a:t>, já o encapsulamento e o embarcado, usam informações do </a:t>
            </a:r>
            <a:r>
              <a:rPr lang="pt-BR" i="1" dirty="0"/>
              <a:t>dataset</a:t>
            </a:r>
            <a:r>
              <a:rPr lang="pt-BR" dirty="0"/>
              <a:t> e do modelo para selecionar os atributos.</a:t>
            </a:r>
          </a:p>
        </p:txBody>
      </p:sp>
    </p:spTree>
    <p:extLst>
      <p:ext uri="{BB962C8B-B14F-4D97-AF65-F5344CB8AC3E}">
        <p14:creationId xmlns:p14="http://schemas.microsoft.com/office/powerpoint/2010/main" val="339744414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C01CC2-CD7B-126A-B75F-51795F14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4ABDE-7CD5-03FF-4BA7-BC9477C65D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Métodos de filtro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BBB3C58-BD3E-E320-2711-DF4496A3AD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49143" y="1825624"/>
            <a:ext cx="5442857" cy="5032375"/>
          </a:xfrm>
        </p:spPr>
        <p:txBody>
          <a:bodyPr>
            <a:normAutofit/>
          </a:bodyPr>
          <a:lstStyle/>
          <a:p>
            <a:r>
              <a:rPr lang="pt-BR" dirty="0"/>
              <a:t>São </a:t>
            </a:r>
            <a:r>
              <a:rPr lang="pt-BR" b="1" dirty="0"/>
              <a:t>rápidos e independentes do modelo de ML</a:t>
            </a:r>
            <a:r>
              <a:rPr lang="pt-BR" dirty="0"/>
              <a:t>.</a:t>
            </a:r>
          </a:p>
          <a:p>
            <a:r>
              <a:rPr lang="pt-BR" dirty="0"/>
              <a:t>Escala bem para </a:t>
            </a:r>
            <a:r>
              <a:rPr lang="pt-BR" i="1" dirty="0" err="1"/>
              <a:t>datasets</a:t>
            </a:r>
            <a:r>
              <a:rPr lang="pt-BR" dirty="0"/>
              <a:t> grandes.</a:t>
            </a:r>
          </a:p>
          <a:p>
            <a:r>
              <a:rPr lang="pt-BR" dirty="0"/>
              <a:t>Filtros simples podem </a:t>
            </a:r>
            <a:r>
              <a:rPr lang="pt-BR" b="1" dirty="0"/>
              <a:t>ignorar interações relevantes </a:t>
            </a:r>
            <a:r>
              <a:rPr lang="pt-BR" dirty="0"/>
              <a:t>entre atributos (e.g., usar apenas a </a:t>
            </a:r>
            <a:r>
              <a:rPr lang="pt-BR" b="1" dirty="0"/>
              <a:t>correlação entre atributo e alvo</a:t>
            </a:r>
            <a:r>
              <a:rPr lang="pt-BR" dirty="0"/>
              <a:t>).</a:t>
            </a:r>
          </a:p>
          <a:p>
            <a:r>
              <a:rPr lang="pt-BR" dirty="0"/>
              <a:t>Dependem da escolha adequada da métrica (e.g., relações lineares e não lineares).</a:t>
            </a:r>
            <a:endParaRPr lang="en-US" dirty="0"/>
          </a:p>
        </p:txBody>
      </p:sp>
      <p:pic>
        <p:nvPicPr>
          <p:cNvPr id="9" name="Content Placeholder 5">
            <a:extLst>
              <a:ext uri="{FF2B5EF4-FFF2-40B4-BE49-F238E27FC236}">
                <a16:creationId xmlns:a16="http://schemas.microsoft.com/office/drawing/2014/main" id="{A3CE7DC7-8E77-95A6-7CCE-6EAB1A78AC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26" r="6022"/>
          <a:stretch>
            <a:fillRect/>
          </a:stretch>
        </p:blipFill>
        <p:spPr>
          <a:xfrm>
            <a:off x="174170" y="2133600"/>
            <a:ext cx="6360280" cy="3704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52812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47926-99C2-2D03-BBC9-E0B2BBB31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BA196-AA4F-8DFB-EA4F-DE2070CF1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72800" cy="1325563"/>
          </a:xfrm>
        </p:spPr>
        <p:txBody>
          <a:bodyPr/>
          <a:lstStyle/>
          <a:p>
            <a:r>
              <a:rPr lang="pt-BR" dirty="0"/>
              <a:t>Métodos de encapsulamento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FA8F44C-FCBF-8760-0A7D-09EA95AC7D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1366" y="1825624"/>
            <a:ext cx="5570633" cy="5032375"/>
          </a:xfrm>
        </p:spPr>
        <p:txBody>
          <a:bodyPr/>
          <a:lstStyle/>
          <a:p>
            <a:r>
              <a:rPr lang="pt-BR" b="1" dirty="0">
                <a:solidFill>
                  <a:srgbClr val="7030A0"/>
                </a:solidFill>
              </a:rPr>
              <a:t>Otimizam</a:t>
            </a:r>
            <a:r>
              <a:rPr lang="pt-BR" dirty="0"/>
              <a:t> os atributos </a:t>
            </a:r>
            <a:r>
              <a:rPr lang="pt-BR" b="1" dirty="0">
                <a:solidFill>
                  <a:srgbClr val="7030A0"/>
                </a:solidFill>
              </a:rPr>
              <a:t>para um modelo específico</a:t>
            </a:r>
            <a:r>
              <a:rPr lang="pt-BR" dirty="0"/>
              <a:t>.</a:t>
            </a:r>
          </a:p>
          <a:p>
            <a:r>
              <a:rPr lang="pt-BR" dirty="0"/>
              <a:t>Em geral, tem têm </a:t>
            </a:r>
            <a:r>
              <a:rPr lang="pt-BR" b="1" dirty="0">
                <a:solidFill>
                  <a:srgbClr val="7030A0"/>
                </a:solidFill>
              </a:rPr>
              <a:t>desempenho superior </a:t>
            </a:r>
            <a:r>
              <a:rPr lang="pt-BR" dirty="0"/>
              <a:t>aos métodos de </a:t>
            </a:r>
            <a:r>
              <a:rPr lang="pt-BR" b="1" dirty="0">
                <a:solidFill>
                  <a:srgbClr val="7030A0"/>
                </a:solidFill>
              </a:rPr>
              <a:t>filtragem</a:t>
            </a:r>
            <a:r>
              <a:rPr lang="pt-BR" dirty="0"/>
              <a:t>.</a:t>
            </a:r>
          </a:p>
          <a:p>
            <a:r>
              <a:rPr lang="pt-BR" dirty="0"/>
              <a:t>Porém, são </a:t>
            </a:r>
            <a:r>
              <a:rPr lang="pt-BR" b="1" dirty="0">
                <a:solidFill>
                  <a:schemeClr val="accent2"/>
                </a:solidFill>
              </a:rPr>
              <a:t>computacionalmente caros</a:t>
            </a:r>
            <a:r>
              <a:rPr lang="pt-BR" dirty="0"/>
              <a:t> e </a:t>
            </a:r>
            <a:r>
              <a:rPr lang="pt-BR" b="1" dirty="0">
                <a:solidFill>
                  <a:schemeClr val="accent2"/>
                </a:solidFill>
              </a:rPr>
              <a:t>suscetíveis ao </a:t>
            </a:r>
            <a:r>
              <a:rPr lang="pt-BR" b="1" i="1" dirty="0" err="1">
                <a:solidFill>
                  <a:schemeClr val="accent2"/>
                </a:solidFill>
              </a:rPr>
              <a:t>overfitting</a:t>
            </a:r>
            <a:r>
              <a:rPr lang="pt-BR" dirty="0"/>
              <a:t>, pois podem </a:t>
            </a:r>
            <a:r>
              <a:rPr lang="pt-BR" b="1" dirty="0">
                <a:solidFill>
                  <a:schemeClr val="accent5"/>
                </a:solidFill>
              </a:rPr>
              <a:t>ajustar excessivamente</a:t>
            </a:r>
            <a:r>
              <a:rPr lang="pt-BR" dirty="0"/>
              <a:t> os </a:t>
            </a:r>
            <a:r>
              <a:rPr lang="pt-BR" b="1" dirty="0">
                <a:solidFill>
                  <a:schemeClr val="accent5"/>
                </a:solidFill>
              </a:rPr>
              <a:t>atributos</a:t>
            </a:r>
            <a:r>
              <a:rPr lang="pt-BR" dirty="0"/>
              <a:t> a um </a:t>
            </a:r>
            <a:r>
              <a:rPr lang="pt-BR" b="1" dirty="0">
                <a:solidFill>
                  <a:schemeClr val="accent5"/>
                </a:solidFill>
              </a:rPr>
              <a:t>modelo específico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7" name="Content Placeholder 3">
            <a:extLst>
              <a:ext uri="{FF2B5EF4-FFF2-40B4-BE49-F238E27FC236}">
                <a16:creationId xmlns:a16="http://schemas.microsoft.com/office/drawing/2014/main" id="{48660767-9E5D-79F3-0C90-BEEF045A78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02" r="5947"/>
          <a:stretch>
            <a:fillRect/>
          </a:stretch>
        </p:blipFill>
        <p:spPr>
          <a:xfrm>
            <a:off x="130627" y="2264229"/>
            <a:ext cx="6336295" cy="3537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623168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DD008B-2DA9-867B-7932-40CC20832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B5404-B5B4-16EF-E1B0-AE0FE920E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72800" cy="1325563"/>
          </a:xfrm>
        </p:spPr>
        <p:txBody>
          <a:bodyPr/>
          <a:lstStyle/>
          <a:p>
            <a:r>
              <a:rPr lang="pt-BR" dirty="0"/>
              <a:t>Métodos embarcados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60B74E-723F-0F17-2C56-2A47AE3276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1366" y="1825624"/>
            <a:ext cx="5570633" cy="5032375"/>
          </a:xfrm>
        </p:spPr>
        <p:txBody>
          <a:bodyPr/>
          <a:lstStyle/>
          <a:p>
            <a:r>
              <a:rPr lang="pt-BR" dirty="0"/>
              <a:t>Selecionam atributos </a:t>
            </a:r>
            <a:r>
              <a:rPr lang="pt-BR" b="1" dirty="0">
                <a:solidFill>
                  <a:schemeClr val="accent2"/>
                </a:solidFill>
              </a:rPr>
              <a:t>durante o treinamento</a:t>
            </a:r>
            <a:r>
              <a:rPr lang="pt-BR" dirty="0"/>
              <a:t> do modelo.</a:t>
            </a:r>
          </a:p>
          <a:p>
            <a:r>
              <a:rPr lang="pt-BR" dirty="0"/>
              <a:t>Apresenta </a:t>
            </a:r>
            <a:r>
              <a:rPr lang="pt-BR" b="1" dirty="0">
                <a:solidFill>
                  <a:schemeClr val="accent2"/>
                </a:solidFill>
              </a:rPr>
              <a:t>equilíbrio</a:t>
            </a:r>
            <a:r>
              <a:rPr lang="pt-BR" dirty="0"/>
              <a:t> entre </a:t>
            </a:r>
            <a:r>
              <a:rPr lang="pt-BR" b="1" dirty="0">
                <a:solidFill>
                  <a:schemeClr val="accent2"/>
                </a:solidFill>
              </a:rPr>
              <a:t>desempenho e tempo para seleção</a:t>
            </a:r>
            <a:r>
              <a:rPr lang="pt-BR" dirty="0"/>
              <a:t>.</a:t>
            </a:r>
          </a:p>
          <a:p>
            <a:r>
              <a:rPr lang="pt-BR" dirty="0"/>
              <a:t>Porém, têm </a:t>
            </a:r>
            <a:r>
              <a:rPr lang="pt-BR" b="1" dirty="0">
                <a:solidFill>
                  <a:srgbClr val="7030A0"/>
                </a:solidFill>
              </a:rPr>
              <a:t>interpretabilidade limitada</a:t>
            </a:r>
            <a:r>
              <a:rPr lang="pt-BR" dirty="0"/>
              <a:t> (por que um atributo foi removido?) e </a:t>
            </a:r>
            <a:r>
              <a:rPr lang="pt-BR" b="1" dirty="0">
                <a:solidFill>
                  <a:srgbClr val="7030A0"/>
                </a:solidFill>
              </a:rPr>
              <a:t>não são suportados</a:t>
            </a:r>
            <a:r>
              <a:rPr lang="pt-BR" dirty="0"/>
              <a:t> </a:t>
            </a:r>
            <a:r>
              <a:rPr lang="pt-BR" b="1" dirty="0">
                <a:solidFill>
                  <a:srgbClr val="7030A0"/>
                </a:solidFill>
              </a:rPr>
              <a:t>por todos os algoritmos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45D6DA-65C4-DEF1-91AD-82E997F1C3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10" r="6296"/>
          <a:stretch>
            <a:fillRect/>
          </a:stretch>
        </p:blipFill>
        <p:spPr>
          <a:xfrm>
            <a:off x="130627" y="2240756"/>
            <a:ext cx="6394617" cy="3604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57521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B31A4-C585-0094-27DF-9EB6149EE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Seleção de atributos na biblioteca </a:t>
            </a:r>
            <a:r>
              <a:rPr lang="pt-BR" noProof="0" dirty="0" err="1"/>
              <a:t>SciKit-learn</a:t>
            </a:r>
            <a:endParaRPr lang="pt-BR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446D82-5B94-346A-4A16-ED16D509BA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O módulo </a:t>
            </a:r>
            <a:r>
              <a:rPr lang="pt-BR" noProof="0" dirty="0" err="1">
                <a:latin typeface="Consolas" panose="020B0609020204030204" pitchFamily="49" charset="0"/>
              </a:rPr>
              <a:t>sklearn.feature_selection</a:t>
            </a:r>
            <a:r>
              <a:rPr lang="pt-BR" noProof="0" dirty="0"/>
              <a:t> implementa vários métodos de seleção de atributos, dentre eles podemos citar: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 </a:t>
            </a:r>
            <a:r>
              <a:rPr lang="en-US" dirty="0" err="1"/>
              <a:t>Filtragem</a:t>
            </a:r>
            <a:endParaRPr lang="pt-BR" noProof="0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 err="1">
                <a:latin typeface="Consolas" panose="020B0609020204030204" pitchFamily="49" charset="0"/>
              </a:rPr>
              <a:t>VarianceThreshold</a:t>
            </a:r>
            <a:r>
              <a:rPr lang="pt-BR" dirty="0"/>
              <a:t>: Elimina atributos com variância abaixo do limiar configurado</a:t>
            </a:r>
            <a:r>
              <a:rPr lang="pt-BR" noProof="0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 err="1">
                <a:latin typeface="Consolas" panose="020B0609020204030204" pitchFamily="49" charset="0"/>
              </a:rPr>
              <a:t>SelectKBest</a:t>
            </a:r>
            <a:r>
              <a:rPr lang="pt-BR" dirty="0"/>
              <a:t>: Seleciona os K melhores atributos de acordo com um </a:t>
            </a:r>
            <a:r>
              <a:rPr lang="pt-BR" i="1" dirty="0"/>
              <a:t>score</a:t>
            </a:r>
            <a:r>
              <a:rPr lang="pt-BR" dirty="0"/>
              <a:t> definido (e.g., informação mútua, ganho de informação, etc.)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Encapsulamento</a:t>
            </a:r>
            <a:endParaRPr lang="pt-BR" noProof="0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>
                <a:latin typeface="Consolas" panose="020B0609020204030204" pitchFamily="49" charset="0"/>
              </a:rPr>
              <a:t>RFE</a:t>
            </a:r>
            <a:r>
              <a:rPr lang="pt-BR" dirty="0"/>
              <a:t>: Elimina os atributos de forma recursiva até que apenas as melhores permaneçam</a:t>
            </a:r>
            <a:r>
              <a:rPr lang="pt-BR" noProof="0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noProof="0" dirty="0" err="1"/>
              <a:t>Embarcado</a:t>
            </a:r>
            <a:endParaRPr lang="pt-BR" noProof="0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 err="1">
                <a:latin typeface="Consolas" panose="020B0609020204030204" pitchFamily="49" charset="0"/>
              </a:rPr>
              <a:t>SelectFromModel</a:t>
            </a:r>
            <a:r>
              <a:rPr lang="pt-BR" dirty="0"/>
              <a:t>: Seleção </a:t>
            </a:r>
            <a:r>
              <a:rPr lang="pt-BR" noProof="0" dirty="0"/>
              <a:t>usando modelos com penalidade L1 ou baseados em árvore, como LASSO e árvores de decisão.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en-US" noProof="0" dirty="0"/>
          </a:p>
          <a:p>
            <a:pPr lvl="1">
              <a:buFont typeface="Wingdings" panose="05000000000000000000" pitchFamily="2" charset="2"/>
              <a:buChar char="§"/>
            </a:pPr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154793428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637FC5-962E-E2AD-1217-72A38BC68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85EA9-B2C7-CDCD-B7C0-DAB5D8FD3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 na biblioteca </a:t>
            </a:r>
            <a:r>
              <a:rPr lang="pt-BR" dirty="0" err="1"/>
              <a:t>SciKit-learn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019C3F-9C7C-06B2-C6DF-8E58E02A23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68743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sklearn.feature_selection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VarianceThreshold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Remove features com </a:t>
            </a:r>
            <a:r>
              <a:rPr lang="en-US" dirty="0" err="1">
                <a:latin typeface="Consolas" panose="020B0609020204030204" pitchFamily="49" charset="0"/>
              </a:rPr>
              <a:t>variância</a:t>
            </a:r>
            <a:r>
              <a:rPr lang="en-US" dirty="0">
                <a:latin typeface="Consolas" panose="020B0609020204030204" pitchFamily="49" charset="0"/>
              </a:rPr>
              <a:t> &lt;= 0.1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selector = </a:t>
            </a:r>
            <a:r>
              <a:rPr lang="en-US" dirty="0" err="1">
                <a:latin typeface="Consolas" panose="020B0609020204030204" pitchFamily="49" charset="0"/>
              </a:rPr>
              <a:t>VarianceThreshold</a:t>
            </a:r>
            <a:r>
              <a:rPr lang="en-US" dirty="0">
                <a:latin typeface="Consolas" panose="020B0609020204030204" pitchFamily="49" charset="0"/>
              </a:rPr>
              <a:t>(threshold=0.1)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X_train_reduced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selector.fit_transform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X_test_reduced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selector.transform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737730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76600-9357-87C1-67B2-7ED0D4133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Extração vs. 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91E9A-DCA0-4C49-3A03-40A802DE89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25200" cy="5032375"/>
          </a:xfrm>
        </p:spPr>
        <p:txBody>
          <a:bodyPr/>
          <a:lstStyle/>
          <a:p>
            <a:r>
              <a:rPr lang="pt-BR" dirty="0"/>
              <a:t>A extração </a:t>
            </a:r>
            <a:r>
              <a:rPr lang="pt-BR" b="1" dirty="0"/>
              <a:t>transforma</a:t>
            </a:r>
            <a:r>
              <a:rPr lang="pt-BR" dirty="0"/>
              <a:t> os </a:t>
            </a:r>
            <a:r>
              <a:rPr lang="pt-BR" b="1" dirty="0">
                <a:solidFill>
                  <a:schemeClr val="accent2"/>
                </a:solidFill>
              </a:rPr>
              <a:t>atributos originais para criar novos</a:t>
            </a:r>
            <a:r>
              <a:rPr lang="pt-BR" dirty="0"/>
              <a:t>, geralmente reduzindo a dimensionalidade.</a:t>
            </a:r>
          </a:p>
          <a:p>
            <a:r>
              <a:rPr lang="pt-BR" dirty="0"/>
              <a:t>A seleção </a:t>
            </a:r>
            <a:r>
              <a:rPr lang="pt-BR" b="1" dirty="0"/>
              <a:t>escolhe</a:t>
            </a:r>
            <a:r>
              <a:rPr lang="pt-BR" dirty="0"/>
              <a:t> um </a:t>
            </a:r>
            <a:r>
              <a:rPr lang="pt-BR" b="1" dirty="0">
                <a:solidFill>
                  <a:srgbClr val="7030A0"/>
                </a:solidFill>
              </a:rPr>
              <a:t>subconjunto dos atributos existentes </a:t>
            </a:r>
            <a:r>
              <a:rPr lang="pt-BR" dirty="0"/>
              <a:t>mais relevantes </a:t>
            </a:r>
            <a:r>
              <a:rPr lang="pt-BR" b="1" dirty="0">
                <a:solidFill>
                  <a:srgbClr val="7030A0"/>
                </a:solidFill>
              </a:rPr>
              <a:t>sem alterá-los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5965887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pre_processing.ipynb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290860825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2"/>
              </a:rPr>
              <a:t>Lista #4 – Transformações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935604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9267</TotalTime>
  <Words>6420</Words>
  <Application>Microsoft Office PowerPoint</Application>
  <PresentationFormat>Widescreen</PresentationFormat>
  <Paragraphs>521</Paragraphs>
  <Slides>55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64" baseType="lpstr">
      <vt:lpstr>Arial</vt:lpstr>
      <vt:lpstr>Calibri</vt:lpstr>
      <vt:lpstr>Calibri Light</vt:lpstr>
      <vt:lpstr>Cambria Math</vt:lpstr>
      <vt:lpstr>Consolas</vt:lpstr>
      <vt:lpstr>Courier New</vt:lpstr>
      <vt:lpstr>Roboto</vt:lpstr>
      <vt:lpstr>Wingdings</vt:lpstr>
      <vt:lpstr>Tema do Office</vt:lpstr>
      <vt:lpstr>C24 - Inteligência Artificial: Transformações dos dados</vt:lpstr>
      <vt:lpstr>PowerPoint Presentation</vt:lpstr>
      <vt:lpstr>O que veremos?</vt:lpstr>
      <vt:lpstr>PowerPoint Presentation</vt:lpstr>
      <vt:lpstr>PowerPoint Presentation</vt:lpstr>
      <vt:lpstr>Por que não usar os mesmos dados para treino e teste</vt:lpstr>
      <vt:lpstr>Divisão do dataset</vt:lpstr>
      <vt:lpstr>Divisão do dataset</vt:lpstr>
      <vt:lpstr>Divisão do dataset</vt:lpstr>
      <vt:lpstr>Divisão do dataset</vt:lpstr>
      <vt:lpstr>PowerPoint Presentation</vt:lpstr>
      <vt:lpstr>Escalonamento de atributos</vt:lpstr>
      <vt:lpstr>Por que escalonar os atributos?</vt:lpstr>
      <vt:lpstr>Por que escalonar os atributos?</vt:lpstr>
      <vt:lpstr>Normalização (Min-Max Scaling)</vt:lpstr>
      <vt:lpstr>Normalização (Min-Max Scaling)</vt:lpstr>
      <vt:lpstr>Normalização (Min-Max Scaling)</vt:lpstr>
      <vt:lpstr>PowerPoint Presentation</vt:lpstr>
      <vt:lpstr>PowerPoint Presentation</vt:lpstr>
      <vt:lpstr>Padronização (Standard Scaling)</vt:lpstr>
      <vt:lpstr>Padronização (Standard Scaling)</vt:lpstr>
      <vt:lpstr>Padronização (Standard Scaling)</vt:lpstr>
      <vt:lpstr>Padronização (Standard Scaling)</vt:lpstr>
      <vt:lpstr>Escalonamento robusto (Robust Scaling)</vt:lpstr>
      <vt:lpstr>Escalonamento robusto (Robust Scaling)</vt:lpstr>
      <vt:lpstr>Escalonamento robusto (Robust Scaling)</vt:lpstr>
      <vt:lpstr>Armadilhas comuns durante o escalonamento</vt:lpstr>
      <vt:lpstr>Codificação de atributos categóricos</vt:lpstr>
      <vt:lpstr>One-Hot encoding</vt:lpstr>
      <vt:lpstr>Label e ordinal encoding</vt:lpstr>
      <vt:lpstr>Target encoding</vt:lpstr>
      <vt:lpstr>Binary encoding</vt:lpstr>
      <vt:lpstr>Exemplos de encoding</vt:lpstr>
      <vt:lpstr>Engenharia de atributos</vt:lpstr>
      <vt:lpstr>Engenharia de atributos</vt:lpstr>
      <vt:lpstr>Extração de atributos</vt:lpstr>
      <vt:lpstr>Técnicas comuns para extração de atributos</vt:lpstr>
      <vt:lpstr>Técnicas comuns para extração de atributos</vt:lpstr>
      <vt:lpstr>PowerPoint Presentation</vt:lpstr>
      <vt:lpstr>Análise de componentes principais (PCA)</vt:lpstr>
      <vt:lpstr>Análise de componentes principais (PCA)</vt:lpstr>
      <vt:lpstr>Análise de componentes principais (PCA)</vt:lpstr>
      <vt:lpstr>Análise de componentes principais (PCA)</vt:lpstr>
      <vt:lpstr>Seleção de atributos</vt:lpstr>
      <vt:lpstr>Seleção de atributos</vt:lpstr>
      <vt:lpstr>Métodos de filtro</vt:lpstr>
      <vt:lpstr>Métodos de encapsulamento</vt:lpstr>
      <vt:lpstr>Métodos embarcados</vt:lpstr>
      <vt:lpstr>Seleção de atributos na biblioteca SciKit-learn</vt:lpstr>
      <vt:lpstr>Seleção de atributos na biblioteca SciKit-learn</vt:lpstr>
      <vt:lpstr>Extração vs. seleção de atributos</vt:lpstr>
      <vt:lpstr>Exemplo</vt:lpstr>
      <vt:lpstr>Lista de exercícios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2076</cp:revision>
  <dcterms:created xsi:type="dcterms:W3CDTF">2020-01-20T13:50:05Z</dcterms:created>
  <dcterms:modified xsi:type="dcterms:W3CDTF">2026-03-16T11:31:06Z</dcterms:modified>
</cp:coreProperties>
</file>