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56" r:id="rId2"/>
    <p:sldId id="322" r:id="rId3"/>
    <p:sldId id="316" r:id="rId4"/>
    <p:sldId id="326" r:id="rId5"/>
    <p:sldId id="330" r:id="rId6"/>
    <p:sldId id="319" r:id="rId7"/>
    <p:sldId id="329" r:id="rId8"/>
    <p:sldId id="327" r:id="rId9"/>
    <p:sldId id="334" r:id="rId10"/>
    <p:sldId id="323" r:id="rId11"/>
    <p:sldId id="335" r:id="rId12"/>
    <p:sldId id="336" r:id="rId13"/>
    <p:sldId id="333" r:id="rId14"/>
    <p:sldId id="328" r:id="rId15"/>
    <p:sldId id="308" r:id="rId16"/>
    <p:sldId id="317" r:id="rId17"/>
    <p:sldId id="320" r:id="rId18"/>
    <p:sldId id="318" r:id="rId19"/>
    <p:sldId id="315" r:id="rId20"/>
    <p:sldId id="324" r:id="rId21"/>
    <p:sldId id="337" r:id="rId22"/>
    <p:sldId id="321" r:id="rId23"/>
    <p:sldId id="293" r:id="rId24"/>
    <p:sldId id="306" r:id="rId25"/>
  </p:sldIdLst>
  <p:sldSz cx="12192000" cy="6858000"/>
  <p:notesSz cx="7315200" cy="96012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1F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FCA41B-7398-400B-83DC-FDE8722EB923}" v="79" dt="2020-02-09T01:28:39.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78" autoAdjust="0"/>
    <p:restoredTop sz="79540" autoAdjust="0"/>
  </p:normalViewPr>
  <p:slideViewPr>
    <p:cSldViewPr snapToGrid="0">
      <p:cViewPr varScale="1">
        <p:scale>
          <a:sx n="88" d="100"/>
          <a:sy n="88" d="100"/>
        </p:scale>
        <p:origin x="1698" y="84"/>
      </p:cViewPr>
      <p:guideLst/>
    </p:cSldViewPr>
  </p:slideViewPr>
  <p:outlineViewPr>
    <p:cViewPr>
      <p:scale>
        <a:sx n="33" d="100"/>
        <a:sy n="33" d="100"/>
      </p:scale>
      <p:origin x="0" y="-886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3FCA41B-7398-400B-83DC-FDE8722EB923}"/>
    <pc:docChg chg="modSld">
      <pc:chgData name="Felipe Augusto Pereira de Figueiredo" userId="e1771b70d906f94b" providerId="Windows Live" clId="Web-{B3FCA41B-7398-400B-83DC-FDE8722EB923}" dt="2020-02-09T01:40:38.055" v="257"/>
      <pc:docMkLst>
        <pc:docMk/>
      </pc:docMkLst>
      <pc:sldChg chg="modSp modNotes">
        <pc:chgData name="Felipe Augusto Pereira de Figueiredo" userId="e1771b70d906f94b" providerId="Windows Live" clId="Web-{B3FCA41B-7398-400B-83DC-FDE8722EB923}" dt="2020-02-09T01:26:20.191" v="45"/>
        <pc:sldMkLst>
          <pc:docMk/>
          <pc:sldMk cId="636059476" sldId="259"/>
        </pc:sldMkLst>
        <pc:spChg chg="mod">
          <ac:chgData name="Felipe Augusto Pereira de Figueiredo" userId="e1771b70d906f94b" providerId="Windows Live" clId="Web-{B3FCA41B-7398-400B-83DC-FDE8722EB923}" dt="2020-02-09T01:22:23.081" v="18" actId="1076"/>
          <ac:spMkLst>
            <pc:docMk/>
            <pc:sldMk cId="636059476" sldId="259"/>
            <ac:spMk id="3" creationId="{979D29AC-E01B-406F-AC75-55866B75A7CC}"/>
          </ac:spMkLst>
        </pc:spChg>
      </pc:sldChg>
      <pc:sldChg chg="modNotes">
        <pc:chgData name="Felipe Augusto Pereira de Figueiredo" userId="e1771b70d906f94b" providerId="Windows Live" clId="Web-{B3FCA41B-7398-400B-83DC-FDE8722EB923}" dt="2020-02-09T01:21:46.721" v="16"/>
        <pc:sldMkLst>
          <pc:docMk/>
          <pc:sldMk cId="248504461" sldId="267"/>
        </pc:sldMkLst>
      </pc:sldChg>
      <pc:sldChg chg="modSp modNotes">
        <pc:chgData name="Felipe Augusto Pereira de Figueiredo" userId="e1771b70d906f94b" providerId="Windows Live" clId="Web-{B3FCA41B-7398-400B-83DC-FDE8722EB923}" dt="2020-02-09T01:40:38.055" v="257"/>
        <pc:sldMkLst>
          <pc:docMk/>
          <pc:sldMk cId="2076219387" sldId="277"/>
        </pc:sldMkLst>
        <pc:spChg chg="mod">
          <ac:chgData name="Felipe Augusto Pereira de Figueiredo" userId="e1771b70d906f94b" providerId="Windows Live" clId="Web-{B3FCA41B-7398-400B-83DC-FDE8722EB923}" dt="2020-02-09T01:28:39.664" v="120" actId="14100"/>
          <ac:spMkLst>
            <pc:docMk/>
            <pc:sldMk cId="2076219387" sldId="277"/>
            <ac:spMk id="3" creationId="{5E0262E2-3A0F-4805-BCCB-6745237D1574}"/>
          </ac:spMkLst>
        </pc:spChg>
      </pc:sldChg>
    </pc:docChg>
  </pc:docChgLst>
  <pc:docChgLst>
    <pc:chgData name="Felipe Augusto Pereira de Figueiredo" userId="e1771b70d906f94b" providerId="Windows Live" clId="Web-{1FA475AF-6444-47C2-89B1-9776BABC0E66}"/>
    <pc:docChg chg="modSld">
      <pc:chgData name="Felipe Augusto Pereira de Figueiredo" userId="e1771b70d906f94b" providerId="Windows Live" clId="Web-{1FA475AF-6444-47C2-89B1-9776BABC0E66}" dt="2020-02-09T18:53:52.767" v="85"/>
      <pc:docMkLst>
        <pc:docMk/>
      </pc:docMkLst>
      <pc:sldChg chg="modNotes">
        <pc:chgData name="Felipe Augusto Pereira de Figueiredo" userId="e1771b70d906f94b" providerId="Windows Live" clId="Web-{1FA475AF-6444-47C2-89B1-9776BABC0E66}" dt="2020-02-09T18:53:52.767" v="85"/>
        <pc:sldMkLst>
          <pc:docMk/>
          <pc:sldMk cId="248504461"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2" cy="480722"/>
          </a:xfrm>
          <a:prstGeom prst="rect">
            <a:avLst/>
          </a:prstGeom>
        </p:spPr>
        <p:txBody>
          <a:bodyPr vert="horz" lIns="168634" tIns="84317" rIns="168634" bIns="84317" rtlCol="0"/>
          <a:lstStyle>
            <a:lvl1pPr algn="l">
              <a:defRPr sz="2200"/>
            </a:lvl1pPr>
          </a:lstStyle>
          <a:p>
            <a:endParaRPr lang="nl-BE"/>
          </a:p>
        </p:txBody>
      </p:sp>
      <p:sp>
        <p:nvSpPr>
          <p:cNvPr id="3" name="Date Placeholder 2"/>
          <p:cNvSpPr>
            <a:spLocks noGrp="1"/>
          </p:cNvSpPr>
          <p:nvPr>
            <p:ph type="dt" sz="quarter" idx="1"/>
          </p:nvPr>
        </p:nvSpPr>
        <p:spPr>
          <a:xfrm>
            <a:off x="4143589" y="0"/>
            <a:ext cx="3169922" cy="480722"/>
          </a:xfrm>
          <a:prstGeom prst="rect">
            <a:avLst/>
          </a:prstGeom>
        </p:spPr>
        <p:txBody>
          <a:bodyPr vert="horz" lIns="168634" tIns="84317" rIns="168634" bIns="84317" rtlCol="0"/>
          <a:lstStyle>
            <a:lvl1pPr algn="r">
              <a:defRPr sz="2200"/>
            </a:lvl1pPr>
          </a:lstStyle>
          <a:p>
            <a:fld id="{144F1436-6906-4D93-B7A2-786C327BFA14}" type="datetimeFigureOut">
              <a:rPr lang="nl-BE" smtClean="0"/>
              <a:t>1/02/2026</a:t>
            </a:fld>
            <a:endParaRPr lang="nl-BE"/>
          </a:p>
        </p:txBody>
      </p:sp>
      <p:sp>
        <p:nvSpPr>
          <p:cNvPr id="4" name="Footer Placeholder 3"/>
          <p:cNvSpPr>
            <a:spLocks noGrp="1"/>
          </p:cNvSpPr>
          <p:nvPr>
            <p:ph type="ftr" sz="quarter" idx="2"/>
          </p:nvPr>
        </p:nvSpPr>
        <p:spPr>
          <a:xfrm>
            <a:off x="1" y="9120488"/>
            <a:ext cx="3169922" cy="480718"/>
          </a:xfrm>
          <a:prstGeom prst="rect">
            <a:avLst/>
          </a:prstGeom>
        </p:spPr>
        <p:txBody>
          <a:bodyPr vert="horz" lIns="168634" tIns="84317" rIns="168634" bIns="84317" rtlCol="0" anchor="b"/>
          <a:lstStyle>
            <a:lvl1pPr algn="l">
              <a:defRPr sz="2200"/>
            </a:lvl1pPr>
          </a:lstStyle>
          <a:p>
            <a:endParaRPr lang="nl-BE"/>
          </a:p>
        </p:txBody>
      </p:sp>
      <p:sp>
        <p:nvSpPr>
          <p:cNvPr id="5" name="Slide Number Placeholder 4"/>
          <p:cNvSpPr>
            <a:spLocks noGrp="1"/>
          </p:cNvSpPr>
          <p:nvPr>
            <p:ph type="sldNum" sz="quarter" idx="3"/>
          </p:nvPr>
        </p:nvSpPr>
        <p:spPr>
          <a:xfrm>
            <a:off x="4143589" y="9120488"/>
            <a:ext cx="3169922" cy="480718"/>
          </a:xfrm>
          <a:prstGeom prst="rect">
            <a:avLst/>
          </a:prstGeom>
        </p:spPr>
        <p:txBody>
          <a:bodyPr vert="horz" lIns="168634" tIns="84317" rIns="168634" bIns="84317" rtlCol="0" anchor="b"/>
          <a:lstStyle>
            <a:lvl1pPr algn="r">
              <a:defRPr sz="2200"/>
            </a:lvl1pPr>
          </a:lstStyle>
          <a:p>
            <a:fld id="{F7E56D9B-79AD-444A-AFED-DEC23408F8B4}" type="slidenum">
              <a:rPr lang="nl-BE" smtClean="0"/>
              <a:t>‹#›</a:t>
            </a:fld>
            <a:endParaRPr lang="nl-BE"/>
          </a:p>
        </p:txBody>
      </p:sp>
    </p:spTree>
    <p:extLst>
      <p:ext uri="{BB962C8B-B14F-4D97-AF65-F5344CB8AC3E}">
        <p14:creationId xmlns:p14="http://schemas.microsoft.com/office/powerpoint/2010/main" val="316353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5" y="1"/>
            <a:ext cx="3169922" cy="1903121"/>
          </a:xfrm>
          <a:prstGeom prst="rect">
            <a:avLst/>
          </a:prstGeom>
        </p:spPr>
        <p:txBody>
          <a:bodyPr vert="horz" lIns="168634" tIns="84317" rIns="168634" bIns="84317" rtlCol="0"/>
          <a:lstStyle>
            <a:lvl1pPr algn="l">
              <a:defRPr sz="2200"/>
            </a:lvl1pPr>
          </a:lstStyle>
          <a:p>
            <a:endParaRPr lang="pt-BR"/>
          </a:p>
        </p:txBody>
      </p:sp>
      <p:sp>
        <p:nvSpPr>
          <p:cNvPr id="3" name="Espaço Reservado para Data 2"/>
          <p:cNvSpPr>
            <a:spLocks noGrp="1"/>
          </p:cNvSpPr>
          <p:nvPr>
            <p:ph type="dt" idx="1"/>
          </p:nvPr>
        </p:nvSpPr>
        <p:spPr>
          <a:xfrm>
            <a:off x="4143592" y="1"/>
            <a:ext cx="3169922" cy="1903121"/>
          </a:xfrm>
          <a:prstGeom prst="rect">
            <a:avLst/>
          </a:prstGeom>
        </p:spPr>
        <p:txBody>
          <a:bodyPr vert="horz" lIns="168634" tIns="84317" rIns="168634" bIns="84317" rtlCol="0"/>
          <a:lstStyle>
            <a:lvl1pPr algn="r">
              <a:defRPr sz="2200"/>
            </a:lvl1pPr>
          </a:lstStyle>
          <a:p>
            <a:fld id="{AA8CD09E-2914-4F47-B6C1-51B2C31814C9}" type="datetimeFigureOut">
              <a:rPr lang="pt-BR" smtClean="0"/>
              <a:t>01/02/2026</a:t>
            </a:fld>
            <a:endParaRPr lang="pt-BR"/>
          </a:p>
        </p:txBody>
      </p:sp>
      <p:sp>
        <p:nvSpPr>
          <p:cNvPr id="4" name="Espaço Reservado para Imagem de Slide 3"/>
          <p:cNvSpPr>
            <a:spLocks noGrp="1" noRot="1" noChangeAspect="1"/>
          </p:cNvSpPr>
          <p:nvPr>
            <p:ph type="sldImg" idx="2"/>
          </p:nvPr>
        </p:nvSpPr>
        <p:spPr>
          <a:xfrm>
            <a:off x="-7721600" y="4740275"/>
            <a:ext cx="22758400" cy="12801600"/>
          </a:xfrm>
          <a:prstGeom prst="rect">
            <a:avLst/>
          </a:prstGeom>
          <a:noFill/>
          <a:ln w="12700">
            <a:solidFill>
              <a:prstClr val="black"/>
            </a:solidFill>
          </a:ln>
        </p:spPr>
        <p:txBody>
          <a:bodyPr vert="horz" lIns="168634" tIns="84317" rIns="168634" bIns="84317" rtlCol="0" anchor="ctr"/>
          <a:lstStyle/>
          <a:p>
            <a:endParaRPr lang="pt-BR"/>
          </a:p>
        </p:txBody>
      </p:sp>
      <p:sp>
        <p:nvSpPr>
          <p:cNvPr id="5" name="Espaço Reservado para Anotações 4"/>
          <p:cNvSpPr>
            <a:spLocks noGrp="1"/>
          </p:cNvSpPr>
          <p:nvPr>
            <p:ph type="body" sz="quarter" idx="3"/>
          </p:nvPr>
        </p:nvSpPr>
        <p:spPr>
          <a:xfrm>
            <a:off x="731522" y="18254135"/>
            <a:ext cx="5852160" cy="14935200"/>
          </a:xfrm>
          <a:prstGeom prst="rect">
            <a:avLst/>
          </a:prstGeom>
        </p:spPr>
        <p:txBody>
          <a:bodyPr vert="horz" lIns="168634" tIns="84317" rIns="168634" bIns="84317"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5" y="36027558"/>
            <a:ext cx="3169922" cy="1903117"/>
          </a:xfrm>
          <a:prstGeom prst="rect">
            <a:avLst/>
          </a:prstGeom>
        </p:spPr>
        <p:txBody>
          <a:bodyPr vert="horz" lIns="168634" tIns="84317" rIns="168634" bIns="84317" rtlCol="0" anchor="b"/>
          <a:lstStyle>
            <a:lvl1pPr algn="l">
              <a:defRPr sz="2200"/>
            </a:lvl1pPr>
          </a:lstStyle>
          <a:p>
            <a:endParaRPr lang="pt-BR"/>
          </a:p>
        </p:txBody>
      </p:sp>
      <p:sp>
        <p:nvSpPr>
          <p:cNvPr id="7" name="Espaço Reservado para Número de Slide 6"/>
          <p:cNvSpPr>
            <a:spLocks noGrp="1"/>
          </p:cNvSpPr>
          <p:nvPr>
            <p:ph type="sldNum" sz="quarter" idx="5"/>
          </p:nvPr>
        </p:nvSpPr>
        <p:spPr>
          <a:xfrm>
            <a:off x="4143592" y="36027558"/>
            <a:ext cx="3169922" cy="1903117"/>
          </a:xfrm>
          <a:prstGeom prst="rect">
            <a:avLst/>
          </a:prstGeom>
        </p:spPr>
        <p:txBody>
          <a:bodyPr vert="horz" lIns="168634" tIns="84317" rIns="168634" bIns="84317" rtlCol="0" anchor="b"/>
          <a:lstStyle>
            <a:lvl1pPr algn="r">
              <a:defRPr sz="2200"/>
            </a:lvl1pPr>
          </a:lstStyle>
          <a:p>
            <a:fld id="{6FC8D850-966F-45A6-8DE7-15B891E7D40D}" type="slidenum">
              <a:rPr lang="pt-BR" smtClean="0"/>
              <a:t>‹#›</a:t>
            </a:fld>
            <a:endParaRPr lang="pt-BR"/>
          </a:p>
        </p:txBody>
      </p:sp>
    </p:spTree>
    <p:extLst>
      <p:ext uri="{BB962C8B-B14F-4D97-AF65-F5344CB8AC3E}">
        <p14:creationId xmlns:p14="http://schemas.microsoft.com/office/powerpoint/2010/main" val="354181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0" i="0" kern="1200" dirty="0">
                <a:solidFill>
                  <a:schemeClr val="tx1"/>
                </a:solidFill>
                <a:effectLst/>
                <a:latin typeface="+mn-lt"/>
                <a:ea typeface="+mn-ea"/>
                <a:cs typeface="+mn-cs"/>
              </a:rPr>
              <a:t>Curadoria significa </a:t>
            </a:r>
            <a:r>
              <a:rPr lang="pt-BR" dirty="0"/>
              <a:t>o ato de cuidar, selecionar, organizar, adaptar os dados.</a:t>
            </a:r>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2</a:t>
            </a:fld>
            <a:endParaRPr lang="pt-BR"/>
          </a:p>
        </p:txBody>
      </p:sp>
    </p:spTree>
    <p:extLst>
      <p:ext uri="{BB962C8B-B14F-4D97-AF65-F5344CB8AC3E}">
        <p14:creationId xmlns:p14="http://schemas.microsoft.com/office/powerpoint/2010/main" val="2155300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4</a:t>
            </a:fld>
            <a:endParaRPr lang="pt-BR"/>
          </a:p>
        </p:txBody>
      </p:sp>
    </p:spTree>
    <p:extLst>
      <p:ext uri="{BB962C8B-B14F-4D97-AF65-F5344CB8AC3E}">
        <p14:creationId xmlns:p14="http://schemas.microsoft.com/office/powerpoint/2010/main" val="710640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AD7AA-0655-8E48-DF0B-8D4DDCC2FC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214CE0-9112-17E5-F67C-A2291E223D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8B5CB0-BEA9-3AEB-315C-471D7DA8D7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44580F-B050-B7E1-BBD1-F4C92C2D8A99}"/>
              </a:ext>
            </a:extLst>
          </p:cNvPr>
          <p:cNvSpPr>
            <a:spLocks noGrp="1"/>
          </p:cNvSpPr>
          <p:nvPr>
            <p:ph type="sldNum" sz="quarter" idx="5"/>
          </p:nvPr>
        </p:nvSpPr>
        <p:spPr/>
        <p:txBody>
          <a:bodyPr/>
          <a:lstStyle/>
          <a:p>
            <a:fld id="{6FC8D850-966F-45A6-8DE7-15B891E7D40D}" type="slidenum">
              <a:rPr lang="pt-BR" smtClean="0"/>
              <a:t>5</a:t>
            </a:fld>
            <a:endParaRPr lang="pt-BR"/>
          </a:p>
        </p:txBody>
      </p:sp>
    </p:spTree>
    <p:extLst>
      <p:ext uri="{BB962C8B-B14F-4D97-AF65-F5344CB8AC3E}">
        <p14:creationId xmlns:p14="http://schemas.microsoft.com/office/powerpoint/2010/main" val="250870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8</a:t>
            </a:fld>
            <a:endParaRPr lang="pt-BR"/>
          </a:p>
        </p:txBody>
      </p:sp>
    </p:spTree>
    <p:extLst>
      <p:ext uri="{BB962C8B-B14F-4D97-AF65-F5344CB8AC3E}">
        <p14:creationId xmlns:p14="http://schemas.microsoft.com/office/powerpoint/2010/main" val="3978413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ED0CA-78E3-EA29-70A5-6545A644B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9884F-E702-79E1-9E1E-0B2445D46D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B43843-7B98-0234-A23B-F468EDAA4C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80E6C1-419B-5940-971A-A218E9D15896}"/>
              </a:ext>
            </a:extLst>
          </p:cNvPr>
          <p:cNvSpPr>
            <a:spLocks noGrp="1"/>
          </p:cNvSpPr>
          <p:nvPr>
            <p:ph type="sldNum" sz="quarter" idx="5"/>
          </p:nvPr>
        </p:nvSpPr>
        <p:spPr/>
        <p:txBody>
          <a:bodyPr/>
          <a:lstStyle/>
          <a:p>
            <a:fld id="{6FC8D850-966F-45A6-8DE7-15B891E7D40D}" type="slidenum">
              <a:rPr lang="pt-BR" smtClean="0"/>
              <a:t>9</a:t>
            </a:fld>
            <a:endParaRPr lang="pt-BR"/>
          </a:p>
        </p:txBody>
      </p:sp>
    </p:spTree>
    <p:extLst>
      <p:ext uri="{BB962C8B-B14F-4D97-AF65-F5344CB8AC3E}">
        <p14:creationId xmlns:p14="http://schemas.microsoft.com/office/powerpoint/2010/main" val="4058357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F8A2C-ADE6-950F-1696-F46F7CEBB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D7BCA1-C677-8F52-5427-0F691AE70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DD0D15-A25E-65FD-F1A5-513ED56417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90D2D6-5D54-2470-89D5-A060CBE89EF9}"/>
              </a:ext>
            </a:extLst>
          </p:cNvPr>
          <p:cNvSpPr>
            <a:spLocks noGrp="1"/>
          </p:cNvSpPr>
          <p:nvPr>
            <p:ph type="sldNum" sz="quarter" idx="5"/>
          </p:nvPr>
        </p:nvSpPr>
        <p:spPr/>
        <p:txBody>
          <a:bodyPr/>
          <a:lstStyle/>
          <a:p>
            <a:fld id="{6FC8D850-966F-45A6-8DE7-15B891E7D40D}" type="slidenum">
              <a:rPr lang="pt-BR" smtClean="0"/>
              <a:t>11</a:t>
            </a:fld>
            <a:endParaRPr lang="pt-BR"/>
          </a:p>
        </p:txBody>
      </p:sp>
    </p:spTree>
    <p:extLst>
      <p:ext uri="{BB962C8B-B14F-4D97-AF65-F5344CB8AC3E}">
        <p14:creationId xmlns:p14="http://schemas.microsoft.com/office/powerpoint/2010/main" val="2081308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5AAF4-3E4E-61DB-5981-D83FCAD12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B07ACA-77DF-28FA-3B66-1B244EECB2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ADE028-FFFC-7435-BB36-CD3A242004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9A12BF-2D34-C626-F9C4-AF0F7CD163B2}"/>
              </a:ext>
            </a:extLst>
          </p:cNvPr>
          <p:cNvSpPr>
            <a:spLocks noGrp="1"/>
          </p:cNvSpPr>
          <p:nvPr>
            <p:ph type="sldNum" sz="quarter" idx="5"/>
          </p:nvPr>
        </p:nvSpPr>
        <p:spPr/>
        <p:txBody>
          <a:bodyPr/>
          <a:lstStyle/>
          <a:p>
            <a:fld id="{6FC8D850-966F-45A6-8DE7-15B891E7D40D}" type="slidenum">
              <a:rPr lang="pt-BR" smtClean="0"/>
              <a:t>12</a:t>
            </a:fld>
            <a:endParaRPr lang="pt-BR"/>
          </a:p>
        </p:txBody>
      </p:sp>
    </p:spTree>
    <p:extLst>
      <p:ext uri="{BB962C8B-B14F-4D97-AF65-F5344CB8AC3E}">
        <p14:creationId xmlns:p14="http://schemas.microsoft.com/office/powerpoint/2010/main" val="2716614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13</a:t>
            </a:fld>
            <a:endParaRPr lang="pt-BR"/>
          </a:p>
        </p:txBody>
      </p:sp>
    </p:spTree>
    <p:extLst>
      <p:ext uri="{BB962C8B-B14F-4D97-AF65-F5344CB8AC3E}">
        <p14:creationId xmlns:p14="http://schemas.microsoft.com/office/powerpoint/2010/main" val="456607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15</a:t>
            </a:fld>
            <a:endParaRPr lang="pt-BR"/>
          </a:p>
        </p:txBody>
      </p:sp>
    </p:spTree>
    <p:extLst>
      <p:ext uri="{BB962C8B-B14F-4D97-AF65-F5344CB8AC3E}">
        <p14:creationId xmlns:p14="http://schemas.microsoft.com/office/powerpoint/2010/main" val="26896843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17</a:t>
            </a:fld>
            <a:endParaRPr lang="pt-BR"/>
          </a:p>
        </p:txBody>
      </p:sp>
    </p:spTree>
    <p:extLst>
      <p:ext uri="{BB962C8B-B14F-4D97-AF65-F5344CB8AC3E}">
        <p14:creationId xmlns:p14="http://schemas.microsoft.com/office/powerpoint/2010/main" val="282220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18</a:t>
            </a:fld>
            <a:endParaRPr lang="pt-BR"/>
          </a:p>
        </p:txBody>
      </p:sp>
    </p:spTree>
    <p:extLst>
      <p:ext uri="{BB962C8B-B14F-4D97-AF65-F5344CB8AC3E}">
        <p14:creationId xmlns:p14="http://schemas.microsoft.com/office/powerpoint/2010/main" val="1069369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B9B4FF-B06E-403C-A326-BDC64D8FF9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47BDFCE-746E-45BF-A319-4733D58D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EDE2778-5372-4104-B96D-968184DA8288}"/>
              </a:ext>
            </a:extLst>
          </p:cNvPr>
          <p:cNvSpPr>
            <a:spLocks noGrp="1"/>
          </p:cNvSpPr>
          <p:nvPr>
            <p:ph type="dt" sz="half" idx="10"/>
          </p:nvPr>
        </p:nvSpPr>
        <p:spPr/>
        <p:txBody>
          <a:bodyPr/>
          <a:lstStyle/>
          <a:p>
            <a:fld id="{63289F7E-B80B-496E-81B4-D396C37C9454}" type="datetimeFigureOut">
              <a:rPr lang="pt-BR" smtClean="0"/>
              <a:t>01/02/2026</a:t>
            </a:fld>
            <a:endParaRPr lang="pt-BR"/>
          </a:p>
        </p:txBody>
      </p:sp>
      <p:sp>
        <p:nvSpPr>
          <p:cNvPr id="5" name="Espaço Reservado para Rodapé 4">
            <a:extLst>
              <a:ext uri="{FF2B5EF4-FFF2-40B4-BE49-F238E27FC236}">
                <a16:creationId xmlns:a16="http://schemas.microsoft.com/office/drawing/2014/main" id="{C1DD0F41-C861-4051-988D-3024A37A4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7E5967E-D980-431A-A5DB-3F0C5030A81E}"/>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64975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D44A5-8F21-4626-A01D-48A1C874B1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79E8085-65A9-48AA-951D-71D978BFF4ED}"/>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05BE1AF-51EA-425D-B188-DE7BD675009F}"/>
              </a:ext>
            </a:extLst>
          </p:cNvPr>
          <p:cNvSpPr>
            <a:spLocks noGrp="1"/>
          </p:cNvSpPr>
          <p:nvPr>
            <p:ph type="dt" sz="half" idx="10"/>
          </p:nvPr>
        </p:nvSpPr>
        <p:spPr/>
        <p:txBody>
          <a:bodyPr/>
          <a:lstStyle/>
          <a:p>
            <a:fld id="{63289F7E-B80B-496E-81B4-D396C37C9454}" type="datetimeFigureOut">
              <a:rPr lang="pt-BR" smtClean="0"/>
              <a:t>01/02/2026</a:t>
            </a:fld>
            <a:endParaRPr lang="pt-BR"/>
          </a:p>
        </p:txBody>
      </p:sp>
      <p:sp>
        <p:nvSpPr>
          <p:cNvPr id="5" name="Espaço Reservado para Rodapé 4">
            <a:extLst>
              <a:ext uri="{FF2B5EF4-FFF2-40B4-BE49-F238E27FC236}">
                <a16:creationId xmlns:a16="http://schemas.microsoft.com/office/drawing/2014/main" id="{121BE632-29CF-4CB9-B365-C9EF38F89BE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0CF3DD1-9AEC-4A57-B461-4E4DD86FAC1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68790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AB2FF0-A4D7-4E28-991D-FF26140D598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E2AC45B0-4145-40DB-8E61-105461170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50F1D3FB-740A-4EBA-A309-2CE71D12ECFB}"/>
              </a:ext>
            </a:extLst>
          </p:cNvPr>
          <p:cNvSpPr>
            <a:spLocks noGrp="1"/>
          </p:cNvSpPr>
          <p:nvPr>
            <p:ph type="dt" sz="half" idx="10"/>
          </p:nvPr>
        </p:nvSpPr>
        <p:spPr/>
        <p:txBody>
          <a:bodyPr/>
          <a:lstStyle/>
          <a:p>
            <a:fld id="{63289F7E-B80B-496E-81B4-D396C37C9454}" type="datetimeFigureOut">
              <a:rPr lang="pt-BR" smtClean="0"/>
              <a:t>01/02/2026</a:t>
            </a:fld>
            <a:endParaRPr lang="pt-BR"/>
          </a:p>
        </p:txBody>
      </p:sp>
      <p:sp>
        <p:nvSpPr>
          <p:cNvPr id="5" name="Espaço Reservado para Rodapé 4">
            <a:extLst>
              <a:ext uri="{FF2B5EF4-FFF2-40B4-BE49-F238E27FC236}">
                <a16:creationId xmlns:a16="http://schemas.microsoft.com/office/drawing/2014/main" id="{BDCAB18F-8715-4465-A940-F9C193A2AC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53466C6-8248-429F-8056-FF040BF509EB}"/>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46522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BB9F0-F14B-4A91-B2B7-35BC47FE4D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C1FC1C4-73DA-47A6-8496-B0B457F7D39A}"/>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E92F06A8-A449-4D92-9912-76873E529B3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38070A4-BC2F-4D55-BD8D-DEAF11BB9EE9}"/>
              </a:ext>
            </a:extLst>
          </p:cNvPr>
          <p:cNvSpPr>
            <a:spLocks noGrp="1"/>
          </p:cNvSpPr>
          <p:nvPr>
            <p:ph type="dt" sz="half" idx="10"/>
          </p:nvPr>
        </p:nvSpPr>
        <p:spPr/>
        <p:txBody>
          <a:bodyPr/>
          <a:lstStyle/>
          <a:p>
            <a:fld id="{63289F7E-B80B-496E-81B4-D396C37C9454}" type="datetimeFigureOut">
              <a:rPr lang="pt-BR" smtClean="0"/>
              <a:t>01/02/2026</a:t>
            </a:fld>
            <a:endParaRPr lang="pt-BR"/>
          </a:p>
        </p:txBody>
      </p:sp>
      <p:sp>
        <p:nvSpPr>
          <p:cNvPr id="6" name="Espaço Reservado para Rodapé 5">
            <a:extLst>
              <a:ext uri="{FF2B5EF4-FFF2-40B4-BE49-F238E27FC236}">
                <a16:creationId xmlns:a16="http://schemas.microsoft.com/office/drawing/2014/main" id="{45CC2DB8-844A-465F-BA9A-7734C80C7F4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CC606A8-097B-4040-94E0-CD8C88280D8F}"/>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89854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D66686-0143-4CB6-8C09-BA326F1E7AC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227AB85-F59E-4BCE-B846-4FA0992C2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3373456C-7319-4D0A-827D-D29F6B083F5D}"/>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CD109D0-2E83-4262-8029-A871CEC47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AD706E3A-CFBB-4A6C-A65F-D0360A9E74FE}"/>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172C0E5-5AF0-4805-BB51-443733CD2BD5}"/>
              </a:ext>
            </a:extLst>
          </p:cNvPr>
          <p:cNvSpPr>
            <a:spLocks noGrp="1"/>
          </p:cNvSpPr>
          <p:nvPr>
            <p:ph type="dt" sz="half" idx="10"/>
          </p:nvPr>
        </p:nvSpPr>
        <p:spPr/>
        <p:txBody>
          <a:bodyPr/>
          <a:lstStyle/>
          <a:p>
            <a:fld id="{63289F7E-B80B-496E-81B4-D396C37C9454}" type="datetimeFigureOut">
              <a:rPr lang="pt-BR" smtClean="0"/>
              <a:t>01/02/2026</a:t>
            </a:fld>
            <a:endParaRPr lang="pt-BR"/>
          </a:p>
        </p:txBody>
      </p:sp>
      <p:sp>
        <p:nvSpPr>
          <p:cNvPr id="8" name="Espaço Reservado para Rodapé 7">
            <a:extLst>
              <a:ext uri="{FF2B5EF4-FFF2-40B4-BE49-F238E27FC236}">
                <a16:creationId xmlns:a16="http://schemas.microsoft.com/office/drawing/2014/main" id="{0E801648-156F-497E-99CF-797DF48051E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EEE23D32-80E7-4796-A137-66BF842E4B53}"/>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7224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CE2379-C78F-47E1-8CFC-B846E7AF14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42600A9-7F92-4E22-9D94-E4717252A817}"/>
              </a:ext>
            </a:extLst>
          </p:cNvPr>
          <p:cNvSpPr>
            <a:spLocks noGrp="1"/>
          </p:cNvSpPr>
          <p:nvPr>
            <p:ph type="dt" sz="half" idx="10"/>
          </p:nvPr>
        </p:nvSpPr>
        <p:spPr/>
        <p:txBody>
          <a:bodyPr/>
          <a:lstStyle/>
          <a:p>
            <a:fld id="{63289F7E-B80B-496E-81B4-D396C37C9454}" type="datetimeFigureOut">
              <a:rPr lang="pt-BR" smtClean="0"/>
              <a:t>01/02/2026</a:t>
            </a:fld>
            <a:endParaRPr lang="pt-BR"/>
          </a:p>
        </p:txBody>
      </p:sp>
      <p:sp>
        <p:nvSpPr>
          <p:cNvPr id="4" name="Espaço Reservado para Rodapé 3">
            <a:extLst>
              <a:ext uri="{FF2B5EF4-FFF2-40B4-BE49-F238E27FC236}">
                <a16:creationId xmlns:a16="http://schemas.microsoft.com/office/drawing/2014/main" id="{192E6BED-F546-40CC-A2DF-99CBA853654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6091CC40-A8C4-4063-80EB-CC509962167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24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D19515C-212C-4EAE-84A3-8FF4BC844F1B}"/>
              </a:ext>
            </a:extLst>
          </p:cNvPr>
          <p:cNvSpPr>
            <a:spLocks noGrp="1"/>
          </p:cNvSpPr>
          <p:nvPr>
            <p:ph type="dt" sz="half" idx="10"/>
          </p:nvPr>
        </p:nvSpPr>
        <p:spPr/>
        <p:txBody>
          <a:bodyPr/>
          <a:lstStyle/>
          <a:p>
            <a:fld id="{63289F7E-B80B-496E-81B4-D396C37C9454}" type="datetimeFigureOut">
              <a:rPr lang="pt-BR" smtClean="0"/>
              <a:t>01/02/2026</a:t>
            </a:fld>
            <a:endParaRPr lang="pt-BR"/>
          </a:p>
        </p:txBody>
      </p:sp>
      <p:sp>
        <p:nvSpPr>
          <p:cNvPr id="3" name="Espaço Reservado para Rodapé 2">
            <a:extLst>
              <a:ext uri="{FF2B5EF4-FFF2-40B4-BE49-F238E27FC236}">
                <a16:creationId xmlns:a16="http://schemas.microsoft.com/office/drawing/2014/main" id="{94D3D120-B3E8-4C96-861D-7A4F12F49B3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2E49B68-FA1B-468B-9F17-D5C09243D454}"/>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18123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17BCBE-A897-4319-85EC-D87909C2498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4226F885-0204-4913-868B-4B8B82576F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00F9F784-A858-441B-8AB5-69709814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A4DC363A-5000-472E-8B17-02E7DCB8840A}"/>
              </a:ext>
            </a:extLst>
          </p:cNvPr>
          <p:cNvSpPr>
            <a:spLocks noGrp="1"/>
          </p:cNvSpPr>
          <p:nvPr>
            <p:ph type="dt" sz="half" idx="10"/>
          </p:nvPr>
        </p:nvSpPr>
        <p:spPr/>
        <p:txBody>
          <a:bodyPr/>
          <a:lstStyle/>
          <a:p>
            <a:fld id="{63289F7E-B80B-496E-81B4-D396C37C9454}" type="datetimeFigureOut">
              <a:rPr lang="pt-BR" smtClean="0"/>
              <a:t>01/02/2026</a:t>
            </a:fld>
            <a:endParaRPr lang="pt-BR"/>
          </a:p>
        </p:txBody>
      </p:sp>
      <p:sp>
        <p:nvSpPr>
          <p:cNvPr id="6" name="Espaço Reservado para Rodapé 5">
            <a:extLst>
              <a:ext uri="{FF2B5EF4-FFF2-40B4-BE49-F238E27FC236}">
                <a16:creationId xmlns:a16="http://schemas.microsoft.com/office/drawing/2014/main" id="{5548425D-2C21-4C56-BAD4-662978775C2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63E9726-E64C-42B2-AE8A-8C235A956B4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588610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086A78-3E74-450C-96A6-CA8AC37AF77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5F5B7312-975A-4DBC-9B2F-3652ADA00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AF805F5-1DFF-41C6-944C-7D79FE0D0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02113D81-8665-4516-BD81-C6A1F254EECD}"/>
              </a:ext>
            </a:extLst>
          </p:cNvPr>
          <p:cNvSpPr>
            <a:spLocks noGrp="1"/>
          </p:cNvSpPr>
          <p:nvPr>
            <p:ph type="dt" sz="half" idx="10"/>
          </p:nvPr>
        </p:nvSpPr>
        <p:spPr/>
        <p:txBody>
          <a:bodyPr/>
          <a:lstStyle/>
          <a:p>
            <a:fld id="{63289F7E-B80B-496E-81B4-D396C37C9454}" type="datetimeFigureOut">
              <a:rPr lang="pt-BR" smtClean="0"/>
              <a:t>01/02/2026</a:t>
            </a:fld>
            <a:endParaRPr lang="pt-BR"/>
          </a:p>
        </p:txBody>
      </p:sp>
      <p:sp>
        <p:nvSpPr>
          <p:cNvPr id="6" name="Espaço Reservado para Rodapé 5">
            <a:extLst>
              <a:ext uri="{FF2B5EF4-FFF2-40B4-BE49-F238E27FC236}">
                <a16:creationId xmlns:a16="http://schemas.microsoft.com/office/drawing/2014/main" id="{2B00C88B-FF32-40AA-A187-727D96FD786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04D1A2D-69F7-4B8F-A730-BC26DC340BA6}"/>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03464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36C49F-3E68-4175-81BA-3C3FEE44308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426FA736-3DD3-4D4E-B57B-BBE1D8F7D424}"/>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9E8855C-D8FD-48F6-B14E-861E0DE4D915}"/>
              </a:ext>
            </a:extLst>
          </p:cNvPr>
          <p:cNvSpPr>
            <a:spLocks noGrp="1"/>
          </p:cNvSpPr>
          <p:nvPr>
            <p:ph type="dt" sz="half" idx="10"/>
          </p:nvPr>
        </p:nvSpPr>
        <p:spPr/>
        <p:txBody>
          <a:bodyPr/>
          <a:lstStyle/>
          <a:p>
            <a:fld id="{63289F7E-B80B-496E-81B4-D396C37C9454}" type="datetimeFigureOut">
              <a:rPr lang="pt-BR" smtClean="0"/>
              <a:t>01/02/2026</a:t>
            </a:fld>
            <a:endParaRPr lang="pt-BR"/>
          </a:p>
        </p:txBody>
      </p:sp>
      <p:sp>
        <p:nvSpPr>
          <p:cNvPr id="5" name="Espaço Reservado para Rodapé 4">
            <a:extLst>
              <a:ext uri="{FF2B5EF4-FFF2-40B4-BE49-F238E27FC236}">
                <a16:creationId xmlns:a16="http://schemas.microsoft.com/office/drawing/2014/main" id="{97C0BB88-2F21-42A5-ACFF-83DA47F2D3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CB462B3-1F22-4C05-B4B8-7A279FB7D5E9}"/>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55348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EAB728-701C-4207-A9D5-23FF45C6050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BA8C8CCF-7823-480A-9A19-0F664DD17E3B}"/>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21D5734-7B1F-425D-942F-6EB73344027C}"/>
              </a:ext>
            </a:extLst>
          </p:cNvPr>
          <p:cNvSpPr>
            <a:spLocks noGrp="1"/>
          </p:cNvSpPr>
          <p:nvPr>
            <p:ph type="dt" sz="half" idx="10"/>
          </p:nvPr>
        </p:nvSpPr>
        <p:spPr/>
        <p:txBody>
          <a:bodyPr/>
          <a:lstStyle/>
          <a:p>
            <a:fld id="{63289F7E-B80B-496E-81B4-D396C37C9454}" type="datetimeFigureOut">
              <a:rPr lang="pt-BR" smtClean="0"/>
              <a:t>01/02/2026</a:t>
            </a:fld>
            <a:endParaRPr lang="pt-BR"/>
          </a:p>
        </p:txBody>
      </p:sp>
      <p:sp>
        <p:nvSpPr>
          <p:cNvPr id="5" name="Espaço Reservado para Rodapé 4">
            <a:extLst>
              <a:ext uri="{FF2B5EF4-FFF2-40B4-BE49-F238E27FC236}">
                <a16:creationId xmlns:a16="http://schemas.microsoft.com/office/drawing/2014/main" id="{1E1AAEAC-F08D-45FE-89EC-B1B349A868C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A44493-9911-47B2-87A6-C2141A972BC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1824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69A0273-1966-4A1B-9370-4C1CE503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3B9CF87A-0448-49A7-AB25-EBC1D56A4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EF7B1F2-BB5A-44D0-816D-16AD2C714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89F7E-B80B-496E-81B4-D396C37C9454}" type="datetimeFigureOut">
              <a:rPr lang="pt-BR" smtClean="0"/>
              <a:t>01/02/2026</a:t>
            </a:fld>
            <a:endParaRPr lang="pt-BR"/>
          </a:p>
        </p:txBody>
      </p:sp>
      <p:sp>
        <p:nvSpPr>
          <p:cNvPr id="5" name="Espaço Reservado para Rodapé 4">
            <a:extLst>
              <a:ext uri="{FF2B5EF4-FFF2-40B4-BE49-F238E27FC236}">
                <a16:creationId xmlns:a16="http://schemas.microsoft.com/office/drawing/2014/main" id="{C703F94C-2CC8-4DAA-BC35-14FC3E841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4051336-7048-457A-8B61-D94291D71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E88B7-70CE-4035-AE73-13FA6FB985D4}" type="slidenum">
              <a:rPr lang="pt-BR" smtClean="0"/>
              <a:t>‹#›</a:t>
            </a:fld>
            <a:endParaRPr lang="pt-BR"/>
          </a:p>
        </p:txBody>
      </p:sp>
    </p:spTree>
    <p:extLst>
      <p:ext uri="{BB962C8B-B14F-4D97-AF65-F5344CB8AC3E}">
        <p14:creationId xmlns:p14="http://schemas.microsoft.com/office/powerpoint/2010/main" val="28362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felipe.figueiredo@Inatel.b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KOESdVaSZ-8" TargetMode="External"/><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google.com/search?num=10&amp;newwindow=1&amp;sca_esv=e53e8bd492977bc3&amp;rlz=1C1GCEU_pt-BRBR1059BR1059&amp;sxsrf=ANbL-n5PpOK2dek_6OxfzJs5F8juK5Dcbg%3A1769955671377&amp;q=RobustScaler&amp;source=lnms&amp;fbs=ADc_l-acAb_3MMOAUx0zmbUpgBqRiigBgL2I_pgQa-94zvB054Dys3s2x_Qm_GJcU2DlSXgtwykOhjc8tZDD70ApjQy2WFTWLsCiX8ls24HEzSp7mV5ANnBsZq0oH_O2pn--TU_U0UJ_feKXvDEJy01xF1VWzQmLL_YYtwngWUWhfUxy2vjWdjq_fcU3qvd813437lLjXD8A7uMi6JZosGaun5xOaqgOYJtGqB0xk7E2Ek03sELaZQE&amp;sa=X&amp;ved=2ahUKEwield7ZvriSAxW7ppUCHZW3A9IQgK4QegQIBhAF&amp;biw=1280&amp;bih=607&amp;dpr=1.5&amp;aic=0&amp;mstk=AUtExfCBlQZ2lMfdxlh_AQn53aVFMExJx8IKS3NRE6P1fG4rfPzetuyeGg6wp6vJV1j7dMvROsACZlCB8xNNtVImp5pMtT3uxpq2Ha8yQajElC432ZquraTOnt2UGSm5vArdzYbyw9Vn-9VjBOYLtg8NnVJttq-ktDn0_zX3rOWLRdIfAlIRftFTYIBPzxZzBRbcS4sMYpHOzEVmE_MZDI4puJ7k_g&amp;csui=3" TargetMode="External"/><Relationship Id="rId5" Type="http://schemas.openxmlformats.org/officeDocument/2006/relationships/hyperlink" Target="https://www.google.com/search?num=10&amp;newwindow=1&amp;sca_esv=e53e8bd492977bc3&amp;rlz=1C1GCEU_pt-BRBR1059BR1059&amp;sxsrf=ANbL-n5PpOK2dek_6OxfzJs5F8juK5Dcbg%3A1769955671377&amp;q=MinMaxScaler&amp;source=lnms&amp;fbs=ADc_l-acAb_3MMOAUx0zmbUpgBqRiigBgL2I_pgQa-94zvB054Dys3s2x_Qm_GJcU2DlSXgtwykOhjc8tZDD70ApjQy2WFTWLsCiX8ls24HEzSp7mV5ANnBsZq0oH_O2pn--TU_U0UJ_feKXvDEJy01xF1VWzQmLL_YYtwngWUWhfUxy2vjWdjq_fcU3qvd813437lLjXD8A7uMi6JZosGaun5xOaqgOYJtGqB0xk7E2Ek03sELaZQE&amp;sa=X&amp;ved=2ahUKEwield7ZvriSAxW7ppUCHZW3A9IQgK4QegQIBhAD&amp;biw=1280&amp;bih=607&amp;dpr=1.5&amp;aic=0&amp;mstk=AUtExfCBlQZ2lMfdxlh_AQn53aVFMExJx8IKS3NRE6P1fG4rfPzetuyeGg6wp6vJV1j7dMvROsACZlCB8xNNtVImp5pMtT3uxpq2Ha8yQajElC432ZquraTOnt2UGSm5vArdzYbyw9Vn-9VjBOYLtg8NnVJttq-ktDn0_zX3rOWLRdIfAlIRftFTYIBPzxZzBRbcS4sMYpHOzEVmE_MZDI4puJ7k_g&amp;csui=3" TargetMode="External"/><Relationship Id="rId4" Type="http://schemas.openxmlformats.org/officeDocument/2006/relationships/hyperlink" Target="https://www.google.com/search?num=10&amp;newwindow=1&amp;sca_esv=e53e8bd492977bc3&amp;rlz=1C1GCEU_pt-BRBR1059BR1059&amp;sxsrf=ANbL-n5PpOK2dek_6OxfzJs5F8juK5Dcbg%3A1769955671377&amp;q=StandardScaler&amp;source=lnms&amp;fbs=ADc_l-acAb_3MMOAUx0zmbUpgBqRiigBgL2I_pgQa-94zvB054Dys3s2x_Qm_GJcU2DlSXgtwykOhjc8tZDD70ApjQy2WFTWLsCiX8ls24HEzSp7mV5ANnBsZq0oH_O2pn--TU_U0UJ_feKXvDEJy01xF1VWzQmLL_YYtwngWUWhfUxy2vjWdjq_fcU3qvd813437lLjXD8A7uMi6JZosGaun5xOaqgOYJtGqB0xk7E2Ek03sELaZQE&amp;sa=X&amp;ved=2ahUKEwield7ZvriSAxW7ppUCHZW3A9IQgK4QegQIBhAB&amp;biw=1280&amp;bih=607&amp;dpr=1.5&amp;aic=0&amp;mstk=AUtExfCBlQZ2lMfdxlh_AQn53aVFMExJx8IKS3NRE6P1fG4rfPzetuyeGg6wp6vJV1j7dMvROsACZlCB8xNNtVImp5pMtT3uxpq2Ha8yQajElC432ZquraTOnt2UGSm5vArdzYbyw9Vn-9VjBOYLtg8NnVJttq-ktDn0_zX3rOWLRdIfAlIRftFTYIBPzxZzBRbcS4sMYpHOzEVmE_MZDI4puJ7k_g&amp;csui=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430EB894-B7D4-434C-9D1A-A14094D9BEEC}"/>
              </a:ext>
            </a:extLst>
          </p:cNvPr>
          <p:cNvSpPr txBox="1"/>
          <p:nvPr/>
        </p:nvSpPr>
        <p:spPr>
          <a:xfrm>
            <a:off x="7915801" y="5780602"/>
            <a:ext cx="4004345" cy="677108"/>
          </a:xfrm>
          <a:prstGeom prst="rect">
            <a:avLst/>
          </a:prstGeom>
          <a:noFill/>
        </p:spPr>
        <p:txBody>
          <a:bodyPr wrap="square" rtlCol="0">
            <a:spAutoFit/>
          </a:bodyPr>
          <a:lstStyle/>
          <a:p>
            <a:r>
              <a:rPr lang="pt-BR" sz="2000" dirty="0"/>
              <a:t>Felipe A. P. de Figueiredo</a:t>
            </a:r>
          </a:p>
          <a:p>
            <a:r>
              <a:rPr lang="pt-BR" dirty="0">
                <a:hlinkClick r:id="rId3"/>
              </a:rPr>
              <a:t>felipe.figueiredo@Inatel.br</a:t>
            </a:r>
            <a:endParaRPr lang="pt-BR" dirty="0"/>
          </a:p>
        </p:txBody>
      </p:sp>
      <p:pic>
        <p:nvPicPr>
          <p:cNvPr id="1026" name="Picture 2" descr="Logo">
            <a:extLst>
              <a:ext uri="{FF2B5EF4-FFF2-40B4-BE49-F238E27FC236}">
                <a16:creationId xmlns:a16="http://schemas.microsoft.com/office/drawing/2014/main" id="{3F2642E0-4F6A-4196-8F58-E77D36E9A33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8759" b="28872"/>
          <a:stretch/>
        </p:blipFill>
        <p:spPr bwMode="auto">
          <a:xfrm>
            <a:off x="393306" y="5780602"/>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id="{810CE0A2-4102-44A6-A370-175E7896CDCB}"/>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0193" t="8107" r="14530" b="5794"/>
          <a:stretch/>
        </p:blipFill>
        <p:spPr bwMode="auto">
          <a:xfrm>
            <a:off x="4965305" y="3439886"/>
            <a:ext cx="2261389" cy="2237061"/>
          </a:xfrm>
          <a:prstGeom prst="rect">
            <a:avLst/>
          </a:prstGeom>
          <a:noFill/>
          <a:extLst>
            <a:ext uri="{909E8E84-426E-40DD-AFC4-6F175D3DCCD1}">
              <a14:hiddenFill xmlns:a14="http://schemas.microsoft.com/office/drawing/2010/main">
                <a:solidFill>
                  <a:srgbClr val="FFFFFF"/>
                </a:solidFill>
              </a14:hiddenFill>
            </a:ext>
          </a:extLst>
        </p:spPr>
      </p:pic>
      <p:sp>
        <p:nvSpPr>
          <p:cNvPr id="7" name="Título 1">
            <a:extLst>
              <a:ext uri="{FF2B5EF4-FFF2-40B4-BE49-F238E27FC236}">
                <a16:creationId xmlns:a16="http://schemas.microsoft.com/office/drawing/2014/main" id="{32666AC8-2E17-4DB4-B0F5-60C640CCFD2E}"/>
              </a:ext>
            </a:extLst>
          </p:cNvPr>
          <p:cNvSpPr>
            <a:spLocks noGrp="1"/>
          </p:cNvSpPr>
          <p:nvPr>
            <p:ph type="ctrTitle"/>
          </p:nvPr>
        </p:nvSpPr>
        <p:spPr>
          <a:xfrm>
            <a:off x="631767" y="836433"/>
            <a:ext cx="10906298" cy="2690156"/>
          </a:xfrm>
        </p:spPr>
        <p:txBody>
          <a:bodyPr anchor="ctr">
            <a:noAutofit/>
          </a:bodyPr>
          <a:lstStyle/>
          <a:p>
            <a:r>
              <a:rPr lang="pt-BR" sz="6600" dirty="0"/>
              <a:t>C24 - Inteligência Artificial:</a:t>
            </a:r>
            <a:br>
              <a:rPr lang="pt-BR" sz="7200" dirty="0"/>
            </a:br>
            <a:r>
              <a:rPr lang="pt-BR" sz="7200" b="1" i="1" dirty="0"/>
              <a:t>Transformações dos dados</a:t>
            </a:r>
          </a:p>
        </p:txBody>
      </p:sp>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5778595-FA45-2665-F4CA-BDE6194966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043" y="1366894"/>
            <a:ext cx="8171095" cy="4456961"/>
          </a:xfrm>
          <a:prstGeom prst="rect">
            <a:avLst/>
          </a:prstGeom>
        </p:spPr>
      </p:pic>
      <p:sp>
        <p:nvSpPr>
          <p:cNvPr id="7" name="TextBox 6">
            <a:extLst>
              <a:ext uri="{FF2B5EF4-FFF2-40B4-BE49-F238E27FC236}">
                <a16:creationId xmlns:a16="http://schemas.microsoft.com/office/drawing/2014/main" id="{0998BB58-D4F0-B94D-2632-92980C5EFACB}"/>
              </a:ext>
            </a:extLst>
          </p:cNvPr>
          <p:cNvSpPr txBox="1"/>
          <p:nvPr/>
        </p:nvSpPr>
        <p:spPr>
          <a:xfrm>
            <a:off x="8643256" y="2564324"/>
            <a:ext cx="3145971" cy="2062103"/>
          </a:xfrm>
          <a:prstGeom prst="rect">
            <a:avLst/>
          </a:prstGeom>
          <a:noFill/>
        </p:spPr>
        <p:txBody>
          <a:bodyPr wrap="square" rtlCol="0">
            <a:spAutoFit/>
          </a:bodyPr>
          <a:lstStyle/>
          <a:p>
            <a:pPr algn="ctr"/>
            <a:r>
              <a:rPr lang="pt-BR" sz="3200" dirty="0"/>
              <a:t>Continuamos na jornada de curadoria dos dados.</a:t>
            </a:r>
            <a:endParaRPr lang="en-US" sz="3200" dirty="0"/>
          </a:p>
        </p:txBody>
      </p:sp>
    </p:spTree>
    <p:extLst>
      <p:ext uri="{BB962C8B-B14F-4D97-AF65-F5344CB8AC3E}">
        <p14:creationId xmlns:p14="http://schemas.microsoft.com/office/powerpoint/2010/main" val="1598644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E138C-5788-AD2E-09D4-61ED99259645}"/>
              </a:ext>
            </a:extLst>
          </p:cNvPr>
          <p:cNvSpPr>
            <a:spLocks noGrp="1"/>
          </p:cNvSpPr>
          <p:nvPr>
            <p:ph type="title"/>
          </p:nvPr>
        </p:nvSpPr>
        <p:spPr/>
        <p:txBody>
          <a:bodyPr/>
          <a:lstStyle/>
          <a:p>
            <a:r>
              <a:rPr lang="pt-BR" dirty="0"/>
              <a:t>O que veremos?</a:t>
            </a:r>
            <a:endParaRPr lang="en-US" dirty="0"/>
          </a:p>
        </p:txBody>
      </p:sp>
      <p:sp>
        <p:nvSpPr>
          <p:cNvPr id="3" name="Content Placeholder 2">
            <a:extLst>
              <a:ext uri="{FF2B5EF4-FFF2-40B4-BE49-F238E27FC236}">
                <a16:creationId xmlns:a16="http://schemas.microsoft.com/office/drawing/2014/main" id="{237157C1-7A3A-AC9B-369C-8CDFEAD7A84F}"/>
              </a:ext>
            </a:extLst>
          </p:cNvPr>
          <p:cNvSpPr>
            <a:spLocks noGrp="1"/>
          </p:cNvSpPr>
          <p:nvPr>
            <p:ph idx="1"/>
          </p:nvPr>
        </p:nvSpPr>
        <p:spPr>
          <a:xfrm>
            <a:off x="838199" y="1825625"/>
            <a:ext cx="11070771" cy="4351338"/>
          </a:xfrm>
        </p:spPr>
        <p:txBody>
          <a:bodyPr/>
          <a:lstStyle/>
          <a:p>
            <a:r>
              <a:rPr lang="pt-BR" dirty="0"/>
              <a:t>Veremos algumas técnicas de transformação ou pré-processamento dos dados:</a:t>
            </a:r>
          </a:p>
          <a:p>
            <a:pPr lvl="1">
              <a:buFont typeface="Wingdings" panose="05000000000000000000" pitchFamily="2" charset="2"/>
              <a:buChar char="§"/>
            </a:pPr>
            <a:r>
              <a:rPr lang="en-US" dirty="0" err="1"/>
              <a:t>Escalonamento</a:t>
            </a:r>
            <a:r>
              <a:rPr lang="en-US" dirty="0"/>
              <a:t> de </a:t>
            </a:r>
            <a:r>
              <a:rPr lang="en-US" dirty="0" err="1"/>
              <a:t>atributos</a:t>
            </a:r>
            <a:r>
              <a:rPr lang="en-US" dirty="0"/>
              <a:t>, </a:t>
            </a:r>
          </a:p>
          <a:p>
            <a:pPr lvl="1">
              <a:buFont typeface="Wingdings" panose="05000000000000000000" pitchFamily="2" charset="2"/>
              <a:buChar char="§"/>
            </a:pPr>
            <a:r>
              <a:rPr lang="en-US" dirty="0" err="1"/>
              <a:t>Codificação</a:t>
            </a:r>
            <a:r>
              <a:rPr lang="en-US" dirty="0"/>
              <a:t> de </a:t>
            </a:r>
            <a:r>
              <a:rPr lang="en-US" dirty="0" err="1"/>
              <a:t>atributos</a:t>
            </a:r>
            <a:r>
              <a:rPr lang="en-US" dirty="0"/>
              <a:t>, </a:t>
            </a:r>
          </a:p>
          <a:p>
            <a:pPr lvl="1">
              <a:buFont typeface="Wingdings" panose="05000000000000000000" pitchFamily="2" charset="2"/>
              <a:buChar char="§"/>
            </a:pPr>
            <a:r>
              <a:rPr lang="en-US" dirty="0" err="1"/>
              <a:t>Engenharia</a:t>
            </a:r>
            <a:r>
              <a:rPr lang="en-US" dirty="0"/>
              <a:t> de </a:t>
            </a:r>
            <a:r>
              <a:rPr lang="en-US" dirty="0" err="1"/>
              <a:t>atributos</a:t>
            </a:r>
            <a:r>
              <a:rPr lang="en-US" dirty="0"/>
              <a:t>, </a:t>
            </a:r>
          </a:p>
          <a:p>
            <a:pPr lvl="1">
              <a:buFont typeface="Wingdings" panose="05000000000000000000" pitchFamily="2" charset="2"/>
              <a:buChar char="§"/>
            </a:pPr>
            <a:r>
              <a:rPr lang="en-US" dirty="0" err="1"/>
              <a:t>Seleção</a:t>
            </a:r>
            <a:r>
              <a:rPr lang="en-US" dirty="0"/>
              <a:t> de </a:t>
            </a:r>
            <a:r>
              <a:rPr lang="en-US" dirty="0" err="1"/>
              <a:t>atribuitos</a:t>
            </a:r>
            <a:r>
              <a:rPr lang="en-US" dirty="0"/>
              <a:t>,</a:t>
            </a:r>
          </a:p>
          <a:p>
            <a:pPr lvl="1">
              <a:buFont typeface="Wingdings" panose="05000000000000000000" pitchFamily="2" charset="2"/>
              <a:buChar char="§"/>
            </a:pPr>
            <a:r>
              <a:rPr lang="en-US" dirty="0" err="1"/>
              <a:t>Redução</a:t>
            </a:r>
            <a:r>
              <a:rPr lang="en-US" dirty="0"/>
              <a:t> de </a:t>
            </a:r>
            <a:r>
              <a:rPr lang="en-US" dirty="0" err="1"/>
              <a:t>dimensionalidade</a:t>
            </a:r>
            <a:r>
              <a:rPr lang="en-US" dirty="0"/>
              <a:t> dos dados,</a:t>
            </a:r>
          </a:p>
          <a:p>
            <a:pPr lvl="1">
              <a:buFont typeface="Wingdings" panose="05000000000000000000" pitchFamily="2" charset="2"/>
              <a:buChar char="§"/>
            </a:pPr>
            <a:r>
              <a:rPr lang="en-US" dirty="0" err="1"/>
              <a:t>Divisão</a:t>
            </a:r>
            <a:r>
              <a:rPr lang="en-US" dirty="0"/>
              <a:t> do </a:t>
            </a:r>
            <a:r>
              <a:rPr lang="en-US" i="1" dirty="0"/>
              <a:t>dataset</a:t>
            </a:r>
            <a:r>
              <a:rPr lang="en-US" dirty="0"/>
              <a:t>.</a:t>
            </a:r>
          </a:p>
        </p:txBody>
      </p:sp>
    </p:spTree>
    <p:extLst>
      <p:ext uri="{BB962C8B-B14F-4D97-AF65-F5344CB8AC3E}">
        <p14:creationId xmlns:p14="http://schemas.microsoft.com/office/powerpoint/2010/main" val="2078483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55A6E-1BBE-1B2F-EFA7-34BD6DADFF31}"/>
              </a:ext>
            </a:extLst>
          </p:cNvPr>
          <p:cNvSpPr>
            <a:spLocks noGrp="1"/>
          </p:cNvSpPr>
          <p:nvPr>
            <p:ph type="title"/>
          </p:nvPr>
        </p:nvSpPr>
        <p:spPr/>
        <p:txBody>
          <a:bodyPr/>
          <a:lstStyle/>
          <a:p>
            <a:r>
              <a:rPr lang="en-US" dirty="0" err="1"/>
              <a:t>Escalonamento</a:t>
            </a:r>
            <a:r>
              <a:rPr lang="en-US" dirty="0"/>
              <a:t> de </a:t>
            </a:r>
            <a:r>
              <a:rPr lang="en-US" dirty="0" err="1"/>
              <a:t>atributos</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E8F56E1-39E7-4262-76D8-430FD829E766}"/>
                  </a:ext>
                </a:extLst>
              </p:cNvPr>
              <p:cNvSpPr>
                <a:spLocks noGrp="1"/>
              </p:cNvSpPr>
              <p:nvPr>
                <p:ph idx="1"/>
              </p:nvPr>
            </p:nvSpPr>
            <p:spPr>
              <a:xfrm>
                <a:off x="5314950" y="1825624"/>
                <a:ext cx="6681108" cy="5032375"/>
              </a:xfrm>
            </p:spPr>
            <p:txBody>
              <a:bodyPr>
                <a:normAutofit/>
              </a:bodyPr>
              <a:lstStyle/>
              <a:p>
                <a:r>
                  <a:rPr lang="pt-BR" dirty="0"/>
                  <a:t>Precisamos colocar todos os dados na mesma régua (i.e., </a:t>
                </a:r>
                <a:r>
                  <a:rPr lang="pt-BR" b="1" dirty="0"/>
                  <a:t>escala</a:t>
                </a:r>
                <a:r>
                  <a:rPr lang="pt-BR" dirty="0"/>
                  <a:t>).</a:t>
                </a:r>
              </a:p>
              <a:p>
                <a:r>
                  <a:rPr lang="pt-BR" dirty="0"/>
                  <a:t>Imaginem criar um modelo para a previsão do preço de casas.</a:t>
                </a:r>
              </a:p>
              <a:p>
                <a:pPr lvl="1">
                  <a:buFont typeface="Wingdings" panose="05000000000000000000" pitchFamily="2" charset="2"/>
                  <a:buChar char="§"/>
                </a:pPr>
                <a:r>
                  <a:rPr lang="pt-BR" dirty="0"/>
                  <a:t>Atributo A: Número de quartos (1 a 5).</a:t>
                </a:r>
              </a:p>
              <a:p>
                <a:pPr lvl="1">
                  <a:buFont typeface="Wingdings" panose="05000000000000000000" pitchFamily="2" charset="2"/>
                  <a:buChar char="§"/>
                </a:pPr>
                <a:r>
                  <a:rPr lang="pt-BR" dirty="0"/>
                  <a:t>Atributo B: Área em </a:t>
                </a:r>
                <a14:m>
                  <m:oMath xmlns:m="http://schemas.openxmlformats.org/officeDocument/2006/math">
                    <m:sSup>
                      <m:sSupPr>
                        <m:ctrlPr>
                          <a:rPr lang="pt-BR" i="1" smtClean="0">
                            <a:latin typeface="Cambria Math" panose="02040503050406030204" pitchFamily="18" charset="0"/>
                          </a:rPr>
                        </m:ctrlPr>
                      </m:sSupPr>
                      <m:e>
                        <m:r>
                          <a:rPr lang="pt-BR" b="0" i="1" smtClean="0">
                            <a:latin typeface="Cambria Math" panose="02040503050406030204" pitchFamily="18" charset="0"/>
                          </a:rPr>
                          <m:t>𝑚</m:t>
                        </m:r>
                      </m:e>
                      <m:sup>
                        <m:r>
                          <a:rPr lang="pt-BR" b="0" i="1" smtClean="0">
                            <a:latin typeface="Cambria Math" panose="02040503050406030204" pitchFamily="18" charset="0"/>
                          </a:rPr>
                          <m:t>2</m:t>
                        </m:r>
                      </m:sup>
                    </m:sSup>
                  </m:oMath>
                </a14:m>
                <a:r>
                  <a:rPr lang="pt-BR" dirty="0"/>
                  <a:t> (40 a 500).</a:t>
                </a:r>
              </a:p>
              <a:p>
                <a:r>
                  <a:rPr lang="pt-BR" dirty="0"/>
                  <a:t>Para o modelo, 1 quarto é igual a 1 </a:t>
                </a:r>
                <a14:m>
                  <m:oMath xmlns:m="http://schemas.openxmlformats.org/officeDocument/2006/math">
                    <m:sSup>
                      <m:sSupPr>
                        <m:ctrlPr>
                          <a:rPr lang="pt-BR" i="1">
                            <a:latin typeface="Cambria Math" panose="02040503050406030204" pitchFamily="18" charset="0"/>
                          </a:rPr>
                        </m:ctrlPr>
                      </m:sSupPr>
                      <m:e>
                        <m:r>
                          <a:rPr lang="pt-BR" i="1">
                            <a:latin typeface="Cambria Math" panose="02040503050406030204" pitchFamily="18" charset="0"/>
                          </a:rPr>
                          <m:t>𝑚</m:t>
                        </m:r>
                      </m:e>
                      <m:sup>
                        <m:r>
                          <a:rPr lang="pt-BR" i="1">
                            <a:latin typeface="Cambria Math" panose="02040503050406030204" pitchFamily="18" charset="0"/>
                          </a:rPr>
                          <m:t>2</m:t>
                        </m:r>
                      </m:sup>
                    </m:sSup>
                  </m:oMath>
                </a14:m>
                <a:r>
                  <a:rPr lang="pt-BR" dirty="0"/>
                  <a:t>.</a:t>
                </a:r>
              </a:p>
              <a:p>
                <a:pPr lvl="1">
                  <a:buFont typeface="Wingdings" panose="05000000000000000000" pitchFamily="2" charset="2"/>
                  <a:buChar char="§"/>
                </a:pPr>
                <a:r>
                  <a:rPr lang="pt-BR" dirty="0"/>
                  <a:t>Os modelos não conhecem as unidades do mundo real, eles conhecem apenas números!</a:t>
                </a:r>
              </a:p>
            </p:txBody>
          </p:sp>
        </mc:Choice>
        <mc:Fallback>
          <p:sp>
            <p:nvSpPr>
              <p:cNvPr id="3" name="Content Placeholder 2">
                <a:extLst>
                  <a:ext uri="{FF2B5EF4-FFF2-40B4-BE49-F238E27FC236}">
                    <a16:creationId xmlns:a16="http://schemas.microsoft.com/office/drawing/2014/main" id="{8E8F56E1-39E7-4262-76D8-430FD829E766}"/>
                  </a:ext>
                </a:extLst>
              </p:cNvPr>
              <p:cNvSpPr>
                <a:spLocks noGrp="1" noRot="1" noChangeAspect="1" noMove="1" noResize="1" noEditPoints="1" noAdjustHandles="1" noChangeArrowheads="1" noChangeShapeType="1" noTextEdit="1"/>
              </p:cNvSpPr>
              <p:nvPr>
                <p:ph idx="1"/>
              </p:nvPr>
            </p:nvSpPr>
            <p:spPr>
              <a:xfrm>
                <a:off x="5314950" y="1825624"/>
                <a:ext cx="6681108" cy="5032375"/>
              </a:xfrm>
              <a:blipFill>
                <a:blip r:embed="rId3"/>
                <a:stretch>
                  <a:fillRect l="-1642" t="-1937" r="-1734"/>
                </a:stretch>
              </a:blipFill>
            </p:spPr>
            <p:txBody>
              <a:bodyPr/>
              <a:lstStyle/>
              <a:p>
                <a:r>
                  <a:rPr lang="en-US">
                    <a:noFill/>
                  </a:rPr>
                  <a:t> </a:t>
                </a:r>
              </a:p>
            </p:txBody>
          </p:sp>
        </mc:Fallback>
      </mc:AlternateContent>
      <p:pic>
        <p:nvPicPr>
          <p:cNvPr id="4098" name="Picture 2" descr="All about Feature Scaling | Towards Data Science">
            <a:extLst>
              <a:ext uri="{FF2B5EF4-FFF2-40B4-BE49-F238E27FC236}">
                <a16:creationId xmlns:a16="http://schemas.microsoft.com/office/drawing/2014/main" id="{E9F4CF00-3351-2EA1-5BB3-94F874A657C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3947" t="19206" r="23305" b="15555"/>
          <a:stretch>
            <a:fillRect/>
          </a:stretch>
        </p:blipFill>
        <p:spPr bwMode="auto">
          <a:xfrm>
            <a:off x="293913" y="2038577"/>
            <a:ext cx="4855991" cy="3850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5884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E7226-7B42-3182-D8AB-53A5644A3D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A1BEE6-4EE6-2F0F-46BF-CB428A23F7D1}"/>
              </a:ext>
            </a:extLst>
          </p:cNvPr>
          <p:cNvSpPr>
            <a:spLocks noGrp="1"/>
          </p:cNvSpPr>
          <p:nvPr>
            <p:ph type="title"/>
          </p:nvPr>
        </p:nvSpPr>
        <p:spPr/>
        <p:txBody>
          <a:bodyPr/>
          <a:lstStyle/>
          <a:p>
            <a:r>
              <a:rPr lang="en-US" dirty="0" err="1"/>
              <a:t>Escalonamento</a:t>
            </a:r>
            <a:r>
              <a:rPr lang="en-US" dirty="0"/>
              <a:t> de </a:t>
            </a:r>
            <a:r>
              <a:rPr lang="en-US" dirty="0" err="1"/>
              <a:t>atributos</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3CB23DF-6C9E-C6A9-F0A3-434E8D55B692}"/>
                  </a:ext>
                </a:extLst>
              </p:cNvPr>
              <p:cNvSpPr>
                <a:spLocks noGrp="1"/>
              </p:cNvSpPr>
              <p:nvPr>
                <p:ph idx="1"/>
              </p:nvPr>
            </p:nvSpPr>
            <p:spPr>
              <a:xfrm>
                <a:off x="6705601" y="1825624"/>
                <a:ext cx="5246914" cy="5032375"/>
              </a:xfrm>
            </p:spPr>
            <p:txBody>
              <a:bodyPr>
                <a:normAutofit lnSpcReduction="10000"/>
              </a:bodyPr>
              <a:lstStyle/>
              <a:p>
                <a:r>
                  <a:rPr lang="pt-BR" dirty="0"/>
                  <a:t>Precisamos colocar todos os dados na mesma régua (i.e., </a:t>
                </a:r>
                <a:r>
                  <a:rPr lang="pt-BR" b="1" dirty="0"/>
                  <a:t>escala</a:t>
                </a:r>
                <a:r>
                  <a:rPr lang="pt-BR" dirty="0"/>
                  <a:t>).</a:t>
                </a:r>
              </a:p>
              <a:p>
                <a:r>
                  <a:rPr lang="pt-BR" dirty="0"/>
                  <a:t>Imaginem criar um modelo para a previsão do preço de casas.</a:t>
                </a:r>
              </a:p>
              <a:p>
                <a:pPr lvl="1">
                  <a:buFont typeface="Wingdings" panose="05000000000000000000" pitchFamily="2" charset="2"/>
                  <a:buChar char="§"/>
                </a:pPr>
                <a:r>
                  <a:rPr lang="pt-BR" dirty="0"/>
                  <a:t>Atributo A: Número de quartos (1 a 5).</a:t>
                </a:r>
              </a:p>
              <a:p>
                <a:pPr lvl="1">
                  <a:buFont typeface="Wingdings" panose="05000000000000000000" pitchFamily="2" charset="2"/>
                  <a:buChar char="§"/>
                </a:pPr>
                <a:r>
                  <a:rPr lang="pt-BR" dirty="0"/>
                  <a:t>Atributo B: Área em </a:t>
                </a:r>
                <a14:m>
                  <m:oMath xmlns:m="http://schemas.openxmlformats.org/officeDocument/2006/math">
                    <m:sSup>
                      <m:sSupPr>
                        <m:ctrlPr>
                          <a:rPr lang="pt-BR" i="1" smtClean="0">
                            <a:latin typeface="Cambria Math" panose="02040503050406030204" pitchFamily="18" charset="0"/>
                          </a:rPr>
                        </m:ctrlPr>
                      </m:sSupPr>
                      <m:e>
                        <m:r>
                          <a:rPr lang="pt-BR" b="0" i="1" smtClean="0">
                            <a:latin typeface="Cambria Math" panose="02040503050406030204" pitchFamily="18" charset="0"/>
                          </a:rPr>
                          <m:t>𝑚</m:t>
                        </m:r>
                      </m:e>
                      <m:sup>
                        <m:r>
                          <a:rPr lang="pt-BR" b="0" i="1" smtClean="0">
                            <a:latin typeface="Cambria Math" panose="02040503050406030204" pitchFamily="18" charset="0"/>
                          </a:rPr>
                          <m:t>2</m:t>
                        </m:r>
                      </m:sup>
                    </m:sSup>
                  </m:oMath>
                </a14:m>
                <a:r>
                  <a:rPr lang="pt-BR" dirty="0"/>
                  <a:t> (40 a 500).</a:t>
                </a:r>
              </a:p>
              <a:p>
                <a:r>
                  <a:rPr lang="pt-BR" dirty="0"/>
                  <a:t>Para o modelo, 1 quarto é igual a 1 </a:t>
                </a:r>
                <a14:m>
                  <m:oMath xmlns:m="http://schemas.openxmlformats.org/officeDocument/2006/math">
                    <m:sSup>
                      <m:sSupPr>
                        <m:ctrlPr>
                          <a:rPr lang="pt-BR" i="1">
                            <a:latin typeface="Cambria Math" panose="02040503050406030204" pitchFamily="18" charset="0"/>
                          </a:rPr>
                        </m:ctrlPr>
                      </m:sSupPr>
                      <m:e>
                        <m:r>
                          <a:rPr lang="pt-BR" i="1">
                            <a:latin typeface="Cambria Math" panose="02040503050406030204" pitchFamily="18" charset="0"/>
                          </a:rPr>
                          <m:t>𝑚</m:t>
                        </m:r>
                      </m:e>
                      <m:sup>
                        <m:r>
                          <a:rPr lang="pt-BR" i="1">
                            <a:latin typeface="Cambria Math" panose="02040503050406030204" pitchFamily="18" charset="0"/>
                          </a:rPr>
                          <m:t>2</m:t>
                        </m:r>
                      </m:sup>
                    </m:sSup>
                  </m:oMath>
                </a14:m>
                <a:r>
                  <a:rPr lang="pt-BR" dirty="0"/>
                  <a:t>.</a:t>
                </a:r>
              </a:p>
              <a:p>
                <a:pPr lvl="1">
                  <a:buFont typeface="Wingdings" panose="05000000000000000000" pitchFamily="2" charset="2"/>
                  <a:buChar char="§"/>
                </a:pPr>
                <a:r>
                  <a:rPr lang="pt-BR" dirty="0"/>
                  <a:t>Os modelos não conhecem as unidades do mundo real, eles conhecem apenas números!</a:t>
                </a:r>
              </a:p>
            </p:txBody>
          </p:sp>
        </mc:Choice>
        <mc:Fallback>
          <p:sp>
            <p:nvSpPr>
              <p:cNvPr id="3" name="Content Placeholder 2">
                <a:extLst>
                  <a:ext uri="{FF2B5EF4-FFF2-40B4-BE49-F238E27FC236}">
                    <a16:creationId xmlns:a16="http://schemas.microsoft.com/office/drawing/2014/main" id="{B3CB23DF-6C9E-C6A9-F0A3-434E8D55B692}"/>
                  </a:ext>
                </a:extLst>
              </p:cNvPr>
              <p:cNvSpPr>
                <a:spLocks noGrp="1" noRot="1" noChangeAspect="1" noMove="1" noResize="1" noEditPoints="1" noAdjustHandles="1" noChangeArrowheads="1" noChangeShapeType="1" noTextEdit="1"/>
              </p:cNvSpPr>
              <p:nvPr>
                <p:ph idx="1"/>
              </p:nvPr>
            </p:nvSpPr>
            <p:spPr>
              <a:xfrm>
                <a:off x="6705601" y="1825624"/>
                <a:ext cx="5246914" cy="5032375"/>
              </a:xfrm>
              <a:blipFill>
                <a:blip r:embed="rId3"/>
                <a:stretch>
                  <a:fillRect l="-2091" t="-2663" r="-278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2E228E2A-3289-7CEE-B490-080A4F44354B}"/>
              </a:ext>
            </a:extLst>
          </p:cNvPr>
          <p:cNvPicPr>
            <a:picLocks noChangeAspect="1"/>
          </p:cNvPicPr>
          <p:nvPr/>
        </p:nvPicPr>
        <p:blipFill>
          <a:blip r:embed="rId4">
            <a:extLst>
              <a:ext uri="{28A0092B-C50C-407E-A947-70E740481C1C}">
                <a14:useLocalDpi xmlns:a14="http://schemas.microsoft.com/office/drawing/2010/main" val="0"/>
              </a:ext>
            </a:extLst>
          </a:blip>
          <a:srcRect t="10223"/>
          <a:stretch>
            <a:fillRect/>
          </a:stretch>
        </p:blipFill>
        <p:spPr>
          <a:xfrm>
            <a:off x="108857" y="2384466"/>
            <a:ext cx="6512302" cy="3189020"/>
          </a:xfrm>
          <a:prstGeom prst="rect">
            <a:avLst/>
          </a:prstGeom>
        </p:spPr>
      </p:pic>
    </p:spTree>
    <p:extLst>
      <p:ext uri="{BB962C8B-B14F-4D97-AF65-F5344CB8AC3E}">
        <p14:creationId xmlns:p14="http://schemas.microsoft.com/office/powerpoint/2010/main" val="731185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3B732-FD8C-AC6A-90A0-C71B105F5566}"/>
              </a:ext>
            </a:extLst>
          </p:cNvPr>
          <p:cNvSpPr>
            <a:spLocks noGrp="1"/>
          </p:cNvSpPr>
          <p:nvPr>
            <p:ph type="title"/>
          </p:nvPr>
        </p:nvSpPr>
        <p:spPr/>
        <p:txBody>
          <a:bodyPr/>
          <a:lstStyle/>
          <a:p>
            <a:r>
              <a:rPr lang="pt-BR" dirty="0"/>
              <a:t>Por que escalonar os</a:t>
            </a:r>
            <a:r>
              <a:rPr lang="en-US" dirty="0"/>
              <a:t> </a:t>
            </a:r>
            <a:r>
              <a:rPr lang="en-US" dirty="0" err="1"/>
              <a:t>atributos</a:t>
            </a:r>
            <a:r>
              <a:rPr lang="en-US" dirty="0"/>
              <a:t>?</a:t>
            </a:r>
          </a:p>
        </p:txBody>
      </p:sp>
      <p:sp>
        <p:nvSpPr>
          <p:cNvPr id="3" name="Content Placeholder 2">
            <a:extLst>
              <a:ext uri="{FF2B5EF4-FFF2-40B4-BE49-F238E27FC236}">
                <a16:creationId xmlns:a16="http://schemas.microsoft.com/office/drawing/2014/main" id="{637ED040-A025-7A5E-ECF6-6400B7A21C47}"/>
              </a:ext>
            </a:extLst>
          </p:cNvPr>
          <p:cNvSpPr>
            <a:spLocks noGrp="1"/>
          </p:cNvSpPr>
          <p:nvPr>
            <p:ph idx="1"/>
          </p:nvPr>
        </p:nvSpPr>
        <p:spPr>
          <a:xfrm>
            <a:off x="5497285" y="1825624"/>
            <a:ext cx="6498771" cy="5032375"/>
          </a:xfrm>
        </p:spPr>
        <p:txBody>
          <a:bodyPr>
            <a:normAutofit/>
          </a:bodyPr>
          <a:lstStyle/>
          <a:p>
            <a:r>
              <a:rPr lang="pt-BR" dirty="0"/>
              <a:t>Modelos de ML baseados em </a:t>
            </a:r>
            <a:r>
              <a:rPr lang="pt-BR" b="1" dirty="0"/>
              <a:t>distância</a:t>
            </a:r>
            <a:r>
              <a:rPr lang="pt-BR" dirty="0"/>
              <a:t> (e.g., KNN, SVM, PCA) ou </a:t>
            </a:r>
            <a:r>
              <a:rPr lang="pt-BR" b="1" dirty="0"/>
              <a:t>gradiente</a:t>
            </a:r>
            <a:r>
              <a:rPr lang="pt-BR" dirty="0"/>
              <a:t> (e.g., regressão linear/logística, redes neurais) são sensíveis à escala dos atributos.</a:t>
            </a:r>
          </a:p>
          <a:p>
            <a:r>
              <a:rPr lang="pt-BR" dirty="0"/>
              <a:t>Atributos com escala muito maior influenciam muito mais a previsão dos modelos do que atributos com escala menor.</a:t>
            </a:r>
          </a:p>
          <a:p>
            <a:pPr lvl="1">
              <a:buFont typeface="Wingdings" panose="05000000000000000000" pitchFamily="2" charset="2"/>
              <a:buChar char="§"/>
            </a:pPr>
            <a:r>
              <a:rPr lang="pt-BR" dirty="0"/>
              <a:t>No exemplo da previsão do preço de casas, o modelo ignoraria os quartos e focaria só na área.</a:t>
            </a:r>
          </a:p>
        </p:txBody>
      </p:sp>
      <p:pic>
        <p:nvPicPr>
          <p:cNvPr id="5122" name="Picture 2" descr="Why Feature Scaling Is Essential in Machine Learning | by Jack Ka-Chun, Yu  | Learning Data | Medium">
            <a:extLst>
              <a:ext uri="{FF2B5EF4-FFF2-40B4-BE49-F238E27FC236}">
                <a16:creationId xmlns:a16="http://schemas.microsoft.com/office/drawing/2014/main" id="{99B43FBF-4616-53AA-030A-E722F67C4B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90" t="6667" r="7461" b="9682"/>
          <a:stretch>
            <a:fillRect/>
          </a:stretch>
        </p:blipFill>
        <p:spPr bwMode="auto">
          <a:xfrm>
            <a:off x="620486" y="1919287"/>
            <a:ext cx="4561114" cy="4418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5051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1FC5D-6FEC-A156-FC5A-F69925275B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CAF9A-32DA-5822-59B2-8972B59B9FCF}"/>
              </a:ext>
            </a:extLst>
          </p:cNvPr>
          <p:cNvSpPr>
            <a:spLocks noGrp="1"/>
          </p:cNvSpPr>
          <p:nvPr>
            <p:ph type="title"/>
          </p:nvPr>
        </p:nvSpPr>
        <p:spPr/>
        <p:txBody>
          <a:bodyPr/>
          <a:lstStyle/>
          <a:p>
            <a:r>
              <a:rPr lang="pt-BR" dirty="0"/>
              <a:t>Por que escalonar os</a:t>
            </a:r>
            <a:r>
              <a:rPr lang="en-US" dirty="0"/>
              <a:t> </a:t>
            </a:r>
            <a:r>
              <a:rPr lang="en-US" dirty="0" err="1"/>
              <a:t>atributos</a:t>
            </a:r>
            <a:r>
              <a:rPr lang="en-US" dirty="0"/>
              <a:t>?</a:t>
            </a:r>
          </a:p>
        </p:txBody>
      </p:sp>
      <p:sp>
        <p:nvSpPr>
          <p:cNvPr id="3" name="Content Placeholder 2">
            <a:extLst>
              <a:ext uri="{FF2B5EF4-FFF2-40B4-BE49-F238E27FC236}">
                <a16:creationId xmlns:a16="http://schemas.microsoft.com/office/drawing/2014/main" id="{BF6B24C7-41C3-6780-C1B8-EBBB5A57F866}"/>
              </a:ext>
            </a:extLst>
          </p:cNvPr>
          <p:cNvSpPr>
            <a:spLocks noGrp="1"/>
          </p:cNvSpPr>
          <p:nvPr>
            <p:ph idx="1"/>
          </p:nvPr>
        </p:nvSpPr>
        <p:spPr>
          <a:xfrm>
            <a:off x="5464629" y="1825624"/>
            <a:ext cx="6542314" cy="5032375"/>
          </a:xfrm>
        </p:spPr>
        <p:txBody>
          <a:bodyPr>
            <a:normAutofit/>
          </a:bodyPr>
          <a:lstStyle/>
          <a:p>
            <a:r>
              <a:rPr lang="pt-BR" dirty="0"/>
              <a:t>Mas e se todos os atributos são importantes para a previsão do modelo?</a:t>
            </a:r>
          </a:p>
          <a:p>
            <a:r>
              <a:rPr lang="pt-BR" dirty="0"/>
              <a:t>O escalonamento iguala a influência dos atributos no modelo.</a:t>
            </a:r>
          </a:p>
          <a:p>
            <a:r>
              <a:rPr lang="pt-BR" dirty="0"/>
              <a:t>Escalonamento transforma valores de atributos para uma mesma escala, geralmente sem unidade definida.</a:t>
            </a:r>
          </a:p>
          <a:p>
            <a:r>
              <a:rPr lang="pt-BR" dirty="0"/>
              <a:t>Principais técnicas de escalonamento:</a:t>
            </a:r>
          </a:p>
          <a:p>
            <a:pPr lvl="1">
              <a:buFont typeface="Wingdings" panose="05000000000000000000" pitchFamily="2" charset="2"/>
              <a:buChar char="§"/>
            </a:pPr>
            <a:r>
              <a:rPr lang="pt-BR" dirty="0"/>
              <a:t>Padronização</a:t>
            </a:r>
          </a:p>
          <a:p>
            <a:pPr lvl="1">
              <a:buFont typeface="Wingdings" panose="05000000000000000000" pitchFamily="2" charset="2"/>
              <a:buChar char="§"/>
            </a:pPr>
            <a:r>
              <a:rPr lang="pt-BR" dirty="0"/>
              <a:t>Normalização</a:t>
            </a:r>
          </a:p>
          <a:p>
            <a:pPr lvl="1">
              <a:buFont typeface="Wingdings" panose="05000000000000000000" pitchFamily="2" charset="2"/>
              <a:buChar char="§"/>
            </a:pPr>
            <a:r>
              <a:rPr lang="pt-BR" dirty="0"/>
              <a:t>Escalonamento robusto</a:t>
            </a:r>
          </a:p>
          <a:p>
            <a:pPr lvl="1"/>
            <a:endParaRPr lang="pt-BR" b="1" dirty="0"/>
          </a:p>
        </p:txBody>
      </p:sp>
      <p:pic>
        <p:nvPicPr>
          <p:cNvPr id="4" name="Picture 2" descr="Why Feature Scaling Is Essential in Machine Learning | by Jack Ka-Chun, Yu  | Learning Data | Medium">
            <a:extLst>
              <a:ext uri="{FF2B5EF4-FFF2-40B4-BE49-F238E27FC236}">
                <a16:creationId xmlns:a16="http://schemas.microsoft.com/office/drawing/2014/main" id="{BB65CFC1-6B1D-D444-7DAB-75B58C5A828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90" t="6667" r="7461" b="9682"/>
          <a:stretch>
            <a:fillRect/>
          </a:stretch>
        </p:blipFill>
        <p:spPr bwMode="auto">
          <a:xfrm>
            <a:off x="620486" y="1919287"/>
            <a:ext cx="4561114" cy="4418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5983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E4DD6-C949-62F0-7FF2-D821C5B36B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30504D-CF81-0763-876C-200B893A15F3}"/>
              </a:ext>
            </a:extLst>
          </p:cNvPr>
          <p:cNvSpPr>
            <a:spLocks noGrp="1"/>
          </p:cNvSpPr>
          <p:nvPr>
            <p:ph type="title"/>
          </p:nvPr>
        </p:nvSpPr>
        <p:spPr/>
        <p:txBody>
          <a:bodyPr/>
          <a:lstStyle/>
          <a:p>
            <a:r>
              <a:rPr lang="en-US" dirty="0" err="1"/>
              <a:t>Normalização</a:t>
            </a:r>
            <a:r>
              <a:rPr lang="en-US" dirty="0"/>
              <a:t> (Min-Max Scaling)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1AE468C-2D90-73D6-314C-18370D8F7415}"/>
                  </a:ext>
                </a:extLst>
              </p:cNvPr>
              <p:cNvSpPr>
                <a:spLocks noGrp="1"/>
              </p:cNvSpPr>
              <p:nvPr>
                <p:ph idx="1"/>
              </p:nvPr>
            </p:nvSpPr>
            <p:spPr>
              <a:xfrm>
                <a:off x="838199" y="1825624"/>
                <a:ext cx="11179630" cy="5032375"/>
              </a:xfrm>
            </p:spPr>
            <p:txBody>
              <a:bodyPr>
                <a:normAutofit lnSpcReduction="10000"/>
              </a:bodyPr>
              <a:lstStyle/>
              <a:p>
                <a:r>
                  <a:rPr lang="pt-BR" b="1" dirty="0"/>
                  <a:t>Como funciona</a:t>
                </a:r>
                <a:r>
                  <a:rPr lang="pt-BR" dirty="0"/>
                  <a:t>: Transforma todos os valores numéricos para uma escala fixa, geralmente entre 0 e 1.</a:t>
                </a:r>
                <a:endParaRPr lang="pt-BR" b="1" dirty="0"/>
              </a:p>
              <a:p>
                <a:r>
                  <a:rPr lang="pt-BR" b="1" dirty="0"/>
                  <a:t>Fórmula:</a:t>
                </a:r>
              </a:p>
              <a:p>
                <a:pPr marL="0" indent="0" algn="ctr">
                  <a:buNone/>
                </a:pPr>
                <a14:m>
                  <m:oMathPara xmlns:m="http://schemas.openxmlformats.org/officeDocument/2006/math">
                    <m:oMathParaPr>
                      <m:jc m:val="centerGroup"/>
                    </m:oMathParaPr>
                    <m:oMath xmlns:m="http://schemas.openxmlformats.org/officeDocument/2006/math">
                      <m:sSup>
                        <m:sSupPr>
                          <m:ctrlPr>
                            <a:rPr lang="pt-BR" i="1" smtClean="0">
                              <a:latin typeface="Cambria Math" panose="02040503050406030204" pitchFamily="18" charset="0"/>
                            </a:rPr>
                          </m:ctrlPr>
                        </m:sSupPr>
                        <m:e>
                          <m:r>
                            <a:rPr lang="pt-BR" b="0" i="1" smtClean="0">
                              <a:latin typeface="Cambria Math" panose="02040503050406030204" pitchFamily="18" charset="0"/>
                            </a:rPr>
                            <m:t>𝑥</m:t>
                          </m:r>
                        </m:e>
                        <m:sup>
                          <m:r>
                            <a:rPr lang="pt-BR" b="0" i="1" smtClean="0">
                              <a:latin typeface="Cambria Math" panose="02040503050406030204" pitchFamily="18" charset="0"/>
                            </a:rPr>
                            <m:t>′</m:t>
                          </m:r>
                        </m:sup>
                      </m:sSup>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𝑥</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𝑚𝑖𝑛</m:t>
                              </m:r>
                            </m:sub>
                          </m:sSub>
                        </m:num>
                        <m:den>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𝑚</m:t>
                              </m:r>
                              <m:r>
                                <a:rPr lang="pt-BR" b="0" i="1" smtClean="0">
                                  <a:latin typeface="Cambria Math" panose="02040503050406030204" pitchFamily="18" charset="0"/>
                                </a:rPr>
                                <m:t>𝑎𝑥</m:t>
                              </m:r>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𝑚𝑖𝑛</m:t>
                              </m:r>
                            </m:sub>
                          </m:sSub>
                        </m:den>
                      </m:f>
                      <m:r>
                        <a:rPr lang="pt-BR" b="0" i="1" smtClean="0">
                          <a:latin typeface="Cambria Math" panose="02040503050406030204" pitchFamily="18" charset="0"/>
                        </a:rPr>
                        <m:t>,</m:t>
                      </m:r>
                    </m:oMath>
                  </m:oMathPara>
                </a14:m>
                <a:endParaRPr lang="pt-BR" b="0" dirty="0"/>
              </a:p>
              <a:p>
                <a:pPr marL="0" indent="0">
                  <a:buNone/>
                </a:pPr>
                <a:r>
                  <a:rPr lang="pt-BR" dirty="0"/>
                  <a:t>onde </a:t>
                </a:r>
                <a14:m>
                  <m:oMath xmlns:m="http://schemas.openxmlformats.org/officeDocument/2006/math">
                    <m:r>
                      <a:rPr lang="pt-BR" i="1">
                        <a:latin typeface="Cambria Math" panose="02040503050406030204" pitchFamily="18" charset="0"/>
                      </a:rPr>
                      <m:t>𝑥</m:t>
                    </m:r>
                  </m:oMath>
                </a14:m>
                <a:r>
                  <a:rPr lang="pt-BR" dirty="0"/>
                  <a:t> é o valor original,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𝑚𝑖𝑛</m:t>
                        </m:r>
                      </m:sub>
                    </m:sSub>
                  </m:oMath>
                </a14:m>
                <a:r>
                  <a:rPr lang="pt-BR" dirty="0"/>
                  <a:t> 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𝑚</m:t>
                        </m:r>
                        <m:r>
                          <a:rPr lang="pt-BR" b="0" i="1" smtClean="0">
                            <a:latin typeface="Cambria Math" panose="02040503050406030204" pitchFamily="18" charset="0"/>
                          </a:rPr>
                          <m:t>𝑎𝑥</m:t>
                        </m:r>
                      </m:sub>
                    </m:sSub>
                  </m:oMath>
                </a14:m>
                <a:r>
                  <a:rPr lang="pt-BR" dirty="0"/>
                  <a:t> são os valores mínimo e máximo de uma coluna (i.e., atributo).</a:t>
                </a:r>
              </a:p>
              <a:p>
                <a:r>
                  <a:rPr lang="pt-BR" b="1" dirty="0"/>
                  <a:t>Quando usar:</a:t>
                </a:r>
                <a:r>
                  <a:rPr lang="pt-BR" dirty="0"/>
                  <a:t> Dados sem </a:t>
                </a:r>
                <a:r>
                  <a:rPr lang="pt-BR" i="1" dirty="0"/>
                  <a:t>outliers</a:t>
                </a:r>
                <a:r>
                  <a:rPr lang="pt-BR" dirty="0"/>
                  <a:t>, com algoritmos que não pressupõem nenhuma distribuição (e.g., redes neurais, KNN) e/ou que exigem entradas limitadas.</a:t>
                </a:r>
              </a:p>
              <a:p>
                <a:r>
                  <a:rPr lang="pt-BR" b="1" dirty="0"/>
                  <a:t>Cuidado:</a:t>
                </a:r>
                <a:r>
                  <a:rPr lang="pt-BR" dirty="0"/>
                  <a:t> Muito sensível a </a:t>
                </a:r>
                <a:r>
                  <a:rPr lang="pt-BR" i="1" dirty="0"/>
                  <a:t>outliers. </a:t>
                </a:r>
                <a:r>
                  <a:rPr lang="pt-BR" dirty="0"/>
                  <a:t>Um </a:t>
                </a:r>
                <a:r>
                  <a:rPr lang="pt-BR" i="1" dirty="0"/>
                  <a:t>outlier</a:t>
                </a:r>
                <a:r>
                  <a:rPr lang="pt-BR" dirty="0"/>
                  <a:t> extremo “esmaga” todos os outros valores para um intervalo muito pequeno próximo de zero.</a:t>
                </a:r>
              </a:p>
            </p:txBody>
          </p:sp>
        </mc:Choice>
        <mc:Fallback>
          <p:sp>
            <p:nvSpPr>
              <p:cNvPr id="3" name="Content Placeholder 2">
                <a:extLst>
                  <a:ext uri="{FF2B5EF4-FFF2-40B4-BE49-F238E27FC236}">
                    <a16:creationId xmlns:a16="http://schemas.microsoft.com/office/drawing/2014/main" id="{D1AE468C-2D90-73D6-314C-18370D8F7415}"/>
                  </a:ext>
                </a:extLst>
              </p:cNvPr>
              <p:cNvSpPr>
                <a:spLocks noGrp="1" noRot="1" noChangeAspect="1" noMove="1" noResize="1" noEditPoints="1" noAdjustHandles="1" noChangeArrowheads="1" noChangeShapeType="1" noTextEdit="1"/>
              </p:cNvSpPr>
              <p:nvPr>
                <p:ph idx="1"/>
              </p:nvPr>
            </p:nvSpPr>
            <p:spPr>
              <a:xfrm>
                <a:off x="838199" y="1825624"/>
                <a:ext cx="11179630" cy="5032375"/>
              </a:xfrm>
              <a:blipFill>
                <a:blip r:embed="rId3"/>
                <a:stretch>
                  <a:fillRect l="-1091" t="-2663" r="-1690"/>
                </a:stretch>
              </a:blipFill>
            </p:spPr>
            <p:txBody>
              <a:bodyPr/>
              <a:lstStyle/>
              <a:p>
                <a:r>
                  <a:rPr lang="en-US">
                    <a:noFill/>
                  </a:rPr>
                  <a:t> </a:t>
                </a:r>
              </a:p>
            </p:txBody>
          </p:sp>
        </mc:Fallback>
      </mc:AlternateContent>
    </p:spTree>
    <p:extLst>
      <p:ext uri="{BB962C8B-B14F-4D97-AF65-F5344CB8AC3E}">
        <p14:creationId xmlns:p14="http://schemas.microsoft.com/office/powerpoint/2010/main" val="1023058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562E0-2AE8-02FC-9DCC-C800C01951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BB7EC-614D-E681-2988-577536743FD0}"/>
              </a:ext>
            </a:extLst>
          </p:cNvPr>
          <p:cNvSpPr>
            <a:spLocks noGrp="1"/>
          </p:cNvSpPr>
          <p:nvPr>
            <p:ph type="title"/>
          </p:nvPr>
        </p:nvSpPr>
        <p:spPr/>
        <p:txBody>
          <a:bodyPr/>
          <a:lstStyle/>
          <a:p>
            <a:r>
              <a:rPr lang="en-US" dirty="0" err="1"/>
              <a:t>Normalização</a:t>
            </a:r>
            <a:r>
              <a:rPr lang="en-US" dirty="0"/>
              <a:t> (Min-Max Scaling)</a:t>
            </a:r>
          </a:p>
        </p:txBody>
      </p:sp>
      <p:sp>
        <p:nvSpPr>
          <p:cNvPr id="3" name="Content Placeholder 2">
            <a:extLst>
              <a:ext uri="{FF2B5EF4-FFF2-40B4-BE49-F238E27FC236}">
                <a16:creationId xmlns:a16="http://schemas.microsoft.com/office/drawing/2014/main" id="{7A472B20-73AA-CEC0-1896-5F09B228AB36}"/>
              </a:ext>
            </a:extLst>
          </p:cNvPr>
          <p:cNvSpPr>
            <a:spLocks noGrp="1"/>
          </p:cNvSpPr>
          <p:nvPr>
            <p:ph idx="1"/>
          </p:nvPr>
        </p:nvSpPr>
        <p:spPr>
          <a:xfrm>
            <a:off x="838199" y="1825624"/>
            <a:ext cx="11179630" cy="5032375"/>
          </a:xfrm>
        </p:spPr>
        <p:txBody>
          <a:bodyPr>
            <a:normAutofit/>
          </a:bodyPr>
          <a:lstStyle/>
          <a:p>
            <a:pPr marL="0" indent="0">
              <a:buNone/>
            </a:pPr>
            <a:r>
              <a:rPr lang="pt-BR" dirty="0" err="1">
                <a:latin typeface="Consolas" panose="020B0609020204030204" pitchFamily="49" charset="0"/>
              </a:rPr>
              <a:t>from</a:t>
            </a:r>
            <a:r>
              <a:rPr lang="pt-BR" dirty="0">
                <a:latin typeface="Consolas" panose="020B0609020204030204" pitchFamily="49" charset="0"/>
              </a:rPr>
              <a:t> </a:t>
            </a:r>
            <a:r>
              <a:rPr lang="pt-BR" dirty="0" err="1">
                <a:latin typeface="Consolas" panose="020B0609020204030204" pitchFamily="49" charset="0"/>
              </a:rPr>
              <a:t>sklearn.preprocessing</a:t>
            </a:r>
            <a:r>
              <a:rPr lang="pt-BR" dirty="0">
                <a:latin typeface="Consolas" panose="020B0609020204030204" pitchFamily="49" charset="0"/>
              </a:rPr>
              <a:t> </a:t>
            </a:r>
            <a:r>
              <a:rPr lang="pt-BR" dirty="0" err="1">
                <a:latin typeface="Consolas" panose="020B0609020204030204" pitchFamily="49" charset="0"/>
              </a:rPr>
              <a:t>import</a:t>
            </a:r>
            <a:r>
              <a:rPr lang="pt-BR" dirty="0">
                <a:latin typeface="Consolas" panose="020B0609020204030204" pitchFamily="49" charset="0"/>
              </a:rPr>
              <a:t> </a:t>
            </a:r>
            <a:r>
              <a:rPr lang="pt-BR" dirty="0" err="1">
                <a:latin typeface="Consolas" panose="020B0609020204030204" pitchFamily="49" charset="0"/>
              </a:rPr>
              <a:t>MinMaxScaler</a:t>
            </a:r>
            <a:endParaRPr lang="pt-BR" dirty="0">
              <a:latin typeface="Consolas" panose="020B0609020204030204" pitchFamily="49" charset="0"/>
            </a:endParaRPr>
          </a:p>
          <a:p>
            <a:pPr marL="0" indent="0">
              <a:buNone/>
            </a:pPr>
            <a:endParaRPr lang="pt-BR" dirty="0">
              <a:latin typeface="Consolas" panose="020B0609020204030204" pitchFamily="49" charset="0"/>
            </a:endParaRPr>
          </a:p>
          <a:p>
            <a:pPr marL="0" indent="0">
              <a:buNone/>
            </a:pPr>
            <a:r>
              <a:rPr lang="pt-BR" i="1" dirty="0">
                <a:latin typeface="Consolas" panose="020B0609020204030204" pitchFamily="49" charset="0"/>
              </a:rPr>
              <a:t># Exemplo de dados</a:t>
            </a:r>
            <a:endParaRPr lang="pt-BR" dirty="0">
              <a:latin typeface="Consolas" panose="020B0609020204030204" pitchFamily="49" charset="0"/>
            </a:endParaRPr>
          </a:p>
          <a:p>
            <a:pPr marL="0" indent="0">
              <a:buNone/>
            </a:pPr>
            <a:r>
              <a:rPr lang="pt-BR" dirty="0">
                <a:latin typeface="Consolas" panose="020B0609020204030204" pitchFamily="49" charset="0"/>
              </a:rPr>
              <a:t>dados = [[-1, 2], [-0.5, 6], [0, 10], [1, 18]]</a:t>
            </a:r>
          </a:p>
          <a:p>
            <a:pPr marL="0" indent="0">
              <a:buNone/>
            </a:pPr>
            <a:endParaRPr lang="pt-BR" dirty="0">
              <a:latin typeface="Consolas" panose="020B0609020204030204" pitchFamily="49" charset="0"/>
            </a:endParaRPr>
          </a:p>
          <a:p>
            <a:pPr marL="0" indent="0">
              <a:buNone/>
            </a:pPr>
            <a:r>
              <a:rPr lang="pt-BR" i="1" dirty="0">
                <a:latin typeface="Consolas" panose="020B0609020204030204" pitchFamily="49" charset="0"/>
              </a:rPr>
              <a:t># Inicializa e aplica o escalonador</a:t>
            </a:r>
            <a:endParaRPr lang="pt-BR" dirty="0">
              <a:latin typeface="Consolas" panose="020B0609020204030204" pitchFamily="49" charset="0"/>
            </a:endParaRPr>
          </a:p>
          <a:p>
            <a:pPr marL="0" indent="0">
              <a:buNone/>
            </a:pPr>
            <a:r>
              <a:rPr lang="pt-BR" dirty="0" err="1">
                <a:latin typeface="Consolas" panose="020B0609020204030204" pitchFamily="49" charset="0"/>
              </a:rPr>
              <a:t>scaler</a:t>
            </a:r>
            <a:r>
              <a:rPr lang="pt-BR" dirty="0">
                <a:latin typeface="Consolas" panose="020B0609020204030204" pitchFamily="49" charset="0"/>
              </a:rPr>
              <a:t> = </a:t>
            </a:r>
            <a:r>
              <a:rPr lang="pt-BR" dirty="0" err="1">
                <a:latin typeface="Consolas" panose="020B0609020204030204" pitchFamily="49" charset="0"/>
              </a:rPr>
              <a:t>MinMaxScaler</a:t>
            </a:r>
            <a:r>
              <a:rPr lang="pt-BR" dirty="0">
                <a:latin typeface="Consolas" panose="020B0609020204030204" pitchFamily="49" charset="0"/>
              </a:rPr>
              <a:t>()</a:t>
            </a:r>
          </a:p>
          <a:p>
            <a:pPr marL="0" indent="0">
              <a:buNone/>
            </a:pPr>
            <a:r>
              <a:rPr lang="pt-BR" dirty="0" err="1">
                <a:latin typeface="Consolas" panose="020B0609020204030204" pitchFamily="49" charset="0"/>
              </a:rPr>
              <a:t>dados_normalizados</a:t>
            </a:r>
            <a:r>
              <a:rPr lang="pt-BR" dirty="0">
                <a:latin typeface="Consolas" panose="020B0609020204030204" pitchFamily="49" charset="0"/>
              </a:rPr>
              <a:t> = </a:t>
            </a:r>
            <a:r>
              <a:rPr lang="pt-BR" dirty="0" err="1">
                <a:latin typeface="Consolas" panose="020B0609020204030204" pitchFamily="49" charset="0"/>
              </a:rPr>
              <a:t>scaler.fit_transform</a:t>
            </a:r>
            <a:r>
              <a:rPr lang="pt-BR" dirty="0">
                <a:latin typeface="Consolas" panose="020B0609020204030204" pitchFamily="49" charset="0"/>
              </a:rPr>
              <a:t>(dados)</a:t>
            </a:r>
          </a:p>
        </p:txBody>
      </p:sp>
    </p:spTree>
    <p:extLst>
      <p:ext uri="{BB962C8B-B14F-4D97-AF65-F5344CB8AC3E}">
        <p14:creationId xmlns:p14="http://schemas.microsoft.com/office/powerpoint/2010/main" val="3737529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88CA0-AD15-F319-5BD3-1CF603A1B20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2CE608-79E4-6AB9-07A8-FA80CE49C283}"/>
              </a:ext>
            </a:extLst>
          </p:cNvPr>
          <p:cNvSpPr>
            <a:spLocks noGrp="1"/>
          </p:cNvSpPr>
          <p:nvPr>
            <p:ph idx="1"/>
          </p:nvPr>
        </p:nvSpPr>
        <p:spPr/>
        <p:txBody>
          <a:bodyPr>
            <a:normAutofit/>
          </a:bodyPr>
          <a:lstStyle/>
          <a:p>
            <a:r>
              <a:rPr lang="pt-BR" sz="5400" dirty="0">
                <a:solidFill>
                  <a:srgbClr val="FF0000"/>
                </a:solidFill>
              </a:rPr>
              <a:t>PAREI AQUIIIIIIIIIIIIII!!!!!!!!!!!!!!</a:t>
            </a:r>
            <a:endParaRPr lang="en-US" sz="5400" dirty="0">
              <a:solidFill>
                <a:srgbClr val="FF0000"/>
              </a:solidFill>
            </a:endParaRPr>
          </a:p>
        </p:txBody>
      </p:sp>
    </p:spTree>
    <p:extLst>
      <p:ext uri="{BB962C8B-B14F-4D97-AF65-F5344CB8AC3E}">
        <p14:creationId xmlns:p14="http://schemas.microsoft.com/office/powerpoint/2010/main" val="2728811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7E27A-F64F-BD37-64AC-DCE4D923EC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24F9A-6932-BA2B-0C8B-88280995A611}"/>
              </a:ext>
            </a:extLst>
          </p:cNvPr>
          <p:cNvSpPr>
            <a:spLocks noGrp="1"/>
          </p:cNvSpPr>
          <p:nvPr>
            <p:ph type="title"/>
          </p:nvPr>
        </p:nvSpPr>
        <p:spPr/>
        <p:txBody>
          <a:bodyPr/>
          <a:lstStyle/>
          <a:p>
            <a:r>
              <a:rPr lang="en-US" dirty="0" err="1"/>
              <a:t>Padronização</a:t>
            </a:r>
            <a:r>
              <a:rPr lang="en-US" dirty="0"/>
              <a:t> (Standard Scaling)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4E7A4F3-D98D-3713-FDAB-EE34883FF2A8}"/>
                  </a:ext>
                </a:extLst>
              </p:cNvPr>
              <p:cNvSpPr>
                <a:spLocks noGrp="1"/>
              </p:cNvSpPr>
              <p:nvPr>
                <p:ph idx="1"/>
              </p:nvPr>
            </p:nvSpPr>
            <p:spPr>
              <a:xfrm>
                <a:off x="838199" y="1825624"/>
                <a:ext cx="11179630" cy="5032375"/>
              </a:xfrm>
            </p:spPr>
            <p:txBody>
              <a:bodyPr>
                <a:normAutofit/>
              </a:bodyPr>
              <a:lstStyle/>
              <a:p>
                <a:r>
                  <a:rPr lang="pt-BR" b="1" dirty="0"/>
                  <a:t>Como funciona</a:t>
                </a:r>
                <a:r>
                  <a:rPr lang="pt-BR" dirty="0"/>
                  <a:t>: </a:t>
                </a:r>
              </a:p>
              <a:p>
                <a:r>
                  <a:rPr lang="pt-BR" b="1" dirty="0"/>
                  <a:t>Fórmula:</a:t>
                </a:r>
              </a:p>
              <a:p>
                <a:pPr marL="0" indent="0" algn="ctr">
                  <a:buNone/>
                </a:pPr>
                <a14:m>
                  <m:oMathPara xmlns:m="http://schemas.openxmlformats.org/officeDocument/2006/math">
                    <m:oMathParaPr>
                      <m:jc m:val="centerGroup"/>
                    </m:oMathParaPr>
                    <m:oMath xmlns:m="http://schemas.openxmlformats.org/officeDocument/2006/math">
                      <m:sSup>
                        <m:sSupPr>
                          <m:ctrlPr>
                            <a:rPr lang="pt-BR" i="1" smtClean="0">
                              <a:latin typeface="Cambria Math" panose="02040503050406030204" pitchFamily="18" charset="0"/>
                            </a:rPr>
                          </m:ctrlPr>
                        </m:sSupPr>
                        <m:e>
                          <m:r>
                            <a:rPr lang="pt-BR" b="0" i="1" smtClean="0">
                              <a:latin typeface="Cambria Math" panose="02040503050406030204" pitchFamily="18" charset="0"/>
                            </a:rPr>
                            <m:t>𝑥</m:t>
                          </m:r>
                        </m:e>
                        <m:sup>
                          <m:r>
                            <a:rPr lang="pt-BR" b="0" i="1" smtClean="0">
                              <a:latin typeface="Cambria Math" panose="02040503050406030204" pitchFamily="18" charset="0"/>
                            </a:rPr>
                            <m:t>′</m:t>
                          </m:r>
                        </m:sup>
                      </m:sSup>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𝑥</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𝑚𝑖𝑛</m:t>
                              </m:r>
                            </m:sub>
                          </m:sSub>
                        </m:num>
                        <m:den>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𝑚</m:t>
                              </m:r>
                              <m:r>
                                <a:rPr lang="pt-BR" b="0" i="1" smtClean="0">
                                  <a:latin typeface="Cambria Math" panose="02040503050406030204" pitchFamily="18" charset="0"/>
                                </a:rPr>
                                <m:t>𝑎𝑥</m:t>
                              </m:r>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𝑚𝑖𝑛</m:t>
                              </m:r>
                            </m:sub>
                          </m:sSub>
                        </m:den>
                      </m:f>
                      <m:r>
                        <a:rPr lang="pt-BR" b="0" i="1" smtClean="0">
                          <a:latin typeface="Cambria Math" panose="02040503050406030204" pitchFamily="18" charset="0"/>
                        </a:rPr>
                        <m:t>,</m:t>
                      </m:r>
                    </m:oMath>
                  </m:oMathPara>
                </a14:m>
                <a:endParaRPr lang="pt-BR" b="0" dirty="0"/>
              </a:p>
              <a:p>
                <a:pPr marL="0" indent="0">
                  <a:buNone/>
                </a:pPr>
                <a:r>
                  <a:rPr lang="pt-BR" dirty="0"/>
                  <a:t>onde </a:t>
                </a:r>
                <a14:m>
                  <m:oMath xmlns:m="http://schemas.openxmlformats.org/officeDocument/2006/math">
                    <m:r>
                      <a:rPr lang="pt-BR" i="1">
                        <a:latin typeface="Cambria Math" panose="02040503050406030204" pitchFamily="18" charset="0"/>
                      </a:rPr>
                      <m:t>𝑥</m:t>
                    </m:r>
                  </m:oMath>
                </a14:m>
                <a:r>
                  <a:rPr lang="pt-BR" dirty="0"/>
                  <a:t> é o valor original,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𝑚𝑖𝑛</m:t>
                        </m:r>
                      </m:sub>
                    </m:sSub>
                  </m:oMath>
                </a14:m>
                <a:r>
                  <a:rPr lang="pt-BR" dirty="0"/>
                  <a:t> 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𝑚</m:t>
                        </m:r>
                        <m:r>
                          <a:rPr lang="pt-BR" b="0" i="1" smtClean="0">
                            <a:latin typeface="Cambria Math" panose="02040503050406030204" pitchFamily="18" charset="0"/>
                          </a:rPr>
                          <m:t>𝑎𝑥</m:t>
                        </m:r>
                      </m:sub>
                    </m:sSub>
                  </m:oMath>
                </a14:m>
                <a:r>
                  <a:rPr lang="pt-BR" dirty="0"/>
                  <a:t> são os valores mínimo e máximo de uma coluna (i.e., atributo).</a:t>
                </a:r>
              </a:p>
              <a:p>
                <a:r>
                  <a:rPr lang="pt-BR" b="1" dirty="0"/>
                  <a:t>Quando usar:</a:t>
                </a:r>
                <a:endParaRPr lang="pt-BR" dirty="0"/>
              </a:p>
              <a:p>
                <a:r>
                  <a:rPr lang="pt-BR" b="1" dirty="0"/>
                  <a:t>Cuidado:</a:t>
                </a:r>
                <a:endParaRPr lang="pt-BR" dirty="0"/>
              </a:p>
            </p:txBody>
          </p:sp>
        </mc:Choice>
        <mc:Fallback>
          <p:sp>
            <p:nvSpPr>
              <p:cNvPr id="3" name="Content Placeholder 2">
                <a:extLst>
                  <a:ext uri="{FF2B5EF4-FFF2-40B4-BE49-F238E27FC236}">
                    <a16:creationId xmlns:a16="http://schemas.microsoft.com/office/drawing/2014/main" id="{E4E7A4F3-D98D-3713-FDAB-EE34883FF2A8}"/>
                  </a:ext>
                </a:extLst>
              </p:cNvPr>
              <p:cNvSpPr>
                <a:spLocks noGrp="1" noRot="1" noChangeAspect="1" noMove="1" noResize="1" noEditPoints="1" noAdjustHandles="1" noChangeArrowheads="1" noChangeShapeType="1" noTextEdit="1"/>
              </p:cNvSpPr>
              <p:nvPr>
                <p:ph idx="1"/>
              </p:nvPr>
            </p:nvSpPr>
            <p:spPr>
              <a:xfrm>
                <a:off x="838199" y="1825624"/>
                <a:ext cx="11179630" cy="5032375"/>
              </a:xfrm>
              <a:blipFill>
                <a:blip r:embed="rId3"/>
                <a:stretch>
                  <a:fillRect l="-1091" t="-1937"/>
                </a:stretch>
              </a:blipFill>
            </p:spPr>
            <p:txBody>
              <a:bodyPr/>
              <a:lstStyle/>
              <a:p>
                <a:r>
                  <a:rPr lang="en-US">
                    <a:noFill/>
                  </a:rPr>
                  <a:t> </a:t>
                </a:r>
              </a:p>
            </p:txBody>
          </p:sp>
        </mc:Fallback>
      </mc:AlternateContent>
    </p:spTree>
    <p:extLst>
      <p:ext uri="{BB962C8B-B14F-4D97-AF65-F5344CB8AC3E}">
        <p14:creationId xmlns:p14="http://schemas.microsoft.com/office/powerpoint/2010/main" val="3891039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4F0F9-20D7-154F-370F-D835643F1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CDABA-9A41-573A-0CB1-602907ED9D70}"/>
              </a:ext>
            </a:extLst>
          </p:cNvPr>
          <p:cNvSpPr>
            <a:spLocks noGrp="1"/>
          </p:cNvSpPr>
          <p:nvPr>
            <p:ph type="title"/>
          </p:nvPr>
        </p:nvSpPr>
        <p:spPr/>
        <p:txBody>
          <a:bodyPr/>
          <a:lstStyle/>
          <a:p>
            <a:r>
              <a:rPr lang="en-US" dirty="0" err="1"/>
              <a:t>Escalonamento</a:t>
            </a:r>
            <a:r>
              <a:rPr lang="en-US" dirty="0"/>
              <a:t> </a:t>
            </a:r>
            <a:r>
              <a:rPr lang="en-US" dirty="0" err="1"/>
              <a:t>robusto</a:t>
            </a:r>
            <a:r>
              <a:rPr lang="en-US" dirty="0"/>
              <a:t> (Robust Scaling)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8F3830B-DEF6-A0F3-3AF2-EBB9B6E8B5C1}"/>
                  </a:ext>
                </a:extLst>
              </p:cNvPr>
              <p:cNvSpPr>
                <a:spLocks noGrp="1"/>
              </p:cNvSpPr>
              <p:nvPr>
                <p:ph idx="1"/>
              </p:nvPr>
            </p:nvSpPr>
            <p:spPr>
              <a:xfrm>
                <a:off x="838199" y="1825624"/>
                <a:ext cx="11179630" cy="5032375"/>
              </a:xfrm>
            </p:spPr>
            <p:txBody>
              <a:bodyPr>
                <a:normAutofit/>
              </a:bodyPr>
              <a:lstStyle/>
              <a:p>
                <a:r>
                  <a:rPr lang="pt-BR" b="1" dirty="0"/>
                  <a:t>Como funciona</a:t>
                </a:r>
                <a:r>
                  <a:rPr lang="pt-BR" dirty="0"/>
                  <a:t>: </a:t>
                </a:r>
              </a:p>
              <a:p>
                <a:r>
                  <a:rPr lang="pt-BR" b="1" dirty="0"/>
                  <a:t>Fórmula:</a:t>
                </a:r>
              </a:p>
              <a:p>
                <a:pPr marL="0" indent="0" algn="ctr">
                  <a:buNone/>
                </a:pPr>
                <a14:m>
                  <m:oMathPara xmlns:m="http://schemas.openxmlformats.org/officeDocument/2006/math">
                    <m:oMathParaPr>
                      <m:jc m:val="centerGroup"/>
                    </m:oMathParaPr>
                    <m:oMath xmlns:m="http://schemas.openxmlformats.org/officeDocument/2006/math">
                      <m:sSup>
                        <m:sSupPr>
                          <m:ctrlPr>
                            <a:rPr lang="pt-BR" i="1" smtClean="0">
                              <a:latin typeface="Cambria Math" panose="02040503050406030204" pitchFamily="18" charset="0"/>
                            </a:rPr>
                          </m:ctrlPr>
                        </m:sSupPr>
                        <m:e>
                          <m:r>
                            <a:rPr lang="pt-BR" b="0" i="1" smtClean="0">
                              <a:latin typeface="Cambria Math" panose="02040503050406030204" pitchFamily="18" charset="0"/>
                            </a:rPr>
                            <m:t>𝑥</m:t>
                          </m:r>
                        </m:e>
                        <m:sup>
                          <m:r>
                            <a:rPr lang="pt-BR" b="0" i="1" smtClean="0">
                              <a:latin typeface="Cambria Math" panose="02040503050406030204" pitchFamily="18" charset="0"/>
                            </a:rPr>
                            <m:t>′</m:t>
                          </m:r>
                        </m:sup>
                      </m:sSup>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𝑥</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𝑚𝑖𝑛</m:t>
                              </m:r>
                            </m:sub>
                          </m:sSub>
                        </m:num>
                        <m:den>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𝑚</m:t>
                              </m:r>
                              <m:r>
                                <a:rPr lang="pt-BR" b="0" i="1" smtClean="0">
                                  <a:latin typeface="Cambria Math" panose="02040503050406030204" pitchFamily="18" charset="0"/>
                                </a:rPr>
                                <m:t>𝑎𝑥</m:t>
                              </m:r>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𝑚𝑖𝑛</m:t>
                              </m:r>
                            </m:sub>
                          </m:sSub>
                        </m:den>
                      </m:f>
                      <m:r>
                        <a:rPr lang="pt-BR" b="0" i="1" smtClean="0">
                          <a:latin typeface="Cambria Math" panose="02040503050406030204" pitchFamily="18" charset="0"/>
                        </a:rPr>
                        <m:t>,</m:t>
                      </m:r>
                    </m:oMath>
                  </m:oMathPara>
                </a14:m>
                <a:endParaRPr lang="pt-BR" b="0" dirty="0"/>
              </a:p>
              <a:p>
                <a:pPr marL="0" indent="0">
                  <a:buNone/>
                </a:pPr>
                <a:r>
                  <a:rPr lang="pt-BR" dirty="0"/>
                  <a:t>onde </a:t>
                </a:r>
                <a14:m>
                  <m:oMath xmlns:m="http://schemas.openxmlformats.org/officeDocument/2006/math">
                    <m:r>
                      <a:rPr lang="pt-BR" i="1">
                        <a:latin typeface="Cambria Math" panose="02040503050406030204" pitchFamily="18" charset="0"/>
                      </a:rPr>
                      <m:t>𝑥</m:t>
                    </m:r>
                  </m:oMath>
                </a14:m>
                <a:r>
                  <a:rPr lang="pt-BR" dirty="0"/>
                  <a:t> é o valor original,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𝑚𝑖𝑛</m:t>
                        </m:r>
                      </m:sub>
                    </m:sSub>
                  </m:oMath>
                </a14:m>
                <a:r>
                  <a:rPr lang="pt-BR" dirty="0"/>
                  <a:t> 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𝑚</m:t>
                        </m:r>
                        <m:r>
                          <a:rPr lang="pt-BR" b="0" i="1" smtClean="0">
                            <a:latin typeface="Cambria Math" panose="02040503050406030204" pitchFamily="18" charset="0"/>
                          </a:rPr>
                          <m:t>𝑎𝑥</m:t>
                        </m:r>
                      </m:sub>
                    </m:sSub>
                  </m:oMath>
                </a14:m>
                <a:r>
                  <a:rPr lang="pt-BR" dirty="0"/>
                  <a:t> são os valores mínimo e máximo de uma coluna (i.e., atributo).</a:t>
                </a:r>
              </a:p>
              <a:p>
                <a:r>
                  <a:rPr lang="pt-BR" b="1" dirty="0"/>
                  <a:t>Quando usar:</a:t>
                </a:r>
                <a:endParaRPr lang="pt-BR" dirty="0"/>
              </a:p>
              <a:p>
                <a:r>
                  <a:rPr lang="pt-BR" b="1" dirty="0"/>
                  <a:t>Cuidado:</a:t>
                </a:r>
                <a:endParaRPr lang="pt-BR" dirty="0"/>
              </a:p>
            </p:txBody>
          </p:sp>
        </mc:Choice>
        <mc:Fallback>
          <p:sp>
            <p:nvSpPr>
              <p:cNvPr id="3" name="Content Placeholder 2">
                <a:extLst>
                  <a:ext uri="{FF2B5EF4-FFF2-40B4-BE49-F238E27FC236}">
                    <a16:creationId xmlns:a16="http://schemas.microsoft.com/office/drawing/2014/main" id="{D8F3830B-DEF6-A0F3-3AF2-EBB9B6E8B5C1}"/>
                  </a:ext>
                </a:extLst>
              </p:cNvPr>
              <p:cNvSpPr>
                <a:spLocks noGrp="1" noRot="1" noChangeAspect="1" noMove="1" noResize="1" noEditPoints="1" noAdjustHandles="1" noChangeArrowheads="1" noChangeShapeType="1" noTextEdit="1"/>
              </p:cNvSpPr>
              <p:nvPr>
                <p:ph idx="1"/>
              </p:nvPr>
            </p:nvSpPr>
            <p:spPr>
              <a:xfrm>
                <a:off x="838199" y="1825624"/>
                <a:ext cx="11179630" cy="5032375"/>
              </a:xfrm>
              <a:blipFill>
                <a:blip r:embed="rId3"/>
                <a:stretch>
                  <a:fillRect l="-1091" t="-1937"/>
                </a:stretch>
              </a:blipFill>
            </p:spPr>
            <p:txBody>
              <a:bodyPr/>
              <a:lstStyle/>
              <a:p>
                <a:r>
                  <a:rPr lang="en-US">
                    <a:noFill/>
                  </a:rPr>
                  <a:t> </a:t>
                </a:r>
              </a:p>
            </p:txBody>
          </p:sp>
        </mc:Fallback>
      </mc:AlternateContent>
    </p:spTree>
    <p:extLst>
      <p:ext uri="{BB962C8B-B14F-4D97-AF65-F5344CB8AC3E}">
        <p14:creationId xmlns:p14="http://schemas.microsoft.com/office/powerpoint/2010/main" val="1309608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2FCF4-D4AF-6B32-3B82-279343AC20A6}"/>
              </a:ext>
            </a:extLst>
          </p:cNvPr>
          <p:cNvSpPr>
            <a:spLocks noGrp="1"/>
          </p:cNvSpPr>
          <p:nvPr>
            <p:ph type="title"/>
          </p:nvPr>
        </p:nvSpPr>
        <p:spPr/>
        <p:txBody>
          <a:bodyPr/>
          <a:lstStyle/>
          <a:p>
            <a:r>
              <a:rPr lang="en-US" dirty="0"/>
              <a:t>Robust scaling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1EC20E1-7BC2-26CD-B137-3DAF75037B31}"/>
                  </a:ext>
                </a:extLst>
              </p:cNvPr>
              <p:cNvSpPr>
                <a:spLocks noGrp="1"/>
              </p:cNvSpPr>
              <p:nvPr>
                <p:ph idx="1"/>
              </p:nvPr>
            </p:nvSpPr>
            <p:spPr/>
            <p:txBody>
              <a:bodyPr>
                <a:normAutofit fontScale="32500" lnSpcReduction="20000"/>
              </a:bodyPr>
              <a:lstStyle/>
              <a:p>
                <a:r>
                  <a:rPr lang="en-US" dirty="0"/>
                  <a:t>Robust scaling is a data preprocessing technique used to scale features in datasets containing significant outliers. It transforms data by subtracting the median and dividing by the Interquartile Range (IQR) (</a:t>
                </a:r>
              </a:p>
              <a:p>
                <a14:m>
                  <m:oMath xmlns:m="http://schemas.openxmlformats.org/officeDocument/2006/math">
                    <m:r>
                      <a:rPr lang="en-US" i="1">
                        <a:latin typeface="Cambria Math" panose="02040503050406030204" pitchFamily="18" charset="0"/>
                      </a:rPr>
                      <m:t>𝑄</m:t>
                    </m:r>
                    <m:r>
                      <a:rPr lang="en-US">
                        <a:latin typeface="Cambria Math" panose="02040503050406030204" pitchFamily="18" charset="0"/>
                      </a:rPr>
                      <m:t>3</m:t>
                    </m:r>
                    <m:r>
                      <a:rPr lang="en-US">
                        <a:latin typeface="Cambria Math" panose="02040503050406030204" pitchFamily="18" charset="0"/>
                      </a:rPr>
                      <m:t>−</m:t>
                    </m:r>
                    <m:r>
                      <a:rPr lang="en-US" i="1">
                        <a:latin typeface="Cambria Math" panose="02040503050406030204" pitchFamily="18" charset="0"/>
                      </a:rPr>
                      <m:t>𝑄</m:t>
                    </m:r>
                    <m:r>
                      <a:rPr lang="en-US">
                        <a:latin typeface="Cambria Math" panose="02040503050406030204" pitchFamily="18" charset="0"/>
                      </a:rPr>
                      <m:t>1</m:t>
                    </m:r>
                  </m:oMath>
                </a14:m>
                <a:endParaRPr lang="en-US" dirty="0"/>
              </a:p>
              <a:p>
                <a:r>
                  <a:rPr lang="en-US" dirty="0"/>
                  <a:t>𝑄3−𝑄1</a:t>
                </a:r>
              </a:p>
              <a:p>
                <a:r>
                  <a:rPr lang="en-US" dirty="0"/>
                  <a:t>), minimizing the skewing effect of extreme values that affect methods like standardization. </a:t>
                </a:r>
              </a:p>
              <a:p>
                <a:r>
                  <a:rPr lang="en-US" b="1" dirty="0"/>
                  <a:t>Key Aspects of Robust Scaling</a:t>
                </a:r>
                <a:r>
                  <a:rPr lang="en-US" dirty="0"/>
                  <a:t> </a:t>
                </a:r>
              </a:p>
              <a:p>
                <a:r>
                  <a:rPr lang="en-US" b="1" dirty="0"/>
                  <a:t>Formula:</a:t>
                </a:r>
                <a:r>
                  <a:rPr lang="en-US" dirty="0"/>
                  <a:t> The transformation is applied as:</a:t>
                </a:r>
                <a:br>
                  <a:rPr lang="en-US" dirty="0"/>
                </a:br>
                <a:endParaRPr lang="en-US"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𝑋</m:t>
                        </m:r>
                      </m:e>
                      <m:sub>
                        <m:r>
                          <m:rPr>
                            <m:nor/>
                          </m:rPr>
                          <a:rPr lang="en-US" i="1"/>
                          <m:t>scaled</m:t>
                        </m:r>
                      </m:sub>
                    </m:sSub>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𝑋</m:t>
                        </m:r>
                        <m:r>
                          <a:rPr lang="ar-AE">
                            <a:latin typeface="Cambria Math" panose="02040503050406030204" pitchFamily="18" charset="0"/>
                          </a:rPr>
                          <m:t>−</m:t>
                        </m:r>
                        <m:r>
                          <m:rPr>
                            <m:nor/>
                          </m:rPr>
                          <a:rPr lang="en-US" i="1"/>
                          <m:t>median</m:t>
                        </m:r>
                      </m:num>
                      <m:den>
                        <m:r>
                          <a:rPr lang="ar-AE" i="1">
                            <a:latin typeface="Cambria Math" panose="02040503050406030204" pitchFamily="18" charset="0"/>
                          </a:rPr>
                          <m:t>𝑄</m:t>
                        </m:r>
                        <m:r>
                          <a:rPr lang="ar-AE">
                            <a:latin typeface="Cambria Math" panose="02040503050406030204" pitchFamily="18" charset="0"/>
                          </a:rPr>
                          <m:t>3</m:t>
                        </m:r>
                        <m:r>
                          <a:rPr lang="ar-AE">
                            <a:latin typeface="Cambria Math" panose="02040503050406030204" pitchFamily="18" charset="0"/>
                          </a:rPr>
                          <m:t>−</m:t>
                        </m:r>
                        <m:r>
                          <a:rPr lang="ar-AE" i="1">
                            <a:latin typeface="Cambria Math" panose="02040503050406030204" pitchFamily="18" charset="0"/>
                          </a:rPr>
                          <m:t>𝑄</m:t>
                        </m:r>
                        <m:r>
                          <a:rPr lang="ar-AE">
                            <a:latin typeface="Cambria Math" panose="02040503050406030204" pitchFamily="18" charset="0"/>
                          </a:rPr>
                          <m:t>1</m:t>
                        </m:r>
                      </m:den>
                    </m:f>
                  </m:oMath>
                </a14:m>
                <a:endParaRPr lang="ar-AE" dirty="0"/>
              </a:p>
              <a:p>
                <a:r>
                  <a:rPr lang="ar-AE" dirty="0"/>
                  <a:t>𝑋</a:t>
                </a:r>
                <a:r>
                  <a:rPr lang="en-US" dirty="0"/>
                  <a:t>scaled=𝑋−median𝑄3−𝑄1</a:t>
                </a:r>
              </a:p>
              <a:p>
                <a:r>
                  <a:rPr lang="en-US" b="1" dirty="0"/>
                  <a:t>Outlier Resistance:</a:t>
                </a:r>
                <a:r>
                  <a:rPr lang="en-US" dirty="0"/>
                  <a:t> Because it uses the median and IQR (middle 50% of data) rather than the mean and standard deviation, outliers have minimal influence on the scaled data.</a:t>
                </a:r>
              </a:p>
              <a:p>
                <a:r>
                  <a:rPr lang="en-US" b="1" dirty="0"/>
                  <a:t>Centered Data:</a:t>
                </a:r>
                <a:r>
                  <a:rPr lang="en-US" dirty="0"/>
                  <a:t> The resulting data has a median of 0.</a:t>
                </a:r>
              </a:p>
              <a:p>
                <a:r>
                  <a:rPr lang="en-US" b="1" dirty="0"/>
                  <a:t>Scaling Metric:</a:t>
                </a:r>
                <a:r>
                  <a:rPr lang="en-US" dirty="0"/>
                  <a:t> The data is scaled based on the spread of the central 50% of the data (IQR).</a:t>
                </a:r>
              </a:p>
              <a:p>
                <a:r>
                  <a:rPr lang="en-US" b="1" dirty="0"/>
                  <a:t>Usage:</a:t>
                </a:r>
                <a:r>
                  <a:rPr lang="en-US" dirty="0"/>
                  <a:t> It is highly useful in scenarios where outliers represent legitimate, rare, or noisy data that should not be removed but cannot be allowed to dominate, such as in </a:t>
                </a:r>
                <a:r>
                  <a:rPr lang="en-US" dirty="0">
                    <a:hlinkClick r:id="rId3"/>
                  </a:rPr>
                  <a:t>sensor data</a:t>
                </a:r>
                <a:r>
                  <a:rPr lang="en-US" dirty="0"/>
                  <a:t>.</a:t>
                </a:r>
              </a:p>
              <a:p>
                <a:r>
                  <a:rPr lang="en-US" b="1" dirty="0"/>
                  <a:t>Implementation:</a:t>
                </a:r>
                <a:r>
                  <a:rPr lang="en-US" dirty="0"/>
                  <a:t> In Python's scikit-learn library, this is implemented using the </a:t>
                </a:r>
                <a:r>
                  <a:rPr lang="en-US" dirty="0" err="1"/>
                  <a:t>RobustScaler</a:t>
                </a:r>
                <a:r>
                  <a:rPr lang="en-US" dirty="0"/>
                  <a:t> class. </a:t>
                </a:r>
              </a:p>
              <a:p>
                <a:r>
                  <a:rPr lang="en-US" b="1" dirty="0" err="1"/>
                  <a:t>RobustScaler</a:t>
                </a:r>
                <a:r>
                  <a:rPr lang="en-US" b="1" dirty="0"/>
                  <a:t> vs. Other Scalers</a:t>
                </a:r>
                <a:r>
                  <a:rPr lang="en-US" dirty="0"/>
                  <a:t> </a:t>
                </a:r>
              </a:p>
              <a:p>
                <a:r>
                  <a:rPr lang="en-US" b="1" dirty="0" err="1">
                    <a:hlinkClick r:id="rId4"/>
                  </a:rPr>
                  <a:t>StandardScaler</a:t>
                </a:r>
                <a:r>
                  <a:rPr lang="en-US" b="1" dirty="0"/>
                  <a:t> (Standardization):</a:t>
                </a:r>
                <a:r>
                  <a:rPr lang="en-US" dirty="0"/>
                  <a:t> Uses mean and standard deviation, which are highly sensitive to outliers.</a:t>
                </a:r>
              </a:p>
              <a:p>
                <a:r>
                  <a:rPr lang="en-US" b="1" dirty="0" err="1">
                    <a:hlinkClick r:id="rId5"/>
                  </a:rPr>
                  <a:t>MinMaxScaler</a:t>
                </a:r>
                <a:r>
                  <a:rPr lang="en-US" b="1" dirty="0"/>
                  <a:t> (Normalization):</a:t>
                </a:r>
                <a:r>
                  <a:rPr lang="en-US" dirty="0"/>
                  <a:t> Scales data to a fixed range (usually [0]), but outliers can cause the majority of data to be compressed into a very small range.</a:t>
                </a:r>
              </a:p>
              <a:p>
                <a:r>
                  <a:rPr lang="en-US" b="1" dirty="0" err="1">
                    <a:hlinkClick r:id="rId6"/>
                  </a:rPr>
                  <a:t>RobustScaler</a:t>
                </a:r>
                <a:r>
                  <a:rPr lang="en-US" b="1" dirty="0"/>
                  <a:t>:</a:t>
                </a:r>
                <a:r>
                  <a:rPr lang="en-US" dirty="0"/>
                  <a:t> Provides a middle ground that keeps data on a similar scale to standardization but ensures the scaling is not distorted by extreme values.</a:t>
                </a:r>
              </a:p>
              <a:p>
                <a:pPr marL="0" indent="0">
                  <a:buNone/>
                </a:pPr>
                <a:endParaRPr lang="en-US" dirty="0"/>
              </a:p>
              <a:p>
                <a:endParaRPr lang="en-US" dirty="0"/>
              </a:p>
            </p:txBody>
          </p:sp>
        </mc:Choice>
        <mc:Fallback>
          <p:sp>
            <p:nvSpPr>
              <p:cNvPr id="3" name="Content Placeholder 2">
                <a:extLst>
                  <a:ext uri="{FF2B5EF4-FFF2-40B4-BE49-F238E27FC236}">
                    <a16:creationId xmlns:a16="http://schemas.microsoft.com/office/drawing/2014/main" id="{F1EC20E1-7BC2-26CD-B137-3DAF75037B31}"/>
                  </a:ext>
                </a:extLst>
              </p:cNvPr>
              <p:cNvSpPr>
                <a:spLocks noGrp="1" noRot="1" noChangeAspect="1" noMove="1" noResize="1" noEditPoints="1" noAdjustHandles="1" noChangeArrowheads="1" noChangeShapeType="1" noTextEdit="1"/>
              </p:cNvSpPr>
              <p:nvPr>
                <p:ph idx="1"/>
              </p:nvPr>
            </p:nvSpPr>
            <p:spPr>
              <a:blipFill>
                <a:blip r:embed="rId7"/>
                <a:stretch>
                  <a:fillRect t="-560"/>
                </a:stretch>
              </a:blipFill>
            </p:spPr>
            <p:txBody>
              <a:bodyPr/>
              <a:lstStyle/>
              <a:p>
                <a:r>
                  <a:rPr lang="en-US">
                    <a:noFill/>
                  </a:rPr>
                  <a:t> </a:t>
                </a:r>
              </a:p>
            </p:txBody>
          </p:sp>
        </mc:Fallback>
      </mc:AlternateContent>
    </p:spTree>
    <p:extLst>
      <p:ext uri="{BB962C8B-B14F-4D97-AF65-F5344CB8AC3E}">
        <p14:creationId xmlns:p14="http://schemas.microsoft.com/office/powerpoint/2010/main" val="603448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2465D-3B71-C4D6-425F-FF182A6659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848CE3-22F4-8F30-72FB-7BA864CCB15B}"/>
              </a:ext>
            </a:extLst>
          </p:cNvPr>
          <p:cNvSpPr>
            <a:spLocks noGrp="1"/>
          </p:cNvSpPr>
          <p:nvPr>
            <p:ph idx="1"/>
          </p:nvPr>
        </p:nvSpPr>
        <p:spPr/>
        <p:txBody>
          <a:bodyPr/>
          <a:lstStyle/>
          <a:p>
            <a:r>
              <a:rPr lang="pt-BR" dirty="0"/>
              <a:t>Armadilhas comuns ao ajustar dados de teste: </a:t>
            </a:r>
          </a:p>
          <a:p>
            <a:r>
              <a:rPr lang="pt-BR" dirty="0"/>
              <a:t>Sempre ajuste o escalador no conjunto de treinamento e transforme os conjuntos de treinamento e teste para evitar vazamento de dados. Escala da variável alvo: Geralmente, apenas os recursos de entrada (X) devem ser escalados, não o rótulo alvo (y).</a:t>
            </a:r>
            <a:endParaRPr lang="en-US" dirty="0"/>
          </a:p>
        </p:txBody>
      </p:sp>
    </p:spTree>
    <p:extLst>
      <p:ext uri="{BB962C8B-B14F-4D97-AF65-F5344CB8AC3E}">
        <p14:creationId xmlns:p14="http://schemas.microsoft.com/office/powerpoint/2010/main" val="877526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AB8438-E56E-2412-517C-8456E4CA773C}"/>
              </a:ext>
            </a:extLst>
          </p:cNvPr>
          <p:cNvSpPr>
            <a:spLocks noGrp="1"/>
          </p:cNvSpPr>
          <p:nvPr>
            <p:ph type="title"/>
          </p:nvPr>
        </p:nvSpPr>
        <p:spPr/>
        <p:txBody>
          <a:bodyPr/>
          <a:lstStyle/>
          <a:p>
            <a:r>
              <a:rPr lang="pt-BR" dirty="0">
                <a:solidFill>
                  <a:srgbClr val="FF0000"/>
                </a:solidFill>
              </a:rPr>
              <a:t>Sobre o que falar?</a:t>
            </a:r>
          </a:p>
        </p:txBody>
      </p:sp>
      <p:sp>
        <p:nvSpPr>
          <p:cNvPr id="3" name="Espaço Reservado para Conteúdo 2">
            <a:extLst>
              <a:ext uri="{FF2B5EF4-FFF2-40B4-BE49-F238E27FC236}">
                <a16:creationId xmlns:a16="http://schemas.microsoft.com/office/drawing/2014/main" id="{F7E2B09C-6D56-4C9F-A364-B904CCE2F1A0}"/>
              </a:ext>
            </a:extLst>
          </p:cNvPr>
          <p:cNvSpPr>
            <a:spLocks noGrp="1"/>
          </p:cNvSpPr>
          <p:nvPr>
            <p:ph idx="1"/>
          </p:nvPr>
        </p:nvSpPr>
        <p:spPr/>
        <p:txBody>
          <a:bodyPr>
            <a:normAutofit fontScale="92500" lnSpcReduction="10000"/>
          </a:bodyPr>
          <a:lstStyle/>
          <a:p>
            <a:pPr marL="0" indent="0">
              <a:buNone/>
            </a:pPr>
            <a:r>
              <a:rPr lang="pt-BR" sz="4000" b="1" dirty="0">
                <a:solidFill>
                  <a:srgbClr val="FF0000"/>
                </a:solidFill>
              </a:rPr>
              <a:t>Transformações</a:t>
            </a:r>
          </a:p>
          <a:p>
            <a:r>
              <a:rPr lang="pt-BR" sz="4000" b="1" dirty="0">
                <a:solidFill>
                  <a:srgbClr val="FF0000"/>
                </a:solidFill>
              </a:rPr>
              <a:t>Engenharia e Seleção de Atributos (A Alquimia):</a:t>
            </a:r>
            <a:r>
              <a:rPr lang="pt-BR" sz="4000" dirty="0">
                <a:solidFill>
                  <a:srgbClr val="FF0000"/>
                </a:solidFill>
              </a:rPr>
              <a:t> 50 min</a:t>
            </a:r>
          </a:p>
          <a:p>
            <a:pPr lvl="1"/>
            <a:r>
              <a:rPr lang="pt-BR" sz="3600" b="1" dirty="0">
                <a:solidFill>
                  <a:srgbClr val="FF0000"/>
                </a:solidFill>
              </a:rPr>
              <a:t>Feature </a:t>
            </a:r>
            <a:r>
              <a:rPr lang="pt-BR" sz="3600" b="1" dirty="0" err="1">
                <a:solidFill>
                  <a:srgbClr val="FF0000"/>
                </a:solidFill>
              </a:rPr>
              <a:t>engineering</a:t>
            </a:r>
            <a:r>
              <a:rPr lang="pt-BR" sz="3600" dirty="0">
                <a:solidFill>
                  <a:srgbClr val="FF0000"/>
                </a:solidFill>
              </a:rPr>
              <a:t> (criar variáveis que façam sentido). </a:t>
            </a:r>
          </a:p>
          <a:p>
            <a:r>
              <a:rPr lang="pt-BR" sz="4000" b="1" dirty="0">
                <a:solidFill>
                  <a:srgbClr val="FF0000"/>
                </a:solidFill>
              </a:rPr>
              <a:t>Escalonamento (Ajustando as Lentes):</a:t>
            </a:r>
            <a:r>
              <a:rPr lang="pt-BR" sz="4000" dirty="0">
                <a:solidFill>
                  <a:srgbClr val="FF0000"/>
                </a:solidFill>
              </a:rPr>
              <a:t> 25 min</a:t>
            </a:r>
          </a:p>
          <a:p>
            <a:pPr lvl="1"/>
            <a:r>
              <a:rPr lang="pt-BR" sz="3600" dirty="0">
                <a:solidFill>
                  <a:srgbClr val="FF0000"/>
                </a:solidFill>
              </a:rPr>
              <a:t>Normalização e padronização (escala de variáveis). </a:t>
            </a:r>
          </a:p>
          <a:p>
            <a:r>
              <a:rPr lang="pt-BR" sz="4000" b="1" dirty="0">
                <a:solidFill>
                  <a:srgbClr val="FF0000"/>
                </a:solidFill>
              </a:rPr>
              <a:t>Codificação de variáveis categóricas:</a:t>
            </a:r>
            <a:r>
              <a:rPr lang="pt-BR" sz="4000" dirty="0">
                <a:solidFill>
                  <a:srgbClr val="FF0000"/>
                </a:solidFill>
              </a:rPr>
              <a:t> </a:t>
            </a:r>
            <a:r>
              <a:rPr lang="pt-BR" sz="4000" dirty="0" err="1">
                <a:solidFill>
                  <a:srgbClr val="FF0000"/>
                </a:solidFill>
              </a:rPr>
              <a:t>one</a:t>
            </a:r>
            <a:r>
              <a:rPr lang="pt-BR" sz="4000" dirty="0">
                <a:solidFill>
                  <a:srgbClr val="FF0000"/>
                </a:solidFill>
              </a:rPr>
              <a:t>-hot, </a:t>
            </a:r>
            <a:r>
              <a:rPr lang="pt-BR" sz="4000" dirty="0" err="1">
                <a:solidFill>
                  <a:srgbClr val="FF0000"/>
                </a:solidFill>
              </a:rPr>
              <a:t>label</a:t>
            </a:r>
            <a:r>
              <a:rPr lang="pt-BR" sz="4000" dirty="0">
                <a:solidFill>
                  <a:srgbClr val="FF0000"/>
                </a:solidFill>
              </a:rPr>
              <a:t> </a:t>
            </a:r>
            <a:r>
              <a:rPr lang="pt-BR" sz="4000" dirty="0" err="1">
                <a:solidFill>
                  <a:srgbClr val="FF0000"/>
                </a:solidFill>
              </a:rPr>
              <a:t>encoding</a:t>
            </a:r>
            <a:r>
              <a:rPr lang="pt-BR" sz="4000" dirty="0">
                <a:solidFill>
                  <a:srgbClr val="FF0000"/>
                </a:solidFill>
              </a:rPr>
              <a:t>.</a:t>
            </a:r>
          </a:p>
        </p:txBody>
      </p:sp>
    </p:spTree>
    <p:extLst>
      <p:ext uri="{BB962C8B-B14F-4D97-AF65-F5344CB8AC3E}">
        <p14:creationId xmlns:p14="http://schemas.microsoft.com/office/powerpoint/2010/main" val="3187071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DE3AC-BF5D-66CC-4338-E24FCABF9097}"/>
              </a:ext>
            </a:extLst>
          </p:cNvPr>
          <p:cNvSpPr>
            <a:spLocks noGrp="1"/>
          </p:cNvSpPr>
          <p:nvPr>
            <p:ph type="title"/>
          </p:nvPr>
        </p:nvSpPr>
        <p:spPr/>
        <p:txBody>
          <a:bodyPr/>
          <a:lstStyle/>
          <a:p>
            <a:r>
              <a:rPr lang="en-US" dirty="0" err="1"/>
              <a:t>Engenharia</a:t>
            </a:r>
            <a:r>
              <a:rPr lang="en-US" dirty="0"/>
              <a:t> de </a:t>
            </a:r>
            <a:r>
              <a:rPr lang="en-US" dirty="0" err="1"/>
              <a:t>atributos</a:t>
            </a:r>
            <a:endParaRPr lang="en-US" dirty="0"/>
          </a:p>
        </p:txBody>
      </p:sp>
      <p:sp>
        <p:nvSpPr>
          <p:cNvPr id="3" name="Content Placeholder 2">
            <a:extLst>
              <a:ext uri="{FF2B5EF4-FFF2-40B4-BE49-F238E27FC236}">
                <a16:creationId xmlns:a16="http://schemas.microsoft.com/office/drawing/2014/main" id="{763AE027-526F-64B6-C706-EA359C1FC44D}"/>
              </a:ext>
            </a:extLst>
          </p:cNvPr>
          <p:cNvSpPr>
            <a:spLocks noGrp="1"/>
          </p:cNvSpPr>
          <p:nvPr>
            <p:ph idx="1"/>
          </p:nvPr>
        </p:nvSpPr>
        <p:spPr/>
        <p:txBody>
          <a:bodyPr/>
          <a:lstStyle/>
          <a:p>
            <a:r>
              <a:rPr lang="pt-BR" dirty="0"/>
              <a:t>Transformar ou criar novos atributos para extrair mais significado.</a:t>
            </a:r>
          </a:p>
          <a:p>
            <a:r>
              <a:rPr lang="pt-BR" dirty="0"/>
              <a:t>➡ Exemplo: separar data em:</a:t>
            </a:r>
          </a:p>
          <a:p>
            <a:r>
              <a:rPr lang="pt-BR" dirty="0"/>
              <a:t>dia, mês, ano</a:t>
            </a:r>
          </a:p>
          <a:p>
            <a:r>
              <a:rPr lang="pt-BR" dirty="0"/>
              <a:t>dia da semana</a:t>
            </a:r>
          </a:p>
          <a:p>
            <a:r>
              <a:rPr lang="pt-BR" dirty="0"/>
              <a:t>💡 Atividade rápida: </a:t>
            </a:r>
            <a:r>
              <a:rPr lang="pt-BR" i="1" dirty="0"/>
              <a:t>Crie uma feature divertida (ex.: “hora do dia” → manhã/tarde/noite).</a:t>
            </a:r>
            <a:endParaRPr lang="pt-BR" dirty="0"/>
          </a:p>
          <a:p>
            <a:endParaRPr lang="en-US" dirty="0"/>
          </a:p>
        </p:txBody>
      </p:sp>
    </p:spTree>
    <p:extLst>
      <p:ext uri="{BB962C8B-B14F-4D97-AF65-F5344CB8AC3E}">
        <p14:creationId xmlns:p14="http://schemas.microsoft.com/office/powerpoint/2010/main" val="3367478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595A-2BE1-288D-C430-B42FA27A3AAD}"/>
              </a:ext>
            </a:extLst>
          </p:cNvPr>
          <p:cNvSpPr>
            <a:spLocks noGrp="1"/>
          </p:cNvSpPr>
          <p:nvPr>
            <p:ph type="title"/>
          </p:nvPr>
        </p:nvSpPr>
        <p:spPr/>
        <p:txBody>
          <a:bodyPr/>
          <a:lstStyle/>
          <a:p>
            <a:r>
              <a:rPr lang="en-US" dirty="0" err="1"/>
              <a:t>Engenharia</a:t>
            </a:r>
            <a:r>
              <a:rPr lang="en-US" dirty="0"/>
              <a:t> de </a:t>
            </a:r>
            <a:r>
              <a:rPr lang="en-US"/>
              <a:t>atributos</a:t>
            </a:r>
          </a:p>
        </p:txBody>
      </p:sp>
      <p:sp>
        <p:nvSpPr>
          <p:cNvPr id="3" name="Content Placeholder 2">
            <a:extLst>
              <a:ext uri="{FF2B5EF4-FFF2-40B4-BE49-F238E27FC236}">
                <a16:creationId xmlns:a16="http://schemas.microsoft.com/office/drawing/2014/main" id="{DC8B16F1-8959-5098-25C2-B111C8BE4B80}"/>
              </a:ext>
            </a:extLst>
          </p:cNvPr>
          <p:cNvSpPr>
            <a:spLocks noGrp="1"/>
          </p:cNvSpPr>
          <p:nvPr>
            <p:ph idx="1"/>
          </p:nvPr>
        </p:nvSpPr>
        <p:spPr/>
        <p:txBody>
          <a:bodyPr>
            <a:normAutofit fontScale="85000" lnSpcReduction="10000"/>
          </a:bodyPr>
          <a:lstStyle/>
          <a:p>
            <a:r>
              <a:rPr lang="pt-BR" b="1" dirty="0"/>
              <a:t>Texto do slide:</a:t>
            </a:r>
            <a:endParaRPr lang="pt-BR" dirty="0"/>
          </a:p>
          <a:p>
            <a:r>
              <a:rPr lang="pt-BR" dirty="0"/>
              <a:t>Criar features a partir de: datas, texto, agregações, interações</a:t>
            </a:r>
          </a:p>
          <a:p>
            <a:r>
              <a:rPr lang="pt-BR" dirty="0"/>
              <a:t>Exemplos: </a:t>
            </a:r>
            <a:r>
              <a:rPr lang="pt-BR" dirty="0" err="1"/>
              <a:t>dia_da_semana</a:t>
            </a:r>
            <a:r>
              <a:rPr lang="pt-BR" dirty="0"/>
              <a:t>, </a:t>
            </a:r>
            <a:r>
              <a:rPr lang="pt-BR" dirty="0" err="1"/>
              <a:t>tempo_desde_ultima_compra</a:t>
            </a:r>
            <a:r>
              <a:rPr lang="pt-BR" dirty="0"/>
              <a:t>, </a:t>
            </a:r>
            <a:r>
              <a:rPr lang="pt-BR" dirty="0" err="1"/>
              <a:t>freq_media</a:t>
            </a:r>
            <a:endParaRPr lang="pt-BR" dirty="0"/>
          </a:p>
          <a:p>
            <a:r>
              <a:rPr lang="pt-BR" b="1" dirty="0"/>
              <a:t>Notas do professor:</a:t>
            </a:r>
            <a:endParaRPr lang="pt-BR" dirty="0"/>
          </a:p>
          <a:p>
            <a:r>
              <a:rPr lang="pt-BR" dirty="0"/>
              <a:t>Mostrar antes/depois: como uma nova feature melhora correlação com target.</a:t>
            </a:r>
          </a:p>
          <a:p>
            <a:r>
              <a:rPr lang="pt-BR" dirty="0"/>
              <a:t>Atividade curta (5 min): em grupos, pensem numa feature nova para um dataset de e‑commerce.</a:t>
            </a:r>
          </a:p>
          <a:p>
            <a:r>
              <a:rPr lang="pt-BR" b="1" dirty="0"/>
              <a:t>Código curto:</a:t>
            </a:r>
            <a:endParaRPr lang="pt-BR" dirty="0"/>
          </a:p>
          <a:p>
            <a:r>
              <a:rPr lang="pt-BR" dirty="0" err="1"/>
              <a:t>df</a:t>
            </a:r>
            <a:r>
              <a:rPr lang="pt-BR" dirty="0"/>
              <a:t>['</a:t>
            </a:r>
            <a:r>
              <a:rPr lang="pt-BR" dirty="0" err="1"/>
              <a:t>dia_semana</a:t>
            </a:r>
            <a:r>
              <a:rPr lang="pt-BR" dirty="0"/>
              <a:t>'] = </a:t>
            </a:r>
            <a:r>
              <a:rPr lang="pt-BR" dirty="0" err="1"/>
              <a:t>df</a:t>
            </a:r>
            <a:r>
              <a:rPr lang="pt-BR" dirty="0"/>
              <a:t>['</a:t>
            </a:r>
            <a:r>
              <a:rPr lang="pt-BR" dirty="0" err="1"/>
              <a:t>data_compra</a:t>
            </a:r>
            <a:r>
              <a:rPr lang="pt-BR" dirty="0"/>
              <a:t>'].</a:t>
            </a:r>
            <a:r>
              <a:rPr lang="pt-BR" dirty="0" err="1"/>
              <a:t>dt.dayofweek</a:t>
            </a:r>
            <a:endParaRPr lang="pt-BR" dirty="0"/>
          </a:p>
          <a:p>
            <a:r>
              <a:rPr lang="pt-BR" b="1" dirty="0"/>
              <a:t>Dica divertida:</a:t>
            </a:r>
            <a:r>
              <a:rPr lang="pt-BR" dirty="0"/>
              <a:t> transforme datas em categorias como "madrugada", "hora do almoço".</a:t>
            </a:r>
          </a:p>
        </p:txBody>
      </p:sp>
    </p:spTree>
    <p:extLst>
      <p:ext uri="{BB962C8B-B14F-4D97-AF65-F5344CB8AC3E}">
        <p14:creationId xmlns:p14="http://schemas.microsoft.com/office/powerpoint/2010/main" val="4109988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DF078-B9E8-64A5-59BB-3F6BD098D931}"/>
              </a:ext>
            </a:extLst>
          </p:cNvPr>
          <p:cNvSpPr>
            <a:spLocks noGrp="1"/>
          </p:cNvSpPr>
          <p:nvPr>
            <p:ph type="title"/>
          </p:nvPr>
        </p:nvSpPr>
        <p:spPr/>
        <p:txBody>
          <a:bodyPr/>
          <a:lstStyle/>
          <a:p>
            <a:r>
              <a:rPr lang="en-US" dirty="0" err="1"/>
              <a:t>Codificação</a:t>
            </a:r>
            <a:r>
              <a:rPr lang="en-US" dirty="0"/>
              <a:t> de </a:t>
            </a:r>
            <a:r>
              <a:rPr lang="en-US" dirty="0" err="1"/>
              <a:t>variáveis</a:t>
            </a:r>
            <a:r>
              <a:rPr lang="en-US" dirty="0"/>
              <a:t> </a:t>
            </a:r>
            <a:r>
              <a:rPr lang="en-US" dirty="0" err="1"/>
              <a:t>categóricas</a:t>
            </a:r>
            <a:endParaRPr lang="en-US" dirty="0"/>
          </a:p>
        </p:txBody>
      </p:sp>
      <p:sp>
        <p:nvSpPr>
          <p:cNvPr id="3" name="Content Placeholder 2">
            <a:extLst>
              <a:ext uri="{FF2B5EF4-FFF2-40B4-BE49-F238E27FC236}">
                <a16:creationId xmlns:a16="http://schemas.microsoft.com/office/drawing/2014/main" id="{00BC64E6-60A5-6C81-8D65-4C4765C4A26C}"/>
              </a:ext>
            </a:extLst>
          </p:cNvPr>
          <p:cNvSpPr>
            <a:spLocks noGrp="1"/>
          </p:cNvSpPr>
          <p:nvPr>
            <p:ph idx="1"/>
          </p:nvPr>
        </p:nvSpPr>
        <p:spPr/>
        <p:txBody>
          <a:bodyPr/>
          <a:lstStyle/>
          <a:p>
            <a:r>
              <a:rPr lang="pt-BR" dirty="0"/>
              <a:t>Transformar texto em número:</a:t>
            </a:r>
            <a:br>
              <a:rPr lang="pt-BR" dirty="0"/>
            </a:br>
            <a:r>
              <a:rPr lang="pt-BR" dirty="0"/>
              <a:t>✔ </a:t>
            </a:r>
            <a:r>
              <a:rPr lang="pt-BR" dirty="0" err="1"/>
              <a:t>One</a:t>
            </a:r>
            <a:r>
              <a:rPr lang="pt-BR" dirty="0"/>
              <a:t>-Hot </a:t>
            </a:r>
            <a:r>
              <a:rPr lang="pt-BR" dirty="0" err="1"/>
              <a:t>Encoding</a:t>
            </a:r>
            <a:br>
              <a:rPr lang="pt-BR" dirty="0"/>
            </a:br>
            <a:r>
              <a:rPr lang="pt-BR" dirty="0"/>
              <a:t>✔ </a:t>
            </a:r>
            <a:r>
              <a:rPr lang="pt-BR" dirty="0" err="1"/>
              <a:t>Label</a:t>
            </a:r>
            <a:r>
              <a:rPr lang="pt-BR" dirty="0"/>
              <a:t> </a:t>
            </a:r>
            <a:r>
              <a:rPr lang="pt-BR" dirty="0" err="1"/>
              <a:t>Encoding</a:t>
            </a:r>
            <a:endParaRPr lang="pt-BR" dirty="0"/>
          </a:p>
          <a:p>
            <a:r>
              <a:rPr lang="pt-BR" dirty="0"/>
              <a:t>Exemplo:</a:t>
            </a:r>
          </a:p>
          <a:p>
            <a:r>
              <a:rPr lang="pt-BR" dirty="0"/>
              <a:t>Cor vermelho azul→ → →vermelho:1, azul:0</a:t>
            </a:r>
          </a:p>
          <a:p>
            <a:r>
              <a:rPr lang="pt-BR" dirty="0"/>
              <a:t>Dica prática: use emojis para representar categorias!</a:t>
            </a:r>
          </a:p>
          <a:p>
            <a:endParaRPr lang="en-US" dirty="0"/>
          </a:p>
          <a:p>
            <a:endParaRPr lang="en-US" dirty="0"/>
          </a:p>
        </p:txBody>
      </p:sp>
    </p:spTree>
    <p:extLst>
      <p:ext uri="{BB962C8B-B14F-4D97-AF65-F5344CB8AC3E}">
        <p14:creationId xmlns:p14="http://schemas.microsoft.com/office/powerpoint/2010/main" val="1313539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DE41F-CBCE-DE3E-FF96-C1FE35436245}"/>
              </a:ext>
            </a:extLst>
          </p:cNvPr>
          <p:cNvSpPr>
            <a:spLocks noGrp="1"/>
          </p:cNvSpPr>
          <p:nvPr>
            <p:ph type="title"/>
          </p:nvPr>
        </p:nvSpPr>
        <p:spPr/>
        <p:txBody>
          <a:bodyPr/>
          <a:lstStyle/>
          <a:p>
            <a:r>
              <a:rPr lang="en-US" dirty="0"/>
              <a:t>Pipeline de </a:t>
            </a:r>
            <a:r>
              <a:rPr lang="en-US" dirty="0" err="1"/>
              <a:t>pré-processamento</a:t>
            </a:r>
            <a:endParaRPr lang="en-US" dirty="0"/>
          </a:p>
        </p:txBody>
      </p:sp>
      <p:sp>
        <p:nvSpPr>
          <p:cNvPr id="3" name="Content Placeholder 2">
            <a:extLst>
              <a:ext uri="{FF2B5EF4-FFF2-40B4-BE49-F238E27FC236}">
                <a16:creationId xmlns:a16="http://schemas.microsoft.com/office/drawing/2014/main" id="{16B9CA14-0993-D9E3-35BD-F02EF871BEEC}"/>
              </a:ext>
            </a:extLst>
          </p:cNvPr>
          <p:cNvSpPr>
            <a:spLocks noGrp="1"/>
          </p:cNvSpPr>
          <p:nvPr>
            <p:ph idx="1"/>
          </p:nvPr>
        </p:nvSpPr>
        <p:spPr/>
        <p:txBody>
          <a:bodyPr/>
          <a:lstStyle/>
          <a:p>
            <a:r>
              <a:rPr lang="pt-BR" dirty="0"/>
              <a:t>Combinar tudo em etapas:</a:t>
            </a:r>
          </a:p>
          <a:p>
            <a:pPr lvl="1"/>
            <a:r>
              <a:rPr lang="pt-BR" dirty="0"/>
              <a:t>Limpeza</a:t>
            </a:r>
          </a:p>
          <a:p>
            <a:pPr lvl="1"/>
            <a:r>
              <a:rPr lang="pt-BR" dirty="0"/>
              <a:t>Transformações (</a:t>
            </a:r>
            <a:r>
              <a:rPr lang="pt-BR" dirty="0" err="1"/>
              <a:t>encoding</a:t>
            </a:r>
            <a:r>
              <a:rPr lang="pt-BR" dirty="0"/>
              <a:t>, </a:t>
            </a:r>
            <a:r>
              <a:rPr lang="pt-BR"/>
              <a:t>imputação)</a:t>
            </a:r>
          </a:p>
          <a:p>
            <a:pPr lvl="1"/>
            <a:r>
              <a:rPr lang="pt-BR"/>
              <a:t>Escalonamento</a:t>
            </a:r>
            <a:endParaRPr lang="pt-BR" dirty="0"/>
          </a:p>
          <a:p>
            <a:r>
              <a:rPr lang="pt-BR" dirty="0"/>
              <a:t>🔧 Em Python com </a:t>
            </a:r>
            <a:r>
              <a:rPr lang="pt-BR" dirty="0" err="1"/>
              <a:t>scikit-learn</a:t>
            </a:r>
            <a:r>
              <a:rPr lang="pt-BR" dirty="0"/>
              <a:t>:</a:t>
            </a:r>
          </a:p>
          <a:p>
            <a:pPr lvl="1"/>
            <a:r>
              <a:rPr lang="en-US" dirty="0"/>
              <a:t>from </a:t>
            </a:r>
            <a:r>
              <a:rPr lang="en-US" dirty="0" err="1"/>
              <a:t>sklearn.pipeline</a:t>
            </a:r>
            <a:r>
              <a:rPr lang="en-US" dirty="0"/>
              <a:t> import Pipeline</a:t>
            </a:r>
          </a:p>
        </p:txBody>
      </p:sp>
    </p:spTree>
    <p:extLst>
      <p:ext uri="{BB962C8B-B14F-4D97-AF65-F5344CB8AC3E}">
        <p14:creationId xmlns:p14="http://schemas.microsoft.com/office/powerpoint/2010/main" val="3057734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530B7-1112-FD32-D48E-0B4653A613E1}"/>
              </a:ext>
            </a:extLst>
          </p:cNvPr>
          <p:cNvSpPr>
            <a:spLocks noGrp="1"/>
          </p:cNvSpPr>
          <p:nvPr>
            <p:ph type="title"/>
          </p:nvPr>
        </p:nvSpPr>
        <p:spPr/>
        <p:txBody>
          <a:bodyPr>
            <a:normAutofit/>
          </a:bodyPr>
          <a:lstStyle/>
          <a:p>
            <a:r>
              <a:rPr lang="en-US" dirty="0"/>
              <a:t>Split Dataset Into Training, Evaluation and Validation Sets</a:t>
            </a:r>
          </a:p>
        </p:txBody>
      </p:sp>
      <p:sp>
        <p:nvSpPr>
          <p:cNvPr id="3" name="Content Placeholder 2">
            <a:extLst>
              <a:ext uri="{FF2B5EF4-FFF2-40B4-BE49-F238E27FC236}">
                <a16:creationId xmlns:a16="http://schemas.microsoft.com/office/drawing/2014/main" id="{8EA279AF-2AEF-E057-E9A3-00F53ED5A25A}"/>
              </a:ext>
            </a:extLst>
          </p:cNvPr>
          <p:cNvSpPr>
            <a:spLocks noGrp="1"/>
          </p:cNvSpPr>
          <p:nvPr>
            <p:ph idx="1"/>
          </p:nvPr>
        </p:nvSpPr>
        <p:spPr/>
        <p:txBody>
          <a:bodyPr/>
          <a:lstStyle/>
          <a:p>
            <a:pPr fontAlgn="base"/>
            <a:r>
              <a:rPr lang="en-US" dirty="0"/>
              <a:t>This is the final step among the data preprocessing steps. It’s time to divide your dataset into training, evaluation, and validation sets. The training set is the data you’ll use to train your machine learning model. The evaluation set will assess the data and the model, while the validation set will validate it.</a:t>
            </a:r>
          </a:p>
          <a:p>
            <a:endParaRPr lang="en-US" dirty="0"/>
          </a:p>
        </p:txBody>
      </p:sp>
    </p:spTree>
    <p:extLst>
      <p:ext uri="{BB962C8B-B14F-4D97-AF65-F5344CB8AC3E}">
        <p14:creationId xmlns:p14="http://schemas.microsoft.com/office/powerpoint/2010/main" val="42505085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14A78-63ED-67C2-7C75-578530B33A41}"/>
              </a:ext>
            </a:extLst>
          </p:cNvPr>
          <p:cNvSpPr>
            <a:spLocks noGrp="1"/>
          </p:cNvSpPr>
          <p:nvPr>
            <p:ph type="title"/>
          </p:nvPr>
        </p:nvSpPr>
        <p:spPr/>
        <p:txBody>
          <a:bodyPr/>
          <a:lstStyle/>
          <a:p>
            <a:r>
              <a:rPr lang="pt-BR" dirty="0"/>
              <a:t>Divisão do </a:t>
            </a:r>
            <a:r>
              <a:rPr lang="pt-BR" i="1" dirty="0"/>
              <a:t>dataset</a:t>
            </a:r>
            <a:endParaRPr lang="en-US" i="1" dirty="0"/>
          </a:p>
        </p:txBody>
      </p:sp>
      <p:sp>
        <p:nvSpPr>
          <p:cNvPr id="3" name="Content Placeholder 2">
            <a:extLst>
              <a:ext uri="{FF2B5EF4-FFF2-40B4-BE49-F238E27FC236}">
                <a16:creationId xmlns:a16="http://schemas.microsoft.com/office/drawing/2014/main" id="{59FAA6DB-6F6F-4101-954E-36363841E93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91390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82FA0-BE50-3672-2983-ADEDC8EB3E4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FE0867-339F-DA7E-6C6B-FE3B75C233D3}"/>
              </a:ext>
            </a:extLst>
          </p:cNvPr>
          <p:cNvSpPr>
            <a:spLocks noGrp="1"/>
          </p:cNvSpPr>
          <p:nvPr>
            <p:ph idx="1"/>
          </p:nvPr>
        </p:nvSpPr>
        <p:spPr>
          <a:xfrm>
            <a:off x="6096000" y="1825625"/>
            <a:ext cx="5257800" cy="4351338"/>
          </a:xfrm>
        </p:spPr>
        <p:txBody>
          <a:bodyPr/>
          <a:lstStyle/>
          <a:p>
            <a:endParaRPr lang="en-US"/>
          </a:p>
        </p:txBody>
      </p:sp>
      <p:pic>
        <p:nvPicPr>
          <p:cNvPr id="1026" name="Picture 2" descr="What is Feature Engineering? - GeeksforGeeks">
            <a:extLst>
              <a:ext uri="{FF2B5EF4-FFF2-40B4-BE49-F238E27FC236}">
                <a16:creationId xmlns:a16="http://schemas.microsoft.com/office/drawing/2014/main" id="{A8B67E60-12C6-B884-D57E-AA2267FBB8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5382" y="2676525"/>
            <a:ext cx="3028950" cy="15049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eature engineering - Machine Learning Lens">
            <a:extLst>
              <a:ext uri="{FF2B5EF4-FFF2-40B4-BE49-F238E27FC236}">
                <a16:creationId xmlns:a16="http://schemas.microsoft.com/office/drawing/2014/main" id="{85AC8CC3-B8FA-0E04-A364-6DA3A40656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323" y="4081463"/>
            <a:ext cx="2181225" cy="209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55837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Perguntas?</a:t>
            </a:r>
            <a:endParaRPr lang="pt-BR" sz="6600" b="1" i="1" dirty="0"/>
          </a:p>
        </p:txBody>
      </p:sp>
    </p:spTree>
    <p:extLst>
      <p:ext uri="{BB962C8B-B14F-4D97-AF65-F5344CB8AC3E}">
        <p14:creationId xmlns:p14="http://schemas.microsoft.com/office/powerpoint/2010/main" val="3773005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endParaRPr lang="pt-BR" sz="6600" b="1" i="1" dirty="0"/>
          </a:p>
        </p:txBody>
      </p:sp>
    </p:spTree>
    <p:extLst>
      <p:ext uri="{BB962C8B-B14F-4D97-AF65-F5344CB8AC3E}">
        <p14:creationId xmlns:p14="http://schemas.microsoft.com/office/powerpoint/2010/main" val="2655704619"/>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8088</TotalTime>
  <Words>1365</Words>
  <Application>Microsoft Office PowerPoint</Application>
  <PresentationFormat>Widescreen</PresentationFormat>
  <Paragraphs>142</Paragraphs>
  <Slides>24</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Cambria Math</vt:lpstr>
      <vt:lpstr>Consolas</vt:lpstr>
      <vt:lpstr>Wingdings</vt:lpstr>
      <vt:lpstr>Tema do Office</vt:lpstr>
      <vt:lpstr>C24 - Inteligência Artificial: Transformações dos dados</vt:lpstr>
      <vt:lpstr>PowerPoint Presentation</vt:lpstr>
      <vt:lpstr>O que veremos?</vt:lpstr>
      <vt:lpstr>Escalonamento de atributos</vt:lpstr>
      <vt:lpstr>Escalonamento de atributos</vt:lpstr>
      <vt:lpstr>Por que escalonar os atributos?</vt:lpstr>
      <vt:lpstr>Por que escalonar os atributos?</vt:lpstr>
      <vt:lpstr>Normalização (Min-Max Scaling)</vt:lpstr>
      <vt:lpstr>Normalização (Min-Max Scaling)</vt:lpstr>
      <vt:lpstr>PowerPoint Presentation</vt:lpstr>
      <vt:lpstr>Padronização (Standard Scaling)</vt:lpstr>
      <vt:lpstr>Escalonamento robusto (Robust Scaling)</vt:lpstr>
      <vt:lpstr>Robust scaling</vt:lpstr>
      <vt:lpstr>PowerPoint Presentation</vt:lpstr>
      <vt:lpstr>Sobre o que falar?</vt:lpstr>
      <vt:lpstr>Engenharia de atributos</vt:lpstr>
      <vt:lpstr>Engenharia de atributos</vt:lpstr>
      <vt:lpstr>Codificação de variáveis categóricas</vt:lpstr>
      <vt:lpstr>Pipeline de pré-processamento</vt:lpstr>
      <vt:lpstr>Split Dataset Into Training, Evaluation and Validation Sets</vt:lpstr>
      <vt:lpstr>Divisão do dataset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dc:title>
  <dc:creator>Felipe Augusto Pereira de Figueiredo</dc:creator>
  <cp:lastModifiedBy>Felipe Augusto Pereira de Figueiredo</cp:lastModifiedBy>
  <cp:revision>1777</cp:revision>
  <dcterms:created xsi:type="dcterms:W3CDTF">2020-01-20T13:50:05Z</dcterms:created>
  <dcterms:modified xsi:type="dcterms:W3CDTF">2026-02-01T15:12:50Z</dcterms:modified>
</cp:coreProperties>
</file>