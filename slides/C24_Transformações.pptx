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handoutMasterIdLst>
    <p:handoutMasterId r:id="rId56"/>
  </p:handoutMasterIdLst>
  <p:sldIdLst>
    <p:sldId id="256" r:id="rId2"/>
    <p:sldId id="322" r:id="rId3"/>
    <p:sldId id="316" r:id="rId4"/>
    <p:sldId id="363" r:id="rId5"/>
    <p:sldId id="374" r:id="rId6"/>
    <p:sldId id="376" r:id="rId7"/>
    <p:sldId id="337" r:id="rId8"/>
    <p:sldId id="377" r:id="rId9"/>
    <p:sldId id="365" r:id="rId10"/>
    <p:sldId id="378" r:id="rId11"/>
    <p:sldId id="330" r:id="rId12"/>
    <p:sldId id="319" r:id="rId13"/>
    <p:sldId id="329" r:id="rId14"/>
    <p:sldId id="327" r:id="rId15"/>
    <p:sldId id="341" r:id="rId16"/>
    <p:sldId id="334" r:id="rId17"/>
    <p:sldId id="380" r:id="rId18"/>
    <p:sldId id="382" r:id="rId19"/>
    <p:sldId id="335" r:id="rId20"/>
    <p:sldId id="339" r:id="rId21"/>
    <p:sldId id="340" r:id="rId22"/>
    <p:sldId id="336" r:id="rId23"/>
    <p:sldId id="343" r:id="rId24"/>
    <p:sldId id="342" r:id="rId25"/>
    <p:sldId id="328" r:id="rId26"/>
    <p:sldId id="344" r:id="rId27"/>
    <p:sldId id="345" r:id="rId28"/>
    <p:sldId id="346" r:id="rId29"/>
    <p:sldId id="347" r:id="rId30"/>
    <p:sldId id="348" r:id="rId31"/>
    <p:sldId id="349" r:id="rId32"/>
    <p:sldId id="317" r:id="rId33"/>
    <p:sldId id="320" r:id="rId34"/>
    <p:sldId id="353" r:id="rId35"/>
    <p:sldId id="354" r:id="rId36"/>
    <p:sldId id="355" r:id="rId37"/>
    <p:sldId id="366" r:id="rId38"/>
    <p:sldId id="357" r:id="rId39"/>
    <p:sldId id="359" r:id="rId40"/>
    <p:sldId id="360" r:id="rId41"/>
    <p:sldId id="358" r:id="rId42"/>
    <p:sldId id="362" r:id="rId43"/>
    <p:sldId id="367" r:id="rId44"/>
    <p:sldId id="368" r:id="rId45"/>
    <p:sldId id="370" r:id="rId46"/>
    <p:sldId id="372" r:id="rId47"/>
    <p:sldId id="371" r:id="rId48"/>
    <p:sldId id="373" r:id="rId49"/>
    <p:sldId id="356" r:id="rId50"/>
    <p:sldId id="338" r:id="rId51"/>
    <p:sldId id="395" r:id="rId52"/>
    <p:sldId id="293" r:id="rId53"/>
    <p:sldId id="306" r:id="rId5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9/03/2026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Embora um modelo possa parecer funcionar bem quando testado nos mesmos dados usados no treinamento, </a:t>
            </a:r>
            <a:r>
              <a:rPr lang="pt-BR" b="1" dirty="0"/>
              <a:t>isso não significa que ele realmente aprendeu a generalizar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Se o mesmo conjunto de dados for usado para treinamento e teste, ocorre um problema chamado </a:t>
            </a:r>
            <a:r>
              <a:rPr lang="pt-BR" b="1" dirty="0" err="1"/>
              <a:t>overfitting</a:t>
            </a:r>
            <a:r>
              <a:rPr lang="pt-BR" dirty="0"/>
              <a:t> ou </a:t>
            </a:r>
            <a:r>
              <a:rPr lang="pt-BR" b="1" dirty="0" err="1"/>
              <a:t>sobreajuste</a:t>
            </a:r>
            <a:r>
              <a:rPr lang="pt-BR" dirty="0"/>
              <a:t>. Nesse caso, o modelo pode simplesmente </a:t>
            </a:r>
            <a:r>
              <a:rPr lang="pt-BR" b="1" dirty="0"/>
              <a:t>memorizar os exemplos do treinamento</a:t>
            </a:r>
            <a:r>
              <a:rPr lang="pt-BR" dirty="0"/>
              <a:t>, em vez de aprender padrões gerais dos dados. O resultado é uma </a:t>
            </a:r>
            <a:r>
              <a:rPr lang="pt-BR" b="1" dirty="0"/>
              <a:t>avaliação artificialmente otimista</a:t>
            </a:r>
            <a:r>
              <a:rPr lang="pt-BR" dirty="0"/>
              <a:t>, pois o modelo é testado em dados que ele já “viu”. </a:t>
            </a:r>
          </a:p>
          <a:p>
            <a:r>
              <a:rPr lang="pt-BR" dirty="0"/>
              <a:t>Além disso, usar o mesmo conjunto de dados em todas as etapas pode causar </a:t>
            </a:r>
            <a:r>
              <a:rPr lang="pt-BR" b="1" dirty="0"/>
              <a:t>data </a:t>
            </a:r>
            <a:r>
              <a:rPr lang="pt-BR" b="1" dirty="0" err="1"/>
              <a:t>leakage</a:t>
            </a:r>
            <a:r>
              <a:rPr lang="pt-BR" b="1" dirty="0"/>
              <a:t> (vazamento de dados)</a:t>
            </a:r>
            <a:r>
              <a:rPr lang="pt-BR" dirty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/>
          </a:p>
          <a:p>
            <a:r>
              <a:rPr lang="pt-BR" dirty="0"/>
              <a:t>Portanto, a mensagem principal deste slide é que </a:t>
            </a:r>
            <a:r>
              <a:rPr lang="pt-BR" b="1" dirty="0"/>
              <a:t>avaliar um modelo com os mesmos dados usados no treinamento não mede sua capacidade real de generalização</a:t>
            </a:r>
            <a:r>
              <a:rPr lang="pt-BR" dirty="0"/>
              <a:t>. Para obter uma avaliação confiável, é necessário garantir que os dados de treinamento, validação e teste sejam </a:t>
            </a:r>
            <a:r>
              <a:rPr lang="pt-BR" b="1" dirty="0"/>
              <a:t>separados e independentes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5896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Data </a:t>
            </a:r>
            <a:r>
              <a:rPr lang="pt-BR" dirty="0" err="1"/>
              <a:t>leakage</a:t>
            </a:r>
            <a:r>
              <a:rPr lang="pt-BR" dirty="0"/>
              <a:t> é quando o modelo usa </a:t>
            </a:r>
            <a:r>
              <a:rPr lang="pt-BR" b="1" dirty="0"/>
              <a:t>informações do futuro, do conjunto de teste/validação ou da variável alvo</a:t>
            </a:r>
            <a:r>
              <a:rPr lang="pt-BR" dirty="0"/>
              <a:t> durante o treinamento.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503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7CE7C-1B9C-3577-0509-E7A5D0B64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71494-58AF-B2D4-27F6-AD8D41640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7AC2ED-524B-B44D-B62C-0905C56D8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que significa “representativo” na prática</a:t>
            </a:r>
          </a:p>
          <a:p>
            <a:r>
              <a:rPr lang="pt-BR" dirty="0"/>
              <a:t>Cada conjunto deve manter aproximadamente:</a:t>
            </a:r>
          </a:p>
          <a:p>
            <a:r>
              <a:rPr lang="pt-BR" b="1" dirty="0"/>
              <a:t>Mesma distribuição das classes</a:t>
            </a:r>
            <a:endParaRPr lang="pt-BR" dirty="0"/>
          </a:p>
          <a:p>
            <a:r>
              <a:rPr lang="pt-BR" b="1" dirty="0"/>
              <a:t>Mesmo tipo de exemplos</a:t>
            </a:r>
            <a:endParaRPr lang="pt-BR" dirty="0"/>
          </a:p>
          <a:p>
            <a:r>
              <a:rPr lang="pt-BR" b="1" dirty="0"/>
              <a:t>Mesma faixa de valores das variáveis</a:t>
            </a:r>
            <a:endParaRPr lang="pt-BR" dirty="0"/>
          </a:p>
          <a:p>
            <a:r>
              <a:rPr lang="pt-BR" b="1" dirty="0"/>
              <a:t>Mesmo comportamento estatístico dos dados</a:t>
            </a:r>
            <a:endParaRPr lang="pt-BR" dirty="0"/>
          </a:p>
          <a:p>
            <a:r>
              <a:rPr lang="pt-BR" dirty="0"/>
              <a:t>Isso é importante porque o conjunto de teste deve representar </a:t>
            </a:r>
            <a:r>
              <a:rPr lang="pt-BR" b="1" dirty="0"/>
              <a:t>os dados que o modelo encontrará no mundo real</a:t>
            </a:r>
            <a:r>
              <a:rPr lang="pt-BR" dirty="0"/>
              <a:t>, permitindo avaliar corretamente sua capacidade de generalização.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8A30D-9EF0-2610-E10F-9DEFB1A5C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5128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9BA35-6F89-0BB9-6A15-9A14EACDB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66353-8D75-DA06-B6B6-3EEE5474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C1F271-2284-A7E4-9254-5F8452B69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8099E-2282-DD7D-6C34-5E9A5168D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8817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28CA1-01F6-4480-35DB-8BB34983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398D-07A6-7B0D-340C-EFF1B2885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081E3-4839-F706-AA6D-36B8D101B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Musk."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F2532-F79F-CBC9-E9FF-E998E7915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82371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distribuição assimétrica ocorre quando </a:t>
            </a:r>
            <a:r>
              <a:rPr lang="pt-BR" b="1" dirty="0"/>
              <a:t>os dados não são equilibrados em torno do centro</a:t>
            </a:r>
            <a:r>
              <a:rPr lang="pt-BR" dirty="0"/>
              <a:t>, formando uma </a:t>
            </a:r>
            <a:r>
              <a:rPr lang="pt-BR" b="1" dirty="0"/>
              <a:t>cauda mais longa em um dos lados da distribuição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Em uma distribuição </a:t>
            </a:r>
            <a:r>
              <a:rPr lang="pt-BR" b="1" dirty="0"/>
              <a:t>simétrica</a:t>
            </a:r>
            <a:r>
              <a:rPr lang="pt-BR" dirty="0"/>
              <a:t>, os lados esquerdo e direito são como um </a:t>
            </a:r>
            <a:r>
              <a:rPr lang="pt-BR" b="1" dirty="0"/>
              <a:t>espelho</a:t>
            </a:r>
            <a:r>
              <a:rPr lang="pt-BR" dirty="0"/>
              <a:t> (ex.: distribuição normal).</a:t>
            </a:r>
            <a:br>
              <a:rPr lang="pt-BR" dirty="0"/>
            </a:br>
            <a:r>
              <a:rPr lang="pt-BR" dirty="0"/>
              <a:t>Em uma </a:t>
            </a:r>
            <a:r>
              <a:rPr lang="pt-BR" b="1" dirty="0"/>
              <a:t>distribuição assimétrica</a:t>
            </a:r>
            <a:r>
              <a:rPr lang="pt-BR" dirty="0"/>
              <a:t>, um dos lados possui uma </a:t>
            </a:r>
            <a:r>
              <a:rPr lang="pt-BR" b="1" dirty="0"/>
              <a:t>cauda mais longa</a:t>
            </a:r>
            <a:r>
              <a:rPr lang="pt-BR" dirty="0"/>
              <a:t>, indicando maior concentração de valores em um lado.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br>
              <a:rPr lang="pt-BR" dirty="0"/>
            </a:b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4%20-%20Transforma%C3%A7%C3%B5es.pdf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transformação ou pré-processamento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553833-8E1E-E8EA-BC34-739B9DD9C6F3}"/>
              </a:ext>
            </a:extLst>
          </p:cNvPr>
          <p:cNvSpPr txBox="1"/>
          <p:nvPr/>
        </p:nvSpPr>
        <p:spPr>
          <a:xfrm>
            <a:off x="7489371" y="2151727"/>
            <a:ext cx="40209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treinamento, validação e teste!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16EEDC-16EC-1AA3-D7CC-99F0FE4B7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227" y="163285"/>
            <a:ext cx="4354285" cy="6531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1529" cy="1325563"/>
          </a:xfrm>
        </p:spPr>
        <p:txBody>
          <a:bodyPr/>
          <a:lstStyle/>
          <a:p>
            <a:r>
              <a:rPr lang="pt-BR" dirty="0"/>
              <a:t>Por que não usar os mesmos dados para treino e teste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91530" cy="5032375"/>
          </a:xfrm>
        </p:spPr>
        <p:txBody>
          <a:bodyPr>
            <a:normAutofit/>
          </a:bodyPr>
          <a:lstStyle/>
          <a:p>
            <a:r>
              <a:rPr lang="pt-BR" dirty="0"/>
              <a:t>Avaliar um modelo com os mesmos dados usados no treinamento </a:t>
            </a:r>
            <a:r>
              <a:rPr lang="pt-BR" b="1" dirty="0">
                <a:solidFill>
                  <a:srgbClr val="7030A0"/>
                </a:solidFill>
              </a:rPr>
              <a:t>não mede sua capacidade real de generalização</a:t>
            </a:r>
            <a:r>
              <a:rPr lang="pt-BR" dirty="0"/>
              <a:t>. </a:t>
            </a:r>
          </a:p>
          <a:p>
            <a:r>
              <a:rPr lang="pt-BR" dirty="0"/>
              <a:t>O resultado da avaliação pode ser </a:t>
            </a:r>
            <a:r>
              <a:rPr lang="pt-BR" b="1" dirty="0"/>
              <a:t>artificialmente otimista</a:t>
            </a:r>
            <a:r>
              <a:rPr lang="pt-BR" dirty="0"/>
              <a:t>, pois o modelo é testado com dados que já conhece.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memorizar os dados de treinamento (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i="1" dirty="0"/>
              <a:t>)</a:t>
            </a:r>
            <a:r>
              <a:rPr lang="pt-BR" dirty="0"/>
              <a:t> em vez de aprender padrões gerais, o resultado da avaliação será excelente, mas o modelo pode não generalizar bem.</a:t>
            </a:r>
          </a:p>
          <a:p>
            <a:r>
              <a:rPr lang="pt-BR" dirty="0"/>
              <a:t>Além disso, se o modelo for otimizado com o mesmo conjunto de treinamento, ocorrerá </a:t>
            </a:r>
            <a:r>
              <a:rPr lang="pt-BR" b="1" dirty="0">
                <a:solidFill>
                  <a:schemeClr val="accent2"/>
                </a:solidFill>
              </a:rPr>
              <a:t>vazamento de dados </a:t>
            </a:r>
            <a:r>
              <a:rPr lang="pt-BR" dirty="0"/>
              <a:t>(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i="1" dirty="0"/>
              <a:t>)</a:t>
            </a:r>
            <a:r>
              <a:rPr lang="pt-BR" dirty="0"/>
              <a:t>, comprometendo a avaliação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será otimizado para o conjunto de treinamento, causando </a:t>
            </a:r>
            <a:r>
              <a:rPr lang="pt-BR" b="1" i="1" dirty="0" err="1"/>
              <a:t>overfitting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9724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704113" cy="5032375"/>
          </a:xfrm>
        </p:spPr>
        <p:txBody>
          <a:bodyPr>
            <a:normAutofit/>
          </a:bodyPr>
          <a:lstStyle/>
          <a:p>
            <a:r>
              <a:rPr lang="pt-BR" dirty="0"/>
              <a:t>Como em ML, o objetivo é encontrar modelos que </a:t>
            </a:r>
            <a:r>
              <a:rPr lang="pt-BR" b="1" dirty="0">
                <a:solidFill>
                  <a:srgbClr val="7030A0"/>
                </a:solidFill>
              </a:rPr>
              <a:t>generalizem</a:t>
            </a:r>
            <a:r>
              <a:rPr lang="pt-BR" dirty="0"/>
              <a:t> bem para dados novos (i.e., </a:t>
            </a:r>
            <a:r>
              <a:rPr lang="pt-BR" b="1" dirty="0">
                <a:solidFill>
                  <a:schemeClr val="accent2"/>
                </a:solidFill>
              </a:rPr>
              <a:t>inéditos</a:t>
            </a:r>
            <a:r>
              <a:rPr lang="pt-BR" dirty="0"/>
              <a:t>), precisamos definir uma forma de avaliar a generalização.</a:t>
            </a:r>
          </a:p>
          <a:p>
            <a:r>
              <a:rPr lang="pt-BR" dirty="0"/>
              <a:t>Para isso, o conjunto total de amostras (</a:t>
            </a:r>
            <a:r>
              <a:rPr lang="pt-BR" i="1" dirty="0" err="1"/>
              <a:t>dataset</a:t>
            </a:r>
            <a:r>
              <a:rPr lang="pt-BR" dirty="0"/>
              <a:t>) é dividido em três subconjuntos </a:t>
            </a:r>
            <a:r>
              <a:rPr lang="pt-BR" b="1" dirty="0">
                <a:solidFill>
                  <a:srgbClr val="0070C0"/>
                </a:solidFill>
              </a:rPr>
              <a:t>independentes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16A50-1431-9CAC-7F71-5A27C394F4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r="6250"/>
          <a:stretch>
            <a:fillRect/>
          </a:stretch>
        </p:blipFill>
        <p:spPr>
          <a:xfrm>
            <a:off x="152402" y="2373084"/>
            <a:ext cx="6215145" cy="292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4324A-F45D-0632-1A25-0A760DDD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05F83-6AB4-A14A-E0B6-E213747D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DDC91-563F-33AB-2873-3F7B30C77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Todos os três devem ser </a:t>
            </a:r>
            <a:r>
              <a:rPr lang="pt-BR" b="1" dirty="0"/>
              <a:t>representativos do problema/fenômeno</a:t>
            </a:r>
            <a:r>
              <a:rPr lang="pt-BR" dirty="0"/>
              <a:t> sendo analisado.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Representativos: </a:t>
            </a:r>
            <a:r>
              <a:rPr lang="pt-BR" dirty="0"/>
              <a:t>O </a:t>
            </a:r>
            <a:r>
              <a:rPr lang="pt-BR" i="1" dirty="0"/>
              <a:t>dataset</a:t>
            </a:r>
            <a:r>
              <a:rPr lang="pt-BR" dirty="0"/>
              <a:t> completo e, consequentemente, os subconjuntos devem </a:t>
            </a:r>
            <a:r>
              <a:rPr lang="pt-BR" b="1" dirty="0">
                <a:solidFill>
                  <a:srgbClr val="0070C0"/>
                </a:solidFill>
              </a:rPr>
              <a:t>refletir</a:t>
            </a:r>
            <a:r>
              <a:rPr lang="pt-BR" dirty="0"/>
              <a:t> a </a:t>
            </a:r>
            <a:r>
              <a:rPr lang="pt-BR" b="1" dirty="0">
                <a:solidFill>
                  <a:srgbClr val="0070C0"/>
                </a:solidFill>
              </a:rPr>
              <a:t>mesma distribuição</a:t>
            </a:r>
            <a:r>
              <a:rPr lang="pt-BR" dirty="0"/>
              <a:t> de dados do problema.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Exemplo</a:t>
            </a:r>
            <a:r>
              <a:rPr lang="pt-BR" dirty="0"/>
              <a:t>: Se no </a:t>
            </a:r>
            <a:r>
              <a:rPr lang="pt-BR" i="1" dirty="0"/>
              <a:t>dataset</a:t>
            </a:r>
            <a:r>
              <a:rPr lang="pt-BR" dirty="0"/>
              <a:t> completo 70% das amostras são de </a:t>
            </a:r>
            <a:r>
              <a:rPr lang="pt-BR" i="1" dirty="0" err="1"/>
              <a:t>emails</a:t>
            </a:r>
            <a:r>
              <a:rPr lang="pt-BR" dirty="0"/>
              <a:t> legítimos e 30% são </a:t>
            </a:r>
            <a:r>
              <a:rPr lang="pt-BR" i="1" dirty="0"/>
              <a:t>spams</a:t>
            </a:r>
            <a:r>
              <a:rPr lang="pt-BR" dirty="0"/>
              <a:t>, os 3 subconjuntos devem manter estas porcentagens.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70%, 15%, 15%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80%, 10%, 10%</a:t>
            </a:r>
          </a:p>
        </p:txBody>
      </p:sp>
    </p:spTree>
    <p:extLst>
      <p:ext uri="{BB962C8B-B14F-4D97-AF65-F5344CB8AC3E}">
        <p14:creationId xmlns:p14="http://schemas.microsoft.com/office/powerpoint/2010/main" val="320729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</a:t>
            </a:r>
            <a:r>
              <a:rPr lang="pt-BR" b="1" dirty="0"/>
              <a:t>treinamento</a:t>
            </a:r>
            <a:r>
              <a:rPr lang="pt-BR" dirty="0"/>
              <a:t> é para </a:t>
            </a:r>
            <a:r>
              <a:rPr lang="pt-BR" b="1" dirty="0">
                <a:solidFill>
                  <a:srgbClr val="0070C0"/>
                </a:solidFill>
              </a:rPr>
              <a:t>treinar</a:t>
            </a:r>
            <a:r>
              <a:rPr lang="pt-BR" dirty="0"/>
              <a:t>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maior, mais diverso e variado, melhor o aprendizado.</a:t>
            </a:r>
          </a:p>
          <a:p>
            <a:r>
              <a:rPr lang="pt-BR" dirty="0"/>
              <a:t>O conjunto de </a:t>
            </a:r>
            <a:r>
              <a:rPr lang="pt-BR" b="1" dirty="0"/>
              <a:t>validação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avalia o modelo durante o desenvolvimento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</a:t>
            </a:r>
            <a:r>
              <a:rPr lang="pt-BR" b="1" dirty="0"/>
              <a:t>teste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valida a capacidade de generalização </a:t>
            </a:r>
            <a:r>
              <a:rPr lang="pt-BR" dirty="0"/>
              <a:t>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E4444-161D-B9BC-4CA6-AFC9D140B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D5405-D201-E375-6B5B-16B6AAF9B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56189" y="1751805"/>
            <a:ext cx="4517571" cy="3354389"/>
          </a:xfrm>
        </p:spPr>
        <p:txBody>
          <a:bodyPr>
            <a:normAutofit fontScale="92500"/>
          </a:bodyPr>
          <a:lstStyle/>
          <a:p>
            <a:pPr marL="0" indent="0" algn="ctr">
              <a:buNone/>
            </a:pPr>
            <a:r>
              <a:rPr lang="pt-BR" sz="3600" dirty="0"/>
              <a:t>Agora veremos algumas transformações aplicadas aos dados que ajudam no aprendizado dos modelos, sendo a primeira delas, o </a:t>
            </a:r>
            <a:r>
              <a:rPr lang="pt-BR" sz="3600" b="1" dirty="0"/>
              <a:t>escalonamento</a:t>
            </a:r>
            <a:r>
              <a:rPr lang="pt-BR" sz="3600" dirty="0"/>
              <a:t>.</a:t>
            </a:r>
            <a:endParaRPr lang="en-US" sz="3600" dirty="0"/>
          </a:p>
        </p:txBody>
      </p:sp>
      <p:pic>
        <p:nvPicPr>
          <p:cNvPr id="2" name="Picture 2" descr="Feature Scaling in Machine Learning: What It Is, Why It Matters, and How to  Apply It">
            <a:extLst>
              <a:ext uri="{FF2B5EF4-FFF2-40B4-BE49-F238E27FC236}">
                <a16:creationId xmlns:a16="http://schemas.microsoft.com/office/drawing/2014/main" id="{B0B1ADBD-C39A-E2D0-6C43-5AE5055FBF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94" t="3865" r="10478" b="7102"/>
          <a:stretch>
            <a:fillRect/>
          </a:stretch>
        </p:blipFill>
        <p:spPr bwMode="auto">
          <a:xfrm>
            <a:off x="316212" y="1322613"/>
            <a:ext cx="6748093" cy="4212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3477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A</a:t>
                </a:r>
                <a:r>
                  <a:rPr lang="pt-BR" dirty="0"/>
                  <a:t>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B</a:t>
                </a:r>
                <a:r>
                  <a:rPr lang="pt-BR" dirty="0"/>
                  <a:t>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</a:t>
                </a:r>
                <a:r>
                  <a:rPr lang="pt-BR" b="1" dirty="0">
                    <a:solidFill>
                      <a:srgbClr val="7030A0"/>
                    </a:solidFill>
                  </a:rPr>
                  <a:t>não conhecem as unidades</a:t>
                </a:r>
                <a:r>
                  <a:rPr lang="pt-BR" dirty="0"/>
                  <a:t> do mundo real, eles </a:t>
                </a:r>
                <a:r>
                  <a:rPr lang="pt-BR" b="1" dirty="0">
                    <a:solidFill>
                      <a:srgbClr val="7030A0"/>
                    </a:solidFill>
                  </a:rPr>
                  <a:t>conhecem apenas números</a:t>
                </a:r>
                <a:r>
                  <a:rPr lang="pt-BR" dirty="0"/>
                  <a:t>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  <a:blipFill>
                <a:blip r:embed="rId3"/>
                <a:stretch>
                  <a:fillRect l="-1989" t="-1937" r="-22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97971" y="2392362"/>
            <a:ext cx="6135406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</a:t>
            </a:r>
            <a:r>
              <a:rPr lang="pt-BR" b="1" dirty="0">
                <a:solidFill>
                  <a:srgbClr val="7030A0"/>
                </a:solidFill>
              </a:rPr>
              <a:t>são sensíveis à escala dos atributos</a:t>
            </a:r>
            <a:r>
              <a:rPr lang="pt-BR" dirty="0"/>
              <a:t>.</a:t>
            </a:r>
          </a:p>
          <a:p>
            <a:r>
              <a:rPr lang="pt-BR" dirty="0"/>
              <a:t>Atributos com </a:t>
            </a:r>
            <a:r>
              <a:rPr lang="pt-BR" b="1" dirty="0">
                <a:solidFill>
                  <a:schemeClr val="accent1"/>
                </a:solidFill>
              </a:rPr>
              <a:t>escala muito maior influenciam muito mais a previsão </a:t>
            </a:r>
            <a:r>
              <a:rPr lang="pt-BR" dirty="0"/>
              <a:t>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escalonamento iguala a influência </a:t>
            </a:r>
            <a:r>
              <a:rPr lang="pt-BR" dirty="0"/>
              <a:t>dos atributos no modelo.</a:t>
            </a:r>
          </a:p>
          <a:p>
            <a:r>
              <a:rPr lang="pt-BR" dirty="0"/>
              <a:t>Escalonamento transforma valores de atributos para uma mesma escala.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todos os valores numéricos para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escala fixa, geralmente entre 0 e 1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 atributo (e.g., a coluna de um </a:t>
                </a:r>
                <a:r>
                  <a:rPr lang="pt-BR" i="1" dirty="0"/>
                  <a:t>dataset</a:t>
                </a:r>
                <a:r>
                  <a:rPr lang="pt-BR" dirty="0"/>
                  <a:t>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  <a:blipFill>
                <a:blip r:embed="rId3"/>
                <a:stretch>
                  <a:fillRect l="-109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A9B45-E0AC-C9AE-5FD5-5497AD766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6165C-B0D9-0375-517C-218CA055B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156B7-5901-102A-9736-A2EAAA0CF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</a:t>
            </a:r>
            <a:r>
              <a:rPr lang="pt-BR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Dados sem </a:t>
            </a:r>
            <a:r>
              <a:rPr lang="pt-BR" i="1" dirty="0"/>
              <a:t>outliers</a:t>
            </a:r>
            <a:r>
              <a:rPr lang="pt-BR" dirty="0"/>
              <a:t> (analisar e remover antes),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 algoritmos que </a:t>
            </a:r>
            <a:r>
              <a:rPr lang="pt-BR" b="1" dirty="0">
                <a:solidFill>
                  <a:schemeClr val="accent2"/>
                </a:solidFill>
              </a:rPr>
              <a:t>não pressupõem </a:t>
            </a:r>
            <a:r>
              <a:rPr lang="pt-BR" dirty="0"/>
              <a:t>nenhuma </a:t>
            </a:r>
            <a:r>
              <a:rPr lang="pt-BR" b="1" dirty="0">
                <a:solidFill>
                  <a:schemeClr val="accent2"/>
                </a:solidFill>
              </a:rPr>
              <a:t>distribuição</a:t>
            </a:r>
            <a:r>
              <a:rPr lang="pt-BR" dirty="0"/>
              <a:t> (e.g., redes neurais, KNN),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 algoritmos </a:t>
            </a:r>
            <a:r>
              <a:rPr lang="pt-BR" b="1" dirty="0">
                <a:solidFill>
                  <a:schemeClr val="accent2"/>
                </a:solidFill>
              </a:rPr>
              <a:t>baseados em distância</a:t>
            </a:r>
            <a:r>
              <a:rPr lang="pt-BR" dirty="0"/>
              <a:t> (e.g., </a:t>
            </a:r>
            <a:r>
              <a:rPr lang="en-US" dirty="0"/>
              <a:t>KNN, SVM, K-Means)</a:t>
            </a:r>
            <a:r>
              <a:rPr lang="pt-BR" dirty="0"/>
              <a:t> e gradiente (</a:t>
            </a:r>
            <a:r>
              <a:rPr lang="en-US" dirty="0"/>
              <a:t>Redes </a:t>
            </a:r>
            <a:r>
              <a:rPr lang="en-US" dirty="0" err="1"/>
              <a:t>Neurais</a:t>
            </a:r>
            <a:r>
              <a:rPr lang="en-US" dirty="0"/>
              <a:t>, </a:t>
            </a:r>
            <a:r>
              <a:rPr lang="en-US" dirty="0" err="1"/>
              <a:t>Regressões</a:t>
            </a:r>
            <a:r>
              <a:rPr lang="pt-BR" dirty="0"/>
              <a:t>).</a:t>
            </a:r>
          </a:p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</a:t>
            </a:r>
            <a:r>
              <a:rPr lang="pt-BR" b="1" dirty="0">
                <a:solidFill>
                  <a:srgbClr val="7030A0"/>
                </a:solidFill>
              </a:rPr>
              <a:t>esmaga</a:t>
            </a:r>
            <a:r>
              <a:rPr lang="pt-BR" dirty="0"/>
              <a:t>” todos os outros valores </a:t>
            </a:r>
            <a:r>
              <a:rPr lang="pt-BR" b="1" dirty="0">
                <a:solidFill>
                  <a:srgbClr val="7030A0"/>
                </a:solidFill>
              </a:rPr>
              <a:t>para um intervalo muito pequeno próximo de zero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Perde-se a </a:t>
            </a:r>
            <a:r>
              <a:rPr lang="pt-BR" b="1" dirty="0">
                <a:solidFill>
                  <a:srgbClr val="7030A0"/>
                </a:solidFill>
              </a:rPr>
              <a:t>distinção entre valores típicos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</a:t>
            </a:r>
            <a:r>
              <a:rPr lang="pt-BR" b="1" dirty="0">
                <a:solidFill>
                  <a:srgbClr val="00B050"/>
                </a:solidFill>
              </a:rPr>
              <a:t>diferença entre os valores típicos é praticamente eliminada</a:t>
            </a:r>
            <a:r>
              <a:rPr lang="pt-BR" dirty="0"/>
              <a:t> na escala normalizada.</a:t>
            </a:r>
          </a:p>
        </p:txBody>
      </p:sp>
    </p:spTree>
    <p:extLst>
      <p:ext uri="{BB962C8B-B14F-4D97-AF65-F5344CB8AC3E}">
        <p14:creationId xmlns:p14="http://schemas.microsoft.com/office/powerpoint/2010/main" val="9246743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Aprende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parâmetros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de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normalização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(min e max) no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treino</a:t>
            </a:r>
            <a:endParaRPr lang="en-US" b="1" i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Aplica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o scaler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aprendido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conjunto de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E68CA-D24D-3A59-2454-962A7341F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72AB6-BCB8-5FD1-C056-8FD29D1A2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Por que não calculamos os parâmetros de escalonamento usando o conjunto completo?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5582661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5218C-1075-A083-A4CA-ADA8E8133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BB49B-5EBD-DA72-FD55-8FDDE8F82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5" y="1995288"/>
            <a:ext cx="11070770" cy="28674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Para não haver vazamento de informações do “futuro” no treinamento.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968893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atributos para terem </a:t>
                </a:r>
                <a:r>
                  <a:rPr lang="pt-BR" b="1" dirty="0">
                    <a:solidFill>
                      <a:schemeClr val="accent2"/>
                    </a:solidFill>
                  </a:rPr>
                  <a:t>média 0 e desvio padrão 1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6"/>
                    </a:solidFill>
                  </a:rPr>
                  <a:t>não impondo limites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 atributo.</a:t>
                </a:r>
              </a:p>
              <a:p>
                <a:r>
                  <a:rPr lang="pt-BR" b="1" dirty="0"/>
                  <a:t>Vantagens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Torna os dados "comparáveis" em termos do número de desvios padrão da média.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7030A0"/>
                    </a:solidFill>
                  </a:rPr>
                  <a:t>Mais robusto </a:t>
                </a:r>
                <a:r>
                  <a:rPr lang="pt-BR" dirty="0"/>
                  <a:t>a </a:t>
                </a:r>
                <a:r>
                  <a:rPr lang="pt-BR" i="1" dirty="0"/>
                  <a:t>outliers</a:t>
                </a:r>
                <a:r>
                  <a:rPr lang="pt-BR" dirty="0"/>
                  <a:t>, mas não a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pt-BR" dirty="0"/>
                  <a:t>Por não dividir os valores por um denominador muito grande, no caso da presença de </a:t>
                </a:r>
                <a:r>
                  <a:rPr lang="pt-BR" i="1" dirty="0"/>
                  <a:t>outliers</a:t>
                </a:r>
                <a:r>
                  <a:rPr lang="pt-BR" dirty="0"/>
                  <a:t>, não os transforma em valores próximos de zero e, portanto, não se perde a distinção entre eles.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55876-1E2F-A829-24D7-6E67D4343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5A8A1-ABB5-8D3A-D7B8-B702B33BE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08648-F204-3557-03A6-4A8A9392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distribuição "normal" ou Gaussiana (e.g., GNB</a:t>
            </a:r>
            <a:r>
              <a:rPr lang="en-US" dirty="0"/>
              <a:t>, GMM,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para </a:t>
            </a:r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anomalias</a:t>
            </a:r>
            <a:r>
              <a:rPr lang="en-US" dirty="0"/>
              <a:t>)</a:t>
            </a:r>
            <a:r>
              <a:rPr lang="pt-BR" dirty="0"/>
              <a:t>,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dados possuem </a:t>
            </a:r>
            <a:r>
              <a:rPr lang="pt-BR" i="1" dirty="0"/>
              <a:t>outliers</a:t>
            </a:r>
            <a:r>
              <a:rPr lang="en-US" dirty="0"/>
              <a:t>, mas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extremos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Cuidado: </a:t>
            </a:r>
            <a:r>
              <a:rPr lang="pt-BR" dirty="0"/>
              <a:t>Se os dados originais são assimétricos (i.e., cauda longa), eles continuarão assimétricos, apenas centralizados e com variância igual a 1. </a:t>
            </a:r>
          </a:p>
          <a:p>
            <a:r>
              <a:rPr lang="pt-BR" b="1" dirty="0"/>
              <a:t>Importante:</a:t>
            </a:r>
            <a:r>
              <a:rPr lang="pt-BR" dirty="0"/>
              <a:t> Se o conjunto de dados tiver </a:t>
            </a:r>
            <a:r>
              <a:rPr lang="pt-BR" b="1" i="1" dirty="0">
                <a:solidFill>
                  <a:srgbClr val="7030A0"/>
                </a:solidFill>
              </a:rPr>
              <a:t>outliers</a:t>
            </a:r>
            <a:r>
              <a:rPr lang="pt-BR" b="1" dirty="0">
                <a:solidFill>
                  <a:srgbClr val="7030A0"/>
                </a:solidFill>
              </a:rPr>
              <a:t> extremos</a:t>
            </a:r>
            <a:r>
              <a:rPr lang="pt-BR" dirty="0"/>
              <a:t>, o </a:t>
            </a:r>
            <a:r>
              <a:rPr lang="pt-BR" b="1" dirty="0">
                <a:solidFill>
                  <a:srgbClr val="00B050"/>
                </a:solidFill>
              </a:rPr>
              <a:t>escalonador robusto é uma opção superior </a:t>
            </a:r>
            <a:r>
              <a:rPr lang="pt-BR" dirty="0"/>
              <a:t>à padronização, pois ignora os valores discrepantes no cálculo do escalonamento.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7030A0"/>
                </a:solidFill>
              </a:rPr>
              <a:t>Outliers</a:t>
            </a:r>
            <a:r>
              <a:rPr lang="pt-BR" b="1" dirty="0">
                <a:solidFill>
                  <a:srgbClr val="7030A0"/>
                </a:solidFill>
              </a:rPr>
              <a:t> extremos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influenciar a média e a variância </a:t>
            </a:r>
            <a:r>
              <a:rPr lang="pt-BR" dirty="0"/>
              <a:t>dos atributos de forma negativa.</a:t>
            </a:r>
          </a:p>
        </p:txBody>
      </p:sp>
    </p:spTree>
    <p:extLst>
      <p:ext uri="{BB962C8B-B14F-4D97-AF65-F5344CB8AC3E}">
        <p14:creationId xmlns:p14="http://schemas.microsoft.com/office/powerpoint/2010/main" val="34479378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</a:t>
                </a:r>
                <a:r>
                  <a:rPr lang="pt-BR" b="1" dirty="0">
                    <a:solidFill>
                      <a:srgbClr val="00B050"/>
                    </a:solidFill>
                  </a:rPr>
                  <a:t>mediana e distância interquartil</a:t>
                </a:r>
                <a:r>
                  <a:rPr lang="pt-BR" dirty="0"/>
                  <a:t>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mediana</m:t>
                          </m:r>
                        </m:num>
                        <m:den>
                          <m:limLow>
                            <m:limLow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em vez da média e do desvio padrão, os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têm influência mínima </a:t>
                </a:r>
                <a:r>
                  <a:rPr lang="pt-BR" dirty="0"/>
                  <a:t>no escalonamento.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Mantém a relação de distância entre os valores típicos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melhor que a padronização quando existem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extremos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não deixa que </a:t>
                </a:r>
                <a:r>
                  <a:rPr lang="pt-BR" i="1" dirty="0"/>
                  <a:t>outliers</a:t>
                </a:r>
                <a:r>
                  <a:rPr lang="pt-BR" dirty="0"/>
                  <a:t> extremos “esmaguem” os valores típicos em valores próximos de 0.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CF40E-198B-DB74-AFFD-EA10FEF88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há </a:t>
            </a:r>
            <a:r>
              <a:rPr lang="pt-BR" i="1" dirty="0"/>
              <a:t>outliers</a:t>
            </a:r>
            <a:r>
              <a:rPr lang="pt-BR" dirty="0"/>
              <a:t> significativos, mas desejamos mantê-los sem impactar o escalonamento.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as distribuições são assimétricas (i.e., com cauda longa).</a:t>
            </a:r>
          </a:p>
          <a:p>
            <a:r>
              <a:rPr lang="pt-BR" b="1" dirty="0"/>
              <a:t>Cuidado: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Como, em geral, </a:t>
            </a:r>
            <a:r>
              <a:rPr lang="pt-BR" b="1" dirty="0">
                <a:solidFill>
                  <a:schemeClr val="accent2"/>
                </a:solidFill>
              </a:rPr>
              <a:t>não se remove</a:t>
            </a:r>
            <a:r>
              <a:rPr lang="pt-BR" dirty="0"/>
              <a:t> os </a:t>
            </a:r>
            <a:r>
              <a:rPr lang="pt-BR" i="1" dirty="0"/>
              <a:t>outliers</a:t>
            </a:r>
            <a:r>
              <a:rPr lang="pt-BR" dirty="0"/>
              <a:t>, algoritmos </a:t>
            </a:r>
            <a:r>
              <a:rPr lang="pt-BR" b="1" dirty="0">
                <a:solidFill>
                  <a:schemeClr val="accent2"/>
                </a:solidFill>
              </a:rPr>
              <a:t>sensíveis à distância </a:t>
            </a:r>
            <a:r>
              <a:rPr lang="pt-BR" dirty="0"/>
              <a:t>(e.g., KNN, </a:t>
            </a:r>
            <a:r>
              <a:rPr lang="pt-BR" dirty="0" err="1"/>
              <a:t>Regressores</a:t>
            </a:r>
            <a:r>
              <a:rPr lang="pt-BR" dirty="0"/>
              <a:t>) podem ter seu </a:t>
            </a:r>
            <a:r>
              <a:rPr lang="pt-BR" b="1" dirty="0">
                <a:solidFill>
                  <a:schemeClr val="accent2"/>
                </a:solidFill>
              </a:rPr>
              <a:t>aprendizado impactado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Preserva a escala </a:t>
            </a:r>
            <a:r>
              <a:rPr lang="pt-BR" dirty="0"/>
              <a:t>dos dados típicos, </a:t>
            </a:r>
            <a:r>
              <a:rPr lang="pt-BR" b="1" dirty="0">
                <a:solidFill>
                  <a:srgbClr val="00B050"/>
                </a:solidFill>
              </a:rPr>
              <a:t>mas não elimina nem disfarça </a:t>
            </a:r>
            <a:r>
              <a:rPr lang="pt-BR" dirty="0"/>
              <a:t>os </a:t>
            </a:r>
            <a:r>
              <a:rPr lang="pt-BR" i="1" dirty="0"/>
              <a:t>outliers.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</a:t>
            </a:r>
            <a:r>
              <a:rPr lang="pt-BR" b="1" dirty="0">
                <a:solidFill>
                  <a:schemeClr val="accent2"/>
                </a:solidFill>
              </a:rPr>
              <a:t>vazamento de dados</a:t>
            </a:r>
            <a:r>
              <a:rPr lang="pt-BR" dirty="0"/>
              <a:t>, o escalonador deve sempre ser </a:t>
            </a:r>
            <a:r>
              <a:rPr lang="pt-BR" b="1" dirty="0">
                <a:solidFill>
                  <a:schemeClr val="accent2"/>
                </a:solidFill>
              </a:rPr>
              <a:t>ajustado no conjunto de treinamento</a:t>
            </a:r>
            <a:r>
              <a:rPr lang="pt-BR" dirty="0"/>
              <a:t>.</a:t>
            </a:r>
          </a:p>
          <a:p>
            <a:r>
              <a:rPr lang="pt-BR" dirty="0"/>
              <a:t>Os conjuntos de validação e teste, são transformados com os parâmetros encontrados com o conjunto e treinamento.</a:t>
            </a:r>
          </a:p>
          <a:p>
            <a:r>
              <a:rPr lang="pt-BR" dirty="0"/>
              <a:t>Geralmente, </a:t>
            </a:r>
            <a:r>
              <a:rPr lang="pt-BR" b="1" dirty="0">
                <a:solidFill>
                  <a:srgbClr val="7030A0"/>
                </a:solidFill>
              </a:rPr>
              <a:t>não se aplica escalonamento à variável alvo</a:t>
            </a:r>
            <a:r>
              <a:rPr lang="pt-BR" dirty="0"/>
              <a:t>, i.e., os rótulos, apenas aos atributos.</a:t>
            </a:r>
          </a:p>
          <a:p>
            <a:r>
              <a:rPr lang="pt-BR" dirty="0"/>
              <a:t>Em geral, </a:t>
            </a:r>
            <a:r>
              <a:rPr lang="pt-BR" b="1" dirty="0">
                <a:solidFill>
                  <a:schemeClr val="accent6"/>
                </a:solidFill>
              </a:rPr>
              <a:t>não se escalona atributos binários ou </a:t>
            </a:r>
            <a:r>
              <a:rPr lang="pt-BR" b="1" i="1" dirty="0" err="1">
                <a:solidFill>
                  <a:schemeClr val="accent6"/>
                </a:solidFill>
              </a:rPr>
              <a:t>one</a:t>
            </a:r>
            <a:r>
              <a:rPr lang="pt-BR" b="1" i="1" dirty="0">
                <a:solidFill>
                  <a:schemeClr val="accent6"/>
                </a:solidFill>
              </a:rPr>
              <a:t>-hot</a:t>
            </a:r>
            <a:r>
              <a:rPr lang="pt-BR" b="1" dirty="0">
                <a:solidFill>
                  <a:schemeClr val="accent6"/>
                </a:solidFill>
              </a:rPr>
              <a:t> </a:t>
            </a:r>
            <a:r>
              <a:rPr lang="pt-BR" dirty="0"/>
              <a:t>sem necessidade, pois pode-se criar valores fracionários desnecessários.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5201" cy="5032375"/>
          </a:xfrm>
        </p:spPr>
        <p:txBody>
          <a:bodyPr>
            <a:normAutofit/>
          </a:bodyPr>
          <a:lstStyle/>
          <a:p>
            <a:r>
              <a:rPr lang="pt-BR" b="1" dirty="0"/>
              <a:t>Motivação</a:t>
            </a:r>
            <a:r>
              <a:rPr lang="pt-BR" dirty="0"/>
              <a:t>: Modelos matemáticos não entendem texto, portanto, precisamos converter categorias em números.</a:t>
            </a:r>
          </a:p>
          <a:p>
            <a:r>
              <a:rPr lang="en-US" dirty="0"/>
              <a:t>As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técnicas</a:t>
            </a:r>
            <a:r>
              <a:rPr lang="en-US" dirty="0"/>
              <a:t> de </a:t>
            </a:r>
            <a:r>
              <a:rPr lang="en-US" dirty="0" err="1"/>
              <a:t>codificação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One-Hot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Label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Target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Binary encoding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A codificação pode ser considerada uma forma de engenharia de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Processo de </a:t>
            </a:r>
            <a:r>
              <a:rPr lang="pt-BR" b="1" dirty="0">
                <a:solidFill>
                  <a:schemeClr val="accent6"/>
                </a:solidFill>
              </a:rPr>
              <a:t>criar atributos </a:t>
            </a:r>
            <a:r>
              <a:rPr lang="pt-BR" dirty="0"/>
              <a:t>relevantes a </a:t>
            </a:r>
            <a:r>
              <a:rPr lang="pt-BR" b="1" dirty="0">
                <a:solidFill>
                  <a:schemeClr val="accent6"/>
                </a:solidFill>
              </a:rPr>
              <a:t>partir dos existentes</a:t>
            </a:r>
            <a:r>
              <a:rPr lang="pt-BR" dirty="0"/>
              <a:t> para melhorar o desempenho de um modelo de ML.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302829" cy="5032375"/>
          </a:xfrm>
        </p:spPr>
        <p:txBody>
          <a:bodyPr>
            <a:normAutofit/>
          </a:bodyPr>
          <a:lstStyle/>
          <a:p>
            <a:r>
              <a:rPr lang="pt-BR" dirty="0"/>
              <a:t>Usada com atributos nominais (i.e., sem ordem) e com baixa cardinalidade (i.e., com poucas categorias distintas). </a:t>
            </a:r>
          </a:p>
          <a:p>
            <a:r>
              <a:rPr lang="pt-BR" b="1" dirty="0"/>
              <a:t>Como funciona:</a:t>
            </a:r>
            <a:r>
              <a:rPr lang="pt-BR" dirty="0"/>
              <a:t> Cria uma nova </a:t>
            </a:r>
            <a:r>
              <a:rPr lang="pt-BR" b="1" dirty="0">
                <a:solidFill>
                  <a:schemeClr val="accent1"/>
                </a:solidFill>
              </a:rPr>
              <a:t>coluna binária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1"/>
                </a:solidFill>
              </a:rPr>
              <a:t>cada categoria </a:t>
            </a:r>
            <a:r>
              <a:rPr lang="pt-BR" dirty="0"/>
              <a:t>distinta.</a:t>
            </a:r>
          </a:p>
          <a:p>
            <a:r>
              <a:rPr lang="pt-BR" b="1" dirty="0"/>
              <a:t>Limitação:</a:t>
            </a:r>
            <a:r>
              <a:rPr lang="pt-BR" dirty="0"/>
              <a:t> Gera alta dimensionalidade (i.e., muitas colunas) se houver muitas categorias.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criar o problema conhecido como a “</a:t>
            </a:r>
            <a:r>
              <a:rPr lang="pt-BR" b="1" dirty="0">
                <a:solidFill>
                  <a:srgbClr val="7030A0"/>
                </a:solidFill>
              </a:rPr>
              <a:t>maldição da dimensionalidade</a:t>
            </a:r>
            <a:r>
              <a:rPr lang="pt-BR" dirty="0"/>
              <a:t>”.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Pontos ficam muito distantes (perde-se noção de similaridade), dificulta a </a:t>
            </a:r>
            <a:r>
              <a:rPr lang="pt-BR" dirty="0" err="1"/>
              <a:t>vizualização</a:t>
            </a:r>
            <a:r>
              <a:rPr lang="pt-BR" dirty="0"/>
              <a:t> e aumenta o custo computacional.</a:t>
            </a:r>
          </a:p>
        </p:txBody>
      </p:sp>
      <p:pic>
        <p:nvPicPr>
          <p:cNvPr id="2051" name="Picture 3" descr="One-Hot Encoding: A Comprehensive Guide with Python Implementation | by  Shubham Sangole | GoPenAI">
            <a:extLst>
              <a:ext uri="{FF2B5EF4-FFF2-40B4-BE49-F238E27FC236}">
                <a16:creationId xmlns:a16="http://schemas.microsoft.com/office/drawing/2014/main" id="{04411FF2-E0FD-9D33-63B9-86F2888D8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37" t="8519" r="2382" b="57788"/>
          <a:stretch>
            <a:fillRect/>
          </a:stretch>
        </p:blipFill>
        <p:spPr bwMode="auto">
          <a:xfrm>
            <a:off x="381001" y="2846613"/>
            <a:ext cx="5072743" cy="216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825624"/>
            <a:ext cx="6858000" cy="5032375"/>
          </a:xfrm>
        </p:spPr>
        <p:txBody>
          <a:bodyPr>
            <a:normAutofit/>
          </a:bodyPr>
          <a:lstStyle/>
          <a:p>
            <a:r>
              <a:rPr lang="pt-BR" dirty="0"/>
              <a:t>Converte </a:t>
            </a:r>
            <a:r>
              <a:rPr lang="pt-BR" b="1" dirty="0">
                <a:solidFill>
                  <a:srgbClr val="00B050"/>
                </a:solidFill>
              </a:rPr>
              <a:t>cada categoria em um número inteiro </a:t>
            </a:r>
            <a:r>
              <a:rPr lang="pt-BR" b="1" dirty="0">
                <a:solidFill>
                  <a:schemeClr val="accent2"/>
                </a:solidFill>
              </a:rPr>
              <a:t>único</a:t>
            </a:r>
            <a:r>
              <a:rPr lang="pt-BR" dirty="0"/>
              <a:t>, considerando (</a:t>
            </a:r>
            <a:r>
              <a:rPr lang="pt-BR" i="1" dirty="0"/>
              <a:t>ordinal</a:t>
            </a:r>
            <a:r>
              <a:rPr lang="pt-BR" dirty="0"/>
              <a:t>) ou não uma ordem (</a:t>
            </a:r>
            <a:r>
              <a:rPr lang="pt-BR" i="1" dirty="0" err="1"/>
              <a:t>label</a:t>
            </a:r>
            <a:r>
              <a:rPr lang="pt-BR" dirty="0"/>
              <a:t>). </a:t>
            </a:r>
          </a:p>
          <a:p>
            <a:r>
              <a:rPr lang="pt-BR" i="1" dirty="0" err="1"/>
              <a:t>Label</a:t>
            </a:r>
            <a:r>
              <a:rPr lang="pt-BR" dirty="0"/>
              <a:t> é usada com rótulos em problemas de classificação e </a:t>
            </a:r>
            <a:r>
              <a:rPr lang="pt-BR" i="1" dirty="0"/>
              <a:t>ordinal</a:t>
            </a:r>
            <a:r>
              <a:rPr lang="pt-BR" dirty="0"/>
              <a:t> com variáveis ordinais.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tamanho de camisetas (P, M, G): </a:t>
            </a:r>
            <a:r>
              <a:rPr lang="pt-BR" i="1" dirty="0"/>
              <a:t>ordinal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animais e cores: </a:t>
            </a:r>
            <a:r>
              <a:rPr lang="pt-BR" i="1" dirty="0" err="1"/>
              <a:t>label</a:t>
            </a:r>
            <a:r>
              <a:rPr lang="pt-BR" i="1" dirty="0"/>
              <a:t>/ordinal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Label</a:t>
            </a:r>
            <a:r>
              <a:rPr lang="pt-BR" dirty="0"/>
              <a:t> pode introduzir uma </a:t>
            </a:r>
            <a:r>
              <a:rPr lang="pt-BR" b="1" dirty="0">
                <a:solidFill>
                  <a:srgbClr val="7030A0"/>
                </a:solidFill>
              </a:rPr>
              <a:t>relação de ordem falsa</a:t>
            </a:r>
            <a:r>
              <a:rPr lang="pt-BR" dirty="0"/>
              <a:t> que afeta negativamente algoritmos </a:t>
            </a:r>
            <a:r>
              <a:rPr lang="pt-BR" b="1" i="1" dirty="0">
                <a:solidFill>
                  <a:srgbClr val="7030A0"/>
                </a:solidFill>
              </a:rPr>
              <a:t>sensíveis a distâncias </a:t>
            </a:r>
            <a:r>
              <a:rPr lang="pt-BR" dirty="0"/>
              <a:t>(e.g., </a:t>
            </a:r>
            <a:r>
              <a:rPr lang="pt-BR" dirty="0" err="1"/>
              <a:t>regressores</a:t>
            </a:r>
            <a:r>
              <a:rPr lang="pt-BR" dirty="0"/>
              <a:t> e KNN).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29D32B-8978-31FB-62B1-9E8E3D400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1" t="7152" r="5331" b="8009"/>
          <a:stretch>
            <a:fillRect/>
          </a:stretch>
        </p:blipFill>
        <p:spPr>
          <a:xfrm>
            <a:off x="304798" y="2895600"/>
            <a:ext cx="4616969" cy="216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314" y="1825624"/>
            <a:ext cx="6792686" cy="5032375"/>
          </a:xfrm>
        </p:spPr>
        <p:txBody>
          <a:bodyPr>
            <a:normAutofit/>
          </a:bodyPr>
          <a:lstStyle/>
          <a:p>
            <a:r>
              <a:rPr lang="pt-BR" dirty="0"/>
              <a:t>Substitui cada categoria pela </a:t>
            </a:r>
            <a:r>
              <a:rPr lang="pt-BR" b="1" dirty="0">
                <a:solidFill>
                  <a:srgbClr val="7030A0"/>
                </a:solidFill>
              </a:rPr>
              <a:t>média do valor do alvo</a:t>
            </a:r>
            <a:r>
              <a:rPr lang="pt-BR" dirty="0"/>
              <a:t> correspondente a essa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Ideal para atributos de </a:t>
            </a:r>
            <a:r>
              <a:rPr lang="pt-BR" b="1" dirty="0">
                <a:solidFill>
                  <a:schemeClr val="accent2"/>
                </a:solidFill>
              </a:rPr>
              <a:t>alta cardinalidade</a:t>
            </a:r>
            <a:r>
              <a:rPr lang="pt-BR" dirty="0"/>
              <a:t>, pois não aumenta a dimensionalidade do </a:t>
            </a:r>
            <a:r>
              <a:rPr lang="pt-BR" i="1" dirty="0"/>
              <a:t>dataset</a:t>
            </a:r>
            <a:r>
              <a:rPr lang="pt-BR" dirty="0"/>
              <a:t> e quando há </a:t>
            </a:r>
            <a:r>
              <a:rPr lang="pt-BR" b="1" dirty="0">
                <a:solidFill>
                  <a:schemeClr val="accent6"/>
                </a:solidFill>
              </a:rPr>
              <a:t>relação forte entre a categoria e o </a:t>
            </a:r>
            <a:r>
              <a:rPr lang="pt-BR" b="1" i="1" dirty="0">
                <a:solidFill>
                  <a:schemeClr val="accent6"/>
                </a:solidFill>
              </a:rPr>
              <a:t>target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Overfitting</a:t>
            </a:r>
            <a:r>
              <a:rPr lang="pt-BR" dirty="0"/>
              <a:t> por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 e categoria tem poucas amostras.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for calculado </a:t>
            </a:r>
            <a:r>
              <a:rPr lang="pt-BR" b="1" dirty="0">
                <a:solidFill>
                  <a:schemeClr val="accent1"/>
                </a:solidFill>
              </a:rPr>
              <a:t>usando todo o dataset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Categorias com poucos exemplos produzem </a:t>
            </a:r>
            <a:r>
              <a:rPr lang="pt-BR" b="1" dirty="0">
                <a:solidFill>
                  <a:schemeClr val="accent1"/>
                </a:solidFill>
              </a:rPr>
              <a:t>estimativas de média muito ruidosas</a:t>
            </a:r>
            <a:r>
              <a:rPr lang="pt-BR" dirty="0"/>
              <a:t>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6C73B1-9431-A33E-28D2-A93D904893DD}"/>
              </a:ext>
            </a:extLst>
          </p:cNvPr>
          <p:cNvSpPr txBox="1"/>
          <p:nvPr/>
        </p:nvSpPr>
        <p:spPr>
          <a:xfrm>
            <a:off x="272142" y="5151032"/>
            <a:ext cx="47026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Em vez de usar números arbitrários (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</a:t>
            </a:r>
            <a:r>
              <a:rPr lang="pt-BR" b="1" dirty="0">
                <a:solidFill>
                  <a:schemeClr val="accent2"/>
                </a:solidFill>
              </a:rPr>
              <a:t>usa informação estatística do próprio problema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1642" y="1825625"/>
            <a:ext cx="6870358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Combina os benefícios das codificações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e </a:t>
            </a:r>
            <a:r>
              <a:rPr lang="pt-BR" i="1" dirty="0" err="1"/>
              <a:t>Label</a:t>
            </a:r>
            <a:r>
              <a:rPr lang="pt-BR" dirty="0"/>
              <a:t>. 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1"/>
                </a:solidFill>
              </a:rPr>
              <a:t>categoria recebe um número inteiro </a:t>
            </a:r>
            <a:r>
              <a:rPr lang="pt-BR" dirty="0"/>
              <a:t>(</a:t>
            </a:r>
            <a:r>
              <a:rPr lang="pt-BR" i="1" dirty="0" err="1"/>
              <a:t>Label</a:t>
            </a:r>
            <a:r>
              <a:rPr lang="pt-BR" dirty="0"/>
              <a:t>) que é </a:t>
            </a:r>
            <a:r>
              <a:rPr lang="pt-BR" b="1" dirty="0">
                <a:solidFill>
                  <a:schemeClr val="accent1"/>
                </a:solidFill>
              </a:rPr>
              <a:t>convertido </a:t>
            </a:r>
            <a:r>
              <a:rPr lang="en-US" b="1" dirty="0">
                <a:solidFill>
                  <a:schemeClr val="accent1"/>
                </a:solidFill>
              </a:rPr>
              <a:t>para </a:t>
            </a:r>
            <a:r>
              <a:rPr lang="en-US" b="1" dirty="0" err="1">
                <a:solidFill>
                  <a:schemeClr val="accent1"/>
                </a:solidFill>
              </a:rPr>
              <a:t>sua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representação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binária</a:t>
            </a:r>
            <a:r>
              <a:rPr lang="pt-BR" dirty="0"/>
              <a:t>, criando colunas para cada bit.</a:t>
            </a:r>
          </a:p>
          <a:p>
            <a:r>
              <a:rPr lang="pt-BR" b="1" dirty="0"/>
              <a:t>Quando usar:</a:t>
            </a:r>
            <a:r>
              <a:rPr lang="pt-BR" dirty="0"/>
              <a:t> Ótimo para variáveis categóricas de alta cardinalidade.</a:t>
            </a:r>
          </a:p>
          <a:p>
            <a:r>
              <a:rPr lang="pt-BR" b="1" dirty="0"/>
              <a:t>Desvantagem</a:t>
            </a:r>
            <a:r>
              <a:rPr lang="pt-BR" dirty="0"/>
              <a:t>: Por algumas categorias </a:t>
            </a:r>
            <a:r>
              <a:rPr lang="pt-BR" b="1" dirty="0">
                <a:solidFill>
                  <a:schemeClr val="accent2"/>
                </a:solidFill>
              </a:rPr>
              <a:t>compartilharem bits, modelos lineares podem achar que existe uma relação entre elas</a:t>
            </a:r>
            <a:r>
              <a:rPr lang="pt-BR" dirty="0"/>
              <a:t>. Modelos de árvore (e.g., DT, RF) lidam bem com isso.</a:t>
            </a:r>
          </a:p>
        </p:txBody>
      </p:sp>
      <p:pic>
        <p:nvPicPr>
          <p:cNvPr id="3074" name="Picture 2" descr="7 Must-know Techniques For Encoding Categorical Feature">
            <a:extLst>
              <a:ext uri="{FF2B5EF4-FFF2-40B4-BE49-F238E27FC236}">
                <a16:creationId xmlns:a16="http://schemas.microsoft.com/office/drawing/2014/main" id="{7AEBA2C1-6D35-7636-7CD6-AC297809D1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t="10457" r="5625" b="19838"/>
          <a:stretch>
            <a:fillRect/>
          </a:stretch>
        </p:blipFill>
        <p:spPr bwMode="auto">
          <a:xfrm>
            <a:off x="283028" y="3177218"/>
            <a:ext cx="4833257" cy="1775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OrdinalEncoder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SciKit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-Learn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não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implementa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o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codificador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binário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i="1" dirty="0">
                <a:latin typeface="Consolas" panose="020B0609020204030204" pitchFamily="49" charset="0"/>
              </a:rPr>
              <a:t>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dirty="0"/>
                  <a:t>É a transformação ou criação de novos atributos que sejam mais úteis e informativos. </a:t>
                </a:r>
              </a:p>
              <a:p>
                <a:r>
                  <a:rPr lang="en-US" b="1" dirty="0"/>
                  <a:t>Por </a:t>
                </a:r>
                <a:r>
                  <a:rPr lang="en-US" b="1" dirty="0" err="1"/>
                  <a:t>que</a:t>
                </a:r>
                <a:r>
                  <a:rPr lang="en-US" b="1" dirty="0"/>
                  <a:t> </a:t>
                </a:r>
                <a:r>
                  <a:rPr lang="en-US" b="1" dirty="0" err="1"/>
                  <a:t>fazer</a:t>
                </a:r>
                <a:r>
                  <a:rPr lang="en-US" dirty="0"/>
                  <a:t>: </a:t>
                </a:r>
                <a:r>
                  <a:rPr lang="pt-BR" dirty="0"/>
                  <a:t>Ajuda o modelo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enxergar relações que não estão óbvias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Melhorar</a:t>
                </a:r>
                <a:r>
                  <a:rPr lang="pt-BR" dirty="0"/>
                  <a:t> a capacidade de </a:t>
                </a:r>
                <a:r>
                  <a:rPr lang="pt-BR" b="1" dirty="0">
                    <a:solidFill>
                      <a:srgbClr val="00B050"/>
                    </a:solidFill>
                  </a:rPr>
                  <a:t>predição (generalização) do modelo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Atributos → Interação entre atributos: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>
                <a:blip r:embed="rId3"/>
                <a:stretch>
                  <a:fillRect l="-92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29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transformar dados brutos </a:t>
            </a:r>
            <a:r>
              <a:rPr lang="pt-BR" dirty="0"/>
              <a:t>em um </a:t>
            </a:r>
            <a:r>
              <a:rPr lang="pt-BR" b="1" dirty="0">
                <a:solidFill>
                  <a:srgbClr val="00B050"/>
                </a:solidFill>
              </a:rPr>
              <a:t>conjunto menor de atributos significativos</a:t>
            </a:r>
            <a:r>
              <a:rPr lang="pt-BR" dirty="0"/>
              <a:t> que podem ser </a:t>
            </a:r>
            <a:r>
              <a:rPr lang="pt-BR" b="1" dirty="0">
                <a:solidFill>
                  <a:schemeClr val="accent2"/>
                </a:solidFill>
              </a:rPr>
              <a:t>processados de forma mais eficiente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mantendo as informações essenciais </a:t>
            </a:r>
            <a:r>
              <a:rPr lang="pt-BR" dirty="0"/>
              <a:t>(em geral, perde parte da informação).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Transforma os dados em uma representação mais eficiente</a:t>
            </a:r>
            <a:r>
              <a:rPr lang="pt-BR" dirty="0"/>
              <a:t>.</a:t>
            </a:r>
          </a:p>
          <a:p>
            <a:r>
              <a:rPr lang="pt-BR" b="1" dirty="0"/>
              <a:t>Por que fazer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 redundância,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os recursos computacionais necessários para armazenamento, processamento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Acelera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 o desempenho do modelo, pois os dados são mais informativos e menos ruidosos.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72800" cy="5032375"/>
          </a:xfrm>
        </p:spPr>
        <p:txBody>
          <a:bodyPr>
            <a:normAutofit/>
          </a:bodyPr>
          <a:lstStyle/>
          <a:p>
            <a:r>
              <a:rPr lang="en-US" b="1" dirty="0"/>
              <a:t>Dados </a:t>
            </a:r>
            <a:r>
              <a:rPr lang="en-US" b="1" dirty="0" err="1"/>
              <a:t>tabulares</a:t>
            </a:r>
            <a:r>
              <a:rPr lang="en-US" b="1" dirty="0"/>
              <a:t>: </a:t>
            </a:r>
            <a:r>
              <a:rPr lang="pt-BR" dirty="0"/>
              <a:t>Análise de componentes principais (PCA) e análise de componentes independentes (ICA)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Criam novos </a:t>
            </a:r>
            <a:r>
              <a:rPr lang="pt-BR" b="1" dirty="0">
                <a:solidFill>
                  <a:srgbClr val="7030A0"/>
                </a:solidFill>
              </a:rPr>
              <a:t>atributos não correlacionados </a:t>
            </a:r>
            <a:r>
              <a:rPr lang="pt-BR" dirty="0"/>
              <a:t>que </a:t>
            </a:r>
            <a:r>
              <a:rPr lang="pt-BR" b="1" dirty="0">
                <a:solidFill>
                  <a:srgbClr val="7030A0"/>
                </a:solidFill>
              </a:rPr>
              <a:t>capturam as direções de variância máxima </a:t>
            </a:r>
            <a:r>
              <a:rPr lang="pt-BR" dirty="0"/>
              <a:t>(PCA) ou a </a:t>
            </a:r>
            <a:r>
              <a:rPr lang="pt-BR" b="1" dirty="0">
                <a:solidFill>
                  <a:srgbClr val="7030A0"/>
                </a:solidFill>
              </a:rPr>
              <a:t>independência dos atributos </a:t>
            </a:r>
            <a:r>
              <a:rPr lang="pt-BR" dirty="0"/>
              <a:t>(ICA).</a:t>
            </a:r>
          </a:p>
          <a:p>
            <a:r>
              <a:rPr lang="en-US" b="1" dirty="0" err="1"/>
              <a:t>Texto</a:t>
            </a:r>
            <a:r>
              <a:rPr lang="en-US" dirty="0"/>
              <a:t>: </a:t>
            </a:r>
            <a:r>
              <a:rPr lang="pt-BR" i="1" dirty="0"/>
              <a:t>Bag </a:t>
            </a:r>
            <a:r>
              <a:rPr lang="pt-BR" i="1" dirty="0" err="1"/>
              <a:t>of</a:t>
            </a:r>
            <a:r>
              <a:rPr lang="pt-BR" i="1" dirty="0"/>
              <a:t> words </a:t>
            </a:r>
            <a:r>
              <a:rPr lang="pt-BR" dirty="0"/>
              <a:t>(</a:t>
            </a:r>
            <a:r>
              <a:rPr lang="pt-BR" dirty="0" err="1"/>
              <a:t>BoW</a:t>
            </a:r>
            <a:r>
              <a:rPr lang="pt-BR" dirty="0"/>
              <a:t>), </a:t>
            </a:r>
            <a:r>
              <a:rPr lang="pt-BR" i="1" dirty="0" err="1"/>
              <a:t>Term</a:t>
            </a:r>
            <a:r>
              <a:rPr lang="pt-BR" i="1" dirty="0"/>
              <a:t> Frequency-</a:t>
            </a:r>
            <a:r>
              <a:rPr lang="pt-BR" i="1" dirty="0" err="1"/>
              <a:t>Inverse</a:t>
            </a:r>
            <a:r>
              <a:rPr lang="pt-BR" i="1" dirty="0"/>
              <a:t> </a:t>
            </a:r>
            <a:r>
              <a:rPr lang="pt-BR" i="1" dirty="0" err="1"/>
              <a:t>Document</a:t>
            </a:r>
            <a:r>
              <a:rPr lang="pt-BR" i="1" dirty="0"/>
              <a:t> Frequency</a:t>
            </a:r>
            <a:r>
              <a:rPr lang="pt-BR" dirty="0"/>
              <a:t> (TF-IDF), </a:t>
            </a:r>
            <a:r>
              <a:rPr lang="pt-BR" i="1" dirty="0"/>
              <a:t>Word </a:t>
            </a:r>
            <a:r>
              <a:rPr lang="pt-BR" i="1" dirty="0" err="1"/>
              <a:t>Embeddings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Transformam texto em representações numéricas </a:t>
            </a:r>
            <a:r>
              <a:rPr lang="pt-BR" dirty="0"/>
              <a:t>(modelos de ML entendem números), variando da </a:t>
            </a:r>
            <a:r>
              <a:rPr lang="pt-BR" b="1" dirty="0">
                <a:solidFill>
                  <a:srgbClr val="00B050"/>
                </a:solidFill>
              </a:rPr>
              <a:t>frequência de palavras </a:t>
            </a:r>
            <a:r>
              <a:rPr lang="pt-BR" dirty="0"/>
              <a:t>até </a:t>
            </a:r>
            <a:r>
              <a:rPr lang="pt-BR" b="1" dirty="0">
                <a:solidFill>
                  <a:srgbClr val="00B050"/>
                </a:solidFill>
              </a:rPr>
              <a:t>vetores que capturam significado e contexto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en-US" b="1" dirty="0" err="1"/>
              <a:t>Imagem</a:t>
            </a:r>
            <a:r>
              <a:rPr lang="en-US" dirty="0"/>
              <a:t>: </a:t>
            </a:r>
            <a:r>
              <a:rPr lang="en-US" i="1" dirty="0"/>
              <a:t>Histogram of Oriented Gradients</a:t>
            </a:r>
            <a:r>
              <a:rPr lang="en-US" dirty="0"/>
              <a:t> (HOG), </a:t>
            </a:r>
            <a:r>
              <a:rPr lang="en-US" i="1" dirty="0"/>
              <a:t>Scale-Invariant Feature Transform</a:t>
            </a:r>
            <a:r>
              <a:rPr lang="en-US" dirty="0"/>
              <a:t> (SIFT), </a:t>
            </a:r>
            <a:r>
              <a:rPr lang="en-US" i="1" dirty="0"/>
              <a:t>Convolutional Neural Network</a:t>
            </a:r>
            <a:r>
              <a:rPr lang="en-US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Transformam </a:t>
            </a:r>
            <a:r>
              <a:rPr lang="pt-BR" b="1" i="1" dirty="0">
                <a:solidFill>
                  <a:schemeClr val="accent2"/>
                </a:solidFill>
              </a:rPr>
              <a:t>pixels</a:t>
            </a:r>
            <a:r>
              <a:rPr lang="pt-BR" b="1" dirty="0">
                <a:solidFill>
                  <a:schemeClr val="accent2"/>
                </a:solidFill>
              </a:rPr>
              <a:t> em representações numéricas que capturam padrões visuais</a:t>
            </a:r>
            <a:r>
              <a:rPr lang="pt-BR" dirty="0"/>
              <a:t>, como bordas, texturas, cores e estruturas semânticas, para facilitar o aprendizado dos modelos.</a:t>
            </a:r>
          </a:p>
          <a:p>
            <a:r>
              <a:rPr lang="pt-BR" b="1" dirty="0"/>
              <a:t>Séries temporais (áudio)</a:t>
            </a:r>
            <a:r>
              <a:rPr lang="pt-BR" dirty="0"/>
              <a:t>: </a:t>
            </a:r>
            <a:r>
              <a:rPr lang="en-US" i="1" dirty="0"/>
              <a:t>Mel-frequency cepstral coefficients</a:t>
            </a:r>
            <a:r>
              <a:rPr lang="en-US" dirty="0"/>
              <a:t> (MFCCs), </a:t>
            </a:r>
            <a:r>
              <a:rPr lang="en-US" dirty="0" err="1"/>
              <a:t>Transformada</a:t>
            </a:r>
            <a:r>
              <a:rPr lang="en-US" dirty="0"/>
              <a:t> </a:t>
            </a:r>
            <a:r>
              <a:rPr lang="en-US" dirty="0" err="1"/>
              <a:t>rápida</a:t>
            </a:r>
            <a:r>
              <a:rPr lang="en-US" dirty="0"/>
              <a:t> de Fourier (FFT), </a:t>
            </a:r>
            <a:r>
              <a:rPr lang="en-US" dirty="0" err="1"/>
              <a:t>Espectogramas</a:t>
            </a:r>
            <a:r>
              <a:rPr lang="en-US" dirty="0"/>
              <a:t>, </a:t>
            </a:r>
            <a:r>
              <a:rPr lang="en-US" dirty="0" err="1"/>
              <a:t>Transformada</a:t>
            </a:r>
            <a:r>
              <a:rPr lang="en-US" dirty="0"/>
              <a:t> de </a:t>
            </a:r>
            <a:r>
              <a:rPr lang="en-US" i="1" dirty="0"/>
              <a:t>Wavelet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os sinais em </a:t>
            </a:r>
            <a:r>
              <a:rPr lang="pt-BR" b="1" dirty="0">
                <a:solidFill>
                  <a:srgbClr val="00B050"/>
                </a:solidFill>
              </a:rPr>
              <a:t>características que capturam propriedades espectrais ou de tempo-frequência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ma garrafa de vinho com forte sombra - Foto de stock de Garrafa de Vinho - Garrafa royalty-free">
            <a:extLst>
              <a:ext uri="{FF2B5EF4-FFF2-40B4-BE49-F238E27FC236}">
                <a16:creationId xmlns:a16="http://schemas.microsoft.com/office/drawing/2014/main" id="{F9318A64-59F1-5972-C02D-9238A2EE2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t="10008" r="11161" b="20216"/>
          <a:stretch>
            <a:fillRect/>
          </a:stretch>
        </p:blipFill>
        <p:spPr bwMode="auto">
          <a:xfrm>
            <a:off x="2291442" y="941613"/>
            <a:ext cx="7609115" cy="453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0" y="5780782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0" i="0" dirty="0">
                <a:effectLst/>
              </a:rPr>
              <a:t>O PCA projeta dados de alta dimensão em um espaço de menor dimensão.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6096001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PCA encontra as </a:t>
            </a:r>
            <a:r>
              <a:rPr lang="pt-BR" b="1" dirty="0"/>
              <a:t>direções </a:t>
            </a:r>
            <a:r>
              <a:rPr lang="pt-BR" dirty="0"/>
              <a:t>(</a:t>
            </a:r>
            <a:r>
              <a:rPr lang="pt-BR" b="1" dirty="0">
                <a:solidFill>
                  <a:schemeClr val="accent2"/>
                </a:solidFill>
              </a:rPr>
              <a:t>componentes principais</a:t>
            </a:r>
            <a:r>
              <a:rPr lang="pt-BR" dirty="0"/>
              <a:t>) </a:t>
            </a:r>
            <a:r>
              <a:rPr lang="pt-BR" b="1" dirty="0"/>
              <a:t>onde os dados mais variam</a:t>
            </a:r>
            <a:r>
              <a:rPr lang="pt-BR" dirty="0"/>
              <a:t> e </a:t>
            </a:r>
            <a:r>
              <a:rPr lang="pt-BR" b="1" dirty="0">
                <a:solidFill>
                  <a:schemeClr val="accent1"/>
                </a:solidFill>
              </a:rPr>
              <a:t>projeta</a:t>
            </a:r>
            <a:r>
              <a:rPr lang="pt-BR" dirty="0"/>
              <a:t> os dados nessas direções.</a:t>
            </a:r>
          </a:p>
          <a:p>
            <a:r>
              <a:rPr lang="pt-BR" dirty="0"/>
              <a:t>Encontra as </a:t>
            </a:r>
            <a:r>
              <a:rPr lang="pt-BR" b="1" dirty="0">
                <a:solidFill>
                  <a:srgbClr val="00B050"/>
                </a:solidFill>
              </a:rPr>
              <a:t>direções que descrevem como os dados estão espalhados </a:t>
            </a:r>
            <a:r>
              <a:rPr lang="pt-BR" dirty="0"/>
              <a:t>(i.e., máxima variância).</a:t>
            </a:r>
          </a:p>
          <a:p>
            <a:r>
              <a:rPr lang="pt-BR" dirty="0"/>
              <a:t>O objetivo é </a:t>
            </a:r>
            <a:r>
              <a:rPr lang="pt-BR" b="1" dirty="0">
                <a:solidFill>
                  <a:srgbClr val="7030A0"/>
                </a:solidFill>
              </a:rPr>
              <a:t>reduzir a dimensionalidade</a:t>
            </a:r>
            <a:r>
              <a:rPr lang="pt-BR" dirty="0"/>
              <a:t> com </a:t>
            </a:r>
            <a:r>
              <a:rPr lang="pt-BR" b="1" dirty="0">
                <a:solidFill>
                  <a:srgbClr val="7030A0"/>
                </a:solidFill>
              </a:rPr>
              <a:t>mínima perda de informação</a:t>
            </a:r>
            <a:r>
              <a:rPr lang="pt-BR" dirty="0"/>
              <a:t>.</a:t>
            </a:r>
          </a:p>
          <a:p>
            <a:r>
              <a:rPr lang="pt-BR" dirty="0"/>
              <a:t>Aplicado através de </a:t>
            </a:r>
            <a:r>
              <a:rPr lang="pt-BR" b="1" dirty="0">
                <a:solidFill>
                  <a:schemeClr val="accent6"/>
                </a:solidFill>
              </a:rPr>
              <a:t>transformação matricial</a:t>
            </a:r>
            <a:r>
              <a:rPr lang="pt-BR" dirty="0"/>
              <a:t>.</a:t>
            </a:r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57248" y="2612571"/>
            <a:ext cx="5853780" cy="2797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7486" y="1825624"/>
            <a:ext cx="5018314" cy="5032375"/>
          </a:xfrm>
        </p:spPr>
        <p:txBody>
          <a:bodyPr>
            <a:normAutofit/>
          </a:bodyPr>
          <a:lstStyle/>
          <a:p>
            <a:r>
              <a:rPr lang="pt-BR" dirty="0"/>
              <a:t>Na figura, </a:t>
            </a:r>
            <a:r>
              <a:rPr lang="pt-BR" b="1" dirty="0">
                <a:solidFill>
                  <a:schemeClr val="accent1"/>
                </a:solidFill>
              </a:rPr>
              <a:t>PC1</a:t>
            </a:r>
            <a:r>
              <a:rPr lang="pt-BR" dirty="0"/>
              <a:t> é a direção onde os </a:t>
            </a:r>
            <a:r>
              <a:rPr lang="pt-BR" b="1" dirty="0">
                <a:solidFill>
                  <a:schemeClr val="accent1"/>
                </a:solidFill>
              </a:rPr>
              <a:t>dados variam mais</a:t>
            </a:r>
            <a:r>
              <a:rPr lang="pt-BR" dirty="0"/>
              <a:t>.</a:t>
            </a:r>
          </a:p>
          <a:p>
            <a:r>
              <a:rPr lang="pt-BR" dirty="0"/>
              <a:t>Já </a:t>
            </a:r>
            <a:r>
              <a:rPr lang="pt-BR" b="1" dirty="0">
                <a:solidFill>
                  <a:schemeClr val="accent1"/>
                </a:solidFill>
              </a:rPr>
              <a:t>PC2</a:t>
            </a:r>
            <a:r>
              <a:rPr lang="pt-BR" dirty="0"/>
              <a:t> é a direção </a:t>
            </a:r>
            <a:r>
              <a:rPr lang="pt-BR" b="1" dirty="0">
                <a:solidFill>
                  <a:srgbClr val="7030A0"/>
                </a:solidFill>
              </a:rPr>
              <a:t>ortogonal</a:t>
            </a:r>
            <a:r>
              <a:rPr lang="pt-BR" dirty="0"/>
              <a:t> à PC1 com a </a:t>
            </a:r>
            <a:r>
              <a:rPr lang="pt-BR" b="1" dirty="0">
                <a:solidFill>
                  <a:schemeClr val="accent1"/>
                </a:solidFill>
              </a:rPr>
              <a:t>segunda maior variância</a:t>
            </a:r>
            <a:r>
              <a:rPr lang="pt-BR" dirty="0"/>
              <a:t>.</a:t>
            </a:r>
          </a:p>
          <a:p>
            <a:r>
              <a:rPr lang="pt-BR" dirty="0"/>
              <a:t>Mantendo </a:t>
            </a:r>
            <a:r>
              <a:rPr lang="pt-BR" b="1" dirty="0">
                <a:solidFill>
                  <a:srgbClr val="00B050"/>
                </a:solidFill>
              </a:rPr>
              <a:t>PC1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preserva-se a maior parte da informação</a:t>
            </a:r>
            <a:r>
              <a:rPr lang="pt-BR" dirty="0"/>
              <a:t>.</a:t>
            </a:r>
          </a:p>
          <a:p>
            <a:r>
              <a:rPr lang="pt-BR" dirty="0"/>
              <a:t>PC2 representa variação residual (menor importância).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370591"/>
            <a:ext cx="6792878" cy="3246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66714" cy="5032375"/>
          </a:xfrm>
        </p:spPr>
        <p:txBody>
          <a:bodyPr>
            <a:normAutofit/>
          </a:bodyPr>
          <a:lstStyle/>
          <a:p>
            <a:r>
              <a:rPr lang="pt-BR" dirty="0"/>
              <a:t>As PCs são ordenadas por variância.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matriz de </a:t>
            </a:r>
            <a:r>
              <a:rPr lang="pt-BR" b="1" dirty="0"/>
              <a:t>projeção</a:t>
            </a:r>
            <a:r>
              <a:rPr lang="pt-BR" dirty="0"/>
              <a:t> é ordenada da </a:t>
            </a:r>
            <a:r>
              <a:rPr lang="pt-BR" b="1" dirty="0">
                <a:solidFill>
                  <a:schemeClr val="accent6"/>
                </a:solidFill>
              </a:rPr>
              <a:t>componente de maior variância para a menor</a:t>
            </a:r>
            <a:r>
              <a:rPr lang="pt-BR" dirty="0"/>
              <a:t>.</a:t>
            </a:r>
          </a:p>
          <a:p>
            <a:r>
              <a:rPr lang="pt-BR" dirty="0"/>
              <a:t>O PCA </a:t>
            </a:r>
            <a:r>
              <a:rPr lang="pt-BR" b="1" dirty="0"/>
              <a:t>assume </a:t>
            </a:r>
            <a:r>
              <a:rPr lang="pt-BR" b="1" dirty="0">
                <a:solidFill>
                  <a:schemeClr val="accent1"/>
                </a:solidFill>
              </a:rPr>
              <a:t>relações lineares entre os atributos </a:t>
            </a:r>
            <a:r>
              <a:rPr lang="pt-BR" dirty="0"/>
              <a:t>(traça linhas retas para capturar as variâncias).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dados </a:t>
            </a:r>
            <a:r>
              <a:rPr lang="pt-BR" b="1" dirty="0">
                <a:solidFill>
                  <a:srgbClr val="7030A0"/>
                </a:solidFill>
              </a:rPr>
              <a:t>não são lineares</a:t>
            </a:r>
            <a:r>
              <a:rPr lang="pt-BR" dirty="0"/>
              <a:t> (como uma senoide, meia lua ou um círculo), o </a:t>
            </a:r>
            <a:r>
              <a:rPr lang="pt-BR" b="1" dirty="0">
                <a:solidFill>
                  <a:srgbClr val="7030A0"/>
                </a:solidFill>
              </a:rPr>
              <a:t>PCA vai ter um desempenho bem ruim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Nestes casos, deve-se usar técnicas não lineares como </a:t>
            </a:r>
            <a:r>
              <a:rPr lang="en-US" dirty="0"/>
              <a:t>Kernel PCA e t-SNE.</a:t>
            </a:r>
            <a:endParaRPr lang="pt-BR" dirty="0"/>
          </a:p>
          <a:p>
            <a:r>
              <a:rPr lang="pt-BR" dirty="0"/>
              <a:t>Deve ser aplicado após a separação do dados em conjuntos de treinamento, validação e teste para evitar vazamento de dados.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dados devem ser padronizados </a:t>
            </a:r>
            <a:r>
              <a:rPr lang="pt-BR" dirty="0"/>
              <a:t>antes de sua aplicação.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Sem padronização, </a:t>
            </a:r>
            <a:r>
              <a:rPr lang="pt-BR" b="1" dirty="0">
                <a:solidFill>
                  <a:srgbClr val="00B050"/>
                </a:solidFill>
              </a:rPr>
              <a:t>atributos com maior escala dominam</a:t>
            </a:r>
            <a:r>
              <a:rPr lang="pt-BR" dirty="0"/>
              <a:t> as componentes principais.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Padronizar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(X)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Se </a:t>
            </a:r>
            <a:r>
              <a:rPr lang="en-US" dirty="0" err="1"/>
              <a:t>não</a:t>
            </a:r>
            <a:r>
              <a:rPr lang="en-US" dirty="0"/>
              <a:t> for </a:t>
            </a:r>
            <a:r>
              <a:rPr lang="en-US" dirty="0" err="1"/>
              <a:t>definido</a:t>
            </a:r>
            <a:r>
              <a:rPr lang="en-US" dirty="0"/>
              <a:t>, </a:t>
            </a:r>
            <a:r>
              <a:rPr lang="en-US" dirty="0" err="1"/>
              <a:t>todas</a:t>
            </a:r>
            <a:r>
              <a:rPr lang="en-US" dirty="0"/>
              <a:t> as components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usadas</a:t>
            </a:r>
            <a:r>
              <a:rPr lang="en-US" dirty="0"/>
              <a:t>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4572000" y="4506686"/>
            <a:ext cx="4288971" cy="4354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selecionar um subconjunto de atributos </a:t>
            </a:r>
            <a:r>
              <a:rPr lang="pt-BR" dirty="0"/>
              <a:t>que contribuem para a </a:t>
            </a:r>
            <a:r>
              <a:rPr lang="pt-BR" b="1" dirty="0">
                <a:solidFill>
                  <a:srgbClr val="00B050"/>
                </a:solidFill>
              </a:rPr>
              <a:t>melhoria do desempenho do modelo</a:t>
            </a:r>
            <a:r>
              <a:rPr lang="pt-BR" dirty="0"/>
              <a:t>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</a:t>
            </a:r>
            <a:r>
              <a:rPr lang="pt-BR" b="1" i="1" dirty="0" err="1"/>
              <a:t>overfitting</a:t>
            </a:r>
            <a:r>
              <a:rPr lang="pt-BR" i="1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Modelos mais simples </a:t>
            </a:r>
            <a:r>
              <a:rPr lang="pt-BR" dirty="0"/>
              <a:t>com menos atributos tendem a </a:t>
            </a:r>
            <a:r>
              <a:rPr lang="pt-BR" b="1" dirty="0">
                <a:solidFill>
                  <a:schemeClr val="accent2"/>
                </a:solidFill>
              </a:rPr>
              <a:t>generalizar melhor </a:t>
            </a:r>
            <a:r>
              <a:rPr lang="pt-BR" dirty="0"/>
              <a:t>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custo computacional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Menos dados </a:t>
            </a:r>
            <a:r>
              <a:rPr lang="pt-BR" dirty="0"/>
              <a:t>significam </a:t>
            </a:r>
            <a:r>
              <a:rPr lang="pt-BR" b="1" dirty="0">
                <a:solidFill>
                  <a:schemeClr val="accent2"/>
                </a:solidFill>
              </a:rPr>
              <a:t>algoritmos</a:t>
            </a:r>
            <a:r>
              <a:rPr lang="pt-BR" dirty="0"/>
              <a:t> que processam </a:t>
            </a:r>
            <a:r>
              <a:rPr lang="pt-BR" b="1" dirty="0">
                <a:solidFill>
                  <a:schemeClr val="accent2"/>
                </a:solidFill>
              </a:rPr>
              <a:t>mais rápido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Facilita interpretação</a:t>
            </a:r>
            <a:r>
              <a:rPr lang="pt-BR" dirty="0"/>
              <a:t>: É mais </a:t>
            </a:r>
            <a:r>
              <a:rPr lang="pt-BR" b="1" dirty="0">
                <a:solidFill>
                  <a:schemeClr val="accent2"/>
                </a:solidFill>
              </a:rPr>
              <a:t>fácil explicar </a:t>
            </a:r>
            <a:r>
              <a:rPr lang="pt-BR" dirty="0"/>
              <a:t>um modelo que utiliza 5 variáveis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r>
              <a:rPr lang="pt-BR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Filtragem</a:t>
            </a:r>
            <a:r>
              <a:rPr lang="pt-BR" dirty="0"/>
              <a:t>: Baseados em </a:t>
            </a:r>
            <a:r>
              <a:rPr lang="pt-BR" b="1" dirty="0">
                <a:solidFill>
                  <a:srgbClr val="7030A0"/>
                </a:solidFill>
              </a:rPr>
              <a:t>medidas estatísticas dos dados</a:t>
            </a:r>
            <a:r>
              <a:rPr lang="pt-BR" dirty="0"/>
              <a:t>, como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Correlação de Pearson/</a:t>
            </a:r>
            <a:r>
              <a:rPr lang="pt-BR" dirty="0" err="1"/>
              <a:t>Spearman</a:t>
            </a:r>
            <a:r>
              <a:rPr lang="en-US" dirty="0"/>
              <a:t>, Teste qui-</a:t>
            </a:r>
            <a:r>
              <a:rPr lang="en-US" dirty="0" err="1"/>
              <a:t>quadrado</a:t>
            </a:r>
            <a:r>
              <a:rPr lang="en-US" dirty="0"/>
              <a:t>, </a:t>
            </a:r>
            <a:r>
              <a:rPr lang="en-US" dirty="0" err="1"/>
              <a:t>limiar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ganho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,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mútua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Encapsulamento</a:t>
            </a:r>
            <a:r>
              <a:rPr lang="pt-BR" dirty="0"/>
              <a:t>: </a:t>
            </a:r>
            <a:r>
              <a:rPr lang="pt-BR" b="1" dirty="0">
                <a:solidFill>
                  <a:srgbClr val="7030A0"/>
                </a:solidFill>
              </a:rPr>
              <a:t>Usa o próprio modelo de ML para testar subconjuntos </a:t>
            </a:r>
            <a:r>
              <a:rPr lang="pt-BR" dirty="0"/>
              <a:t>de variáveis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Eliminação recursiva </a:t>
            </a:r>
            <a:r>
              <a:rPr lang="pt-BR" dirty="0"/>
              <a:t>de atributos, 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Embarcado</a:t>
            </a:r>
            <a:r>
              <a:rPr lang="pt-BR" dirty="0"/>
              <a:t>: A </a:t>
            </a:r>
            <a:r>
              <a:rPr lang="pt-BR" b="1" dirty="0">
                <a:solidFill>
                  <a:srgbClr val="7030A0"/>
                </a:solidFill>
              </a:rPr>
              <a:t>seleção ocorre durante o processo de treinamento </a:t>
            </a:r>
            <a:r>
              <a:rPr lang="pt-BR" dirty="0"/>
              <a:t>do próprio algoritmo. É </a:t>
            </a:r>
            <a:r>
              <a:rPr lang="pt-BR" b="1" dirty="0">
                <a:solidFill>
                  <a:srgbClr val="7030A0"/>
                </a:solidFill>
              </a:rPr>
              <a:t>integrada</a:t>
            </a:r>
            <a:r>
              <a:rPr lang="pt-BR" dirty="0"/>
              <a:t> (i.e., embarcada) no </a:t>
            </a:r>
            <a:r>
              <a:rPr lang="pt-BR" b="1" dirty="0">
                <a:solidFill>
                  <a:srgbClr val="7030A0"/>
                </a:solidFill>
              </a:rPr>
              <a:t>treinamento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Regressão LASSO e árvores de decisão.</a:t>
            </a:r>
          </a:p>
          <a:p>
            <a:r>
              <a:rPr lang="pt-BR" dirty="0"/>
              <a:t>Filtragem usa apenas informações do </a:t>
            </a:r>
            <a:r>
              <a:rPr lang="pt-BR" i="1" dirty="0"/>
              <a:t>dataset</a:t>
            </a:r>
            <a:r>
              <a:rPr lang="pt-BR" dirty="0"/>
              <a:t>, já o encapsulamento e o embarcado, usam informações do </a:t>
            </a:r>
            <a:r>
              <a:rPr lang="pt-BR" i="1" dirty="0"/>
              <a:t>dataset</a:t>
            </a:r>
            <a:r>
              <a:rPr lang="pt-BR" dirty="0"/>
              <a:t> e do modelo para selecionar os atributos.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3" y="1825624"/>
            <a:ext cx="5442857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/>
              <a:t>rápidos e independentes do modelo de ML</a:t>
            </a:r>
            <a:r>
              <a:rPr lang="pt-BR" dirty="0"/>
              <a:t>.</a:t>
            </a:r>
          </a:p>
          <a:p>
            <a:r>
              <a:rPr lang="pt-BR" dirty="0"/>
              <a:t>Escala bem para </a:t>
            </a:r>
            <a:r>
              <a:rPr lang="pt-BR" i="1" dirty="0" err="1"/>
              <a:t>datasets</a:t>
            </a:r>
            <a:r>
              <a:rPr lang="pt-BR" dirty="0"/>
              <a:t> grandes.</a:t>
            </a:r>
          </a:p>
          <a:p>
            <a:r>
              <a:rPr lang="pt-BR" dirty="0"/>
              <a:t>Filtros simples podem </a:t>
            </a:r>
            <a:r>
              <a:rPr lang="pt-BR" b="1" dirty="0"/>
              <a:t>ignorar interações relevantes </a:t>
            </a:r>
            <a:r>
              <a:rPr lang="pt-BR" dirty="0"/>
              <a:t>entre atributos (e.g., usar apenas a </a:t>
            </a:r>
            <a:r>
              <a:rPr lang="pt-BR" b="1" dirty="0"/>
              <a:t>correlação entre atributo e alvo</a:t>
            </a:r>
            <a:r>
              <a:rPr lang="pt-BR" dirty="0"/>
              <a:t>).</a:t>
            </a:r>
          </a:p>
          <a:p>
            <a:r>
              <a:rPr lang="pt-BR" dirty="0"/>
              <a:t>Dependem da escolha adequada da métrica (e.g., relações lineares e não lineares).</a:t>
            </a:r>
            <a:endParaRPr lang="en-US" dirty="0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2133600"/>
            <a:ext cx="6360280" cy="370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b="1" dirty="0">
                <a:solidFill>
                  <a:srgbClr val="7030A0"/>
                </a:solidFill>
              </a:rPr>
              <a:t>Otimizam</a:t>
            </a:r>
            <a:r>
              <a:rPr lang="pt-BR" dirty="0"/>
              <a:t> os atributos para um </a:t>
            </a:r>
            <a:r>
              <a:rPr lang="pt-BR" b="1" dirty="0">
                <a:solidFill>
                  <a:srgbClr val="7030A0"/>
                </a:solidFill>
              </a:rPr>
              <a:t>modelo específico</a:t>
            </a:r>
            <a:r>
              <a:rPr lang="pt-BR" dirty="0"/>
              <a:t>.</a:t>
            </a:r>
          </a:p>
          <a:p>
            <a:r>
              <a:rPr lang="pt-BR" dirty="0"/>
              <a:t>Em geral, tem têm </a:t>
            </a:r>
            <a:r>
              <a:rPr lang="pt-BR" b="1" dirty="0">
                <a:solidFill>
                  <a:srgbClr val="7030A0"/>
                </a:solidFill>
              </a:rPr>
              <a:t>desempenho superior </a:t>
            </a:r>
            <a:r>
              <a:rPr lang="pt-BR" dirty="0"/>
              <a:t>aos métodos de </a:t>
            </a:r>
            <a:r>
              <a:rPr lang="pt-BR" b="1" dirty="0">
                <a:solidFill>
                  <a:srgbClr val="7030A0"/>
                </a:solidFill>
              </a:rPr>
              <a:t>filtragem</a:t>
            </a:r>
            <a:r>
              <a:rPr lang="pt-BR" dirty="0"/>
              <a:t>.</a:t>
            </a:r>
          </a:p>
          <a:p>
            <a:r>
              <a:rPr lang="pt-BR" dirty="0"/>
              <a:t>Porém, são </a:t>
            </a:r>
            <a:r>
              <a:rPr lang="pt-BR" b="1" dirty="0">
                <a:solidFill>
                  <a:schemeClr val="accent2"/>
                </a:solidFill>
              </a:rPr>
              <a:t>computacionalmente caros</a:t>
            </a:r>
            <a:r>
              <a:rPr lang="pt-BR" dirty="0"/>
              <a:t> e </a:t>
            </a:r>
            <a:r>
              <a:rPr lang="pt-BR" b="1" dirty="0">
                <a:solidFill>
                  <a:schemeClr val="accent2"/>
                </a:solidFill>
              </a:rPr>
              <a:t>suscetíveis ao 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dirty="0"/>
              <a:t>, pois podem </a:t>
            </a:r>
            <a:r>
              <a:rPr lang="pt-BR" b="1" dirty="0">
                <a:solidFill>
                  <a:schemeClr val="accent5"/>
                </a:solidFill>
              </a:rPr>
              <a:t>ajustar excessivamente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5"/>
                </a:solidFill>
              </a:rPr>
              <a:t>atributos</a:t>
            </a:r>
            <a:r>
              <a:rPr lang="pt-BR" dirty="0"/>
              <a:t> a um </a:t>
            </a:r>
            <a:r>
              <a:rPr lang="pt-BR" b="1" dirty="0">
                <a:solidFill>
                  <a:schemeClr val="accent5"/>
                </a:solidFill>
              </a:rPr>
              <a:t>modelo específico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7" y="2264229"/>
            <a:ext cx="6336295" cy="353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dirty="0"/>
              <a:t>Selecionam atributos </a:t>
            </a:r>
            <a:r>
              <a:rPr lang="pt-BR" b="1" dirty="0">
                <a:solidFill>
                  <a:schemeClr val="accent2"/>
                </a:solidFill>
              </a:rPr>
              <a:t>durante o treinamento</a:t>
            </a:r>
            <a:r>
              <a:rPr lang="pt-BR" dirty="0"/>
              <a:t> do modelo.</a:t>
            </a:r>
          </a:p>
          <a:p>
            <a:r>
              <a:rPr lang="pt-BR" dirty="0"/>
              <a:t>Apresenta </a:t>
            </a:r>
            <a:r>
              <a:rPr lang="pt-BR" b="1" dirty="0">
                <a:solidFill>
                  <a:schemeClr val="accent2"/>
                </a:solidFill>
              </a:rPr>
              <a:t>equilíbrio</a:t>
            </a:r>
            <a:r>
              <a:rPr lang="pt-BR" dirty="0"/>
              <a:t> entre </a:t>
            </a:r>
            <a:r>
              <a:rPr lang="pt-BR" b="1" dirty="0">
                <a:solidFill>
                  <a:schemeClr val="accent2"/>
                </a:solidFill>
              </a:rPr>
              <a:t>desempenho e tempo para seleção</a:t>
            </a:r>
            <a:r>
              <a:rPr lang="pt-BR" dirty="0"/>
              <a:t>.</a:t>
            </a:r>
          </a:p>
          <a:p>
            <a:r>
              <a:rPr lang="pt-BR" dirty="0"/>
              <a:t>Porém, têm </a:t>
            </a:r>
            <a:r>
              <a:rPr lang="pt-BR" b="1" dirty="0">
                <a:solidFill>
                  <a:srgbClr val="7030A0"/>
                </a:solidFill>
              </a:rPr>
              <a:t>interpretabilidade limitada</a:t>
            </a:r>
            <a:r>
              <a:rPr lang="pt-BR" dirty="0"/>
              <a:t> (por que um atributo foi removido?) e </a:t>
            </a:r>
            <a:r>
              <a:rPr lang="pt-BR" b="1" dirty="0">
                <a:solidFill>
                  <a:srgbClr val="7030A0"/>
                </a:solidFill>
              </a:rPr>
              <a:t>não são suportados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por todos os algoritmos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podemos citar: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 err="1"/>
              <a:t>Filtragem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VarianceThreshold</a:t>
            </a:r>
            <a:r>
              <a:rPr lang="pt-BR" dirty="0"/>
              <a:t>: Elimina atributos com variância abaixo do limiar configurado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SelectKBest</a:t>
            </a:r>
            <a:r>
              <a:rPr lang="pt-BR" dirty="0"/>
              <a:t>: Seleciona os K melhores atributos de acordo com um </a:t>
            </a:r>
            <a:r>
              <a:rPr lang="pt-BR" i="1" dirty="0"/>
              <a:t>score</a:t>
            </a:r>
            <a:r>
              <a:rPr lang="pt-BR" dirty="0"/>
              <a:t> definido (e.g., informação mútua, ganho de informação, etc.)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Encapsulamento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latin typeface="Consolas" panose="020B0609020204030204" pitchFamily="49" charset="0"/>
              </a:rPr>
              <a:t>RFE</a:t>
            </a:r>
            <a:r>
              <a:rPr lang="pt-BR" dirty="0"/>
              <a:t>: Elimina os atributos de forma recursiva até que apenas as melhores permaneçam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noProof="0" dirty="0" err="1"/>
              <a:t>Embarcado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dirty="0"/>
              <a:t>: Seleção </a:t>
            </a:r>
            <a:r>
              <a:rPr lang="pt-BR" noProof="0" dirty="0"/>
              <a:t>usando modelos com penalidade L1 ou baseados em árvore, como LASSO e árvores de decisão.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noProof="0" dirty="0"/>
          </a:p>
          <a:p>
            <a:pPr lvl="1">
              <a:buFont typeface="Wingdings" panose="05000000000000000000" pitchFamily="2" charset="2"/>
              <a:buChar char="§"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874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features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5"/>
          </a:xfrm>
        </p:spPr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2"/>
                </a:solidFill>
              </a:rPr>
              <a:t>atributos originais para criar novos</a:t>
            </a:r>
            <a:r>
              <a:rPr lang="pt-BR" dirty="0"/>
              <a:t>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</a:t>
            </a:r>
            <a:r>
              <a:rPr lang="pt-BR" b="1" dirty="0">
                <a:solidFill>
                  <a:srgbClr val="7030A0"/>
                </a:solidFill>
              </a:rPr>
              <a:t>subconjunto dos atributos existentes </a:t>
            </a:r>
            <a:r>
              <a:rPr lang="pt-BR" dirty="0"/>
              <a:t>mais relevantes </a:t>
            </a:r>
            <a:r>
              <a:rPr lang="pt-BR" b="1" dirty="0">
                <a:solidFill>
                  <a:srgbClr val="7030A0"/>
                </a:solidFill>
              </a:rPr>
              <a:t>sem alterá-los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</a:t>
            </a:r>
            <a:r>
              <a:rPr lang="pt-BR" dirty="0" err="1"/>
              <a:t>exrcícios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#4 – Transformações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9209</TotalTime>
  <Words>6068</Words>
  <Application>Microsoft Office PowerPoint</Application>
  <PresentationFormat>Widescreen</PresentationFormat>
  <Paragraphs>503</Paragraphs>
  <Slides>53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1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Transformações dos dados</vt:lpstr>
      <vt:lpstr>PowerPoint Presentation</vt:lpstr>
      <vt:lpstr>O que veremos?</vt:lpstr>
      <vt:lpstr>PowerPoint Presentation</vt:lpstr>
      <vt:lpstr>PowerPoint Presentation</vt:lpstr>
      <vt:lpstr>Por que não usar os mesmos dados para treino e teste</vt:lpstr>
      <vt:lpstr>Divisão do dataset</vt:lpstr>
      <vt:lpstr>Divisão do dataset</vt:lpstr>
      <vt:lpstr>Divisão do dataset</vt:lpstr>
      <vt:lpstr>PowerPoint Presentation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PowerPoint Presentation</vt:lpstr>
      <vt:lpstr>PowerPoint Presentation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Label e ordinal encoding</vt:lpstr>
      <vt:lpstr>Target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PowerPoint Presentation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Lista de exrcícios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2055</cp:revision>
  <dcterms:created xsi:type="dcterms:W3CDTF">2020-01-20T13:50:05Z</dcterms:created>
  <dcterms:modified xsi:type="dcterms:W3CDTF">2026-03-09T21:03:25Z</dcterms:modified>
</cp:coreProperties>
</file>