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handoutMasterIdLst>
    <p:handoutMasterId r:id="rId65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400" r:id="rId21"/>
    <p:sldId id="335" r:id="rId22"/>
    <p:sldId id="398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401" r:id="rId31"/>
    <p:sldId id="346" r:id="rId32"/>
    <p:sldId id="402" r:id="rId33"/>
    <p:sldId id="347" r:id="rId34"/>
    <p:sldId id="403" r:id="rId35"/>
    <p:sldId id="348" r:id="rId36"/>
    <p:sldId id="405" r:id="rId37"/>
    <p:sldId id="349" r:id="rId38"/>
    <p:sldId id="317" r:id="rId39"/>
    <p:sldId id="320" r:id="rId40"/>
    <p:sldId id="353" r:id="rId41"/>
    <p:sldId id="354" r:id="rId42"/>
    <p:sldId id="355" r:id="rId43"/>
    <p:sldId id="406" r:id="rId44"/>
    <p:sldId id="407" r:id="rId45"/>
    <p:sldId id="408" r:id="rId46"/>
    <p:sldId id="366" r:id="rId47"/>
    <p:sldId id="357" r:id="rId48"/>
    <p:sldId id="359" r:id="rId49"/>
    <p:sldId id="360" r:id="rId50"/>
    <p:sldId id="358" r:id="rId51"/>
    <p:sldId id="362" r:id="rId52"/>
    <p:sldId id="367" r:id="rId53"/>
    <p:sldId id="368" r:id="rId54"/>
    <p:sldId id="370" r:id="rId55"/>
    <p:sldId id="372" r:id="rId56"/>
    <p:sldId id="371" r:id="rId57"/>
    <p:sldId id="373" r:id="rId58"/>
    <p:sldId id="356" r:id="rId59"/>
    <p:sldId id="338" r:id="rId60"/>
    <p:sldId id="395" r:id="rId61"/>
    <p:sldId id="293" r:id="rId62"/>
    <p:sldId id="306" r:id="rId6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1621" autoAdjust="0"/>
  </p:normalViewPr>
  <p:slideViewPr>
    <p:cSldViewPr snapToGrid="0">
      <p:cViewPr varScale="1">
        <p:scale>
          <a:sx n="101" d="100"/>
          <a:sy n="101" d="100"/>
        </p:scale>
        <p:origin x="1218" y="10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24/08/2026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https://scikit-learn.org/stable/auto_examples/preprocessing/plot_all_scaling.html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Centraliza pela mediana e escala pelo IQR, tornando os parâmetros da transformação pouco sensíveis a um pequeno número de </a:t>
            </a:r>
            <a:r>
              <a:rPr lang="pt-BR" dirty="0" err="1"/>
              <a:t>outliers</a:t>
            </a:r>
            <a:r>
              <a:rPr lang="pt-BR" dirty="0"/>
              <a:t> muito grandes.</a:t>
            </a:r>
          </a:p>
          <a:p>
            <a:endParaRPr lang="pt-BR" dirty="0"/>
          </a:p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Mantém melhor a escala relativa dos valores típicos quando existem </a:t>
            </a:r>
            <a:r>
              <a:rPr lang="pt-BR" dirty="0" err="1"/>
              <a:t>outliers</a:t>
            </a:r>
            <a:r>
              <a:rPr lang="pt-BR" dirty="0"/>
              <a:t> extremos, evitando que eles comprimam excessivamente os demais valores.</a:t>
            </a:r>
          </a:p>
          <a:p>
            <a:r>
              <a:rPr lang="pt-BR" dirty="0"/>
              <a:t>O </a:t>
            </a:r>
            <a:r>
              <a:rPr lang="pt-BR" dirty="0" err="1"/>
              <a:t>RobustScaler</a:t>
            </a:r>
            <a:r>
              <a:rPr lang="pt-BR" dirty="0"/>
              <a:t> não transforma um </a:t>
            </a:r>
            <a:r>
              <a:rPr lang="pt-BR" dirty="0" err="1"/>
              <a:t>outlier</a:t>
            </a:r>
            <a:r>
              <a:rPr lang="pt-BR" dirty="0"/>
              <a:t> em um valor “normal”; ele apenas evita que o </a:t>
            </a:r>
            <a:r>
              <a:rPr lang="pt-BR" dirty="0" err="1"/>
              <a:t>outlier</a:t>
            </a:r>
            <a:r>
              <a:rPr lang="pt-BR" dirty="0"/>
              <a:t> tenha grande influência na </a:t>
            </a:r>
            <a:r>
              <a:rPr lang="pt-BR" b="1" dirty="0"/>
              <a:t>definição da escala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"E.g."</a:t>
            </a:r>
            <a:r>
              <a:rPr lang="en-US" dirty="0"/>
              <a:t> </a:t>
            </a:r>
            <a:r>
              <a:rPr lang="en-US" dirty="0" err="1"/>
              <a:t>vem</a:t>
            </a:r>
            <a:r>
              <a:rPr lang="en-US" dirty="0"/>
              <a:t> do </a:t>
            </a:r>
            <a:r>
              <a:rPr lang="en-US" dirty="0" err="1"/>
              <a:t>latim</a:t>
            </a:r>
            <a:r>
              <a:rPr lang="en-US" dirty="0"/>
              <a:t> 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exempli gratia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51856-3702-9AD5-B715-6A7DE7C8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C8C9-BB83-81A4-2822-15760584E2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EE26F-07DC-7ADE-9CA8-592386F5B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E4D07-D248-7C47-B626-8365D4DB8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502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99E5-DDE1-00EF-E1F6-2F3BF0626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877D2-1574-B409-7E04-DBD5E1813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21D69-065F-BCC4-9AF4-94895F2CF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58760-A057-4F0E-9736-8C30F0D6C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277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16457-E42C-8759-1B96-A79198B44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E0FA61-6097-8E7F-A9FF-8B1461130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EC44F-055B-FE46-DC81-26AC2E483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36C0F-B0F6-6B99-A65C-B5901810A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98959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172FF-0DD0-B2F0-E0DD-7F87B7BBD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4B114-95C4-D77A-75C9-57BCEBCCB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C3651C-2E00-F61E-4AA1-54FC44F2C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DF128-3C63-661B-E3DA-578A6D3A7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30758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Como o PCA </a:t>
            </a:r>
            <a:r>
              <a:rPr lang="en-US" dirty="0" err="1"/>
              <a:t>procura</a:t>
            </a:r>
            <a:r>
              <a:rPr lang="en-US" dirty="0"/>
              <a:t> as </a:t>
            </a:r>
            <a:r>
              <a:rPr lang="en-US" dirty="0" err="1"/>
              <a:t>direções</a:t>
            </a:r>
            <a:r>
              <a:rPr lang="en-US" dirty="0"/>
              <a:t> de </a:t>
            </a:r>
            <a:r>
              <a:rPr lang="en-US" dirty="0" err="1"/>
              <a:t>maior</a:t>
            </a:r>
            <a:r>
              <a:rPr lang="en-US" dirty="0"/>
              <a:t>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variável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possui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numericamente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influenciar</a:t>
            </a:r>
            <a:r>
              <a:rPr lang="en-US" dirty="0"/>
              <a:t> fortemente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,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seja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</a:t>
            </a:r>
            <a:r>
              <a:rPr lang="en-US" dirty="0" err="1"/>
              <a:t>consequência</a:t>
            </a:r>
            <a:r>
              <a:rPr lang="en-US" dirty="0"/>
              <a:t> da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escala</a:t>
            </a:r>
            <a:r>
              <a:rPr lang="en-US" dirty="0"/>
              <a:t> de </a:t>
            </a:r>
            <a:r>
              <a:rPr lang="en-US" dirty="0" err="1"/>
              <a:t>medida</a:t>
            </a:r>
            <a:r>
              <a:rPr lang="en-US" dirty="0"/>
              <a:t>. Por </a:t>
            </a:r>
            <a:r>
              <a:rPr lang="en-US" dirty="0" err="1"/>
              <a:t>isso</a:t>
            </a:r>
            <a:r>
              <a:rPr lang="en-US" dirty="0"/>
              <a:t>, </a:t>
            </a:r>
            <a:r>
              <a:rPr lang="en-US" dirty="0" err="1"/>
              <a:t>quando</a:t>
            </a:r>
            <a:r>
              <a:rPr lang="en-US" dirty="0"/>
              <a:t> as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escalas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, é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en-US" dirty="0" err="1"/>
              <a:t>padronizá</a:t>
            </a:r>
            <a:r>
              <a:rPr lang="en-US" dirty="0"/>
              <a:t>-las antes de </a:t>
            </a:r>
            <a:r>
              <a:rPr lang="en-US" dirty="0" err="1"/>
              <a:t>aplicar</a:t>
            </a:r>
            <a:r>
              <a:rPr lang="en-US" dirty="0"/>
              <a:t> o PCA.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https://scikit-learn.org/stable/modules/feature_selection.html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96903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modules/feature_selection.html" TargetMode="Externa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preparação e transformação (ou pré-processamento)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6887497" y="2397947"/>
            <a:ext cx="443105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 e avaliação dos modelos!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treinamento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pode ser bastante </a:t>
            </a:r>
            <a:r>
              <a:rPr lang="pt-BR" b="1" dirty="0">
                <a:solidFill>
                  <a:schemeClr val="accent6"/>
                </a:solidFill>
              </a:rPr>
              <a:t>otimista</a:t>
            </a:r>
            <a:r>
              <a:rPr lang="pt-BR" dirty="0"/>
              <a:t>, pois o modelo é avaliado nos mesmos dados utilizados para seu ajuste.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</a:t>
            </a:r>
            <a:r>
              <a:rPr lang="pt-BR" b="1" dirty="0">
                <a:solidFill>
                  <a:schemeClr val="accent2"/>
                </a:solidFill>
              </a:rPr>
              <a:t>memorizar os dados de treinamento </a:t>
            </a:r>
            <a:r>
              <a:rPr lang="pt-BR" dirty="0"/>
              <a:t>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</a:t>
            </a:r>
            <a:r>
              <a:rPr lang="pt-BR" b="1" dirty="0">
                <a:solidFill>
                  <a:schemeClr val="accent5"/>
                </a:solidFill>
              </a:rPr>
              <a:t>otimizado</a:t>
            </a:r>
            <a:r>
              <a:rPr lang="pt-BR" dirty="0"/>
              <a:t> com base no desempenho no próprio conjunto de treinamento, pode ocorrer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dados de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dirty="0" err="1"/>
              <a:t>hiperparâmetros</a:t>
            </a:r>
            <a:r>
              <a:rPr lang="pt-BR" dirty="0"/>
              <a:t> do modelo podem ser ajustados excessivamente às características específicas do conjunto de treinamento, </a:t>
            </a:r>
            <a:r>
              <a:rPr lang="pt-BR" b="1" dirty="0">
                <a:solidFill>
                  <a:srgbClr val="7030A0"/>
                </a:solidFill>
              </a:rPr>
              <a:t>comprometendo sua capacidade de generalização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</a:t>
            </a:r>
            <a:r>
              <a:rPr lang="pt-BR" b="1" dirty="0">
                <a:solidFill>
                  <a:schemeClr val="accent6"/>
                </a:solidFill>
              </a:rPr>
              <a:t>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</a:t>
            </a:r>
            <a:r>
              <a:rPr lang="pt-BR" b="1" dirty="0">
                <a:solidFill>
                  <a:schemeClr val="accent2"/>
                </a:solidFill>
              </a:rPr>
              <a:t>forma de avaliar a generalização</a:t>
            </a:r>
            <a:r>
              <a:rPr lang="pt-BR" dirty="0"/>
              <a:t>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</a:t>
            </a:r>
            <a:r>
              <a:rPr lang="pt-BR" b="1" dirty="0">
                <a:solidFill>
                  <a:srgbClr val="00B050"/>
                </a:solidFill>
              </a:rPr>
              <a:t>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89145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 ou 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 a mesma distribuição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overfitting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 de todo o processo.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</a:t>
            </a:r>
            <a:r>
              <a:rPr lang="pt-BR" sz="3600" b="1" dirty="0">
                <a:solidFill>
                  <a:srgbClr val="00B050"/>
                </a:solidFill>
              </a:rPr>
              <a:t>transformações</a:t>
            </a:r>
            <a:r>
              <a:rPr lang="pt-BR" sz="3600" dirty="0"/>
              <a:t> aplicadas aos dados que </a:t>
            </a:r>
            <a:r>
              <a:rPr lang="pt-BR" sz="3600" b="1" dirty="0">
                <a:solidFill>
                  <a:srgbClr val="7030A0"/>
                </a:solidFill>
              </a:rPr>
              <a:t>ajudam no aprendizado dos modelos</a:t>
            </a:r>
            <a:r>
              <a:rPr lang="pt-BR" sz="3600" dirty="0"/>
              <a:t>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geralmente,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Indicada para conjuntos de dados sem </a:t>
                </a:r>
                <a:r>
                  <a:rPr lang="pt-BR" i="1" dirty="0" err="1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(e.g., 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Regressor linear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Técnica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 (i.e., </a:t>
            </a:r>
            <a:r>
              <a:rPr lang="pt-BR" b="1" i="1" dirty="0" err="1">
                <a:solidFill>
                  <a:srgbClr val="7030A0"/>
                </a:solidFill>
              </a:rPr>
              <a:t>inliers</a:t>
            </a:r>
            <a:r>
              <a:rPr lang="pt-BR" b="1" dirty="0">
                <a:solidFill>
                  <a:srgbClr val="7030A0"/>
                </a:solidFill>
              </a:rPr>
              <a:t>)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conjunto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treinamento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</a:t>
            </a:r>
            <a:r>
              <a:rPr lang="pt-BR" sz="6600" b="1" dirty="0">
                <a:solidFill>
                  <a:schemeClr val="accent2"/>
                </a:solidFill>
              </a:rPr>
              <a:t>vazamento</a:t>
            </a:r>
            <a:r>
              <a:rPr lang="pt-BR" sz="6600" dirty="0"/>
              <a:t>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06017" cy="5032375"/>
          </a:xfrm>
        </p:spPr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 </a:t>
            </a:r>
            <a:r>
              <a:rPr lang="pt-BR" dirty="0"/>
              <a:t>ocorre quando informações </a:t>
            </a:r>
            <a:r>
              <a:rPr lang="pt-BR" b="1" dirty="0">
                <a:solidFill>
                  <a:schemeClr val="accent2"/>
                </a:solidFill>
              </a:rPr>
              <a:t>que não deveriam estar disponíveis durante o treinamento </a:t>
            </a:r>
            <a:r>
              <a:rPr lang="pt-BR" dirty="0"/>
              <a:t>influenciam o </a:t>
            </a:r>
            <a:r>
              <a:rPr lang="pt-BR" b="1" dirty="0">
                <a:solidFill>
                  <a:schemeClr val="accent6"/>
                </a:solidFill>
              </a:rPr>
              <a:t>aprendizado do modelo, sua otimização ou sua avaliação</a:t>
            </a:r>
            <a:r>
              <a:rPr lang="pt-BR" dirty="0"/>
              <a:t>.</a:t>
            </a:r>
          </a:p>
          <a:p>
            <a:r>
              <a:rPr lang="pt-BR" dirty="0"/>
              <a:t>O princípio é: </a:t>
            </a:r>
            <a:r>
              <a:rPr lang="pt-BR" b="1" dirty="0"/>
              <a:t>os conjuntos de validação e teste não devem influenciar as decisões de construção do modelo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parâmetros de pré-processamento devem ser aprendidos exclusivamente com os dados de treinamento </a:t>
            </a:r>
            <a:r>
              <a:rPr lang="pt-BR" dirty="0"/>
              <a:t>e posteriormente aplicados aos dados de validação e teste.</a:t>
            </a:r>
          </a:p>
          <a:p>
            <a:r>
              <a:rPr lang="pt-BR" dirty="0"/>
              <a:t>Isso se aplica a praticamente todas as transformações que aprendem informações dos dados: escalonamento, imputação, seleção e extração de atributos, etc.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6719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igual a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 rotWithShape="0"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40730" cy="5032375"/>
          </a:xfrm>
        </p:spPr>
        <p:txBody>
          <a:bodyPr/>
          <a:lstStyle/>
          <a:p>
            <a:r>
              <a:rPr lang="pt-BR" b="1" dirty="0"/>
              <a:t>Vantagem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Coloca os atributos em uma escala comparável, </a:t>
            </a:r>
            <a:r>
              <a:rPr lang="pt-BR" b="1" dirty="0">
                <a:solidFill>
                  <a:schemeClr val="accent6"/>
                </a:solidFill>
              </a:rPr>
              <a:t>expressando os valores em termos de desvios padrão em relação à média</a:t>
            </a:r>
            <a:r>
              <a:rPr lang="pt-BR" dirty="0"/>
              <a:t>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</a:t>
            </a:r>
            <a:r>
              <a:rPr lang="pt-BR" b="1" dirty="0">
                <a:solidFill>
                  <a:schemeClr val="accent1"/>
                </a:solidFill>
              </a:rPr>
              <a:t>assumem distribuições aproximadamente Gaussianas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</a:t>
            </a:r>
            <a:r>
              <a:rPr lang="pt-BR" b="1" dirty="0">
                <a:solidFill>
                  <a:schemeClr val="accent2"/>
                </a:solidFill>
              </a:rPr>
              <a:t>que dependem de operações baseadas em distância ou gradiente</a:t>
            </a:r>
            <a:r>
              <a:rPr lang="pt-BR" dirty="0"/>
              <a:t>, como </a:t>
            </a:r>
            <a:r>
              <a:rPr lang="pt-BR" dirty="0" err="1"/>
              <a:t>regressor</a:t>
            </a:r>
            <a:r>
              <a:rPr lang="pt-BR" dirty="0"/>
              <a:t> linear, SVM e redes neurais.</a:t>
            </a:r>
          </a:p>
          <a:p>
            <a:r>
              <a:rPr lang="en-US" b="1" dirty="0" err="1"/>
              <a:t>Cuidado</a:t>
            </a:r>
            <a:r>
              <a:rPr lang="en-US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Sensível a </a:t>
            </a:r>
            <a:r>
              <a:rPr lang="pt-BR" i="1" dirty="0" err="1"/>
              <a:t>outliers</a:t>
            </a:r>
            <a:r>
              <a:rPr lang="pt-BR" dirty="0"/>
              <a:t>, pois a </a:t>
            </a:r>
            <a:r>
              <a:rPr lang="pt-BR" b="1" dirty="0">
                <a:solidFill>
                  <a:srgbClr val="7030A0"/>
                </a:solidFill>
              </a:rPr>
              <a:t>média e o desvio padrão</a:t>
            </a:r>
            <a:r>
              <a:rPr lang="pt-BR" dirty="0"/>
              <a:t> são </a:t>
            </a:r>
            <a:r>
              <a:rPr lang="pt-BR" b="1" dirty="0">
                <a:solidFill>
                  <a:srgbClr val="7030A0"/>
                </a:solidFill>
              </a:rPr>
              <a:t>influenciados por valores extremos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fazer com que os valores</a:t>
            </a:r>
            <a:r>
              <a:rPr lang="pt-BR" b="1" dirty="0"/>
              <a:t> típicos </a:t>
            </a:r>
            <a:r>
              <a:rPr lang="pt-BR" dirty="0"/>
              <a:t>sejam comprimidos próximos de zero.</a:t>
            </a:r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conjunto de </a:t>
            </a:r>
            <a:r>
              <a:rPr lang="en-US" i="1" dirty="0" err="1">
                <a:latin typeface="Consolas" panose="020B0609020204030204" pitchFamily="49" charset="0"/>
              </a:rPr>
              <a:t>treinamento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, e a distância interquartil (IQR)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são a mediana e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6" t="15862" r="710" b="17661"/>
          <a:stretch/>
        </p:blipFill>
        <p:spPr>
          <a:xfrm>
            <a:off x="2414588" y="5217911"/>
            <a:ext cx="7011590" cy="15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reduzida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mediana e o IQR são muito </a:t>
                </a:r>
                <a:r>
                  <a:rPr lang="pt-BR" b="1" dirty="0">
                    <a:solidFill>
                      <a:srgbClr val="7030A0"/>
                    </a:solidFill>
                  </a:rPr>
                  <a:t>menos afetados </a:t>
                </a:r>
                <a:r>
                  <a:rPr lang="pt-BR" b="1" dirty="0">
                    <a:solidFill>
                      <a:srgbClr val="00B0F0"/>
                    </a:solidFill>
                  </a:rPr>
                  <a:t>por poucos </a:t>
                </a:r>
                <a:r>
                  <a:rPr lang="pt-BR" b="1" i="1" dirty="0" err="1">
                    <a:solidFill>
                      <a:srgbClr val="7030A0"/>
                    </a:solidFill>
                  </a:rPr>
                  <a:t>outliers</a:t>
                </a:r>
                <a:r>
                  <a:rPr lang="pt-BR" b="1" dirty="0">
                    <a:solidFill>
                      <a:srgbClr val="7030A0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Reduz o efeito de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 sobre a escala dos valores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evitando sua compressão excessiva em torno de zero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 err="1"/>
                  <a:t>outliers</a:t>
                </a:r>
                <a:r>
                  <a:rPr lang="pt-BR" dirty="0"/>
                  <a:t> significativos e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fortemente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melhor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/>
                  <a:t>outliers. </a:t>
                </a:r>
                <a:r>
                  <a:rPr lang="pt-BR" dirty="0"/>
                  <a:t>Eles continuam nos dados.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os </a:t>
                </a:r>
                <a:r>
                  <a:rPr lang="pt-BR" i="1" dirty="0" err="1"/>
                  <a:t>outliers</a:t>
                </a:r>
                <a:r>
                  <a:rPr lang="pt-BR" i="1" dirty="0"/>
                  <a:t> </a:t>
                </a:r>
                <a:r>
                  <a:rPr lang="pt-BR" dirty="0"/>
                  <a:t>não são removidos,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 </a:t>
                </a:r>
                <a:r>
                  <a:rPr lang="pt-BR" dirty="0"/>
                  <a:t>(KNN, k-</a:t>
                </a:r>
                <a:r>
                  <a:rPr lang="pt-BR" dirty="0" err="1"/>
                  <a:t>means</a:t>
                </a:r>
                <a:r>
                  <a:rPr lang="pt-BR" dirty="0"/>
                  <a:t>)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(RNA e </a:t>
                </a:r>
                <a:r>
                  <a:rPr lang="pt-BR" dirty="0" err="1"/>
                  <a:t>Regressor</a:t>
                </a:r>
                <a:r>
                  <a:rPr lang="pt-BR" dirty="0"/>
                  <a:t> linear)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r="-806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Assim, 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/>
              <a:t>atributos binários ou </a:t>
            </a:r>
            <a:r>
              <a:rPr lang="pt-BR" b="1" i="1" dirty="0" err="1"/>
              <a:t>one</a:t>
            </a:r>
            <a:r>
              <a:rPr lang="pt-BR" b="1" i="1" dirty="0"/>
              <a:t>-hot</a:t>
            </a:r>
            <a:r>
              <a:rPr lang="pt-BR" b="1" dirty="0"/>
              <a:t> </a:t>
            </a:r>
            <a:r>
              <a:rPr lang="pt-BR" b="1" dirty="0">
                <a:solidFill>
                  <a:srgbClr val="00B050"/>
                </a:solidFill>
              </a:rPr>
              <a:t>não precisam ser escalonados</a:t>
            </a:r>
            <a:r>
              <a:rPr lang="pt-BR" dirty="0"/>
              <a:t>, especialmente quando já estão na mesma escala entre 0 e 1.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Motivação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Modelos de ML não entendem atributos categóricos (e.g., texto)</a:t>
            </a:r>
            <a:r>
              <a:rPr lang="pt-BR" noProof="0" dirty="0"/>
              <a:t>, portanto, precisamos converte-los em </a:t>
            </a:r>
            <a:r>
              <a:rPr lang="pt-BR" b="1" noProof="0" dirty="0">
                <a:solidFill>
                  <a:srgbClr val="00B050"/>
                </a:solidFill>
              </a:rPr>
              <a:t>números</a:t>
            </a:r>
            <a:r>
              <a:rPr lang="pt-BR" noProof="0" dirty="0"/>
              <a:t>.</a:t>
            </a:r>
          </a:p>
          <a:p>
            <a:r>
              <a:rPr lang="pt-BR" noProof="0" dirty="0"/>
              <a:t>As principais técnicas de codificação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One</a:t>
            </a:r>
            <a:r>
              <a:rPr lang="pt-BR" noProof="0" dirty="0"/>
              <a:t>-Hot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Label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Target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Binary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r>
              <a:rPr lang="pt-BR" noProof="0" dirty="0"/>
              <a:t>A escolha da técnica correta é fundamental, pois uma </a:t>
            </a:r>
            <a:r>
              <a:rPr lang="pt-BR" b="1" noProof="0" dirty="0">
                <a:solidFill>
                  <a:srgbClr val="00B050"/>
                </a:solidFill>
              </a:rPr>
              <a:t>codificação inadequada pode induzir o modelo a </a:t>
            </a:r>
            <a:r>
              <a:rPr lang="pt-BR" b="1" noProof="0" dirty="0">
                <a:solidFill>
                  <a:schemeClr val="accent1"/>
                </a:solidFill>
              </a:rPr>
              <a:t>interpretar falsas relações </a:t>
            </a:r>
            <a:r>
              <a:rPr lang="pt-BR" noProof="0" dirty="0"/>
              <a:t>matemáticas.</a:t>
            </a:r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4068" y="1825624"/>
            <a:ext cx="590793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Usada com atributos </a:t>
            </a:r>
            <a:r>
              <a:rPr lang="pt-BR" b="1" noProof="0" dirty="0">
                <a:solidFill>
                  <a:srgbClr val="00B050"/>
                </a:solidFill>
              </a:rPr>
              <a:t>nominais</a:t>
            </a:r>
            <a:r>
              <a:rPr lang="pt-BR" noProof="0" dirty="0"/>
              <a:t> (sem ordem/hierarquia) e com </a:t>
            </a:r>
            <a:r>
              <a:rPr lang="pt-BR" b="1" noProof="0" dirty="0">
                <a:solidFill>
                  <a:srgbClr val="00B050"/>
                </a:solidFill>
              </a:rPr>
              <a:t>baixa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cardinalidade</a:t>
            </a:r>
            <a:r>
              <a:rPr lang="pt-BR" noProof="0" dirty="0"/>
              <a:t> (com poucas categorias distintas). </a:t>
            </a:r>
          </a:p>
          <a:p>
            <a:r>
              <a:rPr lang="pt-BR" b="1" noProof="0" dirty="0"/>
              <a:t>Como funciona:</a:t>
            </a:r>
            <a:r>
              <a:rPr lang="pt-BR" noProof="0" dirty="0"/>
              <a:t> Cria uma nova </a:t>
            </a:r>
            <a:r>
              <a:rPr lang="pt-BR" b="1" noProof="0" dirty="0">
                <a:solidFill>
                  <a:schemeClr val="accent1"/>
                </a:solidFill>
              </a:rPr>
              <a:t>coluna binária</a:t>
            </a:r>
            <a:r>
              <a:rPr lang="pt-BR" noProof="0" dirty="0"/>
              <a:t> para </a:t>
            </a:r>
            <a:r>
              <a:rPr lang="pt-BR" b="1" noProof="0" dirty="0">
                <a:solidFill>
                  <a:schemeClr val="accent1"/>
                </a:solidFill>
              </a:rPr>
              <a:t>cada categoria </a:t>
            </a:r>
            <a:r>
              <a:rPr lang="pt-BR" noProof="0" dirty="0"/>
              <a:t>distinta presente no atributo original, </a:t>
            </a:r>
            <a:r>
              <a:rPr lang="pt-BR" b="1" noProof="0" dirty="0">
                <a:solidFill>
                  <a:schemeClr val="accent2"/>
                </a:solidFill>
              </a:rPr>
              <a:t>indicando a presença ou ausência daquela categoria </a:t>
            </a:r>
            <a:r>
              <a:rPr lang="pt-BR" noProof="0" dirty="0"/>
              <a:t>em cada observação </a:t>
            </a:r>
            <a:r>
              <a:rPr lang="pt-BR" b="1" noProof="0" dirty="0">
                <a:solidFill>
                  <a:srgbClr val="7030A0"/>
                </a:solidFill>
              </a:rPr>
              <a:t>de forma binária</a:t>
            </a:r>
            <a:r>
              <a:rPr lang="pt-BR" noProof="0" dirty="0"/>
              <a:t> (1 ou 0).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4ED1F471-447F-6E20-0C8A-5AF78B2F65A0}"/>
              </a:ext>
            </a:extLst>
          </p:cNvPr>
          <p:cNvGrpSpPr/>
          <p:nvPr/>
        </p:nvGrpSpPr>
        <p:grpSpPr>
          <a:xfrm>
            <a:off x="204285" y="2564830"/>
            <a:ext cx="5733562" cy="2746472"/>
            <a:chOff x="97277" y="2564830"/>
            <a:chExt cx="5733562" cy="2746472"/>
          </a:xfrm>
        </p:grpSpPr>
        <p:pic>
          <p:nvPicPr>
            <p:cNvPr id="2051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04411FF2-E0FD-9D33-63B9-86F2888D8A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6EE1F129-CDC7-C1C6-8EEE-0B4A9666A387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0CDFF252-05A8-7FE4-75C8-69BED8429C65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51C8B-BBE1-EBED-640A-049FFD7EB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4503-0C1E-6E4A-F863-85DA53C2B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240C-2CF4-C09C-EC83-6F3D86FB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781800" cy="5032375"/>
          </a:xfrm>
        </p:spPr>
        <p:txBody>
          <a:bodyPr>
            <a:normAutofit/>
          </a:bodyPr>
          <a:lstStyle/>
          <a:p>
            <a:r>
              <a:rPr lang="pt-BR" b="1" dirty="0"/>
              <a:t>Vantagem</a:t>
            </a:r>
            <a:r>
              <a:rPr lang="pt-BR" dirty="0"/>
              <a:t>: Evita que o algoritmo </a:t>
            </a:r>
            <a:r>
              <a:rPr lang="pt-BR" b="1" dirty="0">
                <a:solidFill>
                  <a:schemeClr val="accent2"/>
                </a:solidFill>
              </a:rPr>
              <a:t>assuma qualquer relação de grandeza ou ordem</a:t>
            </a:r>
            <a:r>
              <a:rPr lang="pt-BR" dirty="0"/>
              <a:t> </a:t>
            </a:r>
            <a:r>
              <a:rPr lang="pt-BR" b="1" dirty="0">
                <a:solidFill>
                  <a:srgbClr val="00B0F0"/>
                </a:solidFill>
              </a:rPr>
              <a:t>artificial</a:t>
            </a:r>
            <a:r>
              <a:rPr lang="pt-BR" dirty="0"/>
              <a:t> entre as categorias. </a:t>
            </a:r>
          </a:p>
          <a:p>
            <a:r>
              <a:rPr lang="pt-BR" b="1" noProof="0" dirty="0"/>
              <a:t>Limitação:</a:t>
            </a:r>
            <a:r>
              <a:rPr lang="pt-BR" noProof="0" dirty="0"/>
              <a:t> Gera </a:t>
            </a:r>
            <a:r>
              <a:rPr lang="pt-BR" b="1" noProof="0" dirty="0">
                <a:solidFill>
                  <a:schemeClr val="accent6"/>
                </a:solidFill>
              </a:rPr>
              <a:t>alta dimensionalidade </a:t>
            </a:r>
            <a:r>
              <a:rPr lang="pt-BR" noProof="0" dirty="0"/>
              <a:t>(muitas colunas) se um atributo possuir muitas categorias distintas.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Pode criar o problema conhecido como a “</a:t>
            </a:r>
            <a:r>
              <a:rPr lang="pt-BR" b="1" noProof="0" dirty="0">
                <a:solidFill>
                  <a:srgbClr val="7030A0"/>
                </a:solidFill>
              </a:rPr>
              <a:t>maldição da dimensionalidade</a:t>
            </a:r>
            <a:r>
              <a:rPr lang="pt-BR" noProof="0" dirty="0"/>
              <a:t>”.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Pontos ficam </a:t>
            </a:r>
            <a:r>
              <a:rPr lang="pt-BR" b="1" noProof="0" dirty="0">
                <a:solidFill>
                  <a:srgbClr val="0070C0"/>
                </a:solidFill>
              </a:rPr>
              <a:t>muito distantes uns dos outros</a:t>
            </a:r>
            <a:r>
              <a:rPr lang="pt-BR" noProof="0" dirty="0"/>
              <a:t> (perde-se noção de proximidade), </a:t>
            </a:r>
            <a:r>
              <a:rPr lang="pt-BR" dirty="0"/>
              <a:t>prejudicando algoritmos baseados em distância (e.g., KNN).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ificulta</a:t>
            </a:r>
            <a:r>
              <a:rPr lang="pt-BR" noProof="0" dirty="0"/>
              <a:t> a visualização e aumenta o custo computacional.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0084FC5-4512-47C1-23FB-5A6B3318D438}"/>
              </a:ext>
            </a:extLst>
          </p:cNvPr>
          <p:cNvGrpSpPr/>
          <p:nvPr/>
        </p:nvGrpSpPr>
        <p:grpSpPr>
          <a:xfrm>
            <a:off x="117197" y="2895600"/>
            <a:ext cx="5151489" cy="2415701"/>
            <a:chOff x="97277" y="2564830"/>
            <a:chExt cx="5733562" cy="2746472"/>
          </a:xfrm>
        </p:grpSpPr>
        <p:pic>
          <p:nvPicPr>
            <p:cNvPr id="5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7CF08F08-7DEB-A4D1-9198-731AA3AA1CF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ED1EA21E-3735-6AFC-C1BC-7C7808C9E49B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815B10C-76BA-C7A9-5A1C-BB0478A7556D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7243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2486" y="1825624"/>
            <a:ext cx="6999515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Converte </a:t>
            </a:r>
            <a:r>
              <a:rPr lang="pt-BR" b="1" noProof="0" dirty="0">
                <a:solidFill>
                  <a:srgbClr val="00B050"/>
                </a:solidFill>
              </a:rPr>
              <a:t>cada categoria de um atributo em um </a:t>
            </a:r>
            <a:r>
              <a:rPr lang="pt-BR" b="1" noProof="0" dirty="0">
                <a:solidFill>
                  <a:srgbClr val="00B0F0"/>
                </a:solidFill>
              </a:rPr>
              <a:t>número inteiro</a:t>
            </a:r>
            <a:r>
              <a:rPr lang="pt-BR" b="1" noProof="0" dirty="0">
                <a:solidFill>
                  <a:srgbClr val="00B050"/>
                </a:solidFill>
              </a:rPr>
              <a:t> </a:t>
            </a:r>
            <a:r>
              <a:rPr lang="pt-BR" b="1" noProof="0" dirty="0">
                <a:solidFill>
                  <a:schemeClr val="accent2"/>
                </a:solidFill>
              </a:rPr>
              <a:t>único</a:t>
            </a:r>
            <a:r>
              <a:rPr lang="pt-BR" noProof="0" dirty="0"/>
              <a:t>.</a:t>
            </a:r>
          </a:p>
          <a:p>
            <a:r>
              <a:rPr lang="pt-BR" i="1" noProof="0" dirty="0" err="1"/>
              <a:t>Label</a:t>
            </a:r>
            <a:r>
              <a:rPr lang="pt-BR" i="1" noProof="0" dirty="0"/>
              <a:t>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da variável alvo </a:t>
            </a:r>
            <a:r>
              <a:rPr lang="pt-BR" noProof="0" dirty="0"/>
              <a:t>(rótulos).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animais: Gato=0, Cachorro=1.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existe necessariamente uma ordem: Cachorro não é maior do que Gato.</a:t>
            </a:r>
            <a:endParaRPr lang="pt-BR" noProof="0" dirty="0"/>
          </a:p>
          <a:p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atributos</a:t>
            </a:r>
            <a:r>
              <a:rPr lang="pt-BR" noProof="0" dirty="0"/>
              <a:t> que possuem </a:t>
            </a:r>
            <a:r>
              <a:rPr lang="pt-BR" b="1" noProof="0" dirty="0">
                <a:solidFill>
                  <a:srgbClr val="7030A0"/>
                </a:solidFill>
              </a:rPr>
              <a:t>ordem ou hierarquia</a:t>
            </a:r>
            <a:r>
              <a:rPr lang="pt-BR" noProof="0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noProof="0" dirty="0" err="1"/>
              <a:t>or</a:t>
            </a:r>
            <a:r>
              <a:rPr lang="pt-BR" noProof="0" dirty="0"/>
              <a:t> exemplo, tamanho de roupas: P=0, M=1, G=2.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Existe uma </a:t>
            </a:r>
            <a:r>
              <a:rPr lang="pt-BR" b="1" dirty="0"/>
              <a:t>ordem real</a:t>
            </a:r>
            <a:r>
              <a:rPr lang="pt-BR" dirty="0"/>
              <a:t>: P &lt; M &lt; G.</a:t>
            </a:r>
            <a:endParaRPr lang="pt-BR" noProof="0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629611F3-BA2F-01EA-B485-DBC1B53A843C}"/>
              </a:ext>
            </a:extLst>
          </p:cNvPr>
          <p:cNvGrpSpPr/>
          <p:nvPr/>
        </p:nvGrpSpPr>
        <p:grpSpPr>
          <a:xfrm>
            <a:off x="73651" y="2570748"/>
            <a:ext cx="5363174" cy="2491108"/>
            <a:chOff x="204283" y="2570748"/>
            <a:chExt cx="5363174" cy="249110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529D32B-8978-31FB-62B1-9E8E3D400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71854768-2470-C9E2-78AD-3CDB97E52FC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F6A173A7-D63D-F612-1BCB-1AFF88B80D2B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1BE54-26F4-ABC0-7BC0-5A041E99D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F2D17-1B55-E33E-D5AC-EA02B0CB5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F6AF0-B741-B2F9-3ACB-CAE98548D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2545" y="1825624"/>
            <a:ext cx="6719455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Quando usar:</a:t>
            </a:r>
            <a:r>
              <a:rPr lang="pt-BR" noProof="0" dirty="0"/>
              <a:t> </a:t>
            </a:r>
            <a:r>
              <a:rPr lang="pt-BR" b="1" dirty="0">
                <a:solidFill>
                  <a:srgbClr val="00B0F0"/>
                </a:solidFill>
              </a:rPr>
              <a:t>apenas com rótulos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ou </a:t>
            </a:r>
            <a:r>
              <a:rPr lang="pt-BR" noProof="0" dirty="0"/>
              <a:t>quando o </a:t>
            </a:r>
            <a:r>
              <a:rPr lang="pt-BR" b="1" noProof="0" dirty="0">
                <a:solidFill>
                  <a:schemeClr val="accent2"/>
                </a:solidFill>
              </a:rPr>
              <a:t>atributo possuir ordem ou hierarquia</a:t>
            </a:r>
            <a:r>
              <a:rPr lang="pt-BR" noProof="0" dirty="0"/>
              <a:t> (</a:t>
            </a:r>
            <a:r>
              <a:rPr lang="pt-BR" i="1" noProof="0" dirty="0"/>
              <a:t>ordinal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Caso contrário, usar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noProof="0" dirty="0"/>
              <a:t> pode introduzir uma </a:t>
            </a:r>
            <a:r>
              <a:rPr lang="pt-BR" b="1" noProof="0" dirty="0">
                <a:solidFill>
                  <a:srgbClr val="7030A0"/>
                </a:solidFill>
              </a:rPr>
              <a:t>relação de ordem falsa</a:t>
            </a:r>
            <a:r>
              <a:rPr lang="pt-BR" noProof="0" dirty="0"/>
              <a:t>, prejudicando </a:t>
            </a:r>
            <a:r>
              <a:rPr lang="pt-BR" b="1" noProof="0" dirty="0">
                <a:solidFill>
                  <a:srgbClr val="00B050"/>
                </a:solidFill>
              </a:rPr>
              <a:t>modelos que interpretam os códigos como valores numéricos </a:t>
            </a:r>
            <a:r>
              <a:rPr lang="pt-BR" noProof="0" dirty="0"/>
              <a:t>(e.g., regressor linear, KNN e k-</a:t>
            </a:r>
            <a:r>
              <a:rPr lang="pt-BR" noProof="0" dirty="0" err="1"/>
              <a:t>Means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Por exemplo, na figura, </a:t>
            </a:r>
            <a:r>
              <a:rPr lang="pt-BR" b="1" noProof="0" dirty="0"/>
              <a:t>não existe uma relação de ordem entre as cores: </a:t>
            </a:r>
            <a:r>
              <a:rPr lang="pt-BR" noProof="0" dirty="0" err="1"/>
              <a:t>Red</a:t>
            </a:r>
            <a:r>
              <a:rPr lang="pt-BR" noProof="0" dirty="0"/>
              <a:t> &lt; Green &lt; Blue.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1A2AA811-9C12-C6DA-F5FC-8EEC77455865}"/>
              </a:ext>
            </a:extLst>
          </p:cNvPr>
          <p:cNvGrpSpPr/>
          <p:nvPr/>
        </p:nvGrpSpPr>
        <p:grpSpPr>
          <a:xfrm>
            <a:off x="236937" y="2603405"/>
            <a:ext cx="5363174" cy="2491108"/>
            <a:chOff x="204283" y="2570748"/>
            <a:chExt cx="5363174" cy="2491108"/>
          </a:xfrm>
        </p:grpSpPr>
        <p:pic>
          <p:nvPicPr>
            <p:cNvPr id="5" name="Picture 7">
              <a:extLst>
                <a:ext uri="{FF2B5EF4-FFF2-40B4-BE49-F238E27FC236}">
                  <a16:creationId xmlns:a16="http://schemas.microsoft.com/office/drawing/2014/main" id="{ECA447B4-8678-E08F-4C10-35C1EDD69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31A6321-76FE-1DAB-86DD-5D5D9D69F27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610C9D61-2288-A2C4-704D-060CA0B85AE0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23870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57" y="1825625"/>
            <a:ext cx="6444343" cy="5032375"/>
          </a:xfrm>
        </p:spPr>
        <p:txBody>
          <a:bodyPr>
            <a:normAutofit/>
          </a:bodyPr>
          <a:lstStyle/>
          <a:p>
            <a:r>
              <a:rPr lang="pt-BR" dirty="0"/>
              <a:t>Em vez de usar números arbitrários (</a:t>
            </a:r>
            <a:r>
              <a:rPr lang="pt-BR" b="1" i="1" dirty="0" err="1"/>
              <a:t>Label</a:t>
            </a:r>
            <a:r>
              <a:rPr lang="pt-BR" b="1" i="1" dirty="0"/>
              <a:t>/Ordinal </a:t>
            </a:r>
            <a:r>
              <a:rPr lang="pt-BR" b="1" i="1" dirty="0" err="1"/>
              <a:t>Encoding</a:t>
            </a:r>
            <a:r>
              <a:rPr lang="pt-BR" dirty="0"/>
              <a:t>) ou criar várias colunas (</a:t>
            </a:r>
            <a:r>
              <a:rPr lang="pt-BR" b="1" i="1" dirty="0" err="1"/>
              <a:t>One</a:t>
            </a:r>
            <a:r>
              <a:rPr lang="pt-BR" b="1" i="1" dirty="0"/>
              <a:t>-Hot </a:t>
            </a:r>
            <a:r>
              <a:rPr lang="pt-BR" b="1" i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extraída da </a:t>
            </a:r>
            <a:r>
              <a:rPr lang="pt-BR" b="1" dirty="0">
                <a:solidFill>
                  <a:schemeClr val="accent1"/>
                </a:solidFill>
              </a:rPr>
              <a:t>variável alvo (i.e., rótulo)</a:t>
            </a:r>
            <a:r>
              <a:rPr lang="pt-BR" dirty="0"/>
              <a:t>.</a:t>
            </a:r>
          </a:p>
          <a:p>
            <a:r>
              <a:rPr lang="pt-BR" dirty="0"/>
              <a:t>Substitui </a:t>
            </a:r>
            <a:r>
              <a:rPr lang="pt-BR" b="1" dirty="0">
                <a:solidFill>
                  <a:srgbClr val="00B050"/>
                </a:solidFill>
              </a:rPr>
              <a:t>cada categoria de um atributo </a:t>
            </a:r>
            <a:r>
              <a:rPr lang="pt-BR" dirty="0"/>
              <a:t>pela </a:t>
            </a:r>
            <a:r>
              <a:rPr lang="pt-BR" b="1" dirty="0">
                <a:solidFill>
                  <a:srgbClr val="7030A0"/>
                </a:solidFill>
              </a:rPr>
              <a:t>média do valor do rótulo</a:t>
            </a:r>
            <a:r>
              <a:rPr lang="pt-BR" dirty="0"/>
              <a:t> correspondente àquela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Útil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0E93EB7-CF75-0ECD-107B-45D0EB7789D2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52ACB53-D4C2-C123-5775-AE089EA6B362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B9AFBB5-5460-BC22-C425-37D0A6E88658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B3D0426-F194-92F1-8940-EE59D0CAF924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D80FA95-5A7E-B33A-F0E0-309FD6C2EC4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47F9-36E3-BB7D-BE3A-BC9CDAF93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7A34-E6CC-477D-4263-3C881F34D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1C2A9-9D68-7B83-C72F-7FE4A4FCE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942" y="1825624"/>
            <a:ext cx="6662057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data </a:t>
            </a:r>
            <a:r>
              <a:rPr lang="pt-BR" i="1" noProof="0" dirty="0" err="1"/>
              <a:t>leakage</a:t>
            </a:r>
            <a:r>
              <a:rPr lang="pt-BR" noProof="0" dirty="0"/>
              <a:t> e </a:t>
            </a:r>
            <a:r>
              <a:rPr lang="pt-BR" i="1" noProof="0" dirty="0" err="1"/>
              <a:t>overfitting</a:t>
            </a:r>
            <a:r>
              <a:rPr lang="pt-BR" noProof="0" dirty="0"/>
              <a:t>, especialmente em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noProof="0" dirty="0"/>
              <a:t>Data </a:t>
            </a:r>
            <a:r>
              <a:rPr lang="pt-BR" b="1" i="1" noProof="0" dirty="0" err="1"/>
              <a:t>leakage</a:t>
            </a:r>
            <a:r>
              <a:rPr lang="pt-BR" b="1" noProof="0" dirty="0"/>
              <a:t>:</a:t>
            </a:r>
            <a:r>
              <a:rPr lang="pt-BR" noProof="0" dirty="0"/>
              <a:t> ocorre se os </a:t>
            </a:r>
            <a:r>
              <a:rPr lang="pt-BR" b="1" noProof="0" dirty="0">
                <a:solidFill>
                  <a:schemeClr val="accent1"/>
                </a:solidFill>
              </a:rPr>
              <a:t>rótulos do conjunto de validação/teste forem utilizados na codificação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Usar apenas conjunto de treinamento.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Categorias raras:</a:t>
            </a:r>
            <a:r>
              <a:rPr lang="pt-BR" noProof="0" dirty="0"/>
              <a:t> poucas observações podem produzir </a:t>
            </a:r>
            <a:r>
              <a:rPr lang="pt-BR" b="1" noProof="0" dirty="0">
                <a:solidFill>
                  <a:schemeClr val="accent1"/>
                </a:solidFill>
              </a:rPr>
              <a:t>estimativas de média instáveis </a:t>
            </a:r>
            <a:r>
              <a:rPr lang="pt-BR" noProof="0" dirty="0"/>
              <a:t>(i.e., ruidosas).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3712F927-3FFE-9BB8-9B42-9D67BB0C91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FEF0253-27B5-8A1C-8AF9-117740E8F5AF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2F2E856-9CBE-4B2E-3888-BE07F4350DE8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4FF057D-1D3E-E75A-B566-12E821F655B4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58F44C6-595F-C678-DBC7-DEBA3D2EC862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6A6D904-14FD-282C-454E-2F34B481277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1938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098" y="1825625"/>
            <a:ext cx="669290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Cada </a:t>
            </a:r>
            <a:r>
              <a:rPr lang="pt-BR" b="1" noProof="0" dirty="0">
                <a:solidFill>
                  <a:schemeClr val="accent1"/>
                </a:solidFill>
              </a:rPr>
              <a:t>categoria recebe um número inteiro </a:t>
            </a:r>
            <a:r>
              <a:rPr lang="pt-BR" noProof="0" dirty="0"/>
              <a:t>(</a:t>
            </a:r>
            <a:r>
              <a:rPr lang="pt-BR" i="1" noProof="0" dirty="0" err="1"/>
              <a:t>Label</a:t>
            </a:r>
            <a:r>
              <a:rPr lang="pt-BR" noProof="0" dirty="0"/>
              <a:t>) que é </a:t>
            </a:r>
            <a:r>
              <a:rPr lang="pt-BR" b="1" noProof="0" dirty="0">
                <a:solidFill>
                  <a:schemeClr val="accent1"/>
                </a:solidFill>
              </a:rPr>
              <a:t>convertido para sua representação binária</a:t>
            </a:r>
            <a:r>
              <a:rPr lang="pt-BR" noProof="0" dirty="0"/>
              <a:t>, criando colunas para cada </a:t>
            </a:r>
            <a:r>
              <a:rPr lang="pt-BR" i="1" noProof="0" dirty="0"/>
              <a:t>bit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Quando usar:</a:t>
            </a:r>
            <a:r>
              <a:rPr lang="pt-BR" noProof="0" dirty="0"/>
              <a:t>  Útil para atributos de </a:t>
            </a:r>
            <a:r>
              <a:rPr lang="pt-BR" b="1" noProof="0" dirty="0">
                <a:solidFill>
                  <a:schemeClr val="accent2"/>
                </a:solidFill>
              </a:rPr>
              <a:t>alta cardinalidade</a:t>
            </a:r>
            <a:r>
              <a:rPr lang="pt-BR" noProof="0" dirty="0"/>
              <a:t>.</a:t>
            </a:r>
          </a:p>
          <a:p>
            <a:r>
              <a:rPr lang="pt-BR" noProof="0" dirty="0"/>
              <a:t>O número de colunas adicionais </a:t>
            </a:r>
            <a:r>
              <a:rPr lang="pt-BR" b="1" noProof="0" dirty="0">
                <a:solidFill>
                  <a:srgbClr val="00B050"/>
                </a:solidFill>
              </a:rPr>
              <a:t>cresce de forma logarítmica</a:t>
            </a:r>
            <a:r>
              <a:rPr lang="pt-BR" noProof="0" dirty="0"/>
              <a:t>, em vez de crescer linearmente como no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um atributo com 4 categorias, exigiria 2 colunas ao invés de 4 com o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.</a:t>
            </a:r>
            <a:endParaRPr lang="pt-BR" noProof="0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33DB7AC-C788-9C11-438C-72E37C1AA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258665"/>
              </p:ext>
            </p:extLst>
          </p:nvPr>
        </p:nvGraphicFramePr>
        <p:xfrm>
          <a:off x="330199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6B97648-B236-103B-6E37-82247EC0D8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212194"/>
              </p:ext>
            </p:extLst>
          </p:nvPr>
        </p:nvGraphicFramePr>
        <p:xfrm>
          <a:off x="1799771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FE85DCDA-AB92-4219-6A1C-448BE8FE5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79457"/>
              </p:ext>
            </p:extLst>
          </p:nvPr>
        </p:nvGraphicFramePr>
        <p:xfrm>
          <a:off x="3285670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19285A5F-440B-0F0E-CA90-AEED8634E6D6}"/>
              </a:ext>
            </a:extLst>
          </p:cNvPr>
          <p:cNvSpPr txBox="1"/>
          <p:nvPr/>
        </p:nvSpPr>
        <p:spPr>
          <a:xfrm>
            <a:off x="330199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AFEE8A7-9C6D-1E81-9E8B-C3992D629254}"/>
              </a:ext>
            </a:extLst>
          </p:cNvPr>
          <p:cNvSpPr txBox="1"/>
          <p:nvPr/>
        </p:nvSpPr>
        <p:spPr>
          <a:xfrm>
            <a:off x="1815192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F6FC0D0-46E1-11C2-0D8C-5EC422B9D872}"/>
              </a:ext>
            </a:extLst>
          </p:cNvPr>
          <p:cNvSpPr txBox="1"/>
          <p:nvPr/>
        </p:nvSpPr>
        <p:spPr>
          <a:xfrm>
            <a:off x="3285670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E74122E2-0E03-547E-179F-0F89C5FDA46C}"/>
              </a:ext>
            </a:extLst>
          </p:cNvPr>
          <p:cNvSpPr/>
          <p:nvPr/>
        </p:nvSpPr>
        <p:spPr>
          <a:xfrm>
            <a:off x="2949574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4E40A058-1C2F-7DF8-DDB1-AC22185FEDB6}"/>
              </a:ext>
            </a:extLst>
          </p:cNvPr>
          <p:cNvSpPr/>
          <p:nvPr/>
        </p:nvSpPr>
        <p:spPr>
          <a:xfrm>
            <a:off x="1471837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D446C-D2CD-A42F-E647-EA154C5CB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BD6AC-1B29-65D4-720A-F48BA4EC1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5A9F6-A8AB-54FE-6DD8-091BC8E4D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0342" y="1825625"/>
            <a:ext cx="7271658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Vantagem: </a:t>
            </a:r>
            <a:r>
              <a:rPr lang="pt-BR" b="1" noProof="0" dirty="0">
                <a:solidFill>
                  <a:srgbClr val="00B050"/>
                </a:solidFill>
              </a:rPr>
              <a:t>Reduz a dimensionalidade</a:t>
            </a:r>
            <a:r>
              <a:rPr lang="pt-BR" noProof="0" dirty="0"/>
              <a:t> em atributos de alta cardinalidade, </a:t>
            </a:r>
            <a:r>
              <a:rPr lang="pt-BR" b="1" noProof="0" dirty="0">
                <a:solidFill>
                  <a:srgbClr val="7030A0"/>
                </a:solidFill>
              </a:rPr>
              <a:t>diminuindo o custo computacional </a:t>
            </a:r>
            <a:r>
              <a:rPr lang="pt-BR" noProof="0" dirty="0"/>
              <a:t>e </a:t>
            </a:r>
            <a:r>
              <a:rPr lang="pt-BR" b="1" dirty="0">
                <a:solidFill>
                  <a:schemeClr val="accent1"/>
                </a:solidFill>
              </a:rPr>
              <a:t>reduzindo problemas associados à alta dimensionalidade</a:t>
            </a:r>
            <a:r>
              <a:rPr lang="pt-BR" noProof="0" dirty="0"/>
              <a:t>.</a:t>
            </a:r>
            <a:endParaRPr lang="pt-BR" b="1" noProof="0" dirty="0"/>
          </a:p>
          <a:p>
            <a:r>
              <a:rPr lang="pt-BR" b="1" noProof="0" dirty="0"/>
              <a:t>Desvantagens</a:t>
            </a:r>
            <a:r>
              <a:rPr lang="pt-BR" noProof="0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mapeamento</a:t>
            </a:r>
            <a:r>
              <a:rPr lang="pt-BR" dirty="0"/>
              <a:t> da categoria em um inteiro </a:t>
            </a:r>
            <a:r>
              <a:rPr lang="pt-BR" b="1" dirty="0">
                <a:solidFill>
                  <a:schemeClr val="accent2"/>
                </a:solidFill>
              </a:rPr>
              <a:t>é arbitrário</a:t>
            </a:r>
            <a:r>
              <a:rPr lang="pt-BR" dirty="0"/>
              <a:t> e pode </a:t>
            </a:r>
            <a:r>
              <a:rPr lang="pt-BR" b="1" dirty="0">
                <a:solidFill>
                  <a:schemeClr val="accent2"/>
                </a:solidFill>
              </a:rPr>
              <a:t>afetar o desempenho </a:t>
            </a:r>
            <a:r>
              <a:rPr lang="pt-BR" dirty="0"/>
              <a:t>de alguns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categorias são representadas por </a:t>
            </a:r>
            <a:r>
              <a:rPr lang="pt-BR" b="1" i="1" dirty="0"/>
              <a:t>bits</a:t>
            </a:r>
            <a:r>
              <a:rPr lang="pt-BR" b="1" dirty="0"/>
              <a:t> compartilhados</a:t>
            </a:r>
            <a:r>
              <a:rPr lang="pt-BR" dirty="0"/>
              <a:t>, </a:t>
            </a:r>
            <a:r>
              <a:rPr lang="pt-BR" b="1" dirty="0">
                <a:solidFill>
                  <a:srgbClr val="00B0F0"/>
                </a:solidFill>
              </a:rPr>
              <a:t>modelos lineares podem não representar</a:t>
            </a:r>
            <a:r>
              <a:rPr lang="pt-BR" dirty="0"/>
              <a:t> adequadamente </a:t>
            </a:r>
            <a:r>
              <a:rPr lang="pt-BR" b="1" dirty="0">
                <a:solidFill>
                  <a:srgbClr val="00B0F0"/>
                </a:solidFill>
              </a:rPr>
              <a:t>relações arbitrárias entre categorias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Modelos baseados em árvores lidam bem com isso.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E0DBA1CB-619E-6013-61DB-6F661A96A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56131"/>
              </p:ext>
            </p:extLst>
          </p:nvPr>
        </p:nvGraphicFramePr>
        <p:xfrm>
          <a:off x="156025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228B348A-91CF-B22F-384F-9E3453DCB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68646"/>
              </p:ext>
            </p:extLst>
          </p:nvPr>
        </p:nvGraphicFramePr>
        <p:xfrm>
          <a:off x="1625597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9D657C8-8900-7C10-9FA4-286D78D5F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934471"/>
              </p:ext>
            </p:extLst>
          </p:nvPr>
        </p:nvGraphicFramePr>
        <p:xfrm>
          <a:off x="3111496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2F80B181-5154-B834-D6B2-602D727B3D29}"/>
              </a:ext>
            </a:extLst>
          </p:cNvPr>
          <p:cNvSpPr txBox="1"/>
          <p:nvPr/>
        </p:nvSpPr>
        <p:spPr>
          <a:xfrm>
            <a:off x="156025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7D2111-848A-1CEF-D7D9-307ACB519DEA}"/>
              </a:ext>
            </a:extLst>
          </p:cNvPr>
          <p:cNvSpPr txBox="1"/>
          <p:nvPr/>
        </p:nvSpPr>
        <p:spPr>
          <a:xfrm>
            <a:off x="1641018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9C38DF6-9D8B-6CA5-5FFB-B33A7EC02EBC}"/>
              </a:ext>
            </a:extLst>
          </p:cNvPr>
          <p:cNvSpPr txBox="1"/>
          <p:nvPr/>
        </p:nvSpPr>
        <p:spPr>
          <a:xfrm>
            <a:off x="3111496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5EBBFA7B-7A25-6B0C-DF81-41317DFB1E30}"/>
              </a:ext>
            </a:extLst>
          </p:cNvPr>
          <p:cNvSpPr/>
          <p:nvPr/>
        </p:nvSpPr>
        <p:spPr>
          <a:xfrm>
            <a:off x="2775400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AA2D5669-6B79-AFB9-1CBF-D41C3C83E4DD}"/>
              </a:ext>
            </a:extLst>
          </p:cNvPr>
          <p:cNvSpPr/>
          <p:nvPr/>
        </p:nvSpPr>
        <p:spPr>
          <a:xfrm>
            <a:off x="1297663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588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b="1" dirty="0">
                    <a:solidFill>
                      <a:schemeClr val="accent6"/>
                    </a:solidFill>
                  </a:rPr>
                  <a:t>Processo 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criar atributos</a:t>
                </a:r>
                <a:r>
                  <a:rPr lang="pt-BR" b="1" dirty="0">
                    <a:solidFill>
                      <a:schemeClr val="accent6"/>
                    </a:solidFill>
                  </a:rPr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relevantes</a:t>
                </a:r>
                <a:r>
                  <a:rPr lang="pt-BR" dirty="0"/>
                  <a:t> (mais úteis e informativos) a </a:t>
                </a:r>
                <a:r>
                  <a:rPr lang="pt-BR" b="1" dirty="0">
                    <a:solidFill>
                      <a:schemeClr val="accent6"/>
                    </a:solidFill>
                  </a:rPr>
                  <a:t>partir dos existentes</a:t>
                </a:r>
                <a:r>
                  <a:rPr lang="pt-BR" dirty="0"/>
                  <a:t> para melhorar o desempenho de um modelo de ML.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generalização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codificação de atributos é considerada uma forma de engenharia de atributos.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2663" r="-1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54CC983-E5A6-EA4D-A9D8-6C42575F0CAD}"/>
              </a:ext>
            </a:extLst>
          </p:cNvPr>
          <p:cNvSpPr txBox="1"/>
          <p:nvPr/>
        </p:nvSpPr>
        <p:spPr>
          <a:xfrm>
            <a:off x="6814457" y="2547256"/>
            <a:ext cx="49747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noProof="0">
                <a:solidFill>
                  <a:schemeClr val="accent2"/>
                </a:solidFill>
              </a:rPr>
              <a:t>Utilizamos o raciocínio humano e o conhecimento de negócio para criar novas variáveis.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Definição</a:t>
            </a:r>
            <a:r>
              <a:rPr lang="pt-BR" noProof="0" dirty="0"/>
              <a:t>: Processo que </a:t>
            </a:r>
            <a:r>
              <a:rPr lang="pt-BR" b="1" noProof="0" dirty="0">
                <a:solidFill>
                  <a:schemeClr val="accent2"/>
                </a:solidFill>
              </a:rPr>
              <a:t>transforma os dados originais </a:t>
            </a:r>
            <a:r>
              <a:rPr lang="pt-BR" dirty="0"/>
              <a:t>em</a:t>
            </a:r>
            <a:r>
              <a:rPr lang="pt-BR" b="1" noProof="0" dirty="0">
                <a:solidFill>
                  <a:schemeClr val="accent2"/>
                </a:solidFill>
              </a:rPr>
              <a:t> </a:t>
            </a:r>
            <a:r>
              <a:rPr lang="pt-BR" dirty="0"/>
              <a:t>uma </a:t>
            </a:r>
            <a:r>
              <a:rPr lang="pt-BR" b="1" dirty="0">
                <a:solidFill>
                  <a:srgbClr val="00B050"/>
                </a:solidFill>
              </a:rPr>
              <a:t>representação numérica mais adequada ou eficiente</a:t>
            </a:r>
            <a:r>
              <a:rPr lang="pt-BR" dirty="0"/>
              <a:t> para um algoritmo de aprendizado.</a:t>
            </a:r>
            <a:endParaRPr lang="pt-BR" noProof="0" dirty="0"/>
          </a:p>
          <a:p>
            <a:r>
              <a:rPr lang="pt-BR" b="1" noProof="0" dirty="0"/>
              <a:t>Por que fazer</a:t>
            </a:r>
            <a:r>
              <a:rPr lang="pt-BR" noProof="0" dirty="0"/>
              <a:t>? </a:t>
            </a:r>
            <a:r>
              <a:rPr lang="pt-BR" b="1" noProof="0" dirty="0"/>
              <a:t>Para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tornar o dado utilizável pelo algoritmo (e.g., transformar texto em números),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destacar informação relevante,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redundância e ruído,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melhorar o desempenho do modelo (dados mais informativos e menos ruidosos).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noProof="0" dirty="0"/>
              <a:t>eduzir a dimensionalidade, mas </a:t>
            </a:r>
            <a:r>
              <a:rPr lang="pt-BR" b="1" dirty="0">
                <a:solidFill>
                  <a:schemeClr val="accent6"/>
                </a:solidFill>
              </a:rPr>
              <a:t>perde-se parte da informação </a:t>
            </a:r>
            <a:r>
              <a:rPr lang="pt-BR" dirty="0"/>
              <a:t>no processo.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noProof="0" dirty="0"/>
              <a:t>eduzir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</a:t>
            </a:r>
            <a:r>
              <a:rPr lang="pt-BR" noProof="0" dirty="0" err="1"/>
              <a:t>celerar</a:t>
            </a:r>
            <a:r>
              <a:rPr lang="pt-BR" noProof="0" dirty="0"/>
              <a:t> o treinamento,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2286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Dados tabulares: </a:t>
            </a:r>
            <a:r>
              <a:rPr lang="pt-BR" noProof="0" dirty="0"/>
              <a:t>Análise de componentes principais (PCA) e análise de componentes independentes (ICA).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Em geral, o objetivo é reduzir o número de atributos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Criam novos </a:t>
            </a:r>
            <a:r>
              <a:rPr lang="pt-BR" b="1" noProof="0" dirty="0">
                <a:solidFill>
                  <a:schemeClr val="accent2"/>
                </a:solidFill>
              </a:rPr>
              <a:t>atributos não correlacionados</a:t>
            </a:r>
            <a:r>
              <a:rPr lang="pt-BR" b="1" noProof="0" dirty="0">
                <a:solidFill>
                  <a:srgbClr val="7030A0"/>
                </a:solidFill>
              </a:rPr>
              <a:t> </a:t>
            </a:r>
            <a:r>
              <a:rPr lang="pt-BR" noProof="0" dirty="0"/>
              <a:t>que </a:t>
            </a:r>
            <a:r>
              <a:rPr lang="pt-BR" b="1" noProof="0" dirty="0">
                <a:solidFill>
                  <a:srgbClr val="7030A0"/>
                </a:solidFill>
              </a:rPr>
              <a:t>capturam as direções de máxima variância </a:t>
            </a:r>
            <a:r>
              <a:rPr lang="pt-BR" noProof="0" dirty="0"/>
              <a:t>(PCA) ou</a:t>
            </a:r>
            <a:r>
              <a:rPr lang="pt-BR" b="1" noProof="0" dirty="0">
                <a:solidFill>
                  <a:srgbClr val="7030A0"/>
                </a:solidFill>
              </a:rPr>
              <a:t> atributos que são independentes </a:t>
            </a:r>
            <a:r>
              <a:rPr lang="pt-BR" noProof="0" dirty="0"/>
              <a:t>(ICA).</a:t>
            </a:r>
          </a:p>
          <a:p>
            <a:r>
              <a:rPr lang="pt-BR" b="1" noProof="0" dirty="0"/>
              <a:t>Texto</a:t>
            </a:r>
            <a:r>
              <a:rPr lang="pt-BR" noProof="0" dirty="0"/>
              <a:t>: </a:t>
            </a:r>
            <a:r>
              <a:rPr lang="pt-BR" i="1" noProof="0" dirty="0"/>
              <a:t>Bag </a:t>
            </a:r>
            <a:r>
              <a:rPr lang="pt-BR" i="1" noProof="0" dirty="0" err="1"/>
              <a:t>of</a:t>
            </a:r>
            <a:r>
              <a:rPr lang="pt-BR" i="1" noProof="0" dirty="0"/>
              <a:t> words </a:t>
            </a:r>
            <a:r>
              <a:rPr lang="pt-BR" noProof="0" dirty="0"/>
              <a:t>(</a:t>
            </a:r>
            <a:r>
              <a:rPr lang="pt-BR" noProof="0" dirty="0" err="1"/>
              <a:t>BoW</a:t>
            </a:r>
            <a:r>
              <a:rPr lang="pt-BR" noProof="0" dirty="0"/>
              <a:t>), </a:t>
            </a:r>
            <a:r>
              <a:rPr lang="pt-BR" i="1" noProof="0" dirty="0" err="1"/>
              <a:t>Term</a:t>
            </a:r>
            <a:r>
              <a:rPr lang="pt-BR" i="1" noProof="0" dirty="0"/>
              <a:t> Frequency-</a:t>
            </a:r>
            <a:r>
              <a:rPr lang="pt-BR" i="1" noProof="0" dirty="0" err="1"/>
              <a:t>Inverse</a:t>
            </a:r>
            <a:r>
              <a:rPr lang="pt-BR" i="1" noProof="0" dirty="0"/>
              <a:t> </a:t>
            </a:r>
            <a:r>
              <a:rPr lang="pt-BR" i="1" noProof="0" dirty="0" err="1"/>
              <a:t>Document</a:t>
            </a:r>
            <a:r>
              <a:rPr lang="pt-BR" i="1" noProof="0" dirty="0"/>
              <a:t> Frequency</a:t>
            </a:r>
            <a:r>
              <a:rPr lang="pt-BR" noProof="0" dirty="0"/>
              <a:t> (TF-IDF), </a:t>
            </a:r>
            <a:r>
              <a:rPr lang="pt-BR" i="1" noProof="0" dirty="0"/>
              <a:t>Word </a:t>
            </a:r>
            <a:r>
              <a:rPr lang="pt-BR" i="1" noProof="0" dirty="0" err="1"/>
              <a:t>Embeddings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50"/>
                </a:solidFill>
              </a:rPr>
              <a:t>Transformam texto em representações numéricas</a:t>
            </a:r>
            <a:r>
              <a:rPr lang="pt-BR" noProof="0" dirty="0"/>
              <a:t>, variando da </a:t>
            </a:r>
            <a:r>
              <a:rPr lang="pt-BR" b="1" noProof="0" dirty="0">
                <a:solidFill>
                  <a:srgbClr val="00B050"/>
                </a:solidFill>
              </a:rPr>
              <a:t>frequência de palavras </a:t>
            </a:r>
            <a:r>
              <a:rPr lang="pt-BR" noProof="0" dirty="0"/>
              <a:t>até </a:t>
            </a:r>
            <a:r>
              <a:rPr lang="pt-BR" b="1" noProof="0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OBS.: modelos de ML entendem apenas números.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014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Imagem</a:t>
            </a:r>
            <a:r>
              <a:rPr lang="pt-BR" noProof="0" dirty="0"/>
              <a:t>: </a:t>
            </a:r>
            <a:r>
              <a:rPr lang="pt-BR" i="1" noProof="0" dirty="0" err="1"/>
              <a:t>Histogram</a:t>
            </a:r>
            <a:r>
              <a:rPr lang="pt-BR" i="1" noProof="0" dirty="0"/>
              <a:t> </a:t>
            </a:r>
            <a:r>
              <a:rPr lang="pt-BR" i="1" noProof="0" dirty="0" err="1"/>
              <a:t>of</a:t>
            </a:r>
            <a:r>
              <a:rPr lang="pt-BR" i="1" noProof="0" dirty="0"/>
              <a:t> </a:t>
            </a:r>
            <a:r>
              <a:rPr lang="pt-BR" i="1" noProof="0" dirty="0" err="1"/>
              <a:t>Oriented</a:t>
            </a:r>
            <a:r>
              <a:rPr lang="pt-BR" i="1" noProof="0" dirty="0"/>
              <a:t> </a:t>
            </a:r>
            <a:r>
              <a:rPr lang="pt-BR" i="1" noProof="0" dirty="0" err="1"/>
              <a:t>Gradients</a:t>
            </a:r>
            <a:r>
              <a:rPr lang="pt-BR" noProof="0" dirty="0"/>
              <a:t> (HOG), </a:t>
            </a:r>
            <a:r>
              <a:rPr lang="pt-BR" i="1" noProof="0" dirty="0" err="1"/>
              <a:t>Scale-Invariant</a:t>
            </a:r>
            <a:r>
              <a:rPr lang="pt-BR" i="1" noProof="0" dirty="0"/>
              <a:t> Feature </a:t>
            </a:r>
            <a:r>
              <a:rPr lang="pt-BR" i="1" noProof="0" dirty="0" err="1"/>
              <a:t>Transform</a:t>
            </a:r>
            <a:r>
              <a:rPr lang="pt-BR" noProof="0" dirty="0"/>
              <a:t> (SIFT), </a:t>
            </a:r>
            <a:r>
              <a:rPr lang="pt-BR" i="1" noProof="0" dirty="0" err="1"/>
              <a:t>Convolutional</a:t>
            </a:r>
            <a:r>
              <a:rPr lang="pt-BR" i="1" noProof="0" dirty="0"/>
              <a:t> Neural Network</a:t>
            </a:r>
            <a:r>
              <a:rPr lang="pt-BR" noProof="0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chemeClr val="accent2"/>
                </a:solidFill>
              </a:rPr>
              <a:t>Transformam os </a:t>
            </a:r>
            <a:r>
              <a:rPr lang="pt-BR" b="1" i="1" noProof="0" dirty="0">
                <a:solidFill>
                  <a:schemeClr val="accent2"/>
                </a:solidFill>
              </a:rPr>
              <a:t>pixels</a:t>
            </a:r>
            <a:r>
              <a:rPr lang="pt-BR" b="1" noProof="0" dirty="0">
                <a:solidFill>
                  <a:schemeClr val="accent2"/>
                </a:solidFill>
              </a:rPr>
              <a:t> de uma imagem em representações numéricas que capturam padrões visuais</a:t>
            </a:r>
            <a:r>
              <a:rPr lang="pt-BR" noProof="0" dirty="0"/>
              <a:t>, como bordas, texturas, cores e estruturas semânticas, para </a:t>
            </a:r>
            <a:r>
              <a:rPr lang="pt-BR" b="1" noProof="0" dirty="0">
                <a:solidFill>
                  <a:srgbClr val="00B0F0"/>
                </a:solidFill>
              </a:rPr>
              <a:t>facilitar o aprendizado dos modelos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Áudio e séries temporais</a:t>
            </a:r>
            <a:r>
              <a:rPr lang="pt-BR" noProof="0" dirty="0"/>
              <a:t>: </a:t>
            </a:r>
            <a:r>
              <a:rPr lang="pt-BR" i="1" noProof="0" dirty="0"/>
              <a:t>Mel-</a:t>
            </a:r>
            <a:r>
              <a:rPr lang="pt-BR" i="1" noProof="0" dirty="0" err="1"/>
              <a:t>frequency</a:t>
            </a:r>
            <a:r>
              <a:rPr lang="pt-BR" i="1" noProof="0" dirty="0"/>
              <a:t> </a:t>
            </a:r>
            <a:r>
              <a:rPr lang="pt-BR" i="1" noProof="0" dirty="0" err="1"/>
              <a:t>cepstral</a:t>
            </a:r>
            <a:r>
              <a:rPr lang="pt-BR" i="1" noProof="0" dirty="0"/>
              <a:t> </a:t>
            </a:r>
            <a:r>
              <a:rPr lang="pt-BR" i="1" noProof="0" dirty="0" err="1"/>
              <a:t>coefficients</a:t>
            </a:r>
            <a:r>
              <a:rPr lang="pt-BR" noProof="0" dirty="0"/>
              <a:t> (</a:t>
            </a:r>
            <a:r>
              <a:rPr lang="pt-BR" noProof="0" dirty="0" err="1"/>
              <a:t>MFCCs</a:t>
            </a:r>
            <a:r>
              <a:rPr lang="pt-BR" noProof="0" dirty="0"/>
              <a:t>), Transformada rápida de Fourier (FFT), </a:t>
            </a:r>
            <a:r>
              <a:rPr lang="pt-BR" noProof="0" dirty="0" err="1"/>
              <a:t>Espectogramas</a:t>
            </a:r>
            <a:r>
              <a:rPr lang="pt-BR" noProof="0" dirty="0"/>
              <a:t>, Transformada de </a:t>
            </a:r>
            <a:r>
              <a:rPr lang="pt-BR" i="1" noProof="0" dirty="0" err="1"/>
              <a:t>Wavelet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Transformam os sinais em </a:t>
            </a:r>
            <a:r>
              <a:rPr lang="pt-BR" b="1" noProof="0" dirty="0">
                <a:solidFill>
                  <a:srgbClr val="00B050"/>
                </a:solidFill>
              </a:rPr>
              <a:t>representações que capturam propriedades espectrais ou de tempo-frequência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090DBA-24DF-7D0F-2F18-3327653C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Redução de dimensionalidade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BAB3E5-4775-C42F-44CE-A651D3A43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81049" cy="4351338"/>
          </a:xfrm>
        </p:spPr>
        <p:txBody>
          <a:bodyPr/>
          <a:lstStyle/>
          <a:p>
            <a:r>
              <a:rPr lang="pt-BR" noProof="0" dirty="0"/>
              <a:t>Como trabalharemos bastante com dados tabulares, vamos entender uma das técnicas mais usadas para </a:t>
            </a:r>
            <a:r>
              <a:rPr lang="pt-BR" b="1" noProof="0" dirty="0">
                <a:solidFill>
                  <a:srgbClr val="00B0F0"/>
                </a:solidFill>
              </a:rPr>
              <a:t>redução de dimensionalidade</a:t>
            </a:r>
            <a:r>
              <a:rPr lang="pt-BR" noProof="0" dirty="0"/>
              <a:t> em da</a:t>
            </a:r>
            <a:r>
              <a:rPr lang="pt-BR" dirty="0"/>
              <a:t>dos estruturados (tabulares) a</a:t>
            </a:r>
            <a:endParaRPr lang="pt-BR" noProof="0" dirty="0"/>
          </a:p>
          <a:p>
            <a:pPr marL="0" indent="0" algn="ctr">
              <a:buNone/>
            </a:pPr>
            <a:r>
              <a:rPr lang="pt-BR" sz="3600" b="1" dirty="0">
                <a:solidFill>
                  <a:srgbClr val="7030A0"/>
                </a:solidFill>
              </a:rPr>
              <a:t>A</a:t>
            </a:r>
            <a:r>
              <a:rPr lang="pt-BR" sz="3600" b="1" noProof="0" dirty="0" err="1">
                <a:solidFill>
                  <a:srgbClr val="7030A0"/>
                </a:solidFill>
              </a:rPr>
              <a:t>nálise</a:t>
            </a:r>
            <a:r>
              <a:rPr lang="pt-BR" sz="3600" b="1" noProof="0" dirty="0">
                <a:solidFill>
                  <a:srgbClr val="7030A0"/>
                </a:solidFill>
              </a:rPr>
              <a:t> de componentes principais (</a:t>
            </a:r>
            <a:r>
              <a:rPr lang="pt-BR" sz="3600" b="1" i="1" noProof="0" dirty="0">
                <a:solidFill>
                  <a:srgbClr val="7030A0"/>
                </a:solidFill>
              </a:rPr>
              <a:t>Principal </a:t>
            </a:r>
            <a:r>
              <a:rPr lang="pt-BR" sz="3600" b="1" i="1" noProof="0" dirty="0" err="1">
                <a:solidFill>
                  <a:srgbClr val="7030A0"/>
                </a:solidFill>
              </a:rPr>
              <a:t>Component</a:t>
            </a:r>
            <a:r>
              <a:rPr lang="pt-BR" sz="3600" b="1" i="1" noProof="0" dirty="0">
                <a:solidFill>
                  <a:srgbClr val="7030A0"/>
                </a:solidFill>
              </a:rPr>
              <a:t> </a:t>
            </a:r>
            <a:r>
              <a:rPr lang="pt-BR" sz="3600" b="1" i="1" noProof="0" dirty="0" err="1">
                <a:solidFill>
                  <a:srgbClr val="7030A0"/>
                </a:solidFill>
              </a:rPr>
              <a:t>Analysis</a:t>
            </a:r>
            <a:r>
              <a:rPr lang="pt-BR" sz="3600" b="1" noProof="0" dirty="0">
                <a:solidFill>
                  <a:srgbClr val="7030A0"/>
                </a:solidFill>
              </a:rPr>
              <a:t> - PCA)</a:t>
            </a:r>
          </a:p>
        </p:txBody>
      </p:sp>
    </p:spTree>
    <p:extLst>
      <p:ext uri="{BB962C8B-B14F-4D97-AF65-F5344CB8AC3E}">
        <p14:creationId xmlns:p14="http://schemas.microsoft.com/office/powerpoint/2010/main" val="1754634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7538-46AE-D2B2-22D0-FAB3BA923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46234D-D962-AB1B-C211-E1791D646674}"/>
              </a:ext>
            </a:extLst>
          </p:cNvPr>
          <p:cNvSpPr txBox="1"/>
          <p:nvPr/>
        </p:nvSpPr>
        <p:spPr>
          <a:xfrm>
            <a:off x="0" y="5288340"/>
            <a:ext cx="1219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O PCA realiza uma </a:t>
            </a:r>
            <a:r>
              <a:rPr lang="pt-BR" sz="3200" b="1" noProof="0" dirty="0">
                <a:solidFill>
                  <a:srgbClr val="7030A0"/>
                </a:solidFill>
              </a:rPr>
              <a:t>transformação linear</a:t>
            </a:r>
            <a:r>
              <a:rPr lang="pt-BR" sz="3200" noProof="0" dirty="0"/>
              <a:t> que </a:t>
            </a:r>
            <a:r>
              <a:rPr lang="pt-BR" sz="3200" b="1" noProof="0" dirty="0">
                <a:solidFill>
                  <a:schemeClr val="accent2"/>
                </a:solidFill>
              </a:rPr>
              <a:t>projeta</a:t>
            </a:r>
            <a:r>
              <a:rPr lang="pt-BR" sz="3200" noProof="0" dirty="0"/>
              <a:t> os dados originais </a:t>
            </a:r>
            <a:r>
              <a:rPr lang="pt-BR" sz="3200" b="1" noProof="0" dirty="0">
                <a:solidFill>
                  <a:schemeClr val="accent2"/>
                </a:solidFill>
              </a:rPr>
              <a:t>em um novo sistema de coordenadas</a:t>
            </a:r>
            <a:r>
              <a:rPr lang="pt-BR" sz="3200" noProof="0" dirty="0"/>
              <a:t>, definido pelas </a:t>
            </a:r>
            <a:r>
              <a:rPr lang="pt-BR" sz="3200" b="1" noProof="0" dirty="0">
                <a:solidFill>
                  <a:srgbClr val="00B050"/>
                </a:solidFill>
              </a:rPr>
              <a:t>direções que capturam a maior variância</a:t>
            </a:r>
            <a:r>
              <a:rPr lang="pt-BR" sz="3200" noProof="0" dirty="0"/>
              <a:t> presente nos dados.</a:t>
            </a:r>
            <a:endParaRPr lang="pt-BR" sz="4800" b="0" i="0" noProof="0" dirty="0"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9366A72-36ED-B11F-5E78-3470449B8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575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F1CEC-BD6E-409D-6A05-D3BEAC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9E91AC-8BC8-BB90-22EC-183A9962B9E9}"/>
              </a:ext>
            </a:extLst>
          </p:cNvPr>
          <p:cNvSpPr txBox="1"/>
          <p:nvPr/>
        </p:nvSpPr>
        <p:spPr>
          <a:xfrm>
            <a:off x="0" y="5288340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As </a:t>
            </a:r>
            <a:r>
              <a:rPr lang="pt-BR" sz="3200" b="1" noProof="0" dirty="0">
                <a:solidFill>
                  <a:srgbClr val="7030A0"/>
                </a:solidFill>
              </a:rPr>
              <a:t>direções que capturam a maior variância </a:t>
            </a:r>
            <a:r>
              <a:rPr lang="pt-BR" sz="3200" noProof="0" dirty="0"/>
              <a:t>dos dados são chamadas </a:t>
            </a:r>
            <a:r>
              <a:rPr lang="pt-BR" sz="3200" dirty="0"/>
              <a:t>de </a:t>
            </a:r>
            <a:r>
              <a:rPr lang="pt-BR" sz="3200" b="1" dirty="0">
                <a:solidFill>
                  <a:schemeClr val="accent2"/>
                </a:solidFill>
              </a:rPr>
              <a:t>componentes principais.</a:t>
            </a:r>
            <a:endParaRPr lang="pt-BR" sz="4800" b="1" i="0" noProof="0" dirty="0">
              <a:solidFill>
                <a:schemeClr val="accent2"/>
              </a:solidFill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72D2EA-67EE-D849-380D-488F81A7E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74911388-D85A-7933-0E35-DCCA17CFBF4E}"/>
              </a:ext>
            </a:extLst>
          </p:cNvPr>
          <p:cNvCxnSpPr>
            <a:cxnSpLocks/>
          </p:cNvCxnSpPr>
          <p:nvPr/>
        </p:nvCxnSpPr>
        <p:spPr>
          <a:xfrm>
            <a:off x="2304661" y="1315616"/>
            <a:ext cx="4786604" cy="25379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139766BF-808D-68E2-8D4D-3EA94E72D9B0}"/>
              </a:ext>
            </a:extLst>
          </p:cNvPr>
          <p:cNvCxnSpPr>
            <a:cxnSpLocks/>
          </p:cNvCxnSpPr>
          <p:nvPr/>
        </p:nvCxnSpPr>
        <p:spPr>
          <a:xfrm flipH="1">
            <a:off x="5290457" y="2612571"/>
            <a:ext cx="805543" cy="1147666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55D258-81F6-11E8-C88A-1B69FE5E0EE7}"/>
              </a:ext>
            </a:extLst>
          </p:cNvPr>
          <p:cNvSpPr txBox="1"/>
          <p:nvPr/>
        </p:nvSpPr>
        <p:spPr>
          <a:xfrm>
            <a:off x="643812" y="1978090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1</a:t>
            </a:r>
            <a:endParaRPr lang="en-US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DEDEFED8-D6D0-733D-6CC6-FFA18CDF6AFF}"/>
              </a:ext>
            </a:extLst>
          </p:cNvPr>
          <p:cNvCxnSpPr>
            <a:endCxn id="10" idx="0"/>
          </p:cNvCxnSpPr>
          <p:nvPr/>
        </p:nvCxnSpPr>
        <p:spPr>
          <a:xfrm flipH="1">
            <a:off x="1863954" y="1548882"/>
            <a:ext cx="729956" cy="4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99A6636-D642-42DA-D733-44AA9556AF14}"/>
              </a:ext>
            </a:extLst>
          </p:cNvPr>
          <p:cNvSpPr txBox="1"/>
          <p:nvPr/>
        </p:nvSpPr>
        <p:spPr>
          <a:xfrm>
            <a:off x="2427187" y="3774377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2</a:t>
            </a:r>
            <a:endParaRPr lang="en-US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C79C7808-8A85-E9A8-B319-02E189D813AB}"/>
              </a:ext>
            </a:extLst>
          </p:cNvPr>
          <p:cNvCxnSpPr>
            <a:cxnSpLocks/>
          </p:cNvCxnSpPr>
          <p:nvPr/>
        </p:nvCxnSpPr>
        <p:spPr>
          <a:xfrm flipH="1">
            <a:off x="4010608" y="3384149"/>
            <a:ext cx="1374710" cy="37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684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pode </a:t>
            </a:r>
            <a:r>
              <a:rPr lang="pt-BR" sz="3200" b="1" i="0" dirty="0">
                <a:solidFill>
                  <a:srgbClr val="7030A0"/>
                </a:solidFill>
                <a:effectLst/>
              </a:rPr>
              <a:t>projetar</a:t>
            </a:r>
            <a:r>
              <a:rPr lang="pt-BR" sz="3200" b="0" i="0" dirty="0">
                <a:effectLst/>
              </a:rPr>
              <a:t> dados de </a:t>
            </a:r>
            <a:r>
              <a:rPr lang="pt-BR" sz="3200" b="1" i="0" dirty="0">
                <a:solidFill>
                  <a:schemeClr val="accent2"/>
                </a:solidFill>
                <a:effectLst/>
              </a:rPr>
              <a:t>alta dimensão em um espaço de menor dimensão</a:t>
            </a:r>
            <a:r>
              <a:rPr lang="pt-BR" sz="3200" b="0" i="0" dirty="0">
                <a:effectLst/>
              </a:rPr>
              <a:t> </a:t>
            </a:r>
            <a:r>
              <a:rPr lang="pt-BR" sz="3200" b="1" i="0" dirty="0">
                <a:solidFill>
                  <a:srgbClr val="00B0F0"/>
                </a:solidFill>
                <a:effectLst/>
              </a:rPr>
              <a:t>formado por algumas </a:t>
            </a:r>
            <a:r>
              <a:rPr lang="pt-BR" sz="3200" b="0" i="0" dirty="0">
                <a:effectLst/>
              </a:rPr>
              <a:t>componentes principais.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82220A7-1B68-9DE7-C4E5-716FF00A6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encontra as </a:t>
            </a:r>
            <a:r>
              <a:rPr lang="pt-BR" b="1" noProof="0" dirty="0"/>
              <a:t>direções onde os dados mais variam</a:t>
            </a:r>
            <a:r>
              <a:rPr lang="pt-BR" noProof="0" dirty="0"/>
              <a:t> (</a:t>
            </a:r>
            <a:r>
              <a:rPr lang="pt-BR" b="1" noProof="0" dirty="0">
                <a:solidFill>
                  <a:schemeClr val="accent2"/>
                </a:solidFill>
              </a:rPr>
              <a:t>componentes principais</a:t>
            </a:r>
            <a:r>
              <a:rPr lang="pt-BR" noProof="0" dirty="0"/>
              <a:t>) e </a:t>
            </a:r>
            <a:r>
              <a:rPr lang="pt-BR" b="1" noProof="0" dirty="0">
                <a:solidFill>
                  <a:schemeClr val="accent1"/>
                </a:solidFill>
              </a:rPr>
              <a:t>projeta</a:t>
            </a:r>
            <a:r>
              <a:rPr lang="pt-BR" noProof="0" dirty="0"/>
              <a:t> os dados nessas direções.</a:t>
            </a:r>
          </a:p>
          <a:p>
            <a:r>
              <a:rPr lang="pt-BR" noProof="0" dirty="0"/>
              <a:t>Na figura ao lado: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PC1 (1ª Componente): é a </a:t>
            </a:r>
            <a:r>
              <a:rPr lang="pt-BR" b="1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que captura </a:t>
            </a:r>
            <a:r>
              <a:rPr lang="pt-BR" b="1" noProof="0" dirty="0">
                <a:solidFill>
                  <a:srgbClr val="00B0F0"/>
                </a:solidFill>
              </a:rPr>
              <a:t>a maior variância </a:t>
            </a:r>
            <a:r>
              <a:rPr lang="pt-BR" noProof="0" dirty="0"/>
              <a:t>presente nos dados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PC2 (2ª Componente): é a </a:t>
            </a:r>
            <a:r>
              <a:rPr lang="pt-BR" b="1" noProof="0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ortogonal</a:t>
            </a:r>
            <a:r>
              <a:rPr lang="pt-BR" noProof="0" dirty="0"/>
              <a:t> à PC1 que captura </a:t>
            </a:r>
            <a:r>
              <a:rPr lang="pt-BR" b="1" noProof="0" dirty="0">
                <a:solidFill>
                  <a:srgbClr val="00B0F0"/>
                </a:solidFill>
              </a:rPr>
              <a:t>a segunda maior variância</a:t>
            </a:r>
            <a:r>
              <a:rPr lang="pt-BR" noProof="0" dirty="0"/>
              <a:t>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PC1 e PC2 contém grande parte da, se não, toda informação dos dados.</a:t>
            </a:r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8082" y="1825624"/>
            <a:ext cx="5613918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As PCs são sempre </a:t>
            </a:r>
            <a:r>
              <a:rPr lang="pt-BR" b="1" noProof="0" dirty="0">
                <a:solidFill>
                  <a:srgbClr val="00B050"/>
                </a:solidFill>
              </a:rPr>
              <a:t>ordenadas da maior para a menor variância explicada</a:t>
            </a:r>
            <a:r>
              <a:rPr lang="pt-BR" noProof="0" dirty="0"/>
              <a:t>. </a:t>
            </a:r>
          </a:p>
          <a:p>
            <a:r>
              <a:rPr lang="pt-BR" noProof="0" dirty="0"/>
              <a:t>Assim, é possível </a:t>
            </a:r>
            <a:r>
              <a:rPr lang="pt-BR" b="1" noProof="0" dirty="0">
                <a:solidFill>
                  <a:schemeClr val="accent2"/>
                </a:solidFill>
              </a:rPr>
              <a:t>representar os dados utilizando apenas as primeiras componentes</a:t>
            </a:r>
            <a:r>
              <a:rPr lang="pt-BR" noProof="0" dirty="0"/>
              <a:t>. </a:t>
            </a:r>
          </a:p>
          <a:p>
            <a:r>
              <a:rPr lang="pt-BR" noProof="0" dirty="0"/>
              <a:t>Isso </a:t>
            </a:r>
            <a:r>
              <a:rPr lang="pt-BR" b="1" noProof="0" dirty="0">
                <a:solidFill>
                  <a:srgbClr val="7030A0"/>
                </a:solidFill>
              </a:rPr>
              <a:t>preserva grande parte da informação original </a:t>
            </a:r>
            <a:r>
              <a:rPr lang="pt-BR" noProof="0" dirty="0"/>
              <a:t>enquanto reduzimos a dimensionalidade dos dados.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574321"/>
            <a:ext cx="6366589" cy="304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</a:t>
            </a:r>
            <a:r>
              <a:rPr lang="pt-BR" b="1" noProof="0" dirty="0"/>
              <a:t>assume </a:t>
            </a:r>
            <a:r>
              <a:rPr lang="pt-BR" b="1" noProof="0" dirty="0">
                <a:solidFill>
                  <a:schemeClr val="accent1"/>
                </a:solidFill>
              </a:rPr>
              <a:t>relações lineares entre os atributos.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 os dados </a:t>
            </a:r>
            <a:r>
              <a:rPr lang="pt-BR" b="1" noProof="0" dirty="0">
                <a:solidFill>
                  <a:srgbClr val="7030A0"/>
                </a:solidFill>
              </a:rPr>
              <a:t>não são lineares</a:t>
            </a:r>
            <a:r>
              <a:rPr lang="pt-BR" noProof="0" dirty="0"/>
              <a:t> (e.g., senoides, espirais, meias-luas e círculos), o </a:t>
            </a:r>
            <a:r>
              <a:rPr lang="pt-BR" b="1" noProof="0" dirty="0">
                <a:solidFill>
                  <a:srgbClr val="7030A0"/>
                </a:solidFill>
              </a:rPr>
              <a:t>PCA falhará em preservar a estrutura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Nesses casos, podem ser utilizadas técnicas capazes de capturar estruturas não lineares, como Kernel PCA e </a:t>
            </a:r>
            <a:r>
              <a:rPr lang="pt-BR" dirty="0" err="1"/>
              <a:t>Isomap</a:t>
            </a:r>
            <a:r>
              <a:rPr lang="pt-BR" noProof="0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matriz de transformação </a:t>
            </a:r>
            <a:r>
              <a:rPr lang="pt-BR" b="1" dirty="0">
                <a:solidFill>
                  <a:schemeClr val="accent2"/>
                </a:solidFill>
              </a:rPr>
              <a:t>deve ser calculada no conjunto de treinamento </a:t>
            </a:r>
            <a:r>
              <a:rPr lang="pt-BR" dirty="0"/>
              <a:t>e depois aplicada aos conjuntos de validação e teste.</a:t>
            </a:r>
            <a:endParaRPr lang="pt-BR" noProof="0" dirty="0"/>
          </a:p>
          <a:p>
            <a:r>
              <a:rPr lang="pt-BR" dirty="0"/>
              <a:t>O PCA é </a:t>
            </a:r>
            <a:r>
              <a:rPr lang="pt-BR" b="1" dirty="0">
                <a:solidFill>
                  <a:srgbClr val="00B050"/>
                </a:solidFill>
              </a:rPr>
              <a:t>sensível à escala dos dados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</a:t>
            </a:r>
            <a:r>
              <a:rPr lang="pt-BR" b="1" dirty="0">
                <a:solidFill>
                  <a:srgbClr val="0070C0"/>
                </a:solidFill>
              </a:rPr>
              <a:t>atributos estão em escalas diferentes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recomenda-se padronizá-los </a:t>
            </a:r>
            <a:r>
              <a:rPr lang="pt-BR" dirty="0"/>
              <a:t>antes da aplicação.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Sem padronização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atributos com maior variância podem dominar </a:t>
            </a:r>
            <a:r>
              <a:rPr lang="pt-BR" dirty="0"/>
              <a:t>as componentes principais.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de </a:t>
            </a:r>
            <a:r>
              <a:rPr lang="en-US" i="1" dirty="0" err="1">
                <a:latin typeface="Consolas" panose="020B0609020204030204" pitchFamily="49" charset="0"/>
              </a:rPr>
              <a:t>aplicar</a:t>
            </a:r>
            <a:r>
              <a:rPr lang="en-US" i="1" dirty="0">
                <a:latin typeface="Consolas" panose="020B0609020204030204" pitchFamily="49" charset="0"/>
              </a:rPr>
              <a:t> 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</a:t>
            </a:r>
            <a:r>
              <a:rPr lang="pt-BR" b="1" dirty="0">
                <a:solidFill>
                  <a:srgbClr val="00B0F0"/>
                </a:solidFill>
              </a:rPr>
              <a:t>subconjunto</a:t>
            </a:r>
            <a:r>
              <a:rPr lang="pt-BR" b="1" dirty="0">
                <a:solidFill>
                  <a:srgbClr val="00B050"/>
                </a:solidFill>
              </a:rPr>
              <a:t>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atributos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Filtragem</a:t>
            </a:r>
            <a:r>
              <a:rPr lang="pt-BR" noProof="0" dirty="0"/>
              <a:t>: Baseados em </a:t>
            </a:r>
            <a:r>
              <a:rPr lang="pt-BR" b="1" noProof="0" dirty="0">
                <a:solidFill>
                  <a:srgbClr val="7030A0"/>
                </a:solidFill>
              </a:rPr>
              <a:t>medidas estatísticas dos dados</a:t>
            </a:r>
            <a:r>
              <a:rPr lang="pt-BR" noProof="0" dirty="0"/>
              <a:t>, como variância e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Correlação de Pearson/</a:t>
            </a:r>
            <a:r>
              <a:rPr lang="pt-BR" noProof="0" dirty="0" err="1"/>
              <a:t>Spearman</a:t>
            </a:r>
            <a:r>
              <a:rPr lang="pt-BR" noProof="0" dirty="0"/>
              <a:t>, limiar de variância, ganho de informação, </a:t>
            </a:r>
            <a:r>
              <a:rPr lang="pt-BR" dirty="0"/>
              <a:t>informação mútua e teste </a:t>
            </a:r>
            <a:r>
              <a:rPr lang="pt-BR" dirty="0" err="1"/>
              <a:t>qui</a:t>
            </a:r>
            <a:r>
              <a:rPr lang="pt-BR" dirty="0"/>
              <a:t>-quadrado.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Encapsulamento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rgbClr val="7030A0"/>
                </a:solidFill>
              </a:rPr>
              <a:t>Usa </a:t>
            </a:r>
            <a:r>
              <a:rPr lang="pt-BR" b="1" dirty="0">
                <a:solidFill>
                  <a:srgbClr val="7030A0"/>
                </a:solidFill>
              </a:rPr>
              <a:t>um </a:t>
            </a:r>
            <a:r>
              <a:rPr lang="pt-BR" b="1" noProof="0" dirty="0">
                <a:solidFill>
                  <a:srgbClr val="7030A0"/>
                </a:solidFill>
              </a:rPr>
              <a:t>modelo de ML para testar subconjuntos </a:t>
            </a:r>
            <a:r>
              <a:rPr lang="pt-BR" noProof="0" dirty="0"/>
              <a:t>de atributos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Eliminação recursiva </a:t>
            </a:r>
            <a:r>
              <a:rPr lang="pt-BR" noProof="0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Embarcado</a:t>
            </a:r>
            <a:r>
              <a:rPr lang="pt-BR" noProof="0" dirty="0"/>
              <a:t>: A </a:t>
            </a:r>
            <a:r>
              <a:rPr lang="pt-BR" b="1" noProof="0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noProof="0" dirty="0"/>
              <a:t>do modelo de ML. </a:t>
            </a:r>
            <a:r>
              <a:rPr lang="pt-BR" dirty="0"/>
              <a:t>Essa técnica é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integrada</a:t>
            </a:r>
            <a:r>
              <a:rPr lang="pt-BR" noProof="0" dirty="0"/>
              <a:t> (i.e., embarcada) </a:t>
            </a:r>
            <a:r>
              <a:rPr lang="pt-BR" dirty="0"/>
              <a:t>ao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treinamento do modelo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Regressão LASSO e árvores de decisão.</a:t>
            </a:r>
          </a:p>
          <a:p>
            <a:r>
              <a:rPr lang="pt-BR" b="1" noProof="0" dirty="0">
                <a:solidFill>
                  <a:schemeClr val="accent1"/>
                </a:solidFill>
              </a:rPr>
              <a:t>Filtragem usa apenas informações do </a:t>
            </a:r>
            <a:r>
              <a:rPr lang="pt-BR" b="1" i="1" noProof="0" dirty="0">
                <a:solidFill>
                  <a:schemeClr val="accent1"/>
                </a:solidFill>
              </a:rPr>
              <a:t>dataset</a:t>
            </a:r>
            <a:r>
              <a:rPr lang="pt-BR" noProof="0" dirty="0"/>
              <a:t>, já o </a:t>
            </a:r>
            <a:r>
              <a:rPr lang="pt-BR" b="1" noProof="0" dirty="0">
                <a:solidFill>
                  <a:srgbClr val="00B050"/>
                </a:solidFill>
              </a:rPr>
              <a:t>encapsulamento e o embarcado, usam informações do </a:t>
            </a:r>
            <a:r>
              <a:rPr lang="pt-BR" b="1" i="1" noProof="0" dirty="0">
                <a:solidFill>
                  <a:srgbClr val="00B050"/>
                </a:solidFill>
              </a:rPr>
              <a:t>dataset</a:t>
            </a:r>
            <a:r>
              <a:rPr lang="pt-BR" b="1" noProof="0" dirty="0">
                <a:solidFill>
                  <a:srgbClr val="00B050"/>
                </a:solidFill>
              </a:rPr>
              <a:t> e do modelo </a:t>
            </a:r>
            <a:r>
              <a:rPr lang="pt-BR" noProof="0" dirty="0"/>
              <a:t>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450" y="1825624"/>
            <a:ext cx="565755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São </a:t>
            </a:r>
            <a:r>
              <a:rPr lang="pt-BR" b="1" noProof="0" dirty="0"/>
              <a:t>rápidos e independentes do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Escalam bem para </a:t>
            </a:r>
            <a:r>
              <a:rPr lang="pt-BR" i="1" noProof="0" dirty="0" err="1"/>
              <a:t>datasets</a:t>
            </a:r>
            <a:r>
              <a:rPr lang="pt-BR" noProof="0" dirty="0"/>
              <a:t> grandes.</a:t>
            </a:r>
          </a:p>
          <a:p>
            <a:r>
              <a:rPr lang="pt-BR" noProof="0" dirty="0"/>
              <a:t>Filtros </a:t>
            </a:r>
            <a:r>
              <a:rPr lang="pt-BR" b="1" noProof="0" dirty="0">
                <a:solidFill>
                  <a:schemeClr val="accent1"/>
                </a:solidFill>
              </a:rPr>
              <a:t>avaliam os atributos de forma isolada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ignorando interações relevantes </a:t>
            </a:r>
            <a:r>
              <a:rPr lang="pt-BR" noProof="0" dirty="0"/>
              <a:t>entre eles. </a:t>
            </a:r>
          </a:p>
          <a:p>
            <a:r>
              <a:rPr lang="pt-BR" noProof="0" dirty="0"/>
              <a:t>Porém, em muitos casos, o </a:t>
            </a:r>
            <a:r>
              <a:rPr lang="pt-BR" b="1" noProof="0" dirty="0">
                <a:solidFill>
                  <a:schemeClr val="accent2"/>
                </a:solidFill>
              </a:rPr>
              <a:t>valor preditivo de um atributo depende de sua </a:t>
            </a:r>
            <a:r>
              <a:rPr lang="pt-BR" b="1" noProof="0" dirty="0">
                <a:solidFill>
                  <a:srgbClr val="00B0F0"/>
                </a:solidFill>
              </a:rPr>
              <a:t>interação com outros</a:t>
            </a:r>
            <a:r>
              <a:rPr lang="pt-BR" noProof="0" dirty="0"/>
              <a:t>.</a:t>
            </a:r>
          </a:p>
          <a:p>
            <a:r>
              <a:rPr lang="pt-BR" noProof="0" dirty="0"/>
              <a:t>Nesses casos, usamos técnicas de encapsulamento.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225964"/>
            <a:ext cx="6201686" cy="361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5"/>
          </a:xfrm>
        </p:spPr>
        <p:txBody>
          <a:bodyPr>
            <a:normAutofit lnSpcReduction="10000"/>
          </a:bodyPr>
          <a:lstStyle/>
          <a:p>
            <a:r>
              <a:rPr lang="pt-BR" b="1" noProof="0" dirty="0">
                <a:solidFill>
                  <a:srgbClr val="7030A0"/>
                </a:solidFill>
              </a:rPr>
              <a:t>Selecionam</a:t>
            </a:r>
            <a:r>
              <a:rPr lang="pt-BR" noProof="0" dirty="0"/>
              <a:t> o melhor subconjunto de atributos </a:t>
            </a:r>
            <a:r>
              <a:rPr lang="pt-BR" b="1" noProof="0" dirty="0">
                <a:solidFill>
                  <a:srgbClr val="7030A0"/>
                </a:solidFill>
              </a:rPr>
              <a:t>usando um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Em geral, têm </a:t>
            </a:r>
            <a:r>
              <a:rPr lang="pt-BR" b="1" noProof="0" dirty="0">
                <a:solidFill>
                  <a:srgbClr val="7030A0"/>
                </a:solidFill>
              </a:rPr>
              <a:t>desempenho superior </a:t>
            </a:r>
            <a:r>
              <a:rPr lang="pt-BR" noProof="0" dirty="0"/>
              <a:t>aos métodos de </a:t>
            </a:r>
            <a:r>
              <a:rPr lang="pt-BR" b="1" noProof="0" dirty="0">
                <a:solidFill>
                  <a:srgbClr val="7030A0"/>
                </a:solidFill>
              </a:rPr>
              <a:t>filtragem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F0"/>
                </a:solidFill>
              </a:rPr>
              <a:t>Consideram interações entre atributos </a:t>
            </a:r>
            <a:r>
              <a:rPr lang="pt-BR" noProof="0" dirty="0"/>
              <a:t>e avaliam o desempenho do modelo.</a:t>
            </a:r>
          </a:p>
          <a:p>
            <a:r>
              <a:rPr lang="pt-BR" noProof="0" dirty="0"/>
              <a:t>Porém, são </a:t>
            </a:r>
            <a:r>
              <a:rPr lang="pt-BR" b="1" noProof="0" dirty="0">
                <a:solidFill>
                  <a:schemeClr val="accent2"/>
                </a:solidFill>
              </a:rPr>
              <a:t>computacionalmente mais caros.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Envolvem o treinamento do modelo e, em alguns casos, busca iterativa.</a:t>
            </a:r>
          </a:p>
          <a:p>
            <a:r>
              <a:rPr lang="pt-BR" noProof="0" dirty="0"/>
              <a:t>E são </a:t>
            </a:r>
            <a:r>
              <a:rPr lang="pt-BR" b="1" noProof="0" dirty="0">
                <a:solidFill>
                  <a:srgbClr val="00B050"/>
                </a:solidFill>
              </a:rPr>
              <a:t>suscetíveis ao </a:t>
            </a:r>
            <a:r>
              <a:rPr lang="pt-BR" b="1" i="1" noProof="0" dirty="0" err="1">
                <a:solidFill>
                  <a:srgbClr val="00B050"/>
                </a:solidFill>
              </a:rPr>
              <a:t>overfitting</a:t>
            </a:r>
            <a:r>
              <a:rPr lang="pt-BR" noProof="0" dirty="0"/>
              <a:t>, pois podem </a:t>
            </a:r>
            <a:r>
              <a:rPr lang="pt-BR" b="1" noProof="0" dirty="0">
                <a:solidFill>
                  <a:schemeClr val="accent5"/>
                </a:solidFill>
              </a:rPr>
              <a:t>ajustar excessivamente</a:t>
            </a:r>
            <a:r>
              <a:rPr lang="pt-BR" noProof="0" dirty="0"/>
              <a:t> os </a:t>
            </a:r>
            <a:r>
              <a:rPr lang="pt-BR" b="1" noProof="0" dirty="0">
                <a:solidFill>
                  <a:schemeClr val="accent5"/>
                </a:solidFill>
              </a:rPr>
              <a:t>atributos</a:t>
            </a:r>
            <a:r>
              <a:rPr lang="pt-BR" noProof="0" dirty="0"/>
              <a:t> a um </a:t>
            </a:r>
            <a:r>
              <a:rPr lang="pt-BR" b="1" noProof="0" dirty="0">
                <a:solidFill>
                  <a:schemeClr val="accent5"/>
                </a:solidFill>
              </a:rPr>
              <a:t>modelo específico</a:t>
            </a:r>
            <a:r>
              <a:rPr lang="pt-BR" noProof="0" dirty="0"/>
              <a:t>.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8" y="2569317"/>
            <a:ext cx="5789881" cy="323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446D82-5B94-346A-4A16-ED16D509B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O módulo </a:t>
                </a:r>
                <a:r>
                  <a:rPr lang="pt-BR" noProof="0" dirty="0" err="1">
                    <a:latin typeface="Consolas" panose="020B0609020204030204" pitchFamily="49" charset="0"/>
                  </a:rPr>
                  <a:t>sklearn.feature_selection</a:t>
                </a:r>
                <a:r>
                  <a:rPr lang="pt-BR" noProof="0" dirty="0"/>
                  <a:t> implementa vários métodos de seleção de atributos, dentre eles podemos citar: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 </a:t>
                </a:r>
                <a:r>
                  <a:rPr lang="en-US" dirty="0" err="1"/>
                  <a:t>Filtragem</a:t>
                </a:r>
                <a:endParaRPr lang="pt-BR" noProof="0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 err="1">
                    <a:latin typeface="Consolas" panose="020B0609020204030204" pitchFamily="49" charset="0"/>
                  </a:rPr>
                  <a:t>VarianceThreshold</a:t>
                </a:r>
                <a:r>
                  <a:rPr lang="pt-BR" dirty="0"/>
                  <a:t>: Elimina atributos com variância abaixo do limiar configurado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 err="1">
                    <a:latin typeface="Consolas" panose="020B0609020204030204" pitchFamily="49" charset="0"/>
                  </a:rPr>
                  <a:t>SelectKBest</a:t>
                </a:r>
                <a:r>
                  <a:rPr lang="pt-BR" dirty="0"/>
                  <a:t>: Seleciona 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melhores atributos de acordo com um </a:t>
                </a:r>
                <a:r>
                  <a:rPr lang="pt-BR" i="1" dirty="0"/>
                  <a:t>score</a:t>
                </a:r>
                <a:r>
                  <a:rPr lang="pt-BR" dirty="0"/>
                  <a:t> definido (e.g., informação mútua, ganho de informação, etc.)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Encapsulamento</a:t>
                </a:r>
                <a:endParaRPr lang="pt-BR" noProof="0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 err="1">
                    <a:latin typeface="Consolas" panose="020B0609020204030204" pitchFamily="49" charset="0"/>
                  </a:rPr>
                  <a:t>Recursive</a:t>
                </a:r>
                <a:r>
                  <a:rPr lang="pt-BR" dirty="0">
                    <a:latin typeface="Consolas" panose="020B0609020204030204" pitchFamily="49" charset="0"/>
                  </a:rPr>
                  <a:t> Feature </a:t>
                </a:r>
                <a:r>
                  <a:rPr lang="pt-BR" dirty="0" err="1">
                    <a:latin typeface="Consolas" panose="020B0609020204030204" pitchFamily="49" charset="0"/>
                  </a:rPr>
                  <a:t>Elimination</a:t>
                </a:r>
                <a:r>
                  <a:rPr lang="pt-BR" dirty="0">
                    <a:latin typeface="Consolas" panose="020B0609020204030204" pitchFamily="49" charset="0"/>
                  </a:rPr>
                  <a:t> (RFE)</a:t>
                </a:r>
                <a:r>
                  <a:rPr lang="pt-BR" dirty="0"/>
                  <a:t>: Elimina os atributos de forma recursiva até que apenas os melhores permaneçam</a:t>
                </a:r>
                <a:r>
                  <a:rPr lang="pt-BR" noProof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noProof="0" dirty="0" err="1"/>
                  <a:t>Embarcado</a:t>
                </a:r>
                <a:endParaRPr lang="pt-BR" noProof="0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 err="1">
                    <a:latin typeface="Consolas" panose="020B0609020204030204" pitchFamily="49" charset="0"/>
                  </a:rPr>
                  <a:t>SelectFromModel</a:t>
                </a:r>
                <a:r>
                  <a:rPr lang="pt-BR" dirty="0"/>
                  <a:t>: Seleção </a:t>
                </a:r>
                <a:r>
                  <a:rPr lang="pt-BR" noProof="0" dirty="0"/>
                  <a:t>usando modelos com penalidade L1 ou baseados em árvores, como LASSO e árvores de decisão.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noProof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446D82-5B94-346A-4A16-ED16D509B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68F44427-9DFC-625D-B47A-4A9BA36B264B}"/>
              </a:ext>
            </a:extLst>
          </p:cNvPr>
          <p:cNvSpPr txBox="1"/>
          <p:nvPr/>
        </p:nvSpPr>
        <p:spPr>
          <a:xfrm>
            <a:off x="8115300" y="6578895"/>
            <a:ext cx="4076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4"/>
              </a:rPr>
              <a:t>https://scikit-learn.org/stable/modules/feature_selection.html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</a:t>
            </a:r>
            <a:r>
              <a:rPr lang="en-US" dirty="0" err="1">
                <a:latin typeface="Consolas" panose="020B0609020204030204" pitchFamily="49" charset="0"/>
              </a:rPr>
              <a:t>atributos</a:t>
            </a:r>
            <a:r>
              <a:rPr lang="en-US" dirty="0">
                <a:latin typeface="Consolas" panose="020B0609020204030204" pitchFamily="49" charset="0"/>
              </a:rPr>
              <a:t>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extração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seleção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seleciona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9895</TotalTime>
  <Words>7529</Words>
  <Application>Microsoft Office PowerPoint</Application>
  <PresentationFormat>Widescreen</PresentationFormat>
  <Paragraphs>680</Paragraphs>
  <Slides>62</Slides>
  <Notes>39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62</vt:i4>
      </vt:variant>
    </vt:vector>
  </HeadingPairs>
  <TitlesOfParts>
    <vt:vector size="71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treinamento e teste</vt:lpstr>
      <vt:lpstr>Divisão do dataset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Data leakage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One-Hot encoding</vt:lpstr>
      <vt:lpstr>Label e ordinal encoding</vt:lpstr>
      <vt:lpstr>Label e ordinal encoding</vt:lpstr>
      <vt:lpstr>Target encoding</vt:lpstr>
      <vt:lpstr>Target encoding</vt:lpstr>
      <vt:lpstr>Binary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Redução de dimensionalidade</vt:lpstr>
      <vt:lpstr>Apresentação do PowerPoint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2279</cp:revision>
  <dcterms:created xsi:type="dcterms:W3CDTF">2020-01-20T13:50:05Z</dcterms:created>
  <dcterms:modified xsi:type="dcterms:W3CDTF">2026-08-24T16:49:13Z</dcterms:modified>
</cp:coreProperties>
</file>