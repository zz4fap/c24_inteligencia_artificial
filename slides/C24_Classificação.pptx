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handoutMasterIdLst>
    <p:handoutMasterId r:id="rId59"/>
  </p:handoutMasterIdLst>
  <p:sldIdLst>
    <p:sldId id="256" r:id="rId2"/>
    <p:sldId id="347" r:id="rId3"/>
    <p:sldId id="348" r:id="rId4"/>
    <p:sldId id="329" r:id="rId5"/>
    <p:sldId id="350" r:id="rId6"/>
    <p:sldId id="353" r:id="rId7"/>
    <p:sldId id="349" r:id="rId8"/>
    <p:sldId id="606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460" r:id="rId17"/>
    <p:sldId id="362" r:id="rId18"/>
    <p:sldId id="363" r:id="rId19"/>
    <p:sldId id="364" r:id="rId20"/>
    <p:sldId id="365" r:id="rId21"/>
    <p:sldId id="356" r:id="rId22"/>
    <p:sldId id="441" r:id="rId23"/>
    <p:sldId id="442" r:id="rId24"/>
    <p:sldId id="444" r:id="rId25"/>
    <p:sldId id="445" r:id="rId26"/>
    <p:sldId id="446" r:id="rId27"/>
    <p:sldId id="447" r:id="rId28"/>
    <p:sldId id="458" r:id="rId29"/>
    <p:sldId id="448" r:id="rId30"/>
    <p:sldId id="449" r:id="rId31"/>
    <p:sldId id="459" r:id="rId32"/>
    <p:sldId id="450" r:id="rId33"/>
    <p:sldId id="451" r:id="rId34"/>
    <p:sldId id="452" r:id="rId35"/>
    <p:sldId id="453" r:id="rId36"/>
    <p:sldId id="454" r:id="rId37"/>
    <p:sldId id="409" r:id="rId38"/>
    <p:sldId id="407" r:id="rId39"/>
    <p:sldId id="372" r:id="rId40"/>
    <p:sldId id="410" r:id="rId41"/>
    <p:sldId id="412" r:id="rId42"/>
    <p:sldId id="414" r:id="rId43"/>
    <p:sldId id="417" r:id="rId44"/>
    <p:sldId id="455" r:id="rId45"/>
    <p:sldId id="413" r:id="rId46"/>
    <p:sldId id="418" r:id="rId47"/>
    <p:sldId id="605" r:id="rId48"/>
    <p:sldId id="456" r:id="rId49"/>
    <p:sldId id="457" r:id="rId50"/>
    <p:sldId id="293" r:id="rId51"/>
    <p:sldId id="306" r:id="rId52"/>
    <p:sldId id="419" r:id="rId53"/>
    <p:sldId id="438" r:id="rId54"/>
    <p:sldId id="439" r:id="rId55"/>
    <p:sldId id="377" r:id="rId56"/>
    <p:sldId id="378" r:id="rId5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9346" autoAdjust="0"/>
  </p:normalViewPr>
  <p:slideViewPr>
    <p:cSldViewPr snapToGrid="0">
      <p:cViewPr varScale="1">
        <p:scale>
          <a:sx n="65" d="100"/>
          <a:sy n="65" d="100"/>
        </p:scale>
        <p:origin x="1098" y="4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Na regressão,</a:t>
            </a:r>
            <a:r>
              <a:rPr lang="pt-BR" baseline="0" dirty="0" smtClean="0"/>
              <a:t> </a:t>
            </a:r>
            <a:r>
              <a:rPr lang="pt-BR" dirty="0" smtClean="0"/>
              <a:t>os rótulos eram valores reais, mas e na classificação?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4346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Z+​ : </a:t>
            </a:r>
            <a:r>
              <a:rPr lang="pt-BR" dirty="0"/>
              <a:t>Representa o conjunto dos </a:t>
            </a:r>
            <a:r>
              <a:rPr lang="pt-BR" b="1" dirty="0"/>
              <a:t>inteiros não negativos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243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1DAE7C2-11D7-161C-CFE8-24F43D352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48628A4-286B-0FB8-0B78-56F0587D2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BD5BC35-37E6-CFC3-97CD-909AAE5CF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C26B22F-B978-54DE-9588-F9CBE68B0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83868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y=1y=1y=1 → sobra −log⁡(y^)-\log(\</a:t>
            </a:r>
            <a:r>
              <a:rPr lang="es-ES" dirty="0" err="1"/>
              <a:t>hat</a:t>
            </a:r>
            <a:r>
              <a:rPr lang="es-ES" dirty="0"/>
              <a:t>{y})−log(y^​)</a:t>
            </a:r>
          </a:p>
          <a:p>
            <a:r>
              <a:rPr lang="es-ES" dirty="0"/>
              <a:t>Se y=0y=0y=0 → sobra −log⁡(1−y^)-\log(1-\</a:t>
            </a:r>
            <a:r>
              <a:rPr lang="es-ES" dirty="0" err="1"/>
              <a:t>hat</a:t>
            </a:r>
            <a:r>
              <a:rPr lang="es-ES" dirty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"</a:t>
            </a:r>
            <a:r>
              <a:rPr lang="pt-BR" dirty="0" err="1"/>
              <a:t>early</a:t>
            </a:r>
            <a:r>
              <a:rPr lang="pt-BR" dirty="0"/>
              <a:t> stopping" (parada antecipada) é uma técnica de regularização utilizada em treinamento de redes neurais para evitar o sobreajuste e encontrar um ponto ótimo de convergência durante o treinamento. A ideia fundamental por trás do </a:t>
            </a:r>
            <a:r>
              <a:rPr lang="pt-BR" dirty="0" err="1"/>
              <a:t>early</a:t>
            </a:r>
            <a:r>
              <a:rPr lang="pt-BR" dirty="0"/>
              <a:t> stopping é interromper o treinamento do modelo assim que o desempenho em um conjunto de validação começa a piorar, em vez de continuar até que o modelo se ajuste demais aos dados de treinamento. Aqui está como o </a:t>
            </a:r>
            <a:r>
              <a:rPr lang="pt-BR" dirty="0" err="1"/>
              <a:t>early</a:t>
            </a:r>
            <a:r>
              <a:rPr lang="pt-BR" dirty="0"/>
              <a:t> stopping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**Conjunto de Treinamento e Conjunto de Validação**: Durante o treinamento de uma rede neural, geralmente divide-se o conjunto de dados em dois subconjuntos: um conjunto de treinamento usado para atualizar os pesos do modelo e um conjunto de validação usado para avaliar o desempenho do modelo em dados não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**Monitoramento de Métricas**: À medida que o treinamento progride, as métricas de desempenho, como erro ou precisão, são calculadas regularmente no conjunto de validação. Essas métricas fornecem uma indicação de quão bem o modelo está generalizando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**Critério de Parada**: O critério de parada é uma métrica escolhida com base no problema e nas metas do treinamento. Pode ser o erro de validação, a precisão ou qualquer outra métrica relevante. O treinamento é interrompido quando a métrica de validação não melhora mais ou começa a piorar.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**Recuperação do Melhor Modelo**: Ao interromper o treinamento, o modelo é revertido para o ponto em que obteve o melhor desempenho no conjunto de validação. Esse modelo é então usado para inferência e avaliação em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benefícios do </a:t>
            </a:r>
            <a:r>
              <a:rPr lang="pt-BR" dirty="0" err="1"/>
              <a:t>early</a:t>
            </a:r>
            <a:r>
              <a:rPr lang="pt-BR" dirty="0"/>
              <a:t> stopping incluem: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Evita o sobreajuste: Ao interromper o treinamento antes que o modelo se ajuste demais aos dados de treinamento, o </a:t>
            </a:r>
            <a:r>
              <a:rPr lang="pt-BR" dirty="0" err="1"/>
              <a:t>early</a:t>
            </a:r>
            <a:r>
              <a:rPr lang="pt-BR" dirty="0"/>
              <a:t> stopping ajuda a obter modelos mais generalizados e melhores em dados de teste não vistos.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Economiza tempo e recursos computacionais: O treinamento de redes neurais pode ser computacionalmente intensivo, e o </a:t>
            </a:r>
            <a:r>
              <a:rPr lang="pt-BR" dirty="0" err="1"/>
              <a:t>early</a:t>
            </a:r>
            <a:r>
              <a:rPr lang="pt-BR" dirty="0"/>
              <a:t> stopping pode ajudar a economizar tempo e recursos interrompendo o treinamento assim que não houver mais ganho significativo no desempenho.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Melhora a robustez: Modelos treinados com </a:t>
            </a:r>
            <a:r>
              <a:rPr lang="pt-BR" dirty="0" err="1"/>
              <a:t>early</a:t>
            </a:r>
            <a:r>
              <a:rPr lang="pt-BR" dirty="0"/>
              <a:t> stopping tendem a ser mais robustos e menos sensíveis a variações nos dados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importante ajustar o critério de parada, monitorar regularmente as métricas de validação e implementar o </a:t>
            </a:r>
            <a:r>
              <a:rPr lang="pt-BR" dirty="0" err="1"/>
              <a:t>early</a:t>
            </a:r>
            <a:r>
              <a:rPr lang="pt-BR" dirty="0"/>
              <a:t> stopping de maneira adequada para obter os melhores resultados. O </a:t>
            </a:r>
            <a:r>
              <a:rPr lang="pt-BR" dirty="0" err="1"/>
              <a:t>early</a:t>
            </a:r>
            <a:r>
              <a:rPr lang="pt-BR" dirty="0"/>
              <a:t> stopping é uma técnica eficaz, especialmente quando o conjunto de dados é limitado e não é possível coletar mais dados para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29013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0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24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24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24.emf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24.e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8.png"/><Relationship Id="rId5" Type="http://schemas.openxmlformats.org/officeDocument/2006/relationships/image" Target="../media/image40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13" Type="http://schemas.openxmlformats.org/officeDocument/2006/relationships/image" Target="../media/image530.png"/><Relationship Id="rId3" Type="http://schemas.openxmlformats.org/officeDocument/2006/relationships/image" Target="../media/image370.png"/><Relationship Id="rId7" Type="http://schemas.openxmlformats.org/officeDocument/2006/relationships/image" Target="../media/image421.png"/><Relationship Id="rId12" Type="http://schemas.openxmlformats.org/officeDocument/2006/relationships/image" Target="../media/image490.png"/><Relationship Id="rId2" Type="http://schemas.openxmlformats.org/officeDocument/2006/relationships/image" Target="../media/image360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0.png"/><Relationship Id="rId5" Type="http://schemas.openxmlformats.org/officeDocument/2006/relationships/image" Target="../media/image390.png"/><Relationship Id="rId15" Type="http://schemas.openxmlformats.org/officeDocument/2006/relationships/image" Target="../media/image55.png"/><Relationship Id="rId10" Type="http://schemas.openxmlformats.org/officeDocument/2006/relationships/image" Target="../media/image470.png"/><Relationship Id="rId4" Type="http://schemas.openxmlformats.org/officeDocument/2006/relationships/image" Target="../media/image380.png"/><Relationship Id="rId9" Type="http://schemas.openxmlformats.org/officeDocument/2006/relationships/image" Target="../media/image460.png"/><Relationship Id="rId14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0.png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66.png"/><Relationship Id="rId7" Type="http://schemas.openxmlformats.org/officeDocument/2006/relationships/image" Target="NUL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69.jpeg"/><Relationship Id="rId4" Type="http://schemas.openxmlformats.org/officeDocument/2006/relationships/image" Target="../media/image68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6%20-%20Classifica%C3%A7%C3%A3o.pdf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entradas e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  <a:blipFill>
                <a:blip r:embed="rId2"/>
                <a:stretch>
                  <a:fillRect l="-975" t="-1937" r="-4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comportamento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geral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blipFill>
                <a:blip r:embed="rId4"/>
                <a:stretch>
                  <a:fillRect t="-5660" r="-898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separa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grupos</a:t>
                </a:r>
                <a:r>
                  <a:rPr lang="en-US" dirty="0"/>
                  <a:t> de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blipFill>
                <a:blip r:embed="rId5"/>
                <a:stretch>
                  <a:fillRect t="-5660" r="-1131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classifica</a:t>
                </a:r>
                <a:r>
                  <a:rPr lang="pt-BR" dirty="0"/>
                  <a:t> os dados.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blipFill>
                <a:blip r:embed="rId6"/>
                <a:stretch>
                  <a:fillRect l="-1205" t="-3046" r="-904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xmlns="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</a:t>
            </a:r>
            <a:r>
              <a:rPr lang="pt-BR" dirty="0" smtClean="0"/>
              <a:t>de </a:t>
            </a:r>
            <a:r>
              <a:rPr lang="pt-BR" dirty="0"/>
              <a:t>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xmlns="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dois critérios </a:t>
                </a:r>
                <a:r>
                  <a:rPr lang="pt-BR" dirty="0"/>
                  <a:t>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Número total de classes </a:t>
                </a:r>
                <a:r>
                  <a:rPr lang="pt-BR" dirty="0"/>
                  <a:t>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70C0"/>
                    </a:solidFill>
                  </a:rPr>
                  <a:t>Quantidade de classes atribuídas </a:t>
                </a:r>
                <a:r>
                  <a:rPr lang="pt-BR" dirty="0"/>
                  <a:t>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</a:t>
                </a:r>
                <a:r>
                  <a:rPr lang="pt-BR" b="1" dirty="0">
                    <a:solidFill>
                      <a:srgbClr val="00B050"/>
                    </a:solidFill>
                  </a:rPr>
                  <a:t>cada amostra pertence a uma única classe</a:t>
                </a:r>
                <a:r>
                  <a:rPr lang="pt-BR" b="1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</a:t>
            </a:r>
            <a:r>
              <a:rPr lang="pt-BR" b="1" dirty="0">
                <a:solidFill>
                  <a:schemeClr val="accent2"/>
                </a:solidFill>
              </a:rPr>
              <a:t>separar</a:t>
            </a:r>
            <a:r>
              <a:rPr lang="pt-BR" dirty="0"/>
              <a:t> os classificadores dependendo de </a:t>
            </a:r>
            <a:r>
              <a:rPr lang="pt-BR" b="1" dirty="0">
                <a:solidFill>
                  <a:schemeClr val="accent2"/>
                </a:solidFill>
              </a:rPr>
              <a:t>quantas classes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atribuídas a uma única amostra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</a:t>
            </a:r>
            <a:r>
              <a:rPr lang="pt-BR" b="1" dirty="0">
                <a:solidFill>
                  <a:srgbClr val="00B050"/>
                </a:solidFill>
              </a:rPr>
              <a:t>mutuamente exclusivas: uma amostra pertence a apenas uma classe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Inclui classificadores: binários </a:t>
            </a:r>
            <a:r>
              <a:rPr lang="pt-BR" dirty="0"/>
              <a:t>e </a:t>
            </a:r>
            <a:r>
              <a:rPr lang="pt-BR" dirty="0" err="1" smtClean="0"/>
              <a:t>multiclasses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</a:t>
            </a:r>
            <a:r>
              <a:rPr lang="pt-BR" dirty="0" smtClean="0"/>
              <a:t> </a:t>
            </a:r>
            <a:r>
              <a:rPr lang="pt-BR" dirty="0"/>
              <a:t>modelo </a:t>
            </a:r>
            <a:r>
              <a:rPr lang="pt-BR" dirty="0" smtClean="0"/>
              <a:t>indica em sua saída a </a:t>
            </a:r>
            <a:r>
              <a:rPr lang="pt-BR" dirty="0" smtClean="0"/>
              <a:t>classe </a:t>
            </a:r>
            <a:r>
              <a:rPr lang="pt-BR" dirty="0" smtClean="0"/>
              <a:t>presente na amostra de entrada.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</a:t>
            </a:r>
            <a:r>
              <a:rPr lang="pt-BR" b="1" dirty="0">
                <a:solidFill>
                  <a:srgbClr val="0070C0"/>
                </a:solidFill>
              </a:rPr>
              <a:t>não são mutuamente exclusivas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</a:t>
            </a:r>
            <a:r>
              <a:rPr lang="pt-BR" b="1" dirty="0">
                <a:solidFill>
                  <a:srgbClr val="00B0F0"/>
                </a:solidFill>
              </a:rPr>
              <a:t>amostra pode pertencer a várias classes </a:t>
            </a:r>
            <a:r>
              <a:rPr lang="pt-BR" dirty="0"/>
              <a:t>simultaneamente.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 smtClean="0"/>
              <a:t>Texto abordando múltiplos </a:t>
            </a:r>
            <a:r>
              <a:rPr lang="pt-BR" dirty="0"/>
              <a:t>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</a:t>
            </a:r>
            <a:r>
              <a:rPr lang="pt-BR" dirty="0" smtClean="0"/>
              <a:t>indica em sua saída as classes presentes na amostra de entrada.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</a:t>
            </a:r>
            <a:r>
              <a:rPr lang="pt-BR" i="1" dirty="0"/>
              <a:t>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 smtClean="0"/>
              <a:t>Também discutiremos </a:t>
            </a:r>
            <a:r>
              <a:rPr lang="pt-BR" dirty="0"/>
              <a:t>adiante </a:t>
            </a:r>
            <a:r>
              <a:rPr lang="pt-BR" dirty="0" smtClean="0"/>
              <a:t>algoritmos </a:t>
            </a:r>
            <a:r>
              <a:rPr lang="pt-BR" dirty="0"/>
              <a:t>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3458" y="2091096"/>
            <a:ext cx="11371007" cy="279062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Na regressão, os rótulos </a:t>
            </a:r>
            <a:r>
              <a:rPr lang="pt-BR" sz="6000" dirty="0" smtClean="0"/>
              <a:t>são valores </a:t>
            </a:r>
            <a:r>
              <a:rPr lang="pt-BR" sz="6000" dirty="0"/>
              <a:t>reais, mas e na classificação</a:t>
            </a:r>
            <a:r>
              <a:rPr lang="pt-BR" sz="6000" dirty="0"/>
              <a:t>?</a:t>
            </a:r>
            <a:endParaRPr lang="pt-BR" sz="6000" dirty="0"/>
          </a:p>
        </p:txBody>
      </p:sp>
    </p:spTree>
    <p:extLst>
      <p:ext uri="{BB962C8B-B14F-4D97-AF65-F5344CB8AC3E}">
        <p14:creationId xmlns:p14="http://schemas.microsoft.com/office/powerpoint/2010/main" val="2447407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704" y="2936318"/>
            <a:ext cx="10515600" cy="97200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 smtClean="0"/>
              <a:t>Como </a:t>
            </a:r>
            <a:r>
              <a:rPr lang="pt-BR" sz="6000" dirty="0"/>
              <a:t>representamos os rótulos?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smtClean="0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classes </a:t>
                </a:r>
                <a:r>
                  <a:rPr lang="pt-BR" b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mas é uma representação pouco usada.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1074" t="-1937" r="-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>
                    <a:solidFill>
                      <a:srgbClr val="00B050"/>
                    </a:solidFill>
                  </a:rPr>
                  <a:t>vetores binários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6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6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6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600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6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600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6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600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6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600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6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600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600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600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60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sz="26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usada no treinamento de redes neurais e </a:t>
                </a:r>
                <a:r>
                  <a:rPr lang="pt-BR" dirty="0" err="1"/>
                  <a:t>regressores</a:t>
                </a:r>
                <a:r>
                  <a:rPr lang="pt-BR" dirty="0"/>
                  <a:t>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  <a:blipFill rotWithShape="0">
                <a:blip r:embed="rId3"/>
                <a:stretch>
                  <a:fillRect l="-967" t="-2663" r="-171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pertencer a várias classes </a:t>
                </a:r>
                <a:r>
                  <a:rPr lang="pt-BR" b="1" dirty="0"/>
                  <a:t>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15921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</a:t>
                </a:r>
                <a:r>
                  <a:rPr lang="pt-BR" dirty="0" smtClean="0"/>
                  <a:t>regressão linear, </a:t>
                </a:r>
                <a:r>
                  <a:rPr lang="pt-BR" dirty="0"/>
                  <a:t>usamos </a:t>
                </a:r>
                <a:r>
                  <a:rPr lang="pt-BR" b="1" dirty="0"/>
                  <a:t>funções hipóteses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159216" cy="5032375"/>
              </a:xfrm>
              <a:blipFill rotWithShape="0">
                <a:blip r:embed="rId3"/>
                <a:stretch>
                  <a:fillRect l="-1533" t="-1937" r="-511" b="-14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xmlns="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xmlns="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xmlns="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separe as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/>
                  <a:t>onde essa função </a:t>
                </a:r>
                <a:r>
                  <a:rPr lang="pt-BR" b="1" dirty="0">
                    <a:solidFill>
                      <a:srgbClr val="00B050"/>
                    </a:solidFill>
                  </a:rPr>
                  <a:t>corta o espaço de atributos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xmlns="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xmlns="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xmlns="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xmlns="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xmlns="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267167"/>
          </a:xfrm>
        </p:spPr>
        <p:txBody>
          <a:bodyPr>
            <a:normAutofit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27D67EF-5748-032C-5ABA-1C88E3FF1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05BC25-ED4D-DA0E-0D98-7D1721A0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F50CBB-9389-65EB-8887-F08C171A2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3045345"/>
          </a:xfrm>
        </p:spPr>
        <p:txBody>
          <a:bodyPr>
            <a:normAutofit/>
          </a:bodyPr>
          <a:lstStyle/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por poderem assumir qualquer formato, usamos </a:t>
            </a:r>
            <a:r>
              <a:rPr lang="pt-BR" b="1" dirty="0">
                <a:solidFill>
                  <a:srgbClr val="00B050"/>
                </a:solidFill>
              </a:rPr>
              <a:t>polinômios</a:t>
            </a:r>
            <a:r>
              <a:rPr lang="pt-BR" dirty="0"/>
              <a:t>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7755E37C-7F45-8EB0-0D9A-32393C415F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9DF30CC-A4FC-8067-8CA3-8D77CFB8983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5FAFA384-5255-DA6D-7EFC-1E86B7AD25D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1583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da função discriminante (polinomial) </a:t>
                </a:r>
                <a:r>
                  <a:rPr lang="pt-BR" dirty="0"/>
                  <a:t>de tal forma que a classe atribuída à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escolher a classe que possui mais amostras ou a mais frequente.</a:t>
                </a:r>
              </a:p>
              <a:p>
                <a:r>
                  <a:rPr lang="pt-BR" dirty="0"/>
                  <a:t>Quanto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distante</a:t>
                </a:r>
                <a:r>
                  <a:rPr lang="pt-BR" dirty="0"/>
                  <a:t> a amostra estiver </a:t>
                </a:r>
                <a:r>
                  <a:rPr lang="pt-BR" b="1" dirty="0">
                    <a:solidFill>
                      <a:srgbClr val="7030A0"/>
                    </a:solidFill>
                  </a:rPr>
                  <a:t>da fronteira </a:t>
                </a:r>
                <a:r>
                  <a:rPr lang="pt-BR" dirty="0"/>
                  <a:t>de decisão, </a:t>
                </a:r>
                <a:r>
                  <a:rPr lang="pt-BR" b="1" dirty="0">
                    <a:solidFill>
                      <a:srgbClr val="7030A0"/>
                    </a:solidFill>
                  </a:rPr>
                  <a:t>maior é o valor absoluto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xmlns="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236543" y="2387354"/>
            <a:ext cx="3031267" cy="3481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</a:t>
                </a:r>
                <a:r>
                  <a:rPr lang="pt-BR" b="1" dirty="0">
                    <a:solidFill>
                      <a:srgbClr val="00B050"/>
                    </a:solidFill>
                  </a:rPr>
                  <a:t>graus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das funções</a:t>
                </a:r>
                <a:r>
                  <a:rPr lang="pt-BR" b="1" dirty="0"/>
                  <a:t>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 rotWithShape="0"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encontramos o grau e pesos das funções discriminantes?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261" y="1794459"/>
            <a:ext cx="1154069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 linear,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xmlns="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funções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infinitos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objetivo é atribuir </a:t>
                </a:r>
                <a:r>
                  <a:rPr lang="pt-BR" b="1" dirty="0">
                    <a:solidFill>
                      <a:schemeClr val="accent1"/>
                    </a:solidFill>
                  </a:rPr>
                  <a:t>uma classe</a:t>
                </a:r>
                <a:r>
                  <a:rPr lang="pt-BR" dirty="0">
                    <a:solidFill>
                      <a:schemeClr val="accent1"/>
                    </a:solidFill>
                  </a:rPr>
                  <a:t> </a:t>
                </a:r>
                <a:r>
                  <a:rPr lang="pt-BR" dirty="0"/>
                  <a:t>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 err="1"/>
                  <a:t>Além</a:t>
                </a:r>
                <a:r>
                  <a:rPr lang="en-US" dirty="0"/>
                  <a:t> </a:t>
                </a:r>
                <a:r>
                  <a:rPr lang="en-US" dirty="0" err="1"/>
                  <a:t>disso</a:t>
                </a:r>
                <a:r>
                  <a:rPr lang="en-US" dirty="0"/>
                  <a:t>, 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400" b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 b="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nesse</a:t>
                </a:r>
                <a:r>
                  <a:rPr lang="en-US" dirty="0"/>
                  <a:t> </a:t>
                </a:r>
                <a:r>
                  <a:rPr lang="en-US" dirty="0" err="1"/>
                  <a:t>intervalo</a:t>
                </a:r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  <a:blipFill rotWithShape="0">
                <a:blip r:embed="rId3"/>
                <a:stretch>
                  <a:fillRect l="-157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759745" y="2221964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No caso da classificação binária, isso </a:t>
                </a:r>
                <a:r>
                  <a:rPr lang="pt-BR" dirty="0"/>
                  <a:t>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 no intervalo [0, 1].</a:t>
                </a:r>
              </a:p>
              <a:p>
                <a:r>
                  <a:rPr lang="pt-BR" dirty="0"/>
                  <a:t>Além disso, para que possamos treinar modelos de classificação, essa função deve ser </a:t>
                </a:r>
                <a:r>
                  <a:rPr lang="pt-BR" b="1" dirty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/>
                  <a:t> e 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diferenciável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contexto da classificação, ela é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limiar de decisão </a:t>
                </a:r>
                <a:r>
                  <a:rPr lang="pt-BR" dirty="0"/>
                  <a:t>ou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Qual função podemos usar?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 rotWithShape="0">
                <a:blip r:embed="rId2"/>
                <a:stretch>
                  <a:fillRect l="-1586" t="-1937" r="-25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53098" y="2631846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Utilizando ela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ficam restritos ao intervalo [0, 1].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interpretada</a:t>
                </a:r>
                <a:r>
                  <a:rPr lang="pt-BR" dirty="0"/>
                  <a:t> como 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 condicional da classe 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  <a:blipFill rotWithShape="0">
                <a:blip r:embed="rId3"/>
                <a:stretch>
                  <a:fillRect l="-192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8A58ED0E-A13A-8658-E325-826B73F5A7BF}"/>
              </a:ext>
            </a:extLst>
          </p:cNvPr>
          <p:cNvGrpSpPr/>
          <p:nvPr/>
        </p:nvGrpSpPr>
        <p:grpSpPr>
          <a:xfrm>
            <a:off x="838200" y="2457968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</a:t>
                </a:r>
                <a:r>
                  <a:rPr lang="pt-BR" b="1" dirty="0">
                    <a:solidFill>
                      <a:srgbClr val="7030A0"/>
                    </a:solidFill>
                  </a:rPr>
                  <a:t>aproxima de 0 ou 1 </a:t>
                </a:r>
                <a:r>
                  <a:rPr lang="pt-BR" dirty="0"/>
                  <a:t>conforme o exemplo se </a:t>
                </a:r>
                <a:r>
                  <a:rPr lang="pt-BR" b="1" dirty="0">
                    <a:solidFill>
                      <a:srgbClr val="7030A0"/>
                    </a:solidFill>
                  </a:rPr>
                  <a:t>distancia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mais distante a amostra estiver da fronteira, maior é a probabilidade dela pertencer à classe daquela região.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probabilidade de 0.5 </a:t>
                </a:r>
                <a:r>
                  <a:rPr lang="pt-BR" dirty="0"/>
                  <a:t>para amostras posicionadas exatamente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sobre 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modelo que estima a probabilidade </a:t>
            </a:r>
            <a:r>
              <a:rPr lang="pt-BR" dirty="0"/>
              <a:t>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0756807-995A-8917-8F5E-B3843CBAD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DDB3487-1B94-983A-D163-0D82B3BE3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1776" y="1825624"/>
            <a:ext cx="5517180" cy="5032375"/>
          </a:xfrm>
        </p:spPr>
        <p:txBody>
          <a:bodyPr/>
          <a:lstStyle/>
          <a:p>
            <a:r>
              <a:rPr lang="pt-BR" dirty="0"/>
              <a:t>O diagrama ao lado será útil para entendermos o funcionamento do regressor </a:t>
            </a:r>
            <a:r>
              <a:rPr lang="pt-BR" i="1" dirty="0"/>
              <a:t>softmax</a:t>
            </a:r>
            <a:r>
              <a:rPr lang="pt-BR" dirty="0"/>
              <a:t>, que é uma </a:t>
            </a:r>
            <a:r>
              <a:rPr lang="pt-BR" b="1" dirty="0">
                <a:solidFill>
                  <a:schemeClr val="accent2"/>
                </a:solidFill>
              </a:rPr>
              <a:t>generalização</a:t>
            </a:r>
            <a:r>
              <a:rPr lang="pt-BR" dirty="0"/>
              <a:t> do regressor logístico.</a:t>
            </a:r>
          </a:p>
          <a:p>
            <a:r>
              <a:rPr lang="pt-BR" dirty="0"/>
              <a:t>Temos a combinação linear dos atributos em relação aos pesos passando através da função de ativação.</a:t>
            </a:r>
            <a:endParaRPr lang="en-US" dirty="0"/>
          </a:p>
        </p:txBody>
      </p:sp>
      <p:pic>
        <p:nvPicPr>
          <p:cNvPr id="24" name="Imagem 48">
            <a:extLst>
              <a:ext uri="{FF2B5EF4-FFF2-40B4-BE49-F238E27FC236}">
                <a16:creationId xmlns:a16="http://schemas.microsoft.com/office/drawing/2014/main" xmlns="" id="{A5B0F00E-22B3-ED3B-C1B1-645C1A40E52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495" y="3832832"/>
            <a:ext cx="3514404" cy="2906551"/>
          </a:xfrm>
          <a:prstGeom prst="rect">
            <a:avLst/>
          </a:prstGeom>
        </p:spPr>
      </p:pic>
      <p:sp>
        <p:nvSpPr>
          <p:cNvPr id="5" name="Elipse 3">
            <a:extLst>
              <a:ext uri="{FF2B5EF4-FFF2-40B4-BE49-F238E27FC236}">
                <a16:creationId xmlns:a16="http://schemas.microsoft.com/office/drawing/2014/main" xmlns="" id="{847D4178-DB02-5EC6-D9E9-55269087A839}"/>
              </a:ext>
            </a:extLst>
          </p:cNvPr>
          <p:cNvSpPr/>
          <p:nvPr/>
        </p:nvSpPr>
        <p:spPr>
          <a:xfrm>
            <a:off x="2377274" y="2539353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xmlns="" id="{CDBF2F22-CBE7-78F9-D200-02BD2C52FA9E}"/>
              </a:ext>
            </a:extLst>
          </p:cNvPr>
          <p:cNvCxnSpPr>
            <a:cxnSpLocks/>
          </p:cNvCxnSpPr>
          <p:nvPr/>
        </p:nvCxnSpPr>
        <p:spPr>
          <a:xfrm>
            <a:off x="1762125" y="2234839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xmlns="" id="{589211B6-D4F3-A58A-F39E-7262C10059CD}"/>
                  </a:ext>
                </a:extLst>
              </p:cNvPr>
              <p:cNvSpPr txBox="1"/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xmlns="" id="{2442A427-5952-3572-AB71-D902BD9AFBF3}"/>
                  </a:ext>
                </a:extLst>
              </p:cNvPr>
              <p:cNvSpPr txBox="1"/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xmlns="" id="{DE894EA7-498B-C000-4721-79F8585C20CF}"/>
                  </a:ext>
                </a:extLst>
              </p:cNvPr>
              <p:cNvSpPr txBox="1"/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xmlns="" id="{13AB40B9-DB0D-A31B-0A2E-DCE16766087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407409" y="2628812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xmlns="" id="{C86C0EA5-448C-F200-29DC-E3430A112D3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364391" y="3029606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xmlns="" id="{2047E98F-AED5-9CAE-6EBE-067AA04A271C}"/>
                  </a:ext>
                </a:extLst>
              </p:cNvPr>
              <p:cNvSpPr txBox="1"/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xmlns="" id="{9C803F68-3260-A8C1-C911-90EB1488B93F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06726" y="2957020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xmlns="" id="{FEE275F1-9673-C0BC-E552-7C9C1AE26838}"/>
                  </a:ext>
                </a:extLst>
              </p:cNvPr>
              <p:cNvSpPr txBox="1"/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blipFill>
                <a:blip r:embed="rId7"/>
                <a:stretch>
                  <a:fillRect t="-4878" r="-2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xmlns="" id="{AA19E3DD-9C49-3E65-6188-685E272D8AA8}"/>
                  </a:ext>
                </a:extLst>
              </p:cNvPr>
              <p:cNvSpPr/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xmlns="" id="{9E0FEA85-9337-E4D6-F27E-9F4763BDF6A5}"/>
                  </a:ext>
                </a:extLst>
              </p:cNvPr>
              <p:cNvSpPr txBox="1"/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blipFill>
                <a:blip r:embed="rId9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xmlns="" id="{6753D4DA-27BD-B931-E4CF-C0DDBF63A17C}"/>
              </a:ext>
            </a:extLst>
          </p:cNvPr>
          <p:cNvCxnSpPr>
            <a:cxnSpLocks/>
          </p:cNvCxnSpPr>
          <p:nvPr/>
        </p:nvCxnSpPr>
        <p:spPr>
          <a:xfrm flipV="1">
            <a:off x="4481761" y="2962640"/>
            <a:ext cx="304277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xmlns="" id="{38B9AB93-26B7-6A4E-F76F-92B258ADF0C2}"/>
                  </a:ext>
                </a:extLst>
              </p:cNvPr>
              <p:cNvSpPr txBox="1"/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xmlns="" id="{A538BC3B-76F1-F3EF-74F3-948779F99E46}"/>
                  </a:ext>
                </a:extLst>
              </p:cNvPr>
              <p:cNvSpPr txBox="1"/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xmlns="" id="{624CA5E6-00AA-AA9F-B84B-962B728AE7C9}"/>
                  </a:ext>
                </a:extLst>
              </p:cNvPr>
              <p:cNvSpPr txBox="1"/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D206C66B-5552-4085-BFF5-59F7739B9417}"/>
                  </a:ext>
                </a:extLst>
              </p:cNvPr>
              <p:cNvSpPr txBox="1"/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0647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xmlns="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chemeClr val="accent2"/>
                </a:solidFill>
              </a:rPr>
              <a:t>quantizar</a:t>
            </a:r>
            <a:r>
              <a:rPr lang="pt-BR" sz="3200" b="1" dirty="0">
                <a:solidFill>
                  <a:srgbClr val="00B050"/>
                </a:solidFill>
              </a:rPr>
              <a:t>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pt-BR" dirty="0"/>
                  <a:t>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quantiza</a:t>
                </a:r>
                <a:r>
                  <a:rPr lang="pt-BR" dirty="0"/>
                  <a:t>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ser ajustado dependendo se a classificação correta de amostras de uma classe é mais importante do que de outra.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pt-BR" dirty="0"/>
                  <a:t>,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2E036BC-304C-89E4-6E45-E80265AE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81E081-2BAC-FF12-61A3-FE91290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5" name="Elipse 3">
            <a:extLst>
              <a:ext uri="{FF2B5EF4-FFF2-40B4-BE49-F238E27FC236}">
                <a16:creationId xmlns:a16="http://schemas.microsoft.com/office/drawing/2014/main" xmlns="" id="{C686CBC5-63B5-53F0-18C1-BC9F5EDC932C}"/>
              </a:ext>
            </a:extLst>
          </p:cNvPr>
          <p:cNvSpPr/>
          <p:nvPr/>
        </p:nvSpPr>
        <p:spPr>
          <a:xfrm>
            <a:off x="43584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xmlns="" id="{71E28350-13EF-08C6-FA36-BEAF5655EC47}"/>
              </a:ext>
            </a:extLst>
          </p:cNvPr>
          <p:cNvCxnSpPr>
            <a:cxnSpLocks/>
          </p:cNvCxnSpPr>
          <p:nvPr/>
        </p:nvCxnSpPr>
        <p:spPr>
          <a:xfrm>
            <a:off x="37433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xmlns="" id="{A5F40200-A242-1694-4CEF-E7AD900E303C}"/>
                  </a:ext>
                </a:extLst>
              </p:cNvPr>
              <p:cNvSpPr txBox="1"/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xmlns="" id="{364996E5-E7C3-DC11-78D4-91793E8F0277}"/>
                  </a:ext>
                </a:extLst>
              </p:cNvPr>
              <p:cNvSpPr txBox="1"/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xmlns="" id="{926FDD2F-D97F-6A42-32F8-4BBD9203ADC8}"/>
                  </a:ext>
                </a:extLst>
              </p:cNvPr>
              <p:cNvSpPr txBox="1"/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xmlns="" id="{317F574B-4BCF-59EB-E933-FAE5CBB89A4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886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xmlns="" id="{6E4158CA-F8D8-F0A3-75B6-BB21AD0101E2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3455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xmlns="" id="{C64564E7-A45C-F7C9-BF61-DBD6224E5D6E}"/>
                  </a:ext>
                </a:extLst>
              </p:cNvPr>
              <p:cNvSpPr txBox="1"/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xmlns="" id="{EC81435A-5AF8-3193-FF65-D3ECD39671D7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51879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xmlns="" id="{9FC04080-11F4-F548-42ED-C7B20552906E}"/>
                  </a:ext>
                </a:extLst>
              </p:cNvPr>
              <p:cNvSpPr txBox="1"/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blipFill>
                <a:blip r:embed="rId6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xmlns="" id="{4B9FC333-2D5A-C492-B71D-EADE696F5173}"/>
                  </a:ext>
                </a:extLst>
              </p:cNvPr>
              <p:cNvSpPr/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xmlns="" id="{091FCB04-DEE1-1E99-97B4-B656ED98198D}"/>
                  </a:ext>
                </a:extLst>
              </p:cNvPr>
              <p:cNvSpPr txBox="1"/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blipFill>
                <a:blip r:embed="rId8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xmlns="" id="{0B8D519A-1BA1-56BA-A333-A1945EC0D8A2}"/>
              </a:ext>
            </a:extLst>
          </p:cNvPr>
          <p:cNvCxnSpPr>
            <a:cxnSpLocks/>
            <a:stCxn id="18" idx="3"/>
            <a:endCxn id="16" idx="1"/>
          </p:cNvCxnSpPr>
          <p:nvPr/>
        </p:nvCxnSpPr>
        <p:spPr>
          <a:xfrm>
            <a:off x="6461657" y="2781563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xmlns="" id="{3BD72EAF-4600-6260-C089-81C71C3004B1}"/>
                  </a:ext>
                </a:extLst>
              </p:cNvPr>
              <p:cNvSpPr txBox="1"/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xmlns="" id="{2D57F446-882D-4D0D-295F-05B3B4AF3709}"/>
                  </a:ext>
                </a:extLst>
              </p:cNvPr>
              <p:cNvSpPr txBox="1"/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xmlns="" id="{F3903071-B3B5-DCDD-3DC1-78B762A1BED8}"/>
                  </a:ext>
                </a:extLst>
              </p:cNvPr>
              <p:cNvSpPr txBox="1"/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1166D1FD-1C30-3C42-5922-732D417479D3}"/>
                  </a:ext>
                </a:extLst>
              </p:cNvPr>
              <p:cNvSpPr txBox="1"/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xmlns="" id="{934BC8CF-5A60-278A-873F-A6DF476EBCA3}"/>
                  </a:ext>
                </a:extLst>
              </p:cNvPr>
              <p:cNvSpPr/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="" id="{07D642B0-70C7-2F9E-E922-6F919AE25CE2}"/>
                  </a:ext>
                </a:extLst>
              </p:cNvPr>
              <p:cNvSpPr txBox="1"/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blipFill>
                <a:blip r:embed="rId14"/>
                <a:stretch>
                  <a:fillRect t="-4615" r="-885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9">
            <a:extLst>
              <a:ext uri="{FF2B5EF4-FFF2-40B4-BE49-F238E27FC236}">
                <a16:creationId xmlns:a16="http://schemas.microsoft.com/office/drawing/2014/main" xmlns="" id="{223D077F-F939-1D57-4EF6-06EE1E56C63C}"/>
              </a:ext>
            </a:extLst>
          </p:cNvPr>
          <p:cNvCxnSpPr>
            <a:cxnSpLocks/>
          </p:cNvCxnSpPr>
          <p:nvPr/>
        </p:nvCxnSpPr>
        <p:spPr>
          <a:xfrm>
            <a:off x="7828570" y="2762776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xmlns="" id="{44119DB4-5404-8020-DD2A-DA7062F0A352}"/>
              </a:ext>
            </a:extLst>
          </p:cNvPr>
          <p:cNvGrpSpPr/>
          <p:nvPr/>
        </p:nvGrpSpPr>
        <p:grpSpPr>
          <a:xfrm>
            <a:off x="3785115" y="3866972"/>
            <a:ext cx="4540714" cy="2700039"/>
            <a:chOff x="4345762" y="3554020"/>
            <a:chExt cx="4540714" cy="2700039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xmlns="" id="{E803A326-50AB-9517-C6FE-91E195AE47D4}"/>
                </a:ext>
              </a:extLst>
            </p:cNvPr>
            <p:cNvCxnSpPr/>
            <p:nvPr/>
          </p:nvCxnSpPr>
          <p:spPr>
            <a:xfrm>
              <a:off x="4981195" y="3600613"/>
              <a:ext cx="0" cy="230012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xmlns="" id="{9B672A77-82BB-6EB7-C6DB-7D54EC3AB1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1669" y="5886450"/>
              <a:ext cx="3420000" cy="0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32B1295-23AF-1231-DD83-D3B5DB1977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8794" y="4408727"/>
              <a:ext cx="0" cy="1476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xmlns="" id="{4E5172CD-0387-6153-3856-2BAC75CCD582}"/>
                </a:ext>
              </a:extLst>
            </p:cNvPr>
            <p:cNvCxnSpPr>
              <a:cxnSpLocks/>
            </p:cNvCxnSpPr>
            <p:nvPr/>
          </p:nvCxnSpPr>
          <p:spPr>
            <a:xfrm>
              <a:off x="6538794" y="4408727"/>
              <a:ext cx="1799255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xmlns="" id="{C5FACE98-76FA-4D20-2CE4-B7A19D98AD5C}"/>
                </a:ext>
              </a:extLst>
            </p:cNvPr>
            <p:cNvCxnSpPr>
              <a:cxnSpLocks/>
            </p:cNvCxnSpPr>
            <p:nvPr/>
          </p:nvCxnSpPr>
          <p:spPr>
            <a:xfrm>
              <a:off x="4984314" y="4408727"/>
              <a:ext cx="1548000" cy="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xmlns="" id="{BF4C5E6E-34F8-40D7-350D-16397EDB4224}"/>
                </a:ext>
              </a:extLst>
            </p:cNvPr>
            <p:cNvSpPr txBox="1"/>
            <p:nvPr/>
          </p:nvSpPr>
          <p:spPr>
            <a:xfrm>
              <a:off x="4669983" y="42005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1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A6E36B56-A071-12C9-1CC2-CEAABA8574F3}"/>
                    </a:ext>
                  </a:extLst>
                </p:cNvPr>
                <p:cNvSpPr txBox="1"/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98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xmlns="" id="{17852796-11FE-3AEE-08F8-0052F6113644}"/>
                </a:ext>
              </a:extLst>
            </p:cNvPr>
            <p:cNvSpPr txBox="1"/>
            <p:nvPr/>
          </p:nvSpPr>
          <p:spPr>
            <a:xfrm>
              <a:off x="6305202" y="5884727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0.5</a:t>
              </a:r>
              <a:endParaRPr 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8E0840B1-31F0-C634-0536-8ADDE9F11FB4}"/>
                </a:ext>
              </a:extLst>
            </p:cNvPr>
            <p:cNvSpPr txBox="1"/>
            <p:nvPr/>
          </p:nvSpPr>
          <p:spPr>
            <a:xfrm>
              <a:off x="4663733" y="569631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xmlns="" id="{CF2373EF-DC15-6F58-4D85-08A6538E5163}"/>
                    </a:ext>
                  </a:extLst>
                </p:cNvPr>
                <p:cNvSpPr txBox="1"/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blipFill>
                  <a:blip r:embed="rId16"/>
                  <a:stretch>
                    <a:fillRect t="-6557" r="-22549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1EE84DB3-6FF6-D7E6-AD73-9EEB3A588B19}"/>
              </a:ext>
            </a:extLst>
          </p:cNvPr>
          <p:cNvSpPr txBox="1"/>
          <p:nvPr/>
        </p:nvSpPr>
        <p:spPr>
          <a:xfrm>
            <a:off x="6876087" y="3101899"/>
            <a:ext cx="103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Função de quantização (e.g., degrau)</a:t>
            </a:r>
            <a:endParaRPr lang="en-US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xmlns="" id="{34E440BE-433C-9B52-6950-499070CA7501}"/>
              </a:ext>
            </a:extLst>
          </p:cNvPr>
          <p:cNvCxnSpPr>
            <a:cxnSpLocks/>
          </p:cNvCxnSpPr>
          <p:nvPr/>
        </p:nvCxnSpPr>
        <p:spPr>
          <a:xfrm flipV="1">
            <a:off x="6575461" y="2257057"/>
            <a:ext cx="179775" cy="4724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017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2" y="1825624"/>
            <a:ext cx="6763657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</a:t>
            </a:r>
            <a:r>
              <a:rPr lang="pt-BR" b="1" dirty="0">
                <a:solidFill>
                  <a:srgbClr val="0070C0"/>
                </a:solidFill>
              </a:rPr>
              <a:t>dado uma função discriminante</a:t>
            </a:r>
            <a:r>
              <a:rPr lang="pt-BR" dirty="0"/>
              <a:t>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1937" r="-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</p:spPr>
            <p:txBody>
              <a:bodyPr/>
              <a:lstStyle/>
              <a:p>
                <a:r>
                  <a:rPr lang="pt-BR" dirty="0"/>
                  <a:t>Precisamos de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que, no caso da regressão logística,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4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diferença</a:t>
                </a:r>
                <a:r>
                  <a:rPr lang="pt-BR" dirty="0"/>
                  <a:t> entre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prevista </a:t>
                </a:r>
                <a:r>
                  <a:rPr lang="pt-BR" dirty="0"/>
                  <a:t>pelo modelo 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real dos rótulos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modelo aprende a </a:t>
                </a:r>
                <a:r>
                  <a:rPr lang="pt-BR" b="1" dirty="0">
                    <a:solidFill>
                      <a:srgbClr val="00B050"/>
                    </a:solidFill>
                  </a:rPr>
                  <a:t>aproximar</a:t>
                </a:r>
                <a:r>
                  <a:rPr lang="pt-BR" dirty="0"/>
                  <a:t> a distribuição real.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  <a:blipFill rotWithShape="0">
                <a:blip r:embed="rId3"/>
                <a:stretch>
                  <a:fillRect l="-1227" t="-1937" r="-2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 </a:t>
                </a:r>
                <a:r>
                  <a:rPr lang="pt-BR" dirty="0" smtClean="0"/>
                  <a:t>Como esperado, o </a:t>
                </a:r>
                <a:r>
                  <a:rPr lang="pt-BR" dirty="0"/>
                  <a:t>erro é muito alto se o classificador erra e tende a zero se acerta.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r="-16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Por ser </a:t>
            </a:r>
            <a:r>
              <a:rPr lang="pt-BR" b="1" dirty="0">
                <a:solidFill>
                  <a:srgbClr val="00B050"/>
                </a:solidFill>
              </a:rPr>
              <a:t>convexa</a:t>
            </a:r>
            <a:r>
              <a:rPr lang="pt-BR" dirty="0"/>
              <a:t> e </a:t>
            </a:r>
            <a:r>
              <a:rPr lang="pt-BR" b="1" dirty="0" err="1">
                <a:solidFill>
                  <a:srgbClr val="00B050"/>
                </a:solidFill>
              </a:rPr>
              <a:t>diferenciável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</a:t>
            </a:r>
            <a:r>
              <a:rPr lang="pt-BR" dirty="0" smtClean="0"/>
              <a:t>em relação aos pesos 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(GD)</a:t>
            </a:r>
            <a:r>
              <a:rPr lang="pt-BR" dirty="0"/>
              <a:t>.</a:t>
            </a:r>
          </a:p>
          <a:p>
            <a:r>
              <a:rPr lang="pt-BR" dirty="0"/>
              <a:t>Podemos implementar todas as versões do </a:t>
            </a:r>
            <a:r>
              <a:rPr lang="pt-BR" b="1" dirty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da entropia cruzada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são vetores contendo todos os valores esperados e preditos, respectivamente.</a:t>
                </a:r>
              </a:p>
              <a:p>
                <a:r>
                  <a:rPr lang="pt-BR" dirty="0"/>
                  <a:t>O anexo I apresenta os passos para se encontrar o vetor gradiente.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10595984" y="4993344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094396" y="4858410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um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sz="2800" dirty="0"/>
                  <a:t>, mas o resultado pode ser diretamente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estendido para polinômios</a:t>
                </a:r>
                <a:r>
                  <a:rPr lang="pt-BR" sz="280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/>
                  <a:t> é formada pelos </a:t>
                </a:r>
                <a:r>
                  <a:rPr lang="pt-BR" dirty="0"/>
                  <a:t>atributos de cada </a:t>
                </a:r>
                <a:r>
                  <a:rPr lang="pt-BR" sz="2400" dirty="0"/>
                  <a:t>monômio do polinômio</a:t>
                </a:r>
                <a:r>
                  <a:rPr lang="pt-BR" sz="2400" dirty="0" smtClean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e.g.,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 smtClean="0"/>
                  <a:t>.</a:t>
                </a:r>
                <a:endParaRPr lang="pt-BR" sz="200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atributos podem ou não ser combinações dos </a:t>
                </a:r>
                <a:r>
                  <a:rPr lang="pt-BR" dirty="0" smtClean="0"/>
                  <a:t>originais. </a:t>
                </a:r>
                <a:endParaRPr lang="pt-BR" dirty="0"/>
              </a:p>
              <a:p>
                <a:r>
                  <a:rPr lang="pt-BR" dirty="0" smtClean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dirty="0"/>
                  <a:t> </a:t>
                </a:r>
                <a:r>
                  <a:rPr lang="pt-BR" dirty="0"/>
                  <a:t>acima</a:t>
                </a:r>
                <a:r>
                  <a:rPr lang="pt-BR" b="1" dirty="0"/>
                  <a:t>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r="-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 posse do </a:t>
                </a:r>
                <a:r>
                  <a:rPr lang="pt-BR" b="1" dirty="0"/>
                  <a:t>vetor gradiente</a:t>
                </a:r>
                <a:r>
                  <a:rPr lang="pt-BR" dirty="0"/>
                  <a:t>, podemos usá-lo com qualquer versão do </a:t>
                </a:r>
                <a:r>
                  <a:rPr lang="pt-BR" b="1" dirty="0"/>
                  <a:t>gradiente descendente</a:t>
                </a:r>
                <a:r>
                  <a:rPr lang="pt-BR" dirty="0"/>
                  <a:t> para atualizar os pesos.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Tudo o que aprendemos na regressão linear </a:t>
                </a:r>
                <a:r>
                  <a:rPr lang="pt-BR" dirty="0"/>
                  <a:t>com relação ao treinamento de modelos com o gradiente descendente, incluindo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se aplica ao treinamento de </a:t>
                </a:r>
                <a:r>
                  <a:rPr lang="pt-BR" b="1" dirty="0" err="1">
                    <a:solidFill>
                      <a:schemeClr val="accent1"/>
                    </a:solidFill>
                  </a:rPr>
                  <a:t>regressores</a:t>
                </a:r>
                <a:r>
                  <a:rPr lang="pt-BR" b="1" dirty="0">
                    <a:solidFill>
                      <a:schemeClr val="accent1"/>
                    </a:solidFill>
                  </a:rPr>
                  <a:t> logísticos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  <a:blipFill>
                <a:blip r:embed="rId2"/>
                <a:stretch>
                  <a:fillRect l="-925" t="-1937" r="-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xmlns="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blipFill>
                <a:blip r:embed="rId3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 como ocorre com a </a:t>
                </a:r>
                <a:r>
                  <a:rPr lang="pt-BR" b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</a:t>
                </a:r>
                <a:r>
                  <a:rPr lang="pt-BR" b="1" dirty="0" smtClean="0"/>
                  <a:t>usando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polinômios</a:t>
                </a:r>
                <a:r>
                  <a:rPr lang="pt-BR" b="1" dirty="0" smtClean="0"/>
                  <a:t> </a:t>
                </a:r>
                <a:r>
                  <a:rPr lang="pt-BR" dirty="0" smtClean="0"/>
                  <a:t>também</a:t>
                </a:r>
                <a:r>
                  <a:rPr lang="pt-BR" b="1" dirty="0" smtClean="0"/>
                  <a:t> </a:t>
                </a:r>
                <a:r>
                  <a:rPr lang="pt-BR" dirty="0"/>
                  <a:t>estão sujeitos à </a:t>
                </a:r>
                <a:r>
                  <a:rPr lang="pt-BR" b="1" dirty="0" err="1"/>
                  <a:t>sobreajuste</a:t>
                </a:r>
                <a:r>
                  <a:rPr lang="pt-BR" dirty="0"/>
                  <a:t> e </a:t>
                </a:r>
                <a:r>
                  <a:rPr lang="pt-BR" b="1" dirty="0" err="1"/>
                  <a:t>subajuste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qual deve ser a complexidade, no caso de polinômios, o grau, da </a:t>
                </a:r>
                <a:r>
                  <a:rPr lang="pt-BR" b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</a:t>
                </a:r>
                <a:r>
                  <a:rPr lang="pt-BR" dirty="0"/>
                  <a:t>.: As amostras apresentadas são do conjunto de treinamento.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  <a:blipFill rotWithShape="0">
                <a:blip r:embed="rId3"/>
                <a:stretch>
                  <a:fillRect l="-976" t="-1937" r="-14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536291" y="4275115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476816" y="4241718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1806438" y="4336236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5733973" y="4340276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8510544" y="4030480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</a:t>
            </a:r>
            <a:r>
              <a:rPr lang="pt-BR" b="1" dirty="0">
                <a:solidFill>
                  <a:schemeClr val="accent1"/>
                </a:solidFill>
              </a:rPr>
              <a:t>erros nos conjuntos de treinamento e teste </a:t>
            </a:r>
            <a:r>
              <a:rPr lang="pt-BR" dirty="0"/>
              <a:t>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o classificador erraria a classificação de boa parte dos exemplos de ambos os conjuntos (não tem boa capacidade de generalização).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grau elevado) 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 smtClean="0">
                <a:solidFill>
                  <a:srgbClr val="00B050"/>
                </a:solidFill>
              </a:rPr>
              <a:t>pequenos e </a:t>
            </a:r>
            <a:r>
              <a:rPr lang="pt-BR" b="1" dirty="0">
                <a:solidFill>
                  <a:srgbClr val="00B050"/>
                </a:solidFill>
              </a:rPr>
              <a:t>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o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/>
              <a:t>Podemos 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como 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 para encontrar a complexidade ideal para o modelo.</a:t>
            </a:r>
          </a:p>
          <a:p>
            <a:r>
              <a:rPr lang="pt-BR" dirty="0"/>
              <a:t>Esses técnicas nos auxiliam a encontrar um modelo que 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901" y="1825625"/>
            <a:ext cx="6667098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L1, L2, </a:t>
            </a:r>
            <a:r>
              <a:rPr lang="pt-BR" i="1" dirty="0"/>
              <a:t>early-stopping</a:t>
            </a:r>
            <a:r>
              <a:rPr lang="pt-BR" dirty="0"/>
              <a:t>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restrições</a:t>
            </a:r>
            <a:r>
              <a:rPr lang="pt-BR" b="0" dirty="0">
                <a:effectLst/>
              </a:rPr>
              <a:t> aplicadas </a:t>
            </a:r>
            <a:r>
              <a:rPr lang="pt-BR" dirty="0"/>
              <a:t>aos valores </a:t>
            </a:r>
            <a:r>
              <a:rPr lang="pt-BR" b="0" dirty="0">
                <a:effectLst/>
              </a:rPr>
              <a:t>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</a:t>
            </a:r>
            <a:r>
              <a:rPr lang="pt-BR" b="1" dirty="0">
                <a:solidFill>
                  <a:srgbClr val="7030A0"/>
                </a:solidFill>
              </a:rPr>
              <a:t>absolutos</a:t>
            </a:r>
            <a:r>
              <a:rPr lang="pt-BR" b="1" dirty="0">
                <a:solidFill>
                  <a:srgbClr val="FF0000"/>
                </a:solidFill>
              </a:rPr>
              <a:t> muito </a:t>
            </a:r>
            <a:r>
              <a:rPr lang="pt-BR" b="1" dirty="0" smtClean="0">
                <a:solidFill>
                  <a:srgbClr val="FF0000"/>
                </a:solidFill>
              </a:rPr>
              <a:t>grandes</a:t>
            </a:r>
            <a:r>
              <a:rPr lang="pt-BR" dirty="0" smtClean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 smtClean="0"/>
              <a:t>Dentre elas, a </a:t>
            </a:r>
            <a:r>
              <a:rPr lang="pt-BR" dirty="0"/>
              <a:t>penalização L1 tem uma característica interessante.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522DEDA-3807-EF14-3CE7-1FAB722E7C05}"/>
              </a:ext>
            </a:extLst>
          </p:cNvPr>
          <p:cNvSpPr txBox="1"/>
          <p:nvPr/>
        </p:nvSpPr>
        <p:spPr>
          <a:xfrm>
            <a:off x="387691" y="1908891"/>
            <a:ext cx="197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L1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6C4A8EFC-7937-BF86-E363-A57E85319263}"/>
              </a:ext>
            </a:extLst>
          </p:cNvPr>
          <p:cNvSpPr txBox="1"/>
          <p:nvPr/>
        </p:nvSpPr>
        <p:spPr>
          <a:xfrm>
            <a:off x="3265995" y="1960192"/>
            <a:ext cx="19797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L2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58A6856C-D264-9FF6-FB62-2D2E2AA6FD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16888" y="2767905"/>
            <a:ext cx="2521378" cy="31746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8D7B119C-22F6-AD4A-9443-7843011C1C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7" t="4070" r="3018" b="6527"/>
          <a:stretch>
            <a:fillRect/>
          </a:stretch>
        </p:blipFill>
        <p:spPr>
          <a:xfrm>
            <a:off x="2986862" y="2741089"/>
            <a:ext cx="2538039" cy="320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Penalização L1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794" y="1825624"/>
            <a:ext cx="6501206" cy="5032375"/>
          </a:xfrm>
        </p:spPr>
        <p:txBody>
          <a:bodyPr>
            <a:normAutofit/>
          </a:bodyPr>
          <a:lstStyle/>
          <a:p>
            <a:r>
              <a:rPr lang="pt-BR" dirty="0"/>
              <a:t>A restrição L1 forma uma </a:t>
            </a:r>
            <a:r>
              <a:rPr lang="pt-BR" b="1" dirty="0">
                <a:solidFill>
                  <a:schemeClr val="accent2"/>
                </a:solidFill>
              </a:rPr>
              <a:t>região de factibilidade</a:t>
            </a:r>
            <a:r>
              <a:rPr lang="pt-BR" dirty="0"/>
              <a:t> com “quinas” (losango). </a:t>
            </a:r>
          </a:p>
          <a:p>
            <a:r>
              <a:rPr lang="pt-BR" dirty="0"/>
              <a:t>A solução ótima tende a cair nessas quinas, onde </a:t>
            </a:r>
            <a:r>
              <a:rPr lang="pt-BR" b="1" dirty="0"/>
              <a:t>alguns pesos são zerados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Atributos com </a:t>
            </a:r>
            <a:r>
              <a:rPr lang="pt-BR" b="1" dirty="0">
                <a:solidFill>
                  <a:srgbClr val="7030A0"/>
                </a:solidFill>
              </a:rPr>
              <a:t>pouca contribuição para o modelo</a:t>
            </a:r>
            <a:r>
              <a:rPr lang="pt-BR" dirty="0"/>
              <a:t> tem seus </a:t>
            </a:r>
            <a:r>
              <a:rPr lang="pt-BR" b="1" dirty="0">
                <a:solidFill>
                  <a:srgbClr val="7030A0"/>
                </a:solidFill>
              </a:rPr>
              <a:t>pesos zerados</a:t>
            </a:r>
            <a:r>
              <a:rPr lang="pt-BR" dirty="0"/>
              <a:t>.</a:t>
            </a:r>
          </a:p>
          <a:p>
            <a:r>
              <a:rPr lang="pt-BR" dirty="0"/>
              <a:t>Isso resulta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seleção automática de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>
                <a:solidFill>
                  <a:schemeClr val="accent1"/>
                </a:solidFill>
              </a:rPr>
              <a:t>modelo mais simples </a:t>
            </a:r>
            <a:r>
              <a:rPr lang="pt-BR" dirty="0"/>
              <a:t>(não </a:t>
            </a:r>
            <a:r>
              <a:rPr lang="pt-BR" dirty="0" err="1"/>
              <a:t>sobreajusta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</a:t>
            </a:r>
            <a:r>
              <a:rPr lang="pt-BR" b="1" dirty="0">
                <a:solidFill>
                  <a:srgbClr val="00B050"/>
                </a:solidFill>
              </a:rPr>
              <a:t>interpretável</a:t>
            </a:r>
            <a:r>
              <a:rPr lang="pt-BR" dirty="0"/>
              <a:t>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 smtClean="0"/>
              <a:t>Identificamos</a:t>
            </a:r>
            <a:r>
              <a:rPr lang="en-US" dirty="0" smtClean="0"/>
              <a:t> </a:t>
            </a:r>
            <a:r>
              <a:rPr lang="en-US" dirty="0" err="1" smtClean="0"/>
              <a:t>quais</a:t>
            </a:r>
            <a:r>
              <a:rPr lang="en-US" dirty="0" smtClean="0"/>
              <a:t> </a:t>
            </a:r>
            <a:r>
              <a:rPr lang="en-US" b="1" dirty="0" err="1" smtClean="0">
                <a:solidFill>
                  <a:srgbClr val="00B050"/>
                </a:solidFill>
              </a:rPr>
              <a:t>atributos</a:t>
            </a:r>
            <a:r>
              <a:rPr lang="en-US" dirty="0" smtClean="0"/>
              <a:t> </a:t>
            </a:r>
            <a:r>
              <a:rPr lang="en-US" dirty="0" err="1"/>
              <a:t>realmente</a:t>
            </a:r>
            <a:r>
              <a:rPr lang="en-US" dirty="0"/>
              <a:t> </a:t>
            </a:r>
            <a:r>
              <a:rPr lang="en-US" b="1" dirty="0" err="1" smtClean="0">
                <a:solidFill>
                  <a:srgbClr val="00B050"/>
                </a:solidFill>
              </a:rPr>
              <a:t>importam</a:t>
            </a:r>
            <a:r>
              <a:rPr lang="en-US" dirty="0"/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A5D2EFB5-F853-0ECE-6705-DF53B688DBE6}"/>
                  </a:ext>
                </a:extLst>
              </p:cNvPr>
              <p:cNvSpPr txBox="1"/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i="1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94FA96E5-6E55-D162-F30C-3F9BF88DAB2A}"/>
                  </a:ext>
                </a:extLst>
              </p:cNvPr>
              <p:cNvSpPr txBox="1"/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pt-BR" sz="28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</m:e>
                      </m:func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xmlns="" id="{819F47D4-12A7-BD7F-55C6-5DB6C2E38871}"/>
                  </a:ext>
                </a:extLst>
              </p:cNvPr>
              <p:cNvSpPr txBox="1"/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>
                    <a:ea typeface="Cambria Math" panose="02040503050406030204" pitchFamily="18" charset="0"/>
                  </a:rPr>
                  <a:t>OBS</a:t>
                </a:r>
                <a:r>
                  <a:rPr lang="pt-BR" sz="1200" dirty="0">
                    <a:ea typeface="Cambria Math" panose="02040503050406030204" pitchFamily="18" charset="0"/>
                  </a:rPr>
                  <a:t>.: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 </m:t>
                    </m:r>
                  </m:oMath>
                </a14:m>
                <a:r>
                  <a:rPr lang="pt-BR" sz="1200" dirty="0"/>
                  <a:t>é o </a:t>
                </a:r>
                <a:r>
                  <a:rPr lang="pt-BR" sz="1200" b="1" dirty="0"/>
                  <a:t>fator de regularização que restringe a área do losango</a:t>
                </a:r>
                <a:r>
                  <a:rPr lang="pt-BR" sz="1200" b="1" i="1" dirty="0"/>
                  <a:t>.</a:t>
                </a:r>
                <a:endParaRPr lang="pt-BR" sz="12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blipFill>
                <a:blip r:embed="rId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B1E50C15-796B-7379-D1C6-2808D390DEE1}"/>
              </a:ext>
            </a:extLst>
          </p:cNvPr>
          <p:cNvSpPr/>
          <p:nvPr/>
        </p:nvSpPr>
        <p:spPr>
          <a:xfrm>
            <a:off x="3429480" y="1796749"/>
            <a:ext cx="995333" cy="590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F5FB412B-B269-ECA7-F14E-329AAAC59407}"/>
              </a:ext>
            </a:extLst>
          </p:cNvPr>
          <p:cNvSpPr/>
          <p:nvPr/>
        </p:nvSpPr>
        <p:spPr>
          <a:xfrm>
            <a:off x="2181010" y="1793380"/>
            <a:ext cx="854013" cy="59020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have Direita 9">
            <a:extLst>
              <a:ext uri="{FF2B5EF4-FFF2-40B4-BE49-F238E27FC236}">
                <a16:creationId xmlns:a16="http://schemas.microsoft.com/office/drawing/2014/main" xmlns="" id="{0DBFA6D4-9D17-89FF-09AD-0BB33A989E37}"/>
              </a:ext>
            </a:extLst>
          </p:cNvPr>
          <p:cNvSpPr/>
          <p:nvPr/>
        </p:nvSpPr>
        <p:spPr>
          <a:xfrm rot="5400000">
            <a:off x="2899940" y="990996"/>
            <a:ext cx="281654" cy="32044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213457FF-A7B2-D6E1-9337-CAD908FDDE69}"/>
              </a:ext>
            </a:extLst>
          </p:cNvPr>
          <p:cNvSpPr txBox="1"/>
          <p:nvPr/>
        </p:nvSpPr>
        <p:spPr>
          <a:xfrm>
            <a:off x="1778826" y="1464451"/>
            <a:ext cx="15834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Entropia cruzada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xmlns="" id="{4A11FE2E-094D-7109-7D29-CDC23773C411}"/>
              </a:ext>
            </a:extLst>
          </p:cNvPr>
          <p:cNvSpPr txBox="1"/>
          <p:nvPr/>
        </p:nvSpPr>
        <p:spPr>
          <a:xfrm>
            <a:off x="3250889" y="1464451"/>
            <a:ext cx="13921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Penalização L1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481BBFF1-CC61-26D5-450C-5F573F8A4D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876926" y="4075412"/>
            <a:ext cx="2008498" cy="2528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3456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#6 -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9184</TotalTime>
  <Words>4653</Words>
  <Application>Microsoft Office PowerPoint</Application>
  <PresentationFormat>Widescreen</PresentationFormat>
  <Paragraphs>599</Paragraphs>
  <Slides>56</Slides>
  <Notes>29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Apresentação do PowerPoint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O diagrama do regressor logístico</vt:lpstr>
      <vt:lpstr>Apresentação do PowerPoint</vt:lpstr>
      <vt:lpstr>Regressão logística</vt:lpstr>
      <vt:lpstr>O diagrama do regressor logístico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Penalização L1</vt:lpstr>
      <vt:lpstr>Exemplo</vt:lpstr>
      <vt:lpstr>Lista de exercícios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1952</cp:revision>
  <dcterms:created xsi:type="dcterms:W3CDTF">2020-01-20T13:50:05Z</dcterms:created>
  <dcterms:modified xsi:type="dcterms:W3CDTF">2026-09-07T01:20:51Z</dcterms:modified>
</cp:coreProperties>
</file>