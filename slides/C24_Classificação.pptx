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handoutMasterIdLst>
    <p:handoutMasterId r:id="rId55"/>
  </p:handoutMasterIdLst>
  <p:sldIdLst>
    <p:sldId id="256" r:id="rId2"/>
    <p:sldId id="347" r:id="rId3"/>
    <p:sldId id="348" r:id="rId4"/>
    <p:sldId id="329" r:id="rId5"/>
    <p:sldId id="351" r:id="rId6"/>
    <p:sldId id="350" r:id="rId7"/>
    <p:sldId id="353" r:id="rId8"/>
    <p:sldId id="349" r:id="rId9"/>
    <p:sldId id="355" r:id="rId10"/>
    <p:sldId id="332" r:id="rId11"/>
    <p:sldId id="358" r:id="rId12"/>
    <p:sldId id="359" r:id="rId13"/>
    <p:sldId id="344" r:id="rId14"/>
    <p:sldId id="360" r:id="rId15"/>
    <p:sldId id="345" r:id="rId16"/>
    <p:sldId id="362" r:id="rId17"/>
    <p:sldId id="363" r:id="rId18"/>
    <p:sldId id="364" r:id="rId19"/>
    <p:sldId id="365" r:id="rId20"/>
    <p:sldId id="356" r:id="rId21"/>
    <p:sldId id="441" r:id="rId22"/>
    <p:sldId id="442" r:id="rId23"/>
    <p:sldId id="444" r:id="rId24"/>
    <p:sldId id="445" r:id="rId25"/>
    <p:sldId id="446" r:id="rId26"/>
    <p:sldId id="447" r:id="rId27"/>
    <p:sldId id="448" r:id="rId28"/>
    <p:sldId id="449" r:id="rId29"/>
    <p:sldId id="450" r:id="rId30"/>
    <p:sldId id="451" r:id="rId31"/>
    <p:sldId id="452" r:id="rId32"/>
    <p:sldId id="453" r:id="rId33"/>
    <p:sldId id="454" r:id="rId34"/>
    <p:sldId id="409" r:id="rId35"/>
    <p:sldId id="407" r:id="rId36"/>
    <p:sldId id="372" r:id="rId37"/>
    <p:sldId id="410" r:id="rId38"/>
    <p:sldId id="412" r:id="rId39"/>
    <p:sldId id="414" r:id="rId40"/>
    <p:sldId id="417" r:id="rId41"/>
    <p:sldId id="455" r:id="rId42"/>
    <p:sldId id="413" r:id="rId43"/>
    <p:sldId id="418" r:id="rId44"/>
    <p:sldId id="456" r:id="rId45"/>
    <p:sldId id="457" r:id="rId46"/>
    <p:sldId id="293" r:id="rId47"/>
    <p:sldId id="306" r:id="rId48"/>
    <p:sldId id="419" r:id="rId49"/>
    <p:sldId id="438" r:id="rId50"/>
    <p:sldId id="439" r:id="rId51"/>
    <p:sldId id="377" r:id="rId52"/>
    <p:sldId id="378" r:id="rId5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79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78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22/02/2026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ulti-label_classification?utm_source=chatgpt.com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i-systems.github.io/teaching/ML/iNotes/04_Classification.html?utm_source=chatgpt.com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um </a:t>
            </a:r>
            <a:r>
              <a:rPr lang="pt-BR" b="1" dirty="0"/>
              <a:t>problema de classificação </a:t>
            </a:r>
            <a:r>
              <a:rPr lang="pt-BR" b="1" dirty="0" err="1"/>
              <a:t>multilabel</a:t>
            </a:r>
            <a:r>
              <a:rPr lang="pt-BR" dirty="0"/>
              <a:t>, a superfície de separação é bem diferente da que aparece em problemas binários ou multiclasses clássicos.</a:t>
            </a:r>
          </a:p>
          <a:p>
            <a:r>
              <a:rPr lang="pt-BR" dirty="0"/>
              <a:t>Vou explicar de forma conceitual e visual (como você explicaria em sala).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1️⃣ Lembrete: o que muda no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No </a:t>
            </a:r>
            <a:r>
              <a:rPr lang="pt-BR" dirty="0" err="1"/>
              <a:t>multilabel</a:t>
            </a:r>
            <a:r>
              <a:rPr lang="pt-BR" dirty="0"/>
              <a:t>, cada amostra pode pertencer a </a:t>
            </a:r>
            <a:r>
              <a:rPr lang="pt-BR" b="1" dirty="0"/>
              <a:t>várias classes simultaneamente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>Formalmente, o modelo retorna um </a:t>
            </a:r>
            <a:r>
              <a:rPr lang="pt-BR" b="1" dirty="0"/>
              <a:t>vetor binário de rótulos</a:t>
            </a:r>
            <a:r>
              <a:rPr lang="pt-BR" dirty="0"/>
              <a:t>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y = (y_1, y_2, ..., </a:t>
            </a:r>
            <a:r>
              <a:rPr lang="pt-BR" dirty="0" err="1"/>
              <a:t>y_K</a:t>
            </a:r>
            <a:r>
              <a:rPr lang="pt-BR" dirty="0"/>
              <a:t>), 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y_k</a:t>
            </a:r>
            <a:r>
              <a:rPr lang="pt-BR" dirty="0"/>
              <a:t> \in {0,1}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seja, cada classe é decidida independentemente. (</a:t>
            </a:r>
            <a:r>
              <a:rPr lang="pt-BR" dirty="0">
                <a:hlinkClick r:id="rId3" tooltip="Multi-label classification"/>
              </a:rPr>
              <a:t>Wikipedia</a:t>
            </a:r>
            <a:r>
              <a:rPr lang="pt-BR" dirty="0"/>
              <a:t>)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2️⃣ Como fica a superfície de separação</a:t>
            </a:r>
          </a:p>
          <a:p>
            <a:r>
              <a:rPr lang="pt-BR" b="1" dirty="0"/>
              <a:t>✔️ Não existe uma única superfície global</a:t>
            </a:r>
          </a:p>
          <a:p>
            <a:r>
              <a:rPr lang="pt-BR" dirty="0"/>
              <a:t>Diferente do </a:t>
            </a:r>
            <a:r>
              <a:rPr lang="pt-BR" dirty="0" err="1"/>
              <a:t>multiclass</a:t>
            </a:r>
            <a:r>
              <a:rPr lang="pt-BR" dirty="0"/>
              <a:t> (onde o espaço é dividido em regiões exclusivas), no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👉 </a:t>
            </a:r>
            <a:r>
              <a:rPr lang="pt-BR" b="1" dirty="0"/>
              <a:t>cada classe tem sua própria superfície de decisão</a:t>
            </a:r>
            <a:endParaRPr lang="pt-BR" dirty="0"/>
          </a:p>
          <a:p>
            <a:r>
              <a:rPr lang="pt-BR" dirty="0"/>
              <a:t>Ou seja, existem </a:t>
            </a:r>
            <a:r>
              <a:rPr lang="pt-BR" b="1" dirty="0"/>
              <a:t>K superfícies</a:t>
            </a:r>
            <a:r>
              <a:rPr lang="pt-BR" dirty="0"/>
              <a:t> independentes: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f_1(x)=0,\</a:t>
            </a:r>
            <a:r>
              <a:rPr lang="pt-BR" dirty="0" err="1"/>
              <a:t>quad</a:t>
            </a:r>
            <a:r>
              <a:rPr lang="pt-BR" dirty="0"/>
              <a:t> f_2(x)=0,\</a:t>
            </a:r>
            <a:r>
              <a:rPr lang="pt-BR" dirty="0" err="1"/>
              <a:t>quad</a:t>
            </a:r>
            <a:r>
              <a:rPr lang="pt-BR" dirty="0"/>
              <a:t> ...,\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f_K</a:t>
            </a:r>
            <a:r>
              <a:rPr lang="pt-BR" dirty="0"/>
              <a:t>(x)=0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Cada uma decide:</a:t>
            </a:r>
          </a:p>
          <a:p>
            <a:r>
              <a:rPr lang="pt-BR" dirty="0"/>
              <a:t>de um lado → classe presente</a:t>
            </a:r>
          </a:p>
          <a:p>
            <a:r>
              <a:rPr lang="pt-BR" dirty="0"/>
              <a:t>do outro → classe ausente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✔️ Visualização em 2D (intuição)</a:t>
            </a:r>
          </a:p>
          <a:p>
            <a:r>
              <a:rPr lang="pt-BR" dirty="0"/>
              <a:t>Imagine um problema com 2 classes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Classe A → hiperplano 1</a:t>
            </a:r>
          </a:p>
          <a:p>
            <a:r>
              <a:rPr lang="pt-BR" dirty="0"/>
              <a:t>Classe B → hiperplano 2</a:t>
            </a:r>
          </a:p>
          <a:p>
            <a:r>
              <a:rPr lang="pt-BR" dirty="0"/>
              <a:t>O espaço pode ficar assim:</a:t>
            </a:r>
          </a:p>
          <a:p>
            <a:r>
              <a:rPr lang="pt-BR" dirty="0"/>
              <a:t>Região do </a:t>
            </a:r>
            <a:r>
              <a:rPr lang="pt-BR" dirty="0" err="1"/>
              <a:t>espaçoRótulos</a:t>
            </a:r>
            <a:r>
              <a:rPr lang="pt-BR" dirty="0"/>
              <a:t> </a:t>
            </a:r>
            <a:r>
              <a:rPr lang="pt-BR" dirty="0" err="1"/>
              <a:t>atribuídosSó</a:t>
            </a:r>
            <a:r>
              <a:rPr lang="pt-BR" dirty="0"/>
              <a:t> A ativa(1,0)Só B ativa(0,1)Ambas ativas(1,1)Nenhuma ativa(0,0)</a:t>
            </a:r>
          </a:p>
          <a:p>
            <a:r>
              <a:rPr lang="pt-BR" dirty="0"/>
              <a:t>👉 Ou seja, as superfícies </a:t>
            </a:r>
            <a:r>
              <a:rPr lang="pt-BR" b="1" dirty="0"/>
              <a:t>não particionam o espaço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👉 Elas </a:t>
            </a:r>
            <a:r>
              <a:rPr lang="pt-BR" b="1" dirty="0"/>
              <a:t>se sobrepõem</a:t>
            </a:r>
            <a:endParaRPr lang="pt-BR" dirty="0"/>
          </a:p>
          <a:p>
            <a:r>
              <a:rPr lang="pt-BR" dirty="0"/>
              <a:t>Isso é a principal diferença.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3️⃣ Comparação com outros cenários</a:t>
            </a:r>
          </a:p>
          <a:p>
            <a:r>
              <a:rPr lang="pt-BR" b="1" dirty="0"/>
              <a:t>🔹 Binário</a:t>
            </a:r>
          </a:p>
          <a:p>
            <a:r>
              <a:rPr lang="pt-BR" dirty="0"/>
              <a:t>Uma única superfície separa duas regiões.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Multiclass</a:t>
            </a:r>
            <a:endParaRPr lang="pt-BR" b="1" dirty="0"/>
          </a:p>
          <a:p>
            <a:r>
              <a:rPr lang="pt-BR" dirty="0"/>
              <a:t>Várias superfícies dividem o espaço em </a:t>
            </a:r>
            <a:r>
              <a:rPr lang="pt-BR" b="1" dirty="0"/>
              <a:t>regiões exclusivas</a:t>
            </a:r>
            <a:r>
              <a:rPr lang="pt-BR" dirty="0"/>
              <a:t>. (</a:t>
            </a:r>
            <a:r>
              <a:rPr lang="pt-BR" dirty="0">
                <a:hlinkClick r:id="rId4" tooltip="04_Classification"/>
              </a:rPr>
              <a:t>i-systems.github.io</a:t>
            </a:r>
            <a:r>
              <a:rPr lang="pt-BR" dirty="0"/>
              <a:t>)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Várias superfícies independentes</a:t>
            </a:r>
            <a:br>
              <a:rPr lang="pt-BR" dirty="0"/>
            </a:br>
            <a:r>
              <a:rPr lang="pt-BR" dirty="0"/>
              <a:t>→ regiões podem se </a:t>
            </a:r>
            <a:r>
              <a:rPr lang="pt-BR" b="1" dirty="0"/>
              <a:t>sobrepor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→ uma amostra pode cair em várias regiões simultaneamente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4️⃣ Intuição geométrica forte (boa para aula)</a:t>
            </a:r>
          </a:p>
          <a:p>
            <a:r>
              <a:rPr lang="pt-BR" dirty="0"/>
              <a:t>Você pode dizer aos alunos:</a:t>
            </a:r>
          </a:p>
          <a:p>
            <a:r>
              <a:rPr lang="pt-BR" dirty="0"/>
              <a:t>👉 No </a:t>
            </a:r>
            <a:r>
              <a:rPr lang="pt-BR" dirty="0" err="1"/>
              <a:t>multiclass</a:t>
            </a:r>
            <a:r>
              <a:rPr lang="pt-BR" dirty="0"/>
              <a:t> o espaço é </a:t>
            </a:r>
            <a:r>
              <a:rPr lang="pt-BR" i="1" dirty="0"/>
              <a:t>particionado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👉 No </a:t>
            </a:r>
            <a:r>
              <a:rPr lang="pt-BR" dirty="0" err="1"/>
              <a:t>multilabel</a:t>
            </a:r>
            <a:r>
              <a:rPr lang="pt-BR" dirty="0"/>
              <a:t> o espaço é </a:t>
            </a:r>
            <a:r>
              <a:rPr lang="pt-BR" i="1" dirty="0"/>
              <a:t>coberto por máscaras</a:t>
            </a:r>
            <a:endParaRPr lang="pt-BR" dirty="0"/>
          </a:p>
          <a:p>
            <a:r>
              <a:rPr lang="pt-BR" dirty="0"/>
              <a:t>Cada máscara representa uma classe.</a:t>
            </a:r>
          </a:p>
          <a:p>
            <a:r>
              <a:rPr lang="pt-BR" dirty="0"/>
              <a:t>O resultado final é a </a:t>
            </a:r>
            <a:r>
              <a:rPr lang="pt-BR" b="1" dirty="0"/>
              <a:t>interseção dessas máscaras</a:t>
            </a:r>
            <a:r>
              <a:rPr lang="pt-BR" dirty="0"/>
              <a:t>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5️⃣ Exemplo aplicado (didático)</a:t>
            </a:r>
          </a:p>
          <a:p>
            <a:r>
              <a:rPr lang="pt-BR" dirty="0"/>
              <a:t>Classificação de imagem médica:</a:t>
            </a:r>
          </a:p>
          <a:p>
            <a:r>
              <a:rPr lang="pt-BR" dirty="0"/>
              <a:t>Superfícies:</a:t>
            </a:r>
          </a:p>
          <a:p>
            <a:r>
              <a:rPr lang="pt-BR" dirty="0"/>
              <a:t>pneumonia</a:t>
            </a:r>
          </a:p>
          <a:p>
            <a:r>
              <a:rPr lang="pt-BR" dirty="0"/>
              <a:t>covid</a:t>
            </a:r>
          </a:p>
          <a:p>
            <a:r>
              <a:rPr lang="pt-BR" dirty="0"/>
              <a:t>tumor</a:t>
            </a:r>
          </a:p>
          <a:p>
            <a:r>
              <a:rPr lang="pt-BR" dirty="0"/>
              <a:t>Uma imagem pode estar:</a:t>
            </a:r>
          </a:p>
          <a:p>
            <a:r>
              <a:rPr lang="pt-BR" dirty="0"/>
              <a:t>em uma região só</a:t>
            </a:r>
          </a:p>
          <a:p>
            <a:r>
              <a:rPr lang="pt-BR" dirty="0"/>
              <a:t>na interseção de duas</a:t>
            </a:r>
          </a:p>
          <a:p>
            <a:r>
              <a:rPr lang="pt-BR" dirty="0"/>
              <a:t>ou até das três</a:t>
            </a:r>
          </a:p>
          <a:p>
            <a:r>
              <a:rPr lang="pt-BR" dirty="0"/>
              <a:t>Não há exclusividade.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6️⃣ Forma matemática típica (logística </a:t>
            </a:r>
            <a:r>
              <a:rPr lang="pt-BR" b="1" dirty="0" err="1"/>
              <a:t>multilabel</a:t>
            </a:r>
            <a:r>
              <a:rPr lang="pt-BR" b="1" dirty="0"/>
              <a:t>)</a:t>
            </a:r>
          </a:p>
          <a:p>
            <a:r>
              <a:rPr lang="pt-BR" dirty="0"/>
              <a:t>Cada classe usa uma sigmoide independente: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P(</a:t>
            </a:r>
            <a:r>
              <a:rPr lang="pt-BR" dirty="0" err="1"/>
              <a:t>y_k</a:t>
            </a:r>
            <a:r>
              <a:rPr lang="pt-BR" dirty="0"/>
              <a:t>=1|x) = \sigma(</a:t>
            </a:r>
            <a:r>
              <a:rPr lang="pt-BR" dirty="0" err="1"/>
              <a:t>w_k^Tx</a:t>
            </a:r>
            <a:r>
              <a:rPr lang="pt-BR" dirty="0"/>
              <a:t>)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e a superfície de decisão é: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 err="1"/>
              <a:t>w_k^Tx</a:t>
            </a:r>
            <a:r>
              <a:rPr lang="pt-BR" dirty="0"/>
              <a:t> = 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seja:</a:t>
            </a:r>
          </a:p>
          <a:p>
            <a:r>
              <a:rPr lang="pt-BR" dirty="0"/>
              <a:t>👉 </a:t>
            </a:r>
            <a:r>
              <a:rPr lang="pt-BR" b="1" dirty="0"/>
              <a:t>um hiperplano por classe</a:t>
            </a:r>
            <a:endParaRPr lang="pt-BR" dirty="0"/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✔️ Resumo para aula</a:t>
            </a:r>
          </a:p>
          <a:p>
            <a:r>
              <a:rPr lang="pt-BR" dirty="0"/>
              <a:t>👉 </a:t>
            </a:r>
            <a:r>
              <a:rPr lang="pt-BR" dirty="0" err="1"/>
              <a:t>Multilabel</a:t>
            </a:r>
            <a:r>
              <a:rPr lang="pt-BR" dirty="0"/>
              <a:t> não tem uma superfície única</a:t>
            </a:r>
            <a:br>
              <a:rPr lang="pt-BR" dirty="0"/>
            </a:br>
            <a:r>
              <a:rPr lang="pt-BR" dirty="0"/>
              <a:t>👉 Existem várias superfícies independentes</a:t>
            </a:r>
            <a:br>
              <a:rPr lang="pt-BR" dirty="0"/>
            </a:br>
            <a:r>
              <a:rPr lang="pt-BR" dirty="0"/>
              <a:t>👉 O espaço não é dividido, mas sobreposto</a:t>
            </a:r>
            <a:br>
              <a:rPr lang="pt-BR" dirty="0"/>
            </a:br>
            <a:r>
              <a:rPr lang="pt-BR" dirty="0"/>
              <a:t>👉 Regiões podem corresponder a múltiplas classes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dirty="0"/>
              <a:t>Se quiser, posso desenhar um </a:t>
            </a:r>
            <a:r>
              <a:rPr lang="pt-BR" b="1" dirty="0"/>
              <a:t>esquema visual didático (tipo quadro de aula)</a:t>
            </a:r>
            <a:r>
              <a:rPr lang="pt-BR" dirty="0"/>
              <a:t> mostrando:</a:t>
            </a:r>
          </a:p>
          <a:p>
            <a:r>
              <a:rPr lang="pt-BR" dirty="0" err="1"/>
              <a:t>multiclass</a:t>
            </a:r>
            <a:r>
              <a:rPr lang="pt-BR" dirty="0"/>
              <a:t> </a:t>
            </a:r>
            <a:r>
              <a:rPr lang="pt-BR" dirty="0" err="1"/>
              <a:t>vs</a:t>
            </a:r>
            <a:r>
              <a:rPr lang="pt-BR" dirty="0"/>
              <a:t> </a:t>
            </a:r>
            <a:r>
              <a:rPr lang="pt-BR" dirty="0" err="1"/>
              <a:t>multilabel</a:t>
            </a:r>
            <a:endParaRPr lang="pt-BR" dirty="0"/>
          </a:p>
          <a:p>
            <a:r>
              <a:rPr lang="pt-BR" dirty="0"/>
              <a:t>fronteiras</a:t>
            </a:r>
          </a:p>
          <a:p>
            <a:r>
              <a:rPr lang="pt-BR" dirty="0"/>
              <a:t>regiões</a:t>
            </a:r>
          </a:p>
          <a:p>
            <a:r>
              <a:rPr lang="pt-BR"/>
              <a:t>Isso costuma ajudar muito os alunos a entenderem.</a:t>
            </a:r>
          </a:p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517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32DA5E1-00E0-2F8D-E426-C2BE1BC8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755444DB-79D2-76F0-537D-343DD7EF7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FA229730-5EFD-DF7F-FC23-84032A9E7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B47740AF-93D3-5439-F324-AEC42AF75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81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A098F72-2922-82B3-5C99-E3BEF8098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B532C96A-22C4-D1DD-3FBA-62861D4BDF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1B3956BA-58DA-02D3-A28D-2E027144F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FBF6E418-7A70-5EBA-2166-ABCAA4B4C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90209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06070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2819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79008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9043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238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3840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9946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O objetivo do treinamento é definir o vetor de pesos 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42501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smtClean="0"/>
              <a:t>Se y=1y=1y=1 → sobra −log⁡(y^)-\log(\</a:t>
            </a:r>
            <a:r>
              <a:rPr lang="es-ES" dirty="0" err="1" smtClean="0"/>
              <a:t>hat</a:t>
            </a:r>
            <a:r>
              <a:rPr lang="es-ES" dirty="0" smtClean="0"/>
              <a:t>{y})−log(y^​)</a:t>
            </a:r>
          </a:p>
          <a:p>
            <a:r>
              <a:rPr lang="es-ES" dirty="0" smtClean="0"/>
              <a:t>Se y=0y=0y=0 → sobra −log⁡(1−y^)-\log(1-\</a:t>
            </a:r>
            <a:r>
              <a:rPr lang="es-ES" dirty="0" err="1" smtClean="0"/>
              <a:t>hat</a:t>
            </a:r>
            <a:r>
              <a:rPr lang="es-ES" dirty="0" smtClean="0"/>
              <a:t>{y})−log(1−y^​)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05802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18651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=""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564906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SPAMClassificationLogisticRegressionGD.ipynb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381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2.e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2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32.emf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4" Type="http://schemas.openxmlformats.org/officeDocument/2006/relationships/image" Target="../media/image32.emf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3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50.png"/><Relationship Id="rId7" Type="http://schemas.openxmlformats.org/officeDocument/2006/relationships/image" Target="NUL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9" Type="http://schemas.openxmlformats.org/officeDocument/2006/relationships/image" Target="NULL"/><Relationship Id="rId4" Type="http://schemas.openxmlformats.org/officeDocument/2006/relationships/image" Target="NUL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egress%C3%A3o_log%C3%ADstica.ipynb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jpeg"/><Relationship Id="rId4" Type="http://schemas.openxmlformats.org/officeDocument/2006/relationships/image" Target="../media/image53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  <a:blipFill>
                <a:blip r:embed="rId2"/>
                <a:stretch>
                  <a:fillRect l="-99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dirty="0" err="1"/>
                  <a:t>comportamento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blipFill rotWithShape="0">
                <a:blip r:embed="rId4"/>
                <a:stretch>
                  <a:fillRect t="-5660" r="-1113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classifica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="" xmlns:a16="http://schemas.microsoft.com/office/drawing/2014/main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blipFill>
                <a:blip r:embed="rId6"/>
                <a:stretch>
                  <a:fillRect t="-3289" r="-1487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5">
                <a:extLst>
                  <a:ext uri="{FF2B5EF4-FFF2-40B4-BE49-F238E27FC236}">
                    <a16:creationId xmlns="" xmlns:a16="http://schemas.microsoft.com/office/drawing/2014/main" id="{48D3A820-D198-F9AB-C6B3-3F78DA6684D0}"/>
                  </a:ext>
                </a:extLst>
              </p:cNvPr>
              <p:cNvSpPr txBox="1"/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captura 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comportamento geral</a:t>
                </a:r>
                <a:r>
                  <a:rPr lang="pt-BR" dirty="0"/>
                  <a:t> dos dados.</a:t>
                </a:r>
              </a:p>
            </p:txBody>
          </p:sp>
        </mc:Choice>
        <mc:Fallback xmlns="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blipFill>
                <a:blip r:embed="rId7"/>
                <a:stretch>
                  <a:fillRect l="-2422" t="-3289" r="-3806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5007429"/>
            <a:ext cx="10515600" cy="1850571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objetos em imagens.</a:t>
            </a:r>
          </a:p>
          <a:p>
            <a:r>
              <a:rPr lang="pt-BR" dirty="0"/>
              <a:t>Reconhecimento de caracteres.</a:t>
            </a:r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="" xmlns:a16="http://schemas.microsoft.com/office/drawing/2014/main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475379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3557" y="1915932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/>
          </a:bodyPr>
          <a:lstStyle/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do doenças (e.g., pulmonares).</a:t>
            </a:r>
          </a:p>
        </p:txBody>
      </p:sp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179761" y="184344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"/>
          <a:stretch>
            <a:fillRect/>
          </a:stretch>
        </p:blipFill>
        <p:spPr bwMode="auto">
          <a:xfrm>
            <a:off x="4746170" y="1843447"/>
            <a:ext cx="3581201" cy="259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="" xmlns:a16="http://schemas.microsoft.com/office/drawing/2014/main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652452" y="133722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ut it happened 😂 #DeepLearning #AI #MachineLearning">
            <a:extLst>
              <a:ext uri="{FF2B5EF4-FFF2-40B4-BE49-F238E27FC236}">
                <a16:creationId xmlns="" xmlns:a16="http://schemas.microsoft.com/office/drawing/2014/main" id="{F25FF98E-22C0-F45E-2254-540617F2F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240" y="1264812"/>
            <a:ext cx="4647519" cy="4328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5962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2C95A22-E872-4069-E235-358A1FCDD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76965F31-6E51-4FAB-4852-DECB11BED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</p:spPr>
            <p:txBody>
              <a:bodyPr/>
              <a:lstStyle/>
              <a:p>
                <a:r>
                  <a:rPr lang="pt-BR" dirty="0"/>
                  <a:t>Organizamos os tipos de classificadores segundo dois critérios principais: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Número total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Quantidade de classes atribuídas a cada amostra.</a:t>
                </a:r>
              </a:p>
              <a:p>
                <a:r>
                  <a:rPr lang="pt-BR" dirty="0"/>
                  <a:t>Dependendo do número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podemos separar os classificadores em dois tipos: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Binários,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apenas </a:t>
                </a:r>
                <a:r>
                  <a:rPr lang="pt-BR" b="1" dirty="0"/>
                  <a:t>duas classes possíveis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Multiclasses, </a:t>
                </a:r>
                <a:r>
                  <a:rPr lang="en-US" dirty="0" err="1"/>
                  <a:t>onde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&gt;2.</m:t>
                    </m:r>
                  </m:oMath>
                </a14:m>
                <a:endParaRPr lang="en-US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</a:t>
                </a:r>
                <a:r>
                  <a:rPr lang="pt-BR" b="1" dirty="0"/>
                  <a:t>três ou mais classes</a:t>
                </a:r>
                <a:endParaRPr lang="pt-BR" dirty="0"/>
              </a:p>
              <a:p>
                <a:r>
                  <a:rPr lang="pt-BR" dirty="0"/>
                  <a:t>Em ambos os casos, cada amostra pertence a </a:t>
                </a:r>
                <a:r>
                  <a:rPr lang="pt-BR" b="1" dirty="0"/>
                  <a:t>uma única classe.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811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83AE076-4457-7BD3-2388-70AAD712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39F8340-2935-1CC3-CE87-3E1A76A73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10FC0EC-BE21-C1F6-BD0D-5113525C2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6"/>
          </a:xfrm>
        </p:spPr>
        <p:txBody>
          <a:bodyPr>
            <a:normAutofit/>
          </a:bodyPr>
          <a:lstStyle/>
          <a:p>
            <a:r>
              <a:rPr lang="pt-BR" dirty="0"/>
              <a:t>Podemos também separar os classificadores dependendo de quantas classes podem ser atribuídas a uma única instância: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Cada amostra recebe apenas uma classe.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Inclui: binária e </a:t>
            </a:r>
            <a:r>
              <a:rPr lang="pt-BR" dirty="0" err="1"/>
              <a:t>multiclasse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são mutuamente exclusivas.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 err="1"/>
              <a:t>multilabel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Uma amostra pode pertencer a várias classes simultaneamente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não são mutuamente exclusivas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Exemplos: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Imagem com “cachorro” e “pessoa”,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Artigo com múltiplos tópicos.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prevê um vetor binário indicando quais rótulos estão presentes. </a:t>
            </a:r>
          </a:p>
        </p:txBody>
      </p:sp>
    </p:spTree>
    <p:extLst>
      <p:ext uri="{BB962C8B-B14F-4D97-AF65-F5344CB8AC3E}">
        <p14:creationId xmlns:p14="http://schemas.microsoft.com/office/powerpoint/2010/main" val="3944489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41127B6-6972-D992-E732-0F4C9D92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classificação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F650875-3EEC-71D0-1DC4-489808F82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4314" cy="5032375"/>
          </a:xfrm>
        </p:spPr>
        <p:txBody>
          <a:bodyPr>
            <a:normAutofit/>
          </a:bodyPr>
          <a:lstStyle/>
          <a:p>
            <a:r>
              <a:rPr lang="pt-BR" dirty="0"/>
              <a:t>Existe uma grande quantidade de algoritmos de classificação, mas focaremos nos seguintes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logístico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binário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softmax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r>
              <a:rPr lang="pt-BR" dirty="0"/>
              <a:t>Discutiremos adiante também algoritmos que resolvem problemas de regressão e classificação, como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Árvores de decisão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multiclasses,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i="1" dirty="0"/>
              <a:t> </a:t>
            </a:r>
            <a:r>
              <a:rPr lang="pt-BR" dirty="0"/>
              <a:t>e</a:t>
            </a:r>
            <a:r>
              <a:rPr lang="pt-BR" i="1" dirty="0"/>
              <a:t> </a:t>
            </a:r>
            <a:r>
              <a:rPr lang="pt-BR" i="1" dirty="0" err="1"/>
              <a:t>multilabel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531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30302BD-A868-44A9-D6B7-B33026A62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27463"/>
            <a:ext cx="10515600" cy="100307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representamos os rótulos?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3833417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tem </a:t>
                </a:r>
                <a:r>
                  <a:rPr lang="pt-BR" b="1" dirty="0"/>
                  <a:t>única saída escalar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para indicar a </a:t>
                </a:r>
                <a:r>
                  <a:rPr lang="pt-BR" b="1" dirty="0"/>
                  <a:t>classe</a:t>
                </a:r>
                <a:r>
                  <a:rPr lang="pt-BR" dirty="0"/>
                  <a:t> a que pertence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1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representam as classe negativa e a positiva, respectivamente.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  <a:blipFill>
                <a:blip r:embed="rId2"/>
                <a:stretch>
                  <a:fillRect l="-108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AC37BFF-244C-0D73-96E1-47543A4C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D893F73-D553-1C61-9D7D-AAB3F5909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multiclasse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D34CF39-62BC-DA90-F244-DCDEF2E97D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para indicar a classe a que pertence o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</a:t>
                </a:r>
                <a:r>
                  <a:rPr lang="pt-BR" b="1" dirty="0"/>
                  <a:t>classes mutuamente excludentes</a:t>
                </a:r>
                <a:r>
                  <a:rPr lang="pt-BR" dirty="0"/>
                  <a:t>: gato, rato, cachorro e sapo:</a:t>
                </a:r>
                <a:endParaRPr lang="pt-BR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Essa representação é conhecida como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Muito usado em redes neurais e regressão </a:t>
                </a:r>
                <a:r>
                  <a:rPr lang="pt-BR" i="1" dirty="0"/>
                  <a:t>softmax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2663" r="-1246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010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FC9AE89-C8AC-DBE6-CA38-DEEF4996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2CE4CC5F-008A-ECCB-8340-EE6C2C24E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i="1" dirty="0"/>
              <a:t>multilabel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1237A257-D85C-E351-5085-80BCF81401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porém, </a:t>
                </a:r>
                <a:r>
                  <a:rPr lang="pt-BR" dirty="0"/>
                  <a:t>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pode pertencer a </a:t>
                </a:r>
                <a:r>
                  <a:rPr lang="pt-BR" b="1" dirty="0"/>
                  <a:t>várias classes simultaneamente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Rótulos também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classes </a:t>
                </a:r>
                <a:r>
                  <a:rPr lang="pt-BR" b="1" dirty="0"/>
                  <a:t>não excludentes</a:t>
                </a:r>
                <a:r>
                  <a:rPr lang="pt-BR" dirty="0"/>
                  <a:t>: gato, rato, cachorro e sapo: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dirty="0" smtClean="0"/>
                                            <m:t>gato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smtClean="0">
                                              <a:latin typeface="Cambria Math" panose="02040503050406030204" pitchFamily="18" charset="0"/>
                                            </a:rPr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pt-BR" dirty="0"/>
                                                <m:t>gato</m:t>
                                              </m:r>
                                            </m:sub>
                                          </m:sSub>
                                          <m:r>
                                            <a:rPr lang="pt-BR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rato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1937" r="-11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839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regressão, usamos </a:t>
                </a:r>
                <a:r>
                  <a:rPr lang="pt-BR" b="1" dirty="0"/>
                  <a:t>funções hipótese</a:t>
                </a:r>
                <a:r>
                  <a:rPr lang="pt-BR" dirty="0"/>
                  <a:t> para </a:t>
                </a:r>
                <a:r>
                  <a:rPr lang="pt-BR" b="1" dirty="0"/>
                  <a:t>aproximar o comportamento do conjunto de dados</a:t>
                </a:r>
                <a:r>
                  <a:rPr lang="pt-BR" dirty="0"/>
                  <a:t>, agora, as usaremos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separar (i.e., discriminar) grupos de dados em classes.</a:t>
                </a:r>
                <a:endParaRPr lang="pt-BR" dirty="0"/>
              </a:p>
              <a:p>
                <a:r>
                  <a:rPr lang="pt-BR" dirty="0"/>
                  <a:t>Vejam o </a:t>
                </a:r>
                <a:r>
                  <a:rPr lang="pt-BR" b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dirty="0"/>
                  <a:t>pares de atributos </a:t>
                </a:r>
                <a:r>
                  <a:rPr lang="pt-BR" dirty="0"/>
                  <a:t>pertencem a duas 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  <a:blipFill>
                <a:blip r:embed="rId3"/>
                <a:stretch>
                  <a:fillRect l="-1556" t="-1937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="" xmlns:a16="http://schemas.microsoft.com/office/drawing/2014/main" id="{745C0A43-FD12-CEC1-71CC-612BDB16C776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="" xmlns:a16="http://schemas.microsoft.com/office/drawing/2014/main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="" xmlns:a16="http://schemas.microsoft.com/office/drawing/2014/main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="" xmlns:a16="http://schemas.microsoft.com/office/drawing/2014/main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="" xmlns:a16="http://schemas.microsoft.com/office/drawing/2014/main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da classificação é encontrar uma função, chamada de </a:t>
                </a:r>
                <a:r>
                  <a:rPr lang="pt-BR" b="1" dirty="0"/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separe as classes.</a:t>
                </a:r>
              </a:p>
              <a:p>
                <a:r>
                  <a:rPr lang="pt-BR" dirty="0"/>
                  <a:t>Chamamos de </a:t>
                </a:r>
                <a:r>
                  <a:rPr lang="pt-BR" b="1" dirty="0"/>
                  <a:t>fronteira de decisão </a:t>
                </a:r>
                <a:r>
                  <a:rPr lang="pt-BR" dirty="0"/>
                  <a:t>onde essa função corta o espaço de atributos. </a:t>
                </a:r>
              </a:p>
              <a:p>
                <a:r>
                  <a:rPr lang="pt-BR" dirty="0"/>
                  <a:t>No exemplo, a função discriminante </a:t>
                </a:r>
                <a:r>
                  <a:rPr lang="pt-BR" b="1" dirty="0"/>
                  <a:t>divide</a:t>
                </a:r>
                <a:r>
                  <a:rPr lang="pt-BR" dirty="0"/>
                  <a:t> o espaço em </a:t>
                </a:r>
                <a:r>
                  <a:rPr lang="pt-BR" b="1" dirty="0"/>
                  <a:t>duas regiões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dirty="0">
                    <a:solidFill>
                      <a:schemeClr val="tx1"/>
                    </a:solidFill>
                  </a:rPr>
                  <a:t>onde </a:t>
                </a:r>
                <a:r>
                  <a:rPr lang="pt-BR" b="1" dirty="0">
                    <a:solidFill>
                      <a:schemeClr val="tx1"/>
                    </a:solidFill>
                  </a:rPr>
                  <a:t>cada região corresponde a 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No exemplo,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temos apenas uma fronteira de decisão.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  <a:blipFill>
                <a:blip r:embed="rId3"/>
                <a:stretch>
                  <a:fillRect l="-1623" t="-1937" r="-1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="" xmlns:a16="http://schemas.microsoft.com/office/drawing/2014/main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="" xmlns:a16="http://schemas.microsoft.com/office/drawing/2014/main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="" xmlns:a16="http://schemas.microsoft.com/office/drawing/2014/main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="" xmlns:a16="http://schemas.microsoft.com/office/drawing/2014/main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="" xmlns:a16="http://schemas.microsoft.com/office/drawing/2014/main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223171" cy="304534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As figuras abaixo mostram </a:t>
            </a:r>
            <a:r>
              <a:rPr lang="pt-BR" b="1" dirty="0"/>
              <a:t>funções discriminantes </a:t>
            </a:r>
            <a:r>
              <a:rPr lang="pt-BR" dirty="0"/>
              <a:t>em problemas de classificação </a:t>
            </a:r>
            <a:r>
              <a:rPr lang="pt-BR" b="1" dirty="0"/>
              <a:t>binária</a:t>
            </a:r>
            <a:r>
              <a:rPr lang="pt-BR" dirty="0"/>
              <a:t> e </a:t>
            </a:r>
            <a:r>
              <a:rPr lang="pt-BR" b="1" dirty="0"/>
              <a:t>multiclasses</a:t>
            </a:r>
            <a:r>
              <a:rPr lang="pt-BR" dirty="0"/>
              <a:t>.</a:t>
            </a:r>
          </a:p>
          <a:p>
            <a:r>
              <a:rPr lang="pt-BR" dirty="0"/>
              <a:t>Elas podem ser </a:t>
            </a:r>
            <a:r>
              <a:rPr lang="pt-BR" b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  <a:p>
            <a:r>
              <a:rPr lang="pt-BR" dirty="0"/>
              <a:t>Elas formam </a:t>
            </a:r>
            <a:r>
              <a:rPr lang="pt-BR" b="1" dirty="0"/>
              <a:t>superfícies de separação </a:t>
            </a:r>
            <a:r>
              <a:rPr lang="pt-BR" dirty="0"/>
              <a:t>no espaço de atributos que podem ter várias dimensões (2D, 3D, etc.).</a:t>
            </a:r>
          </a:p>
          <a:p>
            <a:r>
              <a:rPr lang="pt-BR" dirty="0"/>
              <a:t>Em geral, usamos polinômios como </a:t>
            </a:r>
            <a:r>
              <a:rPr lang="pt-BR" b="1" dirty="0"/>
              <a:t>funções discriminantes.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1373584" y="4789714"/>
            <a:ext cx="2665013" cy="205293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9156662" y="4780067"/>
            <a:ext cx="2641085" cy="202013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5279810" y="4784320"/>
            <a:ext cx="2632256" cy="2034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</a:t>
                </a:r>
                <a:r>
                  <a:rPr lang="pt-BR" b="1" dirty="0"/>
                  <a:t>binário</a:t>
                </a:r>
                <a:r>
                  <a:rPr lang="pt-BR" dirty="0"/>
                  <a:t>, nosso </a:t>
                </a:r>
                <a:r>
                  <a:rPr lang="pt-BR" b="1" dirty="0"/>
                  <a:t>objetivo</a:t>
                </a:r>
                <a:r>
                  <a:rPr lang="pt-BR" dirty="0"/>
                  <a:t> é encontrar o </a:t>
                </a:r>
                <a:r>
                  <a:rPr lang="pt-BR" b="1" dirty="0"/>
                  <a:t>grau e os pesos da função discriminante (polinomial) </a:t>
                </a:r>
                <a:r>
                  <a:rPr lang="pt-BR" dirty="0"/>
                  <a:t>de tal forma que que a classe atribuída a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sz="24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=1,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&lt;0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=2,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&gt;0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ndetermina</m:t>
                                    </m:r>
                                    <m: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mr>
                              </m:m>
                              <m:r>
                                <a:rPr lang="pt-BR" sz="240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sz="3200" dirty="0"/>
              </a:p>
              <a:p>
                <a:r>
                  <a:rPr lang="pt-BR" dirty="0"/>
                  <a:t>Em caso de </a:t>
                </a:r>
                <a:r>
                  <a:rPr lang="pt-BR" b="1" dirty="0"/>
                  <a:t>indeterminação</a:t>
                </a:r>
                <a:r>
                  <a:rPr lang="pt-BR" dirty="0"/>
                  <a:t>, podemos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atribuir arbitrariamente a uma das duas classes,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escolher a classe que possui mais amostras ou a mais frequente.</a:t>
                </a:r>
              </a:p>
              <a:p>
                <a:r>
                  <a:rPr lang="pt-BR" dirty="0"/>
                  <a:t>Quanto mais distante a amostra estiver da fronteira de decisão, maior é o valor absoluto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vice versa.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  <a:blipFill>
                <a:blip r:embed="rId3"/>
                <a:stretch>
                  <a:fillRect l="-1271" t="-1937" r="-2048" b="-2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3">
            <a:extLst>
              <a:ext uri="{FF2B5EF4-FFF2-40B4-BE49-F238E27FC236}">
                <a16:creationId xmlns="" xmlns:a16="http://schemas.microsoft.com/office/drawing/2014/main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390548" y="2592216"/>
            <a:ext cx="2841780" cy="32637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/>
              <p:cNvSpPr/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Amostra</m:t>
                      </m:r>
                      <m:r>
                        <m:rPr>
                          <m:nor/>
                        </m:rPr>
                        <a:rPr lang="pt-BR" sz="1200"/>
                        <m:t> </m:t>
                      </m:r>
                      <m:r>
                        <m:rPr>
                          <m:nor/>
                        </m:rPr>
                        <a:rPr lang="pt-BR" sz="1200"/>
                        <m:t>acima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" name="Retângulo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  <a:blipFill>
                <a:blip r:embed="rId5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tângulo 4"/>
              <p:cNvSpPr/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 dirty="0"/>
                        <m:t>Amostra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abaixo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" name="Retângulo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tângulo 5"/>
              <p:cNvSpPr/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sobre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 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6" name="Retângulo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81BC3B9-C36D-49B5-70A3-4BC587561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77D7044-033A-83CB-744E-0A0EF1C5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CE2D84F5-4801-80A5-C74A-52605D5991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da classificação </a:t>
                </a:r>
                <a:r>
                  <a:rPr lang="pt-BR" b="1" dirty="0"/>
                  <a:t>multiclasses</a:t>
                </a:r>
                <a:r>
                  <a:rPr lang="pt-BR" dirty="0"/>
                  <a:t>, o </a:t>
                </a:r>
                <a:r>
                  <a:rPr lang="pt-BR" b="1" dirty="0"/>
                  <a:t>objetivo é encontrar os graus e os pesos das funções discriminantes (polinomiais)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dirty="0"/>
                        <m:t>arg</m:t>
                      </m:r>
                      <m:r>
                        <m:rPr>
                          <m:nor/>
                        </m:rPr>
                        <a:rPr lang="pt-BR" dirty="0"/>
                        <m:t>. 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1,…,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função discriminante.</a:t>
                </a:r>
              </a:p>
              <a:p>
                <a:pPr marL="0" indent="0">
                  <a:buNone/>
                </a:pPr>
                <a:endParaRPr lang="pt-BR" sz="27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  <a:blipFill>
                <a:blip r:embed="rId3"/>
                <a:stretch>
                  <a:fillRect l="-1661" t="-1937" r="-1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="" xmlns:a16="http://schemas.microsoft.com/office/drawing/2014/main" id="{8317135C-B768-15DB-007E-9233AE5ABB0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426319" y="2760454"/>
            <a:ext cx="3663479" cy="280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688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476103"/>
            <a:ext cx="11070771" cy="19057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encontramos o grau e pesos das funções discriminantes?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5616453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490" y="1794459"/>
            <a:ext cx="11070771" cy="34758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Da mesma forma que com a regressão, usando o </a:t>
            </a:r>
            <a:r>
              <a:rPr lang="pt-BR" sz="6000" b="1" dirty="0"/>
              <a:t>gradiente descendente</a:t>
            </a:r>
            <a:r>
              <a:rPr lang="pt-BR" sz="6000" dirty="0"/>
              <a:t> e </a:t>
            </a:r>
            <a:r>
              <a:rPr lang="pt-BR" sz="6000" b="1" dirty="0"/>
              <a:t>validação cruzada</a:t>
            </a:r>
            <a:r>
              <a:rPr lang="pt-BR" sz="6000" dirty="0"/>
              <a:t>, como o </a:t>
            </a:r>
            <a:r>
              <a:rPr lang="pt-BR" sz="6000" i="1" dirty="0"/>
              <a:t>k-</a:t>
            </a:r>
            <a:r>
              <a:rPr lang="pt-BR" sz="6000" i="1" dirty="0" err="1"/>
              <a:t>fold</a:t>
            </a:r>
            <a:r>
              <a:rPr lang="pt-BR" sz="6000" dirty="0"/>
              <a:t>, por exemplo.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3225261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="" xmlns:a16="http://schemas.microsoft.com/office/drawing/2014/main" id="{DA7FDC7F-B899-B1A6-F69A-351822C6EF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nas</a:t>
                </a:r>
                <a:r>
                  <a:rPr lang="en-US" dirty="0"/>
                  <a:t> classes?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E5A0C298-3D62-58C4-3B44-8F0C5C3E0A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89714" y="1825624"/>
                <a:ext cx="7304315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Vocês </a:t>
                </a:r>
                <a:r>
                  <a:rPr lang="en-US" dirty="0" err="1"/>
                  <a:t>perceberam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as </a:t>
                </a:r>
                <a:r>
                  <a:rPr lang="en-US" dirty="0" err="1"/>
                  <a:t>saídas</a:t>
                </a:r>
                <a:r>
                  <a:rPr lang="en-US" dirty="0"/>
                  <a:t> das </a:t>
                </a:r>
                <a:r>
                  <a:rPr lang="en-US" dirty="0" err="1"/>
                  <a:t>funções</a:t>
                </a:r>
                <a:r>
                  <a:rPr lang="en-US" dirty="0"/>
                  <a:t> </a:t>
                </a:r>
                <a:r>
                  <a:rPr lang="en-US" dirty="0" err="1"/>
                  <a:t>discriminantes</a:t>
                </a:r>
                <a:r>
                  <a:rPr lang="en-US" dirty="0"/>
                  <a:t> </a:t>
                </a:r>
                <a:r>
                  <a:rPr lang="en-US" dirty="0" err="1"/>
                  <a:t>podem</a:t>
                </a:r>
                <a:r>
                  <a:rPr lang="en-US" dirty="0"/>
                  <a:t> </a:t>
                </a:r>
                <a:r>
                  <a:rPr lang="en-US" dirty="0" err="1"/>
                  <a:t>assumir</a:t>
                </a:r>
                <a:r>
                  <a:rPr lang="en-US" dirty="0"/>
                  <a:t> </a:t>
                </a:r>
                <a:r>
                  <a:rPr lang="en-US" dirty="0" err="1"/>
                  <a:t>infinitos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))∈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−∞,+∞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Porém</a:t>
                </a:r>
                <a:r>
                  <a:rPr lang="en-US" dirty="0"/>
                  <a:t>, </a:t>
                </a:r>
                <a:r>
                  <a:rPr lang="en-US" dirty="0" err="1"/>
                  <a:t>estamos</a:t>
                </a:r>
                <a:r>
                  <a:rPr lang="en-US" dirty="0"/>
                  <a:t> </a:t>
                </a:r>
                <a:r>
                  <a:rPr lang="en-US" dirty="0" err="1"/>
                  <a:t>lidando</a:t>
                </a:r>
                <a:r>
                  <a:rPr lang="en-US" dirty="0"/>
                  <a:t> com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classificação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objetivo é atribuir uma classe ao vetor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en-US" dirty="0"/>
                  <a:t>Para </a:t>
                </a:r>
                <a:r>
                  <a:rPr lang="en-US" dirty="0" err="1"/>
                  <a:t>calcular</a:t>
                </a:r>
                <a:r>
                  <a:rPr lang="en-US" dirty="0"/>
                  <a:t> o </a:t>
                </a:r>
                <a:r>
                  <a:rPr lang="en-US" dirty="0" err="1"/>
                  <a:t>erro</a:t>
                </a:r>
                <a:r>
                  <a:rPr lang="en-US" dirty="0"/>
                  <a:t> entre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rótulos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e a </a:t>
                </a:r>
                <a:r>
                  <a:rPr lang="en-US" dirty="0" err="1"/>
                  <a:t>saída</a:t>
                </a:r>
                <a:r>
                  <a:rPr lang="en-US" dirty="0"/>
                  <a:t> do </a:t>
                </a:r>
                <a:r>
                  <a:rPr lang="en-US" dirty="0" err="1"/>
                  <a:t>modelo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, ela </a:t>
                </a:r>
                <a:r>
                  <a:rPr lang="en-US" dirty="0" err="1"/>
                  <a:t>deve</a:t>
                </a:r>
                <a:r>
                  <a:rPr lang="en-US" dirty="0"/>
                  <a:t> </a:t>
                </a:r>
                <a:r>
                  <a:rPr lang="en-US" dirty="0" err="1"/>
                  <a:t>estar</a:t>
                </a:r>
                <a:r>
                  <a:rPr lang="en-US" dirty="0"/>
                  <a:t> no </a:t>
                </a:r>
                <a:r>
                  <a:rPr lang="en-US" dirty="0" err="1"/>
                  <a:t>intervalo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pt-BR" sz="240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sz="2400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r>
                  <a:rPr lang="en-US" sz="2400" dirty="0"/>
                  <a:t>.</a:t>
                </a:r>
                <a:endParaRPr lang="en-US" dirty="0"/>
              </a:p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 smtClean="0"/>
                  <a:t>nesse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intervalo</a:t>
                </a:r>
                <a:r>
                  <a:rPr lang="en-US" dirty="0" smtClean="0"/>
                  <a:t>?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E5A0C298-3D62-58C4-3B44-8F0C5C3E0A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89714" y="1825624"/>
                <a:ext cx="7304315" cy="5032375"/>
              </a:xfrm>
              <a:blipFill rotWithShape="0">
                <a:blip r:embed="rId3"/>
                <a:stretch>
                  <a:fillRect l="-1503" t="-1937" b="-24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586490" y="2253182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8131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Função de limiar de decisão ou de ativação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Isso pode ser feito através de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 smtClean="0"/>
                  <a:t>, que mapeie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</m:oMath>
                </a14:m>
                <a:r>
                  <a:rPr lang="pt-BR" dirty="0" smtClean="0"/>
                  <a:t> no intervalo [0, 1].</a:t>
                </a:r>
              </a:p>
              <a:p>
                <a:r>
                  <a:rPr lang="pt-BR" dirty="0" smtClean="0"/>
                  <a:t>Além disso, para que possamos treinar modelos de classificação, essa função deve ser 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contínua</a:t>
                </a:r>
                <a:r>
                  <a:rPr lang="pt-BR" dirty="0" smtClean="0"/>
                  <a:t> e </a:t>
                </a:r>
                <a:r>
                  <a:rPr lang="pt-BR" b="1" dirty="0" err="1" smtClean="0">
                    <a:solidFill>
                      <a:srgbClr val="00B050"/>
                    </a:solidFill>
                  </a:rPr>
                  <a:t>diferenciável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.</a:t>
                </a:r>
              </a:p>
              <a:p>
                <a:r>
                  <a:rPr lang="pt-BR" dirty="0" smtClean="0"/>
                  <a:t>No contexto da classificação, ela é chamada de função de limiar de decisão ou de ativação.</a:t>
                </a:r>
              </a:p>
              <a:p>
                <a:r>
                  <a:rPr lang="pt-BR" dirty="0" smtClean="0"/>
                  <a:t>Qual função podemos usar?</a:t>
                </a:r>
                <a:endParaRPr lang="pt-BR" dirty="0"/>
              </a:p>
              <a:p>
                <a:endParaRPr lang="pt-BR" dirty="0" smtClean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  <a:blipFill rotWithShape="0">
                <a:blip r:embed="rId2"/>
                <a:stretch>
                  <a:fillRect l="-1586" t="-1937" r="-15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838200" y="2003800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970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7241A4B6-DEE9-BEE1-4387-34DE81FAA3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862" y="1341682"/>
            <a:ext cx="5599306" cy="5181447"/>
          </a:xfrm>
          <a:prstGeom prst="rect">
            <a:avLst/>
          </a:prstGeom>
        </p:spPr>
      </p:pic>
      <p:sp>
        <p:nvSpPr>
          <p:cNvPr id="2" name="Retângulo 1"/>
          <p:cNvSpPr/>
          <p:nvPr/>
        </p:nvSpPr>
        <p:spPr>
          <a:xfrm>
            <a:off x="6672349" y="2901353"/>
            <a:ext cx="5164975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Uma função que apresenta tais características é a </a:t>
            </a:r>
            <a:r>
              <a:rPr lang="pt-BR" sz="3200" b="1" dirty="0">
                <a:solidFill>
                  <a:srgbClr val="00B050"/>
                </a:solidFill>
              </a:rPr>
              <a:t>função logística</a:t>
            </a:r>
            <a:r>
              <a:rPr lang="pt-BR" sz="3200" dirty="0"/>
              <a:t>, também conhecida como </a:t>
            </a:r>
            <a:r>
              <a:rPr lang="pt-BR" sz="3200" b="1" dirty="0">
                <a:solidFill>
                  <a:srgbClr val="00B050"/>
                </a:solidFill>
              </a:rPr>
              <a:t>sigmoide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34671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dirty="0"/>
                  <a:t>A </a:t>
                </a:r>
                <a:r>
                  <a:rPr lang="pt-BR" b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pt-BR" i="1"/>
                      <m:t>Logistic</m:t>
                    </m:r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pPr algn="just"/>
                <a:r>
                  <a:rPr lang="pt-BR" dirty="0"/>
                  <a:t>A utilizando como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temos a seguinte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hipótese de classificação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  <a:blipFill>
                <a:blip r:embed="rId3"/>
                <a:stretch>
                  <a:fillRect l="-1627" t="-1937" r="-18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34AEE6EF-5ED3-AE55-0A96-F31E1F8942A9}"/>
              </a:ext>
            </a:extLst>
          </p:cNvPr>
          <p:cNvGrpSpPr/>
          <p:nvPr/>
        </p:nvGrpSpPr>
        <p:grpSpPr>
          <a:xfrm>
            <a:off x="718457" y="2427506"/>
            <a:ext cx="3951514" cy="355963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="" xmlns:a16="http://schemas.microsoft.com/office/drawing/2014/main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="" xmlns:a16="http://schemas.microsoft.com/office/drawing/2014/main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="" xmlns:a16="http://schemas.microsoft.com/office/drawing/2014/main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83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pode ser interpretada como a probabilidade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dado os vetores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, i.e., a p</a:t>
                </a:r>
                <a:r>
                  <a:rPr lang="pt-BR" dirty="0">
                    <a:solidFill>
                      <a:schemeClr val="tx1"/>
                    </a:solidFill>
                  </a:rPr>
                  <a:t>robabilidade condicional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b="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pt-BR" b="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probabilidade condicional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  <a:blipFill>
                <a:blip r:embed="rId3"/>
                <a:stretch>
                  <a:fillRect l="-1928" t="-1937" r="-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8A58ED0E-A13A-8658-E325-826B73F5A7BF}"/>
              </a:ext>
            </a:extLst>
          </p:cNvPr>
          <p:cNvGrpSpPr/>
          <p:nvPr/>
        </p:nvGrpSpPr>
        <p:grpSpPr>
          <a:xfrm>
            <a:off x="941484" y="2236587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="" xmlns:a16="http://schemas.microsoft.com/office/drawing/2014/main" id="{4D65E5CB-D6D8-B927-D766-DF307160A2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="" xmlns:a16="http://schemas.microsoft.com/office/drawing/2014/main" id="{100FEDFC-F647-FD30-A1FC-8F87A3EB713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="" xmlns:a16="http://schemas.microsoft.com/office/drawing/2014/main" id="{FDBDA829-39EC-592C-1061-9A5F8848E1B1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766284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se aproxima de 0 ou 1 conforme o exemplo se distancia da </a:t>
                </a:r>
                <a:r>
                  <a:rPr lang="pt-BR" b="1" dirty="0"/>
                  <a:t>fronteira de decisão</a:t>
                </a:r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Quanto mais </a:t>
                </a:r>
                <a:r>
                  <a:rPr lang="pt-BR" dirty="0"/>
                  <a:t>distante a amostra estiver da </a:t>
                </a:r>
                <a:r>
                  <a:rPr lang="pt-BR" dirty="0" smtClean="0"/>
                  <a:t>fronteira, maior é a probabilidade dela pertencer à classe daquela região.</a:t>
                </a:r>
                <a:endParaRPr lang="pt-B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prediz uma probabilidade de 0.5 para amostras posicionadas exatamente sobre a </a:t>
                </a:r>
                <a:r>
                  <a:rPr lang="pt-BR" b="1" dirty="0"/>
                  <a:t>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</a:t>
                </a:r>
                <a:r>
                  <a:rPr lang="pt-BR" b="1" dirty="0"/>
                  <a:t>fronteira de decisão</a:t>
                </a:r>
                <a:r>
                  <a:rPr lang="pt-BR" dirty="0"/>
                  <a:t> é definida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  <a:blipFill rotWithShape="0">
                <a:blip r:embed="rId3"/>
                <a:stretch>
                  <a:fillRect t="-1937" r="-166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upo 7"/>
          <p:cNvGrpSpPr/>
          <p:nvPr/>
        </p:nvGrpSpPr>
        <p:grpSpPr>
          <a:xfrm>
            <a:off x="946363" y="1825623"/>
            <a:ext cx="2819115" cy="4551119"/>
            <a:chOff x="946363" y="1825623"/>
            <a:chExt cx="2819115" cy="4551119"/>
          </a:xfrm>
        </p:grpSpPr>
        <p:pic>
          <p:nvPicPr>
            <p:cNvPr id="4" name="Imagem 7">
              <a:extLst>
                <a:ext uri="{FF2B5EF4-FFF2-40B4-BE49-F238E27FC236}">
                  <a16:creationId xmlns="" xmlns:a16="http://schemas.microsoft.com/office/drawing/2014/main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="" xmlns:a16="http://schemas.microsoft.com/office/drawing/2014/main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="" xmlns:a16="http://schemas.microsoft.com/office/drawing/2014/main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16">
                  <a:extLst>
                    <a:ext uri="{FF2B5EF4-FFF2-40B4-BE49-F238E27FC236}">
                      <a16:creationId xmlns="" xmlns:a16="http://schemas.microsoft.com/office/drawing/2014/main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Conector de Seta Reta 4">
              <a:extLst>
                <a:ext uri="{FF2B5EF4-FFF2-40B4-BE49-F238E27FC236}">
                  <a16:creationId xmlns="" xmlns:a16="http://schemas.microsoft.com/office/drawing/2014/main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de Seta Reta 9">
              <a:extLst>
                <a:ext uri="{FF2B5EF4-FFF2-40B4-BE49-F238E27FC236}">
                  <a16:creationId xmlns="" xmlns:a16="http://schemas.microsoft.com/office/drawing/2014/main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0">
              <a:extLst>
                <a:ext uri="{FF2B5EF4-FFF2-40B4-BE49-F238E27FC236}">
                  <a16:creationId xmlns="" xmlns:a16="http://schemas.microsoft.com/office/drawing/2014/main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392650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CAF9C095-0678-B568-4C0C-EE5720975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5802" y="1825624"/>
            <a:ext cx="7033799" cy="5032375"/>
          </a:xfrm>
        </p:spPr>
        <p:txBody>
          <a:bodyPr>
            <a:normAutofit/>
          </a:bodyPr>
          <a:lstStyle/>
          <a:p>
            <a:r>
              <a:rPr lang="pt-BR" dirty="0"/>
              <a:t>Esse modelo que estima a probabilidade de uma dada amostra de entrada pertencer à classe positiva, </a:t>
            </a:r>
            <a:r>
              <a:rPr lang="pt-BR" b="1" dirty="0">
                <a:solidFill>
                  <a:srgbClr val="7030A0"/>
                </a:solidFill>
              </a:rPr>
              <a:t>não é um classificador </a:t>
            </a:r>
            <a:r>
              <a:rPr lang="pt-BR" b="1" dirty="0">
                <a:solidFill>
                  <a:srgbClr val="00B050"/>
                </a:solidFill>
              </a:rPr>
              <a:t>no sentido estrito</a:t>
            </a:r>
            <a:r>
              <a:rPr lang="pt-BR" dirty="0"/>
              <a:t>.</a:t>
            </a:r>
          </a:p>
          <a:p>
            <a:r>
              <a:rPr lang="pt-BR" dirty="0"/>
              <a:t>Ele é na verdade um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e é chamado de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</a:t>
            </a:r>
            <a:r>
              <a:rPr lang="pt-BR" b="1" dirty="0"/>
              <a:t>logístico</a:t>
            </a:r>
            <a:r>
              <a:rPr lang="pt-BR" dirty="0"/>
              <a:t>.</a:t>
            </a:r>
          </a:p>
          <a:p>
            <a:r>
              <a:rPr lang="pt-BR" dirty="0"/>
              <a:t>É um regressor pois sua saída pode </a:t>
            </a:r>
            <a:r>
              <a:rPr lang="pt-BR" b="1" dirty="0">
                <a:solidFill>
                  <a:srgbClr val="7030A0"/>
                </a:solidFill>
              </a:rPr>
              <a:t>assumir infinitos valores </a:t>
            </a:r>
            <a:r>
              <a:rPr lang="pt-BR" dirty="0"/>
              <a:t>no intervalo entre 0 e 1.</a:t>
            </a:r>
          </a:p>
          <a:p>
            <a:endParaRPr lang="pt-BR" dirty="0"/>
          </a:p>
        </p:txBody>
      </p:sp>
      <p:grpSp>
        <p:nvGrpSpPr>
          <p:cNvPr id="4" name="Grupo 3"/>
          <p:cNvGrpSpPr/>
          <p:nvPr/>
        </p:nvGrpSpPr>
        <p:grpSpPr>
          <a:xfrm>
            <a:off x="1046115" y="2066251"/>
            <a:ext cx="2819115" cy="4551119"/>
            <a:chOff x="946363" y="1825623"/>
            <a:chExt cx="2819115" cy="4551119"/>
          </a:xfrm>
        </p:grpSpPr>
        <p:pic>
          <p:nvPicPr>
            <p:cNvPr id="5" name="Imagem 7">
              <a:extLst>
                <a:ext uri="{FF2B5EF4-FFF2-40B4-BE49-F238E27FC236}">
                  <a16:creationId xmlns="" xmlns:a16="http://schemas.microsoft.com/office/drawing/2014/main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="" xmlns:a16="http://schemas.microsoft.com/office/drawing/2014/main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="" xmlns:a16="http://schemas.microsoft.com/office/drawing/2014/main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16">
                  <a:extLst>
                    <a:ext uri="{FF2B5EF4-FFF2-40B4-BE49-F238E27FC236}">
                      <a16:creationId xmlns="" xmlns:a16="http://schemas.microsoft.com/office/drawing/2014/main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Conector de Seta Reta 4">
              <a:extLst>
                <a:ext uri="{FF2B5EF4-FFF2-40B4-BE49-F238E27FC236}">
                  <a16:creationId xmlns="" xmlns:a16="http://schemas.microsoft.com/office/drawing/2014/main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de Seta Reta 9">
              <a:extLst>
                <a:ext uri="{FF2B5EF4-FFF2-40B4-BE49-F238E27FC236}">
                  <a16:creationId xmlns="" xmlns:a16="http://schemas.microsoft.com/office/drawing/2014/main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de Seta Reta 10">
              <a:extLst>
                <a:ext uri="{FF2B5EF4-FFF2-40B4-BE49-F238E27FC236}">
                  <a16:creationId xmlns="" xmlns:a16="http://schemas.microsoft.com/office/drawing/2014/main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979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ogistic regression Is used for classification - Sarcastic Nicholas Cage  Meme Generator">
            <a:extLst>
              <a:ext uri="{FF2B5EF4-FFF2-40B4-BE49-F238E27FC236}">
                <a16:creationId xmlns="" xmlns:a16="http://schemas.microsoft.com/office/drawing/2014/main" id="{6D195832-A25E-9AD8-AE65-CD762EA373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114" y="1892074"/>
            <a:ext cx="6362636" cy="3616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6C63E270-A08C-0D12-C9A7-01E366EBC2E7}"/>
              </a:ext>
            </a:extLst>
          </p:cNvPr>
          <p:cNvSpPr txBox="1"/>
          <p:nvPr/>
        </p:nvSpPr>
        <p:spPr>
          <a:xfrm>
            <a:off x="6890658" y="2757493"/>
            <a:ext cx="505097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O </a:t>
            </a:r>
            <a:r>
              <a:rPr lang="pt-BR" sz="3200" b="1" dirty="0"/>
              <a:t>regressor logístico </a:t>
            </a:r>
            <a:r>
              <a:rPr lang="pt-BR" sz="3200" dirty="0"/>
              <a:t>é usado para </a:t>
            </a:r>
            <a:r>
              <a:rPr lang="pt-BR" sz="3200" b="1" dirty="0">
                <a:solidFill>
                  <a:srgbClr val="00B050"/>
                </a:solidFill>
              </a:rPr>
              <a:t>classificação binária</a:t>
            </a:r>
            <a:r>
              <a:rPr lang="pt-BR" sz="3200" dirty="0"/>
              <a:t>,</a:t>
            </a:r>
            <a:r>
              <a:rPr lang="pt-BR" sz="3200" b="1" dirty="0">
                <a:solidFill>
                  <a:srgbClr val="00B050"/>
                </a:solidFill>
              </a:rPr>
              <a:t> </a:t>
            </a:r>
            <a:r>
              <a:rPr lang="pt-BR" sz="3200" dirty="0"/>
              <a:t>mas para isso, precisamos </a:t>
            </a:r>
            <a:r>
              <a:rPr lang="pt-BR" sz="3200" b="1" dirty="0">
                <a:solidFill>
                  <a:srgbClr val="00B050"/>
                </a:solidFill>
              </a:rPr>
              <a:t>quantizar sua saída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41357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12286" cy="5032375"/>
              </a:xfrm>
            </p:spPr>
            <p:txBody>
              <a:bodyPr/>
              <a:lstStyle/>
              <a:p>
                <a:r>
                  <a:rPr lang="pt-BR" dirty="0"/>
                  <a:t>Se quantiza a saída da </a:t>
                </a:r>
                <a:r>
                  <a:rPr lang="pt-BR" b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o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0.5.</a:t>
                </a:r>
              </a:p>
              <a:p>
                <a:r>
                  <a:rPr lang="pt-BR" dirty="0"/>
                  <a:t>A saída </a:t>
                </a:r>
                <a:r>
                  <a:rPr lang="pt-BR" b="1" dirty="0"/>
                  <a:t>quantizada</a:t>
                </a:r>
                <a:r>
                  <a:rPr lang="pt-BR" dirty="0"/>
                  <a:t> do </a:t>
                </a:r>
                <a:r>
                  <a:rPr lang="pt-BR" b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 (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 i="0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12286" cy="5032375"/>
              </a:xfrm>
              <a:blipFill>
                <a:blip r:embed="rId3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65116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3" y="1825624"/>
            <a:ext cx="6600460" cy="5032375"/>
          </a:xfrm>
        </p:spPr>
        <p:txBody>
          <a:bodyPr/>
          <a:lstStyle/>
          <a:p>
            <a:r>
              <a:rPr lang="pt-BR" dirty="0"/>
              <a:t>Com tudo definido,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nosso objetivo será, assim como na regressão linear, dado uma função discriminante, encontrar </a:t>
            </a:r>
            <a:r>
              <a:rPr lang="pt-BR" b="1" dirty="0">
                <a:solidFill>
                  <a:srgbClr val="00B050"/>
                </a:solidFill>
              </a:rPr>
              <a:t>seus pesos</a:t>
            </a:r>
            <a:r>
              <a:rPr lang="pt-BR" dirty="0"/>
              <a:t> de forma que o </a:t>
            </a:r>
            <a:r>
              <a:rPr lang="pt-BR" b="1" dirty="0">
                <a:solidFill>
                  <a:srgbClr val="00B050"/>
                </a:solidFill>
              </a:rPr>
              <a:t>erro de classificação seja </a:t>
            </a:r>
            <a:r>
              <a:rPr lang="pt-BR" b="1" dirty="0">
                <a:solidFill>
                  <a:srgbClr val="7030A0"/>
                </a:solidFill>
              </a:rPr>
              <a:t>minimizado</a:t>
            </a:r>
            <a:r>
              <a:rPr lang="pt-BR" dirty="0"/>
              <a:t>.</a:t>
            </a:r>
          </a:p>
          <a:p>
            <a:r>
              <a:rPr lang="pt-BR" dirty="0"/>
              <a:t>Agora precisamos de uma função de erro para </a:t>
            </a:r>
            <a:r>
              <a:rPr lang="pt-BR" b="1" dirty="0">
                <a:solidFill>
                  <a:srgbClr val="00B050"/>
                </a:solidFill>
              </a:rPr>
              <a:t>treinarmos um regressor logístico.</a:t>
            </a:r>
            <a:endParaRPr lang="pt-BR" dirty="0"/>
          </a:p>
          <a:p>
            <a:r>
              <a:rPr lang="pt-BR" dirty="0"/>
              <a:t>Porém, usar a função do </a:t>
            </a:r>
            <a:r>
              <a:rPr lang="pt-BR" b="1" dirty="0">
                <a:solidFill>
                  <a:schemeClr val="accent2"/>
                </a:solidFill>
              </a:rPr>
              <a:t>erro quadrático médio</a:t>
            </a:r>
            <a:r>
              <a:rPr lang="pt-BR" b="1" dirty="0"/>
              <a:t> </a:t>
            </a:r>
            <a:r>
              <a:rPr lang="pt-BR" b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no caso da</a:t>
            </a:r>
            <a:r>
              <a:rPr lang="pt-BR" b="1" dirty="0"/>
              <a:t> regressão logística</a:t>
            </a:r>
            <a:r>
              <a:rPr lang="pt-BR" dirty="0"/>
              <a:t> e </a:t>
            </a:r>
            <a:r>
              <a:rPr lang="pt-BR" b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="" xmlns:a16="http://schemas.microsoft.com/office/drawing/2014/main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6396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adotarmos o EQM como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será</a:t>
                </a:r>
                <a:r>
                  <a:rPr lang="pt-BR" dirty="0"/>
                  <a:t>, consequentemente, </a:t>
                </a:r>
                <a:r>
                  <a:rPr lang="pt-BR" b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dirty="0"/>
                  <a:t>superfície de erro</a:t>
                </a:r>
                <a:r>
                  <a:rPr lang="pt-BR" dirty="0"/>
                  <a:t> poderá apresentar </a:t>
                </a:r>
                <a:r>
                  <a:rPr lang="pt-BR" b="1" dirty="0">
                    <a:solidFill>
                      <a:srgbClr val="7030A0"/>
                    </a:solidFill>
                  </a:rPr>
                  <a:t>vários mínimos locais e outras irregularidades </a:t>
                </a:r>
                <a:r>
                  <a:rPr lang="pt-BR" dirty="0"/>
                  <a:t>que vão dificultar o aprendizado do modelo.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 algoritmo do GD pode ficar preso em um mínimo local).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>
                <a:blip r:embed="rId3"/>
                <a:stretch>
                  <a:fillRect l="-1462" t="-2663" r="-1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2919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75462" y="1825624"/>
                <a:ext cx="9016538" cy="5032375"/>
              </a:xfrm>
            </p:spPr>
            <p:txBody>
              <a:bodyPr/>
              <a:lstStyle/>
              <a:p>
                <a:r>
                  <a:rPr lang="pt-BR" dirty="0"/>
                  <a:t>Precisamos usar uma </a:t>
                </a:r>
                <a:r>
                  <a:rPr lang="pt-BR" b="1" dirty="0"/>
                  <a:t>função de erro </a:t>
                </a:r>
                <a:r>
                  <a:rPr lang="pt-BR" dirty="0"/>
                  <a:t>que tenha uma </a:t>
                </a:r>
                <a:r>
                  <a:rPr lang="pt-BR" b="1" dirty="0"/>
                  <a:t>superfície de erro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função que no caso da regressão logística é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 é a função da </a:t>
                </a:r>
                <a:r>
                  <a:rPr lang="pt-BR" b="1" dirty="0">
                    <a:solidFill>
                      <a:srgbClr val="7030A0"/>
                    </a:solidFill>
                  </a:rPr>
                  <a:t>entropia cruzada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É a média aritmética do erro para cada amostra.</a:t>
                </a:r>
              </a:p>
              <a:p>
                <a:r>
                  <a:rPr lang="pt-BR" dirty="0"/>
                  <a:t>Ela mede quão diferente está a distribuição prevista pelo modelo da distribuição real dos rótulos</a:t>
                </a:r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Assim, o </a:t>
                </a:r>
                <a:r>
                  <a:rPr lang="pt-BR" dirty="0"/>
                  <a:t>modelo aprende a aproximar a distribuição real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75462" y="1825624"/>
                <a:ext cx="9016538" cy="5032375"/>
              </a:xfrm>
              <a:blipFill rotWithShape="0">
                <a:blip r:embed="rId3"/>
                <a:stretch>
                  <a:fillRect l="-1217" t="-1937" r="-135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50407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 rotWithShape="0"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57008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1−</m:t>
                                              </m:r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lim>
                          </m:limLow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 smtClean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)=1</m:t>
                    </m:r>
                  </m:oMath>
                </a14:m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 smtClean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 </a:t>
                </a:r>
                <a:r>
                  <a:rPr lang="pt-BR" dirty="0" smtClean="0"/>
                  <a:t>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 smtClean="0"/>
                  <a:t>.</a:t>
                </a:r>
                <a:endParaRPr lang="pt-BR" sz="2000" dirty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)=0</m:t>
                    </m:r>
                  </m:oMath>
                </a14:m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1 −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→0</m:t>
                        </m:r>
                      </m:e>
                    </m:func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 smtClean="0"/>
                  <a:t>.</a:t>
                </a:r>
              </a:p>
              <a:p>
                <a:r>
                  <a:rPr lang="pt-BR" dirty="0"/>
                  <a:t> </a:t>
                </a:r>
                <a:r>
                  <a:rPr lang="pt-BR" dirty="0" smtClean="0"/>
                  <a:t>O erro </a:t>
                </a:r>
                <a:r>
                  <a:rPr lang="pt-BR" dirty="0"/>
                  <a:t>é </a:t>
                </a:r>
                <a:r>
                  <a:rPr lang="pt-BR" dirty="0" smtClean="0"/>
                  <a:t>muito alto se o classificador erra e tende a zero se acerta.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25746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/>
          </a:bodyPr>
          <a:lstStyle/>
          <a:p>
            <a:r>
              <a:rPr lang="pt-BR" dirty="0"/>
              <a:t>Uma má </a:t>
            </a:r>
            <a:r>
              <a:rPr lang="pt-BR" dirty="0" smtClean="0"/>
              <a:t>notícia, </a:t>
            </a:r>
            <a:r>
              <a:rPr lang="pt-BR" b="1" dirty="0" smtClean="0">
                <a:solidFill>
                  <a:srgbClr val="00B050"/>
                </a:solidFill>
              </a:rPr>
              <a:t>não </a:t>
            </a:r>
            <a:r>
              <a:rPr lang="pt-BR" b="1" dirty="0">
                <a:solidFill>
                  <a:srgbClr val="00B050"/>
                </a:solidFill>
              </a:rPr>
              <a:t>existe uma equação </a:t>
            </a:r>
            <a:r>
              <a:rPr lang="pt-BR" b="1" dirty="0" smtClean="0">
                <a:solidFill>
                  <a:srgbClr val="00B050"/>
                </a:solidFill>
              </a:rPr>
              <a:t>analítica </a:t>
            </a:r>
            <a:r>
              <a:rPr lang="pt-BR" dirty="0" smtClean="0"/>
              <a:t>que nos dá diretamente os </a:t>
            </a:r>
            <a:r>
              <a:rPr lang="pt-BR" b="1" dirty="0" smtClean="0"/>
              <a:t>pesos</a:t>
            </a:r>
            <a:r>
              <a:rPr lang="pt-BR" dirty="0" smtClean="0"/>
              <a:t> </a:t>
            </a:r>
            <a:r>
              <a:rPr lang="pt-BR" dirty="0"/>
              <a:t>que </a:t>
            </a:r>
            <a:r>
              <a:rPr lang="pt-BR" dirty="0" smtClean="0"/>
              <a:t>minimizam </a:t>
            </a:r>
            <a:r>
              <a:rPr lang="pt-BR" dirty="0"/>
              <a:t>essa </a:t>
            </a:r>
            <a:r>
              <a:rPr lang="pt-BR" b="1" dirty="0"/>
              <a:t>função de erro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600" dirty="0"/>
              <a:t>Ou seja, não há um equivalente da </a:t>
            </a:r>
            <a:r>
              <a:rPr lang="pt-BR" sz="2600" b="1" dirty="0"/>
              <a:t>equação normal</a:t>
            </a:r>
            <a:r>
              <a:rPr lang="pt-BR" sz="2600" dirty="0"/>
              <a:t>. </a:t>
            </a:r>
          </a:p>
          <a:p>
            <a:r>
              <a:rPr lang="pt-BR" dirty="0"/>
              <a:t>Entretanto, </a:t>
            </a:r>
            <a:r>
              <a:rPr lang="pt-BR" dirty="0" smtClean="0"/>
              <a:t>a boa </a:t>
            </a:r>
            <a:r>
              <a:rPr lang="pt-BR" dirty="0"/>
              <a:t>notícia é que </a:t>
            </a:r>
            <a:r>
              <a:rPr lang="pt-BR" dirty="0" smtClean="0"/>
              <a:t>por ser </a:t>
            </a:r>
            <a:r>
              <a:rPr lang="pt-BR" b="1" dirty="0" smtClean="0">
                <a:solidFill>
                  <a:srgbClr val="00B050"/>
                </a:solidFill>
              </a:rPr>
              <a:t>convexa</a:t>
            </a:r>
            <a:r>
              <a:rPr lang="pt-BR" dirty="0" smtClean="0"/>
              <a:t> </a:t>
            </a:r>
            <a:r>
              <a:rPr lang="pt-BR" dirty="0"/>
              <a:t>e </a:t>
            </a:r>
            <a:r>
              <a:rPr lang="pt-BR" b="1" dirty="0" err="1" smtClean="0">
                <a:solidFill>
                  <a:srgbClr val="00B050"/>
                </a:solidFill>
              </a:rPr>
              <a:t>diferenciável</a:t>
            </a:r>
            <a:r>
              <a:rPr lang="pt-BR" dirty="0" smtClean="0"/>
              <a:t>, </a:t>
            </a:r>
            <a:r>
              <a:rPr lang="pt-BR" b="1" dirty="0">
                <a:solidFill>
                  <a:srgbClr val="00B050"/>
                </a:solidFill>
              </a:rPr>
              <a:t>conseguimos</a:t>
            </a:r>
            <a:r>
              <a:rPr lang="pt-BR" dirty="0"/>
              <a:t> calcular o </a:t>
            </a:r>
            <a:r>
              <a:rPr lang="pt-BR" b="1" dirty="0">
                <a:solidFill>
                  <a:srgbClr val="00B050"/>
                </a:solidFill>
              </a:rPr>
              <a:t>vetor gradiente da função de erro</a:t>
            </a:r>
            <a:r>
              <a:rPr lang="pt-BR" dirty="0"/>
              <a:t> </a:t>
            </a:r>
            <a:r>
              <a:rPr lang="pt-BR" dirty="0" smtClean="0"/>
              <a:t>e </a:t>
            </a:r>
            <a:r>
              <a:rPr lang="pt-BR" b="1" dirty="0">
                <a:solidFill>
                  <a:srgbClr val="7030A0"/>
                </a:solidFill>
              </a:rPr>
              <a:t>implementar</a:t>
            </a:r>
            <a:r>
              <a:rPr lang="pt-BR" dirty="0"/>
              <a:t> o algoritmo do </a:t>
            </a:r>
            <a:r>
              <a:rPr lang="pt-BR" b="1" dirty="0">
                <a:solidFill>
                  <a:srgbClr val="7030A0"/>
                </a:solidFill>
              </a:rPr>
              <a:t>gradiente descendente (GD</a:t>
            </a:r>
            <a:r>
              <a:rPr lang="pt-BR" b="1" dirty="0" smtClean="0">
                <a:solidFill>
                  <a:srgbClr val="7030A0"/>
                </a:solidFill>
              </a:rPr>
              <a:t>)</a:t>
            </a:r>
            <a:r>
              <a:rPr lang="pt-BR" dirty="0" smtClean="0"/>
              <a:t>.</a:t>
            </a:r>
          </a:p>
          <a:p>
            <a:r>
              <a:rPr lang="pt-BR" dirty="0" smtClean="0"/>
              <a:t>Podemos </a:t>
            </a:r>
            <a:r>
              <a:rPr lang="pt-BR" dirty="0"/>
              <a:t>implementar todas as versões do </a:t>
            </a:r>
            <a:r>
              <a:rPr lang="pt-BR" b="1" dirty="0" smtClean="0">
                <a:solidFill>
                  <a:srgbClr val="7030A0"/>
                </a:solidFill>
              </a:rPr>
              <a:t>GD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Batelada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Estocástico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 smtClean="0"/>
              <a:t>Mini-batch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17580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Vetor gradiente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A </a:t>
                </a:r>
                <a:r>
                  <a:rPr lang="pt-BR" b="1" dirty="0"/>
                  <a:t>atualização iterativa </a:t>
                </a:r>
                <a:r>
                  <a:rPr lang="pt-BR" dirty="0"/>
                  <a:t>dos </a:t>
                </a:r>
                <a:r>
                  <a:rPr lang="pt-BR" b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/>
                  <a:t>vetor gradiente </a:t>
                </a:r>
                <a:r>
                  <a:rPr lang="pt-BR" dirty="0"/>
                  <a:t>da</a:t>
                </a:r>
                <a:r>
                  <a:rPr lang="pt-BR" b="1" dirty="0"/>
                  <a:t> função </a:t>
                </a:r>
                <a:r>
                  <a:rPr lang="pt-BR" b="1" dirty="0" smtClean="0"/>
                  <a:t>da entropia cruzada </a:t>
                </a:r>
                <a:r>
                  <a:rPr lang="pt-BR" dirty="0" smtClean="0"/>
                  <a:t>é </a:t>
                </a:r>
                <a:r>
                  <a:rPr lang="pt-BR" dirty="0"/>
                  <a:t>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limLow>
                                <m:limLow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groupChr>
                                </m:e>
                                <m:lim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</m:lim>
                              </m:limLow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 é a matriz de </a:t>
                </a:r>
                <a:r>
                  <a:rPr lang="pt-BR" dirty="0" smtClean="0"/>
                  <a:t>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 smtClean="0"/>
                  <a:t> são vetores contendo </a:t>
                </a:r>
                <a:r>
                  <a:rPr lang="pt-BR" dirty="0"/>
                  <a:t>todos os valores esperados e </a:t>
                </a:r>
                <a:r>
                  <a:rPr lang="pt-BR" dirty="0" smtClean="0"/>
                  <a:t>preditos, </a:t>
                </a:r>
                <a:r>
                  <a:rPr lang="pt-BR" dirty="0"/>
                  <a:t>respectivamente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O anexo I apresenta os passos para se encontrar o vetor gradiente.</a:t>
                </a:r>
                <a:endParaRPr lang="pt-BR" dirty="0"/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  <a:blipFill rotWithShape="0">
                <a:blip r:embed="rId3"/>
                <a:stretch>
                  <a:fillRect l="-1148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="" xmlns:a16="http://schemas.microsoft.com/office/drawing/2014/main" id="{5E51EB45-1595-7630-C24F-EAA34F018369}"/>
              </a:ext>
            </a:extLst>
          </p:cNvPr>
          <p:cNvSpPr txBox="1"/>
          <p:nvPr/>
        </p:nvSpPr>
        <p:spPr>
          <a:xfrm>
            <a:off x="10676368" y="4338826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="" xmlns:a16="http://schemas.microsoft.com/office/drawing/2014/main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 flipV="1">
            <a:off x="10174780" y="4203892"/>
            <a:ext cx="648391" cy="2683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>Para encontrar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</a:t>
                </a:r>
                <a:r>
                  <a:rPr lang="pt-BR" sz="2800" dirty="0" smtClean="0"/>
                  <a:t>um </a:t>
                </a:r>
                <a:r>
                  <a:rPr lang="pt-BR" sz="2800" b="1" dirty="0"/>
                  <a:t>hiperplano</a:t>
                </a:r>
                <a:r>
                  <a:rPr lang="pt-BR" sz="2800" dirty="0"/>
                  <a:t>, mas o resultado pode ser diretamente estendido para polinômios</a:t>
                </a:r>
                <a:r>
                  <a:rPr lang="pt-BR" sz="2800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sz="2400" dirty="0" smtClean="0"/>
                  <a:t>Cada coluna de </a:t>
                </a:r>
                <a14:m>
                  <m:oMath xmlns:m="http://schemas.openxmlformats.org/officeDocument/2006/math"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sz="2400" dirty="0" smtClean="0"/>
                  <a:t> é formada pelas combinações dos atributos originais </a:t>
                </a:r>
                <a:r>
                  <a:rPr lang="pt-BR" dirty="0" smtClean="0"/>
                  <a:t>de cada </a:t>
                </a:r>
                <a:r>
                  <a:rPr lang="pt-BR" sz="2400" dirty="0" smtClean="0"/>
                  <a:t>monômio do polinômio.</a:t>
                </a:r>
                <a:endParaRPr lang="pt-BR" sz="2400" dirty="0"/>
              </a:p>
              <a:p>
                <a:r>
                  <a:rPr lang="pt-BR" dirty="0" smtClean="0"/>
                  <a:t>O </a:t>
                </a:r>
                <a:r>
                  <a:rPr lang="pt-BR" b="1" dirty="0" smtClean="0">
                    <a:solidFill>
                      <a:srgbClr val="7030A0"/>
                    </a:solidFill>
                  </a:rPr>
                  <a:t>vetor </a:t>
                </a:r>
                <a:r>
                  <a:rPr lang="pt-BR" b="1" dirty="0">
                    <a:solidFill>
                      <a:srgbClr val="7030A0"/>
                    </a:solidFill>
                  </a:rPr>
                  <a:t>gradiente</a:t>
                </a:r>
                <a:r>
                  <a:rPr lang="pt-BR" b="1" dirty="0"/>
                  <a:t> </a:t>
                </a:r>
                <a:r>
                  <a:rPr lang="pt-BR" dirty="0" smtClean="0"/>
                  <a:t>acima</a:t>
                </a:r>
                <a:r>
                  <a:rPr lang="pt-BR" b="1" dirty="0" smtClean="0"/>
                  <a:t> </a:t>
                </a:r>
                <a:r>
                  <a:rPr lang="pt-BR" dirty="0" smtClean="0"/>
                  <a:t>é </a:t>
                </a:r>
                <a:r>
                  <a:rPr lang="pt-BR" b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dirty="0"/>
                  <a:t>erro quadrático médio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  <a:blipFill rotWithShape="0">
                <a:blip r:embed="rId3"/>
                <a:stretch>
                  <a:fillRect l="-97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Pseudocódigo do gradiente descendente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98630" cy="5032376"/>
          </a:xfrm>
        </p:spPr>
        <p:txBody>
          <a:bodyPr>
            <a:normAutofit/>
          </a:bodyPr>
          <a:lstStyle/>
          <a:p>
            <a:r>
              <a:rPr lang="pt-BR" dirty="0"/>
              <a:t>D</a:t>
            </a:r>
            <a:r>
              <a:rPr lang="pt-BR" dirty="0" smtClean="0"/>
              <a:t>e </a:t>
            </a:r>
            <a:r>
              <a:rPr lang="pt-BR" dirty="0"/>
              <a:t>posse do </a:t>
            </a:r>
            <a:r>
              <a:rPr lang="pt-BR" b="1" dirty="0"/>
              <a:t>vetor gradiente</a:t>
            </a:r>
            <a:r>
              <a:rPr lang="pt-BR" dirty="0"/>
              <a:t>, podemos usá-lo com </a:t>
            </a:r>
            <a:r>
              <a:rPr lang="pt-BR" dirty="0" smtClean="0"/>
              <a:t>qualquer versão do </a:t>
            </a:r>
            <a:r>
              <a:rPr lang="pt-BR" b="1" dirty="0"/>
              <a:t>gradiente descendente</a:t>
            </a:r>
            <a:r>
              <a:rPr lang="pt-BR" dirty="0"/>
              <a:t> </a:t>
            </a:r>
            <a:r>
              <a:rPr lang="pt-BR" dirty="0" smtClean="0"/>
              <a:t>para </a:t>
            </a:r>
            <a:r>
              <a:rPr lang="pt-BR" dirty="0"/>
              <a:t>atualizar os pesos</a:t>
            </a:r>
            <a:r>
              <a:rPr lang="pt-BR" dirty="0" smtClean="0"/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xmlns="" id="{B09DE927-8E6D-630C-9389-F5DD1A3E13B4}"/>
                  </a:ext>
                </a:extLst>
              </p:cNvPr>
              <p:cNvSpPr/>
              <p:nvPr/>
            </p:nvSpPr>
            <p:spPr>
              <a:xfrm>
                <a:off x="2374510" y="2998558"/>
                <a:ext cx="7675164" cy="118936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inicializa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em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um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ponto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qualquer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espa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ç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de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pesos</m:t>
                    </m:r>
                  </m:oMath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loop até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convergir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ou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atingir o número máximo de iterações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do</a:t>
                </a:r>
              </a:p>
              <a:p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nl-BE" sz="2400" dirty="0"/>
                  <a:t> </a:t>
                </a:r>
                <a:r>
                  <a:rPr lang="nl-BE" dirty="0"/>
                  <a:t>(</a:t>
                </a:r>
                <a:r>
                  <a:rPr lang="nl-BE" b="1" i="1" dirty="0">
                    <a:solidFill>
                      <a:srgbClr val="00B0F0"/>
                    </a:solidFill>
                  </a:rPr>
                  <a:t>eq. de atualização dos pesos</a:t>
                </a:r>
                <a:r>
                  <a:rPr lang="nl-BE" dirty="0"/>
                  <a:t>)</a:t>
                </a: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B09DE927-8E6D-630C-9389-F5DD1A3E13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4510" y="2998558"/>
                <a:ext cx="7675164" cy="1189365"/>
              </a:xfrm>
              <a:prstGeom prst="rect">
                <a:avLst/>
              </a:prstGeom>
              <a:blipFill rotWithShape="0">
                <a:blip r:embed="rId2"/>
                <a:stretch>
                  <a:fillRect l="-63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Assim </a:t>
                </a:r>
                <a:r>
                  <a:rPr lang="pt-BR" dirty="0"/>
                  <a:t>como ocorre </a:t>
                </a:r>
                <a:r>
                  <a:rPr lang="pt-BR" dirty="0" smtClean="0"/>
                  <a:t>com a </a:t>
                </a:r>
                <a:r>
                  <a:rPr lang="pt-BR" b="1" dirty="0" smtClean="0"/>
                  <a:t>regressão </a:t>
                </a:r>
                <a:r>
                  <a:rPr lang="pt-BR" b="1" dirty="0"/>
                  <a:t>linear</a:t>
                </a:r>
                <a:r>
                  <a:rPr lang="pt-BR" dirty="0"/>
                  <a:t>, modelos de </a:t>
                </a:r>
                <a:r>
                  <a:rPr lang="pt-BR" b="1" dirty="0"/>
                  <a:t>regressão logística </a:t>
                </a:r>
                <a:r>
                  <a:rPr lang="pt-BR" dirty="0"/>
                  <a:t>também</a:t>
                </a:r>
                <a:r>
                  <a:rPr lang="pt-BR" b="1" dirty="0"/>
                  <a:t> </a:t>
                </a:r>
                <a:r>
                  <a:rPr lang="pt-BR" dirty="0"/>
                  <a:t>estão sujeitos </a:t>
                </a:r>
                <a:r>
                  <a:rPr lang="pt-BR" dirty="0" smtClean="0"/>
                  <a:t>à </a:t>
                </a:r>
                <a:r>
                  <a:rPr lang="pt-BR" b="1" dirty="0" err="1" smtClean="0"/>
                  <a:t>sobreajuste</a:t>
                </a:r>
                <a:r>
                  <a:rPr lang="pt-BR" dirty="0" smtClean="0"/>
                  <a:t> </a:t>
                </a:r>
                <a:r>
                  <a:rPr lang="pt-BR" dirty="0"/>
                  <a:t>e </a:t>
                </a:r>
                <a:r>
                  <a:rPr lang="pt-BR" b="1" dirty="0" err="1"/>
                  <a:t>subajuste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Qual deve ser a complexidade, no caso de polinômios, o grau, da </a:t>
                </a:r>
                <a:r>
                  <a:rPr lang="pt-BR" b="1" dirty="0" smtClean="0"/>
                  <a:t>função </a:t>
                </a:r>
                <a:r>
                  <a:rPr lang="pt-BR" b="1" dirty="0"/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 smtClean="0"/>
                  <a:t>?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  <a:blipFill rotWithShape="0">
                <a:blip r:embed="rId3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="" xmlns:a16="http://schemas.microsoft.com/office/drawing/2014/main" id="{DF911177-1762-1C13-7224-7DC9C7576C34}"/>
              </a:ext>
            </a:extLst>
          </p:cNvPr>
          <p:cNvGrpSpPr/>
          <p:nvPr/>
        </p:nvGrpSpPr>
        <p:grpSpPr>
          <a:xfrm>
            <a:off x="545916" y="4149990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="" xmlns:a16="http://schemas.microsoft.com/office/drawing/2014/main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="" xmlns:a16="http://schemas.microsoft.com/office/drawing/2014/main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="" xmlns:a16="http://schemas.microsoft.com/office/drawing/2014/main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="" xmlns:a16="http://schemas.microsoft.com/office/drawing/2014/main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="" xmlns:a16="http://schemas.microsoft.com/office/drawing/2014/main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="" xmlns:a16="http://schemas.microsoft.com/office/drawing/2014/main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="" xmlns:a16="http://schemas.microsoft.com/office/drawing/2014/main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="" xmlns:a16="http://schemas.microsoft.com/office/drawing/2014/main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="" xmlns:a16="http://schemas.microsoft.com/office/drawing/2014/main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="" xmlns:a16="http://schemas.microsoft.com/office/drawing/2014/main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="" xmlns:a16="http://schemas.microsoft.com/office/drawing/2014/main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="" xmlns:a16="http://schemas.microsoft.com/office/drawing/2014/main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="" xmlns:a16="http://schemas.microsoft.com/office/drawing/2014/main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="" xmlns:a16="http://schemas.microsoft.com/office/drawing/2014/main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="" xmlns:a16="http://schemas.microsoft.com/office/drawing/2014/main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="" xmlns:a16="http://schemas.microsoft.com/office/drawing/2014/main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="" xmlns:a16="http://schemas.microsoft.com/office/drawing/2014/main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="" xmlns:a16="http://schemas.microsoft.com/office/drawing/2014/main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="" xmlns:a16="http://schemas.microsoft.com/office/drawing/2014/main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="" xmlns:a16="http://schemas.microsoft.com/office/drawing/2014/main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="" xmlns:a16="http://schemas.microsoft.com/office/drawing/2014/main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="" xmlns:a16="http://schemas.microsoft.com/office/drawing/2014/main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="" xmlns:a16="http://schemas.microsoft.com/office/drawing/2014/main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="" xmlns:a16="http://schemas.microsoft.com/office/drawing/2014/main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="" xmlns:a16="http://schemas.microsoft.com/office/drawing/2014/main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="" xmlns:a16="http://schemas.microsoft.com/office/drawing/2014/main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="" xmlns:a16="http://schemas.microsoft.com/office/drawing/2014/main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="" xmlns:a16="http://schemas.microsoft.com/office/drawing/2014/main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="" xmlns:a16="http://schemas.microsoft.com/office/drawing/2014/main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="" xmlns:a16="http://schemas.microsoft.com/office/drawing/2014/main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="" xmlns:a16="http://schemas.microsoft.com/office/drawing/2014/main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="" xmlns:a16="http://schemas.microsoft.com/office/drawing/2014/main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="" xmlns:a16="http://schemas.microsoft.com/office/drawing/2014/main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="" xmlns:a16="http://schemas.microsoft.com/office/drawing/2014/main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="" xmlns:a16="http://schemas.microsoft.com/office/drawing/2014/main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="" xmlns:a16="http://schemas.microsoft.com/office/drawing/2014/main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="" xmlns:a16="http://schemas.microsoft.com/office/drawing/2014/main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="" xmlns:a16="http://schemas.microsoft.com/office/drawing/2014/main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="" xmlns:a16="http://schemas.microsoft.com/office/drawing/2014/main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="" xmlns:a16="http://schemas.microsoft.com/office/drawing/2014/main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="" xmlns:a16="http://schemas.microsoft.com/office/drawing/2014/main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="" xmlns:a16="http://schemas.microsoft.com/office/drawing/2014/main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="" xmlns:a16="http://schemas.microsoft.com/office/drawing/2014/main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="" xmlns:a16="http://schemas.microsoft.com/office/drawing/2014/main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="" xmlns:a16="http://schemas.microsoft.com/office/drawing/2014/main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="" xmlns:a16="http://schemas.microsoft.com/office/drawing/2014/main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="" xmlns:a16="http://schemas.microsoft.com/office/drawing/2014/main" id="{9BA09B05-5A67-1E11-F943-345BEBEF6CD7}"/>
              </a:ext>
            </a:extLst>
          </p:cNvPr>
          <p:cNvGrpSpPr/>
          <p:nvPr/>
        </p:nvGrpSpPr>
        <p:grpSpPr>
          <a:xfrm>
            <a:off x="4486441" y="4116593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="" xmlns:a16="http://schemas.microsoft.com/office/drawing/2014/main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="" xmlns:a16="http://schemas.microsoft.com/office/drawing/2014/main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="" xmlns:a16="http://schemas.microsoft.com/office/drawing/2014/main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="" xmlns:a16="http://schemas.microsoft.com/office/drawing/2014/main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="" xmlns:a16="http://schemas.microsoft.com/office/drawing/2014/main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="" xmlns:a16="http://schemas.microsoft.com/office/drawing/2014/main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="" xmlns:a16="http://schemas.microsoft.com/office/drawing/2014/main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="" xmlns:a16="http://schemas.microsoft.com/office/drawing/2014/main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="" xmlns:a16="http://schemas.microsoft.com/office/drawing/2014/main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="" xmlns:a16="http://schemas.microsoft.com/office/drawing/2014/main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="" xmlns:a16="http://schemas.microsoft.com/office/drawing/2014/main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="" xmlns:a16="http://schemas.microsoft.com/office/drawing/2014/main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="" xmlns:a16="http://schemas.microsoft.com/office/drawing/2014/main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="" xmlns:a16="http://schemas.microsoft.com/office/drawing/2014/main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="" xmlns:a16="http://schemas.microsoft.com/office/drawing/2014/main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="" xmlns:a16="http://schemas.microsoft.com/office/drawing/2014/main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="" xmlns:a16="http://schemas.microsoft.com/office/drawing/2014/main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="" xmlns:a16="http://schemas.microsoft.com/office/drawing/2014/main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="" xmlns:a16="http://schemas.microsoft.com/office/drawing/2014/main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="" xmlns:a16="http://schemas.microsoft.com/office/drawing/2014/main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="" xmlns:a16="http://schemas.microsoft.com/office/drawing/2014/main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="" xmlns:a16="http://schemas.microsoft.com/office/drawing/2014/main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="" xmlns:a16="http://schemas.microsoft.com/office/drawing/2014/main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="" xmlns:a16="http://schemas.microsoft.com/office/drawing/2014/main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="" xmlns:a16="http://schemas.microsoft.com/office/drawing/2014/main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="" xmlns:a16="http://schemas.microsoft.com/office/drawing/2014/main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="" xmlns:a16="http://schemas.microsoft.com/office/drawing/2014/main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="" xmlns:a16="http://schemas.microsoft.com/office/drawing/2014/main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="" xmlns:a16="http://schemas.microsoft.com/office/drawing/2014/main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="" xmlns:a16="http://schemas.microsoft.com/office/drawing/2014/main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="" xmlns:a16="http://schemas.microsoft.com/office/drawing/2014/main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="" xmlns:a16="http://schemas.microsoft.com/office/drawing/2014/main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="" xmlns:a16="http://schemas.microsoft.com/office/drawing/2014/main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="" xmlns:a16="http://schemas.microsoft.com/office/drawing/2014/main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="" xmlns:a16="http://schemas.microsoft.com/office/drawing/2014/main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="" xmlns:a16="http://schemas.microsoft.com/office/drawing/2014/main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="" xmlns:a16="http://schemas.microsoft.com/office/drawing/2014/main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="" xmlns:a16="http://schemas.microsoft.com/office/drawing/2014/main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="" xmlns:a16="http://schemas.microsoft.com/office/drawing/2014/main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="" xmlns:a16="http://schemas.microsoft.com/office/drawing/2014/main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="" xmlns:a16="http://schemas.microsoft.com/office/drawing/2014/main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="" xmlns:a16="http://schemas.microsoft.com/office/drawing/2014/main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="" xmlns:a16="http://schemas.microsoft.com/office/drawing/2014/main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="" xmlns:a16="http://schemas.microsoft.com/office/drawing/2014/main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="" xmlns:a16="http://schemas.microsoft.com/office/drawing/2014/main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="" xmlns:a16="http://schemas.microsoft.com/office/drawing/2014/main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="" xmlns:a16="http://schemas.microsoft.com/office/drawing/2014/main" id="{1CF5EF7B-31C2-BF66-57C5-B83BDD880795}"/>
              </a:ext>
            </a:extLst>
          </p:cNvPr>
          <p:cNvSpPr txBox="1"/>
          <p:nvPr/>
        </p:nvSpPr>
        <p:spPr>
          <a:xfrm>
            <a:off x="1816063" y="4211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="" xmlns:a16="http://schemas.microsoft.com/office/drawing/2014/main" id="{6B520180-B7A3-73C8-75FE-9FD42CDF419E}"/>
              </a:ext>
            </a:extLst>
          </p:cNvPr>
          <p:cNvSpPr txBox="1"/>
          <p:nvPr/>
        </p:nvSpPr>
        <p:spPr>
          <a:xfrm>
            <a:off x="5743598" y="4215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="" xmlns:a16="http://schemas.microsoft.com/office/drawing/2014/main" id="{B0CAB38C-895F-C677-2B43-E8AA71744A23}"/>
              </a:ext>
            </a:extLst>
          </p:cNvPr>
          <p:cNvGrpSpPr/>
          <p:nvPr/>
        </p:nvGrpSpPr>
        <p:grpSpPr>
          <a:xfrm>
            <a:off x="8520169" y="3905355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="" xmlns:a16="http://schemas.microsoft.com/office/drawing/2014/main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="" xmlns:a16="http://schemas.microsoft.com/office/drawing/2014/main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="" xmlns:a16="http://schemas.microsoft.com/office/drawing/2014/main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="" xmlns:a16="http://schemas.microsoft.com/office/drawing/2014/main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="" xmlns:a16="http://schemas.microsoft.com/office/drawing/2014/main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="" xmlns:a16="http://schemas.microsoft.com/office/drawing/2014/main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="" xmlns:a16="http://schemas.microsoft.com/office/drawing/2014/main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="" xmlns:a16="http://schemas.microsoft.com/office/drawing/2014/main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="" xmlns:a16="http://schemas.microsoft.com/office/drawing/2014/main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="" xmlns:a16="http://schemas.microsoft.com/office/drawing/2014/main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="" xmlns:a16="http://schemas.microsoft.com/office/drawing/2014/main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="" xmlns:a16="http://schemas.microsoft.com/office/drawing/2014/main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="" xmlns:a16="http://schemas.microsoft.com/office/drawing/2014/main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="" xmlns:a16="http://schemas.microsoft.com/office/drawing/2014/main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="" xmlns:a16="http://schemas.microsoft.com/office/drawing/2014/main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="" xmlns:a16="http://schemas.microsoft.com/office/drawing/2014/main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="" xmlns:a16="http://schemas.microsoft.com/office/drawing/2014/main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="" xmlns:a16="http://schemas.microsoft.com/office/drawing/2014/main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="" xmlns:a16="http://schemas.microsoft.com/office/drawing/2014/main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="" xmlns:a16="http://schemas.microsoft.com/office/drawing/2014/main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="" xmlns:a16="http://schemas.microsoft.com/office/drawing/2014/main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="" xmlns:a16="http://schemas.microsoft.com/office/drawing/2014/main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="" xmlns:a16="http://schemas.microsoft.com/office/drawing/2014/main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="" xmlns:a16="http://schemas.microsoft.com/office/drawing/2014/main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="" xmlns:a16="http://schemas.microsoft.com/office/drawing/2014/main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="" xmlns:a16="http://schemas.microsoft.com/office/drawing/2014/main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="" xmlns:a16="http://schemas.microsoft.com/office/drawing/2014/main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="" xmlns:a16="http://schemas.microsoft.com/office/drawing/2014/main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="" xmlns:a16="http://schemas.microsoft.com/office/drawing/2014/main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="" xmlns:a16="http://schemas.microsoft.com/office/drawing/2014/main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="" xmlns:a16="http://schemas.microsoft.com/office/drawing/2014/main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="" xmlns:a16="http://schemas.microsoft.com/office/drawing/2014/main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="" xmlns:a16="http://schemas.microsoft.com/office/drawing/2014/main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="" xmlns:a16="http://schemas.microsoft.com/office/drawing/2014/main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="" xmlns:a16="http://schemas.microsoft.com/office/drawing/2014/main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="" xmlns:a16="http://schemas.microsoft.com/office/drawing/2014/main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="" xmlns:a16="http://schemas.microsoft.com/office/drawing/2014/main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="" xmlns:a16="http://schemas.microsoft.com/office/drawing/2014/main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="" xmlns:a16="http://schemas.microsoft.com/office/drawing/2014/main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="" xmlns:a16="http://schemas.microsoft.com/office/drawing/2014/main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="" xmlns:a16="http://schemas.microsoft.com/office/drawing/2014/main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="" xmlns:a16="http://schemas.microsoft.com/office/drawing/2014/main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="" xmlns:a16="http://schemas.microsoft.com/office/drawing/2014/main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="" xmlns:a16="http://schemas.microsoft.com/office/drawing/2014/main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="" xmlns:a16="http://schemas.microsoft.com/office/drawing/2014/main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="" xmlns:a16="http://schemas.microsoft.com/office/drawing/2014/main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="" xmlns:a16="http://schemas.microsoft.com/office/drawing/2014/main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="" xmlns:a16="http://schemas.microsoft.com/office/drawing/2014/main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/>
              <a:t>Consequentemente, o modelo apresenta uma </a:t>
            </a:r>
            <a:r>
              <a:rPr lang="pt-BR" b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erros nos conjuntos de treinamento e teste seriam </a:t>
            </a:r>
            <a:r>
              <a:rPr lang="pt-BR" b="1" dirty="0">
                <a:solidFill>
                  <a:srgbClr val="FF0000"/>
                </a:solidFill>
              </a:rPr>
              <a:t>ambos altos</a:t>
            </a:r>
            <a:r>
              <a:rPr lang="pt-BR" dirty="0"/>
              <a:t>.</a:t>
            </a:r>
          </a:p>
          <a:p>
            <a:r>
              <a:rPr lang="pt-BR" dirty="0"/>
              <a:t>Ou seja, o classificador erraria a classificação de boa parte dos exemplos.</a:t>
            </a:r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=""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=""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=""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=""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=""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=""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=""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=""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=""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=""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=""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=""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=""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=""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=""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=""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=""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=""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=""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=""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=""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=""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=""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=""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=""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=""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=""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=""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=""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=""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=""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=""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=""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=""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=""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=""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=""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=""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=""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=""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=""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=""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=""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=""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=""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=""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=""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=""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=""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=""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=""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=""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=""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=""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=""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=""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=""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=""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=""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=""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=""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=""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=""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=""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=""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=""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=""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=""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=""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=""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=""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=""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=""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=""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=""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=""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=""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=""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=""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=""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=""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=""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=""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=""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=""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=""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=""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=""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=""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=""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=""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=""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=""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=""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="" xmlns:a16="http://schemas.microsoft.com/office/drawing/2014/main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="" xmlns:a16="http://schemas.microsoft.com/office/drawing/2014/main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="" xmlns:a16="http://schemas.microsoft.com/office/drawing/2014/main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="" xmlns:a16="http://schemas.microsoft.com/office/drawing/2014/main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="" xmlns:a16="http://schemas.microsoft.com/office/drawing/2014/main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="" xmlns:a16="http://schemas.microsoft.com/office/drawing/2014/main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="" xmlns:a16="http://schemas.microsoft.com/office/drawing/2014/main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="" xmlns:a16="http://schemas.microsoft.com/office/drawing/2014/main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="" xmlns:a16="http://schemas.microsoft.com/office/drawing/2014/main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="" xmlns:a16="http://schemas.microsoft.com/office/drawing/2014/main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="" xmlns:a16="http://schemas.microsoft.com/office/drawing/2014/main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="" xmlns:a16="http://schemas.microsoft.com/office/drawing/2014/main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="" xmlns:a16="http://schemas.microsoft.com/office/drawing/2014/main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="" xmlns:a16="http://schemas.microsoft.com/office/drawing/2014/main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="" xmlns:a16="http://schemas.microsoft.com/office/drawing/2014/main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="" xmlns:a16="http://schemas.microsoft.com/office/drawing/2014/main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="" xmlns:a16="http://schemas.microsoft.com/office/drawing/2014/main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="" xmlns:a16="http://schemas.microsoft.com/office/drawing/2014/main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="" xmlns:a16="http://schemas.microsoft.com/office/drawing/2014/main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="" xmlns:a16="http://schemas.microsoft.com/office/drawing/2014/main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="" xmlns:a16="http://schemas.microsoft.com/office/drawing/2014/main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="" xmlns:a16="http://schemas.microsoft.com/office/drawing/2014/main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="" xmlns:a16="http://schemas.microsoft.com/office/drawing/2014/main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="" xmlns:a16="http://schemas.microsoft.com/office/drawing/2014/main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="" xmlns:a16="http://schemas.microsoft.com/office/drawing/2014/main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="" xmlns:a16="http://schemas.microsoft.com/office/drawing/2014/main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="" xmlns:a16="http://schemas.microsoft.com/office/drawing/2014/main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="" xmlns:a16="http://schemas.microsoft.com/office/drawing/2014/main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="" xmlns:a16="http://schemas.microsoft.com/office/drawing/2014/main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="" xmlns:a16="http://schemas.microsoft.com/office/drawing/2014/main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="" xmlns:a16="http://schemas.microsoft.com/office/drawing/2014/main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="" xmlns:a16="http://schemas.microsoft.com/office/drawing/2014/main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="" xmlns:a16="http://schemas.microsoft.com/office/drawing/2014/main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="" xmlns:a16="http://schemas.microsoft.com/office/drawing/2014/main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="" xmlns:a16="http://schemas.microsoft.com/office/drawing/2014/main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="" xmlns:a16="http://schemas.microsoft.com/office/drawing/2014/main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="" xmlns:a16="http://schemas.microsoft.com/office/drawing/2014/main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="" xmlns:a16="http://schemas.microsoft.com/office/drawing/2014/main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="" xmlns:a16="http://schemas.microsoft.com/office/drawing/2014/main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="" xmlns:a16="http://schemas.microsoft.com/office/drawing/2014/main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="" xmlns:a16="http://schemas.microsoft.com/office/drawing/2014/main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="" xmlns:a16="http://schemas.microsoft.com/office/drawing/2014/main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="" xmlns:a16="http://schemas.microsoft.com/office/drawing/2014/main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="" xmlns:a16="http://schemas.microsoft.com/office/drawing/2014/main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="" xmlns:a16="http://schemas.microsoft.com/office/drawing/2014/main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="" xmlns:a16="http://schemas.microsoft.com/office/drawing/2014/main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="" xmlns:a16="http://schemas.microsoft.com/office/drawing/2014/main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="" xmlns:a16="http://schemas.microsoft.com/office/drawing/2014/main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="" xmlns:a16="http://schemas.microsoft.com/office/drawing/2014/main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=""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=""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dirty="0"/>
              <a:t>flexibilidade excessiva </a:t>
            </a:r>
            <a:r>
              <a:rPr lang="pt-BR" dirty="0"/>
              <a:t>do polinômio (i.e., </a:t>
            </a:r>
            <a:r>
              <a:rPr lang="pt-BR" dirty="0" smtClean="0"/>
              <a:t>grau elevado) </a:t>
            </a:r>
            <a:r>
              <a:rPr lang="pt-BR" dirty="0"/>
              <a:t>dá origem a contorções na </a:t>
            </a:r>
            <a:r>
              <a:rPr lang="pt-BR" b="1" dirty="0"/>
              <a:t>fronteira de decisão </a:t>
            </a:r>
            <a:r>
              <a:rPr lang="pt-BR" dirty="0"/>
              <a:t>na tentativa de </a:t>
            </a:r>
            <a:r>
              <a:rPr lang="pt-BR" b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</a:t>
            </a:r>
            <a:r>
              <a:rPr lang="pt-BR" b="1" dirty="0">
                <a:solidFill>
                  <a:srgbClr val="7030A0"/>
                </a:solidFill>
              </a:rPr>
              <a:t>junto aos dados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ou seja, </a:t>
            </a:r>
            <a:r>
              <a:rPr lang="pt-BR" b="1" dirty="0">
                <a:solidFill>
                  <a:srgbClr val="FF0000"/>
                </a:solidFill>
              </a:rPr>
              <a:t>não irá generalizar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dirty="0">
                <a:solidFill>
                  <a:srgbClr val="FF0000"/>
                </a:solidFill>
              </a:rPr>
              <a:t>erro de</a:t>
            </a:r>
            <a:r>
              <a:rPr lang="pt-BR" dirty="0"/>
              <a:t> </a:t>
            </a:r>
            <a:r>
              <a:rPr lang="pt-BR" b="1" dirty="0">
                <a:solidFill>
                  <a:srgbClr val="FF0000"/>
                </a:solidFill>
              </a:rPr>
              <a:t>teste muito alto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=""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=""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=""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=""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=""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=""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=""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=""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=""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=""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=""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=""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=""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=""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=""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=""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=""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=""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=""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=""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=""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=""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=""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=""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=""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=""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=""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=""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=""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=""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=""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=""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=""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=""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=""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=""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=""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=""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=""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=""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=""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=""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=""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=""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=""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=""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=""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=""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=""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=""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=""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=""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=""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=""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=""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=""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=""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=""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=""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=""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=""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=""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=""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=""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=""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=""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=""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=""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=""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=""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=""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=""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=""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=""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=""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=""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=""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=""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=""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=""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=""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=""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=""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=""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=""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=""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=""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=""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=""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=""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=""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=""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=""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=""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=""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=""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=""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=""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=""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=""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=""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=""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=""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=""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=""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=""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=""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=""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=""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=""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=""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=""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=""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=""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=""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=""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=""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=""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=""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=""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=""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=""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=""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=""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=""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=""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=""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=""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=""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=""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=""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=""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=""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=""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=""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=""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=""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=""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=""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=""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=""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=""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=""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=""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=""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apresenta uma </a:t>
            </a:r>
            <a:r>
              <a:rPr lang="pt-BR" b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 e de teste seriam </a:t>
            </a:r>
            <a:r>
              <a:rPr lang="pt-BR" b="1" dirty="0">
                <a:solidFill>
                  <a:srgbClr val="00B050"/>
                </a:solidFill>
              </a:rPr>
              <a:t>baixos e 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=""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=""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=""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=""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=""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=""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=""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=""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=""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=""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=""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=""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=""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=""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=""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=""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=""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=""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=""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=""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=""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=""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=""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=""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=""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=""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=""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=""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=""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=""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=""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=""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=""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=""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=""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=""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=""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=""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=""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=""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=""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=""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=""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=""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=""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=""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=""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=""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=""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=""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=""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=""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=""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=""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=""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=""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=""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=""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=""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=""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=""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=""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=""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=""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=""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=""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=""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=""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=""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=""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=""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=""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=""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=""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=""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=""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=""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=""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=""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=""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=""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=""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=""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=""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=""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=""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=""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=""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=""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=""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=""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=""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=""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=""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=""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=""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=""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=""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=""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=""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=""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=""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=""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=""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=""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=""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=""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=""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=""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=""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=""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=""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=""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=""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=""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=""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=""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=""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=""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=""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=""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=""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=""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=""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=""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=""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=""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=""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=""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=""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=""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=""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=""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=""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=""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=""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=""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=""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=""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=""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=""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=""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=""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=""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=""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88076" y="2507269"/>
            <a:ext cx="10515600" cy="17654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evitamos o </a:t>
            </a:r>
            <a:r>
              <a:rPr lang="pt-BR" sz="6000" i="1" dirty="0" err="1"/>
              <a:t>subajuste</a:t>
            </a:r>
            <a:r>
              <a:rPr lang="pt-BR" sz="6000" i="1" dirty="0"/>
              <a:t> </a:t>
            </a:r>
            <a:r>
              <a:rPr lang="pt-BR" sz="6000" i="1" dirty="0" smtClean="0"/>
              <a:t>e o </a:t>
            </a:r>
            <a:r>
              <a:rPr lang="pt-BR" sz="6000" i="1" dirty="0" err="1"/>
              <a:t>sobreajuste</a:t>
            </a:r>
            <a:r>
              <a:rPr lang="pt-BR" sz="6000" i="1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015905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xmlns:a14="http://schemas.microsoft.com/office/drawing/2010/main" xmlns:mc="http://schemas.openxmlformats.org/markup-compatibility/2006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8722" y="1825625"/>
            <a:ext cx="6069204" cy="5032376"/>
          </a:xfrm>
        </p:spPr>
        <p:txBody>
          <a:bodyPr>
            <a:normAutofit/>
          </a:bodyPr>
          <a:lstStyle/>
          <a:p>
            <a:r>
              <a:rPr lang="pt-BR" dirty="0" smtClean="0"/>
              <a:t>Podemos </a:t>
            </a:r>
            <a:r>
              <a:rPr lang="pt-BR" dirty="0"/>
              <a:t>usar </a:t>
            </a:r>
            <a:r>
              <a:rPr lang="pt-BR" b="1" dirty="0">
                <a:solidFill>
                  <a:schemeClr val="accent2"/>
                </a:solidFill>
              </a:rPr>
              <a:t>técnicas de validação cruzada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 smtClean="0"/>
              <a:t>como o </a:t>
            </a:r>
            <a:r>
              <a:rPr lang="pt-BR" i="1" dirty="0" smtClean="0"/>
              <a:t>k-</a:t>
            </a:r>
            <a:r>
              <a:rPr lang="pt-BR" i="1" dirty="0" err="1" smtClean="0"/>
              <a:t>fold</a:t>
            </a:r>
            <a:r>
              <a:rPr lang="pt-BR" dirty="0" smtClean="0"/>
              <a:t> para encontrar a complexidade ideal para o modelo.</a:t>
            </a:r>
            <a:endParaRPr lang="pt-BR" dirty="0"/>
          </a:p>
          <a:p>
            <a:r>
              <a:rPr lang="pt-BR" dirty="0"/>
              <a:t>Esses técnicas nos auxiliam a encontrar um </a:t>
            </a:r>
            <a:r>
              <a:rPr lang="pt-BR" dirty="0" smtClean="0"/>
              <a:t>modelo que </a:t>
            </a:r>
            <a:r>
              <a:rPr lang="pt-BR" dirty="0"/>
              <a:t>apresente uma </a:t>
            </a:r>
            <a:r>
              <a:rPr lang="pt-BR" b="1" dirty="0">
                <a:solidFill>
                  <a:srgbClr val="00B050"/>
                </a:solidFill>
              </a:rPr>
              <a:t>relação de compromisso entre flexibilidade e capacidade de generalização</a:t>
            </a:r>
            <a:r>
              <a:rPr lang="pt-BR" dirty="0"/>
              <a:t>, evitando assim os dois problemas.</a:t>
            </a:r>
          </a:p>
        </p:txBody>
      </p:sp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="" xmlns:a16="http://schemas.microsoft.com/office/drawing/2014/main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13" y="2723102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5916" y="1825625"/>
            <a:ext cx="6652009" cy="5032376"/>
          </a:xfrm>
        </p:spPr>
        <p:txBody>
          <a:bodyPr>
            <a:normAutofit/>
          </a:bodyPr>
          <a:lstStyle/>
          <a:p>
            <a:r>
              <a:rPr lang="pt-BR" dirty="0"/>
              <a:t>Uma forma de </a:t>
            </a:r>
            <a:r>
              <a:rPr lang="pt-BR" b="1" dirty="0">
                <a:solidFill>
                  <a:srgbClr val="7030A0"/>
                </a:solidFill>
              </a:rPr>
              <a:t>evitar </a:t>
            </a:r>
            <a:r>
              <a:rPr lang="pt-BR" b="1" dirty="0">
                <a:solidFill>
                  <a:schemeClr val="accent2"/>
                </a:solidFill>
              </a:rPr>
              <a:t>apenas</a:t>
            </a:r>
            <a:r>
              <a:rPr lang="pt-BR" b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(e.g., LASSO, Ridge, Elastic-Net, Early-stopping).</a:t>
            </a:r>
          </a:p>
          <a:p>
            <a:r>
              <a:rPr lang="pt-BR" dirty="0"/>
              <a:t>A regularização </a:t>
            </a:r>
            <a:r>
              <a:rPr lang="pt-BR" b="1" dirty="0">
                <a:solidFill>
                  <a:srgbClr val="00B050"/>
                </a:solidFill>
              </a:rPr>
              <a:t>r</a:t>
            </a:r>
            <a:r>
              <a:rPr lang="pt-BR" b="1" dirty="0">
                <a:solidFill>
                  <a:srgbClr val="00B050"/>
                </a:solidFill>
                <a:effectLst/>
              </a:rPr>
              <a:t>eduz a flexibilidade </a:t>
            </a:r>
            <a:r>
              <a:rPr lang="pt-BR" b="0" dirty="0">
                <a:effectLst/>
              </a:rPr>
              <a:t>do modelo por meio de </a:t>
            </a:r>
            <a:r>
              <a:rPr lang="pt-BR" b="1" dirty="0">
                <a:solidFill>
                  <a:srgbClr val="FF0000"/>
                </a:solidFill>
                <a:effectLst/>
              </a:rPr>
              <a:t>penalizações</a:t>
            </a:r>
            <a:r>
              <a:rPr lang="pt-BR" b="0" dirty="0">
                <a:effectLst/>
              </a:rPr>
              <a:t> aplicadas a seus pesos.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se </a:t>
            </a:r>
            <a:r>
              <a:rPr lang="pt-BR" b="1" dirty="0">
                <a:solidFill>
                  <a:srgbClr val="7030A0"/>
                </a:solidFill>
              </a:rPr>
              <a:t>sobreajustam</a:t>
            </a:r>
            <a:r>
              <a:rPr lang="pt-BR" dirty="0"/>
              <a:t> têm </a:t>
            </a:r>
            <a:r>
              <a:rPr lang="pt-BR" b="1" dirty="0">
                <a:solidFill>
                  <a:srgbClr val="FF0000"/>
                </a:solidFill>
              </a:rPr>
              <a:t>pesos com valores absolutos muito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as técnicas de regularização fazem é </a:t>
            </a:r>
            <a:r>
              <a:rPr lang="pt-BR" b="1" dirty="0">
                <a:solidFill>
                  <a:srgbClr val="00B050"/>
                </a:solidFill>
              </a:rPr>
              <a:t>restringir o aumento</a:t>
            </a:r>
            <a:r>
              <a:rPr lang="pt-BR" dirty="0"/>
              <a:t> dos pesos a uma </a:t>
            </a:r>
            <a:r>
              <a:rPr lang="pt-BR" b="1" dirty="0"/>
              <a:t>região</a:t>
            </a:r>
            <a:r>
              <a:rPr lang="pt-BR" dirty="0"/>
              <a:t> de possíveis valores.</a:t>
            </a:r>
          </a:p>
        </p:txBody>
      </p:sp>
      <p:pic>
        <p:nvPicPr>
          <p:cNvPr id="2052" name="Picture 4" descr="Regularization | Regularization Techniques in Machine Learning">
            <a:extLst>
              <a:ext uri="{FF2B5EF4-FFF2-40B4-BE49-F238E27FC236}">
                <a16:creationId xmlns="" xmlns:a16="http://schemas.microsoft.com/office/drawing/2014/main" id="{DBEAA147-DD30-5BD1-7D88-D1E0DA2EEA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9" t="4263" r="3503" b="13944"/>
          <a:stretch/>
        </p:blipFill>
        <p:spPr bwMode="auto">
          <a:xfrm>
            <a:off x="224413" y="2586185"/>
            <a:ext cx="4943790" cy="272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07C3999F-E11E-BEA4-B848-576DAA84A093}"/>
              </a:ext>
            </a:extLst>
          </p:cNvPr>
          <p:cNvSpPr txBox="1"/>
          <p:nvPr/>
        </p:nvSpPr>
        <p:spPr>
          <a:xfrm>
            <a:off x="224413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LASSO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="" xmlns:a16="http://schemas.microsoft.com/office/drawing/2014/main" id="{E21A5017-C486-6341-CE55-AA6B086B7AFD}"/>
              </a:ext>
            </a:extLst>
          </p:cNvPr>
          <p:cNvSpPr txBox="1"/>
          <p:nvPr/>
        </p:nvSpPr>
        <p:spPr>
          <a:xfrm>
            <a:off x="3212124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Ridge</a:t>
            </a:r>
          </a:p>
        </p:txBody>
      </p:sp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 smtClean="0">
                <a:hlinkClick r:id="rId3"/>
              </a:rPr>
              <a:t>regressão_logística.ipynb</a:t>
            </a:r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=""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=""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=""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=""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=""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=""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20933254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Lista</a:t>
            </a:r>
            <a:r>
              <a:rPr lang="en-US" dirty="0"/>
              <a:t> </a:t>
            </a:r>
            <a:r>
              <a:rPr lang="en-US" dirty="0" smtClean="0"/>
              <a:t>#6 </a:t>
            </a:r>
            <a:r>
              <a:rPr lang="en-US" dirty="0"/>
              <a:t>- </a:t>
            </a:r>
            <a:r>
              <a:rPr lang="en-US" dirty="0" err="1" smtClean="0"/>
              <a:t>Classificação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0531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0A78A2E-6E03-2C97-4148-5EE803DD5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23898"/>
            <a:ext cx="10515600" cy="181020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Encontrando o vetor gradiente do regressor logístico</a:t>
            </a:r>
          </a:p>
        </p:txBody>
      </p:sp>
    </p:spTree>
    <p:extLst>
      <p:ext uri="{BB962C8B-B14F-4D97-AF65-F5344CB8AC3E}">
        <p14:creationId xmlns:p14="http://schemas.microsoft.com/office/powerpoint/2010/main" val="8675715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Antes de encontrarmos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vamos reescrever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utilizando as seguintes equivalências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 nova expressão para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>
                          <a:latin typeface="Cambria Math" panose="02040503050406030204" pitchFamily="18" charset="0"/>
                        </a:rPr>
                        <m:t>+(1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57428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 é cancelado com um dos elementos gerados a partir do produto envolvido no segundo termo, de forma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sz="2400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então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Desta forma,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se torna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encontramos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cada termo da equação acima.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  <a:blipFill rotWithShape="0">
                <a:blip r:embed="rId2"/>
                <a:stretch>
                  <a:fillRect l="-1002" t="-753" b="-5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607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097915"/>
          </a:xfrm>
        </p:spPr>
        <p:txBody>
          <a:bodyPr>
            <a:normAutofit/>
          </a:bodyPr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Assim,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primeiro termo da equação anterior 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segundo termo da equação anterior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p>
                                            <m:s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p>
                                          </m:sSup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Usamos 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para encontrar o vetor gradiente do segundo termo.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  <a:blipFill>
                <a:blip r:embed="rId2"/>
                <a:stretch>
                  <a:fillRect l="-981" t="-2594" b="-10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3230880" y="4389120"/>
            <a:ext cx="356002" cy="1565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04316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combinando os 2 resultados anteriores, temos que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ctr">
                  <a:defRPr sz="1400"/>
                </a:lvl1pPr>
              </a:lstStyle>
              <a:p>
                <a:r>
                  <a:rPr lang="pt-BR" dirty="0"/>
                  <a:t>Forma matricial: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blipFill rotWithShape="0">
                <a:blip r:embed="rId4"/>
                <a:stretch>
                  <a:fillRect l="-1339" t="-1575" r="-4018" b="-3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 flipH="1">
            <a:off x="9814560" y="2407920"/>
            <a:ext cx="860698" cy="5424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3676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8839</TotalTime>
  <Words>3472</Words>
  <Application>Microsoft Office PowerPoint</Application>
  <PresentationFormat>Widescreen</PresentationFormat>
  <Paragraphs>493</Paragraphs>
  <Slides>52</Slides>
  <Notes>25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52</vt:i4>
      </vt:variant>
    </vt:vector>
  </HeadingPairs>
  <TitlesOfParts>
    <vt:vector size="61" baseType="lpstr">
      <vt:lpstr>Arial</vt:lpstr>
      <vt:lpstr>Calibri</vt:lpstr>
      <vt:lpstr>Calibri Light</vt:lpstr>
      <vt:lpstr>Calibri-Bold</vt:lpstr>
      <vt:lpstr>Cambria Math</vt:lpstr>
      <vt:lpstr>Courier New</vt:lpstr>
      <vt:lpstr>Söhne</vt:lpstr>
      <vt:lpstr>Wingdings</vt:lpstr>
      <vt:lpstr>Tema do Office</vt:lpstr>
      <vt:lpstr>C24 – Inteligência Artificial: Classificação</vt:lpstr>
      <vt:lpstr>Classificação</vt:lpstr>
      <vt:lpstr>Tarefas de classificação</vt:lpstr>
      <vt:lpstr>Apresentação do PowerPoint</vt:lpstr>
      <vt:lpstr>Apresentação do PowerPoint</vt:lpstr>
      <vt:lpstr>Tipos de classificadores</vt:lpstr>
      <vt:lpstr>Tipos de classificadores</vt:lpstr>
      <vt:lpstr>Algoritmos de classificação</vt:lpstr>
      <vt:lpstr>Apresentação do PowerPoint</vt:lpstr>
      <vt:lpstr>Classificação binária</vt:lpstr>
      <vt:lpstr>Classificação multiclasse</vt:lpstr>
      <vt:lpstr>Classificação multilabel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Apresentação do PowerPoint</vt:lpstr>
      <vt:lpstr>Apresentação do PowerPoint</vt:lpstr>
      <vt:lpstr>Como mapeamos g(x(i)) nas classes?</vt:lpstr>
      <vt:lpstr>Função de limiar de decisão ou de ativação</vt:lpstr>
      <vt:lpstr>Apresentação do PowerPoint</vt:lpstr>
      <vt:lpstr>Classificação com função de limiar logístico</vt:lpstr>
      <vt:lpstr>Classificação com função de limiar logístico</vt:lpstr>
      <vt:lpstr>Classificação com função de limiar logístico</vt:lpstr>
      <vt:lpstr>Regressão logística</vt:lpstr>
      <vt:lpstr>Apresentação do PowerPoint</vt:lpstr>
      <vt:lpstr>Regressão logística</vt:lpstr>
      <vt:lpstr>Função de erro</vt:lpstr>
      <vt:lpstr>Função de erro</vt:lpstr>
      <vt:lpstr>Função de erro</vt:lpstr>
      <vt:lpstr>Função de erro</vt:lpstr>
      <vt:lpstr>Função de erro</vt:lpstr>
      <vt:lpstr>Vetor gradiente</vt:lpstr>
      <vt:lpstr>Processo de treinamento</vt:lpstr>
      <vt:lpstr>Pseudocódigo do gradiente descendente</vt:lpstr>
      <vt:lpstr>Subajuste e sobreajuste</vt:lpstr>
      <vt:lpstr>Subajuste e sobreajuste</vt:lpstr>
      <vt:lpstr>Subajuste e sobreajuste</vt:lpstr>
      <vt:lpstr>Subajuste e sobreajuste</vt:lpstr>
      <vt:lpstr>Apresentação do PowerPoint</vt:lpstr>
      <vt:lpstr>Como evitamos o subajuste e sobreajuste?</vt:lpstr>
      <vt:lpstr>Como evitamos o subajuste e sobreajuste?</vt:lpstr>
      <vt:lpstr>Exemplo</vt:lpstr>
      <vt:lpstr>Lista de exercícios</vt:lpstr>
      <vt:lpstr>Apresentação do PowerPoint</vt:lpstr>
      <vt:lpstr>Apresentação do PowerPoint</vt:lpstr>
      <vt:lpstr>Apresentação do PowerPoint</vt:lpstr>
      <vt:lpstr>Encontrando o vetor gradiente</vt:lpstr>
      <vt:lpstr>Encontrando o vetor gradiente</vt:lpstr>
      <vt:lpstr>Encontrando o vetor gradiente</vt:lpstr>
      <vt:lpstr>Encontrando o vetor gradiente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1862</cp:revision>
  <dcterms:created xsi:type="dcterms:W3CDTF">2020-01-20T13:50:05Z</dcterms:created>
  <dcterms:modified xsi:type="dcterms:W3CDTF">2026-02-22T18:09:36Z</dcterms:modified>
</cp:coreProperties>
</file>