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57" r:id="rId14"/>
    <p:sldId id="344" r:id="rId15"/>
    <p:sldId id="360" r:id="rId16"/>
    <p:sldId id="345" r:id="rId17"/>
    <p:sldId id="363" r:id="rId18"/>
    <p:sldId id="361" r:id="rId19"/>
    <p:sldId id="362" r:id="rId20"/>
    <p:sldId id="356" r:id="rId21"/>
    <p:sldId id="352" r:id="rId22"/>
    <p:sldId id="293" r:id="rId23"/>
    <p:sldId id="306" r:id="rId2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19/02/2026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271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C9F62-7684-5A29-B15B-4CEB8126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9293E-FE0D-E03B-8391-5AFFEBCBC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8000" b="1" dirty="0">
                <a:solidFill>
                  <a:srgbClr val="FF0000"/>
                </a:solidFill>
              </a:rPr>
              <a:t>PAREI AQUI!!!!!!</a:t>
            </a:r>
            <a:endParaRPr lang="en-US" sz="8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53933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1177588" cy="3045345"/>
          </a:xfrm>
        </p:spPr>
        <p:txBody>
          <a:bodyPr>
            <a:normAutofit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589866" y="4185993"/>
            <a:ext cx="3448732" cy="265665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379980" y="4185993"/>
            <a:ext cx="3417767" cy="261420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05724" y="4185993"/>
            <a:ext cx="3406342" cy="263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B2A3D-8D63-9C8B-C3AB-947682DA6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9A053-A236-679C-83D9-DD618F87A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  <a:p>
            <a:r>
              <a:rPr lang="pt-BR" dirty="0"/>
              <a:t>Uma </a:t>
            </a:r>
            <a:r>
              <a:rPr lang="pt-BR" b="1" i="1" dirty="0"/>
              <a:t>fronteira de decisão </a:t>
            </a:r>
            <a:r>
              <a:rPr lang="pt-BR" dirty="0"/>
              <a:t>corresponde a uma </a:t>
            </a:r>
            <a:r>
              <a:rPr lang="pt-BR" b="1" i="1" dirty="0">
                <a:solidFill>
                  <a:srgbClr val="00B050"/>
                </a:solidFill>
              </a:rPr>
              <a:t>superfície de separação</a:t>
            </a:r>
            <a:r>
              <a:rPr lang="pt-BR" b="1" i="1" dirty="0"/>
              <a:t> </a:t>
            </a:r>
            <a:r>
              <a:rPr lang="pt-BR" dirty="0"/>
              <a:t>(1D, 2D, 3D, etc.) no </a:t>
            </a:r>
            <a:r>
              <a:rPr lang="pt-BR" b="1" i="1" dirty="0"/>
              <a:t>espaço de atributos </a:t>
            </a:r>
            <a:r>
              <a:rPr lang="pt-BR" dirty="0"/>
              <a:t>que separa as classes.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0311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0DF5BB-4965-42FA-1FE9-FA4F63D3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57DDB69-30DD-CFD2-808A-F52FDB98EF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76800" y="1825624"/>
                <a:ext cx="715327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 discriminante</a:t>
                </a:r>
                <a:r>
                  <a:rPr lang="pt-BR" b="1" i="1" dirty="0"/>
                  <a:t> </a:t>
                </a:r>
                <a:r>
                  <a:rPr lang="pt-BR" dirty="0"/>
                  <a:t>com formato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1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Um </a:t>
                </a:r>
                <a:r>
                  <a:rPr lang="pt-BR" b="1" i="1" dirty="0"/>
                  <a:t>hiperplano</a:t>
                </a:r>
                <a:r>
                  <a:rPr lang="pt-BR" dirty="0"/>
                  <a:t> pode ser 1 ponto em 1D, uma reta em 2D, um plano em 3D, etc.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coeficiente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(</a:t>
                </a:r>
                <a:r>
                  <a:rPr lang="pt-BR" b="1" i="1" dirty="0"/>
                  <a:t>bias</a:t>
                </a:r>
                <a:r>
                  <a:rPr lang="pt-BR" dirty="0"/>
                  <a:t>) dá o deslocamento com relação à origem.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restante dos pesos determina a orientação do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Lembrem-se que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hiperplanos</a:t>
                </a:r>
                <a:r>
                  <a:rPr lang="pt-BR" dirty="0"/>
                  <a:t> fazem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mapeamentos lineares </a:t>
                </a:r>
                <a:r>
                  <a:rPr lang="pt-BR" dirty="0"/>
                  <a:t>dos atributos nas saídas.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57DDB69-30DD-CFD2-808A-F52FDB98EF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76800" y="1825624"/>
                <a:ext cx="7153275" cy="5032375"/>
              </a:xfrm>
              <a:blipFill>
                <a:blip r:embed="rId3"/>
                <a:stretch>
                  <a:fillRect l="-1535" t="-1937" r="-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F06FD70-E89F-BC52-2900-5506EBD6CF3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39670" y="2602756"/>
            <a:ext cx="2841780" cy="326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6522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48201" y="1825624"/>
                <a:ext cx="744855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Nosso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objetivo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é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encontrar os pesos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da função discriminante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=1,                    </m:t>
                              </m:r>
                              <m:r>
                                <a:rPr lang="pt-BR" sz="2400" b="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sz="24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=2,                    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pt-BR" sz="24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ndetermina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çã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o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OBS.: Podemos usar também </a:t>
                </a:r>
                <a:r>
                  <a:rPr lang="pt-BR" b="1" i="1" dirty="0"/>
                  <a:t>funções discriminantes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mapeamentos não-lineares.</a:t>
                </a:r>
                <a:endParaRPr lang="pt-BR" dirty="0">
                  <a:solidFill>
                    <a:srgbClr val="7030A0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 (eq. de um círculo centrado na origem,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48201" y="1825624"/>
                <a:ext cx="7448550" cy="5032375"/>
              </a:xfrm>
              <a:blipFill>
                <a:blip r:embed="rId3"/>
                <a:stretch>
                  <a:fillRect l="-14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645F5C35-CA80-831D-CD26-407BBC3BE21C}"/>
              </a:ext>
            </a:extLst>
          </p:cNvPr>
          <p:cNvSpPr/>
          <p:nvPr/>
        </p:nvSpPr>
        <p:spPr>
          <a:xfrm>
            <a:off x="10793207" y="3750882"/>
            <a:ext cx="12192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empate entre as classes, pois a amostra está sobre a função.</a:t>
            </a:r>
          </a:p>
        </p:txBody>
      </p:sp>
      <p:cxnSp>
        <p:nvCxnSpPr>
          <p:cNvPr id="6" name="Straight Arrow Connector 6">
            <a:extLst>
              <a:ext uri="{FF2B5EF4-FFF2-40B4-BE49-F238E27FC236}">
                <a16:creationId xmlns:a16="http://schemas.microsoft.com/office/drawing/2014/main" id="{2EC6DCB0-48FC-CD2A-E18F-D7B490834350}"/>
              </a:ext>
            </a:extLst>
          </p:cNvPr>
          <p:cNvCxnSpPr>
            <a:cxnSpLocks/>
          </p:cNvCxnSpPr>
          <p:nvPr/>
        </p:nvCxnSpPr>
        <p:spPr>
          <a:xfrm flipH="1">
            <a:off x="10747027" y="3902516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39670" y="2602756"/>
            <a:ext cx="2841780" cy="3263704"/>
          </a:xfrm>
          <a:prstGeom prst="rect">
            <a:avLst/>
          </a:prstGeom>
        </p:spPr>
      </p:pic>
      <p:sp>
        <p:nvSpPr>
          <p:cNvPr id="4" name="Rectangle 4">
            <a:extLst>
              <a:ext uri="{FF2B5EF4-FFF2-40B4-BE49-F238E27FC236}">
                <a16:creationId xmlns:a16="http://schemas.microsoft.com/office/drawing/2014/main" id="{6CF5207C-210F-5440-56B3-8F1EAD36FFAF}"/>
              </a:ext>
            </a:extLst>
          </p:cNvPr>
          <p:cNvSpPr/>
          <p:nvPr/>
        </p:nvSpPr>
        <p:spPr>
          <a:xfrm>
            <a:off x="10793207" y="2912025"/>
            <a:ext cx="1219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Acima da função.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671CBD8-E5F7-29C9-3744-56F52318FE10}"/>
              </a:ext>
            </a:extLst>
          </p:cNvPr>
          <p:cNvCxnSpPr>
            <a:cxnSpLocks/>
          </p:cNvCxnSpPr>
          <p:nvPr/>
        </p:nvCxnSpPr>
        <p:spPr>
          <a:xfrm flipH="1">
            <a:off x="10756264" y="3119682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4">
            <a:extLst>
              <a:ext uri="{FF2B5EF4-FFF2-40B4-BE49-F238E27FC236}">
                <a16:creationId xmlns:a16="http://schemas.microsoft.com/office/drawing/2014/main" id="{B8052885-3BC2-70B9-B921-5DDB2DD151B4}"/>
              </a:ext>
            </a:extLst>
          </p:cNvPr>
          <p:cNvSpPr/>
          <p:nvPr/>
        </p:nvSpPr>
        <p:spPr>
          <a:xfrm>
            <a:off x="10774735" y="3365237"/>
            <a:ext cx="1219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Abaixo da função.</a:t>
            </a:r>
          </a:p>
        </p:txBody>
      </p:sp>
      <p:cxnSp>
        <p:nvCxnSpPr>
          <p:cNvPr id="9" name="Straight Arrow Connector 6">
            <a:extLst>
              <a:ext uri="{FF2B5EF4-FFF2-40B4-BE49-F238E27FC236}">
                <a16:creationId xmlns:a16="http://schemas.microsoft.com/office/drawing/2014/main" id="{D8DB8446-863A-7210-136E-FC97FB27A3F5}"/>
              </a:ext>
            </a:extLst>
          </p:cNvPr>
          <p:cNvCxnSpPr>
            <a:cxnSpLocks/>
          </p:cNvCxnSpPr>
          <p:nvPr/>
        </p:nvCxnSpPr>
        <p:spPr>
          <a:xfrm flipH="1">
            <a:off x="10747027" y="3563510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FDC7F-B899-B1A6-F69A-351822C6E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0C298-3D62-58C4-3B44-8F0C5C3E0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61" y="1690688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4646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8151</TotalTime>
  <Words>1381</Words>
  <Application>Microsoft Office PowerPoint</Application>
  <PresentationFormat>Widescreen</PresentationFormat>
  <Paragraphs>132</Paragraphs>
  <Slides>23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PowerPoint Presentation</vt:lpstr>
      <vt:lpstr>PowerPoint Presentation</vt:lpstr>
      <vt:lpstr>Tipos de classificadores</vt:lpstr>
      <vt:lpstr>Tipos de classificadores</vt:lpstr>
      <vt:lpstr>Algoritmos de classificação</vt:lpstr>
      <vt:lpstr>PowerPoint Presentation</vt:lpstr>
      <vt:lpstr>Classificação binária</vt:lpstr>
      <vt:lpstr>Classificação multiclasse</vt:lpstr>
      <vt:lpstr>Classificação multilabel</vt:lpstr>
      <vt:lpstr>PowerPoint Presentation</vt:lpstr>
      <vt:lpstr>Fronteiras de decisão de um classificador</vt:lpstr>
      <vt:lpstr>Fronteiras de decisão de um classificador</vt:lpstr>
      <vt:lpstr>Fronteiras de decisão de um classificador</vt:lpstr>
      <vt:lpstr>PowerPoint Presentation</vt:lpstr>
      <vt:lpstr>Funções discriminantes</vt:lpstr>
      <vt:lpstr>Funções discriminantes</vt:lpstr>
      <vt:lpstr>PowerPoint Presentation</vt:lpstr>
      <vt:lpstr>Matriz de confusão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1761</cp:revision>
  <dcterms:created xsi:type="dcterms:W3CDTF">2020-01-20T13:50:05Z</dcterms:created>
  <dcterms:modified xsi:type="dcterms:W3CDTF">2026-02-19T14:00:37Z</dcterms:modified>
</cp:coreProperties>
</file>