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handoutMasterIdLst>
    <p:handoutMasterId r:id="rId60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2" r:id="rId23"/>
    <p:sldId id="444" r:id="rId24"/>
    <p:sldId id="445" r:id="rId25"/>
    <p:sldId id="446" r:id="rId26"/>
    <p:sldId id="447" r:id="rId27"/>
    <p:sldId id="448" r:id="rId28"/>
    <p:sldId id="449" r:id="rId29"/>
    <p:sldId id="450" r:id="rId30"/>
    <p:sldId id="451" r:id="rId31"/>
    <p:sldId id="452" r:id="rId32"/>
    <p:sldId id="453" r:id="rId33"/>
    <p:sldId id="454" r:id="rId34"/>
    <p:sldId id="357" r:id="rId35"/>
    <p:sldId id="409" r:id="rId36"/>
    <p:sldId id="407" r:id="rId37"/>
    <p:sldId id="370" r:id="rId38"/>
    <p:sldId id="424" r:id="rId39"/>
    <p:sldId id="425" r:id="rId40"/>
    <p:sldId id="372" r:id="rId41"/>
    <p:sldId id="410" r:id="rId42"/>
    <p:sldId id="412" r:id="rId43"/>
    <p:sldId id="414" r:id="rId44"/>
    <p:sldId id="417" r:id="rId45"/>
    <p:sldId id="413" r:id="rId46"/>
    <p:sldId id="418" r:id="rId47"/>
    <p:sldId id="396" r:id="rId48"/>
    <p:sldId id="394" r:id="rId49"/>
    <p:sldId id="366" r:id="rId50"/>
    <p:sldId id="352" r:id="rId51"/>
    <p:sldId id="293" r:id="rId52"/>
    <p:sldId id="306" r:id="rId53"/>
    <p:sldId id="419" r:id="rId54"/>
    <p:sldId id="438" r:id="rId55"/>
    <p:sldId id="439" r:id="rId56"/>
    <p:sldId id="377" r:id="rId57"/>
    <p:sldId id="378" r:id="rId5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Se y=1y=1y=1 → sobra −log⁡(y^)-\log(\</a:t>
            </a:r>
            <a:r>
              <a:rPr lang="es-ES" dirty="0" err="1" smtClean="0"/>
              <a:t>hat</a:t>
            </a:r>
            <a:r>
              <a:rPr lang="es-ES" dirty="0" smtClean="0"/>
              <a:t>{y})−log(y^​)</a:t>
            </a:r>
          </a:p>
          <a:p>
            <a:r>
              <a:rPr lang="es-ES" dirty="0" smtClean="0"/>
              <a:t>Se y=0y=0y=0 → sobra −log⁡(1−y^)-\log(1-\</a:t>
            </a:r>
            <a:r>
              <a:rPr lang="es-ES" dirty="0" err="1" smtClean="0"/>
              <a:t>hat</a:t>
            </a:r>
            <a:r>
              <a:rPr lang="es-ES" dirty="0" smtClean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2.emf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2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xmlns="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xmlns="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nesse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intervalo</a:t>
                </a:r>
                <a:r>
                  <a:rPr lang="en-US" dirty="0" smtClean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Função de limiar de decisão ou de ativação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 smtClean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 smtClean="0"/>
                  <a:t> no intervalo [0, 1].</a:t>
                </a:r>
              </a:p>
              <a:p>
                <a:r>
                  <a:rPr lang="pt-BR" dirty="0" smtClean="0"/>
                  <a:t>Além disso, para que possamos treinar modelos de classificação, essa função deve ser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 smtClean="0"/>
                  <a:t> e </a:t>
                </a:r>
                <a:r>
                  <a:rPr lang="pt-BR" b="1" dirty="0" err="1" smtClean="0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 smtClean="0"/>
                  <a:t>No contexto da classificação, ela é chamada de função de limiar de decisão ou de ativação.</a:t>
                </a:r>
              </a:p>
              <a:p>
                <a:r>
                  <a:rPr lang="pt-BR" dirty="0" smtClean="0"/>
                  <a:t>Qual função podemos usar?</a:t>
                </a:r>
                <a:endParaRPr lang="pt-BR" dirty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15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72349" y="2901353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Quanto mais </a:t>
                </a:r>
                <a:r>
                  <a:rPr lang="pt-BR" dirty="0"/>
                  <a:t>distante a amostra estiver da </a:t>
                </a:r>
                <a:r>
                  <a:rPr lang="pt-BR" dirty="0" smtClean="0"/>
                  <a:t>fronteira, maior é a probabilidade dela pertencer à classe daquela região.</a:t>
                </a:r>
                <a:endParaRPr lang="pt-B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xmlns="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</p:spPr>
            <p:txBody>
              <a:bodyPr/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uma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 no caso da regressão logística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quão diferente está a distribuição prevista pelo modelo da distribuição real dos rótulos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Assim, o </a:t>
                </a:r>
                <a:r>
                  <a:rPr lang="pt-BR" dirty="0"/>
                  <a:t>modelo aprende a aproximar a distribuição real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  <a:blipFill rotWithShape="0">
                <a:blip r:embed="rId3"/>
                <a:stretch>
                  <a:fillRect l="-1217" t="-1937" r="-13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 smtClean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 smtClean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</a:t>
                </a:r>
                <a:r>
                  <a:rPr lang="pt-BR" dirty="0"/>
                  <a:t>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/>
                  <a:t> </a:t>
                </a:r>
                <a:r>
                  <a:rPr lang="pt-BR" dirty="0" smtClean="0"/>
                  <a:t>O erro </a:t>
                </a:r>
                <a:r>
                  <a:rPr lang="pt-BR" dirty="0"/>
                  <a:t>é </a:t>
                </a:r>
                <a:r>
                  <a:rPr lang="pt-BR" dirty="0" smtClean="0"/>
                  <a:t>muito alto se o classificador erra e tende a zero se acerta.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Uma má </a:t>
            </a:r>
            <a:r>
              <a:rPr lang="pt-BR" dirty="0" smtClean="0"/>
              <a:t>notícia, </a:t>
            </a:r>
            <a:r>
              <a:rPr lang="pt-BR" b="1" dirty="0" smtClean="0">
                <a:solidFill>
                  <a:srgbClr val="00B050"/>
                </a:solidFill>
              </a:rPr>
              <a:t>não </a:t>
            </a:r>
            <a:r>
              <a:rPr lang="pt-BR" b="1" dirty="0">
                <a:solidFill>
                  <a:srgbClr val="00B050"/>
                </a:solidFill>
              </a:rPr>
              <a:t>existe uma equação </a:t>
            </a:r>
            <a:r>
              <a:rPr lang="pt-BR" b="1" dirty="0" smtClean="0">
                <a:solidFill>
                  <a:srgbClr val="00B050"/>
                </a:solidFill>
              </a:rPr>
              <a:t>analítica </a:t>
            </a:r>
            <a:r>
              <a:rPr lang="pt-BR" dirty="0" smtClean="0"/>
              <a:t>que nos dá diretamente os </a:t>
            </a:r>
            <a:r>
              <a:rPr lang="pt-BR" b="1" dirty="0" smtClean="0"/>
              <a:t>pesos</a:t>
            </a:r>
            <a:r>
              <a:rPr lang="pt-BR" dirty="0" smtClean="0"/>
              <a:t> </a:t>
            </a:r>
            <a:r>
              <a:rPr lang="pt-BR" dirty="0"/>
              <a:t>que </a:t>
            </a:r>
            <a:r>
              <a:rPr lang="pt-BR" dirty="0" smtClean="0"/>
              <a:t>minimizam </a:t>
            </a:r>
            <a:r>
              <a:rPr lang="pt-BR" dirty="0"/>
              <a:t>essa </a:t>
            </a:r>
            <a:r>
              <a:rPr lang="pt-BR" b="1" dirty="0"/>
              <a:t>função de erro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/>
              <a:t>Ou seja, não há um equivalente da </a:t>
            </a:r>
            <a:r>
              <a:rPr lang="pt-BR" sz="2600" b="1" dirty="0"/>
              <a:t>equação normal</a:t>
            </a:r>
            <a:r>
              <a:rPr lang="pt-BR" sz="2600" dirty="0"/>
              <a:t>. </a:t>
            </a:r>
          </a:p>
          <a:p>
            <a:r>
              <a:rPr lang="pt-BR" dirty="0"/>
              <a:t>Entretanto, </a:t>
            </a:r>
            <a:r>
              <a:rPr lang="pt-BR" dirty="0" smtClean="0"/>
              <a:t>a boa </a:t>
            </a:r>
            <a:r>
              <a:rPr lang="pt-BR" dirty="0"/>
              <a:t>notícia é que </a:t>
            </a:r>
            <a:r>
              <a:rPr lang="pt-BR" dirty="0" smtClean="0"/>
              <a:t>por ser </a:t>
            </a:r>
            <a:r>
              <a:rPr lang="pt-BR" b="1" dirty="0" smtClean="0">
                <a:solidFill>
                  <a:srgbClr val="00B050"/>
                </a:solidFill>
              </a:rPr>
              <a:t>convexa</a:t>
            </a:r>
            <a:r>
              <a:rPr lang="pt-BR" dirty="0" smtClean="0"/>
              <a:t> </a:t>
            </a:r>
            <a:r>
              <a:rPr lang="pt-BR" dirty="0"/>
              <a:t>e </a:t>
            </a:r>
            <a:r>
              <a:rPr lang="pt-BR" b="1" dirty="0" err="1" smtClean="0">
                <a:solidFill>
                  <a:srgbClr val="00B050"/>
                </a:solidFill>
              </a:rPr>
              <a:t>diferenciável</a:t>
            </a:r>
            <a:r>
              <a:rPr lang="pt-BR" dirty="0" smtClean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</a:t>
            </a:r>
            <a:r>
              <a:rPr lang="pt-BR" dirty="0" smtClean="0"/>
              <a:t>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</a:t>
            </a:r>
            <a:r>
              <a:rPr lang="pt-BR" b="1" dirty="0" smtClean="0">
                <a:solidFill>
                  <a:srgbClr val="7030A0"/>
                </a:solidFill>
              </a:rPr>
              <a:t>)</a:t>
            </a:r>
            <a:r>
              <a:rPr lang="pt-BR" dirty="0" smtClean="0"/>
              <a:t>.</a:t>
            </a:r>
          </a:p>
          <a:p>
            <a:r>
              <a:rPr lang="pt-BR" dirty="0" smtClean="0"/>
              <a:t>Podemos </a:t>
            </a:r>
            <a:r>
              <a:rPr lang="pt-BR" dirty="0"/>
              <a:t>implementar todas as versões do </a:t>
            </a:r>
            <a:r>
              <a:rPr lang="pt-BR" b="1" dirty="0" smtClean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3542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>
                <a:blip r:embed="rId2"/>
                <a:stretch>
                  <a:fillRect l="-1095" t="-1937" r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>
                <a:blip r:embed="rId2"/>
                <a:stretch>
                  <a:fillRect l="-1087" t="-2663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2D9F4A-3F1E-72CA-5279-D7096455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6C3F39F-A361-AD70-0282-D98F9A8F9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2676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8B15EEB-555A-1663-8A26-726644DC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F76B53-821B-1D2E-B52E-C808298E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29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BB5C0CF-6932-AB23-09BC-D188772C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B00C46C-B4D6-FF5E-D8DB-8F29C27BE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5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xmlns="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8747</TotalTime>
  <Words>3459</Words>
  <Application>Microsoft Office PowerPoint</Application>
  <PresentationFormat>Widescreen</PresentationFormat>
  <Paragraphs>513</Paragraphs>
  <Slides>57</Slides>
  <Notes>24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57</vt:i4>
      </vt:variant>
    </vt:vector>
  </HeadingPairs>
  <TitlesOfParts>
    <vt:vector size="66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Apresentação do PowerPoint</vt:lpstr>
      <vt:lpstr>Regressão logística</vt:lpstr>
      <vt:lpstr>Função de erro</vt:lpstr>
      <vt:lpstr>Função de erro</vt:lpstr>
      <vt:lpstr>Função de erro</vt:lpstr>
      <vt:lpstr>Função de erro</vt:lpstr>
      <vt:lpstr>Função de erro</vt:lpstr>
      <vt:lpstr>Apresentação do PowerPoint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Como evitamos o subajuste e sobreajuste?</vt:lpstr>
      <vt:lpstr>Como evitamos o subajuste e sobreajuste?</vt:lpstr>
      <vt:lpstr>Apresentação do PowerPoint</vt:lpstr>
      <vt:lpstr>Apresentação do PowerPoint</vt:lpstr>
      <vt:lpstr>Apresentação do PowerPoint</vt:lpstr>
      <vt:lpstr>Matriz de confusão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1849</cp:revision>
  <dcterms:created xsi:type="dcterms:W3CDTF">2020-01-20T13:50:05Z</dcterms:created>
  <dcterms:modified xsi:type="dcterms:W3CDTF">2026-02-22T02:04:14Z</dcterms:modified>
</cp:coreProperties>
</file>