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460" r:id="rId17"/>
    <p:sldId id="362" r:id="rId18"/>
    <p:sldId id="363" r:id="rId19"/>
    <p:sldId id="364" r:id="rId20"/>
    <p:sldId id="365" r:id="rId21"/>
    <p:sldId id="356" r:id="rId22"/>
    <p:sldId id="441" r:id="rId23"/>
    <p:sldId id="442" r:id="rId24"/>
    <p:sldId id="444" r:id="rId25"/>
    <p:sldId id="445" r:id="rId26"/>
    <p:sldId id="446" r:id="rId27"/>
    <p:sldId id="447" r:id="rId28"/>
    <p:sldId id="458" r:id="rId29"/>
    <p:sldId id="448" r:id="rId30"/>
    <p:sldId id="449" r:id="rId31"/>
    <p:sldId id="459" r:id="rId32"/>
    <p:sldId id="450" r:id="rId33"/>
    <p:sldId id="451" r:id="rId34"/>
    <p:sldId id="452" r:id="rId35"/>
    <p:sldId id="453" r:id="rId36"/>
    <p:sldId id="454" r:id="rId37"/>
    <p:sldId id="409" r:id="rId38"/>
    <p:sldId id="407" r:id="rId39"/>
    <p:sldId id="372" r:id="rId40"/>
    <p:sldId id="410" r:id="rId41"/>
    <p:sldId id="412" r:id="rId42"/>
    <p:sldId id="414" r:id="rId43"/>
    <p:sldId id="417" r:id="rId44"/>
    <p:sldId id="455" r:id="rId45"/>
    <p:sldId id="413" r:id="rId46"/>
    <p:sldId id="418" r:id="rId47"/>
    <p:sldId id="605" r:id="rId48"/>
    <p:sldId id="456" r:id="rId49"/>
    <p:sldId id="457" r:id="rId50"/>
    <p:sldId id="293" r:id="rId51"/>
    <p:sldId id="306" r:id="rId52"/>
    <p:sldId id="419" r:id="rId53"/>
    <p:sldId id="438" r:id="rId54"/>
    <p:sldId id="439" r:id="rId55"/>
    <p:sldId id="377" r:id="rId56"/>
    <p:sldId id="378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9346" autoAdjust="0"/>
  </p:normalViewPr>
  <p:slideViewPr>
    <p:cSldViewPr snapToGrid="0">
      <p:cViewPr varScale="1">
        <p:scale>
          <a:sx n="65" d="100"/>
          <a:sy n="65" d="100"/>
        </p:scale>
        <p:origin x="1098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242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0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1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1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1.emf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1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8.png"/><Relationship Id="rId5" Type="http://schemas.openxmlformats.org/officeDocument/2006/relationships/image" Target="../media/image40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jpeg"/><Relationship Id="rId4" Type="http://schemas.openxmlformats.org/officeDocument/2006/relationships/image" Target="../media/image7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=""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=""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=""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427" y="1145417"/>
            <a:ext cx="5104458" cy="475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/>
          <p:cNvSpPr txBox="1"/>
          <p:nvPr/>
        </p:nvSpPr>
        <p:spPr>
          <a:xfrm>
            <a:off x="5766620" y="275262"/>
            <a:ext cx="642538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/>
              <a:t>Para obtermos um bom modelo, precisamos de bases de dados: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 smtClean="0"/>
              <a:t>Representativas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/>
              <a:t>Mesma distribuição estatística dos dados </a:t>
            </a:r>
            <a:r>
              <a:rPr lang="pt-BR" sz="2400" dirty="0" smtClean="0"/>
              <a:t>reais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Volume suficiente, mas com </a:t>
            </a:r>
            <a:r>
              <a:rPr lang="pt-BR" sz="2400" dirty="0" smtClean="0"/>
              <a:t>qualidade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 smtClean="0"/>
              <a:t>limpas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/>
              <a:t>b</a:t>
            </a:r>
            <a:r>
              <a:rPr lang="pt-BR" sz="2400" dirty="0" smtClean="0"/>
              <a:t>em rotuladas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 smtClean="0"/>
              <a:t>Informativas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Diversidade e </a:t>
            </a:r>
            <a:r>
              <a:rPr lang="pt-BR" sz="2400" dirty="0" smtClean="0"/>
              <a:t>variabilidade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 smtClean="0"/>
              <a:t>Por exemplo, variações </a:t>
            </a:r>
            <a:r>
              <a:rPr lang="pt-BR" sz="2400" dirty="0"/>
              <a:t>de:</a:t>
            </a:r>
          </a:p>
          <a:p>
            <a:pPr marL="1257300" lvl="2" indent="-342900">
              <a:buFont typeface="Courier New" panose="02070309020205020404" pitchFamily="49" charset="0"/>
              <a:buChar char="o"/>
            </a:pPr>
            <a:r>
              <a:rPr lang="pt-BR" sz="2400" dirty="0"/>
              <a:t>iluminação </a:t>
            </a:r>
          </a:p>
          <a:p>
            <a:pPr marL="1257300" lvl="2" indent="-342900">
              <a:buFont typeface="Courier New" panose="02070309020205020404" pitchFamily="49" charset="0"/>
              <a:buChar char="o"/>
            </a:pPr>
            <a:r>
              <a:rPr lang="pt-BR" sz="2400" dirty="0"/>
              <a:t>ângulo </a:t>
            </a:r>
          </a:p>
          <a:p>
            <a:pPr marL="1257300" lvl="2" indent="-342900">
              <a:buFont typeface="Courier New" panose="02070309020205020404" pitchFamily="49" charset="0"/>
              <a:buChar char="o"/>
            </a:pPr>
            <a:r>
              <a:rPr lang="pt-BR" sz="2400" dirty="0"/>
              <a:t>contexto </a:t>
            </a:r>
          </a:p>
          <a:p>
            <a:pPr marL="1257300" lvl="2" indent="-342900">
              <a:buFont typeface="Courier New" panose="02070309020205020404" pitchFamily="49" charset="0"/>
              <a:buChar char="o"/>
            </a:pPr>
            <a:r>
              <a:rPr lang="pt-BR" sz="2400" dirty="0" smtClean="0"/>
              <a:t>Classes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sz="2400" dirty="0"/>
              <a:t>Balanceamento entre classes (ou técnicas para lidar com desbalanceamento</a:t>
            </a:r>
            <a:r>
              <a:rPr lang="pt-BR" sz="2400" dirty="0" smtClean="0"/>
              <a:t>)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</a:t>
            </a:r>
            <a:r>
              <a:rPr lang="pt-BR" dirty="0" smtClean="0"/>
              <a:t> </a:t>
            </a:r>
            <a:r>
              <a:rPr lang="pt-BR" dirty="0"/>
              <a:t>modelo </a:t>
            </a:r>
            <a:r>
              <a:rPr lang="pt-BR" b="1" dirty="0">
                <a:solidFill>
                  <a:schemeClr val="accent6"/>
                </a:solidFill>
              </a:rPr>
              <a:t>prediz (saída) um </a:t>
            </a:r>
            <a:r>
              <a:rPr lang="pt-BR" b="1" dirty="0" smtClean="0">
                <a:solidFill>
                  <a:schemeClr val="accent6"/>
                </a:solidFill>
              </a:rPr>
              <a:t>escalar </a:t>
            </a:r>
            <a:r>
              <a:rPr lang="pt-BR" b="1" dirty="0">
                <a:solidFill>
                  <a:schemeClr val="accent6"/>
                </a:solidFill>
              </a:rPr>
              <a:t>ou um </a:t>
            </a:r>
            <a:r>
              <a:rPr lang="pt-BR" b="1" dirty="0">
                <a:solidFill>
                  <a:schemeClr val="accent6"/>
                </a:solidFill>
              </a:rPr>
              <a:t>vetor </a:t>
            </a:r>
            <a:r>
              <a:rPr lang="pt-BR" dirty="0"/>
              <a:t>indicando </a:t>
            </a:r>
            <a:r>
              <a:rPr lang="pt-BR" dirty="0" smtClean="0"/>
              <a:t>a </a:t>
            </a:r>
            <a:r>
              <a:rPr lang="pt-BR" smtClean="0"/>
              <a:t>classe presente</a:t>
            </a:r>
            <a:r>
              <a:rPr lang="pt-BR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0070C0"/>
                </a:solidFill>
              </a:rPr>
              <a:t>não são 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</a:t>
            </a:r>
            <a:r>
              <a:rPr lang="pt-BR" b="1" dirty="0">
                <a:solidFill>
                  <a:schemeClr val="accent1"/>
                </a:solidFill>
              </a:rPr>
              <a:t>prediz (saída) um vetor </a:t>
            </a:r>
            <a:r>
              <a:rPr lang="pt-BR" dirty="0" smtClean="0"/>
              <a:t>indicando </a:t>
            </a:r>
            <a:r>
              <a:rPr lang="pt-BR" dirty="0"/>
              <a:t>quais </a:t>
            </a:r>
            <a:r>
              <a:rPr lang="pt-BR" dirty="0" smtClean="0"/>
              <a:t>classes estão </a:t>
            </a:r>
            <a:r>
              <a:rPr lang="pt-BR" dirty="0"/>
              <a:t>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Como </a:t>
            </a:r>
            <a:r>
              <a:rPr lang="pt-BR" sz="6000" dirty="0"/>
              <a:t>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6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6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 rotWithShape="0">
                <a:blip r:embed="rId3"/>
                <a:stretch>
                  <a:fillRect l="-967" t="-2663" r="-17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</a:t>
                </a:r>
                <a:r>
                  <a:rPr lang="pt-BR" dirty="0" smtClean="0"/>
                  <a:t>regressão linear, </a:t>
                </a:r>
                <a:r>
                  <a:rPr lang="pt-BR" dirty="0"/>
                  <a:t>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  <a:blipFill rotWithShape="0">
                <a:blip r:embed="rId3"/>
                <a:stretch>
                  <a:fillRect l="-1533" t="-1937" r="-511" b="-14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=""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=""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=""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=""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=""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=""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=""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=""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=""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=""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236543" y="2387354"/>
            <a:ext cx="3031267" cy="3481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funções</a:t>
                </a:r>
                <a:r>
                  <a:rPr lang="pt-BR" b="1" dirty="0"/>
                  <a:t>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 rotWithShape="0"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funções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infinitos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dirty="0">
                    <a:solidFill>
                      <a:schemeClr val="accent1"/>
                    </a:solidFill>
                  </a:rPr>
                  <a:t> </a:t>
                </a:r>
                <a:r>
                  <a:rPr lang="pt-BR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 err="1"/>
                  <a:t>Além</a:t>
                </a:r>
                <a:r>
                  <a:rPr lang="en-US" dirty="0"/>
                  <a:t> </a:t>
                </a:r>
                <a:r>
                  <a:rPr lang="en-US" dirty="0" err="1"/>
                  <a:t>disso</a:t>
                </a:r>
                <a:r>
                  <a:rPr lang="en-US" dirty="0"/>
                  <a:t>, 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 rotWithShape="0">
                <a:blip r:embed="rId3"/>
                <a:stretch>
                  <a:fillRect l="-157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759745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No caso da classificação binária, isso </a:t>
                </a:r>
                <a:r>
                  <a:rPr lang="pt-BR" dirty="0"/>
                  <a:t>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contexto da classificação, ela é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dirty="0"/>
                  <a:t>ou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função podemos usar?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25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 rotWithShape="0">
                <a:blip r:embed="rId3"/>
                <a:stretch>
                  <a:fillRect l="-1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51718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</a:t>
            </a:r>
            <a:r>
              <a:rPr lang="pt-BR" i="1" dirty="0"/>
              <a:t>softmax</a:t>
            </a:r>
            <a:r>
              <a:rPr lang="pt-BR" dirty="0"/>
              <a:t>, que é uma </a:t>
            </a:r>
            <a:r>
              <a:rPr lang="pt-BR" b="1" dirty="0">
                <a:solidFill>
                  <a:schemeClr val="accent2"/>
                </a:solidFill>
              </a:rPr>
              <a:t>generalização</a:t>
            </a:r>
            <a:r>
              <a:rPr lang="pt-BR" dirty="0"/>
              <a:t> do regressor logístico.</a:t>
            </a:r>
          </a:p>
          <a:p>
            <a:r>
              <a:rPr lang="pt-BR" dirty="0"/>
              <a:t>Temos a combinação linear dos atributos em relação aos pesos passando através da função de ativação.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=""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=""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=""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=""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=""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=""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=""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=""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=""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=""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=""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=""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=""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=""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=""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=""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=""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=""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=""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=""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=""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=""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=""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=""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=""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=""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=""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=""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=""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=""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=""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=""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=""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=""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=""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=""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=""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=""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=""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=""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=""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=""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=""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=""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=""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="" xmlns:a16="http://schemas.microsoft.com/office/drawing/2014/main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=""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Como esperado, o </a:t>
                </a:r>
                <a:r>
                  <a:rPr lang="pt-BR" dirty="0"/>
                  <a:t>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16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=""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</a:t>
                </a:r>
                <a:r>
                  <a:rPr lang="pt-BR" sz="2400" dirty="0" smtClean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</a:t>
                </a:r>
                <a:r>
                  <a:rPr lang="pt-BR" dirty="0" smtClean="0"/>
                  <a:t>originais. </a:t>
                </a:r>
                <a:endParaRPr lang="pt-BR" dirty="0"/>
              </a:p>
              <a:p>
                <a:r>
                  <a:rPr lang="pt-BR" dirty="0" smtClean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b="1" dirty="0" smtClean="0"/>
                  <a:t>usando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também</a:t>
                </a:r>
                <a:r>
                  <a:rPr lang="pt-BR" b="1" dirty="0" smtClean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=""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=""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=""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=""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=""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=""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=""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=""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=""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=""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=""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=""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=""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=""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=""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=""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=""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=""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=""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=""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=""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=""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=""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=""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=""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=""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=""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=""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=""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=""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=""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=""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=""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=""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=""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=""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=""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=""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=""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=""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=""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=""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=""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=""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=""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=""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=""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=""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=""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=""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=""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=""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=""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=""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=""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=""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=""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=""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=""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=""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=""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=""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=""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=""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=""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=""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=""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=""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=""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=""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=""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=""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=""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=""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=""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=""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=""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=""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=""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=""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=""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=""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=""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=""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=""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=""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=""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=""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=""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=""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=""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=""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=""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=""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=""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=""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=""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=""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=""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=""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=""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=""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=""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=""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=""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=""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=""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=""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=""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=""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=""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=""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=""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=""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=""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=""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=""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=""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=""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=""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=""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=""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=""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=""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=""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=""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=""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=""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=""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=""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=""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=""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=""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=""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=""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=""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=""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=""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=""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=""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=""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=""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=""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=""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=""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=""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=""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=""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=""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=""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=""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=""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=""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=""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=""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=""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=""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=""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=""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=""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=""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=""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=""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=""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=""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=""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=""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=""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=""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=""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=""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=""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=""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=""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=""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=""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=""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=""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=""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=""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=""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=""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=""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=""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=""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=""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=""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=""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=""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=""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=""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=""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=""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=""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 smtClean="0">
                <a:solidFill>
                  <a:srgbClr val="00B050"/>
                </a:solidFill>
              </a:rPr>
              <a:t>pequenos e </a:t>
            </a:r>
            <a:r>
              <a:rPr lang="pt-BR" b="1" dirty="0">
                <a:solidFill>
                  <a:srgbClr val="00B050"/>
                </a:solidFill>
              </a:rPr>
              <a:t>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=""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</a:t>
            </a:r>
            <a:r>
              <a:rPr lang="pt-BR" b="1" dirty="0" smtClean="0">
                <a:solidFill>
                  <a:srgbClr val="FF0000"/>
                </a:solidFill>
              </a:rPr>
              <a:t>grandes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/>
              <a:t>Dentre elas, a </a:t>
            </a:r>
            <a:r>
              <a:rPr lang="pt-BR" dirty="0"/>
              <a:t>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 smtClean="0"/>
              <a:t>Identificamos</a:t>
            </a:r>
            <a:r>
              <a:rPr lang="en-US" dirty="0" smtClean="0"/>
              <a:t> </a:t>
            </a:r>
            <a:r>
              <a:rPr lang="en-US" dirty="0" err="1" smtClean="0"/>
              <a:t>quais</a:t>
            </a:r>
            <a:r>
              <a:rPr lang="en-US" dirty="0" smtClean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atributos</a:t>
            </a:r>
            <a:r>
              <a:rPr lang="en-US" dirty="0" smtClean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importam</a:t>
            </a:r>
            <a:r>
              <a:rPr lang="en-US" dirty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="" xmlns:a16="http://schemas.microsoft.com/office/drawing/2014/main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="" xmlns:a16="http://schemas.microsoft.com/office/drawing/2014/main" id="{B1E50C15-796B-7379-D1C6-2808D390DEE1}"/>
              </a:ext>
            </a:extLst>
          </p:cNvPr>
          <p:cNvSpPr/>
          <p:nvPr/>
        </p:nvSpPr>
        <p:spPr>
          <a:xfrm>
            <a:off x="3429480" y="1796749"/>
            <a:ext cx="995333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="" xmlns:a16="http://schemas.microsoft.com/office/drawing/2014/main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="" xmlns:a16="http://schemas.microsoft.com/office/drawing/2014/main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="" xmlns:a16="http://schemas.microsoft.com/office/drawing/2014/main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="" xmlns:a16="http://schemas.microsoft.com/office/drawing/2014/main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="" xmlns:a16="http://schemas.microsoft.com/office/drawing/2014/main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9139</TotalTime>
  <Words>4686</Words>
  <Application>Microsoft Office PowerPoint</Application>
  <PresentationFormat>Widescreen</PresentationFormat>
  <Paragraphs>612</Paragraphs>
  <Slides>56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1940</cp:revision>
  <dcterms:created xsi:type="dcterms:W3CDTF">2020-01-20T13:50:05Z</dcterms:created>
  <dcterms:modified xsi:type="dcterms:W3CDTF">2026-03-31T01:46:34Z</dcterms:modified>
</cp:coreProperties>
</file>