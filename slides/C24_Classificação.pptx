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452" r:id="rId32"/>
    <p:sldId id="453" r:id="rId33"/>
    <p:sldId id="454" r:id="rId34"/>
    <p:sldId id="409" r:id="rId35"/>
    <p:sldId id="407" r:id="rId36"/>
    <p:sldId id="372" r:id="rId37"/>
    <p:sldId id="357" r:id="rId38"/>
    <p:sldId id="410" r:id="rId39"/>
    <p:sldId id="412" r:id="rId40"/>
    <p:sldId id="414" r:id="rId41"/>
    <p:sldId id="417" r:id="rId42"/>
    <p:sldId id="455" r:id="rId43"/>
    <p:sldId id="413" r:id="rId44"/>
    <p:sldId id="418" r:id="rId45"/>
    <p:sldId id="396" r:id="rId46"/>
    <p:sldId id="394" r:id="rId47"/>
    <p:sldId id="366" r:id="rId48"/>
    <p:sldId id="352" r:id="rId49"/>
    <p:sldId id="293" r:id="rId50"/>
    <p:sldId id="306" r:id="rId51"/>
    <p:sldId id="419" r:id="rId52"/>
    <p:sldId id="438" r:id="rId53"/>
    <p:sldId id="439" r:id="rId54"/>
    <p:sldId id="377" r:id="rId55"/>
    <p:sldId id="378" r:id="rId5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61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=""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=""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=""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=""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=""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=""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=""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=""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=""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=""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=""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=""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=""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=""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=""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=""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=""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=""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=""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=""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=""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=""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=""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=""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O erro </a:t>
                </a:r>
                <a:r>
                  <a:rPr lang="pt-BR" dirty="0"/>
                  <a:t>é </a:t>
                </a:r>
                <a:r>
                  <a:rPr lang="pt-BR" dirty="0" smtClean="0"/>
                  <a:t>muito alto se o classificador erra e tende a zero se acerta.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</a:t>
            </a:r>
            <a:r>
              <a:rPr lang="pt-BR" dirty="0" smtClean="0"/>
              <a:t>notícia, </a:t>
            </a:r>
            <a:r>
              <a:rPr lang="pt-BR" b="1" dirty="0" smtClean="0">
                <a:solidFill>
                  <a:srgbClr val="00B050"/>
                </a:solidFill>
              </a:rPr>
              <a:t>não </a:t>
            </a:r>
            <a:r>
              <a:rPr lang="pt-BR" b="1" dirty="0">
                <a:solidFill>
                  <a:srgbClr val="00B050"/>
                </a:solidFill>
              </a:rPr>
              <a:t>existe uma equação </a:t>
            </a:r>
            <a:r>
              <a:rPr lang="pt-BR" b="1" dirty="0" smtClean="0">
                <a:solidFill>
                  <a:srgbClr val="00B050"/>
                </a:solidFill>
              </a:rPr>
              <a:t>analítica </a:t>
            </a:r>
            <a:r>
              <a:rPr lang="pt-BR" dirty="0" smtClean="0"/>
              <a:t>que nos dá diretamente os </a:t>
            </a:r>
            <a:r>
              <a:rPr lang="pt-BR" b="1" dirty="0" smtClean="0"/>
              <a:t>pesos</a:t>
            </a:r>
            <a:r>
              <a:rPr lang="pt-BR" dirty="0" smtClean="0"/>
              <a:t> </a:t>
            </a:r>
            <a:r>
              <a:rPr lang="pt-BR" dirty="0"/>
              <a:t>que </a:t>
            </a:r>
            <a:r>
              <a:rPr lang="pt-BR" dirty="0" smtClean="0"/>
              <a:t>minimizam </a:t>
            </a:r>
            <a:r>
              <a:rPr lang="pt-BR" dirty="0"/>
              <a:t>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</a:t>
            </a:r>
            <a:r>
              <a:rPr lang="pt-BR" dirty="0" smtClean="0"/>
              <a:t>a boa </a:t>
            </a:r>
            <a:r>
              <a:rPr lang="pt-BR" dirty="0"/>
              <a:t>notícia é que </a:t>
            </a:r>
            <a:r>
              <a:rPr lang="pt-BR" dirty="0" smtClean="0"/>
              <a:t>por ser </a:t>
            </a:r>
            <a:r>
              <a:rPr lang="pt-BR" b="1" dirty="0" smtClean="0">
                <a:solidFill>
                  <a:srgbClr val="00B050"/>
                </a:solidFill>
              </a:rPr>
              <a:t>convexa</a:t>
            </a:r>
            <a:r>
              <a:rPr lang="pt-BR" dirty="0" smtClean="0"/>
              <a:t> </a:t>
            </a:r>
            <a:r>
              <a:rPr lang="pt-BR" dirty="0"/>
              <a:t>e </a:t>
            </a:r>
            <a:r>
              <a:rPr lang="pt-BR" b="1" dirty="0" err="1" smtClean="0">
                <a:solidFill>
                  <a:srgbClr val="00B050"/>
                </a:solidFill>
              </a:rPr>
              <a:t>diferenciável</a:t>
            </a:r>
            <a:r>
              <a:rPr lang="pt-BR" dirty="0" smtClean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Podemos </a:t>
            </a:r>
            <a:r>
              <a:rPr lang="pt-BR" dirty="0"/>
              <a:t>implementar todas as versões do </a:t>
            </a:r>
            <a:r>
              <a:rPr lang="pt-BR" b="1" dirty="0" smtClean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Vetor gradiente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</a:t>
                </a:r>
                <a:r>
                  <a:rPr lang="pt-BR" b="1" dirty="0" smtClean="0"/>
                  <a:t>da entropia cruzada </a:t>
                </a:r>
                <a:r>
                  <a:rPr lang="pt-BR" dirty="0" smtClean="0"/>
                  <a:t>é </a:t>
                </a:r>
                <a:r>
                  <a:rPr lang="pt-BR" dirty="0"/>
                  <a:t>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</a:t>
                </a:r>
                <a:r>
                  <a:rPr lang="pt-BR" dirty="0" smtClean="0"/>
                  <a:t>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 smtClean="0"/>
                  <a:t> são vetores contendo </a:t>
                </a:r>
                <a:r>
                  <a:rPr lang="pt-BR" dirty="0"/>
                  <a:t>todos os valores esperados e </a:t>
                </a:r>
                <a:r>
                  <a:rPr lang="pt-BR" dirty="0" smtClean="0"/>
                  <a:t>preditos, </a:t>
                </a:r>
                <a:r>
                  <a:rPr lang="pt-BR" dirty="0"/>
                  <a:t>respectivamente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anexo I apresenta os passos para se encontrar o vetor gradiente.</a:t>
                </a:r>
                <a:endParaRPr lang="pt-BR" dirty="0"/>
              </a:p>
              <a:p>
                <a:endParaRPr lang="pt-BR" sz="2800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=""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=""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</a:t>
                </a:r>
                <a:r>
                  <a:rPr lang="pt-BR" sz="2800" dirty="0" smtClean="0"/>
                  <a:t>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</a:t>
                </a:r>
                <a:r>
                  <a:rPr lang="pt-BR" sz="2800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 smtClean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 smtClean="0"/>
                  <a:t> é formada pelas combinações dos atributos originais </a:t>
                </a:r>
                <a:r>
                  <a:rPr lang="pt-BR" dirty="0" smtClean="0"/>
                  <a:t>de cada </a:t>
                </a:r>
                <a:r>
                  <a:rPr lang="pt-BR" sz="2400" dirty="0" smtClean="0"/>
                  <a:t>monômio do polinômio.</a:t>
                </a:r>
                <a:endParaRPr lang="pt-BR" sz="2400" dirty="0"/>
              </a:p>
              <a:p>
                <a:r>
                  <a:rPr lang="pt-BR" dirty="0" smtClean="0"/>
                  <a:t>O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vetor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</a:t>
                </a:r>
                <a:r>
                  <a:rPr lang="pt-BR" b="1" dirty="0"/>
                  <a:t> </a:t>
                </a:r>
                <a:r>
                  <a:rPr lang="pt-BR" dirty="0" smtClean="0"/>
                  <a:t>acima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6"/>
          </a:xfrm>
        </p:spPr>
        <p:txBody>
          <a:bodyPr>
            <a:normAutofit/>
          </a:bodyPr>
          <a:lstStyle/>
          <a:p>
            <a:r>
              <a:rPr lang="pt-BR" dirty="0"/>
              <a:t>D</a:t>
            </a:r>
            <a:r>
              <a:rPr lang="pt-BR" dirty="0" smtClean="0"/>
              <a:t>e </a:t>
            </a:r>
            <a:r>
              <a:rPr lang="pt-BR" dirty="0"/>
              <a:t>posse do </a:t>
            </a:r>
            <a:r>
              <a:rPr lang="pt-BR" b="1" dirty="0"/>
              <a:t>vetor gradiente</a:t>
            </a:r>
            <a:r>
              <a:rPr lang="pt-BR" dirty="0"/>
              <a:t>, podemos usá-lo com </a:t>
            </a:r>
            <a:r>
              <a:rPr lang="pt-BR" dirty="0" smtClean="0"/>
              <a:t>qualquer versão do </a:t>
            </a:r>
            <a:r>
              <a:rPr lang="pt-BR" b="1" dirty="0"/>
              <a:t>gradiente descendente</a:t>
            </a:r>
            <a:r>
              <a:rPr lang="pt-BR" dirty="0"/>
              <a:t> </a:t>
            </a:r>
            <a:r>
              <a:rPr lang="pt-BR" dirty="0" smtClean="0"/>
              <a:t>para </a:t>
            </a:r>
            <a:r>
              <a:rPr lang="pt-BR" dirty="0"/>
              <a:t>atualizar os pesos</a:t>
            </a:r>
            <a:r>
              <a:rPr lang="pt-BR" dirty="0" smtClean="0"/>
              <a:t>.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="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998558"/>
                <a:ext cx="7675164" cy="1189365"/>
              </a:xfrm>
              <a:prstGeom prst="rect">
                <a:avLst/>
              </a:prstGeom>
              <a:blipFill rotWithShape="0">
                <a:blip r:embed="rId2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63542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</a:t>
                </a:r>
                <a:r>
                  <a:rPr lang="pt-BR" dirty="0"/>
                  <a:t>como ocorre </a:t>
                </a:r>
                <a:r>
                  <a:rPr lang="pt-BR" dirty="0" smtClean="0"/>
                  <a:t>com a </a:t>
                </a:r>
                <a:r>
                  <a:rPr lang="pt-BR" b="1" dirty="0" smtClean="0"/>
                  <a:t>regressão </a:t>
                </a:r>
                <a:r>
                  <a:rPr lang="pt-BR" b="1" dirty="0"/>
                  <a:t>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</a:t>
                </a:r>
                <a:r>
                  <a:rPr lang="pt-BR" dirty="0" smtClean="0"/>
                  <a:t>à </a:t>
                </a:r>
                <a:r>
                  <a:rPr lang="pt-BR" b="1" dirty="0" err="1" smtClean="0"/>
                  <a:t>sobreajuste</a:t>
                </a:r>
                <a:r>
                  <a:rPr lang="pt-BR" dirty="0" smtClean="0"/>
                  <a:t> </a:t>
                </a:r>
                <a:r>
                  <a:rPr lang="pt-BR" dirty="0"/>
                  <a:t>e </a:t>
                </a:r>
                <a:r>
                  <a:rPr lang="pt-BR" b="1" dirty="0" err="1"/>
                  <a:t>subajuste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Qual deve ser a complexidade, no caso de polinômios, o grau, da </a:t>
                </a:r>
                <a:r>
                  <a:rPr lang="pt-BR" b="1" dirty="0" smtClean="0"/>
                  <a:t>função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?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=""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=""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=""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=""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=""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=""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=""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=""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=""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=""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=""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=""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=""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=""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=""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=""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=""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=""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=""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=""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=""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=""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=""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=""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=""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=""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=""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=""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=""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=""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=""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=""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=""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=""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=""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=""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=""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=""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=""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=""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=""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=""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=""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=""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=""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=""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=""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=""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=""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=""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=""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=""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=""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=""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=""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=""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=""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=""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=""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=""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=""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=""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=""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=""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=""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=""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=""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=""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=""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=""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=""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=""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=""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=""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=""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=""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=""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=""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=""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=""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=""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=""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=""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=""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=""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=""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=""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=""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=""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=""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=""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=""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=""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=""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=""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=""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=""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=""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=""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=""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=""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=""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=""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=""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=""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=""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=""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=""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=""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=""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=""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=""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=""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=""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=""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=""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=""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=""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=""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=""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=""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=""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=""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=""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=""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=""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=""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=""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=""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=""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=""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=""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=""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=""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=""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=""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=""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=""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=""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=""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=""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=""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=""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=""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=""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=""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=""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=""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=""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=""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=""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=""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=""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=""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=""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=""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=""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=""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=""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=""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=""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=""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=""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=""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=""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=""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=""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=""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=""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=""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=""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=""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=""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=""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=""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=""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=""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=""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=""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=""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=""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=""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=""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=""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=""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=""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=""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=""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=""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=""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=""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=""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=""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=""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</a:t>
            </a:r>
            <a:r>
              <a:rPr lang="pt-BR" dirty="0" smtClean="0"/>
              <a:t>grau elevado) </a:t>
            </a:r>
            <a:r>
              <a:rPr lang="pt-BR" dirty="0"/>
              <a:t>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=""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=""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=""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=""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=""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=""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=""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=""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=""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=""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=""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=""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=""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=""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=""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=""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=""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=""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=""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=""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=""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=""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=""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=""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=""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=""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=""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=""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=""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=""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=""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=""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=""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=""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=""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=""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=""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=""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=""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=""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=""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=""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=""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=""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=""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=""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=""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=""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=""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=""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=""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=""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=""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=""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=""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=""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=""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=""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=""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=""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=""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=""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=""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=""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=""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=""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=""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=""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=""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=""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=""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=""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=""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=""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=""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=""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=""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=""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=""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=""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=""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=""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=""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=""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=""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=""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=""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=""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=""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=""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=""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=""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=""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=""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=""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=""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=""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=""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=""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=""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=""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=""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=""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=""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=""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=""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=""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=""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=""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=""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=""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=""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=""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=""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=""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=""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=""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=""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=""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=""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=""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=""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=""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=""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=""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=""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=""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=""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=""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=""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=""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=""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=""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=""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=""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=""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=""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=""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=""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=""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=""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=""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=""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=""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=""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</a:t>
            </a:r>
            <a:r>
              <a:rPr lang="pt-BR" sz="6000" i="1" dirty="0" smtClean="0"/>
              <a:t>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xmlns:a14="http://schemas.microsoft.com/office/drawing/2010/main" xmlns:mc="http://schemas.openxmlformats.org/markup-compatibility/2006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 smtClean="0"/>
              <a:t>Podemos </a:t>
            </a:r>
            <a:r>
              <a:rPr lang="pt-BR" dirty="0"/>
              <a:t>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 smtClean="0"/>
              <a:t>como o </a:t>
            </a:r>
            <a:r>
              <a:rPr lang="pt-BR" i="1" dirty="0" smtClean="0"/>
              <a:t>k-</a:t>
            </a:r>
            <a:r>
              <a:rPr lang="pt-BR" i="1" dirty="0" err="1" smtClean="0"/>
              <a:t>fold</a:t>
            </a:r>
            <a:r>
              <a:rPr lang="pt-BR" dirty="0" smtClean="0"/>
              <a:t> para encontrar a complexidade ideal para </a:t>
            </a:r>
            <a:r>
              <a:rPr lang="pt-BR" smtClean="0"/>
              <a:t>o modelo.</a:t>
            </a:r>
            <a:endParaRPr lang="pt-BR" dirty="0"/>
          </a:p>
          <a:p>
            <a:r>
              <a:rPr lang="pt-BR" dirty="0"/>
              <a:t>Esses técnicas nos auxiliam a encontrar um polinômio que apresente uma </a:t>
            </a:r>
            <a:r>
              <a:rPr lang="pt-BR" b="1" i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=""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=""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2D9F4A-3F1E-72CA-5279-D7096455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6C3F39F-A361-AD70-0282-D98F9A8F9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2676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8B15EEB-555A-1663-8A26-726644DC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9F76B53-821B-1D2E-B52E-C808298E9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298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BB5C0CF-6932-AB23-09BC-D188772C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B00C46C-B4D6-FF5E-D8DB-8F29C27BE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6055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=""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8781</TotalTime>
  <Words>3464</Words>
  <Application>Microsoft Office PowerPoint</Application>
  <PresentationFormat>Widescreen</PresentationFormat>
  <Paragraphs>489</Paragraphs>
  <Slides>55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55</vt:i4>
      </vt:variant>
    </vt:vector>
  </HeadingPairs>
  <TitlesOfParts>
    <vt:vector size="64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Apresentação do PowerPoint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Apresentação do PowerPoint</vt:lpstr>
      <vt:lpstr>Apresentação do PowerPoint</vt:lpstr>
      <vt:lpstr>Apresentação do PowerPoint</vt:lpstr>
      <vt:lpstr>Matriz de confusão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1858</cp:revision>
  <dcterms:created xsi:type="dcterms:W3CDTF">2020-01-20T13:50:05Z</dcterms:created>
  <dcterms:modified xsi:type="dcterms:W3CDTF">2026-02-22T13:44:36Z</dcterms:modified>
</cp:coreProperties>
</file>