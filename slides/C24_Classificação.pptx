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notesMasterIdLst>
    <p:notesMasterId r:id="rId25"/>
  </p:notesMasterIdLst>
  <p:handoutMasterIdLst>
    <p:handoutMasterId r:id="rId26"/>
  </p:handoutMasterIdLst>
  <p:sldIdLst>
    <p:sldId id="256" r:id="rId2"/>
    <p:sldId id="347" r:id="rId3"/>
    <p:sldId id="348" r:id="rId4"/>
    <p:sldId id="329" r:id="rId5"/>
    <p:sldId id="351" r:id="rId6"/>
    <p:sldId id="350" r:id="rId7"/>
    <p:sldId id="353" r:id="rId8"/>
    <p:sldId id="349" r:id="rId9"/>
    <p:sldId id="355" r:id="rId10"/>
    <p:sldId id="332" r:id="rId11"/>
    <p:sldId id="358" r:id="rId12"/>
    <p:sldId id="359" r:id="rId13"/>
    <p:sldId id="357" r:id="rId14"/>
    <p:sldId id="344" r:id="rId15"/>
    <p:sldId id="360" r:id="rId16"/>
    <p:sldId id="345" r:id="rId17"/>
    <p:sldId id="363" r:id="rId18"/>
    <p:sldId id="361" r:id="rId19"/>
    <p:sldId id="362" r:id="rId20"/>
    <p:sldId id="356" r:id="rId21"/>
    <p:sldId id="352" r:id="rId22"/>
    <p:sldId id="293" r:id="rId23"/>
    <p:sldId id="306" r:id="rId24"/>
  </p:sldIdLst>
  <p:sldSz cx="12192000" cy="6858000"/>
  <p:notesSz cx="7315200" cy="9601200"/>
  <p:defaultTextStyle>
    <a:defPPr>
      <a:defRPr lang="pt-B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F1F5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B3FCA41B-7398-400B-83DC-FDE8722EB923}" v="79" dt="2020-02-09T01:28:39.664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1078" autoAdjust="0"/>
    <p:restoredTop sz="79540" autoAdjust="0"/>
  </p:normalViewPr>
  <p:slideViewPr>
    <p:cSldViewPr snapToGrid="0">
      <p:cViewPr varScale="1">
        <p:scale>
          <a:sx n="88" d="100"/>
          <a:sy n="88" d="100"/>
        </p:scale>
        <p:origin x="1698" y="84"/>
      </p:cViewPr>
      <p:guideLst/>
    </p:cSldViewPr>
  </p:slideViewPr>
  <p:outlineViewPr>
    <p:cViewPr>
      <p:scale>
        <a:sx n="33" d="100"/>
        <a:sy n="33" d="100"/>
      </p:scale>
      <p:origin x="0" y="-8862"/>
    </p:cViewPr>
  </p:outlineViewPr>
  <p:notesTextViewPr>
    <p:cViewPr>
      <p:scale>
        <a:sx n="1" d="1"/>
        <a:sy n="1" d="1"/>
      </p:scale>
      <p:origin x="0" y="-9042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handoutMaster" Target="handoutMasters/handoutMaster1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notesMaster" Target="notesMasters/notesMaster1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microsoft.com/office/2015/10/relationships/revisionInfo" Target="revisionInfo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microsoft.com/office/2016/11/relationships/changesInfo" Target="changesInfos/changesInfo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presProps" Target="presProps.xml"/><Relationship Id="rId30" Type="http://schemas.openxmlformats.org/officeDocument/2006/relationships/tableStyles" Target="tableStyle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Felipe Augusto Pereira de Figueiredo" userId="e1771b70d906f94b" providerId="Windows Live" clId="Web-{B3FCA41B-7398-400B-83DC-FDE8722EB923}"/>
    <pc:docChg chg="modSld">
      <pc:chgData name="Felipe Augusto Pereira de Figueiredo" userId="e1771b70d906f94b" providerId="Windows Live" clId="Web-{B3FCA41B-7398-400B-83DC-FDE8722EB923}" dt="2020-02-09T01:40:38.055" v="257"/>
      <pc:docMkLst>
        <pc:docMk/>
      </pc:docMkLst>
      <pc:sldChg chg="modSp modNotes">
        <pc:chgData name="Felipe Augusto Pereira de Figueiredo" userId="e1771b70d906f94b" providerId="Windows Live" clId="Web-{B3FCA41B-7398-400B-83DC-FDE8722EB923}" dt="2020-02-09T01:26:20.191" v="45"/>
        <pc:sldMkLst>
          <pc:docMk/>
          <pc:sldMk cId="636059476" sldId="259"/>
        </pc:sldMkLst>
        <pc:spChg chg="mod">
          <ac:chgData name="Felipe Augusto Pereira de Figueiredo" userId="e1771b70d906f94b" providerId="Windows Live" clId="Web-{B3FCA41B-7398-400B-83DC-FDE8722EB923}" dt="2020-02-09T01:22:23.081" v="18" actId="1076"/>
          <ac:spMkLst>
            <pc:docMk/>
            <pc:sldMk cId="636059476" sldId="259"/>
            <ac:spMk id="3" creationId="{979D29AC-E01B-406F-AC75-55866B75A7CC}"/>
          </ac:spMkLst>
        </pc:spChg>
      </pc:sldChg>
      <pc:sldChg chg="modNotes">
        <pc:chgData name="Felipe Augusto Pereira de Figueiredo" userId="e1771b70d906f94b" providerId="Windows Live" clId="Web-{B3FCA41B-7398-400B-83DC-FDE8722EB923}" dt="2020-02-09T01:21:46.721" v="16"/>
        <pc:sldMkLst>
          <pc:docMk/>
          <pc:sldMk cId="248504461" sldId="267"/>
        </pc:sldMkLst>
      </pc:sldChg>
      <pc:sldChg chg="modSp modNotes">
        <pc:chgData name="Felipe Augusto Pereira de Figueiredo" userId="e1771b70d906f94b" providerId="Windows Live" clId="Web-{B3FCA41B-7398-400B-83DC-FDE8722EB923}" dt="2020-02-09T01:40:38.055" v="257"/>
        <pc:sldMkLst>
          <pc:docMk/>
          <pc:sldMk cId="2076219387" sldId="277"/>
        </pc:sldMkLst>
        <pc:spChg chg="mod">
          <ac:chgData name="Felipe Augusto Pereira de Figueiredo" userId="e1771b70d906f94b" providerId="Windows Live" clId="Web-{B3FCA41B-7398-400B-83DC-FDE8722EB923}" dt="2020-02-09T01:28:39.664" v="120" actId="14100"/>
          <ac:spMkLst>
            <pc:docMk/>
            <pc:sldMk cId="2076219387" sldId="277"/>
            <ac:spMk id="3" creationId="{5E0262E2-3A0F-4805-BCCB-6745237D1574}"/>
          </ac:spMkLst>
        </pc:spChg>
      </pc:sldChg>
    </pc:docChg>
  </pc:docChgLst>
  <pc:docChgLst>
    <pc:chgData name="Felipe Augusto Pereira de Figueiredo" userId="e1771b70d906f94b" providerId="Windows Live" clId="Web-{1FA475AF-6444-47C2-89B1-9776BABC0E66}"/>
    <pc:docChg chg="modSld">
      <pc:chgData name="Felipe Augusto Pereira de Figueiredo" userId="e1771b70d906f94b" providerId="Windows Live" clId="Web-{1FA475AF-6444-47C2-89B1-9776BABC0E66}" dt="2020-02-09T18:53:52.767" v="85"/>
      <pc:docMkLst>
        <pc:docMk/>
      </pc:docMkLst>
      <pc:sldChg chg="modNotes">
        <pc:chgData name="Felipe Augusto Pereira de Figueiredo" userId="e1771b70d906f94b" providerId="Windows Live" clId="Web-{1FA475AF-6444-47C2-89B1-9776BABC0E66}" dt="2020-02-09T18:53:52.767" v="85"/>
        <pc:sldMkLst>
          <pc:docMk/>
          <pc:sldMk cId="248504461" sldId="267"/>
        </pc:sldMkLst>
      </pc:sldChg>
    </pc:docChg>
  </pc:docChgLst>
</pc:chgInfo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1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3" name="Date Placeholder 2"/>
          <p:cNvSpPr>
            <a:spLocks noGrp="1"/>
          </p:cNvSpPr>
          <p:nvPr>
            <p:ph type="dt" sz="quarter" idx="1"/>
          </p:nvPr>
        </p:nvSpPr>
        <p:spPr>
          <a:xfrm>
            <a:off x="4143589" y="0"/>
            <a:ext cx="3169922" cy="480722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144F1436-6906-4D93-B7A2-786C327BFA14}" type="datetimeFigureOut">
              <a:rPr lang="nl-BE" smtClean="0"/>
              <a:t>19/02/2026</a:t>
            </a:fld>
            <a:endParaRPr lang="nl-BE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2"/>
          </p:nvPr>
        </p:nvSpPr>
        <p:spPr>
          <a:xfrm>
            <a:off x="1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nl-BE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3"/>
          </p:nvPr>
        </p:nvSpPr>
        <p:spPr>
          <a:xfrm>
            <a:off x="4143589" y="9120488"/>
            <a:ext cx="3169922" cy="480718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F7E56D9B-79AD-444A-AFED-DEC23408F8B4}" type="slidenum">
              <a:rPr lang="nl-BE" smtClean="0"/>
              <a:t>‹#›</a:t>
            </a:fld>
            <a:endParaRPr lang="nl-BE"/>
          </a:p>
        </p:txBody>
      </p:sp>
    </p:spTree>
    <p:extLst>
      <p:ext uri="{BB962C8B-B14F-4D97-AF65-F5344CB8AC3E}">
        <p14:creationId xmlns:p14="http://schemas.microsoft.com/office/powerpoint/2010/main" val="316353311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Cabeçalho 1"/>
          <p:cNvSpPr>
            <a:spLocks noGrp="1"/>
          </p:cNvSpPr>
          <p:nvPr>
            <p:ph type="hdr" sz="quarter"/>
          </p:nvPr>
        </p:nvSpPr>
        <p:spPr>
          <a:xfrm>
            <a:off x="5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3" name="Espaço Reservado para Data 2"/>
          <p:cNvSpPr>
            <a:spLocks noGrp="1"/>
          </p:cNvSpPr>
          <p:nvPr>
            <p:ph type="dt" idx="1"/>
          </p:nvPr>
        </p:nvSpPr>
        <p:spPr>
          <a:xfrm>
            <a:off x="4143592" y="1"/>
            <a:ext cx="3169922" cy="1903121"/>
          </a:xfrm>
          <a:prstGeom prst="rect">
            <a:avLst/>
          </a:prstGeom>
        </p:spPr>
        <p:txBody>
          <a:bodyPr vert="horz" lIns="168634" tIns="84317" rIns="168634" bIns="84317" rtlCol="0"/>
          <a:lstStyle>
            <a:lvl1pPr algn="r">
              <a:defRPr sz="2200"/>
            </a:lvl1pPr>
          </a:lstStyle>
          <a:p>
            <a:fld id="{AA8CD09E-2914-4F47-B6C1-51B2C31814C9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Imagem de Slide 3"/>
          <p:cNvSpPr>
            <a:spLocks noGrp="1" noRot="1" noChangeAspect="1"/>
          </p:cNvSpPr>
          <p:nvPr>
            <p:ph type="sldImg" idx="2"/>
          </p:nvPr>
        </p:nvSpPr>
        <p:spPr>
          <a:xfrm>
            <a:off x="-7721600" y="4740275"/>
            <a:ext cx="22758400" cy="128016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168634" tIns="84317" rIns="168634" bIns="84317" rtlCol="0" anchor="ctr"/>
          <a:lstStyle/>
          <a:p>
            <a:endParaRPr lang="pt-BR"/>
          </a:p>
        </p:txBody>
      </p:sp>
      <p:sp>
        <p:nvSpPr>
          <p:cNvPr id="5" name="Espaço Reservado para Anotações 4"/>
          <p:cNvSpPr>
            <a:spLocks noGrp="1"/>
          </p:cNvSpPr>
          <p:nvPr>
            <p:ph type="body" sz="quarter" idx="3"/>
          </p:nvPr>
        </p:nvSpPr>
        <p:spPr>
          <a:xfrm>
            <a:off x="731522" y="18254135"/>
            <a:ext cx="5852160" cy="14935200"/>
          </a:xfrm>
          <a:prstGeom prst="rect">
            <a:avLst/>
          </a:prstGeom>
        </p:spPr>
        <p:txBody>
          <a:bodyPr vert="horz" lIns="168634" tIns="84317" rIns="168634" bIns="84317" rtlCol="0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6" name="Espaço Reservado para Rodapé 5"/>
          <p:cNvSpPr>
            <a:spLocks noGrp="1"/>
          </p:cNvSpPr>
          <p:nvPr>
            <p:ph type="ftr" sz="quarter" idx="4"/>
          </p:nvPr>
        </p:nvSpPr>
        <p:spPr>
          <a:xfrm>
            <a:off x="5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l">
              <a:defRPr sz="2200"/>
            </a:lvl1pPr>
          </a:lstStyle>
          <a:p>
            <a:endParaRPr lang="pt-BR"/>
          </a:p>
        </p:txBody>
      </p:sp>
      <p:sp>
        <p:nvSpPr>
          <p:cNvPr id="7" name="Espaço Reservado para Número de Slide 6"/>
          <p:cNvSpPr>
            <a:spLocks noGrp="1"/>
          </p:cNvSpPr>
          <p:nvPr>
            <p:ph type="sldNum" sz="quarter" idx="5"/>
          </p:nvPr>
        </p:nvSpPr>
        <p:spPr>
          <a:xfrm>
            <a:off x="4143592" y="36027558"/>
            <a:ext cx="3169922" cy="1903117"/>
          </a:xfrm>
          <a:prstGeom prst="rect">
            <a:avLst/>
          </a:prstGeom>
        </p:spPr>
        <p:txBody>
          <a:bodyPr vert="horz" lIns="168634" tIns="84317" rIns="168634" bIns="84317" rtlCol="0" anchor="b"/>
          <a:lstStyle>
            <a:lvl1pPr algn="r">
              <a:defRPr sz="2200"/>
            </a:lvl1pPr>
          </a:lstStyle>
          <a:p>
            <a:fld id="{6FC8D850-966F-45A6-8DE7-15B891E7D40D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4181476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en.wikipedia.org/wiki/Multi-label_classification?utm_source=chatgpt.com" TargetMode="External"/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Relationship Id="rId4" Type="http://schemas.openxmlformats.org/officeDocument/2006/relationships/hyperlink" Target="https://i-systems.github.io/teaching/ML/iNotes/04_Classification.html?utm_source=chatgpt.com" TargetMode="Externa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pt-BR" dirty="0"/>
              <a:t>Em um </a:t>
            </a:r>
            <a:r>
              <a:rPr lang="pt-BR" b="1" dirty="0"/>
              <a:t>problema de classificação </a:t>
            </a:r>
            <a:r>
              <a:rPr lang="pt-BR" b="1" dirty="0" err="1"/>
              <a:t>multilabel</a:t>
            </a:r>
            <a:r>
              <a:rPr lang="pt-BR" dirty="0"/>
              <a:t>, a superfície de separação é bem diferente da que aparece em problemas binários ou multiclasses clássicos.</a:t>
            </a:r>
          </a:p>
          <a:p>
            <a:r>
              <a:rPr lang="pt-BR" dirty="0"/>
              <a:t>Vou explicar de forma conceitual e visual (como você explicaria em sala).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1️⃣ Lembrete: o que muda no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No </a:t>
            </a:r>
            <a:r>
              <a:rPr lang="pt-BR" dirty="0" err="1"/>
              <a:t>multilabel</a:t>
            </a:r>
            <a:r>
              <a:rPr lang="pt-BR" dirty="0"/>
              <a:t>, cada amostra pode pertencer a </a:t>
            </a:r>
            <a:r>
              <a:rPr lang="pt-BR" b="1" dirty="0"/>
              <a:t>várias classes simultaneamente</a:t>
            </a:r>
            <a:r>
              <a:rPr lang="pt-BR" dirty="0"/>
              <a:t>.</a:t>
            </a:r>
            <a:br>
              <a:rPr lang="pt-BR" dirty="0"/>
            </a:br>
            <a:r>
              <a:rPr lang="pt-BR" dirty="0"/>
              <a:t>Formalmente, o modelo retorna um </a:t>
            </a:r>
            <a:r>
              <a:rPr lang="pt-BR" b="1" dirty="0"/>
              <a:t>vetor binário de rótulos</a:t>
            </a:r>
            <a:r>
              <a:rPr lang="pt-BR" dirty="0"/>
              <a:t>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y = (y_1, y_2, ..., </a:t>
            </a:r>
            <a:r>
              <a:rPr lang="pt-BR" dirty="0" err="1"/>
              <a:t>y_K</a:t>
            </a:r>
            <a:r>
              <a:rPr lang="pt-BR" dirty="0"/>
              <a:t>), 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y_k</a:t>
            </a:r>
            <a:r>
              <a:rPr lang="pt-BR" dirty="0"/>
              <a:t> \in {0,1}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seja, cada classe é decidida independentemente. (</a:t>
            </a:r>
            <a:r>
              <a:rPr lang="pt-BR" dirty="0">
                <a:hlinkClick r:id="rId3" tooltip="Multi-label classification"/>
              </a:rPr>
              <a:t>Wikipedia</a:t>
            </a:r>
            <a:r>
              <a:rPr lang="pt-BR" dirty="0"/>
              <a:t>)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2️⃣ Como fica a superfície de separação</a:t>
            </a:r>
          </a:p>
          <a:p>
            <a:r>
              <a:rPr lang="pt-BR" b="1" dirty="0"/>
              <a:t>✔️ Não existe uma única superfície global</a:t>
            </a:r>
          </a:p>
          <a:p>
            <a:r>
              <a:rPr lang="pt-BR" dirty="0"/>
              <a:t>Diferente do </a:t>
            </a:r>
            <a:r>
              <a:rPr lang="pt-BR" dirty="0" err="1"/>
              <a:t>multiclass</a:t>
            </a:r>
            <a:r>
              <a:rPr lang="pt-BR" dirty="0"/>
              <a:t> (onde o espaço é dividido em regiões exclusivas), no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👉 </a:t>
            </a:r>
            <a:r>
              <a:rPr lang="pt-BR" b="1" dirty="0"/>
              <a:t>cada classe tem sua própria superfície de decisão</a:t>
            </a:r>
            <a:endParaRPr lang="pt-BR" dirty="0"/>
          </a:p>
          <a:p>
            <a:r>
              <a:rPr lang="pt-BR" dirty="0"/>
              <a:t>Ou seja, existem </a:t>
            </a:r>
            <a:r>
              <a:rPr lang="pt-BR" b="1" dirty="0"/>
              <a:t>K superfícies</a:t>
            </a:r>
            <a:r>
              <a:rPr lang="pt-BR" dirty="0"/>
              <a:t> independentes: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f_1(x)=0,\</a:t>
            </a:r>
            <a:r>
              <a:rPr lang="pt-BR" dirty="0" err="1"/>
              <a:t>quad</a:t>
            </a:r>
            <a:r>
              <a:rPr lang="pt-BR" dirty="0"/>
              <a:t> f_2(x)=0,\</a:t>
            </a:r>
            <a:r>
              <a:rPr lang="pt-BR" dirty="0" err="1"/>
              <a:t>quad</a:t>
            </a:r>
            <a:r>
              <a:rPr lang="pt-BR" dirty="0"/>
              <a:t> ...,\</a:t>
            </a:r>
            <a:r>
              <a:rPr lang="pt-BR" dirty="0" err="1"/>
              <a:t>quad</a:t>
            </a:r>
            <a:r>
              <a:rPr lang="pt-BR" dirty="0"/>
              <a:t> </a:t>
            </a:r>
            <a:r>
              <a:rPr lang="pt-BR" dirty="0" err="1"/>
              <a:t>f_K</a:t>
            </a:r>
            <a:r>
              <a:rPr lang="pt-BR" dirty="0"/>
              <a:t>(x)=0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Cada uma decide:</a:t>
            </a:r>
          </a:p>
          <a:p>
            <a:r>
              <a:rPr lang="pt-BR" dirty="0"/>
              <a:t>de um lado → classe presente</a:t>
            </a:r>
          </a:p>
          <a:p>
            <a:r>
              <a:rPr lang="pt-BR" dirty="0"/>
              <a:t>do outro → classe ausente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Visualização em 2D (intuição)</a:t>
            </a:r>
          </a:p>
          <a:p>
            <a:r>
              <a:rPr lang="pt-BR" dirty="0"/>
              <a:t>Imagine um problema com 2 classes </a:t>
            </a:r>
            <a:r>
              <a:rPr lang="pt-BR" dirty="0" err="1"/>
              <a:t>multilabel</a:t>
            </a:r>
            <a:r>
              <a:rPr lang="pt-BR" dirty="0"/>
              <a:t>:</a:t>
            </a:r>
          </a:p>
          <a:p>
            <a:r>
              <a:rPr lang="pt-BR" dirty="0"/>
              <a:t>Classe A → hiperplano 1</a:t>
            </a:r>
          </a:p>
          <a:p>
            <a:r>
              <a:rPr lang="pt-BR" dirty="0"/>
              <a:t>Classe B → hiperplano 2</a:t>
            </a:r>
          </a:p>
          <a:p>
            <a:r>
              <a:rPr lang="pt-BR" dirty="0"/>
              <a:t>O espaço pode ficar assim:</a:t>
            </a:r>
          </a:p>
          <a:p>
            <a:r>
              <a:rPr lang="pt-BR" dirty="0"/>
              <a:t>Região do </a:t>
            </a:r>
            <a:r>
              <a:rPr lang="pt-BR" dirty="0" err="1"/>
              <a:t>espaçoRótulos</a:t>
            </a:r>
            <a:r>
              <a:rPr lang="pt-BR" dirty="0"/>
              <a:t> </a:t>
            </a:r>
            <a:r>
              <a:rPr lang="pt-BR" dirty="0" err="1"/>
              <a:t>atribuídosSó</a:t>
            </a:r>
            <a:r>
              <a:rPr lang="pt-BR" dirty="0"/>
              <a:t> A ativa(1,0)Só B ativa(0,1)Ambas ativas(1,1)Nenhuma ativa(0,0)</a:t>
            </a:r>
          </a:p>
          <a:p>
            <a:r>
              <a:rPr lang="pt-BR" dirty="0"/>
              <a:t>👉 Ou seja, as superfícies </a:t>
            </a:r>
            <a:r>
              <a:rPr lang="pt-BR" b="1" dirty="0"/>
              <a:t>não particionam o espaço</a:t>
            </a:r>
            <a:br>
              <a:rPr lang="pt-BR" dirty="0"/>
            </a:br>
            <a:r>
              <a:rPr lang="pt-BR" dirty="0"/>
              <a:t>👉 Elas </a:t>
            </a:r>
            <a:r>
              <a:rPr lang="pt-BR" b="1" dirty="0"/>
              <a:t>se sobrepõem</a:t>
            </a:r>
            <a:endParaRPr lang="pt-BR" dirty="0"/>
          </a:p>
          <a:p>
            <a:r>
              <a:rPr lang="pt-BR" dirty="0"/>
              <a:t>Isso é a principal diferença.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3️⃣ Comparação com outros cenários</a:t>
            </a:r>
          </a:p>
          <a:p>
            <a:r>
              <a:rPr lang="pt-BR" b="1" dirty="0"/>
              <a:t>🔹 Binário</a:t>
            </a:r>
          </a:p>
          <a:p>
            <a:r>
              <a:rPr lang="pt-BR" dirty="0"/>
              <a:t>Uma única superfície separa duas regiões.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Multiclass</a:t>
            </a:r>
            <a:endParaRPr lang="pt-BR" b="1" dirty="0"/>
          </a:p>
          <a:p>
            <a:r>
              <a:rPr lang="pt-BR" dirty="0"/>
              <a:t>Várias superfícies dividem o espaço em </a:t>
            </a:r>
            <a:r>
              <a:rPr lang="pt-BR" b="1" dirty="0"/>
              <a:t>regiões exclusivas</a:t>
            </a:r>
            <a:r>
              <a:rPr lang="pt-BR" dirty="0"/>
              <a:t>. (</a:t>
            </a:r>
            <a:r>
              <a:rPr lang="pt-BR" dirty="0">
                <a:hlinkClick r:id="rId4" tooltip="04_Classification"/>
              </a:rPr>
              <a:t>i-systems.github.io</a:t>
            </a:r>
            <a:r>
              <a:rPr lang="pt-BR" dirty="0"/>
              <a:t>)</a:t>
            </a:r>
          </a:p>
          <a:p>
            <a:r>
              <a:rPr lang="pt-BR" b="1" dirty="0"/>
              <a:t>🔹 </a:t>
            </a:r>
            <a:r>
              <a:rPr lang="pt-BR" b="1" dirty="0" err="1"/>
              <a:t>Multilabel</a:t>
            </a:r>
            <a:endParaRPr lang="pt-BR" b="1" dirty="0"/>
          </a:p>
          <a:p>
            <a:r>
              <a:rPr lang="pt-BR" dirty="0"/>
              <a:t>Várias superfícies independentes</a:t>
            </a:r>
            <a:br>
              <a:rPr lang="pt-BR" dirty="0"/>
            </a:br>
            <a:r>
              <a:rPr lang="pt-BR" dirty="0"/>
              <a:t>→ regiões podem se </a:t>
            </a:r>
            <a:r>
              <a:rPr lang="pt-BR" b="1" dirty="0"/>
              <a:t>sobrepor</a:t>
            </a:r>
            <a:br>
              <a:rPr lang="pt-BR" dirty="0"/>
            </a:br>
            <a:r>
              <a:rPr lang="pt-BR" dirty="0"/>
              <a:t>→ uma amostra pode cair em várias regiões simultaneamente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4️⃣ Intuição geométrica forte (boa para aula)</a:t>
            </a:r>
          </a:p>
          <a:p>
            <a:r>
              <a:rPr lang="pt-BR" dirty="0"/>
              <a:t>Você pode dizer aos alunos:</a:t>
            </a:r>
          </a:p>
          <a:p>
            <a:r>
              <a:rPr lang="pt-BR" dirty="0"/>
              <a:t>👉 No </a:t>
            </a:r>
            <a:r>
              <a:rPr lang="pt-BR" dirty="0" err="1"/>
              <a:t>multiclass</a:t>
            </a:r>
            <a:r>
              <a:rPr lang="pt-BR" dirty="0"/>
              <a:t> o espaço é </a:t>
            </a:r>
            <a:r>
              <a:rPr lang="pt-BR" i="1" dirty="0"/>
              <a:t>particionado</a:t>
            </a:r>
            <a:br>
              <a:rPr lang="pt-BR" dirty="0"/>
            </a:br>
            <a:r>
              <a:rPr lang="pt-BR" dirty="0"/>
              <a:t>👉 No </a:t>
            </a:r>
            <a:r>
              <a:rPr lang="pt-BR" dirty="0" err="1"/>
              <a:t>multilabel</a:t>
            </a:r>
            <a:r>
              <a:rPr lang="pt-BR" dirty="0"/>
              <a:t> o espaço é </a:t>
            </a:r>
            <a:r>
              <a:rPr lang="pt-BR" i="1" dirty="0"/>
              <a:t>coberto por máscaras</a:t>
            </a:r>
            <a:endParaRPr lang="pt-BR" dirty="0"/>
          </a:p>
          <a:p>
            <a:r>
              <a:rPr lang="pt-BR" dirty="0"/>
              <a:t>Cada máscara representa uma classe.</a:t>
            </a:r>
          </a:p>
          <a:p>
            <a:r>
              <a:rPr lang="pt-BR" dirty="0"/>
              <a:t>O resultado final é a </a:t>
            </a:r>
            <a:r>
              <a:rPr lang="pt-BR" b="1" dirty="0"/>
              <a:t>interseção dessas máscaras</a:t>
            </a:r>
            <a:r>
              <a:rPr lang="pt-BR" dirty="0"/>
              <a:t>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5️⃣ Exemplo aplicado (didático)</a:t>
            </a:r>
          </a:p>
          <a:p>
            <a:r>
              <a:rPr lang="pt-BR" dirty="0"/>
              <a:t>Classificação de imagem médica:</a:t>
            </a:r>
          </a:p>
          <a:p>
            <a:r>
              <a:rPr lang="pt-BR" dirty="0"/>
              <a:t>Superfícies:</a:t>
            </a:r>
          </a:p>
          <a:p>
            <a:r>
              <a:rPr lang="pt-BR" dirty="0"/>
              <a:t>pneumonia</a:t>
            </a:r>
          </a:p>
          <a:p>
            <a:r>
              <a:rPr lang="pt-BR" dirty="0"/>
              <a:t>covid</a:t>
            </a:r>
          </a:p>
          <a:p>
            <a:r>
              <a:rPr lang="pt-BR" dirty="0"/>
              <a:t>tumor</a:t>
            </a:r>
          </a:p>
          <a:p>
            <a:r>
              <a:rPr lang="pt-BR" dirty="0"/>
              <a:t>Uma imagem pode estar:</a:t>
            </a:r>
          </a:p>
          <a:p>
            <a:r>
              <a:rPr lang="pt-BR" dirty="0"/>
              <a:t>em uma região só</a:t>
            </a:r>
          </a:p>
          <a:p>
            <a:r>
              <a:rPr lang="pt-BR" dirty="0"/>
              <a:t>na interseção de duas</a:t>
            </a:r>
          </a:p>
          <a:p>
            <a:r>
              <a:rPr lang="pt-BR" dirty="0"/>
              <a:t>ou até das três</a:t>
            </a:r>
          </a:p>
          <a:p>
            <a:r>
              <a:rPr lang="pt-BR" dirty="0"/>
              <a:t>Não há exclusividade.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6️⃣ Forma matemática típica (logística </a:t>
            </a:r>
            <a:r>
              <a:rPr lang="pt-BR" b="1" dirty="0" err="1"/>
              <a:t>multilabel</a:t>
            </a:r>
            <a:r>
              <a:rPr lang="pt-BR" b="1" dirty="0"/>
              <a:t>)</a:t>
            </a:r>
          </a:p>
          <a:p>
            <a:r>
              <a:rPr lang="pt-BR" dirty="0"/>
              <a:t>Cada classe usa uma sigmoide independente: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/>
              <a:t>P(</a:t>
            </a:r>
            <a:r>
              <a:rPr lang="pt-BR" dirty="0" err="1"/>
              <a:t>y_k</a:t>
            </a:r>
            <a:r>
              <a:rPr lang="pt-BR" dirty="0"/>
              <a:t>=1|x) = \sigma(</a:t>
            </a:r>
            <a:r>
              <a:rPr lang="pt-BR" dirty="0" err="1"/>
              <a:t>w_k^Tx</a:t>
            </a:r>
            <a:r>
              <a:rPr lang="pt-BR" dirty="0"/>
              <a:t>)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e a superfície de decisão é:</a:t>
            </a:r>
          </a:p>
          <a:p>
            <a:r>
              <a:rPr lang="pt-BR" dirty="0"/>
              <a:t>[</a:t>
            </a:r>
            <a:br>
              <a:rPr lang="pt-BR" dirty="0"/>
            </a:br>
            <a:r>
              <a:rPr lang="pt-BR" dirty="0" err="1"/>
              <a:t>w_k^Tx</a:t>
            </a:r>
            <a:r>
              <a:rPr lang="pt-BR" dirty="0"/>
              <a:t> = 0</a:t>
            </a:r>
            <a:br>
              <a:rPr lang="pt-BR" dirty="0"/>
            </a:br>
            <a:r>
              <a:rPr lang="pt-BR" dirty="0"/>
              <a:t>]</a:t>
            </a:r>
          </a:p>
          <a:p>
            <a:r>
              <a:rPr lang="pt-BR" dirty="0"/>
              <a:t>ou seja:</a:t>
            </a:r>
          </a:p>
          <a:p>
            <a:r>
              <a:rPr lang="pt-BR" dirty="0"/>
              <a:t>👉 </a:t>
            </a:r>
            <a:r>
              <a:rPr lang="pt-BR" b="1" dirty="0"/>
              <a:t>um hiperplano por classe</a:t>
            </a:r>
            <a:endParaRPr lang="pt-BR" dirty="0"/>
          </a:p>
          <a:p>
            <a:br>
              <a:rPr lang="pt-BR" dirty="0"/>
            </a:br>
            <a:endParaRPr lang="pt-BR" dirty="0"/>
          </a:p>
          <a:p>
            <a:r>
              <a:rPr lang="pt-BR" b="1" dirty="0"/>
              <a:t>✔️ Resumo para aula</a:t>
            </a:r>
          </a:p>
          <a:p>
            <a:r>
              <a:rPr lang="pt-BR" dirty="0"/>
              <a:t>👉 </a:t>
            </a:r>
            <a:r>
              <a:rPr lang="pt-BR" dirty="0" err="1"/>
              <a:t>Multilabel</a:t>
            </a:r>
            <a:r>
              <a:rPr lang="pt-BR" dirty="0"/>
              <a:t> não tem uma superfície única</a:t>
            </a:r>
            <a:br>
              <a:rPr lang="pt-BR" dirty="0"/>
            </a:br>
            <a:r>
              <a:rPr lang="pt-BR" dirty="0"/>
              <a:t>👉 Existem várias superfícies independentes</a:t>
            </a:r>
            <a:br>
              <a:rPr lang="pt-BR" dirty="0"/>
            </a:br>
            <a:r>
              <a:rPr lang="pt-BR" dirty="0"/>
              <a:t>👉 O espaço não é dividido, mas sobreposto</a:t>
            </a:r>
            <a:br>
              <a:rPr lang="pt-BR" dirty="0"/>
            </a:br>
            <a:r>
              <a:rPr lang="pt-BR" dirty="0"/>
              <a:t>👉 Regiões podem corresponder a múltiplas classes</a:t>
            </a:r>
          </a:p>
          <a:p>
            <a:br>
              <a:rPr lang="pt-BR" dirty="0"/>
            </a:br>
            <a:endParaRPr lang="pt-BR" dirty="0"/>
          </a:p>
          <a:p>
            <a:r>
              <a:rPr lang="pt-BR" dirty="0"/>
              <a:t>Se quiser, posso desenhar um </a:t>
            </a:r>
            <a:r>
              <a:rPr lang="pt-BR" b="1" dirty="0"/>
              <a:t>esquema visual didático (tipo quadro de aula)</a:t>
            </a:r>
            <a:r>
              <a:rPr lang="pt-BR" dirty="0"/>
              <a:t> mostrando:</a:t>
            </a:r>
          </a:p>
          <a:p>
            <a:r>
              <a:rPr lang="pt-BR" dirty="0" err="1"/>
              <a:t>multiclass</a:t>
            </a:r>
            <a:r>
              <a:rPr lang="pt-BR" dirty="0"/>
              <a:t> </a:t>
            </a:r>
            <a:r>
              <a:rPr lang="pt-BR" dirty="0" err="1"/>
              <a:t>vs</a:t>
            </a:r>
            <a:r>
              <a:rPr lang="pt-BR" dirty="0"/>
              <a:t> </a:t>
            </a:r>
            <a:r>
              <a:rPr lang="pt-BR" dirty="0" err="1"/>
              <a:t>multilabel</a:t>
            </a:r>
            <a:endParaRPr lang="pt-BR" dirty="0"/>
          </a:p>
          <a:p>
            <a:r>
              <a:rPr lang="pt-BR" dirty="0"/>
              <a:t>fronteiras</a:t>
            </a:r>
          </a:p>
          <a:p>
            <a:r>
              <a:rPr lang="pt-BR" dirty="0"/>
              <a:t>regiões</a:t>
            </a:r>
          </a:p>
          <a:p>
            <a:r>
              <a:rPr lang="pt-BR"/>
              <a:t>Isso costuma ajudar muito os alunos a entenderem.</a:t>
            </a:r>
          </a:p>
          <a:p>
            <a:endParaRPr lang="pt-BR" baseline="0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6607474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 err="1"/>
              <a:t>Motivacão</a:t>
            </a:r>
            <a:r>
              <a:rPr lang="pt-BR" dirty="0"/>
              <a:t>:</a:t>
            </a:r>
            <a:r>
              <a:rPr lang="pt-BR" baseline="0" dirty="0"/>
              <a:t> </a:t>
            </a:r>
            <a:r>
              <a:rPr lang="pt-BR" baseline="0" dirty="0" err="1"/>
              <a:t>classificacão</a:t>
            </a:r>
            <a:r>
              <a:rPr lang="pt-BR" baseline="0" dirty="0"/>
              <a:t> de e-mails, detecção de símbolos, classificação de modulações, etc.</a:t>
            </a:r>
            <a:endParaRPr lang="pt-BR" dirty="0"/>
          </a:p>
          <a:p>
            <a:endParaRPr lang="en-US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3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2286358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935174336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2DA5E1-00E0-2F8D-E426-C2BE1BC8766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755444DB-79D2-76F0-537D-343DD7EF78F8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FA229730-5EFD-DF7F-FC23-84032A9E749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B47740AF-93D3-5439-F324-AEC42AF75759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7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6814869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14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90047734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separar) as classes.</a:t>
            </a:r>
            <a:endParaRPr lang="pt-BR" dirty="0"/>
          </a:p>
          <a:p>
            <a:endParaRPr lang="pt-BR" dirty="0"/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b="1" i="1" dirty="0"/>
              <a:t>fronteira de decisão</a:t>
            </a:r>
            <a:r>
              <a:rPr lang="pt-BR" b="0" i="0" dirty="0"/>
              <a:t>  é onde </a:t>
            </a:r>
            <a:r>
              <a:rPr lang="pt-BR" dirty="0"/>
              <a:t>onde ocorre uma indeterminação, ou seja, um empate entre diferentes classes possíveis.</a:t>
            </a:r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15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462824056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As fronteiras de decisão são definidas por funções (lineares ou não) que separam</a:t>
            </a:r>
            <a:r>
              <a:rPr lang="pt-BR" baseline="0" dirty="0"/>
              <a:t> ou discriminam as classes. Essas funções são normalmente chamadas de funções discriminantes, pois vão discriminar (ou seja, separar) as classes.</a:t>
            </a:r>
            <a:endParaRPr lang="pt-BR" dirty="0"/>
          </a:p>
          <a:p>
            <a:endParaRPr lang="pt-BR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16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3709845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18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63527196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Imagem de Slide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Espaço Reservado para Anotações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pt-BR" dirty="0"/>
              <a:t>Para um problema de classificação de duas classes, pode-se visualizar a operação de um classificador linear como a divisão de um espaço de entrada de alta dimensão com um hiperplano: todos os pontos de um lado do hiperplano são classificados como "sim", enquanto os outros são classificados como "não".</a:t>
            </a:r>
          </a:p>
          <a:p>
            <a:endParaRPr lang="pt-BR" dirty="0"/>
          </a:p>
          <a:p>
            <a:endParaRPr lang="pt-BR" dirty="0"/>
          </a:p>
        </p:txBody>
      </p:sp>
      <p:sp>
        <p:nvSpPr>
          <p:cNvPr id="4" name="Espaço Reservado para Número de Slide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6FC8D850-966F-45A6-8DE7-15B891E7D40D}" type="slidenum">
              <a:rPr lang="pt-BR" smtClean="0"/>
              <a:t>19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4440106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DB9B4FF-B06E-403C-A326-BDC64D8FF94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47BDFCE-746E-45BF-A319-4733D58D163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pt-BR"/>
              <a:t>Clique para editar o estilo do subtítulo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EDE2778-5372-4104-B96D-968184DA828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1DD0F41-C861-4051-988D-3024A37A4B9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07E5967E-D980-431A-A5DB-3F0C5030A8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49754289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1BD44A5-8F21-4626-A01D-48A1C874B1D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B79E8085-65A9-48AA-951D-71D978BFF4E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F05BE1AF-51EA-425D-B188-DE7BD67500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21BE632-29CF-4CB9-B365-C9EF38F89BE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0CF3DD1-9AEC-4A57-B461-4E4DD86FAC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687907957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4AB2FF0-A4D7-4E28-991D-FF26140D598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E2AC45B0-4145-40DB-8E61-10546117060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50F1D3FB-740A-4EBA-A309-2CE71D12ECF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BDCAB18F-8715-4465-A940-F9C193A2ACE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353466C6-8248-429F-8056-FF040BF509E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65227914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C7BB9F0-F14B-4A91-B2B7-35BC47FE4DE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EC1FC1C4-73DA-47A6-8496-B0B457F7D39A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E92F06A8-A449-4D92-9912-76873E529B38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938070A4-BC2F-4D55-BD8D-DEAF11BB9EE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45CC2DB8-844A-465F-BA9A-7734C80C7F4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4CC606A8-097B-4040-94E0-CD8C88280D8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898544433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76D66686-0143-4CB6-8C09-BA326F1E7A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0227AB85-F59E-4BCE-B846-4FA0992C2F23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4" name="Espaço Reservado para Conteúdo 3">
            <a:extLst>
              <a:ext uri="{FF2B5EF4-FFF2-40B4-BE49-F238E27FC236}">
                <a16:creationId xmlns:a16="http://schemas.microsoft.com/office/drawing/2014/main" id="{3373456C-7319-4D0A-827D-D29F6B083F5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5" name="Espaço Reservado para Texto 4">
            <a:extLst>
              <a:ext uri="{FF2B5EF4-FFF2-40B4-BE49-F238E27FC236}">
                <a16:creationId xmlns:a16="http://schemas.microsoft.com/office/drawing/2014/main" id="{4CD109D0-2E83-4262-8029-A871CEC47406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6" name="Espaço Reservado para Conteúdo 5">
            <a:extLst>
              <a:ext uri="{FF2B5EF4-FFF2-40B4-BE49-F238E27FC236}">
                <a16:creationId xmlns:a16="http://schemas.microsoft.com/office/drawing/2014/main" id="{AD706E3A-CFBB-4A6C-A65F-D0360A9E74FE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7" name="Espaço Reservado para Data 6">
            <a:extLst>
              <a:ext uri="{FF2B5EF4-FFF2-40B4-BE49-F238E27FC236}">
                <a16:creationId xmlns:a16="http://schemas.microsoft.com/office/drawing/2014/main" id="{4172C0E5-5AF0-4805-BB51-443733CD2BD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8" name="Espaço Reservado para Rodapé 7">
            <a:extLst>
              <a:ext uri="{FF2B5EF4-FFF2-40B4-BE49-F238E27FC236}">
                <a16:creationId xmlns:a16="http://schemas.microsoft.com/office/drawing/2014/main" id="{0E801648-156F-497E-99CF-797DF48051E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Espaço Reservado para Número de Slide 8">
            <a:extLst>
              <a:ext uri="{FF2B5EF4-FFF2-40B4-BE49-F238E27FC236}">
                <a16:creationId xmlns:a16="http://schemas.microsoft.com/office/drawing/2014/main" id="{EEE23D32-80E7-4796-A137-66BF842E4B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7224547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2BCE2379-C78F-47E1-8CFC-B846E7AF14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Data 2">
            <a:extLst>
              <a:ext uri="{FF2B5EF4-FFF2-40B4-BE49-F238E27FC236}">
                <a16:creationId xmlns:a16="http://schemas.microsoft.com/office/drawing/2014/main" id="{342600A9-7F92-4E22-9D94-E4717252A81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4" name="Espaço Reservado para Rodapé 3">
            <a:extLst>
              <a:ext uri="{FF2B5EF4-FFF2-40B4-BE49-F238E27FC236}">
                <a16:creationId xmlns:a16="http://schemas.microsoft.com/office/drawing/2014/main" id="{192E6BED-F546-40CC-A2DF-99CBA853654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Espaço Reservado para Número de Slide 4">
            <a:extLst>
              <a:ext uri="{FF2B5EF4-FFF2-40B4-BE49-F238E27FC236}">
                <a16:creationId xmlns:a16="http://schemas.microsoft.com/office/drawing/2014/main" id="{6091CC40-A8C4-4063-80EB-CC509962167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44139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Data 1">
            <a:extLst>
              <a:ext uri="{FF2B5EF4-FFF2-40B4-BE49-F238E27FC236}">
                <a16:creationId xmlns:a16="http://schemas.microsoft.com/office/drawing/2014/main" id="{DD19515C-212C-4EAE-84A3-8FF4BC844F1B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3" name="Espaço Reservado para Rodapé 2">
            <a:extLst>
              <a:ext uri="{FF2B5EF4-FFF2-40B4-BE49-F238E27FC236}">
                <a16:creationId xmlns:a16="http://schemas.microsoft.com/office/drawing/2014/main" id="{94D3D120-B3E8-4C96-861D-7A4F12F49B3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Espaço Reservado para Número de Slide 3">
            <a:extLst>
              <a:ext uri="{FF2B5EF4-FFF2-40B4-BE49-F238E27FC236}">
                <a16:creationId xmlns:a16="http://schemas.microsoft.com/office/drawing/2014/main" id="{42E49B68-FA1B-468B-9F17-D5C09243D45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181232155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C17BCBE-A897-4319-85EC-D87909C2498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Conteúdo 2">
            <a:extLst>
              <a:ext uri="{FF2B5EF4-FFF2-40B4-BE49-F238E27FC236}">
                <a16:creationId xmlns:a16="http://schemas.microsoft.com/office/drawing/2014/main" id="{4226F885-0204-4913-868B-4B8B82576F1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00F9F784-A858-441B-8AB5-69709814175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A4DC363A-5000-472E-8B17-02E7DCB8840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5548425D-2C21-4C56-BAD4-662978775C2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C63E9726-E64C-42B2-AE8A-8C235A956B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588610056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1086A78-3E74-450C-96A6-CA8AC37AF77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Imagem 2">
            <a:extLst>
              <a:ext uri="{FF2B5EF4-FFF2-40B4-BE49-F238E27FC236}">
                <a16:creationId xmlns:a16="http://schemas.microsoft.com/office/drawing/2014/main" id="{5F5B7312-975A-4DBC-9B2F-3652ADA006FD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pt-BR"/>
          </a:p>
        </p:txBody>
      </p:sp>
      <p:sp>
        <p:nvSpPr>
          <p:cNvPr id="4" name="Espaço Reservado para Texto 3">
            <a:extLst>
              <a:ext uri="{FF2B5EF4-FFF2-40B4-BE49-F238E27FC236}">
                <a16:creationId xmlns:a16="http://schemas.microsoft.com/office/drawing/2014/main" id="{AAF805F5-1DFF-41C6-944C-7D79FE0D0963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pt-BR"/>
              <a:t>Editar estilos de texto Mestre</a:t>
            </a:r>
          </a:p>
        </p:txBody>
      </p:sp>
      <p:sp>
        <p:nvSpPr>
          <p:cNvPr id="5" name="Espaço Reservado para Data 4">
            <a:extLst>
              <a:ext uri="{FF2B5EF4-FFF2-40B4-BE49-F238E27FC236}">
                <a16:creationId xmlns:a16="http://schemas.microsoft.com/office/drawing/2014/main" id="{02113D81-8665-4516-BD81-C6A1F254EEC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6" name="Espaço Reservado para Rodapé 5">
            <a:extLst>
              <a:ext uri="{FF2B5EF4-FFF2-40B4-BE49-F238E27FC236}">
                <a16:creationId xmlns:a16="http://schemas.microsoft.com/office/drawing/2014/main" id="{2B00C88B-FF32-40AA-A187-727D96FD786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Espaço Reservado para Número de Slide 6">
            <a:extLst>
              <a:ext uri="{FF2B5EF4-FFF2-40B4-BE49-F238E27FC236}">
                <a16:creationId xmlns:a16="http://schemas.microsoft.com/office/drawing/2014/main" id="{A04D1A2D-69F7-4B8F-A730-BC26DC340BA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34646818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036C49F-3E68-4175-81BA-3C3FEE44308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426FA736-3DD3-4D4E-B57B-BBE1D8F7D424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99E8855C-D8FD-48F6-B14E-861E0DE4D91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97C0BB88-2F21-42A5-ACFF-83DA47F2D3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CB462B3-1F22-4C05-B4B8-7A279FB7D5E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55348157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Vertical 1">
            <a:extLst>
              <a:ext uri="{FF2B5EF4-FFF2-40B4-BE49-F238E27FC236}">
                <a16:creationId xmlns:a16="http://schemas.microsoft.com/office/drawing/2014/main" id="{EAEAB728-701C-4207-A9D5-23FF45C60502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Vertical 2">
            <a:extLst>
              <a:ext uri="{FF2B5EF4-FFF2-40B4-BE49-F238E27FC236}">
                <a16:creationId xmlns:a16="http://schemas.microsoft.com/office/drawing/2014/main" id="{BA8C8CCF-7823-480A-9A19-0F664DD17E3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721D5734-7B1F-425D-942F-6EB73344027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1E1AAEAC-F08D-45FE-89EC-B1B349A868C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BAA44493-9911-47B2-87A6-C2141A972BC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1824547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ço Reservado para Título 1">
            <a:extLst>
              <a:ext uri="{FF2B5EF4-FFF2-40B4-BE49-F238E27FC236}">
                <a16:creationId xmlns:a16="http://schemas.microsoft.com/office/drawing/2014/main" id="{E69A0273-1966-4A1B-9370-4C1CE503637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</a:p>
        </p:txBody>
      </p:sp>
      <p:sp>
        <p:nvSpPr>
          <p:cNvPr id="3" name="Espaço Reservado para Texto 2">
            <a:extLst>
              <a:ext uri="{FF2B5EF4-FFF2-40B4-BE49-F238E27FC236}">
                <a16:creationId xmlns:a16="http://schemas.microsoft.com/office/drawing/2014/main" id="{3B9CF87A-0448-49A7-AB25-EBC1D56A40E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Editar estilos de texto Mestre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</a:p>
        </p:txBody>
      </p:sp>
      <p:sp>
        <p:nvSpPr>
          <p:cNvPr id="4" name="Espaço Reservado para Data 3">
            <a:extLst>
              <a:ext uri="{FF2B5EF4-FFF2-40B4-BE49-F238E27FC236}">
                <a16:creationId xmlns:a16="http://schemas.microsoft.com/office/drawing/2014/main" id="{2EF7B1F2-BB5A-44D0-816D-16AD2C71430E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63289F7E-B80B-496E-81B4-D396C37C9454}" type="datetimeFigureOut">
              <a:rPr lang="pt-BR" smtClean="0"/>
              <a:t>19/02/2026</a:t>
            </a:fld>
            <a:endParaRPr lang="pt-BR"/>
          </a:p>
        </p:txBody>
      </p:sp>
      <p:sp>
        <p:nvSpPr>
          <p:cNvPr id="5" name="Espaço Reservado para Rodapé 4">
            <a:extLst>
              <a:ext uri="{FF2B5EF4-FFF2-40B4-BE49-F238E27FC236}">
                <a16:creationId xmlns:a16="http://schemas.microsoft.com/office/drawing/2014/main" id="{C703F94C-2CC8-4DAA-BC35-14FC3E841DCD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Espaço Reservado para Número de Slide 5">
            <a:extLst>
              <a:ext uri="{FF2B5EF4-FFF2-40B4-BE49-F238E27FC236}">
                <a16:creationId xmlns:a16="http://schemas.microsoft.com/office/drawing/2014/main" id="{64051336-7048-457A-8B61-D94291D71648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A7E88B7-70CE-4035-AE73-13FA6FB985D4}" type="slidenum">
              <a:rPr lang="pt-BR" smtClean="0"/>
              <a:t>‹#›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3629293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pt-B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mailto:felipe.figueiredo@Inatel.br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Relationship Id="rId5" Type="http://schemas.openxmlformats.org/officeDocument/2006/relationships/image" Target="../media/image2.jpeg"/><Relationship Id="rId4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eg"/><Relationship Id="rId7" Type="http://schemas.openxmlformats.org/officeDocument/2006/relationships/image" Target="../media/image13.png"/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12.png"/><Relationship Id="rId5" Type="http://schemas.openxmlformats.org/officeDocument/2006/relationships/image" Target="../media/image10.png"/><Relationship Id="rId4" Type="http://schemas.openxmlformats.org/officeDocument/2006/relationships/image" Target="../media/image11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6.jpeg"/><Relationship Id="rId4" Type="http://schemas.openxmlformats.org/officeDocument/2006/relationships/image" Target="../media/image5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jpe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jpe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png"/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2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7.png"/><Relationship Id="rId1" Type="http://schemas.openxmlformats.org/officeDocument/2006/relationships/slideLayout" Target="../slideLayouts/slideLayout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71.png"/><Relationship Id="rId4" Type="http://schemas.openxmlformats.org/officeDocument/2006/relationships/image" Target="../media/image19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2.png"/><Relationship Id="rId4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32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34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3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4.jpeg"/><Relationship Id="rId1" Type="http://schemas.openxmlformats.org/officeDocument/2006/relationships/slideLayout" Target="../slideLayouts/slideLayout2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CaixaDeTexto 3">
            <a:extLst>
              <a:ext uri="{FF2B5EF4-FFF2-40B4-BE49-F238E27FC236}">
                <a16:creationId xmlns:a16="http://schemas.microsoft.com/office/drawing/2014/main" id="{430EB894-B7D4-434C-9D1A-A14094D9BEEC}"/>
              </a:ext>
            </a:extLst>
          </p:cNvPr>
          <p:cNvSpPr txBox="1"/>
          <p:nvPr/>
        </p:nvSpPr>
        <p:spPr>
          <a:xfrm>
            <a:off x="7915801" y="5780602"/>
            <a:ext cx="4004345" cy="67710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pt-BR" sz="2000" dirty="0"/>
              <a:t>Felipe A. P. de Figueiredo</a:t>
            </a:r>
          </a:p>
          <a:p>
            <a:r>
              <a:rPr lang="pt-BR" dirty="0">
                <a:hlinkClick r:id="rId3"/>
              </a:rPr>
              <a:t>felipe.figueiredo@Inatel.br</a:t>
            </a:r>
            <a:endParaRPr lang="pt-BR" dirty="0"/>
          </a:p>
        </p:txBody>
      </p:sp>
      <p:pic>
        <p:nvPicPr>
          <p:cNvPr id="1026" name="Picture 2" descr="Logo">
            <a:extLst>
              <a:ext uri="{FF2B5EF4-FFF2-40B4-BE49-F238E27FC236}">
                <a16:creationId xmlns:a16="http://schemas.microsoft.com/office/drawing/2014/main" id="{3F2642E0-4F6A-4196-8F58-E77D36E9A33F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759" b="28872"/>
          <a:stretch/>
        </p:blipFill>
        <p:spPr bwMode="auto">
          <a:xfrm>
            <a:off x="393306" y="5780602"/>
            <a:ext cx="2261388" cy="677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122" name="Picture 2" descr="Image result for machine learning">
            <a:extLst>
              <a:ext uri="{FF2B5EF4-FFF2-40B4-BE49-F238E27FC236}">
                <a16:creationId xmlns:a16="http://schemas.microsoft.com/office/drawing/2014/main" id="{810CE0A2-4102-44A6-A370-175E7896CDCB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193" t="8107" r="14530" b="5794"/>
          <a:stretch/>
        </p:blipFill>
        <p:spPr bwMode="auto">
          <a:xfrm>
            <a:off x="4965305" y="3439886"/>
            <a:ext cx="2261389" cy="223706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7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31767" y="836433"/>
            <a:ext cx="10906298" cy="2690156"/>
          </a:xfrm>
        </p:spPr>
        <p:txBody>
          <a:bodyPr anchor="ctr">
            <a:noAutofit/>
          </a:bodyPr>
          <a:lstStyle/>
          <a:p>
            <a:r>
              <a:rPr lang="pt-BR" sz="6600" dirty="0"/>
              <a:t>C24 – Inteligência Artificial:</a:t>
            </a:r>
            <a:br>
              <a:rPr lang="pt-BR" sz="7200" dirty="0"/>
            </a:br>
            <a:r>
              <a:rPr lang="pt-BR" sz="7200" b="1" i="1" dirty="0"/>
              <a:t>Classificação</a:t>
            </a:r>
          </a:p>
        </p:txBody>
      </p:sp>
    </p:spTree>
    <p:extLst>
      <p:ext uri="{BB962C8B-B14F-4D97-AF65-F5344CB8AC3E}">
        <p14:creationId xmlns:p14="http://schemas.microsoft.com/office/powerpoint/2010/main" val="686652667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Classificação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/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</p:spPr>
            <p:txBody>
              <a:bodyPr/>
              <a:lstStyle/>
              <a:p>
                <a:r>
                  <a:rPr lang="pt-BR" dirty="0"/>
                  <a:t>Tarefa (ou problema) de </a:t>
                </a:r>
                <a:r>
                  <a:rPr lang="pt-BR" b="1" dirty="0">
                    <a:solidFill>
                      <a:schemeClr val="accent2"/>
                    </a:solidFill>
                  </a:rPr>
                  <a:t>aprendizado supervisionado</a:t>
                </a:r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As saídas esperadas (rótulos) são conhecidas.</a:t>
                </a:r>
              </a:p>
              <a:p>
                <a:r>
                  <a:rPr lang="pt-BR" dirty="0"/>
                  <a:t>Envolve encontrar uma função,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pt-BR" dirty="0"/>
                  <a:t>, que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mapeie</a:t>
                </a:r>
                <a:r>
                  <a:rPr lang="pt-BR" dirty="0"/>
                  <a:t> os atributos de entrada em um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conjunto finito de valores discretos</a:t>
                </a:r>
                <a:r>
                  <a:rPr lang="pt-BR" dirty="0"/>
                  <a:t>, ou seja, em classes.</a:t>
                </a:r>
                <a:endParaRPr lang="en-US" dirty="0"/>
              </a:p>
            </p:txBody>
          </p:sp>
        </mc:Choice>
        <mc:Fallback xmlns="">
          <p:sp>
            <p:nvSpPr>
              <p:cNvPr id="3" name="Espaço Reservado para Conteúdo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5"/>
                <a:ext cx="11010900" cy="4351338"/>
              </a:xfrm>
              <a:blipFill>
                <a:blip r:embed="rId2"/>
                <a:stretch>
                  <a:fillRect l="-997" t="-224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1026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043" t="33761" r="47008" b="10621"/>
          <a:stretch/>
        </p:blipFill>
        <p:spPr bwMode="auto">
          <a:xfrm>
            <a:off x="7031891" y="3774326"/>
            <a:ext cx="2549237" cy="2537574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5" name="Picture 2" descr="https://miro.medium.com/max/1276/1*4sixxtuD8unWceZ-yp9TgQ.jpeg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53147" t="33424" r="5087" b="12524"/>
          <a:stretch/>
        </p:blipFill>
        <p:spPr bwMode="auto">
          <a:xfrm>
            <a:off x="1671781" y="3763638"/>
            <a:ext cx="2538080" cy="246610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mc:AlternateContent xmlns:mc="http://schemas.openxmlformats.org/markup-compatibility/2006" xmlns:a14="http://schemas.microsoft.com/office/drawing/2010/main">
        <mc:Choice Requires="a14">
          <p:sp>
            <p:nvSpPr>
              <p:cNvPr id="4" name="CaixaDeTexto 3"/>
              <p:cNvSpPr txBox="1"/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 err="1">
                    <a:solidFill>
                      <a:srgbClr val="00B050"/>
                    </a:solidFill>
                  </a:rPr>
                  <a:t>aproxima</a:t>
                </a:r>
                <a:r>
                  <a:rPr lang="en-US" dirty="0"/>
                  <a:t> o </a:t>
                </a:r>
                <a:r>
                  <a:rPr lang="en-US" dirty="0" err="1"/>
                  <a:t>comportamento</a:t>
                </a:r>
                <a:r>
                  <a:rPr lang="en-US" dirty="0"/>
                  <a:t> dos dados.</a:t>
                </a:r>
              </a:p>
            </p:txBody>
          </p:sp>
        </mc:Choice>
        <mc:Fallback xmlns="">
          <p:sp>
            <p:nvSpPr>
              <p:cNvPr id="4" name="CaixaDeTexto 3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1088136" y="6229747"/>
                <a:ext cx="3840479" cy="646331"/>
              </a:xfrm>
              <a:prstGeom prst="rect">
                <a:avLst/>
              </a:prstGeom>
              <a:blipFill rotWithShape="0">
                <a:blip r:embed="rId4"/>
                <a:stretch>
                  <a:fillRect t="-5660" r="-1113" b="-1415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7" name="CaixaDeTexto 6"/>
              <p:cNvSpPr txBox="1"/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en-US" b="1" i="1" dirty="0">
                    <a:solidFill>
                      <a:srgbClr val="0070C0"/>
                    </a:solidFill>
                  </a:rPr>
                  <a:t>classifica</a:t>
                </a:r>
                <a:r>
                  <a:rPr lang="en-US" dirty="0">
                    <a:solidFill>
                      <a:srgbClr val="0070C0"/>
                    </a:solidFill>
                  </a:rPr>
                  <a:t> </a:t>
                </a:r>
                <a:r>
                  <a:rPr lang="en-US" dirty="0" err="1"/>
                  <a:t>os</a:t>
                </a:r>
                <a:r>
                  <a:rPr lang="en-US" dirty="0"/>
                  <a:t> dados.</a:t>
                </a:r>
              </a:p>
            </p:txBody>
          </p:sp>
        </mc:Choice>
        <mc:Fallback xmlns="">
          <p:sp>
            <p:nvSpPr>
              <p:cNvPr id="7" name="CaixaDeTexto 6"/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6509713" y="6311900"/>
                <a:ext cx="3593592" cy="369332"/>
              </a:xfrm>
              <a:prstGeom prst="rect">
                <a:avLst/>
              </a:prstGeom>
              <a:blipFill>
                <a:blip r:embed="rId5"/>
                <a:stretch>
                  <a:fillRect t="-8197" b="-24590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/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forma uma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fronteira de decisão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6" name="CaixaDeTexto 5">
                <a:extLst>
                  <a:ext uri="{FF2B5EF4-FFF2-40B4-BE49-F238E27FC236}">
                    <a16:creationId xmlns:a16="http://schemas.microsoft.com/office/drawing/2014/main" id="{CECF4BC9-393F-92F3-2241-24670E5635B4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9716654" y="4664364"/>
                <a:ext cx="1637146" cy="923330"/>
              </a:xfrm>
              <a:prstGeom prst="rect">
                <a:avLst/>
              </a:prstGeom>
              <a:blipFill>
                <a:blip r:embed="rId6"/>
                <a:stretch>
                  <a:fillRect t="-3289" r="-1487" b="-9211"/>
                </a:stretch>
              </a:blipFill>
            </p:spPr>
            <p:txBody>
              <a:bodyPr/>
              <a:lstStyle/>
              <a:p>
                <a:r>
                  <a:rPr lang="pt-BR">
                    <a:noFill/>
                  </a:rPr>
                  <a:t> </a:t>
                </a:r>
              </a:p>
            </p:txBody>
          </p:sp>
        </mc:Fallback>
      </mc:AlternateContent>
      <mc:AlternateContent xmlns:mc="http://schemas.openxmlformats.org/markup-compatibility/2006" xmlns:a14="http://schemas.microsoft.com/office/drawing/2010/main">
        <mc:Choice Requires="a14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/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noFill/>
            </p:spPr>
            <p:txBody>
              <a:bodyPr wrap="square" rtlCol="0">
                <a:spAutoFit/>
              </a:bodyPr>
              <a:lstStyle/>
              <a:p>
                <a:pPr algn="ctr"/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</a:rPr>
                      <m:t>𝑓</m:t>
                    </m:r>
                    <m:r>
                      <a:rPr lang="pt-BR" i="1" smtClean="0">
                        <a:latin typeface="Cambria Math" panose="02040503050406030204" pitchFamily="18" charset="0"/>
                      </a:rPr>
                      <m:t>(</m:t>
                    </m:r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)</m:t>
                    </m:r>
                  </m:oMath>
                </a14:m>
                <a:r>
                  <a:rPr lang="en-US" dirty="0"/>
                  <a:t> </a:t>
                </a:r>
                <a:r>
                  <a:rPr lang="pt-BR" dirty="0"/>
                  <a:t>captura 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comportamento geral</a:t>
                </a:r>
                <a:r>
                  <a:rPr lang="pt-BR" dirty="0"/>
                  <a:t> dos dados.</a:t>
                </a:r>
              </a:p>
            </p:txBody>
          </p:sp>
        </mc:Choice>
        <mc:Fallback xmlns="">
          <p:sp>
            <p:nvSpPr>
              <p:cNvPr id="8" name="CaixaDeTexto 5">
                <a:extLst>
                  <a:ext uri="{FF2B5EF4-FFF2-40B4-BE49-F238E27FC236}">
                    <a16:creationId xmlns:a16="http://schemas.microsoft.com/office/drawing/2014/main" id="{48D3A820-D198-F9AB-C6B3-3F78DA6684D0}"/>
                  </a:ext>
                </a:extLst>
              </p:cNvPr>
              <p:cNvSpPr txBox="1">
                <a:spLocks noRot="1" noChangeAspect="1" noMove="1" noResize="1" noEditPoints="1" noAdjustHandles="1" noChangeArrowheads="1" noChangeShapeType="1" noTextEdit="1"/>
              </p:cNvSpPr>
              <p:nvPr/>
            </p:nvSpPr>
            <p:spPr>
              <a:xfrm>
                <a:off x="4209861" y="4664364"/>
                <a:ext cx="1766066" cy="923330"/>
              </a:xfrm>
              <a:prstGeom prst="rect">
                <a:avLst/>
              </a:prstGeom>
              <a:blipFill>
                <a:blip r:embed="rId7"/>
                <a:stretch>
                  <a:fillRect l="-2422" t="-3289" r="-3806" b="-9211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27047491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Tarefas de classificação</a:t>
            </a:r>
            <a:endParaRPr lang="en-US" dirty="0"/>
          </a:p>
        </p:txBody>
      </p:sp>
      <p:sp>
        <p:nvSpPr>
          <p:cNvPr id="3" name="Espaço Reservado para Conteúdo 2"/>
          <p:cNvSpPr>
            <a:spLocks noGrp="1"/>
          </p:cNvSpPr>
          <p:nvPr>
            <p:ph idx="1"/>
          </p:nvPr>
        </p:nvSpPr>
        <p:spPr>
          <a:xfrm>
            <a:off x="838200" y="5007429"/>
            <a:ext cx="10515600" cy="1850571"/>
          </a:xfrm>
        </p:spPr>
        <p:txBody>
          <a:bodyPr>
            <a:normAutofit/>
          </a:bodyPr>
          <a:lstStyle/>
          <a:p>
            <a:r>
              <a:rPr lang="pt-BR" dirty="0"/>
              <a:t>Classificação de </a:t>
            </a:r>
            <a:r>
              <a:rPr lang="pt-BR" dirty="0" err="1"/>
              <a:t>emails</a:t>
            </a:r>
            <a:r>
              <a:rPr lang="pt-BR" dirty="0"/>
              <a:t> entre </a:t>
            </a:r>
            <a:r>
              <a:rPr lang="pt-BR" i="1" dirty="0"/>
              <a:t>spam</a:t>
            </a:r>
            <a:r>
              <a:rPr lang="pt-BR" dirty="0"/>
              <a:t> e </a:t>
            </a:r>
            <a:r>
              <a:rPr lang="pt-BR" i="1" dirty="0" err="1"/>
              <a:t>ham</a:t>
            </a:r>
            <a:r>
              <a:rPr lang="pt-BR" dirty="0"/>
              <a:t> (legítimo).</a:t>
            </a:r>
          </a:p>
          <a:p>
            <a:r>
              <a:rPr lang="pt-BR" dirty="0"/>
              <a:t>Classificação de objetos em imagens.</a:t>
            </a:r>
          </a:p>
          <a:p>
            <a:r>
              <a:rPr lang="pt-BR" dirty="0"/>
              <a:t>Reconhecimento de caracteres.</a:t>
            </a:r>
          </a:p>
        </p:txBody>
      </p:sp>
      <p:pic>
        <p:nvPicPr>
          <p:cNvPr id="4" name="Picture 5" descr="Image result for supervised learning">
            <a:extLst>
              <a:ext uri="{FF2B5EF4-FFF2-40B4-BE49-F238E27FC236}">
                <a16:creationId xmlns:a16="http://schemas.microsoft.com/office/drawing/2014/main" id="{2520F4EA-1E3E-4F3B-97C0-DF47861DCD42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33112" y="2475379"/>
            <a:ext cx="4096017" cy="1310313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6" name="Picture 2" descr="Measure Classification Performance: New in Wolfram Language 11"/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788589" y="1690688"/>
            <a:ext cx="2879696" cy="287969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1026" name="Picture 2" descr="Ana Barros (@anathinker) | Twitter"/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8223557" y="1915932"/>
            <a:ext cx="3635331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4165742255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4922156"/>
            <a:ext cx="10858500" cy="1834185"/>
          </a:xfrm>
        </p:spPr>
        <p:txBody>
          <a:bodyPr>
            <a:normAutofit/>
          </a:bodyPr>
          <a:lstStyle/>
          <a:p>
            <a:r>
              <a:rPr lang="pt-BR" dirty="0"/>
              <a:t>Classificação de texto (e.g., notícias).</a:t>
            </a:r>
          </a:p>
          <a:p>
            <a:r>
              <a:rPr lang="pt-BR" dirty="0"/>
              <a:t>Classificação de sentimentos.</a:t>
            </a:r>
          </a:p>
          <a:p>
            <a:r>
              <a:rPr lang="pt-BR" dirty="0"/>
              <a:t>Classificação do doenças (e.g., pulmonares).</a:t>
            </a:r>
          </a:p>
        </p:txBody>
      </p:sp>
      <p:pic>
        <p:nvPicPr>
          <p:cNvPr id="1030" name="Picture 6" descr="Analyzing Text Classification Techniques on Youtube Data"/>
          <p:cNvPicPr>
            <a:picLocks noChangeAspect="1" noChangeArrowheads="1"/>
          </p:cNvPicPr>
          <p:nvPr/>
        </p:nvPicPr>
        <p:blipFill rotWithShape="1"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107" t="4114" r="9213" b="4823"/>
          <a:stretch/>
        </p:blipFill>
        <p:spPr bwMode="auto">
          <a:xfrm>
            <a:off x="179761" y="1843447"/>
            <a:ext cx="4215802" cy="2409029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4" name="Picture 2" descr="Sentiment Fig 1"/>
          <p:cNvPicPr>
            <a:picLocks noChangeAspect="1" noChangeArrowheads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276"/>
          <a:stretch>
            <a:fillRect/>
          </a:stretch>
        </p:blipFill>
        <p:spPr bwMode="auto">
          <a:xfrm>
            <a:off x="4746170" y="1843447"/>
            <a:ext cx="3581201" cy="259714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sp>
        <p:nvSpPr>
          <p:cNvPr id="8" name="Title 1"/>
          <p:cNvSpPr txBox="1">
            <a:spLocks/>
          </p:cNvSpPr>
          <p:nvPr/>
        </p:nvSpPr>
        <p:spPr>
          <a:xfrm>
            <a:off x="838200" y="101659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r>
              <a:rPr lang="pt-BR" dirty="0"/>
              <a:t>Tarefas de classificação</a:t>
            </a:r>
          </a:p>
        </p:txBody>
      </p:sp>
      <p:pic>
        <p:nvPicPr>
          <p:cNvPr id="2" name="Picture 2">
            <a:extLst>
              <a:ext uri="{FF2B5EF4-FFF2-40B4-BE49-F238E27FC236}">
                <a16:creationId xmlns:a16="http://schemas.microsoft.com/office/drawing/2014/main" id="{A9D184C6-ECA9-05BF-F6B4-C0965441E4E9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0" r="73203" b="10234"/>
          <a:stretch/>
        </p:blipFill>
        <p:spPr bwMode="auto">
          <a:xfrm>
            <a:off x="8652452" y="1337220"/>
            <a:ext cx="3267075" cy="3331481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80708219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26" name="Picture 2" descr="but it happened 😂 #DeepLearning #AI #MachineLearning">
            <a:extLst>
              <a:ext uri="{FF2B5EF4-FFF2-40B4-BE49-F238E27FC236}">
                <a16:creationId xmlns:a16="http://schemas.microsoft.com/office/drawing/2014/main" id="{F25FF98E-22C0-F45E-2254-540617F2FD27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3772240" y="1264812"/>
            <a:ext cx="4647519" cy="432837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8859623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2C95A22-E872-4069-E235-358A1FCDD28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</p:spPr>
            <p:txBody>
              <a:bodyPr/>
              <a:lstStyle/>
              <a:p>
                <a:r>
                  <a:rPr lang="pt-BR" dirty="0"/>
                  <a:t>Organizamos os tipos de classificadores segundo dois critérios principais: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Número total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e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Quantidade de classes atribuídas a cada amostra.</a:t>
                </a:r>
              </a:p>
              <a:p>
                <a:r>
                  <a:rPr lang="pt-BR" dirty="0"/>
                  <a:t>Dependendo do número de classes possíveis,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</m:oMath>
                </a14:m>
                <a:r>
                  <a:rPr lang="pt-BR" dirty="0"/>
                  <a:t>, podemos separar os classificadores em dois tipos: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Binários, onde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b="0" dirty="0"/>
                  <a:t>.</a:t>
                </a:r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apenas </a:t>
                </a:r>
                <a:r>
                  <a:rPr lang="pt-BR" b="1" dirty="0"/>
                  <a:t>duas classes possíveis</a:t>
                </a:r>
                <a:endParaRPr lang="pt-BR" dirty="0"/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en-US" dirty="0"/>
                  <a:t>Multiclasses, </a:t>
                </a:r>
                <a:r>
                  <a:rPr lang="en-US" dirty="0" err="1"/>
                  <a:t>onde</a:t>
                </a:r>
                <a:r>
                  <a:rPr lang="en-US" dirty="0"/>
                  <a:t>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&gt;2.</m:t>
                    </m:r>
                  </m:oMath>
                </a14:m>
                <a:endParaRPr lang="en-US" dirty="0"/>
              </a:p>
              <a:p>
                <a:pPr lvl="2">
                  <a:buFont typeface="Courier New" panose="02070309020205020404" pitchFamily="49" charset="0"/>
                  <a:buChar char="o"/>
                </a:pPr>
                <a:r>
                  <a:rPr lang="pt-BR" dirty="0"/>
                  <a:t>Existem </a:t>
                </a:r>
                <a:r>
                  <a:rPr lang="pt-BR" b="1" dirty="0"/>
                  <a:t>três ou mais classes</a:t>
                </a:r>
                <a:endParaRPr lang="pt-BR" dirty="0"/>
              </a:p>
              <a:p>
                <a:r>
                  <a:rPr lang="pt-BR" dirty="0"/>
                  <a:t>Em ambos os casos, cada amostra pertence a </a:t>
                </a:r>
                <a:r>
                  <a:rPr lang="pt-BR" b="1" dirty="0"/>
                  <a:t>uma única classe.</a:t>
                </a:r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76965F31-6E51-4FAB-4852-DECB11BED972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125200" cy="5032376"/>
              </a:xfrm>
              <a:blipFill>
                <a:blip r:embed="rId3"/>
                <a:stretch>
                  <a:fillRect l="-986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352811596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83AE076-4457-7BD3-2388-70AAD71222A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39F8340-2935-1CC3-CE87-3E1A76A73E3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Tipos de classificadores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310FC0EC-BE21-C1F6-BD0D-5113525C20D7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25200" cy="5032376"/>
          </a:xfrm>
        </p:spPr>
        <p:txBody>
          <a:bodyPr>
            <a:normAutofit/>
          </a:bodyPr>
          <a:lstStyle/>
          <a:p>
            <a:r>
              <a:rPr lang="pt-BR" dirty="0"/>
              <a:t>Podemos também separar os classificadores dependendo de quantas classes podem ser atribuídas a uma única instância: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Cada amostra recebe apenas uma classe.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Inclui: binária e </a:t>
            </a:r>
            <a:r>
              <a:rPr lang="pt-BR" dirty="0" err="1"/>
              <a:t>multiclasse</a:t>
            </a:r>
            <a:endParaRPr lang="pt-BR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são mutuamente exclusivas.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Classificação </a:t>
            </a:r>
            <a:r>
              <a:rPr lang="pt-BR" i="1" dirty="0" err="1"/>
              <a:t>multilabel</a:t>
            </a:r>
            <a:endParaRPr lang="pt-BR" i="1" dirty="0"/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Uma amostra pode pertencer a várias classes simultaneamente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As classes não são mutuamente exclusivas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Exemplos: 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Imagem com “cachorro” e “pessoa”,</a:t>
            </a:r>
          </a:p>
          <a:p>
            <a:pPr lvl="3">
              <a:buFont typeface="Wingdings" panose="05000000000000000000" pitchFamily="2" charset="2"/>
              <a:buChar char="ü"/>
            </a:pPr>
            <a:r>
              <a:rPr lang="pt-BR" dirty="0"/>
              <a:t>Artigo com múltiplos tópicos.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O modelo prevê um vetor binário indicando quais rótulos estão presentes. </a:t>
            </a:r>
          </a:p>
        </p:txBody>
      </p:sp>
    </p:spTree>
    <p:extLst>
      <p:ext uri="{BB962C8B-B14F-4D97-AF65-F5344CB8AC3E}">
        <p14:creationId xmlns:p14="http://schemas.microsoft.com/office/powerpoint/2010/main" val="3944489678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1127B6-6972-D992-E732-0F4C9D9283E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Algoritmos de classificação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F650875-3EEC-71D0-1DC4-489808F8210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4"/>
            <a:ext cx="11114314" cy="5032375"/>
          </a:xfrm>
        </p:spPr>
        <p:txBody>
          <a:bodyPr>
            <a:normAutofit/>
          </a:bodyPr>
          <a:lstStyle/>
          <a:p>
            <a:r>
              <a:rPr lang="pt-BR" dirty="0"/>
              <a:t>Existe uma grande quantidade de algoritmos de classificação, mas focaremos nos seguintes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logístico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binário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Regressor softmax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dirty="0"/>
              <a:t>.</a:t>
            </a:r>
          </a:p>
          <a:p>
            <a:r>
              <a:rPr lang="pt-BR" dirty="0"/>
              <a:t>Discutiremos adiante também algoritmos que resolvem problemas de regressão e classificação, como</a:t>
            </a:r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Árvores de decisão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 e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endParaRPr lang="pt-BR" dirty="0"/>
          </a:p>
          <a:p>
            <a:pPr lvl="1">
              <a:buFont typeface="Wingdings" panose="05000000000000000000" pitchFamily="2" charset="2"/>
              <a:buChar char="§"/>
            </a:pPr>
            <a:r>
              <a:rPr lang="pt-BR" dirty="0"/>
              <a:t>Redes neurais</a:t>
            </a:r>
          </a:p>
          <a:p>
            <a:pPr lvl="2">
              <a:buFont typeface="Courier New" panose="02070309020205020404" pitchFamily="49" charset="0"/>
              <a:buChar char="o"/>
            </a:pPr>
            <a:r>
              <a:rPr lang="pt-BR" dirty="0"/>
              <a:t>Classificadores binários, multiclasses, </a:t>
            </a:r>
            <a:r>
              <a:rPr lang="pt-BR" i="1" dirty="0"/>
              <a:t>single-</a:t>
            </a:r>
            <a:r>
              <a:rPr lang="pt-BR" i="1" dirty="0" err="1"/>
              <a:t>label</a:t>
            </a:r>
            <a:r>
              <a:rPr lang="pt-BR" i="1" dirty="0"/>
              <a:t> </a:t>
            </a:r>
            <a:r>
              <a:rPr lang="pt-BR" dirty="0"/>
              <a:t>e</a:t>
            </a:r>
            <a:r>
              <a:rPr lang="pt-BR" i="1" dirty="0"/>
              <a:t> </a:t>
            </a:r>
            <a:r>
              <a:rPr lang="pt-BR" i="1" dirty="0" err="1"/>
              <a:t>multilabel</a:t>
            </a:r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179531332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30302BD-A868-44A9-D6B7-B33026A62A8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2927463"/>
            <a:ext cx="10515600" cy="1003074"/>
          </a:xfrm>
        </p:spPr>
        <p:txBody>
          <a:bodyPr>
            <a:normAutofit/>
          </a:bodyPr>
          <a:lstStyle/>
          <a:p>
            <a:pPr marL="0" indent="0" algn="ctr">
              <a:buNone/>
            </a:pPr>
            <a:r>
              <a:rPr lang="pt-BR" sz="6000" i="1" dirty="0"/>
              <a:t>Como representamos os rótulos?</a:t>
            </a:r>
            <a:endParaRPr lang="en-US" sz="6000" i="1" dirty="0"/>
          </a:p>
        </p:txBody>
      </p:sp>
    </p:spTree>
    <p:extLst>
      <p:ext uri="{BB962C8B-B14F-4D97-AF65-F5344CB8AC3E}">
        <p14:creationId xmlns:p14="http://schemas.microsoft.com/office/powerpoint/2010/main" val="3833417080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binária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tem </a:t>
                </a:r>
                <a:r>
                  <a:rPr lang="pt-BR" b="1" dirty="0"/>
                  <a:t>única saída escalar</a:t>
                </a:r>
                <a:r>
                  <a:rPr lang="pt-BR" b="1" dirty="0">
                    <a:solidFill>
                      <a:srgbClr val="00B050"/>
                    </a:solidFill>
                  </a:rPr>
                  <a:t> </a:t>
                </a:r>
                <a:r>
                  <a:rPr lang="pt-BR" dirty="0"/>
                  <a:t>para indicar a </a:t>
                </a:r>
                <a:r>
                  <a:rPr lang="pt-BR" b="1" dirty="0"/>
                  <a:t>classe</a:t>
                </a:r>
                <a:r>
                  <a:rPr lang="pt-BR" dirty="0"/>
                  <a:t> a que pertence 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</a:t>
                </a:r>
                <a:r>
                  <a:rPr lang="pt-BR" b="1" dirty="0"/>
                  <a:t>vetor de atributos</a:t>
                </a:r>
                <a:r>
                  <a:rPr lang="pt-BR" dirty="0"/>
                  <a:t>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 smtClean="0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b="0" i="1" smtClean="0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,</m:t>
                      </m:r>
                    </m:oMath>
                  </m:oMathPara>
                </a14:m>
                <a:endParaRPr lang="pt-BR" b="1" dirty="0"/>
              </a:p>
              <a:p>
                <a:pPr marL="0" indent="0">
                  <a:buNone/>
                </a:pPr>
                <a:r>
                  <a:rPr lang="pt-BR" dirty="0"/>
                  <a:t>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 representam as classe negativa e a positiva, respectivamente.</a:t>
                </a:r>
              </a:p>
              <a:p>
                <a:r>
                  <a:rPr lang="pt-BR" dirty="0"/>
                  <a:t>Também é possível utilizar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𝑦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1" smtClean="0">
                        <a:latin typeface="Cambria Math" panose="02040503050406030204" pitchFamily="18" charset="0"/>
                      </a:rPr>
                      <m:t>=−1</m:t>
                    </m:r>
                  </m:oMath>
                </a14:m>
                <a:r>
                  <a:rPr lang="pt-BR" dirty="0"/>
                  <a:t> para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 </m:t>
                        </m:r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, ou seja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b="1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b="0" i="1" smtClean="0">
                                  <a:latin typeface="Cambria Math" panose="02040503050406030204" pitchFamily="18" charset="0"/>
                                </a:rPr>
                                <m:t>−1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1</m:t>
                                  </m:r>
                                </m:sub>
                              </m:sSub>
                            </m:e>
                            <m:e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&amp;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1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,  </m:t>
                              </m:r>
                              <m: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  <m:t>    </m:t>
                              </m:r>
                              <m:r>
                                <a:rPr lang="pt-BR" b="1" i="1">
                                  <a:latin typeface="Cambria Math" panose="02040503050406030204" pitchFamily="18" charset="0"/>
                                </a:rPr>
                                <m:t>𝒙</m:t>
                              </m:r>
                              <m:d>
                                <m:dPr>
                                  <m:ctrlPr>
                                    <a:rPr lang="pt-BR" b="1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𝑖</m:t>
                                  </m:r>
                                </m:e>
                              </m:d>
                              <m:r>
                                <a:rPr lang="pt-BR" i="1">
                                  <a:latin typeface="Cambria Math" panose="02040503050406030204" pitchFamily="18" charset="0"/>
                                </a:rPr>
                                <m:t> </m:t>
                              </m:r>
                              <m:r>
                                <a:rPr lang="pt-BR" i="1">
                                  <a:latin typeface="Cambria Math" panose="02040503050406030204" pitchFamily="18" charset="0"/>
                                  <a:ea typeface="Cambria Math" panose="02040503050406030204" pitchFamily="18" charset="0"/>
                                </a:rPr>
                                <m:t>𝜖</m:t>
                              </m:r>
                              <m:sSub>
                                <m:sSubPr>
                                  <m:ctrlPr>
                                    <a:rPr lang="pt-BR" i="1">
                                      <a:latin typeface="Cambria Math" panose="02040503050406030204" pitchFamily="18" charset="0"/>
                                    </a:rPr>
                                  </m:ctrlPr>
                                </m:sSubPr>
                                <m:e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 </m:t>
                                  </m:r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𝐶</m:t>
                                  </m:r>
                                </m:e>
                                <m:sub>
                                  <m:r>
                                    <a:rPr lang="pt-BR" i="1">
                                      <a:latin typeface="Cambria Math" panose="02040503050406030204" pitchFamily="18" charset="0"/>
                                    </a:rPr>
                                    <m:t>2</m:t>
                                  </m:r>
                                </m:sub>
                              </m:sSub>
                            </m:e>
                          </m:eqArr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199" y="1825624"/>
                <a:ext cx="11215255" cy="5032376"/>
              </a:xfrm>
              <a:blipFill>
                <a:blip r:embed="rId2"/>
                <a:stretch>
                  <a:fillRect l="-1087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915758307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AC37BFF-244C-0D73-96E1-47543A4C245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D893F73-D553-1C61-9D7D-AAB3F59096A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dirty="0" err="1"/>
              <a:t>multiclasse</a:t>
            </a:r>
            <a:endParaRPr lang="pt-BR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 lnSpcReduction="10000"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para indicar a classe a que pertence o </a:t>
                </a:r>
                <a14:m>
                  <m:oMath xmlns:m="http://schemas.openxmlformats.org/officeDocument/2006/math">
                    <m:r>
                      <a:rPr lang="pt-BR" b="0" i="1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>
                    <a:solidFill>
                      <a:schemeClr val="tx1"/>
                    </a:solidFill>
                  </a:rPr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  <m:r>
                      <a:rPr lang="pt-BR" b="0" i="0" smtClean="0"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b="0" dirty="0"/>
              </a:p>
              <a:p>
                <a:r>
                  <a:rPr lang="pt-BR" dirty="0"/>
                  <a:t>Os rótulos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</a:t>
                </a:r>
                <a:r>
                  <a:rPr lang="pt-BR" b="1" dirty="0"/>
                  <a:t>classes mutuamente excludentes</a:t>
                </a:r>
                <a:r>
                  <a:rPr lang="pt-BR" dirty="0"/>
                  <a:t>: gato, rato, cachorro e sapo:</a:t>
                </a:r>
                <a:endParaRPr lang="pt-BR" sz="100" dirty="0"/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0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Essa representação é conhecida como codificação </a:t>
                </a:r>
                <a:r>
                  <a:rPr lang="pt-BR" b="1" i="1" dirty="0" err="1"/>
                  <a:t>one</a:t>
                </a:r>
                <a:r>
                  <a:rPr lang="pt-BR" b="1" i="1" dirty="0"/>
                  <a:t>-hot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Muito usado em redes neurais e regressão </a:t>
                </a:r>
                <a:r>
                  <a:rPr lang="pt-BR" i="1" dirty="0"/>
                  <a:t>softmax</a:t>
                </a:r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5D34CF39-62BC-DA90-F244-DCDEF2E97DC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2663" r="-1246" b="-145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3550105276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FC9AE89-C8AC-DBE6-CA38-DEEF4996DFD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CE4CC5F-008A-ECCB-8340-EE6C2C24E91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 err="1"/>
              <a:t>Classificação</a:t>
            </a:r>
            <a:r>
              <a:rPr lang="en-US" dirty="0"/>
              <a:t> </a:t>
            </a:r>
            <a:r>
              <a:rPr lang="en-US" i="1" dirty="0"/>
              <a:t>multilabel</a:t>
            </a:r>
            <a:endParaRPr lang="pt-BR" i="1" dirty="0"/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classificador </a:t>
                </a:r>
                <a:r>
                  <a:rPr lang="pt-BR" dirty="0">
                    <a:solidFill>
                      <a:schemeClr val="tx1"/>
                    </a:solidFill>
                  </a:rPr>
                  <a:t>tem </a:t>
                </a:r>
                <a14:m>
                  <m:oMath xmlns:m="http://schemas.openxmlformats.org/officeDocument/2006/math">
                    <m:r>
                      <a:rPr lang="pt-BR" b="1" i="1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𝑸</m:t>
                    </m:r>
                  </m:oMath>
                </a14:m>
                <a:r>
                  <a:rPr lang="pt-BR" b="1" dirty="0">
                    <a:solidFill>
                      <a:schemeClr val="tx1"/>
                    </a:solidFill>
                  </a:rPr>
                  <a:t> saídas escalares</a:t>
                </a:r>
                <a:r>
                  <a:rPr lang="pt-BR" dirty="0">
                    <a:solidFill>
                      <a:schemeClr val="tx1"/>
                    </a:solidFill>
                  </a:rPr>
                  <a:t>, </a:t>
                </a:r>
                <a:r>
                  <a:rPr lang="pt-BR" b="1" dirty="0">
                    <a:solidFill>
                      <a:schemeClr val="tx1"/>
                    </a:solidFill>
                  </a:rPr>
                  <a:t>uma para cada classe</a:t>
                </a:r>
                <a:r>
                  <a:rPr lang="pt-BR" dirty="0">
                    <a:solidFill>
                      <a:schemeClr val="tx1"/>
                    </a:solidFill>
                  </a:rPr>
                  <a:t>, porém, </a:t>
                </a:r>
                <a:r>
                  <a:rPr lang="pt-BR" dirty="0"/>
                  <a:t>cada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𝑖</m:t>
                    </m:r>
                  </m:oMath>
                </a14:m>
                <a:r>
                  <a:rPr lang="pt-BR" dirty="0"/>
                  <a:t>-ésimo vetor de atributos,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  <m:d>
                      <m:dPr>
                        <m:ctrlPr>
                          <a:rPr lang="pt-BR" b="1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𝑖</m:t>
                        </m:r>
                      </m:e>
                    </m:d>
                  </m:oMath>
                </a14:m>
                <a:r>
                  <a:rPr lang="pt-BR" dirty="0"/>
                  <a:t> pode pertencer a </a:t>
                </a:r>
                <a:r>
                  <a:rPr lang="pt-BR" b="1" dirty="0"/>
                  <a:t>várias classes simultaneamente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Rótulos também são representados como </a:t>
                </a:r>
                <a:r>
                  <a:rPr lang="pt-BR" b="1" dirty="0"/>
                  <a:t>vetores binários</a:t>
                </a:r>
                <a:r>
                  <a:rPr lang="pt-BR" dirty="0"/>
                  <a:t> </a:t>
                </a:r>
                <a14:m>
                  <m:oMath xmlns:m="http://schemas.openxmlformats.org/officeDocument/2006/math">
                    <m:r>
                      <a:rPr lang="pt-BR" i="1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∈</m:t>
                    </m:r>
                    <m:sSubSup>
                      <m:sSubSupPr>
                        <m:ctrlP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ℤ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+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𝑄</m:t>
                        </m:r>
                        <m:r>
                          <a:rPr lang="pt-BR" b="0" i="1" smtClean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×1</m:t>
                        </m:r>
                      </m:sup>
                    </m:sSubSup>
                  </m:oMath>
                </a14:m>
                <a:r>
                  <a:rPr lang="pt-BR" dirty="0"/>
                  <a:t>.</a:t>
                </a:r>
              </a:p>
              <a:p>
                <a:r>
                  <a:rPr lang="pt-BR" b="1" dirty="0"/>
                  <a:t>Exemplo</a:t>
                </a:r>
                <a:r>
                  <a:rPr lang="pt-BR" dirty="0"/>
                  <a:t>: classificação de imagens em 4 classes </a:t>
                </a:r>
                <a:r>
                  <a:rPr lang="pt-BR" b="1" dirty="0"/>
                  <a:t>não excludentes</a:t>
                </a:r>
                <a:r>
                  <a:rPr lang="pt-BR" dirty="0"/>
                  <a:t>: gato, rato, cachorro e sapo: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i="1">
                          <a:latin typeface="Cambria Math" panose="02040503050406030204" pitchFamily="18" charset="0"/>
                        </a:rPr>
                        <m:t>𝑦</m:t>
                      </m:r>
                      <m:d>
                        <m:d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𝑖</m:t>
                          </m:r>
                        </m:e>
                      </m:d>
                      <m:r>
                        <a:rPr lang="pt-BR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m>
                            <m:mPr>
                              <m:mcs>
                                <m:mc>
                                  <m:mcPr>
                                    <m:count m:val="2"/>
                                    <m:mcJc m:val="center"/>
                                  </m:mcPr>
                                </m:mc>
                              </m:mcs>
                              <m:ctrlPr>
                                <a:rPr lang="pt-BR" b="1" i="1" smtClean="0">
                                  <a:latin typeface="Cambria Math" panose="02040503050406030204" pitchFamily="18" charset="0"/>
                                </a:rPr>
                              </m:ctrlPr>
                            </m:mP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0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1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sSup>
                                  <m:sSupPr>
                                    <m:ctrlP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</m:ctrlPr>
                                  </m:sSupPr>
                                  <m:e>
                                    <m:d>
                                      <m:dPr>
                                        <m:begChr m:val="["/>
                                        <m:endChr m:val="]"/>
                                        <m:ctrlPr>
                                          <a:rPr lang="pt-BR" i="1" dirty="0">
                                            <a:latin typeface="Cambria Math" panose="02040503050406030204" pitchFamily="18" charset="0"/>
                                          </a:rPr>
                                        </m:ctrlPr>
                                      </m:dPr>
                                      <m:e>
                                        <m:m>
                                          <m:mPr>
                                            <m:mcs>
                                              <m:mc>
                                                <m:mcPr>
                                                  <m:count m:val="3"/>
                                                  <m:mcJc m:val="center"/>
                                                </m:mcPr>
                                              </m:mc>
                                            </m:mcs>
                                            <m:ctrlPr>
                                              <a:rPr lang="pt-BR" i="1" dirty="0">
                                                <a:latin typeface="Cambria Math" panose="02040503050406030204" pitchFamily="18" charset="0"/>
                                              </a:rPr>
                                            </m:ctrlPr>
                                          </m:mPr>
                                          <m:mr>
                                            <m:e>
                                              <m:r>
                                                <m:rPr>
                                                  <m:brk m:alnAt="7"/>
                                                </m:rPr>
                                                <a:rPr lang="pt-BR" b="0" i="1" dirty="0" smtClean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  <m:t>1</m:t>
                                              </m:r>
                                            </m:e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2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</m:mr>
                                              </m:m>
                                            </m:e>
                                          </m:mr>
                                        </m:m>
                                      </m:e>
                                    </m:d>
                                  </m:e>
                                  <m:sup>
                                    <m:r>
                                      <a:rPr lang="pt-BR" i="1" dirty="0">
                                        <a:latin typeface="Cambria Math" panose="02040503050406030204" pitchFamily="18" charset="0"/>
                                      </a:rPr>
                                      <m:t>𝑇</m:t>
                                    </m:r>
                                  </m:sup>
                                </m:sSup>
                                <m:r>
                                  <a:rPr lang="pt-BR" b="0" i="1" dirty="0" smtClean="0">
                                    <a:latin typeface="Cambria Math" panose="02040503050406030204" pitchFamily="18" charset="0"/>
                                  </a:rPr>
                                  <m:t>,</m:t>
                                </m:r>
                              </m:e>
                              <m:e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𝒙</m:t>
                                </m:r>
                                <m:d>
                                  <m:dPr>
                                    <m:ctrlPr>
                                      <a:rPr lang="pt-BR" b="1" i="1">
                                        <a:latin typeface="Cambria Math" panose="02040503050406030204" pitchFamily="18" charset="0"/>
                                      </a:rPr>
                                    </m:ctrlPr>
                                  </m:d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𝑖</m:t>
                                    </m:r>
                                  </m:e>
                                </m:d>
                                <m:r>
                                  <a:rPr lang="pt-BR" b="1" i="1">
                                    <a:latin typeface="Cambria Math" panose="02040503050406030204" pitchFamily="18" charset="0"/>
                                  </a:rPr>
                                  <m:t> </m:t>
                                </m:r>
                                <m:r>
                                  <a:rPr lang="pt-BR" i="1">
                                    <a:latin typeface="Cambria Math" panose="02040503050406030204" pitchFamily="18" charset="0"/>
                                    <a:ea typeface="Cambria Math" panose="02040503050406030204" pitchFamily="18" charset="0"/>
                                  </a:rPr>
                                  <m:t>𝜖</m:t>
                                </m:r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 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rato</m:t>
                                    </m:r>
                                  </m:sub>
                                </m:sSub>
                                <m:sSub>
                                  <m:sSubPr>
                                    <m:ctrlP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</m:ctrlPr>
                                  </m:sSubPr>
                                  <m:e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  <a:ea typeface="Cambria Math" panose="02040503050406030204" pitchFamily="18" charset="0"/>
                                      </a:rPr>
                                      <m:t>∧</m:t>
                                    </m:r>
                                    <m:r>
                                      <a:rPr lang="pt-BR" i="1">
                                        <a:latin typeface="Cambria Math" panose="02040503050406030204" pitchFamily="18" charset="0"/>
                                      </a:rPr>
                                      <m:t>𝐶</m:t>
                                    </m:r>
                                  </m:e>
                                  <m:sub>
                                    <m:r>
                                      <m:rPr>
                                        <m:nor/>
                                      </m:rPr>
                                      <a:rPr lang="pt-BR" dirty="0"/>
                                      <m:t>gato</m:t>
                                    </m:r>
                                  </m:sub>
                                </m:sSub>
                              </m:e>
                            </m:mr>
                            <m:mr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i="1" dirty="0">
                                                        <a:latin typeface="Cambria Math" panose="02040503050406030204" pitchFamily="18" charset="0"/>
                                                      </a:rPr>
                                                      <m:t>0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1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  <m:mr>
                                    <m:e>
                                      <m:sSup>
                                        <m:sSupPr>
                                          <m:ctrlP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pPr>
                                        <m:e>
                                          <m:d>
                                            <m:dPr>
                                              <m:begChr m:val="["/>
                                              <m:endChr m:val="]"/>
                                              <m:ctrlPr>
                                                <a:rPr lang="pt-BR" i="1" dirty="0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dPr>
                                            <m:e>
                                              <m:m>
                                                <m:mPr>
                                                  <m:mcs>
                                                    <m:mc>
                                                      <m:mcPr>
                                                        <m:count m:val="3"/>
                                                        <m:mcJc m:val="center"/>
                                                      </m:mcPr>
                                                    </m:mc>
                                                  </m:mcs>
                                                  <m:ctrlPr>
                                                    <a:rPr lang="pt-BR" i="1" dirty="0">
                                                      <a:latin typeface="Cambria Math" panose="02040503050406030204" pitchFamily="18" charset="0"/>
                                                    </a:rPr>
                                                  </m:ctrlPr>
                                                </m:mPr>
                                                <m:mr>
                                                  <m:e>
                                                    <m:r>
                                                      <m:rPr>
                                                        <m:brk m:alnAt="7"/>
                                                      </m:rP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r>
                                                      <a:rPr lang="pt-BR" b="0" i="1" dirty="0" smtClean="0">
                                                        <a:latin typeface="Cambria Math" panose="02040503050406030204" pitchFamily="18" charset="0"/>
                                                      </a:rPr>
                                                      <m:t>1</m:t>
                                                    </m:r>
                                                  </m:e>
                                                  <m:e>
                                                    <m:m>
                                                      <m:mPr>
                                                        <m:mcs>
                                                          <m:mc>
                                                            <m:mcPr>
                                                              <m:count m:val="2"/>
                                                              <m:mcJc m:val="center"/>
                                                            </m:mcPr>
                                                          </m:mc>
                                                        </m:mcs>
                                                        <m:ctrlPr>
                                                          <a:rPr lang="pt-BR" i="1" dirty="0">
                                                            <a:latin typeface="Cambria Math" panose="02040503050406030204" pitchFamily="18" charset="0"/>
                                                          </a:rPr>
                                                        </m:ctrlPr>
                                                      </m:mPr>
                                                      <m:mr>
                                                        <m:e>
                                                          <m:r>
                                                            <m:rPr>
                                                              <m:brk m:alnAt="7"/>
                                                            </m:rPr>
                                                            <a:rPr lang="pt-BR" b="0" i="1" dirty="0" smtClean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  <m:e>
                                                          <m:r>
                                                            <a:rPr lang="pt-BR" i="1" dirty="0">
                                                              <a:latin typeface="Cambria Math" panose="02040503050406030204" pitchFamily="18" charset="0"/>
                                                            </a:rPr>
                                                            <m:t>1</m:t>
                                                          </m:r>
                                                        </m:e>
                                                      </m:mr>
                                                    </m:m>
                                                  </m:e>
                                                </m:mr>
                                              </m:m>
                                            </m:e>
                                          </m:d>
                                        </m:e>
                                        <m:sup>
                                          <m:r>
                                            <a:rPr lang="pt-BR" i="1" dirty="0">
                                              <a:latin typeface="Cambria Math" panose="02040503050406030204" pitchFamily="18" charset="0"/>
                                            </a:rPr>
                                            <m:t>𝑇</m:t>
                                          </m:r>
                                        </m:sup>
                                      </m:sSup>
                                      <m:r>
                                        <a:rPr lang="pt-BR" b="0" i="1" dirty="0" smtClean="0">
                                          <a:latin typeface="Cambria Math" panose="02040503050406030204" pitchFamily="18" charset="0"/>
                                        </a:rPr>
                                        <m:t>,</m:t>
                                      </m:r>
                                    </m:e>
                                  </m:mr>
                                </m:m>
                              </m:e>
                              <m:e>
                                <m:m>
                                  <m:mPr>
                                    <m:mcs>
                                      <m:mc>
                                        <m:mcPr>
                                          <m:count m:val="1"/>
                                          <m:mcJc m:val="center"/>
                                        </m:mcPr>
                                      </m:mc>
                                    </m:mcs>
                                    <m:ctrlPr>
                                      <a:rPr lang="pt-BR" b="1" i="1" smtClean="0">
                                        <a:latin typeface="Cambria Math" panose="02040503050406030204" pitchFamily="18" charset="0"/>
                                      </a:rPr>
                                    </m:ctrlPr>
                                  </m:mPr>
                                  <m:mr>
                                    <m:e>
                                      <m:r>
                                        <m:rPr>
                                          <m:brk m:alnAt="7"/>
                                        </m:rP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b="1" i="1" smtClean="0">
                                          <a:latin typeface="Cambria Math" panose="02040503050406030204" pitchFamily="18" charset="0"/>
                                        </a:rPr>
                                        <m:t>       </m:t>
                                      </m:r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dirty="0" smtClean="0"/>
                                            <m:t>gato</m:t>
                                          </m:r>
                                        </m:sub>
                                      </m:sSub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b="0" i="0" smtClean="0">
                                              <a:latin typeface="Cambria Math" panose="02040503050406030204" pitchFamily="18" charset="0"/>
                                            </a:rPr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  <m:mr>
                                    <m:e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𝒙</m:t>
                                      </m:r>
                                      <m:d>
                                        <m:dPr>
                                          <m:ctrlPr>
                                            <a:rPr lang="pt-BR" b="1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d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𝑖</m:t>
                                          </m:r>
                                        </m:e>
                                      </m:d>
                                      <m:r>
                                        <a:rPr lang="pt-BR" b="1" i="1">
                                          <a:latin typeface="Cambria Math" panose="02040503050406030204" pitchFamily="18" charset="0"/>
                                        </a:rPr>
                                        <m:t> </m:t>
                                      </m:r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𝜖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sSub>
                                            <m:sSubPr>
                                              <m:ctrlP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</m:ctrlPr>
                                            </m:sSubPr>
                                            <m:e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 </m:t>
                                              </m:r>
                                              <m:r>
                                                <a:rPr lang="pt-BR" i="1">
                                                  <a:latin typeface="Cambria Math" panose="02040503050406030204" pitchFamily="18" charset="0"/>
                                                </a:rPr>
                                                <m:t>𝐶</m:t>
                                              </m:r>
                                            </m:e>
                                            <m:sub>
                                              <m:r>
                                                <m:rPr>
                                                  <m:nor/>
                                                </m:rPr>
                                                <a:rPr lang="pt-BR" dirty="0"/>
                                                <m:t>gato</m:t>
                                              </m:r>
                                            </m:sub>
                                          </m:sSub>
                                          <m:r>
                                            <a:rPr lang="pt-BR" b="0" i="1" dirty="0" smtClean="0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  <a:ea typeface="Cambria Math" panose="02040503050406030204" pitchFamily="18" charset="0"/>
                                            </a:rPr>
                                            <m:t>∧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rato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cachorro</m:t>
                                          </m:r>
                                        </m:sub>
                                      </m:sSub>
                                      <m:r>
                                        <a:rPr lang="pt-BR" i="1">
                                          <a:latin typeface="Cambria Math" panose="02040503050406030204" pitchFamily="18" charset="0"/>
                                          <a:ea typeface="Cambria Math" panose="02040503050406030204" pitchFamily="18" charset="0"/>
                                        </a:rPr>
                                        <m:t>∧</m:t>
                                      </m:r>
                                      <m:sSub>
                                        <m:sSubPr>
                                          <m:ctrlP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</m:ctrlPr>
                                        </m:sSubPr>
                                        <m:e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 </m:t>
                                          </m:r>
                                          <m:r>
                                            <a:rPr lang="pt-BR" i="1">
                                              <a:latin typeface="Cambria Math" panose="02040503050406030204" pitchFamily="18" charset="0"/>
                                            </a:rPr>
                                            <m:t>𝐶</m:t>
                                          </m:r>
                                        </m:e>
                                        <m:sub>
                                          <m:r>
                                            <m:rPr>
                                              <m:nor/>
                                            </m:rPr>
                                            <a:rPr lang="pt-BR" dirty="0"/>
                                            <m:t>sapo</m:t>
                                          </m:r>
                                        </m:sub>
                                      </m:sSub>
                                    </m:e>
                                  </m:mr>
                                </m:m>
                              </m:e>
                            </m:mr>
                          </m:m>
                        </m:e>
                      </m:d>
                      <m:r>
                        <a:rPr lang="pt-BR" b="1" i="1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</p:txBody>
          </p:sp>
        </mc:Choice>
        <mc:Fallback xmlns="">
          <p:sp>
            <p:nvSpPr>
              <p:cNvPr id="3" name="Content Placeholder 2">
                <a:extLst>
                  <a:ext uri="{FF2B5EF4-FFF2-40B4-BE49-F238E27FC236}">
                    <a16:creationId xmlns:a16="http://schemas.microsoft.com/office/drawing/2014/main" id="{1237A257-D85C-E351-5085-80BCF81401BB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838200" y="1825624"/>
                <a:ext cx="11255830" cy="5032376"/>
              </a:xfrm>
              <a:blipFill>
                <a:blip r:embed="rId2"/>
                <a:stretch>
                  <a:fillRect l="-975" t="-1937" r="-1192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</p:spTree>
    <p:extLst>
      <p:ext uri="{BB962C8B-B14F-4D97-AF65-F5344CB8AC3E}">
        <p14:creationId xmlns:p14="http://schemas.microsoft.com/office/powerpoint/2010/main" val="931839271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B5C9F62-7684-5A29-B15B-4CEB812641B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C9293E-FE0D-E03B-8391-5AFFEBCBCCE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pt-BR" sz="8000" b="1" dirty="0">
                <a:solidFill>
                  <a:srgbClr val="FF0000"/>
                </a:solidFill>
              </a:rPr>
              <a:t>PAREI AQUI!!!!!!</a:t>
            </a:r>
            <a:endParaRPr lang="en-US" sz="8000" b="1" dirty="0">
              <a:solidFill>
                <a:srgbClr val="FF0000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385393323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Na regressão, usamos </a:t>
                </a:r>
                <a:r>
                  <a:rPr lang="pt-BR" b="1" dirty="0"/>
                  <a:t>funções hipótese</a:t>
                </a:r>
                <a:r>
                  <a:rPr lang="pt-BR" dirty="0"/>
                  <a:t> para </a:t>
                </a:r>
                <a:r>
                  <a:rPr lang="pt-BR" b="1" dirty="0"/>
                  <a:t>aproximar o comportamento do conjunto de dados</a:t>
                </a:r>
                <a:r>
                  <a:rPr lang="pt-BR" dirty="0"/>
                  <a:t>, agora, as usaremos para </a:t>
                </a:r>
                <a:r>
                  <a:rPr lang="pt-BR" b="1" dirty="0">
                    <a:solidFill>
                      <a:srgbClr val="00B050"/>
                    </a:solidFill>
                  </a:rPr>
                  <a:t>separar (i.e., discriminar) grupos de dados em classes.</a:t>
                </a:r>
                <a:endParaRPr lang="pt-BR" dirty="0"/>
              </a:p>
              <a:p>
                <a:r>
                  <a:rPr lang="pt-BR" dirty="0"/>
                  <a:t>Vejam o </a:t>
                </a:r>
                <a:r>
                  <a:rPr lang="pt-BR" b="1" dirty="0"/>
                  <a:t>espaço bi-dimensional</a:t>
                </a:r>
                <a:r>
                  <a:rPr lang="pt-BR" dirty="0"/>
                  <a:t>,</a:t>
                </a:r>
                <a14:m>
                  <m:oMath xmlns:m="http://schemas.openxmlformats.org/officeDocument/2006/math">
                    <m:r>
                      <a:rPr lang="pt-BR" b="0" i="0" smtClean="0">
                        <a:latin typeface="Cambria Math" panose="02040503050406030204" pitchFamily="18" charset="0"/>
                        <a:ea typeface="Cambria Math" panose="02040503050406030204" pitchFamily="18" charset="0"/>
                      </a:rPr>
                      <m:t>   </m:t>
                    </m:r>
                    <m:sSup>
                      <m:sSupPr>
                        <m:ctrlPr>
                          <a:rPr lang="pt-BR" i="1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ℝ</m:t>
                        </m:r>
                      </m:e>
                      <m:sup>
                        <m:r>
                          <a:rPr lang="pt-BR" i="0">
                            <a:latin typeface="Cambria Math" panose="02040503050406030204" pitchFamily="18" charset="0"/>
                            <a:ea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, criado pelos </a:t>
                </a:r>
                <a:r>
                  <a:rPr lang="pt-BR" b="1" dirty="0"/>
                  <a:t>atributos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e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mostrado na figura ao lado.</a:t>
                </a:r>
              </a:p>
              <a:p>
                <a:r>
                  <a:rPr lang="pt-BR" dirty="0"/>
                  <a:t>Os </a:t>
                </a:r>
                <a:r>
                  <a:rPr lang="pt-BR" b="1" dirty="0"/>
                  <a:t>pares de atributos </a:t>
                </a:r>
                <a:r>
                  <a:rPr lang="pt-BR" dirty="0"/>
                  <a:t>pertencem a duas classes (</a:t>
                </a:r>
                <a14:m>
                  <m:oMath xmlns:m="http://schemas.openxmlformats.org/officeDocument/2006/math">
                    <m:r>
                      <a:rPr lang="pt-BR" b="0" i="1" smtClean="0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b="0" i="1" smtClean="0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):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Círculos azuis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Triângulos vermelhos pertencem à classe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𝐶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032784" y="1825624"/>
                <a:ext cx="7054439" cy="5032375"/>
              </a:xfrm>
              <a:blipFill>
                <a:blip r:embed="rId3"/>
                <a:stretch>
                  <a:fillRect l="-1556" t="-1937" r="-1988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2" name="Agrupar 11">
            <a:extLst>
              <a:ext uri="{FF2B5EF4-FFF2-40B4-BE49-F238E27FC236}">
                <a16:creationId xmlns:a16="http://schemas.microsoft.com/office/drawing/2014/main" id="{745C0A43-FD12-CEC1-71CC-612BDB16C776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3" name="Picture 3">
              <a:extLst>
                <a:ext uri="{FF2B5EF4-FFF2-40B4-BE49-F238E27FC236}">
                  <a16:creationId xmlns:a16="http://schemas.microsoft.com/office/drawing/2014/main" id="{64DA2A01-47B5-2B94-DBFC-FB53B1B8205D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4" name="TextBox 6">
              <a:extLst>
                <a:ext uri="{FF2B5EF4-FFF2-40B4-BE49-F238E27FC236}">
                  <a16:creationId xmlns:a16="http://schemas.microsoft.com/office/drawing/2014/main" id="{5ACECBBD-5168-48DA-64EF-8BDD58AE7E65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5" name="Curved Connector 8">
              <a:extLst>
                <a:ext uri="{FF2B5EF4-FFF2-40B4-BE49-F238E27FC236}">
                  <a16:creationId xmlns:a16="http://schemas.microsoft.com/office/drawing/2014/main" id="{7D2B1880-C7A7-A071-10B2-08F118026EDA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6" name="Retângulo 15">
                  <a:extLst>
                    <a:ext uri="{FF2B5EF4-FFF2-40B4-BE49-F238E27FC236}">
                      <a16:creationId xmlns:a16="http://schemas.microsoft.com/office/drawing/2014/main" id="{036F5727-D9EE-E211-8459-926C7C8C80B1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1422614699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Content Placeholder 2"/>
              <p:cNvSpPr>
                <a:spLocks noGrp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O objetivo da classificação é encontrar uma função, chamada de </a:t>
                </a:r>
                <a:r>
                  <a:rPr lang="pt-BR" b="1" dirty="0"/>
                  <a:t>discriminante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</m:oMath>
                </a14:m>
                <a:r>
                  <a:rPr lang="pt-BR" dirty="0"/>
                  <a:t> que separe as classes.</a:t>
                </a:r>
              </a:p>
              <a:p>
                <a:r>
                  <a:rPr lang="pt-BR" dirty="0"/>
                  <a:t>Chamamos de </a:t>
                </a:r>
                <a:r>
                  <a:rPr lang="pt-BR" b="1" dirty="0"/>
                  <a:t>fronteira de decisão </a:t>
                </a:r>
                <a:r>
                  <a:rPr lang="pt-BR" dirty="0"/>
                  <a:t>onde essa função corta o espaço de atributos. </a:t>
                </a:r>
              </a:p>
              <a:p>
                <a:r>
                  <a:rPr lang="pt-BR" dirty="0"/>
                  <a:t>No exemplo, a função discriminante </a:t>
                </a:r>
                <a:r>
                  <a:rPr lang="pt-BR" b="1" dirty="0"/>
                  <a:t>divide</a:t>
                </a:r>
                <a:r>
                  <a:rPr lang="pt-BR" dirty="0"/>
                  <a:t> o espaço em </a:t>
                </a:r>
                <a:r>
                  <a:rPr lang="pt-BR" b="1" dirty="0"/>
                  <a:t>duas regiões de decisão</a:t>
                </a:r>
                <a:r>
                  <a:rPr lang="pt-BR" dirty="0"/>
                  <a:t>,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</m:sSub>
                  </m:oMath>
                </a14:m>
                <a:r>
                  <a:rPr lang="pt-BR" dirty="0"/>
                  <a:t> 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𝑅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</m:sSub>
                  </m:oMath>
                </a14:m>
                <a:r>
                  <a:rPr lang="pt-BR" dirty="0"/>
                  <a:t>, </a:t>
                </a:r>
                <a:r>
                  <a:rPr lang="pt-BR" dirty="0">
                    <a:solidFill>
                      <a:schemeClr val="tx1"/>
                    </a:solidFill>
                  </a:rPr>
                  <a:t>onde </a:t>
                </a:r>
                <a:r>
                  <a:rPr lang="pt-BR" b="1" dirty="0">
                    <a:solidFill>
                      <a:schemeClr val="tx1"/>
                    </a:solidFill>
                  </a:rPr>
                  <a:t>cada região corresponde a uma classe</a:t>
                </a:r>
                <a14:m>
                  <m:oMath xmlns:m="http://schemas.openxmlformats.org/officeDocument/2006/math">
                    <m:r>
                      <a:rPr lang="pt-BR" b="0" i="0" smtClean="0">
                        <a:solidFill>
                          <a:schemeClr val="tx1"/>
                        </a:solidFill>
                        <a:latin typeface="Cambria Math" panose="02040503050406030204" pitchFamily="18" charset="0"/>
                      </a:rPr>
                      <m:t>.</m:t>
                    </m:r>
                  </m:oMath>
                </a14:m>
                <a:endParaRPr lang="pt-BR" dirty="0"/>
              </a:p>
              <a:p>
                <a:r>
                  <a:rPr lang="pt-BR" dirty="0"/>
                  <a:t>No exemplo, como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𝑄</m:t>
                    </m:r>
                    <m:r>
                      <a:rPr lang="pt-BR" i="1">
                        <a:latin typeface="Cambria Math" panose="02040503050406030204" pitchFamily="18" charset="0"/>
                      </a:rPr>
                      <m:t>=2</m:t>
                    </m:r>
                  </m:oMath>
                </a14:m>
                <a:r>
                  <a:rPr lang="pt-BR" dirty="0"/>
                  <a:t>, temos apenas uma fronteira de decisão.</a:t>
                </a:r>
              </a:p>
            </p:txBody>
          </p:sp>
        </mc:Choice>
        <mc:Fallback xmlns="">
          <p:sp>
            <p:nvSpPr>
              <p:cNvPr id="3" name="Content Placeholder 2"/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5344887" y="1825624"/>
                <a:ext cx="6761388" cy="5032375"/>
              </a:xfrm>
              <a:blipFill>
                <a:blip r:embed="rId3"/>
                <a:stretch>
                  <a:fillRect l="-1623" t="-1937" r="-1713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grpSp>
        <p:nvGrpSpPr>
          <p:cNvPr id="14" name="Agrupar 13">
            <a:extLst>
              <a:ext uri="{FF2B5EF4-FFF2-40B4-BE49-F238E27FC236}">
                <a16:creationId xmlns:a16="http://schemas.microsoft.com/office/drawing/2014/main" id="{D3D49D8E-0821-33E1-5823-3E158A4FB182}"/>
              </a:ext>
            </a:extLst>
          </p:cNvPr>
          <p:cNvGrpSpPr/>
          <p:nvPr/>
        </p:nvGrpSpPr>
        <p:grpSpPr>
          <a:xfrm>
            <a:off x="1135086" y="2427640"/>
            <a:ext cx="3089466" cy="3257287"/>
            <a:chOff x="9125712" y="2808640"/>
            <a:chExt cx="3089466" cy="3257287"/>
          </a:xfrm>
        </p:grpSpPr>
        <p:pic>
          <p:nvPicPr>
            <p:cNvPr id="15" name="Picture 3">
              <a:extLst>
                <a:ext uri="{FF2B5EF4-FFF2-40B4-BE49-F238E27FC236}">
                  <a16:creationId xmlns:a16="http://schemas.microsoft.com/office/drawing/2014/main" id="{BD3F5D0C-F310-ED7B-BBE9-A892027EAD0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6615" t="3775" r="7505" b="1098"/>
            <a:stretch/>
          </p:blipFill>
          <p:spPr>
            <a:xfrm>
              <a:off x="9125712" y="2808640"/>
              <a:ext cx="2960664" cy="2280684"/>
            </a:xfrm>
            <a:prstGeom prst="rect">
              <a:avLst/>
            </a:prstGeom>
          </p:spPr>
        </p:pic>
        <p:sp>
          <p:nvSpPr>
            <p:cNvPr id="16" name="TextBox 6">
              <a:extLst>
                <a:ext uri="{FF2B5EF4-FFF2-40B4-BE49-F238E27FC236}">
                  <a16:creationId xmlns:a16="http://schemas.microsoft.com/office/drawing/2014/main" id="{D474B403-303E-639E-341F-AA50DF86D3BE}"/>
                </a:ext>
              </a:extLst>
            </p:cNvPr>
            <p:cNvSpPr txBox="1"/>
            <p:nvPr/>
          </p:nvSpPr>
          <p:spPr>
            <a:xfrm>
              <a:off x="9909743" y="5327263"/>
              <a:ext cx="1874067" cy="73866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pPr algn="ctr"/>
              <a:r>
                <a:rPr lang="pt-BR" sz="1400" b="1" dirty="0"/>
                <a:t>Fronteira de decisão</a:t>
              </a:r>
              <a:r>
                <a:rPr lang="pt-BR" sz="1400" dirty="0"/>
                <a:t>: no caso deste exemplo, ela é uma reta.</a:t>
              </a:r>
            </a:p>
          </p:txBody>
        </p:sp>
        <p:cxnSp>
          <p:nvCxnSpPr>
            <p:cNvPr id="17" name="Curved Connector 8">
              <a:extLst>
                <a:ext uri="{FF2B5EF4-FFF2-40B4-BE49-F238E27FC236}">
                  <a16:creationId xmlns:a16="http://schemas.microsoft.com/office/drawing/2014/main" id="{B45603A2-AC84-D66F-F06E-0371CA5BE810}"/>
                </a:ext>
              </a:extLst>
            </p:cNvPr>
            <p:cNvCxnSpPr/>
            <p:nvPr/>
          </p:nvCxnSpPr>
          <p:spPr>
            <a:xfrm rot="5400000">
              <a:off x="10830268" y="4695983"/>
              <a:ext cx="657723" cy="624705"/>
            </a:xfrm>
            <a:prstGeom prst="curvedConnector3">
              <a:avLst/>
            </a:prstGeom>
            <a:ln w="28575">
              <a:tailEnd type="triangle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mc:AlternateContent xmlns:mc="http://schemas.openxmlformats.org/markup-compatibility/2006" xmlns:a14="http://schemas.microsoft.com/office/drawing/2010/main">
          <mc:Choice Requires="a14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/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</p:spPr>
              <p:txBody>
                <a:bodyPr wrap="none">
                  <a:spAutoFit/>
                </a:bodyPr>
                <a:lstStyle/>
                <a:p>
                  <a:pPr/>
                  <a14:m>
                    <m:oMathPara xmlns:m="http://schemas.openxmlformats.org/officeDocument/2006/math">
                      <m:oMathParaPr>
                        <m:jc m:val="centerGroup"/>
                      </m:oMathParaPr>
                      <m:oMath xmlns:m="http://schemas.openxmlformats.org/officeDocument/2006/math">
                        <m:r>
                          <a:rPr lang="pt-BR" b="0" i="1">
                            <a:latin typeface="Cambria Math" panose="02040503050406030204" pitchFamily="18" charset="0"/>
                          </a:rPr>
                          <m:t>𝑄</m:t>
                        </m:r>
                        <m:r>
                          <a:rPr lang="pt-BR" b="0">
                            <a:latin typeface="Cambria Math" panose="02040503050406030204" pitchFamily="18" charset="0"/>
                          </a:rPr>
                          <m:t>=</m:t>
                        </m:r>
                        <m:r>
                          <a:rPr lang="pt-BR" b="0" i="1">
                            <a:latin typeface="Cambria Math" panose="02040503050406030204" pitchFamily="18" charset="0"/>
                          </a:rPr>
                          <m:t>2</m:t>
                        </m:r>
                      </m:oMath>
                    </m:oMathPara>
                  </a14:m>
                  <a:endParaRPr lang="pt-BR" dirty="0"/>
                </a:p>
              </p:txBody>
            </p:sp>
          </mc:Choice>
          <mc:Fallback xmlns="">
            <p:sp>
              <p:nvSpPr>
                <p:cNvPr id="18" name="Retângulo 17">
                  <a:extLst>
                    <a:ext uri="{FF2B5EF4-FFF2-40B4-BE49-F238E27FC236}">
                      <a16:creationId xmlns:a16="http://schemas.microsoft.com/office/drawing/2014/main" id="{C5162CC1-DD2F-DFBD-35CF-B876410E54B6}"/>
                    </a:ext>
                  </a:extLst>
                </p:cNvPr>
                <p:cNvSpPr>
                  <a:spLocks noRot="1" noChangeAspect="1" noMove="1" noResize="1" noEditPoints="1" noAdjustHandles="1" noChangeArrowheads="1" noChangeShapeType="1" noTextEdit="1"/>
                </p:cNvSpPr>
                <p:nvPr/>
              </p:nvSpPr>
              <p:spPr>
                <a:xfrm>
                  <a:off x="11374884" y="3305149"/>
                  <a:ext cx="840294" cy="369332"/>
                </a:xfrm>
                <a:prstGeom prst="rect">
                  <a:avLst/>
                </a:prstGeom>
                <a:blipFill>
                  <a:blip r:embed="rId5"/>
                  <a:stretch>
                    <a:fillRect b="-10000"/>
                  </a:stretch>
                </a:blipFill>
              </p:spPr>
              <p:txBody>
                <a:bodyPr/>
                <a:lstStyle/>
                <a:p>
                  <a:r>
                    <a:rPr lang="pt-BR">
                      <a:noFill/>
                    </a:rPr>
                    <a:t> </a:t>
                  </a:r>
                </a:p>
              </p:txBody>
            </p:sp>
          </mc:Fallback>
        </mc:AlternateContent>
      </p:grpSp>
    </p:spTree>
    <p:extLst>
      <p:ext uri="{BB962C8B-B14F-4D97-AF65-F5344CB8AC3E}">
        <p14:creationId xmlns:p14="http://schemas.microsoft.com/office/powerpoint/2010/main" val="501774096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Fronteiras de decisão de um classificador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838200" y="1825625"/>
            <a:ext cx="11177588" cy="3045345"/>
          </a:xfrm>
        </p:spPr>
        <p:txBody>
          <a:bodyPr>
            <a:normAutofit/>
          </a:bodyPr>
          <a:lstStyle/>
          <a:p>
            <a:r>
              <a:rPr lang="pt-BR" dirty="0"/>
              <a:t>As figuras abaixo mostram </a:t>
            </a:r>
            <a:r>
              <a:rPr lang="pt-BR" b="1" dirty="0"/>
              <a:t>funções discriminantes </a:t>
            </a:r>
            <a:r>
              <a:rPr lang="pt-BR" dirty="0"/>
              <a:t>em problemas de classificação </a:t>
            </a:r>
            <a:r>
              <a:rPr lang="pt-BR" b="1" dirty="0"/>
              <a:t>binária</a:t>
            </a:r>
            <a:r>
              <a:rPr lang="pt-BR" dirty="0"/>
              <a:t> e </a:t>
            </a:r>
            <a:r>
              <a:rPr lang="pt-BR" b="1" dirty="0"/>
              <a:t>multiclasses</a:t>
            </a:r>
            <a:r>
              <a:rPr lang="pt-BR" dirty="0"/>
              <a:t>.</a:t>
            </a:r>
          </a:p>
          <a:p>
            <a:r>
              <a:rPr lang="pt-BR" dirty="0"/>
              <a:t>As </a:t>
            </a:r>
            <a:r>
              <a:rPr lang="pt-BR" b="1" dirty="0"/>
              <a:t>funções discriminantes</a:t>
            </a:r>
            <a:r>
              <a:rPr lang="pt-BR" dirty="0"/>
              <a:t> podem ser </a:t>
            </a:r>
            <a:r>
              <a:rPr lang="pt-BR" b="1" dirty="0">
                <a:solidFill>
                  <a:schemeClr val="accent2"/>
                </a:solidFill>
              </a:rPr>
              <a:t>lineares</a:t>
            </a:r>
            <a:r>
              <a:rPr lang="pt-BR" dirty="0"/>
              <a:t> (e.g., retas e planos) ou </a:t>
            </a:r>
            <a:r>
              <a:rPr lang="pt-BR" b="1" dirty="0">
                <a:solidFill>
                  <a:schemeClr val="accent2"/>
                </a:solidFill>
              </a:rPr>
              <a:t>não-lineares</a:t>
            </a:r>
            <a:r>
              <a:rPr lang="pt-BR" dirty="0"/>
              <a:t> (e.g., círculos e elipses).</a:t>
            </a:r>
          </a:p>
          <a:p>
            <a:r>
              <a:rPr lang="pt-BR" dirty="0"/>
              <a:t>Em geral, usamos polinômios como </a:t>
            </a:r>
            <a:r>
              <a:rPr lang="pt-BR" b="1" dirty="0"/>
              <a:t>funções discriminantes.</a:t>
            </a:r>
            <a:endParaRPr lang="pt-BR" dirty="0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 rotWithShape="1"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15" t="3775" r="7505" b="1098"/>
          <a:stretch/>
        </p:blipFill>
        <p:spPr>
          <a:xfrm>
            <a:off x="589866" y="4185993"/>
            <a:ext cx="3448732" cy="2656657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486" t="3773" r="7252"/>
          <a:stretch/>
        </p:blipFill>
        <p:spPr>
          <a:xfrm>
            <a:off x="8379980" y="4185993"/>
            <a:ext cx="3417767" cy="2614205"/>
          </a:xfrm>
          <a:prstGeom prst="rect">
            <a:avLst/>
          </a:prstGeom>
        </p:spPr>
      </p:pic>
      <p:pic>
        <p:nvPicPr>
          <p:cNvPr id="6" name="Picture 5"/>
          <p:cNvPicPr>
            <a:picLocks noChangeAspect="1"/>
          </p:cNvPicPr>
          <p:nvPr/>
        </p:nvPicPr>
        <p:blipFill rotWithShape="1"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657" t="3260" r="7500" b="1927"/>
          <a:stretch/>
        </p:blipFill>
        <p:spPr>
          <a:xfrm>
            <a:off x="4505724" y="4185993"/>
            <a:ext cx="3406342" cy="26329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9033167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DEB2A3D-8D63-9C8B-C3AB-947682DA6A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849A053-A236-679C-83D9-DD618F87AA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pt-BR" dirty="0"/>
          </a:p>
          <a:p>
            <a:r>
              <a:rPr lang="pt-BR" dirty="0"/>
              <a:t>Uma </a:t>
            </a:r>
            <a:r>
              <a:rPr lang="pt-BR" b="1" i="1" dirty="0"/>
              <a:t>fronteira de decisão </a:t>
            </a:r>
            <a:r>
              <a:rPr lang="pt-BR" dirty="0"/>
              <a:t>corresponde a uma </a:t>
            </a:r>
            <a:r>
              <a:rPr lang="pt-BR" b="1" i="1" dirty="0">
                <a:solidFill>
                  <a:srgbClr val="00B050"/>
                </a:solidFill>
              </a:rPr>
              <a:t>superfície de separação</a:t>
            </a:r>
            <a:r>
              <a:rPr lang="pt-BR" b="1" i="1" dirty="0"/>
              <a:t> </a:t>
            </a:r>
            <a:r>
              <a:rPr lang="pt-BR" dirty="0"/>
              <a:t>(1D, 2D, 3D, etc.) no </a:t>
            </a:r>
            <a:r>
              <a:rPr lang="pt-BR" b="1" i="1" dirty="0"/>
              <a:t>espaço de atributos </a:t>
            </a:r>
            <a:r>
              <a:rPr lang="pt-BR" dirty="0"/>
              <a:t>que separa as classes.</a:t>
            </a:r>
          </a:p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890311029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D0DF5BB-4965-42FA-1FE9-FA4F63D368A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Uma</a:t>
                </a:r>
                <a:r>
                  <a:rPr lang="pt-BR" dirty="0">
                    <a:solidFill>
                      <a:srgbClr val="7030A0"/>
                    </a:solidFill>
                  </a:rPr>
                  <a:t>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função discriminante</a:t>
                </a:r>
                <a:r>
                  <a:rPr lang="pt-BR" b="1" i="1" dirty="0"/>
                  <a:t> </a:t>
                </a:r>
                <a:r>
                  <a:rPr lang="pt-BR" dirty="0"/>
                  <a:t>com formato de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</a:t>
                </a:r>
                <a:r>
                  <a:rPr lang="pt-BR" dirty="0"/>
                  <a:t> é dada por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𝑔</m:t>
                      </m:r>
                      <m:d>
                        <m:d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r>
                            <a:rPr lang="pt-BR" b="1" i="1" smtClean="0">
                              <a:latin typeface="Cambria Math" panose="02040503050406030204" pitchFamily="18" charset="0"/>
                            </a:rPr>
                            <m:t>𝒙</m:t>
                          </m:r>
                        </m:e>
                      </m:d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b>
                        <m:sSubPr>
                          <m:ctrlPr>
                            <a:rPr lang="pt-BR" b="0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0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sSub>
                        <m:sSubPr>
                          <m:ctrlPr>
                            <a:rPr lang="pt-BR" i="1" smtClean="0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1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2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r>
                        <a:rPr lang="pt-BR" b="1" i="1">
                          <a:latin typeface="Cambria Math" panose="02040503050406030204" pitchFamily="18" charset="0"/>
                        </a:rPr>
                        <m:t>…</m:t>
                      </m:r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+</m:t>
                      </m:r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𝑎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sSub>
                        <m:sSub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𝑥</m:t>
                          </m:r>
                        </m:e>
                        <m:sub>
                          <m:r>
                            <a:rPr lang="pt-BR" b="0" i="1" smtClean="0">
                              <a:latin typeface="Cambria Math" panose="02040503050406030204" pitchFamily="18" charset="0"/>
                            </a:rPr>
                            <m:t>𝐾</m:t>
                          </m:r>
                        </m:sub>
                      </m:sSub>
                      <m:r>
                        <a:rPr lang="pt-BR" b="0" i="1" smtClean="0">
                          <a:latin typeface="Cambria Math" panose="02040503050406030204" pitchFamily="18" charset="0"/>
                        </a:rPr>
                        <m:t>=</m:t>
                      </m:r>
                      <m:sSup>
                        <m:sSupPr>
                          <m:ctrlPr>
                            <a:rPr lang="pt-BR" i="1">
                              <a:latin typeface="Cambria Math" panose="02040503050406030204" pitchFamily="18" charset="0"/>
                            </a:rPr>
                          </m:ctrlPr>
                        </m:sSupPr>
                        <m:e>
                          <m:r>
                            <a:rPr lang="pt-BR" b="1" i="1">
                              <a:latin typeface="Cambria Math" panose="02040503050406030204" pitchFamily="18" charset="0"/>
                            </a:rPr>
                            <m:t>𝒂</m:t>
                          </m:r>
                        </m:e>
                        <m:sup>
                          <m:r>
                            <a:rPr lang="pt-BR" i="1">
                              <a:latin typeface="Cambria Math" panose="02040503050406030204" pitchFamily="18" charset="0"/>
                            </a:rPr>
                            <m:t>𝑇</m:t>
                          </m:r>
                        </m:sup>
                      </m:sSup>
                      <m:r>
                        <a:rPr lang="pt-BR" b="1" i="1">
                          <a:latin typeface="Cambria Math" panose="02040503050406030204" pitchFamily="18" charset="0"/>
                        </a:rPr>
                        <m:t>𝒙</m:t>
                      </m:r>
                      <m:r>
                        <a:rPr lang="pt-BR" b="1" i="0" smtClean="0">
                          <a:latin typeface="Cambria Math" panose="02040503050406030204" pitchFamily="18" charset="0"/>
                        </a:rPr>
                        <m:t>.</m:t>
                      </m:r>
                    </m:oMath>
                  </m:oMathPara>
                </a14:m>
                <a:endParaRPr lang="pt-BR" dirty="0"/>
              </a:p>
              <a:p>
                <a:r>
                  <a:rPr lang="pt-BR" dirty="0"/>
                  <a:t>Um </a:t>
                </a:r>
                <a:r>
                  <a:rPr lang="pt-BR" b="1" i="1" dirty="0"/>
                  <a:t>hiperplano</a:t>
                </a:r>
                <a:r>
                  <a:rPr lang="pt-BR" dirty="0"/>
                  <a:t> pode ser 1 ponto em 1D, uma reta em 2D, um plano em 3D, etc.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coeficiente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</m:oMath>
                </a14:m>
                <a:r>
                  <a:rPr lang="pt-BR" dirty="0"/>
                  <a:t> (</a:t>
                </a:r>
                <a:r>
                  <a:rPr lang="pt-BR" b="1" i="1" dirty="0"/>
                  <a:t>bias</a:t>
                </a:r>
                <a:r>
                  <a:rPr lang="pt-BR" dirty="0"/>
                  <a:t>) dá o deslocamento com relação à origem.</a:t>
                </a: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O restante dos pesos determina a orientação do </a:t>
                </a:r>
                <a:r>
                  <a:rPr lang="pt-BR" b="1" i="1" dirty="0"/>
                  <a:t>hiperplano</a:t>
                </a:r>
                <a:r>
                  <a:rPr lang="pt-BR" dirty="0"/>
                  <a:t>.</a:t>
                </a:r>
              </a:p>
              <a:p>
                <a:r>
                  <a:rPr lang="pt-BR" dirty="0"/>
                  <a:t>Lembrem-se que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hiperplanos</a:t>
                </a:r>
                <a:r>
                  <a:rPr lang="pt-BR" dirty="0"/>
                  <a:t> fazem </a:t>
                </a:r>
                <a:r>
                  <a:rPr lang="pt-BR" b="1" i="1" dirty="0">
                    <a:solidFill>
                      <a:schemeClr val="accent5"/>
                    </a:solidFill>
                  </a:rPr>
                  <a:t>mapeamentos lineares </a:t>
                </a:r>
                <a:r>
                  <a:rPr lang="pt-BR" dirty="0"/>
                  <a:t>dos atributos nas saídas.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057DDB69-30DD-CFD2-808A-F52FDB98EF88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876800" y="1825624"/>
                <a:ext cx="7153275" cy="5032375"/>
              </a:xfrm>
              <a:blipFill>
                <a:blip r:embed="rId3"/>
                <a:stretch>
                  <a:fillRect l="-1535" t="-1937" r="-426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pic>
        <p:nvPicPr>
          <p:cNvPr id="4" name="Picture 3">
            <a:extLst>
              <a:ext uri="{FF2B5EF4-FFF2-40B4-BE49-F238E27FC236}">
                <a16:creationId xmlns:a16="http://schemas.microsoft.com/office/drawing/2014/main" id="{DF06FD70-E89F-BC52-2900-5506EBD6CF3F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806652215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4850ACD-2DE0-7E6B-F65F-1A40170C1B2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Funções discriminantes</a:t>
            </a:r>
          </a:p>
        </p:txBody>
      </p:sp>
      <mc:AlternateContent xmlns:mc="http://schemas.openxmlformats.org/markup-compatibility/2006" xmlns:a14="http://schemas.microsoft.com/office/drawing/2010/main">
        <mc:Choice Requires="a14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</p:spPr>
            <p:txBody>
              <a:bodyPr>
                <a:normAutofit/>
              </a:bodyPr>
              <a:lstStyle/>
              <a:p>
                <a:r>
                  <a:rPr lang="pt-BR" dirty="0"/>
                  <a:t>Nosso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objetivo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 é </a:t>
                </a:r>
                <a:r>
                  <a:rPr lang="pt-BR" b="1" i="1" dirty="0">
                    <a:solidFill>
                      <a:schemeClr val="accent2"/>
                    </a:solidFill>
                  </a:rPr>
                  <a:t>encontrar os pesos </a:t>
                </a:r>
                <a:r>
                  <a:rPr lang="pt-BR" b="1" i="1" dirty="0">
                    <a:solidFill>
                      <a:srgbClr val="00B050"/>
                    </a:solidFill>
                  </a:rPr>
                  <a:t>da função discriminante </a:t>
                </a:r>
                <a:r>
                  <a:rPr lang="pt-BR" dirty="0"/>
                  <a:t>de tal forma que que a classe atribuída a um exemplo de entrada,</a:t>
                </a:r>
                <a:r>
                  <a:rPr lang="pt-BR" b="1" dirty="0"/>
                  <a:t> </a:t>
                </a:r>
                <a14:m>
                  <m:oMath xmlns:m="http://schemas.openxmlformats.org/officeDocument/2006/math">
                    <m:r>
                      <a:rPr lang="pt-BR" b="1" i="1">
                        <a:latin typeface="Cambria Math" panose="02040503050406030204" pitchFamily="18" charset="0"/>
                      </a:rPr>
                      <m:t>𝒙</m:t>
                    </m:r>
                  </m:oMath>
                </a14:m>
                <a:r>
                  <a:rPr lang="pt-BR" dirty="0"/>
                  <a:t>, seja:</a:t>
                </a:r>
              </a:p>
              <a:p>
                <a:pPr marL="0" indent="0">
                  <a:buNone/>
                </a:pPr>
                <a14:m>
                  <m:oMathPara xmlns:m="http://schemas.openxmlformats.org/officeDocument/2006/math">
                    <m:oMathParaPr>
                      <m:jc m:val="centerGroup"/>
                    </m:oMathParaPr>
                    <m:oMath xmlns:m="http://schemas.openxmlformats.org/officeDocument/2006/math">
                      <m:sSub>
                        <m:sSubPr>
                          <m:ctrlPr>
                            <a:rPr lang="pt-BR" sz="2400" i="1">
                              <a:latin typeface="Cambria Math" panose="02040503050406030204" pitchFamily="18" charset="0"/>
                            </a:rPr>
                          </m:ctrlPr>
                        </m:sSubPr>
                        <m:e>
                          <m:r>
                            <a:rPr lang="pt-BR" sz="2400" i="1">
                              <a:latin typeface="Cambria Math" panose="02040503050406030204" pitchFamily="18" charset="0"/>
                            </a:rPr>
                            <m:t>𝐶</m:t>
                          </m:r>
                        </m:e>
                        <m:sub>
                          <m:r>
                            <a:rPr lang="pt-BR" sz="2400" b="0" i="1" smtClean="0">
                              <a:latin typeface="Cambria Math" panose="02040503050406030204" pitchFamily="18" charset="0"/>
                            </a:rPr>
                            <m:t>𝑞</m:t>
                          </m:r>
                        </m:sub>
                      </m:sSub>
                      <m:r>
                        <a:rPr lang="pt-BR" sz="2400" b="1" i="1">
                          <a:latin typeface="Cambria Math" panose="02040503050406030204" pitchFamily="18" charset="0"/>
                        </a:rPr>
                        <m:t>=</m:t>
                      </m:r>
                      <m:d>
                        <m:dPr>
                          <m:begChr m:val="{"/>
                          <m:endChr m:val=""/>
                          <m:ctrlPr>
                            <a:rPr lang="pt-BR" sz="2400" b="1" i="1">
                              <a:latin typeface="Cambria Math" panose="02040503050406030204" pitchFamily="18" charset="0"/>
                            </a:rPr>
                          </m:ctrlPr>
                        </m:dPr>
                        <m:e>
                          <m:eqArr>
                            <m:eqArrPr>
                              <m:ctrlPr>
                                <a:rPr lang="pt-BR" sz="2400" i="1">
                                  <a:latin typeface="Cambria Math" panose="02040503050406030204" pitchFamily="18" charset="0"/>
                                </a:rPr>
                              </m:ctrlPr>
                            </m:eqArrPr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=1,                    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&lt;</m:t>
                              </m:r>
                              <m:r>
                                <a:rPr lang="pt-BR" sz="2400" b="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  <m:e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𝑞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=2,                     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 smtClean="0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&gt;0</m:t>
                              </m:r>
                            </m:e>
                            <m:e>
                              <m:r>
                                <m:rPr>
                                  <m:nor/>
                                </m:rPr>
                                <a:rPr lang="pt-BR" sz="2400" b="0" i="0" smtClean="0">
                                  <a:latin typeface="Cambria Math" panose="02040503050406030204" pitchFamily="18" charset="0"/>
                                </a:rPr>
                                <m:t>i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ndetermina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çã</m:t>
                              </m:r>
                              <m:r>
                                <m:rPr>
                                  <m:nor/>
                                </m:rPr>
                                <a:rPr lang="pt-BR" sz="2400" dirty="0"/>
                                <m:t>o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,</m:t>
                              </m:r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  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𝑔</m:t>
                              </m:r>
                              <m:d>
                                <m:dPr>
                                  <m:ctrlPr>
                                    <a:rPr lang="pt-BR" sz="2400" i="1">
                                      <a:latin typeface="Cambria Math" panose="02040503050406030204" pitchFamily="18" charset="0"/>
                                    </a:rPr>
                                  </m:ctrlPr>
                                </m:dPr>
                                <m:e>
                                  <m:r>
                                    <a:rPr lang="pt-BR" sz="2400" b="1" i="1">
                                      <a:latin typeface="Cambria Math" panose="02040503050406030204" pitchFamily="18" charset="0"/>
                                    </a:rPr>
                                    <m:t>𝒙</m:t>
                                  </m:r>
                                </m:e>
                              </m:d>
                              <m:r>
                                <a:rPr lang="pt-BR" sz="2400" b="0" i="1" smtClean="0">
                                  <a:latin typeface="Cambria Math" panose="02040503050406030204" pitchFamily="18" charset="0"/>
                                </a:rPr>
                                <m:t>=</m:t>
                              </m:r>
                              <m:r>
                                <a:rPr lang="pt-BR" sz="2400" i="1">
                                  <a:latin typeface="Cambria Math" panose="02040503050406030204" pitchFamily="18" charset="0"/>
                                </a:rPr>
                                <m:t>0</m:t>
                              </m:r>
                            </m:e>
                          </m:eqArr>
                        </m:e>
                      </m:d>
                    </m:oMath>
                  </m:oMathPara>
                </a14:m>
                <a:endParaRPr lang="pt-BR" sz="2700" dirty="0"/>
              </a:p>
              <a:p>
                <a:r>
                  <a:rPr lang="pt-BR" dirty="0"/>
                  <a:t>OBS.: Podemos usar também </a:t>
                </a:r>
                <a:r>
                  <a:rPr lang="pt-BR" b="1" i="1" dirty="0"/>
                  <a:t>funções discriminantes com </a:t>
                </a:r>
                <a:r>
                  <a:rPr lang="pt-BR" b="1" i="1" dirty="0">
                    <a:solidFill>
                      <a:srgbClr val="7030A0"/>
                    </a:solidFill>
                  </a:rPr>
                  <a:t>mapeamentos não-lineares.</a:t>
                </a:r>
                <a:endParaRPr lang="pt-BR" dirty="0">
                  <a:solidFill>
                    <a:srgbClr val="7030A0"/>
                  </a:solidFill>
                </a:endParaRPr>
              </a:p>
              <a:p>
                <a:pPr lvl="1">
                  <a:buFont typeface="Wingdings" panose="05000000000000000000" pitchFamily="2" charset="2"/>
                  <a:buChar char="§"/>
                </a:pPr>
                <a:r>
                  <a:rPr lang="pt-BR" dirty="0"/>
                  <a:t>Exemplo: </a:t>
                </a:r>
                <a14:m>
                  <m:oMath xmlns:m="http://schemas.openxmlformats.org/officeDocument/2006/math">
                    <m:r>
                      <a:rPr lang="pt-BR" i="1">
                        <a:latin typeface="Cambria Math" panose="02040503050406030204" pitchFamily="18" charset="0"/>
                      </a:rPr>
                      <m:t>𝑔</m:t>
                    </m:r>
                    <m:d>
                      <m:d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dPr>
                      <m:e>
                        <m:r>
                          <a:rPr lang="pt-BR" b="1" i="1">
                            <a:latin typeface="Cambria Math" panose="02040503050406030204" pitchFamily="18" charset="0"/>
                          </a:rPr>
                          <m:t>𝒙</m:t>
                        </m:r>
                      </m:e>
                    </m:d>
                    <m:r>
                      <a:rPr lang="pt-BR" i="1">
                        <a:latin typeface="Cambria Math" panose="02040503050406030204" pitchFamily="18" charset="0"/>
                      </a:rPr>
                      <m:t>=</m:t>
                    </m:r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 smtClean="0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1</m:t>
                        </m:r>
                      </m:sub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  <m:r>
                      <a:rPr lang="pt-BR" i="1">
                        <a:latin typeface="Cambria Math" panose="02040503050406030204" pitchFamily="18" charset="0"/>
                      </a:rPr>
                      <m:t>+</m:t>
                    </m:r>
                    <m:sSubSup>
                      <m:sSubSup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Sup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𝑥</m:t>
                        </m:r>
                      </m:e>
                      <m:sub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b>
                      <m:sup>
                        <m:r>
                          <a:rPr lang="pt-BR" i="1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bSup>
                  </m:oMath>
                </a14:m>
                <a:r>
                  <a:rPr lang="pt-BR" dirty="0"/>
                  <a:t> (eq. de um círculo centrado na origem, onde </a:t>
                </a:r>
                <a14:m>
                  <m:oMath xmlns:m="http://schemas.openxmlformats.org/officeDocument/2006/math">
                    <m:sSub>
                      <m:sSubPr>
                        <m:ctrlPr>
                          <a:rPr lang="pt-BR" i="1">
                            <a:latin typeface="Cambria Math" panose="02040503050406030204" pitchFamily="18" charset="0"/>
                          </a:rPr>
                        </m:ctrlPr>
                      </m:sSubPr>
                      <m:e>
                        <m:r>
                          <a:rPr lang="pt-BR" i="1">
                            <a:latin typeface="Cambria Math" panose="02040503050406030204" pitchFamily="18" charset="0"/>
                          </a:rPr>
                          <m:t>𝑎</m:t>
                        </m:r>
                      </m:e>
                      <m:sub>
                        <m:r>
                          <a:rPr lang="pt-BR" i="1">
                            <a:latin typeface="Cambria Math" panose="02040503050406030204" pitchFamily="18" charset="0"/>
                          </a:rPr>
                          <m:t>0</m:t>
                        </m:r>
                      </m:sub>
                    </m:sSub>
                    <m:r>
                      <a:rPr lang="pt-BR" b="0" i="1" smtClean="0">
                        <a:latin typeface="Cambria Math" panose="02040503050406030204" pitchFamily="18" charset="0"/>
                      </a:rPr>
                      <m:t>=−</m:t>
                    </m:r>
                    <m:sSup>
                      <m:sSupPr>
                        <m:ctrlPr>
                          <a:rPr lang="pt-BR" b="0" i="1" smtClean="0">
                            <a:latin typeface="Cambria Math" panose="02040503050406030204" pitchFamily="18" charset="0"/>
                          </a:rPr>
                        </m:ctrlPr>
                      </m:sSupPr>
                      <m:e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𝑟</m:t>
                        </m:r>
                      </m:e>
                      <m:sup>
                        <m:r>
                          <a:rPr lang="pt-BR" b="0" i="1" smtClean="0">
                            <a:latin typeface="Cambria Math" panose="02040503050406030204" pitchFamily="18" charset="0"/>
                          </a:rPr>
                          <m:t>2</m:t>
                        </m:r>
                      </m:sup>
                    </m:sSup>
                  </m:oMath>
                </a14:m>
                <a:r>
                  <a:rPr lang="pt-BR" dirty="0"/>
                  <a:t>).</a:t>
                </a:r>
              </a:p>
            </p:txBody>
          </p:sp>
        </mc:Choice>
        <mc:Fallback xmlns="">
          <p:sp>
            <p:nvSpPr>
              <p:cNvPr id="3" name="Espaço Reservado para Conteúdo 2">
                <a:extLst>
                  <a:ext uri="{FF2B5EF4-FFF2-40B4-BE49-F238E27FC236}">
                    <a16:creationId xmlns:a16="http://schemas.microsoft.com/office/drawing/2014/main" id="{1C254C3E-10F9-2C66-DDBB-99D1164F61E7}"/>
                  </a:ext>
                </a:extLst>
              </p:cNvPr>
              <p:cNvSpPr>
                <a:spLocks noGrp="1" noRot="1" noChangeAspect="1" noMove="1" noResize="1" noEditPoints="1" noAdjustHandles="1" noChangeArrowheads="1" noChangeShapeType="1" noTextEdit="1"/>
              </p:cNvSpPr>
              <p:nvPr>
                <p:ph idx="1"/>
              </p:nvPr>
            </p:nvSpPr>
            <p:spPr>
              <a:xfrm>
                <a:off x="4648201" y="1825624"/>
                <a:ext cx="7448550" cy="5032375"/>
              </a:xfrm>
              <a:blipFill>
                <a:blip r:embed="rId3"/>
                <a:stretch>
                  <a:fillRect l="-1474" t="-1937"/>
                </a:stretch>
              </a:blipFill>
            </p:spPr>
            <p:txBody>
              <a:bodyPr/>
              <a:lstStyle/>
              <a:p>
                <a:r>
                  <a:rPr lang="en-US">
                    <a:noFill/>
                  </a:rPr>
                  <a:t> </a:t>
                </a:r>
              </a:p>
            </p:txBody>
          </p:sp>
        </mc:Fallback>
      </mc:AlternateContent>
      <p:sp>
        <p:nvSpPr>
          <p:cNvPr id="5" name="Rectangle 4">
            <a:extLst>
              <a:ext uri="{FF2B5EF4-FFF2-40B4-BE49-F238E27FC236}">
                <a16:creationId xmlns:a16="http://schemas.microsoft.com/office/drawing/2014/main" id="{645F5C35-CA80-831D-CD26-407BBC3BE21C}"/>
              </a:ext>
            </a:extLst>
          </p:cNvPr>
          <p:cNvSpPr/>
          <p:nvPr/>
        </p:nvSpPr>
        <p:spPr>
          <a:xfrm>
            <a:off x="10793207" y="3750882"/>
            <a:ext cx="1219200" cy="769441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empate entre as classes, pois a amostra está sobre a função.</a:t>
            </a:r>
          </a:p>
        </p:txBody>
      </p:sp>
      <p:cxnSp>
        <p:nvCxnSpPr>
          <p:cNvPr id="6" name="Straight Arrow Connector 6">
            <a:extLst>
              <a:ext uri="{FF2B5EF4-FFF2-40B4-BE49-F238E27FC236}">
                <a16:creationId xmlns:a16="http://schemas.microsoft.com/office/drawing/2014/main" id="{2EC6DCB0-48FC-CD2A-E18F-D7B490834350}"/>
              </a:ext>
            </a:extLst>
          </p:cNvPr>
          <p:cNvCxnSpPr>
            <a:cxnSpLocks/>
          </p:cNvCxnSpPr>
          <p:nvPr/>
        </p:nvCxnSpPr>
        <p:spPr>
          <a:xfrm flipH="1">
            <a:off x="10747027" y="3902516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" name="Picture 3">
            <a:extLst>
              <a:ext uri="{FF2B5EF4-FFF2-40B4-BE49-F238E27FC236}">
                <a16:creationId xmlns:a16="http://schemas.microsoft.com/office/drawing/2014/main" id="{797B4B4A-0E8F-6A84-F64E-0B174596F8C7}"/>
              </a:ext>
            </a:extLst>
          </p:cNvPr>
          <p:cNvPicPr>
            <a:picLocks noChangeAspect="1"/>
          </p:cNvPicPr>
          <p:nvPr/>
        </p:nvPicPr>
        <p:blipFill rotWithShape="1"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6368" t="2623" r="7430" b="1353"/>
          <a:stretch/>
        </p:blipFill>
        <p:spPr>
          <a:xfrm>
            <a:off x="1139670" y="2602756"/>
            <a:ext cx="2841780" cy="3263704"/>
          </a:xfrm>
          <a:prstGeom prst="rect">
            <a:avLst/>
          </a:prstGeom>
        </p:spPr>
      </p:pic>
      <p:sp>
        <p:nvSpPr>
          <p:cNvPr id="4" name="Rectangle 4">
            <a:extLst>
              <a:ext uri="{FF2B5EF4-FFF2-40B4-BE49-F238E27FC236}">
                <a16:creationId xmlns:a16="http://schemas.microsoft.com/office/drawing/2014/main" id="{6CF5207C-210F-5440-56B3-8F1EAD36FFAF}"/>
              </a:ext>
            </a:extLst>
          </p:cNvPr>
          <p:cNvSpPr/>
          <p:nvPr/>
        </p:nvSpPr>
        <p:spPr>
          <a:xfrm>
            <a:off x="10793207" y="2912025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Acima da função.</a:t>
            </a:r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F671CBD8-E5F7-29C9-3744-56F52318FE10}"/>
              </a:ext>
            </a:extLst>
          </p:cNvPr>
          <p:cNvCxnSpPr>
            <a:cxnSpLocks/>
          </p:cNvCxnSpPr>
          <p:nvPr/>
        </p:nvCxnSpPr>
        <p:spPr>
          <a:xfrm flipH="1">
            <a:off x="10756264" y="3119682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8" name="Rectangle 4">
            <a:extLst>
              <a:ext uri="{FF2B5EF4-FFF2-40B4-BE49-F238E27FC236}">
                <a16:creationId xmlns:a16="http://schemas.microsoft.com/office/drawing/2014/main" id="{B8052885-3BC2-70B9-B921-5DDB2DD151B4}"/>
              </a:ext>
            </a:extLst>
          </p:cNvPr>
          <p:cNvSpPr/>
          <p:nvPr/>
        </p:nvSpPr>
        <p:spPr>
          <a:xfrm>
            <a:off x="10774735" y="3365237"/>
            <a:ext cx="1219200" cy="26161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lvl="0" algn="ctr">
              <a:defRPr/>
            </a:pPr>
            <a:r>
              <a:rPr lang="pt-BR" sz="1100" dirty="0"/>
              <a:t>Abaixo da função.</a:t>
            </a:r>
          </a:p>
        </p:txBody>
      </p:sp>
      <p:cxnSp>
        <p:nvCxnSpPr>
          <p:cNvPr id="9" name="Straight Arrow Connector 6">
            <a:extLst>
              <a:ext uri="{FF2B5EF4-FFF2-40B4-BE49-F238E27FC236}">
                <a16:creationId xmlns:a16="http://schemas.microsoft.com/office/drawing/2014/main" id="{D8DB8446-863A-7210-136E-FC97FB27A3F5}"/>
              </a:ext>
            </a:extLst>
          </p:cNvPr>
          <p:cNvCxnSpPr>
            <a:cxnSpLocks/>
          </p:cNvCxnSpPr>
          <p:nvPr/>
        </p:nvCxnSpPr>
        <p:spPr>
          <a:xfrm flipH="1">
            <a:off x="10747027" y="3563510"/>
            <a:ext cx="177800" cy="104822"/>
          </a:xfrm>
          <a:prstGeom prst="straightConnector1">
            <a:avLst/>
          </a:prstGeom>
          <a:ln>
            <a:solidFill>
              <a:srgbClr val="FF0000"/>
            </a:solidFill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435435992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A7FDC7F-B899-B1A6-F69A-351822C6EFD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E5A0C298-3D62-58C4-3B44-8F0C5C3E0A0C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14813146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1CB30D0-D052-EC03-3C25-35C106AA107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 dirty="0"/>
              <a:t>Matriz de confusão</a:t>
            </a:r>
            <a:endParaRPr lang="en-US" dirty="0"/>
          </a:p>
        </p:txBody>
      </p:sp>
      <p:pic>
        <p:nvPicPr>
          <p:cNvPr id="2050" name="Picture 2" descr="Validate me Constructive criticism permitted – @gallusrostromegalus on  Tumblr">
            <a:extLst>
              <a:ext uri="{FF2B5EF4-FFF2-40B4-BE49-F238E27FC236}">
                <a16:creationId xmlns:a16="http://schemas.microsoft.com/office/drawing/2014/main" id="{A9C68C0F-3A42-8D60-0B8A-979695E4072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199561" y="1690688"/>
            <a:ext cx="5635002" cy="5167312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2456464638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Perguntas?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377300566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ítulo 1">
            <a:extLst>
              <a:ext uri="{FF2B5EF4-FFF2-40B4-BE49-F238E27FC236}">
                <a16:creationId xmlns:a16="http://schemas.microsoft.com/office/drawing/2014/main" id="{32666AC8-2E17-4DB4-B0F5-60C640CCFD2E}"/>
              </a:ext>
            </a:extLst>
          </p:cNvPr>
          <p:cNvSpPr txBox="1">
            <a:spLocks/>
          </p:cNvSpPr>
          <p:nvPr/>
        </p:nvSpPr>
        <p:spPr>
          <a:xfrm>
            <a:off x="1431533" y="2720526"/>
            <a:ext cx="9144000" cy="1029541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>
            <a:lvl1pPr algn="l" defTabSz="914400" rtl="0" eaLnBrk="1" latinLnBrk="0" hangingPunct="1">
              <a:lnSpc>
                <a:spcPct val="90000"/>
              </a:lnSpc>
              <a:spcBef>
                <a:spcPct val="0"/>
              </a:spcBef>
              <a:buNone/>
              <a:defRPr sz="4400" kern="1200">
                <a:solidFill>
                  <a:schemeClr val="tx1"/>
                </a:solidFill>
                <a:latin typeface="+mj-lt"/>
                <a:ea typeface="+mj-ea"/>
                <a:cs typeface="+mj-cs"/>
              </a:defRPr>
            </a:lvl1pPr>
          </a:lstStyle>
          <a:p>
            <a:pPr algn="ctr"/>
            <a:r>
              <a:rPr lang="pt-BR" sz="6600" dirty="0"/>
              <a:t>Obrigado!</a:t>
            </a:r>
            <a:endParaRPr lang="pt-BR" sz="6600" b="1" i="1" dirty="0"/>
          </a:p>
        </p:txBody>
      </p:sp>
    </p:spTree>
    <p:extLst>
      <p:ext uri="{BB962C8B-B14F-4D97-AF65-F5344CB8AC3E}">
        <p14:creationId xmlns:p14="http://schemas.microsoft.com/office/powerpoint/2010/main" val="2655704619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Tema do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8151</TotalTime>
  <Words>1940</Words>
  <Application>Microsoft Office PowerPoint</Application>
  <PresentationFormat>Widescreen</PresentationFormat>
  <Paragraphs>201</Paragraphs>
  <Slides>23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6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23</vt:i4>
      </vt:variant>
    </vt:vector>
  </HeadingPairs>
  <TitlesOfParts>
    <vt:vector size="30" baseType="lpstr">
      <vt:lpstr>Arial</vt:lpstr>
      <vt:lpstr>Calibri</vt:lpstr>
      <vt:lpstr>Calibri Light</vt:lpstr>
      <vt:lpstr>Cambria Math</vt:lpstr>
      <vt:lpstr>Courier New</vt:lpstr>
      <vt:lpstr>Wingdings</vt:lpstr>
      <vt:lpstr>Tema do Office</vt:lpstr>
      <vt:lpstr>C24 – Inteligência Artificial: Classificação</vt:lpstr>
      <vt:lpstr>Classificação</vt:lpstr>
      <vt:lpstr>Tarefas de classificação</vt:lpstr>
      <vt:lpstr>PowerPoint Presentation</vt:lpstr>
      <vt:lpstr>PowerPoint Presentation</vt:lpstr>
      <vt:lpstr>Tipos de classificadores</vt:lpstr>
      <vt:lpstr>Tipos de classificadores</vt:lpstr>
      <vt:lpstr>Algoritmos de classificação</vt:lpstr>
      <vt:lpstr>PowerPoint Presentation</vt:lpstr>
      <vt:lpstr>Classificação binária</vt:lpstr>
      <vt:lpstr>Classificação multiclasse</vt:lpstr>
      <vt:lpstr>Classificação multilabel</vt:lpstr>
      <vt:lpstr>PowerPoint Presentation</vt:lpstr>
      <vt:lpstr>Fronteiras de decisão de um classificador</vt:lpstr>
      <vt:lpstr>Fronteiras de decisão de um classificador</vt:lpstr>
      <vt:lpstr>Fronteiras de decisão de um classificador</vt:lpstr>
      <vt:lpstr>PowerPoint Presentation</vt:lpstr>
      <vt:lpstr>Funções discriminantes</vt:lpstr>
      <vt:lpstr>Funções discriminantes</vt:lpstr>
      <vt:lpstr>PowerPoint Presentation</vt:lpstr>
      <vt:lpstr>Matriz de confusão</vt:lpstr>
      <vt:lpstr>PowerPoint Presentation</vt:lpstr>
      <vt:lpstr>PowerPoint Presentation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TP555 - Inteligência Artificial e Machine Learning</dc:title>
  <dc:creator>Felipe Augusto Pereira de Figueiredo</dc:creator>
  <cp:lastModifiedBy>Felipe Augusto Pereira de Figueiredo</cp:lastModifiedBy>
  <cp:revision>1762</cp:revision>
  <dcterms:created xsi:type="dcterms:W3CDTF">2020-01-20T13:50:05Z</dcterms:created>
  <dcterms:modified xsi:type="dcterms:W3CDTF">2026-02-19T14:03:28Z</dcterms:modified>
</cp:coreProperties>
</file>