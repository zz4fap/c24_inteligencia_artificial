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handoutMasterIdLst>
    <p:handoutMasterId r:id="rId40"/>
  </p:handoutMasterIdLst>
  <p:sldIdLst>
    <p:sldId id="256" r:id="rId2"/>
    <p:sldId id="347" r:id="rId3"/>
    <p:sldId id="348" r:id="rId4"/>
    <p:sldId id="329" r:id="rId5"/>
    <p:sldId id="351" r:id="rId6"/>
    <p:sldId id="350" r:id="rId7"/>
    <p:sldId id="353" r:id="rId8"/>
    <p:sldId id="349" r:id="rId9"/>
    <p:sldId id="355" r:id="rId10"/>
    <p:sldId id="332" r:id="rId11"/>
    <p:sldId id="358" r:id="rId12"/>
    <p:sldId id="359" r:id="rId13"/>
    <p:sldId id="344" r:id="rId14"/>
    <p:sldId id="360" r:id="rId15"/>
    <p:sldId id="345" r:id="rId16"/>
    <p:sldId id="362" r:id="rId17"/>
    <p:sldId id="363" r:id="rId18"/>
    <p:sldId id="364" r:id="rId19"/>
    <p:sldId id="365" r:id="rId20"/>
    <p:sldId id="356" r:id="rId21"/>
    <p:sldId id="375" r:id="rId22"/>
    <p:sldId id="392" r:id="rId23"/>
    <p:sldId id="376" r:id="rId24"/>
    <p:sldId id="390" r:id="rId25"/>
    <p:sldId id="395" r:id="rId26"/>
    <p:sldId id="385" r:id="rId27"/>
    <p:sldId id="387" r:id="rId28"/>
    <p:sldId id="398" r:id="rId29"/>
    <p:sldId id="386" r:id="rId30"/>
    <p:sldId id="393" r:id="rId31"/>
    <p:sldId id="357" r:id="rId32"/>
    <p:sldId id="396" r:id="rId33"/>
    <p:sldId id="394" r:id="rId34"/>
    <p:sldId id="366" r:id="rId35"/>
    <p:sldId id="352" r:id="rId36"/>
    <p:sldId id="293" r:id="rId37"/>
    <p:sldId id="306" r:id="rId38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20/02/2026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ulti-label_classification?utm_source=chatgpt.com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i-systems.github.io/teaching/ML/iNotes/04_Classification.html?utm_source=chatgpt.com" TargetMode="Externa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um </a:t>
            </a:r>
            <a:r>
              <a:rPr lang="pt-BR" b="1" dirty="0"/>
              <a:t>problema de classificação </a:t>
            </a:r>
            <a:r>
              <a:rPr lang="pt-BR" b="1" dirty="0" err="1"/>
              <a:t>multilabel</a:t>
            </a:r>
            <a:r>
              <a:rPr lang="pt-BR" dirty="0"/>
              <a:t>, a superfície de separação é bem diferente da que aparece em problemas binários ou multiclasses clássicos.</a:t>
            </a:r>
          </a:p>
          <a:p>
            <a:r>
              <a:rPr lang="pt-BR" dirty="0"/>
              <a:t>Vou explicar de forma conceitual e visual (como você explicaria em sala).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1️⃣ Lembrete: o que muda no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No </a:t>
            </a:r>
            <a:r>
              <a:rPr lang="pt-BR" dirty="0" err="1"/>
              <a:t>multilabel</a:t>
            </a:r>
            <a:r>
              <a:rPr lang="pt-BR" dirty="0"/>
              <a:t>, cada amostra pode pertencer a </a:t>
            </a:r>
            <a:r>
              <a:rPr lang="pt-BR" b="1" dirty="0"/>
              <a:t>várias classes simultaneamente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>Formalmente, o modelo retorna um </a:t>
            </a:r>
            <a:r>
              <a:rPr lang="pt-BR" b="1" dirty="0"/>
              <a:t>vetor binário de rótulos</a:t>
            </a:r>
            <a:r>
              <a:rPr lang="pt-BR" dirty="0"/>
              <a:t>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y = (y_1, y_2, ..., </a:t>
            </a:r>
            <a:r>
              <a:rPr lang="pt-BR" dirty="0" err="1"/>
              <a:t>y_K</a:t>
            </a:r>
            <a:r>
              <a:rPr lang="pt-BR" dirty="0"/>
              <a:t>), 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y_k</a:t>
            </a:r>
            <a:r>
              <a:rPr lang="pt-BR" dirty="0"/>
              <a:t> \in {0,1}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seja, cada classe é decidida independentemente. (</a:t>
            </a:r>
            <a:r>
              <a:rPr lang="pt-BR" dirty="0">
                <a:hlinkClick r:id="rId3" tooltip="Multi-label classification"/>
              </a:rPr>
              <a:t>Wikipedia</a:t>
            </a:r>
            <a:r>
              <a:rPr lang="pt-BR" dirty="0"/>
              <a:t>)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2️⃣ Como fica a superfície de separação</a:t>
            </a:r>
          </a:p>
          <a:p>
            <a:r>
              <a:rPr lang="pt-BR" b="1" dirty="0"/>
              <a:t>✔️ Não existe uma única superfície global</a:t>
            </a:r>
          </a:p>
          <a:p>
            <a:r>
              <a:rPr lang="pt-BR" dirty="0"/>
              <a:t>Diferente do </a:t>
            </a:r>
            <a:r>
              <a:rPr lang="pt-BR" dirty="0" err="1"/>
              <a:t>multiclass</a:t>
            </a:r>
            <a:r>
              <a:rPr lang="pt-BR" dirty="0"/>
              <a:t> (onde o espaço é dividido em regiões exclusivas), no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👉 </a:t>
            </a:r>
            <a:r>
              <a:rPr lang="pt-BR" b="1" dirty="0"/>
              <a:t>cada classe tem sua própria superfície de decisão</a:t>
            </a:r>
            <a:endParaRPr lang="pt-BR" dirty="0"/>
          </a:p>
          <a:p>
            <a:r>
              <a:rPr lang="pt-BR" dirty="0"/>
              <a:t>Ou seja, existem </a:t>
            </a:r>
            <a:r>
              <a:rPr lang="pt-BR" b="1" dirty="0"/>
              <a:t>K superfícies</a:t>
            </a:r>
            <a:r>
              <a:rPr lang="pt-BR" dirty="0"/>
              <a:t> independentes: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f_1(x)=0,\</a:t>
            </a:r>
            <a:r>
              <a:rPr lang="pt-BR" dirty="0" err="1"/>
              <a:t>quad</a:t>
            </a:r>
            <a:r>
              <a:rPr lang="pt-BR" dirty="0"/>
              <a:t> f_2(x)=0,\</a:t>
            </a:r>
            <a:r>
              <a:rPr lang="pt-BR" dirty="0" err="1"/>
              <a:t>quad</a:t>
            </a:r>
            <a:r>
              <a:rPr lang="pt-BR" dirty="0"/>
              <a:t> ...,\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f_K</a:t>
            </a:r>
            <a:r>
              <a:rPr lang="pt-BR" dirty="0"/>
              <a:t>(x)=0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Cada uma decide:</a:t>
            </a:r>
          </a:p>
          <a:p>
            <a:r>
              <a:rPr lang="pt-BR" dirty="0"/>
              <a:t>de um lado → classe presente</a:t>
            </a:r>
          </a:p>
          <a:p>
            <a:r>
              <a:rPr lang="pt-BR" dirty="0"/>
              <a:t>do outro → classe ausente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✔️ Visualização em 2D (intuição)</a:t>
            </a:r>
          </a:p>
          <a:p>
            <a:r>
              <a:rPr lang="pt-BR" dirty="0"/>
              <a:t>Imagine um problema com 2 classes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Classe A → hiperplano 1</a:t>
            </a:r>
          </a:p>
          <a:p>
            <a:r>
              <a:rPr lang="pt-BR" dirty="0"/>
              <a:t>Classe B → hiperplano 2</a:t>
            </a:r>
          </a:p>
          <a:p>
            <a:r>
              <a:rPr lang="pt-BR" dirty="0"/>
              <a:t>O espaço pode ficar assim:</a:t>
            </a:r>
          </a:p>
          <a:p>
            <a:r>
              <a:rPr lang="pt-BR" dirty="0"/>
              <a:t>Região do </a:t>
            </a:r>
            <a:r>
              <a:rPr lang="pt-BR" dirty="0" err="1"/>
              <a:t>espaçoRótulos</a:t>
            </a:r>
            <a:r>
              <a:rPr lang="pt-BR" dirty="0"/>
              <a:t> </a:t>
            </a:r>
            <a:r>
              <a:rPr lang="pt-BR" dirty="0" err="1"/>
              <a:t>atribuídosSó</a:t>
            </a:r>
            <a:r>
              <a:rPr lang="pt-BR" dirty="0"/>
              <a:t> A ativa(1,0)Só B ativa(0,1)Ambas ativas(1,1)Nenhuma ativa(0,0)</a:t>
            </a:r>
          </a:p>
          <a:p>
            <a:r>
              <a:rPr lang="pt-BR" dirty="0"/>
              <a:t>👉 Ou seja, as superfícies </a:t>
            </a:r>
            <a:r>
              <a:rPr lang="pt-BR" b="1" dirty="0"/>
              <a:t>não particionam o espaço</a:t>
            </a:r>
            <a:br>
              <a:rPr lang="pt-BR" dirty="0"/>
            </a:br>
            <a:r>
              <a:rPr lang="pt-BR" dirty="0"/>
              <a:t>👉 Elas </a:t>
            </a:r>
            <a:r>
              <a:rPr lang="pt-BR" b="1" dirty="0"/>
              <a:t>se sobrepõem</a:t>
            </a:r>
            <a:endParaRPr lang="pt-BR" dirty="0"/>
          </a:p>
          <a:p>
            <a:r>
              <a:rPr lang="pt-BR" dirty="0"/>
              <a:t>Isso é a principal diferença.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3️⃣ Comparação com outros cenários</a:t>
            </a:r>
          </a:p>
          <a:p>
            <a:r>
              <a:rPr lang="pt-BR" b="1" dirty="0"/>
              <a:t>🔹 Binário</a:t>
            </a:r>
          </a:p>
          <a:p>
            <a:r>
              <a:rPr lang="pt-BR" dirty="0"/>
              <a:t>Uma única superfície separa duas regiões.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Multiclass</a:t>
            </a:r>
            <a:endParaRPr lang="pt-BR" b="1" dirty="0"/>
          </a:p>
          <a:p>
            <a:r>
              <a:rPr lang="pt-BR" dirty="0"/>
              <a:t>Várias superfícies dividem o espaço em </a:t>
            </a:r>
            <a:r>
              <a:rPr lang="pt-BR" b="1" dirty="0"/>
              <a:t>regiões exclusivas</a:t>
            </a:r>
            <a:r>
              <a:rPr lang="pt-BR" dirty="0"/>
              <a:t>. (</a:t>
            </a:r>
            <a:r>
              <a:rPr lang="pt-BR" dirty="0">
                <a:hlinkClick r:id="rId4" tooltip="04_Classification"/>
              </a:rPr>
              <a:t>i-systems.github.io</a:t>
            </a:r>
            <a:r>
              <a:rPr lang="pt-BR" dirty="0"/>
              <a:t>)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Várias superfícies independentes</a:t>
            </a:r>
            <a:br>
              <a:rPr lang="pt-BR" dirty="0"/>
            </a:br>
            <a:r>
              <a:rPr lang="pt-BR" dirty="0"/>
              <a:t>→ regiões podem se </a:t>
            </a:r>
            <a:r>
              <a:rPr lang="pt-BR" b="1" dirty="0"/>
              <a:t>sobrepor</a:t>
            </a:r>
            <a:br>
              <a:rPr lang="pt-BR" dirty="0"/>
            </a:br>
            <a:r>
              <a:rPr lang="pt-BR" dirty="0"/>
              <a:t>→ uma amostra pode cair em várias regiões simultaneamente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4️⃣ Intuição geométrica forte (boa para aula)</a:t>
            </a:r>
          </a:p>
          <a:p>
            <a:r>
              <a:rPr lang="pt-BR" dirty="0"/>
              <a:t>Você pode dizer aos alunos:</a:t>
            </a:r>
          </a:p>
          <a:p>
            <a:r>
              <a:rPr lang="pt-BR" dirty="0"/>
              <a:t>👉 No </a:t>
            </a:r>
            <a:r>
              <a:rPr lang="pt-BR" dirty="0" err="1"/>
              <a:t>multiclass</a:t>
            </a:r>
            <a:r>
              <a:rPr lang="pt-BR" dirty="0"/>
              <a:t> o espaço é </a:t>
            </a:r>
            <a:r>
              <a:rPr lang="pt-BR" i="1" dirty="0"/>
              <a:t>particionado</a:t>
            </a:r>
            <a:br>
              <a:rPr lang="pt-BR" dirty="0"/>
            </a:br>
            <a:r>
              <a:rPr lang="pt-BR" dirty="0"/>
              <a:t>👉 No </a:t>
            </a:r>
            <a:r>
              <a:rPr lang="pt-BR" dirty="0" err="1"/>
              <a:t>multilabel</a:t>
            </a:r>
            <a:r>
              <a:rPr lang="pt-BR" dirty="0"/>
              <a:t> o espaço é </a:t>
            </a:r>
            <a:r>
              <a:rPr lang="pt-BR" i="1" dirty="0"/>
              <a:t>coberto por máscaras</a:t>
            </a:r>
            <a:endParaRPr lang="pt-BR" dirty="0"/>
          </a:p>
          <a:p>
            <a:r>
              <a:rPr lang="pt-BR" dirty="0"/>
              <a:t>Cada máscara representa uma classe.</a:t>
            </a:r>
          </a:p>
          <a:p>
            <a:r>
              <a:rPr lang="pt-BR" dirty="0"/>
              <a:t>O resultado final é a </a:t>
            </a:r>
            <a:r>
              <a:rPr lang="pt-BR" b="1" dirty="0"/>
              <a:t>interseção dessas máscaras</a:t>
            </a:r>
            <a:r>
              <a:rPr lang="pt-BR" dirty="0"/>
              <a:t>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5️⃣ Exemplo aplicado (didático)</a:t>
            </a:r>
          </a:p>
          <a:p>
            <a:r>
              <a:rPr lang="pt-BR" dirty="0"/>
              <a:t>Classificação de imagem médica:</a:t>
            </a:r>
          </a:p>
          <a:p>
            <a:r>
              <a:rPr lang="pt-BR" dirty="0"/>
              <a:t>Superfícies:</a:t>
            </a:r>
          </a:p>
          <a:p>
            <a:r>
              <a:rPr lang="pt-BR" dirty="0"/>
              <a:t>pneumonia</a:t>
            </a:r>
          </a:p>
          <a:p>
            <a:r>
              <a:rPr lang="pt-BR" dirty="0"/>
              <a:t>covid</a:t>
            </a:r>
          </a:p>
          <a:p>
            <a:r>
              <a:rPr lang="pt-BR" dirty="0"/>
              <a:t>tumor</a:t>
            </a:r>
          </a:p>
          <a:p>
            <a:r>
              <a:rPr lang="pt-BR" dirty="0"/>
              <a:t>Uma imagem pode estar:</a:t>
            </a:r>
          </a:p>
          <a:p>
            <a:r>
              <a:rPr lang="pt-BR" dirty="0"/>
              <a:t>em uma região só</a:t>
            </a:r>
          </a:p>
          <a:p>
            <a:r>
              <a:rPr lang="pt-BR" dirty="0"/>
              <a:t>na interseção de duas</a:t>
            </a:r>
          </a:p>
          <a:p>
            <a:r>
              <a:rPr lang="pt-BR" dirty="0"/>
              <a:t>ou até das três</a:t>
            </a:r>
          </a:p>
          <a:p>
            <a:r>
              <a:rPr lang="pt-BR" dirty="0"/>
              <a:t>Não há exclusividade.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6️⃣ Forma matemática típica (logística </a:t>
            </a:r>
            <a:r>
              <a:rPr lang="pt-BR" b="1" dirty="0" err="1"/>
              <a:t>multilabel</a:t>
            </a:r>
            <a:r>
              <a:rPr lang="pt-BR" b="1" dirty="0"/>
              <a:t>)</a:t>
            </a:r>
          </a:p>
          <a:p>
            <a:r>
              <a:rPr lang="pt-BR" dirty="0"/>
              <a:t>Cada classe usa uma sigmoide independente: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P(</a:t>
            </a:r>
            <a:r>
              <a:rPr lang="pt-BR" dirty="0" err="1"/>
              <a:t>y_k</a:t>
            </a:r>
            <a:r>
              <a:rPr lang="pt-BR" dirty="0"/>
              <a:t>=1|x) = \sigma(</a:t>
            </a:r>
            <a:r>
              <a:rPr lang="pt-BR" dirty="0" err="1"/>
              <a:t>w_k^Tx</a:t>
            </a:r>
            <a:r>
              <a:rPr lang="pt-BR" dirty="0"/>
              <a:t>)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e a superfície de decisão é: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 err="1"/>
              <a:t>w_k^Tx</a:t>
            </a:r>
            <a:r>
              <a:rPr lang="pt-BR" dirty="0"/>
              <a:t> = 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seja:</a:t>
            </a:r>
          </a:p>
          <a:p>
            <a:r>
              <a:rPr lang="pt-BR" dirty="0"/>
              <a:t>👉 </a:t>
            </a:r>
            <a:r>
              <a:rPr lang="pt-BR" b="1" dirty="0"/>
              <a:t>um hiperplano por classe</a:t>
            </a:r>
            <a:endParaRPr lang="pt-BR" dirty="0"/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✔️ Resumo para aula</a:t>
            </a:r>
          </a:p>
          <a:p>
            <a:r>
              <a:rPr lang="pt-BR" dirty="0"/>
              <a:t>👉 </a:t>
            </a:r>
            <a:r>
              <a:rPr lang="pt-BR" dirty="0" err="1"/>
              <a:t>Multilabel</a:t>
            </a:r>
            <a:r>
              <a:rPr lang="pt-BR" dirty="0"/>
              <a:t> não tem uma superfície única</a:t>
            </a:r>
            <a:br>
              <a:rPr lang="pt-BR" dirty="0"/>
            </a:br>
            <a:r>
              <a:rPr lang="pt-BR" dirty="0"/>
              <a:t>👉 Existem várias superfícies independentes</a:t>
            </a:r>
            <a:br>
              <a:rPr lang="pt-BR" dirty="0"/>
            </a:br>
            <a:r>
              <a:rPr lang="pt-BR" dirty="0"/>
              <a:t>👉 O espaço não é dividido, mas sobreposto</a:t>
            </a:r>
            <a:br>
              <a:rPr lang="pt-BR" dirty="0"/>
            </a:br>
            <a:r>
              <a:rPr lang="pt-BR" dirty="0"/>
              <a:t>👉 Regiões podem corresponder a múltiplas classes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dirty="0"/>
              <a:t>Se quiser, posso desenhar um </a:t>
            </a:r>
            <a:r>
              <a:rPr lang="pt-BR" b="1" dirty="0"/>
              <a:t>esquema visual didático (tipo quadro de aula)</a:t>
            </a:r>
            <a:r>
              <a:rPr lang="pt-BR" dirty="0"/>
              <a:t> mostrando:</a:t>
            </a:r>
          </a:p>
          <a:p>
            <a:r>
              <a:rPr lang="pt-BR" dirty="0" err="1"/>
              <a:t>multiclass</a:t>
            </a:r>
            <a:r>
              <a:rPr lang="pt-BR" dirty="0"/>
              <a:t> </a:t>
            </a:r>
            <a:r>
              <a:rPr lang="pt-BR" dirty="0" err="1"/>
              <a:t>vs</a:t>
            </a:r>
            <a:r>
              <a:rPr lang="pt-BR" dirty="0"/>
              <a:t> </a:t>
            </a:r>
            <a:r>
              <a:rPr lang="pt-BR" dirty="0" err="1"/>
              <a:t>multilabel</a:t>
            </a:r>
            <a:endParaRPr lang="pt-BR" dirty="0"/>
          </a:p>
          <a:p>
            <a:r>
              <a:rPr lang="pt-BR" dirty="0"/>
              <a:t>fronteiras</a:t>
            </a:r>
          </a:p>
          <a:p>
            <a:r>
              <a:rPr lang="pt-BR" dirty="0"/>
              <a:t>regiões</a:t>
            </a:r>
          </a:p>
          <a:p>
            <a:r>
              <a:rPr lang="pt-BR"/>
              <a:t>Isso costuma ajudar muito os alunos a entenderem.</a:t>
            </a:r>
          </a:p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Motivacão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baseline="0" dirty="0" err="1"/>
              <a:t>classificacão</a:t>
            </a:r>
            <a:r>
              <a:rPr lang="pt-BR" baseline="0" dirty="0"/>
              <a:t> de e-mails, detecção de símbolos, classificação de modulações, etc.</a:t>
            </a: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8635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5174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DA5E1-00E0-2F8D-E426-C2BE1BC8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5444DB-79D2-76F0-537D-343DD7EF78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229730-5EFD-DF7F-FC23-84032A9E7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7740AF-93D3-5439-F324-AEC42AF75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814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00477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8240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0984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4010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98F72-2922-82B3-5C99-E3BEF8098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532C96A-22C4-D1DD-3FBA-62861D4BDF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B3956BA-58DA-02D3-A28D-2E027144F6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BF6E418-7A70-5EBA-2166-ABCAA4B4C5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90209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classificador sempre anuncia uma previsão completamente confiante de 0 ou 1, mesmo para exemplos muito próximos do limite. Em muitas situações, precisamos realmente de previsões mais graduadas.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07943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676CD-D7AC-2B3E-F1F4-285137D78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D83C45-BD26-CB76-54F0-14BDDCDD76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B35AEB-BD45-C559-CA69-3F6AAF8D99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classificador sempre anuncia uma previsão completamente confiante de 0 ou 1, mesmo para exemplos muito próximos do limite. Em muitas situações, precisamos realmente de previsões mais graduadas.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989778-0D21-4998-A9E3-F299024619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424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54855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BDC55-BB4D-2F06-71BF-76ED1A14A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3FDBDE3-54FF-D34A-6455-B4D01E3B3A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159710A-028C-37C9-8B04-776EB9E8B7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97E3764-6735-3BB1-4FF7-5946552F47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53185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15634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0.png"/><Relationship Id="rId4" Type="http://schemas.openxmlformats.org/officeDocument/2006/relationships/image" Target="../media/image20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2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230.png"/><Relationship Id="rId4" Type="http://schemas.openxmlformats.org/officeDocument/2006/relationships/image" Target="../media/image34.emf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38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1.png"/><Relationship Id="rId5" Type="http://schemas.openxmlformats.org/officeDocument/2006/relationships/image" Target="../media/image34.emf"/><Relationship Id="rId4" Type="http://schemas.openxmlformats.org/officeDocument/2006/relationships/image" Target="../media/image3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38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1.png"/><Relationship Id="rId5" Type="http://schemas.openxmlformats.org/officeDocument/2006/relationships/image" Target="../media/image34.emf"/><Relationship Id="rId4" Type="http://schemas.openxmlformats.org/officeDocument/2006/relationships/image" Target="../media/image3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</p:spPr>
            <p:txBody>
              <a:bodyPr/>
              <a:lstStyle/>
              <a:p>
                <a:r>
                  <a:rPr lang="pt-BR" dirty="0"/>
                  <a:t>Tarefa (ou problema)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supervisionado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saídas esperadas (rótulos) são conhecidas.</a:t>
                </a:r>
              </a:p>
              <a:p>
                <a:r>
                  <a:rPr lang="pt-BR" dirty="0"/>
                  <a:t>Envolve encontrar uma função,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mapeie</a:t>
                </a:r>
                <a:r>
                  <a:rPr lang="pt-BR" dirty="0"/>
                  <a:t> os atributos de entrada em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conjunto finito de valores discretos</a:t>
                </a:r>
                <a:r>
                  <a:rPr lang="pt-BR" dirty="0"/>
                  <a:t>, ou seja, em classes.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  <a:blipFill>
                <a:blip r:embed="rId2"/>
                <a:stretch>
                  <a:fillRect l="-99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43" t="33761" r="47008" b="10621"/>
          <a:stretch/>
        </p:blipFill>
        <p:spPr bwMode="auto">
          <a:xfrm>
            <a:off x="7031891" y="3774326"/>
            <a:ext cx="2549237" cy="2537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7" t="33424" r="5087" b="12524"/>
          <a:stretch/>
        </p:blipFill>
        <p:spPr bwMode="auto">
          <a:xfrm>
            <a:off x="1671781" y="3763638"/>
            <a:ext cx="2538080" cy="2466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 err="1">
                    <a:solidFill>
                      <a:srgbClr val="00B050"/>
                    </a:solidFill>
                  </a:rPr>
                  <a:t>aproxima</a:t>
                </a:r>
                <a:r>
                  <a:rPr lang="en-US" dirty="0"/>
                  <a:t> o </a:t>
                </a:r>
                <a:r>
                  <a:rPr lang="en-US" dirty="0" err="1"/>
                  <a:t>comportamento</a:t>
                </a:r>
                <a:r>
                  <a:rPr lang="en-US" dirty="0"/>
                  <a:t> dos dados.</a:t>
                </a: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blipFill rotWithShape="0">
                <a:blip r:embed="rId4"/>
                <a:stretch>
                  <a:fillRect t="-5660" r="-1113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/>
              <p:cNvSpPr txBox="1"/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classifica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dados.</a:t>
                </a:r>
              </a:p>
            </p:txBody>
          </p:sp>
        </mc:Choice>
        <mc:Fallback xmlns="">
          <p:sp>
            <p:nvSpPr>
              <p:cNvPr id="7" name="CaixaDeTexto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blipFill>
                <a:blip r:embed="rId5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/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forma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blipFill>
                <a:blip r:embed="rId6"/>
                <a:stretch>
                  <a:fillRect t="-3289" r="-1487" b="-9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id="{48D3A820-D198-F9AB-C6B3-3F78DA6684D0}"/>
                  </a:ext>
                </a:extLst>
              </p:cNvPr>
              <p:cNvSpPr txBox="1"/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captura 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comportamento geral</a:t>
                </a:r>
                <a:r>
                  <a:rPr lang="pt-BR" dirty="0"/>
                  <a:t> dos dados.</a:t>
                </a:r>
              </a:p>
            </p:txBody>
          </p:sp>
        </mc:Choice>
        <mc:Fallback xmlns="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id="{48D3A820-D198-F9AB-C6B3-3F78DA668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blipFill>
                <a:blip r:embed="rId7"/>
                <a:stretch>
                  <a:fillRect l="-2422" t="-3289" r="-3806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474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 de classificação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5007429"/>
            <a:ext cx="10515600" cy="1850571"/>
          </a:xfrm>
        </p:spPr>
        <p:txBody>
          <a:bodyPr>
            <a:normAutofit/>
          </a:bodyPr>
          <a:lstStyle/>
          <a:p>
            <a:r>
              <a:rPr lang="pt-BR" dirty="0"/>
              <a:t>Classificação de </a:t>
            </a:r>
            <a:r>
              <a:rPr lang="pt-BR" dirty="0" err="1"/>
              <a:t>emails</a:t>
            </a:r>
            <a:r>
              <a:rPr lang="pt-BR" dirty="0"/>
              <a:t> entre </a:t>
            </a:r>
            <a:r>
              <a:rPr lang="pt-BR" i="1" dirty="0"/>
              <a:t>spam</a:t>
            </a:r>
            <a:r>
              <a:rPr lang="pt-BR" dirty="0"/>
              <a:t> e </a:t>
            </a:r>
            <a:r>
              <a:rPr lang="pt-BR" i="1" dirty="0" err="1"/>
              <a:t>ham</a:t>
            </a:r>
            <a:r>
              <a:rPr lang="pt-BR" dirty="0"/>
              <a:t> (legítimo).</a:t>
            </a:r>
          </a:p>
          <a:p>
            <a:r>
              <a:rPr lang="pt-BR" dirty="0"/>
              <a:t>Classificação de objetos em imagens.</a:t>
            </a:r>
          </a:p>
          <a:p>
            <a:r>
              <a:rPr lang="pt-BR" dirty="0"/>
              <a:t>Reconhecimento de caracteres.</a:t>
            </a:r>
          </a:p>
        </p:txBody>
      </p:sp>
      <p:pic>
        <p:nvPicPr>
          <p:cNvPr id="4" name="Picture 5" descr="Image result for supervised learning">
            <a:extLst>
              <a:ext uri="{FF2B5EF4-FFF2-40B4-BE49-F238E27FC236}">
                <a16:creationId xmlns:a16="http://schemas.microsoft.com/office/drawing/2014/main" id="{2520F4EA-1E3E-4F3B-97C0-DF47861D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112" y="2475379"/>
            <a:ext cx="4096017" cy="131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Measure Classification Performance: New in Wolfram Language 1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589" y="1690688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na Barros (@anathinker) | Twitte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3557" y="1915932"/>
            <a:ext cx="3635331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742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922156"/>
            <a:ext cx="10858500" cy="1834185"/>
          </a:xfrm>
        </p:spPr>
        <p:txBody>
          <a:bodyPr>
            <a:normAutofit/>
          </a:bodyPr>
          <a:lstStyle/>
          <a:p>
            <a:r>
              <a:rPr lang="pt-BR" dirty="0"/>
              <a:t>Classificação de texto (e.g., notícias).</a:t>
            </a:r>
          </a:p>
          <a:p>
            <a:r>
              <a:rPr lang="pt-BR" dirty="0"/>
              <a:t>Classificação de sentimentos.</a:t>
            </a:r>
          </a:p>
          <a:p>
            <a:r>
              <a:rPr lang="pt-BR" dirty="0"/>
              <a:t>Classificação do doenças (e.g., pulmonares).</a:t>
            </a:r>
          </a:p>
        </p:txBody>
      </p:sp>
      <p:pic>
        <p:nvPicPr>
          <p:cNvPr id="1030" name="Picture 6" descr="Analyzing Text Classification Techniques on Youtube Data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179761" y="1843447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ntiment Fig 1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"/>
          <a:stretch>
            <a:fillRect/>
          </a:stretch>
        </p:blipFill>
        <p:spPr bwMode="auto">
          <a:xfrm>
            <a:off x="4746170" y="1843447"/>
            <a:ext cx="3581201" cy="2597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838200" y="10165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Tarefas de classificação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A9D184C6-ECA9-05BF-F6B4-C0965441E4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0" r="73203" b="10234"/>
          <a:stretch/>
        </p:blipFill>
        <p:spPr bwMode="auto">
          <a:xfrm>
            <a:off x="8652452" y="1337220"/>
            <a:ext cx="3267075" cy="3331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082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ut it happened 😂 #DeepLearning #AI #MachineLearning">
            <a:extLst>
              <a:ext uri="{FF2B5EF4-FFF2-40B4-BE49-F238E27FC236}">
                <a16:creationId xmlns:a16="http://schemas.microsoft.com/office/drawing/2014/main" id="{F25FF98E-22C0-F45E-2254-540617F2F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240" y="1264812"/>
            <a:ext cx="4647519" cy="4328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5962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95A22-E872-4069-E235-358A1FCDD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</p:spPr>
            <p:txBody>
              <a:bodyPr/>
              <a:lstStyle/>
              <a:p>
                <a:r>
                  <a:rPr lang="pt-BR" dirty="0"/>
                  <a:t>Organizamos os tipos de classificadores segundo dois critérios principais: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Número total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Quantidade de classes atribuídas a cada amostra.</a:t>
                </a:r>
              </a:p>
              <a:p>
                <a:r>
                  <a:rPr lang="pt-BR" dirty="0"/>
                  <a:t>Dependendo do número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podemos separar os classificadores em dois tipos: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Binários, 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apenas </a:t>
                </a:r>
                <a:r>
                  <a:rPr lang="pt-BR" b="1" dirty="0"/>
                  <a:t>duas classes possíveis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Multiclasses, </a:t>
                </a:r>
                <a:r>
                  <a:rPr lang="en-US" dirty="0" err="1"/>
                  <a:t>onde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&gt;2.</m:t>
                    </m:r>
                  </m:oMath>
                </a14:m>
                <a:endParaRPr lang="en-US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</a:t>
                </a:r>
                <a:r>
                  <a:rPr lang="pt-BR" b="1" dirty="0"/>
                  <a:t>três ou mais classes</a:t>
                </a:r>
                <a:endParaRPr lang="pt-BR" dirty="0"/>
              </a:p>
              <a:p>
                <a:r>
                  <a:rPr lang="pt-BR" dirty="0"/>
                  <a:t>Em ambos os casos, cada amostra pertence a </a:t>
                </a:r>
                <a:r>
                  <a:rPr lang="pt-BR" b="1" dirty="0"/>
                  <a:t>uma única classe.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811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AE076-4457-7BD3-2388-70AAD712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F8340-2935-1CC3-CE87-3E1A76A73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FC0EC-BE21-C1F6-BD0D-5113525C2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6"/>
          </a:xfrm>
        </p:spPr>
        <p:txBody>
          <a:bodyPr>
            <a:normAutofit/>
          </a:bodyPr>
          <a:lstStyle/>
          <a:p>
            <a:r>
              <a:rPr lang="pt-BR" dirty="0"/>
              <a:t>Podemos também separar os classificadores dependendo de quantas classes podem ser atribuídas a uma única instância: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Cada amostra recebe apenas uma classe.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Inclui: binária e </a:t>
            </a:r>
            <a:r>
              <a:rPr lang="pt-BR" dirty="0" err="1"/>
              <a:t>multiclasse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são mutuamente exclusivas.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 err="1"/>
              <a:t>multilabel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Uma amostra pode pertencer a várias classes simultaneamente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não são mutuamente exclusivas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Exemplos: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Imagem com “cachorro” e “pessoa”,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Artigo com múltiplos tópicos.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modelo prevê um vetor binário indicando quais rótulos estão presentes. </a:t>
            </a:r>
          </a:p>
        </p:txBody>
      </p:sp>
    </p:spTree>
    <p:extLst>
      <p:ext uri="{BB962C8B-B14F-4D97-AF65-F5344CB8AC3E}">
        <p14:creationId xmlns:p14="http://schemas.microsoft.com/office/powerpoint/2010/main" val="3944489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127B6-6972-D992-E732-0F4C9D928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classificação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650875-3EEC-71D0-1DC4-489808F82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4314" cy="5032375"/>
          </a:xfrm>
        </p:spPr>
        <p:txBody>
          <a:bodyPr>
            <a:normAutofit/>
          </a:bodyPr>
          <a:lstStyle/>
          <a:p>
            <a:r>
              <a:rPr lang="pt-BR" dirty="0"/>
              <a:t>Existe uma grande quantidade de algoritmos de classificação, mas focaremos nos seguintes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logístico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binário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softmax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r>
              <a:rPr lang="pt-BR" dirty="0"/>
              <a:t>Discutiremos adiante também algoritmos que resolvem problemas de regressão e classificação, como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Árvores de decisão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Redes neurais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multiclasses,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i="1" dirty="0"/>
              <a:t> </a:t>
            </a:r>
            <a:r>
              <a:rPr lang="pt-BR" dirty="0"/>
              <a:t>e</a:t>
            </a:r>
            <a:r>
              <a:rPr lang="pt-BR" i="1" dirty="0"/>
              <a:t> </a:t>
            </a:r>
            <a:r>
              <a:rPr lang="pt-BR" i="1" dirty="0" err="1"/>
              <a:t>multilabel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5313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302BD-A868-44A9-D6B7-B33026A62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27463"/>
            <a:ext cx="10515600" cy="100307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representamos os rótulos?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3833417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tem </a:t>
                </a:r>
                <a:r>
                  <a:rPr lang="pt-BR" b="1" dirty="0"/>
                  <a:t>única saída escalar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para indicar a </a:t>
                </a:r>
                <a:r>
                  <a:rPr lang="pt-BR" b="1" dirty="0"/>
                  <a:t>classe</a:t>
                </a:r>
                <a:r>
                  <a:rPr lang="pt-BR" dirty="0"/>
                  <a:t> a que pertence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dirty="0"/>
                  <a:t>vetor de atributos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1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representam as classe negativa e a positiva, respectivamente.</a:t>
                </a:r>
              </a:p>
              <a:p>
                <a:r>
                  <a:rPr lang="pt-BR" dirty="0"/>
                  <a:t>Também é possível utilizar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  <a:blipFill>
                <a:blip r:embed="rId2"/>
                <a:stretch>
                  <a:fillRect l="-108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5758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37BFF-244C-0D73-96E1-47543A4C2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93F73-D553-1C61-9D7D-AAB3F5909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multiclasse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para indicar a classe a que pertence o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</a:t>
                </a:r>
                <a:r>
                  <a:rPr lang="pt-BR" b="1" dirty="0"/>
                  <a:t>classes mutuamente excludentes</a:t>
                </a:r>
                <a:r>
                  <a:rPr lang="pt-BR" dirty="0"/>
                  <a:t>: gato, rato, cachorro e sapo:</a:t>
                </a:r>
                <a:endParaRPr lang="pt-BR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Essa representação é conhecida como codificação </a:t>
                </a:r>
                <a:r>
                  <a:rPr lang="pt-BR" b="1" i="1" dirty="0" err="1"/>
                  <a:t>one</a:t>
                </a:r>
                <a:r>
                  <a:rPr lang="pt-BR" b="1" i="1" dirty="0"/>
                  <a:t>-hot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Muito usado em redes neurais e regressão </a:t>
                </a:r>
                <a:r>
                  <a:rPr lang="pt-BR" i="1" dirty="0"/>
                  <a:t>softmax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2663" r="-1246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0105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AE89-C8AC-DBE6-CA38-DEEF4996D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4CC5F-008A-ECCB-8340-EE6C2C24E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i="1" dirty="0"/>
              <a:t>multilabel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porém, </a:t>
                </a:r>
                <a:r>
                  <a:rPr lang="pt-BR" dirty="0"/>
                  <a:t>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pode pertencer a </a:t>
                </a:r>
                <a:r>
                  <a:rPr lang="pt-BR" b="1" dirty="0"/>
                  <a:t>várias classes simultaneamente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Rótulos também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classes </a:t>
                </a:r>
                <a:r>
                  <a:rPr lang="pt-BR" b="1" dirty="0"/>
                  <a:t>não excludentes</a:t>
                </a:r>
                <a:r>
                  <a:rPr lang="pt-BR" dirty="0"/>
                  <a:t>: gato, rato, cachorro e sapo: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dirty="0" smtClean="0"/>
                                            <m:t>gato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smtClean="0">
                                              <a:latin typeface="Cambria Math" panose="02040503050406030204" pitchFamily="18" charset="0"/>
                                            </a:rPr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nor/>
                                                </m:rPr>
                                                <a:rPr lang="pt-BR" dirty="0"/>
                                                <m:t>gato</m:t>
                                              </m:r>
                                            </m:sub>
                                          </m:sSub>
                                          <m:r>
                                            <a:rPr lang="pt-BR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rato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1937" r="-11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1839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Na regressão, usamos </a:t>
                </a:r>
                <a:r>
                  <a:rPr lang="pt-BR" b="1" dirty="0"/>
                  <a:t>funções hipótese</a:t>
                </a:r>
                <a:r>
                  <a:rPr lang="pt-BR" dirty="0"/>
                  <a:t> para </a:t>
                </a:r>
                <a:r>
                  <a:rPr lang="pt-BR" b="1" dirty="0"/>
                  <a:t>aproximar o comportamento do conjunto de dados</a:t>
                </a:r>
                <a:r>
                  <a:rPr lang="pt-BR" dirty="0"/>
                  <a:t>, agora, as usaremos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separar (i.e., discriminar) grupos de dados em classes.</a:t>
                </a:r>
                <a:endParaRPr lang="pt-BR" dirty="0"/>
              </a:p>
              <a:p>
                <a:r>
                  <a:rPr lang="pt-BR" dirty="0"/>
                  <a:t>Vejam o </a:t>
                </a:r>
                <a:r>
                  <a:rPr lang="pt-BR" b="1" dirty="0"/>
                  <a:t>espaço bi-dimensional</a:t>
                </a:r>
                <a:r>
                  <a:rPr lang="pt-BR" dirty="0"/>
                  <a:t>,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 criado pelos </a:t>
                </a:r>
                <a:r>
                  <a:rPr lang="pt-BR" b="1" dirty="0"/>
                  <a:t>atributos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mostrado na figura ao lado.</a:t>
                </a:r>
              </a:p>
              <a:p>
                <a:r>
                  <a:rPr lang="pt-BR" dirty="0"/>
                  <a:t>Os </a:t>
                </a:r>
                <a:r>
                  <a:rPr lang="pt-BR" b="1" dirty="0"/>
                  <a:t>pares de atributos </a:t>
                </a:r>
                <a:r>
                  <a:rPr lang="pt-BR" dirty="0"/>
                  <a:t>pertencem a duas 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Círculos azuis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Triângulos vermelhos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  <a:blipFill>
                <a:blip r:embed="rId3"/>
                <a:stretch>
                  <a:fillRect l="-1556" t="-1937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id="{745C0A43-FD12-CEC1-71CC-612BDB16C776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64DA2A01-47B5-2B94-DBFC-FB53B1B820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5ACECBBD-5168-48DA-64EF-8BDD58AE7E65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5" name="Curved Connector 8">
              <a:extLst>
                <a:ext uri="{FF2B5EF4-FFF2-40B4-BE49-F238E27FC236}">
                  <a16:creationId xmlns:a16="http://schemas.microsoft.com/office/drawing/2014/main" id="{7D2B1880-C7A7-A071-10B2-08F118026EDA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226146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da classificação é encontrar uma função, chamada de </a:t>
                </a:r>
                <a:r>
                  <a:rPr lang="pt-BR" b="1" dirty="0"/>
                  <a:t>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separe as classes.</a:t>
                </a:r>
              </a:p>
              <a:p>
                <a:r>
                  <a:rPr lang="pt-BR" dirty="0"/>
                  <a:t>Chamamos de </a:t>
                </a:r>
                <a:r>
                  <a:rPr lang="pt-BR" b="1" dirty="0"/>
                  <a:t>fronteira de decisão </a:t>
                </a:r>
                <a:r>
                  <a:rPr lang="pt-BR" dirty="0"/>
                  <a:t>onde essa função corta o espaço de atributos. </a:t>
                </a:r>
              </a:p>
              <a:p>
                <a:r>
                  <a:rPr lang="pt-BR" dirty="0"/>
                  <a:t>No exemplo, a função discriminante </a:t>
                </a:r>
                <a:r>
                  <a:rPr lang="pt-BR" b="1" dirty="0"/>
                  <a:t>divide</a:t>
                </a:r>
                <a:r>
                  <a:rPr lang="pt-BR" dirty="0"/>
                  <a:t> o espaço em </a:t>
                </a:r>
                <a:r>
                  <a:rPr lang="pt-BR" b="1" dirty="0"/>
                  <a:t>duas regiões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dirty="0">
                    <a:solidFill>
                      <a:schemeClr val="tx1"/>
                    </a:solidFill>
                  </a:rPr>
                  <a:t>onde </a:t>
                </a:r>
                <a:r>
                  <a:rPr lang="pt-BR" b="1" dirty="0">
                    <a:solidFill>
                      <a:schemeClr val="tx1"/>
                    </a:solidFill>
                  </a:rPr>
                  <a:t>cada região corresponde a uma classe</a:t>
                </a:r>
                <a14:m>
                  <m:oMath xmlns:m="http://schemas.openxmlformats.org/officeDocument/2006/math">
                    <m:r>
                      <a:rPr lang="pt-BR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No exemplo,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, temos apenas uma fronteira de decisão.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  <a:blipFill>
                <a:blip r:embed="rId3"/>
                <a:stretch>
                  <a:fillRect l="-1623" t="-1937" r="-17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Agrupar 13">
            <a:extLst>
              <a:ext uri="{FF2B5EF4-FFF2-40B4-BE49-F238E27FC236}">
                <a16:creationId xmlns:a16="http://schemas.microsoft.com/office/drawing/2014/main" id="{D3D49D8E-0821-33E1-5823-3E158A4FB182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id="{BD3F5D0C-F310-ED7B-BBE9-A892027EAD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D474B403-303E-639E-341F-AA50DF86D3BE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7" name="Curved Connector 8">
              <a:extLst>
                <a:ext uri="{FF2B5EF4-FFF2-40B4-BE49-F238E27FC236}">
                  <a16:creationId xmlns:a16="http://schemas.microsoft.com/office/drawing/2014/main" id="{B45603A2-AC84-D66F-F06E-0371CA5BE810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017740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223171" cy="304534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As figuras abaixo mostram </a:t>
            </a:r>
            <a:r>
              <a:rPr lang="pt-BR" b="1" dirty="0"/>
              <a:t>funções discriminantes </a:t>
            </a:r>
            <a:r>
              <a:rPr lang="pt-BR" dirty="0"/>
              <a:t>em problemas de classificação </a:t>
            </a:r>
            <a:r>
              <a:rPr lang="pt-BR" b="1" dirty="0"/>
              <a:t>binária</a:t>
            </a:r>
            <a:r>
              <a:rPr lang="pt-BR" dirty="0"/>
              <a:t> e </a:t>
            </a:r>
            <a:r>
              <a:rPr lang="pt-BR" b="1" dirty="0"/>
              <a:t>multiclasses</a:t>
            </a:r>
            <a:r>
              <a:rPr lang="pt-BR" dirty="0"/>
              <a:t>.</a:t>
            </a:r>
          </a:p>
          <a:p>
            <a:r>
              <a:rPr lang="pt-BR" dirty="0"/>
              <a:t>Elas podem ser </a:t>
            </a:r>
            <a:r>
              <a:rPr lang="pt-BR" b="1" dirty="0">
                <a:solidFill>
                  <a:schemeClr val="accent2"/>
                </a:solidFill>
              </a:rPr>
              <a:t>lineares</a:t>
            </a:r>
            <a:r>
              <a:rPr lang="pt-BR" dirty="0"/>
              <a:t> (e.g., retas e planos) ou </a:t>
            </a:r>
            <a:r>
              <a:rPr lang="pt-BR" b="1" dirty="0">
                <a:solidFill>
                  <a:schemeClr val="accent2"/>
                </a:solidFill>
              </a:rPr>
              <a:t>não-lineares</a:t>
            </a:r>
            <a:r>
              <a:rPr lang="pt-BR" dirty="0"/>
              <a:t> (e.g., círculos e elipses).</a:t>
            </a:r>
          </a:p>
          <a:p>
            <a:r>
              <a:rPr lang="pt-BR" dirty="0"/>
              <a:t>Elas formam </a:t>
            </a:r>
            <a:r>
              <a:rPr lang="pt-BR" b="1" dirty="0"/>
              <a:t>superfícies de separação </a:t>
            </a:r>
            <a:r>
              <a:rPr lang="pt-BR" dirty="0"/>
              <a:t>no espaço de atributos que podem ter várias dimensões (2D, 3D, etc.).</a:t>
            </a:r>
          </a:p>
          <a:p>
            <a:r>
              <a:rPr lang="pt-BR" dirty="0"/>
              <a:t>Em geral, usamos polinômios como </a:t>
            </a:r>
            <a:r>
              <a:rPr lang="pt-BR" b="1" dirty="0"/>
              <a:t>funções discriminantes.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1373584" y="4789714"/>
            <a:ext cx="2665013" cy="205293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9156662" y="4780067"/>
            <a:ext cx="2641085" cy="202013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5279810" y="4784320"/>
            <a:ext cx="2632256" cy="2034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316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850ACD-2DE0-7E6B-F65F-1A40170C1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</a:t>
                </a:r>
                <a:r>
                  <a:rPr lang="pt-BR" b="1" dirty="0"/>
                  <a:t>binário</a:t>
                </a:r>
                <a:r>
                  <a:rPr lang="pt-BR" dirty="0"/>
                  <a:t>, nosso </a:t>
                </a:r>
                <a:r>
                  <a:rPr lang="pt-BR" b="1" dirty="0"/>
                  <a:t>objetivo</a:t>
                </a:r>
                <a:r>
                  <a:rPr lang="pt-BR" dirty="0"/>
                  <a:t> é encontrar o </a:t>
                </a:r>
                <a:r>
                  <a:rPr lang="pt-BR" b="1" dirty="0"/>
                  <a:t>grau e os pesos da função discriminante (polinomial) </a:t>
                </a:r>
                <a:r>
                  <a:rPr lang="pt-BR" dirty="0"/>
                  <a:t>de tal forma que que a classe atribuída a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sz="24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=1,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&lt;0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=2,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&gt;0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ndetermina</m:t>
                                    </m:r>
                                    <m: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mr>
                              </m:m>
                              <m:r>
                                <a:rPr lang="pt-BR" sz="240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sz="3200" dirty="0"/>
              </a:p>
              <a:p>
                <a:r>
                  <a:rPr lang="pt-BR" dirty="0"/>
                  <a:t>Em caso de </a:t>
                </a:r>
                <a:r>
                  <a:rPr lang="pt-BR" b="1" dirty="0"/>
                  <a:t>indeterminação</a:t>
                </a:r>
                <a:r>
                  <a:rPr lang="pt-BR" dirty="0"/>
                  <a:t>, podemos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atribuir arbitrariamente a uma das duas classes,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escolher a classe que possui mais amostras ou a mais frequente.</a:t>
                </a:r>
              </a:p>
              <a:p>
                <a:r>
                  <a:rPr lang="pt-BR" dirty="0"/>
                  <a:t>Quanto mais distante a amostra estiver da fronteira de decisão, maior é o valor absoluto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vice versa.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  <a:blipFill>
                <a:blip r:embed="rId3"/>
                <a:stretch>
                  <a:fillRect l="-1271" t="-1937" r="-2048" b="-2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3">
            <a:extLst>
              <a:ext uri="{FF2B5EF4-FFF2-40B4-BE49-F238E27FC236}">
                <a16:creationId xmlns:a16="http://schemas.microsoft.com/office/drawing/2014/main" id="{797B4B4A-0E8F-6A84-F64E-0B174596F8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390548" y="2592216"/>
            <a:ext cx="2841780" cy="326370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tângulo 3"/>
              <p:cNvSpPr/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Amostra</m:t>
                      </m:r>
                      <m:r>
                        <m:rPr>
                          <m:nor/>
                        </m:rPr>
                        <a:rPr lang="pt-BR" sz="1200"/>
                        <m:t> </m:t>
                      </m:r>
                      <m:r>
                        <m:rPr>
                          <m:nor/>
                        </m:rPr>
                        <a:rPr lang="pt-BR" sz="1200"/>
                        <m:t>acima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>
          <p:sp>
            <p:nvSpPr>
              <p:cNvPr id="4" name="Retângulo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  <a:blipFill>
                <a:blip r:embed="rId5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tângulo 4"/>
              <p:cNvSpPr/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 dirty="0"/>
                        <m:t>Amostra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abaixo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>
          <p:sp>
            <p:nvSpPr>
              <p:cNvPr id="5" name="Retângulo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tângulo 5"/>
              <p:cNvSpPr/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sobre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 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>
          <p:sp>
            <p:nvSpPr>
              <p:cNvPr id="6" name="Retângulo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54359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BC3B9-C36D-49B5-70A3-4BC587561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7D7044-033A-83CB-744E-0A0EF1C53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E2D84F5-4801-80A5-C74A-52605D5991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da classificação </a:t>
                </a:r>
                <a:r>
                  <a:rPr lang="pt-BR" b="1" dirty="0"/>
                  <a:t>multiclasses</a:t>
                </a:r>
                <a:r>
                  <a:rPr lang="pt-BR" dirty="0"/>
                  <a:t>, o </a:t>
                </a:r>
                <a:r>
                  <a:rPr lang="pt-BR" b="1" dirty="0"/>
                  <a:t>objetivo é encontrar os graus e os pesos das funções discriminantes (polinomiais) </a:t>
                </a:r>
                <a:r>
                  <a:rPr lang="pt-BR" dirty="0"/>
                  <a:t>de tal forma que que a classe atribuída a um exemplo de entrada,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dirty="0"/>
                        <m:t>arg</m:t>
                      </m:r>
                      <m:r>
                        <m:rPr>
                          <m:nor/>
                        </m:rPr>
                        <a:rPr lang="pt-BR" dirty="0"/>
                        <m:t>. 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1,…,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função discriminante.</a:t>
                </a:r>
              </a:p>
              <a:p>
                <a:pPr marL="0" indent="0">
                  <a:buNone/>
                </a:pPr>
                <a:endParaRPr lang="pt-BR" sz="27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E2D84F5-4801-80A5-C74A-52605D5991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  <a:blipFill>
                <a:blip r:embed="rId3"/>
                <a:stretch>
                  <a:fillRect l="-1661" t="-1937" r="-1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8317135C-B768-15DB-007E-9233AE5ABB0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426319" y="2760454"/>
            <a:ext cx="3663479" cy="2802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1688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4" y="2476103"/>
            <a:ext cx="11070771" cy="19057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encontramos o grau e pesos das funções discriminantes?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5616453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490" y="1794459"/>
            <a:ext cx="11070771" cy="347581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Da mesma forma que com a regressão, usando o </a:t>
            </a:r>
            <a:r>
              <a:rPr lang="pt-BR" sz="6000" b="1" dirty="0"/>
              <a:t>gradiente descendente</a:t>
            </a:r>
            <a:r>
              <a:rPr lang="pt-BR" sz="6000" dirty="0"/>
              <a:t> e </a:t>
            </a:r>
            <a:r>
              <a:rPr lang="pt-BR" sz="6000" b="1" dirty="0"/>
              <a:t>validação cruzada</a:t>
            </a:r>
            <a:r>
              <a:rPr lang="pt-BR" sz="6000" dirty="0"/>
              <a:t>, como o </a:t>
            </a:r>
            <a:r>
              <a:rPr lang="pt-BR" sz="6000" i="1" dirty="0"/>
              <a:t>k-</a:t>
            </a:r>
            <a:r>
              <a:rPr lang="pt-BR" sz="6000" i="1" dirty="0" err="1"/>
              <a:t>fold</a:t>
            </a:r>
            <a:r>
              <a:rPr lang="pt-BR" sz="6000" dirty="0"/>
              <a:t>, por exemplo.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3225261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7FDC7F-B899-B1A6-F69A-351822C6EFD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nas</a:t>
                </a:r>
                <a:r>
                  <a:rPr lang="en-US" dirty="0"/>
                  <a:t> classes?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7FDC7F-B899-B1A6-F69A-351822C6EF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A0C298-3D62-58C4-3B44-8F0C5C3E0A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89714" y="1825624"/>
                <a:ext cx="7304315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Vocês </a:t>
                </a:r>
                <a:r>
                  <a:rPr lang="en-US" dirty="0" err="1"/>
                  <a:t>perceberam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as </a:t>
                </a:r>
                <a:r>
                  <a:rPr lang="en-US" dirty="0" err="1"/>
                  <a:t>saídas</a:t>
                </a:r>
                <a:r>
                  <a:rPr lang="en-US" dirty="0"/>
                  <a:t> das </a:t>
                </a:r>
                <a:r>
                  <a:rPr lang="en-US" dirty="0" err="1"/>
                  <a:t>funções</a:t>
                </a:r>
                <a:r>
                  <a:rPr lang="en-US" dirty="0"/>
                  <a:t> </a:t>
                </a:r>
                <a:r>
                  <a:rPr lang="en-US" dirty="0" err="1"/>
                  <a:t>discriminantes</a:t>
                </a:r>
                <a:r>
                  <a:rPr lang="en-US" dirty="0"/>
                  <a:t> </a:t>
                </a:r>
                <a:r>
                  <a:rPr lang="en-US" dirty="0" err="1"/>
                  <a:t>podem</a:t>
                </a:r>
                <a:r>
                  <a:rPr lang="en-US" dirty="0"/>
                  <a:t> </a:t>
                </a:r>
                <a:r>
                  <a:rPr lang="en-US" dirty="0" err="1"/>
                  <a:t>assumir</a:t>
                </a:r>
                <a:r>
                  <a:rPr lang="en-US" dirty="0"/>
                  <a:t> </a:t>
                </a:r>
                <a:r>
                  <a:rPr lang="en-US" dirty="0" err="1"/>
                  <a:t>infinitos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))∈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−∞,+∞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Porém</a:t>
                </a:r>
                <a:r>
                  <a:rPr lang="en-US" dirty="0"/>
                  <a:t>, </a:t>
                </a:r>
                <a:r>
                  <a:rPr lang="en-US" dirty="0" err="1"/>
                  <a:t>estamos</a:t>
                </a:r>
                <a:r>
                  <a:rPr lang="en-US" dirty="0"/>
                  <a:t> </a:t>
                </a:r>
                <a:r>
                  <a:rPr lang="en-US" dirty="0" err="1"/>
                  <a:t>lidando</a:t>
                </a:r>
                <a:r>
                  <a:rPr lang="en-US" dirty="0"/>
                  <a:t> com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classificação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objetivo é atribuir uma classe ao vetor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en-US" dirty="0"/>
                  <a:t>Para </a:t>
                </a:r>
                <a:r>
                  <a:rPr lang="en-US" dirty="0" err="1"/>
                  <a:t>calcular</a:t>
                </a:r>
                <a:r>
                  <a:rPr lang="en-US" dirty="0"/>
                  <a:t> o </a:t>
                </a:r>
                <a:r>
                  <a:rPr lang="en-US" dirty="0" err="1"/>
                  <a:t>erro</a:t>
                </a:r>
                <a:r>
                  <a:rPr lang="en-US" dirty="0"/>
                  <a:t> entre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rótulos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e a </a:t>
                </a:r>
                <a:r>
                  <a:rPr lang="en-US" dirty="0" err="1"/>
                  <a:t>saída</a:t>
                </a:r>
                <a:r>
                  <a:rPr lang="en-US" dirty="0"/>
                  <a:t> do </a:t>
                </a:r>
                <a:r>
                  <a:rPr lang="en-US" dirty="0" err="1"/>
                  <a:t>modelo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/>
                  <a:t>, ela </a:t>
                </a:r>
                <a:r>
                  <a:rPr lang="en-US" dirty="0" err="1"/>
                  <a:t>deve</a:t>
                </a:r>
                <a:r>
                  <a:rPr lang="en-US" dirty="0"/>
                  <a:t> </a:t>
                </a:r>
                <a:r>
                  <a:rPr lang="en-US" dirty="0" err="1"/>
                  <a:t>estar</a:t>
                </a:r>
                <a:r>
                  <a:rPr lang="en-US" dirty="0"/>
                  <a:t> no </a:t>
                </a:r>
                <a:r>
                  <a:rPr lang="en-US" dirty="0" err="1"/>
                  <a:t>intervalo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pt-BR" sz="240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sz="2400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</m:oMath>
                </a14:m>
                <a:r>
                  <a:rPr lang="en-US" sz="2400" dirty="0"/>
                  <a:t>.</a:t>
                </a:r>
                <a:endParaRPr lang="en-US" dirty="0"/>
              </a:p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nas</a:t>
                </a:r>
                <a:r>
                  <a:rPr lang="en-US" dirty="0"/>
                  <a:t> classes?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A0C298-3D62-58C4-3B44-8F0C5C3E0A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89714" y="1825624"/>
                <a:ext cx="7304315" cy="5032375"/>
              </a:xfrm>
              <a:blipFill>
                <a:blip r:embed="rId3"/>
                <a:stretch>
                  <a:fillRect l="-1503" t="-1937" b="-2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586490" y="2253182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8131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1F02FD-3573-18C5-6B1F-6FB93C242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hipótese de classificação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A5EA8E2-9C93-A464-A824-B648FE8ECA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32101" y="1825624"/>
                <a:ext cx="745989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</a:t>
                </a:r>
                <a:r>
                  <a:rPr lang="pt-BR" b="1" dirty="0"/>
                  <a:t>binário</a:t>
                </a:r>
                <a:r>
                  <a:rPr lang="pt-BR" dirty="0"/>
                  <a:t>, o mapeamento pode ser feito através da definição de uma </a:t>
                </a:r>
                <a:r>
                  <a:rPr lang="pt-BR" b="1" dirty="0"/>
                  <a:t>estrutura condicional</a:t>
                </a:r>
                <a:r>
                  <a:rPr lang="pt-BR" dirty="0"/>
                  <a:t>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Classe</m:t>
                              </m:r>
                              <m: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−)</m:t>
                              </m:r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0 </m:t>
                              </m:r>
                              <m:r>
                                <a:rPr lang="pt-BR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pt-BR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Classe</m:t>
                              </m:r>
                              <m: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pt-BR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b="1" dirty="0">
                  <a:ea typeface="Cambria Math" panose="02040503050406030204" pitchFamily="18" charset="0"/>
                </a:endParaRPr>
              </a:p>
              <a:p>
                <a:r>
                  <a:rPr lang="pt-BR" dirty="0"/>
                  <a:t>O resultado final do mapeamento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em classes é chamado de </a:t>
                </a:r>
                <a:r>
                  <a:rPr lang="pt-BR" b="1" dirty="0"/>
                  <a:t>função hipótese de </a:t>
                </a:r>
                <a:r>
                  <a:rPr lang="pt-BR" b="1" dirty="0">
                    <a:solidFill>
                      <a:srgbClr val="7030A0"/>
                    </a:solidFill>
                  </a:rPr>
                  <a:t>classificação</a:t>
                </a:r>
                <a:r>
                  <a:rPr lang="pt-BR" b="1" dirty="0"/>
                  <a:t>.</a:t>
                </a:r>
                <a:endParaRPr lang="pt-BR" dirty="0"/>
              </a:p>
              <a:p>
                <a:r>
                  <a:rPr lang="pt-BR" dirty="0"/>
                  <a:t>Percebam que a saída da </a:t>
                </a:r>
                <a:r>
                  <a:rPr lang="pt-BR" b="1" dirty="0"/>
                  <a:t>função hipótese de classificação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rgbClr val="00B050"/>
                    </a:solidFill>
                  </a:rPr>
                  <a:t>binária.</a:t>
                </a:r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A5EA8E2-9C93-A464-A824-B648FE8ECA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2101" y="1825624"/>
                <a:ext cx="7459899" cy="5032375"/>
              </a:xfrm>
              <a:blipFill>
                <a:blip r:embed="rId2"/>
                <a:stretch>
                  <a:fillRect l="-147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11">
            <a:extLst>
              <a:ext uri="{FF2B5EF4-FFF2-40B4-BE49-F238E27FC236}">
                <a16:creationId xmlns:a16="http://schemas.microsoft.com/office/drawing/2014/main" id="{AE4F4277-6964-0C1E-0DD3-569D7AE44CFF}"/>
              </a:ext>
            </a:extLst>
          </p:cNvPr>
          <p:cNvGrpSpPr/>
          <p:nvPr/>
        </p:nvGrpSpPr>
        <p:grpSpPr>
          <a:xfrm>
            <a:off x="525236" y="1961540"/>
            <a:ext cx="3665764" cy="3840545"/>
            <a:chOff x="8763755" y="2154390"/>
            <a:chExt cx="3428245" cy="34878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7E02729-99B0-0A9C-BFBC-8A2DA40E9922}"/>
                </a:ext>
              </a:extLst>
            </p:cNvPr>
            <p:cNvSpPr txBox="1"/>
            <p:nvPr/>
          </p:nvSpPr>
          <p:spPr>
            <a:xfrm>
              <a:off x="8835105" y="2154390"/>
              <a:ext cx="1665991" cy="4481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Frontreira de decisão, onde </a:t>
              </a:r>
              <a:r>
                <a:rPr lang="pt-BR" sz="1100" i="1" dirty="0"/>
                <a:t>g</a:t>
              </a:r>
              <a:r>
                <a:rPr lang="pt-BR" sz="1100" dirty="0"/>
                <a:t>(</a:t>
              </a:r>
              <a:r>
                <a:rPr lang="pt-BR" sz="1100" b="1" i="1" dirty="0"/>
                <a:t>x</a:t>
              </a:r>
              <a:r>
                <a:rPr lang="pt-BR" sz="1100" dirty="0"/>
                <a:t>) = 0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47F032D-ACF4-5F87-06B9-C7A56B4B81C1}"/>
                </a:ext>
              </a:extLst>
            </p:cNvPr>
            <p:cNvGrpSpPr/>
            <p:nvPr/>
          </p:nvGrpSpPr>
          <p:grpSpPr>
            <a:xfrm>
              <a:off x="8763755" y="2675878"/>
              <a:ext cx="3428245" cy="2966329"/>
              <a:chOff x="8763755" y="2675878"/>
              <a:chExt cx="3428245" cy="2966329"/>
            </a:xfrm>
          </p:grpSpPr>
          <p:grpSp>
            <p:nvGrpSpPr>
              <p:cNvPr id="8" name="Group 6">
                <a:extLst>
                  <a:ext uri="{FF2B5EF4-FFF2-40B4-BE49-F238E27FC236}">
                    <a16:creationId xmlns:a16="http://schemas.microsoft.com/office/drawing/2014/main" id="{1C779583-0B37-EC5B-B6F1-0D8459340FB7}"/>
                  </a:ext>
                </a:extLst>
              </p:cNvPr>
              <p:cNvGrpSpPr/>
              <p:nvPr/>
            </p:nvGrpSpPr>
            <p:grpSpPr>
              <a:xfrm>
                <a:off x="8763755" y="2675878"/>
                <a:ext cx="3289300" cy="2966329"/>
                <a:chOff x="7391400" y="1415171"/>
                <a:chExt cx="3289300" cy="2966329"/>
              </a:xfrm>
            </p:grpSpPr>
            <p:pic>
              <p:nvPicPr>
                <p:cNvPr id="11" name="Picture 9">
                  <a:extLst>
                    <a:ext uri="{FF2B5EF4-FFF2-40B4-BE49-F238E27FC236}">
                      <a16:creationId xmlns:a16="http://schemas.microsoft.com/office/drawing/2014/main" id="{5EDAFFC9-D7AA-48D9-9403-C033C61678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4242" t="5371" r="8525" b="1204"/>
                <a:stretch/>
              </p:blipFill>
              <p:spPr>
                <a:xfrm>
                  <a:off x="7391400" y="1415171"/>
                  <a:ext cx="3289300" cy="2966329"/>
                </a:xfrm>
                <a:prstGeom prst="rect">
                  <a:avLst/>
                </a:prstGeom>
              </p:spPr>
            </p:pic>
            <p:cxnSp>
              <p:nvCxnSpPr>
                <p:cNvPr id="12" name="Straight Connector 10">
                  <a:extLst>
                    <a:ext uri="{FF2B5EF4-FFF2-40B4-BE49-F238E27FC236}">
                      <a16:creationId xmlns:a16="http://schemas.microsoft.com/office/drawing/2014/main" id="{69C23BC7-60E3-3B5A-BCC8-7053B9A6F855}"/>
                    </a:ext>
                  </a:extLst>
                </p:cNvPr>
                <p:cNvCxnSpPr/>
                <p:nvPr/>
              </p:nvCxnSpPr>
              <p:spPr>
                <a:xfrm flipV="1">
                  <a:off x="7986117" y="1483242"/>
                  <a:ext cx="1703388" cy="25822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" name="TextBox 7">
                <a:extLst>
                  <a:ext uri="{FF2B5EF4-FFF2-40B4-BE49-F238E27FC236}">
                    <a16:creationId xmlns:a16="http://schemas.microsoft.com/office/drawing/2014/main" id="{2648BF23-0635-71F0-258F-B7728EA4A750}"/>
                  </a:ext>
                </a:extLst>
              </p:cNvPr>
              <p:cNvSpPr txBox="1"/>
              <p:nvPr/>
            </p:nvSpPr>
            <p:spPr>
              <a:xfrm>
                <a:off x="10679273" y="4392529"/>
                <a:ext cx="15127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i="1" dirty="0"/>
                  <a:t>g</a:t>
                </a:r>
                <a:r>
                  <a:rPr lang="pt-BR" sz="1100" dirty="0"/>
                  <a:t>(</a:t>
                </a:r>
                <a:r>
                  <a:rPr lang="pt-BR" sz="1100" b="1" i="1" dirty="0"/>
                  <a:t>x</a:t>
                </a:r>
                <a:r>
                  <a:rPr lang="pt-BR" sz="1100" dirty="0"/>
                  <a:t>) ≥ 0</a:t>
                </a:r>
              </a:p>
            </p:txBody>
          </p:sp>
          <p:sp>
            <p:nvSpPr>
              <p:cNvPr id="10" name="TextBox 8">
                <a:extLst>
                  <a:ext uri="{FF2B5EF4-FFF2-40B4-BE49-F238E27FC236}">
                    <a16:creationId xmlns:a16="http://schemas.microsoft.com/office/drawing/2014/main" id="{D97F304C-2141-D333-74F5-8CCC51F5313F}"/>
                  </a:ext>
                </a:extLst>
              </p:cNvPr>
              <p:cNvSpPr txBox="1"/>
              <p:nvPr/>
            </p:nvSpPr>
            <p:spPr>
              <a:xfrm>
                <a:off x="8767760" y="3290116"/>
                <a:ext cx="15127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i="1" dirty="0"/>
                  <a:t>g</a:t>
                </a:r>
                <a:r>
                  <a:rPr lang="pt-BR" sz="1100" dirty="0"/>
                  <a:t>(</a:t>
                </a:r>
                <a:r>
                  <a:rPr lang="pt-BR" sz="1100" b="1" i="1" dirty="0"/>
                  <a:t>x</a:t>
                </a:r>
                <a:r>
                  <a:rPr lang="pt-BR" sz="1100" dirty="0"/>
                  <a:t>) &lt; 0</a:t>
                </a:r>
              </a:p>
            </p:txBody>
          </p:sp>
        </p:grpSp>
        <p:cxnSp>
          <p:nvCxnSpPr>
            <p:cNvPr id="7" name="Curved Connector 3">
              <a:extLst>
                <a:ext uri="{FF2B5EF4-FFF2-40B4-BE49-F238E27FC236}">
                  <a16:creationId xmlns:a16="http://schemas.microsoft.com/office/drawing/2014/main" id="{5C7C173C-95FF-CFC4-3A67-7626A47D5636}"/>
                </a:ext>
              </a:extLst>
            </p:cNvPr>
            <p:cNvCxnSpPr>
              <a:cxnSpLocks/>
              <a:endCxn id="5" idx="3"/>
            </p:cNvCxnSpPr>
            <p:nvPr/>
          </p:nvCxnSpPr>
          <p:spPr>
            <a:xfrm rot="16200000" flipV="1">
              <a:off x="10320967" y="2558599"/>
              <a:ext cx="701656" cy="34139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85503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2D167-B7A4-F76C-EA8F-FFE81D1FC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D71349-C9D5-2310-AF15-EDB45A962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ou de ativação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94C719-3B63-1EE5-01EF-C213CC62F0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8446" y="1825624"/>
                <a:ext cx="705469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mapeamento entre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e a saída 0 ou 1 é feito através da </a:t>
                </a:r>
                <a:r>
                  <a:rPr lang="pt-BR" b="1" dirty="0"/>
                  <a:t>função de limiar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Também conhecida como </a:t>
                </a:r>
                <a:r>
                  <a:rPr lang="pt-BR" b="1" dirty="0"/>
                  <a:t>função de ativação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 slide anterior,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são as condições.</a:t>
                </a:r>
              </a:p>
              <a:p>
                <a:r>
                  <a:rPr lang="pt-BR" dirty="0"/>
                  <a:t>Porém, para </a:t>
                </a:r>
                <a:r>
                  <a:rPr lang="pt-BR" b="1" dirty="0"/>
                  <a:t>treinarmos</a:t>
                </a:r>
                <a:r>
                  <a:rPr lang="pt-BR" dirty="0"/>
                  <a:t> o modelo de classificação, precisamos definir uma </a:t>
                </a:r>
                <a:r>
                  <a:rPr lang="pt-BR" b="1" dirty="0"/>
                  <a:t>função matemática </a:t>
                </a:r>
                <a:r>
                  <a:rPr lang="pt-BR" dirty="0"/>
                  <a:t>que implemente as </a:t>
                </a:r>
                <a:r>
                  <a:rPr lang="pt-BR" b="1" dirty="0"/>
                  <a:t>condições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Qual função poderia ser usada?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94C719-3B63-1EE5-01EF-C213CC62F0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8446" y="1825624"/>
                <a:ext cx="7054698" cy="5032375"/>
              </a:xfrm>
              <a:blipFill>
                <a:blip r:embed="rId2"/>
                <a:stretch>
                  <a:fillRect l="-155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11">
            <a:extLst>
              <a:ext uri="{FF2B5EF4-FFF2-40B4-BE49-F238E27FC236}">
                <a16:creationId xmlns:a16="http://schemas.microsoft.com/office/drawing/2014/main" id="{E9BB80B0-A5E6-191D-8E5E-CF49701CABB8}"/>
              </a:ext>
            </a:extLst>
          </p:cNvPr>
          <p:cNvGrpSpPr/>
          <p:nvPr/>
        </p:nvGrpSpPr>
        <p:grpSpPr>
          <a:xfrm>
            <a:off x="753835" y="2048627"/>
            <a:ext cx="3731079" cy="3927630"/>
            <a:chOff x="8763755" y="2154390"/>
            <a:chExt cx="3428245" cy="34878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9721E2-BA20-D77E-32F0-07751CA19503}"/>
                </a:ext>
              </a:extLst>
            </p:cNvPr>
            <p:cNvSpPr txBox="1"/>
            <p:nvPr/>
          </p:nvSpPr>
          <p:spPr>
            <a:xfrm>
              <a:off x="8835105" y="2154390"/>
              <a:ext cx="1665991" cy="4481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Frontreira de decisão, onde </a:t>
              </a:r>
              <a:r>
                <a:rPr lang="pt-BR" sz="1100" i="1" dirty="0"/>
                <a:t>g</a:t>
              </a:r>
              <a:r>
                <a:rPr lang="pt-BR" sz="1100" dirty="0"/>
                <a:t>(</a:t>
              </a:r>
              <a:r>
                <a:rPr lang="pt-BR" sz="1100" b="1" i="1" dirty="0"/>
                <a:t>x</a:t>
              </a:r>
              <a:r>
                <a:rPr lang="pt-BR" sz="1100" dirty="0"/>
                <a:t>) = 0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9FAC3E94-7B82-94B8-E5E8-BD17798CDB88}"/>
                </a:ext>
              </a:extLst>
            </p:cNvPr>
            <p:cNvGrpSpPr/>
            <p:nvPr/>
          </p:nvGrpSpPr>
          <p:grpSpPr>
            <a:xfrm>
              <a:off x="8763755" y="2675878"/>
              <a:ext cx="3428245" cy="2966329"/>
              <a:chOff x="8763755" y="2675878"/>
              <a:chExt cx="3428245" cy="2966329"/>
            </a:xfrm>
          </p:grpSpPr>
          <p:grpSp>
            <p:nvGrpSpPr>
              <p:cNvPr id="8" name="Group 6">
                <a:extLst>
                  <a:ext uri="{FF2B5EF4-FFF2-40B4-BE49-F238E27FC236}">
                    <a16:creationId xmlns:a16="http://schemas.microsoft.com/office/drawing/2014/main" id="{5042AD3C-C929-FE26-38F9-B637B69A3A36}"/>
                  </a:ext>
                </a:extLst>
              </p:cNvPr>
              <p:cNvGrpSpPr/>
              <p:nvPr/>
            </p:nvGrpSpPr>
            <p:grpSpPr>
              <a:xfrm>
                <a:off x="8763755" y="2675878"/>
                <a:ext cx="3289300" cy="2966329"/>
                <a:chOff x="7391400" y="1415171"/>
                <a:chExt cx="3289300" cy="2966329"/>
              </a:xfrm>
            </p:grpSpPr>
            <p:pic>
              <p:nvPicPr>
                <p:cNvPr id="11" name="Picture 9">
                  <a:extLst>
                    <a:ext uri="{FF2B5EF4-FFF2-40B4-BE49-F238E27FC236}">
                      <a16:creationId xmlns:a16="http://schemas.microsoft.com/office/drawing/2014/main" id="{CBB1631B-4833-A4F6-9105-1C830E097B7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4242" t="5371" r="8525" b="1204"/>
                <a:stretch/>
              </p:blipFill>
              <p:spPr>
                <a:xfrm>
                  <a:off x="7391400" y="1415171"/>
                  <a:ext cx="3289300" cy="2966329"/>
                </a:xfrm>
                <a:prstGeom prst="rect">
                  <a:avLst/>
                </a:prstGeom>
              </p:spPr>
            </p:pic>
            <p:cxnSp>
              <p:nvCxnSpPr>
                <p:cNvPr id="12" name="Straight Connector 10">
                  <a:extLst>
                    <a:ext uri="{FF2B5EF4-FFF2-40B4-BE49-F238E27FC236}">
                      <a16:creationId xmlns:a16="http://schemas.microsoft.com/office/drawing/2014/main" id="{D94CA792-387F-834D-A4FC-BE7605BD074A}"/>
                    </a:ext>
                  </a:extLst>
                </p:cNvPr>
                <p:cNvCxnSpPr/>
                <p:nvPr/>
              </p:nvCxnSpPr>
              <p:spPr>
                <a:xfrm flipV="1">
                  <a:off x="7986117" y="1483242"/>
                  <a:ext cx="1703388" cy="25822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" name="TextBox 7">
                <a:extLst>
                  <a:ext uri="{FF2B5EF4-FFF2-40B4-BE49-F238E27FC236}">
                    <a16:creationId xmlns:a16="http://schemas.microsoft.com/office/drawing/2014/main" id="{28A004EE-ED86-54F4-2156-D1E356EE7525}"/>
                  </a:ext>
                </a:extLst>
              </p:cNvPr>
              <p:cNvSpPr txBox="1"/>
              <p:nvPr/>
            </p:nvSpPr>
            <p:spPr>
              <a:xfrm>
                <a:off x="10679273" y="4392529"/>
                <a:ext cx="15127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i="1" dirty="0"/>
                  <a:t>g</a:t>
                </a:r>
                <a:r>
                  <a:rPr lang="pt-BR" sz="1100" dirty="0"/>
                  <a:t>(</a:t>
                </a:r>
                <a:r>
                  <a:rPr lang="pt-BR" sz="1100" b="1" i="1" dirty="0"/>
                  <a:t>x</a:t>
                </a:r>
                <a:r>
                  <a:rPr lang="pt-BR" sz="1100" dirty="0"/>
                  <a:t>) ≥ 0</a:t>
                </a:r>
              </a:p>
            </p:txBody>
          </p:sp>
          <p:sp>
            <p:nvSpPr>
              <p:cNvPr id="10" name="TextBox 8">
                <a:extLst>
                  <a:ext uri="{FF2B5EF4-FFF2-40B4-BE49-F238E27FC236}">
                    <a16:creationId xmlns:a16="http://schemas.microsoft.com/office/drawing/2014/main" id="{58BF80C7-9C37-36F1-F5C1-A104939A438C}"/>
                  </a:ext>
                </a:extLst>
              </p:cNvPr>
              <p:cNvSpPr txBox="1"/>
              <p:nvPr/>
            </p:nvSpPr>
            <p:spPr>
              <a:xfrm>
                <a:off x="8767760" y="3290116"/>
                <a:ext cx="15127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i="1" dirty="0"/>
                  <a:t>g</a:t>
                </a:r>
                <a:r>
                  <a:rPr lang="pt-BR" sz="1100" dirty="0"/>
                  <a:t>(</a:t>
                </a:r>
                <a:r>
                  <a:rPr lang="pt-BR" sz="1100" b="1" i="1" dirty="0"/>
                  <a:t>x</a:t>
                </a:r>
                <a:r>
                  <a:rPr lang="pt-BR" sz="1100" dirty="0"/>
                  <a:t>) &lt; 0</a:t>
                </a:r>
              </a:p>
            </p:txBody>
          </p:sp>
        </p:grpSp>
        <p:cxnSp>
          <p:nvCxnSpPr>
            <p:cNvPr id="7" name="Curved Connector 3">
              <a:extLst>
                <a:ext uri="{FF2B5EF4-FFF2-40B4-BE49-F238E27FC236}">
                  <a16:creationId xmlns:a16="http://schemas.microsoft.com/office/drawing/2014/main" id="{7BB08527-0455-8AD0-346B-16B8DBF7E47E}"/>
                </a:ext>
              </a:extLst>
            </p:cNvPr>
            <p:cNvCxnSpPr>
              <a:cxnSpLocks/>
              <a:endCxn id="5" idx="3"/>
            </p:cNvCxnSpPr>
            <p:nvPr/>
          </p:nvCxnSpPr>
          <p:spPr>
            <a:xfrm rot="16200000" flipV="1">
              <a:off x="10320967" y="2558599"/>
              <a:ext cx="701656" cy="34139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524037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DF1BE3-A387-1199-902E-AC1680BF9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ou de ativação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4A261E2-EE7B-ABC6-0440-76C231BADC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46172" y="1825624"/>
                <a:ext cx="7274378" cy="5032375"/>
              </a:xfrm>
            </p:spPr>
            <p:txBody>
              <a:bodyPr/>
              <a:lstStyle/>
              <a:p>
                <a:r>
                  <a:rPr lang="pt-BR" dirty="0"/>
                  <a:t>Podemos usar a </a:t>
                </a:r>
                <a:r>
                  <a:rPr lang="pt-BR" b="1" dirty="0"/>
                  <a:t>função degrau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Também conhecida como </a:t>
                </a:r>
                <a:r>
                  <a:rPr lang="pt-BR" i="1" dirty="0" err="1"/>
                  <a:t>heaviside</a:t>
                </a:r>
                <a:r>
                  <a:rPr lang="pt-BR" dirty="0"/>
                  <a:t> ou limiar de decisão rígido.</a:t>
                </a:r>
              </a:p>
              <a:p>
                <a:r>
                  <a:rPr lang="pt-BR" dirty="0"/>
                  <a:t>A qual é definida como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                           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)&lt;0</m:t>
                            </m:r>
                          </m:e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                           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&gt;0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a:rPr lang="pt-BR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Indeterminado</m:t>
                            </m:r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)=0</m:t>
                            </m:r>
                          </m:e>
                        </m:eqAr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Entretanto, existem alguns problemas relacionados ao uso desta função.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4A261E2-EE7B-ABC6-0440-76C231BADC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46172" y="1825624"/>
                <a:ext cx="7274378" cy="5032375"/>
              </a:xfrm>
              <a:blipFill>
                <a:blip r:embed="rId2"/>
                <a:stretch>
                  <a:fillRect l="-150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Agrupar 15">
            <a:extLst>
              <a:ext uri="{FF2B5EF4-FFF2-40B4-BE49-F238E27FC236}">
                <a16:creationId xmlns:a16="http://schemas.microsoft.com/office/drawing/2014/main" id="{E1BC3B28-A877-B1F8-8724-FEC92B3B8AB1}"/>
              </a:ext>
            </a:extLst>
          </p:cNvPr>
          <p:cNvGrpSpPr/>
          <p:nvPr/>
        </p:nvGrpSpPr>
        <p:grpSpPr>
          <a:xfrm>
            <a:off x="257177" y="2194676"/>
            <a:ext cx="3838573" cy="3796878"/>
            <a:chOff x="257177" y="2194676"/>
            <a:chExt cx="3838573" cy="3796878"/>
          </a:xfrm>
        </p:grpSpPr>
        <p:pic>
          <p:nvPicPr>
            <p:cNvPr id="4" name="Picture 16">
              <a:extLst>
                <a:ext uri="{FF2B5EF4-FFF2-40B4-BE49-F238E27FC236}">
                  <a16:creationId xmlns:a16="http://schemas.microsoft.com/office/drawing/2014/main" id="{7F40541D-F948-44BC-4E48-39EBFFB9640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5" name="Rectangle 17">
              <a:extLst>
                <a:ext uri="{FF2B5EF4-FFF2-40B4-BE49-F238E27FC236}">
                  <a16:creationId xmlns:a16="http://schemas.microsoft.com/office/drawing/2014/main" id="{11D202E4-A9E4-6400-B6B5-08509661CB6A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618FA8DE-2726-6E85-B79D-64F78B73160C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618FA8DE-2726-6E85-B79D-64F78B7316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5C2FEE03-FCD1-7E66-0281-BFC9FB634050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5C2FEE03-FCD1-7E66-0281-BFC9FB634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329181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ou de ativação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2895" y="1898980"/>
            <a:ext cx="7331133" cy="4959020"/>
          </a:xfrm>
        </p:spPr>
        <p:txBody>
          <a:bodyPr>
            <a:normAutofit/>
          </a:bodyPr>
          <a:lstStyle/>
          <a:p>
            <a:r>
              <a:rPr lang="pt-BR" dirty="0"/>
              <a:t>Como no caso da regressão, queremos encontrar um modelo de classificação (i.e., a </a:t>
            </a:r>
            <a:r>
              <a:rPr lang="pt-BR" b="1" dirty="0"/>
              <a:t>função hipótese de </a:t>
            </a:r>
            <a:r>
              <a:rPr lang="pt-BR" b="1" dirty="0">
                <a:solidFill>
                  <a:srgbClr val="7030A0"/>
                </a:solidFill>
              </a:rPr>
              <a:t>classificação</a:t>
            </a:r>
            <a:r>
              <a:rPr lang="pt-BR" dirty="0"/>
              <a:t>) que minimize uma dada função de erro (de classificação).</a:t>
            </a:r>
          </a:p>
          <a:p>
            <a:r>
              <a:rPr lang="pt-BR" dirty="0"/>
              <a:t>Na </a:t>
            </a:r>
            <a:r>
              <a:rPr lang="pt-BR" b="1" dirty="0"/>
              <a:t>regressão</a:t>
            </a:r>
            <a:r>
              <a:rPr lang="pt-BR" dirty="0"/>
              <a:t>, podemos fazer de duas maneiras: </a:t>
            </a:r>
          </a:p>
          <a:p>
            <a:pPr marL="971550" lvl="1" indent="-514350">
              <a:buFont typeface="+mj-lt"/>
              <a:buAutoNum type="romanLcPeriod"/>
            </a:pPr>
            <a:r>
              <a:rPr lang="pt-BR" dirty="0"/>
              <a:t>de forma fechada (i.e., </a:t>
            </a:r>
            <a:r>
              <a:rPr lang="pt-BR" b="1" dirty="0"/>
              <a:t>equação normal</a:t>
            </a:r>
            <a:r>
              <a:rPr lang="pt-BR" dirty="0"/>
              <a:t>) tomando a derivada parcial do erro em relação aos pesos, igualando a zero e resolvendo a equação em função dos pesos;</a:t>
            </a:r>
          </a:p>
          <a:p>
            <a:pPr marL="971550" lvl="1" indent="-514350">
              <a:buFont typeface="+mj-lt"/>
              <a:buAutoNum type="romanLcPeriod"/>
            </a:pPr>
            <a:r>
              <a:rPr lang="pt-BR" dirty="0"/>
              <a:t>e através do algoritmo do </a:t>
            </a:r>
            <a:r>
              <a:rPr lang="pt-BR" b="1" dirty="0"/>
              <a:t>gradiente descendente</a:t>
            </a:r>
            <a:r>
              <a:rPr lang="pt-BR" dirty="0"/>
              <a:t>, usando as derivadas parciais do erro em relação aos pesos.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9167699E-C148-E6E4-AA25-95745C8A9E72}"/>
              </a:ext>
            </a:extLst>
          </p:cNvPr>
          <p:cNvGrpSpPr/>
          <p:nvPr/>
        </p:nvGrpSpPr>
        <p:grpSpPr>
          <a:xfrm>
            <a:off x="375957" y="2211906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id="{43A50A77-EC5B-72A7-708D-F766435B42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:a16="http://schemas.microsoft.com/office/drawing/2014/main" id="{78B0EA9B-5D67-2FF5-DDBD-1D93340B6BA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F29DA71-4710-10E0-14BD-1B1438F22A8F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F29DA71-4710-10E0-14BD-1B1438F22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60F2DECC-8C19-18FE-B4F8-959EE96B8D82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60F2DECC-8C19-18FE-B4F8-959EE96B8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513404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A5D62-5663-9DE6-E2A1-F9577788E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65EFE-B8FE-5CBC-5DD0-CE251F6A3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ou de ativação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709016-9081-3D58-87D4-2A2F8AE3F7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29621" y="1898980"/>
                <a:ext cx="6838552" cy="4959020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Entretanto, com a </a:t>
                </a:r>
                <a:r>
                  <a:rPr lang="pt-BR" b="1" dirty="0"/>
                  <a:t>função degrau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rgbClr val="FF0000"/>
                    </a:solidFill>
                  </a:rPr>
                  <a:t>nenhuma das duas abordagens é possível </a:t>
                </a:r>
                <a:r>
                  <a:rPr lang="pt-BR" dirty="0"/>
                  <a:t>devido à </a:t>
                </a:r>
                <a:r>
                  <a:rPr lang="pt-BR" b="1" dirty="0"/>
                  <a:t>derivada</a:t>
                </a:r>
                <a:r>
                  <a:rPr lang="pt-BR" dirty="0"/>
                  <a:t> de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pt-BR" dirty="0"/>
                  <a:t>ser igual a zero em todos os pontos exceto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onde ela é indeterminada.</a:t>
                </a:r>
              </a:p>
              <a:p>
                <a:r>
                  <a:rPr lang="pt-BR" dirty="0"/>
                  <a:t>Além disto, existe um outro problema.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709016-9081-3D58-87D4-2A2F8AE3F7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29621" y="1898980"/>
                <a:ext cx="6838552" cy="4959020"/>
              </a:xfrm>
              <a:blipFill>
                <a:blip r:embed="rId3"/>
                <a:stretch>
                  <a:fillRect l="-1604" t="-2091" r="-1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9DB76842-BA4E-0008-49EF-13FF7D823841}"/>
              </a:ext>
            </a:extLst>
          </p:cNvPr>
          <p:cNvGrpSpPr/>
          <p:nvPr/>
        </p:nvGrpSpPr>
        <p:grpSpPr>
          <a:xfrm>
            <a:off x="506586" y="2103049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id="{B9EACBDA-DDE2-3024-9098-AA3F6A805DD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:a16="http://schemas.microsoft.com/office/drawing/2014/main" id="{0BD67B1E-63FF-FBE8-E7CD-3F156A445685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2214E5AD-266E-78D1-4ED8-C90A5A01F50C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F29DA71-4710-10E0-14BD-1B1438F22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F7FB3B1C-2D7B-FB91-00B6-C8572C8292C6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60F2DECC-8C19-18FE-B4F8-959EE96B8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796162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4628" y="1825624"/>
            <a:ext cx="6651171" cy="5032376"/>
          </a:xfrm>
        </p:spPr>
        <p:txBody>
          <a:bodyPr>
            <a:normAutofit/>
          </a:bodyPr>
          <a:lstStyle/>
          <a:p>
            <a:r>
              <a:rPr lang="pt-BR" dirty="0"/>
              <a:t>Outro problema é a </a:t>
            </a:r>
            <a:r>
              <a:rPr lang="pt-BR" b="1" dirty="0">
                <a:solidFill>
                  <a:srgbClr val="00B050"/>
                </a:solidFill>
              </a:rPr>
              <a:t>falta de informação sobre a confiança</a:t>
            </a:r>
            <a:r>
              <a:rPr lang="pt-BR" dirty="0"/>
              <a:t> de uma classificação.</a:t>
            </a:r>
          </a:p>
          <a:p>
            <a:r>
              <a:rPr lang="pt-BR" dirty="0"/>
              <a:t>Na figura ao lado, dois exemplos estão bem próximos da </a:t>
            </a:r>
            <a:r>
              <a:rPr lang="pt-BR" b="1" dirty="0"/>
              <a:t>fronteira de decisão </a:t>
            </a:r>
            <a:r>
              <a:rPr lang="pt-BR" dirty="0"/>
              <a:t>enquanto outros dois estão bem distantes.</a:t>
            </a:r>
          </a:p>
          <a:p>
            <a:r>
              <a:rPr lang="pt-BR" dirty="0"/>
              <a:t>Como o classificador com </a:t>
            </a:r>
            <a:r>
              <a:rPr lang="pt-BR" b="1" dirty="0"/>
              <a:t>limiar de decisão rígido </a:t>
            </a:r>
            <a:r>
              <a:rPr lang="pt-BR" dirty="0"/>
              <a:t>classificaria esses exemplos?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5FD9BD3A-EECA-05F4-C300-1441F18AB71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49" r="7298"/>
          <a:stretch/>
        </p:blipFill>
        <p:spPr>
          <a:xfrm>
            <a:off x="315379" y="2328616"/>
            <a:ext cx="4214207" cy="3685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3972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138805" y="1825624"/>
                <a:ext cx="6902774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Olhando para a função degrau, percebemos que o classificador faz predições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confiantes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sempre iguais 0 para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pt-BR" dirty="0"/>
                  <a:t> e iguais a 1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independente se o exemplo está distante ou próximo da 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dois pontos azuis são classificados como pertencentes à classe negativa.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dois triângulos vermelhos são classificados como pertencentes à classe positiva.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38805" y="1825624"/>
                <a:ext cx="6902774" cy="5032376"/>
              </a:xfrm>
              <a:blipFill>
                <a:blip r:embed="rId3"/>
                <a:stretch>
                  <a:fillRect l="-1590" t="-1937" r="-5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Agrupar 16">
            <a:extLst>
              <a:ext uri="{FF2B5EF4-FFF2-40B4-BE49-F238E27FC236}">
                <a16:creationId xmlns:a16="http://schemas.microsoft.com/office/drawing/2014/main" id="{852A6A1D-DA43-B970-7D3B-CD86E9299F8C}"/>
              </a:ext>
            </a:extLst>
          </p:cNvPr>
          <p:cNvGrpSpPr/>
          <p:nvPr/>
        </p:nvGrpSpPr>
        <p:grpSpPr>
          <a:xfrm>
            <a:off x="858078" y="1642941"/>
            <a:ext cx="3354287" cy="5215059"/>
            <a:chOff x="453276" y="1631131"/>
            <a:chExt cx="3354287" cy="5215059"/>
          </a:xfrm>
        </p:grpSpPr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id="{4B4DD64C-FB97-65B7-AD47-6491E6E5E7F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07" t="5177" r="7347"/>
            <a:stretch/>
          </p:blipFill>
          <p:spPr>
            <a:xfrm>
              <a:off x="844653" y="1631131"/>
              <a:ext cx="2962910" cy="2297801"/>
            </a:xfrm>
            <a:prstGeom prst="rect">
              <a:avLst/>
            </a:prstGeom>
          </p:spPr>
        </p:pic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id="{256166DD-0A30-8757-3512-E3DEA440F49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3046" t="5896" r="8832"/>
            <a:stretch/>
          </p:blipFill>
          <p:spPr>
            <a:xfrm>
              <a:off x="638472" y="4049377"/>
              <a:ext cx="2831997" cy="262836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FE29F1DF-B6FA-783E-169F-125859E9A35D}"/>
                    </a:ext>
                  </a:extLst>
                </p:cNvPr>
                <p:cNvSpPr txBox="1"/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FE29F1DF-B6FA-783E-169F-125859E9A3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C0855C4-B563-8234-DFE3-4B6C2B7E81F9}"/>
                    </a:ext>
                  </a:extLst>
                </p:cNvPr>
                <p:cNvSpPr txBox="1"/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C0855C4-B563-8234-DFE3-4B6C2B7E81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blipFill>
                  <a:blip r:embed="rId7"/>
                  <a:stretch>
                    <a:fillRect r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C66842E7-77DB-DED6-551A-CFBE055B87A7}"/>
                </a:ext>
              </a:extLst>
            </p:cNvPr>
            <p:cNvSpPr/>
            <p:nvPr/>
          </p:nvSpPr>
          <p:spPr>
            <a:xfrm rot="1995663">
              <a:off x="712352" y="2785892"/>
              <a:ext cx="2971946" cy="15553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" name="Conector de Seta Reta 14">
              <a:extLst>
                <a:ext uri="{FF2B5EF4-FFF2-40B4-BE49-F238E27FC236}">
                  <a16:creationId xmlns:a16="http://schemas.microsoft.com/office/drawing/2014/main" id="{851D0E37-E94F-E50F-4120-E98CB2FF97BE}"/>
                </a:ext>
              </a:extLst>
            </p:cNvPr>
            <p:cNvCxnSpPr>
              <a:cxnSpLocks/>
            </p:cNvCxnSpPr>
            <p:nvPr/>
          </p:nvCxnSpPr>
          <p:spPr>
            <a:xfrm>
              <a:off x="2202180" y="2977599"/>
              <a:ext cx="0" cy="105722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260481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791E6-EFE7-E1D0-A05B-6A033903D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7D7A8-0C38-A228-6137-93F608F4D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1A9599-51A6-118D-65E9-1C6C3DD1B3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45847" y="1825624"/>
                <a:ext cx="679573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Exemplos </a:t>
                </a:r>
                <a:r>
                  <a:rPr lang="pt-BR" b="1" dirty="0">
                    <a:solidFill>
                      <a:srgbClr val="00B050"/>
                    </a:solidFill>
                  </a:rPr>
                  <a:t>mais distantes da fronteira </a:t>
                </a:r>
                <a:r>
                  <a:rPr lang="pt-BR" dirty="0"/>
                  <a:t>têm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probabilidade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maior</a:t>
                </a:r>
                <a:r>
                  <a:rPr lang="pt-BR" dirty="0"/>
                  <a:t> de </a:t>
                </a:r>
                <a:r>
                  <a:rPr lang="pt-BR" b="1" dirty="0">
                    <a:solidFill>
                      <a:srgbClr val="7030A0"/>
                    </a:solidFill>
                  </a:rPr>
                  <a:t>realmente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pertencerem à classe da região onde se encontram e não serem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outliers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maior o valor absoluto de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mais distante da fronteira está a amostra.</a:t>
                </a:r>
              </a:p>
              <a:p>
                <a:r>
                  <a:rPr lang="pt-BR" dirty="0"/>
                  <a:t>Por outro lado, exemplos próximos da fronteira têm probabilidade menor de pertencerem à classe onde estão.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menor o valor absoluto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mais próximo da fronteira está a amostra.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1A9599-51A6-118D-65E9-1C6C3DD1B3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45847" y="1825624"/>
                <a:ext cx="6795732" cy="5032376"/>
              </a:xfrm>
              <a:blipFill>
                <a:blip r:embed="rId3"/>
                <a:stretch>
                  <a:fillRect l="-161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Agrupar 16">
            <a:extLst>
              <a:ext uri="{FF2B5EF4-FFF2-40B4-BE49-F238E27FC236}">
                <a16:creationId xmlns:a16="http://schemas.microsoft.com/office/drawing/2014/main" id="{610F2454-5C0C-EBCE-6D40-BB0B5F6AE729}"/>
              </a:ext>
            </a:extLst>
          </p:cNvPr>
          <p:cNvGrpSpPr/>
          <p:nvPr/>
        </p:nvGrpSpPr>
        <p:grpSpPr>
          <a:xfrm>
            <a:off x="858078" y="1642941"/>
            <a:ext cx="3354287" cy="5215059"/>
            <a:chOff x="453276" y="1631131"/>
            <a:chExt cx="3354287" cy="5215059"/>
          </a:xfrm>
        </p:grpSpPr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id="{33700BB8-7472-8A01-B6CF-77813521557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07" t="5177" r="7347"/>
            <a:stretch/>
          </p:blipFill>
          <p:spPr>
            <a:xfrm>
              <a:off x="844653" y="1631131"/>
              <a:ext cx="2962910" cy="2297801"/>
            </a:xfrm>
            <a:prstGeom prst="rect">
              <a:avLst/>
            </a:prstGeom>
          </p:spPr>
        </p:pic>
        <p:pic>
          <p:nvPicPr>
            <p:cNvPr id="6" name="Picture 16">
              <a:extLst>
                <a:ext uri="{FF2B5EF4-FFF2-40B4-BE49-F238E27FC236}">
                  <a16:creationId xmlns:a16="http://schemas.microsoft.com/office/drawing/2014/main" id="{ADF86BCB-2A4B-0998-76DA-7200757646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3046" t="5896" r="8832"/>
            <a:stretch/>
          </p:blipFill>
          <p:spPr>
            <a:xfrm>
              <a:off x="638472" y="4049377"/>
              <a:ext cx="2831997" cy="262836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D6B287CA-CBF9-5090-D89E-5B46CA2AFD64}"/>
                    </a:ext>
                  </a:extLst>
                </p:cNvPr>
                <p:cNvSpPr txBox="1"/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FE29F1DF-B6FA-783E-169F-125859E9A3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31EAD500-6617-C59D-3E5F-E7C10E98A2F0}"/>
                    </a:ext>
                  </a:extLst>
                </p:cNvPr>
                <p:cNvSpPr txBox="1"/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C0855C4-B563-8234-DFE3-4B6C2B7E81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blipFill>
                  <a:blip r:embed="rId7"/>
                  <a:stretch>
                    <a:fillRect r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BB6201C2-52AB-88DF-1039-4C291CBFE4B3}"/>
                </a:ext>
              </a:extLst>
            </p:cNvPr>
            <p:cNvSpPr/>
            <p:nvPr/>
          </p:nvSpPr>
          <p:spPr>
            <a:xfrm rot="1995663">
              <a:off x="712352" y="2785892"/>
              <a:ext cx="2971946" cy="15553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" name="Conector de Seta Reta 14">
              <a:extLst>
                <a:ext uri="{FF2B5EF4-FFF2-40B4-BE49-F238E27FC236}">
                  <a16:creationId xmlns:a16="http://schemas.microsoft.com/office/drawing/2014/main" id="{50C4842E-E5F8-047C-A23B-F98AD0098206}"/>
                </a:ext>
              </a:extLst>
            </p:cNvPr>
            <p:cNvCxnSpPr>
              <a:cxnSpLocks/>
            </p:cNvCxnSpPr>
            <p:nvPr/>
          </p:nvCxnSpPr>
          <p:spPr>
            <a:xfrm>
              <a:off x="2202180" y="2977599"/>
              <a:ext cx="0" cy="105722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36426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1F8F56-5724-DFC6-0D15-D186C211F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C2770DA-BD52-05F3-F2B3-56BA4FC4C1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880" y="1849376"/>
            <a:ext cx="7243949" cy="5008624"/>
          </a:xfrm>
        </p:spPr>
        <p:txBody>
          <a:bodyPr>
            <a:normAutofit/>
          </a:bodyPr>
          <a:lstStyle/>
          <a:p>
            <a:pPr marL="285750" indent="-285750"/>
            <a:r>
              <a:rPr lang="pt-BR" dirty="0"/>
              <a:t>Em resumo, </a:t>
            </a:r>
            <a:r>
              <a:rPr lang="pt-BR" b="1" dirty="0">
                <a:solidFill>
                  <a:schemeClr val="accent2"/>
                </a:solidFill>
              </a:rPr>
              <a:t>pontos </a:t>
            </a:r>
            <a:r>
              <a:rPr lang="pt-BR" sz="2800" b="1" dirty="0">
                <a:solidFill>
                  <a:schemeClr val="accent2"/>
                </a:solidFill>
              </a:rPr>
              <a:t>distantes da fronteira </a:t>
            </a:r>
            <a:r>
              <a:rPr lang="pt-BR" sz="2800" dirty="0"/>
              <a:t>de decisão </a:t>
            </a:r>
            <a:r>
              <a:rPr lang="pt-BR" sz="2800" b="1" dirty="0">
                <a:solidFill>
                  <a:srgbClr val="7030A0"/>
                </a:solidFill>
              </a:rPr>
              <a:t>deveriam</a:t>
            </a:r>
            <a:r>
              <a:rPr lang="pt-BR" sz="2800" b="1" dirty="0">
                <a:solidFill>
                  <a:srgbClr val="00B050"/>
                </a:solidFill>
              </a:rPr>
              <a:t> ter uma </a:t>
            </a:r>
            <a:r>
              <a:rPr lang="pt-BR" b="1" dirty="0">
                <a:solidFill>
                  <a:srgbClr val="00B050"/>
                </a:solidFill>
              </a:rPr>
              <a:t>confiança</a:t>
            </a:r>
            <a:r>
              <a:rPr lang="pt-BR" dirty="0"/>
              <a:t> (ou probabilidade) de </a:t>
            </a:r>
            <a:r>
              <a:rPr lang="pt-BR" b="1" dirty="0">
                <a:solidFill>
                  <a:srgbClr val="00B050"/>
                </a:solidFill>
              </a:rPr>
              <a:t>pertencerem a uma determinada classe bem maior do que pontos próximos</a:t>
            </a:r>
            <a:r>
              <a:rPr lang="pt-BR" dirty="0"/>
              <a:t>.</a:t>
            </a:r>
            <a:endParaRPr lang="pt-BR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800" dirty="0"/>
              <a:t>Mas isso não é refletido na saída do classificador com função degrau.</a:t>
            </a:r>
          </a:p>
          <a:p>
            <a:pPr marL="285750" indent="-285750"/>
            <a:r>
              <a:rPr lang="pt-BR" dirty="0"/>
              <a:t>Além de poder treinar os modelos, em muitas situações, nós precisamos de predições mais graduadas, que indiquem a confiança quanto à predição.</a:t>
            </a:r>
            <a:endParaRPr lang="pt-BR" sz="2800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7586BBD-40B1-F01B-4474-DE26CFC5EB64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49" r="7298"/>
          <a:stretch/>
        </p:blipFill>
        <p:spPr>
          <a:xfrm>
            <a:off x="315379" y="2328616"/>
            <a:ext cx="4214207" cy="3685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1616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A690E-6F0D-F227-D663-2E4C3624E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22813-C213-B0D9-4229-8306BBEC37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4" y="2827366"/>
            <a:ext cx="11070771" cy="120326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O que podemos fazer?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1759058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C9F62-7684-5A29-B15B-4CEB81264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C9293E-FE0D-E03B-8391-5AFFEBCBC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8000" b="1" dirty="0">
                <a:solidFill>
                  <a:srgbClr val="FF0000"/>
                </a:solidFill>
              </a:rPr>
              <a:t>PAREI AQUI!!!!!!</a:t>
            </a:r>
            <a:endParaRPr lang="en-US" sz="8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63542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D9F4A-3F1E-72CA-5279-D7096455E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3F39F-A361-AD70-0282-D98F9A8F92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2676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15EEB-555A-1663-8A26-726644DCB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76B53-821B-1D2E-B52E-C808298E9D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4298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5C0CF-6932-AB23-09BC-D188772CD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0C46C-B4D6-FF5E-D8DB-8F29C27BED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6055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B30D0-D052-EC03-3C25-35C106AA1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  <a:endParaRPr lang="en-US" dirty="0"/>
          </a:p>
        </p:txBody>
      </p:sp>
      <p:pic>
        <p:nvPicPr>
          <p:cNvPr id="2050" name="Picture 2" descr="Validate me Constructive criticism permitted – @gallusrostromegalus on  Tumblr">
            <a:extLst>
              <a:ext uri="{FF2B5EF4-FFF2-40B4-BE49-F238E27FC236}">
                <a16:creationId xmlns:a16="http://schemas.microsoft.com/office/drawing/2014/main" id="{A9C68C0F-3A42-8D60-0B8A-979695E40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9561" y="1690688"/>
            <a:ext cx="5635002" cy="516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64646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8546</TotalTime>
  <Words>2826</Words>
  <Application>Microsoft Office PowerPoint</Application>
  <PresentationFormat>Widescreen</PresentationFormat>
  <Paragraphs>277</Paragraphs>
  <Slides>37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4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Classificação</vt:lpstr>
      <vt:lpstr>Classificação</vt:lpstr>
      <vt:lpstr>Tarefas de classificação</vt:lpstr>
      <vt:lpstr>PowerPoint Presentation</vt:lpstr>
      <vt:lpstr>PowerPoint Presentation</vt:lpstr>
      <vt:lpstr>Tipos de classificadores</vt:lpstr>
      <vt:lpstr>Tipos de classificadores</vt:lpstr>
      <vt:lpstr>Algoritmos de classificação</vt:lpstr>
      <vt:lpstr>PowerPoint Presentation</vt:lpstr>
      <vt:lpstr>Classificação binária</vt:lpstr>
      <vt:lpstr>Classificação multiclasse</vt:lpstr>
      <vt:lpstr>Classificação multilabel</vt:lpstr>
      <vt:lpstr>Fronteiras de decisão de um classificador</vt:lpstr>
      <vt:lpstr>Fronteiras de decisão de um classificador</vt:lpstr>
      <vt:lpstr>Fronteiras de decisão de um classificador</vt:lpstr>
      <vt:lpstr>Funções discriminantes</vt:lpstr>
      <vt:lpstr>Funções discriminantes</vt:lpstr>
      <vt:lpstr>PowerPoint Presentation</vt:lpstr>
      <vt:lpstr>PowerPoint Presentation</vt:lpstr>
      <vt:lpstr>Como mapeamos g(x(i)) nas classes?</vt:lpstr>
      <vt:lpstr>Função hipótese de classificação</vt:lpstr>
      <vt:lpstr>Função de limiar de decisão ou de ativação</vt:lpstr>
      <vt:lpstr>Função de limiar de decisão ou de ativação</vt:lpstr>
      <vt:lpstr>Função de limiar de decisão ou de ativação</vt:lpstr>
      <vt:lpstr>Função de limiar de decisão ou de ativação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Matriz de confusão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1811</cp:revision>
  <dcterms:created xsi:type="dcterms:W3CDTF">2020-01-20T13:50:05Z</dcterms:created>
  <dcterms:modified xsi:type="dcterms:W3CDTF">2026-02-20T18:32:16Z</dcterms:modified>
</cp:coreProperties>
</file>