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362" r:id="rId17"/>
    <p:sldId id="363" r:id="rId18"/>
    <p:sldId id="364" r:id="rId19"/>
    <p:sldId id="365" r:id="rId20"/>
    <p:sldId id="356" r:id="rId21"/>
    <p:sldId id="441" r:id="rId22"/>
    <p:sldId id="442" r:id="rId23"/>
    <p:sldId id="444" r:id="rId24"/>
    <p:sldId id="445" r:id="rId25"/>
    <p:sldId id="446" r:id="rId26"/>
    <p:sldId id="447" r:id="rId27"/>
    <p:sldId id="448" r:id="rId28"/>
    <p:sldId id="449" r:id="rId29"/>
    <p:sldId id="450" r:id="rId30"/>
    <p:sldId id="451" r:id="rId31"/>
    <p:sldId id="452" r:id="rId32"/>
    <p:sldId id="453" r:id="rId33"/>
    <p:sldId id="454" r:id="rId34"/>
    <p:sldId id="409" r:id="rId35"/>
    <p:sldId id="407" r:id="rId36"/>
    <p:sldId id="372" r:id="rId37"/>
    <p:sldId id="410" r:id="rId38"/>
    <p:sldId id="412" r:id="rId39"/>
    <p:sldId id="414" r:id="rId40"/>
    <p:sldId id="417" r:id="rId41"/>
    <p:sldId id="455" r:id="rId42"/>
    <p:sldId id="413" r:id="rId43"/>
    <p:sldId id="418" r:id="rId44"/>
    <p:sldId id="456" r:id="rId45"/>
    <p:sldId id="457" r:id="rId46"/>
    <p:sldId id="293" r:id="rId47"/>
    <p:sldId id="306" r:id="rId48"/>
    <p:sldId id="419" r:id="rId49"/>
    <p:sldId id="438" r:id="rId50"/>
    <p:sldId id="439" r:id="rId51"/>
    <p:sldId id="377" r:id="rId52"/>
    <p:sldId id="378" r:id="rId5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22/02/2026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xmlns="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xmlns="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smtClean="0"/>
              <a:t>Se y=1y=1y=1 → sobra −log⁡(y^)-\log(\</a:t>
            </a:r>
            <a:r>
              <a:rPr lang="es-ES" dirty="0" err="1" smtClean="0"/>
              <a:t>hat</a:t>
            </a:r>
            <a:r>
              <a:rPr lang="es-ES" dirty="0" smtClean="0"/>
              <a:t>{y})−log(y^​)</a:t>
            </a:r>
          </a:p>
          <a:p>
            <a:r>
              <a:rPr lang="es-ES" dirty="0" smtClean="0"/>
              <a:t>Se y=0y=0y=0 → sobra −log⁡(1−y^)-\log(1-\</a:t>
            </a:r>
            <a:r>
              <a:rPr lang="es-ES" dirty="0" err="1" smtClean="0"/>
              <a:t>hat</a:t>
            </a:r>
            <a:r>
              <a:rPr lang="es-ES" dirty="0" smtClean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22/02/2026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2.emf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32.emf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3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500.png"/><Relationship Id="rId7" Type="http://schemas.openxmlformats.org/officeDocument/2006/relationships/image" Target="NUL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egress%C3%A3o_log%C3%ADstica.ipynb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xmlns="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xmlns="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xmlns="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xmlns="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xmlns="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xmlns="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xmlns="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xmlns="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xmlns="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xmlns="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xmlns="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xmlns="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xmlns="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xmlns="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xmlns="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mais amostras ou a mais frequente.</a:t>
                </a:r>
              </a:p>
              <a:p>
                <a:r>
                  <a:rPr lang="pt-BR" dirty="0"/>
                  <a:t>Quanto mais distante a amostra estiver da fronteira de decisão, maior é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xmlns="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xmlns="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dirty="0" err="1"/>
                  <a:t>saídas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dirty="0" err="1"/>
                  <a:t>infinitos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))∈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objetivo é atribuir uma classe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/>
                  <a:t>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nesse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intervalo</a:t>
                </a:r>
                <a:r>
                  <a:rPr lang="en-US" dirty="0" smtClean="0"/>
                  <a:t>?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  <a:blipFill rotWithShape="0">
                <a:blip r:embed="rId3"/>
                <a:stretch>
                  <a:fillRect l="-1503" t="-1937" b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586490" y="2253182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Função de limiar de decisão ou de ativação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Isso 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 smtClean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 smtClean="0"/>
                  <a:t> no intervalo [0, 1].</a:t>
                </a:r>
              </a:p>
              <a:p>
                <a:r>
                  <a:rPr lang="pt-BR" dirty="0" smtClean="0"/>
                  <a:t>Além disso, para que possamos treinar modelos de classificação, essa função deve ser 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 smtClean="0"/>
                  <a:t> e </a:t>
                </a:r>
                <a:r>
                  <a:rPr lang="pt-BR" b="1" dirty="0" err="1" smtClean="0">
                    <a:solidFill>
                      <a:srgbClr val="00B050"/>
                    </a:solidFill>
                  </a:rPr>
                  <a:t>diferenciável</a:t>
                </a:r>
                <a:r>
                  <a:rPr lang="pt-BR" b="1" dirty="0" smtClean="0">
                    <a:solidFill>
                      <a:srgbClr val="00B050"/>
                    </a:solidFill>
                  </a:rPr>
                  <a:t>.</a:t>
                </a:r>
              </a:p>
              <a:p>
                <a:r>
                  <a:rPr lang="pt-BR" dirty="0" smtClean="0"/>
                  <a:t>No contexto da classificação, ela é chamada de função de limiar de decisão ou de ativação.</a:t>
                </a:r>
              </a:p>
              <a:p>
                <a:r>
                  <a:rPr lang="pt-BR" dirty="0" smtClean="0"/>
                  <a:t>Qual função podemos usar?</a:t>
                </a:r>
                <a:endParaRPr lang="pt-BR" dirty="0"/>
              </a:p>
              <a:p>
                <a:endParaRPr lang="pt-BR" dirty="0" smtClean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 rotWithShape="0">
                <a:blip r:embed="rId2"/>
                <a:stretch>
                  <a:fillRect l="-1586" t="-1937" r="-15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72349" y="2901353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i="1"/>
                      <m:t>Logistic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A utilizando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interpretada como a probabilidade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i.e., a p</a:t>
                </a:r>
                <a:r>
                  <a:rPr lang="pt-BR" dirty="0">
                    <a:solidFill>
                      <a:schemeClr val="tx1"/>
                    </a:solidFill>
                  </a:rPr>
                  <a:t>robabilidade condicional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xmlns="" id="{8A58ED0E-A13A-8658-E325-826B73F5A7BF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xmlns="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xmlns="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xmlns="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aproxima de 0 ou 1 conforme o exemplo se distancia da </a:t>
                </a:r>
                <a:r>
                  <a:rPr lang="pt-BR" b="1" dirty="0"/>
                  <a:t>fronteira de decisão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Quanto mais </a:t>
                </a:r>
                <a:r>
                  <a:rPr lang="pt-BR" dirty="0"/>
                  <a:t>distante a amostra estiver da </a:t>
                </a:r>
                <a:r>
                  <a:rPr lang="pt-BR" dirty="0" smtClean="0"/>
                  <a:t>fronteira, maior é a probabilidade dela pertencer à classe daquela região.</a:t>
                </a:r>
                <a:endParaRPr lang="pt-B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probabilidade de 0.5 para amostras posicionadas exatamente sobre 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:a16="http://schemas.microsoft.com/office/drawing/2014/main" xmlns="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xmlns="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xmlns="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:a16="http://schemas.microsoft.com/office/drawing/2014/main" xmlns="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:a16="http://schemas.microsoft.com/office/drawing/2014/main" xmlns="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:a16="http://schemas.microsoft.com/office/drawing/2014/main" xmlns="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modelo que estima a probabilidade 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:a16="http://schemas.microsoft.com/office/drawing/2014/main" xmlns="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xmlns="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xmlns="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:a16="http://schemas.microsoft.com/office/drawing/2014/main" xmlns="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:a16="http://schemas.microsoft.com/office/drawing/2014/main" xmlns="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xmlns="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xmlns="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xmlns="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rgbClr val="00B050"/>
                </a:solidFill>
              </a:rPr>
              <a:t>quantizar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</p:spPr>
            <p:txBody>
              <a:bodyPr/>
              <a:lstStyle/>
              <a:p>
                <a:r>
                  <a:rPr lang="pt-BR" dirty="0"/>
                  <a:t>Se quantiza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  <a:blipFill>
                <a:blip r:embed="rId3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dado uma função discriminante,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xmlns="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xmlns="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</p:spPr>
            <p:txBody>
              <a:bodyPr/>
              <a:lstStyle/>
              <a:p>
                <a:r>
                  <a:rPr lang="pt-BR" dirty="0"/>
                  <a:t>Precisamos usar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uma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 no caso da regressão logística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quão diferente está a distribuição prevista pelo modelo da distribuição real dos rótulos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Assim, o </a:t>
                </a:r>
                <a:r>
                  <a:rPr lang="pt-BR" dirty="0"/>
                  <a:t>modelo aprende a aproximar a distribuição real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  <a:blipFill rotWithShape="0">
                <a:blip r:embed="rId3"/>
                <a:stretch>
                  <a:fillRect l="-1217" t="-1937" r="-13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xmlns="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xmlns="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 smtClean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 smtClean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 smtClean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r>
                  <a:rPr lang="pt-BR" dirty="0"/>
                  <a:t> </a:t>
                </a:r>
                <a:r>
                  <a:rPr lang="pt-BR" dirty="0" smtClean="0"/>
                  <a:t>O erro </a:t>
                </a:r>
                <a:r>
                  <a:rPr lang="pt-BR" dirty="0"/>
                  <a:t>é </a:t>
                </a:r>
                <a:r>
                  <a:rPr lang="pt-BR" dirty="0" smtClean="0"/>
                  <a:t>muito alto se o classificador erra e tende a zero se acerta.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Uma má </a:t>
            </a:r>
            <a:r>
              <a:rPr lang="pt-BR" dirty="0" smtClean="0"/>
              <a:t>notícia, </a:t>
            </a:r>
            <a:r>
              <a:rPr lang="pt-BR" b="1" dirty="0" smtClean="0">
                <a:solidFill>
                  <a:srgbClr val="00B050"/>
                </a:solidFill>
              </a:rPr>
              <a:t>não </a:t>
            </a:r>
            <a:r>
              <a:rPr lang="pt-BR" b="1" dirty="0">
                <a:solidFill>
                  <a:srgbClr val="00B050"/>
                </a:solidFill>
              </a:rPr>
              <a:t>existe uma equação </a:t>
            </a:r>
            <a:r>
              <a:rPr lang="pt-BR" b="1" dirty="0" smtClean="0">
                <a:solidFill>
                  <a:srgbClr val="00B050"/>
                </a:solidFill>
              </a:rPr>
              <a:t>analítica </a:t>
            </a:r>
            <a:r>
              <a:rPr lang="pt-BR" dirty="0" smtClean="0"/>
              <a:t>que nos dá diretamente os </a:t>
            </a:r>
            <a:r>
              <a:rPr lang="pt-BR" b="1" dirty="0" smtClean="0"/>
              <a:t>pesos</a:t>
            </a:r>
            <a:r>
              <a:rPr lang="pt-BR" dirty="0" smtClean="0"/>
              <a:t> </a:t>
            </a:r>
            <a:r>
              <a:rPr lang="pt-BR" dirty="0"/>
              <a:t>que </a:t>
            </a:r>
            <a:r>
              <a:rPr lang="pt-BR" dirty="0" smtClean="0"/>
              <a:t>minimizam </a:t>
            </a:r>
            <a:r>
              <a:rPr lang="pt-BR" dirty="0"/>
              <a:t>essa </a:t>
            </a:r>
            <a:r>
              <a:rPr lang="pt-BR" b="1" dirty="0"/>
              <a:t>função de erro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600" dirty="0"/>
              <a:t>Ou seja, não há um equivalente da </a:t>
            </a:r>
            <a:r>
              <a:rPr lang="pt-BR" sz="2600" b="1" dirty="0"/>
              <a:t>equação normal</a:t>
            </a:r>
            <a:r>
              <a:rPr lang="pt-BR" sz="2600" dirty="0"/>
              <a:t>. </a:t>
            </a:r>
          </a:p>
          <a:p>
            <a:r>
              <a:rPr lang="pt-BR" dirty="0"/>
              <a:t>Entretanto, </a:t>
            </a:r>
            <a:r>
              <a:rPr lang="pt-BR" dirty="0" smtClean="0"/>
              <a:t>a boa </a:t>
            </a:r>
            <a:r>
              <a:rPr lang="pt-BR" dirty="0"/>
              <a:t>notícia é que </a:t>
            </a:r>
            <a:r>
              <a:rPr lang="pt-BR" dirty="0" smtClean="0"/>
              <a:t>por ser </a:t>
            </a:r>
            <a:r>
              <a:rPr lang="pt-BR" b="1" dirty="0" smtClean="0">
                <a:solidFill>
                  <a:srgbClr val="00B050"/>
                </a:solidFill>
              </a:rPr>
              <a:t>convexa</a:t>
            </a:r>
            <a:r>
              <a:rPr lang="pt-BR" dirty="0" smtClean="0"/>
              <a:t> </a:t>
            </a:r>
            <a:r>
              <a:rPr lang="pt-BR" dirty="0"/>
              <a:t>e </a:t>
            </a:r>
            <a:r>
              <a:rPr lang="pt-BR" b="1" dirty="0" err="1" smtClean="0">
                <a:solidFill>
                  <a:srgbClr val="00B050"/>
                </a:solidFill>
              </a:rPr>
              <a:t>diferenciável</a:t>
            </a:r>
            <a:r>
              <a:rPr lang="pt-BR" dirty="0" smtClean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</a:t>
            </a:r>
            <a:r>
              <a:rPr lang="pt-BR" dirty="0" smtClean="0"/>
              <a:t>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</a:t>
            </a:r>
            <a:r>
              <a:rPr lang="pt-BR" b="1" dirty="0" smtClean="0">
                <a:solidFill>
                  <a:srgbClr val="7030A0"/>
                </a:solidFill>
              </a:rPr>
              <a:t>)</a:t>
            </a:r>
            <a:r>
              <a:rPr lang="pt-BR" dirty="0" smtClean="0"/>
              <a:t>.</a:t>
            </a:r>
          </a:p>
          <a:p>
            <a:r>
              <a:rPr lang="pt-BR" dirty="0" smtClean="0"/>
              <a:t>Podemos </a:t>
            </a:r>
            <a:r>
              <a:rPr lang="pt-BR" dirty="0"/>
              <a:t>implementar todas as versões do </a:t>
            </a:r>
            <a:r>
              <a:rPr lang="pt-BR" b="1" dirty="0" smtClean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 smtClean="0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Vetor gradiente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</a:t>
                </a:r>
                <a:r>
                  <a:rPr lang="pt-BR" b="1" dirty="0" smtClean="0"/>
                  <a:t>da entropia cruzada </a:t>
                </a:r>
                <a:r>
                  <a:rPr lang="pt-BR" dirty="0" smtClean="0"/>
                  <a:t>é </a:t>
                </a:r>
                <a:r>
                  <a:rPr lang="pt-BR" dirty="0"/>
                  <a:t>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 é a matriz de </a:t>
                </a:r>
                <a:r>
                  <a:rPr lang="pt-BR" dirty="0" smtClean="0"/>
                  <a:t>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p>
                  </m:oMath>
                </a14:m>
                <a:r>
                  <a:rPr lang="pt-BR" dirty="0" smtClean="0"/>
                  <a:t> são vetores contendo </a:t>
                </a:r>
                <a:r>
                  <a:rPr lang="pt-BR" dirty="0"/>
                  <a:t>todos os valores esperados e </a:t>
                </a:r>
                <a:r>
                  <a:rPr lang="pt-BR" dirty="0" smtClean="0"/>
                  <a:t>preditos, </a:t>
                </a:r>
                <a:r>
                  <a:rPr lang="pt-BR" dirty="0"/>
                  <a:t>respectivamente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O anexo I apresenta os passos para se encontrar o vetor gradiente.</a:t>
                </a:r>
                <a:endParaRPr lang="pt-BR" dirty="0"/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xmlns="" id="{5E51EB45-1595-7630-C24F-EAA34F018369}"/>
              </a:ext>
            </a:extLst>
          </p:cNvPr>
          <p:cNvSpPr txBox="1"/>
          <p:nvPr/>
        </p:nvSpPr>
        <p:spPr>
          <a:xfrm>
            <a:off x="10676368" y="4338826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xmlns="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174780" y="4203892"/>
            <a:ext cx="648391" cy="2683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</a:t>
                </a:r>
                <a:r>
                  <a:rPr lang="pt-BR" sz="2800" dirty="0" smtClean="0"/>
                  <a:t>um </a:t>
                </a:r>
                <a:r>
                  <a:rPr lang="pt-BR" sz="2800" b="1" dirty="0"/>
                  <a:t>hiperplano</a:t>
                </a:r>
                <a:r>
                  <a:rPr lang="pt-BR" sz="2800" dirty="0"/>
                  <a:t>, mas o resultado pode ser diretamente estendido para polinômios</a:t>
                </a:r>
                <a:r>
                  <a:rPr lang="pt-BR" sz="2800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 smtClean="0"/>
                  <a:t>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 smtClean="0"/>
                  <a:t> é formada pelas combinações dos atributos originais </a:t>
                </a:r>
                <a:r>
                  <a:rPr lang="pt-BR" dirty="0" smtClean="0"/>
                  <a:t>de cada </a:t>
                </a:r>
                <a:r>
                  <a:rPr lang="pt-BR" sz="2400" dirty="0" smtClean="0"/>
                  <a:t>monômio do polinômio.</a:t>
                </a:r>
                <a:endParaRPr lang="pt-BR" sz="2400" dirty="0"/>
              </a:p>
              <a:p>
                <a:r>
                  <a:rPr lang="pt-BR" dirty="0" smtClean="0"/>
                  <a:t>O </a:t>
                </a:r>
                <a:r>
                  <a:rPr lang="pt-BR" b="1" dirty="0" smtClean="0">
                    <a:solidFill>
                      <a:srgbClr val="7030A0"/>
                    </a:solidFill>
                  </a:rPr>
                  <a:t>vetor </a:t>
                </a:r>
                <a:r>
                  <a:rPr lang="pt-BR" b="1" dirty="0">
                    <a:solidFill>
                      <a:srgbClr val="7030A0"/>
                    </a:solidFill>
                  </a:rPr>
                  <a:t>gradiente</a:t>
                </a:r>
                <a:r>
                  <a:rPr lang="pt-BR" b="1" dirty="0"/>
                  <a:t> </a:t>
                </a:r>
                <a:r>
                  <a:rPr lang="pt-BR" dirty="0" smtClean="0"/>
                  <a:t>acima</a:t>
                </a:r>
                <a:r>
                  <a:rPr lang="pt-BR" b="1" dirty="0" smtClean="0"/>
                  <a:t> </a:t>
                </a:r>
                <a:r>
                  <a:rPr lang="pt-BR" dirty="0" smtClean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 rotWithShape="0">
                <a:blip r:embed="rId3"/>
                <a:stretch>
                  <a:fillRect l="-9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</a:t>
                </a:r>
                <a:r>
                  <a:rPr lang="pt-BR" dirty="0" smtClean="0"/>
                  <a:t>e </a:t>
                </a:r>
                <a:r>
                  <a:rPr lang="pt-BR" dirty="0"/>
                  <a:t>posse do </a:t>
                </a:r>
                <a:r>
                  <a:rPr lang="pt-BR" b="1" dirty="0"/>
                  <a:t>vetor gradiente</a:t>
                </a:r>
                <a:r>
                  <a:rPr lang="pt-BR" dirty="0"/>
                  <a:t>, podemos usá-lo com </a:t>
                </a:r>
                <a:r>
                  <a:rPr lang="pt-BR" dirty="0" smtClean="0"/>
                  <a:t>qualquer versão do </a:t>
                </a:r>
                <a:r>
                  <a:rPr lang="pt-BR" b="1" dirty="0"/>
                  <a:t>gradiente descendente</a:t>
                </a:r>
                <a:r>
                  <a:rPr lang="pt-BR" dirty="0"/>
                  <a:t> </a:t>
                </a:r>
                <a:r>
                  <a:rPr lang="pt-BR" dirty="0" smtClean="0"/>
                  <a:t>para </a:t>
                </a:r>
                <a:r>
                  <a:rPr lang="pt-BR" dirty="0"/>
                  <a:t>atualizar os pesos</a:t>
                </a:r>
                <a:r>
                  <a:rPr lang="pt-BR" dirty="0" smtClean="0"/>
                  <a:t>.</a:t>
                </a:r>
              </a:p>
              <a:p>
                <a:endParaRPr lang="pt-BR" dirty="0"/>
              </a:p>
              <a:p>
                <a:endParaRPr lang="pt-BR" dirty="0" smtClean="0"/>
              </a:p>
              <a:p>
                <a:endParaRPr lang="pt-BR" dirty="0"/>
              </a:p>
              <a:p>
                <a:r>
                  <a:rPr lang="pt-BR" dirty="0" smtClean="0"/>
                  <a:t>Tudo o que aprendemos na regressão linear com relação ao treinamento de modelos com o gradiente descendente, incluindo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 smtClean="0"/>
                  <a:t>, se aplica ao treinamento de </a:t>
                </a:r>
                <a:r>
                  <a:rPr lang="pt-BR" dirty="0" err="1" smtClean="0"/>
                  <a:t>regressores</a:t>
                </a:r>
                <a:r>
                  <a:rPr lang="pt-BR" dirty="0" smtClean="0"/>
                  <a:t> logísticos.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  <a:blipFill rotWithShape="0">
                <a:blip r:embed="rId2"/>
                <a:stretch>
                  <a:fillRect l="-92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3">
                <a:extLst>
                  <a:ext uri="{FF2B5EF4-FFF2-40B4-BE49-F238E27FC236}">
                    <a16:creationId xmlns="" xmlns:a16="http://schemas.microsoft.com/office/drawing/2014/main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i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>
          <p:sp>
            <p:nvSpPr>
              <p:cNvPr id="5" name="Rectangle 3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blipFill rotWithShape="0">
                <a:blip r:embed="rId3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Assim </a:t>
                </a:r>
                <a:r>
                  <a:rPr lang="pt-BR" dirty="0"/>
                  <a:t>como ocorre </a:t>
                </a:r>
                <a:r>
                  <a:rPr lang="pt-BR" dirty="0" smtClean="0"/>
                  <a:t>com a </a:t>
                </a:r>
                <a:r>
                  <a:rPr lang="pt-BR" b="1" dirty="0" smtClean="0"/>
                  <a:t>regressão </a:t>
                </a:r>
                <a:r>
                  <a:rPr lang="pt-BR" b="1" dirty="0"/>
                  <a:t>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dirty="0"/>
                  <a:t> </a:t>
                </a:r>
                <a:r>
                  <a:rPr lang="pt-BR" dirty="0"/>
                  <a:t>estão sujeitos </a:t>
                </a:r>
                <a:r>
                  <a:rPr lang="pt-BR" dirty="0" smtClean="0"/>
                  <a:t>à </a:t>
                </a:r>
                <a:r>
                  <a:rPr lang="pt-BR" b="1" dirty="0" err="1" smtClean="0"/>
                  <a:t>sobreajuste</a:t>
                </a:r>
                <a:r>
                  <a:rPr lang="pt-BR" dirty="0" smtClean="0"/>
                  <a:t> </a:t>
                </a:r>
                <a:r>
                  <a:rPr lang="pt-BR" dirty="0"/>
                  <a:t>e </a:t>
                </a:r>
                <a:r>
                  <a:rPr lang="pt-BR" b="1" dirty="0" err="1"/>
                  <a:t>subajuste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Qual deve ser a complexidade, no caso de polinômios, o grau, da </a:t>
                </a:r>
                <a:r>
                  <a:rPr lang="pt-BR" b="1" dirty="0" smtClean="0"/>
                  <a:t>função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 smtClean="0"/>
                  <a:t>?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 rotWithShape="0"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xmlns="" id="{DF911177-1762-1C13-7224-7DC9C7576C34}"/>
              </a:ext>
            </a:extLst>
          </p:cNvPr>
          <p:cNvGrpSpPr/>
          <p:nvPr/>
        </p:nvGrpSpPr>
        <p:grpSpPr>
          <a:xfrm>
            <a:off x="545916" y="4149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xmlns="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xmlns="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xmlns="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xmlns="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xmlns="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xmlns="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xmlns="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xmlns="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xmlns="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xmlns="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xmlns="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xmlns="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xmlns="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xmlns="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xmlns="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xmlns="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xmlns="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xmlns="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xmlns="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xmlns="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xmlns="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xmlns="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xmlns="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xmlns="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xmlns="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xmlns="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xmlns="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xmlns="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xmlns="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xmlns="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xmlns="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xmlns="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xmlns="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xmlns="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xmlns="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xmlns="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xmlns="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xmlns="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xmlns="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xmlns="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xmlns="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xmlns="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xmlns="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xmlns="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xmlns="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xmlns="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xmlns="" id="{9BA09B05-5A67-1E11-F943-345BEBEF6CD7}"/>
              </a:ext>
            </a:extLst>
          </p:cNvPr>
          <p:cNvGrpSpPr/>
          <p:nvPr/>
        </p:nvGrpSpPr>
        <p:grpSpPr>
          <a:xfrm>
            <a:off x="4486441" y="4116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xmlns="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xmlns="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xmlns="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xmlns="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xmlns="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xmlns="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xmlns="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xmlns="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xmlns="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xmlns="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xmlns="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xmlns="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xmlns="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xmlns="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xmlns="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xmlns="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xmlns="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xmlns="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xmlns="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xmlns="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xmlns="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xmlns="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xmlns="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xmlns="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xmlns="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xmlns="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xmlns="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xmlns="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xmlns="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xmlns="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xmlns="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xmlns="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xmlns="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xmlns="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xmlns="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xmlns="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xmlns="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xmlns="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xmlns="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xmlns="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xmlns="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xmlns="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xmlns="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xmlns="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xmlns="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xmlns="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xmlns="" id="{1CF5EF7B-31C2-BF66-57C5-B83BDD880795}"/>
              </a:ext>
            </a:extLst>
          </p:cNvPr>
          <p:cNvSpPr txBox="1"/>
          <p:nvPr/>
        </p:nvSpPr>
        <p:spPr>
          <a:xfrm>
            <a:off x="1816063" y="4211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xmlns="" id="{6B520180-B7A3-73C8-75FE-9FD42CDF419E}"/>
              </a:ext>
            </a:extLst>
          </p:cNvPr>
          <p:cNvSpPr txBox="1"/>
          <p:nvPr/>
        </p:nvSpPr>
        <p:spPr>
          <a:xfrm>
            <a:off x="5743598" y="4215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xmlns="" id="{B0CAB38C-895F-C677-2B43-E8AA71744A23}"/>
              </a:ext>
            </a:extLst>
          </p:cNvPr>
          <p:cNvGrpSpPr/>
          <p:nvPr/>
        </p:nvGrpSpPr>
        <p:grpSpPr>
          <a:xfrm>
            <a:off x="8520169" y="3905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xmlns="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xmlns="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xmlns="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xmlns="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xmlns="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xmlns="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xmlns="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xmlns="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xmlns="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xmlns="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xmlns="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xmlns="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xmlns="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xmlns="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xmlns="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xmlns="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xmlns="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xmlns="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xmlns="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xmlns="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xmlns="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xmlns="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xmlns="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xmlns="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xmlns="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xmlns="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xmlns="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xmlns="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xmlns="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xmlns="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xmlns="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xmlns="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xmlns="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xmlns="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xmlns="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xmlns="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xmlns="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xmlns="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xmlns="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xmlns="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xmlns="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xmlns="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xmlns="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xmlns="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xmlns="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xmlns="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xmlns="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xmlns="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xmlns="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xmlns="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xmlns="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xmlns="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xmlns="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xmlns="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xmlns="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xmlns="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xmlns="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xmlns="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xmlns="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xmlns="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xmlns="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xmlns="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xmlns="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xmlns="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xmlns="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xmlns="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xmlns="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xmlns="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xmlns="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xmlns="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xmlns="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xmlns="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xmlns="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xmlns="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xmlns="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xmlns="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xmlns="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xmlns="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xmlns="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xmlns="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xmlns="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xmlns="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xmlns="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xmlns="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xmlns="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xmlns="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xmlns="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xmlns="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xmlns="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xmlns="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xmlns="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xmlns="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xmlns="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xmlns="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xmlns="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xmlns="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xmlns="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</a:t>
            </a:r>
            <a:r>
              <a:rPr lang="pt-BR" dirty="0" smtClean="0"/>
              <a:t>grau elevado) </a:t>
            </a:r>
            <a:r>
              <a:rPr lang="pt-BR" dirty="0"/>
              <a:t>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xmlns="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xmlns="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xmlns="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xmlns="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xmlns="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xmlns="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xmlns="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xmlns="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xmlns="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xmlns="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xmlns="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xmlns="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xmlns="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xmlns="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xmlns="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xmlns="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xmlns="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xmlns="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xmlns="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xmlns="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xmlns="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xmlns="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xmlns="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xmlns="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xmlns="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xmlns="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xmlns="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xmlns="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xmlns="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xmlns="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xmlns="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xmlns="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xmlns="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xmlns="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xmlns="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xmlns="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xmlns="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xmlns="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xmlns="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xmlns="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xmlns="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xmlns="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xmlns="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xmlns="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xmlns="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xmlns="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xmlns="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xmlns="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xmlns="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xmlns="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xmlns="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xmlns="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xmlns="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xmlns="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xmlns="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xmlns="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xmlns="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xmlns="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xmlns="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xmlns="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xmlns="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xmlns="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xmlns="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xmlns="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xmlns="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xmlns="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xmlns="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xmlns="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xmlns="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xmlns="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xmlns="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xmlns="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xmlns="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xmlns="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xmlns="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xmlns="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xmlns="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xmlns="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xmlns="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xmlns="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xmlns="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xmlns="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xmlns="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xmlns="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xmlns="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xmlns="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xmlns="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xmlns="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xmlns="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xmlns="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xmlns="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xmlns="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xmlns="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xmlns="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xmlns="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xmlns="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xmlns="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xmlns="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xmlns="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xmlns="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xmlns="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xmlns="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xmlns="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xmlns="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xmlns="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xmlns="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xmlns="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xmlns="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xmlns="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xmlns="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xmlns="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xmlns="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xmlns="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xmlns="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xmlns="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xmlns="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xmlns="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xmlns="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xmlns="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xmlns="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xmlns="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xmlns="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xmlns="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xmlns="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xmlns="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xmlns="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xmlns="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xmlns="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xmlns="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xmlns="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xmlns="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xmlns="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xmlns="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xmlns="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xmlns="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xmlns="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xmlns="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xmlns="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xmlns="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xmlns="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xmlns="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xmlns="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xmlns="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xmlns="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xmlns="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evitamos o </a:t>
            </a:r>
            <a:r>
              <a:rPr lang="pt-BR" sz="6000" i="1" dirty="0" err="1"/>
              <a:t>subajuste</a:t>
            </a:r>
            <a:r>
              <a:rPr lang="pt-BR" sz="6000" i="1" dirty="0"/>
              <a:t> </a:t>
            </a:r>
            <a:r>
              <a:rPr lang="pt-BR" sz="6000" i="1" dirty="0" smtClean="0"/>
              <a:t>e o </a:t>
            </a:r>
            <a:r>
              <a:rPr lang="pt-BR" sz="6000" i="1" dirty="0" err="1"/>
              <a:t>sobreajuste</a:t>
            </a:r>
            <a:r>
              <a:rPr lang="pt-BR" sz="6000" i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mc="http://schemas.openxmlformats.org/markup-compatibility/2006" xmlns:a14="http://schemas.microsoft.com/office/drawing/2010/main"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 smtClean="0"/>
              <a:t>Podemos </a:t>
            </a:r>
            <a:r>
              <a:rPr lang="pt-BR" dirty="0"/>
              <a:t>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 smtClean="0"/>
              <a:t>como o </a:t>
            </a:r>
            <a:r>
              <a:rPr lang="pt-BR" i="1" dirty="0" smtClean="0"/>
              <a:t>k-</a:t>
            </a:r>
            <a:r>
              <a:rPr lang="pt-BR" i="1" dirty="0" err="1" smtClean="0"/>
              <a:t>fold</a:t>
            </a:r>
            <a:r>
              <a:rPr lang="pt-BR" dirty="0" smtClean="0"/>
              <a:t> para encontrar a complexidade ideal para o modelo.</a:t>
            </a:r>
            <a:endParaRPr lang="pt-BR" dirty="0"/>
          </a:p>
          <a:p>
            <a:r>
              <a:rPr lang="pt-BR" dirty="0"/>
              <a:t>Esses técnicas nos auxiliam a encontrar um </a:t>
            </a:r>
            <a:r>
              <a:rPr lang="pt-BR" dirty="0" smtClean="0"/>
              <a:t>modelo que </a:t>
            </a:r>
            <a:r>
              <a:rPr lang="pt-BR" dirty="0"/>
              <a:t>apresente uma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xmlns="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dirty="0">
                <a:solidFill>
                  <a:srgbClr val="00B050"/>
                </a:solidFill>
              </a:rPr>
              <a:t>r</a:t>
            </a:r>
            <a:r>
              <a:rPr lang="pt-BR" b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dirty="0">
                <a:effectLst/>
              </a:rPr>
              <a:t>do modelo por meio de </a:t>
            </a:r>
            <a:r>
              <a:rPr lang="pt-BR" b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xmlns="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 smtClean="0">
                <a:hlinkClick r:id="rId3"/>
              </a:rPr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Lista</a:t>
            </a:r>
            <a:r>
              <a:rPr lang="en-US" dirty="0"/>
              <a:t> </a:t>
            </a:r>
            <a:r>
              <a:rPr lang="en-US" dirty="0" smtClean="0"/>
              <a:t>#6 </a:t>
            </a:r>
            <a:r>
              <a:rPr lang="en-US" dirty="0"/>
              <a:t>- </a:t>
            </a:r>
            <a:r>
              <a:rPr lang="en-US" dirty="0" err="1" smtClean="0"/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8842</TotalTime>
  <Words>3504</Words>
  <Application>Microsoft Office PowerPoint</Application>
  <PresentationFormat>Widescreen</PresentationFormat>
  <Paragraphs>497</Paragraphs>
  <Slides>52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52</vt:i4>
      </vt:variant>
    </vt:vector>
  </HeadingPairs>
  <TitlesOfParts>
    <vt:vector size="61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Apresentação do PowerPoint</vt:lpstr>
      <vt:lpstr>Apresentação do PowerPoint</vt:lpstr>
      <vt:lpstr>Tipos de classificadores</vt:lpstr>
      <vt:lpstr>Tipos de classificadores</vt:lpstr>
      <vt:lpstr>Algoritmos de classificação</vt:lpstr>
      <vt:lpstr>Apresentação do PowerPoint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Apresentação do PowerPoint</vt:lpstr>
      <vt:lpstr>Apresentação do PowerPoint</vt:lpstr>
      <vt:lpstr>Como mapeamos g(x(i)) nas classes?</vt:lpstr>
      <vt:lpstr>Função de limiar de decisão ou de ativação</vt:lpstr>
      <vt:lpstr>Apresentação do PowerPoint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Apresentação do PowerPoint</vt:lpstr>
      <vt:lpstr>Regressão logística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Apresentação do PowerPoint</vt:lpstr>
      <vt:lpstr>Como evitamos o subajuste e sobreajuste?</vt:lpstr>
      <vt:lpstr>Como evitamos o subajuste e sobreajuste?</vt:lpstr>
      <vt:lpstr>Exemplo</vt:lpstr>
      <vt:lpstr>Lista de exercícios</vt:lpstr>
      <vt:lpstr>Apresentação do PowerPoint</vt:lpstr>
      <vt:lpstr>Apresentação do PowerPoint</vt:lpstr>
      <vt:lpstr>Apresentação do PowerPoint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1863</cp:revision>
  <dcterms:created xsi:type="dcterms:W3CDTF">2020-01-20T13:50:05Z</dcterms:created>
  <dcterms:modified xsi:type="dcterms:W3CDTF">2026-02-22T19:27:24Z</dcterms:modified>
</cp:coreProperties>
</file>