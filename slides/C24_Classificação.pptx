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0"/>
  </p:notesMasterIdLst>
  <p:handoutMasterIdLst>
    <p:handoutMasterId r:id="rId71"/>
  </p:handoutMasterIdLst>
  <p:sldIdLst>
    <p:sldId id="256" r:id="rId2"/>
    <p:sldId id="347" r:id="rId3"/>
    <p:sldId id="348" r:id="rId4"/>
    <p:sldId id="329" r:id="rId5"/>
    <p:sldId id="351" r:id="rId6"/>
    <p:sldId id="350" r:id="rId7"/>
    <p:sldId id="353" r:id="rId8"/>
    <p:sldId id="349" r:id="rId9"/>
    <p:sldId id="355" r:id="rId10"/>
    <p:sldId id="332" r:id="rId11"/>
    <p:sldId id="358" r:id="rId12"/>
    <p:sldId id="359" r:id="rId13"/>
    <p:sldId id="344" r:id="rId14"/>
    <p:sldId id="360" r:id="rId15"/>
    <p:sldId id="345" r:id="rId16"/>
    <p:sldId id="362" r:id="rId17"/>
    <p:sldId id="363" r:id="rId18"/>
    <p:sldId id="364" r:id="rId19"/>
    <p:sldId id="365" r:id="rId20"/>
    <p:sldId id="356" r:id="rId21"/>
    <p:sldId id="375" r:id="rId22"/>
    <p:sldId id="392" r:id="rId23"/>
    <p:sldId id="376" r:id="rId24"/>
    <p:sldId id="390" r:id="rId25"/>
    <p:sldId id="395" r:id="rId26"/>
    <p:sldId id="385" r:id="rId27"/>
    <p:sldId id="387" r:id="rId28"/>
    <p:sldId id="398" r:id="rId29"/>
    <p:sldId id="386" r:id="rId30"/>
    <p:sldId id="393" r:id="rId31"/>
    <p:sldId id="435" r:id="rId32"/>
    <p:sldId id="399" r:id="rId33"/>
    <p:sldId id="400" r:id="rId34"/>
    <p:sldId id="389" r:id="rId35"/>
    <p:sldId id="391" r:id="rId36"/>
    <p:sldId id="402" r:id="rId37"/>
    <p:sldId id="436" r:id="rId38"/>
    <p:sldId id="403" r:id="rId39"/>
    <p:sldId id="431" r:id="rId40"/>
    <p:sldId id="432" r:id="rId41"/>
    <p:sldId id="357" r:id="rId42"/>
    <p:sldId id="434" r:id="rId43"/>
    <p:sldId id="397" r:id="rId44"/>
    <p:sldId id="405" r:id="rId45"/>
    <p:sldId id="408" r:id="rId46"/>
    <p:sldId id="409" r:id="rId47"/>
    <p:sldId id="407" r:id="rId48"/>
    <p:sldId id="370" r:id="rId49"/>
    <p:sldId id="424" r:id="rId50"/>
    <p:sldId id="425" r:id="rId51"/>
    <p:sldId id="372" r:id="rId52"/>
    <p:sldId id="410" r:id="rId53"/>
    <p:sldId id="412" r:id="rId54"/>
    <p:sldId id="414" r:id="rId55"/>
    <p:sldId id="417" r:id="rId56"/>
    <p:sldId id="413" r:id="rId57"/>
    <p:sldId id="418" r:id="rId58"/>
    <p:sldId id="396" r:id="rId59"/>
    <p:sldId id="394" r:id="rId60"/>
    <p:sldId id="366" r:id="rId61"/>
    <p:sldId id="352" r:id="rId62"/>
    <p:sldId id="293" r:id="rId63"/>
    <p:sldId id="306" r:id="rId64"/>
    <p:sldId id="419" r:id="rId65"/>
    <p:sldId id="438" r:id="rId66"/>
    <p:sldId id="439" r:id="rId67"/>
    <p:sldId id="377" r:id="rId68"/>
    <p:sldId id="378" r:id="rId69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79540" autoAdjust="0"/>
  </p:normalViewPr>
  <p:slideViewPr>
    <p:cSldViewPr snapToGrid="0">
      <p:cViewPr varScale="1">
        <p:scale>
          <a:sx n="88" d="100"/>
          <a:sy n="88" d="100"/>
        </p:scale>
        <p:origin x="1698" y="66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notesMaster" Target="notesMasters/notesMaster1.xml"/><Relationship Id="rId7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microsoft.com/office/2016/11/relationships/changesInfo" Target="changesInfos/changesInfo1.xml"/><Relationship Id="rId7" Type="http://schemas.openxmlformats.org/officeDocument/2006/relationships/slide" Target="slides/slide6.xml"/><Relationship Id="rId71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20/02/2026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Multi-label_classification?utm_source=chatgpt.com" TargetMode="External"/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i-systems.github.io/teaching/ML/iNotes/04_Classification.html?utm_source=chatgpt.com" TargetMode="Externa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.stackexchange.com/questions/477207/derivative-of-cost-function-for-logistic-regression" TargetMode="External"/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.stackexchange.com/questions/477207/derivative-of-cost-function-for-logistic-regression" TargetMode="External"/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 um </a:t>
            </a:r>
            <a:r>
              <a:rPr lang="pt-BR" b="1" dirty="0"/>
              <a:t>problema de classificação </a:t>
            </a:r>
            <a:r>
              <a:rPr lang="pt-BR" b="1" dirty="0" err="1"/>
              <a:t>multilabel</a:t>
            </a:r>
            <a:r>
              <a:rPr lang="pt-BR" dirty="0"/>
              <a:t>, a superfície de separação é bem diferente da que aparece em problemas binários ou multiclasses clássicos.</a:t>
            </a:r>
          </a:p>
          <a:p>
            <a:r>
              <a:rPr lang="pt-BR" dirty="0"/>
              <a:t>Vou explicar de forma conceitual e visual (como você explicaria em sala).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1️⃣ Lembrete: o que muda no </a:t>
            </a:r>
            <a:r>
              <a:rPr lang="pt-BR" b="1" dirty="0" err="1"/>
              <a:t>multilabel</a:t>
            </a:r>
            <a:endParaRPr lang="pt-BR" b="1" dirty="0"/>
          </a:p>
          <a:p>
            <a:r>
              <a:rPr lang="pt-BR" dirty="0"/>
              <a:t>No </a:t>
            </a:r>
            <a:r>
              <a:rPr lang="pt-BR" dirty="0" err="1"/>
              <a:t>multilabel</a:t>
            </a:r>
            <a:r>
              <a:rPr lang="pt-BR" dirty="0"/>
              <a:t>, cada amostra pode pertencer a </a:t>
            </a:r>
            <a:r>
              <a:rPr lang="pt-BR" b="1" dirty="0"/>
              <a:t>várias classes simultaneamente</a:t>
            </a:r>
            <a:r>
              <a:rPr lang="pt-BR" dirty="0"/>
              <a:t>.</a:t>
            </a:r>
            <a:br>
              <a:rPr lang="pt-BR" dirty="0"/>
            </a:br>
            <a:r>
              <a:rPr lang="pt-BR" dirty="0"/>
              <a:t>Formalmente, o modelo retorna um </a:t>
            </a:r>
            <a:r>
              <a:rPr lang="pt-BR" b="1" dirty="0"/>
              <a:t>vetor binário de rótulos</a:t>
            </a:r>
            <a:r>
              <a:rPr lang="pt-BR" dirty="0"/>
              <a:t>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y = (y_1, y_2, ..., </a:t>
            </a:r>
            <a:r>
              <a:rPr lang="pt-BR" dirty="0" err="1"/>
              <a:t>y_K</a:t>
            </a:r>
            <a:r>
              <a:rPr lang="pt-BR" dirty="0"/>
              <a:t>), \</a:t>
            </a:r>
            <a:r>
              <a:rPr lang="pt-BR" dirty="0" err="1"/>
              <a:t>quad</a:t>
            </a:r>
            <a:r>
              <a:rPr lang="pt-BR" dirty="0"/>
              <a:t> </a:t>
            </a:r>
            <a:r>
              <a:rPr lang="pt-BR" dirty="0" err="1"/>
              <a:t>y_k</a:t>
            </a:r>
            <a:r>
              <a:rPr lang="pt-BR" dirty="0"/>
              <a:t> \in {0,1}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ou seja, cada classe é decidida independentemente. (</a:t>
            </a:r>
            <a:r>
              <a:rPr lang="pt-BR" dirty="0">
                <a:hlinkClick r:id="rId3" tooltip="Multi-label classification"/>
              </a:rPr>
              <a:t>Wikipedia</a:t>
            </a:r>
            <a:r>
              <a:rPr lang="pt-BR" dirty="0"/>
              <a:t>)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2️⃣ Como fica a superfície de separação</a:t>
            </a:r>
          </a:p>
          <a:p>
            <a:r>
              <a:rPr lang="pt-BR" b="1" dirty="0"/>
              <a:t>✔️ Não existe uma única superfície global</a:t>
            </a:r>
          </a:p>
          <a:p>
            <a:r>
              <a:rPr lang="pt-BR" dirty="0"/>
              <a:t>Diferente do </a:t>
            </a:r>
            <a:r>
              <a:rPr lang="pt-BR" dirty="0" err="1"/>
              <a:t>multiclass</a:t>
            </a:r>
            <a:r>
              <a:rPr lang="pt-BR" dirty="0"/>
              <a:t> (onde o espaço é dividido em regiões exclusivas), no </a:t>
            </a:r>
            <a:r>
              <a:rPr lang="pt-BR" dirty="0" err="1"/>
              <a:t>multilabel</a:t>
            </a:r>
            <a:r>
              <a:rPr lang="pt-BR" dirty="0"/>
              <a:t>:</a:t>
            </a:r>
          </a:p>
          <a:p>
            <a:r>
              <a:rPr lang="pt-BR" dirty="0"/>
              <a:t>👉 </a:t>
            </a:r>
            <a:r>
              <a:rPr lang="pt-BR" b="1" dirty="0"/>
              <a:t>cada classe tem sua própria superfície de decisão</a:t>
            </a:r>
            <a:endParaRPr lang="pt-BR" dirty="0"/>
          </a:p>
          <a:p>
            <a:r>
              <a:rPr lang="pt-BR" dirty="0"/>
              <a:t>Ou seja, existem </a:t>
            </a:r>
            <a:r>
              <a:rPr lang="pt-BR" b="1" dirty="0"/>
              <a:t>K superfícies</a:t>
            </a:r>
            <a:r>
              <a:rPr lang="pt-BR" dirty="0"/>
              <a:t> independentes: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f_1(x)=0,\</a:t>
            </a:r>
            <a:r>
              <a:rPr lang="pt-BR" dirty="0" err="1"/>
              <a:t>quad</a:t>
            </a:r>
            <a:r>
              <a:rPr lang="pt-BR" dirty="0"/>
              <a:t> f_2(x)=0,\</a:t>
            </a:r>
            <a:r>
              <a:rPr lang="pt-BR" dirty="0" err="1"/>
              <a:t>quad</a:t>
            </a:r>
            <a:r>
              <a:rPr lang="pt-BR" dirty="0"/>
              <a:t> ...,\</a:t>
            </a:r>
            <a:r>
              <a:rPr lang="pt-BR" dirty="0" err="1"/>
              <a:t>quad</a:t>
            </a:r>
            <a:r>
              <a:rPr lang="pt-BR" dirty="0"/>
              <a:t> </a:t>
            </a:r>
            <a:r>
              <a:rPr lang="pt-BR" dirty="0" err="1"/>
              <a:t>f_K</a:t>
            </a:r>
            <a:r>
              <a:rPr lang="pt-BR" dirty="0"/>
              <a:t>(x)=0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Cada uma decide:</a:t>
            </a:r>
          </a:p>
          <a:p>
            <a:r>
              <a:rPr lang="pt-BR" dirty="0"/>
              <a:t>de um lado → classe presente</a:t>
            </a:r>
          </a:p>
          <a:p>
            <a:r>
              <a:rPr lang="pt-BR" dirty="0"/>
              <a:t>do outro → classe ausente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✔️ Visualização em 2D (intuição)</a:t>
            </a:r>
          </a:p>
          <a:p>
            <a:r>
              <a:rPr lang="pt-BR" dirty="0"/>
              <a:t>Imagine um problema com 2 classes </a:t>
            </a:r>
            <a:r>
              <a:rPr lang="pt-BR" dirty="0" err="1"/>
              <a:t>multilabel</a:t>
            </a:r>
            <a:r>
              <a:rPr lang="pt-BR" dirty="0"/>
              <a:t>:</a:t>
            </a:r>
          </a:p>
          <a:p>
            <a:r>
              <a:rPr lang="pt-BR" dirty="0"/>
              <a:t>Classe A → hiperplano 1</a:t>
            </a:r>
          </a:p>
          <a:p>
            <a:r>
              <a:rPr lang="pt-BR" dirty="0"/>
              <a:t>Classe B → hiperplano 2</a:t>
            </a:r>
          </a:p>
          <a:p>
            <a:r>
              <a:rPr lang="pt-BR" dirty="0"/>
              <a:t>O espaço pode ficar assim:</a:t>
            </a:r>
          </a:p>
          <a:p>
            <a:r>
              <a:rPr lang="pt-BR" dirty="0"/>
              <a:t>Região do </a:t>
            </a:r>
            <a:r>
              <a:rPr lang="pt-BR" dirty="0" err="1"/>
              <a:t>espaçoRótulos</a:t>
            </a:r>
            <a:r>
              <a:rPr lang="pt-BR" dirty="0"/>
              <a:t> </a:t>
            </a:r>
            <a:r>
              <a:rPr lang="pt-BR" dirty="0" err="1"/>
              <a:t>atribuídosSó</a:t>
            </a:r>
            <a:r>
              <a:rPr lang="pt-BR" dirty="0"/>
              <a:t> A ativa(1,0)Só B ativa(0,1)Ambas ativas(1,1)Nenhuma ativa(0,0)</a:t>
            </a:r>
          </a:p>
          <a:p>
            <a:r>
              <a:rPr lang="pt-BR" dirty="0"/>
              <a:t>👉 Ou seja, as superfícies </a:t>
            </a:r>
            <a:r>
              <a:rPr lang="pt-BR" b="1" dirty="0"/>
              <a:t>não particionam o espaço</a:t>
            </a:r>
            <a:br>
              <a:rPr lang="pt-BR" dirty="0"/>
            </a:br>
            <a:r>
              <a:rPr lang="pt-BR" dirty="0"/>
              <a:t>👉 Elas </a:t>
            </a:r>
            <a:r>
              <a:rPr lang="pt-BR" b="1" dirty="0"/>
              <a:t>se sobrepõem</a:t>
            </a:r>
            <a:endParaRPr lang="pt-BR" dirty="0"/>
          </a:p>
          <a:p>
            <a:r>
              <a:rPr lang="pt-BR" dirty="0"/>
              <a:t>Isso é a principal diferença.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3️⃣ Comparação com outros cenários</a:t>
            </a:r>
          </a:p>
          <a:p>
            <a:r>
              <a:rPr lang="pt-BR" b="1" dirty="0"/>
              <a:t>🔹 Binário</a:t>
            </a:r>
          </a:p>
          <a:p>
            <a:r>
              <a:rPr lang="pt-BR" dirty="0"/>
              <a:t>Uma única superfície separa duas regiões.</a:t>
            </a:r>
          </a:p>
          <a:p>
            <a:r>
              <a:rPr lang="pt-BR" b="1" dirty="0"/>
              <a:t>🔹 </a:t>
            </a:r>
            <a:r>
              <a:rPr lang="pt-BR" b="1" dirty="0" err="1"/>
              <a:t>Multiclass</a:t>
            </a:r>
            <a:endParaRPr lang="pt-BR" b="1" dirty="0"/>
          </a:p>
          <a:p>
            <a:r>
              <a:rPr lang="pt-BR" dirty="0"/>
              <a:t>Várias superfícies dividem o espaço em </a:t>
            </a:r>
            <a:r>
              <a:rPr lang="pt-BR" b="1" dirty="0"/>
              <a:t>regiões exclusivas</a:t>
            </a:r>
            <a:r>
              <a:rPr lang="pt-BR" dirty="0"/>
              <a:t>. (</a:t>
            </a:r>
            <a:r>
              <a:rPr lang="pt-BR" dirty="0">
                <a:hlinkClick r:id="rId4" tooltip="04_Classification"/>
              </a:rPr>
              <a:t>i-systems.github.io</a:t>
            </a:r>
            <a:r>
              <a:rPr lang="pt-BR" dirty="0"/>
              <a:t>)</a:t>
            </a:r>
          </a:p>
          <a:p>
            <a:r>
              <a:rPr lang="pt-BR" b="1" dirty="0"/>
              <a:t>🔹 </a:t>
            </a:r>
            <a:r>
              <a:rPr lang="pt-BR" b="1" dirty="0" err="1"/>
              <a:t>Multilabel</a:t>
            </a:r>
            <a:endParaRPr lang="pt-BR" b="1" dirty="0"/>
          </a:p>
          <a:p>
            <a:r>
              <a:rPr lang="pt-BR" dirty="0"/>
              <a:t>Várias superfícies independentes</a:t>
            </a:r>
            <a:br>
              <a:rPr lang="pt-BR" dirty="0"/>
            </a:br>
            <a:r>
              <a:rPr lang="pt-BR" dirty="0"/>
              <a:t>→ regiões podem se </a:t>
            </a:r>
            <a:r>
              <a:rPr lang="pt-BR" b="1" dirty="0"/>
              <a:t>sobrepor</a:t>
            </a:r>
            <a:br>
              <a:rPr lang="pt-BR" dirty="0"/>
            </a:br>
            <a:r>
              <a:rPr lang="pt-BR" dirty="0"/>
              <a:t>→ uma amostra pode cair em várias regiões simultaneamente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4️⃣ Intuição geométrica forte (boa para aula)</a:t>
            </a:r>
          </a:p>
          <a:p>
            <a:r>
              <a:rPr lang="pt-BR" dirty="0"/>
              <a:t>Você pode dizer aos alunos:</a:t>
            </a:r>
          </a:p>
          <a:p>
            <a:r>
              <a:rPr lang="pt-BR" dirty="0"/>
              <a:t>👉 No </a:t>
            </a:r>
            <a:r>
              <a:rPr lang="pt-BR" dirty="0" err="1"/>
              <a:t>multiclass</a:t>
            </a:r>
            <a:r>
              <a:rPr lang="pt-BR" dirty="0"/>
              <a:t> o espaço é </a:t>
            </a:r>
            <a:r>
              <a:rPr lang="pt-BR" i="1" dirty="0"/>
              <a:t>particionado</a:t>
            </a:r>
            <a:br>
              <a:rPr lang="pt-BR" dirty="0"/>
            </a:br>
            <a:r>
              <a:rPr lang="pt-BR" dirty="0"/>
              <a:t>👉 No </a:t>
            </a:r>
            <a:r>
              <a:rPr lang="pt-BR" dirty="0" err="1"/>
              <a:t>multilabel</a:t>
            </a:r>
            <a:r>
              <a:rPr lang="pt-BR" dirty="0"/>
              <a:t> o espaço é </a:t>
            </a:r>
            <a:r>
              <a:rPr lang="pt-BR" i="1" dirty="0"/>
              <a:t>coberto por máscaras</a:t>
            </a:r>
            <a:endParaRPr lang="pt-BR" dirty="0"/>
          </a:p>
          <a:p>
            <a:r>
              <a:rPr lang="pt-BR" dirty="0"/>
              <a:t>Cada máscara representa uma classe.</a:t>
            </a:r>
          </a:p>
          <a:p>
            <a:r>
              <a:rPr lang="pt-BR" dirty="0"/>
              <a:t>O resultado final é a </a:t>
            </a:r>
            <a:r>
              <a:rPr lang="pt-BR" b="1" dirty="0"/>
              <a:t>interseção dessas máscaras</a:t>
            </a:r>
            <a:r>
              <a:rPr lang="pt-BR" dirty="0"/>
              <a:t>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5️⃣ Exemplo aplicado (didático)</a:t>
            </a:r>
          </a:p>
          <a:p>
            <a:r>
              <a:rPr lang="pt-BR" dirty="0"/>
              <a:t>Classificação de imagem médica:</a:t>
            </a:r>
          </a:p>
          <a:p>
            <a:r>
              <a:rPr lang="pt-BR" dirty="0"/>
              <a:t>Superfícies:</a:t>
            </a:r>
          </a:p>
          <a:p>
            <a:r>
              <a:rPr lang="pt-BR" dirty="0"/>
              <a:t>pneumonia</a:t>
            </a:r>
          </a:p>
          <a:p>
            <a:r>
              <a:rPr lang="pt-BR" dirty="0"/>
              <a:t>covid</a:t>
            </a:r>
          </a:p>
          <a:p>
            <a:r>
              <a:rPr lang="pt-BR" dirty="0"/>
              <a:t>tumor</a:t>
            </a:r>
          </a:p>
          <a:p>
            <a:r>
              <a:rPr lang="pt-BR" dirty="0"/>
              <a:t>Uma imagem pode estar:</a:t>
            </a:r>
          </a:p>
          <a:p>
            <a:r>
              <a:rPr lang="pt-BR" dirty="0"/>
              <a:t>em uma região só</a:t>
            </a:r>
          </a:p>
          <a:p>
            <a:r>
              <a:rPr lang="pt-BR" dirty="0"/>
              <a:t>na interseção de duas</a:t>
            </a:r>
          </a:p>
          <a:p>
            <a:r>
              <a:rPr lang="pt-BR" dirty="0"/>
              <a:t>ou até das três</a:t>
            </a:r>
          </a:p>
          <a:p>
            <a:r>
              <a:rPr lang="pt-BR" dirty="0"/>
              <a:t>Não há exclusividade.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6️⃣ Forma matemática típica (logística </a:t>
            </a:r>
            <a:r>
              <a:rPr lang="pt-BR" b="1" dirty="0" err="1"/>
              <a:t>multilabel</a:t>
            </a:r>
            <a:r>
              <a:rPr lang="pt-BR" b="1" dirty="0"/>
              <a:t>)</a:t>
            </a:r>
          </a:p>
          <a:p>
            <a:r>
              <a:rPr lang="pt-BR" dirty="0"/>
              <a:t>Cada classe usa uma sigmoide independente: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P(</a:t>
            </a:r>
            <a:r>
              <a:rPr lang="pt-BR" dirty="0" err="1"/>
              <a:t>y_k</a:t>
            </a:r>
            <a:r>
              <a:rPr lang="pt-BR" dirty="0"/>
              <a:t>=1|x) = \sigma(</a:t>
            </a:r>
            <a:r>
              <a:rPr lang="pt-BR" dirty="0" err="1"/>
              <a:t>w_k^Tx</a:t>
            </a:r>
            <a:r>
              <a:rPr lang="pt-BR" dirty="0"/>
              <a:t>)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e a superfície de decisão é: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 err="1"/>
              <a:t>w_k^Tx</a:t>
            </a:r>
            <a:r>
              <a:rPr lang="pt-BR" dirty="0"/>
              <a:t> = 0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ou seja:</a:t>
            </a:r>
          </a:p>
          <a:p>
            <a:r>
              <a:rPr lang="pt-BR" dirty="0"/>
              <a:t>👉 </a:t>
            </a:r>
            <a:r>
              <a:rPr lang="pt-BR" b="1" dirty="0"/>
              <a:t>um hiperplano por classe</a:t>
            </a:r>
            <a:endParaRPr lang="pt-BR" dirty="0"/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✔️ Resumo para aula</a:t>
            </a:r>
          </a:p>
          <a:p>
            <a:r>
              <a:rPr lang="pt-BR" dirty="0"/>
              <a:t>👉 </a:t>
            </a:r>
            <a:r>
              <a:rPr lang="pt-BR" dirty="0" err="1"/>
              <a:t>Multilabel</a:t>
            </a:r>
            <a:r>
              <a:rPr lang="pt-BR" dirty="0"/>
              <a:t> não tem uma superfície única</a:t>
            </a:r>
            <a:br>
              <a:rPr lang="pt-BR" dirty="0"/>
            </a:br>
            <a:r>
              <a:rPr lang="pt-BR" dirty="0"/>
              <a:t>👉 Existem várias superfícies independentes</a:t>
            </a:r>
            <a:br>
              <a:rPr lang="pt-BR" dirty="0"/>
            </a:br>
            <a:r>
              <a:rPr lang="pt-BR" dirty="0"/>
              <a:t>👉 O espaço não é dividido, mas sobreposto</a:t>
            </a:r>
            <a:br>
              <a:rPr lang="pt-BR" dirty="0"/>
            </a:br>
            <a:r>
              <a:rPr lang="pt-BR" dirty="0"/>
              <a:t>👉 Regiões podem corresponder a múltiplas classes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dirty="0"/>
              <a:t>Se quiser, posso desenhar um </a:t>
            </a:r>
            <a:r>
              <a:rPr lang="pt-BR" b="1" dirty="0"/>
              <a:t>esquema visual didático (tipo quadro de aula)</a:t>
            </a:r>
            <a:r>
              <a:rPr lang="pt-BR" dirty="0"/>
              <a:t> mostrando:</a:t>
            </a:r>
          </a:p>
          <a:p>
            <a:r>
              <a:rPr lang="pt-BR" dirty="0" err="1"/>
              <a:t>multiclass</a:t>
            </a:r>
            <a:r>
              <a:rPr lang="pt-BR" dirty="0"/>
              <a:t> </a:t>
            </a:r>
            <a:r>
              <a:rPr lang="pt-BR" dirty="0" err="1"/>
              <a:t>vs</a:t>
            </a:r>
            <a:r>
              <a:rPr lang="pt-BR" dirty="0"/>
              <a:t> </a:t>
            </a:r>
            <a:r>
              <a:rPr lang="pt-BR" dirty="0" err="1"/>
              <a:t>multilabel</a:t>
            </a:r>
            <a:endParaRPr lang="pt-BR" dirty="0"/>
          </a:p>
          <a:p>
            <a:r>
              <a:rPr lang="pt-BR" dirty="0"/>
              <a:t>fronteiras</a:t>
            </a:r>
          </a:p>
          <a:p>
            <a:r>
              <a:rPr lang="pt-BR" dirty="0"/>
              <a:t>regiões</a:t>
            </a:r>
          </a:p>
          <a:p>
            <a:r>
              <a:rPr lang="pt-BR"/>
              <a:t>Isso costuma ajudar muito os alunos a entenderem.</a:t>
            </a:r>
          </a:p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 err="1"/>
              <a:t>Motivacão</a:t>
            </a:r>
            <a:r>
              <a:rPr lang="pt-BR" dirty="0"/>
              <a:t>:</a:t>
            </a:r>
            <a:r>
              <a:rPr lang="pt-BR" baseline="0" dirty="0"/>
              <a:t> </a:t>
            </a:r>
            <a:r>
              <a:rPr lang="pt-BR" baseline="0" dirty="0" err="1"/>
              <a:t>classificacão</a:t>
            </a:r>
            <a:r>
              <a:rPr lang="pt-BR" baseline="0" dirty="0"/>
              <a:t> de e-mails, detecção de símbolos, classificação de modulações, etc.</a:t>
            </a:r>
            <a:endParaRPr lang="pt-BR" dirty="0"/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28635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51743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DA5E1-00E0-2F8D-E426-C2BE1BC87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5444DB-79D2-76F0-537D-343DD7EF78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229730-5EFD-DF7F-FC23-84032A9E74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7740AF-93D3-5439-F324-AEC42AF75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68148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separar) as classes.</a:t>
            </a:r>
            <a:endParaRPr lang="pt-BR" dirty="0"/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i="1" dirty="0"/>
              <a:t>fronteira de decisão</a:t>
            </a:r>
            <a:r>
              <a:rPr lang="pt-BR" b="0" i="0" dirty="0"/>
              <a:t>  é onde </a:t>
            </a:r>
            <a:r>
              <a:rPr lang="pt-BR" dirty="0"/>
              <a:t>onde ocorre uma indeterminação, ou seja, um empate entre diferentes classes possíveis.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900477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separar) as classes.</a:t>
            </a:r>
            <a:endParaRPr lang="pt-BR" dirty="0"/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i="1" dirty="0"/>
              <a:t>fronteira de decisão</a:t>
            </a:r>
            <a:r>
              <a:rPr lang="pt-BR" b="0" i="0" dirty="0"/>
              <a:t>  é onde </a:t>
            </a:r>
            <a:r>
              <a:rPr lang="pt-BR" dirty="0"/>
              <a:t>onde ocorre uma indeterminação, ou seja, um empate entre diferentes classes possíveis.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28240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seja, separar) as classes.</a:t>
            </a:r>
            <a:endParaRPr lang="pt-BR" dirty="0"/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70984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um problema de classificação de duas classes, pode-se visualizar a operação de um classificador linear como a divisão de um espaço de entrada de alta dimensão com um hiperplano: todos os pontos de um lado do hiperplano são classificados como "sim", enquanto os outros são classificados como "não".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44010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098F72-2922-82B3-5C99-E3BEF8098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532C96A-22C4-D1DD-3FBA-62861D4BDF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B3956BA-58DA-02D3-A28D-2E027144F6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um problema de classificação de duas classes, pode-se visualizar a operação de um classificador linear como a divisão de um espaço de entrada de alta dimensão com um hiperplano: todos os pontos de um lado do hiperplano são classificados como "sim", enquanto os outros são classificados como "não".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BF6E418-7A70-5EBA-2166-ABCAA4B4C5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6902098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classificador sempre anuncia uma previsão completamente confiante de 0 ou 1, mesmo para exemplos muito próximos do limite. Em muitas situações, precisamos realmente de previsões mais graduadas.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07943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B676CD-D7AC-2B3E-F1F4-285137D78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D83C45-BD26-CB76-54F0-14BDDCDD76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B35AEB-BD45-C559-CA69-3F6AAF8D99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classificador sempre anuncia uma previsão completamente confiante de 0 ou 1, mesmo para exemplos muito próximos do limite. Em muitas situações, precisamos realmente de previsões mais graduadas.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989778-0D21-4998-A9E3-F299024619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6424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554855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FBDC55-BB4D-2F06-71BF-76ED1A14A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3FDBDE3-54FF-D34A-6455-B4D01E3B3A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159710A-028C-37C9-8B04-776EB9E8B7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97E3764-6735-3BB1-4FF7-5946552F47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5531853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5156349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logit, classificação de entropia máxima (MaxEnt)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241732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22671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5959874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080068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Logistic regression is emphatically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classification algorithm on its own. It is only a classification algorithm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combination with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decision rule that makes dichotomous the predicted probabilities of the outcome. Logistic regression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regression model because it estimates the probability of class membership as a (transformation of a) multilinear function of the features.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7924586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Logistic regression is emphatically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classification algorithm on its own. It is only a classification algorithm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combination with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decision rule that makes dichotomous the predicted probabilities of the outcome. Logistic regression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regression model because it estimates the probability of class membership as a (transformation of a) multilinear function of the features.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5262967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:r>
                  <a:rPr lang="pt-BR" b="1" i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2294893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r>
                  <a:rPr lang="pt-BR" dirty="0"/>
                  <a:t>[2] https://www.google.com/url?sa=i&amp;url=https%3A%2F%2Fwww.cs.ubc.ca%2Flabs%2Flci%2Fmlrg%2Fslides%2Fnon_convex_optimization.pdf&amp;psig=AOvVaw0AaqLwjchgyY7K1ckrTpcs&amp;ust=1693136067560000&amp;source=images&amp;cd=vfe&amp;opi=89978449&amp;ved=0CBIQjhxqFwoTCKDc18Cd-oADFQAAAAAdAAAAABAE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:r>
                  <a:rPr lang="pt-BR" b="1" i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r>
                  <a:rPr lang="pt-BR" dirty="0"/>
                  <a:t>[2] https://www.google.com/url?sa=i&amp;url=https%3A%2F%2Fwww.cs.ubc.ca%2Flabs%2Flci%2Fmlrg%2Fslides%2Fnon_convex_optimization.pdf&amp;psig=AOvVaw0AaqLwjchgyY7K1ckrTpcs&amp;ust=1693136067560000&amp;source=images&amp;cd=vfe&amp;opi=89978449&amp;ved=0CBIQjhxqFwoTCKDc18Cd-oADFQAAAAAdAAAAABAE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654702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:r>
                  <a:rPr lang="pt-BR" b="1" i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9180501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A função de erro para todo o conjunto de treinamento é simplesmente o erro médio para todos</a:t>
            </a:r>
            <a:r>
              <a:rPr lang="pt-BR" sz="1200" baseline="0" dirty="0"/>
              <a:t> os exemplos </a:t>
            </a:r>
            <a:r>
              <a:rPr lang="pt-BR" sz="1200" dirty="0"/>
              <a:t>de treinamento.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Ela pode ser escrita em uma única expressão</a:t>
            </a:r>
            <a:r>
              <a:rPr lang="pt-BR" sz="1200" baseline="0" dirty="0"/>
              <a:t> como mostrado acima.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general, there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no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analytical solution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since these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regression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parameters fall into a set of nonlinear equations.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problem is that the logistic sigmoid is non-linear.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For logistic regression, there is no longer a closed-form solution, due to the nonlinearity of the logistic sigmoid function. </a:t>
            </a: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Explicação do porque não é possível se encontrar uma forma fechada para o regressor logístico: [2].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Referências: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[1] http://deeplearning.stanford.edu/tutorial/supervised/SoftmaxRegression/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[2] </a:t>
            </a:r>
            <a:r>
              <a:rPr lang="pt-BR" sz="1200" baseline="0" dirty="0"/>
              <a:t>https://stats.stackexchange.com/questions/949/when-is-logistic-regression-solved-in-closed-form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2149482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A função de erro para todo o conjunto de treinamento é simplesmente o erro médio para todos</a:t>
            </a:r>
            <a:r>
              <a:rPr lang="pt-BR" sz="1200" baseline="0" dirty="0"/>
              <a:t> os exemplos </a:t>
            </a:r>
            <a:r>
              <a:rPr lang="pt-BR" sz="1200" dirty="0"/>
              <a:t>de treinamento.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Ela pode ser escrita em uma única expressão</a:t>
            </a:r>
            <a:r>
              <a:rPr lang="pt-BR" sz="1200" baseline="0" dirty="0"/>
              <a:t> como mostrado acima.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general, there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no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analytical solution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since these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regression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parameters fall into a set of nonlinear equations.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problem is that the logistic sigmoid is non-linear.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For logistic regression, there is no longer a closed-form solution, due to the nonlinearity of the logistic sigmoid function. </a:t>
            </a: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Explicação do porque não é possível se encontrar uma forma fechada para o regressor logístico: [2].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Referências: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[1] http://deeplearning.stanford.edu/tutorial/supervised/SoftmaxRegression/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[2] </a:t>
            </a:r>
            <a:r>
              <a:rPr lang="pt-BR" sz="1200" baseline="0" dirty="0"/>
              <a:t>https://stats.stackexchange.com/questions/949/when-is-logistic-regression-solved-in-closed-form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0925236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</a:t>
            </a:r>
            <a:r>
              <a:rPr lang="pt-BR" dirty="0" err="1"/>
              <a:t>github</a:t>
            </a:r>
            <a:r>
              <a:rPr lang="pt-BR" dirty="0"/>
              <a:t>/zz4fap/t320_aprendizado_de_maquina/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/notebooks/classificação/</a:t>
            </a:r>
            <a:r>
              <a:rPr lang="pt-BR" dirty="0" err="1"/>
              <a:t>logistic_regression_with_gradient_descent.ipynb</a:t>
            </a:r>
            <a:endParaRPr lang="pt-B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endParaRPr lang="pt-BR" b="1" dirty="0"/>
          </a:p>
          <a:p>
            <a:r>
              <a:rPr lang="pt-BR" b="1" dirty="0"/>
              <a:t>Referência</a:t>
            </a:r>
            <a:r>
              <a:rPr lang="pt-BR" dirty="0"/>
              <a:t>:</a:t>
            </a:r>
          </a:p>
          <a:p>
            <a:r>
              <a:rPr lang="pt-BR" dirty="0">
                <a:hlinkClick r:id="rId3"/>
              </a:rPr>
              <a:t>https://math.stackexchange.com/questions/477207/derivative-of-cost-function-for-logistic-regression</a:t>
            </a:r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711690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</a:t>
            </a:r>
            <a:r>
              <a:rPr lang="pt-BR" dirty="0" err="1"/>
              <a:t>github</a:t>
            </a:r>
            <a:r>
              <a:rPr lang="pt-BR" dirty="0"/>
              <a:t>/zz4fap/t320_aprendizado_de_maquina/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/notebooks/classificação/</a:t>
            </a:r>
            <a:r>
              <a:rPr lang="pt-BR" dirty="0" err="1"/>
              <a:t>logistic_regression_with_gradient_descent.ipynb</a:t>
            </a:r>
            <a:endParaRPr lang="pt-B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endParaRPr lang="pt-BR" b="1" dirty="0"/>
          </a:p>
          <a:p>
            <a:r>
              <a:rPr lang="pt-BR" b="1" dirty="0"/>
              <a:t>Referência</a:t>
            </a:r>
            <a:r>
              <a:rPr lang="pt-BR" dirty="0"/>
              <a:t>:</a:t>
            </a:r>
          </a:p>
          <a:p>
            <a:r>
              <a:rPr lang="pt-BR" dirty="0">
                <a:hlinkClick r:id="rId3"/>
              </a:rPr>
              <a:t>https://math.stackexchange.com/questions/477207/derivative-of-cost-function-for-logistic-regression</a:t>
            </a:r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973824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47614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Na segunda figura, o uso de um polinômio de ordem elevada resulta em uma fronteira de decisão excessivamente flexível, levando a distorções na tentativa de reduzir o erro de classificação nos dados de treinamento.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971308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SPAMClassificationLogisticRegressionGD.ipynb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68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983811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1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1.png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1.png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emf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emf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emf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0.png"/><Relationship Id="rId4" Type="http://schemas.openxmlformats.org/officeDocument/2006/relationships/image" Target="../media/image20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em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0.png"/><Relationship Id="rId5" Type="http://schemas.openxmlformats.org/officeDocument/2006/relationships/image" Target="../media/image23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0.png"/><Relationship Id="rId5" Type="http://schemas.openxmlformats.org/officeDocument/2006/relationships/image" Target="../media/image230.png"/><Relationship Id="rId4" Type="http://schemas.openxmlformats.org/officeDocument/2006/relationships/image" Target="../media/image26.emf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7" Type="http://schemas.openxmlformats.org/officeDocument/2006/relationships/image" Target="../media/image38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1.png"/><Relationship Id="rId5" Type="http://schemas.openxmlformats.org/officeDocument/2006/relationships/image" Target="../media/image26.emf"/><Relationship Id="rId4" Type="http://schemas.openxmlformats.org/officeDocument/2006/relationships/image" Target="../media/image3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7" Type="http://schemas.openxmlformats.org/officeDocument/2006/relationships/image" Target="../media/image38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1.png"/><Relationship Id="rId5" Type="http://schemas.openxmlformats.org/officeDocument/2006/relationships/image" Target="../media/image26.emf"/><Relationship Id="rId4" Type="http://schemas.openxmlformats.org/officeDocument/2006/relationships/image" Target="../media/image34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37.emf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37.emf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37.emf"/><Relationship Id="rId4" Type="http://schemas.openxmlformats.org/officeDocument/2006/relationships/image" Target="../media/image42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e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5" Type="http://schemas.openxmlformats.org/officeDocument/2006/relationships/image" Target="NULL"/><Relationship Id="rId4" Type="http://schemas.openxmlformats.org/officeDocument/2006/relationships/image" Target="../media/image50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320_aprendizado_de_maquina/blob/main/notebooks/classifica&#231;&#227;o/logistic_regression_with_gradient_descent.ipynb" TargetMode="External"/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9" Type="http://schemas.openxmlformats.org/officeDocument/2006/relationships/image" Target="NULL"/><Relationship Id="rId4" Type="http://schemas.openxmlformats.org/officeDocument/2006/relationships/image" Target="NULL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jpe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1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0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Classificação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010900" cy="4351338"/>
              </a:xfrm>
            </p:spPr>
            <p:txBody>
              <a:bodyPr/>
              <a:lstStyle/>
              <a:p>
                <a:r>
                  <a:rPr lang="pt-BR" dirty="0"/>
                  <a:t>Tarefa (ou problema)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aprendizado supervisionado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 saídas esperadas (rótulos) são conhecidas.</a:t>
                </a:r>
              </a:p>
              <a:p>
                <a:r>
                  <a:rPr lang="pt-BR" dirty="0"/>
                  <a:t>Envolve encontrar uma função,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que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mapeie</a:t>
                </a:r>
                <a:r>
                  <a:rPr lang="pt-BR" dirty="0"/>
                  <a:t> os atributos de entrada em um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conjunto finito de valores discretos</a:t>
                </a:r>
                <a:r>
                  <a:rPr lang="pt-BR" dirty="0"/>
                  <a:t>, ou seja, em classes.</a:t>
                </a:r>
                <a:endParaRPr lang="en-US" dirty="0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010900" cy="4351338"/>
              </a:xfrm>
              <a:blipFill>
                <a:blip r:embed="rId2"/>
                <a:stretch>
                  <a:fillRect l="-997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https://miro.medium.com/max/1276/1*4sixxtuD8unWceZ-yp9TgQ.jpe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43" t="33761" r="47008" b="10621"/>
          <a:stretch/>
        </p:blipFill>
        <p:spPr bwMode="auto">
          <a:xfrm>
            <a:off x="7031891" y="3774326"/>
            <a:ext cx="2549237" cy="25375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https://miro.medium.com/max/1276/1*4sixxtuD8unWceZ-yp9TgQ.jpe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47" t="33424" r="5087" b="12524"/>
          <a:stretch/>
        </p:blipFill>
        <p:spPr bwMode="auto">
          <a:xfrm>
            <a:off x="1671781" y="3763638"/>
            <a:ext cx="2538080" cy="2466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/>
              <p:cNvSpPr txBox="1"/>
              <p:nvPr/>
            </p:nvSpPr>
            <p:spPr>
              <a:xfrm>
                <a:off x="1088136" y="6229747"/>
                <a:ext cx="384047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i="1" dirty="0" err="1">
                    <a:solidFill>
                      <a:srgbClr val="00B050"/>
                    </a:solidFill>
                  </a:rPr>
                  <a:t>aproxima</a:t>
                </a:r>
                <a:r>
                  <a:rPr lang="en-US" dirty="0"/>
                  <a:t> o </a:t>
                </a:r>
                <a:r>
                  <a:rPr lang="en-US" dirty="0" err="1"/>
                  <a:t>comportamento</a:t>
                </a:r>
                <a:r>
                  <a:rPr lang="en-US" dirty="0"/>
                  <a:t> dos dados.</a:t>
                </a:r>
              </a:p>
            </p:txBody>
          </p:sp>
        </mc:Choice>
        <mc:Fallback xmlns="">
          <p:sp>
            <p:nvSpPr>
              <p:cNvPr id="4" name="CaixaDeTexto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136" y="6229747"/>
                <a:ext cx="3840479" cy="646331"/>
              </a:xfrm>
              <a:prstGeom prst="rect">
                <a:avLst/>
              </a:prstGeom>
              <a:blipFill rotWithShape="0">
                <a:blip r:embed="rId4"/>
                <a:stretch>
                  <a:fillRect t="-5660" r="-1113" b="-1415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/>
              <p:cNvSpPr txBox="1"/>
              <p:nvPr/>
            </p:nvSpPr>
            <p:spPr>
              <a:xfrm>
                <a:off x="6509713" y="6311900"/>
                <a:ext cx="359359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i="1" dirty="0">
                    <a:solidFill>
                      <a:srgbClr val="0070C0"/>
                    </a:solidFill>
                  </a:rPr>
                  <a:t>classifica</a:t>
                </a:r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dados.</a:t>
                </a:r>
              </a:p>
            </p:txBody>
          </p:sp>
        </mc:Choice>
        <mc:Fallback xmlns="">
          <p:sp>
            <p:nvSpPr>
              <p:cNvPr id="7" name="CaixaDeTexto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9713" y="6311900"/>
                <a:ext cx="3593592" cy="369332"/>
              </a:xfrm>
              <a:prstGeom prst="rect">
                <a:avLst/>
              </a:prstGeom>
              <a:blipFill>
                <a:blip r:embed="rId5"/>
                <a:stretch>
                  <a:fillRect t="-8197" b="-245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ECF4BC9-393F-92F3-2241-24670E5635B4}"/>
                  </a:ext>
                </a:extLst>
              </p:cNvPr>
              <p:cNvSpPr txBox="1"/>
              <p:nvPr/>
            </p:nvSpPr>
            <p:spPr>
              <a:xfrm>
                <a:off x="9716654" y="4664364"/>
                <a:ext cx="1637146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pt-BR" dirty="0"/>
                  <a:t>forma uma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fronteira de decisão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ECF4BC9-393F-92F3-2241-24670E5635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6654" y="4664364"/>
                <a:ext cx="1637146" cy="923330"/>
              </a:xfrm>
              <a:prstGeom prst="rect">
                <a:avLst/>
              </a:prstGeom>
              <a:blipFill>
                <a:blip r:embed="rId6"/>
                <a:stretch>
                  <a:fillRect t="-3289" r="-1487" b="-921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5">
                <a:extLst>
                  <a:ext uri="{FF2B5EF4-FFF2-40B4-BE49-F238E27FC236}">
                    <a16:creationId xmlns:a16="http://schemas.microsoft.com/office/drawing/2014/main" id="{48D3A820-D198-F9AB-C6B3-3F78DA6684D0}"/>
                  </a:ext>
                </a:extLst>
              </p:cNvPr>
              <p:cNvSpPr txBox="1"/>
              <p:nvPr/>
            </p:nvSpPr>
            <p:spPr>
              <a:xfrm>
                <a:off x="4209861" y="4664364"/>
                <a:ext cx="1766066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pt-BR" dirty="0"/>
                  <a:t>captura o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comportamento geral</a:t>
                </a:r>
                <a:r>
                  <a:rPr lang="pt-BR" dirty="0"/>
                  <a:t> dos dados.</a:t>
                </a:r>
              </a:p>
            </p:txBody>
          </p:sp>
        </mc:Choice>
        <mc:Fallback xmlns="">
          <p:sp>
            <p:nvSpPr>
              <p:cNvPr id="8" name="CaixaDeTexto 5">
                <a:extLst>
                  <a:ext uri="{FF2B5EF4-FFF2-40B4-BE49-F238E27FC236}">
                    <a16:creationId xmlns:a16="http://schemas.microsoft.com/office/drawing/2014/main" id="{48D3A820-D198-F9AB-C6B3-3F78DA6684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9861" y="4664364"/>
                <a:ext cx="1766066" cy="923330"/>
              </a:xfrm>
              <a:prstGeom prst="rect">
                <a:avLst/>
              </a:prstGeom>
              <a:blipFill>
                <a:blip r:embed="rId7"/>
                <a:stretch>
                  <a:fillRect l="-2422" t="-3289" r="-3806"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704749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 de classificação</a:t>
            </a:r>
            <a:endParaRPr lang="en-US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5007429"/>
            <a:ext cx="10515600" cy="1850571"/>
          </a:xfrm>
        </p:spPr>
        <p:txBody>
          <a:bodyPr>
            <a:normAutofit/>
          </a:bodyPr>
          <a:lstStyle/>
          <a:p>
            <a:r>
              <a:rPr lang="pt-BR" dirty="0"/>
              <a:t>Classificação de </a:t>
            </a:r>
            <a:r>
              <a:rPr lang="pt-BR" dirty="0" err="1"/>
              <a:t>emails</a:t>
            </a:r>
            <a:r>
              <a:rPr lang="pt-BR" dirty="0"/>
              <a:t> entre </a:t>
            </a:r>
            <a:r>
              <a:rPr lang="pt-BR" i="1" dirty="0"/>
              <a:t>spam</a:t>
            </a:r>
            <a:r>
              <a:rPr lang="pt-BR" dirty="0"/>
              <a:t> e </a:t>
            </a:r>
            <a:r>
              <a:rPr lang="pt-BR" i="1" dirty="0" err="1"/>
              <a:t>ham</a:t>
            </a:r>
            <a:r>
              <a:rPr lang="pt-BR" dirty="0"/>
              <a:t> (legítimo).</a:t>
            </a:r>
          </a:p>
          <a:p>
            <a:r>
              <a:rPr lang="pt-BR" dirty="0"/>
              <a:t>Classificação de objetos em imagens.</a:t>
            </a:r>
          </a:p>
          <a:p>
            <a:r>
              <a:rPr lang="pt-BR" dirty="0"/>
              <a:t>Reconhecimento de caracteres.</a:t>
            </a:r>
          </a:p>
        </p:txBody>
      </p:sp>
      <p:pic>
        <p:nvPicPr>
          <p:cNvPr id="4" name="Picture 5" descr="Image result for supervised learning">
            <a:extLst>
              <a:ext uri="{FF2B5EF4-FFF2-40B4-BE49-F238E27FC236}">
                <a16:creationId xmlns:a16="http://schemas.microsoft.com/office/drawing/2014/main" id="{2520F4EA-1E3E-4F3B-97C0-DF47861DCD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112" y="2475379"/>
            <a:ext cx="4096017" cy="1310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Measure Classification Performance: New in Wolfram Language 11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8589" y="1690688"/>
            <a:ext cx="2879696" cy="28796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Ana Barros (@anathinker) | Twitter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3557" y="1915932"/>
            <a:ext cx="3635331" cy="2409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657422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4922156"/>
            <a:ext cx="10858500" cy="1834185"/>
          </a:xfrm>
        </p:spPr>
        <p:txBody>
          <a:bodyPr>
            <a:normAutofit/>
          </a:bodyPr>
          <a:lstStyle/>
          <a:p>
            <a:r>
              <a:rPr lang="pt-BR" dirty="0"/>
              <a:t>Classificação de texto (e.g., notícias).</a:t>
            </a:r>
          </a:p>
          <a:p>
            <a:r>
              <a:rPr lang="pt-BR" dirty="0"/>
              <a:t>Classificação de sentimentos.</a:t>
            </a:r>
          </a:p>
          <a:p>
            <a:r>
              <a:rPr lang="pt-BR" dirty="0"/>
              <a:t>Classificação do doenças (e.g., pulmonares).</a:t>
            </a:r>
          </a:p>
        </p:txBody>
      </p:sp>
      <p:pic>
        <p:nvPicPr>
          <p:cNvPr id="1030" name="Picture 6" descr="Analyzing Text Classification Techniques on Youtube Data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07" t="4114" r="9213" b="4823"/>
          <a:stretch/>
        </p:blipFill>
        <p:spPr bwMode="auto">
          <a:xfrm>
            <a:off x="179761" y="1843447"/>
            <a:ext cx="4215802" cy="2409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Sentiment Fig 1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"/>
          <a:stretch>
            <a:fillRect/>
          </a:stretch>
        </p:blipFill>
        <p:spPr bwMode="auto">
          <a:xfrm>
            <a:off x="4746170" y="1843447"/>
            <a:ext cx="3581201" cy="25971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itle 1"/>
          <p:cNvSpPr txBox="1">
            <a:spLocks/>
          </p:cNvSpPr>
          <p:nvPr/>
        </p:nvSpPr>
        <p:spPr>
          <a:xfrm>
            <a:off x="838200" y="10165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dirty="0"/>
              <a:t>Tarefas de classificação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A9D184C6-ECA9-05BF-F6B4-C0965441E4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00" r="73203" b="10234"/>
          <a:stretch/>
        </p:blipFill>
        <p:spPr bwMode="auto">
          <a:xfrm>
            <a:off x="8652452" y="1337220"/>
            <a:ext cx="3267075" cy="3331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070821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but it happened 😂 #DeepLearning #AI #MachineLearning">
            <a:extLst>
              <a:ext uri="{FF2B5EF4-FFF2-40B4-BE49-F238E27FC236}">
                <a16:creationId xmlns:a16="http://schemas.microsoft.com/office/drawing/2014/main" id="{F25FF98E-22C0-F45E-2254-540617F2FD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2240" y="1264812"/>
            <a:ext cx="4647519" cy="4328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85962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C95A22-E872-4069-E235-358A1FCDD2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Tipos de classificadores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965F31-6E51-4FAB-4852-DECB11BED9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25200" cy="5032376"/>
              </a:xfrm>
            </p:spPr>
            <p:txBody>
              <a:bodyPr/>
              <a:lstStyle/>
              <a:p>
                <a:r>
                  <a:rPr lang="pt-BR" dirty="0"/>
                  <a:t>Organizamos os tipos de classificadores segundo dois critérios principais: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Número total de classes possíveis,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, 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Quantidade de classes atribuídas a cada amostra.</a:t>
                </a:r>
              </a:p>
              <a:p>
                <a:r>
                  <a:rPr lang="pt-BR" dirty="0"/>
                  <a:t>Dependendo do número de classes possíveis,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, podemos separar os classificadores em dois tipos: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Binários, 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b="0" dirty="0"/>
                  <a:t>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Existem apenas </a:t>
                </a:r>
                <a:r>
                  <a:rPr lang="pt-BR" b="1" dirty="0"/>
                  <a:t>duas classes possíveis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Multiclasses, </a:t>
                </a:r>
                <a:r>
                  <a:rPr lang="en-US" dirty="0" err="1"/>
                  <a:t>onde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&gt;2.</m:t>
                    </m:r>
                  </m:oMath>
                </a14:m>
                <a:endParaRPr lang="en-US" dirty="0"/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Existem </a:t>
                </a:r>
                <a:r>
                  <a:rPr lang="pt-BR" b="1" dirty="0"/>
                  <a:t>três ou mais classes</a:t>
                </a:r>
                <a:endParaRPr lang="pt-BR" dirty="0"/>
              </a:p>
              <a:p>
                <a:r>
                  <a:rPr lang="pt-BR" dirty="0"/>
                  <a:t>Em ambos os casos, cada amostra pertence a </a:t>
                </a:r>
                <a:r>
                  <a:rPr lang="pt-BR" b="1" dirty="0"/>
                  <a:t>uma única classe.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965F31-6E51-4FAB-4852-DECB11BED9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25200" cy="5032376"/>
              </a:xfrm>
              <a:blipFill>
                <a:blip r:embed="rId3"/>
                <a:stretch>
                  <a:fillRect l="-986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2811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3AE076-4457-7BD3-2388-70AAD7122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9F8340-2935-1CC3-CE87-3E1A76A73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Tipos de classificadores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0FC0EC-BE21-C1F6-BD0D-5113525C20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25200" cy="5032376"/>
          </a:xfrm>
        </p:spPr>
        <p:txBody>
          <a:bodyPr>
            <a:normAutofit/>
          </a:bodyPr>
          <a:lstStyle/>
          <a:p>
            <a:r>
              <a:rPr lang="pt-BR" dirty="0"/>
              <a:t>Podemos também separar os classificadores dependendo de quantas classes podem ser atribuídas a uma única instância: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Cada amostra recebe apenas uma classe.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Inclui: binária e </a:t>
            </a:r>
            <a:r>
              <a:rPr lang="pt-BR" dirty="0" err="1"/>
              <a:t>multiclasse</a:t>
            </a:r>
            <a:endParaRPr lang="pt-BR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As classes são mutuamente exclusivas.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</a:t>
            </a:r>
            <a:r>
              <a:rPr lang="pt-BR" i="1" dirty="0" err="1"/>
              <a:t>multilabel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Uma amostra pode pertencer a várias classes simultaneamente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As classes não são mutuamente exclusivas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Exemplos: 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Imagem com “cachorro” e “pessoa”,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Artigo com múltiplos tópicos.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 modelo prevê um vetor binário indicando quais rótulos estão presentes. </a:t>
            </a:r>
          </a:p>
        </p:txBody>
      </p:sp>
    </p:spTree>
    <p:extLst>
      <p:ext uri="{BB962C8B-B14F-4D97-AF65-F5344CB8AC3E}">
        <p14:creationId xmlns:p14="http://schemas.microsoft.com/office/powerpoint/2010/main" val="39444896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127B6-6972-D992-E732-0F4C9D9283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Algoritmos de classificação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650875-3EEC-71D0-1DC4-489808F821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14314" cy="5032375"/>
          </a:xfrm>
        </p:spPr>
        <p:txBody>
          <a:bodyPr>
            <a:normAutofit/>
          </a:bodyPr>
          <a:lstStyle/>
          <a:p>
            <a:r>
              <a:rPr lang="pt-BR" dirty="0"/>
              <a:t>Existe uma grande quantidade de algoritmos de classificação, mas focaremos nos seguintes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Regressor logístico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 binário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Regressor softmax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 multiclasses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dirty="0"/>
              <a:t>.</a:t>
            </a:r>
          </a:p>
          <a:p>
            <a:r>
              <a:rPr lang="pt-BR" dirty="0"/>
              <a:t>Discutiremos adiante também algoritmos que resolvem problemas de regressão e classificação, como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Árvores de decisão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Classificadores binários, multiclasses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Redes neurais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Classificadores binários, multiclasses,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i="1" dirty="0"/>
              <a:t> </a:t>
            </a:r>
            <a:r>
              <a:rPr lang="pt-BR" dirty="0"/>
              <a:t>e</a:t>
            </a:r>
            <a:r>
              <a:rPr lang="pt-BR" i="1" dirty="0"/>
              <a:t> </a:t>
            </a:r>
            <a:r>
              <a:rPr lang="pt-BR" i="1" dirty="0" err="1"/>
              <a:t>multilabel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953133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0302BD-A868-44A9-D6B7-B33026A62A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927463"/>
            <a:ext cx="10515600" cy="100307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i="1" dirty="0"/>
              <a:t>Como representamos os rótulos?</a:t>
            </a:r>
            <a:endParaRPr lang="en-US" sz="6000" i="1" dirty="0"/>
          </a:p>
        </p:txBody>
      </p:sp>
    </p:spTree>
    <p:extLst>
      <p:ext uri="{BB962C8B-B14F-4D97-AF65-F5344CB8AC3E}">
        <p14:creationId xmlns:p14="http://schemas.microsoft.com/office/powerpoint/2010/main" val="38334170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dirty="0" err="1"/>
              <a:t>binária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15255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classificador tem </a:t>
                </a:r>
                <a:r>
                  <a:rPr lang="pt-BR" b="1" dirty="0"/>
                  <a:t>única saída escalar</a:t>
                </a:r>
                <a:r>
                  <a:rPr lang="pt-BR" b="1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para indicar a </a:t>
                </a:r>
                <a:r>
                  <a:rPr lang="pt-BR" b="1" dirty="0"/>
                  <a:t>classe</a:t>
                </a:r>
                <a:r>
                  <a:rPr lang="pt-BR" dirty="0"/>
                  <a:t> a que pertence 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</a:t>
                </a:r>
                <a:r>
                  <a:rPr lang="pt-BR" b="1" dirty="0"/>
                  <a:t>vetor de atributos</a:t>
                </a:r>
                <a:r>
                  <a:rPr lang="pt-BR" dirty="0"/>
                  <a:t>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b="0" dirty="0"/>
              </a:p>
              <a:p>
                <a:r>
                  <a:rPr lang="pt-BR" dirty="0"/>
                  <a:t>Os rótulos são representados como: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1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representam as classe negativa e a positiva, respectivamente.</a:t>
                </a:r>
              </a:p>
              <a:p>
                <a:r>
                  <a:rPr lang="pt-BR" dirty="0"/>
                  <a:t>Também é possível utilizar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r>
                  <a:rPr lang="pt-BR" dirty="0"/>
                  <a:t> para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ou seja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   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15255" cy="5032376"/>
              </a:xfrm>
              <a:blipFill>
                <a:blip r:embed="rId2"/>
                <a:stretch>
                  <a:fillRect l="-108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157583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37BFF-244C-0D73-96E1-47543A4C2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93F73-D553-1C61-9D7D-AAB3F5909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dirty="0" err="1"/>
              <a:t>multiclasse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34CF39-62BC-DA90-F244-DCDEF2E97D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classificador </a:t>
                </a:r>
                <a:r>
                  <a:rPr lang="pt-BR" dirty="0">
                    <a:solidFill>
                      <a:schemeClr val="tx1"/>
                    </a:solidFill>
                  </a:rPr>
                  <a:t>tem </a:t>
                </a:r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>
                    <a:solidFill>
                      <a:schemeClr val="tx1"/>
                    </a:solidFill>
                  </a:rPr>
                  <a:t> saídas escalares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:r>
                  <a:rPr lang="pt-BR" b="1" dirty="0">
                    <a:solidFill>
                      <a:schemeClr val="tx1"/>
                    </a:solidFill>
                  </a:rPr>
                  <a:t>uma para cada classe</a:t>
                </a:r>
                <a:r>
                  <a:rPr lang="pt-BR" dirty="0">
                    <a:solidFill>
                      <a:schemeClr val="tx1"/>
                    </a:solidFill>
                  </a:rPr>
                  <a:t>, para indicar a classe a que pertence o </a:t>
                </a:r>
                <a14:m>
                  <m:oMath xmlns:m="http://schemas.openxmlformats.org/officeDocument/2006/math">
                    <m:r>
                      <a:rPr lang="pt-BR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-ésimo vetor de atributos,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b="0" dirty="0"/>
              </a:p>
              <a:p>
                <a:r>
                  <a:rPr lang="pt-BR" dirty="0"/>
                  <a:t>Os rótulos são representados como </a:t>
                </a:r>
                <a:r>
                  <a:rPr lang="pt-BR" b="1" dirty="0"/>
                  <a:t>vetores binários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b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dirty="0"/>
                  <a:t>Exemplo</a:t>
                </a:r>
                <a:r>
                  <a:rPr lang="pt-BR" dirty="0"/>
                  <a:t>: classificação de imagens em 4 </a:t>
                </a:r>
                <a:r>
                  <a:rPr lang="pt-BR" b="1" dirty="0"/>
                  <a:t>classes mutuamente excludentes</a:t>
                </a:r>
                <a:r>
                  <a:rPr lang="pt-BR" dirty="0"/>
                  <a:t>: gato, rato, cachorro e sapo:</a:t>
                </a:r>
                <a:endParaRPr lang="pt-BR" sz="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rato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0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0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0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      </m:t>
                                      </m:r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cachorro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Essa representação é conhecida como codificação </a:t>
                </a:r>
                <a:r>
                  <a:rPr lang="pt-BR" b="1" i="1" dirty="0" err="1"/>
                  <a:t>one</a:t>
                </a:r>
                <a:r>
                  <a:rPr lang="pt-BR" b="1" i="1" dirty="0"/>
                  <a:t>-hot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Muito usado em redes neurais e regressão </a:t>
                </a:r>
                <a:r>
                  <a:rPr lang="pt-BR" i="1" dirty="0"/>
                  <a:t>softmax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34CF39-62BC-DA90-F244-DCDEF2E97D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  <a:blipFill>
                <a:blip r:embed="rId2"/>
                <a:stretch>
                  <a:fillRect l="-975" t="-2663" r="-1246" b="-14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501052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9AE89-C8AC-DBE6-CA38-DEEF4996D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4CC5F-008A-ECCB-8340-EE6C2C24E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i="1" dirty="0"/>
              <a:t>multilabel</a:t>
            </a:r>
            <a:endParaRPr lang="pt-BR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37A257-D85C-E351-5085-80BCF81401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classificador </a:t>
                </a:r>
                <a:r>
                  <a:rPr lang="pt-BR" dirty="0">
                    <a:solidFill>
                      <a:schemeClr val="tx1"/>
                    </a:solidFill>
                  </a:rPr>
                  <a:t>tem </a:t>
                </a:r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>
                    <a:solidFill>
                      <a:schemeClr val="tx1"/>
                    </a:solidFill>
                  </a:rPr>
                  <a:t> saídas escalares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:r>
                  <a:rPr lang="pt-BR" b="1" dirty="0">
                    <a:solidFill>
                      <a:schemeClr val="tx1"/>
                    </a:solidFill>
                  </a:rPr>
                  <a:t>uma para cada classe</a:t>
                </a:r>
                <a:r>
                  <a:rPr lang="pt-BR" dirty="0">
                    <a:solidFill>
                      <a:schemeClr val="tx1"/>
                    </a:solidFill>
                  </a:rPr>
                  <a:t>, porém, </a:t>
                </a:r>
                <a:r>
                  <a:rPr lang="pt-BR" dirty="0"/>
                  <a:t>cada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vetor de atributos,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</m:oMath>
                </a14:m>
                <a:r>
                  <a:rPr lang="pt-BR" dirty="0"/>
                  <a:t> pode pertencer a </a:t>
                </a:r>
                <a:r>
                  <a:rPr lang="pt-BR" b="1" dirty="0"/>
                  <a:t>várias classes simultaneamente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Rótulos também são representados como </a:t>
                </a:r>
                <a:r>
                  <a:rPr lang="pt-BR" b="1" dirty="0"/>
                  <a:t>vetores binários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b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dirty="0"/>
                  <a:t>Exemplo</a:t>
                </a:r>
                <a:r>
                  <a:rPr lang="pt-BR" dirty="0"/>
                  <a:t>: classificação de imagens em 4 classes </a:t>
                </a:r>
                <a:r>
                  <a:rPr lang="pt-BR" b="1" dirty="0"/>
                  <a:t>não excludentes</a:t>
                </a:r>
                <a:r>
                  <a:rPr lang="pt-BR" dirty="0"/>
                  <a:t>: gato, rato, cachorro e sapo: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b="0" i="1" dirty="0" smtClean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rato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∧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b="0" i="1" dirty="0" smtClean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b="0" i="1" dirty="0" smtClean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0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      </m:t>
                                      </m:r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b="0" i="0" dirty="0" smtClean="0"/>
                                            <m:t>gato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∧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b="0" i="0" smtClean="0">
                                              <a:latin typeface="Cambria Math" panose="02040503050406030204" pitchFamily="18" charset="0"/>
                                            </a:rPr>
                                            <m:t>cachorro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nor/>
                                                </m:rPr>
                                                <a:rPr lang="pt-BR" dirty="0"/>
                                                <m:t>gato</m:t>
                                              </m:r>
                                            </m:sub>
                                          </m:sSub>
                                          <m:r>
                                            <a:rPr lang="pt-BR" b="0" i="1" dirty="0" smtClean="0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∧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rato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cachorro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37A257-D85C-E351-5085-80BCF81401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  <a:blipFill>
                <a:blip r:embed="rId2"/>
                <a:stretch>
                  <a:fillRect l="-975" t="-1937" r="-11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18392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032784" y="1825624"/>
                <a:ext cx="705443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Na regressão, usamos </a:t>
                </a:r>
                <a:r>
                  <a:rPr lang="pt-BR" b="1" dirty="0"/>
                  <a:t>funções hipótese</a:t>
                </a:r>
                <a:r>
                  <a:rPr lang="pt-BR" dirty="0"/>
                  <a:t> para </a:t>
                </a:r>
                <a:r>
                  <a:rPr lang="pt-BR" b="1" dirty="0"/>
                  <a:t>aproximar o comportamento do conjunto de dados</a:t>
                </a:r>
                <a:r>
                  <a:rPr lang="pt-BR" dirty="0"/>
                  <a:t>, agora, as usaremos para </a:t>
                </a:r>
                <a:r>
                  <a:rPr lang="pt-BR" b="1" dirty="0">
                    <a:solidFill>
                      <a:srgbClr val="00B050"/>
                    </a:solidFill>
                  </a:rPr>
                  <a:t>separar (i.e., discriminar) grupos de dados em classes.</a:t>
                </a:r>
                <a:endParaRPr lang="pt-BR" dirty="0"/>
              </a:p>
              <a:p>
                <a:r>
                  <a:rPr lang="pt-BR" dirty="0"/>
                  <a:t>Vejam o </a:t>
                </a:r>
                <a:r>
                  <a:rPr lang="pt-BR" b="1" dirty="0"/>
                  <a:t>espaço bi-dimensional</a:t>
                </a:r>
                <a:r>
                  <a:rPr lang="pt-BR" dirty="0"/>
                  <a:t>,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, criado pelos </a:t>
                </a:r>
                <a:r>
                  <a:rPr lang="pt-BR" b="1" dirty="0"/>
                  <a:t>atributos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e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mostrado na figura ao lado.</a:t>
                </a:r>
              </a:p>
              <a:p>
                <a:r>
                  <a:rPr lang="pt-BR" dirty="0"/>
                  <a:t>Os </a:t>
                </a:r>
                <a:r>
                  <a:rPr lang="pt-BR" b="1" dirty="0"/>
                  <a:t>pares de atributos </a:t>
                </a:r>
                <a:r>
                  <a:rPr lang="pt-BR" dirty="0"/>
                  <a:t>pertencem a duas classes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):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Círculos azuis pertencem à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Triângulos vermelhos pertencem à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32784" y="1825624"/>
                <a:ext cx="7054439" cy="5032375"/>
              </a:xfrm>
              <a:blipFill>
                <a:blip r:embed="rId3"/>
                <a:stretch>
                  <a:fillRect l="-1556" t="-1937" r="-1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Agrupar 11">
            <a:extLst>
              <a:ext uri="{FF2B5EF4-FFF2-40B4-BE49-F238E27FC236}">
                <a16:creationId xmlns:a16="http://schemas.microsoft.com/office/drawing/2014/main" id="{745C0A43-FD12-CEC1-71CC-612BDB16C776}"/>
              </a:ext>
            </a:extLst>
          </p:cNvPr>
          <p:cNvGrpSpPr/>
          <p:nvPr/>
        </p:nvGrpSpPr>
        <p:grpSpPr>
          <a:xfrm>
            <a:off x="1135086" y="2427640"/>
            <a:ext cx="3089466" cy="3257287"/>
            <a:chOff x="9125712" y="2808640"/>
            <a:chExt cx="3089466" cy="3257287"/>
          </a:xfrm>
        </p:grpSpPr>
        <p:pic>
          <p:nvPicPr>
            <p:cNvPr id="13" name="Picture 3">
              <a:extLst>
                <a:ext uri="{FF2B5EF4-FFF2-40B4-BE49-F238E27FC236}">
                  <a16:creationId xmlns:a16="http://schemas.microsoft.com/office/drawing/2014/main" id="{64DA2A01-47B5-2B94-DBFC-FB53B1B8205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15" t="3775" r="7505" b="1098"/>
            <a:stretch/>
          </p:blipFill>
          <p:spPr>
            <a:xfrm>
              <a:off x="9125712" y="2808640"/>
              <a:ext cx="2960664" cy="2280684"/>
            </a:xfrm>
            <a:prstGeom prst="rect">
              <a:avLst/>
            </a:prstGeom>
          </p:spPr>
        </p:pic>
        <p:sp>
          <p:nvSpPr>
            <p:cNvPr id="14" name="TextBox 6">
              <a:extLst>
                <a:ext uri="{FF2B5EF4-FFF2-40B4-BE49-F238E27FC236}">
                  <a16:creationId xmlns:a16="http://schemas.microsoft.com/office/drawing/2014/main" id="{5ACECBBD-5168-48DA-64EF-8BDD58AE7E65}"/>
                </a:ext>
              </a:extLst>
            </p:cNvPr>
            <p:cNvSpPr txBox="1"/>
            <p:nvPr/>
          </p:nvSpPr>
          <p:spPr>
            <a:xfrm>
              <a:off x="9909743" y="5327263"/>
              <a:ext cx="187406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/>
                <a:t>Fronteira de decisão</a:t>
              </a:r>
              <a:r>
                <a:rPr lang="pt-BR" sz="1400" dirty="0"/>
                <a:t>: no caso deste exemplo, ela é uma reta.</a:t>
              </a:r>
            </a:p>
          </p:txBody>
        </p:sp>
        <p:cxnSp>
          <p:nvCxnSpPr>
            <p:cNvPr id="15" name="Curved Connector 8">
              <a:extLst>
                <a:ext uri="{FF2B5EF4-FFF2-40B4-BE49-F238E27FC236}">
                  <a16:creationId xmlns:a16="http://schemas.microsoft.com/office/drawing/2014/main" id="{7D2B1880-C7A7-A071-10B2-08F118026EDA}"/>
                </a:ext>
              </a:extLst>
            </p:cNvPr>
            <p:cNvCxnSpPr/>
            <p:nvPr/>
          </p:nvCxnSpPr>
          <p:spPr>
            <a:xfrm rot="5400000">
              <a:off x="10830268" y="4695983"/>
              <a:ext cx="657723" cy="624705"/>
            </a:xfrm>
            <a:prstGeom prst="curvedConnector3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Retângulo 15">
                  <a:extLst>
                    <a:ext uri="{FF2B5EF4-FFF2-40B4-BE49-F238E27FC236}">
                      <a16:creationId xmlns:a16="http://schemas.microsoft.com/office/drawing/2014/main" id="{036F5727-D9EE-E211-8459-926C7C8C80B1}"/>
                    </a:ext>
                  </a:extLst>
                </p:cNvPr>
                <p:cNvSpPr/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b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6" name="Retângulo 15">
                  <a:extLst>
                    <a:ext uri="{FF2B5EF4-FFF2-40B4-BE49-F238E27FC236}">
                      <a16:creationId xmlns:a16="http://schemas.microsoft.com/office/drawing/2014/main" id="{036F5727-D9EE-E211-8459-926C7C8C80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0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226146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344887" y="1825624"/>
                <a:ext cx="676138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objetivo da classificação é encontrar uma função, chamada de </a:t>
                </a:r>
                <a:r>
                  <a:rPr lang="pt-BR" b="1" dirty="0"/>
                  <a:t>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que separe as classes.</a:t>
                </a:r>
              </a:p>
              <a:p>
                <a:r>
                  <a:rPr lang="pt-BR" dirty="0"/>
                  <a:t>Chamamos de </a:t>
                </a:r>
                <a:r>
                  <a:rPr lang="pt-BR" b="1" dirty="0"/>
                  <a:t>fronteira de decisão </a:t>
                </a:r>
                <a:r>
                  <a:rPr lang="pt-BR" dirty="0"/>
                  <a:t>onde essa função corta o espaço de atributos. </a:t>
                </a:r>
              </a:p>
              <a:p>
                <a:r>
                  <a:rPr lang="pt-BR" dirty="0"/>
                  <a:t>No exemplo, a função discriminante </a:t>
                </a:r>
                <a:r>
                  <a:rPr lang="pt-BR" b="1" dirty="0"/>
                  <a:t>divide</a:t>
                </a:r>
                <a:r>
                  <a:rPr lang="pt-BR" dirty="0"/>
                  <a:t> o espaço em </a:t>
                </a:r>
                <a:r>
                  <a:rPr lang="pt-BR" b="1" dirty="0"/>
                  <a:t>duas regiões de decisão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:r>
                  <a:rPr lang="pt-BR" dirty="0">
                    <a:solidFill>
                      <a:schemeClr val="tx1"/>
                    </a:solidFill>
                  </a:rPr>
                  <a:t>onde </a:t>
                </a:r>
                <a:r>
                  <a:rPr lang="pt-BR" b="1" dirty="0">
                    <a:solidFill>
                      <a:schemeClr val="tx1"/>
                    </a:solidFill>
                  </a:rPr>
                  <a:t>cada região corresponde a uma classe</a:t>
                </a:r>
                <a14:m>
                  <m:oMath xmlns:m="http://schemas.openxmlformats.org/officeDocument/2006/math">
                    <m:r>
                      <a:rPr lang="pt-BR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dirty="0"/>
              </a:p>
              <a:p>
                <a:r>
                  <a:rPr lang="pt-BR" dirty="0"/>
                  <a:t>No exemplo, como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, temos apenas uma fronteira de decisão.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44887" y="1825624"/>
                <a:ext cx="6761388" cy="5032375"/>
              </a:xfrm>
              <a:blipFill>
                <a:blip r:embed="rId3"/>
                <a:stretch>
                  <a:fillRect l="-1623" t="-1937" r="-17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Agrupar 13">
            <a:extLst>
              <a:ext uri="{FF2B5EF4-FFF2-40B4-BE49-F238E27FC236}">
                <a16:creationId xmlns:a16="http://schemas.microsoft.com/office/drawing/2014/main" id="{D3D49D8E-0821-33E1-5823-3E158A4FB182}"/>
              </a:ext>
            </a:extLst>
          </p:cNvPr>
          <p:cNvGrpSpPr/>
          <p:nvPr/>
        </p:nvGrpSpPr>
        <p:grpSpPr>
          <a:xfrm>
            <a:off x="1135086" y="2427640"/>
            <a:ext cx="3089466" cy="3257287"/>
            <a:chOff x="9125712" y="2808640"/>
            <a:chExt cx="3089466" cy="3257287"/>
          </a:xfrm>
        </p:grpSpPr>
        <p:pic>
          <p:nvPicPr>
            <p:cNvPr id="15" name="Picture 3">
              <a:extLst>
                <a:ext uri="{FF2B5EF4-FFF2-40B4-BE49-F238E27FC236}">
                  <a16:creationId xmlns:a16="http://schemas.microsoft.com/office/drawing/2014/main" id="{BD3F5D0C-F310-ED7B-BBE9-A892027EAD0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15" t="3775" r="7505" b="1098"/>
            <a:stretch/>
          </p:blipFill>
          <p:spPr>
            <a:xfrm>
              <a:off x="9125712" y="2808640"/>
              <a:ext cx="2960664" cy="2280684"/>
            </a:xfrm>
            <a:prstGeom prst="rect">
              <a:avLst/>
            </a:prstGeom>
          </p:spPr>
        </p:pic>
        <p:sp>
          <p:nvSpPr>
            <p:cNvPr id="16" name="TextBox 6">
              <a:extLst>
                <a:ext uri="{FF2B5EF4-FFF2-40B4-BE49-F238E27FC236}">
                  <a16:creationId xmlns:a16="http://schemas.microsoft.com/office/drawing/2014/main" id="{D474B403-303E-639E-341F-AA50DF86D3BE}"/>
                </a:ext>
              </a:extLst>
            </p:cNvPr>
            <p:cNvSpPr txBox="1"/>
            <p:nvPr/>
          </p:nvSpPr>
          <p:spPr>
            <a:xfrm>
              <a:off x="9909743" y="5327263"/>
              <a:ext cx="187406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/>
                <a:t>Fronteira de decisão</a:t>
              </a:r>
              <a:r>
                <a:rPr lang="pt-BR" sz="1400" dirty="0"/>
                <a:t>: no caso deste exemplo, ela é uma reta.</a:t>
              </a:r>
            </a:p>
          </p:txBody>
        </p:sp>
        <p:cxnSp>
          <p:nvCxnSpPr>
            <p:cNvPr id="17" name="Curved Connector 8">
              <a:extLst>
                <a:ext uri="{FF2B5EF4-FFF2-40B4-BE49-F238E27FC236}">
                  <a16:creationId xmlns:a16="http://schemas.microsoft.com/office/drawing/2014/main" id="{B45603A2-AC84-D66F-F06E-0371CA5BE810}"/>
                </a:ext>
              </a:extLst>
            </p:cNvPr>
            <p:cNvCxnSpPr/>
            <p:nvPr/>
          </p:nvCxnSpPr>
          <p:spPr>
            <a:xfrm rot="5400000">
              <a:off x="10830268" y="4695983"/>
              <a:ext cx="657723" cy="624705"/>
            </a:xfrm>
            <a:prstGeom prst="curvedConnector3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Retângulo 17">
                  <a:extLst>
                    <a:ext uri="{FF2B5EF4-FFF2-40B4-BE49-F238E27FC236}">
                      <a16:creationId xmlns:a16="http://schemas.microsoft.com/office/drawing/2014/main" id="{C5162CC1-DD2F-DFBD-35CF-B876410E54B6}"/>
                    </a:ext>
                  </a:extLst>
                </p:cNvPr>
                <p:cNvSpPr/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b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8" name="Retângulo 17">
                  <a:extLst>
                    <a:ext uri="{FF2B5EF4-FFF2-40B4-BE49-F238E27FC236}">
                      <a16:creationId xmlns:a16="http://schemas.microsoft.com/office/drawing/2014/main" id="{C5162CC1-DD2F-DFBD-35CF-B876410E54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0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017740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5"/>
            <a:ext cx="11223171" cy="304534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As figuras abaixo mostram </a:t>
            </a:r>
            <a:r>
              <a:rPr lang="pt-BR" b="1" dirty="0"/>
              <a:t>funções discriminantes </a:t>
            </a:r>
            <a:r>
              <a:rPr lang="pt-BR" dirty="0"/>
              <a:t>em problemas de classificação </a:t>
            </a:r>
            <a:r>
              <a:rPr lang="pt-BR" b="1" dirty="0"/>
              <a:t>binária</a:t>
            </a:r>
            <a:r>
              <a:rPr lang="pt-BR" dirty="0"/>
              <a:t> e </a:t>
            </a:r>
            <a:r>
              <a:rPr lang="pt-BR" b="1" dirty="0"/>
              <a:t>multiclasses</a:t>
            </a:r>
            <a:r>
              <a:rPr lang="pt-BR" dirty="0"/>
              <a:t>.</a:t>
            </a:r>
          </a:p>
          <a:p>
            <a:r>
              <a:rPr lang="pt-BR" dirty="0"/>
              <a:t>Elas podem ser </a:t>
            </a:r>
            <a:r>
              <a:rPr lang="pt-BR" b="1" dirty="0">
                <a:solidFill>
                  <a:schemeClr val="accent2"/>
                </a:solidFill>
              </a:rPr>
              <a:t>lineares</a:t>
            </a:r>
            <a:r>
              <a:rPr lang="pt-BR" dirty="0"/>
              <a:t> (e.g., retas e planos) ou </a:t>
            </a:r>
            <a:r>
              <a:rPr lang="pt-BR" b="1" dirty="0">
                <a:solidFill>
                  <a:schemeClr val="accent2"/>
                </a:solidFill>
              </a:rPr>
              <a:t>não-lineares</a:t>
            </a:r>
            <a:r>
              <a:rPr lang="pt-BR" dirty="0"/>
              <a:t> (e.g., círculos e elipses).</a:t>
            </a:r>
          </a:p>
          <a:p>
            <a:r>
              <a:rPr lang="pt-BR" dirty="0"/>
              <a:t>Elas formam </a:t>
            </a:r>
            <a:r>
              <a:rPr lang="pt-BR" b="1" dirty="0"/>
              <a:t>superfícies de separação </a:t>
            </a:r>
            <a:r>
              <a:rPr lang="pt-BR" dirty="0"/>
              <a:t>no espaço de atributos que podem ter várias dimensões (2D, 3D, etc.).</a:t>
            </a:r>
          </a:p>
          <a:p>
            <a:r>
              <a:rPr lang="pt-BR" dirty="0"/>
              <a:t>Em geral, usamos polinômios como </a:t>
            </a:r>
            <a:r>
              <a:rPr lang="pt-BR" b="1" dirty="0"/>
              <a:t>funções discriminantes.</a:t>
            </a:r>
            <a:endParaRPr lang="pt-BR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15" t="3775" r="7505" b="1098"/>
          <a:stretch/>
        </p:blipFill>
        <p:spPr>
          <a:xfrm>
            <a:off x="1373584" y="4789714"/>
            <a:ext cx="2665013" cy="2052936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6" t="3773" r="7252"/>
          <a:stretch/>
        </p:blipFill>
        <p:spPr>
          <a:xfrm>
            <a:off x="9156662" y="4780067"/>
            <a:ext cx="2641085" cy="202013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" t="3260" r="7500" b="1927"/>
          <a:stretch/>
        </p:blipFill>
        <p:spPr>
          <a:xfrm>
            <a:off x="5279810" y="4784320"/>
            <a:ext cx="2632256" cy="2034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03316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4850ACD-2DE0-7E6B-F65F-1A40170C1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discriminantes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C254C3E-10F9-2C66-DDBB-99D1164F61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557847" y="1825624"/>
                <a:ext cx="863415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 caso </a:t>
                </a:r>
                <a:r>
                  <a:rPr lang="pt-BR" b="1" dirty="0"/>
                  <a:t>binário</a:t>
                </a:r>
                <a:r>
                  <a:rPr lang="pt-BR" dirty="0"/>
                  <a:t>, nosso </a:t>
                </a:r>
                <a:r>
                  <a:rPr lang="pt-BR" b="1" dirty="0"/>
                  <a:t>objetivo</a:t>
                </a:r>
                <a:r>
                  <a:rPr lang="pt-BR" dirty="0"/>
                  <a:t> é encontrar o </a:t>
                </a:r>
                <a:r>
                  <a:rPr lang="pt-BR" b="1" dirty="0"/>
                  <a:t>grau e os pesos da função discriminante (polinomial) </a:t>
                </a:r>
                <a:r>
                  <a:rPr lang="pt-BR" dirty="0"/>
                  <a:t>de tal forma que que a classe atribuída a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seja: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pt-BR" sz="240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=1,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&lt;0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0" i="1" dirty="0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pt-BR" sz="2400" b="0" i="1" dirty="0" smtClean="0">
                                        <a:latin typeface="Cambria Math" panose="02040503050406030204" pitchFamily="18" charset="0"/>
                                      </a:rPr>
                                      <m:t>=2,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&gt;0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I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ndetermina</m:t>
                                    </m:r>
                                    <m: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çã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o</m:t>
                                    </m:r>
                                    <m:r>
                                      <m:rPr>
                                        <m:brk m:alnAt="7"/>
                                      </m:rPr>
                                      <a:rPr lang="pt-BR" sz="2400" b="0" i="1" dirty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e>
                                </m:mr>
                              </m:m>
                              <m:r>
                                <a:rPr lang="pt-BR" sz="240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pt-BR" sz="3200" dirty="0"/>
              </a:p>
              <a:p>
                <a:r>
                  <a:rPr lang="pt-BR" dirty="0"/>
                  <a:t>Em caso de </a:t>
                </a:r>
                <a:r>
                  <a:rPr lang="pt-BR" b="1" dirty="0"/>
                  <a:t>indeterminação</a:t>
                </a:r>
                <a:r>
                  <a:rPr lang="pt-BR" dirty="0"/>
                  <a:t>, podemos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atribuir arbitrariamente a uma das duas classes,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escolher a classe que possui mais amostras ou a mais frequente.</a:t>
                </a:r>
              </a:p>
              <a:p>
                <a:r>
                  <a:rPr lang="pt-BR" dirty="0"/>
                  <a:t>Quanto mais distante a amostra estiver da fronteira de decisão, maior é o valor absoluto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e vice versa.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C254C3E-10F9-2C66-DDBB-99D1164F61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57847" y="1825624"/>
                <a:ext cx="8634153" cy="5032375"/>
              </a:xfrm>
              <a:blipFill>
                <a:blip r:embed="rId3"/>
                <a:stretch>
                  <a:fillRect l="-1271" t="-1937" r="-2048" b="-2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Picture 3">
            <a:extLst>
              <a:ext uri="{FF2B5EF4-FFF2-40B4-BE49-F238E27FC236}">
                <a16:creationId xmlns:a16="http://schemas.microsoft.com/office/drawing/2014/main" id="{797B4B4A-0E8F-6A84-F64E-0B174596F8C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390548" y="2592216"/>
            <a:ext cx="2841780" cy="326370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tângulo 3"/>
              <p:cNvSpPr/>
              <p:nvPr/>
            </p:nvSpPr>
            <p:spPr>
              <a:xfrm>
                <a:off x="9764484" y="3061412"/>
                <a:ext cx="1963999" cy="2769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pt-BR" sz="1200"/>
                        <m:t>Amostra</m:t>
                      </m:r>
                      <m:r>
                        <m:rPr>
                          <m:nor/>
                        </m:rPr>
                        <a:rPr lang="pt-BR" sz="1200"/>
                        <m:t> </m:t>
                      </m:r>
                      <m:r>
                        <m:rPr>
                          <m:nor/>
                        </m:rPr>
                        <a:rPr lang="pt-BR" sz="1200"/>
                        <m:t>acima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da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fun</m:t>
                      </m:r>
                      <m:r>
                        <m:rPr>
                          <m:nor/>
                        </m:rPr>
                        <a:rPr lang="pt-BR" sz="1200" dirty="0"/>
                        <m:t>çã</m:t>
                      </m:r>
                      <m:r>
                        <m:rPr>
                          <m:nor/>
                        </m:rPr>
                        <a:rPr lang="pt-BR" sz="1200" dirty="0"/>
                        <m:t>o</m:t>
                      </m:r>
                      <m:r>
                        <m:rPr>
                          <m:nor/>
                        </m:rPr>
                        <a:rPr lang="pt-BR" sz="1200" dirty="0"/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4" name="Retângulo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4484" y="3061412"/>
                <a:ext cx="1963999" cy="276999"/>
              </a:xfrm>
              <a:prstGeom prst="rect">
                <a:avLst/>
              </a:prstGeom>
              <a:blipFill>
                <a:blip r:embed="rId5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tângulo 4"/>
              <p:cNvSpPr/>
              <p:nvPr/>
            </p:nvSpPr>
            <p:spPr>
              <a:xfrm>
                <a:off x="9764484" y="3472544"/>
                <a:ext cx="1963999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pt-BR" sz="1200" dirty="0"/>
                        <m:t>Amostra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abaixo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da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fun</m:t>
                      </m:r>
                      <m:r>
                        <m:rPr>
                          <m:nor/>
                        </m:rPr>
                        <a:rPr lang="pt-BR" sz="1200" dirty="0"/>
                        <m:t>çã</m:t>
                      </m:r>
                      <m:r>
                        <m:rPr>
                          <m:nor/>
                        </m:rPr>
                        <a:rPr lang="pt-BR" sz="1200" dirty="0"/>
                        <m:t>o</m:t>
                      </m:r>
                      <m:r>
                        <m:rPr>
                          <m:nor/>
                        </m:rPr>
                        <a:rPr lang="pt-BR" sz="1200" dirty="0"/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5" name="Retângulo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4484" y="3472544"/>
                <a:ext cx="1963999" cy="276999"/>
              </a:xfrm>
              <a:prstGeom prst="rect">
                <a:avLst/>
              </a:prstGeom>
              <a:blipFill>
                <a:blip r:embed="rId6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tângulo 5"/>
              <p:cNvSpPr/>
              <p:nvPr/>
            </p:nvSpPr>
            <p:spPr>
              <a:xfrm>
                <a:off x="10332197" y="3851018"/>
                <a:ext cx="1859803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pt-BR" sz="1200"/>
                        <m:t>A</m:t>
                      </m:r>
                      <m:r>
                        <m:rPr>
                          <m:nor/>
                        </m:rPr>
                        <a:rPr lang="pt-BR" sz="1200" dirty="0"/>
                        <m:t>mostra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sobre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fun</m:t>
                      </m:r>
                      <m:r>
                        <m:rPr>
                          <m:nor/>
                        </m:rPr>
                        <a:rPr lang="pt-BR" sz="1200" dirty="0"/>
                        <m:t>çã</m:t>
                      </m:r>
                      <m:r>
                        <m:rPr>
                          <m:nor/>
                        </m:rPr>
                        <a:rPr lang="pt-BR" sz="1200" dirty="0"/>
                        <m:t>o</m:t>
                      </m:r>
                      <m:r>
                        <m:rPr>
                          <m:nor/>
                        </m:rPr>
                        <a:rPr lang="pt-BR" sz="1200" dirty="0"/>
                        <m:t>) 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6" name="Retângulo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32197" y="3851018"/>
                <a:ext cx="1859803" cy="276999"/>
              </a:xfrm>
              <a:prstGeom prst="rect">
                <a:avLst/>
              </a:prstGeom>
              <a:blipFill>
                <a:blip r:embed="rId7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354359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1BC3B9-C36D-49B5-70A3-4BC587561B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7D7044-033A-83CB-744E-0A0EF1C53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discriminantes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E2D84F5-4801-80A5-C74A-52605D5991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57057" y="1825624"/>
                <a:ext cx="733969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 caso da classificação </a:t>
                </a:r>
                <a:r>
                  <a:rPr lang="pt-BR" b="1" dirty="0"/>
                  <a:t>multiclasses</a:t>
                </a:r>
                <a:r>
                  <a:rPr lang="pt-BR" dirty="0"/>
                  <a:t>, o </a:t>
                </a:r>
                <a:r>
                  <a:rPr lang="pt-BR" b="1" dirty="0"/>
                  <a:t>objetivo é encontrar os graus e os pesos das funções discriminantes (polinomiais) </a:t>
                </a:r>
                <a:r>
                  <a:rPr lang="pt-BR" dirty="0"/>
                  <a:t>de tal forma que que a classe atribuída a um exemplo de entrada,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seja: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pt-BR" dirty="0"/>
                        <m:t>arg</m:t>
                      </m:r>
                      <m:r>
                        <m:rPr>
                          <m:nor/>
                        </m:rPr>
                        <a:rPr lang="pt-BR" dirty="0"/>
                        <m:t>. </m:t>
                      </m:r>
                      <m:func>
                        <m:func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1,…,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</m:d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  <m:d>
                            <m:d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.</m:t>
                        </m:r>
                      </m:e>
                    </m:d>
                  </m:oMath>
                </a14:m>
                <a:r>
                  <a:rPr lang="pt-BR" dirty="0"/>
                  <a:t> é 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função discriminante.</a:t>
                </a:r>
              </a:p>
              <a:p>
                <a:pPr marL="0" indent="0">
                  <a:buNone/>
                </a:pPr>
                <a:endParaRPr lang="pt-BR" sz="270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E2D84F5-4801-80A5-C74A-52605D5991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57057" y="1825624"/>
                <a:ext cx="7339694" cy="5032375"/>
              </a:xfrm>
              <a:blipFill>
                <a:blip r:embed="rId3"/>
                <a:stretch>
                  <a:fillRect l="-1661" t="-1937" r="-14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8317135C-B768-15DB-007E-9233AE5ABB0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6" t="3773" r="7252"/>
          <a:stretch/>
        </p:blipFill>
        <p:spPr>
          <a:xfrm>
            <a:off x="426319" y="2760454"/>
            <a:ext cx="3663479" cy="2802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01688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E4B1E-477E-FFD4-7402-E83E77BF2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959B32-CD26-D2CA-3E0C-4F8F0704D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614" y="2476103"/>
            <a:ext cx="11070771" cy="190579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i="1" dirty="0"/>
              <a:t>Como encontramos o grau e pesos das funções discriminantes?</a:t>
            </a:r>
            <a:endParaRPr lang="en-US" sz="6000" i="1" dirty="0"/>
          </a:p>
        </p:txBody>
      </p:sp>
    </p:spTree>
    <p:extLst>
      <p:ext uri="{BB962C8B-B14F-4D97-AF65-F5344CB8AC3E}">
        <p14:creationId xmlns:p14="http://schemas.microsoft.com/office/powerpoint/2010/main" val="5616453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E4B1E-477E-FFD4-7402-E83E77BF2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959B32-CD26-D2CA-3E0C-4F8F0704D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0490" y="1794459"/>
            <a:ext cx="11070771" cy="347581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Da mesma forma que com a regressão, usando o </a:t>
            </a:r>
            <a:r>
              <a:rPr lang="pt-BR" sz="6000" b="1" dirty="0"/>
              <a:t>gradiente descendente</a:t>
            </a:r>
            <a:r>
              <a:rPr lang="pt-BR" sz="6000" dirty="0"/>
              <a:t> e </a:t>
            </a:r>
            <a:r>
              <a:rPr lang="pt-BR" sz="6000" b="1" dirty="0"/>
              <a:t>validação cruzada</a:t>
            </a:r>
            <a:r>
              <a:rPr lang="pt-BR" sz="6000" dirty="0"/>
              <a:t>, como o </a:t>
            </a:r>
            <a:r>
              <a:rPr lang="pt-BR" sz="6000" i="1" dirty="0"/>
              <a:t>k-</a:t>
            </a:r>
            <a:r>
              <a:rPr lang="pt-BR" sz="6000" i="1" dirty="0" err="1"/>
              <a:t>fold</a:t>
            </a:r>
            <a:r>
              <a:rPr lang="pt-BR" sz="6000" dirty="0"/>
              <a:t>, por exemplo.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13225261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A7FDC7F-B899-B1A6-F69A-351822C6EFD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Como </a:t>
                </a:r>
                <a:r>
                  <a:rPr lang="en-US" dirty="0" err="1"/>
                  <a:t>mapeamos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nas</a:t>
                </a:r>
                <a:r>
                  <a:rPr lang="en-US" dirty="0"/>
                  <a:t> classes?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A7FDC7F-B899-B1A6-F69A-351822C6EF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A0C298-3D62-58C4-3B44-8F0C5C3E0A0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89714" y="1825624"/>
                <a:ext cx="7304315" cy="5032375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Vocês </a:t>
                </a:r>
                <a:r>
                  <a:rPr lang="en-US" dirty="0" err="1"/>
                  <a:t>perceberam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as </a:t>
                </a:r>
                <a:r>
                  <a:rPr lang="en-US" dirty="0" err="1"/>
                  <a:t>saídas</a:t>
                </a:r>
                <a:r>
                  <a:rPr lang="en-US" dirty="0"/>
                  <a:t> das </a:t>
                </a:r>
                <a:r>
                  <a:rPr lang="en-US" dirty="0" err="1"/>
                  <a:t>funções</a:t>
                </a:r>
                <a:r>
                  <a:rPr lang="en-US" dirty="0"/>
                  <a:t> </a:t>
                </a:r>
                <a:r>
                  <a:rPr lang="en-US" dirty="0" err="1"/>
                  <a:t>discriminantes</a:t>
                </a:r>
                <a:r>
                  <a:rPr lang="en-US" dirty="0"/>
                  <a:t> </a:t>
                </a:r>
                <a:r>
                  <a:rPr lang="en-US" dirty="0" err="1"/>
                  <a:t>podem</a:t>
                </a:r>
                <a:r>
                  <a:rPr lang="en-US" dirty="0"/>
                  <a:t> </a:t>
                </a:r>
                <a:r>
                  <a:rPr lang="en-US" dirty="0" err="1"/>
                  <a:t>assumir</a:t>
                </a:r>
                <a:r>
                  <a:rPr lang="en-US" dirty="0"/>
                  <a:t> </a:t>
                </a:r>
                <a:r>
                  <a:rPr lang="en-US" dirty="0" err="1"/>
                  <a:t>infinitos</a:t>
                </a:r>
                <a:r>
                  <a:rPr lang="en-US" dirty="0"/>
                  <a:t> </a:t>
                </a:r>
                <a:r>
                  <a:rPr lang="en-US" dirty="0" err="1"/>
                  <a:t>valores</a:t>
                </a:r>
                <a:r>
                  <a:rPr lang="en-US" dirty="0"/>
                  <a:t>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))∈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−∞,+∞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 err="1"/>
                  <a:t>Porém</a:t>
                </a:r>
                <a:r>
                  <a:rPr lang="en-US" dirty="0"/>
                  <a:t>, </a:t>
                </a:r>
                <a:r>
                  <a:rPr lang="en-US" dirty="0" err="1"/>
                  <a:t>estamos</a:t>
                </a:r>
                <a:r>
                  <a:rPr lang="en-US" dirty="0"/>
                  <a:t> </a:t>
                </a:r>
                <a:r>
                  <a:rPr lang="en-US" dirty="0" err="1"/>
                  <a:t>lidando</a:t>
                </a:r>
                <a:r>
                  <a:rPr lang="en-US" dirty="0"/>
                  <a:t> com </a:t>
                </a:r>
                <a:r>
                  <a:rPr lang="en-US" dirty="0" err="1"/>
                  <a:t>problemas</a:t>
                </a:r>
                <a:r>
                  <a:rPr lang="en-US" dirty="0"/>
                  <a:t> de </a:t>
                </a:r>
                <a:r>
                  <a:rPr lang="en-US" dirty="0" err="1"/>
                  <a:t>classificação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objetivo é atribuir uma classe ao vetor de atributos,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en-US" dirty="0"/>
                  <a:t>Para </a:t>
                </a:r>
                <a:r>
                  <a:rPr lang="en-US" dirty="0" err="1"/>
                  <a:t>calcular</a:t>
                </a:r>
                <a:r>
                  <a:rPr lang="en-US" dirty="0"/>
                  <a:t> o </a:t>
                </a:r>
                <a:r>
                  <a:rPr lang="en-US" dirty="0" err="1"/>
                  <a:t>erro</a:t>
                </a:r>
                <a:r>
                  <a:rPr lang="en-US" dirty="0"/>
                  <a:t> entre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rótulos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, e a </a:t>
                </a:r>
                <a:r>
                  <a:rPr lang="en-US" dirty="0" err="1"/>
                  <a:t>saída</a:t>
                </a:r>
                <a:r>
                  <a:rPr lang="en-US" dirty="0"/>
                  <a:t> do </a:t>
                </a:r>
                <a:r>
                  <a:rPr lang="en-US" dirty="0" err="1"/>
                  <a:t>modelo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dirty="0"/>
                  <a:t>, ela </a:t>
                </a:r>
                <a:r>
                  <a:rPr lang="en-US" dirty="0" err="1"/>
                  <a:t>deve</a:t>
                </a:r>
                <a:r>
                  <a:rPr lang="en-US" dirty="0"/>
                  <a:t> </a:t>
                </a:r>
                <a:r>
                  <a:rPr lang="en-US" dirty="0" err="1"/>
                  <a:t>estar</a:t>
                </a:r>
                <a:r>
                  <a:rPr lang="en-US" dirty="0"/>
                  <a:t> no </a:t>
                </a:r>
                <a:r>
                  <a:rPr lang="en-US" dirty="0" err="1"/>
                  <a:t>intervalo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pt-BR" sz="240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pt-BR" sz="2400"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</m:d>
                  </m:oMath>
                </a14:m>
                <a:r>
                  <a:rPr lang="en-US" sz="2400" dirty="0"/>
                  <a:t>.</a:t>
                </a:r>
                <a:endParaRPr lang="en-US" dirty="0"/>
              </a:p>
              <a:p>
                <a:r>
                  <a:rPr lang="en-US" dirty="0"/>
                  <a:t>Como </a:t>
                </a:r>
                <a:r>
                  <a:rPr lang="en-US" dirty="0" err="1"/>
                  <a:t>mapeamos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nas</a:t>
                </a:r>
                <a:r>
                  <a:rPr lang="en-US" dirty="0"/>
                  <a:t> classes?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A0C298-3D62-58C4-3B44-8F0C5C3E0A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89714" y="1825624"/>
                <a:ext cx="7304315" cy="5032375"/>
              </a:xfrm>
              <a:blipFill>
                <a:blip r:embed="rId3"/>
                <a:stretch>
                  <a:fillRect l="-1503" t="-1937" b="-2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D3EAB0E4-3975-9C7B-4E5B-C9F1614737E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586490" y="2253182"/>
            <a:ext cx="3691595" cy="4239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8131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D1F02FD-3573-18C5-6B1F-6FB93C242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hipótese de classificação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A5EA8E2-9C93-A464-A824-B648FE8ECA8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32101" y="1825624"/>
                <a:ext cx="745989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 caso </a:t>
                </a:r>
                <a:r>
                  <a:rPr lang="pt-BR" b="1" dirty="0"/>
                  <a:t>binário</a:t>
                </a:r>
                <a:r>
                  <a:rPr lang="pt-BR" dirty="0"/>
                  <a:t>, o mapeamento pode ser feito através da definição de uma </a:t>
                </a:r>
                <a:r>
                  <a:rPr lang="pt-BR" b="1" dirty="0"/>
                  <a:t>estrutura condicional</a:t>
                </a:r>
                <a:r>
                  <a:rPr lang="pt-BR" dirty="0"/>
                  <a:t>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d>
                              <m:r>
                                <a:rPr lang="pt-BR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p>
                                <m:sSup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a:rPr lang="el-G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&lt;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Classe</m:t>
                              </m:r>
                              <m:r>
                                <a:rPr lang="pt-BR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−)</m:t>
                              </m:r>
                            </m:e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d>
                              <m:r>
                                <a:rPr lang="pt-BR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a:rPr lang="el-G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≥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0 </m:t>
                              </m:r>
                              <m:r>
                                <a:rPr lang="pt-BR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pt-BR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Classe</m:t>
                              </m:r>
                              <m:r>
                                <a:rPr lang="pt-BR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pt-BR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pt-BR" b="1" dirty="0">
                  <a:ea typeface="Cambria Math" panose="02040503050406030204" pitchFamily="18" charset="0"/>
                </a:endParaRPr>
              </a:p>
              <a:p>
                <a:r>
                  <a:rPr lang="pt-BR" dirty="0"/>
                  <a:t>O resultado final do mapeamento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em classes é chamado de </a:t>
                </a:r>
                <a:r>
                  <a:rPr lang="pt-BR" b="1" dirty="0"/>
                  <a:t>função hipótese de </a:t>
                </a:r>
                <a:r>
                  <a:rPr lang="pt-BR" b="1" dirty="0">
                    <a:solidFill>
                      <a:srgbClr val="7030A0"/>
                    </a:solidFill>
                  </a:rPr>
                  <a:t>classificação</a:t>
                </a:r>
                <a:r>
                  <a:rPr lang="pt-BR" b="1" dirty="0"/>
                  <a:t>.</a:t>
                </a:r>
                <a:endParaRPr lang="pt-BR" dirty="0"/>
              </a:p>
              <a:p>
                <a:r>
                  <a:rPr lang="pt-BR" dirty="0"/>
                  <a:t>Percebam que a saída da </a:t>
                </a:r>
                <a:r>
                  <a:rPr lang="pt-BR" b="1" dirty="0"/>
                  <a:t>função hipótese de classificação</a:t>
                </a:r>
                <a:r>
                  <a:rPr lang="pt-BR" dirty="0"/>
                  <a:t> é </a:t>
                </a:r>
                <a:r>
                  <a:rPr lang="pt-BR" b="1" dirty="0">
                    <a:solidFill>
                      <a:srgbClr val="00B050"/>
                    </a:solidFill>
                  </a:rPr>
                  <a:t>binária.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A5EA8E2-9C93-A464-A824-B648FE8ECA8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32101" y="1825624"/>
                <a:ext cx="7459899" cy="5032375"/>
              </a:xfrm>
              <a:blipFill>
                <a:blip r:embed="rId2"/>
                <a:stretch>
                  <a:fillRect l="-1471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11">
            <a:extLst>
              <a:ext uri="{FF2B5EF4-FFF2-40B4-BE49-F238E27FC236}">
                <a16:creationId xmlns:a16="http://schemas.microsoft.com/office/drawing/2014/main" id="{AE4F4277-6964-0C1E-0DD3-569D7AE44CFF}"/>
              </a:ext>
            </a:extLst>
          </p:cNvPr>
          <p:cNvGrpSpPr/>
          <p:nvPr/>
        </p:nvGrpSpPr>
        <p:grpSpPr>
          <a:xfrm>
            <a:off x="525236" y="1961540"/>
            <a:ext cx="3665764" cy="3840545"/>
            <a:chOff x="8763755" y="2154390"/>
            <a:chExt cx="3428245" cy="348781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7E02729-99B0-0A9C-BFBC-8A2DA40E9922}"/>
                </a:ext>
              </a:extLst>
            </p:cNvPr>
            <p:cNvSpPr txBox="1"/>
            <p:nvPr/>
          </p:nvSpPr>
          <p:spPr>
            <a:xfrm>
              <a:off x="8835105" y="2154390"/>
              <a:ext cx="1665991" cy="4481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Frontreira de decisão, onde </a:t>
              </a:r>
              <a:r>
                <a:rPr lang="pt-BR" sz="1100" i="1" dirty="0"/>
                <a:t>g</a:t>
              </a:r>
              <a:r>
                <a:rPr lang="pt-BR" sz="1100" dirty="0"/>
                <a:t>(</a:t>
              </a:r>
              <a:r>
                <a:rPr lang="pt-BR" sz="1100" b="1" i="1" dirty="0"/>
                <a:t>x</a:t>
              </a:r>
              <a:r>
                <a:rPr lang="pt-BR" sz="1100" dirty="0"/>
                <a:t>) = 0</a:t>
              </a: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747F032D-ACF4-5F87-06B9-C7A56B4B81C1}"/>
                </a:ext>
              </a:extLst>
            </p:cNvPr>
            <p:cNvGrpSpPr/>
            <p:nvPr/>
          </p:nvGrpSpPr>
          <p:grpSpPr>
            <a:xfrm>
              <a:off x="8763755" y="2675878"/>
              <a:ext cx="3428245" cy="2966329"/>
              <a:chOff x="8763755" y="2675878"/>
              <a:chExt cx="3428245" cy="2966329"/>
            </a:xfrm>
          </p:grpSpPr>
          <p:grpSp>
            <p:nvGrpSpPr>
              <p:cNvPr id="8" name="Group 6">
                <a:extLst>
                  <a:ext uri="{FF2B5EF4-FFF2-40B4-BE49-F238E27FC236}">
                    <a16:creationId xmlns:a16="http://schemas.microsoft.com/office/drawing/2014/main" id="{1C779583-0B37-EC5B-B6F1-0D8459340FB7}"/>
                  </a:ext>
                </a:extLst>
              </p:cNvPr>
              <p:cNvGrpSpPr/>
              <p:nvPr/>
            </p:nvGrpSpPr>
            <p:grpSpPr>
              <a:xfrm>
                <a:off x="8763755" y="2675878"/>
                <a:ext cx="3289300" cy="2966329"/>
                <a:chOff x="7391400" y="1415171"/>
                <a:chExt cx="3289300" cy="2966329"/>
              </a:xfrm>
            </p:grpSpPr>
            <p:pic>
              <p:nvPicPr>
                <p:cNvPr id="11" name="Picture 9">
                  <a:extLst>
                    <a:ext uri="{FF2B5EF4-FFF2-40B4-BE49-F238E27FC236}">
                      <a16:creationId xmlns:a16="http://schemas.microsoft.com/office/drawing/2014/main" id="{5EDAFFC9-D7AA-48D9-9403-C033C61678E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3"/>
                <a:srcRect l="4242" t="5371" r="8525" b="1204"/>
                <a:stretch/>
              </p:blipFill>
              <p:spPr>
                <a:xfrm>
                  <a:off x="7391400" y="1415171"/>
                  <a:ext cx="3289300" cy="2966329"/>
                </a:xfrm>
                <a:prstGeom prst="rect">
                  <a:avLst/>
                </a:prstGeom>
              </p:spPr>
            </p:pic>
            <p:cxnSp>
              <p:nvCxnSpPr>
                <p:cNvPr id="12" name="Straight Connector 10">
                  <a:extLst>
                    <a:ext uri="{FF2B5EF4-FFF2-40B4-BE49-F238E27FC236}">
                      <a16:creationId xmlns:a16="http://schemas.microsoft.com/office/drawing/2014/main" id="{69C23BC7-60E3-3B5A-BCC8-7053B9A6F855}"/>
                    </a:ext>
                  </a:extLst>
                </p:cNvPr>
                <p:cNvCxnSpPr/>
                <p:nvPr/>
              </p:nvCxnSpPr>
              <p:spPr>
                <a:xfrm flipV="1">
                  <a:off x="7986117" y="1483242"/>
                  <a:ext cx="1703388" cy="25822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9" name="TextBox 7">
                <a:extLst>
                  <a:ext uri="{FF2B5EF4-FFF2-40B4-BE49-F238E27FC236}">
                    <a16:creationId xmlns:a16="http://schemas.microsoft.com/office/drawing/2014/main" id="{2648BF23-0635-71F0-258F-B7728EA4A750}"/>
                  </a:ext>
                </a:extLst>
              </p:cNvPr>
              <p:cNvSpPr txBox="1"/>
              <p:nvPr/>
            </p:nvSpPr>
            <p:spPr>
              <a:xfrm>
                <a:off x="10679273" y="4392529"/>
                <a:ext cx="1512727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100" i="1" dirty="0"/>
                  <a:t>g</a:t>
                </a:r>
                <a:r>
                  <a:rPr lang="pt-BR" sz="1100" dirty="0"/>
                  <a:t>(</a:t>
                </a:r>
                <a:r>
                  <a:rPr lang="pt-BR" sz="1100" b="1" i="1" dirty="0"/>
                  <a:t>x</a:t>
                </a:r>
                <a:r>
                  <a:rPr lang="pt-BR" sz="1100" dirty="0"/>
                  <a:t>) ≥ 0</a:t>
                </a:r>
              </a:p>
            </p:txBody>
          </p:sp>
          <p:sp>
            <p:nvSpPr>
              <p:cNvPr id="10" name="TextBox 8">
                <a:extLst>
                  <a:ext uri="{FF2B5EF4-FFF2-40B4-BE49-F238E27FC236}">
                    <a16:creationId xmlns:a16="http://schemas.microsoft.com/office/drawing/2014/main" id="{D97F304C-2141-D333-74F5-8CCC51F5313F}"/>
                  </a:ext>
                </a:extLst>
              </p:cNvPr>
              <p:cNvSpPr txBox="1"/>
              <p:nvPr/>
            </p:nvSpPr>
            <p:spPr>
              <a:xfrm>
                <a:off x="8767760" y="3290116"/>
                <a:ext cx="1512727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100" i="1" dirty="0"/>
                  <a:t>g</a:t>
                </a:r>
                <a:r>
                  <a:rPr lang="pt-BR" sz="1100" dirty="0"/>
                  <a:t>(</a:t>
                </a:r>
                <a:r>
                  <a:rPr lang="pt-BR" sz="1100" b="1" i="1" dirty="0"/>
                  <a:t>x</a:t>
                </a:r>
                <a:r>
                  <a:rPr lang="pt-BR" sz="1100" dirty="0"/>
                  <a:t>) &lt; 0</a:t>
                </a:r>
              </a:p>
            </p:txBody>
          </p:sp>
        </p:grpSp>
        <p:cxnSp>
          <p:nvCxnSpPr>
            <p:cNvPr id="7" name="Curved Connector 3">
              <a:extLst>
                <a:ext uri="{FF2B5EF4-FFF2-40B4-BE49-F238E27FC236}">
                  <a16:creationId xmlns:a16="http://schemas.microsoft.com/office/drawing/2014/main" id="{5C7C173C-95FF-CFC4-3A67-7626A47D5636}"/>
                </a:ext>
              </a:extLst>
            </p:cNvPr>
            <p:cNvCxnSpPr>
              <a:cxnSpLocks/>
              <a:endCxn id="5" idx="3"/>
            </p:cNvCxnSpPr>
            <p:nvPr/>
          </p:nvCxnSpPr>
          <p:spPr>
            <a:xfrm rot="16200000" flipV="1">
              <a:off x="10320967" y="2558599"/>
              <a:ext cx="701656" cy="341398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785503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62D167-B7A4-F76C-EA8F-FFE81D1FC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D71349-C9D5-2310-AF15-EDB45A962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limiar de decisão ou de ativação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D94C719-3B63-1EE5-01EF-C213CC62F0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8446" y="1825624"/>
                <a:ext cx="705469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mapeamento entre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e a saída 0 ou 1 é feito através da </a:t>
                </a:r>
                <a:r>
                  <a:rPr lang="pt-BR" b="1" dirty="0"/>
                  <a:t>função de limiar de decisão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Também conhecida como </a:t>
                </a:r>
                <a:r>
                  <a:rPr lang="pt-BR" b="1" dirty="0"/>
                  <a:t>função de ativação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No slide anterior,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 são as condições.</a:t>
                </a:r>
              </a:p>
              <a:p>
                <a:r>
                  <a:rPr lang="pt-BR" dirty="0"/>
                  <a:t>Porém, para </a:t>
                </a:r>
                <a:r>
                  <a:rPr lang="pt-BR" b="1" dirty="0"/>
                  <a:t>treinarmos</a:t>
                </a:r>
                <a:r>
                  <a:rPr lang="pt-BR" dirty="0"/>
                  <a:t> o modelo de classificação, precisamos definir uma </a:t>
                </a:r>
                <a:r>
                  <a:rPr lang="pt-BR" b="1" dirty="0"/>
                  <a:t>função matemática </a:t>
                </a:r>
                <a:r>
                  <a:rPr lang="pt-BR" dirty="0"/>
                  <a:t>que implemente as </a:t>
                </a:r>
                <a:r>
                  <a:rPr lang="pt-BR" b="1" dirty="0"/>
                  <a:t>condições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Qual função poderia ser usada?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D94C719-3B63-1EE5-01EF-C213CC62F0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8446" y="1825624"/>
                <a:ext cx="7054698" cy="5032375"/>
              </a:xfrm>
              <a:blipFill>
                <a:blip r:embed="rId2"/>
                <a:stretch>
                  <a:fillRect l="-1556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11">
            <a:extLst>
              <a:ext uri="{FF2B5EF4-FFF2-40B4-BE49-F238E27FC236}">
                <a16:creationId xmlns:a16="http://schemas.microsoft.com/office/drawing/2014/main" id="{E9BB80B0-A5E6-191D-8E5E-CF49701CABB8}"/>
              </a:ext>
            </a:extLst>
          </p:cNvPr>
          <p:cNvGrpSpPr/>
          <p:nvPr/>
        </p:nvGrpSpPr>
        <p:grpSpPr>
          <a:xfrm>
            <a:off x="753835" y="2048627"/>
            <a:ext cx="3731079" cy="3927630"/>
            <a:chOff x="8763755" y="2154390"/>
            <a:chExt cx="3428245" cy="348781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39721E2-BA20-D77E-32F0-07751CA19503}"/>
                </a:ext>
              </a:extLst>
            </p:cNvPr>
            <p:cNvSpPr txBox="1"/>
            <p:nvPr/>
          </p:nvSpPr>
          <p:spPr>
            <a:xfrm>
              <a:off x="8835105" y="2154390"/>
              <a:ext cx="1665991" cy="4481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Frontreira de decisão, onde </a:t>
              </a:r>
              <a:r>
                <a:rPr lang="pt-BR" sz="1100" i="1" dirty="0"/>
                <a:t>g</a:t>
              </a:r>
              <a:r>
                <a:rPr lang="pt-BR" sz="1100" dirty="0"/>
                <a:t>(</a:t>
              </a:r>
              <a:r>
                <a:rPr lang="pt-BR" sz="1100" b="1" i="1" dirty="0"/>
                <a:t>x</a:t>
              </a:r>
              <a:r>
                <a:rPr lang="pt-BR" sz="1100" dirty="0"/>
                <a:t>) = 0</a:t>
              </a: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9FAC3E94-7B82-94B8-E5E8-BD17798CDB88}"/>
                </a:ext>
              </a:extLst>
            </p:cNvPr>
            <p:cNvGrpSpPr/>
            <p:nvPr/>
          </p:nvGrpSpPr>
          <p:grpSpPr>
            <a:xfrm>
              <a:off x="8763755" y="2675878"/>
              <a:ext cx="3428245" cy="2966329"/>
              <a:chOff x="8763755" y="2675878"/>
              <a:chExt cx="3428245" cy="2966329"/>
            </a:xfrm>
          </p:grpSpPr>
          <p:grpSp>
            <p:nvGrpSpPr>
              <p:cNvPr id="8" name="Group 6">
                <a:extLst>
                  <a:ext uri="{FF2B5EF4-FFF2-40B4-BE49-F238E27FC236}">
                    <a16:creationId xmlns:a16="http://schemas.microsoft.com/office/drawing/2014/main" id="{5042AD3C-C929-FE26-38F9-B637B69A3A36}"/>
                  </a:ext>
                </a:extLst>
              </p:cNvPr>
              <p:cNvGrpSpPr/>
              <p:nvPr/>
            </p:nvGrpSpPr>
            <p:grpSpPr>
              <a:xfrm>
                <a:off x="8763755" y="2675878"/>
                <a:ext cx="3289300" cy="2966329"/>
                <a:chOff x="7391400" y="1415171"/>
                <a:chExt cx="3289300" cy="2966329"/>
              </a:xfrm>
            </p:grpSpPr>
            <p:pic>
              <p:nvPicPr>
                <p:cNvPr id="11" name="Picture 9">
                  <a:extLst>
                    <a:ext uri="{FF2B5EF4-FFF2-40B4-BE49-F238E27FC236}">
                      <a16:creationId xmlns:a16="http://schemas.microsoft.com/office/drawing/2014/main" id="{CBB1631B-4833-A4F6-9105-1C830E097B7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3"/>
                <a:srcRect l="4242" t="5371" r="8525" b="1204"/>
                <a:stretch/>
              </p:blipFill>
              <p:spPr>
                <a:xfrm>
                  <a:off x="7391400" y="1415171"/>
                  <a:ext cx="3289300" cy="2966329"/>
                </a:xfrm>
                <a:prstGeom prst="rect">
                  <a:avLst/>
                </a:prstGeom>
              </p:spPr>
            </p:pic>
            <p:cxnSp>
              <p:nvCxnSpPr>
                <p:cNvPr id="12" name="Straight Connector 10">
                  <a:extLst>
                    <a:ext uri="{FF2B5EF4-FFF2-40B4-BE49-F238E27FC236}">
                      <a16:creationId xmlns:a16="http://schemas.microsoft.com/office/drawing/2014/main" id="{D94CA792-387F-834D-A4FC-BE7605BD074A}"/>
                    </a:ext>
                  </a:extLst>
                </p:cNvPr>
                <p:cNvCxnSpPr/>
                <p:nvPr/>
              </p:nvCxnSpPr>
              <p:spPr>
                <a:xfrm flipV="1">
                  <a:off x="7986117" y="1483242"/>
                  <a:ext cx="1703388" cy="25822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9" name="TextBox 7">
                <a:extLst>
                  <a:ext uri="{FF2B5EF4-FFF2-40B4-BE49-F238E27FC236}">
                    <a16:creationId xmlns:a16="http://schemas.microsoft.com/office/drawing/2014/main" id="{28A004EE-ED86-54F4-2156-D1E356EE7525}"/>
                  </a:ext>
                </a:extLst>
              </p:cNvPr>
              <p:cNvSpPr txBox="1"/>
              <p:nvPr/>
            </p:nvSpPr>
            <p:spPr>
              <a:xfrm>
                <a:off x="10679273" y="4392529"/>
                <a:ext cx="1512727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100" i="1" dirty="0"/>
                  <a:t>g</a:t>
                </a:r>
                <a:r>
                  <a:rPr lang="pt-BR" sz="1100" dirty="0"/>
                  <a:t>(</a:t>
                </a:r>
                <a:r>
                  <a:rPr lang="pt-BR" sz="1100" b="1" i="1" dirty="0"/>
                  <a:t>x</a:t>
                </a:r>
                <a:r>
                  <a:rPr lang="pt-BR" sz="1100" dirty="0"/>
                  <a:t>) ≥ 0</a:t>
                </a:r>
              </a:p>
            </p:txBody>
          </p:sp>
          <p:sp>
            <p:nvSpPr>
              <p:cNvPr id="10" name="TextBox 8">
                <a:extLst>
                  <a:ext uri="{FF2B5EF4-FFF2-40B4-BE49-F238E27FC236}">
                    <a16:creationId xmlns:a16="http://schemas.microsoft.com/office/drawing/2014/main" id="{58BF80C7-9C37-36F1-F5C1-A104939A438C}"/>
                  </a:ext>
                </a:extLst>
              </p:cNvPr>
              <p:cNvSpPr txBox="1"/>
              <p:nvPr/>
            </p:nvSpPr>
            <p:spPr>
              <a:xfrm>
                <a:off x="8767760" y="3290116"/>
                <a:ext cx="1512727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100" i="1" dirty="0"/>
                  <a:t>g</a:t>
                </a:r>
                <a:r>
                  <a:rPr lang="pt-BR" sz="1100" dirty="0"/>
                  <a:t>(</a:t>
                </a:r>
                <a:r>
                  <a:rPr lang="pt-BR" sz="1100" b="1" i="1" dirty="0"/>
                  <a:t>x</a:t>
                </a:r>
                <a:r>
                  <a:rPr lang="pt-BR" sz="1100" dirty="0"/>
                  <a:t>) &lt; 0</a:t>
                </a:r>
              </a:p>
            </p:txBody>
          </p:sp>
        </p:grpSp>
        <p:cxnSp>
          <p:nvCxnSpPr>
            <p:cNvPr id="7" name="Curved Connector 3">
              <a:extLst>
                <a:ext uri="{FF2B5EF4-FFF2-40B4-BE49-F238E27FC236}">
                  <a16:creationId xmlns:a16="http://schemas.microsoft.com/office/drawing/2014/main" id="{7BB08527-0455-8AD0-346B-16B8DBF7E47E}"/>
                </a:ext>
              </a:extLst>
            </p:cNvPr>
            <p:cNvCxnSpPr>
              <a:cxnSpLocks/>
              <a:endCxn id="5" idx="3"/>
            </p:cNvCxnSpPr>
            <p:nvPr/>
          </p:nvCxnSpPr>
          <p:spPr>
            <a:xfrm rot="16200000" flipV="1">
              <a:off x="10320967" y="2558599"/>
              <a:ext cx="701656" cy="341398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524037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DF1BE3-A387-1199-902E-AC1680BF9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limiar de decisão ou de ativação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D4A261E2-EE7B-ABC6-0440-76C231BADC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46172" y="1825624"/>
                <a:ext cx="7274378" cy="5032375"/>
              </a:xfrm>
            </p:spPr>
            <p:txBody>
              <a:bodyPr/>
              <a:lstStyle/>
              <a:p>
                <a:r>
                  <a:rPr lang="pt-BR" dirty="0"/>
                  <a:t>Podemos usar a </a:t>
                </a:r>
                <a:r>
                  <a:rPr lang="pt-BR" b="1" dirty="0"/>
                  <a:t>função degrau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Também conhecida como </a:t>
                </a:r>
                <a:r>
                  <a:rPr lang="pt-BR" i="1" dirty="0" err="1"/>
                  <a:t>heaviside</a:t>
                </a:r>
                <a:r>
                  <a:rPr lang="pt-BR" dirty="0"/>
                  <a:t> ou limiar de decisão rígido.</a:t>
                </a:r>
              </a:p>
              <a:p>
                <a:r>
                  <a:rPr lang="pt-BR" dirty="0"/>
                  <a:t>A qual é definida como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                             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)&lt;0</m:t>
                            </m:r>
                          </m:e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                             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&gt;0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a:rPr lang="pt-BR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Indeterminado</m:t>
                            </m:r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  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)=0</m:t>
                            </m:r>
                          </m:e>
                        </m:eqArr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Entretanto, existem alguns problemas relacionados ao uso desta função.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D4A261E2-EE7B-ABC6-0440-76C231BADC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46172" y="1825624"/>
                <a:ext cx="7274378" cy="5032375"/>
              </a:xfrm>
              <a:blipFill>
                <a:blip r:embed="rId2"/>
                <a:stretch>
                  <a:fillRect l="-1509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Agrupar 15">
            <a:extLst>
              <a:ext uri="{FF2B5EF4-FFF2-40B4-BE49-F238E27FC236}">
                <a16:creationId xmlns:a16="http://schemas.microsoft.com/office/drawing/2014/main" id="{E1BC3B28-A877-B1F8-8724-FEC92B3B8AB1}"/>
              </a:ext>
            </a:extLst>
          </p:cNvPr>
          <p:cNvGrpSpPr/>
          <p:nvPr/>
        </p:nvGrpSpPr>
        <p:grpSpPr>
          <a:xfrm>
            <a:off x="257177" y="2194676"/>
            <a:ext cx="3838573" cy="3796878"/>
            <a:chOff x="257177" y="2194676"/>
            <a:chExt cx="3838573" cy="3796878"/>
          </a:xfrm>
        </p:grpSpPr>
        <p:pic>
          <p:nvPicPr>
            <p:cNvPr id="4" name="Picture 16">
              <a:extLst>
                <a:ext uri="{FF2B5EF4-FFF2-40B4-BE49-F238E27FC236}">
                  <a16:creationId xmlns:a16="http://schemas.microsoft.com/office/drawing/2014/main" id="{7F40541D-F948-44BC-4E48-39EBFFB9640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3046" t="5896" r="8832"/>
            <a:stretch/>
          </p:blipFill>
          <p:spPr>
            <a:xfrm>
              <a:off x="476250" y="2447642"/>
              <a:ext cx="3619500" cy="3359246"/>
            </a:xfrm>
            <a:prstGeom prst="rect">
              <a:avLst/>
            </a:prstGeom>
          </p:spPr>
        </p:pic>
        <p:sp>
          <p:nvSpPr>
            <p:cNvPr id="5" name="Rectangle 17">
              <a:extLst>
                <a:ext uri="{FF2B5EF4-FFF2-40B4-BE49-F238E27FC236}">
                  <a16:creationId xmlns:a16="http://schemas.microsoft.com/office/drawing/2014/main" id="{11D202E4-A9E4-6400-B6B5-08509661CB6A}"/>
                </a:ext>
              </a:extLst>
            </p:cNvPr>
            <p:cNvSpPr/>
            <p:nvPr/>
          </p:nvSpPr>
          <p:spPr>
            <a:xfrm>
              <a:off x="914400" y="2194676"/>
              <a:ext cx="3181350" cy="33855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600" b="1" dirty="0"/>
                <a:t>Função heaviside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id="{618FA8DE-2726-6E85-B79D-64F78B73160C}"/>
                    </a:ext>
                  </a:extLst>
                </p:cNvPr>
                <p:cNvSpPr txBox="1"/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id="{618FA8DE-2726-6E85-B79D-64F78B7316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CaixaDeTexto 14">
                  <a:extLst>
                    <a:ext uri="{FF2B5EF4-FFF2-40B4-BE49-F238E27FC236}">
                      <a16:creationId xmlns:a16="http://schemas.microsoft.com/office/drawing/2014/main" id="{5C2FEE03-FCD1-7E66-0281-BFC9FB634050}"/>
                    </a:ext>
                  </a:extLst>
                </p:cNvPr>
                <p:cNvSpPr txBox="1"/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5" name="CaixaDeTexto 14">
                  <a:extLst>
                    <a:ext uri="{FF2B5EF4-FFF2-40B4-BE49-F238E27FC236}">
                      <a16:creationId xmlns:a16="http://schemas.microsoft.com/office/drawing/2014/main" id="{5C2FEE03-FCD1-7E66-0281-BFC9FB6340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blipFill>
                  <a:blip r:embed="rId5"/>
                  <a:stretch>
                    <a:fillRect r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0329181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limiar de decisão ou de ativação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2895" y="1898980"/>
            <a:ext cx="7331133" cy="4959020"/>
          </a:xfrm>
        </p:spPr>
        <p:txBody>
          <a:bodyPr>
            <a:normAutofit/>
          </a:bodyPr>
          <a:lstStyle/>
          <a:p>
            <a:r>
              <a:rPr lang="pt-BR" dirty="0"/>
              <a:t>Como no caso da regressão, queremos encontrar um modelo de classificação (i.e., a </a:t>
            </a:r>
            <a:r>
              <a:rPr lang="pt-BR" b="1" dirty="0"/>
              <a:t>função hipótese de </a:t>
            </a:r>
            <a:r>
              <a:rPr lang="pt-BR" b="1" dirty="0">
                <a:solidFill>
                  <a:srgbClr val="7030A0"/>
                </a:solidFill>
              </a:rPr>
              <a:t>classificação</a:t>
            </a:r>
            <a:r>
              <a:rPr lang="pt-BR" dirty="0"/>
              <a:t>) que minimize uma dada função de erro (de classificação).</a:t>
            </a:r>
          </a:p>
          <a:p>
            <a:r>
              <a:rPr lang="pt-BR" dirty="0"/>
              <a:t>Na </a:t>
            </a:r>
            <a:r>
              <a:rPr lang="pt-BR" b="1" dirty="0"/>
              <a:t>regressão</a:t>
            </a:r>
            <a:r>
              <a:rPr lang="pt-BR" dirty="0"/>
              <a:t>, podemos fazer de duas maneiras: </a:t>
            </a:r>
          </a:p>
          <a:p>
            <a:pPr marL="971550" lvl="1" indent="-514350">
              <a:buFont typeface="+mj-lt"/>
              <a:buAutoNum type="romanLcPeriod"/>
            </a:pPr>
            <a:r>
              <a:rPr lang="pt-BR" dirty="0"/>
              <a:t>de forma fechada (i.e., </a:t>
            </a:r>
            <a:r>
              <a:rPr lang="pt-BR" b="1" dirty="0"/>
              <a:t>equação normal</a:t>
            </a:r>
            <a:r>
              <a:rPr lang="pt-BR" dirty="0"/>
              <a:t>) tomando a derivada parcial do erro em relação aos pesos, igualando a zero e resolvendo a equação em função dos pesos;</a:t>
            </a:r>
          </a:p>
          <a:p>
            <a:pPr marL="971550" lvl="1" indent="-514350">
              <a:buFont typeface="+mj-lt"/>
              <a:buAutoNum type="romanLcPeriod"/>
            </a:pPr>
            <a:r>
              <a:rPr lang="pt-BR" dirty="0"/>
              <a:t>e através do algoritmo do </a:t>
            </a:r>
            <a:r>
              <a:rPr lang="pt-BR" b="1" dirty="0"/>
              <a:t>gradiente descendente</a:t>
            </a:r>
            <a:r>
              <a:rPr lang="pt-BR" dirty="0"/>
              <a:t>, usando as derivadas parciais do erro em relação aos pesos.</a:t>
            </a:r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9167699E-C148-E6E4-AA25-95745C8A9E72}"/>
              </a:ext>
            </a:extLst>
          </p:cNvPr>
          <p:cNvGrpSpPr/>
          <p:nvPr/>
        </p:nvGrpSpPr>
        <p:grpSpPr>
          <a:xfrm>
            <a:off x="375957" y="2211906"/>
            <a:ext cx="3838573" cy="3796878"/>
            <a:chOff x="257177" y="2194676"/>
            <a:chExt cx="3838573" cy="3796878"/>
          </a:xfrm>
        </p:grpSpPr>
        <p:pic>
          <p:nvPicPr>
            <p:cNvPr id="6" name="Picture 16">
              <a:extLst>
                <a:ext uri="{FF2B5EF4-FFF2-40B4-BE49-F238E27FC236}">
                  <a16:creationId xmlns:a16="http://schemas.microsoft.com/office/drawing/2014/main" id="{43A50A77-EC5B-72A7-708D-F766435B42B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3046" t="5896" r="8832"/>
            <a:stretch/>
          </p:blipFill>
          <p:spPr>
            <a:xfrm>
              <a:off x="476250" y="2447642"/>
              <a:ext cx="3619500" cy="3359246"/>
            </a:xfrm>
            <a:prstGeom prst="rect">
              <a:avLst/>
            </a:prstGeom>
          </p:spPr>
        </p:pic>
        <p:sp>
          <p:nvSpPr>
            <p:cNvPr id="7" name="Rectangle 17">
              <a:extLst>
                <a:ext uri="{FF2B5EF4-FFF2-40B4-BE49-F238E27FC236}">
                  <a16:creationId xmlns:a16="http://schemas.microsoft.com/office/drawing/2014/main" id="{78B0EA9B-5D67-2FF5-DDBD-1D93340B6BAD}"/>
                </a:ext>
              </a:extLst>
            </p:cNvPr>
            <p:cNvSpPr/>
            <p:nvPr/>
          </p:nvSpPr>
          <p:spPr>
            <a:xfrm>
              <a:off x="914400" y="2194676"/>
              <a:ext cx="3181350" cy="33855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600" b="1" dirty="0"/>
                <a:t>Função heaviside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F29DA71-4710-10E0-14BD-1B1438F22A8F}"/>
                    </a:ext>
                  </a:extLst>
                </p:cNvPr>
                <p:cNvSpPr txBox="1"/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F29DA71-4710-10E0-14BD-1B1438F22A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60F2DECC-8C19-18FE-B4F8-959EE96B8D82}"/>
                    </a:ext>
                  </a:extLst>
                </p:cNvPr>
                <p:cNvSpPr txBox="1"/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60F2DECC-8C19-18FE-B4F8-959EE96B8D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0513404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A5D62-5663-9DE6-E2A1-F9577788E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065EFE-B8FE-5CBC-5DD0-CE251F6A3E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limiar de decisão ou de ativação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D709016-9081-3D58-87D4-2A2F8AE3F7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29621" y="1898980"/>
                <a:ext cx="6838552" cy="4959020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Entretanto, com a </a:t>
                </a:r>
                <a:r>
                  <a:rPr lang="pt-BR" b="1" dirty="0"/>
                  <a:t>função degrau</a:t>
                </a:r>
                <a:r>
                  <a:rPr lang="pt-BR" dirty="0"/>
                  <a:t>, </a:t>
                </a:r>
                <a:r>
                  <a:rPr lang="pt-BR" b="1" dirty="0">
                    <a:solidFill>
                      <a:srgbClr val="FF0000"/>
                    </a:solidFill>
                  </a:rPr>
                  <a:t>nenhuma das duas abordagens é possível </a:t>
                </a:r>
                <a:r>
                  <a:rPr lang="pt-BR" dirty="0"/>
                  <a:t>devido à </a:t>
                </a:r>
                <a:r>
                  <a:rPr lang="pt-BR" b="1" dirty="0"/>
                  <a:t>derivada</a:t>
                </a:r>
                <a:r>
                  <a:rPr lang="pt-BR" dirty="0"/>
                  <a:t> de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pt-BR" dirty="0"/>
                  <a:t>ser igual a zero em todos os pontos exceto em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, onde ela é indeterminada.</a:t>
                </a:r>
              </a:p>
              <a:p>
                <a:r>
                  <a:rPr lang="pt-BR" dirty="0"/>
                  <a:t>Além disto, existe um outro problema.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D709016-9081-3D58-87D4-2A2F8AE3F7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29621" y="1898980"/>
                <a:ext cx="6838552" cy="4959020"/>
              </a:xfrm>
              <a:blipFill>
                <a:blip r:embed="rId3"/>
                <a:stretch>
                  <a:fillRect l="-1604" t="-2091" r="-17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id="{9DB76842-BA4E-0008-49EF-13FF7D823841}"/>
              </a:ext>
            </a:extLst>
          </p:cNvPr>
          <p:cNvGrpSpPr/>
          <p:nvPr/>
        </p:nvGrpSpPr>
        <p:grpSpPr>
          <a:xfrm>
            <a:off x="506586" y="2103049"/>
            <a:ext cx="3838573" cy="3796878"/>
            <a:chOff x="257177" y="2194676"/>
            <a:chExt cx="3838573" cy="3796878"/>
          </a:xfrm>
        </p:grpSpPr>
        <p:pic>
          <p:nvPicPr>
            <p:cNvPr id="6" name="Picture 16">
              <a:extLst>
                <a:ext uri="{FF2B5EF4-FFF2-40B4-BE49-F238E27FC236}">
                  <a16:creationId xmlns:a16="http://schemas.microsoft.com/office/drawing/2014/main" id="{B9EACBDA-DDE2-3024-9098-AA3F6A805DD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3046" t="5896" r="8832"/>
            <a:stretch/>
          </p:blipFill>
          <p:spPr>
            <a:xfrm>
              <a:off x="476250" y="2447642"/>
              <a:ext cx="3619500" cy="3359246"/>
            </a:xfrm>
            <a:prstGeom prst="rect">
              <a:avLst/>
            </a:prstGeom>
          </p:spPr>
        </p:pic>
        <p:sp>
          <p:nvSpPr>
            <p:cNvPr id="7" name="Rectangle 17">
              <a:extLst>
                <a:ext uri="{FF2B5EF4-FFF2-40B4-BE49-F238E27FC236}">
                  <a16:creationId xmlns:a16="http://schemas.microsoft.com/office/drawing/2014/main" id="{0BD67B1E-63FF-FBE8-E7CD-3F156A445685}"/>
                </a:ext>
              </a:extLst>
            </p:cNvPr>
            <p:cNvSpPr/>
            <p:nvPr/>
          </p:nvSpPr>
          <p:spPr>
            <a:xfrm>
              <a:off x="914400" y="2194676"/>
              <a:ext cx="3181350" cy="33855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600" b="1" dirty="0"/>
                <a:t>Função heaviside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2214E5AD-266E-78D1-4ED8-C90A5A01F50C}"/>
                    </a:ext>
                  </a:extLst>
                </p:cNvPr>
                <p:cNvSpPr txBox="1"/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F29DA71-4710-10E0-14BD-1B1438F22A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F7FB3B1C-2D7B-FB91-00B6-C8572C8292C6}"/>
                    </a:ext>
                  </a:extLst>
                </p:cNvPr>
                <p:cNvSpPr txBox="1"/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60F2DECC-8C19-18FE-B4F8-959EE96B8D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796162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4628" y="1825624"/>
            <a:ext cx="6651171" cy="5032376"/>
          </a:xfrm>
        </p:spPr>
        <p:txBody>
          <a:bodyPr>
            <a:normAutofit/>
          </a:bodyPr>
          <a:lstStyle/>
          <a:p>
            <a:r>
              <a:rPr lang="pt-BR" dirty="0"/>
              <a:t>Outro problema é a </a:t>
            </a:r>
            <a:r>
              <a:rPr lang="pt-BR" b="1" dirty="0">
                <a:solidFill>
                  <a:srgbClr val="00B050"/>
                </a:solidFill>
              </a:rPr>
              <a:t>falta de informação sobre a confiança</a:t>
            </a:r>
            <a:r>
              <a:rPr lang="pt-BR" dirty="0"/>
              <a:t> de uma classificação.</a:t>
            </a:r>
          </a:p>
          <a:p>
            <a:r>
              <a:rPr lang="pt-BR" dirty="0"/>
              <a:t>Na figura ao lado, dois exemplos estão bem próximos da </a:t>
            </a:r>
            <a:r>
              <a:rPr lang="pt-BR" b="1" dirty="0"/>
              <a:t>fronteira de decisão </a:t>
            </a:r>
            <a:r>
              <a:rPr lang="pt-BR" dirty="0"/>
              <a:t>enquanto outros dois estão bem distantes.</a:t>
            </a:r>
          </a:p>
          <a:p>
            <a:r>
              <a:rPr lang="pt-BR" dirty="0"/>
              <a:t>Como o classificador com </a:t>
            </a:r>
            <a:r>
              <a:rPr lang="pt-BR" b="1" dirty="0"/>
              <a:t>limiar de decisão rígido </a:t>
            </a:r>
            <a:r>
              <a:rPr lang="pt-BR" dirty="0"/>
              <a:t>classificaria esses exemplos?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5FD9BD3A-EECA-05F4-C300-1441F18AB71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49" r="7298"/>
          <a:stretch/>
        </p:blipFill>
        <p:spPr>
          <a:xfrm>
            <a:off x="315379" y="2328616"/>
            <a:ext cx="4214207" cy="3685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83972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138805" y="1825624"/>
                <a:ext cx="6902774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Olhando para a função degrau, percebemos que o classificador faz predições </a:t>
                </a:r>
                <a:r>
                  <a:rPr lang="pt-BR" b="1" dirty="0">
                    <a:solidFill>
                      <a:srgbClr val="7030A0"/>
                    </a:solidFill>
                  </a:rPr>
                  <a:t>muito confiantes</a:t>
                </a:r>
                <a:r>
                  <a:rPr lang="pt-BR" dirty="0">
                    <a:solidFill>
                      <a:srgbClr val="7030A0"/>
                    </a:solidFill>
                  </a:rPr>
                  <a:t> </a:t>
                </a:r>
                <a:r>
                  <a:rPr lang="pt-BR" dirty="0"/>
                  <a:t>sempre iguais 0 para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pt-BR" dirty="0"/>
                  <a:t> e iguais a 1 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pt-BR" dirty="0"/>
                  <a:t>, </a:t>
                </a:r>
                <a:r>
                  <a:rPr lang="pt-BR" b="1" dirty="0">
                    <a:solidFill>
                      <a:srgbClr val="00B050"/>
                    </a:solidFill>
                  </a:rPr>
                  <a:t>independente se o exemplo está distante ou próximo da fronteira de decisão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dois pontos azuis são classificados como pertencentes à classe negativa.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dois triângulos vermelhos são classificados como pertencentes à classe positiva.</a:t>
                </a:r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38805" y="1825624"/>
                <a:ext cx="6902774" cy="5032376"/>
              </a:xfrm>
              <a:blipFill>
                <a:blip r:embed="rId3"/>
                <a:stretch>
                  <a:fillRect l="-1590" t="-1937" r="-5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" name="Agrupar 16">
            <a:extLst>
              <a:ext uri="{FF2B5EF4-FFF2-40B4-BE49-F238E27FC236}">
                <a16:creationId xmlns:a16="http://schemas.microsoft.com/office/drawing/2014/main" id="{852A6A1D-DA43-B970-7D3B-CD86E9299F8C}"/>
              </a:ext>
            </a:extLst>
          </p:cNvPr>
          <p:cNvGrpSpPr/>
          <p:nvPr/>
        </p:nvGrpSpPr>
        <p:grpSpPr>
          <a:xfrm>
            <a:off x="858078" y="1642941"/>
            <a:ext cx="3354287" cy="5215059"/>
            <a:chOff x="453276" y="1631131"/>
            <a:chExt cx="3354287" cy="5215059"/>
          </a:xfrm>
        </p:grpSpPr>
        <p:pic>
          <p:nvPicPr>
            <p:cNvPr id="13" name="Imagem 12">
              <a:extLst>
                <a:ext uri="{FF2B5EF4-FFF2-40B4-BE49-F238E27FC236}">
                  <a16:creationId xmlns:a16="http://schemas.microsoft.com/office/drawing/2014/main" id="{4B4DD64C-FB97-65B7-AD47-6491E6E5E7F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607" t="5177" r="7347"/>
            <a:stretch/>
          </p:blipFill>
          <p:spPr>
            <a:xfrm>
              <a:off x="844653" y="1631131"/>
              <a:ext cx="2962910" cy="2297801"/>
            </a:xfrm>
            <a:prstGeom prst="rect">
              <a:avLst/>
            </a:prstGeom>
          </p:spPr>
        </p:pic>
        <p:pic>
          <p:nvPicPr>
            <p:cNvPr id="6" name="Picture 16">
              <a:extLst>
                <a:ext uri="{FF2B5EF4-FFF2-40B4-BE49-F238E27FC236}">
                  <a16:creationId xmlns:a16="http://schemas.microsoft.com/office/drawing/2014/main" id="{256166DD-0A30-8757-3512-E3DEA440F49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3046" t="5896" r="8832"/>
            <a:stretch/>
          </p:blipFill>
          <p:spPr>
            <a:xfrm>
              <a:off x="638472" y="4049377"/>
              <a:ext cx="2831997" cy="262836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FE29F1DF-B6FA-783E-169F-125859E9A35D}"/>
                    </a:ext>
                  </a:extLst>
                </p:cNvPr>
                <p:cNvSpPr txBox="1"/>
                <p:nvPr/>
              </p:nvSpPr>
              <p:spPr>
                <a:xfrm>
                  <a:off x="1564912" y="6538413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FE29F1DF-B6FA-783E-169F-125859E9A3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4912" y="6538413"/>
                  <a:ext cx="126682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4C0855C4-B563-8234-DFE3-4B6C2B7E81F9}"/>
                    </a:ext>
                  </a:extLst>
                </p:cNvPr>
                <p:cNvSpPr txBox="1"/>
                <p:nvPr/>
              </p:nvSpPr>
              <p:spPr>
                <a:xfrm rot="16200000">
                  <a:off x="216483" y="5087088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4C0855C4-B563-8234-DFE3-4B6C2B7E81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16483" y="5087088"/>
                  <a:ext cx="781363" cy="307777"/>
                </a:xfrm>
                <a:prstGeom prst="rect">
                  <a:avLst/>
                </a:prstGeom>
                <a:blipFill>
                  <a:blip r:embed="rId7"/>
                  <a:stretch>
                    <a:fillRect r="-8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C66842E7-77DB-DED6-551A-CFBE055B87A7}"/>
                </a:ext>
              </a:extLst>
            </p:cNvPr>
            <p:cNvSpPr/>
            <p:nvPr/>
          </p:nvSpPr>
          <p:spPr>
            <a:xfrm rot="1995663">
              <a:off x="712352" y="2785892"/>
              <a:ext cx="2971946" cy="15553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5" name="Conector de Seta Reta 14">
              <a:extLst>
                <a:ext uri="{FF2B5EF4-FFF2-40B4-BE49-F238E27FC236}">
                  <a16:creationId xmlns:a16="http://schemas.microsoft.com/office/drawing/2014/main" id="{851D0E37-E94F-E50F-4120-E98CB2FF97BE}"/>
                </a:ext>
              </a:extLst>
            </p:cNvPr>
            <p:cNvCxnSpPr>
              <a:cxnSpLocks/>
            </p:cNvCxnSpPr>
            <p:nvPr/>
          </p:nvCxnSpPr>
          <p:spPr>
            <a:xfrm>
              <a:off x="2202180" y="2977599"/>
              <a:ext cx="0" cy="105722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260481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6791E6-EFE7-E1D0-A05B-6A033903D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7D7A8-0C38-A228-6137-93F608F4D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01A9599-51A6-118D-65E9-1C6C3DD1B35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45847" y="1825624"/>
                <a:ext cx="6795732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Exemplos </a:t>
                </a:r>
                <a:r>
                  <a:rPr lang="pt-BR" b="1" dirty="0">
                    <a:solidFill>
                      <a:srgbClr val="00B050"/>
                    </a:solidFill>
                  </a:rPr>
                  <a:t>mais distantes da fronteira </a:t>
                </a:r>
                <a:r>
                  <a:rPr lang="pt-BR" dirty="0"/>
                  <a:t>têm uma </a:t>
                </a:r>
                <a:r>
                  <a:rPr lang="pt-BR" b="1" dirty="0">
                    <a:solidFill>
                      <a:srgbClr val="00B050"/>
                    </a:solidFill>
                  </a:rPr>
                  <a:t>probabilidade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maior</a:t>
                </a:r>
                <a:r>
                  <a:rPr lang="pt-BR" dirty="0"/>
                  <a:t> de </a:t>
                </a:r>
                <a:r>
                  <a:rPr lang="pt-BR" b="1" dirty="0">
                    <a:solidFill>
                      <a:srgbClr val="7030A0"/>
                    </a:solidFill>
                  </a:rPr>
                  <a:t>realmente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pertencerem à classe da região onde se encontram e não serem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outliers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Quanto maior o valor absoluto de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mais distante da fronteira está a amostra.</a:t>
                </a:r>
              </a:p>
              <a:p>
                <a:r>
                  <a:rPr lang="pt-BR" dirty="0"/>
                  <a:t>Por outro lado, exemplos próximos da fronteira têm probabilidade menor de pertencerem à classe onde estão.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Quanto menor o valor absoluto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mais próximo da fronteira está a amostra.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01A9599-51A6-118D-65E9-1C6C3DD1B3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45847" y="1825624"/>
                <a:ext cx="6795732" cy="5032376"/>
              </a:xfrm>
              <a:blipFill>
                <a:blip r:embed="rId3"/>
                <a:stretch>
                  <a:fillRect l="-1616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" name="Agrupar 16">
            <a:extLst>
              <a:ext uri="{FF2B5EF4-FFF2-40B4-BE49-F238E27FC236}">
                <a16:creationId xmlns:a16="http://schemas.microsoft.com/office/drawing/2014/main" id="{610F2454-5C0C-EBCE-6D40-BB0B5F6AE729}"/>
              </a:ext>
            </a:extLst>
          </p:cNvPr>
          <p:cNvGrpSpPr/>
          <p:nvPr/>
        </p:nvGrpSpPr>
        <p:grpSpPr>
          <a:xfrm>
            <a:off x="858078" y="1642941"/>
            <a:ext cx="3354287" cy="5215059"/>
            <a:chOff x="453276" y="1631131"/>
            <a:chExt cx="3354287" cy="5215059"/>
          </a:xfrm>
        </p:grpSpPr>
        <p:pic>
          <p:nvPicPr>
            <p:cNvPr id="13" name="Imagem 12">
              <a:extLst>
                <a:ext uri="{FF2B5EF4-FFF2-40B4-BE49-F238E27FC236}">
                  <a16:creationId xmlns:a16="http://schemas.microsoft.com/office/drawing/2014/main" id="{33700BB8-7472-8A01-B6CF-77813521557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607" t="5177" r="7347"/>
            <a:stretch/>
          </p:blipFill>
          <p:spPr>
            <a:xfrm>
              <a:off x="844653" y="1631131"/>
              <a:ext cx="2962910" cy="2297801"/>
            </a:xfrm>
            <a:prstGeom prst="rect">
              <a:avLst/>
            </a:prstGeom>
          </p:spPr>
        </p:pic>
        <p:pic>
          <p:nvPicPr>
            <p:cNvPr id="6" name="Picture 16">
              <a:extLst>
                <a:ext uri="{FF2B5EF4-FFF2-40B4-BE49-F238E27FC236}">
                  <a16:creationId xmlns:a16="http://schemas.microsoft.com/office/drawing/2014/main" id="{ADF86BCB-2A4B-0998-76DA-72007576463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3046" t="5896" r="8832"/>
            <a:stretch/>
          </p:blipFill>
          <p:spPr>
            <a:xfrm>
              <a:off x="638472" y="4049377"/>
              <a:ext cx="2831997" cy="262836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D6B287CA-CBF9-5090-D89E-5B46CA2AFD64}"/>
                    </a:ext>
                  </a:extLst>
                </p:cNvPr>
                <p:cNvSpPr txBox="1"/>
                <p:nvPr/>
              </p:nvSpPr>
              <p:spPr>
                <a:xfrm>
                  <a:off x="1564912" y="6538413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FE29F1DF-B6FA-783E-169F-125859E9A3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4912" y="6538413"/>
                  <a:ext cx="126682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31EAD500-6617-C59D-3E5F-E7C10E98A2F0}"/>
                    </a:ext>
                  </a:extLst>
                </p:cNvPr>
                <p:cNvSpPr txBox="1"/>
                <p:nvPr/>
              </p:nvSpPr>
              <p:spPr>
                <a:xfrm rot="16200000">
                  <a:off x="216483" y="5087088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4C0855C4-B563-8234-DFE3-4B6C2B7E81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16483" y="5087088"/>
                  <a:ext cx="781363" cy="307777"/>
                </a:xfrm>
                <a:prstGeom prst="rect">
                  <a:avLst/>
                </a:prstGeom>
                <a:blipFill>
                  <a:blip r:embed="rId7"/>
                  <a:stretch>
                    <a:fillRect r="-8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BB6201C2-52AB-88DF-1039-4C291CBFE4B3}"/>
                </a:ext>
              </a:extLst>
            </p:cNvPr>
            <p:cNvSpPr/>
            <p:nvPr/>
          </p:nvSpPr>
          <p:spPr>
            <a:xfrm rot="1995663">
              <a:off x="712352" y="2785892"/>
              <a:ext cx="2971946" cy="15553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5" name="Conector de Seta Reta 14">
              <a:extLst>
                <a:ext uri="{FF2B5EF4-FFF2-40B4-BE49-F238E27FC236}">
                  <a16:creationId xmlns:a16="http://schemas.microsoft.com/office/drawing/2014/main" id="{50C4842E-E5F8-047C-A23B-F98AD0098206}"/>
                </a:ext>
              </a:extLst>
            </p:cNvPr>
            <p:cNvCxnSpPr>
              <a:cxnSpLocks/>
            </p:cNvCxnSpPr>
            <p:nvPr/>
          </p:nvCxnSpPr>
          <p:spPr>
            <a:xfrm>
              <a:off x="2202180" y="2977599"/>
              <a:ext cx="0" cy="105722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36426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1F8F56-5724-DFC6-0D15-D186C211F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C2770DA-BD52-05F3-F2B3-56BA4FC4C1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73880" y="1849376"/>
            <a:ext cx="7243949" cy="5008624"/>
          </a:xfrm>
        </p:spPr>
        <p:txBody>
          <a:bodyPr>
            <a:normAutofit/>
          </a:bodyPr>
          <a:lstStyle/>
          <a:p>
            <a:pPr marL="285750" indent="-285750"/>
            <a:r>
              <a:rPr lang="pt-BR" dirty="0"/>
              <a:t>Em resumo, </a:t>
            </a:r>
            <a:r>
              <a:rPr lang="pt-BR" b="1" dirty="0">
                <a:solidFill>
                  <a:schemeClr val="accent2"/>
                </a:solidFill>
              </a:rPr>
              <a:t>pontos </a:t>
            </a:r>
            <a:r>
              <a:rPr lang="pt-BR" sz="2800" b="1" dirty="0">
                <a:solidFill>
                  <a:schemeClr val="accent2"/>
                </a:solidFill>
              </a:rPr>
              <a:t>distantes da fronteira </a:t>
            </a:r>
            <a:r>
              <a:rPr lang="pt-BR" sz="2800" dirty="0"/>
              <a:t>de decisão </a:t>
            </a:r>
            <a:r>
              <a:rPr lang="pt-BR" sz="2800" b="1" dirty="0">
                <a:solidFill>
                  <a:srgbClr val="7030A0"/>
                </a:solidFill>
              </a:rPr>
              <a:t>deveriam</a:t>
            </a:r>
            <a:r>
              <a:rPr lang="pt-BR" sz="2800" b="1" dirty="0">
                <a:solidFill>
                  <a:srgbClr val="00B050"/>
                </a:solidFill>
              </a:rPr>
              <a:t> ter uma </a:t>
            </a:r>
            <a:r>
              <a:rPr lang="pt-BR" b="1" dirty="0">
                <a:solidFill>
                  <a:srgbClr val="00B050"/>
                </a:solidFill>
              </a:rPr>
              <a:t>confiança</a:t>
            </a:r>
            <a:r>
              <a:rPr lang="pt-BR" dirty="0"/>
              <a:t> (ou probabilidade) de </a:t>
            </a:r>
            <a:r>
              <a:rPr lang="pt-BR" b="1" dirty="0">
                <a:solidFill>
                  <a:srgbClr val="00B050"/>
                </a:solidFill>
              </a:rPr>
              <a:t>pertencerem a uma determinada classe bem maior do que pontos próximos</a:t>
            </a:r>
            <a:r>
              <a:rPr lang="pt-BR" dirty="0"/>
              <a:t>.</a:t>
            </a:r>
            <a:endParaRPr lang="pt-BR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800" dirty="0"/>
              <a:t>Mas isso não é refletido na saída do classificador com função degrau.</a:t>
            </a:r>
          </a:p>
          <a:p>
            <a:pPr marL="285750" indent="-285750"/>
            <a:r>
              <a:rPr lang="pt-BR" dirty="0"/>
              <a:t>Além de poder treinar os modelos, em muitas situações, nós precisamos de predições mais graduadas, que indiquem a confiança quanto à predição.</a:t>
            </a:r>
            <a:endParaRPr lang="pt-BR" sz="2800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37586BBD-40B1-F01B-4474-DE26CFC5EB64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49" r="7298"/>
          <a:stretch/>
        </p:blipFill>
        <p:spPr>
          <a:xfrm>
            <a:off x="315379" y="2328616"/>
            <a:ext cx="4214207" cy="3685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71616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DA690E-6F0D-F227-D663-2E4C3624E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622813-C213-B0D9-4229-8306BBEC37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614" y="2827366"/>
            <a:ext cx="11070771" cy="120326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i="1" dirty="0"/>
              <a:t>O que podemos fazer?</a:t>
            </a:r>
            <a:endParaRPr lang="en-US" sz="6000" i="1" dirty="0"/>
          </a:p>
        </p:txBody>
      </p:sp>
    </p:spTree>
    <p:extLst>
      <p:ext uri="{BB962C8B-B14F-4D97-AF65-F5344CB8AC3E}">
        <p14:creationId xmlns:p14="http://schemas.microsoft.com/office/powerpoint/2010/main" val="1759058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7241A4B6-DEE9-BEE1-4387-34DE81FAA3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6302" y="1235527"/>
            <a:ext cx="5289754" cy="4894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031987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8" y="126609"/>
            <a:ext cx="11076297" cy="1415583"/>
          </a:xfrm>
        </p:spPr>
        <p:txBody>
          <a:bodyPr>
            <a:normAutofit/>
          </a:bodyPr>
          <a:lstStyle/>
          <a:p>
            <a:r>
              <a:rPr lang="pt-BR" dirty="0"/>
              <a:t>Classificação com função de limiar logístico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43525" y="1787857"/>
            <a:ext cx="6739618" cy="5070144"/>
          </a:xfrm>
        </p:spPr>
        <p:txBody>
          <a:bodyPr>
            <a:normAutofit/>
          </a:bodyPr>
          <a:lstStyle/>
          <a:p>
            <a:r>
              <a:rPr lang="pt-BR" dirty="0"/>
              <a:t>Os problemas com a função degrau podem ser resolvidos com sua </a:t>
            </a:r>
            <a:r>
              <a:rPr lang="pt-BR" b="1" dirty="0">
                <a:solidFill>
                  <a:srgbClr val="00B050"/>
                </a:solidFill>
              </a:rPr>
              <a:t>suavização</a:t>
            </a:r>
            <a:r>
              <a:rPr lang="pt-BR" dirty="0"/>
              <a:t> através de uma função que seja </a:t>
            </a:r>
            <a:r>
              <a:rPr lang="pt-BR" b="1" dirty="0">
                <a:solidFill>
                  <a:srgbClr val="00B050"/>
                </a:solidFill>
              </a:rPr>
              <a:t>contínua</a:t>
            </a:r>
            <a:r>
              <a:rPr lang="pt-BR" dirty="0"/>
              <a:t>, </a:t>
            </a:r>
            <a:r>
              <a:rPr lang="pt-BR" b="1" dirty="0" err="1">
                <a:solidFill>
                  <a:srgbClr val="00B050"/>
                </a:solidFill>
              </a:rPr>
              <a:t>diferenciável</a:t>
            </a:r>
            <a:r>
              <a:rPr lang="pt-BR" dirty="0"/>
              <a:t> e que </a:t>
            </a:r>
            <a:r>
              <a:rPr lang="pt-BR" b="1" dirty="0">
                <a:solidFill>
                  <a:srgbClr val="00B050"/>
                </a:solidFill>
              </a:rPr>
              <a:t>assuma valores reais dentro do intervalo de 0 a 1</a:t>
            </a:r>
            <a:r>
              <a:rPr lang="pt-BR" dirty="0"/>
              <a:t>.</a:t>
            </a:r>
          </a:p>
          <a:p>
            <a:r>
              <a:rPr lang="pt-BR" dirty="0"/>
              <a:t>Uma função que apresenta tais características é a </a:t>
            </a:r>
            <a:r>
              <a:rPr lang="pt-BR" b="1" dirty="0">
                <a:solidFill>
                  <a:srgbClr val="00B050"/>
                </a:solidFill>
              </a:rPr>
              <a:t>função logística</a:t>
            </a:r>
            <a:r>
              <a:rPr lang="pt-BR" dirty="0"/>
              <a:t>, também conhecida como </a:t>
            </a:r>
            <a:r>
              <a:rPr lang="pt-BR" b="1" dirty="0">
                <a:solidFill>
                  <a:srgbClr val="00B050"/>
                </a:solidFill>
              </a:rPr>
              <a:t>sigmoide</a:t>
            </a:r>
            <a:r>
              <a:rPr lang="pt-BR" dirty="0"/>
              <a:t>.</a:t>
            </a:r>
          </a:p>
        </p:txBody>
      </p:sp>
      <p:grpSp>
        <p:nvGrpSpPr>
          <p:cNvPr id="7" name="Agrupar 6">
            <a:extLst>
              <a:ext uri="{FF2B5EF4-FFF2-40B4-BE49-F238E27FC236}">
                <a16:creationId xmlns:a16="http://schemas.microsoft.com/office/drawing/2014/main" id="{97111EDA-EAFA-CA5F-4ED2-A39A480B9E4B}"/>
              </a:ext>
            </a:extLst>
          </p:cNvPr>
          <p:cNvGrpSpPr/>
          <p:nvPr/>
        </p:nvGrpSpPr>
        <p:grpSpPr>
          <a:xfrm>
            <a:off x="593141" y="2291015"/>
            <a:ext cx="4011516" cy="3717899"/>
            <a:chOff x="941484" y="2236587"/>
            <a:chExt cx="3668616" cy="3333897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15C7042-261D-AB8B-4466-65E05D03FE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2379" t="6664" r="8832"/>
            <a:stretch/>
          </p:blipFill>
          <p:spPr>
            <a:xfrm>
              <a:off x="1066798" y="2236587"/>
              <a:ext cx="3543302" cy="323715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CaixaDeTexto 4">
                  <a:extLst>
                    <a:ext uri="{FF2B5EF4-FFF2-40B4-BE49-F238E27FC236}">
                      <a16:creationId xmlns:a16="http://schemas.microsoft.com/office/drawing/2014/main" id="{B4EEAF36-9D2D-A150-C6EB-558ABC4725B5}"/>
                    </a:ext>
                  </a:extLst>
                </p:cNvPr>
                <p:cNvSpPr txBox="1"/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5" name="CaixaDeTexto 4">
                  <a:extLst>
                    <a:ext uri="{FF2B5EF4-FFF2-40B4-BE49-F238E27FC236}">
                      <a16:creationId xmlns:a16="http://schemas.microsoft.com/office/drawing/2014/main" id="{B4EEAF36-9D2D-A150-C6EB-558ABC4725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blipFill>
                  <a:blip r:embed="rId4"/>
                  <a:stretch>
                    <a:fillRect r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602D3346-13D2-7A67-8DDB-6CD34002C899}"/>
                    </a:ext>
                  </a:extLst>
                </p:cNvPr>
                <p:cNvSpPr txBox="1"/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602D3346-13D2-7A67-8DDB-6CD34002C8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839029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313584-3923-0089-84F4-6B545899B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E3A3288-915D-7D67-5C64-83C7FACAEB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95900" y="1825624"/>
                <a:ext cx="6743699" cy="5032375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pt-BR" dirty="0"/>
                  <a:t>A </a:t>
                </a:r>
                <a:r>
                  <a:rPr lang="pt-BR" b="1" dirty="0"/>
                  <a:t>função logística </a:t>
                </a:r>
                <a:r>
                  <a:rPr lang="pt-BR" dirty="0"/>
                  <a:t>é definida como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pt-BR" i="1"/>
                      <m:t>Logistic</m:t>
                    </m:r>
                    <m:d>
                      <m:d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p>
                      </m:den>
                    </m:f>
                  </m:oMath>
                </a14:m>
                <a:r>
                  <a:rPr lang="pt-BR" i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0, 1</m:t>
                        </m:r>
                      </m:e>
                    </m:d>
                  </m:oMath>
                </a14:m>
                <a:r>
                  <a:rPr lang="pt-BR" dirty="0"/>
                  <a:t>. </a:t>
                </a:r>
              </a:p>
              <a:p>
                <a:pPr algn="just"/>
                <a:r>
                  <a:rPr lang="pt-BR" dirty="0"/>
                  <a:t>A utilizando como </a:t>
                </a:r>
                <a:r>
                  <a:rPr lang="pt-BR" b="1" dirty="0"/>
                  <a:t>função de ativação</a:t>
                </a:r>
                <a:r>
                  <a:rPr lang="pt-BR" dirty="0"/>
                  <a:t>, temos a seguinte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hipótese de classificação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d>
                    <m:r>
                      <m:rPr>
                        <m:nor/>
                      </m:rPr>
                      <a:rPr lang="pt-B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sup>
                        </m:sSup>
                      </m:den>
                    </m:f>
                    <m:r>
                      <a:rPr lang="pt-BR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pt-B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0, 1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E3A3288-915D-7D67-5C64-83C7FACAEB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95900" y="1825624"/>
                <a:ext cx="6743699" cy="5032375"/>
              </a:xfrm>
              <a:blipFill>
                <a:blip r:embed="rId3"/>
                <a:stretch>
                  <a:fillRect l="-1627" t="-1937" r="-18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id="{34AEE6EF-5ED3-AE55-0A96-F31E1F8942A9}"/>
              </a:ext>
            </a:extLst>
          </p:cNvPr>
          <p:cNvGrpSpPr/>
          <p:nvPr/>
        </p:nvGrpSpPr>
        <p:grpSpPr>
          <a:xfrm>
            <a:off x="718457" y="2427506"/>
            <a:ext cx="3951514" cy="3559637"/>
            <a:chOff x="941484" y="2236587"/>
            <a:chExt cx="3668616" cy="3333897"/>
          </a:xfrm>
        </p:grpSpPr>
        <p:pic>
          <p:nvPicPr>
            <p:cNvPr id="5" name="Picture 3">
              <a:extLst>
                <a:ext uri="{FF2B5EF4-FFF2-40B4-BE49-F238E27FC236}">
                  <a16:creationId xmlns:a16="http://schemas.microsoft.com/office/drawing/2014/main" id="{39A0050F-ACE5-1773-16B4-B1D29785515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1066798" y="2236587"/>
              <a:ext cx="3543302" cy="323715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E80BCF16-47E2-3C13-A194-91D08FD0769F}"/>
                    </a:ext>
                  </a:extLst>
                </p:cNvPr>
                <p:cNvSpPr txBox="1"/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E80BCF16-47E2-3C13-A194-91D08FD076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blipFill>
                  <a:blip r:embed="rId5"/>
                  <a:stretch>
                    <a:fillRect r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05432B56-34AE-D827-7DB3-E117552BAA43}"/>
                    </a:ext>
                  </a:extLst>
                </p:cNvPr>
                <p:cNvSpPr txBox="1"/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05432B56-34AE-D827-7DB3-E117552BAA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8860515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8E86830-AC41-CC54-6387-27E033B1A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10201" y="1825624"/>
                <a:ext cx="663892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saída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pode ser interpretada como a probabilidade da classe positiva,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dado os vetores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e</a:t>
                </a:r>
                <a:r>
                  <a:rPr lang="pt-BR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, i.e., a p</a:t>
                </a:r>
                <a:r>
                  <a:rPr lang="pt-BR" dirty="0">
                    <a:solidFill>
                      <a:schemeClr val="tx1"/>
                    </a:solidFill>
                  </a:rPr>
                  <a:t>robabilidade condicional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pt-BR" b="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pt-BR" b="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pt-BR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 </a:t>
                </a:r>
                <a:endParaRPr lang="pt-BR" dirty="0">
                  <a:solidFill>
                    <a:srgbClr val="00B050"/>
                  </a:solidFill>
                </a:endParaRPr>
              </a:p>
              <a:p>
                <a:r>
                  <a:rPr lang="pt-BR" dirty="0"/>
                  <a:t>Consequentemente, o complemento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pt-BR" dirty="0"/>
                  <a:t> </a:t>
                </a:r>
              </a:p>
              <a:p>
                <a:pPr marL="0" indent="0">
                  <a:buNone/>
                </a:pPr>
                <a:r>
                  <a:rPr lang="pt-BR" dirty="0"/>
                  <a:t>dá a probabilidade condicional da classe negativa,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10201" y="1825624"/>
                <a:ext cx="6638924" cy="5032375"/>
              </a:xfrm>
              <a:blipFill>
                <a:blip r:embed="rId3"/>
                <a:stretch>
                  <a:fillRect l="-1928" t="-1937" r="-8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id="{8A58ED0E-A13A-8658-E325-826B73F5A7BF}"/>
              </a:ext>
            </a:extLst>
          </p:cNvPr>
          <p:cNvGrpSpPr/>
          <p:nvPr/>
        </p:nvGrpSpPr>
        <p:grpSpPr>
          <a:xfrm>
            <a:off x="941484" y="2236587"/>
            <a:ext cx="3668616" cy="3333897"/>
            <a:chOff x="941484" y="2236587"/>
            <a:chExt cx="3668616" cy="3333897"/>
          </a:xfrm>
        </p:grpSpPr>
        <p:pic>
          <p:nvPicPr>
            <p:cNvPr id="5" name="Picture 3">
              <a:extLst>
                <a:ext uri="{FF2B5EF4-FFF2-40B4-BE49-F238E27FC236}">
                  <a16:creationId xmlns:a16="http://schemas.microsoft.com/office/drawing/2014/main" id="{4D65E5CB-D6D8-B927-D766-DF307160A2A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1066798" y="2236587"/>
              <a:ext cx="3543302" cy="323715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100FEDFC-F647-FD30-A1FC-8F87A3EB713F}"/>
                    </a:ext>
                  </a:extLst>
                </p:cNvPr>
                <p:cNvSpPr txBox="1"/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100FEDFC-F647-FD30-A1FC-8F87A3EB71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blipFill>
                  <a:blip r:embed="rId5"/>
                  <a:stretch>
                    <a:fillRect r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FDBDA829-39EC-592C-1061-9A5F8848E1B1}"/>
                    </a:ext>
                  </a:extLst>
                </p:cNvPr>
                <p:cNvSpPr txBox="1"/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FDBDA829-39EC-592C-1061-9A5F8848E1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11914810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8E86830-AC41-CC54-6387-27E033B1A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05350" y="1825624"/>
                <a:ext cx="7343776" cy="5032375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se aproxima de 0 ou 1 conforme o exemplo se distancia da </a:t>
                </a:r>
                <a:r>
                  <a:rPr lang="pt-BR" b="1" dirty="0"/>
                  <a:t>fronteira de decisão</a:t>
                </a:r>
                <a:r>
                  <a:rPr lang="pt-BR" dirty="0"/>
                  <a:t>.</a:t>
                </a:r>
                <a:endParaRPr lang="pt-BR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prediz uma probabilidade de 0.5 para amostras posicionadas exatamente sobre a </a:t>
                </a:r>
                <a:r>
                  <a:rPr lang="pt-BR" b="1" dirty="0"/>
                  <a:t>fronteira de decisão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</a:t>
                </a:r>
                <a:r>
                  <a:rPr lang="pt-BR" b="1" dirty="0"/>
                  <a:t>fronteira de decisão</a:t>
                </a:r>
                <a:r>
                  <a:rPr lang="pt-BR" dirty="0"/>
                  <a:t> é definida por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e passa pelos pontos onde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05350" y="1825624"/>
                <a:ext cx="7343776" cy="5032375"/>
              </a:xfrm>
              <a:blipFill>
                <a:blip r:embed="rId3"/>
                <a:stretch>
                  <a:fillRect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7">
            <a:extLst>
              <a:ext uri="{FF2B5EF4-FFF2-40B4-BE49-F238E27FC236}">
                <a16:creationId xmlns:a16="http://schemas.microsoft.com/office/drawing/2014/main" id="{19F064E0-F11A-8C45-3631-1F7B0427CAB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11" t="1951" r="1156" b="2945"/>
          <a:stretch/>
        </p:blipFill>
        <p:spPr>
          <a:xfrm>
            <a:off x="1075336" y="4570735"/>
            <a:ext cx="2690141" cy="1806007"/>
          </a:xfrm>
          <a:prstGeom prst="rect">
            <a:avLst/>
          </a:prstGeom>
        </p:spPr>
      </p:pic>
      <p:sp>
        <p:nvSpPr>
          <p:cNvPr id="5" name="CaixaDeTexto 8">
            <a:extLst>
              <a:ext uri="{FF2B5EF4-FFF2-40B4-BE49-F238E27FC236}">
                <a16:creationId xmlns:a16="http://schemas.microsoft.com/office/drawing/2014/main" id="{23754661-C607-C366-CF33-71559EC800A7}"/>
              </a:ext>
            </a:extLst>
          </p:cNvPr>
          <p:cNvSpPr txBox="1"/>
          <p:nvPr/>
        </p:nvSpPr>
        <p:spPr>
          <a:xfrm>
            <a:off x="1371120" y="6354375"/>
            <a:ext cx="239435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b="1" dirty="0"/>
              <a:t>Fronteira de decisão suave.</a:t>
            </a:r>
          </a:p>
        </p:txBody>
      </p:sp>
      <p:pic>
        <p:nvPicPr>
          <p:cNvPr id="6" name="Picture 3">
            <a:extLst>
              <a:ext uri="{FF2B5EF4-FFF2-40B4-BE49-F238E27FC236}">
                <a16:creationId xmlns:a16="http://schemas.microsoft.com/office/drawing/2014/main" id="{999474C9-1B59-1846-09FB-106F96E48A4B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379" t="6664" r="8832"/>
          <a:stretch/>
        </p:blipFill>
        <p:spPr>
          <a:xfrm>
            <a:off x="1075337" y="1825623"/>
            <a:ext cx="2690141" cy="245771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15">
                <a:extLst>
                  <a:ext uri="{FF2B5EF4-FFF2-40B4-BE49-F238E27FC236}">
                    <a16:creationId xmlns:a16="http://schemas.microsoft.com/office/drawing/2014/main" id="{779901F9-BC15-31CD-229E-355D4BB26B34}"/>
                  </a:ext>
                </a:extLst>
              </p:cNvPr>
              <p:cNvSpPr txBox="1"/>
              <p:nvPr/>
            </p:nvSpPr>
            <p:spPr>
              <a:xfrm rot="16200000">
                <a:off x="582524" y="2773663"/>
                <a:ext cx="1004677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12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7" name="CaixaDeTexto 15">
                <a:extLst>
                  <a:ext uri="{FF2B5EF4-FFF2-40B4-BE49-F238E27FC236}">
                    <a16:creationId xmlns:a16="http://schemas.microsoft.com/office/drawing/2014/main" id="{779901F9-BC15-31CD-229E-355D4BB26B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582524" y="2773663"/>
                <a:ext cx="1004677" cy="276999"/>
              </a:xfrm>
              <a:prstGeom prst="rect">
                <a:avLst/>
              </a:prstGeom>
              <a:blipFill>
                <a:blip r:embed="rId6"/>
                <a:stretch>
                  <a:fillRect r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ixaDeTexto 16">
                <a:extLst>
                  <a:ext uri="{FF2B5EF4-FFF2-40B4-BE49-F238E27FC236}">
                    <a16:creationId xmlns:a16="http://schemas.microsoft.com/office/drawing/2014/main" id="{0AFB993A-49FF-1E77-114B-354BB8A1F904}"/>
                  </a:ext>
                </a:extLst>
              </p:cNvPr>
              <p:cNvSpPr txBox="1"/>
              <p:nvPr/>
            </p:nvSpPr>
            <p:spPr>
              <a:xfrm>
                <a:off x="1934885" y="4130772"/>
                <a:ext cx="1266826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10" name="CaixaDeTexto 16">
                <a:extLst>
                  <a:ext uri="{FF2B5EF4-FFF2-40B4-BE49-F238E27FC236}">
                    <a16:creationId xmlns:a16="http://schemas.microsoft.com/office/drawing/2014/main" id="{0AFB993A-49FF-1E77-114B-354BB8A1F9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4885" y="4130772"/>
                <a:ext cx="1266826" cy="276999"/>
              </a:xfrm>
              <a:prstGeom prst="rect">
                <a:avLst/>
              </a:prstGeom>
              <a:blipFill>
                <a:blip r:embed="rId7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Conector de Seta Reta 4">
            <a:extLst>
              <a:ext uri="{FF2B5EF4-FFF2-40B4-BE49-F238E27FC236}">
                <a16:creationId xmlns:a16="http://schemas.microsoft.com/office/drawing/2014/main" id="{4DEC9FCC-DC31-DCEB-0983-72EDCD32A3D5}"/>
              </a:ext>
            </a:extLst>
          </p:cNvPr>
          <p:cNvCxnSpPr>
            <a:cxnSpLocks/>
          </p:cNvCxnSpPr>
          <p:nvPr/>
        </p:nvCxnSpPr>
        <p:spPr>
          <a:xfrm flipV="1">
            <a:off x="3686175" y="1895475"/>
            <a:ext cx="0" cy="2743200"/>
          </a:xfrm>
          <a:prstGeom prst="straightConnector1">
            <a:avLst/>
          </a:prstGeom>
          <a:ln w="2857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9">
            <a:extLst>
              <a:ext uri="{FF2B5EF4-FFF2-40B4-BE49-F238E27FC236}">
                <a16:creationId xmlns:a16="http://schemas.microsoft.com/office/drawing/2014/main" id="{07DA4A31-71A5-898C-6FFA-091EC9EF4713}"/>
              </a:ext>
            </a:extLst>
          </p:cNvPr>
          <p:cNvCxnSpPr>
            <a:cxnSpLocks/>
          </p:cNvCxnSpPr>
          <p:nvPr/>
        </p:nvCxnSpPr>
        <p:spPr>
          <a:xfrm flipV="1">
            <a:off x="1437795" y="4039976"/>
            <a:ext cx="0" cy="2016000"/>
          </a:xfrm>
          <a:prstGeom prst="straightConnector1">
            <a:avLst/>
          </a:prstGeom>
          <a:ln w="2857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ector de Seta Reta 10">
            <a:extLst>
              <a:ext uri="{FF2B5EF4-FFF2-40B4-BE49-F238E27FC236}">
                <a16:creationId xmlns:a16="http://schemas.microsoft.com/office/drawing/2014/main" id="{69A2242F-E1FC-AA0C-3212-3D3E07694B0C}"/>
              </a:ext>
            </a:extLst>
          </p:cNvPr>
          <p:cNvCxnSpPr>
            <a:cxnSpLocks/>
          </p:cNvCxnSpPr>
          <p:nvPr/>
        </p:nvCxnSpPr>
        <p:spPr>
          <a:xfrm flipV="1">
            <a:off x="2562227" y="2944612"/>
            <a:ext cx="0" cy="2448000"/>
          </a:xfrm>
          <a:prstGeom prst="straightConnector1">
            <a:avLst/>
          </a:prstGeom>
          <a:ln w="2857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8070001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348C73-D100-F26C-476F-E2F9B182F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logística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AF9C095-0678-B568-4C0C-EE57209756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201400" cy="5032375"/>
          </a:xfrm>
        </p:spPr>
        <p:txBody>
          <a:bodyPr>
            <a:normAutofit/>
          </a:bodyPr>
          <a:lstStyle/>
          <a:p>
            <a:r>
              <a:rPr lang="pt-BR" dirty="0"/>
              <a:t>Esse modelo que estima a probabilidade de uma dada amostra de entrada pertencer à classe positiva, </a:t>
            </a:r>
            <a:r>
              <a:rPr lang="pt-BR" b="1" dirty="0">
                <a:solidFill>
                  <a:srgbClr val="7030A0"/>
                </a:solidFill>
              </a:rPr>
              <a:t>não é um classificador </a:t>
            </a:r>
            <a:r>
              <a:rPr lang="pt-BR" b="1" dirty="0">
                <a:solidFill>
                  <a:srgbClr val="00B050"/>
                </a:solidFill>
              </a:rPr>
              <a:t>no sentido estrito</a:t>
            </a:r>
            <a:r>
              <a:rPr lang="pt-BR" dirty="0"/>
              <a:t>.</a:t>
            </a:r>
          </a:p>
          <a:p>
            <a:r>
              <a:rPr lang="pt-BR" dirty="0"/>
              <a:t>Ele é na verdade um </a:t>
            </a:r>
            <a:r>
              <a:rPr lang="pt-BR" b="1" dirty="0">
                <a:solidFill>
                  <a:srgbClr val="7030A0"/>
                </a:solidFill>
              </a:rPr>
              <a:t>regressor</a:t>
            </a:r>
            <a:r>
              <a:rPr lang="pt-BR" dirty="0"/>
              <a:t> e é chamado de </a:t>
            </a:r>
            <a:r>
              <a:rPr lang="pt-BR" b="1" dirty="0">
                <a:solidFill>
                  <a:srgbClr val="7030A0"/>
                </a:solidFill>
              </a:rPr>
              <a:t>regressor</a:t>
            </a:r>
            <a:r>
              <a:rPr lang="pt-BR" dirty="0"/>
              <a:t> </a:t>
            </a:r>
            <a:r>
              <a:rPr lang="pt-BR" b="1" dirty="0"/>
              <a:t>logístico</a:t>
            </a:r>
            <a:r>
              <a:rPr lang="pt-BR" dirty="0"/>
              <a:t>.</a:t>
            </a:r>
          </a:p>
          <a:p>
            <a:r>
              <a:rPr lang="pt-BR" dirty="0"/>
              <a:t>É um regressor pois sua saída pode </a:t>
            </a:r>
            <a:r>
              <a:rPr lang="pt-BR" b="1" dirty="0">
                <a:solidFill>
                  <a:srgbClr val="7030A0"/>
                </a:solidFill>
              </a:rPr>
              <a:t>assumir infinitos valores </a:t>
            </a:r>
            <a:r>
              <a:rPr lang="pt-BR" dirty="0"/>
              <a:t>no intervalo entre 0 e 1.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2425612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Logistic regression Is used for classification - Sarcastic Nicholas Cage  Meme Generator">
            <a:extLst>
              <a:ext uri="{FF2B5EF4-FFF2-40B4-BE49-F238E27FC236}">
                <a16:creationId xmlns:a16="http://schemas.microsoft.com/office/drawing/2014/main" id="{6D195832-A25E-9AD8-AE65-CD762EA373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114" y="1892074"/>
            <a:ext cx="6362636" cy="3616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C63E270-A08C-0D12-C9A7-01E366EBC2E7}"/>
              </a:ext>
            </a:extLst>
          </p:cNvPr>
          <p:cNvSpPr txBox="1"/>
          <p:nvPr/>
        </p:nvSpPr>
        <p:spPr>
          <a:xfrm>
            <a:off x="6890658" y="2757493"/>
            <a:ext cx="5050971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dirty="0"/>
              <a:t>O </a:t>
            </a:r>
            <a:r>
              <a:rPr lang="pt-BR" sz="3200" b="1" dirty="0"/>
              <a:t>regressor logístico </a:t>
            </a:r>
            <a:r>
              <a:rPr lang="pt-BR" sz="3200" dirty="0"/>
              <a:t>é usado para </a:t>
            </a:r>
            <a:r>
              <a:rPr lang="pt-BR" sz="3200" b="1" dirty="0">
                <a:solidFill>
                  <a:srgbClr val="00B050"/>
                </a:solidFill>
              </a:rPr>
              <a:t>classificação binária</a:t>
            </a:r>
            <a:r>
              <a:rPr lang="pt-BR" sz="3200" dirty="0"/>
              <a:t>,</a:t>
            </a:r>
            <a:r>
              <a:rPr lang="pt-BR" sz="3200" b="1" dirty="0">
                <a:solidFill>
                  <a:srgbClr val="00B050"/>
                </a:solidFill>
              </a:rPr>
              <a:t> </a:t>
            </a:r>
            <a:r>
              <a:rPr lang="pt-BR" sz="3200" dirty="0"/>
              <a:t>mas para isso, precisamos </a:t>
            </a:r>
            <a:r>
              <a:rPr lang="pt-BR" sz="3200" b="1" dirty="0">
                <a:solidFill>
                  <a:srgbClr val="00B050"/>
                </a:solidFill>
              </a:rPr>
              <a:t>quantizar sua saída</a:t>
            </a:r>
            <a:r>
              <a:rPr lang="pt-BR" sz="3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6978910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072F66-404A-E27E-D039-06DFA2184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logística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442BD45-72D4-E6C4-1F35-F41807AA4F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12286" cy="5032375"/>
              </a:xfrm>
            </p:spPr>
            <p:txBody>
              <a:bodyPr/>
              <a:lstStyle/>
              <a:p>
                <a:r>
                  <a:rPr lang="pt-BR" dirty="0"/>
                  <a:t>Se quantiza a saída da </a:t>
                </a:r>
                <a:r>
                  <a:rPr lang="pt-BR" b="1" dirty="0"/>
                  <a:t>função hipótese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nos valores 0 ou 1 estabelecendo-se um </a:t>
                </a:r>
                <a:r>
                  <a:rPr lang="pt-BR" b="1" dirty="0">
                    <a:solidFill>
                      <a:srgbClr val="7030A0"/>
                    </a:solidFill>
                  </a:rPr>
                  <a:t>limiar de decisão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Em geral, o </a:t>
                </a:r>
                <a:r>
                  <a:rPr lang="pt-BR" b="1" dirty="0">
                    <a:solidFill>
                      <a:srgbClr val="7030A0"/>
                    </a:solidFill>
                  </a:rPr>
                  <a:t>limiar de decisão</a:t>
                </a:r>
                <a:r>
                  <a:rPr lang="pt-BR" dirty="0"/>
                  <a:t> é feito igual a 0.5.</a:t>
                </a:r>
              </a:p>
              <a:p>
                <a:r>
                  <a:rPr lang="pt-BR" dirty="0"/>
                  <a:t>A saída </a:t>
                </a:r>
                <a:r>
                  <a:rPr lang="pt-BR" b="1" dirty="0"/>
                  <a:t>quantizada</a:t>
                </a:r>
                <a:r>
                  <a:rPr lang="pt-BR" dirty="0"/>
                  <a:t> do </a:t>
                </a:r>
                <a:r>
                  <a:rPr lang="pt-BR" b="1" dirty="0"/>
                  <a:t>regressor logístico </a:t>
                </a:r>
                <a:r>
                  <a:rPr lang="pt-BR" dirty="0"/>
                  <a:t>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pt-B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classe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b="0" i="0" smtClean="0">
                                        <a:latin typeface="Cambria Math" panose="02040503050406030204" pitchFamily="18" charset="0"/>
                                      </a:rPr>
                                      <m:t>Negativa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se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&lt;0.5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 (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classe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Positiva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), </m:t>
                                </m:r>
                                <m:r>
                                  <m:rPr>
                                    <m:sty m:val="p"/>
                                  </m:rPr>
                                  <a:rPr lang="pt-BR" i="0">
                                    <a:latin typeface="Cambria Math" panose="02040503050406030204" pitchFamily="18" charset="0"/>
                                  </a:rPr>
                                  <m:t>se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≥0.5</m:t>
                                </m:r>
                              </m:e>
                            </m:mr>
                          </m:m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442BD45-72D4-E6C4-1F35-F41807AA4F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12286" cy="5032375"/>
              </a:xfrm>
              <a:blipFill>
                <a:blip r:embed="rId3"/>
                <a:stretch>
                  <a:fillRect l="-979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6426720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811B56D-A8C3-D4ED-E68C-5C692F58C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ABDE3F7-7E8F-5003-373A-62B0BD3761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28343" y="1825624"/>
            <a:ext cx="6600460" cy="5032375"/>
          </a:xfrm>
        </p:spPr>
        <p:txBody>
          <a:bodyPr/>
          <a:lstStyle/>
          <a:p>
            <a:r>
              <a:rPr lang="pt-BR" dirty="0"/>
              <a:t>Com tudo definido,</a:t>
            </a:r>
            <a:r>
              <a:rPr lang="pt-BR" b="1" dirty="0">
                <a:solidFill>
                  <a:srgbClr val="00B050"/>
                </a:solidFill>
              </a:rPr>
              <a:t> </a:t>
            </a:r>
            <a:r>
              <a:rPr lang="pt-BR" dirty="0"/>
              <a:t>nosso objetivo será, assim como na regressão linear, dado uma função discriminante, encontrar </a:t>
            </a:r>
            <a:r>
              <a:rPr lang="pt-BR" b="1" dirty="0">
                <a:solidFill>
                  <a:srgbClr val="00B050"/>
                </a:solidFill>
              </a:rPr>
              <a:t>seus pesos</a:t>
            </a:r>
            <a:r>
              <a:rPr lang="pt-BR" dirty="0"/>
              <a:t> de forma que o </a:t>
            </a:r>
            <a:r>
              <a:rPr lang="pt-BR" b="1" dirty="0">
                <a:solidFill>
                  <a:srgbClr val="00B050"/>
                </a:solidFill>
              </a:rPr>
              <a:t>erro de classificação seja </a:t>
            </a:r>
            <a:r>
              <a:rPr lang="pt-BR" b="1" dirty="0">
                <a:solidFill>
                  <a:srgbClr val="7030A0"/>
                </a:solidFill>
              </a:rPr>
              <a:t>minimizado</a:t>
            </a:r>
            <a:r>
              <a:rPr lang="pt-BR" dirty="0"/>
              <a:t>.</a:t>
            </a:r>
          </a:p>
          <a:p>
            <a:r>
              <a:rPr lang="pt-BR" dirty="0"/>
              <a:t>Agora precisamos de uma função de erro para </a:t>
            </a:r>
            <a:r>
              <a:rPr lang="pt-BR" b="1" dirty="0">
                <a:solidFill>
                  <a:srgbClr val="00B050"/>
                </a:solidFill>
              </a:rPr>
              <a:t>treinarmos um regressor logístico.</a:t>
            </a:r>
            <a:endParaRPr lang="pt-BR" dirty="0"/>
          </a:p>
          <a:p>
            <a:r>
              <a:rPr lang="pt-BR" dirty="0"/>
              <a:t>Porém, usar a função do </a:t>
            </a:r>
            <a:r>
              <a:rPr lang="pt-BR" b="1" dirty="0">
                <a:solidFill>
                  <a:schemeClr val="accent2"/>
                </a:solidFill>
              </a:rPr>
              <a:t>erro quadrático médio</a:t>
            </a:r>
            <a:r>
              <a:rPr lang="pt-BR" b="1" dirty="0"/>
              <a:t> </a:t>
            </a:r>
            <a:r>
              <a:rPr lang="pt-BR" b="1" dirty="0">
                <a:solidFill>
                  <a:srgbClr val="7030A0"/>
                </a:solidFill>
              </a:rPr>
              <a:t>não é uma boa escolha </a:t>
            </a:r>
            <a:r>
              <a:rPr lang="pt-BR" dirty="0"/>
              <a:t>no caso da</a:t>
            </a:r>
            <a:r>
              <a:rPr lang="pt-BR" b="1" dirty="0"/>
              <a:t> regressão logística</a:t>
            </a:r>
            <a:r>
              <a:rPr lang="pt-BR" dirty="0"/>
              <a:t> e </a:t>
            </a:r>
            <a:r>
              <a:rPr lang="pt-BR" b="1" dirty="0"/>
              <a:t>classificadores em geral </a:t>
            </a:r>
            <a:r>
              <a:rPr lang="pt-BR" dirty="0"/>
              <a:t>como veremos a seguir.</a:t>
            </a:r>
          </a:p>
        </p:txBody>
      </p:sp>
      <p:pic>
        <p:nvPicPr>
          <p:cNvPr id="19" name="Imagem 18">
            <a:extLst>
              <a:ext uri="{FF2B5EF4-FFF2-40B4-BE49-F238E27FC236}">
                <a16:creationId xmlns:a16="http://schemas.microsoft.com/office/drawing/2014/main" id="{545F6B8B-1D68-3257-4D30-A8B30FF6296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197" y="2667000"/>
            <a:ext cx="5112948" cy="2491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930489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06EC75-4D21-4D67-B663-BBB1A0602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BFE5126-77BD-A65E-0D48-3492430214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46600" y="1825624"/>
                <a:ext cx="750356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adotarmos o EQM como 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, temos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Porém, como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 é uma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não-linear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não será</a:t>
                </a:r>
                <a:r>
                  <a:rPr lang="pt-BR" dirty="0"/>
                  <a:t>, consequentemente, </a:t>
                </a:r>
                <a:r>
                  <a:rPr lang="pt-BR" b="1" dirty="0">
                    <a:solidFill>
                      <a:srgbClr val="00B050"/>
                    </a:solidFill>
                  </a:rPr>
                  <a:t>uma função convexa</a:t>
                </a:r>
                <a:r>
                  <a:rPr lang="pt-BR" dirty="0"/>
                  <a:t>, de forma que a </a:t>
                </a:r>
                <a:r>
                  <a:rPr lang="pt-BR" b="1" dirty="0"/>
                  <a:t>superfície de erro</a:t>
                </a:r>
                <a:r>
                  <a:rPr lang="pt-BR" dirty="0"/>
                  <a:t> poderá apresentar </a:t>
                </a:r>
                <a:r>
                  <a:rPr lang="pt-BR" b="1" dirty="0">
                    <a:solidFill>
                      <a:srgbClr val="7030A0"/>
                    </a:solidFill>
                  </a:rPr>
                  <a:t>vários mínimos locais e outras irregularidades </a:t>
                </a:r>
                <a:r>
                  <a:rPr lang="pt-BR" dirty="0"/>
                  <a:t>que vão dificultar o aprendizado do modelo.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 exemplo, o algoritmo do GD pode ficar preso em um mínimo local).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BFE5126-77BD-A65E-0D48-3492430214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46600" y="1825624"/>
                <a:ext cx="7503561" cy="5032375"/>
              </a:xfrm>
              <a:blipFill>
                <a:blip r:embed="rId3"/>
                <a:stretch>
                  <a:fillRect l="-1462" t="-2663" r="-17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m 7">
            <a:extLst>
              <a:ext uri="{FF2B5EF4-FFF2-40B4-BE49-F238E27FC236}">
                <a16:creationId xmlns:a16="http://schemas.microsoft.com/office/drawing/2014/main" id="{115D6186-8BB1-898C-24EC-20F1164C3EE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18" y="2005175"/>
            <a:ext cx="3686982" cy="4164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29322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5C9F62-7684-5A29-B15B-4CEB81264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C9293E-FE0D-E03B-8391-5AFFEBCBCC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8000" b="1" dirty="0">
                <a:solidFill>
                  <a:srgbClr val="FF0000"/>
                </a:solidFill>
              </a:rPr>
              <a:t>PAREI AQUI!!!!!!</a:t>
            </a:r>
            <a:endParaRPr lang="en-US" sz="80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635427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378F74-F634-C94A-D1F8-73D32E2DA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46664-2C44-9E42-584C-7B7A625B69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7846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0E2DF9-2743-23C2-DE46-E7AD9A871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34F70FE-EECC-0DF5-F655-DE58234088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75314" y="1825624"/>
                <a:ext cx="8316685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Precisamos usar uma </a:t>
                </a:r>
                <a:r>
                  <a:rPr lang="pt-BR" b="1" dirty="0"/>
                  <a:t>função de erro </a:t>
                </a:r>
                <a:r>
                  <a:rPr lang="pt-BR" dirty="0"/>
                  <a:t>que tenha </a:t>
                </a:r>
                <a:r>
                  <a:rPr lang="pt-BR" b="1" dirty="0"/>
                  <a:t>superfície de erro </a:t>
                </a:r>
                <a:r>
                  <a:rPr lang="pt-BR" dirty="0"/>
                  <a:t>resultante </a:t>
                </a:r>
                <a:r>
                  <a:rPr lang="pt-BR" b="1" dirty="0">
                    <a:solidFill>
                      <a:srgbClr val="00B050"/>
                    </a:solidFill>
                  </a:rPr>
                  <a:t>convexa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Assim, no caso da regressão logística nós usamos a função da </a:t>
                </a:r>
                <a:r>
                  <a:rPr lang="pt-BR" b="1" dirty="0">
                    <a:solidFill>
                      <a:srgbClr val="7030A0"/>
                    </a:solidFill>
                  </a:rPr>
                  <a:t>entropia cruzada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000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func>
                            <m:func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 sz="200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0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pt-BR" sz="2000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pt-B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0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0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lang="pt-BR" sz="2000" i="1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  <m:func>
                        <m:func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200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sz="2000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0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0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pt-BR" sz="2600" b="1" i="1" dirty="0"/>
              </a:p>
              <a:p>
                <a:endParaRPr lang="pt-BR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34F70FE-EECC-0DF5-F655-DE58234088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75314" y="1825624"/>
                <a:ext cx="8316685" cy="5032375"/>
              </a:xfrm>
              <a:blipFill>
                <a:blip r:embed="rId3"/>
                <a:stretch>
                  <a:fillRect l="-1320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AB29F58F-4448-78CD-6BD9-06E43E18AD0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656" y="1990946"/>
            <a:ext cx="3425371" cy="41828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00DD6890-7287-3E1E-773F-7EAB37BD2F8A}"/>
                  </a:ext>
                </a:extLst>
              </p:cNvPr>
              <p:cNvSpPr txBox="1"/>
              <p:nvPr/>
            </p:nvSpPr>
            <p:spPr>
              <a:xfrm>
                <a:off x="8925171" y="6581000"/>
                <a:ext cx="3425371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pt-BR" sz="1200" b="1" dirty="0"/>
                  <a:t>Obs</a:t>
                </a:r>
                <a:r>
                  <a:rPr lang="pt-BR" sz="1200" dirty="0"/>
                  <a:t>.: </a:t>
                </a:r>
                <a14:m>
                  <m:oMath xmlns:m="http://schemas.openxmlformats.org/officeDocument/2006/math">
                    <m:r>
                      <m:rPr>
                        <m:sty m:val="p"/>
                        <m:brk m:alnAt="7"/>
                      </m:rPr>
                      <a:rPr lang="pt-BR" sz="1200" smtClean="0">
                        <a:latin typeface="Cambria Math" panose="02040503050406030204" pitchFamily="18" charset="0"/>
                      </a:rPr>
                      <m:t>l</m:t>
                    </m:r>
                    <m:r>
                      <m:rPr>
                        <m:sty m:val="p"/>
                      </m:rPr>
                      <a:rPr lang="pt-BR" sz="1200">
                        <a:latin typeface="Cambria Math" panose="02040503050406030204" pitchFamily="18" charset="0"/>
                      </a:rPr>
                      <m:t>og</m:t>
                    </m:r>
                    <m:r>
                      <a:rPr lang="pt-BR" sz="1200" b="0" i="0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sz="1200" dirty="0"/>
                  <a:t> é o logaritmo natural ou neperiano.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00DD6890-7287-3E1E-773F-7EAB37BD2F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5171" y="6581000"/>
                <a:ext cx="3425371" cy="276999"/>
              </a:xfrm>
              <a:prstGeom prst="rect">
                <a:avLst/>
              </a:prstGeom>
              <a:blipFill>
                <a:blip r:embed="rId5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9580738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90B006-3B77-B446-0236-D9D3C902F4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D3FD4E4A-5ACD-4D5C-3A3F-51A57190DC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45819" cy="5032375"/>
              </a:xfrm>
            </p:spPr>
            <p:txBody>
              <a:bodyPr/>
              <a:lstStyle/>
              <a:p>
                <a:r>
                  <a:rPr lang="pt-BR" dirty="0"/>
                  <a:t>Nós podemos unir a </a:t>
                </a:r>
                <a:r>
                  <a:rPr lang="pt-BR" b="1" i="1" dirty="0"/>
                  <a:t>função de erro para cada exemplo de entrada </a:t>
                </a:r>
                <a:r>
                  <a:rPr lang="pt-BR" dirty="0"/>
                  <a:t>em uma expressão única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usando a informação dos rótulos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i="1">
                          <a:latin typeface="Cambria Math" panose="02040503050406030204" pitchFamily="18" charset="0"/>
                        </a:rPr>
                        <m:t>𝐸𝑟𝑟𝑜</m:t>
                      </m:r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pt-BR" sz="2400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</m:d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unc>
                                <m:funcPr>
                                  <m:ctrlP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pt-BR" sz="2400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pt-BR" sz="2400" b="1" i="1">
                                              <a:latin typeface="Cambria Math" panose="02040503050406030204" pitchFamily="18" charset="0"/>
                                            </a:rPr>
                                            <m:t>𝒂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d>
                                            <m:d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ó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exerce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influ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ê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ncia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no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erro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se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lim>
                      </m:limLow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 </m:t>
                      </m:r>
                      <m:limLow>
                        <m:limLow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(1−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unc>
                                <m:func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pt-BR" sz="240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1−</m:t>
                                          </m:r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pt-BR" sz="2400" b="1" i="1">
                                              <a:latin typeface="Cambria Math" panose="02040503050406030204" pitchFamily="18" charset="0"/>
                                            </a:rPr>
                                            <m:t>𝒂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d>
                                            <m:d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d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</m:e>
                              </m:func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ó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exerce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influ</m:t>
                          </m:r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ê</m:t>
                          </m:r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ncia</m:t>
                          </m:r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no</m:t>
                          </m:r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erro</m:t>
                          </m:r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se</m:t>
                          </m:r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lim>
                      </m:limLow>
                    </m:oMath>
                  </m:oMathPara>
                </a14:m>
                <a:endParaRPr lang="pt-BR" sz="2400" dirty="0"/>
              </a:p>
              <a:p>
                <a:r>
                  <a:rPr lang="pt-BR" dirty="0"/>
                  <a:t>Assim, podemos definir a seguinte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função de erro médio</a:t>
                </a:r>
                <a:endParaRPr lang="pt-BR" dirty="0">
                  <a:solidFill>
                    <a:srgbClr val="00B050"/>
                  </a:solidFill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func>
                            <m:func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pt-BR" sz="24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  <m:func>
                        <m:func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sz="23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600" b="1" i="1" dirty="0"/>
              </a:p>
              <a:p>
                <a:r>
                  <a:rPr lang="pt-BR" sz="2800" dirty="0"/>
                  <a:t>Lembrem-se que sempre queremos </a:t>
                </a:r>
                <a:r>
                  <a:rPr lang="pt-BR" sz="2800" b="1" i="1" dirty="0">
                    <a:solidFill>
                      <a:schemeClr val="accent4"/>
                    </a:solidFill>
                  </a:rPr>
                  <a:t>minimizar o erro ao longo de </a:t>
                </a:r>
                <a:r>
                  <a:rPr lang="pt-BR" sz="2800" b="1" i="1" dirty="0">
                    <a:solidFill>
                      <a:srgbClr val="7030A0"/>
                    </a:solidFill>
                  </a:rPr>
                  <a:t>todo</a:t>
                </a:r>
                <a:r>
                  <a:rPr lang="pt-BR" sz="2800" b="1" i="1" dirty="0">
                    <a:solidFill>
                      <a:schemeClr val="accent4"/>
                    </a:solidFill>
                  </a:rPr>
                  <a:t> o conjunto de treinamento</a:t>
                </a:r>
                <a:r>
                  <a:rPr lang="pt-BR" sz="2800" dirty="0"/>
                  <a:t>, por isso tomamos a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média</a:t>
                </a:r>
                <a:r>
                  <a:rPr lang="pt-BR" sz="2800" dirty="0"/>
                  <a:t>.</a:t>
                </a:r>
              </a:p>
              <a:p>
                <a:r>
                  <a:rPr lang="pt-BR" sz="2800" dirty="0"/>
                  <a:t>Essa função de erro é conhecida na literatura como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entropia cruzada</a:t>
                </a:r>
                <a:r>
                  <a:rPr lang="pt-BR" sz="2800" dirty="0"/>
                  <a:t>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D3FD4E4A-5ACD-4D5C-3A3F-51A57190DC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45819" cy="5032375"/>
              </a:xfrm>
              <a:blipFill>
                <a:blip r:embed="rId3"/>
                <a:stretch>
                  <a:fillRect l="-929" t="-1937" b="-27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3757654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74F966-AF0F-9F47-A9AB-CB6984D11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5465B95-8DFB-988F-6777-374C021F46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4"/>
            <a:ext cx="11205951" cy="5032375"/>
          </a:xfrm>
        </p:spPr>
        <p:txBody>
          <a:bodyPr>
            <a:normAutofit fontScale="92500" lnSpcReduction="20000"/>
          </a:bodyPr>
          <a:lstStyle/>
          <a:p>
            <a:r>
              <a:rPr lang="pt-BR" sz="3000" dirty="0"/>
              <a:t>Uma má notícia com relação a essa função é que </a:t>
            </a:r>
            <a:r>
              <a:rPr lang="pt-BR" sz="3000" b="1" i="1" dirty="0">
                <a:solidFill>
                  <a:srgbClr val="00B050"/>
                </a:solidFill>
              </a:rPr>
              <a:t>não existe uma equação de forma fechada</a:t>
            </a:r>
            <a:r>
              <a:rPr lang="pt-BR" sz="3000" b="1" i="1" dirty="0"/>
              <a:t> </a:t>
            </a:r>
            <a:r>
              <a:rPr lang="pt-BR" sz="3000" dirty="0"/>
              <a:t>para encontrar os </a:t>
            </a:r>
            <a:r>
              <a:rPr lang="pt-BR" sz="3000" b="1" i="1" dirty="0"/>
              <a:t>pesos</a:t>
            </a:r>
            <a:r>
              <a:rPr lang="pt-BR" sz="3000" dirty="0"/>
              <a:t> que minimizem essa </a:t>
            </a:r>
            <a:r>
              <a:rPr lang="pt-BR" sz="3000" b="1" i="1" dirty="0"/>
              <a:t>função de erro</a:t>
            </a:r>
            <a:r>
              <a:rPr lang="pt-BR" sz="3000" dirty="0"/>
              <a:t>.</a:t>
            </a:r>
            <a:endParaRPr lang="pt-BR" sz="3000" b="1" i="1" dirty="0"/>
          </a:p>
          <a:p>
            <a:r>
              <a:rPr lang="pt-BR" sz="3000" dirty="0"/>
              <a:t>Ou seja, não há um equivalente da </a:t>
            </a:r>
            <a:r>
              <a:rPr lang="pt-BR" sz="3000" b="1" i="1" dirty="0"/>
              <a:t>equação normal</a:t>
            </a:r>
            <a:r>
              <a:rPr lang="pt-BR" sz="3000" dirty="0"/>
              <a:t>. </a:t>
            </a:r>
          </a:p>
          <a:p>
            <a:r>
              <a:rPr lang="pt-BR" sz="3000" dirty="0"/>
              <a:t>Entretanto, uma boa notícia é que essa </a:t>
            </a:r>
            <a:r>
              <a:rPr lang="pt-BR" sz="3000" b="1" i="1" dirty="0"/>
              <a:t>função de erro </a:t>
            </a:r>
            <a:r>
              <a:rPr lang="pt-BR" sz="3000" dirty="0"/>
              <a:t>é </a:t>
            </a:r>
            <a:r>
              <a:rPr lang="pt-BR" sz="3000" b="1" i="1" dirty="0">
                <a:solidFill>
                  <a:srgbClr val="00B050"/>
                </a:solidFill>
              </a:rPr>
              <a:t>convexa</a:t>
            </a:r>
            <a:r>
              <a:rPr lang="pt-BR" sz="3000" dirty="0"/>
              <a:t> e </a:t>
            </a:r>
            <a:r>
              <a:rPr lang="pt-BR" sz="3000" b="1" i="1" dirty="0" err="1">
                <a:solidFill>
                  <a:srgbClr val="00B050"/>
                </a:solidFill>
              </a:rPr>
              <a:t>diferenciável</a:t>
            </a:r>
            <a:r>
              <a:rPr lang="pt-BR" sz="3000" dirty="0"/>
              <a:t>.</a:t>
            </a:r>
          </a:p>
          <a:p>
            <a:r>
              <a:rPr lang="pt-BR" sz="3000" dirty="0"/>
              <a:t>Consequentemente, </a:t>
            </a:r>
            <a:r>
              <a:rPr lang="pt-BR" sz="3000" b="1" i="1" dirty="0">
                <a:solidFill>
                  <a:srgbClr val="00B050"/>
                </a:solidFill>
              </a:rPr>
              <a:t>conseguimos</a:t>
            </a:r>
            <a:r>
              <a:rPr lang="pt-BR" sz="3000" dirty="0"/>
              <a:t> calcular o </a:t>
            </a:r>
            <a:r>
              <a:rPr lang="pt-BR" sz="3000" b="1" i="1" dirty="0">
                <a:solidFill>
                  <a:srgbClr val="00B050"/>
                </a:solidFill>
              </a:rPr>
              <a:t>vetor gradiente da função de erro</a:t>
            </a:r>
            <a:r>
              <a:rPr lang="pt-BR" sz="3000" dirty="0"/>
              <a:t> com relação aos pesos e </a:t>
            </a:r>
            <a:r>
              <a:rPr lang="pt-BR" sz="3000" b="1" i="1" dirty="0">
                <a:solidFill>
                  <a:srgbClr val="7030A0"/>
                </a:solidFill>
              </a:rPr>
              <a:t>implementar</a:t>
            </a:r>
            <a:r>
              <a:rPr lang="pt-BR" sz="3000" dirty="0"/>
              <a:t> o algoritmo do </a:t>
            </a:r>
            <a:r>
              <a:rPr lang="pt-BR" sz="3000" b="1" i="1" dirty="0">
                <a:solidFill>
                  <a:srgbClr val="7030A0"/>
                </a:solidFill>
              </a:rPr>
              <a:t>gradiente descendente (GD)</a:t>
            </a:r>
            <a:r>
              <a:rPr lang="pt-BR" sz="3000" dirty="0"/>
              <a:t>.</a:t>
            </a:r>
          </a:p>
          <a:p>
            <a:r>
              <a:rPr lang="pt-BR" sz="3000" dirty="0"/>
              <a:t>Assim, podemos implementar todas as versões do </a:t>
            </a:r>
            <a:r>
              <a:rPr lang="pt-BR" sz="3000" b="1" i="1" dirty="0">
                <a:solidFill>
                  <a:srgbClr val="7030A0"/>
                </a:solidFill>
              </a:rPr>
              <a:t>GD</a:t>
            </a:r>
            <a:r>
              <a:rPr lang="pt-BR" sz="3000" dirty="0"/>
              <a:t>.</a:t>
            </a:r>
          </a:p>
          <a:p>
            <a:r>
              <a:rPr lang="pt-BR" sz="3000" dirty="0"/>
              <a:t>Por exemplo se usarmos o GDB, é garantido que ele encontre</a:t>
            </a:r>
            <a:r>
              <a:rPr lang="pt-BR" sz="3000" b="1" i="1" dirty="0"/>
              <a:t> </a:t>
            </a:r>
            <a:r>
              <a:rPr lang="pt-BR" sz="3000" dirty="0"/>
              <a:t>o </a:t>
            </a:r>
            <a:r>
              <a:rPr lang="pt-BR" sz="3000" b="1" i="1" dirty="0">
                <a:solidFill>
                  <a:srgbClr val="00B050"/>
                </a:solidFill>
              </a:rPr>
              <a:t>mínimo global </a:t>
            </a:r>
            <a:r>
              <a:rPr lang="pt-BR" sz="3000" dirty="0"/>
              <a:t>dado que a </a:t>
            </a:r>
            <a:r>
              <a:rPr lang="pt-BR" sz="3000" b="1" i="1" dirty="0"/>
              <a:t>taxa de aprendizagem</a:t>
            </a:r>
            <a:r>
              <a:rPr lang="pt-BR" sz="3000" dirty="0"/>
              <a:t> não seja muito grande e se espere tempo suficiente.</a:t>
            </a:r>
          </a:p>
        </p:txBody>
      </p:sp>
    </p:spTree>
    <p:extLst>
      <p:ext uri="{BB962C8B-B14F-4D97-AF65-F5344CB8AC3E}">
        <p14:creationId xmlns:p14="http://schemas.microsoft.com/office/powerpoint/2010/main" val="107976782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B98CF3-D68B-3C51-73EB-761E6532A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Processo de treinamento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81528BD1-AD6B-C0BE-90BD-1F826246AD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56576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Da mesma forma como fizemos com a </a:t>
                </a:r>
                <a:r>
                  <a:rPr lang="pt-BR" b="1" i="1" dirty="0"/>
                  <a:t>regressão linear</a:t>
                </a:r>
                <a:r>
                  <a:rPr lang="pt-BR" dirty="0"/>
                  <a:t>, usamos o algoritmo do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gradiente descendente</a:t>
                </a:r>
                <a:r>
                  <a:rPr lang="pt-BR" b="1" i="1" dirty="0"/>
                  <a:t> </a:t>
                </a:r>
                <a:r>
                  <a:rPr lang="pt-BR" dirty="0"/>
                  <a:t>para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encontrar os pesos que minimizam a função de erro médio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 </a:t>
                </a:r>
                <a:r>
                  <a:rPr lang="pt-BR" b="1" i="1" dirty="0"/>
                  <a:t>atualização iterativa </a:t>
                </a:r>
                <a:r>
                  <a:rPr lang="pt-BR" dirty="0"/>
                  <a:t>dos </a:t>
                </a:r>
                <a:r>
                  <a:rPr lang="pt-BR" b="1" i="1" dirty="0"/>
                  <a:t>pesos</a:t>
                </a:r>
                <a:r>
                  <a:rPr lang="pt-BR" dirty="0"/>
                  <a:t> é dada por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</m:d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da</a:t>
                </a:r>
                <a:r>
                  <a:rPr lang="pt-BR" b="1" i="1" dirty="0"/>
                  <a:t> função de erro médio </a:t>
                </a:r>
                <a:r>
                  <a:rPr lang="pt-BR" dirty="0"/>
                  <a:t>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dirty="0"/>
                  <a:t> é a matriz de atributos com dimensão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</m:oMath>
                </a14:m>
                <a:r>
                  <a:rPr lang="pt-BR" dirty="0"/>
                  <a:t> são vetores coluna com dimensão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×1</m:t>
                    </m:r>
                  </m:oMath>
                </a14:m>
                <a:r>
                  <a:rPr lang="pt-BR" dirty="0"/>
                  <a:t> contendo todos os valores esperados e preditos pelo regressor logístico, respectivamente.</a:t>
                </a:r>
              </a:p>
              <a:p>
                <a:endParaRPr lang="pt-BR" sz="280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81528BD1-AD6B-C0BE-90BD-1F826246AD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56576" cy="5032375"/>
              </a:xfrm>
              <a:blipFill rotWithShape="0">
                <a:blip r:embed="rId3"/>
                <a:stretch>
                  <a:fillRect l="-1148" t="-2663" r="-1148" b="-133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8">
            <a:extLst>
              <a:ext uri="{FF2B5EF4-FFF2-40B4-BE49-F238E27FC236}">
                <a16:creationId xmlns:a16="http://schemas.microsoft.com/office/drawing/2014/main" id="{5E51EB45-1595-7630-C24F-EAA34F018369}"/>
              </a:ext>
            </a:extLst>
          </p:cNvPr>
          <p:cNvSpPr txBox="1"/>
          <p:nvPr/>
        </p:nvSpPr>
        <p:spPr>
          <a:xfrm>
            <a:off x="9838168" y="4122695"/>
            <a:ext cx="15156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BR"/>
            </a:defPPr>
            <a:lvl1pPr algn="ctr">
              <a:defRPr sz="1400"/>
            </a:lvl1pPr>
          </a:lstStyle>
          <a:p>
            <a:r>
              <a:rPr lang="pt-BR" dirty="0"/>
              <a:t>Forma matricial</a:t>
            </a:r>
          </a:p>
        </p:txBody>
      </p:sp>
      <p:cxnSp>
        <p:nvCxnSpPr>
          <p:cNvPr id="5" name="Straight Arrow Connector 10">
            <a:extLst>
              <a:ext uri="{FF2B5EF4-FFF2-40B4-BE49-F238E27FC236}">
                <a16:creationId xmlns:a16="http://schemas.microsoft.com/office/drawing/2014/main" id="{AF667640-ACE0-3AFF-BF5D-993EF19CB3F3}"/>
              </a:ext>
            </a:extLst>
          </p:cNvPr>
          <p:cNvCxnSpPr>
            <a:cxnSpLocks/>
          </p:cNvCxnSpPr>
          <p:nvPr/>
        </p:nvCxnSpPr>
        <p:spPr>
          <a:xfrm flipH="1">
            <a:off x="10101431" y="4430472"/>
            <a:ext cx="494553" cy="39971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375871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E87F2D7-9FE0-909F-85BF-1E4DC72EE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Processo de treinamento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75841EB-09D7-5ACC-688E-45C493DE3F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31880" cy="503237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pt-BR" sz="2800" dirty="0"/>
              </a:p>
              <a:p>
                <a:r>
                  <a:rPr lang="pt-BR" sz="2800" dirty="0"/>
                  <a:t>Para encontrar o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vetor gradiente</a:t>
                </a:r>
                <a:r>
                  <a:rPr lang="pt-BR" sz="2800" dirty="0"/>
                  <a:t>, a função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sz="2800" dirty="0"/>
                  <a:t> foi considerada como sendo a equação de um </a:t>
                </a:r>
                <a:r>
                  <a:rPr lang="pt-BR" sz="2800" b="1" i="1" dirty="0"/>
                  <a:t>hiperplano</a:t>
                </a:r>
                <a:r>
                  <a:rPr lang="pt-BR" sz="2800" dirty="0"/>
                  <a:t>, mas o resultado pode ser diretamente estendido para polinômios.</a:t>
                </a:r>
              </a:p>
              <a:p>
                <a:r>
                  <a:rPr lang="pt-BR" dirty="0"/>
                  <a:t>Percebam que 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vetor gradiente</a:t>
                </a:r>
                <a:r>
                  <a:rPr lang="pt-BR" b="1" i="1" dirty="0"/>
                  <a:t> </a:t>
                </a:r>
                <a:r>
                  <a:rPr lang="pt-BR" dirty="0"/>
                  <a:t>da </a:t>
                </a:r>
                <a:r>
                  <a:rPr lang="pt-BR" b="1" i="1" dirty="0"/>
                  <a:t>função de erro médio</a:t>
                </a:r>
                <a:r>
                  <a:rPr lang="pt-BR" dirty="0"/>
                  <a:t> para a </a:t>
                </a:r>
                <a:r>
                  <a:rPr lang="pt-BR" b="1" i="1" dirty="0"/>
                  <a:t>regressão logística</a:t>
                </a:r>
                <a:r>
                  <a:rPr lang="pt-BR" dirty="0"/>
                  <a:t> é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idêntico</a:t>
                </a:r>
                <a:r>
                  <a:rPr lang="pt-BR" dirty="0"/>
                  <a:t> (exceto pela constante 2) àquele obtido para 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regressão linear</a:t>
                </a:r>
                <a:r>
                  <a:rPr lang="pt-BR" b="1" i="1" dirty="0"/>
                  <a:t> </a:t>
                </a:r>
                <a:r>
                  <a:rPr lang="pt-BR" dirty="0"/>
                  <a:t>utilizando a função de </a:t>
                </a:r>
                <a:r>
                  <a:rPr lang="pt-BR" b="1" i="1" dirty="0"/>
                  <a:t>erro quadrático médio</a:t>
                </a:r>
                <a:r>
                  <a:rPr lang="pt-BR" dirty="0"/>
                  <a:t>.</a:t>
                </a:r>
              </a:p>
              <a:p>
                <a:r>
                  <a:rPr lang="pt-BR" b="1" dirty="0"/>
                  <a:t>OBS</a:t>
                </a:r>
                <a:r>
                  <a:rPr lang="pt-BR" dirty="0"/>
                  <a:t>.: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da</a:t>
                </a:r>
                <a:r>
                  <a:rPr lang="pt-BR" b="1" i="1" dirty="0"/>
                  <a:t> função de erro médio </a:t>
                </a:r>
                <a:r>
                  <a:rPr lang="pt-BR" dirty="0"/>
                  <a:t>vai variar dependendo da </a:t>
                </a:r>
                <a:r>
                  <a:rPr lang="pt-BR" b="1" i="1" dirty="0"/>
                  <a:t>função discriminante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adotada. </a:t>
                </a:r>
              </a:p>
              <a:p>
                <a:r>
                  <a:rPr lang="pt-BR" dirty="0"/>
                  <a:t>Na sequência, veremos alguns exemplos com diferentes </a:t>
                </a:r>
                <a14:m>
                  <m:oMath xmlns:m="http://schemas.openxmlformats.org/officeDocument/2006/math">
                    <m:r>
                      <a:rPr lang="pt-BR" sz="280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75841EB-09D7-5ACC-688E-45C493DE3F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31880" cy="5032375"/>
              </a:xfrm>
              <a:blipFill>
                <a:blip r:embed="rId3"/>
                <a:stretch>
                  <a:fillRect l="-977" r="-15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040295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135063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Dado que temos uma função discriminante com formato de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reta</a:t>
                </a:r>
                <a:r>
                  <a:rPr lang="pt-BR" dirty="0"/>
                  <a:t> 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∀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Como representamos essa função para todos os exemplos do conjunto na forma matricial?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𝒈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×1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1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1" i="1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e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 b="0" i="0" smtClean="0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+1×1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basta usarmos a matriz de atributos,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dirty="0"/>
                  <a:t>, acima para encontrar o vetor gradiente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135063" cy="5032376"/>
              </a:xfrm>
              <a:blipFill>
                <a:blip r:embed="rId2"/>
                <a:stretch>
                  <a:fillRect l="-1095" t="-1937" r="-9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0461627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240071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Dado que temos uma função discriminante com formato de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círculo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)+</m:t>
                      </m:r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), ∀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Como representamos essa função para todos os exemplos do conjunto na forma matricial?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𝒈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×1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pt-BR" b="1" i="1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1" i="1"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pt-BR" b="1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e</m:t>
                    </m:r>
                    <m:r>
                      <a:rPr lang="pt-BR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pt-BR" b="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pt-BR" b="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 b="0" i="0" smtClean="0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+1×1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basta usarmos a matriz de atributos,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dirty="0"/>
                  <a:t>, acima para encontrar o vetor gradiente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240071" cy="5032376"/>
              </a:xfrm>
              <a:blipFill>
                <a:blip r:embed="rId2"/>
                <a:stretch>
                  <a:fillRect l="-1085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6464199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212775" cy="5032376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Dado que temos uma função discriminante com formato de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hipérbole retangular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)∗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), ∀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Como representamos essa função para todos os exemplos do conjunto na forma matricial?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𝒈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×1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⨀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1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e</m:t>
                    </m:r>
                    <m:r>
                      <a:rPr lang="pt-BR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⨀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pt-BR" b="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 b="0" i="0" smtClean="0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+1×1</m:t>
                        </m:r>
                      </m:sup>
                    </m:sSup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⨀</m:t>
                    </m:r>
                  </m:oMath>
                </a14:m>
                <a:r>
                  <a:rPr lang="pt-BR" dirty="0"/>
                  <a:t> é a multiplicação elemento-a-elemento.</a:t>
                </a:r>
              </a:p>
              <a:p>
                <a:r>
                  <a:rPr lang="pt-BR" dirty="0"/>
                  <a:t>Assim, basta usarmos a matriz de atributos,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dirty="0"/>
                  <a:t>, acima para encontrar o vetor gradiente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212775" cy="5032376"/>
              </a:xfrm>
              <a:blipFill>
                <a:blip r:embed="rId2"/>
                <a:stretch>
                  <a:fillRect l="-1087" t="-2663" r="-3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9731940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0747787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Agora, de posse do </a:t>
                </a:r>
                <a:r>
                  <a:rPr lang="pt-BR" b="1" i="1" dirty="0"/>
                  <a:t>vetor gradiente</a:t>
                </a:r>
                <a:r>
                  <a:rPr lang="pt-BR" dirty="0"/>
                  <a:t>, podemos usá-lo com o </a:t>
                </a:r>
                <a:r>
                  <a:rPr lang="pt-BR" b="1" i="1" dirty="0"/>
                  <a:t>gradiente descendente</a:t>
                </a:r>
                <a:r>
                  <a:rPr lang="pt-BR" dirty="0"/>
                  <a:t> (nas versões em batelada, estocástico ou mini-batch) para atualizar os pesos.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0747787" cy="5032376"/>
              </a:xfrm>
              <a:blipFill>
                <a:blip r:embed="rId2"/>
                <a:stretch>
                  <a:fillRect l="-964" t="-1937" r="-13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/>
          <p:cNvSpPr/>
          <p:nvPr/>
        </p:nvSpPr>
        <p:spPr>
          <a:xfrm>
            <a:off x="7694935" y="6550223"/>
            <a:ext cx="449706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400" b="1" dirty="0">
                <a:hlinkClick r:id="rId3"/>
              </a:rPr>
              <a:t>Exemplo</a:t>
            </a:r>
            <a:r>
              <a:rPr lang="pt-BR" sz="1400" dirty="0">
                <a:hlinkClick r:id="rId3"/>
              </a:rPr>
              <a:t>: logistic_regression_with_gradient_descent.ipynb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12601246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78D1AC-8A00-B4EB-387C-732656C3D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DF2766A-BFE5-4BA0-5F5C-8F341585E6D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13943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Como vimos, a </a:t>
                </a:r>
                <a:r>
                  <a:rPr lang="pt-BR" b="1" i="1" dirty="0"/>
                  <a:t>função 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pode assumir também o formato de um </a:t>
                </a:r>
                <a:r>
                  <a:rPr lang="pt-BR" b="1" i="1" dirty="0"/>
                  <a:t>polinômio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Porém, muitas vezes, nós não sabemos qual a </a:t>
                </a:r>
                <a:r>
                  <a:rPr lang="pt-BR" b="1" i="1" dirty="0"/>
                  <a:t>melhor ordem</a:t>
                </a:r>
                <a:r>
                  <a:rPr lang="pt-BR" dirty="0"/>
                  <a:t> para este polinômio.</a:t>
                </a:r>
              </a:p>
              <a:p>
                <a:r>
                  <a:rPr lang="pt-BR" dirty="0"/>
                  <a:t>Assim, como ocorre no caso da </a:t>
                </a:r>
                <a:r>
                  <a:rPr lang="pt-BR" b="1" i="1" dirty="0"/>
                  <a:t>regressão linear</a:t>
                </a:r>
                <a:r>
                  <a:rPr lang="pt-BR" dirty="0"/>
                  <a:t>, modelos de </a:t>
                </a:r>
                <a:r>
                  <a:rPr lang="pt-BR" b="1" i="1" dirty="0"/>
                  <a:t>regressão logística </a:t>
                </a:r>
                <a:r>
                  <a:rPr lang="pt-BR" dirty="0"/>
                  <a:t>também</a:t>
                </a:r>
                <a:r>
                  <a:rPr lang="pt-BR" b="1" i="1" dirty="0"/>
                  <a:t> </a:t>
                </a:r>
                <a:r>
                  <a:rPr lang="pt-BR" dirty="0"/>
                  <a:t>estão sujeitos à ocorrência de </a:t>
                </a:r>
                <a:r>
                  <a:rPr lang="pt-BR" b="1" i="1" dirty="0"/>
                  <a:t>sobreajuste</a:t>
                </a:r>
                <a:r>
                  <a:rPr lang="pt-BR" dirty="0"/>
                  <a:t> e </a:t>
                </a:r>
                <a:r>
                  <a:rPr lang="pt-BR" b="1" i="1" dirty="0"/>
                  <a:t>subajuste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DF2766A-BFE5-4BA0-5F5C-8F341585E6D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139434" cy="5032375"/>
              </a:xfrm>
              <a:blipFill>
                <a:blip r:embed="rId3"/>
                <a:stretch>
                  <a:fillRect l="-985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3" name="Group 50">
            <a:extLst>
              <a:ext uri="{FF2B5EF4-FFF2-40B4-BE49-F238E27FC236}">
                <a16:creationId xmlns:a16="http://schemas.microsoft.com/office/drawing/2014/main" id="{DF911177-1762-1C13-7224-7DC9C7576C34}"/>
              </a:ext>
            </a:extLst>
          </p:cNvPr>
          <p:cNvGrpSpPr/>
          <p:nvPr/>
        </p:nvGrpSpPr>
        <p:grpSpPr>
          <a:xfrm>
            <a:off x="1028041" y="4681990"/>
            <a:ext cx="2614571" cy="2044068"/>
            <a:chOff x="9561094" y="1203158"/>
            <a:chExt cx="2796786" cy="2093874"/>
          </a:xfrm>
        </p:grpSpPr>
        <p:cxnSp>
          <p:nvCxnSpPr>
            <p:cNvPr id="194" name="Straight Connector 51">
              <a:extLst>
                <a:ext uri="{FF2B5EF4-FFF2-40B4-BE49-F238E27FC236}">
                  <a16:creationId xmlns:a16="http://schemas.microsoft.com/office/drawing/2014/main" id="{52603673-7161-FA59-08BC-874F050F666A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Straight Connector 52">
              <a:extLst>
                <a:ext uri="{FF2B5EF4-FFF2-40B4-BE49-F238E27FC236}">
                  <a16:creationId xmlns:a16="http://schemas.microsoft.com/office/drawing/2014/main" id="{10AF7232-B549-F17C-4496-B9C56271F0F5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6" name="TextBox 53">
                  <a:extLst>
                    <a:ext uri="{FF2B5EF4-FFF2-40B4-BE49-F238E27FC236}">
                      <a16:creationId xmlns:a16="http://schemas.microsoft.com/office/drawing/2014/main" id="{349B9E2F-FC4F-E6C5-658F-4F519BCD92F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7" name="TextBox 54">
                  <a:extLst>
                    <a:ext uri="{FF2B5EF4-FFF2-40B4-BE49-F238E27FC236}">
                      <a16:creationId xmlns:a16="http://schemas.microsoft.com/office/drawing/2014/main" id="{2836A701-4CC6-EB4E-ED1D-EDDCCEF94E6B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8" name="Oval 55">
              <a:extLst>
                <a:ext uri="{FF2B5EF4-FFF2-40B4-BE49-F238E27FC236}">
                  <a16:creationId xmlns:a16="http://schemas.microsoft.com/office/drawing/2014/main" id="{FAC640CB-C6D6-F516-E37C-FE83FD39D8ED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9" name="Oval 56">
              <a:extLst>
                <a:ext uri="{FF2B5EF4-FFF2-40B4-BE49-F238E27FC236}">
                  <a16:creationId xmlns:a16="http://schemas.microsoft.com/office/drawing/2014/main" id="{AD846A83-F33F-DC76-C5A3-56F953D68B09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0" name="Oval 57">
              <a:extLst>
                <a:ext uri="{FF2B5EF4-FFF2-40B4-BE49-F238E27FC236}">
                  <a16:creationId xmlns:a16="http://schemas.microsoft.com/office/drawing/2014/main" id="{B6DC2A6A-5222-A2F6-E5EA-6493B8B254C2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1" name="Oval 58">
              <a:extLst>
                <a:ext uri="{FF2B5EF4-FFF2-40B4-BE49-F238E27FC236}">
                  <a16:creationId xmlns:a16="http://schemas.microsoft.com/office/drawing/2014/main" id="{38FE9B36-4D6C-AF81-DCF2-4FA192C531D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2" name="Oval 59">
              <a:extLst>
                <a:ext uri="{FF2B5EF4-FFF2-40B4-BE49-F238E27FC236}">
                  <a16:creationId xmlns:a16="http://schemas.microsoft.com/office/drawing/2014/main" id="{DE523504-F9F2-AAFD-AA4B-806826C9C460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3" name="Oval 60">
              <a:extLst>
                <a:ext uri="{FF2B5EF4-FFF2-40B4-BE49-F238E27FC236}">
                  <a16:creationId xmlns:a16="http://schemas.microsoft.com/office/drawing/2014/main" id="{0AEC6512-045D-5FEB-0B7D-4417D5F557C2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4" name="Oval 61">
              <a:extLst>
                <a:ext uri="{FF2B5EF4-FFF2-40B4-BE49-F238E27FC236}">
                  <a16:creationId xmlns:a16="http://schemas.microsoft.com/office/drawing/2014/main" id="{158B8749-72FC-30FF-DFA5-9B588F851EA2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5" name="Oval 62">
              <a:extLst>
                <a:ext uri="{FF2B5EF4-FFF2-40B4-BE49-F238E27FC236}">
                  <a16:creationId xmlns:a16="http://schemas.microsoft.com/office/drawing/2014/main" id="{4AAA04E2-2F33-6098-1D33-86F794AB553B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6" name="Oval 63">
              <a:extLst>
                <a:ext uri="{FF2B5EF4-FFF2-40B4-BE49-F238E27FC236}">
                  <a16:creationId xmlns:a16="http://schemas.microsoft.com/office/drawing/2014/main" id="{5EBBDF3C-C688-C6C2-67A9-5310E504487B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7" name="Oval 64">
              <a:extLst>
                <a:ext uri="{FF2B5EF4-FFF2-40B4-BE49-F238E27FC236}">
                  <a16:creationId xmlns:a16="http://schemas.microsoft.com/office/drawing/2014/main" id="{30FE73D9-BF42-B6FD-5123-0ED28946A00C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8" name="Oval 65">
              <a:extLst>
                <a:ext uri="{FF2B5EF4-FFF2-40B4-BE49-F238E27FC236}">
                  <a16:creationId xmlns:a16="http://schemas.microsoft.com/office/drawing/2014/main" id="{099D459C-4199-9E54-CF18-58DD0479325D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9" name="Oval 66">
              <a:extLst>
                <a:ext uri="{FF2B5EF4-FFF2-40B4-BE49-F238E27FC236}">
                  <a16:creationId xmlns:a16="http://schemas.microsoft.com/office/drawing/2014/main" id="{2F4A2BF7-C6E7-5B3D-6BA9-49E4B15263D9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0" name="Oval 67">
              <a:extLst>
                <a:ext uri="{FF2B5EF4-FFF2-40B4-BE49-F238E27FC236}">
                  <a16:creationId xmlns:a16="http://schemas.microsoft.com/office/drawing/2014/main" id="{01A15C70-04A3-6B11-EB6E-C92199C75C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1" name="Oval 68">
              <a:extLst>
                <a:ext uri="{FF2B5EF4-FFF2-40B4-BE49-F238E27FC236}">
                  <a16:creationId xmlns:a16="http://schemas.microsoft.com/office/drawing/2014/main" id="{4D084CFD-A191-3E47-9AA5-D33505A73C66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2" name="Oval 69">
              <a:extLst>
                <a:ext uri="{FF2B5EF4-FFF2-40B4-BE49-F238E27FC236}">
                  <a16:creationId xmlns:a16="http://schemas.microsoft.com/office/drawing/2014/main" id="{099E51DE-9CCA-461A-5481-34FD22193D37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3" name="Oval 70">
              <a:extLst>
                <a:ext uri="{FF2B5EF4-FFF2-40B4-BE49-F238E27FC236}">
                  <a16:creationId xmlns:a16="http://schemas.microsoft.com/office/drawing/2014/main" id="{CC493F7E-E38D-A7C5-47CF-32248855D7F4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4" name="Oval 71">
              <a:extLst>
                <a:ext uri="{FF2B5EF4-FFF2-40B4-BE49-F238E27FC236}">
                  <a16:creationId xmlns:a16="http://schemas.microsoft.com/office/drawing/2014/main" id="{8F53A2C7-AB17-1C63-1F67-49A91F5868BB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5" name="Oval 72">
              <a:extLst>
                <a:ext uri="{FF2B5EF4-FFF2-40B4-BE49-F238E27FC236}">
                  <a16:creationId xmlns:a16="http://schemas.microsoft.com/office/drawing/2014/main" id="{C9DF79EB-94C8-5FFD-C810-43791B28B5E1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6" name="Oval 73">
              <a:extLst>
                <a:ext uri="{FF2B5EF4-FFF2-40B4-BE49-F238E27FC236}">
                  <a16:creationId xmlns:a16="http://schemas.microsoft.com/office/drawing/2014/main" id="{2F22FDF4-7403-AB45-E92A-42C84AB1B7F5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7" name="Oval 74">
              <a:extLst>
                <a:ext uri="{FF2B5EF4-FFF2-40B4-BE49-F238E27FC236}">
                  <a16:creationId xmlns:a16="http://schemas.microsoft.com/office/drawing/2014/main" id="{198C1AAB-AF99-3206-D9D7-4D364FE310AC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8" name="Multiply 75">
              <a:extLst>
                <a:ext uri="{FF2B5EF4-FFF2-40B4-BE49-F238E27FC236}">
                  <a16:creationId xmlns:a16="http://schemas.microsoft.com/office/drawing/2014/main" id="{FE713D93-DB25-6226-9F9A-E46E41C77152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9" name="Multiply 76">
              <a:extLst>
                <a:ext uri="{FF2B5EF4-FFF2-40B4-BE49-F238E27FC236}">
                  <a16:creationId xmlns:a16="http://schemas.microsoft.com/office/drawing/2014/main" id="{A1177A6D-DA2C-2D4D-6B6B-4E6992C1AD4F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0" name="Multiply 77">
              <a:extLst>
                <a:ext uri="{FF2B5EF4-FFF2-40B4-BE49-F238E27FC236}">
                  <a16:creationId xmlns:a16="http://schemas.microsoft.com/office/drawing/2014/main" id="{09191902-83CE-66E3-332C-74779F468BDA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1" name="Multiply 78">
              <a:extLst>
                <a:ext uri="{FF2B5EF4-FFF2-40B4-BE49-F238E27FC236}">
                  <a16:creationId xmlns:a16="http://schemas.microsoft.com/office/drawing/2014/main" id="{42D2AAAF-0D27-C1EF-AB19-0F92563574E2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2" name="Multiply 79">
              <a:extLst>
                <a:ext uri="{FF2B5EF4-FFF2-40B4-BE49-F238E27FC236}">
                  <a16:creationId xmlns:a16="http://schemas.microsoft.com/office/drawing/2014/main" id="{04E261D7-2CC7-EDA1-CC5B-56CF18DBAB79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3" name="Multiply 80">
              <a:extLst>
                <a:ext uri="{FF2B5EF4-FFF2-40B4-BE49-F238E27FC236}">
                  <a16:creationId xmlns:a16="http://schemas.microsoft.com/office/drawing/2014/main" id="{D2E11CE3-B5E0-AE7F-0BA6-A2961EB0367F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4" name="Multiply 81">
              <a:extLst>
                <a:ext uri="{FF2B5EF4-FFF2-40B4-BE49-F238E27FC236}">
                  <a16:creationId xmlns:a16="http://schemas.microsoft.com/office/drawing/2014/main" id="{2422831B-A2AD-DD94-621D-AD740642157D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5" name="Oval 82">
              <a:extLst>
                <a:ext uri="{FF2B5EF4-FFF2-40B4-BE49-F238E27FC236}">
                  <a16:creationId xmlns:a16="http://schemas.microsoft.com/office/drawing/2014/main" id="{87880004-15D8-F560-02D3-46EB124BA5F6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6" name="Oval 83">
              <a:extLst>
                <a:ext uri="{FF2B5EF4-FFF2-40B4-BE49-F238E27FC236}">
                  <a16:creationId xmlns:a16="http://schemas.microsoft.com/office/drawing/2014/main" id="{95D5738C-6797-704C-A8BA-429F69AC054D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7" name="Oval 84">
              <a:extLst>
                <a:ext uri="{FF2B5EF4-FFF2-40B4-BE49-F238E27FC236}">
                  <a16:creationId xmlns:a16="http://schemas.microsoft.com/office/drawing/2014/main" id="{7DF919EE-44D8-115A-28B8-5682485FDF18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8" name="Multiply 85">
              <a:extLst>
                <a:ext uri="{FF2B5EF4-FFF2-40B4-BE49-F238E27FC236}">
                  <a16:creationId xmlns:a16="http://schemas.microsoft.com/office/drawing/2014/main" id="{178B6A71-C93D-4BE2-25DA-2DFBB72900A6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9" name="Multiply 86">
              <a:extLst>
                <a:ext uri="{FF2B5EF4-FFF2-40B4-BE49-F238E27FC236}">
                  <a16:creationId xmlns:a16="http://schemas.microsoft.com/office/drawing/2014/main" id="{D60CF889-F533-E2D7-B7CD-1932A8B52712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0" name="Multiply 87">
              <a:extLst>
                <a:ext uri="{FF2B5EF4-FFF2-40B4-BE49-F238E27FC236}">
                  <a16:creationId xmlns:a16="http://schemas.microsoft.com/office/drawing/2014/main" id="{9D4F0D55-0225-8C22-1E21-F6414657B65B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1" name="Multiply 88">
              <a:extLst>
                <a:ext uri="{FF2B5EF4-FFF2-40B4-BE49-F238E27FC236}">
                  <a16:creationId xmlns:a16="http://schemas.microsoft.com/office/drawing/2014/main" id="{C1D39E83-7A81-5CE7-3358-BF117022ACB8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2" name="Multiply 89">
              <a:extLst>
                <a:ext uri="{FF2B5EF4-FFF2-40B4-BE49-F238E27FC236}">
                  <a16:creationId xmlns:a16="http://schemas.microsoft.com/office/drawing/2014/main" id="{5F94C93B-4FC1-3415-EC6B-97FF0B4B8F08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3" name="Multiply 90">
              <a:extLst>
                <a:ext uri="{FF2B5EF4-FFF2-40B4-BE49-F238E27FC236}">
                  <a16:creationId xmlns:a16="http://schemas.microsoft.com/office/drawing/2014/main" id="{29B3297A-8C24-03EA-C2C0-BDF821C68CF8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4" name="Multiply 91">
              <a:extLst>
                <a:ext uri="{FF2B5EF4-FFF2-40B4-BE49-F238E27FC236}">
                  <a16:creationId xmlns:a16="http://schemas.microsoft.com/office/drawing/2014/main" id="{7BF27FDF-A953-7D1C-F399-F7EB3E359494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5" name="Multiply 92">
              <a:extLst>
                <a:ext uri="{FF2B5EF4-FFF2-40B4-BE49-F238E27FC236}">
                  <a16:creationId xmlns:a16="http://schemas.microsoft.com/office/drawing/2014/main" id="{D6687B33-5E13-0B20-0AB6-7C5029F645BF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6" name="Multiply 93">
              <a:extLst>
                <a:ext uri="{FF2B5EF4-FFF2-40B4-BE49-F238E27FC236}">
                  <a16:creationId xmlns:a16="http://schemas.microsoft.com/office/drawing/2014/main" id="{20A4120F-44BF-74CB-FBEF-EF83F9B059BF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7" name="Multiply 94">
              <a:extLst>
                <a:ext uri="{FF2B5EF4-FFF2-40B4-BE49-F238E27FC236}">
                  <a16:creationId xmlns:a16="http://schemas.microsoft.com/office/drawing/2014/main" id="{12E82634-22F6-0C9C-955A-F0DBB9568F72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8" name="Multiply 95">
              <a:extLst>
                <a:ext uri="{FF2B5EF4-FFF2-40B4-BE49-F238E27FC236}">
                  <a16:creationId xmlns:a16="http://schemas.microsoft.com/office/drawing/2014/main" id="{FE956282-4725-2707-3B5A-417CA5C88098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39" name="Straight Connector 96">
              <a:extLst>
                <a:ext uri="{FF2B5EF4-FFF2-40B4-BE49-F238E27FC236}">
                  <a16:creationId xmlns:a16="http://schemas.microsoft.com/office/drawing/2014/main" id="{6793B35E-043B-DD7E-2706-9F41CCCE0F5F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0" name="Group 97">
            <a:extLst>
              <a:ext uri="{FF2B5EF4-FFF2-40B4-BE49-F238E27FC236}">
                <a16:creationId xmlns:a16="http://schemas.microsoft.com/office/drawing/2014/main" id="{9BA09B05-5A67-1E11-F943-345BEBEF6CD7}"/>
              </a:ext>
            </a:extLst>
          </p:cNvPr>
          <p:cNvGrpSpPr/>
          <p:nvPr/>
        </p:nvGrpSpPr>
        <p:grpSpPr>
          <a:xfrm>
            <a:off x="4968566" y="4648593"/>
            <a:ext cx="2614572" cy="2075388"/>
            <a:chOff x="15842602" y="1171075"/>
            <a:chExt cx="2796787" cy="2125957"/>
          </a:xfrm>
        </p:grpSpPr>
        <p:cxnSp>
          <p:nvCxnSpPr>
            <p:cNvPr id="241" name="Straight Connector 98">
              <a:extLst>
                <a:ext uri="{FF2B5EF4-FFF2-40B4-BE49-F238E27FC236}">
                  <a16:creationId xmlns:a16="http://schemas.microsoft.com/office/drawing/2014/main" id="{862E6175-A5B3-6C19-6104-42D82E6D1FF1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Straight Connector 99">
              <a:extLst>
                <a:ext uri="{FF2B5EF4-FFF2-40B4-BE49-F238E27FC236}">
                  <a16:creationId xmlns:a16="http://schemas.microsoft.com/office/drawing/2014/main" id="{BABB064E-46AA-4BB8-F35E-797A288E2F37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3" name="TextBox 100">
                  <a:extLst>
                    <a:ext uri="{FF2B5EF4-FFF2-40B4-BE49-F238E27FC236}">
                      <a16:creationId xmlns:a16="http://schemas.microsoft.com/office/drawing/2014/main" id="{15EFE971-5E50-38EE-3246-DE8523B997AF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4" name="TextBox 101">
                  <a:extLst>
                    <a:ext uri="{FF2B5EF4-FFF2-40B4-BE49-F238E27FC236}">
                      <a16:creationId xmlns:a16="http://schemas.microsoft.com/office/drawing/2014/main" id="{D24CCD60-BE5F-04E5-5458-52C2A87FB155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5" name="Oval 102">
              <a:extLst>
                <a:ext uri="{FF2B5EF4-FFF2-40B4-BE49-F238E27FC236}">
                  <a16:creationId xmlns:a16="http://schemas.microsoft.com/office/drawing/2014/main" id="{26EC5A80-50A6-5B82-A9E7-E327DE9B8EFC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6" name="Oval 103">
              <a:extLst>
                <a:ext uri="{FF2B5EF4-FFF2-40B4-BE49-F238E27FC236}">
                  <a16:creationId xmlns:a16="http://schemas.microsoft.com/office/drawing/2014/main" id="{FE66B279-005D-DB31-6439-FC8AE274BA36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7" name="Oval 104">
              <a:extLst>
                <a:ext uri="{FF2B5EF4-FFF2-40B4-BE49-F238E27FC236}">
                  <a16:creationId xmlns:a16="http://schemas.microsoft.com/office/drawing/2014/main" id="{0D373D9D-529A-5BAB-2825-8A6F7B31F9E3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8" name="Oval 105">
              <a:extLst>
                <a:ext uri="{FF2B5EF4-FFF2-40B4-BE49-F238E27FC236}">
                  <a16:creationId xmlns:a16="http://schemas.microsoft.com/office/drawing/2014/main" id="{14895E6F-8413-D2A8-7391-F5DC05D40ABF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9" name="Oval 106">
              <a:extLst>
                <a:ext uri="{FF2B5EF4-FFF2-40B4-BE49-F238E27FC236}">
                  <a16:creationId xmlns:a16="http://schemas.microsoft.com/office/drawing/2014/main" id="{C86188FE-D32F-8C07-50EA-D000AF0D439C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0" name="Oval 107">
              <a:extLst>
                <a:ext uri="{FF2B5EF4-FFF2-40B4-BE49-F238E27FC236}">
                  <a16:creationId xmlns:a16="http://schemas.microsoft.com/office/drawing/2014/main" id="{8809DCB5-FC89-4A47-AB68-706127E1C329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1" name="Oval 108">
              <a:extLst>
                <a:ext uri="{FF2B5EF4-FFF2-40B4-BE49-F238E27FC236}">
                  <a16:creationId xmlns:a16="http://schemas.microsoft.com/office/drawing/2014/main" id="{168AE50C-693B-B056-392B-36487B2FB4B6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2" name="Oval 109">
              <a:extLst>
                <a:ext uri="{FF2B5EF4-FFF2-40B4-BE49-F238E27FC236}">
                  <a16:creationId xmlns:a16="http://schemas.microsoft.com/office/drawing/2014/main" id="{15246016-8527-A9B2-991C-721C14D85548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3" name="Oval 110">
              <a:extLst>
                <a:ext uri="{FF2B5EF4-FFF2-40B4-BE49-F238E27FC236}">
                  <a16:creationId xmlns:a16="http://schemas.microsoft.com/office/drawing/2014/main" id="{6BB57176-DB5F-E5F7-0A9F-61D6FD83051B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4" name="Oval 111">
              <a:extLst>
                <a:ext uri="{FF2B5EF4-FFF2-40B4-BE49-F238E27FC236}">
                  <a16:creationId xmlns:a16="http://schemas.microsoft.com/office/drawing/2014/main" id="{EEA0A374-6078-152F-EA81-CA75502038E2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5" name="Oval 112">
              <a:extLst>
                <a:ext uri="{FF2B5EF4-FFF2-40B4-BE49-F238E27FC236}">
                  <a16:creationId xmlns:a16="http://schemas.microsoft.com/office/drawing/2014/main" id="{03F6E416-594F-9780-70C8-F09A2E030AA2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6" name="Oval 113">
              <a:extLst>
                <a:ext uri="{FF2B5EF4-FFF2-40B4-BE49-F238E27FC236}">
                  <a16:creationId xmlns:a16="http://schemas.microsoft.com/office/drawing/2014/main" id="{A86B5730-B672-A081-CC72-7DCD39510BC9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7" name="Oval 114">
              <a:extLst>
                <a:ext uri="{FF2B5EF4-FFF2-40B4-BE49-F238E27FC236}">
                  <a16:creationId xmlns:a16="http://schemas.microsoft.com/office/drawing/2014/main" id="{A314BBC5-28D1-4A06-2FF6-4BE7CFC2B713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8" name="Oval 115">
              <a:extLst>
                <a:ext uri="{FF2B5EF4-FFF2-40B4-BE49-F238E27FC236}">
                  <a16:creationId xmlns:a16="http://schemas.microsoft.com/office/drawing/2014/main" id="{8DF2D811-2E0D-0C15-199F-651C5C933138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9" name="Oval 116">
              <a:extLst>
                <a:ext uri="{FF2B5EF4-FFF2-40B4-BE49-F238E27FC236}">
                  <a16:creationId xmlns:a16="http://schemas.microsoft.com/office/drawing/2014/main" id="{00A78210-5966-E2D4-3A2C-29FEAD4BDB34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0" name="Oval 117">
              <a:extLst>
                <a:ext uri="{FF2B5EF4-FFF2-40B4-BE49-F238E27FC236}">
                  <a16:creationId xmlns:a16="http://schemas.microsoft.com/office/drawing/2014/main" id="{B3B0EA26-2715-4A63-DBAA-717B4A23F478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1" name="Oval 118">
              <a:extLst>
                <a:ext uri="{FF2B5EF4-FFF2-40B4-BE49-F238E27FC236}">
                  <a16:creationId xmlns:a16="http://schemas.microsoft.com/office/drawing/2014/main" id="{D06A8023-BA02-409E-0281-7C9C8C5635E7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2" name="Oval 119">
              <a:extLst>
                <a:ext uri="{FF2B5EF4-FFF2-40B4-BE49-F238E27FC236}">
                  <a16:creationId xmlns:a16="http://schemas.microsoft.com/office/drawing/2014/main" id="{BBE6A492-BB73-B978-00E1-55167871BC4D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3" name="Oval 120">
              <a:extLst>
                <a:ext uri="{FF2B5EF4-FFF2-40B4-BE49-F238E27FC236}">
                  <a16:creationId xmlns:a16="http://schemas.microsoft.com/office/drawing/2014/main" id="{47BE9AD6-18EE-F245-C222-D464BE0D900C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4" name="Oval 121">
              <a:extLst>
                <a:ext uri="{FF2B5EF4-FFF2-40B4-BE49-F238E27FC236}">
                  <a16:creationId xmlns:a16="http://schemas.microsoft.com/office/drawing/2014/main" id="{FE97CFB8-5FCD-F9AE-4EC3-9B90E82E0BD1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5" name="Multiply 122">
              <a:extLst>
                <a:ext uri="{FF2B5EF4-FFF2-40B4-BE49-F238E27FC236}">
                  <a16:creationId xmlns:a16="http://schemas.microsoft.com/office/drawing/2014/main" id="{58E8FC64-2EBA-62AF-E35B-379A189D537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6" name="Multiply 123">
              <a:extLst>
                <a:ext uri="{FF2B5EF4-FFF2-40B4-BE49-F238E27FC236}">
                  <a16:creationId xmlns:a16="http://schemas.microsoft.com/office/drawing/2014/main" id="{121ED2C2-C394-73A6-4F3D-0D6AE65DAA50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7" name="Multiply 124">
              <a:extLst>
                <a:ext uri="{FF2B5EF4-FFF2-40B4-BE49-F238E27FC236}">
                  <a16:creationId xmlns:a16="http://schemas.microsoft.com/office/drawing/2014/main" id="{6BA39FEA-B8DD-FF08-298A-6AA25A7F16AA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8" name="Multiply 125">
              <a:extLst>
                <a:ext uri="{FF2B5EF4-FFF2-40B4-BE49-F238E27FC236}">
                  <a16:creationId xmlns:a16="http://schemas.microsoft.com/office/drawing/2014/main" id="{07A15D8B-5F3F-1238-2961-80CE07989F8D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9" name="Multiply 126">
              <a:extLst>
                <a:ext uri="{FF2B5EF4-FFF2-40B4-BE49-F238E27FC236}">
                  <a16:creationId xmlns:a16="http://schemas.microsoft.com/office/drawing/2014/main" id="{04CF30F0-EE59-2B18-4293-C1548AB09FEB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0" name="Multiply 127">
              <a:extLst>
                <a:ext uri="{FF2B5EF4-FFF2-40B4-BE49-F238E27FC236}">
                  <a16:creationId xmlns:a16="http://schemas.microsoft.com/office/drawing/2014/main" id="{59F2BF88-464B-D043-6DC8-BE467E5F5365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1" name="Multiply 128">
              <a:extLst>
                <a:ext uri="{FF2B5EF4-FFF2-40B4-BE49-F238E27FC236}">
                  <a16:creationId xmlns:a16="http://schemas.microsoft.com/office/drawing/2014/main" id="{F5E1C1DB-A089-269E-D62B-1F6ED2B5089F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2" name="Oval 129">
              <a:extLst>
                <a:ext uri="{FF2B5EF4-FFF2-40B4-BE49-F238E27FC236}">
                  <a16:creationId xmlns:a16="http://schemas.microsoft.com/office/drawing/2014/main" id="{4412E03C-354D-F145-C5A9-26C4BEC3D209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3" name="Oval 130">
              <a:extLst>
                <a:ext uri="{FF2B5EF4-FFF2-40B4-BE49-F238E27FC236}">
                  <a16:creationId xmlns:a16="http://schemas.microsoft.com/office/drawing/2014/main" id="{41C5C12B-8CDE-EAFC-3FB2-B71470ED21F4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4" name="Oval 131">
              <a:extLst>
                <a:ext uri="{FF2B5EF4-FFF2-40B4-BE49-F238E27FC236}">
                  <a16:creationId xmlns:a16="http://schemas.microsoft.com/office/drawing/2014/main" id="{FC69DF46-1F1F-44E5-9A4B-1B62ACFF8AE6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5" name="Multiply 132">
              <a:extLst>
                <a:ext uri="{FF2B5EF4-FFF2-40B4-BE49-F238E27FC236}">
                  <a16:creationId xmlns:a16="http://schemas.microsoft.com/office/drawing/2014/main" id="{CDE1F1C9-F63F-5CEC-AC3B-5DF3B0680BD0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6" name="Multiply 133">
              <a:extLst>
                <a:ext uri="{FF2B5EF4-FFF2-40B4-BE49-F238E27FC236}">
                  <a16:creationId xmlns:a16="http://schemas.microsoft.com/office/drawing/2014/main" id="{BE48EEC5-EE90-F9D7-602A-1BDE74A757B4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7" name="Multiply 134">
              <a:extLst>
                <a:ext uri="{FF2B5EF4-FFF2-40B4-BE49-F238E27FC236}">
                  <a16:creationId xmlns:a16="http://schemas.microsoft.com/office/drawing/2014/main" id="{E520CF51-47A2-7E8B-78DC-ADEB8C1E764F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8" name="Multiply 135">
              <a:extLst>
                <a:ext uri="{FF2B5EF4-FFF2-40B4-BE49-F238E27FC236}">
                  <a16:creationId xmlns:a16="http://schemas.microsoft.com/office/drawing/2014/main" id="{6E35A0E5-F036-47D5-6724-949F089AEB72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9" name="Multiply 136">
              <a:extLst>
                <a:ext uri="{FF2B5EF4-FFF2-40B4-BE49-F238E27FC236}">
                  <a16:creationId xmlns:a16="http://schemas.microsoft.com/office/drawing/2014/main" id="{40AD9EEF-3614-174C-A1BD-2E03095052D4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0" name="Multiply 137">
              <a:extLst>
                <a:ext uri="{FF2B5EF4-FFF2-40B4-BE49-F238E27FC236}">
                  <a16:creationId xmlns:a16="http://schemas.microsoft.com/office/drawing/2014/main" id="{5224EAE0-29F0-0908-8893-1DA195541196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1" name="Multiply 138">
              <a:extLst>
                <a:ext uri="{FF2B5EF4-FFF2-40B4-BE49-F238E27FC236}">
                  <a16:creationId xmlns:a16="http://schemas.microsoft.com/office/drawing/2014/main" id="{345E7BAB-A204-C545-A324-4AE44816D949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2" name="Multiply 139">
              <a:extLst>
                <a:ext uri="{FF2B5EF4-FFF2-40B4-BE49-F238E27FC236}">
                  <a16:creationId xmlns:a16="http://schemas.microsoft.com/office/drawing/2014/main" id="{A0512407-73B8-304C-6056-341DEED9304C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3" name="Multiply 140">
              <a:extLst>
                <a:ext uri="{FF2B5EF4-FFF2-40B4-BE49-F238E27FC236}">
                  <a16:creationId xmlns:a16="http://schemas.microsoft.com/office/drawing/2014/main" id="{B8F4E571-C121-A73E-CA57-06965F808395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4" name="Multiply 141">
              <a:extLst>
                <a:ext uri="{FF2B5EF4-FFF2-40B4-BE49-F238E27FC236}">
                  <a16:creationId xmlns:a16="http://schemas.microsoft.com/office/drawing/2014/main" id="{6719F853-8301-AD90-215A-5F0CCB17A0D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5" name="Multiply 142">
              <a:extLst>
                <a:ext uri="{FF2B5EF4-FFF2-40B4-BE49-F238E27FC236}">
                  <a16:creationId xmlns:a16="http://schemas.microsoft.com/office/drawing/2014/main" id="{796FC582-F9D7-FE87-2A23-4E229FC743BD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6" name="Freeform 143">
              <a:extLst>
                <a:ext uri="{FF2B5EF4-FFF2-40B4-BE49-F238E27FC236}">
                  <a16:creationId xmlns:a16="http://schemas.microsoft.com/office/drawing/2014/main" id="{096148D6-1E7E-22FB-3129-F46AEE6157EC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290" name="CaixaDeTexto 289">
            <a:extLst>
              <a:ext uri="{FF2B5EF4-FFF2-40B4-BE49-F238E27FC236}">
                <a16:creationId xmlns:a16="http://schemas.microsoft.com/office/drawing/2014/main" id="{1CF5EF7B-31C2-BF66-57C5-B83BDD880795}"/>
              </a:ext>
            </a:extLst>
          </p:cNvPr>
          <p:cNvSpPr txBox="1"/>
          <p:nvPr/>
        </p:nvSpPr>
        <p:spPr>
          <a:xfrm>
            <a:off x="2298188" y="4743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291" name="CaixaDeTexto 290">
            <a:extLst>
              <a:ext uri="{FF2B5EF4-FFF2-40B4-BE49-F238E27FC236}">
                <a16:creationId xmlns:a16="http://schemas.microsoft.com/office/drawing/2014/main" id="{6B520180-B7A3-73C8-75FE-9FD42CDF419E}"/>
              </a:ext>
            </a:extLst>
          </p:cNvPr>
          <p:cNvSpPr txBox="1"/>
          <p:nvPr/>
        </p:nvSpPr>
        <p:spPr>
          <a:xfrm>
            <a:off x="6225723" y="4747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292" name="Agrupar 291">
            <a:extLst>
              <a:ext uri="{FF2B5EF4-FFF2-40B4-BE49-F238E27FC236}">
                <a16:creationId xmlns:a16="http://schemas.microsoft.com/office/drawing/2014/main" id="{B0CAB38C-895F-C677-2B43-E8AA71744A23}"/>
              </a:ext>
            </a:extLst>
          </p:cNvPr>
          <p:cNvGrpSpPr/>
          <p:nvPr/>
        </p:nvGrpSpPr>
        <p:grpSpPr>
          <a:xfrm>
            <a:off x="9002294" y="4437355"/>
            <a:ext cx="3251588" cy="2291732"/>
            <a:chOff x="9487183" y="4446320"/>
            <a:chExt cx="3251588" cy="2291732"/>
          </a:xfrm>
        </p:grpSpPr>
        <p:grpSp>
          <p:nvGrpSpPr>
            <p:cNvPr id="293" name="Group 3">
              <a:extLst>
                <a:ext uri="{FF2B5EF4-FFF2-40B4-BE49-F238E27FC236}">
                  <a16:creationId xmlns:a16="http://schemas.microsoft.com/office/drawing/2014/main" id="{3E73FC0E-6496-B42D-E845-04860D135BB2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295" name="Straight Connector 4">
                <a:extLst>
                  <a:ext uri="{FF2B5EF4-FFF2-40B4-BE49-F238E27FC236}">
                    <a16:creationId xmlns:a16="http://schemas.microsoft.com/office/drawing/2014/main" id="{519CA167-3E38-A858-4B91-3A94AA9E243F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6" name="Straight Connector 5">
                <a:extLst>
                  <a:ext uri="{FF2B5EF4-FFF2-40B4-BE49-F238E27FC236}">
                    <a16:creationId xmlns:a16="http://schemas.microsoft.com/office/drawing/2014/main" id="{F6141AF6-15EC-AECB-C9F3-E7F387C00624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7" name="TextBox 6">
                    <a:extLst>
                      <a:ext uri="{FF2B5EF4-FFF2-40B4-BE49-F238E27FC236}">
                        <a16:creationId xmlns:a16="http://schemas.microsoft.com/office/drawing/2014/main" id="{2817C157-DC6C-FFC2-57CD-7AA392FD016E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9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8" name="TextBox 7">
                    <a:extLst>
                      <a:ext uri="{FF2B5EF4-FFF2-40B4-BE49-F238E27FC236}">
                        <a16:creationId xmlns:a16="http://schemas.microsoft.com/office/drawing/2014/main" id="{8736387D-86DB-F26C-79D3-15D59A65AF05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99" name="Oval 8">
                <a:extLst>
                  <a:ext uri="{FF2B5EF4-FFF2-40B4-BE49-F238E27FC236}">
                    <a16:creationId xmlns:a16="http://schemas.microsoft.com/office/drawing/2014/main" id="{659179F3-E338-6F96-9124-798041B2AAC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0" name="Oval 9">
                <a:extLst>
                  <a:ext uri="{FF2B5EF4-FFF2-40B4-BE49-F238E27FC236}">
                    <a16:creationId xmlns:a16="http://schemas.microsoft.com/office/drawing/2014/main" id="{BA6B460D-6E19-AA3E-EC2A-8D0A74A58462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1" name="Oval 10">
                <a:extLst>
                  <a:ext uri="{FF2B5EF4-FFF2-40B4-BE49-F238E27FC236}">
                    <a16:creationId xmlns:a16="http://schemas.microsoft.com/office/drawing/2014/main" id="{C19CE4C5-5A5F-08AC-C793-D1ADCFB6056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2" name="Oval 11">
                <a:extLst>
                  <a:ext uri="{FF2B5EF4-FFF2-40B4-BE49-F238E27FC236}">
                    <a16:creationId xmlns:a16="http://schemas.microsoft.com/office/drawing/2014/main" id="{43940FBF-5687-6EC8-893A-641CE999070D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3" name="Oval 12">
                <a:extLst>
                  <a:ext uri="{FF2B5EF4-FFF2-40B4-BE49-F238E27FC236}">
                    <a16:creationId xmlns:a16="http://schemas.microsoft.com/office/drawing/2014/main" id="{47916986-259A-0B5B-6E1D-5D66453CC16D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4" name="Oval 13">
                <a:extLst>
                  <a:ext uri="{FF2B5EF4-FFF2-40B4-BE49-F238E27FC236}">
                    <a16:creationId xmlns:a16="http://schemas.microsoft.com/office/drawing/2014/main" id="{4BFB4C73-1C85-CB72-8E6D-D0A9B5FA6D88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5" name="Oval 14">
                <a:extLst>
                  <a:ext uri="{FF2B5EF4-FFF2-40B4-BE49-F238E27FC236}">
                    <a16:creationId xmlns:a16="http://schemas.microsoft.com/office/drawing/2014/main" id="{B9C433F1-3008-ED26-54BD-F540667C54E5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6" name="Oval 15">
                <a:extLst>
                  <a:ext uri="{FF2B5EF4-FFF2-40B4-BE49-F238E27FC236}">
                    <a16:creationId xmlns:a16="http://schemas.microsoft.com/office/drawing/2014/main" id="{CD098820-96A8-B3A7-09BD-F2E548DDBD23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7" name="Oval 16">
                <a:extLst>
                  <a:ext uri="{FF2B5EF4-FFF2-40B4-BE49-F238E27FC236}">
                    <a16:creationId xmlns:a16="http://schemas.microsoft.com/office/drawing/2014/main" id="{1F1F6454-0E36-BD14-4597-D7B24ABF362F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8" name="Oval 17">
                <a:extLst>
                  <a:ext uri="{FF2B5EF4-FFF2-40B4-BE49-F238E27FC236}">
                    <a16:creationId xmlns:a16="http://schemas.microsoft.com/office/drawing/2014/main" id="{646E0387-1164-393B-583D-9123CE0E96D1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9" name="Oval 18">
                <a:extLst>
                  <a:ext uri="{FF2B5EF4-FFF2-40B4-BE49-F238E27FC236}">
                    <a16:creationId xmlns:a16="http://schemas.microsoft.com/office/drawing/2014/main" id="{F90C6CFE-95D6-CDF9-D3ED-3445AFC6432F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0" name="Oval 19">
                <a:extLst>
                  <a:ext uri="{FF2B5EF4-FFF2-40B4-BE49-F238E27FC236}">
                    <a16:creationId xmlns:a16="http://schemas.microsoft.com/office/drawing/2014/main" id="{16283901-9E0F-BB2C-BC88-A23C224B569E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1" name="Oval 20">
                <a:extLst>
                  <a:ext uri="{FF2B5EF4-FFF2-40B4-BE49-F238E27FC236}">
                    <a16:creationId xmlns:a16="http://schemas.microsoft.com/office/drawing/2014/main" id="{DFFACD6D-4A30-4263-5A8C-400AE0895645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2" name="Oval 21">
                <a:extLst>
                  <a:ext uri="{FF2B5EF4-FFF2-40B4-BE49-F238E27FC236}">
                    <a16:creationId xmlns:a16="http://schemas.microsoft.com/office/drawing/2014/main" id="{4C2B18D6-D331-4473-0F92-99B23039E3B7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3" name="Oval 22">
                <a:extLst>
                  <a:ext uri="{FF2B5EF4-FFF2-40B4-BE49-F238E27FC236}">
                    <a16:creationId xmlns:a16="http://schemas.microsoft.com/office/drawing/2014/main" id="{E239F1FA-C518-F052-24C3-CCFEEF37EE2C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4" name="Oval 23">
                <a:extLst>
                  <a:ext uri="{FF2B5EF4-FFF2-40B4-BE49-F238E27FC236}">
                    <a16:creationId xmlns:a16="http://schemas.microsoft.com/office/drawing/2014/main" id="{B5A0693E-598B-3275-8F45-388A01310932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5" name="Oval 24">
                <a:extLst>
                  <a:ext uri="{FF2B5EF4-FFF2-40B4-BE49-F238E27FC236}">
                    <a16:creationId xmlns:a16="http://schemas.microsoft.com/office/drawing/2014/main" id="{DA7637ED-2EEA-BD5A-EA77-C54CA353C640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6" name="Oval 25">
                <a:extLst>
                  <a:ext uri="{FF2B5EF4-FFF2-40B4-BE49-F238E27FC236}">
                    <a16:creationId xmlns:a16="http://schemas.microsoft.com/office/drawing/2014/main" id="{B68E526B-3355-B2B7-5509-E51745507723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7" name="Oval 26">
                <a:extLst>
                  <a:ext uri="{FF2B5EF4-FFF2-40B4-BE49-F238E27FC236}">
                    <a16:creationId xmlns:a16="http://schemas.microsoft.com/office/drawing/2014/main" id="{CD12660D-ADA9-6B6A-7405-5B8433165DD6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8" name="Oval 27">
                <a:extLst>
                  <a:ext uri="{FF2B5EF4-FFF2-40B4-BE49-F238E27FC236}">
                    <a16:creationId xmlns:a16="http://schemas.microsoft.com/office/drawing/2014/main" id="{0B1A1FEA-0027-9E88-9FF2-7BE242F2BF65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9" name="Multiply 28">
                <a:extLst>
                  <a:ext uri="{FF2B5EF4-FFF2-40B4-BE49-F238E27FC236}">
                    <a16:creationId xmlns:a16="http://schemas.microsoft.com/office/drawing/2014/main" id="{C20CAE11-8B1F-4521-A439-4E895A333523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0" name="Multiply 29">
                <a:extLst>
                  <a:ext uri="{FF2B5EF4-FFF2-40B4-BE49-F238E27FC236}">
                    <a16:creationId xmlns:a16="http://schemas.microsoft.com/office/drawing/2014/main" id="{8A95B274-5A57-2055-C0D9-457760224CA0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1" name="Multiply 30">
                <a:extLst>
                  <a:ext uri="{FF2B5EF4-FFF2-40B4-BE49-F238E27FC236}">
                    <a16:creationId xmlns:a16="http://schemas.microsoft.com/office/drawing/2014/main" id="{7E982CAE-81A9-32FF-1E8E-C206169CC96D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2" name="Multiply 31">
                <a:extLst>
                  <a:ext uri="{FF2B5EF4-FFF2-40B4-BE49-F238E27FC236}">
                    <a16:creationId xmlns:a16="http://schemas.microsoft.com/office/drawing/2014/main" id="{FF5CDDFA-0285-1EAD-EB3D-C992D2DAC298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3" name="Multiply 32">
                <a:extLst>
                  <a:ext uri="{FF2B5EF4-FFF2-40B4-BE49-F238E27FC236}">
                    <a16:creationId xmlns:a16="http://schemas.microsoft.com/office/drawing/2014/main" id="{9B7F76AC-6D3A-830C-9083-0199F6734871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4" name="Multiply 33">
                <a:extLst>
                  <a:ext uri="{FF2B5EF4-FFF2-40B4-BE49-F238E27FC236}">
                    <a16:creationId xmlns:a16="http://schemas.microsoft.com/office/drawing/2014/main" id="{D3155068-4D6B-00AA-D5BD-6B29C2581320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5" name="Multiply 34">
                <a:extLst>
                  <a:ext uri="{FF2B5EF4-FFF2-40B4-BE49-F238E27FC236}">
                    <a16:creationId xmlns:a16="http://schemas.microsoft.com/office/drawing/2014/main" id="{BE02C931-C817-1D10-C938-506A5328CF98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6" name="Oval 35">
                <a:extLst>
                  <a:ext uri="{FF2B5EF4-FFF2-40B4-BE49-F238E27FC236}">
                    <a16:creationId xmlns:a16="http://schemas.microsoft.com/office/drawing/2014/main" id="{037DCD77-CB85-6615-818E-53830FFF987D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7" name="Oval 36">
                <a:extLst>
                  <a:ext uri="{FF2B5EF4-FFF2-40B4-BE49-F238E27FC236}">
                    <a16:creationId xmlns:a16="http://schemas.microsoft.com/office/drawing/2014/main" id="{64933034-93B0-2153-6372-573E8410C1E5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8" name="Oval 37">
                <a:extLst>
                  <a:ext uri="{FF2B5EF4-FFF2-40B4-BE49-F238E27FC236}">
                    <a16:creationId xmlns:a16="http://schemas.microsoft.com/office/drawing/2014/main" id="{590D945B-5C02-A907-B24B-5C7B8A35DE17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9" name="Multiply 38">
                <a:extLst>
                  <a:ext uri="{FF2B5EF4-FFF2-40B4-BE49-F238E27FC236}">
                    <a16:creationId xmlns:a16="http://schemas.microsoft.com/office/drawing/2014/main" id="{B2CA3E0D-9491-7BBF-7C58-4FEEFDDA67E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0" name="Multiply 39">
                <a:extLst>
                  <a:ext uri="{FF2B5EF4-FFF2-40B4-BE49-F238E27FC236}">
                    <a16:creationId xmlns:a16="http://schemas.microsoft.com/office/drawing/2014/main" id="{9CB0019D-BCAE-CBF5-E9AA-DB42024B9517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1" name="Multiply 40">
                <a:extLst>
                  <a:ext uri="{FF2B5EF4-FFF2-40B4-BE49-F238E27FC236}">
                    <a16:creationId xmlns:a16="http://schemas.microsoft.com/office/drawing/2014/main" id="{F9E96131-227C-8F93-E881-C680BCF513F6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2" name="Multiply 41">
                <a:extLst>
                  <a:ext uri="{FF2B5EF4-FFF2-40B4-BE49-F238E27FC236}">
                    <a16:creationId xmlns:a16="http://schemas.microsoft.com/office/drawing/2014/main" id="{0CC480B1-4435-B46F-75E0-286BDBDD0B4F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3" name="Multiply 42">
                <a:extLst>
                  <a:ext uri="{FF2B5EF4-FFF2-40B4-BE49-F238E27FC236}">
                    <a16:creationId xmlns:a16="http://schemas.microsoft.com/office/drawing/2014/main" id="{427AA496-B2DD-5199-236F-ACDE3911BA8A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4" name="Multiply 43">
                <a:extLst>
                  <a:ext uri="{FF2B5EF4-FFF2-40B4-BE49-F238E27FC236}">
                    <a16:creationId xmlns:a16="http://schemas.microsoft.com/office/drawing/2014/main" id="{D0494BF0-83C5-D217-E3F0-D37D97CAB42F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5" name="Multiply 44">
                <a:extLst>
                  <a:ext uri="{FF2B5EF4-FFF2-40B4-BE49-F238E27FC236}">
                    <a16:creationId xmlns:a16="http://schemas.microsoft.com/office/drawing/2014/main" id="{1943872F-D82A-A2E4-8597-1C3B77A5591C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6" name="Multiply 45">
                <a:extLst>
                  <a:ext uri="{FF2B5EF4-FFF2-40B4-BE49-F238E27FC236}">
                    <a16:creationId xmlns:a16="http://schemas.microsoft.com/office/drawing/2014/main" id="{0073664D-12A0-88D6-2D28-C31256AAFB7D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7" name="Multiply 46">
                <a:extLst>
                  <a:ext uri="{FF2B5EF4-FFF2-40B4-BE49-F238E27FC236}">
                    <a16:creationId xmlns:a16="http://schemas.microsoft.com/office/drawing/2014/main" id="{E802BF65-432E-A93E-CAF8-F1A093BBE901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8" name="Multiply 47">
                <a:extLst>
                  <a:ext uri="{FF2B5EF4-FFF2-40B4-BE49-F238E27FC236}">
                    <a16:creationId xmlns:a16="http://schemas.microsoft.com/office/drawing/2014/main" id="{D530F31C-8F3B-3B7B-E86C-4278765980F8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9" name="Multiply 48">
                <a:extLst>
                  <a:ext uri="{FF2B5EF4-FFF2-40B4-BE49-F238E27FC236}">
                    <a16:creationId xmlns:a16="http://schemas.microsoft.com/office/drawing/2014/main" id="{A467CA46-0031-79EC-C70B-088E58FD31EE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40" name="Freeform 49">
                <a:extLst>
                  <a:ext uri="{FF2B5EF4-FFF2-40B4-BE49-F238E27FC236}">
                    <a16:creationId xmlns:a16="http://schemas.microsoft.com/office/drawing/2014/main" id="{D11340A6-0358-782C-37B6-4B14FA13FDE6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294" name="Retângulo 293">
              <a:extLst>
                <a:ext uri="{FF2B5EF4-FFF2-40B4-BE49-F238E27FC236}">
                  <a16:creationId xmlns:a16="http://schemas.microsoft.com/office/drawing/2014/main" id="{9777451C-E320-8AA1-21F5-BD6EC5F72A61}"/>
                </a:ext>
              </a:extLst>
            </p:cNvPr>
            <p:cNvSpPr/>
            <p:nvPr/>
          </p:nvSpPr>
          <p:spPr>
            <a:xfrm>
              <a:off x="10483329" y="4446320"/>
              <a:ext cx="2255442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78416568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Na primeira figura, o polinômio (i.e., reta) tem uma </a:t>
            </a:r>
            <a:r>
              <a:rPr lang="pt-BR" b="1" i="1" dirty="0">
                <a:solidFill>
                  <a:srgbClr val="FF0000"/>
                </a:solidFill>
              </a:rPr>
              <a:t>baixa flexibilidade</a:t>
            </a:r>
            <a:r>
              <a:rPr lang="pt-BR" dirty="0"/>
              <a:t>.</a:t>
            </a:r>
          </a:p>
          <a:p>
            <a:r>
              <a:rPr lang="pt-BR" dirty="0"/>
              <a:t>Consequentemente, o modelo apresenta uma </a:t>
            </a:r>
            <a:r>
              <a:rPr lang="pt-BR" b="1" i="1" dirty="0">
                <a:solidFill>
                  <a:srgbClr val="FF0000"/>
                </a:solidFill>
              </a:rPr>
              <a:t>baixa capacidade de generalização</a:t>
            </a:r>
            <a:r>
              <a:rPr lang="pt-BR" dirty="0"/>
              <a:t>.</a:t>
            </a:r>
          </a:p>
          <a:p>
            <a:r>
              <a:rPr lang="pt-BR" dirty="0"/>
              <a:t>Assim, os erros nos conjuntos de treinamento e teste seriam </a:t>
            </a:r>
            <a:r>
              <a:rPr lang="pt-BR" b="1" i="1" dirty="0">
                <a:solidFill>
                  <a:srgbClr val="FF0000"/>
                </a:solidFill>
              </a:rPr>
              <a:t>ambos altos</a:t>
            </a:r>
            <a:r>
              <a:rPr lang="pt-BR" dirty="0"/>
              <a:t>.</a:t>
            </a:r>
          </a:p>
          <a:p>
            <a:r>
              <a:rPr lang="pt-BR" dirty="0"/>
              <a:t>Ou seja, o classificador erraria a classificação de boa parte dos exemplos.</a:t>
            </a:r>
          </a:p>
          <a:p>
            <a:endParaRPr lang="pt-BR" dirty="0"/>
          </a:p>
        </p:txBody>
      </p:sp>
      <p:grpSp>
        <p:nvGrpSpPr>
          <p:cNvPr id="4" name="Group 50">
            <a:extLst>
              <a:ext uri="{FF2B5EF4-FFF2-40B4-BE49-F238E27FC236}">
                <a16:creationId xmlns:a16="http://schemas.microsoft.com/office/drawing/2014/main" id="{AAC33CC3-B566-0A22-6D7F-4A7086BDBE56}"/>
              </a:ext>
            </a:extLst>
          </p:cNvPr>
          <p:cNvGrpSpPr/>
          <p:nvPr/>
        </p:nvGrpSpPr>
        <p:grpSpPr>
          <a:xfrm>
            <a:off x="1028041" y="468199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:a16="http://schemas.microsoft.com/office/drawing/2014/main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:a16="http://schemas.microsoft.com/office/drawing/2014/main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:a16="http://schemas.microsoft.com/office/drawing/2014/main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:a16="http://schemas.microsoft.com/office/drawing/2014/main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:a16="http://schemas.microsoft.com/office/drawing/2014/main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:a16="http://schemas.microsoft.com/office/drawing/2014/main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:a16="http://schemas.microsoft.com/office/drawing/2014/main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:a16="http://schemas.microsoft.com/office/drawing/2014/main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:a16="http://schemas.microsoft.com/office/drawing/2014/main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:a16="http://schemas.microsoft.com/office/drawing/2014/main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:a16="http://schemas.microsoft.com/office/drawing/2014/main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:a16="http://schemas.microsoft.com/office/drawing/2014/main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:a16="http://schemas.microsoft.com/office/drawing/2014/main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:a16="http://schemas.microsoft.com/office/drawing/2014/main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:a16="http://schemas.microsoft.com/office/drawing/2014/main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:a16="http://schemas.microsoft.com/office/drawing/2014/main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:a16="http://schemas.microsoft.com/office/drawing/2014/main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:a16="http://schemas.microsoft.com/office/drawing/2014/main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:a16="http://schemas.microsoft.com/office/drawing/2014/main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:a16="http://schemas.microsoft.com/office/drawing/2014/main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:a16="http://schemas.microsoft.com/office/drawing/2014/main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:a16="http://schemas.microsoft.com/office/drawing/2014/main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:a16="http://schemas.microsoft.com/office/drawing/2014/main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:a16="http://schemas.microsoft.com/office/drawing/2014/main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:a16="http://schemas.microsoft.com/office/drawing/2014/main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:a16="http://schemas.microsoft.com/office/drawing/2014/main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:a16="http://schemas.microsoft.com/office/drawing/2014/main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:a16="http://schemas.microsoft.com/office/drawing/2014/main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:a16="http://schemas.microsoft.com/office/drawing/2014/main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:a16="http://schemas.microsoft.com/office/drawing/2014/main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:a16="http://schemas.microsoft.com/office/drawing/2014/main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:a16="http://schemas.microsoft.com/office/drawing/2014/main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:a16="http://schemas.microsoft.com/office/drawing/2014/main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:a16="http://schemas.microsoft.com/office/drawing/2014/main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:a16="http://schemas.microsoft.com/office/drawing/2014/main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:a16="http://schemas.microsoft.com/office/drawing/2014/main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:a16="http://schemas.microsoft.com/office/drawing/2014/main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:a16="http://schemas.microsoft.com/office/drawing/2014/main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:a16="http://schemas.microsoft.com/office/drawing/2014/main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:a16="http://schemas.microsoft.com/office/drawing/2014/main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:a16="http://schemas.microsoft.com/office/drawing/2014/main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:a16="http://schemas.microsoft.com/office/drawing/2014/main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:a16="http://schemas.microsoft.com/office/drawing/2014/main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:a16="http://schemas.microsoft.com/office/drawing/2014/main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:a16="http://schemas.microsoft.com/office/drawing/2014/main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:a16="http://schemas.microsoft.com/office/drawing/2014/main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:a16="http://schemas.microsoft.com/office/drawing/2014/main" id="{4428BBD2-C403-E0F2-42F0-FB45BB9BA997}"/>
              </a:ext>
            </a:extLst>
          </p:cNvPr>
          <p:cNvGrpSpPr/>
          <p:nvPr/>
        </p:nvGrpSpPr>
        <p:grpSpPr>
          <a:xfrm>
            <a:off x="4968566" y="4648593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:a16="http://schemas.microsoft.com/office/drawing/2014/main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:a16="http://schemas.microsoft.com/office/drawing/2014/main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:a16="http://schemas.microsoft.com/office/drawing/2014/main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:a16="http://schemas.microsoft.com/office/drawing/2014/main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:a16="http://schemas.microsoft.com/office/drawing/2014/main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:a16="http://schemas.microsoft.com/office/drawing/2014/main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:a16="http://schemas.microsoft.com/office/drawing/2014/main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:a16="http://schemas.microsoft.com/office/drawing/2014/main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:a16="http://schemas.microsoft.com/office/drawing/2014/main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:a16="http://schemas.microsoft.com/office/drawing/2014/main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:a16="http://schemas.microsoft.com/office/drawing/2014/main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:a16="http://schemas.microsoft.com/office/drawing/2014/main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:a16="http://schemas.microsoft.com/office/drawing/2014/main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:a16="http://schemas.microsoft.com/office/drawing/2014/main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:a16="http://schemas.microsoft.com/office/drawing/2014/main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:a16="http://schemas.microsoft.com/office/drawing/2014/main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:a16="http://schemas.microsoft.com/office/drawing/2014/main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:a16="http://schemas.microsoft.com/office/drawing/2014/main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:a16="http://schemas.microsoft.com/office/drawing/2014/main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:a16="http://schemas.microsoft.com/office/drawing/2014/main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:a16="http://schemas.microsoft.com/office/drawing/2014/main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:a16="http://schemas.microsoft.com/office/drawing/2014/main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:a16="http://schemas.microsoft.com/office/drawing/2014/main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:a16="http://schemas.microsoft.com/office/drawing/2014/main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:a16="http://schemas.microsoft.com/office/drawing/2014/main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:a16="http://schemas.microsoft.com/office/drawing/2014/main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:a16="http://schemas.microsoft.com/office/drawing/2014/main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:a16="http://schemas.microsoft.com/office/drawing/2014/main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:a16="http://schemas.microsoft.com/office/drawing/2014/main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:a16="http://schemas.microsoft.com/office/drawing/2014/main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:a16="http://schemas.microsoft.com/office/drawing/2014/main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:a16="http://schemas.microsoft.com/office/drawing/2014/main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:a16="http://schemas.microsoft.com/office/drawing/2014/main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:a16="http://schemas.microsoft.com/office/drawing/2014/main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:a16="http://schemas.microsoft.com/office/drawing/2014/main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:a16="http://schemas.microsoft.com/office/drawing/2014/main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:a16="http://schemas.microsoft.com/office/drawing/2014/main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:a16="http://schemas.microsoft.com/office/drawing/2014/main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:a16="http://schemas.microsoft.com/office/drawing/2014/main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:a16="http://schemas.microsoft.com/office/drawing/2014/main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:a16="http://schemas.microsoft.com/office/drawing/2014/main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:a16="http://schemas.microsoft.com/office/drawing/2014/main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:a16="http://schemas.microsoft.com/office/drawing/2014/main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:a16="http://schemas.microsoft.com/office/drawing/2014/main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:a16="http://schemas.microsoft.com/office/drawing/2014/main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:a16="http://schemas.microsoft.com/office/drawing/2014/main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98" name="Agrupar 97">
            <a:extLst>
              <a:ext uri="{FF2B5EF4-FFF2-40B4-BE49-F238E27FC236}">
                <a16:creationId xmlns:a16="http://schemas.microsoft.com/office/drawing/2014/main" id="{A6FE96E8-7FE5-21E4-BCE6-6DF0031DBF05}"/>
              </a:ext>
            </a:extLst>
          </p:cNvPr>
          <p:cNvGrpSpPr/>
          <p:nvPr/>
        </p:nvGrpSpPr>
        <p:grpSpPr>
          <a:xfrm>
            <a:off x="9002294" y="4392272"/>
            <a:ext cx="3213154" cy="2336815"/>
            <a:chOff x="9487183" y="4401237"/>
            <a:chExt cx="3213154" cy="2336815"/>
          </a:xfrm>
        </p:grpSpPr>
        <p:grpSp>
          <p:nvGrpSpPr>
            <p:cNvPr id="99" name="Group 3">
              <a:extLst>
                <a:ext uri="{FF2B5EF4-FFF2-40B4-BE49-F238E27FC236}">
                  <a16:creationId xmlns:a16="http://schemas.microsoft.com/office/drawing/2014/main" id="{97EA07A9-7D75-8D57-32B7-6D0F9A97C00F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01" name="Straight Connector 4">
                <a:extLst>
                  <a:ext uri="{FF2B5EF4-FFF2-40B4-BE49-F238E27FC236}">
                    <a16:creationId xmlns:a16="http://schemas.microsoft.com/office/drawing/2014/main" id="{0FF56AD3-2AFD-3C1B-9C7F-AD580D21417F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5">
                <a:extLst>
                  <a:ext uri="{FF2B5EF4-FFF2-40B4-BE49-F238E27FC236}">
                    <a16:creationId xmlns:a16="http://schemas.microsoft.com/office/drawing/2014/main" id="{E41A4A1C-29BD-587F-5ABD-FDD004F7494C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3" name="TextBox 6">
                    <a:extLst>
                      <a:ext uri="{FF2B5EF4-FFF2-40B4-BE49-F238E27FC236}">
                        <a16:creationId xmlns:a16="http://schemas.microsoft.com/office/drawing/2014/main" id="{931D78C3-4623-B925-47BF-B91AA98F3A6A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4" name="TextBox 7">
                    <a:extLst>
                      <a:ext uri="{FF2B5EF4-FFF2-40B4-BE49-F238E27FC236}">
                        <a16:creationId xmlns:a16="http://schemas.microsoft.com/office/drawing/2014/main" id="{94791710-53C8-DCBE-2A13-8F9EBA3A5110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5" name="Oval 8">
                <a:extLst>
                  <a:ext uri="{FF2B5EF4-FFF2-40B4-BE49-F238E27FC236}">
                    <a16:creationId xmlns:a16="http://schemas.microsoft.com/office/drawing/2014/main" id="{B58B7B66-6147-70B6-C6C8-E98A251D8D38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6" name="Oval 9">
                <a:extLst>
                  <a:ext uri="{FF2B5EF4-FFF2-40B4-BE49-F238E27FC236}">
                    <a16:creationId xmlns:a16="http://schemas.microsoft.com/office/drawing/2014/main" id="{0FB5920C-58F2-09E2-B1B3-E8F6C9AE4FC2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7" name="Oval 10">
                <a:extLst>
                  <a:ext uri="{FF2B5EF4-FFF2-40B4-BE49-F238E27FC236}">
                    <a16:creationId xmlns:a16="http://schemas.microsoft.com/office/drawing/2014/main" id="{42189AD4-DA86-B2BE-B50A-46F4C14C1B22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8" name="Oval 11">
                <a:extLst>
                  <a:ext uri="{FF2B5EF4-FFF2-40B4-BE49-F238E27FC236}">
                    <a16:creationId xmlns:a16="http://schemas.microsoft.com/office/drawing/2014/main" id="{E5D84EE4-FDEB-915C-C95B-9E475CCFDB74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9" name="Oval 12">
                <a:extLst>
                  <a:ext uri="{FF2B5EF4-FFF2-40B4-BE49-F238E27FC236}">
                    <a16:creationId xmlns:a16="http://schemas.microsoft.com/office/drawing/2014/main" id="{158F6918-0D90-D666-D9AD-19FA1A2D1732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0" name="Oval 13">
                <a:extLst>
                  <a:ext uri="{FF2B5EF4-FFF2-40B4-BE49-F238E27FC236}">
                    <a16:creationId xmlns:a16="http://schemas.microsoft.com/office/drawing/2014/main" id="{865677FE-CF22-67D8-3C99-1ADD611479BB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1" name="Oval 14">
                <a:extLst>
                  <a:ext uri="{FF2B5EF4-FFF2-40B4-BE49-F238E27FC236}">
                    <a16:creationId xmlns:a16="http://schemas.microsoft.com/office/drawing/2014/main" id="{5063E2AB-2EC8-0A92-28CB-89F582AE6260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2" name="Oval 15">
                <a:extLst>
                  <a:ext uri="{FF2B5EF4-FFF2-40B4-BE49-F238E27FC236}">
                    <a16:creationId xmlns:a16="http://schemas.microsoft.com/office/drawing/2014/main" id="{6EC84DF7-6661-CBEC-3E28-0596109C3AAC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3" name="Oval 16">
                <a:extLst>
                  <a:ext uri="{FF2B5EF4-FFF2-40B4-BE49-F238E27FC236}">
                    <a16:creationId xmlns:a16="http://schemas.microsoft.com/office/drawing/2014/main" id="{8CE3AC63-4268-CFC7-6E75-C11A7DF5655F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4" name="Oval 17">
                <a:extLst>
                  <a:ext uri="{FF2B5EF4-FFF2-40B4-BE49-F238E27FC236}">
                    <a16:creationId xmlns:a16="http://schemas.microsoft.com/office/drawing/2014/main" id="{DBEC6B39-4A77-DBE6-2BF7-AD9DFBA3058C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5" name="Oval 18">
                <a:extLst>
                  <a:ext uri="{FF2B5EF4-FFF2-40B4-BE49-F238E27FC236}">
                    <a16:creationId xmlns:a16="http://schemas.microsoft.com/office/drawing/2014/main" id="{DBA0AF13-CCAF-F6A7-F775-94F351B47096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6" name="Oval 19">
                <a:extLst>
                  <a:ext uri="{FF2B5EF4-FFF2-40B4-BE49-F238E27FC236}">
                    <a16:creationId xmlns:a16="http://schemas.microsoft.com/office/drawing/2014/main" id="{2E6CA247-69A8-EF52-B909-A41C48B47CEF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7" name="Oval 20">
                <a:extLst>
                  <a:ext uri="{FF2B5EF4-FFF2-40B4-BE49-F238E27FC236}">
                    <a16:creationId xmlns:a16="http://schemas.microsoft.com/office/drawing/2014/main" id="{5DA1C2F3-72FA-4FAE-C967-F9AEA2F281AB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8" name="Oval 21">
                <a:extLst>
                  <a:ext uri="{FF2B5EF4-FFF2-40B4-BE49-F238E27FC236}">
                    <a16:creationId xmlns:a16="http://schemas.microsoft.com/office/drawing/2014/main" id="{D2DD0E29-D11A-2BD0-7360-23D62322B7DE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9" name="Oval 22">
                <a:extLst>
                  <a:ext uri="{FF2B5EF4-FFF2-40B4-BE49-F238E27FC236}">
                    <a16:creationId xmlns:a16="http://schemas.microsoft.com/office/drawing/2014/main" id="{FBC5F4E4-9812-F6AC-52DB-B0645F3C234E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0" name="Oval 23">
                <a:extLst>
                  <a:ext uri="{FF2B5EF4-FFF2-40B4-BE49-F238E27FC236}">
                    <a16:creationId xmlns:a16="http://schemas.microsoft.com/office/drawing/2014/main" id="{112EE231-EF39-7954-2D2E-E44FC1AA2E8A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1" name="Oval 24">
                <a:extLst>
                  <a:ext uri="{FF2B5EF4-FFF2-40B4-BE49-F238E27FC236}">
                    <a16:creationId xmlns:a16="http://schemas.microsoft.com/office/drawing/2014/main" id="{B597EDEF-81A5-D0D4-5E5C-30D3A0C1B49F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2" name="Oval 25">
                <a:extLst>
                  <a:ext uri="{FF2B5EF4-FFF2-40B4-BE49-F238E27FC236}">
                    <a16:creationId xmlns:a16="http://schemas.microsoft.com/office/drawing/2014/main" id="{275D7CDA-AE65-67FC-F325-64E41DC64EF5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3" name="Oval 26">
                <a:extLst>
                  <a:ext uri="{FF2B5EF4-FFF2-40B4-BE49-F238E27FC236}">
                    <a16:creationId xmlns:a16="http://schemas.microsoft.com/office/drawing/2014/main" id="{6D71B0C9-444A-8565-F574-01A5D142D79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4" name="Oval 27">
                <a:extLst>
                  <a:ext uri="{FF2B5EF4-FFF2-40B4-BE49-F238E27FC236}">
                    <a16:creationId xmlns:a16="http://schemas.microsoft.com/office/drawing/2014/main" id="{31626273-3889-1DF5-64F7-313551ACDE9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5" name="Multiply 28">
                <a:extLst>
                  <a:ext uri="{FF2B5EF4-FFF2-40B4-BE49-F238E27FC236}">
                    <a16:creationId xmlns:a16="http://schemas.microsoft.com/office/drawing/2014/main" id="{DE03C3FF-8C48-59F5-2CC2-10EB5386EB20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6" name="Multiply 29">
                <a:extLst>
                  <a:ext uri="{FF2B5EF4-FFF2-40B4-BE49-F238E27FC236}">
                    <a16:creationId xmlns:a16="http://schemas.microsoft.com/office/drawing/2014/main" id="{85CCF03D-3935-F46E-1EAD-176ED6CBB1A8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7" name="Multiply 30">
                <a:extLst>
                  <a:ext uri="{FF2B5EF4-FFF2-40B4-BE49-F238E27FC236}">
                    <a16:creationId xmlns:a16="http://schemas.microsoft.com/office/drawing/2014/main" id="{720AE1C1-936D-8CA0-6F44-09B409D6E781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8" name="Multiply 31">
                <a:extLst>
                  <a:ext uri="{FF2B5EF4-FFF2-40B4-BE49-F238E27FC236}">
                    <a16:creationId xmlns:a16="http://schemas.microsoft.com/office/drawing/2014/main" id="{70033D10-04F9-613C-00B0-80212568D6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9" name="Multiply 32">
                <a:extLst>
                  <a:ext uri="{FF2B5EF4-FFF2-40B4-BE49-F238E27FC236}">
                    <a16:creationId xmlns:a16="http://schemas.microsoft.com/office/drawing/2014/main" id="{DB2F60AA-7E03-796C-54E7-A1D786D42542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0" name="Multiply 33">
                <a:extLst>
                  <a:ext uri="{FF2B5EF4-FFF2-40B4-BE49-F238E27FC236}">
                    <a16:creationId xmlns:a16="http://schemas.microsoft.com/office/drawing/2014/main" id="{6C0E2F95-7FD9-283A-2561-1BA458F3E561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1" name="Multiply 34">
                <a:extLst>
                  <a:ext uri="{FF2B5EF4-FFF2-40B4-BE49-F238E27FC236}">
                    <a16:creationId xmlns:a16="http://schemas.microsoft.com/office/drawing/2014/main" id="{EC9B6437-26FD-CC78-18C6-41E80492A9C8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2" name="Oval 35">
                <a:extLst>
                  <a:ext uri="{FF2B5EF4-FFF2-40B4-BE49-F238E27FC236}">
                    <a16:creationId xmlns:a16="http://schemas.microsoft.com/office/drawing/2014/main" id="{4BEE827C-B00E-D7D7-CB52-FC429A973867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3" name="Oval 36">
                <a:extLst>
                  <a:ext uri="{FF2B5EF4-FFF2-40B4-BE49-F238E27FC236}">
                    <a16:creationId xmlns:a16="http://schemas.microsoft.com/office/drawing/2014/main" id="{32AC3645-9686-A0B2-7569-C326DF568A19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4" name="Oval 37">
                <a:extLst>
                  <a:ext uri="{FF2B5EF4-FFF2-40B4-BE49-F238E27FC236}">
                    <a16:creationId xmlns:a16="http://schemas.microsoft.com/office/drawing/2014/main" id="{4C7E43DF-9314-F57B-842F-45024B3BF233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5" name="Multiply 38">
                <a:extLst>
                  <a:ext uri="{FF2B5EF4-FFF2-40B4-BE49-F238E27FC236}">
                    <a16:creationId xmlns:a16="http://schemas.microsoft.com/office/drawing/2014/main" id="{10C4FB25-D209-F9B3-8896-91D72068479B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6" name="Multiply 39">
                <a:extLst>
                  <a:ext uri="{FF2B5EF4-FFF2-40B4-BE49-F238E27FC236}">
                    <a16:creationId xmlns:a16="http://schemas.microsoft.com/office/drawing/2014/main" id="{416B28E7-3BBB-C38C-1064-2CAD2BD04EE5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7" name="Multiply 40">
                <a:extLst>
                  <a:ext uri="{FF2B5EF4-FFF2-40B4-BE49-F238E27FC236}">
                    <a16:creationId xmlns:a16="http://schemas.microsoft.com/office/drawing/2014/main" id="{88EBB636-F22A-87B1-E68E-A9BF68BD4B42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8" name="Multiply 41">
                <a:extLst>
                  <a:ext uri="{FF2B5EF4-FFF2-40B4-BE49-F238E27FC236}">
                    <a16:creationId xmlns:a16="http://schemas.microsoft.com/office/drawing/2014/main" id="{FB4EDB4D-8326-7D04-5F26-29F508291C32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9" name="Multiply 42">
                <a:extLst>
                  <a:ext uri="{FF2B5EF4-FFF2-40B4-BE49-F238E27FC236}">
                    <a16:creationId xmlns:a16="http://schemas.microsoft.com/office/drawing/2014/main" id="{F8412155-FF77-ED3B-888B-0EB7C988ED89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0" name="Multiply 43">
                <a:extLst>
                  <a:ext uri="{FF2B5EF4-FFF2-40B4-BE49-F238E27FC236}">
                    <a16:creationId xmlns:a16="http://schemas.microsoft.com/office/drawing/2014/main" id="{8B3A850C-AD94-F319-020F-3F9E4BAA9A08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1" name="Multiply 44">
                <a:extLst>
                  <a:ext uri="{FF2B5EF4-FFF2-40B4-BE49-F238E27FC236}">
                    <a16:creationId xmlns:a16="http://schemas.microsoft.com/office/drawing/2014/main" id="{4D88A13B-5E64-F59F-CA8B-906983BBF15E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2" name="Multiply 45">
                <a:extLst>
                  <a:ext uri="{FF2B5EF4-FFF2-40B4-BE49-F238E27FC236}">
                    <a16:creationId xmlns:a16="http://schemas.microsoft.com/office/drawing/2014/main" id="{58DEE3F5-0586-8AFA-E9F3-1AB9FC1B5319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3" name="Multiply 46">
                <a:extLst>
                  <a:ext uri="{FF2B5EF4-FFF2-40B4-BE49-F238E27FC236}">
                    <a16:creationId xmlns:a16="http://schemas.microsoft.com/office/drawing/2014/main" id="{F3ECCEDD-9521-E1EF-8635-26975E3FF1BE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4" name="Multiply 47">
                <a:extLst>
                  <a:ext uri="{FF2B5EF4-FFF2-40B4-BE49-F238E27FC236}">
                    <a16:creationId xmlns:a16="http://schemas.microsoft.com/office/drawing/2014/main" id="{EB8B4713-13AC-9E0A-C462-2BE54B80C733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5" name="Multiply 48">
                <a:extLst>
                  <a:ext uri="{FF2B5EF4-FFF2-40B4-BE49-F238E27FC236}">
                    <a16:creationId xmlns:a16="http://schemas.microsoft.com/office/drawing/2014/main" id="{DB738329-18E7-2CC0-9FDE-FC82161127B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6" name="Freeform 49">
                <a:extLst>
                  <a:ext uri="{FF2B5EF4-FFF2-40B4-BE49-F238E27FC236}">
                    <a16:creationId xmlns:a16="http://schemas.microsoft.com/office/drawing/2014/main" id="{EF02DAB4-9BD5-8F7A-BA87-318D3E91F6C1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00" name="Retângulo 99">
              <a:extLst>
                <a:ext uri="{FF2B5EF4-FFF2-40B4-BE49-F238E27FC236}">
                  <a16:creationId xmlns:a16="http://schemas.microsoft.com/office/drawing/2014/main" id="{D993783E-656B-0AE4-E0FA-4EC492BBA24F}"/>
                </a:ext>
              </a:extLst>
            </p:cNvPr>
            <p:cNvSpPr/>
            <p:nvPr/>
          </p:nvSpPr>
          <p:spPr>
            <a:xfrm>
              <a:off x="10444717" y="4401237"/>
              <a:ext cx="2255620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:a16="http://schemas.microsoft.com/office/drawing/2014/main" id="{47F5026B-9D46-15C8-D2BC-7C7D85A08717}"/>
              </a:ext>
            </a:extLst>
          </p:cNvPr>
          <p:cNvSpPr txBox="1"/>
          <p:nvPr/>
        </p:nvSpPr>
        <p:spPr>
          <a:xfrm>
            <a:off x="2298188" y="4743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id="{1D2900C2-AB82-B811-AA58-4352203E2D3A}"/>
              </a:ext>
            </a:extLst>
          </p:cNvPr>
          <p:cNvSpPr txBox="1"/>
          <p:nvPr/>
        </p:nvSpPr>
        <p:spPr>
          <a:xfrm>
            <a:off x="6225723" y="4747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</p:spTree>
    <p:extLst>
      <p:ext uri="{BB962C8B-B14F-4D97-AF65-F5344CB8AC3E}">
        <p14:creationId xmlns:p14="http://schemas.microsoft.com/office/powerpoint/2010/main" val="238340741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Na segunda figura, a </a:t>
            </a:r>
            <a:r>
              <a:rPr lang="pt-BR" b="1" i="1" dirty="0"/>
              <a:t>flexibilidade excessiva </a:t>
            </a:r>
            <a:r>
              <a:rPr lang="pt-BR" dirty="0"/>
              <a:t>do polinômio (i.e., ordem elevada) dá origem a contorções na </a:t>
            </a:r>
            <a:r>
              <a:rPr lang="pt-BR" b="1" i="1" dirty="0"/>
              <a:t>fronteira de decisão </a:t>
            </a:r>
            <a:r>
              <a:rPr lang="pt-BR" dirty="0"/>
              <a:t>na tentativa de </a:t>
            </a:r>
            <a:r>
              <a:rPr lang="pt-BR" b="1" i="1" dirty="0">
                <a:solidFill>
                  <a:srgbClr val="7030A0"/>
                </a:solidFill>
              </a:rPr>
              <a:t>minimizar o erro</a:t>
            </a:r>
            <a:r>
              <a:rPr lang="pt-BR" dirty="0"/>
              <a:t> de classificação </a:t>
            </a:r>
            <a:r>
              <a:rPr lang="pt-BR" b="1" i="1" dirty="0">
                <a:solidFill>
                  <a:srgbClr val="7030A0"/>
                </a:solidFill>
              </a:rPr>
              <a:t>junto aos dados de treinamento</a:t>
            </a:r>
            <a:r>
              <a:rPr lang="pt-BR" dirty="0"/>
              <a:t>.</a:t>
            </a:r>
          </a:p>
          <a:p>
            <a:r>
              <a:rPr lang="pt-BR" dirty="0"/>
              <a:t>Porém, o classificador cometerá muitos erros para dados inéditos, ou seja, </a:t>
            </a:r>
            <a:r>
              <a:rPr lang="pt-BR" b="1" i="1" dirty="0">
                <a:solidFill>
                  <a:srgbClr val="FF0000"/>
                </a:solidFill>
              </a:rPr>
              <a:t>não irá generalizar bem</a:t>
            </a:r>
            <a:r>
              <a:rPr lang="pt-BR" dirty="0"/>
              <a:t>.</a:t>
            </a:r>
          </a:p>
          <a:p>
            <a:r>
              <a:rPr lang="pt-BR" dirty="0"/>
              <a:t>Nesse caso o classificador apresenta </a:t>
            </a:r>
            <a:r>
              <a:rPr lang="pt-BR" b="1" i="1" dirty="0">
                <a:solidFill>
                  <a:srgbClr val="00B050"/>
                </a:solidFill>
              </a:rPr>
              <a:t>erro de treinamento muito baixo </a:t>
            </a:r>
            <a:r>
              <a:rPr lang="pt-BR" dirty="0"/>
              <a:t>e </a:t>
            </a:r>
            <a:r>
              <a:rPr lang="pt-BR" b="1" i="1" dirty="0">
                <a:solidFill>
                  <a:srgbClr val="FF0000"/>
                </a:solidFill>
              </a:rPr>
              <a:t>erro de</a:t>
            </a:r>
            <a:r>
              <a:rPr lang="pt-BR" dirty="0"/>
              <a:t> </a:t>
            </a:r>
            <a:r>
              <a:rPr lang="pt-BR" b="1" i="1" dirty="0">
                <a:solidFill>
                  <a:srgbClr val="FF0000"/>
                </a:solidFill>
              </a:rPr>
              <a:t>teste muito alto</a:t>
            </a:r>
            <a:r>
              <a:rPr lang="pt-BR" dirty="0"/>
              <a:t>.</a:t>
            </a:r>
          </a:p>
        </p:txBody>
      </p:sp>
      <p:grpSp>
        <p:nvGrpSpPr>
          <p:cNvPr id="4" name="Group 50">
            <a:extLst>
              <a:ext uri="{FF2B5EF4-FFF2-40B4-BE49-F238E27FC236}">
                <a16:creationId xmlns:a16="http://schemas.microsoft.com/office/drawing/2014/main" id="{AAC33CC3-B566-0A22-6D7F-4A7086BDBE56}"/>
              </a:ext>
            </a:extLst>
          </p:cNvPr>
          <p:cNvGrpSpPr/>
          <p:nvPr/>
        </p:nvGrpSpPr>
        <p:grpSpPr>
          <a:xfrm>
            <a:off x="1028041" y="478247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:a16="http://schemas.microsoft.com/office/drawing/2014/main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:a16="http://schemas.microsoft.com/office/drawing/2014/main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:a16="http://schemas.microsoft.com/office/drawing/2014/main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:a16="http://schemas.microsoft.com/office/drawing/2014/main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:a16="http://schemas.microsoft.com/office/drawing/2014/main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:a16="http://schemas.microsoft.com/office/drawing/2014/main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:a16="http://schemas.microsoft.com/office/drawing/2014/main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:a16="http://schemas.microsoft.com/office/drawing/2014/main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:a16="http://schemas.microsoft.com/office/drawing/2014/main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:a16="http://schemas.microsoft.com/office/drawing/2014/main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:a16="http://schemas.microsoft.com/office/drawing/2014/main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:a16="http://schemas.microsoft.com/office/drawing/2014/main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:a16="http://schemas.microsoft.com/office/drawing/2014/main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:a16="http://schemas.microsoft.com/office/drawing/2014/main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:a16="http://schemas.microsoft.com/office/drawing/2014/main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:a16="http://schemas.microsoft.com/office/drawing/2014/main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:a16="http://schemas.microsoft.com/office/drawing/2014/main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:a16="http://schemas.microsoft.com/office/drawing/2014/main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:a16="http://schemas.microsoft.com/office/drawing/2014/main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:a16="http://schemas.microsoft.com/office/drawing/2014/main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:a16="http://schemas.microsoft.com/office/drawing/2014/main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:a16="http://schemas.microsoft.com/office/drawing/2014/main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:a16="http://schemas.microsoft.com/office/drawing/2014/main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:a16="http://schemas.microsoft.com/office/drawing/2014/main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:a16="http://schemas.microsoft.com/office/drawing/2014/main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:a16="http://schemas.microsoft.com/office/drawing/2014/main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:a16="http://schemas.microsoft.com/office/drawing/2014/main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:a16="http://schemas.microsoft.com/office/drawing/2014/main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:a16="http://schemas.microsoft.com/office/drawing/2014/main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:a16="http://schemas.microsoft.com/office/drawing/2014/main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:a16="http://schemas.microsoft.com/office/drawing/2014/main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:a16="http://schemas.microsoft.com/office/drawing/2014/main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:a16="http://schemas.microsoft.com/office/drawing/2014/main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:a16="http://schemas.microsoft.com/office/drawing/2014/main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:a16="http://schemas.microsoft.com/office/drawing/2014/main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:a16="http://schemas.microsoft.com/office/drawing/2014/main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:a16="http://schemas.microsoft.com/office/drawing/2014/main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:a16="http://schemas.microsoft.com/office/drawing/2014/main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:a16="http://schemas.microsoft.com/office/drawing/2014/main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:a16="http://schemas.microsoft.com/office/drawing/2014/main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:a16="http://schemas.microsoft.com/office/drawing/2014/main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:a16="http://schemas.microsoft.com/office/drawing/2014/main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:a16="http://schemas.microsoft.com/office/drawing/2014/main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:a16="http://schemas.microsoft.com/office/drawing/2014/main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:a16="http://schemas.microsoft.com/office/drawing/2014/main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:a16="http://schemas.microsoft.com/office/drawing/2014/main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:a16="http://schemas.microsoft.com/office/drawing/2014/main" id="{4428BBD2-C403-E0F2-42F0-FB45BB9BA997}"/>
              </a:ext>
            </a:extLst>
          </p:cNvPr>
          <p:cNvGrpSpPr/>
          <p:nvPr/>
        </p:nvGrpSpPr>
        <p:grpSpPr>
          <a:xfrm>
            <a:off x="4968566" y="4759121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:a16="http://schemas.microsoft.com/office/drawing/2014/main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:a16="http://schemas.microsoft.com/office/drawing/2014/main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:a16="http://schemas.microsoft.com/office/drawing/2014/main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:a16="http://schemas.microsoft.com/office/drawing/2014/main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:a16="http://schemas.microsoft.com/office/drawing/2014/main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:a16="http://schemas.microsoft.com/office/drawing/2014/main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:a16="http://schemas.microsoft.com/office/drawing/2014/main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:a16="http://schemas.microsoft.com/office/drawing/2014/main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:a16="http://schemas.microsoft.com/office/drawing/2014/main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:a16="http://schemas.microsoft.com/office/drawing/2014/main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:a16="http://schemas.microsoft.com/office/drawing/2014/main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:a16="http://schemas.microsoft.com/office/drawing/2014/main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:a16="http://schemas.microsoft.com/office/drawing/2014/main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:a16="http://schemas.microsoft.com/office/drawing/2014/main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:a16="http://schemas.microsoft.com/office/drawing/2014/main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:a16="http://schemas.microsoft.com/office/drawing/2014/main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:a16="http://schemas.microsoft.com/office/drawing/2014/main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:a16="http://schemas.microsoft.com/office/drawing/2014/main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:a16="http://schemas.microsoft.com/office/drawing/2014/main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:a16="http://schemas.microsoft.com/office/drawing/2014/main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:a16="http://schemas.microsoft.com/office/drawing/2014/main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:a16="http://schemas.microsoft.com/office/drawing/2014/main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:a16="http://schemas.microsoft.com/office/drawing/2014/main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:a16="http://schemas.microsoft.com/office/drawing/2014/main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:a16="http://schemas.microsoft.com/office/drawing/2014/main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:a16="http://schemas.microsoft.com/office/drawing/2014/main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:a16="http://schemas.microsoft.com/office/drawing/2014/main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:a16="http://schemas.microsoft.com/office/drawing/2014/main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:a16="http://schemas.microsoft.com/office/drawing/2014/main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:a16="http://schemas.microsoft.com/office/drawing/2014/main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:a16="http://schemas.microsoft.com/office/drawing/2014/main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:a16="http://schemas.microsoft.com/office/drawing/2014/main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:a16="http://schemas.microsoft.com/office/drawing/2014/main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:a16="http://schemas.microsoft.com/office/drawing/2014/main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:a16="http://schemas.microsoft.com/office/drawing/2014/main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:a16="http://schemas.microsoft.com/office/drawing/2014/main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:a16="http://schemas.microsoft.com/office/drawing/2014/main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:a16="http://schemas.microsoft.com/office/drawing/2014/main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:a16="http://schemas.microsoft.com/office/drawing/2014/main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:a16="http://schemas.microsoft.com/office/drawing/2014/main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:a16="http://schemas.microsoft.com/office/drawing/2014/main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:a16="http://schemas.microsoft.com/office/drawing/2014/main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:a16="http://schemas.microsoft.com/office/drawing/2014/main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:a16="http://schemas.microsoft.com/office/drawing/2014/main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:a16="http://schemas.microsoft.com/office/drawing/2014/main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:a16="http://schemas.microsoft.com/office/drawing/2014/main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:a16="http://schemas.microsoft.com/office/drawing/2014/main" id="{47F5026B-9D46-15C8-D2BC-7C7D85A08717}"/>
              </a:ext>
            </a:extLst>
          </p:cNvPr>
          <p:cNvSpPr txBox="1"/>
          <p:nvPr/>
        </p:nvSpPr>
        <p:spPr>
          <a:xfrm>
            <a:off x="2298188" y="4883783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id="{1D2900C2-AB82-B811-AA58-4352203E2D3A}"/>
              </a:ext>
            </a:extLst>
          </p:cNvPr>
          <p:cNvSpPr txBox="1"/>
          <p:nvPr/>
        </p:nvSpPr>
        <p:spPr>
          <a:xfrm>
            <a:off x="6225723" y="4877775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149" name="Agrupar 148">
            <a:extLst>
              <a:ext uri="{FF2B5EF4-FFF2-40B4-BE49-F238E27FC236}">
                <a16:creationId xmlns:a16="http://schemas.microsoft.com/office/drawing/2014/main" id="{B709F5F5-D010-140C-54BC-ECD9C9D3BDAC}"/>
              </a:ext>
            </a:extLst>
          </p:cNvPr>
          <p:cNvGrpSpPr/>
          <p:nvPr/>
        </p:nvGrpSpPr>
        <p:grpSpPr>
          <a:xfrm>
            <a:off x="9002294" y="4577699"/>
            <a:ext cx="3151778" cy="2231772"/>
            <a:chOff x="9487183" y="4506280"/>
            <a:chExt cx="3151778" cy="2231772"/>
          </a:xfrm>
        </p:grpSpPr>
        <p:grpSp>
          <p:nvGrpSpPr>
            <p:cNvPr id="150" name="Group 3">
              <a:extLst>
                <a:ext uri="{FF2B5EF4-FFF2-40B4-BE49-F238E27FC236}">
                  <a16:creationId xmlns:a16="http://schemas.microsoft.com/office/drawing/2014/main" id="{AB792365-752F-4BAA-9C4C-B184E03C398D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52" name="Straight Connector 4">
                <a:extLst>
                  <a:ext uri="{FF2B5EF4-FFF2-40B4-BE49-F238E27FC236}">
                    <a16:creationId xmlns:a16="http://schemas.microsoft.com/office/drawing/2014/main" id="{8AEF7EF4-C8E2-9025-0F73-D343985CED93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Straight Connector 5">
                <a:extLst>
                  <a:ext uri="{FF2B5EF4-FFF2-40B4-BE49-F238E27FC236}">
                    <a16:creationId xmlns:a16="http://schemas.microsoft.com/office/drawing/2014/main" id="{D0DB9A6C-C2C3-D1E0-888E-5529087456ED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4" name="TextBox 6">
                    <a:extLst>
                      <a:ext uri="{FF2B5EF4-FFF2-40B4-BE49-F238E27FC236}">
                        <a16:creationId xmlns:a16="http://schemas.microsoft.com/office/drawing/2014/main" id="{9226C786-A614-1FFF-E435-EF9EE0E3BDB5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5" name="TextBox 7">
                    <a:extLst>
                      <a:ext uri="{FF2B5EF4-FFF2-40B4-BE49-F238E27FC236}">
                        <a16:creationId xmlns:a16="http://schemas.microsoft.com/office/drawing/2014/main" id="{A7AE877B-7096-7D6A-52D9-0821CEEA5501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6" name="Oval 8">
                <a:extLst>
                  <a:ext uri="{FF2B5EF4-FFF2-40B4-BE49-F238E27FC236}">
                    <a16:creationId xmlns:a16="http://schemas.microsoft.com/office/drawing/2014/main" id="{33E38761-B1F8-28E0-C42E-B9D122E3DDE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7" name="Oval 9">
                <a:extLst>
                  <a:ext uri="{FF2B5EF4-FFF2-40B4-BE49-F238E27FC236}">
                    <a16:creationId xmlns:a16="http://schemas.microsoft.com/office/drawing/2014/main" id="{E60899A5-5DA9-D7A1-35C6-C0FE827771E8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8" name="Oval 10">
                <a:extLst>
                  <a:ext uri="{FF2B5EF4-FFF2-40B4-BE49-F238E27FC236}">
                    <a16:creationId xmlns:a16="http://schemas.microsoft.com/office/drawing/2014/main" id="{4D02DCA5-B9D9-ADA8-0657-7E822EFBD9E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9" name="Oval 11">
                <a:extLst>
                  <a:ext uri="{FF2B5EF4-FFF2-40B4-BE49-F238E27FC236}">
                    <a16:creationId xmlns:a16="http://schemas.microsoft.com/office/drawing/2014/main" id="{BA4C184D-6569-B044-163D-A6248645074A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0" name="Oval 12">
                <a:extLst>
                  <a:ext uri="{FF2B5EF4-FFF2-40B4-BE49-F238E27FC236}">
                    <a16:creationId xmlns:a16="http://schemas.microsoft.com/office/drawing/2014/main" id="{CE3E37AE-2361-A2C9-9B2E-539168A7485A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1" name="Oval 13">
                <a:extLst>
                  <a:ext uri="{FF2B5EF4-FFF2-40B4-BE49-F238E27FC236}">
                    <a16:creationId xmlns:a16="http://schemas.microsoft.com/office/drawing/2014/main" id="{A1A824E5-D887-DE7B-96A8-350B2E5EC90E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2" name="Oval 14">
                <a:extLst>
                  <a:ext uri="{FF2B5EF4-FFF2-40B4-BE49-F238E27FC236}">
                    <a16:creationId xmlns:a16="http://schemas.microsoft.com/office/drawing/2014/main" id="{79AF25B6-5BAB-77F1-3BA4-38D16A85E1BB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3" name="Oval 15">
                <a:extLst>
                  <a:ext uri="{FF2B5EF4-FFF2-40B4-BE49-F238E27FC236}">
                    <a16:creationId xmlns:a16="http://schemas.microsoft.com/office/drawing/2014/main" id="{E35BE1B7-BEDC-43DD-5F47-C47BEBF516EE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4" name="Oval 16">
                <a:extLst>
                  <a:ext uri="{FF2B5EF4-FFF2-40B4-BE49-F238E27FC236}">
                    <a16:creationId xmlns:a16="http://schemas.microsoft.com/office/drawing/2014/main" id="{477E1B4C-E42D-4763-10F9-3E0F9496FE6B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5" name="Oval 17">
                <a:extLst>
                  <a:ext uri="{FF2B5EF4-FFF2-40B4-BE49-F238E27FC236}">
                    <a16:creationId xmlns:a16="http://schemas.microsoft.com/office/drawing/2014/main" id="{81C69D5A-11B3-C872-0341-EF4ED5FE1ED0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6" name="Oval 18">
                <a:extLst>
                  <a:ext uri="{FF2B5EF4-FFF2-40B4-BE49-F238E27FC236}">
                    <a16:creationId xmlns:a16="http://schemas.microsoft.com/office/drawing/2014/main" id="{24B9C5FC-2A2E-A993-B176-99CC6CEE56A9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7" name="Oval 19">
                <a:extLst>
                  <a:ext uri="{FF2B5EF4-FFF2-40B4-BE49-F238E27FC236}">
                    <a16:creationId xmlns:a16="http://schemas.microsoft.com/office/drawing/2014/main" id="{E8B38059-E292-EA8F-2239-F0B95C55540A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8" name="Oval 20">
                <a:extLst>
                  <a:ext uri="{FF2B5EF4-FFF2-40B4-BE49-F238E27FC236}">
                    <a16:creationId xmlns:a16="http://schemas.microsoft.com/office/drawing/2014/main" id="{C3121AB0-BF07-7F05-E180-11010A5FB0E3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9" name="Oval 21">
                <a:extLst>
                  <a:ext uri="{FF2B5EF4-FFF2-40B4-BE49-F238E27FC236}">
                    <a16:creationId xmlns:a16="http://schemas.microsoft.com/office/drawing/2014/main" id="{092A8682-0FEF-BD8D-9E42-F775EC0F7A63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0" name="Oval 22">
                <a:extLst>
                  <a:ext uri="{FF2B5EF4-FFF2-40B4-BE49-F238E27FC236}">
                    <a16:creationId xmlns:a16="http://schemas.microsoft.com/office/drawing/2014/main" id="{B28CEF66-621F-8E66-A286-4FDC907ACA55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1" name="Oval 23">
                <a:extLst>
                  <a:ext uri="{FF2B5EF4-FFF2-40B4-BE49-F238E27FC236}">
                    <a16:creationId xmlns:a16="http://schemas.microsoft.com/office/drawing/2014/main" id="{A100062C-D2DA-A3B9-45AB-2D7D32B3896F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2" name="Oval 24">
                <a:extLst>
                  <a:ext uri="{FF2B5EF4-FFF2-40B4-BE49-F238E27FC236}">
                    <a16:creationId xmlns:a16="http://schemas.microsoft.com/office/drawing/2014/main" id="{E2FB1A37-7AFD-300E-35A7-44A5D09A3977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3" name="Oval 25">
                <a:extLst>
                  <a:ext uri="{FF2B5EF4-FFF2-40B4-BE49-F238E27FC236}">
                    <a16:creationId xmlns:a16="http://schemas.microsoft.com/office/drawing/2014/main" id="{B154C988-DF0C-AB44-22FB-79B0AC600080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4" name="Oval 26">
                <a:extLst>
                  <a:ext uri="{FF2B5EF4-FFF2-40B4-BE49-F238E27FC236}">
                    <a16:creationId xmlns:a16="http://schemas.microsoft.com/office/drawing/2014/main" id="{9909C57C-258A-326C-08BF-2E2A82D6E9F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5" name="Oval 27">
                <a:extLst>
                  <a:ext uri="{FF2B5EF4-FFF2-40B4-BE49-F238E27FC236}">
                    <a16:creationId xmlns:a16="http://schemas.microsoft.com/office/drawing/2014/main" id="{1D4BF54C-F15F-A28D-D7D4-A0079120367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6" name="Multiply 28">
                <a:extLst>
                  <a:ext uri="{FF2B5EF4-FFF2-40B4-BE49-F238E27FC236}">
                    <a16:creationId xmlns:a16="http://schemas.microsoft.com/office/drawing/2014/main" id="{3F6656AB-9290-5B48-AE96-C07D85094FA7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7" name="Multiply 29">
                <a:extLst>
                  <a:ext uri="{FF2B5EF4-FFF2-40B4-BE49-F238E27FC236}">
                    <a16:creationId xmlns:a16="http://schemas.microsoft.com/office/drawing/2014/main" id="{FD60D1F2-561E-933B-C090-5712EE246864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8" name="Multiply 30">
                <a:extLst>
                  <a:ext uri="{FF2B5EF4-FFF2-40B4-BE49-F238E27FC236}">
                    <a16:creationId xmlns:a16="http://schemas.microsoft.com/office/drawing/2014/main" id="{A7FFB01D-4D6B-3562-0A6F-0539E574A6B7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9" name="Multiply 31">
                <a:extLst>
                  <a:ext uri="{FF2B5EF4-FFF2-40B4-BE49-F238E27FC236}">
                    <a16:creationId xmlns:a16="http://schemas.microsoft.com/office/drawing/2014/main" id="{B463B717-F694-E44E-A842-9B7E0713F9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0" name="Multiply 32">
                <a:extLst>
                  <a:ext uri="{FF2B5EF4-FFF2-40B4-BE49-F238E27FC236}">
                    <a16:creationId xmlns:a16="http://schemas.microsoft.com/office/drawing/2014/main" id="{87718451-5827-F63D-27F8-A6720EB38ABB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1" name="Multiply 33">
                <a:extLst>
                  <a:ext uri="{FF2B5EF4-FFF2-40B4-BE49-F238E27FC236}">
                    <a16:creationId xmlns:a16="http://schemas.microsoft.com/office/drawing/2014/main" id="{682562FC-827C-1765-A5CB-D2910EA9AA48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2" name="Multiply 34">
                <a:extLst>
                  <a:ext uri="{FF2B5EF4-FFF2-40B4-BE49-F238E27FC236}">
                    <a16:creationId xmlns:a16="http://schemas.microsoft.com/office/drawing/2014/main" id="{0B3FC1BB-6DF3-E297-1012-3C706C263B09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3" name="Oval 35">
                <a:extLst>
                  <a:ext uri="{FF2B5EF4-FFF2-40B4-BE49-F238E27FC236}">
                    <a16:creationId xmlns:a16="http://schemas.microsoft.com/office/drawing/2014/main" id="{54C8198E-A0CF-7980-66D9-E4561D57ECC0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4" name="Oval 36">
                <a:extLst>
                  <a:ext uri="{FF2B5EF4-FFF2-40B4-BE49-F238E27FC236}">
                    <a16:creationId xmlns:a16="http://schemas.microsoft.com/office/drawing/2014/main" id="{7CC9821A-184B-A2E3-A34E-FB92FCCAD3FE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5" name="Oval 37">
                <a:extLst>
                  <a:ext uri="{FF2B5EF4-FFF2-40B4-BE49-F238E27FC236}">
                    <a16:creationId xmlns:a16="http://schemas.microsoft.com/office/drawing/2014/main" id="{D2E9CE2F-7685-B870-D89C-172B0EF21E42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6" name="Multiply 38">
                <a:extLst>
                  <a:ext uri="{FF2B5EF4-FFF2-40B4-BE49-F238E27FC236}">
                    <a16:creationId xmlns:a16="http://schemas.microsoft.com/office/drawing/2014/main" id="{2B52FB2F-6FEB-ECA5-0307-0B3A7EB6509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7" name="Multiply 39">
                <a:extLst>
                  <a:ext uri="{FF2B5EF4-FFF2-40B4-BE49-F238E27FC236}">
                    <a16:creationId xmlns:a16="http://schemas.microsoft.com/office/drawing/2014/main" id="{9B99DD54-32A0-38E7-0880-C4EB290C4DDF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8" name="Multiply 40">
                <a:extLst>
                  <a:ext uri="{FF2B5EF4-FFF2-40B4-BE49-F238E27FC236}">
                    <a16:creationId xmlns:a16="http://schemas.microsoft.com/office/drawing/2014/main" id="{F280C803-EB38-1705-8398-9746F2851489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9" name="Multiply 41">
                <a:extLst>
                  <a:ext uri="{FF2B5EF4-FFF2-40B4-BE49-F238E27FC236}">
                    <a16:creationId xmlns:a16="http://schemas.microsoft.com/office/drawing/2014/main" id="{E08C1E28-5A7D-FE74-1118-F92C672167B5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0" name="Multiply 42">
                <a:extLst>
                  <a:ext uri="{FF2B5EF4-FFF2-40B4-BE49-F238E27FC236}">
                    <a16:creationId xmlns:a16="http://schemas.microsoft.com/office/drawing/2014/main" id="{31AA7847-F217-38A0-E85F-29B3CD387758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1" name="Multiply 43">
                <a:extLst>
                  <a:ext uri="{FF2B5EF4-FFF2-40B4-BE49-F238E27FC236}">
                    <a16:creationId xmlns:a16="http://schemas.microsoft.com/office/drawing/2014/main" id="{7F009730-A0AB-D1BD-DB01-C8E1C29E5FEE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2" name="Multiply 44">
                <a:extLst>
                  <a:ext uri="{FF2B5EF4-FFF2-40B4-BE49-F238E27FC236}">
                    <a16:creationId xmlns:a16="http://schemas.microsoft.com/office/drawing/2014/main" id="{4B29034B-900A-E1B2-D1FF-AE1BF9AF13E7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3" name="Multiply 45">
                <a:extLst>
                  <a:ext uri="{FF2B5EF4-FFF2-40B4-BE49-F238E27FC236}">
                    <a16:creationId xmlns:a16="http://schemas.microsoft.com/office/drawing/2014/main" id="{B41E03E0-6F3E-007D-CB4E-5CBC0B3D7B26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4" name="Multiply 46">
                <a:extLst>
                  <a:ext uri="{FF2B5EF4-FFF2-40B4-BE49-F238E27FC236}">
                    <a16:creationId xmlns:a16="http://schemas.microsoft.com/office/drawing/2014/main" id="{6352AA55-D841-6E0D-119F-8443FCF9F3FA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5" name="Multiply 47">
                <a:extLst>
                  <a:ext uri="{FF2B5EF4-FFF2-40B4-BE49-F238E27FC236}">
                    <a16:creationId xmlns:a16="http://schemas.microsoft.com/office/drawing/2014/main" id="{AD5ECDEC-E8D9-0B0D-2AE3-C179D39008EB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6" name="Multiply 48">
                <a:extLst>
                  <a:ext uri="{FF2B5EF4-FFF2-40B4-BE49-F238E27FC236}">
                    <a16:creationId xmlns:a16="http://schemas.microsoft.com/office/drawing/2014/main" id="{5865E19B-52B0-4231-CC53-6A279EFF683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7" name="Freeform 49">
                <a:extLst>
                  <a:ext uri="{FF2B5EF4-FFF2-40B4-BE49-F238E27FC236}">
                    <a16:creationId xmlns:a16="http://schemas.microsoft.com/office/drawing/2014/main" id="{0F4C3783-F2F8-74AF-47CE-AEBAA9AA9B83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51" name="Retângulo 150">
              <a:extLst>
                <a:ext uri="{FF2B5EF4-FFF2-40B4-BE49-F238E27FC236}">
                  <a16:creationId xmlns:a16="http://schemas.microsoft.com/office/drawing/2014/main" id="{F412AD0E-B6FE-48A9-2E60-A151396B0E54}"/>
                </a:ext>
              </a:extLst>
            </p:cNvPr>
            <p:cNvSpPr/>
            <p:nvPr/>
          </p:nvSpPr>
          <p:spPr>
            <a:xfrm>
              <a:off x="10323051" y="4506280"/>
              <a:ext cx="2315910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85888210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Já a última figura mostra o que seria uma boa </a:t>
            </a:r>
            <a:r>
              <a:rPr lang="pt-BR" b="1" i="1" dirty="0"/>
              <a:t>hipótese de classificação</a:t>
            </a:r>
            <a:r>
              <a:rPr lang="pt-BR" dirty="0"/>
              <a:t>.</a:t>
            </a:r>
          </a:p>
          <a:p>
            <a:r>
              <a:rPr lang="pt-BR" dirty="0"/>
              <a:t>O polinômio apresenta uma </a:t>
            </a:r>
            <a:r>
              <a:rPr lang="pt-BR" b="1" i="1" dirty="0">
                <a:solidFill>
                  <a:srgbClr val="00B050"/>
                </a:solidFill>
              </a:rPr>
              <a:t>boa relação de compromisso </a:t>
            </a:r>
            <a:r>
              <a:rPr lang="pt-BR" dirty="0"/>
              <a:t>entre a </a:t>
            </a:r>
            <a:r>
              <a:rPr lang="pt-BR" b="1" i="1" dirty="0">
                <a:solidFill>
                  <a:srgbClr val="00B050"/>
                </a:solidFill>
              </a:rPr>
              <a:t>flexibilidade</a:t>
            </a:r>
            <a:r>
              <a:rPr lang="pt-BR" dirty="0"/>
              <a:t> e a </a:t>
            </a:r>
            <a:r>
              <a:rPr lang="pt-BR" b="1" i="1" dirty="0">
                <a:solidFill>
                  <a:srgbClr val="00B050"/>
                </a:solidFill>
              </a:rPr>
              <a:t>capacidade de generalização</a:t>
            </a:r>
            <a:r>
              <a:rPr lang="pt-BR" dirty="0"/>
              <a:t>.</a:t>
            </a:r>
          </a:p>
          <a:p>
            <a:r>
              <a:rPr lang="pt-BR" dirty="0"/>
              <a:t>Os erros nos conjuntos de treinamento e de teste seriam </a:t>
            </a:r>
            <a:r>
              <a:rPr lang="pt-BR" b="1" i="1" dirty="0">
                <a:solidFill>
                  <a:srgbClr val="00B050"/>
                </a:solidFill>
              </a:rPr>
              <a:t>baixos e próximos</a:t>
            </a:r>
            <a:r>
              <a:rPr lang="pt-BR" dirty="0"/>
              <a:t>.</a:t>
            </a:r>
          </a:p>
        </p:txBody>
      </p:sp>
      <p:grpSp>
        <p:nvGrpSpPr>
          <p:cNvPr id="4" name="Group 50">
            <a:extLst>
              <a:ext uri="{FF2B5EF4-FFF2-40B4-BE49-F238E27FC236}">
                <a16:creationId xmlns:a16="http://schemas.microsoft.com/office/drawing/2014/main" id="{AAC33CC3-B566-0A22-6D7F-4A7086BDBE56}"/>
              </a:ext>
            </a:extLst>
          </p:cNvPr>
          <p:cNvGrpSpPr/>
          <p:nvPr/>
        </p:nvGrpSpPr>
        <p:grpSpPr>
          <a:xfrm>
            <a:off x="1028041" y="468199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:a16="http://schemas.microsoft.com/office/drawing/2014/main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:a16="http://schemas.microsoft.com/office/drawing/2014/main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:a16="http://schemas.microsoft.com/office/drawing/2014/main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:a16="http://schemas.microsoft.com/office/drawing/2014/main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:a16="http://schemas.microsoft.com/office/drawing/2014/main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:a16="http://schemas.microsoft.com/office/drawing/2014/main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:a16="http://schemas.microsoft.com/office/drawing/2014/main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:a16="http://schemas.microsoft.com/office/drawing/2014/main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:a16="http://schemas.microsoft.com/office/drawing/2014/main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:a16="http://schemas.microsoft.com/office/drawing/2014/main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:a16="http://schemas.microsoft.com/office/drawing/2014/main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:a16="http://schemas.microsoft.com/office/drawing/2014/main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:a16="http://schemas.microsoft.com/office/drawing/2014/main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:a16="http://schemas.microsoft.com/office/drawing/2014/main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:a16="http://schemas.microsoft.com/office/drawing/2014/main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:a16="http://schemas.microsoft.com/office/drawing/2014/main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:a16="http://schemas.microsoft.com/office/drawing/2014/main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:a16="http://schemas.microsoft.com/office/drawing/2014/main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:a16="http://schemas.microsoft.com/office/drawing/2014/main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:a16="http://schemas.microsoft.com/office/drawing/2014/main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:a16="http://schemas.microsoft.com/office/drawing/2014/main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:a16="http://schemas.microsoft.com/office/drawing/2014/main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:a16="http://schemas.microsoft.com/office/drawing/2014/main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:a16="http://schemas.microsoft.com/office/drawing/2014/main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:a16="http://schemas.microsoft.com/office/drawing/2014/main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:a16="http://schemas.microsoft.com/office/drawing/2014/main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:a16="http://schemas.microsoft.com/office/drawing/2014/main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:a16="http://schemas.microsoft.com/office/drawing/2014/main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:a16="http://schemas.microsoft.com/office/drawing/2014/main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:a16="http://schemas.microsoft.com/office/drawing/2014/main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:a16="http://schemas.microsoft.com/office/drawing/2014/main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:a16="http://schemas.microsoft.com/office/drawing/2014/main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:a16="http://schemas.microsoft.com/office/drawing/2014/main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:a16="http://schemas.microsoft.com/office/drawing/2014/main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:a16="http://schemas.microsoft.com/office/drawing/2014/main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:a16="http://schemas.microsoft.com/office/drawing/2014/main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:a16="http://schemas.microsoft.com/office/drawing/2014/main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:a16="http://schemas.microsoft.com/office/drawing/2014/main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:a16="http://schemas.microsoft.com/office/drawing/2014/main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:a16="http://schemas.microsoft.com/office/drawing/2014/main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:a16="http://schemas.microsoft.com/office/drawing/2014/main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:a16="http://schemas.microsoft.com/office/drawing/2014/main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:a16="http://schemas.microsoft.com/office/drawing/2014/main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:a16="http://schemas.microsoft.com/office/drawing/2014/main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:a16="http://schemas.microsoft.com/office/drawing/2014/main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:a16="http://schemas.microsoft.com/office/drawing/2014/main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:a16="http://schemas.microsoft.com/office/drawing/2014/main" id="{4428BBD2-C403-E0F2-42F0-FB45BB9BA997}"/>
              </a:ext>
            </a:extLst>
          </p:cNvPr>
          <p:cNvGrpSpPr/>
          <p:nvPr/>
        </p:nvGrpSpPr>
        <p:grpSpPr>
          <a:xfrm>
            <a:off x="4968566" y="4648593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:a16="http://schemas.microsoft.com/office/drawing/2014/main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:a16="http://schemas.microsoft.com/office/drawing/2014/main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:a16="http://schemas.microsoft.com/office/drawing/2014/main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:a16="http://schemas.microsoft.com/office/drawing/2014/main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:a16="http://schemas.microsoft.com/office/drawing/2014/main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:a16="http://schemas.microsoft.com/office/drawing/2014/main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:a16="http://schemas.microsoft.com/office/drawing/2014/main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:a16="http://schemas.microsoft.com/office/drawing/2014/main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:a16="http://schemas.microsoft.com/office/drawing/2014/main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:a16="http://schemas.microsoft.com/office/drawing/2014/main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:a16="http://schemas.microsoft.com/office/drawing/2014/main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:a16="http://schemas.microsoft.com/office/drawing/2014/main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:a16="http://schemas.microsoft.com/office/drawing/2014/main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:a16="http://schemas.microsoft.com/office/drawing/2014/main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:a16="http://schemas.microsoft.com/office/drawing/2014/main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:a16="http://schemas.microsoft.com/office/drawing/2014/main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:a16="http://schemas.microsoft.com/office/drawing/2014/main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:a16="http://schemas.microsoft.com/office/drawing/2014/main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:a16="http://schemas.microsoft.com/office/drawing/2014/main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:a16="http://schemas.microsoft.com/office/drawing/2014/main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:a16="http://schemas.microsoft.com/office/drawing/2014/main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:a16="http://schemas.microsoft.com/office/drawing/2014/main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:a16="http://schemas.microsoft.com/office/drawing/2014/main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:a16="http://schemas.microsoft.com/office/drawing/2014/main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:a16="http://schemas.microsoft.com/office/drawing/2014/main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:a16="http://schemas.microsoft.com/office/drawing/2014/main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:a16="http://schemas.microsoft.com/office/drawing/2014/main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:a16="http://schemas.microsoft.com/office/drawing/2014/main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:a16="http://schemas.microsoft.com/office/drawing/2014/main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:a16="http://schemas.microsoft.com/office/drawing/2014/main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:a16="http://schemas.microsoft.com/office/drawing/2014/main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:a16="http://schemas.microsoft.com/office/drawing/2014/main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:a16="http://schemas.microsoft.com/office/drawing/2014/main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:a16="http://schemas.microsoft.com/office/drawing/2014/main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:a16="http://schemas.microsoft.com/office/drawing/2014/main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:a16="http://schemas.microsoft.com/office/drawing/2014/main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:a16="http://schemas.microsoft.com/office/drawing/2014/main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:a16="http://schemas.microsoft.com/office/drawing/2014/main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:a16="http://schemas.microsoft.com/office/drawing/2014/main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:a16="http://schemas.microsoft.com/office/drawing/2014/main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:a16="http://schemas.microsoft.com/office/drawing/2014/main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:a16="http://schemas.microsoft.com/office/drawing/2014/main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:a16="http://schemas.microsoft.com/office/drawing/2014/main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:a16="http://schemas.microsoft.com/office/drawing/2014/main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:a16="http://schemas.microsoft.com/office/drawing/2014/main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:a16="http://schemas.microsoft.com/office/drawing/2014/main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:a16="http://schemas.microsoft.com/office/drawing/2014/main" id="{47F5026B-9D46-15C8-D2BC-7C7D85A08717}"/>
              </a:ext>
            </a:extLst>
          </p:cNvPr>
          <p:cNvSpPr txBox="1"/>
          <p:nvPr/>
        </p:nvSpPr>
        <p:spPr>
          <a:xfrm>
            <a:off x="2298188" y="4743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id="{1D2900C2-AB82-B811-AA58-4352203E2D3A}"/>
              </a:ext>
            </a:extLst>
          </p:cNvPr>
          <p:cNvSpPr txBox="1"/>
          <p:nvPr/>
        </p:nvSpPr>
        <p:spPr>
          <a:xfrm>
            <a:off x="6225723" y="4747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149" name="Agrupar 148">
            <a:extLst>
              <a:ext uri="{FF2B5EF4-FFF2-40B4-BE49-F238E27FC236}">
                <a16:creationId xmlns:a16="http://schemas.microsoft.com/office/drawing/2014/main" id="{B709F5F5-D010-140C-54BC-ECD9C9D3BDAC}"/>
              </a:ext>
            </a:extLst>
          </p:cNvPr>
          <p:cNvGrpSpPr/>
          <p:nvPr/>
        </p:nvGrpSpPr>
        <p:grpSpPr>
          <a:xfrm>
            <a:off x="9002294" y="4452345"/>
            <a:ext cx="3181757" cy="2276742"/>
            <a:chOff x="9487183" y="4461310"/>
            <a:chExt cx="3181757" cy="2276742"/>
          </a:xfrm>
        </p:grpSpPr>
        <p:grpSp>
          <p:nvGrpSpPr>
            <p:cNvPr id="150" name="Group 3">
              <a:extLst>
                <a:ext uri="{FF2B5EF4-FFF2-40B4-BE49-F238E27FC236}">
                  <a16:creationId xmlns:a16="http://schemas.microsoft.com/office/drawing/2014/main" id="{AB792365-752F-4BAA-9C4C-B184E03C398D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52" name="Straight Connector 4">
                <a:extLst>
                  <a:ext uri="{FF2B5EF4-FFF2-40B4-BE49-F238E27FC236}">
                    <a16:creationId xmlns:a16="http://schemas.microsoft.com/office/drawing/2014/main" id="{8AEF7EF4-C8E2-9025-0F73-D343985CED93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Straight Connector 5">
                <a:extLst>
                  <a:ext uri="{FF2B5EF4-FFF2-40B4-BE49-F238E27FC236}">
                    <a16:creationId xmlns:a16="http://schemas.microsoft.com/office/drawing/2014/main" id="{D0DB9A6C-C2C3-D1E0-888E-5529087456ED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4" name="TextBox 6">
                    <a:extLst>
                      <a:ext uri="{FF2B5EF4-FFF2-40B4-BE49-F238E27FC236}">
                        <a16:creationId xmlns:a16="http://schemas.microsoft.com/office/drawing/2014/main" id="{9226C786-A614-1FFF-E435-EF9EE0E3BDB5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5" name="TextBox 7">
                    <a:extLst>
                      <a:ext uri="{FF2B5EF4-FFF2-40B4-BE49-F238E27FC236}">
                        <a16:creationId xmlns:a16="http://schemas.microsoft.com/office/drawing/2014/main" id="{A7AE877B-7096-7D6A-52D9-0821CEEA5501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6" name="Oval 8">
                <a:extLst>
                  <a:ext uri="{FF2B5EF4-FFF2-40B4-BE49-F238E27FC236}">
                    <a16:creationId xmlns:a16="http://schemas.microsoft.com/office/drawing/2014/main" id="{33E38761-B1F8-28E0-C42E-B9D122E3DDE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7" name="Oval 9">
                <a:extLst>
                  <a:ext uri="{FF2B5EF4-FFF2-40B4-BE49-F238E27FC236}">
                    <a16:creationId xmlns:a16="http://schemas.microsoft.com/office/drawing/2014/main" id="{E60899A5-5DA9-D7A1-35C6-C0FE827771E8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8" name="Oval 10">
                <a:extLst>
                  <a:ext uri="{FF2B5EF4-FFF2-40B4-BE49-F238E27FC236}">
                    <a16:creationId xmlns:a16="http://schemas.microsoft.com/office/drawing/2014/main" id="{4D02DCA5-B9D9-ADA8-0657-7E822EFBD9E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9" name="Oval 11">
                <a:extLst>
                  <a:ext uri="{FF2B5EF4-FFF2-40B4-BE49-F238E27FC236}">
                    <a16:creationId xmlns:a16="http://schemas.microsoft.com/office/drawing/2014/main" id="{BA4C184D-6569-B044-163D-A6248645074A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0" name="Oval 12">
                <a:extLst>
                  <a:ext uri="{FF2B5EF4-FFF2-40B4-BE49-F238E27FC236}">
                    <a16:creationId xmlns:a16="http://schemas.microsoft.com/office/drawing/2014/main" id="{CE3E37AE-2361-A2C9-9B2E-539168A7485A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1" name="Oval 13">
                <a:extLst>
                  <a:ext uri="{FF2B5EF4-FFF2-40B4-BE49-F238E27FC236}">
                    <a16:creationId xmlns:a16="http://schemas.microsoft.com/office/drawing/2014/main" id="{A1A824E5-D887-DE7B-96A8-350B2E5EC90E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2" name="Oval 14">
                <a:extLst>
                  <a:ext uri="{FF2B5EF4-FFF2-40B4-BE49-F238E27FC236}">
                    <a16:creationId xmlns:a16="http://schemas.microsoft.com/office/drawing/2014/main" id="{79AF25B6-5BAB-77F1-3BA4-38D16A85E1BB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3" name="Oval 15">
                <a:extLst>
                  <a:ext uri="{FF2B5EF4-FFF2-40B4-BE49-F238E27FC236}">
                    <a16:creationId xmlns:a16="http://schemas.microsoft.com/office/drawing/2014/main" id="{E35BE1B7-BEDC-43DD-5F47-C47BEBF516EE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4" name="Oval 16">
                <a:extLst>
                  <a:ext uri="{FF2B5EF4-FFF2-40B4-BE49-F238E27FC236}">
                    <a16:creationId xmlns:a16="http://schemas.microsoft.com/office/drawing/2014/main" id="{477E1B4C-E42D-4763-10F9-3E0F9496FE6B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5" name="Oval 17">
                <a:extLst>
                  <a:ext uri="{FF2B5EF4-FFF2-40B4-BE49-F238E27FC236}">
                    <a16:creationId xmlns:a16="http://schemas.microsoft.com/office/drawing/2014/main" id="{81C69D5A-11B3-C872-0341-EF4ED5FE1ED0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6" name="Oval 18">
                <a:extLst>
                  <a:ext uri="{FF2B5EF4-FFF2-40B4-BE49-F238E27FC236}">
                    <a16:creationId xmlns:a16="http://schemas.microsoft.com/office/drawing/2014/main" id="{24B9C5FC-2A2E-A993-B176-99CC6CEE56A9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7" name="Oval 19">
                <a:extLst>
                  <a:ext uri="{FF2B5EF4-FFF2-40B4-BE49-F238E27FC236}">
                    <a16:creationId xmlns:a16="http://schemas.microsoft.com/office/drawing/2014/main" id="{E8B38059-E292-EA8F-2239-F0B95C55540A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8" name="Oval 20">
                <a:extLst>
                  <a:ext uri="{FF2B5EF4-FFF2-40B4-BE49-F238E27FC236}">
                    <a16:creationId xmlns:a16="http://schemas.microsoft.com/office/drawing/2014/main" id="{C3121AB0-BF07-7F05-E180-11010A5FB0E3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9" name="Oval 21">
                <a:extLst>
                  <a:ext uri="{FF2B5EF4-FFF2-40B4-BE49-F238E27FC236}">
                    <a16:creationId xmlns:a16="http://schemas.microsoft.com/office/drawing/2014/main" id="{092A8682-0FEF-BD8D-9E42-F775EC0F7A63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0" name="Oval 22">
                <a:extLst>
                  <a:ext uri="{FF2B5EF4-FFF2-40B4-BE49-F238E27FC236}">
                    <a16:creationId xmlns:a16="http://schemas.microsoft.com/office/drawing/2014/main" id="{B28CEF66-621F-8E66-A286-4FDC907ACA55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1" name="Oval 23">
                <a:extLst>
                  <a:ext uri="{FF2B5EF4-FFF2-40B4-BE49-F238E27FC236}">
                    <a16:creationId xmlns:a16="http://schemas.microsoft.com/office/drawing/2014/main" id="{A100062C-D2DA-A3B9-45AB-2D7D32B3896F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2" name="Oval 24">
                <a:extLst>
                  <a:ext uri="{FF2B5EF4-FFF2-40B4-BE49-F238E27FC236}">
                    <a16:creationId xmlns:a16="http://schemas.microsoft.com/office/drawing/2014/main" id="{E2FB1A37-7AFD-300E-35A7-44A5D09A3977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3" name="Oval 25">
                <a:extLst>
                  <a:ext uri="{FF2B5EF4-FFF2-40B4-BE49-F238E27FC236}">
                    <a16:creationId xmlns:a16="http://schemas.microsoft.com/office/drawing/2014/main" id="{B154C988-DF0C-AB44-22FB-79B0AC600080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4" name="Oval 26">
                <a:extLst>
                  <a:ext uri="{FF2B5EF4-FFF2-40B4-BE49-F238E27FC236}">
                    <a16:creationId xmlns:a16="http://schemas.microsoft.com/office/drawing/2014/main" id="{9909C57C-258A-326C-08BF-2E2A82D6E9F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5" name="Oval 27">
                <a:extLst>
                  <a:ext uri="{FF2B5EF4-FFF2-40B4-BE49-F238E27FC236}">
                    <a16:creationId xmlns:a16="http://schemas.microsoft.com/office/drawing/2014/main" id="{1D4BF54C-F15F-A28D-D7D4-A0079120367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6" name="Multiply 28">
                <a:extLst>
                  <a:ext uri="{FF2B5EF4-FFF2-40B4-BE49-F238E27FC236}">
                    <a16:creationId xmlns:a16="http://schemas.microsoft.com/office/drawing/2014/main" id="{3F6656AB-9290-5B48-AE96-C07D85094FA7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7" name="Multiply 29">
                <a:extLst>
                  <a:ext uri="{FF2B5EF4-FFF2-40B4-BE49-F238E27FC236}">
                    <a16:creationId xmlns:a16="http://schemas.microsoft.com/office/drawing/2014/main" id="{FD60D1F2-561E-933B-C090-5712EE246864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8" name="Multiply 30">
                <a:extLst>
                  <a:ext uri="{FF2B5EF4-FFF2-40B4-BE49-F238E27FC236}">
                    <a16:creationId xmlns:a16="http://schemas.microsoft.com/office/drawing/2014/main" id="{A7FFB01D-4D6B-3562-0A6F-0539E574A6B7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9" name="Multiply 31">
                <a:extLst>
                  <a:ext uri="{FF2B5EF4-FFF2-40B4-BE49-F238E27FC236}">
                    <a16:creationId xmlns:a16="http://schemas.microsoft.com/office/drawing/2014/main" id="{B463B717-F694-E44E-A842-9B7E0713F9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0" name="Multiply 32">
                <a:extLst>
                  <a:ext uri="{FF2B5EF4-FFF2-40B4-BE49-F238E27FC236}">
                    <a16:creationId xmlns:a16="http://schemas.microsoft.com/office/drawing/2014/main" id="{87718451-5827-F63D-27F8-A6720EB38ABB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1" name="Multiply 33">
                <a:extLst>
                  <a:ext uri="{FF2B5EF4-FFF2-40B4-BE49-F238E27FC236}">
                    <a16:creationId xmlns:a16="http://schemas.microsoft.com/office/drawing/2014/main" id="{682562FC-827C-1765-A5CB-D2910EA9AA48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2" name="Multiply 34">
                <a:extLst>
                  <a:ext uri="{FF2B5EF4-FFF2-40B4-BE49-F238E27FC236}">
                    <a16:creationId xmlns:a16="http://schemas.microsoft.com/office/drawing/2014/main" id="{0B3FC1BB-6DF3-E297-1012-3C706C263B09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3" name="Oval 35">
                <a:extLst>
                  <a:ext uri="{FF2B5EF4-FFF2-40B4-BE49-F238E27FC236}">
                    <a16:creationId xmlns:a16="http://schemas.microsoft.com/office/drawing/2014/main" id="{54C8198E-A0CF-7980-66D9-E4561D57ECC0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4" name="Oval 36">
                <a:extLst>
                  <a:ext uri="{FF2B5EF4-FFF2-40B4-BE49-F238E27FC236}">
                    <a16:creationId xmlns:a16="http://schemas.microsoft.com/office/drawing/2014/main" id="{7CC9821A-184B-A2E3-A34E-FB92FCCAD3FE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5" name="Oval 37">
                <a:extLst>
                  <a:ext uri="{FF2B5EF4-FFF2-40B4-BE49-F238E27FC236}">
                    <a16:creationId xmlns:a16="http://schemas.microsoft.com/office/drawing/2014/main" id="{D2E9CE2F-7685-B870-D89C-172B0EF21E42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6" name="Multiply 38">
                <a:extLst>
                  <a:ext uri="{FF2B5EF4-FFF2-40B4-BE49-F238E27FC236}">
                    <a16:creationId xmlns:a16="http://schemas.microsoft.com/office/drawing/2014/main" id="{2B52FB2F-6FEB-ECA5-0307-0B3A7EB6509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7" name="Multiply 39">
                <a:extLst>
                  <a:ext uri="{FF2B5EF4-FFF2-40B4-BE49-F238E27FC236}">
                    <a16:creationId xmlns:a16="http://schemas.microsoft.com/office/drawing/2014/main" id="{9B99DD54-32A0-38E7-0880-C4EB290C4DDF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8" name="Multiply 40">
                <a:extLst>
                  <a:ext uri="{FF2B5EF4-FFF2-40B4-BE49-F238E27FC236}">
                    <a16:creationId xmlns:a16="http://schemas.microsoft.com/office/drawing/2014/main" id="{F280C803-EB38-1705-8398-9746F2851489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9" name="Multiply 41">
                <a:extLst>
                  <a:ext uri="{FF2B5EF4-FFF2-40B4-BE49-F238E27FC236}">
                    <a16:creationId xmlns:a16="http://schemas.microsoft.com/office/drawing/2014/main" id="{E08C1E28-5A7D-FE74-1118-F92C672167B5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0" name="Multiply 42">
                <a:extLst>
                  <a:ext uri="{FF2B5EF4-FFF2-40B4-BE49-F238E27FC236}">
                    <a16:creationId xmlns:a16="http://schemas.microsoft.com/office/drawing/2014/main" id="{31AA7847-F217-38A0-E85F-29B3CD387758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1" name="Multiply 43">
                <a:extLst>
                  <a:ext uri="{FF2B5EF4-FFF2-40B4-BE49-F238E27FC236}">
                    <a16:creationId xmlns:a16="http://schemas.microsoft.com/office/drawing/2014/main" id="{7F009730-A0AB-D1BD-DB01-C8E1C29E5FEE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2" name="Multiply 44">
                <a:extLst>
                  <a:ext uri="{FF2B5EF4-FFF2-40B4-BE49-F238E27FC236}">
                    <a16:creationId xmlns:a16="http://schemas.microsoft.com/office/drawing/2014/main" id="{4B29034B-900A-E1B2-D1FF-AE1BF9AF13E7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3" name="Multiply 45">
                <a:extLst>
                  <a:ext uri="{FF2B5EF4-FFF2-40B4-BE49-F238E27FC236}">
                    <a16:creationId xmlns:a16="http://schemas.microsoft.com/office/drawing/2014/main" id="{B41E03E0-6F3E-007D-CB4E-5CBC0B3D7B26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4" name="Multiply 46">
                <a:extLst>
                  <a:ext uri="{FF2B5EF4-FFF2-40B4-BE49-F238E27FC236}">
                    <a16:creationId xmlns:a16="http://schemas.microsoft.com/office/drawing/2014/main" id="{6352AA55-D841-6E0D-119F-8443FCF9F3FA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5" name="Multiply 47">
                <a:extLst>
                  <a:ext uri="{FF2B5EF4-FFF2-40B4-BE49-F238E27FC236}">
                    <a16:creationId xmlns:a16="http://schemas.microsoft.com/office/drawing/2014/main" id="{AD5ECDEC-E8D9-0B0D-2AE3-C179D39008EB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6" name="Multiply 48">
                <a:extLst>
                  <a:ext uri="{FF2B5EF4-FFF2-40B4-BE49-F238E27FC236}">
                    <a16:creationId xmlns:a16="http://schemas.microsoft.com/office/drawing/2014/main" id="{5865E19B-52B0-4231-CC53-6A279EFF683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7" name="Freeform 49">
                <a:extLst>
                  <a:ext uri="{FF2B5EF4-FFF2-40B4-BE49-F238E27FC236}">
                    <a16:creationId xmlns:a16="http://schemas.microsoft.com/office/drawing/2014/main" id="{0F4C3783-F2F8-74AF-47CE-AEBAA9AA9B83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51" name="Retângulo 150">
              <a:extLst>
                <a:ext uri="{FF2B5EF4-FFF2-40B4-BE49-F238E27FC236}">
                  <a16:creationId xmlns:a16="http://schemas.microsoft.com/office/drawing/2014/main" id="{F412AD0E-B6FE-48A9-2E60-A151396B0E54}"/>
                </a:ext>
              </a:extLst>
            </p:cNvPr>
            <p:cNvSpPr/>
            <p:nvPr/>
          </p:nvSpPr>
          <p:spPr>
            <a:xfrm>
              <a:off x="10443465" y="4461310"/>
              <a:ext cx="2225475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93053727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F60404-37D7-FAB6-B2A1-A3503583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evitamos o subajuste e sobreajuste?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1965B5D-719E-23AA-7D7E-5C2AA6EB738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68722" y="1825625"/>
                <a:ext cx="6069204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Quando não conhecemos 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melhor ordem para o polinômio</a:t>
                </a:r>
                <a:r>
                  <a:rPr lang="pt-BR" dirty="0"/>
                  <a:t> da </a:t>
                </a:r>
                <a:r>
                  <a:rPr lang="pt-BR" b="1" i="1" dirty="0"/>
                  <a:t>função 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podemos usar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técnicas de validação cruzada</a:t>
                </a:r>
                <a:r>
                  <a:rPr lang="pt-BR" dirty="0">
                    <a:solidFill>
                      <a:schemeClr val="accent2"/>
                    </a:solidFill>
                  </a:rPr>
                  <a:t> </a:t>
                </a:r>
                <a:r>
                  <a:rPr lang="pt-BR" dirty="0"/>
                  <a:t>(e.g., </a:t>
                </a:r>
                <a:r>
                  <a:rPr lang="pt-BR" i="1" dirty="0" err="1"/>
                  <a:t>holdout</a:t>
                </a:r>
                <a:r>
                  <a:rPr lang="pt-BR" dirty="0"/>
                  <a:t> ou </a:t>
                </a:r>
                <a:r>
                  <a:rPr lang="pt-BR" i="1" dirty="0"/>
                  <a:t>k-</a:t>
                </a:r>
                <a:r>
                  <a:rPr lang="pt-BR" i="1" dirty="0" err="1"/>
                  <a:t>fold</a:t>
                </a:r>
                <a:r>
                  <a:rPr lang="pt-BR" i="1" dirty="0"/>
                  <a:t>)</a:t>
                </a:r>
                <a:r>
                  <a:rPr lang="pt-BR" dirty="0"/>
                  <a:t> para encontra-lo.</a:t>
                </a:r>
              </a:p>
              <a:p>
                <a:r>
                  <a:rPr lang="pt-BR" dirty="0"/>
                  <a:t>Esses técnicas nos auxiliam a encontrar um polinômio que apresente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relação de compromisso entre flexibilidade e capacidade de generalização</a:t>
                </a:r>
                <a:r>
                  <a:rPr lang="pt-BR" dirty="0"/>
                  <a:t>, evitando assim os dois problemas.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1965B5D-719E-23AA-7D7E-5C2AA6EB738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68722" y="1825625"/>
                <a:ext cx="6069204" cy="5032376"/>
              </a:xfrm>
              <a:blipFill>
                <a:blip r:embed="rId2"/>
                <a:stretch>
                  <a:fillRect l="-1807" t="-1937" r="-32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Cross-Validation: K Fold vs Monte Carlo | by Rebecca Patro | Towards Data  Science">
            <a:extLst>
              <a:ext uri="{FF2B5EF4-FFF2-40B4-BE49-F238E27FC236}">
                <a16:creationId xmlns:a16="http://schemas.microsoft.com/office/drawing/2014/main" id="{59ABA5C6-BECA-6DCB-AB07-53EEA099BD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413" y="2723102"/>
            <a:ext cx="5555024" cy="2490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F026CA56-BDFD-05E1-4E35-83187109EF30}"/>
              </a:ext>
            </a:extLst>
          </p:cNvPr>
          <p:cNvSpPr txBox="1"/>
          <p:nvPr/>
        </p:nvSpPr>
        <p:spPr>
          <a:xfrm>
            <a:off x="838200" y="2133190"/>
            <a:ext cx="3211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/>
              <a:t>k-</a:t>
            </a:r>
            <a:r>
              <a:rPr lang="pt-BR" sz="2400" b="1" i="1" dirty="0" err="1"/>
              <a:t>fold</a:t>
            </a:r>
            <a:endParaRPr lang="pt-BR" sz="2400" b="1" i="1" dirty="0"/>
          </a:p>
        </p:txBody>
      </p:sp>
    </p:spTree>
    <p:extLst>
      <p:ext uri="{BB962C8B-B14F-4D97-AF65-F5344CB8AC3E}">
        <p14:creationId xmlns:p14="http://schemas.microsoft.com/office/powerpoint/2010/main" val="272962181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F60404-37D7-FAB6-B2A1-A3503583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evitamos o subajuste e sobreajuste?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1965B5D-719E-23AA-7D7E-5C2AA6EB73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5916" y="1825625"/>
            <a:ext cx="6652009" cy="5032376"/>
          </a:xfrm>
        </p:spPr>
        <p:txBody>
          <a:bodyPr>
            <a:normAutofit/>
          </a:bodyPr>
          <a:lstStyle/>
          <a:p>
            <a:r>
              <a:rPr lang="pt-BR" dirty="0"/>
              <a:t>Uma forma de </a:t>
            </a:r>
            <a:r>
              <a:rPr lang="pt-BR" b="1" i="1" dirty="0">
                <a:solidFill>
                  <a:srgbClr val="7030A0"/>
                </a:solidFill>
              </a:rPr>
              <a:t>evitar </a:t>
            </a:r>
            <a:r>
              <a:rPr lang="pt-BR" b="1" i="1" dirty="0">
                <a:solidFill>
                  <a:schemeClr val="accent2"/>
                </a:solidFill>
              </a:rPr>
              <a:t>apenas</a:t>
            </a:r>
            <a:r>
              <a:rPr lang="pt-BR" b="1" i="1" dirty="0">
                <a:solidFill>
                  <a:srgbClr val="7030A0"/>
                </a:solidFill>
              </a:rPr>
              <a:t> problemas de sobreajuste</a:t>
            </a:r>
            <a:r>
              <a:rPr lang="pt-BR" dirty="0"/>
              <a:t> é usar </a:t>
            </a:r>
            <a:r>
              <a:rPr lang="pt-BR" b="1" i="1" dirty="0">
                <a:solidFill>
                  <a:srgbClr val="00B050"/>
                </a:solidFill>
              </a:rPr>
              <a:t>técnicas de regularização </a:t>
            </a:r>
            <a:r>
              <a:rPr lang="pt-BR" dirty="0"/>
              <a:t>(e.g., LASSO, Ridge, Elastic-Net, Early-stopping).</a:t>
            </a:r>
          </a:p>
          <a:p>
            <a:r>
              <a:rPr lang="pt-BR" dirty="0"/>
              <a:t>A regularização </a:t>
            </a:r>
            <a:r>
              <a:rPr lang="pt-BR" b="1" i="1" dirty="0">
                <a:solidFill>
                  <a:srgbClr val="00B050"/>
                </a:solidFill>
              </a:rPr>
              <a:t>r</a:t>
            </a:r>
            <a:r>
              <a:rPr lang="pt-BR" b="1" i="1" dirty="0">
                <a:solidFill>
                  <a:srgbClr val="00B050"/>
                </a:solidFill>
                <a:effectLst/>
              </a:rPr>
              <a:t>eduz a flexibilidade </a:t>
            </a:r>
            <a:r>
              <a:rPr lang="pt-BR" b="0" i="0" dirty="0">
                <a:effectLst/>
              </a:rPr>
              <a:t>do modelo por meio de </a:t>
            </a:r>
            <a:r>
              <a:rPr lang="pt-BR" b="1" i="1" dirty="0">
                <a:solidFill>
                  <a:srgbClr val="FF0000"/>
                </a:solidFill>
                <a:effectLst/>
              </a:rPr>
              <a:t>penalizações</a:t>
            </a:r>
            <a:r>
              <a:rPr lang="pt-BR" b="0" i="0" dirty="0">
                <a:effectLst/>
              </a:rPr>
              <a:t> aplicadas a seus pesos.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Modelos que se </a:t>
            </a:r>
            <a:r>
              <a:rPr lang="pt-BR" b="1" i="1" dirty="0">
                <a:solidFill>
                  <a:srgbClr val="7030A0"/>
                </a:solidFill>
              </a:rPr>
              <a:t>sobreajustam</a:t>
            </a:r>
            <a:r>
              <a:rPr lang="pt-BR" dirty="0"/>
              <a:t> têm </a:t>
            </a:r>
            <a:r>
              <a:rPr lang="pt-BR" b="1" i="1" dirty="0">
                <a:solidFill>
                  <a:srgbClr val="FF0000"/>
                </a:solidFill>
              </a:rPr>
              <a:t>pesos com valores absolutos muito altos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que as técnicas de regularização fazem é </a:t>
            </a:r>
            <a:r>
              <a:rPr lang="pt-BR" b="1" i="1" dirty="0">
                <a:solidFill>
                  <a:srgbClr val="00B050"/>
                </a:solidFill>
              </a:rPr>
              <a:t>restringir o aumento</a:t>
            </a:r>
            <a:r>
              <a:rPr lang="pt-BR" dirty="0"/>
              <a:t> dos pesos a uma </a:t>
            </a:r>
            <a:r>
              <a:rPr lang="pt-BR" b="1" i="1" dirty="0"/>
              <a:t>região</a:t>
            </a:r>
            <a:r>
              <a:rPr lang="pt-BR" dirty="0"/>
              <a:t> de possíveis valores.</a:t>
            </a:r>
          </a:p>
        </p:txBody>
      </p:sp>
      <p:pic>
        <p:nvPicPr>
          <p:cNvPr id="2052" name="Picture 4" descr="Regularization | Regularization Techniques in Machine Learning">
            <a:extLst>
              <a:ext uri="{FF2B5EF4-FFF2-40B4-BE49-F238E27FC236}">
                <a16:creationId xmlns:a16="http://schemas.microsoft.com/office/drawing/2014/main" id="{DBEAA147-DD30-5BD1-7D88-D1E0DA2EEA4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99" t="4263" r="3503" b="13944"/>
          <a:stretch/>
        </p:blipFill>
        <p:spPr bwMode="auto">
          <a:xfrm>
            <a:off x="224413" y="2586185"/>
            <a:ext cx="4943790" cy="2727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07C3999F-E11E-BEA4-B848-576DAA84A093}"/>
              </a:ext>
            </a:extLst>
          </p:cNvPr>
          <p:cNvSpPr txBox="1"/>
          <p:nvPr/>
        </p:nvSpPr>
        <p:spPr>
          <a:xfrm>
            <a:off x="224413" y="2220686"/>
            <a:ext cx="1956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LASSO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E21A5017-C486-6341-CE55-AA6B086B7AFD}"/>
              </a:ext>
            </a:extLst>
          </p:cNvPr>
          <p:cNvSpPr txBox="1"/>
          <p:nvPr/>
        </p:nvSpPr>
        <p:spPr>
          <a:xfrm>
            <a:off x="3212124" y="2220686"/>
            <a:ext cx="1956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Ridge</a:t>
            </a:r>
          </a:p>
        </p:txBody>
      </p:sp>
    </p:spTree>
    <p:extLst>
      <p:ext uri="{BB962C8B-B14F-4D97-AF65-F5344CB8AC3E}">
        <p14:creationId xmlns:p14="http://schemas.microsoft.com/office/powerpoint/2010/main" val="317095409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2D9F4A-3F1E-72CA-5279-D7096455E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C3F39F-A361-AD70-0282-D98F9A8F92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526765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15EEB-555A-1663-8A26-726644DCB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F76B53-821B-1D2E-B52E-C808298E9D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42980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5C0CF-6932-AB23-09BC-D188772CD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00C46C-B4D6-FF5E-D8DB-8F29C27BED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60556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B30D0-D052-EC03-3C25-35C106AA1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  <a:endParaRPr lang="en-US" dirty="0"/>
          </a:p>
        </p:txBody>
      </p:sp>
      <p:pic>
        <p:nvPicPr>
          <p:cNvPr id="2050" name="Picture 2" descr="Validate me Constructive criticism permitted – @gallusrostromegalus on  Tumblr">
            <a:extLst>
              <a:ext uri="{FF2B5EF4-FFF2-40B4-BE49-F238E27FC236}">
                <a16:creationId xmlns:a16="http://schemas.microsoft.com/office/drawing/2014/main" id="{A9C68C0F-3A42-8D60-0B8A-979695E407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9561" y="1690688"/>
            <a:ext cx="5635002" cy="5167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564646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0A78A2E-6E03-2C97-4148-5EE803DD5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23898"/>
            <a:ext cx="10515600" cy="181020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I: Encontrando o vetor gradiente do regressor logístico</a:t>
            </a:r>
          </a:p>
        </p:txBody>
      </p:sp>
    </p:spTree>
    <p:extLst>
      <p:ext uri="{BB962C8B-B14F-4D97-AF65-F5344CB8AC3E}">
        <p14:creationId xmlns:p14="http://schemas.microsoft.com/office/powerpoint/2010/main" val="86757159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pt-BR" dirty="0"/>
                  <a:t>Antes de encontrarmos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, vamos reescrever 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 utilizando as seguintes equivalências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e>
                    </m:func>
                    <m:r>
                      <a:rPr lang="pt-BR">
                        <a:latin typeface="Cambria Math" panose="02040503050406030204" pitchFamily="18" charset="0"/>
                      </a:rPr>
                      <m:t>=−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,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f>
                              <m:f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e>
                    </m:func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a nova expressão para a </a:t>
                </a:r>
                <a:r>
                  <a:rPr lang="pt-BR" b="1" i="1" dirty="0"/>
                  <a:t>função de erro médio </a:t>
                </a:r>
                <a:r>
                  <a:rPr lang="pt-BR" dirty="0"/>
                  <a:t>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nary>
                      <m:r>
                        <a:rPr lang="pt-BR">
                          <a:latin typeface="Cambria Math" panose="02040503050406030204" pitchFamily="18" charset="0"/>
                        </a:rPr>
                        <m:t>+(1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pt-BR" dirty="0"/>
              </a:p>
              <a:p>
                <a:endParaRPr lang="pt-BR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928" t="-280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257428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955694" cy="4855094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termo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 é cancelado com um dos elementos gerados a partir do produto envolvido no segundo termo, de forma que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  <m:r>
                      <a:rPr lang="pt-BR" sz="2400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pt-BR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sSup>
                          <m:sSup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sz="2400" b="1" i="1" smtClean="0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 sz="240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ctrlPr>
                                  <a:rPr lang="pt-BR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sz="2400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24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e>
                            </m:d>
                          </m:e>
                        </m:func>
                      </m:e>
                    </m:nary>
                  </m:oMath>
                </a14:m>
                <a:r>
                  <a:rPr lang="pt-BR" sz="2400" dirty="0"/>
                  <a:t>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, então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=</m:t>
                        </m:r>
                      </m:e>
                    </m:func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Desta forma, a </a:t>
                </a:r>
                <a:r>
                  <a:rPr lang="pt-BR" b="1" i="1" dirty="0"/>
                  <a:t>função de erro médio </a:t>
                </a:r>
                <a:r>
                  <a:rPr lang="pt-BR" dirty="0"/>
                  <a:t>se torna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e>
                            </m:d>
                          </m:e>
                        </m:func>
                      </m:e>
                    </m:nary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Em seguida, encontramos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de cada termo da equação acima.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955694" cy="4855094"/>
              </a:xfrm>
              <a:blipFill rotWithShape="0">
                <a:blip r:embed="rId2"/>
                <a:stretch>
                  <a:fillRect l="-1002" t="-753" b="-50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256079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3685"/>
            <a:ext cx="10515600" cy="1097915"/>
          </a:xfrm>
        </p:spPr>
        <p:txBody>
          <a:bodyPr>
            <a:normAutofit/>
          </a:bodyPr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1186160" cy="5167312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Assim,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do primeiro termo da equação anterior 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do segundo termo da equação anterior é dado por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pt-BR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1+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</m:e>
                                        <m:sup>
                                          <m:sSup>
                                            <m:sSup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pt-BR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e>
                                            <m:sup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𝑇</m:t>
                                              </m:r>
                                            </m:sup>
                                          </m:sSup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𝒂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</m:func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p>
                          </m:sSup>
                        </m:den>
                      </m:f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p>
                      </m:sSup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p>
                          </m:sSup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Usamos a </a:t>
                </a:r>
                <a:r>
                  <a:rPr lang="pt-BR" b="1" i="1" dirty="0"/>
                  <a:t>regra da cadeia </a:t>
                </a:r>
                <a:r>
                  <a:rPr lang="pt-BR" dirty="0"/>
                  <a:t>para encontrar o vetor gradiente do segundo termo.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1186160" cy="5167312"/>
              </a:xfrm>
              <a:blipFill>
                <a:blip r:embed="rId2"/>
                <a:stretch>
                  <a:fillRect l="-981" t="-2594" b="-10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/>
          <p:cNvCxnSpPr/>
          <p:nvPr/>
        </p:nvCxnSpPr>
        <p:spPr>
          <a:xfrm flipH="1" flipV="1">
            <a:off x="3230880" y="4389120"/>
            <a:ext cx="356002" cy="156585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904316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0140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Portanto, combinando os 2 resultados anteriores, temos que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da</a:t>
                </a:r>
                <a:r>
                  <a:rPr lang="pt-BR" b="1" i="1" dirty="0"/>
                  <a:t> função de erro médio </a:t>
                </a:r>
                <a:r>
                  <a:rPr lang="pt-BR" dirty="0"/>
                  <a:t>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01400" cy="5032376"/>
              </a:xfrm>
              <a:blipFill>
                <a:blip r:embed="rId3"/>
                <a:stretch>
                  <a:fillRect l="-980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10675257" y="2175892"/>
                <a:ext cx="1364343" cy="774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pt-BR"/>
                </a:defPPr>
                <a:lvl1pPr algn="ctr">
                  <a:defRPr sz="1400"/>
                </a:lvl1pPr>
              </a:lstStyle>
              <a:p>
                <a:r>
                  <a:rPr lang="pt-BR" dirty="0"/>
                  <a:t>Forma matricial: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</m:oMath>
                </a14:m>
                <a:r>
                  <a:rPr lang="pt-BR" dirty="0"/>
                  <a:t> 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75257" y="2175892"/>
                <a:ext cx="1364343" cy="774443"/>
              </a:xfrm>
              <a:prstGeom prst="rect">
                <a:avLst/>
              </a:prstGeom>
              <a:blipFill rotWithShape="0">
                <a:blip r:embed="rId4"/>
                <a:stretch>
                  <a:fillRect l="-1339" t="-1575" r="-4018" b="-3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/>
          <p:cNvCxnSpPr/>
          <p:nvPr/>
        </p:nvCxnSpPr>
        <p:spPr>
          <a:xfrm flipH="1">
            <a:off x="9814560" y="2407920"/>
            <a:ext cx="860698" cy="54241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736768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8648</TotalTime>
  <Words>7173</Words>
  <Application>Microsoft Office PowerPoint</Application>
  <PresentationFormat>Widescreen</PresentationFormat>
  <Paragraphs>595</Paragraphs>
  <Slides>68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77" baseType="lpstr">
      <vt:lpstr>Arial</vt:lpstr>
      <vt:lpstr>Calibri</vt:lpstr>
      <vt:lpstr>Calibri Light</vt:lpstr>
      <vt:lpstr>Calibri-Bold</vt:lpstr>
      <vt:lpstr>Cambria Math</vt:lpstr>
      <vt:lpstr>Courier New</vt:lpstr>
      <vt:lpstr>Söhne</vt:lpstr>
      <vt:lpstr>Wingdings</vt:lpstr>
      <vt:lpstr>Tema do Office</vt:lpstr>
      <vt:lpstr>C24 – Inteligência Artificial: Classificação</vt:lpstr>
      <vt:lpstr>Classificação</vt:lpstr>
      <vt:lpstr>Tarefas de classificação</vt:lpstr>
      <vt:lpstr>PowerPoint Presentation</vt:lpstr>
      <vt:lpstr>PowerPoint Presentation</vt:lpstr>
      <vt:lpstr>Tipos de classificadores</vt:lpstr>
      <vt:lpstr>Tipos de classificadores</vt:lpstr>
      <vt:lpstr>Algoritmos de classificação</vt:lpstr>
      <vt:lpstr>PowerPoint Presentation</vt:lpstr>
      <vt:lpstr>Classificação binária</vt:lpstr>
      <vt:lpstr>Classificação multiclasse</vt:lpstr>
      <vt:lpstr>Classificação multilabel</vt:lpstr>
      <vt:lpstr>Fronteiras de decisão de um classificador</vt:lpstr>
      <vt:lpstr>Fronteiras de decisão de um classificador</vt:lpstr>
      <vt:lpstr>Fronteiras de decisão de um classificador</vt:lpstr>
      <vt:lpstr>Funções discriminantes</vt:lpstr>
      <vt:lpstr>Funções discriminantes</vt:lpstr>
      <vt:lpstr>PowerPoint Presentation</vt:lpstr>
      <vt:lpstr>PowerPoint Presentation</vt:lpstr>
      <vt:lpstr>Como mapeamos g(x(i)) nas classes?</vt:lpstr>
      <vt:lpstr>Função hipótese de classificação</vt:lpstr>
      <vt:lpstr>Função de limiar de decisão ou de ativação</vt:lpstr>
      <vt:lpstr>Função de limiar de decisão ou de ativação</vt:lpstr>
      <vt:lpstr>Função de limiar de decisão ou de ativação</vt:lpstr>
      <vt:lpstr>Função de limiar de decisão ou de ativação</vt:lpstr>
      <vt:lpstr>Classificação com limiar de decisão rígido</vt:lpstr>
      <vt:lpstr>Classificação com limiar de decisão rígido</vt:lpstr>
      <vt:lpstr>Classificação com limiar de decisão rígido</vt:lpstr>
      <vt:lpstr>Classificação com limiar de decisão rígido</vt:lpstr>
      <vt:lpstr>PowerPoint Presentation</vt:lpstr>
      <vt:lpstr>PowerPoint Presentation</vt:lpstr>
      <vt:lpstr>Classificação com função de limiar logístico</vt:lpstr>
      <vt:lpstr>Classificação com função de limiar logístico</vt:lpstr>
      <vt:lpstr>Classificação com função de limiar logístico</vt:lpstr>
      <vt:lpstr>Classificação com função de limiar logístico</vt:lpstr>
      <vt:lpstr>Regressão logística</vt:lpstr>
      <vt:lpstr>PowerPoint Presentation</vt:lpstr>
      <vt:lpstr>Regressão logística</vt:lpstr>
      <vt:lpstr>Função de erro</vt:lpstr>
      <vt:lpstr>Função de erro</vt:lpstr>
      <vt:lpstr>PowerPoint Presentation</vt:lpstr>
      <vt:lpstr>PowerPoint Presentation</vt:lpstr>
      <vt:lpstr>Função de erro</vt:lpstr>
      <vt:lpstr>Função de erro</vt:lpstr>
      <vt:lpstr>Função de erro</vt:lpstr>
      <vt:lpstr>Processo de treinamento</vt:lpstr>
      <vt:lpstr>Processo de treinamento</vt:lpstr>
      <vt:lpstr>Vetor gradiente</vt:lpstr>
      <vt:lpstr>Vetor gradiente</vt:lpstr>
      <vt:lpstr>Vetor gradiente</vt:lpstr>
      <vt:lpstr>Vetor gradiente</vt:lpstr>
      <vt:lpstr>Subajuste e sobreajuste</vt:lpstr>
      <vt:lpstr>Subajuste e sobreajuste</vt:lpstr>
      <vt:lpstr>Subajuste e sobreajuste</vt:lpstr>
      <vt:lpstr>Subajuste e sobreajuste</vt:lpstr>
      <vt:lpstr>Como evitamos o subajuste e sobreajuste?</vt:lpstr>
      <vt:lpstr>Como evitamos o subajuste e sobreajuste?</vt:lpstr>
      <vt:lpstr>PowerPoint Presentation</vt:lpstr>
      <vt:lpstr>PowerPoint Presentation</vt:lpstr>
      <vt:lpstr>PowerPoint Presentation</vt:lpstr>
      <vt:lpstr>Matriz de confusão</vt:lpstr>
      <vt:lpstr>PowerPoint Presentation</vt:lpstr>
      <vt:lpstr>PowerPoint Presentation</vt:lpstr>
      <vt:lpstr>PowerPoint Presentation</vt:lpstr>
      <vt:lpstr>Encontrando o vetor gradiente</vt:lpstr>
      <vt:lpstr>Encontrando o vetor gradiente</vt:lpstr>
      <vt:lpstr>Encontrando o vetor gradiente</vt:lpstr>
      <vt:lpstr>Encontrando o vetor gradiente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1828</cp:revision>
  <dcterms:created xsi:type="dcterms:W3CDTF">2020-01-20T13:50:05Z</dcterms:created>
  <dcterms:modified xsi:type="dcterms:W3CDTF">2026-02-20T20:26:30Z</dcterms:modified>
</cp:coreProperties>
</file>