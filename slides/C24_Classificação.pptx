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handoutMasterIdLst>
    <p:handoutMasterId r:id="rId61"/>
  </p:handoutMasterIdLst>
  <p:sldIdLst>
    <p:sldId id="256" r:id="rId2"/>
    <p:sldId id="347" r:id="rId3"/>
    <p:sldId id="348" r:id="rId4"/>
    <p:sldId id="329" r:id="rId5"/>
    <p:sldId id="350" r:id="rId6"/>
    <p:sldId id="353" r:id="rId7"/>
    <p:sldId id="349" r:id="rId8"/>
    <p:sldId id="606" r:id="rId9"/>
    <p:sldId id="355" r:id="rId10"/>
    <p:sldId id="332" r:id="rId11"/>
    <p:sldId id="358" r:id="rId12"/>
    <p:sldId id="359" r:id="rId13"/>
    <p:sldId id="607" r:id="rId14"/>
    <p:sldId id="344" r:id="rId15"/>
    <p:sldId id="360" r:id="rId16"/>
    <p:sldId id="345" r:id="rId17"/>
    <p:sldId id="460" r:id="rId18"/>
    <p:sldId id="362" r:id="rId19"/>
    <p:sldId id="608" r:id="rId20"/>
    <p:sldId id="363" r:id="rId21"/>
    <p:sldId id="364" r:id="rId22"/>
    <p:sldId id="365" r:id="rId23"/>
    <p:sldId id="356" r:id="rId24"/>
    <p:sldId id="441" r:id="rId25"/>
    <p:sldId id="442" r:id="rId26"/>
    <p:sldId id="444" r:id="rId27"/>
    <p:sldId id="445" r:id="rId28"/>
    <p:sldId id="446" r:id="rId29"/>
    <p:sldId id="447" r:id="rId30"/>
    <p:sldId id="458" r:id="rId31"/>
    <p:sldId id="448" r:id="rId32"/>
    <p:sldId id="449" r:id="rId33"/>
    <p:sldId id="459" r:id="rId34"/>
    <p:sldId id="450" r:id="rId35"/>
    <p:sldId id="451" r:id="rId36"/>
    <p:sldId id="452" r:id="rId37"/>
    <p:sldId id="453" r:id="rId38"/>
    <p:sldId id="454" r:id="rId39"/>
    <p:sldId id="409" r:id="rId40"/>
    <p:sldId id="407" r:id="rId41"/>
    <p:sldId id="372" r:id="rId42"/>
    <p:sldId id="410" r:id="rId43"/>
    <p:sldId id="412" r:id="rId44"/>
    <p:sldId id="414" r:id="rId45"/>
    <p:sldId id="417" r:id="rId46"/>
    <p:sldId id="455" r:id="rId47"/>
    <p:sldId id="413" r:id="rId48"/>
    <p:sldId id="418" r:id="rId49"/>
    <p:sldId id="605" r:id="rId50"/>
    <p:sldId id="456" r:id="rId51"/>
    <p:sldId id="457" r:id="rId52"/>
    <p:sldId id="293" r:id="rId53"/>
    <p:sldId id="306" r:id="rId54"/>
    <p:sldId id="419" r:id="rId55"/>
    <p:sldId id="438" r:id="rId56"/>
    <p:sldId id="439" r:id="rId57"/>
    <p:sldId id="377" r:id="rId58"/>
    <p:sldId id="378" r:id="rId5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3060" autoAdjust="0"/>
  </p:normalViewPr>
  <p:slideViewPr>
    <p:cSldViewPr snapToGrid="0">
      <p:cViewPr varScale="1">
        <p:scale>
          <a:sx n="61" d="100"/>
          <a:sy n="61" d="100"/>
        </p:scale>
        <p:origin x="1260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imagem com vários animais é um exemplo de classificação </a:t>
            </a:r>
            <a:r>
              <a:rPr lang="pt-BR" dirty="0" err="1"/>
              <a:t>multilabel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regressão,</a:t>
            </a:r>
            <a:r>
              <a:rPr lang="pt-BR" baseline="0" dirty="0"/>
              <a:t> </a:t>
            </a:r>
            <a:r>
              <a:rPr lang="pt-BR" dirty="0"/>
              <a:t>os rótulos eram valores reais, mas e na classificação?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4346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Z+​ : </a:t>
            </a:r>
            <a:r>
              <a:rPr lang="pt-BR" dirty="0"/>
              <a:t>Representa o conjunto dos </a:t>
            </a:r>
            <a:r>
              <a:rPr lang="pt-BR" b="1" dirty="0"/>
              <a:t>inteiros não negativos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243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66E33AA-3D3E-2081-E856-592450B0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E88D4EA-6FB8-D70D-BF20-E00C0C421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F0868084-D5DA-0F3D-0D9E-4753F52D8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regressão,</a:t>
            </a:r>
            <a:r>
              <a:rPr lang="pt-BR" baseline="0" dirty="0"/>
              <a:t> </a:t>
            </a:r>
            <a:r>
              <a:rPr lang="pt-BR" dirty="0"/>
              <a:t>os rótulos eram valores reais, mas e na classificação?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DFB706F-91C7-EEAD-2DB2-018EF8DF06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84621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 geral, mas não é uma regra, o número mínimo de funções discriminantes é sempre uma unidade a menos do que o número de classes.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Nos dois primeiras figuras, precisamos de uma função, mas na última, precisamos de no mínimo 2 funções discriminantes.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1DAE7C2-11D7-161C-CFE8-24F43D352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48628A4-286B-0FB8-0B78-56F0587D28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BD5BC35-37E6-CFC3-97CD-909AAE5CF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C26B22F-B978-54DE-9588-F9CBE68B0F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86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2FCA490-3A6E-469D-18C9-2B3D4CD1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64285EF-CF94-5176-D8A3-3945566C3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5E423BC-35D3-6B01-35D8-EAA833CCF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568ABFCE-555E-2516-7173-8E9717442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94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Temos uma função discriminante por classe, por isso Q funções.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Atribuímos ao exemplo o índice da função discriminante com maior valor absoluto.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 exemplo, se a função com maior valor absoluto for a 1, então o exemplo é atribuído à classe 1.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1628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função logística é </a:t>
            </a:r>
            <a:r>
              <a:rPr lang="pt-BR" b="1" noProof="0" dirty="0">
                <a:solidFill>
                  <a:srgbClr val="00B050"/>
                </a:solidFill>
              </a:rPr>
              <a:t>contínua</a:t>
            </a:r>
            <a:r>
              <a:rPr lang="pt-BR" noProof="0" dirty="0"/>
              <a:t> e </a:t>
            </a:r>
            <a:r>
              <a:rPr lang="pt-BR" b="1" noProof="0" dirty="0">
                <a:solidFill>
                  <a:srgbClr val="00B050"/>
                </a:solidFill>
              </a:rPr>
              <a:t>diferenciável</a:t>
            </a:r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60979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Diminuir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limiar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</a:t>
            </a:r>
            <a:r>
              <a:rPr lang="pt-BR" dirty="0" smtClean="0"/>
              <a:t> útil quando </a:t>
            </a:r>
            <a:r>
              <a:rPr lang="pt-BR" b="1" dirty="0" smtClean="0"/>
              <a:t>perder um positivo é muito pior do que gerar um falso positivo</a:t>
            </a:r>
            <a:r>
              <a:rPr lang="pt-BR" b="0" dirty="0" smtClean="0"/>
              <a:t>:</a:t>
            </a:r>
            <a:r>
              <a:rPr lang="pt-BR" b="0" baseline="0" dirty="0" smtClean="0"/>
              <a:t> por exemplo, detectar uma doença contagiosa (</a:t>
            </a:r>
            <a:r>
              <a:rPr lang="pt-BR" dirty="0" smtClean="0"/>
              <a:t>talvez seja melhor encaminhar o paciente para um exame adicional do que simplesmente classificá-lo como saudável.)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0" baseline="0" dirty="0" smtClean="0"/>
          </a:p>
          <a:p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Aumentar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limiar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dirty="0" smtClean="0"/>
              <a:t>é interessante quando </a:t>
            </a:r>
            <a:r>
              <a:rPr lang="pt-BR" b="1" dirty="0" smtClean="0"/>
              <a:t>falsos positivos são muito caros</a:t>
            </a:r>
            <a:r>
              <a:rPr lang="pt-BR" dirty="0" smtClean="0"/>
              <a:t>.</a:t>
            </a:r>
          </a:p>
          <a:p>
            <a:r>
              <a:rPr lang="pt-BR" dirty="0" smtClean="0"/>
              <a:t>Por exemplo, imagine um sistema automático que bloqueia uma transação bancária.</a:t>
            </a:r>
          </a:p>
          <a:p>
            <a:r>
              <a:rPr lang="pt-BR" dirty="0" smtClean="0"/>
              <a:t>Se ele bloquear uma transação legítima, pode causar um custo elevado ao usuário.</a:t>
            </a:r>
          </a:p>
          <a:p>
            <a:endParaRPr lang="pt-BR" dirty="0" smtClean="0"/>
          </a:p>
          <a:p>
            <a:r>
              <a:rPr lang="pt-BR" dirty="0" smtClean="0"/>
              <a:t>A razão mais importante: custos diferentes para FP e FN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0" baseline="0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 smtClean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90136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9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29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29.emf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29.e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9.png"/><Relationship Id="rId3" Type="http://schemas.openxmlformats.org/officeDocument/2006/relationships/image" Target="../media/image35.png"/><Relationship Id="rId7" Type="http://schemas.openxmlformats.org/officeDocument/2006/relationships/image" Target="../media/image41.png"/><Relationship Id="rId12" Type="http://schemas.openxmlformats.org/officeDocument/2006/relationships/image" Target="../media/image4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7.png"/><Relationship Id="rId5" Type="http://schemas.openxmlformats.org/officeDocument/2006/relationships/image" Target="../media/image39.png"/><Relationship Id="rId10" Type="http://schemas.openxmlformats.org/officeDocument/2006/relationships/image" Target="../media/image46.png"/><Relationship Id="rId4" Type="http://schemas.openxmlformats.org/officeDocument/2006/relationships/image" Target="../media/image38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13" Type="http://schemas.openxmlformats.org/officeDocument/2006/relationships/image" Target="../media/image530.png"/><Relationship Id="rId3" Type="http://schemas.openxmlformats.org/officeDocument/2006/relationships/image" Target="../media/image370.png"/><Relationship Id="rId7" Type="http://schemas.openxmlformats.org/officeDocument/2006/relationships/image" Target="../media/image421.png"/><Relationship Id="rId12" Type="http://schemas.openxmlformats.org/officeDocument/2006/relationships/image" Target="../media/image490.png"/><Relationship Id="rId2" Type="http://schemas.openxmlformats.org/officeDocument/2006/relationships/image" Target="../media/image360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0.png"/><Relationship Id="rId5" Type="http://schemas.openxmlformats.org/officeDocument/2006/relationships/image" Target="../media/image390.png"/><Relationship Id="rId15" Type="http://schemas.openxmlformats.org/officeDocument/2006/relationships/image" Target="../media/image55.png"/><Relationship Id="rId10" Type="http://schemas.openxmlformats.org/officeDocument/2006/relationships/image" Target="../media/image470.png"/><Relationship Id="rId4" Type="http://schemas.openxmlformats.org/officeDocument/2006/relationships/image" Target="../media/image380.png"/><Relationship Id="rId9" Type="http://schemas.openxmlformats.org/officeDocument/2006/relationships/image" Target="../media/image460.png"/><Relationship Id="rId1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65.png"/><Relationship Id="rId7" Type="http://schemas.openxmlformats.org/officeDocument/2006/relationships/image" Target="NUL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jpeg"/><Relationship Id="rId4" Type="http://schemas.openxmlformats.org/officeDocument/2006/relationships/image" Target="../media/image7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6%20-%20Classifica%C3%A7%C3%A3o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e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0756" cy="5032375"/>
              </a:xfrm>
              <a:blipFill>
                <a:blip r:embed="rId2"/>
                <a:stretch>
                  <a:fillRect l="-975" t="-1937" r="-4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comportamento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geral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397237" cy="646331"/>
              </a:xfrm>
              <a:prstGeom prst="rect">
                <a:avLst/>
              </a:prstGeom>
              <a:blipFill>
                <a:blip r:embed="rId4"/>
                <a:stretch>
                  <a:fillRect t="-5660" r="-898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0070C0"/>
                    </a:solidFill>
                  </a:rPr>
                  <a:t>separa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grupos</a:t>
                </a:r>
                <a:r>
                  <a:rPr lang="en-US" dirty="0"/>
                  <a:t> de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145" y="6288387"/>
                <a:ext cx="2692039" cy="646331"/>
              </a:xfrm>
              <a:prstGeom prst="rect">
                <a:avLst/>
              </a:prstGeom>
              <a:blipFill>
                <a:blip r:embed="rId5"/>
                <a:stretch>
                  <a:fillRect t="-5660" r="-1131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classifica</a:t>
                </a:r>
                <a:r>
                  <a:rPr lang="pt-BR" dirty="0"/>
                  <a:t> os dados.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874" y="4442948"/>
                <a:ext cx="2026167" cy="1200329"/>
              </a:xfrm>
              <a:prstGeom prst="rect">
                <a:avLst/>
              </a:prstGeom>
              <a:blipFill>
                <a:blip r:embed="rId6"/>
                <a:stretch>
                  <a:fillRect l="-1205" t="-3046" r="-904" b="-7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de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dois critérios </a:t>
                </a:r>
                <a:r>
                  <a:rPr lang="pt-BR" dirty="0"/>
                  <a:t>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Número total de classes </a:t>
                </a:r>
                <a:r>
                  <a:rPr lang="pt-BR" dirty="0"/>
                  <a:t>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70C0"/>
                    </a:solidFill>
                  </a:rPr>
                  <a:t>Quantidade de classes atribuídas </a:t>
                </a:r>
                <a:r>
                  <a:rPr lang="pt-BR" dirty="0"/>
                  <a:t>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</a:t>
                </a:r>
                <a:r>
                  <a:rPr lang="pt-BR" b="1" dirty="0">
                    <a:solidFill>
                      <a:srgbClr val="00B050"/>
                    </a:solidFill>
                  </a:rPr>
                  <a:t>cada amostra pertence a uma única classe</a:t>
                </a:r>
                <a:r>
                  <a:rPr lang="pt-BR" b="1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</a:t>
            </a:r>
            <a:r>
              <a:rPr lang="pt-BR" b="1" dirty="0">
                <a:solidFill>
                  <a:schemeClr val="accent2"/>
                </a:solidFill>
              </a:rPr>
              <a:t>separar</a:t>
            </a:r>
            <a:r>
              <a:rPr lang="pt-BR" dirty="0"/>
              <a:t> os classificadores dependendo de </a:t>
            </a:r>
            <a:r>
              <a:rPr lang="pt-BR" b="1" dirty="0">
                <a:solidFill>
                  <a:schemeClr val="accent2"/>
                </a:solidFill>
              </a:rPr>
              <a:t>quantas classes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atribuídas a uma única amostra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</a:t>
            </a:r>
            <a:r>
              <a:rPr lang="pt-BR" b="1" dirty="0">
                <a:solidFill>
                  <a:srgbClr val="00B050"/>
                </a:solidFill>
              </a:rPr>
              <a:t>mutuamente exclusivas: uma amostra pertence a apenas uma classe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 classificadores: binários e </a:t>
            </a:r>
            <a:r>
              <a:rPr lang="pt-BR" dirty="0" err="1"/>
              <a:t>multiclasses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indica em sua saída a classe presente na amostra de entrada.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</a:t>
            </a:r>
            <a:r>
              <a:rPr lang="pt-BR" b="1" dirty="0">
                <a:solidFill>
                  <a:srgbClr val="FF0000"/>
                </a:solidFill>
              </a:rPr>
              <a:t>não são </a:t>
            </a:r>
            <a:r>
              <a:rPr lang="pt-BR" b="1" dirty="0">
                <a:solidFill>
                  <a:srgbClr val="0070C0"/>
                </a:solidFill>
              </a:rPr>
              <a:t>mutuamente exclusivas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</a:t>
            </a:r>
            <a:r>
              <a:rPr lang="pt-BR" b="1" dirty="0">
                <a:solidFill>
                  <a:srgbClr val="00B0F0"/>
                </a:solidFill>
              </a:rPr>
              <a:t>amostra pode pertencer a várias classes </a:t>
            </a:r>
            <a:r>
              <a:rPr lang="pt-BR" dirty="0"/>
              <a:t>simultaneamente.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Texto abordando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indica em sua saída as classes presentes na amostra de entrada.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</a:t>
            </a:r>
            <a:r>
              <a:rPr lang="pt-BR" i="1" dirty="0"/>
              <a:t>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Também discutiremos adiante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10496" y="2438805"/>
            <a:ext cx="11371007" cy="198039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Na regressão, os rótulos são valores reais, mas e na classificação?</a:t>
            </a:r>
          </a:p>
        </p:txBody>
      </p:sp>
    </p:spTree>
    <p:extLst>
      <p:ext uri="{BB962C8B-B14F-4D97-AF65-F5344CB8AC3E}">
        <p14:creationId xmlns:p14="http://schemas.microsoft.com/office/powerpoint/2010/main" val="2447407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representamos os rótulos?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única saída escalar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classes </a:t>
                </a:r>
                <a:r>
                  <a:rPr lang="pt-BR" b="1" dirty="0">
                    <a:solidFill>
                      <a:srgbClr val="FF0000"/>
                    </a:solidFill>
                  </a:rPr>
                  <a:t>negativa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rgbClr val="00B0F0"/>
                    </a:solidFill>
                  </a:rPr>
                  <a:t>positiva</a:t>
                </a:r>
                <a:r>
                  <a:rPr lang="pt-BR" dirty="0"/>
                  <a:t>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mas é uma representação pouco usada.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6"/>
              </a:xfrm>
              <a:blipFill>
                <a:blip r:embed="rId2"/>
                <a:stretch>
                  <a:fillRect l="-1074" t="-1937" r="-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>
                    <a:solidFill>
                      <a:srgbClr val="00B050"/>
                    </a:solidFill>
                  </a:rPr>
                  <a:t>vetores binários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Cada elemento do vetor representa uma 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400" b="1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muito usada no treinamento de redes neurais e regressores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6"/>
              </a:xfrm>
              <a:blipFill>
                <a:blip r:embed="rId3"/>
                <a:stretch>
                  <a:fillRect l="-967" t="-2663" r="-1719" b="-3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pertencer a várias classes </a:t>
                </a:r>
                <a:r>
                  <a:rPr lang="pt-BR" b="1" dirty="0"/>
                  <a:t>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Cada elemento do vetor representa uma 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 um ou mais elementos podem ter valores iguais a 1.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</a:t>
                </a:r>
                <a:r>
                  <a:rPr lang="pt-BR" b="1" dirty="0">
                    <a:solidFill>
                      <a:srgbClr val="7030A0"/>
                    </a:solidFill>
                  </a:rPr>
                  <a:t>4 classes 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sz="24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sz="2400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sz="2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sz="24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i="0" dirty="0"/>
                                      <m:t>gato</m:t>
                                    </m:r>
                                  </m:sub>
                                </m:sSub>
                                <m:r>
                                  <a:rPr lang="pt-B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sSub>
                                  <m:sSub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sz="2400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sz="2400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sz="2400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sz="2400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sz="2400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sz="2400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sz="2400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sz="2400" i="0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sz="2400" i="0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178CC1B-0476-E72E-3907-1691E9A3A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FCB2C32-DBBB-47DA-69CC-9680BD07F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704" y="2936318"/>
            <a:ext cx="10515600" cy="97200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classes são separadas?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7660631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97642" y="1825624"/>
                <a:ext cx="69943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 linear, usamos </a:t>
                </a:r>
                <a:r>
                  <a:rPr lang="pt-BR" b="1" dirty="0"/>
                  <a:t>funções hipóteses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aproximar o comportamento geral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(problema binário,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97642" y="1825624"/>
                <a:ext cx="6994358" cy="5032375"/>
              </a:xfrm>
              <a:blipFill>
                <a:blip r:embed="rId3"/>
                <a:stretch>
                  <a:fillRect l="-1569" t="-1937" r="-2877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202462" y="2620145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separe as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onde essa função </a:t>
                </a:r>
                <a:r>
                  <a:rPr lang="pt-BR" b="1" dirty="0">
                    <a:solidFill>
                      <a:srgbClr val="00B050"/>
                    </a:solidFill>
                  </a:rPr>
                  <a:t>corta o espaço de atributos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precisamos de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267167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27D67EF-5748-032C-5ABA-1C88E3FF1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05BC25-ED4D-DA0E-0D98-7D1721A0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F50CBB-9389-65EB-8887-F08C171A2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304534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(1D, 2D, 3D, etc.).</a:t>
            </a:r>
          </a:p>
          <a:p>
            <a:r>
              <a:rPr lang="pt-BR" dirty="0"/>
              <a:t>Em geral, por poderem assumir qualquer formato, usamos </a:t>
            </a:r>
            <a:r>
              <a:rPr lang="pt-BR" b="1" dirty="0">
                <a:solidFill>
                  <a:srgbClr val="00B050"/>
                </a:solidFill>
              </a:rPr>
              <a:t>polinômios</a:t>
            </a:r>
            <a:r>
              <a:rPr lang="pt-BR" dirty="0"/>
              <a:t>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7755E37C-7F45-8EB0-0D9A-32393C415F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670852" y="3943092"/>
            <a:ext cx="3309994" cy="2549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9DF30CC-A4FC-8067-8CA3-8D77CFB8983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459720" y="3941384"/>
            <a:ext cx="3280275" cy="2509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FAFA384-5255-DA6D-7EFC-1E86B7AD25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85005" y="3942137"/>
            <a:ext cx="3269309" cy="25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158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14763" y="1825624"/>
                <a:ext cx="7177238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da função discriminante (polinomial) </a:t>
                </a:r>
                <a:r>
                  <a:rPr lang="pt-BR" dirty="0"/>
                  <a:t>de tal forma que a classe atribuída à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  <a:p>
                <a:r>
                  <a:rPr lang="pt-BR" sz="3000" dirty="0"/>
                  <a:t>Na figura ao lado: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sz="2600" dirty="0"/>
                  <a:t>, a amostra está acima da função.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sz="26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sz="2600" dirty="0"/>
                  <a:t>, a amostra está abaixo da função.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600" dirty="0"/>
                  <a:t>Se </a:t>
                </a:r>
                <a14:m>
                  <m:oMath xmlns:m="http://schemas.openxmlformats.org/officeDocument/2006/math">
                    <m:r>
                      <a:rPr lang="pt-BR" sz="260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6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2600" dirty="0"/>
                  <a:t>, a amostra exatamente sobre a função.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14763" y="1825624"/>
                <a:ext cx="7177238" cy="5032375"/>
              </a:xfrm>
              <a:blipFill>
                <a:blip r:embed="rId3"/>
                <a:stretch>
                  <a:fillRect l="-1529" t="-1816" r="-17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093192" y="2464356"/>
            <a:ext cx="3031267" cy="34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95FE77E-1AF5-B195-98CA-F0244CD43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1AB04CB-33E7-DD03-D00B-357AA177B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6B4183D-5E11-D6B8-82C3-50EA7D70F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26518" y="1825624"/>
                <a:ext cx="696548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 (i.e.,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podemos: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 amostra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escolher a classe que possui mais amostras ou a mais frequente.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Quanto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distante</a:t>
                </a:r>
                <a:r>
                  <a:rPr lang="pt-BR" dirty="0"/>
                  <a:t> a amostra estiver </a:t>
                </a:r>
                <a:r>
                  <a:rPr lang="pt-BR" b="1" dirty="0">
                    <a:solidFill>
                      <a:srgbClr val="7030A0"/>
                    </a:solidFill>
                  </a:rPr>
                  <a:t>da fronteira </a:t>
                </a:r>
                <a:r>
                  <a:rPr lang="pt-BR" dirty="0"/>
                  <a:t>de decisão, </a:t>
                </a:r>
                <a:r>
                  <a:rPr lang="pt-BR" b="1" dirty="0">
                    <a:solidFill>
                      <a:srgbClr val="7030A0"/>
                    </a:solidFill>
                  </a:rPr>
                  <a:t>maior é o valor absoluto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6B4183D-5E11-D6B8-82C3-50EA7D70F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26518" y="1825624"/>
                <a:ext cx="6965482" cy="5032375"/>
              </a:xfrm>
              <a:blipFill>
                <a:blip r:embed="rId3"/>
                <a:stretch>
                  <a:fillRect l="-1575" t="-1937" r="-2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3AC34FBC-B49D-DE8B-47E2-374FB4011E1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41318" y="2368104"/>
            <a:ext cx="3031267" cy="34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3665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6" y="1825624"/>
                <a:ext cx="74349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temos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funções</a:t>
                </a:r>
                <a:r>
                  <a:rPr lang="pt-BR" b="1" dirty="0"/>
                  <a:t> discriminantes (polinomiais)</a:t>
                </a:r>
                <a:r>
                  <a:rPr lang="pt-BR" dirty="0"/>
                  <a:t>, uma por classe.</a:t>
                </a:r>
                <a:r>
                  <a:rPr lang="pt-BR" b="1" dirty="0"/>
                  <a:t> </a:t>
                </a:r>
                <a:endParaRPr lang="pt-BR" dirty="0"/>
              </a:p>
              <a:p>
                <a:r>
                  <a:rPr lang="pt-BR" dirty="0"/>
                  <a:t>E o </a:t>
                </a:r>
                <a:r>
                  <a:rPr lang="pt-BR" b="1" dirty="0"/>
                  <a:t>objetivo é encontrar os </a:t>
                </a:r>
                <a:r>
                  <a:rPr lang="pt-BR" b="1" dirty="0">
                    <a:solidFill>
                      <a:srgbClr val="00B050"/>
                    </a:solidFill>
                  </a:rPr>
                  <a:t>graus</a:t>
                </a:r>
                <a:r>
                  <a:rPr lang="pt-BR" b="1" dirty="0"/>
                  <a:t> e 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b="1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das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funções</a:t>
                </a:r>
                <a:r>
                  <a:rPr lang="pt-BR" b="1" dirty="0"/>
                  <a:t> discriminantes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i="0" dirty="0"/>
                        <m:t>arg</m:t>
                      </m:r>
                      <m:r>
                        <m:rPr>
                          <m:nor/>
                        </m:rPr>
                        <a:rPr lang="pt-BR" i="0" dirty="0"/>
                        <m:t>. 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 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função valor absoluto (i.e., módulo).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6" y="1825624"/>
                <a:ext cx="7434944" cy="5032375"/>
              </a:xfrm>
              <a:blipFill>
                <a:blip r:embed="rId3"/>
                <a:stretch>
                  <a:fillRect l="-1639" t="-1937" r="-2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encontramos o grau e pesos das funções discriminantes?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261" y="1794459"/>
            <a:ext cx="1154069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fizemos com a regressão linear,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Vocês perceberam que as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funções discriminantes</a:t>
                </a:r>
                <a:r>
                  <a:rPr lang="pt-BR" noProof="0" dirty="0"/>
                  <a:t> podem assumir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infinitos valores</a:t>
                </a:r>
                <a:r>
                  <a:rPr lang="pt-BR" noProof="0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1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noProof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  <m:r>
                        <a:rPr lang="pt-BR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Porém, estamos lidando com problemas de classificação: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O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objetivo é atribuir </a:t>
                </a:r>
                <a:r>
                  <a:rPr lang="pt-BR" b="1" noProof="0" dirty="0">
                    <a:solidFill>
                      <a:schemeClr val="accent1"/>
                    </a:solidFill>
                  </a:rPr>
                  <a:t>uma classe</a:t>
                </a:r>
                <a:r>
                  <a:rPr lang="pt-BR" noProof="0" dirty="0">
                    <a:solidFill>
                      <a:schemeClr val="accent1"/>
                    </a:solidFill>
                  </a:rPr>
                  <a:t> </a:t>
                </a:r>
                <a:r>
                  <a:rPr lang="pt-BR" noProof="0" dirty="0"/>
                  <a:t>(i.e., valor de um conjunto finito e discreto)</a:t>
                </a:r>
                <a:r>
                  <a:rPr lang="pt-BR" noProof="0" dirty="0">
                    <a:solidFill>
                      <a:schemeClr val="accent1"/>
                    </a:solidFill>
                  </a:rPr>
                  <a:t> </a:t>
                </a:r>
                <a:r>
                  <a:rPr lang="pt-BR" noProof="0" dirty="0"/>
                  <a:t>ao vetor de atributos,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0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0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Além disso, para calcular o erro entre os rótulos,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, e as saídas do modelo,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noProof="0" dirty="0"/>
                  <a:t>, precisamos de valores no intervalo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b="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noProof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2400" b="0" noProof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 b="0" i="1" noProof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sz="2400" noProof="0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Como mapeamos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noProof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pt-BR" noProof="0" dirty="0"/>
                  <a:t> nesse intervalo?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6892" y="1825624"/>
                <a:ext cx="6975107" cy="5032375"/>
              </a:xfrm>
              <a:blipFill>
                <a:blip r:embed="rId3"/>
                <a:stretch>
                  <a:fillRect l="-1573" t="-2663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221964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No caso da classificação binária, isso pode ser feito através de uma função,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noProof="0" dirty="0"/>
                  <a:t>, que mapeie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noProof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noProof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noProof="0" dirty="0"/>
                  <a:t> no intervalo [0, 1].</a:t>
                </a:r>
              </a:p>
              <a:p>
                <a:r>
                  <a:rPr lang="pt-BR" noProof="0" dirty="0"/>
                  <a:t>Além disso, para que possamos treinar modelos de classificação com o GD, essa função deve ser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contínua</a:t>
                </a:r>
                <a:r>
                  <a:rPr lang="pt-BR" noProof="0" dirty="0"/>
                  <a:t> e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diferenciável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No contexto da classificação,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noProof="0" dirty="0"/>
                  <a:t> é chamada de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função de limiar de decisão </a:t>
                </a:r>
                <a:r>
                  <a:rPr lang="pt-BR" noProof="0" dirty="0"/>
                  <a:t>ou de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função de ativação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Qual função podemos usar?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>
                <a:blip r:embed="rId3"/>
                <a:stretch>
                  <a:fillRect l="-1586" t="-1937" r="-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53098" y="2631846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Utilizando ela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ficam restritos ao intervalo [0, 1].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usamos a função logística, 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interpretada</a:t>
                </a:r>
                <a:r>
                  <a:rPr lang="pt-BR" dirty="0"/>
                  <a:t> como a </a:t>
                </a:r>
                <a:r>
                  <a:rPr lang="pt-BR" b="1" dirty="0">
                    <a:solidFill>
                      <a:srgbClr val="00B050"/>
                    </a:solidFill>
                  </a:rPr>
                  <a:t>probabilidade </a:t>
                </a:r>
                <a:r>
                  <a:rPr lang="pt-BR" b="1" dirty="0">
                    <a:solidFill>
                      <a:srgbClr val="7030A0"/>
                    </a:solidFill>
                  </a:rPr>
                  <a:t>condicional</a:t>
                </a:r>
                <a:r>
                  <a:rPr lang="pt-BR" b="1" dirty="0">
                    <a:solidFill>
                      <a:srgbClr val="00B050"/>
                    </a:solidFill>
                  </a:rPr>
                  <a:t> da classe positiva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53980" cy="5032375"/>
              </a:xfrm>
              <a:blipFill>
                <a:blip r:embed="rId3"/>
                <a:stretch>
                  <a:fillRect l="-1925" t="-1937" r="-1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8A58ED0E-A13A-8658-E325-826B73F5A7BF}"/>
              </a:ext>
            </a:extLst>
          </p:cNvPr>
          <p:cNvGrpSpPr/>
          <p:nvPr/>
        </p:nvGrpSpPr>
        <p:grpSpPr>
          <a:xfrm>
            <a:off x="838200" y="2457968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49" y="1825624"/>
                <a:ext cx="740322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</a:t>
                </a:r>
                <a:r>
                  <a:rPr lang="pt-BR" b="1" dirty="0">
                    <a:solidFill>
                      <a:srgbClr val="7030A0"/>
                    </a:solidFill>
                  </a:rPr>
                  <a:t>aproxima de 0 ou 1 </a:t>
                </a:r>
                <a:r>
                  <a:rPr lang="pt-BR" dirty="0"/>
                  <a:t>conforme o exemplo se </a:t>
                </a:r>
                <a:r>
                  <a:rPr lang="pt-BR" b="1" dirty="0">
                    <a:solidFill>
                      <a:srgbClr val="7030A0"/>
                    </a:solidFill>
                  </a:rPr>
                  <a:t>distancia da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probabilidade de 0.5 </a:t>
                </a:r>
                <a:r>
                  <a:rPr lang="pt-BR" dirty="0"/>
                  <a:t>para amostras posicionadas exatamente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sobre a 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49" y="1825624"/>
                <a:ext cx="7403229" cy="5032375"/>
              </a:xfrm>
              <a:blipFill>
                <a:blip r:embed="rId3"/>
                <a:stretch>
                  <a:fillRect l="-1483" t="-1937" r="-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chemeClr val="accent2"/>
                </a:solidFill>
              </a:rPr>
              <a:t>modelo que estima a probabilidade </a:t>
            </a:r>
            <a:r>
              <a:rPr lang="pt-BR" dirty="0"/>
              <a:t>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Ele 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DDB3487-1B94-983A-D163-0D82B3BE31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88531" y="1825624"/>
                <a:ext cx="6503469" cy="5032375"/>
              </a:xfrm>
            </p:spPr>
            <p:txBody>
              <a:bodyPr/>
              <a:lstStyle/>
              <a:p>
                <a:r>
                  <a:rPr lang="pt-BR" dirty="0"/>
                  <a:t>O diagrama ao lado representa graficamente o regressor logístico.</a:t>
                </a:r>
              </a:p>
              <a:p>
                <a:r>
                  <a:rPr lang="pt-BR" dirty="0"/>
                  <a:t>Ele será útil para entendermos o funcionamento do regressor </a:t>
                </a:r>
                <a:r>
                  <a:rPr lang="pt-BR" i="1" dirty="0"/>
                  <a:t>softmax</a:t>
                </a:r>
                <a:r>
                  <a:rPr lang="pt-BR" dirty="0"/>
                  <a:t>, que é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generalização</a:t>
                </a:r>
                <a:r>
                  <a:rPr lang="pt-BR" dirty="0"/>
                  <a:t> do regressor logístico.</a:t>
                </a:r>
              </a:p>
              <a:p>
                <a:r>
                  <a:rPr lang="pt-BR" dirty="0"/>
                  <a:t>A figura mostra que a combinação linear dos atributos em relação aos pesos (i.e., a função discriminante,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) passa através da função de ativação,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, para gerar valores no intervalo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DDB3487-1B94-983A-D163-0D82B3BE31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88531" y="1825624"/>
                <a:ext cx="6503469" cy="5032375"/>
              </a:xfrm>
              <a:blipFill>
                <a:blip r:embed="rId2"/>
                <a:stretch>
                  <a:fillRect l="-1687" t="-1937" r="-2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Imagem 48">
            <a:extLst>
              <a:ext uri="{FF2B5EF4-FFF2-40B4-BE49-F238E27FC236}">
                <a16:creationId xmlns:a16="http://schemas.microsoft.com/office/drawing/2014/main" xmlns="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495" y="3832832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xmlns="" id="{847D4178-DB02-5EC6-D9E9-55269087A839}"/>
              </a:ext>
            </a:extLst>
          </p:cNvPr>
          <p:cNvSpPr/>
          <p:nvPr/>
        </p:nvSpPr>
        <p:spPr>
          <a:xfrm>
            <a:off x="2377274" y="2539353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xmlns="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234839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xmlns="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925260"/>
                <a:ext cx="89913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xmlns="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379077"/>
                <a:ext cx="43741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xmlns="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3098791"/>
                <a:ext cx="451882" cy="49946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xmlns="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628812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xmlns="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3029606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xmlns="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831093"/>
                <a:ext cx="772141" cy="37460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xmlns="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957020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xmlns="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752939"/>
                <a:ext cx="491212" cy="499469"/>
              </a:xfrm>
              <a:prstGeom prst="rect">
                <a:avLst/>
              </a:prstGeom>
              <a:blipFill>
                <a:blip r:embed="rId8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xmlns="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628812"/>
                <a:ext cx="870440" cy="65641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xmlns="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668739"/>
                <a:ext cx="451881" cy="374602"/>
              </a:xfrm>
              <a:prstGeom prst="rect">
                <a:avLst/>
              </a:prstGeom>
              <a:blipFill>
                <a:blip r:embed="rId10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962640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xmlns="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237678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xmlns="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465251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xmlns="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933326"/>
                <a:ext cx="494049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604286"/>
                <a:ext cx="1369146" cy="7630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xmlns="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chemeClr val="accent2"/>
                </a:solidFill>
              </a:rPr>
              <a:t>quantizar</a:t>
            </a:r>
            <a:r>
              <a:rPr lang="pt-BR" sz="3200" b="1" dirty="0">
                <a:solidFill>
                  <a:srgbClr val="00B050"/>
                </a:solidFill>
              </a:rPr>
              <a:t>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pt-BR" dirty="0"/>
                  <a:t>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quantiza</a:t>
                </a:r>
                <a:r>
                  <a:rPr lang="pt-BR" dirty="0"/>
                  <a:t>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ser ajustado dependendo se a classificação correta de amostras de uma classe é mais importante do que de outra.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xmlns="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xmlns="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xmlns="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xmlns="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xmlns="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xmlns="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xmlns="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xmlns="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xmlns="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xmlns="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17859"/>
                <a:ext cx="1620430" cy="404983"/>
              </a:xfrm>
              <a:prstGeom prst="rect">
                <a:avLst/>
              </a:prstGeom>
              <a:blipFill>
                <a:blip r:embed="rId6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xmlns="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xmlns="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xmlns="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xmlns="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xmlns="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xmlns="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xmlns="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="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xmlns="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xmlns="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xmlns="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xmlns="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xmlns="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xmlns="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xmlns="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xmlns="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xmlns="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EE84DB3-6FF6-D7E6-AD73-9EEB3A588B19}"/>
              </a:ext>
            </a:extLst>
          </p:cNvPr>
          <p:cNvSpPr txBox="1"/>
          <p:nvPr/>
        </p:nvSpPr>
        <p:spPr>
          <a:xfrm>
            <a:off x="6876087" y="3101899"/>
            <a:ext cx="10360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Função de quantização (e.g., degrau)</a:t>
            </a:r>
            <a:endParaRPr lang="en-US" sz="12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xmlns="" id="{34E440BE-433C-9B52-6950-499070CA7501}"/>
              </a:ext>
            </a:extLst>
          </p:cNvPr>
          <p:cNvCxnSpPr>
            <a:cxnSpLocks/>
          </p:cNvCxnSpPr>
          <p:nvPr/>
        </p:nvCxnSpPr>
        <p:spPr>
          <a:xfrm flipV="1">
            <a:off x="6575461" y="2257057"/>
            <a:ext cx="179775" cy="47244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2" y="1825624"/>
            <a:ext cx="6763657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</a:t>
            </a:r>
            <a:r>
              <a:rPr lang="pt-BR" b="1" dirty="0">
                <a:solidFill>
                  <a:srgbClr val="0070C0"/>
                </a:solidFill>
              </a:rPr>
              <a:t>dado uma função discriminante</a:t>
            </a:r>
            <a:r>
              <a:rPr lang="pt-BR" dirty="0"/>
              <a:t>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será</a:t>
                </a:r>
                <a:r>
                  <a:rPr lang="pt-BR" dirty="0" smtClean="0"/>
                  <a:t>, </a:t>
                </a:r>
                <a:r>
                  <a:rPr lang="pt-BR" dirty="0" smtClean="0"/>
                  <a:t>consequentemente,</a:t>
                </a:r>
                <a:r>
                  <a:rPr lang="pt-BR" dirty="0" smtClean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dirty="0" smtClean="0"/>
                  <a:t>várias irregularidades</a:t>
                </a:r>
                <a:r>
                  <a:rPr lang="pt-BR" dirty="0"/>
                  <a:t>, </a:t>
                </a:r>
                <a:r>
                  <a:rPr lang="pt-BR" dirty="0" smtClean="0"/>
                  <a:t>incluindo diversos </a:t>
                </a:r>
                <a:r>
                  <a:rPr lang="pt-BR" b="1" dirty="0" smtClean="0">
                    <a:solidFill>
                      <a:srgbClr val="7030A0"/>
                    </a:solidFill>
                  </a:rPr>
                  <a:t>mínimos locais</a:t>
                </a:r>
                <a:r>
                  <a:rPr lang="pt-BR" dirty="0" smtClean="0"/>
                  <a:t>,</a:t>
                </a:r>
                <a:r>
                  <a:rPr lang="pt-BR" dirty="0" smtClean="0">
                    <a:solidFill>
                      <a:srgbClr val="7030A0"/>
                    </a:solidFill>
                  </a:rPr>
                  <a:t> </a:t>
                </a:r>
                <a:r>
                  <a:rPr lang="pt-BR" dirty="0" smtClean="0"/>
                  <a:t>que </a:t>
                </a:r>
                <a:r>
                  <a:rPr lang="pt-BR" dirty="0"/>
                  <a:t>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 rotWithShape="0"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</p:spPr>
            <p:txBody>
              <a:bodyPr/>
              <a:lstStyle/>
              <a:p>
                <a:r>
                  <a:rPr lang="pt-BR" dirty="0"/>
                  <a:t>Precisamos de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que, no caso da regressão logística,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400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diferença</a:t>
                </a:r>
                <a:r>
                  <a:rPr lang="pt-BR" dirty="0"/>
                  <a:t> entre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prevista </a:t>
                </a:r>
                <a:r>
                  <a:rPr lang="pt-BR" dirty="0"/>
                  <a:t>pelo modelo e a </a:t>
                </a:r>
                <a:r>
                  <a:rPr lang="pt-BR" b="1" dirty="0">
                    <a:solidFill>
                      <a:srgbClr val="0070C0"/>
                    </a:solidFill>
                  </a:rPr>
                  <a:t>distribuição real dos rótulos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</a:t>
                </a:r>
                <a:r>
                  <a:rPr lang="pt-BR" b="1" dirty="0">
                    <a:solidFill>
                      <a:srgbClr val="00B050"/>
                    </a:solidFill>
                  </a:rPr>
                  <a:t>aproximar</a:t>
                </a:r>
                <a:r>
                  <a:rPr lang="pt-BR" dirty="0"/>
                  <a:t> a distribuição real.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8942744" cy="5032375"/>
              </a:xfrm>
              <a:blipFill rotWithShape="0">
                <a:blip r:embed="rId3"/>
                <a:stretch>
                  <a:fillRect l="-1227" t="-1937" r="-2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pt-BR" dirty="0" smtClean="0"/>
                  <a:t>, então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 smtClean="0"/>
                  <a:t> (erro alto, pois errou).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, então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(erro </a:t>
                </a:r>
                <a:r>
                  <a:rPr lang="pt-BR" dirty="0" smtClean="0"/>
                  <a:t>baixo, </a:t>
                </a:r>
                <a:r>
                  <a:rPr lang="pt-BR" dirty="0"/>
                  <a:t>pois </a:t>
                </a:r>
                <a:r>
                  <a:rPr lang="pt-BR" dirty="0" smtClean="0"/>
                  <a:t>acertou). </a:t>
                </a:r>
                <a:endParaRPr lang="pt-BR" sz="2000" dirty="0" smtClean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, então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(erro alto, </a:t>
                </a:r>
                <a:r>
                  <a:rPr lang="pt-BR" dirty="0" smtClean="0"/>
                  <a:t>pois errou).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, então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(erro baixo, pois acertou). </a:t>
                </a:r>
                <a:endParaRPr lang="pt-BR" dirty="0"/>
              </a:p>
              <a:p>
                <a:r>
                  <a:rPr lang="pt-BR" dirty="0" smtClean="0"/>
                  <a:t>Como </a:t>
                </a:r>
                <a:r>
                  <a:rPr lang="pt-BR" dirty="0"/>
                  <a:t>esperado, o erro é muito alto se o classificador erra e tende a zero se acerta.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em relação aos pesos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dirty="0" smtClean="0"/>
                  <a:t>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 smtClean="0"/>
                  <a:t> é a taxa de aprendizado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112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10595984" y="4993344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263352" y="4666593"/>
            <a:ext cx="479436" cy="4601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dirty="0" smtClean="0"/>
                  <a:t>No anexo I, p</a:t>
                </a:r>
                <a:r>
                  <a:rPr lang="pt-BR" sz="2800" dirty="0" smtClean="0"/>
                  <a:t>ara </a:t>
                </a:r>
                <a:r>
                  <a:rPr lang="pt-BR" sz="2800" dirty="0"/>
                  <a:t>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sz="2800" dirty="0"/>
                  <a:t>, mas o resultado pode ser diretamente </a:t>
                </a:r>
                <a:r>
                  <a:rPr lang="pt-BR" sz="2800" b="1" dirty="0">
                    <a:solidFill>
                      <a:schemeClr val="accent2"/>
                    </a:solidFill>
                  </a:rPr>
                  <a:t>estendido para polinômios</a:t>
                </a:r>
                <a:r>
                  <a:rPr lang="pt-BR" sz="280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 smtClean="0"/>
                  <a:t>Para isto, basta criar cada coluna </a:t>
                </a:r>
                <a:r>
                  <a:rPr lang="pt-BR" sz="2400" dirty="0"/>
                  <a:t>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</a:t>
                </a:r>
                <a:r>
                  <a:rPr lang="pt-BR" sz="2400" dirty="0" smtClean="0"/>
                  <a:t>seguindo os </a:t>
                </a:r>
                <a:r>
                  <a:rPr lang="pt-BR" dirty="0" smtClean="0"/>
                  <a:t>atributos </a:t>
                </a:r>
                <a:r>
                  <a:rPr lang="pt-BR" dirty="0"/>
                  <a:t>de cada </a:t>
                </a:r>
                <a:r>
                  <a:rPr lang="pt-BR" sz="2400" dirty="0"/>
                  <a:t>monômio do polinômio.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atributos podem ou não ser combinações </a:t>
                </a:r>
                <a:r>
                  <a:rPr lang="pt-BR" dirty="0" smtClean="0"/>
                  <a:t>ou transformações dos </a:t>
                </a:r>
                <a:r>
                  <a:rPr lang="pt-BR" dirty="0"/>
                  <a:t>originais. 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r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Tudo o que aprendemos na regressão linear </a:t>
                </a:r>
                <a:r>
                  <a:rPr lang="pt-BR" dirty="0"/>
                  <a:t>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se aplica ao treinamento de regressores logísticos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>
                <a:blip r:embed="rId2"/>
                <a:stretch>
                  <a:fillRect l="-925" t="-1937" r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="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755196"/>
                <a:ext cx="7675164" cy="146636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 smtClean="0">
                  <a:ea typeface="Cambria Math" panose="02040503050406030204" pitchFamily="18" charset="0"/>
                </a:endParaRPr>
              </a:p>
              <a:p>
                <a:pPr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</m:oMath>
                </a14:m>
                <a:r>
                  <a:rPr lang="pt-BR" b="0" dirty="0" smtClean="0">
                    <a:ea typeface="Cambria Math" panose="02040503050406030204" pitchFamily="18" charset="0"/>
                  </a:rPr>
                  <a:t> a taxa de aprendizado com um valor maior do que zero</a:t>
                </a:r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755196"/>
                <a:ext cx="7675164" cy="1466363"/>
              </a:xfrm>
              <a:prstGeom prst="rect">
                <a:avLst/>
              </a:prstGeom>
              <a:blipFill rotWithShape="0"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usando </a:t>
                </a:r>
                <a:r>
                  <a:rPr lang="pt-BR" b="1" dirty="0">
                    <a:solidFill>
                      <a:srgbClr val="00B050"/>
                    </a:solidFill>
                  </a:rPr>
                  <a:t>polinômios</a:t>
                </a:r>
                <a:r>
                  <a:rPr lang="pt-BR" b="1" dirty="0"/>
                  <a:t>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</a:t>
                </a:r>
                <a:r>
                  <a:rPr lang="pt-BR" dirty="0"/>
                  <a:t>.: As amostras apresentadas </a:t>
                </a:r>
                <a:r>
                  <a:rPr lang="pt-BR" dirty="0" smtClean="0"/>
                  <a:t>pertencem ao</a:t>
                </a:r>
                <a:r>
                  <a:rPr lang="pt-BR" dirty="0" smtClean="0"/>
                  <a:t> </a:t>
                </a:r>
                <a:r>
                  <a:rPr lang="pt-BR" dirty="0"/>
                  <a:t>conjunto de treinamento.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41504" cy="5032375"/>
              </a:xfrm>
              <a:blipFill rotWithShape="0">
                <a:blip r:embed="rId3"/>
                <a:stretch>
                  <a:fillRect l="-976" t="-1937" r="-14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536291" y="4275115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476816" y="4241718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1806438" y="4336236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5733973" y="4340276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8510544" y="4030480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</a:t>
            </a:r>
            <a:r>
              <a:rPr lang="pt-BR" b="1" dirty="0">
                <a:solidFill>
                  <a:schemeClr val="accent1"/>
                </a:solidFill>
              </a:rPr>
              <a:t>erros nos conjuntos de treinamento e teste </a:t>
            </a:r>
            <a:r>
              <a:rPr lang="pt-BR" dirty="0"/>
              <a:t>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seja, o classificador erraria a classificação de boa parte dos exemplos de ambos os conjuntos (não tem boa capacidade de generalização).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pequenos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evitamos o </a:t>
            </a:r>
            <a:r>
              <a:rPr lang="pt-BR" sz="6000" dirty="0" err="1"/>
              <a:t>subajuste</a:t>
            </a:r>
            <a:r>
              <a:rPr lang="pt-BR" sz="6000" dirty="0"/>
              <a:t> e o </a:t>
            </a:r>
            <a:r>
              <a:rPr lang="pt-BR" sz="6000" dirty="0" err="1"/>
              <a:t>sobreajuste</a:t>
            </a:r>
            <a:r>
              <a:rPr lang="pt-BR" sz="6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901" y="1825625"/>
            <a:ext cx="6667098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L1, L2, </a:t>
            </a:r>
            <a:r>
              <a:rPr lang="pt-BR" i="1" dirty="0"/>
              <a:t>early-stopping</a:t>
            </a:r>
            <a:r>
              <a:rPr lang="pt-BR" dirty="0"/>
              <a:t>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restrições</a:t>
            </a:r>
            <a:r>
              <a:rPr lang="pt-BR" b="0" dirty="0">
                <a:effectLst/>
              </a:rPr>
              <a:t> aplicadas </a:t>
            </a:r>
            <a:r>
              <a:rPr lang="pt-BR" dirty="0"/>
              <a:t>aos valores </a:t>
            </a:r>
            <a:r>
              <a:rPr lang="pt-BR" b="0" dirty="0">
                <a:effectLst/>
              </a:rPr>
              <a:t>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</a:t>
            </a:r>
            <a:r>
              <a:rPr lang="pt-BR" b="1" dirty="0">
                <a:solidFill>
                  <a:srgbClr val="7030A0"/>
                </a:solidFill>
              </a:rPr>
              <a:t>absolutos</a:t>
            </a:r>
            <a:r>
              <a:rPr lang="pt-BR" b="1" dirty="0">
                <a:solidFill>
                  <a:srgbClr val="FF0000"/>
                </a:solidFill>
              </a:rPr>
              <a:t> muito grandes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Dentre elas, a penalização L1 tem uma característica interessante.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522DEDA-3807-EF14-3CE7-1FAB722E7C05}"/>
              </a:ext>
            </a:extLst>
          </p:cNvPr>
          <p:cNvSpPr txBox="1"/>
          <p:nvPr/>
        </p:nvSpPr>
        <p:spPr>
          <a:xfrm>
            <a:off x="387691" y="1908891"/>
            <a:ext cx="197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L1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6C4A8EFC-7937-BF86-E363-A57E85319263}"/>
              </a:ext>
            </a:extLst>
          </p:cNvPr>
          <p:cNvSpPr txBox="1"/>
          <p:nvPr/>
        </p:nvSpPr>
        <p:spPr>
          <a:xfrm>
            <a:off x="3265995" y="1960192"/>
            <a:ext cx="1979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Penalização: norma L2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8A6856C-D264-9FF6-FB62-2D2E2AA6FD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16888" y="2767905"/>
            <a:ext cx="2521378" cy="31746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8D7B119C-22F6-AD4A-9443-7843011C1C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7" t="4070" r="3018" b="6527"/>
          <a:stretch>
            <a:fillRect/>
          </a:stretch>
        </p:blipFill>
        <p:spPr>
          <a:xfrm>
            <a:off x="2986862" y="2741089"/>
            <a:ext cx="2538039" cy="320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Penalização L1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794" y="1825624"/>
            <a:ext cx="6501206" cy="5032375"/>
          </a:xfrm>
        </p:spPr>
        <p:txBody>
          <a:bodyPr>
            <a:normAutofit/>
          </a:bodyPr>
          <a:lstStyle/>
          <a:p>
            <a:r>
              <a:rPr lang="pt-BR" dirty="0"/>
              <a:t>A restrição L1 forma uma </a:t>
            </a:r>
            <a:r>
              <a:rPr lang="pt-BR" b="1" dirty="0">
                <a:solidFill>
                  <a:schemeClr val="accent2"/>
                </a:solidFill>
              </a:rPr>
              <a:t>região de factibilidade</a:t>
            </a:r>
            <a:r>
              <a:rPr lang="pt-BR" dirty="0"/>
              <a:t> com “quinas” (losango). </a:t>
            </a:r>
          </a:p>
          <a:p>
            <a:r>
              <a:rPr lang="pt-BR" dirty="0"/>
              <a:t>A solução ótima tende a cair nessas quinas, onde </a:t>
            </a:r>
            <a:r>
              <a:rPr lang="pt-BR" b="1" dirty="0"/>
              <a:t>alguns pesos são zerados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Atributos com </a:t>
            </a:r>
            <a:r>
              <a:rPr lang="pt-BR" b="1" dirty="0">
                <a:solidFill>
                  <a:srgbClr val="7030A0"/>
                </a:solidFill>
              </a:rPr>
              <a:t>pouca contribuição para o modelo</a:t>
            </a:r>
            <a:r>
              <a:rPr lang="pt-BR" dirty="0"/>
              <a:t> tem seus </a:t>
            </a:r>
            <a:r>
              <a:rPr lang="pt-BR" b="1" dirty="0">
                <a:solidFill>
                  <a:srgbClr val="7030A0"/>
                </a:solidFill>
              </a:rPr>
              <a:t>pesos zerados</a:t>
            </a:r>
            <a:r>
              <a:rPr lang="pt-BR" dirty="0"/>
              <a:t>.</a:t>
            </a:r>
          </a:p>
          <a:p>
            <a:r>
              <a:rPr lang="pt-BR" dirty="0"/>
              <a:t>Isso resulta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seleção automática de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>
                <a:solidFill>
                  <a:schemeClr val="accent1"/>
                </a:solidFill>
              </a:rPr>
              <a:t>modelo mais simples </a:t>
            </a:r>
            <a:r>
              <a:rPr lang="pt-BR" dirty="0"/>
              <a:t>(não </a:t>
            </a:r>
            <a:r>
              <a:rPr lang="pt-BR" dirty="0" err="1"/>
              <a:t>sobreajusta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</a:t>
            </a:r>
            <a:r>
              <a:rPr lang="pt-BR" b="1" dirty="0">
                <a:solidFill>
                  <a:srgbClr val="00B050"/>
                </a:solidFill>
              </a:rPr>
              <a:t>interpretável</a:t>
            </a:r>
            <a:r>
              <a:rPr lang="pt-BR" dirty="0"/>
              <a:t>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Identificamos</a:t>
            </a:r>
            <a:r>
              <a:rPr lang="en-US" dirty="0"/>
              <a:t> </a:t>
            </a:r>
            <a:r>
              <a:rPr lang="en-US" dirty="0" err="1"/>
              <a:t>quais</a:t>
            </a:r>
            <a:r>
              <a:rPr lang="en-US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atributos</a:t>
            </a:r>
            <a:r>
              <a:rPr lang="en-US" dirty="0"/>
              <a:t>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importam</a:t>
            </a:r>
            <a:r>
              <a:rPr lang="en-US" dirty="0"/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A5D2EFB5-F853-0ECE-6705-DF53B688DBE6}"/>
                  </a:ext>
                </a:extLst>
              </p:cNvPr>
              <p:cNvSpPr txBox="1"/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94FA96E5-6E55-D162-F30C-3F9BF88DAB2A}"/>
                  </a:ext>
                </a:extLst>
              </p:cNvPr>
              <p:cNvSpPr txBox="1"/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" y="1825624"/>
                <a:ext cx="5212478" cy="652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xmlns="" id="{819F47D4-12A7-BD7F-55C6-5DB6C2E38871}"/>
                  </a:ext>
                </a:extLst>
              </p:cNvPr>
              <p:cNvSpPr txBox="1"/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2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 </m:t>
                    </m:r>
                  </m:oMath>
                </a14:m>
                <a:r>
                  <a:rPr lang="pt-BR" sz="1200" dirty="0"/>
                  <a:t>é o </a:t>
                </a:r>
                <a:r>
                  <a:rPr lang="pt-BR" sz="1200" b="1" dirty="0"/>
                  <a:t>fator de regularização que restringe a área do losango</a:t>
                </a:r>
                <a:r>
                  <a:rPr lang="pt-BR" sz="1200" b="1" i="1" dirty="0"/>
                  <a:t>.</a:t>
                </a:r>
                <a:endParaRPr lang="pt-BR" sz="12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:a16="http://schemas.microsoft.com/office/drawing/2014/main" xmlns="" id="{B1E50C15-796B-7379-D1C6-2808D390DEE1}"/>
              </a:ext>
            </a:extLst>
          </p:cNvPr>
          <p:cNvSpPr/>
          <p:nvPr/>
        </p:nvSpPr>
        <p:spPr>
          <a:xfrm>
            <a:off x="3429480" y="1796749"/>
            <a:ext cx="995333" cy="590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5FB412B-B269-ECA7-F14E-329AAAC59407}"/>
              </a:ext>
            </a:extLst>
          </p:cNvPr>
          <p:cNvSpPr/>
          <p:nvPr/>
        </p:nvSpPr>
        <p:spPr>
          <a:xfrm>
            <a:off x="2181010" y="1793380"/>
            <a:ext cx="854013" cy="59020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xmlns="" id="{0DBFA6D4-9D17-89FF-09AD-0BB33A989E37}"/>
              </a:ext>
            </a:extLst>
          </p:cNvPr>
          <p:cNvSpPr/>
          <p:nvPr/>
        </p:nvSpPr>
        <p:spPr>
          <a:xfrm rot="5400000">
            <a:off x="2899940" y="990996"/>
            <a:ext cx="281654" cy="32044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213457FF-A7B2-D6E1-9337-CAD908FDDE69}"/>
              </a:ext>
            </a:extLst>
          </p:cNvPr>
          <p:cNvSpPr txBox="1"/>
          <p:nvPr/>
        </p:nvSpPr>
        <p:spPr>
          <a:xfrm>
            <a:off x="1778826" y="1464451"/>
            <a:ext cx="15834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Entropia cruzada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xmlns="" id="{4A11FE2E-094D-7109-7D29-CDC23773C411}"/>
              </a:ext>
            </a:extLst>
          </p:cNvPr>
          <p:cNvSpPr txBox="1"/>
          <p:nvPr/>
        </p:nvSpPr>
        <p:spPr>
          <a:xfrm>
            <a:off x="3250889" y="1464451"/>
            <a:ext cx="13921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Penalização L1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481BBFF1-CC61-26D5-450C-5F573F8A4D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4" b="10736"/>
          <a:stretch>
            <a:fillRect/>
          </a:stretch>
        </p:blipFill>
        <p:spPr>
          <a:xfrm>
            <a:off x="1876926" y="4075412"/>
            <a:ext cx="2008498" cy="252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3456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#6 -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9386</TotalTime>
  <Words>4887</Words>
  <Application>Microsoft Office PowerPoint</Application>
  <PresentationFormat>Widescreen</PresentationFormat>
  <Paragraphs>629</Paragraphs>
  <Slides>58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58</vt:i4>
      </vt:variant>
    </vt:vector>
  </HeadingPairs>
  <TitlesOfParts>
    <vt:vector size="67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Apresentação do PowerPoint</vt:lpstr>
      <vt:lpstr>Classificação binária</vt:lpstr>
      <vt:lpstr>Classificação multiclasse</vt:lpstr>
      <vt:lpstr>Classificação multilabel</vt:lpstr>
      <vt:lpstr>Apresentação do PowerPoint</vt:lpstr>
      <vt:lpstr>Fronteiras de decisão de um classificador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Apresentação do PowerPoint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Penalização L1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2017</cp:revision>
  <dcterms:created xsi:type="dcterms:W3CDTF">2020-01-20T13:50:05Z</dcterms:created>
  <dcterms:modified xsi:type="dcterms:W3CDTF">2026-09-07T19:48:24Z</dcterms:modified>
</cp:coreProperties>
</file>