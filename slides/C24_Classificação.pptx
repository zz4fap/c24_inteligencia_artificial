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handoutMasterIdLst>
    <p:handoutMasterId r:id="rId57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362" r:id="rId17"/>
    <p:sldId id="363" r:id="rId18"/>
    <p:sldId id="364" r:id="rId19"/>
    <p:sldId id="365" r:id="rId20"/>
    <p:sldId id="356" r:id="rId21"/>
    <p:sldId id="441" r:id="rId22"/>
    <p:sldId id="442" r:id="rId23"/>
    <p:sldId id="444" r:id="rId24"/>
    <p:sldId id="445" r:id="rId25"/>
    <p:sldId id="446" r:id="rId26"/>
    <p:sldId id="447" r:id="rId27"/>
    <p:sldId id="458" r:id="rId28"/>
    <p:sldId id="448" r:id="rId29"/>
    <p:sldId id="449" r:id="rId30"/>
    <p:sldId id="459" r:id="rId31"/>
    <p:sldId id="450" r:id="rId32"/>
    <p:sldId id="451" r:id="rId33"/>
    <p:sldId id="452" r:id="rId34"/>
    <p:sldId id="453" r:id="rId35"/>
    <p:sldId id="454" r:id="rId36"/>
    <p:sldId id="409" r:id="rId37"/>
    <p:sldId id="407" r:id="rId38"/>
    <p:sldId id="372" r:id="rId39"/>
    <p:sldId id="410" r:id="rId40"/>
    <p:sldId id="412" r:id="rId41"/>
    <p:sldId id="414" r:id="rId42"/>
    <p:sldId id="417" r:id="rId43"/>
    <p:sldId id="455" r:id="rId44"/>
    <p:sldId id="413" r:id="rId45"/>
    <p:sldId id="418" r:id="rId46"/>
    <p:sldId id="456" r:id="rId47"/>
    <p:sldId id="457" r:id="rId48"/>
    <p:sldId id="293" r:id="rId49"/>
    <p:sldId id="306" r:id="rId50"/>
    <p:sldId id="419" r:id="rId51"/>
    <p:sldId id="438" r:id="rId52"/>
    <p:sldId id="439" r:id="rId53"/>
    <p:sldId id="377" r:id="rId54"/>
    <p:sldId id="378" r:id="rId5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9346" autoAdjust="0"/>
  </p:normalViewPr>
  <p:slideViewPr>
    <p:cSldViewPr snapToGrid="0">
      <p:cViewPr>
        <p:scale>
          <a:sx n="75" d="100"/>
          <a:sy n="75" d="100"/>
        </p:scale>
        <p:origin x="2178" y="59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25/02/2026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Se y=1y=1y=1 → sobra −log⁡(y^)-\log(\</a:t>
            </a:r>
            <a:r>
              <a:rPr lang="es-ES" dirty="0" err="1"/>
              <a:t>hat</a:t>
            </a:r>
            <a:r>
              <a:rPr lang="es-ES" dirty="0"/>
              <a:t>{y})−log(y^​)</a:t>
            </a:r>
          </a:p>
          <a:p>
            <a:r>
              <a:rPr lang="es-ES" dirty="0"/>
              <a:t>Se y=0y=0y=0 → sobra −log⁡(1−y^)-\log(1-\</a:t>
            </a:r>
            <a:r>
              <a:rPr lang="es-ES" dirty="0" err="1"/>
              <a:t>hat</a:t>
            </a:r>
            <a:r>
              <a:rPr lang="es-ES" dirty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6490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2.emf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32.emf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9.png"/><Relationship Id="rId3" Type="http://schemas.openxmlformats.org/officeDocument/2006/relationships/image" Target="../media/image36.png"/><Relationship Id="rId7" Type="http://schemas.openxmlformats.org/officeDocument/2006/relationships/image" Target="../media/image41.png"/><Relationship Id="rId12" Type="http://schemas.openxmlformats.org/officeDocument/2006/relationships/image" Target="../media/image48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7.png"/><Relationship Id="rId5" Type="http://schemas.openxmlformats.org/officeDocument/2006/relationships/image" Target="../media/image38.png"/><Relationship Id="rId10" Type="http://schemas.openxmlformats.org/officeDocument/2006/relationships/image" Target="../media/image46.png"/><Relationship Id="rId4" Type="http://schemas.openxmlformats.org/officeDocument/2006/relationships/image" Target="../media/image37.png"/><Relationship Id="rId9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3.png"/><Relationship Id="rId3" Type="http://schemas.openxmlformats.org/officeDocument/2006/relationships/image" Target="../media/image37.png"/><Relationship Id="rId7" Type="http://schemas.openxmlformats.org/officeDocument/2006/relationships/image" Target="../media/image42.png"/><Relationship Id="rId12" Type="http://schemas.openxmlformats.org/officeDocument/2006/relationships/image" Target="../media/image49.png"/><Relationship Id="rId2" Type="http://schemas.openxmlformats.org/officeDocument/2006/relationships/image" Target="../media/image36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48.png"/><Relationship Id="rId5" Type="http://schemas.openxmlformats.org/officeDocument/2006/relationships/image" Target="../media/image39.png"/><Relationship Id="rId15" Type="http://schemas.openxmlformats.org/officeDocument/2006/relationships/image" Target="../media/image55.png"/><Relationship Id="rId10" Type="http://schemas.openxmlformats.org/officeDocument/2006/relationships/image" Target="../media/image47.png"/><Relationship Id="rId4" Type="http://schemas.openxmlformats.org/officeDocument/2006/relationships/image" Target="../media/image38.png"/><Relationship Id="rId9" Type="http://schemas.openxmlformats.org/officeDocument/2006/relationships/image" Target="../media/image46.png"/><Relationship Id="rId14" Type="http://schemas.openxmlformats.org/officeDocument/2006/relationships/image" Target="../media/image5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0.png"/><Relationship Id="rId4" Type="http://schemas.openxmlformats.org/officeDocument/2006/relationships/image" Target="../media/image5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500.png"/><Relationship Id="rId7" Type="http://schemas.openxmlformats.org/officeDocument/2006/relationships/image" Target="NUL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egress%C3%A3o_log%C3%ADstica.ipynb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3171" cy="304534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Elas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373584" y="4789714"/>
            <a:ext cx="2665013" cy="205293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156662" y="4780067"/>
            <a:ext cx="2641085" cy="202013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79810" y="4784320"/>
            <a:ext cx="2632256" cy="203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nosso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/>
                  <a:t>grau e os pesos da função discriminante (polinomial) </a:t>
                </a:r>
                <a:r>
                  <a:rPr lang="pt-BR" dirty="0"/>
                  <a:t>de tal forma que que a classe atribuída a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escolher a classe que possui mais amostras ou a mais frequente.</a:t>
                </a:r>
              </a:p>
              <a:p>
                <a:r>
                  <a:rPr lang="pt-BR" dirty="0"/>
                  <a:t>Quanto mais distante a amostra estiver da fronteira de decisão, maior é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390548" y="2592216"/>
            <a:ext cx="2841780" cy="32637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graus e os pesos das funções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encontramos o grau e pesos das funções discriminantes?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490" y="1794459"/>
            <a:ext cx="1107077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dirty="0" err="1"/>
                  <a:t>saídas</a:t>
                </a:r>
                <a:r>
                  <a:rPr lang="en-US" dirty="0"/>
                  <a:t> das </a:t>
                </a:r>
                <a:r>
                  <a:rPr lang="en-US" dirty="0" err="1"/>
                  <a:t>funções</a:t>
                </a:r>
                <a:r>
                  <a:rPr lang="en-US" dirty="0"/>
                  <a:t> </a:t>
                </a:r>
                <a:r>
                  <a:rPr lang="en-US" dirty="0" err="1"/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dirty="0" err="1"/>
                  <a:t>infinitos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))∈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objetivo é atribuir uma classe 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/>
                  <a:t>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nesse</a:t>
                </a:r>
                <a:r>
                  <a:rPr lang="en-US" dirty="0"/>
                  <a:t> </a:t>
                </a:r>
                <a:r>
                  <a:rPr lang="en-US" dirty="0" err="1"/>
                  <a:t>intervalo</a:t>
                </a:r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  <a:blipFill rotWithShape="0">
                <a:blip r:embed="rId3"/>
                <a:stretch>
                  <a:fillRect l="-1503" t="-1937" b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586490" y="2253182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Isso pode ser feito através de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, que mapeie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/>
                  <a:t> no intervalo [0, 1].</a:t>
                </a:r>
              </a:p>
              <a:p>
                <a:r>
                  <a:rPr lang="pt-BR" dirty="0"/>
                  <a:t>Além disso, para que possamos treinar modelos de classificação, essa função deve ser </a:t>
                </a:r>
                <a:r>
                  <a:rPr lang="pt-BR" b="1" dirty="0">
                    <a:solidFill>
                      <a:srgbClr val="00B050"/>
                    </a:solidFill>
                  </a:rPr>
                  <a:t>contínua</a:t>
                </a:r>
                <a:r>
                  <a:rPr lang="pt-BR" dirty="0"/>
                  <a:t> e 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diferenciável</a:t>
                </a:r>
                <a:r>
                  <a:rPr lang="pt-BR" b="1" dirty="0">
                    <a:solidFill>
                      <a:srgbClr val="00B050"/>
                    </a:solidFill>
                  </a:rPr>
                  <a:t>.</a:t>
                </a:r>
              </a:p>
              <a:p>
                <a:r>
                  <a:rPr lang="pt-BR" dirty="0"/>
                  <a:t>No contexto da classificação, ela é chamada de função de limiar de decisão ou de ativação.</a:t>
                </a:r>
              </a:p>
              <a:p>
                <a:r>
                  <a:rPr lang="pt-BR" dirty="0"/>
                  <a:t>Qual função podemos usar?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 rotWithShape="0">
                <a:blip r:embed="rId2"/>
                <a:stretch>
                  <a:fillRect l="-1586" t="-1937" r="-15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72349" y="2901353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pt-BR" i="1"/>
                      <m:t>Logistic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A utilizando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interpretada como a probabilidade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i.e., a p</a:t>
                </a:r>
                <a:r>
                  <a:rPr lang="pt-BR" dirty="0">
                    <a:solidFill>
                      <a:schemeClr val="tx1"/>
                    </a:solidFill>
                  </a:rPr>
                  <a:t>robabilidade condicional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8A58ED0E-A13A-8658-E325-826B73F5A7BF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aproxima de 0 ou 1 conforme o exemplo se distancia da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mais distante a amostra estiver da fronteira, maior é a probabilidade dela pertencer à classe daquela região.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probabilidade de 0.5 para amostras posicionadas exatamente sobre 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 rotWithShape="0">
                <a:blip r:embed="rId3"/>
                <a:stretch>
                  <a:fillRect t="-1937" r="-166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modelo que estima a probabilidade 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56807-995A-8917-8F5E-B3843CBAD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B3487-1B94-983A-D163-0D82B3BE3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1776" y="1825624"/>
            <a:ext cx="5429250" cy="5032375"/>
          </a:xfrm>
        </p:spPr>
        <p:txBody>
          <a:bodyPr/>
          <a:lstStyle/>
          <a:p>
            <a:r>
              <a:rPr lang="pt-BR" dirty="0"/>
              <a:t>O diagrama ao lado será útil para entendermos o funcionamento do regressor softmax, que é uma generalização do regressor logístico.</a:t>
            </a:r>
            <a:endParaRPr lang="en-US" dirty="0"/>
          </a:p>
        </p:txBody>
      </p:sp>
      <p:pic>
        <p:nvPicPr>
          <p:cNvPr id="24" name="Imagem 48">
            <a:extLst>
              <a:ext uri="{FF2B5EF4-FFF2-40B4-BE49-F238E27FC236}">
                <a16:creationId xmlns:a16="http://schemas.microsoft.com/office/drawing/2014/main" id="{A5B0F00E-22B3-ED3B-C1B1-645C1A40E52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50" y="3561787"/>
            <a:ext cx="3514404" cy="2906551"/>
          </a:xfrm>
          <a:prstGeom prst="rect">
            <a:avLst/>
          </a:prstGeom>
        </p:spPr>
      </p:pic>
      <p:sp>
        <p:nvSpPr>
          <p:cNvPr id="5" name="Elipse 3">
            <a:extLst>
              <a:ext uri="{FF2B5EF4-FFF2-40B4-BE49-F238E27FC236}">
                <a16:creationId xmlns:a16="http://schemas.microsoft.com/office/drawing/2014/main" id="{847D4178-DB02-5EC6-D9E9-55269087A839}"/>
              </a:ext>
            </a:extLst>
          </p:cNvPr>
          <p:cNvSpPr/>
          <p:nvPr/>
        </p:nvSpPr>
        <p:spPr>
          <a:xfrm>
            <a:off x="2377274" y="2363896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id="{CDBF2F22-CBE7-78F9-D200-02BD2C52FA9E}"/>
              </a:ext>
            </a:extLst>
          </p:cNvPr>
          <p:cNvCxnSpPr>
            <a:cxnSpLocks/>
          </p:cNvCxnSpPr>
          <p:nvPr/>
        </p:nvCxnSpPr>
        <p:spPr>
          <a:xfrm>
            <a:off x="1762125" y="2059382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/>
              <p:nvPr/>
            </p:nvSpPr>
            <p:spPr>
              <a:xfrm>
                <a:off x="948777" y="1749803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77" y="1749803"/>
                <a:ext cx="8991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/>
              <p:nvPr/>
            </p:nvSpPr>
            <p:spPr>
              <a:xfrm>
                <a:off x="969997" y="2203620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997" y="2203620"/>
                <a:ext cx="43741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/>
              <p:nvPr/>
            </p:nvSpPr>
            <p:spPr>
              <a:xfrm>
                <a:off x="912509" y="2923334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9" y="2923334"/>
                <a:ext cx="451882" cy="4994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id="{13AB40B9-DB0D-A31B-0A2E-DCE16766087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407409" y="2453355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id="{C86C0EA5-448C-F200-29DC-E3430A112D31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1364391" y="2854149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/>
              <p:nvPr/>
            </p:nvSpPr>
            <p:spPr>
              <a:xfrm flipH="1">
                <a:off x="755057" y="2655636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55057" y="2655636"/>
                <a:ext cx="772141" cy="37460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id="{9C803F68-3260-A8C1-C911-90EB1488B93F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06726" y="2781563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/>
              <p:nvPr/>
            </p:nvSpPr>
            <p:spPr>
              <a:xfrm>
                <a:off x="4696054" y="2577482"/>
                <a:ext cx="4912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6054" y="2577482"/>
                <a:ext cx="491212" cy="499469"/>
              </a:xfrm>
              <a:prstGeom prst="rect">
                <a:avLst/>
              </a:prstGeom>
              <a:blipFill>
                <a:blip r:embed="rId7"/>
                <a:stretch>
                  <a:fillRect t="-4878" r="-24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/>
              <p:nvPr/>
            </p:nvSpPr>
            <p:spPr>
              <a:xfrm>
                <a:off x="3610017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017" y="2453355"/>
                <a:ext cx="870440" cy="65641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/>
              <p:nvPr/>
            </p:nvSpPr>
            <p:spPr>
              <a:xfrm>
                <a:off x="3216559" y="2493282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559" y="2493282"/>
                <a:ext cx="451881" cy="374602"/>
              </a:xfrm>
              <a:prstGeom prst="rect">
                <a:avLst/>
              </a:prstGeom>
              <a:blipFill>
                <a:blip r:embed="rId9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6753D4DA-27BD-B931-E4CF-C0DDBF63A17C}"/>
              </a:ext>
            </a:extLst>
          </p:cNvPr>
          <p:cNvCxnSpPr>
            <a:cxnSpLocks/>
          </p:cNvCxnSpPr>
          <p:nvPr/>
        </p:nvCxnSpPr>
        <p:spPr>
          <a:xfrm flipV="1">
            <a:off x="4481761" y="2787183"/>
            <a:ext cx="304277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/>
              <p:nvPr/>
            </p:nvSpPr>
            <p:spPr>
              <a:xfrm>
                <a:off x="1953876" y="206222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76" y="2062221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/>
              <p:nvPr/>
            </p:nvSpPr>
            <p:spPr>
              <a:xfrm>
                <a:off x="1617694" y="2289794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694" y="2289794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/>
              <p:nvPr/>
            </p:nvSpPr>
            <p:spPr>
              <a:xfrm>
                <a:off x="1429818" y="2757869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818" y="2757869"/>
                <a:ext cx="49404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/>
              <p:nvPr/>
            </p:nvSpPr>
            <p:spPr>
              <a:xfrm flipH="1">
                <a:off x="2176307" y="2428829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76307" y="2428829"/>
                <a:ext cx="1369146" cy="7630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60647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:a16="http://schemas.microsoft.com/office/drawing/2014/main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rgbClr val="00B050"/>
                </a:solidFill>
              </a:rPr>
              <a:t>quantizar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</p:spPr>
            <p:txBody>
              <a:bodyPr/>
              <a:lstStyle/>
              <a:p>
                <a:r>
                  <a:rPr lang="pt-BR" dirty="0"/>
                  <a:t>Se quantiza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pt-BR" dirty="0"/>
                  <a:t>,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  <a:blipFill>
                <a:blip r:embed="rId3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036BC-304C-89E4-6E45-E80265AEC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1E081-2BAC-FF12-61A3-FE91290A1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5" name="Elipse 3">
            <a:extLst>
              <a:ext uri="{FF2B5EF4-FFF2-40B4-BE49-F238E27FC236}">
                <a16:creationId xmlns:a16="http://schemas.microsoft.com/office/drawing/2014/main" id="{C686CBC5-63B5-53F0-18C1-BC9F5EDC932C}"/>
              </a:ext>
            </a:extLst>
          </p:cNvPr>
          <p:cNvSpPr/>
          <p:nvPr/>
        </p:nvSpPr>
        <p:spPr>
          <a:xfrm>
            <a:off x="4358474" y="2363896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id="{71E28350-13EF-08C6-FA36-BEAF5655EC47}"/>
              </a:ext>
            </a:extLst>
          </p:cNvPr>
          <p:cNvCxnSpPr>
            <a:cxnSpLocks/>
          </p:cNvCxnSpPr>
          <p:nvPr/>
        </p:nvCxnSpPr>
        <p:spPr>
          <a:xfrm>
            <a:off x="3743325" y="2059382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/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/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/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id="{317F574B-4BCF-59EB-E933-FAE5CBB89A4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388609" y="2453355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id="{6E4158CA-F8D8-F0A3-75B6-BB21AD0101E2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345591" y="2854149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/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id="{EC81435A-5AF8-3193-FF65-D3ECD39671D7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5187926" y="2781563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/>
              <p:nvPr/>
            </p:nvSpPr>
            <p:spPr>
              <a:xfrm>
                <a:off x="6461657" y="2384591"/>
                <a:ext cx="4912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1657" y="2384591"/>
                <a:ext cx="491212" cy="499469"/>
              </a:xfrm>
              <a:prstGeom prst="rect">
                <a:avLst/>
              </a:prstGeom>
              <a:blipFill>
                <a:blip r:embed="rId6"/>
                <a:stretch>
                  <a:fillRect t="-4878" r="-23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/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/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blipFill>
                <a:blip r:embed="rId8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0B8D519A-1BA1-56BA-A333-A1945EC0D8A2}"/>
              </a:ext>
            </a:extLst>
          </p:cNvPr>
          <p:cNvCxnSpPr>
            <a:cxnSpLocks/>
            <a:stCxn id="18" idx="3"/>
            <a:endCxn id="16" idx="1"/>
          </p:cNvCxnSpPr>
          <p:nvPr/>
        </p:nvCxnSpPr>
        <p:spPr>
          <a:xfrm>
            <a:off x="6461657" y="2781563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/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/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/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/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/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/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blipFill>
                <a:blip r:embed="rId14"/>
                <a:stretch>
                  <a:fillRect t="-4615" r="-8850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9">
            <a:extLst>
              <a:ext uri="{FF2B5EF4-FFF2-40B4-BE49-F238E27FC236}">
                <a16:creationId xmlns:a16="http://schemas.microsoft.com/office/drawing/2014/main" id="{223D077F-F939-1D57-4EF6-06EE1E56C63C}"/>
              </a:ext>
            </a:extLst>
          </p:cNvPr>
          <p:cNvCxnSpPr>
            <a:cxnSpLocks/>
          </p:cNvCxnSpPr>
          <p:nvPr/>
        </p:nvCxnSpPr>
        <p:spPr>
          <a:xfrm>
            <a:off x="7828570" y="2762776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4119DB4-5404-8020-DD2A-DA7062F0A352}"/>
              </a:ext>
            </a:extLst>
          </p:cNvPr>
          <p:cNvGrpSpPr/>
          <p:nvPr/>
        </p:nvGrpSpPr>
        <p:grpSpPr>
          <a:xfrm>
            <a:off x="3785115" y="3866972"/>
            <a:ext cx="4540714" cy="2700039"/>
            <a:chOff x="4345762" y="3554020"/>
            <a:chExt cx="4540714" cy="2700039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803A326-50AB-9517-C6FE-91E195AE47D4}"/>
                </a:ext>
              </a:extLst>
            </p:cNvPr>
            <p:cNvCxnSpPr/>
            <p:nvPr/>
          </p:nvCxnSpPr>
          <p:spPr>
            <a:xfrm>
              <a:off x="4981195" y="3600613"/>
              <a:ext cx="0" cy="230012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B672A77-82BB-6EB7-C6DB-7D54EC3AB1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1669" y="5886450"/>
              <a:ext cx="3420000" cy="0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32B1295-23AF-1231-DD83-D3B5DB1977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8794" y="4408727"/>
              <a:ext cx="0" cy="1476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E5172CD-0387-6153-3856-2BAC75CCD582}"/>
                </a:ext>
              </a:extLst>
            </p:cNvPr>
            <p:cNvCxnSpPr>
              <a:cxnSpLocks/>
            </p:cNvCxnSpPr>
            <p:nvPr/>
          </p:nvCxnSpPr>
          <p:spPr>
            <a:xfrm>
              <a:off x="6538794" y="4408727"/>
              <a:ext cx="1799255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5FACE98-76FA-4D20-2CE4-B7A19D98AD5C}"/>
                </a:ext>
              </a:extLst>
            </p:cNvPr>
            <p:cNvCxnSpPr>
              <a:cxnSpLocks/>
            </p:cNvCxnSpPr>
            <p:nvPr/>
          </p:nvCxnSpPr>
          <p:spPr>
            <a:xfrm>
              <a:off x="4984314" y="4408727"/>
              <a:ext cx="1548000" cy="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F4C5E6E-34F8-40D7-350D-16397EDB4224}"/>
                </a:ext>
              </a:extLst>
            </p:cNvPr>
            <p:cNvSpPr txBox="1"/>
            <p:nvPr/>
          </p:nvSpPr>
          <p:spPr>
            <a:xfrm>
              <a:off x="4669983" y="42005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1</a:t>
              </a:r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/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980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7852796-11FE-3AEE-08F8-0052F6113644}"/>
                </a:ext>
              </a:extLst>
            </p:cNvPr>
            <p:cNvSpPr txBox="1"/>
            <p:nvPr/>
          </p:nvSpPr>
          <p:spPr>
            <a:xfrm>
              <a:off x="6305202" y="5884727"/>
              <a:ext cx="476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0.5</a:t>
              </a:r>
              <a:endParaRPr lang="en-US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E0840B1-31F0-C634-0536-8ADDE9F11FB4}"/>
                </a:ext>
              </a:extLst>
            </p:cNvPr>
            <p:cNvSpPr txBox="1"/>
            <p:nvPr/>
          </p:nvSpPr>
          <p:spPr>
            <a:xfrm>
              <a:off x="4663733" y="569631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</a:t>
              </a:r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/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blipFill>
                  <a:blip r:embed="rId16"/>
                  <a:stretch>
                    <a:fillRect t="-6557" r="-22549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03017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dado uma função discriminante,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2663" r="-1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</p:spPr>
            <p:txBody>
              <a:bodyPr/>
              <a:lstStyle/>
              <a:p>
                <a:r>
                  <a:rPr lang="pt-BR" dirty="0"/>
                  <a:t>Precisamos usar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uma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 no caso da regressão logística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quão diferente está a distribuição prevista pelo modelo da distribuição real dos rótulos.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modelo aprende a aproximar a distribuição real.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  <a:blipFill rotWithShape="0">
                <a:blip r:embed="rId3"/>
                <a:stretch>
                  <a:fillRect l="-1217" t="-1937" r="-13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sz="2000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 O erro é muito alto se o classificador erra e tende a zero se acerta.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Uma má notícia, </a:t>
            </a:r>
            <a:r>
              <a:rPr lang="pt-BR" b="1" dirty="0">
                <a:solidFill>
                  <a:srgbClr val="00B050"/>
                </a:solidFill>
              </a:rPr>
              <a:t>não existe uma equação analítica </a:t>
            </a:r>
            <a:r>
              <a:rPr lang="pt-BR" dirty="0"/>
              <a:t>que nos dá diretamente os </a:t>
            </a:r>
            <a:r>
              <a:rPr lang="pt-BR" b="1" dirty="0"/>
              <a:t>pesos</a:t>
            </a:r>
            <a:r>
              <a:rPr lang="pt-BR" dirty="0"/>
              <a:t> que minimizam essa </a:t>
            </a:r>
            <a:r>
              <a:rPr lang="pt-BR" b="1" dirty="0"/>
              <a:t>função de erro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600" dirty="0"/>
              <a:t>Ou seja, não há um equivalente da </a:t>
            </a:r>
            <a:r>
              <a:rPr lang="pt-BR" sz="2600" b="1" dirty="0"/>
              <a:t>equação normal</a:t>
            </a:r>
            <a:r>
              <a:rPr lang="pt-BR" sz="2600" dirty="0"/>
              <a:t>. </a:t>
            </a:r>
          </a:p>
          <a:p>
            <a:r>
              <a:rPr lang="pt-BR" dirty="0"/>
              <a:t>Entretanto, a boa notícia é que por ser </a:t>
            </a:r>
            <a:r>
              <a:rPr lang="pt-BR" b="1" dirty="0">
                <a:solidFill>
                  <a:srgbClr val="00B050"/>
                </a:solidFill>
              </a:rPr>
              <a:t>convexa</a:t>
            </a:r>
            <a:r>
              <a:rPr lang="pt-BR" dirty="0"/>
              <a:t> e </a:t>
            </a:r>
            <a:r>
              <a:rPr lang="pt-BR" b="1" dirty="0" err="1">
                <a:solidFill>
                  <a:srgbClr val="00B050"/>
                </a:solidFill>
              </a:rPr>
              <a:t>diferenciável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(GD)</a:t>
            </a:r>
            <a:r>
              <a:rPr lang="pt-BR" dirty="0"/>
              <a:t>.</a:t>
            </a:r>
          </a:p>
          <a:p>
            <a:r>
              <a:rPr lang="pt-BR" dirty="0"/>
              <a:t>Podemos implementar todas as versões do </a:t>
            </a:r>
            <a:r>
              <a:rPr lang="pt-BR" b="1" dirty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/>
                  <a:t>vetor gradiente </a:t>
                </a:r>
                <a:r>
                  <a:rPr lang="pt-BR" dirty="0"/>
                  <a:t>da</a:t>
                </a:r>
                <a:r>
                  <a:rPr lang="pt-BR" b="1" dirty="0"/>
                  <a:t> função da entropia cruzada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</m:lim>
                              </m:limLow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a matriz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são vetores contendo todos os valores esperados e preditos, respectivamente.</a:t>
                </a:r>
              </a:p>
              <a:p>
                <a:r>
                  <a:rPr lang="pt-BR" dirty="0"/>
                  <a:t>O anexo I apresenta os passos para se encontrar o vetor gradiente.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id="{5E51EB45-1595-7630-C24F-EAA34F018369}"/>
              </a:ext>
            </a:extLst>
          </p:cNvPr>
          <p:cNvSpPr txBox="1"/>
          <p:nvPr/>
        </p:nvSpPr>
        <p:spPr>
          <a:xfrm>
            <a:off x="10676368" y="4338826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 flipV="1">
            <a:off x="10174780" y="4203892"/>
            <a:ext cx="648391" cy="2683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um </a:t>
                </a:r>
                <a:r>
                  <a:rPr lang="pt-BR" sz="2800" b="1" dirty="0"/>
                  <a:t>hiperplano</a:t>
                </a:r>
                <a:r>
                  <a:rPr lang="pt-BR" sz="2800" dirty="0"/>
                  <a:t>, mas o resultado pode ser diretamente estendido para polinômios.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Cada coluna de </a:t>
                </a: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sz="2400" dirty="0"/>
                  <a:t> é formada pelas combinações dos atributos originais </a:t>
                </a:r>
                <a:r>
                  <a:rPr lang="pt-BR" dirty="0"/>
                  <a:t>de cada </a:t>
                </a:r>
                <a:r>
                  <a:rPr lang="pt-BR" sz="2400" dirty="0"/>
                  <a:t>monômio do polinômio.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dirty="0"/>
                  <a:t> </a:t>
                </a:r>
                <a:r>
                  <a:rPr lang="pt-BR" dirty="0"/>
                  <a:t>acima</a:t>
                </a:r>
                <a:r>
                  <a:rPr lang="pt-BR" b="1" dirty="0"/>
                  <a:t>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 rotWithShape="0">
                <a:blip r:embed="rId3"/>
                <a:stretch>
                  <a:fillRect l="-9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Pseudocódigo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 posse do </a:t>
                </a:r>
                <a:r>
                  <a:rPr lang="pt-BR" b="1" dirty="0"/>
                  <a:t>vetor gradiente</a:t>
                </a:r>
                <a:r>
                  <a:rPr lang="pt-BR" dirty="0"/>
                  <a:t>, podemos usá-lo com qualquer versão do </a:t>
                </a:r>
                <a:r>
                  <a:rPr lang="pt-BR" b="1" dirty="0"/>
                  <a:t>gradiente descendente</a:t>
                </a:r>
                <a:r>
                  <a:rPr lang="pt-BR" dirty="0"/>
                  <a:t> para atualizar os pesos.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Tudo o que aprendemos na regressão linear com relação ao treinamento de modelos com o gradiente descendente, incluindo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se aplica ao treinamento de </a:t>
                </a:r>
                <a:r>
                  <a:rPr lang="pt-BR" dirty="0" err="1"/>
                  <a:t>regressores</a:t>
                </a:r>
                <a:r>
                  <a:rPr lang="pt-BR" dirty="0"/>
                  <a:t> logísticos.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  <a:blipFill rotWithShape="0">
                <a:blip r:embed="rId2"/>
                <a:stretch>
                  <a:fillRect l="-92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/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400" dirty="0"/>
                  <a:t> </a:t>
                </a:r>
                <a:r>
                  <a:rPr lang="nl-BE" dirty="0"/>
                  <a:t>(</a:t>
                </a:r>
                <a:r>
                  <a:rPr lang="nl-BE" b="1" i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dirty="0"/>
                  <a:t>)</a:t>
                </a: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blipFill rotWithShape="0">
                <a:blip r:embed="rId3"/>
                <a:stretch>
                  <a:fillRect l="-63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 como ocorre com a </a:t>
                </a:r>
                <a:r>
                  <a:rPr lang="pt-BR" b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dirty="0"/>
                  <a:t> </a:t>
                </a:r>
                <a:r>
                  <a:rPr lang="pt-BR" dirty="0"/>
                  <a:t>estão sujeitos à </a:t>
                </a:r>
                <a:r>
                  <a:rPr lang="pt-BR" b="1" dirty="0" err="1"/>
                  <a:t>sobreajuste</a:t>
                </a:r>
                <a:r>
                  <a:rPr lang="pt-BR" dirty="0"/>
                  <a:t> e </a:t>
                </a:r>
                <a:r>
                  <a:rPr lang="pt-BR" b="1" dirty="0" err="1"/>
                  <a:t>subajuste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Qual deve ser a complexidade, no caso de polinômios, o grau, da </a:t>
                </a:r>
                <a:r>
                  <a:rPr lang="pt-BR" b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 rotWithShape="0"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id="{DF911177-1762-1C13-7224-7DC9C7576C34}"/>
              </a:ext>
            </a:extLst>
          </p:cNvPr>
          <p:cNvGrpSpPr/>
          <p:nvPr/>
        </p:nvGrpSpPr>
        <p:grpSpPr>
          <a:xfrm>
            <a:off x="545916" y="4149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id="{9BA09B05-5A67-1E11-F943-345BEBEF6CD7}"/>
              </a:ext>
            </a:extLst>
          </p:cNvPr>
          <p:cNvGrpSpPr/>
          <p:nvPr/>
        </p:nvGrpSpPr>
        <p:grpSpPr>
          <a:xfrm>
            <a:off x="4486441" y="4116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id="{1CF5EF7B-31C2-BF66-57C5-B83BDD880795}"/>
              </a:ext>
            </a:extLst>
          </p:cNvPr>
          <p:cNvSpPr txBox="1"/>
          <p:nvPr/>
        </p:nvSpPr>
        <p:spPr>
          <a:xfrm>
            <a:off x="1816063" y="4211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id="{6B520180-B7A3-73C8-75FE-9FD42CDF419E}"/>
              </a:ext>
            </a:extLst>
          </p:cNvPr>
          <p:cNvSpPr txBox="1"/>
          <p:nvPr/>
        </p:nvSpPr>
        <p:spPr>
          <a:xfrm>
            <a:off x="5743598" y="4215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id="{B0CAB38C-895F-C677-2B43-E8AA71744A23}"/>
              </a:ext>
            </a:extLst>
          </p:cNvPr>
          <p:cNvGrpSpPr/>
          <p:nvPr/>
        </p:nvGrpSpPr>
        <p:grpSpPr>
          <a:xfrm>
            <a:off x="8520169" y="3905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exemplos.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dirty="0"/>
              <a:t>flexibilidade excessiva </a:t>
            </a:r>
            <a:r>
              <a:rPr lang="pt-BR" dirty="0"/>
              <a:t>do polinômio (i.e., grau elevado) dá origem a contorções na </a:t>
            </a:r>
            <a:r>
              <a:rPr lang="pt-BR" b="1" dirty="0"/>
              <a:t>fronteira de decisão </a:t>
            </a:r>
            <a:r>
              <a:rPr lang="pt-BR" dirty="0"/>
              <a:t>na tentativa de </a:t>
            </a:r>
            <a:r>
              <a:rPr lang="pt-BR" b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88076" y="2507269"/>
            <a:ext cx="10515600" cy="17654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evitamos o </a:t>
            </a:r>
            <a:r>
              <a:rPr lang="pt-BR" sz="6000" i="1" dirty="0" err="1"/>
              <a:t>subajuste</a:t>
            </a:r>
            <a:r>
              <a:rPr lang="pt-BR" sz="6000" i="1" dirty="0"/>
              <a:t> e o </a:t>
            </a:r>
            <a:r>
              <a:rPr lang="pt-BR" sz="6000" i="1" dirty="0" err="1"/>
              <a:t>sobreajuste</a:t>
            </a:r>
            <a:r>
              <a:rPr lang="pt-BR" sz="6000" i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015905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8722" y="1825625"/>
            <a:ext cx="6069204" cy="5032376"/>
          </a:xfrm>
        </p:spPr>
        <p:txBody>
          <a:bodyPr>
            <a:normAutofit/>
          </a:bodyPr>
          <a:lstStyle/>
          <a:p>
            <a:r>
              <a:rPr lang="pt-BR" dirty="0"/>
              <a:t>Podemos usar </a:t>
            </a:r>
            <a:r>
              <a:rPr lang="pt-BR" b="1" dirty="0">
                <a:solidFill>
                  <a:schemeClr val="accent2"/>
                </a:solidFill>
              </a:rPr>
              <a:t>técnicas de validação cruzada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como o </a:t>
            </a:r>
            <a:r>
              <a:rPr lang="pt-BR" i="1" dirty="0"/>
              <a:t>k-</a:t>
            </a:r>
            <a:r>
              <a:rPr lang="pt-BR" i="1" dirty="0" err="1"/>
              <a:t>fold</a:t>
            </a:r>
            <a:r>
              <a:rPr lang="pt-BR" dirty="0"/>
              <a:t> para encontrar a complexidade ideal para o modelo.</a:t>
            </a:r>
          </a:p>
          <a:p>
            <a:r>
              <a:rPr lang="pt-BR" dirty="0"/>
              <a:t>Esses técnicas nos auxiliam a encontrar um modelo que apresente uma </a:t>
            </a:r>
            <a:r>
              <a:rPr lang="pt-BR" b="1" dirty="0">
                <a:solidFill>
                  <a:srgbClr val="00B050"/>
                </a:solidFill>
              </a:rPr>
              <a:t>relação de compromisso entre flexibilidade e capacidade de generalização</a:t>
            </a:r>
            <a:r>
              <a:rPr lang="pt-BR" dirty="0"/>
              <a:t>, evitando assim os dois problemas.</a:t>
            </a:r>
          </a:p>
        </p:txBody>
      </p:sp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dirty="0">
                <a:solidFill>
                  <a:srgbClr val="7030A0"/>
                </a:solidFill>
              </a:rPr>
              <a:t>evitar </a:t>
            </a:r>
            <a:r>
              <a:rPr lang="pt-BR" b="1" dirty="0">
                <a:solidFill>
                  <a:schemeClr val="accent2"/>
                </a:solidFill>
              </a:rPr>
              <a:t>apenas</a:t>
            </a:r>
            <a:r>
              <a:rPr lang="pt-BR" b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dirty="0">
                <a:solidFill>
                  <a:srgbClr val="00B050"/>
                </a:solidFill>
              </a:rPr>
              <a:t>r</a:t>
            </a:r>
            <a:r>
              <a:rPr lang="pt-BR" b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dirty="0">
                <a:effectLst/>
              </a:rPr>
              <a:t>do modelo por meio de </a:t>
            </a:r>
            <a:r>
              <a:rPr lang="pt-BR" b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regressão_logística.ipynb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093325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Lista</a:t>
            </a:r>
            <a:r>
              <a:rPr lang="en-US" dirty="0"/>
              <a:t> #6 - </a:t>
            </a:r>
            <a:r>
              <a:rPr lang="en-US" dirty="0" err="1"/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8892</TotalTime>
  <Words>5858</Words>
  <Application>Microsoft Office PowerPoint</Application>
  <PresentationFormat>Widescreen</PresentationFormat>
  <Paragraphs>529</Paragraphs>
  <Slides>54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3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PowerPoint Presentation</vt:lpstr>
      <vt:lpstr>PowerPoint Presentation</vt:lpstr>
      <vt:lpstr>Tipos de classificadores</vt:lpstr>
      <vt:lpstr>Tipos de classificadores</vt:lpstr>
      <vt:lpstr>Algoritmos de classificação</vt:lpstr>
      <vt:lpstr>PowerPoint Presentation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PowerPoint Presentation</vt:lpstr>
      <vt:lpstr>PowerPoint Presentation</vt:lpstr>
      <vt:lpstr>Como mapeamos g(x(i)) nas classes?</vt:lpstr>
      <vt:lpstr>Função de limiar de decisão ou de ativação</vt:lpstr>
      <vt:lpstr>PowerPoint Presentation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O diagrama do regressor logístico</vt:lpstr>
      <vt:lpstr>PowerPoint Presentation</vt:lpstr>
      <vt:lpstr>Regressão logística</vt:lpstr>
      <vt:lpstr>O diagrama do regressor logístico</vt:lpstr>
      <vt:lpstr>Função de erro</vt:lpstr>
      <vt:lpstr>Função de erro</vt:lpstr>
      <vt:lpstr>Função de erro</vt:lpstr>
      <vt:lpstr>Função de erro</vt:lpstr>
      <vt:lpstr>Função de erro</vt:lpstr>
      <vt:lpstr>Vetor gradiente</vt:lpstr>
      <vt:lpstr>Processo de treinamento</vt:lpstr>
      <vt:lpstr>Pseudocódigo do gradiente descendente</vt:lpstr>
      <vt:lpstr>Subajuste e sobreajuste</vt:lpstr>
      <vt:lpstr>Subajuste e sobreajuste</vt:lpstr>
      <vt:lpstr>Subajuste e sobreajuste</vt:lpstr>
      <vt:lpstr>Subajuste e sobreajuste</vt:lpstr>
      <vt:lpstr>PowerPoint Presentation</vt:lpstr>
      <vt:lpstr>Como evitamos o subajuste e sobreajuste?</vt:lpstr>
      <vt:lpstr>Como evitamos o subajuste e sobreajuste?</vt:lpstr>
      <vt:lpstr>Exemplo</vt:lpstr>
      <vt:lpstr>Lista de exercícios</vt:lpstr>
      <vt:lpstr>PowerPoint Presentation</vt:lpstr>
      <vt:lpstr>PowerPoint Presentation</vt:lpstr>
      <vt:lpstr>PowerPoint Presentation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1868</cp:revision>
  <dcterms:created xsi:type="dcterms:W3CDTF">2020-01-20T13:50:05Z</dcterms:created>
  <dcterms:modified xsi:type="dcterms:W3CDTF">2026-02-25T12:20:00Z</dcterms:modified>
</cp:coreProperties>
</file>