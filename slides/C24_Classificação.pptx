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6"/>
  </p:notesMasterIdLst>
  <p:handoutMasterIdLst>
    <p:handoutMasterId r:id="rId57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44" r:id="rId14"/>
    <p:sldId id="360" r:id="rId15"/>
    <p:sldId id="345" r:id="rId16"/>
    <p:sldId id="362" r:id="rId17"/>
    <p:sldId id="363" r:id="rId18"/>
    <p:sldId id="364" r:id="rId19"/>
    <p:sldId id="365" r:id="rId20"/>
    <p:sldId id="356" r:id="rId21"/>
    <p:sldId id="441" r:id="rId22"/>
    <p:sldId id="442" r:id="rId23"/>
    <p:sldId id="444" r:id="rId24"/>
    <p:sldId id="445" r:id="rId25"/>
    <p:sldId id="446" r:id="rId26"/>
    <p:sldId id="447" r:id="rId27"/>
    <p:sldId id="458" r:id="rId28"/>
    <p:sldId id="448" r:id="rId29"/>
    <p:sldId id="449" r:id="rId30"/>
    <p:sldId id="459" r:id="rId31"/>
    <p:sldId id="450" r:id="rId32"/>
    <p:sldId id="451" r:id="rId33"/>
    <p:sldId id="452" r:id="rId34"/>
    <p:sldId id="453" r:id="rId35"/>
    <p:sldId id="454" r:id="rId36"/>
    <p:sldId id="409" r:id="rId37"/>
    <p:sldId id="407" r:id="rId38"/>
    <p:sldId id="372" r:id="rId39"/>
    <p:sldId id="410" r:id="rId40"/>
    <p:sldId id="412" r:id="rId41"/>
    <p:sldId id="414" r:id="rId42"/>
    <p:sldId id="417" r:id="rId43"/>
    <p:sldId id="455" r:id="rId44"/>
    <p:sldId id="413" r:id="rId45"/>
    <p:sldId id="418" r:id="rId46"/>
    <p:sldId id="456" r:id="rId47"/>
    <p:sldId id="457" r:id="rId48"/>
    <p:sldId id="293" r:id="rId49"/>
    <p:sldId id="306" r:id="rId50"/>
    <p:sldId id="419" r:id="rId51"/>
    <p:sldId id="438" r:id="rId52"/>
    <p:sldId id="439" r:id="rId53"/>
    <p:sldId id="377" r:id="rId54"/>
    <p:sldId id="378" r:id="rId55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89346" autoAdjust="0"/>
  </p:normalViewPr>
  <p:slideViewPr>
    <p:cSldViewPr snapToGrid="0">
      <p:cViewPr varScale="1">
        <p:scale>
          <a:sx n="99" d="100"/>
          <a:sy n="99" d="100"/>
        </p:scale>
        <p:origin x="1254" y="78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stackexchange.com/questions/477207/derivative-of-cost-function-for-logistic-regression" TargetMode="External"/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098F72-2922-82B3-5C99-E3BEF8098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32C96A-22C4-D1DD-3FBA-62861D4BDF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B3956BA-58DA-02D3-A28D-2E027144F6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BF6E418-7A70-5EBA-2166-ABCAA4B4C5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690209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006070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281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 regressão logística, apesar de seu nome, é um modelo linear para classificação, em vez de regressão. A regressão logística também é conhecida na literatura como regressão </a:t>
            </a:r>
            <a:r>
              <a:rPr lang="pt-BR" dirty="0" err="1"/>
              <a:t>logit</a:t>
            </a:r>
            <a:r>
              <a:rPr lang="pt-BR" dirty="0"/>
              <a:t>, classificação de entropia máxima (</a:t>
            </a:r>
            <a:r>
              <a:rPr lang="pt-BR" dirty="0" err="1"/>
              <a:t>MaxEnt</a:t>
            </a:r>
            <a:r>
              <a:rPr lang="pt-BR" dirty="0"/>
              <a:t>) ou classificador log-linear. Nesse modelo, as probabilidades que descrevem os possíveis resultados de um único estudo são modeladas usando uma função logística.</a:t>
            </a:r>
          </a:p>
          <a:p>
            <a:endParaRPr lang="pt-BR" dirty="0"/>
          </a:p>
          <a:p>
            <a:r>
              <a:rPr lang="pt-BR" dirty="0"/>
              <a:t>A regressão logística é um método para classificação binária. Ela classifica </a:t>
            </a:r>
            <a:r>
              <a:rPr lang="pt-BR" baseline="0" dirty="0"/>
              <a:t>os</a:t>
            </a:r>
            <a:r>
              <a:rPr lang="pt-BR" dirty="0"/>
              <a:t> pontos de um conjunto de dados em duas classes ou categorias distintas.</a:t>
            </a:r>
          </a:p>
          <a:p>
            <a:endParaRPr lang="pt-BR" dirty="0"/>
          </a:p>
          <a:p>
            <a:r>
              <a:rPr lang="pt-BR" dirty="0"/>
              <a:t>Por simplicidade, vamos chamá-las de classe 1 e classe 2. O modelo nos dará a probabilidade de um determinado ponto (ou exemplo) pertencer à classe 2. Se a probabilidade for baixa (inferior a 50%), então o classificaremos na categoria 1. Caso contrário, ele cai na classe 2.</a:t>
            </a:r>
          </a:p>
          <a:p>
            <a:endParaRPr lang="pt-BR" dirty="0"/>
          </a:p>
          <a:p>
            <a:r>
              <a:rPr lang="pt-BR" dirty="0"/>
              <a:t>A regressão logística é ótima para situações em que você precisa classificar entre duas categorias/classes.</a:t>
            </a:r>
          </a:p>
          <a:p>
            <a:endParaRPr lang="pt-BR" dirty="0"/>
          </a:p>
          <a:p>
            <a:r>
              <a:rPr lang="pt-BR" dirty="0"/>
              <a:t>A regressão logística funciona usando uma combinação linear de</a:t>
            </a:r>
            <a:r>
              <a:rPr lang="pt-BR" baseline="0" dirty="0"/>
              <a:t> atributos</a:t>
            </a:r>
            <a:r>
              <a:rPr lang="pt-BR" dirty="0"/>
              <a:t>, para que várias fontes de informação possam governar a saída do modelo. Os parâmetros do modelo são os pesos dos vários atributos e representam sua importância relativa para o resultado.</a:t>
            </a:r>
          </a:p>
          <a:p>
            <a:endParaRPr lang="pt-BR" dirty="0"/>
          </a:p>
          <a:p>
            <a:r>
              <a:rPr lang="pt-BR" dirty="0"/>
              <a:t>Mesmo sendo uma técnica simples, a regressão logística é muito utilizada em aplicações</a:t>
            </a:r>
            <a:r>
              <a:rPr lang="pt-BR" baseline="0" dirty="0"/>
              <a:t> do mundo real em áreas como medicina, propaganda, análise de crédito, saúde pública entre outras.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79008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39043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Logistic regression is emphatically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not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classification algorithm on its own. It is only a classification algorithm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combination with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decision rule that makes dichotomous the predicted probabilities of the outcome. Logistic regression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regression model because it estimates the probability of class membership as a (transformation of a) multilinear function of the features.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352381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1538407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:r>
                  <a:rPr lang="pt-BR" b="1" i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r>
                  <a:rPr lang="pt-BR" dirty="0"/>
                  <a:t>[2] https://www.google.com/url?sa=i&amp;url=https%3A%2F%2Fwww.cs.ubc.ca%2Flabs%2Flci%2Fmlrg%2Fslides%2Fnon_convex_optimization.pdf&amp;psig=AOvVaw0AaqLwjchgyY7K1ckrTpcs&amp;ust=1693136067560000&amp;source=images&amp;cd=vfe&amp;opi=89978449&amp;ved=0CBIQjhxqFwoTCKDc18Cd-oADFQAAAAAdAAAAABAE</a:t>
                </a:r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99466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/>
                  <a:t>O objetivo do treinamento é definir o vetor de pesos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 para que o modelo atribua valores altos de probabilidade para exemplos positivos (i.e.,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≥0.5</m:t>
                    </m:r>
                  </m:oMath>
                </a14:m>
                <a:r>
                  <a:rPr lang="pt-BR" dirty="0"/>
                  <a:t>) e valores baixos de probabilidade para exemplos negativos (i.e.,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0.5</m:t>
                    </m:r>
                  </m:oMath>
                </a14:m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Anotações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marR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lang="pt-BR" dirty="0" smtClean="0"/>
                  <a:t>O objetivo do treinamento é definir o vetor de pesos </a:t>
                </a:r>
                <a:r>
                  <a:rPr lang="pt-BR" b="1" i="0" smtClean="0">
                    <a:latin typeface="Cambria Math" panose="02040503050406030204" pitchFamily="18" charset="0"/>
                  </a:rPr>
                  <a:t>𝒂</a:t>
                </a:r>
                <a:r>
                  <a:rPr lang="pt-BR" dirty="0"/>
                  <a:t> para que o modelo atribua valores altos de probabilidade para exemplos positivos (i.e., 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≥0.5</a:t>
                </a:r>
                <a:r>
                  <a:rPr lang="pt-BR" dirty="0"/>
                  <a:t>) e valores baixos de probabilidade para exemplos negativos (i.e., </a:t>
                </a:r>
                <a:r>
                  <a:rPr lang="pt-BR" i="0">
                    <a:latin typeface="Cambria Math" panose="02040503050406030204" pitchFamily="18" charset="0"/>
                  </a:rPr>
                  <a:t>𝑦</a:t>
                </a:r>
                <a:r>
                  <a:rPr lang="pt-BR" b="0" i="0" smtClean="0">
                    <a:latin typeface="Cambria Math" panose="02040503050406030204" pitchFamily="18" charset="0"/>
                  </a:rPr>
                  <a:t>&lt;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0.5</a:t>
                </a:r>
                <a:r>
                  <a:rPr lang="pt-BR" dirty="0"/>
                  <a:t>).</a:t>
                </a:r>
              </a:p>
              <a:p>
                <a:endParaRPr lang="pt-BR" dirty="0"/>
              </a:p>
              <a:p>
                <a:r>
                  <a:rPr lang="pt-BR" dirty="0"/>
                  <a:t>Essa</a:t>
                </a:r>
                <a:r>
                  <a:rPr lang="pt-BR" baseline="0" dirty="0"/>
                  <a:t> função de</a:t>
                </a:r>
                <a:r>
                  <a:rPr lang="pt-BR" dirty="0"/>
                  <a:t> erro</a:t>
                </a:r>
                <a:r>
                  <a:rPr lang="pt-BR" baseline="0" dirty="0"/>
                  <a:t> </a:t>
                </a:r>
                <a:r>
                  <a:rPr lang="pt-BR" dirty="0"/>
                  <a:t>faz sentido porque -log(z) se torna muito grande quando z</a:t>
                </a:r>
                <a:r>
                  <a:rPr lang="pt-BR" baseline="0" dirty="0"/>
                  <a:t> </a:t>
                </a:r>
                <a:r>
                  <a:rPr lang="pt-BR" dirty="0"/>
                  <a:t>se aproxima de 0, então o erro será grande se o modelo estimar uma probabilidade próxima a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 e também será muito grande se o modelo estimar uma probabilidade próxima a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negativo. Por outro lado, -log(z) se</a:t>
                </a:r>
                <a:r>
                  <a:rPr lang="pt-BR" baseline="0" dirty="0"/>
                  <a:t> torna</a:t>
                </a:r>
                <a:r>
                  <a:rPr lang="pt-BR" dirty="0"/>
                  <a:t> próximo de 0 quando z se aproxima de 1, portanto, o erro será próximo de 0 se a probabilidade estimada for próxima de 0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negativo ou próxima de 1 para um</a:t>
                </a:r>
                <a:r>
                  <a:rPr lang="pt-BR" baseline="0" dirty="0"/>
                  <a:t> exemplo </a:t>
                </a:r>
                <a:r>
                  <a:rPr lang="pt-BR" dirty="0"/>
                  <a:t>positivo, que é exatamente o que queremos.</a:t>
                </a:r>
              </a:p>
              <a:p>
                <a:endParaRPr lang="pt-BR" dirty="0"/>
              </a:p>
              <a:p>
                <a:r>
                  <a:rPr lang="pt-BR" dirty="0"/>
                  <a:t>Referência:</a:t>
                </a:r>
              </a:p>
              <a:p>
                <a:r>
                  <a:rPr lang="pt-BR" dirty="0"/>
                  <a:t>[1] https://www.baeldung.com/cs/cost-function-logistic-regression-logarithmic-expr#:~:text=The%20error%20function%20is%20the,descent%20requires%20convex%20cost%20functions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Fallback>
      </mc:AlternateContent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425011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Se y=1y=1y=1 → sobra −log⁡(y^)-\log(\</a:t>
            </a:r>
            <a:r>
              <a:rPr lang="es-ES" dirty="0" err="1"/>
              <a:t>hat</a:t>
            </a:r>
            <a:r>
              <a:rPr lang="es-ES" dirty="0"/>
              <a:t>{y})−log(y^​)</a:t>
            </a:r>
          </a:p>
          <a:p>
            <a:r>
              <a:rPr lang="es-ES" dirty="0"/>
              <a:t>Se y=0y=0y=0 → sobra −log⁡(1−y^)-\log(1-\</a:t>
            </a:r>
            <a:r>
              <a:rPr lang="es-ES" dirty="0" err="1"/>
              <a:t>hat</a:t>
            </a:r>
            <a:r>
              <a:rPr lang="es-ES" dirty="0"/>
              <a:t>{y})−log(1−y^​)</a:t>
            </a:r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0580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A função de erro para todo o conjunto de treinamento é simplesmente o erro médio para todos</a:t>
            </a:r>
            <a:r>
              <a:rPr lang="pt-BR" sz="1200" baseline="0" dirty="0"/>
              <a:t> os exemplos </a:t>
            </a:r>
            <a:r>
              <a:rPr lang="pt-BR" sz="1200" dirty="0"/>
              <a:t>de treinamento.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Ela pode ser escrita em uma única expressão</a:t>
            </a:r>
            <a:r>
              <a:rPr lang="pt-BR" sz="1200" baseline="0" dirty="0"/>
              <a:t> como mostrado acima.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 general, there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no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analytical solution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since these 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regression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parameters fall into a set of nonlinear equations.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 problem is that the logistic sigmoid is non-linear.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For logistic regression, there is no longer a closed-form solution, due to the nonlinearity of the logistic sigmoid function. </a:t>
            </a: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Explicação do porque não é possível se encontrar uma forma fechada para o regressor logístico: [2].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Referências: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baseline="0" dirty="0"/>
              <a:t>[1] http://deeplearning.stanford.edu/tutorial/supervised/SoftmaxRegression/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[2] </a:t>
            </a:r>
            <a:r>
              <a:rPr lang="pt-BR" sz="1200" baseline="0" dirty="0"/>
              <a:t>https://stats.stackexchange.com/questions/949/when-is-logistic-regression-solved-in-closed-form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18651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1711690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https://colab.research.google.com/</a:t>
            </a:r>
            <a:r>
              <a:rPr lang="pt-BR" dirty="0" err="1"/>
              <a:t>github</a:t>
            </a:r>
            <a:r>
              <a:rPr lang="pt-BR" dirty="0"/>
              <a:t>/zz4fap/t320_aprendizado_de_maquina/</a:t>
            </a:r>
            <a:r>
              <a:rPr lang="pt-BR" dirty="0" err="1"/>
              <a:t>blob</a:t>
            </a:r>
            <a:r>
              <a:rPr lang="pt-BR" dirty="0"/>
              <a:t>/</a:t>
            </a:r>
            <a:r>
              <a:rPr lang="pt-BR" dirty="0" err="1"/>
              <a:t>main</a:t>
            </a:r>
            <a:r>
              <a:rPr lang="pt-BR" dirty="0"/>
              <a:t>/notebooks/classificação/</a:t>
            </a:r>
            <a:r>
              <a:rPr lang="pt-BR" dirty="0" err="1"/>
              <a:t>logistic_regression_with_gradient_descent.ipynb</a:t>
            </a:r>
            <a:endParaRPr lang="pt-BR" sz="120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b="1" dirty="0"/>
          </a:p>
          <a:p>
            <a:endParaRPr lang="pt-BR" b="1" dirty="0"/>
          </a:p>
          <a:p>
            <a:r>
              <a:rPr lang="pt-BR" b="1" dirty="0"/>
              <a:t>Referência</a:t>
            </a:r>
            <a:r>
              <a:rPr lang="pt-BR" dirty="0"/>
              <a:t>:</a:t>
            </a:r>
          </a:p>
          <a:p>
            <a:r>
              <a:rPr lang="pt-BR" dirty="0">
                <a:hlinkClick r:id="rId3"/>
              </a:rPr>
              <a:t>https://math.stackexchange.com/questions/477207/derivative-of-cost-function-for-logistic-regression</a:t>
            </a: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4973824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47614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0" i="0" dirty="0">
                <a:solidFill>
                  <a:srgbClr val="374151"/>
                </a:solidFill>
                <a:effectLst/>
                <a:latin typeface="Söhne"/>
              </a:rPr>
              <a:t>Na segunda figura, o uso de um polinômio de ordem elevada resulta em uma fronteira de decisão excessivamente flexível, levando a distorções na tentativa de reduzir o erro de classificação nos dados de treinamento.</a:t>
            </a:r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71308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564906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dirty="0"/>
              <a:t>Exemplo</a:t>
            </a:r>
            <a:r>
              <a:rPr lang="pt-BR" dirty="0"/>
              <a:t>: SPAMClassificationLogisticRegressionGD.ipynb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430A2A4-8C14-4B1A-AD48-7B6401078BF7}" type="slidenum">
              <a:rPr lang="pt-BR" smtClean="0"/>
              <a:t>54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983811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../media/image32.emf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32.emf"/><Relationship Id="rId4" Type="http://schemas.openxmlformats.org/officeDocument/2006/relationships/image" Target="../media/image3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4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4" Type="http://schemas.openxmlformats.org/officeDocument/2006/relationships/image" Target="../media/image32.emf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image" Target="../media/image49.png"/><Relationship Id="rId3" Type="http://schemas.openxmlformats.org/officeDocument/2006/relationships/image" Target="../media/image36.png"/><Relationship Id="rId7" Type="http://schemas.openxmlformats.org/officeDocument/2006/relationships/image" Target="../media/image41.png"/><Relationship Id="rId12" Type="http://schemas.openxmlformats.org/officeDocument/2006/relationships/image" Target="../media/image48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9.png"/><Relationship Id="rId11" Type="http://schemas.openxmlformats.org/officeDocument/2006/relationships/image" Target="../media/image47.png"/><Relationship Id="rId5" Type="http://schemas.openxmlformats.org/officeDocument/2006/relationships/image" Target="../media/image38.png"/><Relationship Id="rId10" Type="http://schemas.openxmlformats.org/officeDocument/2006/relationships/image" Target="../media/image46.png"/><Relationship Id="rId4" Type="http://schemas.openxmlformats.org/officeDocument/2006/relationships/image" Target="../media/image37.png"/><Relationship Id="rId9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3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12" Type="http://schemas.openxmlformats.org/officeDocument/2006/relationships/image" Target="../media/image49.png"/><Relationship Id="rId2" Type="http://schemas.openxmlformats.org/officeDocument/2006/relationships/image" Target="../media/image36.png"/><Relationship Id="rId16" Type="http://schemas.openxmlformats.org/officeDocument/2006/relationships/image" Target="../media/image5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11" Type="http://schemas.openxmlformats.org/officeDocument/2006/relationships/image" Target="../media/image48.png"/><Relationship Id="rId5" Type="http://schemas.openxmlformats.org/officeDocument/2006/relationships/image" Target="../media/image39.png"/><Relationship Id="rId15" Type="http://schemas.openxmlformats.org/officeDocument/2006/relationships/image" Target="../media/image55.png"/><Relationship Id="rId10" Type="http://schemas.openxmlformats.org/officeDocument/2006/relationships/image" Target="../media/image47.png"/><Relationship Id="rId4" Type="http://schemas.openxmlformats.org/officeDocument/2006/relationships/image" Target="../media/image38.png"/><Relationship Id="rId9" Type="http://schemas.openxmlformats.org/officeDocument/2006/relationships/image" Target="../media/image46.png"/><Relationship Id="rId14" Type="http://schemas.openxmlformats.org/officeDocument/2006/relationships/image" Target="../media/image54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58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1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500.png"/><Relationship Id="rId7" Type="http://schemas.openxmlformats.org/officeDocument/2006/relationships/image" Target="NUL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9" Type="http://schemas.openxmlformats.org/officeDocument/2006/relationships/image" Target="NULL"/><Relationship Id="rId4" Type="http://schemas.openxmlformats.org/officeDocument/2006/relationships/image" Target="NUL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NULL"/><Relationship Id="rId7" Type="http://schemas.openxmlformats.org/officeDocument/2006/relationships/image" Target="NULL"/><Relationship Id="rId1" Type="http://schemas.openxmlformats.org/officeDocument/2006/relationships/slideLayout" Target="../slideLayouts/slideLayout2.xml"/><Relationship Id="rId6" Type="http://schemas.openxmlformats.org/officeDocument/2006/relationships/image" Target="NULL"/><Relationship Id="rId5" Type="http://schemas.openxmlformats.org/officeDocument/2006/relationships/image" Target="NULL"/><Relationship Id="rId4" Type="http://schemas.openxmlformats.org/officeDocument/2006/relationships/image" Target="NUL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regress%C3%A3o_log%C3%ADstica.ipynb" TargetMode="Externa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3.png"/><Relationship Id="rId5" Type="http://schemas.openxmlformats.org/officeDocument/2006/relationships/image" Target="../media/image62.jpeg"/><Relationship Id="rId4" Type="http://schemas.openxmlformats.org/officeDocument/2006/relationships/image" Target="../media/image61.png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199" y="1825625"/>
            <a:ext cx="11223171" cy="304534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Elas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Elas formam </a:t>
            </a:r>
            <a:r>
              <a:rPr lang="pt-BR" b="1" dirty="0"/>
              <a:t>superfícies de separação </a:t>
            </a:r>
            <a:r>
              <a:rPr lang="pt-BR" dirty="0"/>
              <a:t>no espaço de atributos que podem ter várias dimensões (2D, 3D, etc.).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1373584" y="4789714"/>
            <a:ext cx="2665013" cy="2052936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9156662" y="4780067"/>
            <a:ext cx="2641085" cy="202013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5279810" y="4784320"/>
            <a:ext cx="2632256" cy="2034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</a:t>
                </a:r>
                <a:r>
                  <a:rPr lang="pt-BR" b="1" dirty="0"/>
                  <a:t>binário</a:t>
                </a:r>
                <a:r>
                  <a:rPr lang="pt-BR" dirty="0"/>
                  <a:t>, nosso </a:t>
                </a:r>
                <a:r>
                  <a:rPr lang="pt-BR" b="1" dirty="0"/>
                  <a:t>objetivo</a:t>
                </a:r>
                <a:r>
                  <a:rPr lang="pt-BR" dirty="0"/>
                  <a:t> é encontrar o </a:t>
                </a:r>
                <a:r>
                  <a:rPr lang="pt-BR" b="1" dirty="0"/>
                  <a:t>grau e os pesos da função discriminante (polinomial) </a:t>
                </a:r>
                <a:r>
                  <a:rPr lang="pt-BR" dirty="0"/>
                  <a:t>de tal forma que que a classe atribuída a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smtClean="0">
                                        <a:latin typeface="Cambria Math" panose="02040503050406030204" pitchFamily="18" charset="0"/>
                                      </a:rPr>
                                      <m:t>=1,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&lt;0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𝑞</m:t>
                                    </m:r>
                                    <m: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=2,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&gt;0</m:t>
                                    </m:r>
                                  </m:e>
                                </m:mr>
                              </m:m>
                            </m:e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2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pt-BR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I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ndetermina</m:t>
                                    </m:r>
                                    <m: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çã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sz="2400" b="0" i="0" dirty="0" smtClean="0">
                                        <a:latin typeface="Cambria Math" panose="02040503050406030204" pitchFamily="18" charset="0"/>
                                      </a:rPr>
                                      <m:t>o</m:t>
                                    </m:r>
                                    <m:r>
                                      <m:rPr>
                                        <m:brk m:alnAt="7"/>
                                      </m:rPr>
                                      <a:rPr lang="pt-BR" sz="2400" b="0" i="1" dirty="0" smtClean="0">
                                        <a:latin typeface="Cambria Math" panose="02040503050406030204" pitchFamily="18" charset="0"/>
                                      </a:rPr>
                                      <m:t>,</m:t>
                                    </m:r>
                                  </m:e>
                                  <m:e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  <m:d>
                                      <m:d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pt-BR" sz="2400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</m:d>
                                    <m:r>
                                      <a:rPr lang="pt-BR" sz="2400">
                                        <a:latin typeface="Cambria Math" panose="02040503050406030204" pitchFamily="18" charset="0"/>
                                      </a:rPr>
                                      <m:t>=0</m:t>
                                    </m:r>
                                  </m:e>
                                </m:mr>
                              </m:m>
                              <m:r>
                                <a:rPr lang="pt-BR" sz="240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3200" dirty="0"/>
              </a:p>
              <a:p>
                <a:r>
                  <a:rPr lang="pt-BR" dirty="0"/>
                  <a:t>Em caso de </a:t>
                </a:r>
                <a:r>
                  <a:rPr lang="pt-BR" b="1" dirty="0"/>
                  <a:t>indeterminação</a:t>
                </a:r>
                <a:r>
                  <a:rPr lang="pt-BR" dirty="0"/>
                  <a:t>, podemos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atribuir arbitrariamente a uma das duas classes,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escolher a classe que possui mais amostras ou a mais frequente.</a:t>
                </a:r>
              </a:p>
              <a:p>
                <a:r>
                  <a:rPr lang="pt-BR" dirty="0"/>
                  <a:t>Quanto mais distante a amostra estiver da fronteira de decisão, maior é o valor absoluto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vice versa.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557847" y="1825624"/>
                <a:ext cx="8634153" cy="5032375"/>
              </a:xfrm>
              <a:blipFill>
                <a:blip r:embed="rId3"/>
                <a:stretch>
                  <a:fillRect l="-1271" t="-1937" r="-2048" b="-24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390548" y="2592216"/>
            <a:ext cx="2841780" cy="32637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tângulo 3"/>
              <p:cNvSpPr/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Amostra</m:t>
                      </m:r>
                      <m:r>
                        <m:rPr>
                          <m:nor/>
                        </m:rPr>
                        <a:rPr lang="pt-BR" sz="1200"/>
                        <m:t> </m:t>
                      </m:r>
                      <m:r>
                        <m:rPr>
                          <m:nor/>
                        </m:rPr>
                        <a:rPr lang="pt-BR" sz="1200"/>
                        <m:t>acima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4" name="Retângulo 3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061412"/>
                <a:ext cx="1963999" cy="276999"/>
              </a:xfrm>
              <a:prstGeom prst="rect">
                <a:avLst/>
              </a:prstGeom>
              <a:blipFill>
                <a:blip r:embed="rId5"/>
                <a:stretch>
                  <a:fillRect b="-65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tângulo 4"/>
              <p:cNvSpPr/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 dirty="0"/>
                        <m:t>Amostra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abaixo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da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5" name="Retângulo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4484" y="3472544"/>
                <a:ext cx="1963999" cy="276999"/>
              </a:xfrm>
              <a:prstGeom prst="rect">
                <a:avLst/>
              </a:prstGeom>
              <a:blipFill>
                <a:blip r:embed="rId6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tângulo 5"/>
              <p:cNvSpPr/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nor/>
                        </m:rPr>
                        <a:rPr lang="pt-BR" sz="120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mostra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sobre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a</m:t>
                      </m:r>
                      <m:r>
                        <m:rPr>
                          <m:nor/>
                        </m:rPr>
                        <a:rPr lang="pt-BR" sz="1200" dirty="0"/>
                        <m:t> </m:t>
                      </m:r>
                      <m:r>
                        <m:rPr>
                          <m:nor/>
                        </m:rPr>
                        <a:rPr lang="pt-BR" sz="1200" dirty="0"/>
                        <m:t>fun</m:t>
                      </m:r>
                      <m:r>
                        <m:rPr>
                          <m:nor/>
                        </m:rPr>
                        <a:rPr lang="pt-BR" sz="1200" dirty="0"/>
                        <m:t>çã</m:t>
                      </m:r>
                      <m:r>
                        <m:rPr>
                          <m:nor/>
                        </m:rPr>
                        <a:rPr lang="pt-BR" sz="1200" dirty="0"/>
                        <m:t>o</m:t>
                      </m:r>
                      <m:r>
                        <m:rPr>
                          <m:nor/>
                        </m:rPr>
                        <a:rPr lang="pt-BR" sz="1200" dirty="0"/>
                        <m:t>) 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6" name="Retângulo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2197" y="3851018"/>
                <a:ext cx="1859803" cy="276999"/>
              </a:xfrm>
              <a:prstGeom prst="rect">
                <a:avLst/>
              </a:prstGeom>
              <a:blipFill>
                <a:blip r:embed="rId7"/>
                <a:stretch>
                  <a:fillRect b="-8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BC3B9-C36D-49B5-70A3-4BC587561B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77D7044-033A-83CB-744E-0A0EF1C53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 caso da classificação </a:t>
                </a:r>
                <a:r>
                  <a:rPr lang="pt-BR" b="1" dirty="0"/>
                  <a:t>multiclasses</a:t>
                </a:r>
                <a:r>
                  <a:rPr lang="pt-BR" dirty="0"/>
                  <a:t>, o </a:t>
                </a:r>
                <a:r>
                  <a:rPr lang="pt-BR" b="1" dirty="0"/>
                  <a:t>objetivo é encontrar os graus e os pesos das funções discriminantes (polinomiais)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pt-BR" dirty="0"/>
                        <m:t>arg</m:t>
                      </m:r>
                      <m:r>
                        <m:rPr>
                          <m:nor/>
                        </m:rPr>
                        <a:rPr lang="pt-BR" dirty="0"/>
                        <m:t>. </m:t>
                      </m:r>
                      <m:func>
                        <m:func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d>
                                <m:dPr>
                                  <m:begChr m:val="{"/>
                                  <m:endChr m:val="}"/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1,…,</m:t>
                                  </m:r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</m:d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  <m:d>
                            <m:d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.</m:t>
                        </m:r>
                      </m:e>
                    </m:d>
                  </m:oMath>
                </a14:m>
                <a:r>
                  <a:rPr lang="pt-BR" dirty="0"/>
                  <a:t> é 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pt-BR" dirty="0"/>
                  <a:t>-</a:t>
                </a:r>
                <a:r>
                  <a:rPr lang="pt-BR" dirty="0" err="1"/>
                  <a:t>ésima</a:t>
                </a:r>
                <a:r>
                  <a:rPr lang="pt-BR" dirty="0"/>
                  <a:t> função discriminante.</a:t>
                </a:r>
              </a:p>
              <a:p>
                <a:pPr marL="0" indent="0">
                  <a:buNone/>
                </a:pPr>
                <a:endParaRPr lang="pt-BR" sz="27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CE2D84F5-4801-80A5-C74A-52605D59919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57057" y="1825624"/>
                <a:ext cx="7339694" cy="5032375"/>
              </a:xfrm>
              <a:blipFill>
                <a:blip r:embed="rId3"/>
                <a:stretch>
                  <a:fillRect l="-1661" t="-1937" r="-141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>
            <a:extLst>
              <a:ext uri="{FF2B5EF4-FFF2-40B4-BE49-F238E27FC236}">
                <a16:creationId xmlns:a16="http://schemas.microsoft.com/office/drawing/2014/main" id="{8317135C-B768-15DB-007E-9233AE5ABB0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426319" y="2760454"/>
            <a:ext cx="3663479" cy="28021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01688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614" y="2476103"/>
            <a:ext cx="11070771" cy="190579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encontramos o grau e pesos das funções discriminantes?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56164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4E4B1E-477E-FFD4-7402-E83E77BF2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59B32-CD26-D2CA-3E0C-4F8F0704D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0490" y="1794459"/>
            <a:ext cx="11070771" cy="3475810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dirty="0"/>
              <a:t>Da mesma forma que com a regressão, usando o </a:t>
            </a:r>
            <a:r>
              <a:rPr lang="pt-BR" sz="6000" b="1" dirty="0"/>
              <a:t>gradiente descendente</a:t>
            </a:r>
            <a:r>
              <a:rPr lang="pt-BR" sz="6000" dirty="0"/>
              <a:t> e </a:t>
            </a:r>
            <a:r>
              <a:rPr lang="pt-BR" sz="6000" b="1" dirty="0"/>
              <a:t>validação cruzada</a:t>
            </a:r>
            <a:r>
              <a:rPr lang="pt-BR" sz="6000" dirty="0"/>
              <a:t>, como o </a:t>
            </a:r>
            <a:r>
              <a:rPr lang="pt-BR" sz="6000" i="1" dirty="0"/>
              <a:t>k-</a:t>
            </a:r>
            <a:r>
              <a:rPr lang="pt-BR" sz="6000" i="1" dirty="0" err="1"/>
              <a:t>fold</a:t>
            </a:r>
            <a:r>
              <a:rPr lang="pt-BR" sz="6000" dirty="0"/>
              <a:t>, por exemplo.</a:t>
            </a:r>
            <a:endParaRPr lang="en-US" sz="6000" dirty="0"/>
          </a:p>
        </p:txBody>
      </p:sp>
    </p:spTree>
    <p:extLst>
      <p:ext uri="{BB962C8B-B14F-4D97-AF65-F5344CB8AC3E}">
        <p14:creationId xmlns:p14="http://schemas.microsoft.com/office/powerpoint/2010/main" val="132252614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nas</a:t>
                </a:r>
                <a:r>
                  <a:rPr lang="en-US" dirty="0"/>
                  <a:t> classes?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A7FDC7F-B899-B1A6-F69A-351822C6EFD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5A0C298-3D62-58C4-3B44-8F0C5C3E0A0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Vocês </a:t>
                </a:r>
                <a:r>
                  <a:rPr lang="en-US" dirty="0" err="1"/>
                  <a:t>perceberam</a:t>
                </a:r>
                <a:r>
                  <a:rPr lang="en-US" dirty="0"/>
                  <a:t> </a:t>
                </a:r>
                <a:r>
                  <a:rPr lang="en-US" dirty="0" err="1"/>
                  <a:t>que</a:t>
                </a:r>
                <a:r>
                  <a:rPr lang="en-US" dirty="0"/>
                  <a:t> as </a:t>
                </a:r>
                <a:r>
                  <a:rPr lang="en-US" dirty="0" err="1"/>
                  <a:t>saídas</a:t>
                </a:r>
                <a:r>
                  <a:rPr lang="en-US" dirty="0"/>
                  <a:t> das </a:t>
                </a:r>
                <a:r>
                  <a:rPr lang="en-US" dirty="0" err="1"/>
                  <a:t>funções</a:t>
                </a:r>
                <a:r>
                  <a:rPr lang="en-US" dirty="0"/>
                  <a:t> </a:t>
                </a:r>
                <a:r>
                  <a:rPr lang="en-US" dirty="0" err="1"/>
                  <a:t>discriminantes</a:t>
                </a:r>
                <a:r>
                  <a:rPr lang="en-US" dirty="0"/>
                  <a:t> </a:t>
                </a:r>
                <a:r>
                  <a:rPr lang="en-US" dirty="0" err="1"/>
                  <a:t>podem</a:t>
                </a:r>
                <a:r>
                  <a:rPr lang="en-US" dirty="0"/>
                  <a:t> </a:t>
                </a:r>
                <a:r>
                  <a:rPr lang="en-US" dirty="0" err="1"/>
                  <a:t>assumir</a:t>
                </a:r>
                <a:r>
                  <a:rPr lang="en-US" dirty="0"/>
                  <a:t> </a:t>
                </a:r>
                <a:r>
                  <a:rPr lang="en-US" dirty="0" err="1"/>
                  <a:t>infinitos</a:t>
                </a:r>
                <a:r>
                  <a:rPr lang="en-US" dirty="0"/>
                  <a:t> </a:t>
                </a:r>
                <a:r>
                  <a:rPr lang="en-US" dirty="0" err="1"/>
                  <a:t>valores</a:t>
                </a:r>
                <a:r>
                  <a:rPr lang="en-US" dirty="0"/>
                  <a:t>?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))∈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−∞,+∞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 err="1"/>
                  <a:t>Porém</a:t>
                </a:r>
                <a:r>
                  <a:rPr lang="en-US" dirty="0"/>
                  <a:t>, </a:t>
                </a:r>
                <a:r>
                  <a:rPr lang="en-US" dirty="0" err="1"/>
                  <a:t>estamos</a:t>
                </a:r>
                <a:r>
                  <a:rPr lang="en-US" dirty="0"/>
                  <a:t> </a:t>
                </a:r>
                <a:r>
                  <a:rPr lang="en-US" dirty="0" err="1"/>
                  <a:t>lidando</a:t>
                </a:r>
                <a:r>
                  <a:rPr lang="en-US" dirty="0"/>
                  <a:t> com </a:t>
                </a:r>
                <a:r>
                  <a:rPr lang="en-US" dirty="0" err="1"/>
                  <a:t>problemas</a:t>
                </a:r>
                <a:r>
                  <a:rPr lang="en-US" dirty="0"/>
                  <a:t> de </a:t>
                </a:r>
                <a:r>
                  <a:rPr lang="en-US" dirty="0" err="1"/>
                  <a:t>classificação</a:t>
                </a:r>
                <a:r>
                  <a:rPr lang="en-US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objetivo é atribuir uma classe ao vetor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en-US" dirty="0"/>
                  <a:t>Para </a:t>
                </a:r>
                <a:r>
                  <a:rPr lang="en-US" dirty="0" err="1"/>
                  <a:t>calcular</a:t>
                </a:r>
                <a:r>
                  <a:rPr lang="en-US" dirty="0"/>
                  <a:t> o </a:t>
                </a:r>
                <a:r>
                  <a:rPr lang="en-US" dirty="0" err="1"/>
                  <a:t>erro</a:t>
                </a:r>
                <a:r>
                  <a:rPr lang="en-US" dirty="0"/>
                  <a:t> entre </a:t>
                </a:r>
                <a:r>
                  <a:rPr lang="en-US" dirty="0" err="1"/>
                  <a:t>os</a:t>
                </a:r>
                <a:r>
                  <a:rPr lang="en-US" dirty="0"/>
                  <a:t> </a:t>
                </a:r>
                <a:r>
                  <a:rPr lang="en-US" dirty="0" err="1"/>
                  <a:t>rótulos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, e a </a:t>
                </a:r>
                <a:r>
                  <a:rPr lang="en-US" dirty="0" err="1"/>
                  <a:t>saída</a:t>
                </a:r>
                <a:r>
                  <a:rPr lang="en-US" dirty="0"/>
                  <a:t> do </a:t>
                </a:r>
                <a:r>
                  <a:rPr lang="en-US" dirty="0" err="1"/>
                  <a:t>modelo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</m:oMath>
                </a14:m>
                <a:r>
                  <a:rPr lang="en-US" dirty="0"/>
                  <a:t>, ela </a:t>
                </a:r>
                <a:r>
                  <a:rPr lang="en-US" dirty="0" err="1"/>
                  <a:t>deve</a:t>
                </a:r>
                <a:r>
                  <a:rPr lang="en-US" dirty="0"/>
                  <a:t> </a:t>
                </a:r>
                <a:r>
                  <a:rPr lang="en-US" dirty="0" err="1"/>
                  <a:t>estar</a:t>
                </a:r>
                <a:r>
                  <a:rPr lang="en-US" dirty="0"/>
                  <a:t> no </a:t>
                </a:r>
                <a:r>
                  <a:rPr lang="en-US" dirty="0" err="1"/>
                  <a:t>intervalo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𝟎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pt-BR" sz="2400">
                            <a:latin typeface="Cambria Math" panose="02040503050406030204" pitchFamily="18" charset="0"/>
                          </a:rPr>
                          <m:t>𝟏</m:t>
                        </m:r>
                      </m:e>
                    </m:d>
                  </m:oMath>
                </a14:m>
                <a:r>
                  <a:rPr lang="en-US" sz="2400" dirty="0"/>
                  <a:t>.</a:t>
                </a:r>
                <a:endParaRPr lang="en-US" dirty="0"/>
              </a:p>
              <a:p>
                <a:r>
                  <a:rPr lang="en-US" dirty="0"/>
                  <a:t>Como </a:t>
                </a:r>
                <a:r>
                  <a:rPr lang="en-US" dirty="0" err="1"/>
                  <a:t>mapeamos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 err="1"/>
                  <a:t>nesse</a:t>
                </a:r>
                <a:r>
                  <a:rPr lang="en-US" dirty="0"/>
                  <a:t> </a:t>
                </a:r>
                <a:r>
                  <a:rPr lang="en-US" dirty="0" err="1"/>
                  <a:t>intervalo</a:t>
                </a:r>
                <a:r>
                  <a:rPr lang="en-US" dirty="0"/>
                  <a:t>?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E5A0C298-3D62-58C4-3B44-8F0C5C3E0A0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89714" y="1825624"/>
                <a:ext cx="7304315" cy="5032375"/>
              </a:xfrm>
              <a:blipFill rotWithShape="0">
                <a:blip r:embed="rId3"/>
                <a:stretch>
                  <a:fillRect l="-1503" t="-1937" b="-24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586490" y="2253182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limiar de decisão ou de ativação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Isso pode ser feito através de uma função,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, que mapeie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pt-BR" b="1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</m:e>
                    </m:d>
                  </m:oMath>
                </a14:m>
                <a:r>
                  <a:rPr lang="pt-BR" dirty="0"/>
                  <a:t> no intervalo [0, 1].</a:t>
                </a:r>
              </a:p>
              <a:p>
                <a:r>
                  <a:rPr lang="pt-BR" dirty="0"/>
                  <a:t>Além disso, para que possamos treinar modelos de classificação, essa função deve ser </a:t>
                </a:r>
                <a:r>
                  <a:rPr lang="pt-BR" b="1" dirty="0">
                    <a:solidFill>
                      <a:srgbClr val="00B050"/>
                    </a:solidFill>
                  </a:rPr>
                  <a:t>contínua</a:t>
                </a:r>
                <a:r>
                  <a:rPr lang="pt-BR" dirty="0"/>
                  <a:t> e </a:t>
                </a:r>
                <a:r>
                  <a:rPr lang="pt-BR" b="1" dirty="0" err="1">
                    <a:solidFill>
                      <a:srgbClr val="00B050"/>
                    </a:solidFill>
                  </a:rPr>
                  <a:t>diferenciável</a:t>
                </a:r>
                <a:r>
                  <a:rPr lang="pt-BR" b="1" dirty="0">
                    <a:solidFill>
                      <a:srgbClr val="00B050"/>
                    </a:solidFill>
                  </a:rPr>
                  <a:t>.</a:t>
                </a:r>
              </a:p>
              <a:p>
                <a:r>
                  <a:rPr lang="pt-BR" dirty="0"/>
                  <a:t>No contexto da classificação, ela é chamada de função de limiar de decisão ou de ativação.</a:t>
                </a:r>
              </a:p>
              <a:p>
                <a:r>
                  <a:rPr lang="pt-BR" dirty="0"/>
                  <a:t>Qual função podemos usar?</a:t>
                </a:r>
              </a:p>
              <a:p>
                <a:endParaRPr lang="pt-BR" dirty="0"/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53891" y="1825624"/>
                <a:ext cx="6916189" cy="5032375"/>
              </a:xfrm>
              <a:blipFill rotWithShape="0">
                <a:blip r:embed="rId2"/>
                <a:stretch>
                  <a:fillRect l="-1586" t="-1937" r="-158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3EAB0E4-3975-9C7B-4E5B-C9F1614737E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838200" y="2003800"/>
            <a:ext cx="3691595" cy="42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39706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7241A4B6-DEE9-BEE1-4387-34DE81FAA3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862" y="1341682"/>
            <a:ext cx="5599306" cy="5181447"/>
          </a:xfrm>
          <a:prstGeom prst="rect">
            <a:avLst/>
          </a:prstGeom>
        </p:spPr>
      </p:pic>
      <p:sp>
        <p:nvSpPr>
          <p:cNvPr id="2" name="Retângulo 1"/>
          <p:cNvSpPr/>
          <p:nvPr/>
        </p:nvSpPr>
        <p:spPr>
          <a:xfrm>
            <a:off x="6672349" y="2901353"/>
            <a:ext cx="5164975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Uma função que apresenta tais características é a </a:t>
            </a:r>
            <a:r>
              <a:rPr lang="pt-BR" sz="3200" b="1" dirty="0">
                <a:solidFill>
                  <a:srgbClr val="00B050"/>
                </a:solidFill>
              </a:rPr>
              <a:t>função logística</a:t>
            </a:r>
            <a:r>
              <a:rPr lang="pt-BR" sz="3200" dirty="0"/>
              <a:t>, também conhecida como </a:t>
            </a:r>
            <a:r>
              <a:rPr lang="pt-BR" sz="3200" b="1" dirty="0">
                <a:solidFill>
                  <a:srgbClr val="00B050"/>
                </a:solidFill>
              </a:rPr>
              <a:t>sigmoide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1346717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6313584-3923-0089-84F4-6B545899B2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</p:spPr>
            <p:txBody>
              <a:bodyPr>
                <a:normAutofit/>
              </a:bodyPr>
              <a:lstStyle/>
              <a:p>
                <a:pPr algn="just"/>
                <a:r>
                  <a:rPr lang="pt-BR" dirty="0"/>
                  <a:t>A </a:t>
                </a:r>
                <a:r>
                  <a:rPr lang="pt-BR" b="1" dirty="0"/>
                  <a:t>função logística </a:t>
                </a:r>
                <a:r>
                  <a:rPr lang="pt-BR" dirty="0"/>
                  <a:t>é definida como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</m:rPr>
                      <a:rPr lang="pt-BR" i="1"/>
                      <m:t>Logistic</m:t>
                    </m:r>
                    <m:d>
                      <m:dPr>
                        <m:ctrlPr>
                          <a:rPr lang="pt-BR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pt-BR" i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dirty="0"/>
                  <a:t>. </a:t>
                </a:r>
              </a:p>
              <a:p>
                <a:pPr algn="just"/>
                <a:r>
                  <a:rPr lang="pt-BR" dirty="0"/>
                  <a:t>A utilizando como </a:t>
                </a:r>
                <a:r>
                  <a:rPr lang="pt-BR" b="1" dirty="0"/>
                  <a:t>função de ativação</a:t>
                </a:r>
                <a:r>
                  <a:rPr lang="pt-BR" dirty="0"/>
                  <a:t>, temos a seguinte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hipótese de classificação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𝑔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m:rPr>
                        <m:nor/>
                      </m:rPr>
                      <a:rPr lang="pt-BR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e>
                            </m:d>
                          </m:sup>
                        </m:sSup>
                      </m:den>
                    </m:f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d>
                      <m:dPr>
                        <m:begChr m:val="["/>
                        <m:endChr m:val="]"/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 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</m:d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3E3A3288-915D-7D67-5C64-83C7FACAE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295900" y="1825624"/>
                <a:ext cx="6743699" cy="5032375"/>
              </a:xfrm>
              <a:blipFill>
                <a:blip r:embed="rId3"/>
                <a:stretch>
                  <a:fillRect l="-1627" t="-1937" r="-18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34AEE6EF-5ED3-AE55-0A96-F31E1F8942A9}"/>
              </a:ext>
            </a:extLst>
          </p:cNvPr>
          <p:cNvGrpSpPr/>
          <p:nvPr/>
        </p:nvGrpSpPr>
        <p:grpSpPr>
          <a:xfrm>
            <a:off x="718457" y="2427506"/>
            <a:ext cx="3951514" cy="355963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39A0050F-ACE5-1773-16B4-B1D29785515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E80BCF16-47E2-3C13-A194-91D08FD0769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05432B56-34AE-D827-7DB3-E117552BAA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40183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saída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</m:oMath>
                </a14:m>
                <a:r>
                  <a:rPr lang="pt-BR" dirty="0"/>
                  <a:t> pode ser interpretada como a probabilidade da classe positiva,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dado os vetores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e</a:t>
                </a:r>
                <a:r>
                  <a:rPr lang="pt-BR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pt-BR" dirty="0"/>
                  <a:t>, i.e., a p</a:t>
                </a:r>
                <a:r>
                  <a:rPr lang="pt-BR" dirty="0">
                    <a:solidFill>
                      <a:schemeClr val="tx1"/>
                    </a:solidFill>
                  </a:rPr>
                  <a:t>robabilidade condicional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a:rPr lang="pt-BR" b="0" i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pt-BR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 </a:t>
                </a:r>
                <a:endParaRPr lang="pt-BR" dirty="0">
                  <a:solidFill>
                    <a:srgbClr val="00B050"/>
                  </a:solidFill>
                </a:endParaRPr>
              </a:p>
              <a:p>
                <a:r>
                  <a:rPr lang="pt-BR" dirty="0"/>
                  <a:t>Consequentemente, o complemento 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</m:d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 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r>
                  <a:rPr lang="pt-BR" dirty="0"/>
                  <a:t> </a:t>
                </a:r>
              </a:p>
              <a:p>
                <a:pPr marL="0" indent="0">
                  <a:buNone/>
                </a:pPr>
                <a:r>
                  <a:rPr lang="pt-BR" dirty="0"/>
                  <a:t>dá a probabilidade condicional da classe negativa,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10201" y="1825624"/>
                <a:ext cx="6638924" cy="5032375"/>
              </a:xfrm>
              <a:blipFill>
                <a:blip r:embed="rId3"/>
                <a:stretch>
                  <a:fillRect l="-1928" t="-1937" r="-8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Agrupar 3">
            <a:extLst>
              <a:ext uri="{FF2B5EF4-FFF2-40B4-BE49-F238E27FC236}">
                <a16:creationId xmlns:a16="http://schemas.microsoft.com/office/drawing/2014/main" id="{8A58ED0E-A13A-8658-E325-826B73F5A7BF}"/>
              </a:ext>
            </a:extLst>
          </p:cNvPr>
          <p:cNvGrpSpPr/>
          <p:nvPr/>
        </p:nvGrpSpPr>
        <p:grpSpPr>
          <a:xfrm>
            <a:off x="941484" y="2236587"/>
            <a:ext cx="3668616" cy="3333897"/>
            <a:chOff x="941484" y="2236587"/>
            <a:chExt cx="3668616" cy="3333897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4D65E5CB-D6D8-B927-D766-DF307160A2A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66798" y="2236587"/>
              <a:ext cx="3543302" cy="3237159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/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4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6" name="CaixaDeTexto 5">
                  <a:extLst>
                    <a:ext uri="{FF2B5EF4-FFF2-40B4-BE49-F238E27FC236}">
                      <a16:creationId xmlns:a16="http://schemas.microsoft.com/office/drawing/2014/main" id="{100FEDFC-F647-FD30-A1FC-8F87A3EB7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704691" y="3521774"/>
                  <a:ext cx="781363" cy="307777"/>
                </a:xfrm>
                <a:prstGeom prst="rect">
                  <a:avLst/>
                </a:prstGeom>
                <a:blipFill>
                  <a:blip r:embed="rId5"/>
                  <a:stretch>
                    <a:fillRect r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/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4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400" dirty="0"/>
                </a:p>
              </p:txBody>
            </p:sp>
          </mc:Choice>
          <mc:Fallback xmlns="">
            <p:sp>
              <p:nvSpPr>
                <p:cNvPr id="7" name="CaixaDeTexto 6">
                  <a:extLst>
                    <a:ext uri="{FF2B5EF4-FFF2-40B4-BE49-F238E27FC236}">
                      <a16:creationId xmlns:a16="http://schemas.microsoft.com/office/drawing/2014/main" id="{FDBDA829-39EC-592C-1061-9A5F8848E1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6549" y="5262707"/>
                  <a:ext cx="1266826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076628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E86830-AC41-CC54-6387-27E033B1A1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 com função de limiar logístico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9DA37222-5D71-CE7B-6179-9F43B17718A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</p:spPr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se aproxima de 0 ou 1 conforme o exemplo se distancia da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Quanto mais distante a amostra estiver da fronteira, maior é a probabilidade dela pertencer à classe daquela região.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prediz uma probabilidade de 0.5 para amostras posicionadas exatamente sobre a </a:t>
                </a:r>
                <a:r>
                  <a:rPr lang="pt-BR" b="1" dirty="0"/>
                  <a:t>fronteira de decisão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 </a:t>
                </a:r>
                <a:r>
                  <a:rPr lang="pt-BR" b="1" dirty="0"/>
                  <a:t>fronteira de decisão</a:t>
                </a:r>
                <a:r>
                  <a:rPr lang="pt-BR" dirty="0"/>
                  <a:t> é definida por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e passa pelos pontos onde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9DA37222-5D71-CE7B-6179-9F43B17718A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705350" y="1825624"/>
                <a:ext cx="7343776" cy="5032375"/>
              </a:xfrm>
              <a:blipFill rotWithShape="0">
                <a:blip r:embed="rId3"/>
                <a:stretch>
                  <a:fillRect t="-1937" r="-166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upo 7"/>
          <p:cNvGrpSpPr/>
          <p:nvPr/>
        </p:nvGrpSpPr>
        <p:grpSpPr>
          <a:xfrm>
            <a:off x="946363" y="1825623"/>
            <a:ext cx="2819115" cy="4551119"/>
            <a:chOff x="946363" y="1825623"/>
            <a:chExt cx="2819115" cy="4551119"/>
          </a:xfrm>
        </p:grpSpPr>
        <p:pic>
          <p:nvPicPr>
            <p:cNvPr id="4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5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392650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B348C73-D100-F26C-476F-E2F9B182F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F9C095-0678-B568-4C0C-EE57209756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5802" y="1825624"/>
            <a:ext cx="7033799" cy="5032375"/>
          </a:xfrm>
        </p:spPr>
        <p:txBody>
          <a:bodyPr>
            <a:normAutofit/>
          </a:bodyPr>
          <a:lstStyle/>
          <a:p>
            <a:r>
              <a:rPr lang="pt-BR" dirty="0"/>
              <a:t>Esse modelo que estima a probabilidade de uma dada amostra de entrada pertencer à classe positiva, </a:t>
            </a:r>
            <a:r>
              <a:rPr lang="pt-BR" b="1" dirty="0">
                <a:solidFill>
                  <a:srgbClr val="7030A0"/>
                </a:solidFill>
              </a:rPr>
              <a:t>não é um classificador </a:t>
            </a:r>
            <a:r>
              <a:rPr lang="pt-BR" b="1" dirty="0">
                <a:solidFill>
                  <a:srgbClr val="00B050"/>
                </a:solidFill>
              </a:rPr>
              <a:t>no sentido estrito</a:t>
            </a:r>
            <a:r>
              <a:rPr lang="pt-BR" dirty="0"/>
              <a:t>.</a:t>
            </a:r>
          </a:p>
          <a:p>
            <a:r>
              <a:rPr lang="pt-BR" dirty="0"/>
              <a:t>Ele é na verdade um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e é chamado de </a:t>
            </a:r>
            <a:r>
              <a:rPr lang="pt-BR" b="1" dirty="0">
                <a:solidFill>
                  <a:srgbClr val="7030A0"/>
                </a:solidFill>
              </a:rPr>
              <a:t>regressor</a:t>
            </a:r>
            <a:r>
              <a:rPr lang="pt-BR" dirty="0"/>
              <a:t> </a:t>
            </a:r>
            <a:r>
              <a:rPr lang="pt-BR" b="1" dirty="0"/>
              <a:t>logístico</a:t>
            </a:r>
            <a:r>
              <a:rPr lang="pt-BR" dirty="0"/>
              <a:t>.</a:t>
            </a:r>
          </a:p>
          <a:p>
            <a:r>
              <a:rPr lang="pt-BR" dirty="0"/>
              <a:t>É um regressor pois sua saída pode </a:t>
            </a:r>
            <a:r>
              <a:rPr lang="pt-BR" b="1" dirty="0">
                <a:solidFill>
                  <a:srgbClr val="7030A0"/>
                </a:solidFill>
              </a:rPr>
              <a:t>assumir infinitos valores </a:t>
            </a:r>
            <a:r>
              <a:rPr lang="pt-BR" dirty="0"/>
              <a:t>no intervalo entre 0 e 1.</a:t>
            </a:r>
          </a:p>
          <a:p>
            <a:endParaRPr lang="pt-BR" dirty="0"/>
          </a:p>
        </p:txBody>
      </p:sp>
      <p:grpSp>
        <p:nvGrpSpPr>
          <p:cNvPr id="4" name="Grupo 3"/>
          <p:cNvGrpSpPr/>
          <p:nvPr/>
        </p:nvGrpSpPr>
        <p:grpSpPr>
          <a:xfrm>
            <a:off x="1046115" y="2066251"/>
            <a:ext cx="2819115" cy="4551119"/>
            <a:chOff x="946363" y="1825623"/>
            <a:chExt cx="2819115" cy="4551119"/>
          </a:xfrm>
        </p:grpSpPr>
        <p:pic>
          <p:nvPicPr>
            <p:cNvPr id="5" name="Imagem 7">
              <a:extLst>
                <a:ext uri="{FF2B5EF4-FFF2-40B4-BE49-F238E27FC236}">
                  <a16:creationId xmlns:a16="http://schemas.microsoft.com/office/drawing/2014/main" id="{19F064E0-F11A-8C45-3631-1F7B0427CAB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611" t="1951" r="1156" b="2945"/>
            <a:stretch/>
          </p:blipFill>
          <p:spPr>
            <a:xfrm>
              <a:off x="1075336" y="4570735"/>
              <a:ext cx="2690141" cy="1806007"/>
            </a:xfrm>
            <a:prstGeom prst="rect">
              <a:avLst/>
            </a:prstGeom>
          </p:spPr>
        </p:pic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999474C9-1B59-1846-09FB-106F96E48A4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379" t="6664" r="8832"/>
            <a:stretch/>
          </p:blipFill>
          <p:spPr>
            <a:xfrm>
              <a:off x="1075337" y="1825623"/>
              <a:ext cx="2690141" cy="245771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/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pt-BR" sz="12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𝑔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1200" b="1" i="1" smtClean="0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12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7" name="CaixaDeTexto 15">
                  <a:extLst>
                    <a:ext uri="{FF2B5EF4-FFF2-40B4-BE49-F238E27FC236}">
                      <a16:creationId xmlns:a16="http://schemas.microsoft.com/office/drawing/2014/main" id="{779901F9-BC15-31CD-229E-355D4BB26B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82524" y="2773663"/>
                  <a:ext cx="1004677" cy="276999"/>
                </a:xfrm>
                <a:prstGeom prst="rect">
                  <a:avLst/>
                </a:prstGeom>
                <a:blipFill>
                  <a:blip r:embed="rId6"/>
                  <a:stretch>
                    <a:fillRect r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/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20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sz="12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pt-BR" sz="1200" dirty="0"/>
                </a:p>
              </p:txBody>
            </p:sp>
          </mc:Choice>
          <mc:Fallback xmlns="">
            <p:sp>
              <p:nvSpPr>
                <p:cNvPr id="10" name="CaixaDeTexto 16">
                  <a:extLst>
                    <a:ext uri="{FF2B5EF4-FFF2-40B4-BE49-F238E27FC236}">
                      <a16:creationId xmlns:a16="http://schemas.microsoft.com/office/drawing/2014/main" id="{0AFB993A-49FF-1E77-114B-354BB8A1F9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34885" y="4130772"/>
                  <a:ext cx="1266826" cy="276999"/>
                </a:xfrm>
                <a:prstGeom prst="rect">
                  <a:avLst/>
                </a:prstGeom>
                <a:blipFill>
                  <a:blip r:embed="rId7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" name="Conector de Seta Reta 4">
              <a:extLst>
                <a:ext uri="{FF2B5EF4-FFF2-40B4-BE49-F238E27FC236}">
                  <a16:creationId xmlns:a16="http://schemas.microsoft.com/office/drawing/2014/main" id="{4DEC9FCC-DC31-DCEB-0983-72EDCD32A3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175" y="1895475"/>
              <a:ext cx="0" cy="27432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ector de Seta Reta 9">
              <a:extLst>
                <a:ext uri="{FF2B5EF4-FFF2-40B4-BE49-F238E27FC236}">
                  <a16:creationId xmlns:a16="http://schemas.microsoft.com/office/drawing/2014/main" id="{07DA4A31-71A5-898C-6FFA-091EC9EF471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37795" y="4039976"/>
              <a:ext cx="0" cy="2016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ector de Seta Reta 10">
              <a:extLst>
                <a:ext uri="{FF2B5EF4-FFF2-40B4-BE49-F238E27FC236}">
                  <a16:creationId xmlns:a16="http://schemas.microsoft.com/office/drawing/2014/main" id="{69A2242F-E1FC-AA0C-3212-3D3E07694B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562227" y="2944612"/>
              <a:ext cx="0" cy="2448000"/>
            </a:xfrm>
            <a:prstGeom prst="straightConnector1">
              <a:avLst/>
            </a:prstGeom>
            <a:ln w="28575">
              <a:solidFill>
                <a:schemeClr val="accent2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979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56807-995A-8917-8F5E-B3843CBADB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DB3487-1B94-983A-D163-0D82B3BE31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81776" y="1825624"/>
            <a:ext cx="5429250" cy="5032375"/>
          </a:xfrm>
        </p:spPr>
        <p:txBody>
          <a:bodyPr/>
          <a:lstStyle/>
          <a:p>
            <a:r>
              <a:rPr lang="pt-BR" dirty="0"/>
              <a:t>O diagrama ao lado será útil para entendermos o funcionamento do regressor softmax, que é uma generalização do regressor logístico.</a:t>
            </a:r>
            <a:endParaRPr lang="en-US" dirty="0"/>
          </a:p>
        </p:txBody>
      </p:sp>
      <p:pic>
        <p:nvPicPr>
          <p:cNvPr id="24" name="Imagem 48">
            <a:extLst>
              <a:ext uri="{FF2B5EF4-FFF2-40B4-BE49-F238E27FC236}">
                <a16:creationId xmlns:a16="http://schemas.microsoft.com/office/drawing/2014/main" id="{A5B0F00E-22B3-ED3B-C1B1-645C1A40E52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8450" y="3561787"/>
            <a:ext cx="3514404" cy="2906551"/>
          </a:xfrm>
          <a:prstGeom prst="rect">
            <a:avLst/>
          </a:prstGeom>
        </p:spPr>
      </p:pic>
      <p:sp>
        <p:nvSpPr>
          <p:cNvPr id="5" name="Elipse 3">
            <a:extLst>
              <a:ext uri="{FF2B5EF4-FFF2-40B4-BE49-F238E27FC236}">
                <a16:creationId xmlns:a16="http://schemas.microsoft.com/office/drawing/2014/main" id="{847D4178-DB02-5EC6-D9E9-55269087A839}"/>
              </a:ext>
            </a:extLst>
          </p:cNvPr>
          <p:cNvSpPr/>
          <p:nvPr/>
        </p:nvSpPr>
        <p:spPr>
          <a:xfrm>
            <a:off x="23772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CDBF2F22-CBE7-78F9-D200-02BD2C52FA9E}"/>
              </a:ext>
            </a:extLst>
          </p:cNvPr>
          <p:cNvCxnSpPr>
            <a:cxnSpLocks/>
          </p:cNvCxnSpPr>
          <p:nvPr/>
        </p:nvCxnSpPr>
        <p:spPr>
          <a:xfrm>
            <a:off x="17621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/>
              <p:nvPr/>
            </p:nvSpPr>
            <p:spPr>
              <a:xfrm>
                <a:off x="9487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589211B6-D4F3-A58A-F39E-7262C1005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8777" y="1749803"/>
                <a:ext cx="8991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/>
              <p:nvPr/>
            </p:nvSpPr>
            <p:spPr>
              <a:xfrm>
                <a:off x="9699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2442A427-5952-3572-AB71-D902BD9AF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997" y="2203620"/>
                <a:ext cx="43741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/>
              <p:nvPr/>
            </p:nvSpPr>
            <p:spPr>
              <a:xfrm>
                <a:off x="9125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DE894EA7-498B-C000-4721-79F8585C20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2509" y="2923334"/>
                <a:ext cx="451882" cy="49946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13AB40B9-DB0D-A31B-0A2E-DCE16766087D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14074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C86C0EA5-448C-F200-29DC-E3430A112D31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13643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/>
              <p:nvPr/>
            </p:nvSpPr>
            <p:spPr>
              <a:xfrm flipH="1">
                <a:off x="7550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2047E98F-AED5-9CAE-6EBE-067AA04A2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755057" y="2655636"/>
                <a:ext cx="772141" cy="37460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9C803F68-3260-A8C1-C911-90EB1488B93F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32067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/>
              <p:nvPr/>
            </p:nvSpPr>
            <p:spPr>
              <a:xfrm>
                <a:off x="4696054" y="2577482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FEE275F1-9673-C0BC-E552-7C9C1AE26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6054" y="2577482"/>
                <a:ext cx="491212" cy="499469"/>
              </a:xfrm>
              <a:prstGeom prst="rect">
                <a:avLst/>
              </a:prstGeom>
              <a:blipFill>
                <a:blip r:embed="rId7"/>
                <a:stretch>
                  <a:fillRect t="-4878" r="-246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/>
              <p:nvPr/>
            </p:nvSpPr>
            <p:spPr>
              <a:xfrm>
                <a:off x="36100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AA19E3DD-9C49-3E65-6188-685E272D8AA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0017" y="2453355"/>
                <a:ext cx="870440" cy="656416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/>
              <p:nvPr/>
            </p:nvSpPr>
            <p:spPr>
              <a:xfrm>
                <a:off x="32165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9E0FEA85-9337-E4D6-F27E-9F4763BDF6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559" y="2493282"/>
                <a:ext cx="451881" cy="374602"/>
              </a:xfrm>
              <a:prstGeom prst="rect">
                <a:avLst/>
              </a:prstGeom>
              <a:blipFill>
                <a:blip r:embed="rId9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6753D4DA-27BD-B931-E4CF-C0DDBF63A17C}"/>
              </a:ext>
            </a:extLst>
          </p:cNvPr>
          <p:cNvCxnSpPr>
            <a:cxnSpLocks/>
          </p:cNvCxnSpPr>
          <p:nvPr/>
        </p:nvCxnSpPr>
        <p:spPr>
          <a:xfrm flipV="1">
            <a:off x="4481761" y="2787183"/>
            <a:ext cx="304277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/>
              <p:nvPr/>
            </p:nvSpPr>
            <p:spPr>
              <a:xfrm>
                <a:off x="19538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8B9AB93-26B7-6A4E-F76F-92B258ADF0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3876" y="2062221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/>
              <p:nvPr/>
            </p:nvSpPr>
            <p:spPr>
              <a:xfrm>
                <a:off x="16176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A538BC3B-76F1-F3EF-74F3-948779F99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17694" y="2289794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/>
              <p:nvPr/>
            </p:nvSpPr>
            <p:spPr>
              <a:xfrm>
                <a:off x="14298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624CA5E6-00AA-AA9F-B84B-962B728AE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9818" y="2757869"/>
                <a:ext cx="494049" cy="307777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/>
              <p:nvPr/>
            </p:nvSpPr>
            <p:spPr>
              <a:xfrm flipH="1">
                <a:off x="21763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206C66B-5552-4085-BFF5-59F7739B94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176307" y="2428829"/>
                <a:ext cx="1369146" cy="763094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60647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Logistic regression Is used for classification - Sarcastic Nicholas Cage  Meme Generator">
            <a:extLst>
              <a:ext uri="{FF2B5EF4-FFF2-40B4-BE49-F238E27FC236}">
                <a16:creationId xmlns:a16="http://schemas.microsoft.com/office/drawing/2014/main" id="{6D195832-A25E-9AD8-AE65-CD762EA373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0114" y="1892074"/>
            <a:ext cx="6362636" cy="3616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C63E270-A08C-0D12-C9A7-01E366EBC2E7}"/>
              </a:ext>
            </a:extLst>
          </p:cNvPr>
          <p:cNvSpPr txBox="1"/>
          <p:nvPr/>
        </p:nvSpPr>
        <p:spPr>
          <a:xfrm>
            <a:off x="6890658" y="2757493"/>
            <a:ext cx="5050971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3200" dirty="0"/>
              <a:t>O </a:t>
            </a:r>
            <a:r>
              <a:rPr lang="pt-BR" sz="3200" b="1" dirty="0"/>
              <a:t>regressor logístico </a:t>
            </a:r>
            <a:r>
              <a:rPr lang="pt-BR" sz="3200" dirty="0"/>
              <a:t>é usado para </a:t>
            </a:r>
            <a:r>
              <a:rPr lang="pt-BR" sz="3200" b="1" dirty="0">
                <a:solidFill>
                  <a:srgbClr val="00B050"/>
                </a:solidFill>
              </a:rPr>
              <a:t>classificação binária</a:t>
            </a:r>
            <a:r>
              <a:rPr lang="pt-BR" sz="3200" dirty="0"/>
              <a:t>,</a:t>
            </a:r>
            <a:r>
              <a:rPr lang="pt-BR" sz="3200" b="1" dirty="0">
                <a:solidFill>
                  <a:srgbClr val="00B050"/>
                </a:solidFill>
              </a:rPr>
              <a:t> </a:t>
            </a:r>
            <a:r>
              <a:rPr lang="pt-BR" sz="3200" dirty="0"/>
              <a:t>mas para isso, precisamos </a:t>
            </a:r>
            <a:r>
              <a:rPr lang="pt-BR" sz="3200" b="1" dirty="0">
                <a:solidFill>
                  <a:srgbClr val="00B050"/>
                </a:solidFill>
              </a:rPr>
              <a:t>quantizar sua saída</a:t>
            </a:r>
            <a:r>
              <a:rPr lang="pt-BR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041357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E072F66-404A-E27E-D039-06DFA2184A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Regressão logística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</p:spPr>
            <p:txBody>
              <a:bodyPr/>
              <a:lstStyle/>
              <a:p>
                <a:r>
                  <a:rPr lang="pt-BR" dirty="0"/>
                  <a:t>Se quantiza a saída da </a:t>
                </a:r>
                <a:r>
                  <a:rPr lang="pt-BR" b="1" dirty="0"/>
                  <a:t>função hipótese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, nos valores 0 ou 1 estabelecendo-se um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Em geral, o </a:t>
                </a:r>
                <a:r>
                  <a:rPr lang="pt-BR" b="1" dirty="0">
                    <a:solidFill>
                      <a:srgbClr val="7030A0"/>
                    </a:solidFill>
                  </a:rPr>
                  <a:t>limiar de decisão</a:t>
                </a:r>
                <a:r>
                  <a:rPr lang="pt-BR" dirty="0"/>
                  <a:t> é feito igual a 0.5.</a:t>
                </a:r>
              </a:p>
              <a:p>
                <a:r>
                  <a:rPr lang="pt-BR" dirty="0"/>
                  <a:t>A saída </a:t>
                </a:r>
                <a:r>
                  <a:rPr lang="pt-BR" b="1" dirty="0"/>
                  <a:t>quantizada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pt-BR" i="1" dirty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i="1" dirty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r>
                  <a:rPr lang="pt-BR" dirty="0"/>
                  <a:t>, do </a:t>
                </a:r>
                <a:r>
                  <a:rPr lang="pt-BR" b="1" dirty="0"/>
                  <a:t>regressor logístico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pt-B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sSub>
                                      <m:sSub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  <m:sub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pt-BR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pt-BR" b="0" i="0" smtClean="0">
                                        <a:latin typeface="Cambria Math" panose="02040503050406030204" pitchFamily="18" charset="0"/>
                                      </a:rPr>
                                      <m:t>Negativa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&lt;0.5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 (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pt-BR">
                                        <a:latin typeface="Cambria Math" panose="02040503050406030204" pitchFamily="18" charset="0"/>
                                      </a:rPr>
                                      <m:t>classe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m:rPr>
                                    <m:sty m:val="p"/>
                                  </m:rPr>
                                  <a:rPr lang="pt-BR">
                                    <a:latin typeface="Cambria Math" panose="02040503050406030204" pitchFamily="18" charset="0"/>
                                  </a:rPr>
                                  <m:t>Positiva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), </m:t>
                                </m:r>
                                <m:r>
                                  <m:rPr>
                                    <m:sty m:val="p"/>
                                  </m:rPr>
                                  <a:rPr lang="pt-BR" i="0">
                                    <a:latin typeface="Cambria Math" panose="02040503050406030204" pitchFamily="18" charset="0"/>
                                  </a:rPr>
                                  <m:t>se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h</m:t>
                                    </m:r>
                                  </m:e>
                                  <m:sub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</m:d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≥0.5</m:t>
                                </m:r>
                              </m:e>
                            </m:mr>
                          </m:m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b="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442BD45-72D4-E6C4-1F35-F41807AA4FF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12286" cy="5032375"/>
              </a:xfrm>
              <a:blipFill>
                <a:blip r:embed="rId3"/>
                <a:stretch>
                  <a:fillRect l="-979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86511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036BC-304C-89E4-6E45-E80265AEC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1E081-2BAC-FF12-61A3-FE91290A1F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diagrama do regressor logístico</a:t>
            </a:r>
            <a:endParaRPr lang="en-US" dirty="0"/>
          </a:p>
        </p:txBody>
      </p:sp>
      <p:sp>
        <p:nvSpPr>
          <p:cNvPr id="5" name="Elipse 3">
            <a:extLst>
              <a:ext uri="{FF2B5EF4-FFF2-40B4-BE49-F238E27FC236}">
                <a16:creationId xmlns:a16="http://schemas.microsoft.com/office/drawing/2014/main" id="{C686CBC5-63B5-53F0-18C1-BC9F5EDC932C}"/>
              </a:ext>
            </a:extLst>
          </p:cNvPr>
          <p:cNvSpPr/>
          <p:nvPr/>
        </p:nvSpPr>
        <p:spPr>
          <a:xfrm>
            <a:off x="4358474" y="2363896"/>
            <a:ext cx="820200" cy="809173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2400" dirty="0"/>
          </a:p>
        </p:txBody>
      </p:sp>
      <p:cxnSp>
        <p:nvCxnSpPr>
          <p:cNvPr id="6" name="Conector de Seta Reta 4">
            <a:extLst>
              <a:ext uri="{FF2B5EF4-FFF2-40B4-BE49-F238E27FC236}">
                <a16:creationId xmlns:a16="http://schemas.microsoft.com/office/drawing/2014/main" id="{71E28350-13EF-08C6-FA36-BEAF5655EC47}"/>
              </a:ext>
            </a:extLst>
          </p:cNvPr>
          <p:cNvCxnSpPr>
            <a:cxnSpLocks/>
          </p:cNvCxnSpPr>
          <p:nvPr/>
        </p:nvCxnSpPr>
        <p:spPr>
          <a:xfrm>
            <a:off x="3743325" y="2059382"/>
            <a:ext cx="685800" cy="4994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/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7" name="CaixaDeTexto 5">
                <a:extLst>
                  <a:ext uri="{FF2B5EF4-FFF2-40B4-BE49-F238E27FC236}">
                    <a16:creationId xmlns:a16="http://schemas.microsoft.com/office/drawing/2014/main" id="{A5F40200-A242-1694-4CEF-E7AD900E30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9977" y="1749803"/>
                <a:ext cx="8991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/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8" name="CaixaDeTexto 6">
                <a:extLst>
                  <a:ext uri="{FF2B5EF4-FFF2-40B4-BE49-F238E27FC236}">
                    <a16:creationId xmlns:a16="http://schemas.microsoft.com/office/drawing/2014/main" id="{364996E5-E7C3-DC11-78D4-91793E8F0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51197" y="2203620"/>
                <a:ext cx="437412" cy="49946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/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9" name="CaixaDeTexto 7">
                <a:extLst>
                  <a:ext uri="{FF2B5EF4-FFF2-40B4-BE49-F238E27FC236}">
                    <a16:creationId xmlns:a16="http://schemas.microsoft.com/office/drawing/2014/main" id="{926FDD2F-D97F-6A42-32F8-4BBD9203AD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3709" y="2923334"/>
                <a:ext cx="451882" cy="49946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Conector de Seta Reta 8">
            <a:extLst>
              <a:ext uri="{FF2B5EF4-FFF2-40B4-BE49-F238E27FC236}">
                <a16:creationId xmlns:a16="http://schemas.microsoft.com/office/drawing/2014/main" id="{317F574B-4BCF-59EB-E933-FAE5CBB89A4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3388609" y="2453355"/>
            <a:ext cx="969865" cy="2565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9">
            <a:extLst>
              <a:ext uri="{FF2B5EF4-FFF2-40B4-BE49-F238E27FC236}">
                <a16:creationId xmlns:a16="http://schemas.microsoft.com/office/drawing/2014/main" id="{6E4158CA-F8D8-F0A3-75B6-BB21AD0101E2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3345591" y="2854149"/>
            <a:ext cx="1002051" cy="3189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/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2" name="CaixaDeTexto 10">
                <a:extLst>
                  <a:ext uri="{FF2B5EF4-FFF2-40B4-BE49-F238E27FC236}">
                    <a16:creationId xmlns:a16="http://schemas.microsoft.com/office/drawing/2014/main" id="{C64564E7-A45C-F7C9-BF61-DBD6224E5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736257" y="2655636"/>
                <a:ext cx="772141" cy="3746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4" name="Conector de Seta Reta 12">
            <a:extLst>
              <a:ext uri="{FF2B5EF4-FFF2-40B4-BE49-F238E27FC236}">
                <a16:creationId xmlns:a16="http://schemas.microsoft.com/office/drawing/2014/main" id="{EC81435A-5AF8-3193-FF65-D3ECD39671D7}"/>
              </a:ext>
            </a:extLst>
          </p:cNvPr>
          <p:cNvCxnSpPr>
            <a:cxnSpLocks/>
            <a:endCxn id="18" idx="1"/>
          </p:cNvCxnSpPr>
          <p:nvPr/>
        </p:nvCxnSpPr>
        <p:spPr>
          <a:xfrm flipV="1">
            <a:off x="5187926" y="2781563"/>
            <a:ext cx="403291" cy="1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/>
              <p:nvPr/>
            </p:nvSpPr>
            <p:spPr>
              <a:xfrm>
                <a:off x="6461657" y="2384591"/>
                <a:ext cx="491212" cy="49946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15" name="CaixaDeTexto 13">
                <a:extLst>
                  <a:ext uri="{FF2B5EF4-FFF2-40B4-BE49-F238E27FC236}">
                    <a16:creationId xmlns:a16="http://schemas.microsoft.com/office/drawing/2014/main" id="{9FC04080-11F4-F548-42ED-C7B2055290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1657" y="2384591"/>
                <a:ext cx="491212" cy="499469"/>
              </a:xfrm>
              <a:prstGeom prst="rect">
                <a:avLst/>
              </a:prstGeom>
              <a:blipFill>
                <a:blip r:embed="rId6"/>
                <a:stretch>
                  <a:fillRect t="-4878" r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/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tângulo 15">
                <a:extLst>
                  <a:ext uri="{FF2B5EF4-FFF2-40B4-BE49-F238E27FC236}">
                    <a16:creationId xmlns:a16="http://schemas.microsoft.com/office/drawing/2014/main" id="{4B9FC333-2D5A-C492-B71D-EADE696F51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91217" y="2453355"/>
                <a:ext cx="870440" cy="6564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/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𝑔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2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sz="12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1200" dirty="0"/>
              </a:p>
            </p:txBody>
          </p:sp>
        </mc:Choice>
        <mc:Fallback xmlns="">
          <p:sp>
            <p:nvSpPr>
              <p:cNvPr id="19" name="CaixaDeTexto 18">
                <a:extLst>
                  <a:ext uri="{FF2B5EF4-FFF2-40B4-BE49-F238E27FC236}">
                    <a16:creationId xmlns:a16="http://schemas.microsoft.com/office/drawing/2014/main" id="{091FCB04-DEE1-1E99-97B4-B656ED9819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97759" y="2493282"/>
                <a:ext cx="451881" cy="374602"/>
              </a:xfrm>
              <a:prstGeom prst="rect">
                <a:avLst/>
              </a:prstGeom>
              <a:blipFill>
                <a:blip r:embed="rId8"/>
                <a:stretch>
                  <a:fillRect l="-1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Conector de Seta Reta 19">
            <a:extLst>
              <a:ext uri="{FF2B5EF4-FFF2-40B4-BE49-F238E27FC236}">
                <a16:creationId xmlns:a16="http://schemas.microsoft.com/office/drawing/2014/main" id="{0B8D519A-1BA1-56BA-A333-A1945EC0D8A2}"/>
              </a:ext>
            </a:extLst>
          </p:cNvPr>
          <p:cNvCxnSpPr>
            <a:cxnSpLocks/>
            <a:stCxn id="18" idx="3"/>
            <a:endCxn id="16" idx="1"/>
          </p:cNvCxnSpPr>
          <p:nvPr/>
        </p:nvCxnSpPr>
        <p:spPr>
          <a:xfrm>
            <a:off x="6461657" y="2781563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/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1" name="CaixaDeTexto 22">
                <a:extLst>
                  <a:ext uri="{FF2B5EF4-FFF2-40B4-BE49-F238E27FC236}">
                    <a16:creationId xmlns:a16="http://schemas.microsoft.com/office/drawing/2014/main" id="{3BD72EAF-4600-6260-C089-81C71C3004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35076" y="2062221"/>
                <a:ext cx="494049" cy="30777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/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2" name="CaixaDeTexto 23">
                <a:extLst>
                  <a:ext uri="{FF2B5EF4-FFF2-40B4-BE49-F238E27FC236}">
                    <a16:creationId xmlns:a16="http://schemas.microsoft.com/office/drawing/2014/main" id="{2D57F446-882D-4D0D-295F-05B3B4AF370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98894" y="2289794"/>
                <a:ext cx="494049" cy="307777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/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1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 lang="pt-BR" sz="1400" dirty="0"/>
              </a:p>
            </p:txBody>
          </p:sp>
        </mc:Choice>
        <mc:Fallback xmlns="">
          <p:sp>
            <p:nvSpPr>
              <p:cNvPr id="23" name="CaixaDeTexto 24">
                <a:extLst>
                  <a:ext uri="{FF2B5EF4-FFF2-40B4-BE49-F238E27FC236}">
                    <a16:creationId xmlns:a16="http://schemas.microsoft.com/office/drawing/2014/main" id="{F3903071-B3B5-DCDD-3DC1-78B762A1B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11018" y="2757869"/>
                <a:ext cx="494049" cy="30777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/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pt-BR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/>
                      </m:nary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166D1FD-1C30-3C42-5922-732D417479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4157507" y="2428829"/>
                <a:ext cx="1369146" cy="763094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/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𝑞</m:t>
                      </m:r>
                      <m:r>
                        <a:rPr lang="pt-BR" sz="1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18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.)</m:t>
                      </m:r>
                    </m:oMath>
                  </m:oMathPara>
                </a14:m>
                <a:endParaRPr lang="pt-BR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6" name="Retângulo 15">
                <a:extLst>
                  <a:ext uri="{FF2B5EF4-FFF2-40B4-BE49-F238E27FC236}">
                    <a16:creationId xmlns:a16="http://schemas.microsoft.com/office/drawing/2014/main" id="{934BC8CF-5A60-278A-873F-A6DF476EB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916" y="2453355"/>
                <a:ext cx="870440" cy="656416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/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pt-BR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i="1" dirty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acc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7D642B0-70C7-2F9E-E922-6F919AE25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2925" y="2532586"/>
                <a:ext cx="685800" cy="390748"/>
              </a:xfrm>
              <a:prstGeom prst="rect">
                <a:avLst/>
              </a:prstGeom>
              <a:blipFill>
                <a:blip r:embed="rId14"/>
                <a:stretch>
                  <a:fillRect t="-4615" r="-8850" b="-15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9">
            <a:extLst>
              <a:ext uri="{FF2B5EF4-FFF2-40B4-BE49-F238E27FC236}">
                <a16:creationId xmlns:a16="http://schemas.microsoft.com/office/drawing/2014/main" id="{223D077F-F939-1D57-4EF6-06EE1E56C63C}"/>
              </a:ext>
            </a:extLst>
          </p:cNvPr>
          <p:cNvCxnSpPr>
            <a:cxnSpLocks/>
          </p:cNvCxnSpPr>
          <p:nvPr/>
        </p:nvCxnSpPr>
        <p:spPr>
          <a:xfrm>
            <a:off x="7828570" y="2762776"/>
            <a:ext cx="4972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44119DB4-5404-8020-DD2A-DA7062F0A352}"/>
              </a:ext>
            </a:extLst>
          </p:cNvPr>
          <p:cNvGrpSpPr/>
          <p:nvPr/>
        </p:nvGrpSpPr>
        <p:grpSpPr>
          <a:xfrm>
            <a:off x="3785115" y="3866972"/>
            <a:ext cx="4540714" cy="2700039"/>
            <a:chOff x="4345762" y="3554020"/>
            <a:chExt cx="4540714" cy="2700039"/>
          </a:xfrm>
        </p:grpSpPr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803A326-50AB-9517-C6FE-91E195AE47D4}"/>
                </a:ext>
              </a:extLst>
            </p:cNvPr>
            <p:cNvCxnSpPr/>
            <p:nvPr/>
          </p:nvCxnSpPr>
          <p:spPr>
            <a:xfrm>
              <a:off x="4981195" y="3600613"/>
              <a:ext cx="0" cy="230012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B672A77-82BB-6EB7-C6DB-7D54EC3AB13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71669" y="5886450"/>
              <a:ext cx="3420000" cy="0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2B1295-23AF-1231-DD83-D3B5DB1977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38794" y="4408727"/>
              <a:ext cx="0" cy="147600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4E5172CD-0387-6153-3856-2BAC75CCD582}"/>
                </a:ext>
              </a:extLst>
            </p:cNvPr>
            <p:cNvCxnSpPr>
              <a:cxnSpLocks/>
            </p:cNvCxnSpPr>
            <p:nvPr/>
          </p:nvCxnSpPr>
          <p:spPr>
            <a:xfrm>
              <a:off x="6538794" y="4408727"/>
              <a:ext cx="1799255" cy="0"/>
            </a:xfrm>
            <a:prstGeom prst="line">
              <a:avLst/>
            </a:prstGeom>
            <a:ln w="1905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5FACE98-76FA-4D20-2CE4-B7A19D98AD5C}"/>
                </a:ext>
              </a:extLst>
            </p:cNvPr>
            <p:cNvCxnSpPr>
              <a:cxnSpLocks/>
            </p:cNvCxnSpPr>
            <p:nvPr/>
          </p:nvCxnSpPr>
          <p:spPr>
            <a:xfrm>
              <a:off x="4984314" y="4408727"/>
              <a:ext cx="1548000" cy="0"/>
            </a:xfrm>
            <a:prstGeom prst="line">
              <a:avLst/>
            </a:prstGeom>
            <a:ln w="19050">
              <a:prstDash val="dash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BF4C5E6E-34F8-40D7-350D-16397EDB4224}"/>
                </a:ext>
              </a:extLst>
            </p:cNvPr>
            <p:cNvSpPr txBox="1"/>
            <p:nvPr/>
          </p:nvSpPr>
          <p:spPr>
            <a:xfrm>
              <a:off x="4669983" y="4200589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1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/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pt-BR" sz="1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sz="1800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.)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3" name="TextBox 42">
                  <a:extLst>
                    <a:ext uri="{FF2B5EF4-FFF2-40B4-BE49-F238E27FC236}">
                      <a16:creationId xmlns:a16="http://schemas.microsoft.com/office/drawing/2014/main" id="{A6E36B56-A071-12C9-1CC2-CEAABA8574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45762" y="3554020"/>
                  <a:ext cx="620440" cy="369332"/>
                </a:xfrm>
                <a:prstGeom prst="rect">
                  <a:avLst/>
                </a:prstGeom>
                <a:blipFill>
                  <a:blip r:embed="rId15"/>
                  <a:stretch>
                    <a:fillRect r="-980" b="-1311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7852796-11FE-3AEE-08F8-0052F6113644}"/>
                </a:ext>
              </a:extLst>
            </p:cNvPr>
            <p:cNvSpPr txBox="1"/>
            <p:nvPr/>
          </p:nvSpPr>
          <p:spPr>
            <a:xfrm>
              <a:off x="6305202" y="5884727"/>
              <a:ext cx="47641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0.5</a:t>
              </a:r>
              <a:endParaRPr lang="en-US" dirty="0"/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E0840B1-31F0-C634-0536-8ADDE9F11FB4}"/>
                </a:ext>
              </a:extLst>
            </p:cNvPr>
            <p:cNvSpPr txBox="1"/>
            <p:nvPr/>
          </p:nvSpPr>
          <p:spPr>
            <a:xfrm>
              <a:off x="4663733" y="5696314"/>
              <a:ext cx="3016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/>
                <a:t>0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/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pt-B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CF2373EF-DC15-6F58-4D85-08A6538E51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66035" y="5669807"/>
                  <a:ext cx="620441" cy="369332"/>
                </a:xfrm>
                <a:prstGeom prst="rect">
                  <a:avLst/>
                </a:prstGeom>
                <a:blipFill>
                  <a:blip r:embed="rId16"/>
                  <a:stretch>
                    <a:fillRect t="-6557" r="-22549"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9030171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811B56D-A8C3-D4ED-E68C-5C692F58C0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ABDE3F7-7E8F-5003-373A-62B0BD3761C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28343" y="1825624"/>
            <a:ext cx="6600460" cy="5032375"/>
          </a:xfrm>
        </p:spPr>
        <p:txBody>
          <a:bodyPr/>
          <a:lstStyle/>
          <a:p>
            <a:r>
              <a:rPr lang="pt-BR" dirty="0"/>
              <a:t>Com tudo definido,</a:t>
            </a:r>
            <a:r>
              <a:rPr lang="pt-BR" b="1" dirty="0">
                <a:solidFill>
                  <a:srgbClr val="00B050"/>
                </a:solidFill>
              </a:rPr>
              <a:t> </a:t>
            </a:r>
            <a:r>
              <a:rPr lang="pt-BR" dirty="0"/>
              <a:t>nosso objetivo será, assim como na regressão linear, dado uma função discriminante, encontrar </a:t>
            </a:r>
            <a:r>
              <a:rPr lang="pt-BR" b="1" dirty="0">
                <a:solidFill>
                  <a:srgbClr val="00B050"/>
                </a:solidFill>
              </a:rPr>
              <a:t>seus pesos</a:t>
            </a:r>
            <a:r>
              <a:rPr lang="pt-BR" dirty="0"/>
              <a:t> de forma que o </a:t>
            </a:r>
            <a:r>
              <a:rPr lang="pt-BR" b="1" dirty="0">
                <a:solidFill>
                  <a:srgbClr val="00B050"/>
                </a:solidFill>
              </a:rPr>
              <a:t>erro de classificação seja </a:t>
            </a:r>
            <a:r>
              <a:rPr lang="pt-BR" b="1" dirty="0">
                <a:solidFill>
                  <a:srgbClr val="7030A0"/>
                </a:solidFill>
              </a:rPr>
              <a:t>minimizado</a:t>
            </a:r>
            <a:r>
              <a:rPr lang="pt-BR" dirty="0"/>
              <a:t>.</a:t>
            </a:r>
          </a:p>
          <a:p>
            <a:r>
              <a:rPr lang="pt-BR" dirty="0"/>
              <a:t>Agora precisamos de uma função de erro para </a:t>
            </a:r>
            <a:r>
              <a:rPr lang="pt-BR" b="1" dirty="0">
                <a:solidFill>
                  <a:srgbClr val="00B050"/>
                </a:solidFill>
              </a:rPr>
              <a:t>treinarmos um regressor logístico.</a:t>
            </a:r>
            <a:endParaRPr lang="pt-BR" dirty="0"/>
          </a:p>
          <a:p>
            <a:r>
              <a:rPr lang="pt-BR" dirty="0"/>
              <a:t>Porém, usar a função do </a:t>
            </a:r>
            <a:r>
              <a:rPr lang="pt-BR" b="1" dirty="0">
                <a:solidFill>
                  <a:schemeClr val="accent2"/>
                </a:solidFill>
              </a:rPr>
              <a:t>erro quadrático médio</a:t>
            </a:r>
            <a:r>
              <a:rPr lang="pt-BR" b="1" dirty="0"/>
              <a:t> </a:t>
            </a:r>
            <a:r>
              <a:rPr lang="pt-BR" b="1" dirty="0">
                <a:solidFill>
                  <a:srgbClr val="7030A0"/>
                </a:solidFill>
              </a:rPr>
              <a:t>não é uma boa escolha </a:t>
            </a:r>
            <a:r>
              <a:rPr lang="pt-BR" dirty="0"/>
              <a:t>no caso da</a:t>
            </a:r>
            <a:r>
              <a:rPr lang="pt-BR" b="1" dirty="0"/>
              <a:t> regressão logística</a:t>
            </a:r>
            <a:r>
              <a:rPr lang="pt-BR" dirty="0"/>
              <a:t> e </a:t>
            </a:r>
            <a:r>
              <a:rPr lang="pt-BR" b="1" dirty="0"/>
              <a:t>classificadores em geral </a:t>
            </a:r>
            <a:r>
              <a:rPr lang="pt-BR" dirty="0"/>
              <a:t>como veremos a seguir.</a:t>
            </a:r>
          </a:p>
        </p:txBody>
      </p:sp>
      <p:pic>
        <p:nvPicPr>
          <p:cNvPr id="19" name="Imagem 18">
            <a:extLst>
              <a:ext uri="{FF2B5EF4-FFF2-40B4-BE49-F238E27FC236}">
                <a16:creationId xmlns:a16="http://schemas.microsoft.com/office/drawing/2014/main" id="{545F6B8B-1D68-3257-4D30-A8B30FF6296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3197" y="2667000"/>
            <a:ext cx="5112948" cy="24917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6396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06EC75-4D21-4D67-B663-BBB1A0602F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Se adotarmos o EQM como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,</a:t>
                </a:r>
                <a:r>
                  <a:rPr lang="pt-BR" b="1" i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temos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(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pt-BR" b="0" i="1" smtClean="0">
                                          <a:latin typeface="Cambria Math" panose="02040503050406030204" pitchFamily="18" charset="0"/>
                                        </a:rPr>
                                        <m:t>)</m:t>
                                      </m:r>
                                    </m:e>
                                  </m:d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Porém,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dirty="0"/>
                  <a:t> é uma </a:t>
                </a:r>
                <a:r>
                  <a:rPr lang="pt-BR" b="1" dirty="0">
                    <a:solidFill>
                      <a:srgbClr val="00B050"/>
                    </a:solidFill>
                  </a:rPr>
                  <a:t>função não-linear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 </a:t>
                </a:r>
                <a:r>
                  <a:rPr lang="pt-BR" b="1" dirty="0">
                    <a:solidFill>
                      <a:srgbClr val="00B050"/>
                    </a:solidFill>
                  </a:rPr>
                  <a:t>não será</a:t>
                </a:r>
                <a:r>
                  <a:rPr lang="pt-BR" dirty="0"/>
                  <a:t>, consequentemente, </a:t>
                </a:r>
                <a:r>
                  <a:rPr lang="pt-BR" b="1" dirty="0">
                    <a:solidFill>
                      <a:srgbClr val="00B050"/>
                    </a:solidFill>
                  </a:rPr>
                  <a:t>uma função convexa</a:t>
                </a:r>
                <a:r>
                  <a:rPr lang="pt-BR" dirty="0"/>
                  <a:t>, de forma que a </a:t>
                </a:r>
                <a:r>
                  <a:rPr lang="pt-BR" b="1" dirty="0"/>
                  <a:t>superfície de erro</a:t>
                </a:r>
                <a:r>
                  <a:rPr lang="pt-BR" dirty="0"/>
                  <a:t> poderá apresentar </a:t>
                </a:r>
                <a:r>
                  <a:rPr lang="pt-BR" b="1" dirty="0">
                    <a:solidFill>
                      <a:srgbClr val="7030A0"/>
                    </a:solidFill>
                  </a:rPr>
                  <a:t>vários mínimos locais e outras irregularidades </a:t>
                </a:r>
                <a:r>
                  <a:rPr lang="pt-BR" dirty="0"/>
                  <a:t>que vão dificultar o aprendizado do modelo.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Por exemplo, o algoritmo do GD pode ficar preso em um mínimo local).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FBFE5126-77BD-A65E-0D48-3492430214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46600" y="1825624"/>
                <a:ext cx="7503561" cy="5032375"/>
              </a:xfrm>
              <a:blipFill>
                <a:blip r:embed="rId3"/>
                <a:stretch>
                  <a:fillRect l="-1462" t="-2663" r="-17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Imagem 7">
            <a:extLst>
              <a:ext uri="{FF2B5EF4-FFF2-40B4-BE49-F238E27FC236}">
                <a16:creationId xmlns:a16="http://schemas.microsoft.com/office/drawing/2014/main" id="{115D6186-8BB1-898C-24EC-20F1164C3EE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018" y="2005175"/>
            <a:ext cx="3686982" cy="41646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2919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</p:spPr>
            <p:txBody>
              <a:bodyPr/>
              <a:lstStyle/>
              <a:p>
                <a:r>
                  <a:rPr lang="pt-BR" dirty="0"/>
                  <a:t>Precisamos usar uma </a:t>
                </a:r>
                <a:r>
                  <a:rPr lang="pt-BR" b="1" dirty="0"/>
                  <a:t>função de erro </a:t>
                </a:r>
                <a:r>
                  <a:rPr lang="pt-BR" dirty="0"/>
                  <a:t>que tenha uma </a:t>
                </a:r>
                <a:r>
                  <a:rPr lang="pt-BR" b="1" dirty="0"/>
                  <a:t>superfície de erro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Uma função que no caso da regressão logística é </a:t>
                </a:r>
                <a:r>
                  <a:rPr lang="pt-BR" b="1" dirty="0">
                    <a:solidFill>
                      <a:srgbClr val="00B050"/>
                    </a:solidFill>
                  </a:rPr>
                  <a:t>convexa</a:t>
                </a:r>
                <a:r>
                  <a:rPr lang="pt-BR" dirty="0"/>
                  <a:t> é a função da </a:t>
                </a:r>
                <a:r>
                  <a:rPr lang="pt-BR" b="1" dirty="0">
                    <a:solidFill>
                      <a:srgbClr val="7030A0"/>
                    </a:solidFill>
                  </a:rPr>
                  <a:t>entropia cruzada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e>
                                    <m:sub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 sz="2400" i="1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d>
                      <m:func>
                        <m:func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pt-BR" sz="2400"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d>
                            <m:d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1−</m:t>
                                  </m:r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sz="2400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func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É a média aritmética do erro para cada amostra.</a:t>
                </a:r>
              </a:p>
              <a:p>
                <a:r>
                  <a:rPr lang="pt-BR" dirty="0"/>
                  <a:t>Ela mede quão diferente está a distribuição prevista pelo modelo da distribuição real dos rótulos.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Assim, o modelo aprende a aproximar a distribuição real.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="" xmlns:a16="http://schemas.microsoft.com/office/drawing/2014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75462" y="1825624"/>
                <a:ext cx="9016538" cy="5032375"/>
              </a:xfrm>
              <a:blipFill rotWithShape="0">
                <a:blip r:embed="rId3"/>
                <a:stretch>
                  <a:fillRect l="-1217" t="-1937" r="-135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m 3">
            <a:extLst>
              <a:ext uri="{FF2B5EF4-FFF2-40B4-BE49-F238E27FC236}">
                <a16:creationId xmlns:a16="http://schemas.microsoft.com/office/drawing/2014/main" id="{AB29F58F-4448-78CD-6BD9-06E43E18AD0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50407"/>
            <a:ext cx="3425371" cy="41828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CaixaDeTexto 4">
                <a:extLst>
                  <a:ext uri="{FF2B5EF4-FFF2-40B4-BE49-F238E27FC236}">
                    <a16:creationId xmlns:a16="http://schemas.microsoft.com/office/drawing/2014/main" id="{00DD6890-7287-3E1E-773F-7EAB37BD2F8A}"/>
                  </a:ext>
                </a:extLst>
              </p:cNvPr>
              <p:cNvSpPr txBox="1"/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pt-BR" sz="1200" b="1" dirty="0"/>
                  <a:t>Obs</a:t>
                </a:r>
                <a:r>
                  <a:rPr lang="pt-BR" sz="1200" dirty="0"/>
                  <a:t>.: </a:t>
                </a:r>
                <a14:m>
                  <m:oMath xmlns:m="http://schemas.openxmlformats.org/officeDocument/2006/math">
                    <m:r>
                      <m:rPr>
                        <m:sty m:val="p"/>
                        <m:brk m:alnAt="7"/>
                      </m:rPr>
                      <a:rPr lang="pt-BR" sz="1200" smtClean="0">
                        <a:latin typeface="Cambria Math" panose="02040503050406030204" pitchFamily="18" charset="0"/>
                      </a:rPr>
                      <m:t>l</m:t>
                    </m:r>
                    <m:r>
                      <m:rPr>
                        <m:sty m:val="p"/>
                      </m:rPr>
                      <a:rPr lang="pt-BR" sz="1200">
                        <a:latin typeface="Cambria Math" panose="02040503050406030204" pitchFamily="18" charset="0"/>
                      </a:rPr>
                      <m:t>og</m:t>
                    </m:r>
                    <m:r>
                      <a:rPr lang="pt-BR" sz="1200" b="0" i="0" smtClean="0">
                        <a:latin typeface="Cambria Math" panose="02040503050406030204" pitchFamily="18" charset="0"/>
                      </a:rPr>
                      <m:t>(.)</m:t>
                    </m:r>
                  </m:oMath>
                </a14:m>
                <a:r>
                  <a:rPr lang="pt-BR" sz="1200" dirty="0"/>
                  <a:t> é o logaritmo natural ou neperiano.</a:t>
                </a:r>
              </a:p>
            </p:txBody>
          </p:sp>
        </mc:Choice>
        <mc:Fallback xmlns="">
          <p:sp>
            <p:nvSpPr>
              <p:cNvPr id="5" name="CaixaDeTexto 4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00DD6890-7287-3E1E-773F-7EAB37BD2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5171" y="6581000"/>
                <a:ext cx="3425371" cy="276999"/>
              </a:xfrm>
              <a:prstGeom prst="rect">
                <a:avLst/>
              </a:prstGeom>
              <a:blipFill rotWithShape="0">
                <a:blip r:embed="rId5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4570086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78F74-F634-C94A-D1F8-73D32E2DA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B146664-2C44-9E42-584C-7B7A625B69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</p:spPr>
            <p:txBody>
              <a:bodyPr/>
              <a:lstStyle/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400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sz="2400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sz="2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lim>
                          </m:limLow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d>
                                    <m:d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</m:e>
                                  </m:d>
                                  <m:func>
                                    <m:funcPr>
                                      <m:ctrlPr>
                                        <a:rPr lang="pt-BR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pt-BR" sz="2400">
                                          <a:latin typeface="Cambria Math" panose="02040503050406030204" pitchFamily="18" charset="0"/>
                                        </a:rPr>
                                        <m:t>log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pt-BR" sz="2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  <m:t>h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𝒂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pt-BR" sz="2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sz="2400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pt-BR" sz="2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ó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exerce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influ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ê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ncia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no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erro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pt-BR" sz="2400">
                                  <a:latin typeface="Cambria Math" panose="02040503050406030204" pitchFamily="18" charset="0"/>
                                </a:rPr>
                                <m:t>se</m:t>
                              </m:r>
                              <m:r>
                                <a:rPr lang="pt-BR" sz="240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lim>
                          </m:limLow>
                        </m:e>
                      </m:nary>
                      <m:r>
                        <a:rPr lang="pt-BR" sz="24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600" b="1" i="1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  <a:endParaRPr lang="pt-BR" sz="2000" dirty="0"/>
              </a:p>
              <a:p>
                <a:r>
                  <a:rPr lang="pt-BR" dirty="0"/>
                  <a:t>Quando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 −</m:t>
                            </m:r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</m:e>
                    </m:func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h</m:t>
                                </m:r>
                              </m:e>
                              <m:sub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d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func>
                  </m:oMath>
                </a14:m>
                <a:r>
                  <a:rPr lang="pt-BR" dirty="0"/>
                  <a:t> quando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 O erro é muito alto se o classificador erra e tende a zero se acerta.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xmlns:a14="http://schemas.microsoft.com/office/drawing/2010/main" id="{8B146664-2C44-9E42-584C-7B7A625B69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353800" cy="5032375"/>
              </a:xfrm>
              <a:blipFill rotWithShape="0">
                <a:blip r:embed="rId3"/>
                <a:stretch>
                  <a:fillRect l="-96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257467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74F966-AF0F-9F47-A9AB-CB6984D11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Função de erro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5465B95-8DFB-988F-6777-374C021F46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8" y="1825624"/>
            <a:ext cx="11205951" cy="5032375"/>
          </a:xfrm>
        </p:spPr>
        <p:txBody>
          <a:bodyPr>
            <a:normAutofit/>
          </a:bodyPr>
          <a:lstStyle/>
          <a:p>
            <a:r>
              <a:rPr lang="pt-BR" dirty="0"/>
              <a:t>Uma má notícia, </a:t>
            </a:r>
            <a:r>
              <a:rPr lang="pt-BR" b="1" dirty="0">
                <a:solidFill>
                  <a:srgbClr val="00B050"/>
                </a:solidFill>
              </a:rPr>
              <a:t>não existe uma equação analítica </a:t>
            </a:r>
            <a:r>
              <a:rPr lang="pt-BR" dirty="0"/>
              <a:t>que nos dá diretamente os </a:t>
            </a:r>
            <a:r>
              <a:rPr lang="pt-BR" b="1" dirty="0"/>
              <a:t>pesos</a:t>
            </a:r>
            <a:r>
              <a:rPr lang="pt-BR" dirty="0"/>
              <a:t> que minimizam essa </a:t>
            </a:r>
            <a:r>
              <a:rPr lang="pt-BR" b="1" dirty="0"/>
              <a:t>função de erro</a:t>
            </a:r>
            <a:r>
              <a:rPr lang="pt-BR" dirty="0"/>
              <a:t>.</a:t>
            </a:r>
            <a:endParaRPr lang="pt-BR" b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sz="2600" dirty="0"/>
              <a:t>Ou seja, não há um equivalente da </a:t>
            </a:r>
            <a:r>
              <a:rPr lang="pt-BR" sz="2600" b="1" dirty="0"/>
              <a:t>equação normal</a:t>
            </a:r>
            <a:r>
              <a:rPr lang="pt-BR" sz="2600" dirty="0"/>
              <a:t>. </a:t>
            </a:r>
          </a:p>
          <a:p>
            <a:r>
              <a:rPr lang="pt-BR" dirty="0"/>
              <a:t>Entretanto, a boa notícia é que por ser </a:t>
            </a:r>
            <a:r>
              <a:rPr lang="pt-BR" b="1" dirty="0">
                <a:solidFill>
                  <a:srgbClr val="00B050"/>
                </a:solidFill>
              </a:rPr>
              <a:t>convexa</a:t>
            </a:r>
            <a:r>
              <a:rPr lang="pt-BR" dirty="0"/>
              <a:t> e </a:t>
            </a:r>
            <a:r>
              <a:rPr lang="pt-BR" b="1" dirty="0" err="1">
                <a:solidFill>
                  <a:srgbClr val="00B050"/>
                </a:solidFill>
              </a:rPr>
              <a:t>diferenciável</a:t>
            </a:r>
            <a:r>
              <a:rPr lang="pt-BR" dirty="0"/>
              <a:t>, </a:t>
            </a:r>
            <a:r>
              <a:rPr lang="pt-BR" b="1" dirty="0">
                <a:solidFill>
                  <a:srgbClr val="00B050"/>
                </a:solidFill>
              </a:rPr>
              <a:t>conseguimos</a:t>
            </a:r>
            <a:r>
              <a:rPr lang="pt-BR" dirty="0"/>
              <a:t> calcular o </a:t>
            </a:r>
            <a:r>
              <a:rPr lang="pt-BR" b="1" dirty="0">
                <a:solidFill>
                  <a:srgbClr val="00B050"/>
                </a:solidFill>
              </a:rPr>
              <a:t>vetor gradiente da função de erro</a:t>
            </a:r>
            <a:r>
              <a:rPr lang="pt-BR" dirty="0"/>
              <a:t> e </a:t>
            </a:r>
            <a:r>
              <a:rPr lang="pt-BR" b="1" dirty="0">
                <a:solidFill>
                  <a:srgbClr val="7030A0"/>
                </a:solidFill>
              </a:rPr>
              <a:t>implementar</a:t>
            </a:r>
            <a:r>
              <a:rPr lang="pt-BR" dirty="0"/>
              <a:t> o algoritmo do </a:t>
            </a:r>
            <a:r>
              <a:rPr lang="pt-BR" b="1" dirty="0">
                <a:solidFill>
                  <a:srgbClr val="7030A0"/>
                </a:solidFill>
              </a:rPr>
              <a:t>gradiente descendente (GD)</a:t>
            </a:r>
            <a:r>
              <a:rPr lang="pt-BR" dirty="0"/>
              <a:t>.</a:t>
            </a:r>
          </a:p>
          <a:p>
            <a:r>
              <a:rPr lang="pt-BR" dirty="0"/>
              <a:t>Podemos implementar todas as versões do </a:t>
            </a:r>
            <a:r>
              <a:rPr lang="pt-BR" b="1" dirty="0">
                <a:solidFill>
                  <a:srgbClr val="7030A0"/>
                </a:solidFill>
              </a:rPr>
              <a:t>GD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Batelada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Estocástico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 err="1"/>
              <a:t>Mini-batch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317580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B98CF3-D68B-3C51-73EB-761E6532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81528BD1-AD6B-C0BE-90BD-1F826246AD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 </a:t>
                </a:r>
                <a:r>
                  <a:rPr lang="pt-BR" b="1" dirty="0"/>
                  <a:t>atualização iterativa </a:t>
                </a:r>
                <a:r>
                  <a:rPr lang="pt-BR" dirty="0"/>
                  <a:t>dos </a:t>
                </a:r>
                <a:r>
                  <a:rPr lang="pt-BR" b="1" dirty="0"/>
                  <a:t>pesos</a:t>
                </a:r>
                <a:r>
                  <a:rPr lang="pt-BR" dirty="0"/>
                  <a:t> é dada por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</m:d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O </a:t>
                </a:r>
                <a:r>
                  <a:rPr lang="pt-BR" b="1" dirty="0"/>
                  <a:t>vetor gradiente </a:t>
                </a:r>
                <a:r>
                  <a:rPr lang="pt-BR" dirty="0"/>
                  <a:t>da</a:t>
                </a:r>
                <a:r>
                  <a:rPr lang="pt-BR" b="1" dirty="0"/>
                  <a:t> função da entropia cruzada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limLow>
                                <m:limLowPr>
                                  <m:ctrlPr>
                                    <a:rPr lang="pt-BR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pt-BR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h</m:t>
                                          </m:r>
                                        </m:e>
                                        <m:sub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d>
                                            <m:dPr>
                                              <m:ctrlP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groupChr>
                                </m:e>
                                <m:lim>
                                  <m:acc>
                                    <m:accPr>
                                      <m:chr m:val="̂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𝒚</m:t>
                                      </m:r>
                                    </m:e>
                                  </m:acc>
                                </m:lim>
                              </m:limLow>
                            </m:e>
                          </m:d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 b="0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𝐾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é a matriz de atributos,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pt-BR" dirty="0"/>
                  <a:t> são vetores contendo todos os valores esperados e preditos, respectivamente.</a:t>
                </a:r>
              </a:p>
              <a:p>
                <a:r>
                  <a:rPr lang="pt-BR" dirty="0"/>
                  <a:t>O anexo I apresenta os passos para se encontrar o vetor gradiente.</a:t>
                </a:r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81528BD1-AD6B-C0BE-90BD-1F826246AD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56576" cy="5032375"/>
              </a:xfrm>
              <a:blipFill rotWithShape="0">
                <a:blip r:embed="rId3"/>
                <a:stretch>
                  <a:fillRect l="-1148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8">
            <a:extLst>
              <a:ext uri="{FF2B5EF4-FFF2-40B4-BE49-F238E27FC236}">
                <a16:creationId xmlns:a16="http://schemas.microsoft.com/office/drawing/2014/main" id="{5E51EB45-1595-7630-C24F-EAA34F018369}"/>
              </a:ext>
            </a:extLst>
          </p:cNvPr>
          <p:cNvSpPr txBox="1"/>
          <p:nvPr/>
        </p:nvSpPr>
        <p:spPr>
          <a:xfrm>
            <a:off x="10676368" y="4338826"/>
            <a:ext cx="15156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algn="ctr">
              <a:defRPr sz="1400"/>
            </a:lvl1pPr>
          </a:lstStyle>
          <a:p>
            <a:r>
              <a:rPr lang="pt-BR" dirty="0"/>
              <a:t>Forma matricial</a:t>
            </a:r>
          </a:p>
        </p:txBody>
      </p:sp>
      <p:cxnSp>
        <p:nvCxnSpPr>
          <p:cNvPr id="5" name="Straight Arrow Connector 10">
            <a:extLst>
              <a:ext uri="{FF2B5EF4-FFF2-40B4-BE49-F238E27FC236}">
                <a16:creationId xmlns:a16="http://schemas.microsoft.com/office/drawing/2014/main" id="{AF667640-ACE0-3AFF-BF5D-993EF19CB3F3}"/>
              </a:ext>
            </a:extLst>
          </p:cNvPr>
          <p:cNvCxnSpPr>
            <a:cxnSpLocks/>
          </p:cNvCxnSpPr>
          <p:nvPr/>
        </p:nvCxnSpPr>
        <p:spPr>
          <a:xfrm flipH="1" flipV="1">
            <a:off x="10174780" y="4203892"/>
            <a:ext cx="648391" cy="26835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37587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87F2D7-9FE0-909F-85BF-1E4DC72EE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Processo de treinamento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275841EB-09D7-5ACC-688E-45C493DE3F7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lang="pt-BR" sz="2800" dirty="0"/>
              </a:p>
              <a:p>
                <a:r>
                  <a:rPr lang="pt-BR" sz="2800" dirty="0"/>
                  <a:t>Para encontrar o </a:t>
                </a:r>
                <a:r>
                  <a:rPr lang="pt-BR" sz="2800" b="1" dirty="0">
                    <a:solidFill>
                      <a:srgbClr val="00B050"/>
                    </a:solidFill>
                  </a:rPr>
                  <a:t>vetor gradiente</a:t>
                </a:r>
                <a:r>
                  <a:rPr lang="pt-BR" sz="2800" dirty="0"/>
                  <a:t>, a função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sz="2800" dirty="0"/>
                  <a:t> foi considerada como sendo um </a:t>
                </a:r>
                <a:r>
                  <a:rPr lang="pt-BR" sz="2800" b="1" dirty="0"/>
                  <a:t>hiperplano</a:t>
                </a:r>
                <a:r>
                  <a:rPr lang="pt-BR" sz="2800" dirty="0"/>
                  <a:t>, mas o resultado pode ser diretamente estendido para polinômios.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sz="2400" dirty="0"/>
                  <a:t>Cada coluna de </a:t>
                </a:r>
                <a14:m>
                  <m:oMath xmlns:m="http://schemas.openxmlformats.org/officeDocument/2006/math">
                    <m:r>
                      <a:rPr lang="pt-BR" sz="2400" b="1" i="1" smtClean="0">
                        <a:latin typeface="Cambria Math" panose="02040503050406030204" pitchFamily="18" charset="0"/>
                      </a:rPr>
                      <m:t>𝑿</m:t>
                    </m:r>
                  </m:oMath>
                </a14:m>
                <a:r>
                  <a:rPr lang="pt-BR" sz="2400" dirty="0"/>
                  <a:t> é formada pelas combinações dos atributos originais </a:t>
                </a:r>
                <a:r>
                  <a:rPr lang="pt-BR" dirty="0"/>
                  <a:t>de cada </a:t>
                </a:r>
                <a:r>
                  <a:rPr lang="pt-BR" sz="2400" dirty="0"/>
                  <a:t>monômio do polinômio.</a:t>
                </a:r>
              </a:p>
              <a:p>
                <a:r>
                  <a:rPr lang="pt-BR" dirty="0"/>
                  <a:t>O </a:t>
                </a:r>
                <a:r>
                  <a:rPr lang="pt-BR" b="1" dirty="0">
                    <a:solidFill>
                      <a:srgbClr val="7030A0"/>
                    </a:solidFill>
                  </a:rPr>
                  <a:t>vetor gradiente</a:t>
                </a:r>
                <a:r>
                  <a:rPr lang="pt-BR" b="1" dirty="0"/>
                  <a:t> </a:t>
                </a:r>
                <a:r>
                  <a:rPr lang="pt-BR" dirty="0"/>
                  <a:t>acima</a:t>
                </a:r>
                <a:r>
                  <a:rPr lang="pt-BR" b="1" dirty="0"/>
                  <a:t> </a:t>
                </a:r>
                <a:r>
                  <a:rPr lang="pt-BR" dirty="0"/>
                  <a:t>é </a:t>
                </a:r>
                <a:r>
                  <a:rPr lang="pt-BR" b="1" dirty="0">
                    <a:solidFill>
                      <a:srgbClr val="7030A0"/>
                    </a:solidFill>
                  </a:rPr>
                  <a:t>idêntico</a:t>
                </a:r>
                <a:r>
                  <a:rPr lang="pt-BR" dirty="0"/>
                  <a:t> (exceto pela constante 2) àquele obtido para a </a:t>
                </a:r>
                <a:r>
                  <a:rPr lang="pt-BR" b="1" dirty="0">
                    <a:solidFill>
                      <a:srgbClr val="7030A0"/>
                    </a:solidFill>
                  </a:rPr>
                  <a:t>regressão linear</a:t>
                </a:r>
                <a:r>
                  <a:rPr lang="pt-BR" b="1" dirty="0"/>
                  <a:t> </a:t>
                </a:r>
                <a:r>
                  <a:rPr lang="pt-BR" dirty="0"/>
                  <a:t>utilizando a função de </a:t>
                </a:r>
                <a:r>
                  <a:rPr lang="pt-BR" b="1" dirty="0"/>
                  <a:t>erro quadrático médio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275841EB-09D7-5ACC-688E-45C493DE3F7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31880" cy="5032375"/>
              </a:xfrm>
              <a:blipFill rotWithShape="0">
                <a:blip r:embed="rId3"/>
                <a:stretch>
                  <a:fillRect l="-97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04029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Pseudocódigo do gradiente descendente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De posse do </a:t>
                </a:r>
                <a:r>
                  <a:rPr lang="pt-BR" b="1" dirty="0"/>
                  <a:t>vetor gradiente</a:t>
                </a:r>
                <a:r>
                  <a:rPr lang="pt-BR" dirty="0"/>
                  <a:t>, podemos usá-lo com qualquer versão do </a:t>
                </a:r>
                <a:r>
                  <a:rPr lang="pt-BR" b="1" dirty="0"/>
                  <a:t>gradiente descendente</a:t>
                </a:r>
                <a:r>
                  <a:rPr lang="pt-BR" dirty="0"/>
                  <a:t> para atualizar os pesos.</a:t>
                </a:r>
              </a:p>
              <a:p>
                <a:endParaRPr lang="pt-BR" dirty="0"/>
              </a:p>
              <a:p>
                <a:endParaRPr lang="pt-BR" dirty="0"/>
              </a:p>
              <a:p>
                <a:endParaRPr lang="pt-BR" dirty="0"/>
              </a:p>
              <a:p>
                <a:r>
                  <a:rPr lang="pt-BR" dirty="0"/>
                  <a:t>Tudo o que aprendemos na regressão linear com relação ao treinamento de modelos com o gradiente descendente, incluindo os valores 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, se aplica ao treinamento de </a:t>
                </a:r>
                <a:r>
                  <a:rPr lang="pt-BR" dirty="0" err="1"/>
                  <a:t>regressores</a:t>
                </a:r>
                <a:r>
                  <a:rPr lang="pt-BR" dirty="0"/>
                  <a:t> logísticos.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98630" cy="5032376"/>
              </a:xfrm>
              <a:blipFill rotWithShape="0">
                <a:blip r:embed="rId2"/>
                <a:stretch>
                  <a:fillRect l="-92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B09DE927-8E6D-630C-9389-F5DD1A3E13B4}"/>
                  </a:ext>
                </a:extLst>
              </p:cNvPr>
              <p:cNvSpPr/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b="1" dirty="0"/>
                  <a:t>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inicializa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em</m:t>
                    </m:r>
                    <m:r>
                      <a:rPr lang="en-US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um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ponto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qualquer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espa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ç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o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de</m:t>
                    </m:r>
                    <m:r>
                      <a:rPr lang="pt-BR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pt-BR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pesos</m:t>
                    </m:r>
                  </m:oMath>
                </a14:m>
                <a:endParaRPr lang="pt-BR" b="0" dirty="0">
                  <a:ea typeface="Cambria Math" panose="02040503050406030204" pitchFamily="18" charset="0"/>
                </a:endParaRPr>
              </a:p>
              <a:p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loop até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convergir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ou </a:t>
                </a:r>
                <a:r>
                  <a:rPr lang="pt-BR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atingir o número máximo de iterações </a:t>
                </a:r>
                <a:r>
                  <a:rPr lang="pt-BR" b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do</a:t>
                </a:r>
              </a:p>
              <a:p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en-US" sz="2400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←</m:t>
                    </m:r>
                    <m:r>
                      <a:rPr lang="pt-BR" sz="2400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pt-BR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f>
                      <m:fPr>
                        <m:ctrlP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pt-BR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𝑒</m:t>
                            </m:r>
                          </m:sub>
                        </m:sSub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pt-B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den>
                    </m:f>
                  </m:oMath>
                </a14:m>
                <a:r>
                  <a:rPr lang="nl-BE" sz="2400" dirty="0"/>
                  <a:t> </a:t>
                </a:r>
                <a:r>
                  <a:rPr lang="nl-BE" dirty="0"/>
                  <a:t>(</a:t>
                </a:r>
                <a:r>
                  <a:rPr lang="nl-BE" b="1" i="1" dirty="0">
                    <a:solidFill>
                      <a:srgbClr val="00B0F0"/>
                    </a:solidFill>
                  </a:rPr>
                  <a:t>eq. de atualização dos pesos</a:t>
                </a:r>
                <a:r>
                  <a:rPr lang="nl-BE" dirty="0"/>
                  <a:t>)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B09DE927-8E6D-630C-9389-F5DD1A3E13B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4510" y="2865558"/>
                <a:ext cx="7675164" cy="1189365"/>
              </a:xfrm>
              <a:prstGeom prst="rect">
                <a:avLst/>
              </a:prstGeom>
              <a:blipFill rotWithShape="0">
                <a:blip r:embed="rId3"/>
                <a:stretch>
                  <a:fillRect l="-63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6012465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578D1AC-8A00-B4EB-387C-732656C3DA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6DF2766A-BFE5-4BA0-5F5C-8F341585E6D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Assim como ocorre com a </a:t>
                </a:r>
                <a:r>
                  <a:rPr lang="pt-BR" b="1" dirty="0"/>
                  <a:t>regressão linear</a:t>
                </a:r>
                <a:r>
                  <a:rPr lang="pt-BR" dirty="0"/>
                  <a:t>, modelos de </a:t>
                </a:r>
                <a:r>
                  <a:rPr lang="pt-BR" b="1" dirty="0"/>
                  <a:t>regressão logística </a:t>
                </a:r>
                <a:r>
                  <a:rPr lang="pt-BR" dirty="0"/>
                  <a:t>também</a:t>
                </a:r>
                <a:r>
                  <a:rPr lang="pt-BR" b="1" dirty="0"/>
                  <a:t> </a:t>
                </a:r>
                <a:r>
                  <a:rPr lang="pt-BR" dirty="0"/>
                  <a:t>estão sujeitos à </a:t>
                </a:r>
                <a:r>
                  <a:rPr lang="pt-BR" b="1" dirty="0" err="1"/>
                  <a:t>sobreajuste</a:t>
                </a:r>
                <a:r>
                  <a:rPr lang="pt-BR" dirty="0"/>
                  <a:t> e </a:t>
                </a:r>
                <a:r>
                  <a:rPr lang="pt-BR" b="1" dirty="0" err="1"/>
                  <a:t>subajuste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Qual deve ser a complexidade, no caso de polinômios, o grau, da </a:t>
                </a:r>
                <a:r>
                  <a:rPr lang="pt-BR" b="1" dirty="0"/>
                  <a:t>função 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?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="" xmlns:a16="http://schemas.microsoft.com/office/drawing/2014/main" xmlns:a14="http://schemas.microsoft.com/office/drawing/2010/main" id="{6DF2766A-BFE5-4BA0-5F5C-8F341585E6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25624"/>
                <a:ext cx="11139434" cy="5032375"/>
              </a:xfrm>
              <a:blipFill rotWithShape="0">
                <a:blip r:embed="rId3"/>
                <a:stretch>
                  <a:fillRect l="-985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93" name="Group 50">
            <a:extLst>
              <a:ext uri="{FF2B5EF4-FFF2-40B4-BE49-F238E27FC236}">
                <a16:creationId xmlns:a16="http://schemas.microsoft.com/office/drawing/2014/main" id="{DF911177-1762-1C13-7224-7DC9C7576C34}"/>
              </a:ext>
            </a:extLst>
          </p:cNvPr>
          <p:cNvGrpSpPr/>
          <p:nvPr/>
        </p:nvGrpSpPr>
        <p:grpSpPr>
          <a:xfrm>
            <a:off x="545916" y="4149990"/>
            <a:ext cx="2614571" cy="2044068"/>
            <a:chOff x="9561094" y="1203158"/>
            <a:chExt cx="2796786" cy="2093874"/>
          </a:xfrm>
        </p:grpSpPr>
        <p:cxnSp>
          <p:nvCxnSpPr>
            <p:cNvPr id="194" name="Straight Connector 51">
              <a:extLst>
                <a:ext uri="{FF2B5EF4-FFF2-40B4-BE49-F238E27FC236}">
                  <a16:creationId xmlns:a16="http://schemas.microsoft.com/office/drawing/2014/main" id="{52603673-7161-FA59-08BC-874F050F666A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52">
              <a:extLst>
                <a:ext uri="{FF2B5EF4-FFF2-40B4-BE49-F238E27FC236}">
                  <a16:creationId xmlns:a16="http://schemas.microsoft.com/office/drawing/2014/main" id="{10AF7232-B549-F17C-4496-B9C56271F0F5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6" name="TextBox 53">
                  <a:extLst>
                    <a:ext uri="{FF2B5EF4-FFF2-40B4-BE49-F238E27FC236}">
                      <a16:creationId xmlns:a16="http://schemas.microsoft.com/office/drawing/2014/main" id="{349B9E2F-FC4F-E6C5-658F-4F519BCD92F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7" name="TextBox 54">
                  <a:extLst>
                    <a:ext uri="{FF2B5EF4-FFF2-40B4-BE49-F238E27FC236}">
                      <a16:creationId xmlns:a16="http://schemas.microsoft.com/office/drawing/2014/main" id="{2836A701-4CC6-EB4E-ED1D-EDDCCEF94E6B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8" name="Oval 55">
              <a:extLst>
                <a:ext uri="{FF2B5EF4-FFF2-40B4-BE49-F238E27FC236}">
                  <a16:creationId xmlns:a16="http://schemas.microsoft.com/office/drawing/2014/main" id="{FAC640CB-C6D6-F516-E37C-FE83FD39D8ED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9" name="Oval 56">
              <a:extLst>
                <a:ext uri="{FF2B5EF4-FFF2-40B4-BE49-F238E27FC236}">
                  <a16:creationId xmlns:a16="http://schemas.microsoft.com/office/drawing/2014/main" id="{AD846A83-F33F-DC76-C5A3-56F953D68B09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0" name="Oval 57">
              <a:extLst>
                <a:ext uri="{FF2B5EF4-FFF2-40B4-BE49-F238E27FC236}">
                  <a16:creationId xmlns:a16="http://schemas.microsoft.com/office/drawing/2014/main" id="{B6DC2A6A-5222-A2F6-E5EA-6493B8B254C2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1" name="Oval 58">
              <a:extLst>
                <a:ext uri="{FF2B5EF4-FFF2-40B4-BE49-F238E27FC236}">
                  <a16:creationId xmlns:a16="http://schemas.microsoft.com/office/drawing/2014/main" id="{38FE9B36-4D6C-AF81-DCF2-4FA192C531D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2" name="Oval 59">
              <a:extLst>
                <a:ext uri="{FF2B5EF4-FFF2-40B4-BE49-F238E27FC236}">
                  <a16:creationId xmlns:a16="http://schemas.microsoft.com/office/drawing/2014/main" id="{DE523504-F9F2-AAFD-AA4B-806826C9C460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3" name="Oval 60">
              <a:extLst>
                <a:ext uri="{FF2B5EF4-FFF2-40B4-BE49-F238E27FC236}">
                  <a16:creationId xmlns:a16="http://schemas.microsoft.com/office/drawing/2014/main" id="{0AEC6512-045D-5FEB-0B7D-4417D5F557C2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4" name="Oval 61">
              <a:extLst>
                <a:ext uri="{FF2B5EF4-FFF2-40B4-BE49-F238E27FC236}">
                  <a16:creationId xmlns:a16="http://schemas.microsoft.com/office/drawing/2014/main" id="{158B8749-72FC-30FF-DFA5-9B588F851EA2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5" name="Oval 62">
              <a:extLst>
                <a:ext uri="{FF2B5EF4-FFF2-40B4-BE49-F238E27FC236}">
                  <a16:creationId xmlns:a16="http://schemas.microsoft.com/office/drawing/2014/main" id="{4AAA04E2-2F33-6098-1D33-86F794AB553B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6" name="Oval 63">
              <a:extLst>
                <a:ext uri="{FF2B5EF4-FFF2-40B4-BE49-F238E27FC236}">
                  <a16:creationId xmlns:a16="http://schemas.microsoft.com/office/drawing/2014/main" id="{5EBBDF3C-C688-C6C2-67A9-5310E504487B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7" name="Oval 64">
              <a:extLst>
                <a:ext uri="{FF2B5EF4-FFF2-40B4-BE49-F238E27FC236}">
                  <a16:creationId xmlns:a16="http://schemas.microsoft.com/office/drawing/2014/main" id="{30FE73D9-BF42-B6FD-5123-0ED28946A00C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8" name="Oval 65">
              <a:extLst>
                <a:ext uri="{FF2B5EF4-FFF2-40B4-BE49-F238E27FC236}">
                  <a16:creationId xmlns:a16="http://schemas.microsoft.com/office/drawing/2014/main" id="{099D459C-4199-9E54-CF18-58DD0479325D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9" name="Oval 66">
              <a:extLst>
                <a:ext uri="{FF2B5EF4-FFF2-40B4-BE49-F238E27FC236}">
                  <a16:creationId xmlns:a16="http://schemas.microsoft.com/office/drawing/2014/main" id="{2F4A2BF7-C6E7-5B3D-6BA9-49E4B15263D9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0" name="Oval 67">
              <a:extLst>
                <a:ext uri="{FF2B5EF4-FFF2-40B4-BE49-F238E27FC236}">
                  <a16:creationId xmlns:a16="http://schemas.microsoft.com/office/drawing/2014/main" id="{01A15C70-04A3-6B11-EB6E-C92199C75C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1" name="Oval 68">
              <a:extLst>
                <a:ext uri="{FF2B5EF4-FFF2-40B4-BE49-F238E27FC236}">
                  <a16:creationId xmlns:a16="http://schemas.microsoft.com/office/drawing/2014/main" id="{4D084CFD-A191-3E47-9AA5-D33505A73C66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2" name="Oval 69">
              <a:extLst>
                <a:ext uri="{FF2B5EF4-FFF2-40B4-BE49-F238E27FC236}">
                  <a16:creationId xmlns:a16="http://schemas.microsoft.com/office/drawing/2014/main" id="{099E51DE-9CCA-461A-5481-34FD22193D37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3" name="Oval 70">
              <a:extLst>
                <a:ext uri="{FF2B5EF4-FFF2-40B4-BE49-F238E27FC236}">
                  <a16:creationId xmlns:a16="http://schemas.microsoft.com/office/drawing/2014/main" id="{CC493F7E-E38D-A7C5-47CF-32248855D7F4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4" name="Oval 71">
              <a:extLst>
                <a:ext uri="{FF2B5EF4-FFF2-40B4-BE49-F238E27FC236}">
                  <a16:creationId xmlns:a16="http://schemas.microsoft.com/office/drawing/2014/main" id="{8F53A2C7-AB17-1C63-1F67-49A91F5868BB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5" name="Oval 72">
              <a:extLst>
                <a:ext uri="{FF2B5EF4-FFF2-40B4-BE49-F238E27FC236}">
                  <a16:creationId xmlns:a16="http://schemas.microsoft.com/office/drawing/2014/main" id="{C9DF79EB-94C8-5FFD-C810-43791B28B5E1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6" name="Oval 73">
              <a:extLst>
                <a:ext uri="{FF2B5EF4-FFF2-40B4-BE49-F238E27FC236}">
                  <a16:creationId xmlns:a16="http://schemas.microsoft.com/office/drawing/2014/main" id="{2F22FDF4-7403-AB45-E92A-42C84AB1B7F5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7" name="Oval 74">
              <a:extLst>
                <a:ext uri="{FF2B5EF4-FFF2-40B4-BE49-F238E27FC236}">
                  <a16:creationId xmlns:a16="http://schemas.microsoft.com/office/drawing/2014/main" id="{198C1AAB-AF99-3206-D9D7-4D364FE310AC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8" name="Multiply 75">
              <a:extLst>
                <a:ext uri="{FF2B5EF4-FFF2-40B4-BE49-F238E27FC236}">
                  <a16:creationId xmlns:a16="http://schemas.microsoft.com/office/drawing/2014/main" id="{FE713D93-DB25-6226-9F9A-E46E41C77152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9" name="Multiply 76">
              <a:extLst>
                <a:ext uri="{FF2B5EF4-FFF2-40B4-BE49-F238E27FC236}">
                  <a16:creationId xmlns:a16="http://schemas.microsoft.com/office/drawing/2014/main" id="{A1177A6D-DA2C-2D4D-6B6B-4E6992C1AD4F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0" name="Multiply 77">
              <a:extLst>
                <a:ext uri="{FF2B5EF4-FFF2-40B4-BE49-F238E27FC236}">
                  <a16:creationId xmlns:a16="http://schemas.microsoft.com/office/drawing/2014/main" id="{09191902-83CE-66E3-332C-74779F468BDA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1" name="Multiply 78">
              <a:extLst>
                <a:ext uri="{FF2B5EF4-FFF2-40B4-BE49-F238E27FC236}">
                  <a16:creationId xmlns:a16="http://schemas.microsoft.com/office/drawing/2014/main" id="{42D2AAAF-0D27-C1EF-AB19-0F92563574E2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2" name="Multiply 79">
              <a:extLst>
                <a:ext uri="{FF2B5EF4-FFF2-40B4-BE49-F238E27FC236}">
                  <a16:creationId xmlns:a16="http://schemas.microsoft.com/office/drawing/2014/main" id="{04E261D7-2CC7-EDA1-CC5B-56CF18DBAB79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3" name="Multiply 80">
              <a:extLst>
                <a:ext uri="{FF2B5EF4-FFF2-40B4-BE49-F238E27FC236}">
                  <a16:creationId xmlns:a16="http://schemas.microsoft.com/office/drawing/2014/main" id="{D2E11CE3-B5E0-AE7F-0BA6-A2961EB0367F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4" name="Multiply 81">
              <a:extLst>
                <a:ext uri="{FF2B5EF4-FFF2-40B4-BE49-F238E27FC236}">
                  <a16:creationId xmlns:a16="http://schemas.microsoft.com/office/drawing/2014/main" id="{2422831B-A2AD-DD94-621D-AD740642157D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5" name="Oval 82">
              <a:extLst>
                <a:ext uri="{FF2B5EF4-FFF2-40B4-BE49-F238E27FC236}">
                  <a16:creationId xmlns:a16="http://schemas.microsoft.com/office/drawing/2014/main" id="{87880004-15D8-F560-02D3-46EB124BA5F6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6" name="Oval 83">
              <a:extLst>
                <a:ext uri="{FF2B5EF4-FFF2-40B4-BE49-F238E27FC236}">
                  <a16:creationId xmlns:a16="http://schemas.microsoft.com/office/drawing/2014/main" id="{95D5738C-6797-704C-A8BA-429F69AC054D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7" name="Oval 84">
              <a:extLst>
                <a:ext uri="{FF2B5EF4-FFF2-40B4-BE49-F238E27FC236}">
                  <a16:creationId xmlns:a16="http://schemas.microsoft.com/office/drawing/2014/main" id="{7DF919EE-44D8-115A-28B8-5682485FDF18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8" name="Multiply 85">
              <a:extLst>
                <a:ext uri="{FF2B5EF4-FFF2-40B4-BE49-F238E27FC236}">
                  <a16:creationId xmlns:a16="http://schemas.microsoft.com/office/drawing/2014/main" id="{178B6A71-C93D-4BE2-25DA-2DFBB72900A6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9" name="Multiply 86">
              <a:extLst>
                <a:ext uri="{FF2B5EF4-FFF2-40B4-BE49-F238E27FC236}">
                  <a16:creationId xmlns:a16="http://schemas.microsoft.com/office/drawing/2014/main" id="{D60CF889-F533-E2D7-B7CD-1932A8B52712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0" name="Multiply 87">
              <a:extLst>
                <a:ext uri="{FF2B5EF4-FFF2-40B4-BE49-F238E27FC236}">
                  <a16:creationId xmlns:a16="http://schemas.microsoft.com/office/drawing/2014/main" id="{9D4F0D55-0225-8C22-1E21-F6414657B65B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1" name="Multiply 88">
              <a:extLst>
                <a:ext uri="{FF2B5EF4-FFF2-40B4-BE49-F238E27FC236}">
                  <a16:creationId xmlns:a16="http://schemas.microsoft.com/office/drawing/2014/main" id="{C1D39E83-7A81-5CE7-3358-BF117022ACB8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2" name="Multiply 89">
              <a:extLst>
                <a:ext uri="{FF2B5EF4-FFF2-40B4-BE49-F238E27FC236}">
                  <a16:creationId xmlns:a16="http://schemas.microsoft.com/office/drawing/2014/main" id="{5F94C93B-4FC1-3415-EC6B-97FF0B4B8F08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3" name="Multiply 90">
              <a:extLst>
                <a:ext uri="{FF2B5EF4-FFF2-40B4-BE49-F238E27FC236}">
                  <a16:creationId xmlns:a16="http://schemas.microsoft.com/office/drawing/2014/main" id="{29B3297A-8C24-03EA-C2C0-BDF821C68CF8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4" name="Multiply 91">
              <a:extLst>
                <a:ext uri="{FF2B5EF4-FFF2-40B4-BE49-F238E27FC236}">
                  <a16:creationId xmlns:a16="http://schemas.microsoft.com/office/drawing/2014/main" id="{7BF27FDF-A953-7D1C-F399-F7EB3E359494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5" name="Multiply 92">
              <a:extLst>
                <a:ext uri="{FF2B5EF4-FFF2-40B4-BE49-F238E27FC236}">
                  <a16:creationId xmlns:a16="http://schemas.microsoft.com/office/drawing/2014/main" id="{D6687B33-5E13-0B20-0AB6-7C5029F645BF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6" name="Multiply 93">
              <a:extLst>
                <a:ext uri="{FF2B5EF4-FFF2-40B4-BE49-F238E27FC236}">
                  <a16:creationId xmlns:a16="http://schemas.microsoft.com/office/drawing/2014/main" id="{20A4120F-44BF-74CB-FBEF-EF83F9B059BF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7" name="Multiply 94">
              <a:extLst>
                <a:ext uri="{FF2B5EF4-FFF2-40B4-BE49-F238E27FC236}">
                  <a16:creationId xmlns:a16="http://schemas.microsoft.com/office/drawing/2014/main" id="{12E82634-22F6-0C9C-955A-F0DBB9568F72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8" name="Multiply 95">
              <a:extLst>
                <a:ext uri="{FF2B5EF4-FFF2-40B4-BE49-F238E27FC236}">
                  <a16:creationId xmlns:a16="http://schemas.microsoft.com/office/drawing/2014/main" id="{FE956282-4725-2707-3B5A-417CA5C88098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39" name="Straight Connector 96">
              <a:extLst>
                <a:ext uri="{FF2B5EF4-FFF2-40B4-BE49-F238E27FC236}">
                  <a16:creationId xmlns:a16="http://schemas.microsoft.com/office/drawing/2014/main" id="{6793B35E-043B-DD7E-2706-9F41CCCE0F5F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0" name="Group 97">
            <a:extLst>
              <a:ext uri="{FF2B5EF4-FFF2-40B4-BE49-F238E27FC236}">
                <a16:creationId xmlns:a16="http://schemas.microsoft.com/office/drawing/2014/main" id="{9BA09B05-5A67-1E11-F943-345BEBEF6CD7}"/>
              </a:ext>
            </a:extLst>
          </p:cNvPr>
          <p:cNvGrpSpPr/>
          <p:nvPr/>
        </p:nvGrpSpPr>
        <p:grpSpPr>
          <a:xfrm>
            <a:off x="4486441" y="4116593"/>
            <a:ext cx="2614572" cy="2075388"/>
            <a:chOff x="15842602" y="1171075"/>
            <a:chExt cx="2796787" cy="2125957"/>
          </a:xfrm>
        </p:grpSpPr>
        <p:cxnSp>
          <p:nvCxnSpPr>
            <p:cNvPr id="241" name="Straight Connector 98">
              <a:extLst>
                <a:ext uri="{FF2B5EF4-FFF2-40B4-BE49-F238E27FC236}">
                  <a16:creationId xmlns:a16="http://schemas.microsoft.com/office/drawing/2014/main" id="{862E6175-A5B3-6C19-6104-42D82E6D1FF1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2" name="Straight Connector 99">
              <a:extLst>
                <a:ext uri="{FF2B5EF4-FFF2-40B4-BE49-F238E27FC236}">
                  <a16:creationId xmlns:a16="http://schemas.microsoft.com/office/drawing/2014/main" id="{BABB064E-46AA-4BB8-F35E-797A288E2F37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3" name="TextBox 100">
                  <a:extLst>
                    <a:ext uri="{FF2B5EF4-FFF2-40B4-BE49-F238E27FC236}">
                      <a16:creationId xmlns:a16="http://schemas.microsoft.com/office/drawing/2014/main" id="{15EFE971-5E50-38EE-3246-DE8523B997AF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4" name="TextBox 101">
                  <a:extLst>
                    <a:ext uri="{FF2B5EF4-FFF2-40B4-BE49-F238E27FC236}">
                      <a16:creationId xmlns:a16="http://schemas.microsoft.com/office/drawing/2014/main" id="{D24CCD60-BE5F-04E5-5458-52C2A87FB155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5" name="Oval 102">
              <a:extLst>
                <a:ext uri="{FF2B5EF4-FFF2-40B4-BE49-F238E27FC236}">
                  <a16:creationId xmlns:a16="http://schemas.microsoft.com/office/drawing/2014/main" id="{26EC5A80-50A6-5B82-A9E7-E327DE9B8EFC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6" name="Oval 103">
              <a:extLst>
                <a:ext uri="{FF2B5EF4-FFF2-40B4-BE49-F238E27FC236}">
                  <a16:creationId xmlns:a16="http://schemas.microsoft.com/office/drawing/2014/main" id="{FE66B279-005D-DB31-6439-FC8AE274BA36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7" name="Oval 104">
              <a:extLst>
                <a:ext uri="{FF2B5EF4-FFF2-40B4-BE49-F238E27FC236}">
                  <a16:creationId xmlns:a16="http://schemas.microsoft.com/office/drawing/2014/main" id="{0D373D9D-529A-5BAB-2825-8A6F7B31F9E3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8" name="Oval 105">
              <a:extLst>
                <a:ext uri="{FF2B5EF4-FFF2-40B4-BE49-F238E27FC236}">
                  <a16:creationId xmlns:a16="http://schemas.microsoft.com/office/drawing/2014/main" id="{14895E6F-8413-D2A8-7391-F5DC05D40ABF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9" name="Oval 106">
              <a:extLst>
                <a:ext uri="{FF2B5EF4-FFF2-40B4-BE49-F238E27FC236}">
                  <a16:creationId xmlns:a16="http://schemas.microsoft.com/office/drawing/2014/main" id="{C86188FE-D32F-8C07-50EA-D000AF0D439C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0" name="Oval 107">
              <a:extLst>
                <a:ext uri="{FF2B5EF4-FFF2-40B4-BE49-F238E27FC236}">
                  <a16:creationId xmlns:a16="http://schemas.microsoft.com/office/drawing/2014/main" id="{8809DCB5-FC89-4A47-AB68-706127E1C329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1" name="Oval 108">
              <a:extLst>
                <a:ext uri="{FF2B5EF4-FFF2-40B4-BE49-F238E27FC236}">
                  <a16:creationId xmlns:a16="http://schemas.microsoft.com/office/drawing/2014/main" id="{168AE50C-693B-B056-392B-36487B2FB4B6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2" name="Oval 109">
              <a:extLst>
                <a:ext uri="{FF2B5EF4-FFF2-40B4-BE49-F238E27FC236}">
                  <a16:creationId xmlns:a16="http://schemas.microsoft.com/office/drawing/2014/main" id="{15246016-8527-A9B2-991C-721C14D85548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3" name="Oval 110">
              <a:extLst>
                <a:ext uri="{FF2B5EF4-FFF2-40B4-BE49-F238E27FC236}">
                  <a16:creationId xmlns:a16="http://schemas.microsoft.com/office/drawing/2014/main" id="{6BB57176-DB5F-E5F7-0A9F-61D6FD83051B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4" name="Oval 111">
              <a:extLst>
                <a:ext uri="{FF2B5EF4-FFF2-40B4-BE49-F238E27FC236}">
                  <a16:creationId xmlns:a16="http://schemas.microsoft.com/office/drawing/2014/main" id="{EEA0A374-6078-152F-EA81-CA75502038E2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5" name="Oval 112">
              <a:extLst>
                <a:ext uri="{FF2B5EF4-FFF2-40B4-BE49-F238E27FC236}">
                  <a16:creationId xmlns:a16="http://schemas.microsoft.com/office/drawing/2014/main" id="{03F6E416-594F-9780-70C8-F09A2E030AA2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6" name="Oval 113">
              <a:extLst>
                <a:ext uri="{FF2B5EF4-FFF2-40B4-BE49-F238E27FC236}">
                  <a16:creationId xmlns:a16="http://schemas.microsoft.com/office/drawing/2014/main" id="{A86B5730-B672-A081-CC72-7DCD39510BC9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7" name="Oval 114">
              <a:extLst>
                <a:ext uri="{FF2B5EF4-FFF2-40B4-BE49-F238E27FC236}">
                  <a16:creationId xmlns:a16="http://schemas.microsoft.com/office/drawing/2014/main" id="{A314BBC5-28D1-4A06-2FF6-4BE7CFC2B713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8" name="Oval 115">
              <a:extLst>
                <a:ext uri="{FF2B5EF4-FFF2-40B4-BE49-F238E27FC236}">
                  <a16:creationId xmlns:a16="http://schemas.microsoft.com/office/drawing/2014/main" id="{8DF2D811-2E0D-0C15-199F-651C5C933138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9" name="Oval 116">
              <a:extLst>
                <a:ext uri="{FF2B5EF4-FFF2-40B4-BE49-F238E27FC236}">
                  <a16:creationId xmlns:a16="http://schemas.microsoft.com/office/drawing/2014/main" id="{00A78210-5966-E2D4-3A2C-29FEAD4BDB34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0" name="Oval 117">
              <a:extLst>
                <a:ext uri="{FF2B5EF4-FFF2-40B4-BE49-F238E27FC236}">
                  <a16:creationId xmlns:a16="http://schemas.microsoft.com/office/drawing/2014/main" id="{B3B0EA26-2715-4A63-DBAA-717B4A23F478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1" name="Oval 118">
              <a:extLst>
                <a:ext uri="{FF2B5EF4-FFF2-40B4-BE49-F238E27FC236}">
                  <a16:creationId xmlns:a16="http://schemas.microsoft.com/office/drawing/2014/main" id="{D06A8023-BA02-409E-0281-7C9C8C5635E7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2" name="Oval 119">
              <a:extLst>
                <a:ext uri="{FF2B5EF4-FFF2-40B4-BE49-F238E27FC236}">
                  <a16:creationId xmlns:a16="http://schemas.microsoft.com/office/drawing/2014/main" id="{BBE6A492-BB73-B978-00E1-55167871BC4D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3" name="Oval 120">
              <a:extLst>
                <a:ext uri="{FF2B5EF4-FFF2-40B4-BE49-F238E27FC236}">
                  <a16:creationId xmlns:a16="http://schemas.microsoft.com/office/drawing/2014/main" id="{47BE9AD6-18EE-F245-C222-D464BE0D900C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4" name="Oval 121">
              <a:extLst>
                <a:ext uri="{FF2B5EF4-FFF2-40B4-BE49-F238E27FC236}">
                  <a16:creationId xmlns:a16="http://schemas.microsoft.com/office/drawing/2014/main" id="{FE97CFB8-5FCD-F9AE-4EC3-9B90E82E0BD1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5" name="Multiply 122">
              <a:extLst>
                <a:ext uri="{FF2B5EF4-FFF2-40B4-BE49-F238E27FC236}">
                  <a16:creationId xmlns:a16="http://schemas.microsoft.com/office/drawing/2014/main" id="{58E8FC64-2EBA-62AF-E35B-379A189D537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6" name="Multiply 123">
              <a:extLst>
                <a:ext uri="{FF2B5EF4-FFF2-40B4-BE49-F238E27FC236}">
                  <a16:creationId xmlns:a16="http://schemas.microsoft.com/office/drawing/2014/main" id="{121ED2C2-C394-73A6-4F3D-0D6AE65DAA50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7" name="Multiply 124">
              <a:extLst>
                <a:ext uri="{FF2B5EF4-FFF2-40B4-BE49-F238E27FC236}">
                  <a16:creationId xmlns:a16="http://schemas.microsoft.com/office/drawing/2014/main" id="{6BA39FEA-B8DD-FF08-298A-6AA25A7F16AA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8" name="Multiply 125">
              <a:extLst>
                <a:ext uri="{FF2B5EF4-FFF2-40B4-BE49-F238E27FC236}">
                  <a16:creationId xmlns:a16="http://schemas.microsoft.com/office/drawing/2014/main" id="{07A15D8B-5F3F-1238-2961-80CE07989F8D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9" name="Multiply 126">
              <a:extLst>
                <a:ext uri="{FF2B5EF4-FFF2-40B4-BE49-F238E27FC236}">
                  <a16:creationId xmlns:a16="http://schemas.microsoft.com/office/drawing/2014/main" id="{04CF30F0-EE59-2B18-4293-C1548AB09FEB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0" name="Multiply 127">
              <a:extLst>
                <a:ext uri="{FF2B5EF4-FFF2-40B4-BE49-F238E27FC236}">
                  <a16:creationId xmlns:a16="http://schemas.microsoft.com/office/drawing/2014/main" id="{59F2BF88-464B-D043-6DC8-BE467E5F5365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1" name="Multiply 128">
              <a:extLst>
                <a:ext uri="{FF2B5EF4-FFF2-40B4-BE49-F238E27FC236}">
                  <a16:creationId xmlns:a16="http://schemas.microsoft.com/office/drawing/2014/main" id="{F5E1C1DB-A089-269E-D62B-1F6ED2B5089F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2" name="Oval 129">
              <a:extLst>
                <a:ext uri="{FF2B5EF4-FFF2-40B4-BE49-F238E27FC236}">
                  <a16:creationId xmlns:a16="http://schemas.microsoft.com/office/drawing/2014/main" id="{4412E03C-354D-F145-C5A9-26C4BEC3D209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3" name="Oval 130">
              <a:extLst>
                <a:ext uri="{FF2B5EF4-FFF2-40B4-BE49-F238E27FC236}">
                  <a16:creationId xmlns:a16="http://schemas.microsoft.com/office/drawing/2014/main" id="{41C5C12B-8CDE-EAFC-3FB2-B71470ED21F4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4" name="Oval 131">
              <a:extLst>
                <a:ext uri="{FF2B5EF4-FFF2-40B4-BE49-F238E27FC236}">
                  <a16:creationId xmlns:a16="http://schemas.microsoft.com/office/drawing/2014/main" id="{FC69DF46-1F1F-44E5-9A4B-1B62ACFF8AE6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5" name="Multiply 132">
              <a:extLst>
                <a:ext uri="{FF2B5EF4-FFF2-40B4-BE49-F238E27FC236}">
                  <a16:creationId xmlns:a16="http://schemas.microsoft.com/office/drawing/2014/main" id="{CDE1F1C9-F63F-5CEC-AC3B-5DF3B0680BD0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6" name="Multiply 133">
              <a:extLst>
                <a:ext uri="{FF2B5EF4-FFF2-40B4-BE49-F238E27FC236}">
                  <a16:creationId xmlns:a16="http://schemas.microsoft.com/office/drawing/2014/main" id="{BE48EEC5-EE90-F9D7-602A-1BDE74A757B4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7" name="Multiply 134">
              <a:extLst>
                <a:ext uri="{FF2B5EF4-FFF2-40B4-BE49-F238E27FC236}">
                  <a16:creationId xmlns:a16="http://schemas.microsoft.com/office/drawing/2014/main" id="{E520CF51-47A2-7E8B-78DC-ADEB8C1E764F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8" name="Multiply 135">
              <a:extLst>
                <a:ext uri="{FF2B5EF4-FFF2-40B4-BE49-F238E27FC236}">
                  <a16:creationId xmlns:a16="http://schemas.microsoft.com/office/drawing/2014/main" id="{6E35A0E5-F036-47D5-6724-949F089AEB72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9" name="Multiply 136">
              <a:extLst>
                <a:ext uri="{FF2B5EF4-FFF2-40B4-BE49-F238E27FC236}">
                  <a16:creationId xmlns:a16="http://schemas.microsoft.com/office/drawing/2014/main" id="{40AD9EEF-3614-174C-A1BD-2E03095052D4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0" name="Multiply 137">
              <a:extLst>
                <a:ext uri="{FF2B5EF4-FFF2-40B4-BE49-F238E27FC236}">
                  <a16:creationId xmlns:a16="http://schemas.microsoft.com/office/drawing/2014/main" id="{5224EAE0-29F0-0908-8893-1DA195541196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1" name="Multiply 138">
              <a:extLst>
                <a:ext uri="{FF2B5EF4-FFF2-40B4-BE49-F238E27FC236}">
                  <a16:creationId xmlns:a16="http://schemas.microsoft.com/office/drawing/2014/main" id="{345E7BAB-A204-C545-A324-4AE44816D949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2" name="Multiply 139">
              <a:extLst>
                <a:ext uri="{FF2B5EF4-FFF2-40B4-BE49-F238E27FC236}">
                  <a16:creationId xmlns:a16="http://schemas.microsoft.com/office/drawing/2014/main" id="{A0512407-73B8-304C-6056-341DEED9304C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3" name="Multiply 140">
              <a:extLst>
                <a:ext uri="{FF2B5EF4-FFF2-40B4-BE49-F238E27FC236}">
                  <a16:creationId xmlns:a16="http://schemas.microsoft.com/office/drawing/2014/main" id="{B8F4E571-C121-A73E-CA57-06965F808395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4" name="Multiply 141">
              <a:extLst>
                <a:ext uri="{FF2B5EF4-FFF2-40B4-BE49-F238E27FC236}">
                  <a16:creationId xmlns:a16="http://schemas.microsoft.com/office/drawing/2014/main" id="{6719F853-8301-AD90-215A-5F0CCB17A0D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5" name="Multiply 142">
              <a:extLst>
                <a:ext uri="{FF2B5EF4-FFF2-40B4-BE49-F238E27FC236}">
                  <a16:creationId xmlns:a16="http://schemas.microsoft.com/office/drawing/2014/main" id="{796FC582-F9D7-FE87-2A23-4E229FC743BD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6" name="Freeform 143">
              <a:extLst>
                <a:ext uri="{FF2B5EF4-FFF2-40B4-BE49-F238E27FC236}">
                  <a16:creationId xmlns:a16="http://schemas.microsoft.com/office/drawing/2014/main" id="{096148D6-1E7E-22FB-3129-F46AEE6157EC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290" name="CaixaDeTexto 289">
            <a:extLst>
              <a:ext uri="{FF2B5EF4-FFF2-40B4-BE49-F238E27FC236}">
                <a16:creationId xmlns:a16="http://schemas.microsoft.com/office/drawing/2014/main" id="{1CF5EF7B-31C2-BF66-57C5-B83BDD880795}"/>
              </a:ext>
            </a:extLst>
          </p:cNvPr>
          <p:cNvSpPr txBox="1"/>
          <p:nvPr/>
        </p:nvSpPr>
        <p:spPr>
          <a:xfrm>
            <a:off x="1816063" y="4211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291" name="CaixaDeTexto 290">
            <a:extLst>
              <a:ext uri="{FF2B5EF4-FFF2-40B4-BE49-F238E27FC236}">
                <a16:creationId xmlns:a16="http://schemas.microsoft.com/office/drawing/2014/main" id="{6B520180-B7A3-73C8-75FE-9FD42CDF419E}"/>
              </a:ext>
            </a:extLst>
          </p:cNvPr>
          <p:cNvSpPr txBox="1"/>
          <p:nvPr/>
        </p:nvSpPr>
        <p:spPr>
          <a:xfrm>
            <a:off x="5743598" y="4215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292" name="Agrupar 291">
            <a:extLst>
              <a:ext uri="{FF2B5EF4-FFF2-40B4-BE49-F238E27FC236}">
                <a16:creationId xmlns:a16="http://schemas.microsoft.com/office/drawing/2014/main" id="{B0CAB38C-895F-C677-2B43-E8AA71744A23}"/>
              </a:ext>
            </a:extLst>
          </p:cNvPr>
          <p:cNvGrpSpPr/>
          <p:nvPr/>
        </p:nvGrpSpPr>
        <p:grpSpPr>
          <a:xfrm>
            <a:off x="8520169" y="3905355"/>
            <a:ext cx="3251588" cy="2291732"/>
            <a:chOff x="9487183" y="4446320"/>
            <a:chExt cx="3251588" cy="2291732"/>
          </a:xfrm>
        </p:grpSpPr>
        <p:grpSp>
          <p:nvGrpSpPr>
            <p:cNvPr id="293" name="Group 3">
              <a:extLst>
                <a:ext uri="{FF2B5EF4-FFF2-40B4-BE49-F238E27FC236}">
                  <a16:creationId xmlns:a16="http://schemas.microsoft.com/office/drawing/2014/main" id="{3E73FC0E-6496-B42D-E845-04860D135BB2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295" name="Straight Connector 4">
                <a:extLst>
                  <a:ext uri="{FF2B5EF4-FFF2-40B4-BE49-F238E27FC236}">
                    <a16:creationId xmlns:a16="http://schemas.microsoft.com/office/drawing/2014/main" id="{519CA167-3E38-A858-4B91-3A94AA9E243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6" name="Straight Connector 5">
                <a:extLst>
                  <a:ext uri="{FF2B5EF4-FFF2-40B4-BE49-F238E27FC236}">
                    <a16:creationId xmlns:a16="http://schemas.microsoft.com/office/drawing/2014/main" id="{F6141AF6-15EC-AECB-C9F3-E7F387C00624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7" name="TextBox 6">
                    <a:extLst>
                      <a:ext uri="{FF2B5EF4-FFF2-40B4-BE49-F238E27FC236}">
                        <a16:creationId xmlns:a16="http://schemas.microsoft.com/office/drawing/2014/main" id="{2817C157-DC6C-FFC2-57CD-7AA392FD016E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9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98" name="TextBox 7">
                    <a:extLst>
                      <a:ext uri="{FF2B5EF4-FFF2-40B4-BE49-F238E27FC236}">
                        <a16:creationId xmlns:a16="http://schemas.microsoft.com/office/drawing/2014/main" id="{8736387D-86DB-F26C-79D3-15D59A65AF05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99" name="Oval 8">
                <a:extLst>
                  <a:ext uri="{FF2B5EF4-FFF2-40B4-BE49-F238E27FC236}">
                    <a16:creationId xmlns:a16="http://schemas.microsoft.com/office/drawing/2014/main" id="{659179F3-E338-6F96-9124-798041B2AAC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0" name="Oval 9">
                <a:extLst>
                  <a:ext uri="{FF2B5EF4-FFF2-40B4-BE49-F238E27FC236}">
                    <a16:creationId xmlns:a16="http://schemas.microsoft.com/office/drawing/2014/main" id="{BA6B460D-6E19-AA3E-EC2A-8D0A74A5846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1" name="Oval 10">
                <a:extLst>
                  <a:ext uri="{FF2B5EF4-FFF2-40B4-BE49-F238E27FC236}">
                    <a16:creationId xmlns:a16="http://schemas.microsoft.com/office/drawing/2014/main" id="{C19CE4C5-5A5F-08AC-C793-D1ADCFB6056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2" name="Oval 11">
                <a:extLst>
                  <a:ext uri="{FF2B5EF4-FFF2-40B4-BE49-F238E27FC236}">
                    <a16:creationId xmlns:a16="http://schemas.microsoft.com/office/drawing/2014/main" id="{43940FBF-5687-6EC8-893A-641CE999070D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3" name="Oval 12">
                <a:extLst>
                  <a:ext uri="{FF2B5EF4-FFF2-40B4-BE49-F238E27FC236}">
                    <a16:creationId xmlns:a16="http://schemas.microsoft.com/office/drawing/2014/main" id="{47916986-259A-0B5B-6E1D-5D66453CC16D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4" name="Oval 13">
                <a:extLst>
                  <a:ext uri="{FF2B5EF4-FFF2-40B4-BE49-F238E27FC236}">
                    <a16:creationId xmlns:a16="http://schemas.microsoft.com/office/drawing/2014/main" id="{4BFB4C73-1C85-CB72-8E6D-D0A9B5FA6D88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5" name="Oval 14">
                <a:extLst>
                  <a:ext uri="{FF2B5EF4-FFF2-40B4-BE49-F238E27FC236}">
                    <a16:creationId xmlns:a16="http://schemas.microsoft.com/office/drawing/2014/main" id="{B9C433F1-3008-ED26-54BD-F540667C54E5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6" name="Oval 15">
                <a:extLst>
                  <a:ext uri="{FF2B5EF4-FFF2-40B4-BE49-F238E27FC236}">
                    <a16:creationId xmlns:a16="http://schemas.microsoft.com/office/drawing/2014/main" id="{CD098820-96A8-B3A7-09BD-F2E548DDBD23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7" name="Oval 16">
                <a:extLst>
                  <a:ext uri="{FF2B5EF4-FFF2-40B4-BE49-F238E27FC236}">
                    <a16:creationId xmlns:a16="http://schemas.microsoft.com/office/drawing/2014/main" id="{1F1F6454-0E36-BD14-4597-D7B24ABF362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8" name="Oval 17">
                <a:extLst>
                  <a:ext uri="{FF2B5EF4-FFF2-40B4-BE49-F238E27FC236}">
                    <a16:creationId xmlns:a16="http://schemas.microsoft.com/office/drawing/2014/main" id="{646E0387-1164-393B-583D-9123CE0E96D1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09" name="Oval 18">
                <a:extLst>
                  <a:ext uri="{FF2B5EF4-FFF2-40B4-BE49-F238E27FC236}">
                    <a16:creationId xmlns:a16="http://schemas.microsoft.com/office/drawing/2014/main" id="{F90C6CFE-95D6-CDF9-D3ED-3445AFC6432F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0" name="Oval 19">
                <a:extLst>
                  <a:ext uri="{FF2B5EF4-FFF2-40B4-BE49-F238E27FC236}">
                    <a16:creationId xmlns:a16="http://schemas.microsoft.com/office/drawing/2014/main" id="{16283901-9E0F-BB2C-BC88-A23C224B569E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1" name="Oval 20">
                <a:extLst>
                  <a:ext uri="{FF2B5EF4-FFF2-40B4-BE49-F238E27FC236}">
                    <a16:creationId xmlns:a16="http://schemas.microsoft.com/office/drawing/2014/main" id="{DFFACD6D-4A30-4263-5A8C-400AE0895645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2" name="Oval 21">
                <a:extLst>
                  <a:ext uri="{FF2B5EF4-FFF2-40B4-BE49-F238E27FC236}">
                    <a16:creationId xmlns:a16="http://schemas.microsoft.com/office/drawing/2014/main" id="{4C2B18D6-D331-4473-0F92-99B23039E3B7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3" name="Oval 22">
                <a:extLst>
                  <a:ext uri="{FF2B5EF4-FFF2-40B4-BE49-F238E27FC236}">
                    <a16:creationId xmlns:a16="http://schemas.microsoft.com/office/drawing/2014/main" id="{E239F1FA-C518-F052-24C3-CCFEEF37EE2C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4" name="Oval 23">
                <a:extLst>
                  <a:ext uri="{FF2B5EF4-FFF2-40B4-BE49-F238E27FC236}">
                    <a16:creationId xmlns:a16="http://schemas.microsoft.com/office/drawing/2014/main" id="{B5A0693E-598B-3275-8F45-388A01310932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5" name="Oval 24">
                <a:extLst>
                  <a:ext uri="{FF2B5EF4-FFF2-40B4-BE49-F238E27FC236}">
                    <a16:creationId xmlns:a16="http://schemas.microsoft.com/office/drawing/2014/main" id="{DA7637ED-2EEA-BD5A-EA77-C54CA353C640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6" name="Oval 25">
                <a:extLst>
                  <a:ext uri="{FF2B5EF4-FFF2-40B4-BE49-F238E27FC236}">
                    <a16:creationId xmlns:a16="http://schemas.microsoft.com/office/drawing/2014/main" id="{B68E526B-3355-B2B7-5509-E51745507723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7" name="Oval 26">
                <a:extLst>
                  <a:ext uri="{FF2B5EF4-FFF2-40B4-BE49-F238E27FC236}">
                    <a16:creationId xmlns:a16="http://schemas.microsoft.com/office/drawing/2014/main" id="{CD12660D-ADA9-6B6A-7405-5B8433165DD6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8" name="Oval 27">
                <a:extLst>
                  <a:ext uri="{FF2B5EF4-FFF2-40B4-BE49-F238E27FC236}">
                    <a16:creationId xmlns:a16="http://schemas.microsoft.com/office/drawing/2014/main" id="{0B1A1FEA-0027-9E88-9FF2-7BE242F2BF65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19" name="Multiply 28">
                <a:extLst>
                  <a:ext uri="{FF2B5EF4-FFF2-40B4-BE49-F238E27FC236}">
                    <a16:creationId xmlns:a16="http://schemas.microsoft.com/office/drawing/2014/main" id="{C20CAE11-8B1F-4521-A439-4E895A333523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0" name="Multiply 29">
                <a:extLst>
                  <a:ext uri="{FF2B5EF4-FFF2-40B4-BE49-F238E27FC236}">
                    <a16:creationId xmlns:a16="http://schemas.microsoft.com/office/drawing/2014/main" id="{8A95B274-5A57-2055-C0D9-457760224CA0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1" name="Multiply 30">
                <a:extLst>
                  <a:ext uri="{FF2B5EF4-FFF2-40B4-BE49-F238E27FC236}">
                    <a16:creationId xmlns:a16="http://schemas.microsoft.com/office/drawing/2014/main" id="{7E982CAE-81A9-32FF-1E8E-C206169CC96D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2" name="Multiply 31">
                <a:extLst>
                  <a:ext uri="{FF2B5EF4-FFF2-40B4-BE49-F238E27FC236}">
                    <a16:creationId xmlns:a16="http://schemas.microsoft.com/office/drawing/2014/main" id="{FF5CDDFA-0285-1EAD-EB3D-C992D2DAC298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3" name="Multiply 32">
                <a:extLst>
                  <a:ext uri="{FF2B5EF4-FFF2-40B4-BE49-F238E27FC236}">
                    <a16:creationId xmlns:a16="http://schemas.microsoft.com/office/drawing/2014/main" id="{9B7F76AC-6D3A-830C-9083-0199F6734871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4" name="Multiply 33">
                <a:extLst>
                  <a:ext uri="{FF2B5EF4-FFF2-40B4-BE49-F238E27FC236}">
                    <a16:creationId xmlns:a16="http://schemas.microsoft.com/office/drawing/2014/main" id="{D3155068-4D6B-00AA-D5BD-6B29C2581320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5" name="Multiply 34">
                <a:extLst>
                  <a:ext uri="{FF2B5EF4-FFF2-40B4-BE49-F238E27FC236}">
                    <a16:creationId xmlns:a16="http://schemas.microsoft.com/office/drawing/2014/main" id="{BE02C931-C817-1D10-C938-506A5328CF9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6" name="Oval 35">
                <a:extLst>
                  <a:ext uri="{FF2B5EF4-FFF2-40B4-BE49-F238E27FC236}">
                    <a16:creationId xmlns:a16="http://schemas.microsoft.com/office/drawing/2014/main" id="{037DCD77-CB85-6615-818E-53830FFF987D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7" name="Oval 36">
                <a:extLst>
                  <a:ext uri="{FF2B5EF4-FFF2-40B4-BE49-F238E27FC236}">
                    <a16:creationId xmlns:a16="http://schemas.microsoft.com/office/drawing/2014/main" id="{64933034-93B0-2153-6372-573E8410C1E5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8" name="Oval 37">
                <a:extLst>
                  <a:ext uri="{FF2B5EF4-FFF2-40B4-BE49-F238E27FC236}">
                    <a16:creationId xmlns:a16="http://schemas.microsoft.com/office/drawing/2014/main" id="{590D945B-5C02-A907-B24B-5C7B8A35DE17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29" name="Multiply 38">
                <a:extLst>
                  <a:ext uri="{FF2B5EF4-FFF2-40B4-BE49-F238E27FC236}">
                    <a16:creationId xmlns:a16="http://schemas.microsoft.com/office/drawing/2014/main" id="{B2CA3E0D-9491-7BBF-7C58-4FEEFDDA67E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0" name="Multiply 39">
                <a:extLst>
                  <a:ext uri="{FF2B5EF4-FFF2-40B4-BE49-F238E27FC236}">
                    <a16:creationId xmlns:a16="http://schemas.microsoft.com/office/drawing/2014/main" id="{9CB0019D-BCAE-CBF5-E9AA-DB42024B9517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1" name="Multiply 40">
                <a:extLst>
                  <a:ext uri="{FF2B5EF4-FFF2-40B4-BE49-F238E27FC236}">
                    <a16:creationId xmlns:a16="http://schemas.microsoft.com/office/drawing/2014/main" id="{F9E96131-227C-8F93-E881-C680BCF513F6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2" name="Multiply 41">
                <a:extLst>
                  <a:ext uri="{FF2B5EF4-FFF2-40B4-BE49-F238E27FC236}">
                    <a16:creationId xmlns:a16="http://schemas.microsoft.com/office/drawing/2014/main" id="{0CC480B1-4435-B46F-75E0-286BDBDD0B4F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3" name="Multiply 42">
                <a:extLst>
                  <a:ext uri="{FF2B5EF4-FFF2-40B4-BE49-F238E27FC236}">
                    <a16:creationId xmlns:a16="http://schemas.microsoft.com/office/drawing/2014/main" id="{427AA496-B2DD-5199-236F-ACDE3911BA8A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4" name="Multiply 43">
                <a:extLst>
                  <a:ext uri="{FF2B5EF4-FFF2-40B4-BE49-F238E27FC236}">
                    <a16:creationId xmlns:a16="http://schemas.microsoft.com/office/drawing/2014/main" id="{D0494BF0-83C5-D217-E3F0-D37D97CAB42F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5" name="Multiply 44">
                <a:extLst>
                  <a:ext uri="{FF2B5EF4-FFF2-40B4-BE49-F238E27FC236}">
                    <a16:creationId xmlns:a16="http://schemas.microsoft.com/office/drawing/2014/main" id="{1943872F-D82A-A2E4-8597-1C3B77A5591C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6" name="Multiply 45">
                <a:extLst>
                  <a:ext uri="{FF2B5EF4-FFF2-40B4-BE49-F238E27FC236}">
                    <a16:creationId xmlns:a16="http://schemas.microsoft.com/office/drawing/2014/main" id="{0073664D-12A0-88D6-2D28-C31256AAFB7D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7" name="Multiply 46">
                <a:extLst>
                  <a:ext uri="{FF2B5EF4-FFF2-40B4-BE49-F238E27FC236}">
                    <a16:creationId xmlns:a16="http://schemas.microsoft.com/office/drawing/2014/main" id="{E802BF65-432E-A93E-CAF8-F1A093BBE901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8" name="Multiply 47">
                <a:extLst>
                  <a:ext uri="{FF2B5EF4-FFF2-40B4-BE49-F238E27FC236}">
                    <a16:creationId xmlns:a16="http://schemas.microsoft.com/office/drawing/2014/main" id="{D530F31C-8F3B-3B7B-E86C-4278765980F8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39" name="Multiply 48">
                <a:extLst>
                  <a:ext uri="{FF2B5EF4-FFF2-40B4-BE49-F238E27FC236}">
                    <a16:creationId xmlns:a16="http://schemas.microsoft.com/office/drawing/2014/main" id="{A467CA46-0031-79EC-C70B-088E58FD31EE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340" name="Freeform 49">
                <a:extLst>
                  <a:ext uri="{FF2B5EF4-FFF2-40B4-BE49-F238E27FC236}">
                    <a16:creationId xmlns:a16="http://schemas.microsoft.com/office/drawing/2014/main" id="{D11340A6-0358-782C-37B6-4B14FA13FDE6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294" name="Retângulo 293">
              <a:extLst>
                <a:ext uri="{FF2B5EF4-FFF2-40B4-BE49-F238E27FC236}">
                  <a16:creationId xmlns:a16="http://schemas.microsoft.com/office/drawing/2014/main" id="{9777451C-E320-8AA1-21F5-BD6EC5F72A61}"/>
                </a:ext>
              </a:extLst>
            </p:cNvPr>
            <p:cNvSpPr/>
            <p:nvPr/>
          </p:nvSpPr>
          <p:spPr>
            <a:xfrm>
              <a:off x="10483329" y="4446320"/>
              <a:ext cx="2255442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78416568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primeira figura, o polinômio (i.e., reta) tem uma </a:t>
            </a:r>
            <a:r>
              <a:rPr lang="pt-BR" b="1" dirty="0">
                <a:solidFill>
                  <a:srgbClr val="FF0000"/>
                </a:solidFill>
              </a:rPr>
              <a:t>baixa flexibilidade</a:t>
            </a:r>
            <a:r>
              <a:rPr lang="pt-BR" dirty="0"/>
              <a:t>.</a:t>
            </a:r>
          </a:p>
          <a:p>
            <a:r>
              <a:rPr lang="pt-BR" dirty="0"/>
              <a:t>Consequentemente, o modelo apresenta uma </a:t>
            </a:r>
            <a:r>
              <a:rPr lang="pt-BR" b="1" dirty="0">
                <a:solidFill>
                  <a:srgbClr val="FF0000"/>
                </a:solidFill>
              </a:rPr>
              <a:t>baixa 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Assim, os erros nos conjuntos de treinamento e teste seriam </a:t>
            </a:r>
            <a:r>
              <a:rPr lang="pt-BR" b="1" dirty="0">
                <a:solidFill>
                  <a:srgbClr val="FF0000"/>
                </a:solidFill>
              </a:rPr>
              <a:t>ambos altos</a:t>
            </a:r>
            <a:r>
              <a:rPr lang="pt-BR" dirty="0"/>
              <a:t>.</a:t>
            </a:r>
          </a:p>
          <a:p>
            <a:r>
              <a:rPr lang="pt-BR" dirty="0"/>
              <a:t>Ou seja, o classificador erraria a classificação de boa parte dos exemplos.</a:t>
            </a:r>
          </a:p>
          <a:p>
            <a:endParaRPr lang="pt-BR" dirty="0"/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grpSp>
        <p:nvGrpSpPr>
          <p:cNvPr id="98" name="Agrupar 97">
            <a:extLst>
              <a:ext uri="{FF2B5EF4-FFF2-40B4-BE49-F238E27FC236}">
                <a16:creationId xmlns:a16="http://schemas.microsoft.com/office/drawing/2014/main" id="{A6FE96E8-7FE5-21E4-BCE6-6DF0031DBF05}"/>
              </a:ext>
            </a:extLst>
          </p:cNvPr>
          <p:cNvGrpSpPr/>
          <p:nvPr/>
        </p:nvGrpSpPr>
        <p:grpSpPr>
          <a:xfrm>
            <a:off x="9002294" y="4392272"/>
            <a:ext cx="3213154" cy="2336815"/>
            <a:chOff x="9487183" y="4401237"/>
            <a:chExt cx="3213154" cy="2336815"/>
          </a:xfrm>
        </p:grpSpPr>
        <p:grpSp>
          <p:nvGrpSpPr>
            <p:cNvPr id="99" name="Group 3">
              <a:extLst>
                <a:ext uri="{FF2B5EF4-FFF2-40B4-BE49-F238E27FC236}">
                  <a16:creationId xmlns:a16="http://schemas.microsoft.com/office/drawing/2014/main" id="{97EA07A9-7D75-8D57-32B7-6D0F9A97C00F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01" name="Straight Connector 4">
                <a:extLst>
                  <a:ext uri="{FF2B5EF4-FFF2-40B4-BE49-F238E27FC236}">
                    <a16:creationId xmlns:a16="http://schemas.microsoft.com/office/drawing/2014/main" id="{0FF56AD3-2AFD-3C1B-9C7F-AD580D21417F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2" name="Straight Connector 5">
                <a:extLst>
                  <a:ext uri="{FF2B5EF4-FFF2-40B4-BE49-F238E27FC236}">
                    <a16:creationId xmlns:a16="http://schemas.microsoft.com/office/drawing/2014/main" id="{E41A4A1C-29BD-587F-5ABD-FDD004F7494C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3" name="TextBox 6">
                    <a:extLst>
                      <a:ext uri="{FF2B5EF4-FFF2-40B4-BE49-F238E27FC236}">
                        <a16:creationId xmlns:a16="http://schemas.microsoft.com/office/drawing/2014/main" id="{931D78C3-4623-B925-47BF-B91AA98F3A6A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4" name="TextBox 7">
                    <a:extLst>
                      <a:ext uri="{FF2B5EF4-FFF2-40B4-BE49-F238E27FC236}">
                        <a16:creationId xmlns:a16="http://schemas.microsoft.com/office/drawing/2014/main" id="{94791710-53C8-DCBE-2A13-8F9EBA3A5110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5" name="Oval 8">
                <a:extLst>
                  <a:ext uri="{FF2B5EF4-FFF2-40B4-BE49-F238E27FC236}">
                    <a16:creationId xmlns:a16="http://schemas.microsoft.com/office/drawing/2014/main" id="{B58B7B66-6147-70B6-C6C8-E98A251D8D38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6" name="Oval 9">
                <a:extLst>
                  <a:ext uri="{FF2B5EF4-FFF2-40B4-BE49-F238E27FC236}">
                    <a16:creationId xmlns:a16="http://schemas.microsoft.com/office/drawing/2014/main" id="{0FB5920C-58F2-09E2-B1B3-E8F6C9AE4FC2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7" name="Oval 10">
                <a:extLst>
                  <a:ext uri="{FF2B5EF4-FFF2-40B4-BE49-F238E27FC236}">
                    <a16:creationId xmlns:a16="http://schemas.microsoft.com/office/drawing/2014/main" id="{42189AD4-DA86-B2BE-B50A-46F4C14C1B22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8" name="Oval 11">
                <a:extLst>
                  <a:ext uri="{FF2B5EF4-FFF2-40B4-BE49-F238E27FC236}">
                    <a16:creationId xmlns:a16="http://schemas.microsoft.com/office/drawing/2014/main" id="{E5D84EE4-FDEB-915C-C95B-9E475CCFDB74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09" name="Oval 12">
                <a:extLst>
                  <a:ext uri="{FF2B5EF4-FFF2-40B4-BE49-F238E27FC236}">
                    <a16:creationId xmlns:a16="http://schemas.microsoft.com/office/drawing/2014/main" id="{158F6918-0D90-D666-D9AD-19FA1A2D1732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0" name="Oval 13">
                <a:extLst>
                  <a:ext uri="{FF2B5EF4-FFF2-40B4-BE49-F238E27FC236}">
                    <a16:creationId xmlns:a16="http://schemas.microsoft.com/office/drawing/2014/main" id="{865677FE-CF22-67D8-3C99-1ADD611479BB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1" name="Oval 14">
                <a:extLst>
                  <a:ext uri="{FF2B5EF4-FFF2-40B4-BE49-F238E27FC236}">
                    <a16:creationId xmlns:a16="http://schemas.microsoft.com/office/drawing/2014/main" id="{5063E2AB-2EC8-0A92-28CB-89F582AE6260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2" name="Oval 15">
                <a:extLst>
                  <a:ext uri="{FF2B5EF4-FFF2-40B4-BE49-F238E27FC236}">
                    <a16:creationId xmlns:a16="http://schemas.microsoft.com/office/drawing/2014/main" id="{6EC84DF7-6661-CBEC-3E28-0596109C3AAC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3" name="Oval 16">
                <a:extLst>
                  <a:ext uri="{FF2B5EF4-FFF2-40B4-BE49-F238E27FC236}">
                    <a16:creationId xmlns:a16="http://schemas.microsoft.com/office/drawing/2014/main" id="{8CE3AC63-4268-CFC7-6E75-C11A7DF5655F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4" name="Oval 17">
                <a:extLst>
                  <a:ext uri="{FF2B5EF4-FFF2-40B4-BE49-F238E27FC236}">
                    <a16:creationId xmlns:a16="http://schemas.microsoft.com/office/drawing/2014/main" id="{DBEC6B39-4A77-DBE6-2BF7-AD9DFBA3058C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5" name="Oval 18">
                <a:extLst>
                  <a:ext uri="{FF2B5EF4-FFF2-40B4-BE49-F238E27FC236}">
                    <a16:creationId xmlns:a16="http://schemas.microsoft.com/office/drawing/2014/main" id="{DBA0AF13-CCAF-F6A7-F775-94F351B47096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6" name="Oval 19">
                <a:extLst>
                  <a:ext uri="{FF2B5EF4-FFF2-40B4-BE49-F238E27FC236}">
                    <a16:creationId xmlns:a16="http://schemas.microsoft.com/office/drawing/2014/main" id="{2E6CA247-69A8-EF52-B909-A41C48B47CEF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7" name="Oval 20">
                <a:extLst>
                  <a:ext uri="{FF2B5EF4-FFF2-40B4-BE49-F238E27FC236}">
                    <a16:creationId xmlns:a16="http://schemas.microsoft.com/office/drawing/2014/main" id="{5DA1C2F3-72FA-4FAE-C967-F9AEA2F281AB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8" name="Oval 21">
                <a:extLst>
                  <a:ext uri="{FF2B5EF4-FFF2-40B4-BE49-F238E27FC236}">
                    <a16:creationId xmlns:a16="http://schemas.microsoft.com/office/drawing/2014/main" id="{D2DD0E29-D11A-2BD0-7360-23D62322B7DE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19" name="Oval 22">
                <a:extLst>
                  <a:ext uri="{FF2B5EF4-FFF2-40B4-BE49-F238E27FC236}">
                    <a16:creationId xmlns:a16="http://schemas.microsoft.com/office/drawing/2014/main" id="{FBC5F4E4-9812-F6AC-52DB-B0645F3C234E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0" name="Oval 23">
                <a:extLst>
                  <a:ext uri="{FF2B5EF4-FFF2-40B4-BE49-F238E27FC236}">
                    <a16:creationId xmlns:a16="http://schemas.microsoft.com/office/drawing/2014/main" id="{112EE231-EF39-7954-2D2E-E44FC1AA2E8A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1" name="Oval 24">
                <a:extLst>
                  <a:ext uri="{FF2B5EF4-FFF2-40B4-BE49-F238E27FC236}">
                    <a16:creationId xmlns:a16="http://schemas.microsoft.com/office/drawing/2014/main" id="{B597EDEF-81A5-D0D4-5E5C-30D3A0C1B49F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2" name="Oval 25">
                <a:extLst>
                  <a:ext uri="{FF2B5EF4-FFF2-40B4-BE49-F238E27FC236}">
                    <a16:creationId xmlns:a16="http://schemas.microsoft.com/office/drawing/2014/main" id="{275D7CDA-AE65-67FC-F325-64E41DC64EF5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3" name="Oval 26">
                <a:extLst>
                  <a:ext uri="{FF2B5EF4-FFF2-40B4-BE49-F238E27FC236}">
                    <a16:creationId xmlns:a16="http://schemas.microsoft.com/office/drawing/2014/main" id="{6D71B0C9-444A-8565-F574-01A5D142D79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4" name="Oval 27">
                <a:extLst>
                  <a:ext uri="{FF2B5EF4-FFF2-40B4-BE49-F238E27FC236}">
                    <a16:creationId xmlns:a16="http://schemas.microsoft.com/office/drawing/2014/main" id="{31626273-3889-1DF5-64F7-313551ACDE9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5" name="Multiply 28">
                <a:extLst>
                  <a:ext uri="{FF2B5EF4-FFF2-40B4-BE49-F238E27FC236}">
                    <a16:creationId xmlns:a16="http://schemas.microsoft.com/office/drawing/2014/main" id="{DE03C3FF-8C48-59F5-2CC2-10EB5386EB20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6" name="Multiply 29">
                <a:extLst>
                  <a:ext uri="{FF2B5EF4-FFF2-40B4-BE49-F238E27FC236}">
                    <a16:creationId xmlns:a16="http://schemas.microsoft.com/office/drawing/2014/main" id="{85CCF03D-3935-F46E-1EAD-176ED6CBB1A8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7" name="Multiply 30">
                <a:extLst>
                  <a:ext uri="{FF2B5EF4-FFF2-40B4-BE49-F238E27FC236}">
                    <a16:creationId xmlns:a16="http://schemas.microsoft.com/office/drawing/2014/main" id="{720AE1C1-936D-8CA0-6F44-09B409D6E781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8" name="Multiply 31">
                <a:extLst>
                  <a:ext uri="{FF2B5EF4-FFF2-40B4-BE49-F238E27FC236}">
                    <a16:creationId xmlns:a16="http://schemas.microsoft.com/office/drawing/2014/main" id="{70033D10-04F9-613C-00B0-80212568D6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29" name="Multiply 32">
                <a:extLst>
                  <a:ext uri="{FF2B5EF4-FFF2-40B4-BE49-F238E27FC236}">
                    <a16:creationId xmlns:a16="http://schemas.microsoft.com/office/drawing/2014/main" id="{DB2F60AA-7E03-796C-54E7-A1D786D42542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0" name="Multiply 33">
                <a:extLst>
                  <a:ext uri="{FF2B5EF4-FFF2-40B4-BE49-F238E27FC236}">
                    <a16:creationId xmlns:a16="http://schemas.microsoft.com/office/drawing/2014/main" id="{6C0E2F95-7FD9-283A-2561-1BA458F3E561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1" name="Multiply 34">
                <a:extLst>
                  <a:ext uri="{FF2B5EF4-FFF2-40B4-BE49-F238E27FC236}">
                    <a16:creationId xmlns:a16="http://schemas.microsoft.com/office/drawing/2014/main" id="{EC9B6437-26FD-CC78-18C6-41E80492A9C8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2" name="Oval 35">
                <a:extLst>
                  <a:ext uri="{FF2B5EF4-FFF2-40B4-BE49-F238E27FC236}">
                    <a16:creationId xmlns:a16="http://schemas.microsoft.com/office/drawing/2014/main" id="{4BEE827C-B00E-D7D7-CB52-FC429A973867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3" name="Oval 36">
                <a:extLst>
                  <a:ext uri="{FF2B5EF4-FFF2-40B4-BE49-F238E27FC236}">
                    <a16:creationId xmlns:a16="http://schemas.microsoft.com/office/drawing/2014/main" id="{32AC3645-9686-A0B2-7569-C326DF568A19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4" name="Oval 37">
                <a:extLst>
                  <a:ext uri="{FF2B5EF4-FFF2-40B4-BE49-F238E27FC236}">
                    <a16:creationId xmlns:a16="http://schemas.microsoft.com/office/drawing/2014/main" id="{4C7E43DF-9314-F57B-842F-45024B3BF233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5" name="Multiply 38">
                <a:extLst>
                  <a:ext uri="{FF2B5EF4-FFF2-40B4-BE49-F238E27FC236}">
                    <a16:creationId xmlns:a16="http://schemas.microsoft.com/office/drawing/2014/main" id="{10C4FB25-D209-F9B3-8896-91D72068479B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6" name="Multiply 39">
                <a:extLst>
                  <a:ext uri="{FF2B5EF4-FFF2-40B4-BE49-F238E27FC236}">
                    <a16:creationId xmlns:a16="http://schemas.microsoft.com/office/drawing/2014/main" id="{416B28E7-3BBB-C38C-1064-2CAD2BD04EE5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7" name="Multiply 40">
                <a:extLst>
                  <a:ext uri="{FF2B5EF4-FFF2-40B4-BE49-F238E27FC236}">
                    <a16:creationId xmlns:a16="http://schemas.microsoft.com/office/drawing/2014/main" id="{88EBB636-F22A-87B1-E68E-A9BF68BD4B42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8" name="Multiply 41">
                <a:extLst>
                  <a:ext uri="{FF2B5EF4-FFF2-40B4-BE49-F238E27FC236}">
                    <a16:creationId xmlns:a16="http://schemas.microsoft.com/office/drawing/2014/main" id="{FB4EDB4D-8326-7D04-5F26-29F508291C32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39" name="Multiply 42">
                <a:extLst>
                  <a:ext uri="{FF2B5EF4-FFF2-40B4-BE49-F238E27FC236}">
                    <a16:creationId xmlns:a16="http://schemas.microsoft.com/office/drawing/2014/main" id="{F8412155-FF77-ED3B-888B-0EB7C988ED89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0" name="Multiply 43">
                <a:extLst>
                  <a:ext uri="{FF2B5EF4-FFF2-40B4-BE49-F238E27FC236}">
                    <a16:creationId xmlns:a16="http://schemas.microsoft.com/office/drawing/2014/main" id="{8B3A850C-AD94-F319-020F-3F9E4BAA9A08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1" name="Multiply 44">
                <a:extLst>
                  <a:ext uri="{FF2B5EF4-FFF2-40B4-BE49-F238E27FC236}">
                    <a16:creationId xmlns:a16="http://schemas.microsoft.com/office/drawing/2014/main" id="{4D88A13B-5E64-F59F-CA8B-906983BBF15E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2" name="Multiply 45">
                <a:extLst>
                  <a:ext uri="{FF2B5EF4-FFF2-40B4-BE49-F238E27FC236}">
                    <a16:creationId xmlns:a16="http://schemas.microsoft.com/office/drawing/2014/main" id="{58DEE3F5-0586-8AFA-E9F3-1AB9FC1B5319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3" name="Multiply 46">
                <a:extLst>
                  <a:ext uri="{FF2B5EF4-FFF2-40B4-BE49-F238E27FC236}">
                    <a16:creationId xmlns:a16="http://schemas.microsoft.com/office/drawing/2014/main" id="{F3ECCEDD-9521-E1EF-8635-26975E3FF1BE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4" name="Multiply 47">
                <a:extLst>
                  <a:ext uri="{FF2B5EF4-FFF2-40B4-BE49-F238E27FC236}">
                    <a16:creationId xmlns:a16="http://schemas.microsoft.com/office/drawing/2014/main" id="{EB8B4713-13AC-9E0A-C462-2BE54B80C733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5" name="Multiply 48">
                <a:extLst>
                  <a:ext uri="{FF2B5EF4-FFF2-40B4-BE49-F238E27FC236}">
                    <a16:creationId xmlns:a16="http://schemas.microsoft.com/office/drawing/2014/main" id="{DB738329-18E7-2CC0-9FDE-FC82161127B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46" name="Freeform 49">
                <a:extLst>
                  <a:ext uri="{FF2B5EF4-FFF2-40B4-BE49-F238E27FC236}">
                    <a16:creationId xmlns:a16="http://schemas.microsoft.com/office/drawing/2014/main" id="{EF02DAB4-9BD5-8F7A-BA87-318D3E91F6C1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00" name="Retângulo 99">
              <a:extLst>
                <a:ext uri="{FF2B5EF4-FFF2-40B4-BE49-F238E27FC236}">
                  <a16:creationId xmlns:a16="http://schemas.microsoft.com/office/drawing/2014/main" id="{D993783E-656B-0AE4-E0FA-4EC492BBA24F}"/>
                </a:ext>
              </a:extLst>
            </p:cNvPr>
            <p:cNvSpPr/>
            <p:nvPr/>
          </p:nvSpPr>
          <p:spPr>
            <a:xfrm>
              <a:off x="10444717" y="4401237"/>
              <a:ext cx="225562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</p:spTree>
    <p:extLst>
      <p:ext uri="{BB962C8B-B14F-4D97-AF65-F5344CB8AC3E}">
        <p14:creationId xmlns:p14="http://schemas.microsoft.com/office/powerpoint/2010/main" val="238340741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Na segunda figura, a </a:t>
            </a:r>
            <a:r>
              <a:rPr lang="pt-BR" b="1" dirty="0"/>
              <a:t>flexibilidade excessiva </a:t>
            </a:r>
            <a:r>
              <a:rPr lang="pt-BR" dirty="0"/>
              <a:t>do polinômio (i.e., grau elevado) dá origem a contorções na </a:t>
            </a:r>
            <a:r>
              <a:rPr lang="pt-BR" b="1" dirty="0"/>
              <a:t>fronteira de decisão </a:t>
            </a:r>
            <a:r>
              <a:rPr lang="pt-BR" dirty="0"/>
              <a:t>na tentativa de </a:t>
            </a:r>
            <a:r>
              <a:rPr lang="pt-BR" b="1" dirty="0">
                <a:solidFill>
                  <a:srgbClr val="7030A0"/>
                </a:solidFill>
              </a:rPr>
              <a:t>minimizar o erro</a:t>
            </a:r>
            <a:r>
              <a:rPr lang="pt-BR" dirty="0"/>
              <a:t> de classificação </a:t>
            </a:r>
            <a:r>
              <a:rPr lang="pt-BR" b="1" dirty="0">
                <a:solidFill>
                  <a:srgbClr val="7030A0"/>
                </a:solidFill>
              </a:rPr>
              <a:t>junto aos dados de treinamento</a:t>
            </a:r>
            <a:r>
              <a:rPr lang="pt-BR" dirty="0"/>
              <a:t>.</a:t>
            </a:r>
          </a:p>
          <a:p>
            <a:r>
              <a:rPr lang="pt-BR" dirty="0"/>
              <a:t>Porém, o classificador cometerá muitos erros para dados inéditos, ou seja, </a:t>
            </a:r>
            <a:r>
              <a:rPr lang="pt-BR" b="1" dirty="0">
                <a:solidFill>
                  <a:srgbClr val="FF0000"/>
                </a:solidFill>
              </a:rPr>
              <a:t>não irá generalizar bem</a:t>
            </a:r>
            <a:r>
              <a:rPr lang="pt-BR" dirty="0"/>
              <a:t>.</a:t>
            </a:r>
          </a:p>
          <a:p>
            <a:r>
              <a:rPr lang="pt-BR" dirty="0"/>
              <a:t>Nesse caso o classificador apresenta </a:t>
            </a:r>
            <a:r>
              <a:rPr lang="pt-BR" b="1" dirty="0">
                <a:solidFill>
                  <a:srgbClr val="00B050"/>
                </a:solidFill>
              </a:rPr>
              <a:t>erro de treinamento muito baixo </a:t>
            </a:r>
            <a:r>
              <a:rPr lang="pt-BR" dirty="0"/>
              <a:t>e </a:t>
            </a:r>
            <a:r>
              <a:rPr lang="pt-BR" b="1" dirty="0">
                <a:solidFill>
                  <a:srgbClr val="FF0000"/>
                </a:solidFill>
              </a:rPr>
              <a:t>erro de</a:t>
            </a:r>
            <a:r>
              <a:rPr lang="pt-BR" dirty="0"/>
              <a:t> </a:t>
            </a:r>
            <a:r>
              <a:rPr lang="pt-BR" b="1" dirty="0">
                <a:solidFill>
                  <a:srgbClr val="FF0000"/>
                </a:solidFill>
              </a:rPr>
              <a:t>teste muito alto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78247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759121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883783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877775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577699"/>
            <a:ext cx="3151778" cy="2231772"/>
            <a:chOff x="9487183" y="4506280"/>
            <a:chExt cx="3151778" cy="223177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323051" y="4506280"/>
              <a:ext cx="2315910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8588821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EBEF97-8057-BF3C-2F34-ADA7F27720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Subajuste e sobreajuste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DE9484A-5217-F82B-E48D-B22A7C6F4E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39919" cy="3178454"/>
          </a:xfrm>
        </p:spPr>
        <p:txBody>
          <a:bodyPr>
            <a:normAutofit/>
          </a:bodyPr>
          <a:lstStyle/>
          <a:p>
            <a:r>
              <a:rPr lang="pt-BR" dirty="0"/>
              <a:t>Já a última figura mostra o que seria uma boa </a:t>
            </a:r>
            <a:r>
              <a:rPr lang="pt-BR" b="1" dirty="0"/>
              <a:t>hipótese de classificação</a:t>
            </a:r>
            <a:r>
              <a:rPr lang="pt-BR" dirty="0"/>
              <a:t>.</a:t>
            </a:r>
          </a:p>
          <a:p>
            <a:r>
              <a:rPr lang="pt-BR" dirty="0"/>
              <a:t>O polinômio apresenta uma </a:t>
            </a:r>
            <a:r>
              <a:rPr lang="pt-BR" b="1" dirty="0">
                <a:solidFill>
                  <a:srgbClr val="00B050"/>
                </a:solidFill>
              </a:rPr>
              <a:t>boa relação de compromisso </a:t>
            </a:r>
            <a:r>
              <a:rPr lang="pt-BR" dirty="0"/>
              <a:t>entre a </a:t>
            </a:r>
            <a:r>
              <a:rPr lang="pt-BR" b="1" dirty="0">
                <a:solidFill>
                  <a:srgbClr val="00B050"/>
                </a:solidFill>
              </a:rPr>
              <a:t>flexibilidade</a:t>
            </a:r>
            <a:r>
              <a:rPr lang="pt-BR" dirty="0"/>
              <a:t> e a </a:t>
            </a:r>
            <a:r>
              <a:rPr lang="pt-BR" b="1" dirty="0">
                <a:solidFill>
                  <a:srgbClr val="00B050"/>
                </a:solidFill>
              </a:rPr>
              <a:t>capacidade de generalização</a:t>
            </a:r>
            <a:r>
              <a:rPr lang="pt-BR" dirty="0"/>
              <a:t>.</a:t>
            </a:r>
          </a:p>
          <a:p>
            <a:r>
              <a:rPr lang="pt-BR" dirty="0"/>
              <a:t>Os erros nos conjuntos de treinamento e de teste seriam </a:t>
            </a:r>
            <a:r>
              <a:rPr lang="pt-BR" b="1" dirty="0">
                <a:solidFill>
                  <a:srgbClr val="00B050"/>
                </a:solidFill>
              </a:rPr>
              <a:t>baixos e próximos</a:t>
            </a:r>
            <a:r>
              <a:rPr lang="pt-BR" dirty="0"/>
              <a:t>.</a:t>
            </a:r>
          </a:p>
        </p:txBody>
      </p:sp>
      <p:grpSp>
        <p:nvGrpSpPr>
          <p:cNvPr id="4" name="Group 50">
            <a:extLst>
              <a:ext uri="{FF2B5EF4-FFF2-40B4-BE49-F238E27FC236}">
                <a16:creationId xmlns:a16="http://schemas.microsoft.com/office/drawing/2014/main" id="{AAC33CC3-B566-0A22-6D7F-4A7086BDBE56}"/>
              </a:ext>
            </a:extLst>
          </p:cNvPr>
          <p:cNvGrpSpPr/>
          <p:nvPr/>
        </p:nvGrpSpPr>
        <p:grpSpPr>
          <a:xfrm>
            <a:off x="1028041" y="4681990"/>
            <a:ext cx="2614571" cy="2044068"/>
            <a:chOff x="9561094" y="1203158"/>
            <a:chExt cx="2796786" cy="2093874"/>
          </a:xfrm>
        </p:grpSpPr>
        <p:cxnSp>
          <p:nvCxnSpPr>
            <p:cNvPr id="5" name="Straight Connector 51">
              <a:extLst>
                <a:ext uri="{FF2B5EF4-FFF2-40B4-BE49-F238E27FC236}">
                  <a16:creationId xmlns:a16="http://schemas.microsoft.com/office/drawing/2014/main" id="{5D158E3F-ED3F-A0BB-C06B-2CF4EAA4B11D}"/>
                </a:ext>
              </a:extLst>
            </p:cNvPr>
            <p:cNvCxnSpPr/>
            <p:nvPr/>
          </p:nvCxnSpPr>
          <p:spPr>
            <a:xfrm>
              <a:off x="9724202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2">
              <a:extLst>
                <a:ext uri="{FF2B5EF4-FFF2-40B4-BE49-F238E27FC236}">
                  <a16:creationId xmlns:a16="http://schemas.microsoft.com/office/drawing/2014/main" id="{E14DE293-E665-2737-62F6-D30BF75374C3}"/>
                </a:ext>
              </a:extLst>
            </p:cNvPr>
            <p:cNvCxnSpPr/>
            <p:nvPr/>
          </p:nvCxnSpPr>
          <p:spPr>
            <a:xfrm rot="16200000">
              <a:off x="10797774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53">
                  <a:extLst>
                    <a:ext uri="{FF2B5EF4-FFF2-40B4-BE49-F238E27FC236}">
                      <a16:creationId xmlns:a16="http://schemas.microsoft.com/office/drawing/2014/main" id="{0F060A46-3CFC-45DB-BB36-1A17B92266A3}"/>
                    </a:ext>
                  </a:extLst>
                </p:cNvPr>
                <p:cNvSpPr txBox="1"/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2" name="TextBox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4202" y="1203158"/>
                  <a:ext cx="380827" cy="25789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39535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54">
                  <a:extLst>
                    <a:ext uri="{FF2B5EF4-FFF2-40B4-BE49-F238E27FC236}">
                      <a16:creationId xmlns:a16="http://schemas.microsoft.com/office/drawing/2014/main" id="{375B5669-21CF-6AC7-003F-C8620D6D016C}"/>
                    </a:ext>
                  </a:extLst>
                </p:cNvPr>
                <p:cNvSpPr txBox="1"/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53" name="TextBox 5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977053" y="3030229"/>
                  <a:ext cx="380827" cy="257896"/>
                </a:xfrm>
                <a:prstGeom prst="rect">
                  <a:avLst/>
                </a:prstGeom>
                <a:blipFill rotWithShape="0">
                  <a:blip r:embed="rId6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55">
              <a:extLst>
                <a:ext uri="{FF2B5EF4-FFF2-40B4-BE49-F238E27FC236}">
                  <a16:creationId xmlns:a16="http://schemas.microsoft.com/office/drawing/2014/main" id="{A584C797-F691-3447-D9AC-BA27AFA91641}"/>
                </a:ext>
              </a:extLst>
            </p:cNvPr>
            <p:cNvSpPr/>
            <p:nvPr/>
          </p:nvSpPr>
          <p:spPr>
            <a:xfrm>
              <a:off x="10441769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0" name="Oval 56">
              <a:extLst>
                <a:ext uri="{FF2B5EF4-FFF2-40B4-BE49-F238E27FC236}">
                  <a16:creationId xmlns:a16="http://schemas.microsoft.com/office/drawing/2014/main" id="{7BF53845-9122-66A2-F6EE-F82FE2EA8B35}"/>
                </a:ext>
              </a:extLst>
            </p:cNvPr>
            <p:cNvSpPr/>
            <p:nvPr/>
          </p:nvSpPr>
          <p:spPr>
            <a:xfrm>
              <a:off x="10450116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1" name="Oval 57">
              <a:extLst>
                <a:ext uri="{FF2B5EF4-FFF2-40B4-BE49-F238E27FC236}">
                  <a16:creationId xmlns:a16="http://schemas.microsoft.com/office/drawing/2014/main" id="{B986BC97-E4CB-FF24-8B6B-B5E0B58328B4}"/>
                </a:ext>
              </a:extLst>
            </p:cNvPr>
            <p:cNvSpPr/>
            <p:nvPr/>
          </p:nvSpPr>
          <p:spPr>
            <a:xfrm>
              <a:off x="10183755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2" name="Oval 58">
              <a:extLst>
                <a:ext uri="{FF2B5EF4-FFF2-40B4-BE49-F238E27FC236}">
                  <a16:creationId xmlns:a16="http://schemas.microsoft.com/office/drawing/2014/main" id="{F93121AB-3E96-4C7B-C0A0-F7366006410B}"/>
                </a:ext>
              </a:extLst>
            </p:cNvPr>
            <p:cNvSpPr/>
            <p:nvPr/>
          </p:nvSpPr>
          <p:spPr>
            <a:xfrm>
              <a:off x="10302622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3" name="Oval 59">
              <a:extLst>
                <a:ext uri="{FF2B5EF4-FFF2-40B4-BE49-F238E27FC236}">
                  <a16:creationId xmlns:a16="http://schemas.microsoft.com/office/drawing/2014/main" id="{4A46DC69-8112-7890-D65B-BA227AEC26FF}"/>
                </a:ext>
              </a:extLst>
            </p:cNvPr>
            <p:cNvSpPr/>
            <p:nvPr/>
          </p:nvSpPr>
          <p:spPr>
            <a:xfrm>
              <a:off x="10704566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4" name="Oval 60">
              <a:extLst>
                <a:ext uri="{FF2B5EF4-FFF2-40B4-BE49-F238E27FC236}">
                  <a16:creationId xmlns:a16="http://schemas.microsoft.com/office/drawing/2014/main" id="{36B8C64A-B43F-AEF3-8FD9-AF525A799E9C}"/>
                </a:ext>
              </a:extLst>
            </p:cNvPr>
            <p:cNvSpPr/>
            <p:nvPr/>
          </p:nvSpPr>
          <p:spPr>
            <a:xfrm>
              <a:off x="10727947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5" name="Oval 61">
              <a:extLst>
                <a:ext uri="{FF2B5EF4-FFF2-40B4-BE49-F238E27FC236}">
                  <a16:creationId xmlns:a16="http://schemas.microsoft.com/office/drawing/2014/main" id="{B74988DE-918E-946B-C74E-7EE0F18DA73C}"/>
                </a:ext>
              </a:extLst>
            </p:cNvPr>
            <p:cNvSpPr/>
            <p:nvPr/>
          </p:nvSpPr>
          <p:spPr>
            <a:xfrm>
              <a:off x="10954789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6" name="Oval 62">
              <a:extLst>
                <a:ext uri="{FF2B5EF4-FFF2-40B4-BE49-F238E27FC236}">
                  <a16:creationId xmlns:a16="http://schemas.microsoft.com/office/drawing/2014/main" id="{3BBCBCAF-1C6D-67E9-5A37-C65BFCB949F5}"/>
                </a:ext>
              </a:extLst>
            </p:cNvPr>
            <p:cNvSpPr/>
            <p:nvPr/>
          </p:nvSpPr>
          <p:spPr>
            <a:xfrm>
              <a:off x="10717895" y="22319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Oval 63">
              <a:extLst>
                <a:ext uri="{FF2B5EF4-FFF2-40B4-BE49-F238E27FC236}">
                  <a16:creationId xmlns:a16="http://schemas.microsoft.com/office/drawing/2014/main" id="{389E0290-6C37-86BF-D7F6-3C3D70AFDC7D}"/>
                </a:ext>
              </a:extLst>
            </p:cNvPr>
            <p:cNvSpPr/>
            <p:nvPr/>
          </p:nvSpPr>
          <p:spPr>
            <a:xfrm>
              <a:off x="10233441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8" name="Oval 64">
              <a:extLst>
                <a:ext uri="{FF2B5EF4-FFF2-40B4-BE49-F238E27FC236}">
                  <a16:creationId xmlns:a16="http://schemas.microsoft.com/office/drawing/2014/main" id="{D535C198-4195-86A4-9BF5-A9F6C34A8330}"/>
                </a:ext>
              </a:extLst>
            </p:cNvPr>
            <p:cNvSpPr/>
            <p:nvPr/>
          </p:nvSpPr>
          <p:spPr>
            <a:xfrm>
              <a:off x="10797774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9" name="Oval 65">
              <a:extLst>
                <a:ext uri="{FF2B5EF4-FFF2-40B4-BE49-F238E27FC236}">
                  <a16:creationId xmlns:a16="http://schemas.microsoft.com/office/drawing/2014/main" id="{537C7751-3C73-12CA-E37A-9EDC1ECADCF6}"/>
                </a:ext>
              </a:extLst>
            </p:cNvPr>
            <p:cNvSpPr/>
            <p:nvPr/>
          </p:nvSpPr>
          <p:spPr>
            <a:xfrm>
              <a:off x="10558137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0" name="Oval 66">
              <a:extLst>
                <a:ext uri="{FF2B5EF4-FFF2-40B4-BE49-F238E27FC236}">
                  <a16:creationId xmlns:a16="http://schemas.microsoft.com/office/drawing/2014/main" id="{DB34B1B3-6E55-71B6-E580-4C356935E253}"/>
                </a:ext>
              </a:extLst>
            </p:cNvPr>
            <p:cNvSpPr/>
            <p:nvPr/>
          </p:nvSpPr>
          <p:spPr>
            <a:xfrm>
              <a:off x="10948131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1" name="Oval 67">
              <a:extLst>
                <a:ext uri="{FF2B5EF4-FFF2-40B4-BE49-F238E27FC236}">
                  <a16:creationId xmlns:a16="http://schemas.microsoft.com/office/drawing/2014/main" id="{3DFE5CE7-19B7-8FAA-31BD-24E698D127FF}"/>
                </a:ext>
              </a:extLst>
            </p:cNvPr>
            <p:cNvSpPr/>
            <p:nvPr/>
          </p:nvSpPr>
          <p:spPr>
            <a:xfrm>
              <a:off x="11196805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2" name="Oval 68">
              <a:extLst>
                <a:ext uri="{FF2B5EF4-FFF2-40B4-BE49-F238E27FC236}">
                  <a16:creationId xmlns:a16="http://schemas.microsoft.com/office/drawing/2014/main" id="{1A643A25-5F1E-275A-CB13-6A6CBC92A001}"/>
                </a:ext>
              </a:extLst>
            </p:cNvPr>
            <p:cNvSpPr/>
            <p:nvPr/>
          </p:nvSpPr>
          <p:spPr>
            <a:xfrm>
              <a:off x="11396321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3" name="Oval 69">
              <a:extLst>
                <a:ext uri="{FF2B5EF4-FFF2-40B4-BE49-F238E27FC236}">
                  <a16:creationId xmlns:a16="http://schemas.microsoft.com/office/drawing/2014/main" id="{C0416F76-8277-57B0-E040-C19C523F65FE}"/>
                </a:ext>
              </a:extLst>
            </p:cNvPr>
            <p:cNvSpPr/>
            <p:nvPr/>
          </p:nvSpPr>
          <p:spPr>
            <a:xfrm>
              <a:off x="10562838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4" name="Oval 70">
              <a:extLst>
                <a:ext uri="{FF2B5EF4-FFF2-40B4-BE49-F238E27FC236}">
                  <a16:creationId xmlns:a16="http://schemas.microsoft.com/office/drawing/2014/main" id="{7C84899F-2320-A837-FEAC-8F52DD9FAB36}"/>
                </a:ext>
              </a:extLst>
            </p:cNvPr>
            <p:cNvSpPr/>
            <p:nvPr/>
          </p:nvSpPr>
          <p:spPr>
            <a:xfrm>
              <a:off x="11505344" y="237306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Oval 71">
              <a:extLst>
                <a:ext uri="{FF2B5EF4-FFF2-40B4-BE49-F238E27FC236}">
                  <a16:creationId xmlns:a16="http://schemas.microsoft.com/office/drawing/2014/main" id="{F32CECB7-0441-EB09-8AC9-3C163719DBF8}"/>
                </a:ext>
              </a:extLst>
            </p:cNvPr>
            <p:cNvSpPr/>
            <p:nvPr/>
          </p:nvSpPr>
          <p:spPr>
            <a:xfrm>
              <a:off x="11165137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6" name="Oval 72">
              <a:extLst>
                <a:ext uri="{FF2B5EF4-FFF2-40B4-BE49-F238E27FC236}">
                  <a16:creationId xmlns:a16="http://schemas.microsoft.com/office/drawing/2014/main" id="{7EF0AB90-663B-4A37-FDD8-BB80E88319AF}"/>
                </a:ext>
              </a:extLst>
            </p:cNvPr>
            <p:cNvSpPr/>
            <p:nvPr/>
          </p:nvSpPr>
          <p:spPr>
            <a:xfrm>
              <a:off x="10989996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7" name="Oval 73">
              <a:extLst>
                <a:ext uri="{FF2B5EF4-FFF2-40B4-BE49-F238E27FC236}">
                  <a16:creationId xmlns:a16="http://schemas.microsoft.com/office/drawing/2014/main" id="{9D85D20C-303D-4221-EE0D-41D6B72BFEF8}"/>
                </a:ext>
              </a:extLst>
            </p:cNvPr>
            <p:cNvSpPr/>
            <p:nvPr/>
          </p:nvSpPr>
          <p:spPr>
            <a:xfrm>
              <a:off x="10967394" y="252768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8" name="Oval 74">
              <a:extLst>
                <a:ext uri="{FF2B5EF4-FFF2-40B4-BE49-F238E27FC236}">
                  <a16:creationId xmlns:a16="http://schemas.microsoft.com/office/drawing/2014/main" id="{2CCFC6DF-F3A6-AEE6-C2C1-5CD54E1BC872}"/>
                </a:ext>
              </a:extLst>
            </p:cNvPr>
            <p:cNvSpPr/>
            <p:nvPr/>
          </p:nvSpPr>
          <p:spPr>
            <a:xfrm>
              <a:off x="11196805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9" name="Multiply 75">
              <a:extLst>
                <a:ext uri="{FF2B5EF4-FFF2-40B4-BE49-F238E27FC236}">
                  <a16:creationId xmlns:a16="http://schemas.microsoft.com/office/drawing/2014/main" id="{013EE84D-BE30-53F5-7D24-58A127BDFB67}"/>
                </a:ext>
              </a:extLst>
            </p:cNvPr>
            <p:cNvSpPr/>
            <p:nvPr/>
          </p:nvSpPr>
          <p:spPr>
            <a:xfrm>
              <a:off x="10888371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0" name="Multiply 76">
              <a:extLst>
                <a:ext uri="{FF2B5EF4-FFF2-40B4-BE49-F238E27FC236}">
                  <a16:creationId xmlns:a16="http://schemas.microsoft.com/office/drawing/2014/main" id="{16253B35-6000-3165-CC97-2C5695DC707E}"/>
                </a:ext>
              </a:extLst>
            </p:cNvPr>
            <p:cNvSpPr/>
            <p:nvPr/>
          </p:nvSpPr>
          <p:spPr>
            <a:xfrm>
              <a:off x="10099826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1" name="Multiply 77">
              <a:extLst>
                <a:ext uri="{FF2B5EF4-FFF2-40B4-BE49-F238E27FC236}">
                  <a16:creationId xmlns:a16="http://schemas.microsoft.com/office/drawing/2014/main" id="{AB3C5468-2303-A8E9-77E5-B694CED428CD}"/>
                </a:ext>
              </a:extLst>
            </p:cNvPr>
            <p:cNvSpPr/>
            <p:nvPr/>
          </p:nvSpPr>
          <p:spPr>
            <a:xfrm>
              <a:off x="9971860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2" name="Multiply 78">
              <a:extLst>
                <a:ext uri="{FF2B5EF4-FFF2-40B4-BE49-F238E27FC236}">
                  <a16:creationId xmlns:a16="http://schemas.microsoft.com/office/drawing/2014/main" id="{55EF7B01-BE33-EAC8-7681-BE6B59C74A73}"/>
                </a:ext>
              </a:extLst>
            </p:cNvPr>
            <p:cNvSpPr/>
            <p:nvPr/>
          </p:nvSpPr>
          <p:spPr>
            <a:xfrm>
              <a:off x="9776215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3" name="Multiply 79">
              <a:extLst>
                <a:ext uri="{FF2B5EF4-FFF2-40B4-BE49-F238E27FC236}">
                  <a16:creationId xmlns:a16="http://schemas.microsoft.com/office/drawing/2014/main" id="{1110B2D1-9106-F4A3-7E9A-34E2F248B960}"/>
                </a:ext>
              </a:extLst>
            </p:cNvPr>
            <p:cNvSpPr/>
            <p:nvPr/>
          </p:nvSpPr>
          <p:spPr>
            <a:xfrm>
              <a:off x="9753015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4" name="Multiply 80">
              <a:extLst>
                <a:ext uri="{FF2B5EF4-FFF2-40B4-BE49-F238E27FC236}">
                  <a16:creationId xmlns:a16="http://schemas.microsoft.com/office/drawing/2014/main" id="{DD301770-2322-F6BE-DE66-9DE851362B9C}"/>
                </a:ext>
              </a:extLst>
            </p:cNvPr>
            <p:cNvSpPr/>
            <p:nvPr/>
          </p:nvSpPr>
          <p:spPr>
            <a:xfrm>
              <a:off x="11407201" y="21565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5" name="Multiply 81">
              <a:extLst>
                <a:ext uri="{FF2B5EF4-FFF2-40B4-BE49-F238E27FC236}">
                  <a16:creationId xmlns:a16="http://schemas.microsoft.com/office/drawing/2014/main" id="{7374FE26-AFB2-A4DF-C9D1-5CA2F10641E9}"/>
                </a:ext>
              </a:extLst>
            </p:cNvPr>
            <p:cNvSpPr/>
            <p:nvPr/>
          </p:nvSpPr>
          <p:spPr>
            <a:xfrm>
              <a:off x="9842247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6" name="Oval 82">
              <a:extLst>
                <a:ext uri="{FF2B5EF4-FFF2-40B4-BE49-F238E27FC236}">
                  <a16:creationId xmlns:a16="http://schemas.microsoft.com/office/drawing/2014/main" id="{17B4E597-92BA-2AFD-C069-2FF24DAFF969}"/>
                </a:ext>
              </a:extLst>
            </p:cNvPr>
            <p:cNvSpPr/>
            <p:nvPr/>
          </p:nvSpPr>
          <p:spPr>
            <a:xfrm>
              <a:off x="11172165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7" name="Oval 83">
              <a:extLst>
                <a:ext uri="{FF2B5EF4-FFF2-40B4-BE49-F238E27FC236}">
                  <a16:creationId xmlns:a16="http://schemas.microsoft.com/office/drawing/2014/main" id="{5872DCA0-4C1E-3643-F3A9-D4C092D4F92F}"/>
                </a:ext>
              </a:extLst>
            </p:cNvPr>
            <p:cNvSpPr/>
            <p:nvPr/>
          </p:nvSpPr>
          <p:spPr>
            <a:xfrm>
              <a:off x="11298715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8" name="Oval 84">
              <a:extLst>
                <a:ext uri="{FF2B5EF4-FFF2-40B4-BE49-F238E27FC236}">
                  <a16:creationId xmlns:a16="http://schemas.microsoft.com/office/drawing/2014/main" id="{D9C9E530-CF36-2AE3-043A-EC182A9BE775}"/>
                </a:ext>
              </a:extLst>
            </p:cNvPr>
            <p:cNvSpPr/>
            <p:nvPr/>
          </p:nvSpPr>
          <p:spPr>
            <a:xfrm>
              <a:off x="11380278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39" name="Multiply 85">
              <a:extLst>
                <a:ext uri="{FF2B5EF4-FFF2-40B4-BE49-F238E27FC236}">
                  <a16:creationId xmlns:a16="http://schemas.microsoft.com/office/drawing/2014/main" id="{B54ED1FC-F5DE-D600-FCDF-1ADCF29D45E7}"/>
                </a:ext>
              </a:extLst>
            </p:cNvPr>
            <p:cNvSpPr/>
            <p:nvPr/>
          </p:nvSpPr>
          <p:spPr>
            <a:xfrm>
              <a:off x="9966628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0" name="Multiply 86">
              <a:extLst>
                <a:ext uri="{FF2B5EF4-FFF2-40B4-BE49-F238E27FC236}">
                  <a16:creationId xmlns:a16="http://schemas.microsoft.com/office/drawing/2014/main" id="{AEEDFEB7-CF7C-4951-7072-A4E2FE403B4A}"/>
                </a:ext>
              </a:extLst>
            </p:cNvPr>
            <p:cNvSpPr/>
            <p:nvPr/>
          </p:nvSpPr>
          <p:spPr>
            <a:xfrm>
              <a:off x="10212299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1" name="Multiply 87">
              <a:extLst>
                <a:ext uri="{FF2B5EF4-FFF2-40B4-BE49-F238E27FC236}">
                  <a16:creationId xmlns:a16="http://schemas.microsoft.com/office/drawing/2014/main" id="{38017610-9326-8829-14D6-1B23F2706CDD}"/>
                </a:ext>
              </a:extLst>
            </p:cNvPr>
            <p:cNvSpPr/>
            <p:nvPr/>
          </p:nvSpPr>
          <p:spPr>
            <a:xfrm>
              <a:off x="10637603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2" name="Multiply 88">
              <a:extLst>
                <a:ext uri="{FF2B5EF4-FFF2-40B4-BE49-F238E27FC236}">
                  <a16:creationId xmlns:a16="http://schemas.microsoft.com/office/drawing/2014/main" id="{FFAB20C3-59C4-8273-14C1-C4FCDD73DC04}"/>
                </a:ext>
              </a:extLst>
            </p:cNvPr>
            <p:cNvSpPr/>
            <p:nvPr/>
          </p:nvSpPr>
          <p:spPr>
            <a:xfrm>
              <a:off x="10395616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3" name="Multiply 89">
              <a:extLst>
                <a:ext uri="{FF2B5EF4-FFF2-40B4-BE49-F238E27FC236}">
                  <a16:creationId xmlns:a16="http://schemas.microsoft.com/office/drawing/2014/main" id="{47C9C92D-7665-03C1-F146-51BC3AA25634}"/>
                </a:ext>
              </a:extLst>
            </p:cNvPr>
            <p:cNvSpPr/>
            <p:nvPr/>
          </p:nvSpPr>
          <p:spPr>
            <a:xfrm>
              <a:off x="9887310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4" name="Multiply 90">
              <a:extLst>
                <a:ext uri="{FF2B5EF4-FFF2-40B4-BE49-F238E27FC236}">
                  <a16:creationId xmlns:a16="http://schemas.microsoft.com/office/drawing/2014/main" id="{18559765-9AC9-B7DA-08A1-120BB059E5D0}"/>
                </a:ext>
              </a:extLst>
            </p:cNvPr>
            <p:cNvSpPr/>
            <p:nvPr/>
          </p:nvSpPr>
          <p:spPr>
            <a:xfrm>
              <a:off x="11025217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5" name="Multiply 91">
              <a:extLst>
                <a:ext uri="{FF2B5EF4-FFF2-40B4-BE49-F238E27FC236}">
                  <a16:creationId xmlns:a16="http://schemas.microsoft.com/office/drawing/2014/main" id="{E6EB7F2E-1EC5-56CD-AEA8-0D8712EAE5F7}"/>
                </a:ext>
              </a:extLst>
            </p:cNvPr>
            <p:cNvSpPr/>
            <p:nvPr/>
          </p:nvSpPr>
          <p:spPr>
            <a:xfrm>
              <a:off x="11364804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6" name="Multiply 92">
              <a:extLst>
                <a:ext uri="{FF2B5EF4-FFF2-40B4-BE49-F238E27FC236}">
                  <a16:creationId xmlns:a16="http://schemas.microsoft.com/office/drawing/2014/main" id="{D53D50BB-56E7-1913-AF5B-45D781C0862A}"/>
                </a:ext>
              </a:extLst>
            </p:cNvPr>
            <p:cNvSpPr/>
            <p:nvPr/>
          </p:nvSpPr>
          <p:spPr>
            <a:xfrm>
              <a:off x="10022783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7" name="Multiply 93">
              <a:extLst>
                <a:ext uri="{FF2B5EF4-FFF2-40B4-BE49-F238E27FC236}">
                  <a16:creationId xmlns:a16="http://schemas.microsoft.com/office/drawing/2014/main" id="{D9D948A2-7FCE-B2BE-30C2-804E37360574}"/>
                </a:ext>
              </a:extLst>
            </p:cNvPr>
            <p:cNvSpPr/>
            <p:nvPr/>
          </p:nvSpPr>
          <p:spPr>
            <a:xfrm>
              <a:off x="10384819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8" name="Multiply 94">
              <a:extLst>
                <a:ext uri="{FF2B5EF4-FFF2-40B4-BE49-F238E27FC236}">
                  <a16:creationId xmlns:a16="http://schemas.microsoft.com/office/drawing/2014/main" id="{34EE58C7-425A-3119-6C53-3459D32F01E5}"/>
                </a:ext>
              </a:extLst>
            </p:cNvPr>
            <p:cNvSpPr/>
            <p:nvPr/>
          </p:nvSpPr>
          <p:spPr>
            <a:xfrm>
              <a:off x="9729684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49" name="Multiply 95">
              <a:extLst>
                <a:ext uri="{FF2B5EF4-FFF2-40B4-BE49-F238E27FC236}">
                  <a16:creationId xmlns:a16="http://schemas.microsoft.com/office/drawing/2014/main" id="{023E38CA-510B-2171-3DCE-8AE48A567302}"/>
                </a:ext>
              </a:extLst>
            </p:cNvPr>
            <p:cNvSpPr/>
            <p:nvPr/>
          </p:nvSpPr>
          <p:spPr>
            <a:xfrm>
              <a:off x="10759899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0" name="Straight Connector 96">
              <a:extLst>
                <a:ext uri="{FF2B5EF4-FFF2-40B4-BE49-F238E27FC236}">
                  <a16:creationId xmlns:a16="http://schemas.microsoft.com/office/drawing/2014/main" id="{71D7C514-BBC0-3FD5-B491-697DD5A4DC45}"/>
                </a:ext>
              </a:extLst>
            </p:cNvPr>
            <p:cNvCxnSpPr/>
            <p:nvPr/>
          </p:nvCxnSpPr>
          <p:spPr>
            <a:xfrm>
              <a:off x="9710234" y="1706871"/>
              <a:ext cx="1903794" cy="1452306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Group 97">
            <a:extLst>
              <a:ext uri="{FF2B5EF4-FFF2-40B4-BE49-F238E27FC236}">
                <a16:creationId xmlns:a16="http://schemas.microsoft.com/office/drawing/2014/main" id="{4428BBD2-C403-E0F2-42F0-FB45BB9BA997}"/>
              </a:ext>
            </a:extLst>
          </p:cNvPr>
          <p:cNvGrpSpPr/>
          <p:nvPr/>
        </p:nvGrpSpPr>
        <p:grpSpPr>
          <a:xfrm>
            <a:off x="4968566" y="4648593"/>
            <a:ext cx="2614572" cy="2075388"/>
            <a:chOff x="15842602" y="1171075"/>
            <a:chExt cx="2796787" cy="2125957"/>
          </a:xfrm>
        </p:grpSpPr>
        <p:cxnSp>
          <p:nvCxnSpPr>
            <p:cNvPr id="52" name="Straight Connector 98">
              <a:extLst>
                <a:ext uri="{FF2B5EF4-FFF2-40B4-BE49-F238E27FC236}">
                  <a16:creationId xmlns:a16="http://schemas.microsoft.com/office/drawing/2014/main" id="{076CFCE5-FE63-5677-E86E-73EC5285FD40}"/>
                </a:ext>
              </a:extLst>
            </p:cNvPr>
            <p:cNvCxnSpPr/>
            <p:nvPr/>
          </p:nvCxnSpPr>
          <p:spPr>
            <a:xfrm>
              <a:off x="16005710" y="1351116"/>
              <a:ext cx="0" cy="1945916"/>
            </a:xfrm>
            <a:prstGeom prst="line">
              <a:avLst/>
            </a:prstGeom>
            <a:ln w="28575">
              <a:solidFill>
                <a:schemeClr val="tx1"/>
              </a:solidFill>
              <a:headEnd type="arrow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99">
              <a:extLst>
                <a:ext uri="{FF2B5EF4-FFF2-40B4-BE49-F238E27FC236}">
                  <a16:creationId xmlns:a16="http://schemas.microsoft.com/office/drawing/2014/main" id="{2BCC2FA1-41AE-B5C3-FD4B-D4CDE7932F9D}"/>
                </a:ext>
              </a:extLst>
            </p:cNvPr>
            <p:cNvCxnSpPr/>
            <p:nvPr/>
          </p:nvCxnSpPr>
          <p:spPr>
            <a:xfrm rot="16200000">
              <a:off x="17079282" y="1922497"/>
              <a:ext cx="0" cy="2473360"/>
            </a:xfrm>
            <a:prstGeom prst="line">
              <a:avLst/>
            </a:prstGeom>
            <a:ln w="28575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Box 100">
                  <a:extLst>
                    <a:ext uri="{FF2B5EF4-FFF2-40B4-BE49-F238E27FC236}">
                      <a16:creationId xmlns:a16="http://schemas.microsoft.com/office/drawing/2014/main" id="{8CC8656C-56D6-CE67-FBE4-C5915D7D9407}"/>
                    </a:ext>
                  </a:extLst>
                </p:cNvPr>
                <p:cNvSpPr txBox="1"/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8" name="TextBox 9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005710" y="1171075"/>
                  <a:ext cx="380827" cy="25789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101">
                  <a:extLst>
                    <a:ext uri="{FF2B5EF4-FFF2-40B4-BE49-F238E27FC236}">
                      <a16:creationId xmlns:a16="http://schemas.microsoft.com/office/drawing/2014/main" id="{D9819669-1BF1-C232-6D45-A09CB263B947}"/>
                    </a:ext>
                  </a:extLst>
                </p:cNvPr>
                <p:cNvSpPr txBox="1"/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99" name="TextBox 9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8562" y="3030229"/>
                  <a:ext cx="380827" cy="25789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4285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6" name="Oval 102">
              <a:extLst>
                <a:ext uri="{FF2B5EF4-FFF2-40B4-BE49-F238E27FC236}">
                  <a16:creationId xmlns:a16="http://schemas.microsoft.com/office/drawing/2014/main" id="{65A7F45A-7658-DFC2-FBF6-1B5CB0AFB028}"/>
                </a:ext>
              </a:extLst>
            </p:cNvPr>
            <p:cNvSpPr/>
            <p:nvPr/>
          </p:nvSpPr>
          <p:spPr>
            <a:xfrm>
              <a:off x="16723277" y="191564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7" name="Oval 103">
              <a:extLst>
                <a:ext uri="{FF2B5EF4-FFF2-40B4-BE49-F238E27FC236}">
                  <a16:creationId xmlns:a16="http://schemas.microsoft.com/office/drawing/2014/main" id="{DCEC7F87-D760-9313-00D0-5B665C02F50A}"/>
                </a:ext>
              </a:extLst>
            </p:cNvPr>
            <p:cNvSpPr/>
            <p:nvPr/>
          </p:nvSpPr>
          <p:spPr>
            <a:xfrm>
              <a:off x="16731625" y="212621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8" name="Oval 104">
              <a:extLst>
                <a:ext uri="{FF2B5EF4-FFF2-40B4-BE49-F238E27FC236}">
                  <a16:creationId xmlns:a16="http://schemas.microsoft.com/office/drawing/2014/main" id="{F75AFDF8-69D0-7351-D0D2-AEA12369AC2E}"/>
                </a:ext>
              </a:extLst>
            </p:cNvPr>
            <p:cNvSpPr/>
            <p:nvPr/>
          </p:nvSpPr>
          <p:spPr>
            <a:xfrm>
              <a:off x="16465263" y="20544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9" name="Oval 105">
              <a:extLst>
                <a:ext uri="{FF2B5EF4-FFF2-40B4-BE49-F238E27FC236}">
                  <a16:creationId xmlns:a16="http://schemas.microsoft.com/office/drawing/2014/main" id="{ADEF85EF-FD15-3FE3-CDE0-2DCBE374B61E}"/>
                </a:ext>
              </a:extLst>
            </p:cNvPr>
            <p:cNvSpPr/>
            <p:nvPr/>
          </p:nvSpPr>
          <p:spPr>
            <a:xfrm>
              <a:off x="16584131" y="22911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0" name="Oval 106">
              <a:extLst>
                <a:ext uri="{FF2B5EF4-FFF2-40B4-BE49-F238E27FC236}">
                  <a16:creationId xmlns:a16="http://schemas.microsoft.com/office/drawing/2014/main" id="{DC65D5A1-E7CE-5E1A-173B-0C5B0D5914C3}"/>
                </a:ext>
              </a:extLst>
            </p:cNvPr>
            <p:cNvSpPr/>
            <p:nvPr/>
          </p:nvSpPr>
          <p:spPr>
            <a:xfrm>
              <a:off x="16986074" y="2031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1" name="Oval 107">
              <a:extLst>
                <a:ext uri="{FF2B5EF4-FFF2-40B4-BE49-F238E27FC236}">
                  <a16:creationId xmlns:a16="http://schemas.microsoft.com/office/drawing/2014/main" id="{A1B536C6-CD1F-55EC-2675-03770F9D35DC}"/>
                </a:ext>
              </a:extLst>
            </p:cNvPr>
            <p:cNvSpPr/>
            <p:nvPr/>
          </p:nvSpPr>
          <p:spPr>
            <a:xfrm>
              <a:off x="17009456" y="183166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2" name="Oval 108">
              <a:extLst>
                <a:ext uri="{FF2B5EF4-FFF2-40B4-BE49-F238E27FC236}">
                  <a16:creationId xmlns:a16="http://schemas.microsoft.com/office/drawing/2014/main" id="{EA2ABC7F-B984-A935-BB00-6F08C9EFD138}"/>
                </a:ext>
              </a:extLst>
            </p:cNvPr>
            <p:cNvSpPr/>
            <p:nvPr/>
          </p:nvSpPr>
          <p:spPr>
            <a:xfrm>
              <a:off x="17236297" y="195588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3" name="Oval 109">
              <a:extLst>
                <a:ext uri="{FF2B5EF4-FFF2-40B4-BE49-F238E27FC236}">
                  <a16:creationId xmlns:a16="http://schemas.microsoft.com/office/drawing/2014/main" id="{7712E67F-A332-285F-F28A-FAFB7A170895}"/>
                </a:ext>
              </a:extLst>
            </p:cNvPr>
            <p:cNvSpPr/>
            <p:nvPr/>
          </p:nvSpPr>
          <p:spPr>
            <a:xfrm>
              <a:off x="16976321" y="2218662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4" name="Oval 110">
              <a:extLst>
                <a:ext uri="{FF2B5EF4-FFF2-40B4-BE49-F238E27FC236}">
                  <a16:creationId xmlns:a16="http://schemas.microsoft.com/office/drawing/2014/main" id="{2AFCCE17-69B6-008F-55DF-7A5FA320728A}"/>
                </a:ext>
              </a:extLst>
            </p:cNvPr>
            <p:cNvSpPr/>
            <p:nvPr/>
          </p:nvSpPr>
          <p:spPr>
            <a:xfrm>
              <a:off x="16514950" y="184010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5" name="Oval 111">
              <a:extLst>
                <a:ext uri="{FF2B5EF4-FFF2-40B4-BE49-F238E27FC236}">
                  <a16:creationId xmlns:a16="http://schemas.microsoft.com/office/drawing/2014/main" id="{0C0C7EAB-D7E7-560F-3A01-EE748922BC26}"/>
                </a:ext>
              </a:extLst>
            </p:cNvPr>
            <p:cNvSpPr/>
            <p:nvPr/>
          </p:nvSpPr>
          <p:spPr>
            <a:xfrm>
              <a:off x="17079282" y="16372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6" name="Oval 112">
              <a:extLst>
                <a:ext uri="{FF2B5EF4-FFF2-40B4-BE49-F238E27FC236}">
                  <a16:creationId xmlns:a16="http://schemas.microsoft.com/office/drawing/2014/main" id="{2A0C1295-F74A-E7E9-25E1-52207755007F}"/>
                </a:ext>
              </a:extLst>
            </p:cNvPr>
            <p:cNvSpPr/>
            <p:nvPr/>
          </p:nvSpPr>
          <p:spPr>
            <a:xfrm>
              <a:off x="16839645" y="2431458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7" name="Oval 113">
              <a:extLst>
                <a:ext uri="{FF2B5EF4-FFF2-40B4-BE49-F238E27FC236}">
                  <a16:creationId xmlns:a16="http://schemas.microsoft.com/office/drawing/2014/main" id="{6B5DAE17-226C-F3EC-7D47-E6C6B7813201}"/>
                </a:ext>
              </a:extLst>
            </p:cNvPr>
            <p:cNvSpPr/>
            <p:nvPr/>
          </p:nvSpPr>
          <p:spPr>
            <a:xfrm>
              <a:off x="17229640" y="214175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8" name="Oval 114">
              <a:extLst>
                <a:ext uri="{FF2B5EF4-FFF2-40B4-BE49-F238E27FC236}">
                  <a16:creationId xmlns:a16="http://schemas.microsoft.com/office/drawing/2014/main" id="{2A0C0819-E05D-C295-2019-17E52DF38EAF}"/>
                </a:ext>
              </a:extLst>
            </p:cNvPr>
            <p:cNvSpPr/>
            <p:nvPr/>
          </p:nvSpPr>
          <p:spPr>
            <a:xfrm>
              <a:off x="17478314" y="2190526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69" name="Oval 115">
              <a:extLst>
                <a:ext uri="{FF2B5EF4-FFF2-40B4-BE49-F238E27FC236}">
                  <a16:creationId xmlns:a16="http://schemas.microsoft.com/office/drawing/2014/main" id="{A07EBBE7-FAF1-2DCF-3EB9-7F352A08F74B}"/>
                </a:ext>
              </a:extLst>
            </p:cNvPr>
            <p:cNvSpPr/>
            <p:nvPr/>
          </p:nvSpPr>
          <p:spPr>
            <a:xfrm>
              <a:off x="17677830" y="1803595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0" name="Oval 116">
              <a:extLst>
                <a:ext uri="{FF2B5EF4-FFF2-40B4-BE49-F238E27FC236}">
                  <a16:creationId xmlns:a16="http://schemas.microsoft.com/office/drawing/2014/main" id="{959D43FE-6F7F-939D-F368-C48F5513A276}"/>
                </a:ext>
              </a:extLst>
            </p:cNvPr>
            <p:cNvSpPr/>
            <p:nvPr/>
          </p:nvSpPr>
          <p:spPr>
            <a:xfrm>
              <a:off x="16844346" y="16889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1" name="Oval 117">
              <a:extLst>
                <a:ext uri="{FF2B5EF4-FFF2-40B4-BE49-F238E27FC236}">
                  <a16:creationId xmlns:a16="http://schemas.microsoft.com/office/drawing/2014/main" id="{BEC16CD4-C8DD-E2D4-5B52-6F4260B5F886}"/>
                </a:ext>
              </a:extLst>
            </p:cNvPr>
            <p:cNvSpPr/>
            <p:nvPr/>
          </p:nvSpPr>
          <p:spPr>
            <a:xfrm>
              <a:off x="17792855" y="2385644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2" name="Oval 118">
              <a:extLst>
                <a:ext uri="{FF2B5EF4-FFF2-40B4-BE49-F238E27FC236}">
                  <a16:creationId xmlns:a16="http://schemas.microsoft.com/office/drawing/2014/main" id="{A8B3838F-A335-6F61-7750-EFC4F4B9E0F2}"/>
                </a:ext>
              </a:extLst>
            </p:cNvPr>
            <p:cNvSpPr/>
            <p:nvPr/>
          </p:nvSpPr>
          <p:spPr>
            <a:xfrm>
              <a:off x="17446645" y="23927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3" name="Oval 119">
              <a:extLst>
                <a:ext uri="{FF2B5EF4-FFF2-40B4-BE49-F238E27FC236}">
                  <a16:creationId xmlns:a16="http://schemas.microsoft.com/office/drawing/2014/main" id="{8B56B4DB-1022-C26F-6761-105079E1C502}"/>
                </a:ext>
              </a:extLst>
            </p:cNvPr>
            <p:cNvSpPr/>
            <p:nvPr/>
          </p:nvSpPr>
          <p:spPr>
            <a:xfrm>
              <a:off x="17271504" y="1737997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4" name="Oval 120">
              <a:extLst>
                <a:ext uri="{FF2B5EF4-FFF2-40B4-BE49-F238E27FC236}">
                  <a16:creationId xmlns:a16="http://schemas.microsoft.com/office/drawing/2014/main" id="{206912F4-DD08-FD0A-9FC3-8B7EF1142AD1}"/>
                </a:ext>
              </a:extLst>
            </p:cNvPr>
            <p:cNvSpPr/>
            <p:nvPr/>
          </p:nvSpPr>
          <p:spPr>
            <a:xfrm>
              <a:off x="17261076" y="254954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5" name="Oval 121">
              <a:extLst>
                <a:ext uri="{FF2B5EF4-FFF2-40B4-BE49-F238E27FC236}">
                  <a16:creationId xmlns:a16="http://schemas.microsoft.com/office/drawing/2014/main" id="{9A38CB3C-0491-8038-F8B5-B9C614B0F1A2}"/>
                </a:ext>
              </a:extLst>
            </p:cNvPr>
            <p:cNvSpPr/>
            <p:nvPr/>
          </p:nvSpPr>
          <p:spPr>
            <a:xfrm>
              <a:off x="17478314" y="1920633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6" name="Multiply 122">
              <a:extLst>
                <a:ext uri="{FF2B5EF4-FFF2-40B4-BE49-F238E27FC236}">
                  <a16:creationId xmlns:a16="http://schemas.microsoft.com/office/drawing/2014/main" id="{3D8F8A2B-04E1-3188-7E56-CB4A578B3CCC}"/>
                </a:ext>
              </a:extLst>
            </p:cNvPr>
            <p:cNvSpPr/>
            <p:nvPr/>
          </p:nvSpPr>
          <p:spPr>
            <a:xfrm>
              <a:off x="17169879" y="23047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7" name="Multiply 123">
              <a:extLst>
                <a:ext uri="{FF2B5EF4-FFF2-40B4-BE49-F238E27FC236}">
                  <a16:creationId xmlns:a16="http://schemas.microsoft.com/office/drawing/2014/main" id="{9AAE01B9-439C-C66E-DA1A-AF81C4BAD274}"/>
                </a:ext>
              </a:extLst>
            </p:cNvPr>
            <p:cNvSpPr/>
            <p:nvPr/>
          </p:nvSpPr>
          <p:spPr>
            <a:xfrm>
              <a:off x="16381334" y="143837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8" name="Multiply 124">
              <a:extLst>
                <a:ext uri="{FF2B5EF4-FFF2-40B4-BE49-F238E27FC236}">
                  <a16:creationId xmlns:a16="http://schemas.microsoft.com/office/drawing/2014/main" id="{5DEEF50E-80F2-7E51-F6E7-BF976D4BA971}"/>
                </a:ext>
              </a:extLst>
            </p:cNvPr>
            <p:cNvSpPr/>
            <p:nvPr/>
          </p:nvSpPr>
          <p:spPr>
            <a:xfrm>
              <a:off x="16253368" y="1686810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79" name="Multiply 125">
              <a:extLst>
                <a:ext uri="{FF2B5EF4-FFF2-40B4-BE49-F238E27FC236}">
                  <a16:creationId xmlns:a16="http://schemas.microsoft.com/office/drawing/2014/main" id="{C87EF8E7-A68A-7CBB-D357-D21A106B8D6B}"/>
                </a:ext>
              </a:extLst>
            </p:cNvPr>
            <p:cNvSpPr/>
            <p:nvPr/>
          </p:nvSpPr>
          <p:spPr>
            <a:xfrm>
              <a:off x="16057723" y="15429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0" name="Multiply 126">
              <a:extLst>
                <a:ext uri="{FF2B5EF4-FFF2-40B4-BE49-F238E27FC236}">
                  <a16:creationId xmlns:a16="http://schemas.microsoft.com/office/drawing/2014/main" id="{45F55C5A-4F9D-F940-9AC8-F5E9AE1F934C}"/>
                </a:ext>
              </a:extLst>
            </p:cNvPr>
            <p:cNvSpPr/>
            <p:nvPr/>
          </p:nvSpPr>
          <p:spPr>
            <a:xfrm>
              <a:off x="16034523" y="1870611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1" name="Multiply 127">
              <a:extLst>
                <a:ext uri="{FF2B5EF4-FFF2-40B4-BE49-F238E27FC236}">
                  <a16:creationId xmlns:a16="http://schemas.microsoft.com/office/drawing/2014/main" id="{A28E2E3D-ED19-5C47-A62E-E5045C2E65A2}"/>
                </a:ext>
              </a:extLst>
            </p:cNvPr>
            <p:cNvSpPr/>
            <p:nvPr/>
          </p:nvSpPr>
          <p:spPr>
            <a:xfrm>
              <a:off x="17744928" y="2170446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2" name="Multiply 128">
              <a:extLst>
                <a:ext uri="{FF2B5EF4-FFF2-40B4-BE49-F238E27FC236}">
                  <a16:creationId xmlns:a16="http://schemas.microsoft.com/office/drawing/2014/main" id="{84B9A896-00DC-8D1A-CA3F-883FBA492FD5}"/>
                </a:ext>
              </a:extLst>
            </p:cNvPr>
            <p:cNvSpPr/>
            <p:nvPr/>
          </p:nvSpPr>
          <p:spPr>
            <a:xfrm>
              <a:off x="16123756" y="20885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3" name="Oval 129">
              <a:extLst>
                <a:ext uri="{FF2B5EF4-FFF2-40B4-BE49-F238E27FC236}">
                  <a16:creationId xmlns:a16="http://schemas.microsoft.com/office/drawing/2014/main" id="{AAD9F985-049D-999C-9D7E-326741A611B3}"/>
                </a:ext>
              </a:extLst>
            </p:cNvPr>
            <p:cNvSpPr/>
            <p:nvPr/>
          </p:nvSpPr>
          <p:spPr>
            <a:xfrm>
              <a:off x="17453674" y="170687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4" name="Oval 130">
              <a:extLst>
                <a:ext uri="{FF2B5EF4-FFF2-40B4-BE49-F238E27FC236}">
                  <a16:creationId xmlns:a16="http://schemas.microsoft.com/office/drawing/2014/main" id="{4FA26275-88AA-F9CE-3DFC-D451A353847B}"/>
                </a:ext>
              </a:extLst>
            </p:cNvPr>
            <p:cNvSpPr/>
            <p:nvPr/>
          </p:nvSpPr>
          <p:spPr>
            <a:xfrm>
              <a:off x="17614361" y="253586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5" name="Oval 131">
              <a:extLst>
                <a:ext uri="{FF2B5EF4-FFF2-40B4-BE49-F238E27FC236}">
                  <a16:creationId xmlns:a16="http://schemas.microsoft.com/office/drawing/2014/main" id="{67C7676F-9154-2FA2-EAB6-1B1DDA090F7D}"/>
                </a:ext>
              </a:extLst>
            </p:cNvPr>
            <p:cNvSpPr/>
            <p:nvPr/>
          </p:nvSpPr>
          <p:spPr>
            <a:xfrm>
              <a:off x="17661786" y="2017611"/>
              <a:ext cx="159758" cy="125690"/>
            </a:xfrm>
            <a:prstGeom prst="ellipse">
              <a:avLst/>
            </a:prstGeom>
            <a:noFill/>
            <a:ln w="38100">
              <a:solidFill>
                <a:srgbClr val="00B0F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6" name="Multiply 132">
              <a:extLst>
                <a:ext uri="{FF2B5EF4-FFF2-40B4-BE49-F238E27FC236}">
                  <a16:creationId xmlns:a16="http://schemas.microsoft.com/office/drawing/2014/main" id="{F8419B3D-AB8A-FF0F-FD8C-205ED3BA41A8}"/>
                </a:ext>
              </a:extLst>
            </p:cNvPr>
            <p:cNvSpPr/>
            <p:nvPr/>
          </p:nvSpPr>
          <p:spPr>
            <a:xfrm>
              <a:off x="16248136" y="2308612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7" name="Multiply 133">
              <a:extLst>
                <a:ext uri="{FF2B5EF4-FFF2-40B4-BE49-F238E27FC236}">
                  <a16:creationId xmlns:a16="http://schemas.microsoft.com/office/drawing/2014/main" id="{7D9FD03A-4B75-8C8C-8F60-FBA4730268F8}"/>
                </a:ext>
              </a:extLst>
            </p:cNvPr>
            <p:cNvSpPr/>
            <p:nvPr/>
          </p:nvSpPr>
          <p:spPr>
            <a:xfrm>
              <a:off x="16493808" y="251961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8" name="Multiply 134">
              <a:extLst>
                <a:ext uri="{FF2B5EF4-FFF2-40B4-BE49-F238E27FC236}">
                  <a16:creationId xmlns:a16="http://schemas.microsoft.com/office/drawing/2014/main" id="{2B4E5C27-029F-411C-7635-90BCF180B4CA}"/>
                </a:ext>
              </a:extLst>
            </p:cNvPr>
            <p:cNvSpPr/>
            <p:nvPr/>
          </p:nvSpPr>
          <p:spPr>
            <a:xfrm>
              <a:off x="16919111" y="2693328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89" name="Multiply 135">
              <a:extLst>
                <a:ext uri="{FF2B5EF4-FFF2-40B4-BE49-F238E27FC236}">
                  <a16:creationId xmlns:a16="http://schemas.microsoft.com/office/drawing/2014/main" id="{B515A2F7-D24F-B794-D2EB-91E0CDDB4585}"/>
                </a:ext>
              </a:extLst>
            </p:cNvPr>
            <p:cNvSpPr/>
            <p:nvPr/>
          </p:nvSpPr>
          <p:spPr>
            <a:xfrm>
              <a:off x="16677124" y="2672807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0" name="Multiply 136">
              <a:extLst>
                <a:ext uri="{FF2B5EF4-FFF2-40B4-BE49-F238E27FC236}">
                  <a16:creationId xmlns:a16="http://schemas.microsoft.com/office/drawing/2014/main" id="{E55D39F9-DD8F-C02A-A2AB-54405C3A336F}"/>
                </a:ext>
              </a:extLst>
            </p:cNvPr>
            <p:cNvSpPr/>
            <p:nvPr/>
          </p:nvSpPr>
          <p:spPr>
            <a:xfrm>
              <a:off x="16168819" y="249020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1" name="Multiply 137">
              <a:extLst>
                <a:ext uri="{FF2B5EF4-FFF2-40B4-BE49-F238E27FC236}">
                  <a16:creationId xmlns:a16="http://schemas.microsoft.com/office/drawing/2014/main" id="{A98EEECE-9D61-BEB4-5E1D-997E56E0032C}"/>
                </a:ext>
              </a:extLst>
            </p:cNvPr>
            <p:cNvSpPr/>
            <p:nvPr/>
          </p:nvSpPr>
          <p:spPr>
            <a:xfrm>
              <a:off x="17306726" y="274991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2" name="Multiply 138">
              <a:extLst>
                <a:ext uri="{FF2B5EF4-FFF2-40B4-BE49-F238E27FC236}">
                  <a16:creationId xmlns:a16="http://schemas.microsoft.com/office/drawing/2014/main" id="{D3BB0966-D8BF-DB3B-FEA7-2D042605FA71}"/>
                </a:ext>
              </a:extLst>
            </p:cNvPr>
            <p:cNvSpPr/>
            <p:nvPr/>
          </p:nvSpPr>
          <p:spPr>
            <a:xfrm>
              <a:off x="17646313" y="2721324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3" name="Multiply 139">
              <a:extLst>
                <a:ext uri="{FF2B5EF4-FFF2-40B4-BE49-F238E27FC236}">
                  <a16:creationId xmlns:a16="http://schemas.microsoft.com/office/drawing/2014/main" id="{8A3CDDA7-02C7-DE73-33CF-2102CBFB9A88}"/>
                </a:ext>
              </a:extLst>
            </p:cNvPr>
            <p:cNvSpPr/>
            <p:nvPr/>
          </p:nvSpPr>
          <p:spPr>
            <a:xfrm>
              <a:off x="16304291" y="275636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4" name="Multiply 140">
              <a:extLst>
                <a:ext uri="{FF2B5EF4-FFF2-40B4-BE49-F238E27FC236}">
                  <a16:creationId xmlns:a16="http://schemas.microsoft.com/office/drawing/2014/main" id="{0A9F92D7-71C3-A3EC-264A-43A9AF76600B}"/>
                </a:ext>
              </a:extLst>
            </p:cNvPr>
            <p:cNvSpPr/>
            <p:nvPr/>
          </p:nvSpPr>
          <p:spPr>
            <a:xfrm>
              <a:off x="16666327" y="2892653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5" name="Multiply 141">
              <a:extLst>
                <a:ext uri="{FF2B5EF4-FFF2-40B4-BE49-F238E27FC236}">
                  <a16:creationId xmlns:a16="http://schemas.microsoft.com/office/drawing/2014/main" id="{53B45C06-7FE8-82B1-8830-E10E5B3AA1A9}"/>
                </a:ext>
              </a:extLst>
            </p:cNvPr>
            <p:cNvSpPr/>
            <p:nvPr/>
          </p:nvSpPr>
          <p:spPr>
            <a:xfrm>
              <a:off x="16011193" y="2292189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6" name="Multiply 142">
              <a:extLst>
                <a:ext uri="{FF2B5EF4-FFF2-40B4-BE49-F238E27FC236}">
                  <a16:creationId xmlns:a16="http://schemas.microsoft.com/office/drawing/2014/main" id="{B5A3DE41-A5D4-6BD0-18BD-565185D9396A}"/>
                </a:ext>
              </a:extLst>
            </p:cNvPr>
            <p:cNvSpPr/>
            <p:nvPr/>
          </p:nvSpPr>
          <p:spPr>
            <a:xfrm>
              <a:off x="17041407" y="2873205"/>
              <a:ext cx="255613" cy="201104"/>
            </a:xfrm>
            <a:prstGeom prst="mathMultiply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97" name="Freeform 143">
              <a:extLst>
                <a:ext uri="{FF2B5EF4-FFF2-40B4-BE49-F238E27FC236}">
                  <a16:creationId xmlns:a16="http://schemas.microsoft.com/office/drawing/2014/main" id="{B32312AA-D54B-E475-1FF5-5290CFA85F61}"/>
                </a:ext>
              </a:extLst>
            </p:cNvPr>
            <p:cNvSpPr/>
            <p:nvPr/>
          </p:nvSpPr>
          <p:spPr>
            <a:xfrm>
              <a:off x="16413706" y="1401750"/>
              <a:ext cx="1998621" cy="1334650"/>
            </a:xfrm>
            <a:custGeom>
              <a:avLst/>
              <a:gdLst>
                <a:gd name="connsiteX0" fmla="*/ 626252 w 2251852"/>
                <a:gd name="connsiteY0" fmla="*/ 0 h 1911350"/>
                <a:gd name="connsiteX1" fmla="*/ 594502 w 2251852"/>
                <a:gd name="connsiteY1" fmla="*/ 31750 h 1911350"/>
                <a:gd name="connsiteX2" fmla="*/ 543702 w 2251852"/>
                <a:gd name="connsiteY2" fmla="*/ 69850 h 1911350"/>
                <a:gd name="connsiteX3" fmla="*/ 518302 w 2251852"/>
                <a:gd name="connsiteY3" fmla="*/ 88900 h 1911350"/>
                <a:gd name="connsiteX4" fmla="*/ 499252 w 2251852"/>
                <a:gd name="connsiteY4" fmla="*/ 107950 h 1911350"/>
                <a:gd name="connsiteX5" fmla="*/ 473852 w 2251852"/>
                <a:gd name="connsiteY5" fmla="*/ 127000 h 1911350"/>
                <a:gd name="connsiteX6" fmla="*/ 461152 w 2251852"/>
                <a:gd name="connsiteY6" fmla="*/ 146050 h 1911350"/>
                <a:gd name="connsiteX7" fmla="*/ 442102 w 2251852"/>
                <a:gd name="connsiteY7" fmla="*/ 165100 h 1911350"/>
                <a:gd name="connsiteX8" fmla="*/ 416702 w 2251852"/>
                <a:gd name="connsiteY8" fmla="*/ 196850 h 1911350"/>
                <a:gd name="connsiteX9" fmla="*/ 391302 w 2251852"/>
                <a:gd name="connsiteY9" fmla="*/ 234950 h 1911350"/>
                <a:gd name="connsiteX10" fmla="*/ 372252 w 2251852"/>
                <a:gd name="connsiteY10" fmla="*/ 254000 h 1911350"/>
                <a:gd name="connsiteX11" fmla="*/ 327802 w 2251852"/>
                <a:gd name="connsiteY11" fmla="*/ 311150 h 1911350"/>
                <a:gd name="connsiteX12" fmla="*/ 302402 w 2251852"/>
                <a:gd name="connsiteY12" fmla="*/ 349250 h 1911350"/>
                <a:gd name="connsiteX13" fmla="*/ 289702 w 2251852"/>
                <a:gd name="connsiteY13" fmla="*/ 374650 h 1911350"/>
                <a:gd name="connsiteX14" fmla="*/ 257952 w 2251852"/>
                <a:gd name="connsiteY14" fmla="*/ 412750 h 1911350"/>
                <a:gd name="connsiteX15" fmla="*/ 238902 w 2251852"/>
                <a:gd name="connsiteY15" fmla="*/ 450850 h 1911350"/>
                <a:gd name="connsiteX16" fmla="*/ 232552 w 2251852"/>
                <a:gd name="connsiteY16" fmla="*/ 469900 h 1911350"/>
                <a:gd name="connsiteX17" fmla="*/ 213502 w 2251852"/>
                <a:gd name="connsiteY17" fmla="*/ 482600 h 1911350"/>
                <a:gd name="connsiteX18" fmla="*/ 188102 w 2251852"/>
                <a:gd name="connsiteY18" fmla="*/ 514350 h 1911350"/>
                <a:gd name="connsiteX19" fmla="*/ 162702 w 2251852"/>
                <a:gd name="connsiteY19" fmla="*/ 552450 h 1911350"/>
                <a:gd name="connsiteX20" fmla="*/ 124602 w 2251852"/>
                <a:gd name="connsiteY20" fmla="*/ 584200 h 1911350"/>
                <a:gd name="connsiteX21" fmla="*/ 99202 w 2251852"/>
                <a:gd name="connsiteY21" fmla="*/ 622300 h 1911350"/>
                <a:gd name="connsiteX22" fmla="*/ 80152 w 2251852"/>
                <a:gd name="connsiteY22" fmla="*/ 660400 h 1911350"/>
                <a:gd name="connsiteX23" fmla="*/ 61102 w 2251852"/>
                <a:gd name="connsiteY23" fmla="*/ 673100 h 1911350"/>
                <a:gd name="connsiteX24" fmla="*/ 54752 w 2251852"/>
                <a:gd name="connsiteY24" fmla="*/ 692150 h 1911350"/>
                <a:gd name="connsiteX25" fmla="*/ 42052 w 2251852"/>
                <a:gd name="connsiteY25" fmla="*/ 711200 h 1911350"/>
                <a:gd name="connsiteX26" fmla="*/ 35702 w 2251852"/>
                <a:gd name="connsiteY26" fmla="*/ 755650 h 1911350"/>
                <a:gd name="connsiteX27" fmla="*/ 29352 w 2251852"/>
                <a:gd name="connsiteY27" fmla="*/ 774700 h 1911350"/>
                <a:gd name="connsiteX28" fmla="*/ 23002 w 2251852"/>
                <a:gd name="connsiteY28" fmla="*/ 800100 h 1911350"/>
                <a:gd name="connsiteX29" fmla="*/ 54752 w 2251852"/>
                <a:gd name="connsiteY29" fmla="*/ 1270000 h 1911350"/>
                <a:gd name="connsiteX30" fmla="*/ 54752 w 2251852"/>
                <a:gd name="connsiteY30" fmla="*/ 1270000 h 1911350"/>
                <a:gd name="connsiteX31" fmla="*/ 61102 w 2251852"/>
                <a:gd name="connsiteY31" fmla="*/ 1289050 h 1911350"/>
                <a:gd name="connsiteX32" fmla="*/ 99202 w 2251852"/>
                <a:gd name="connsiteY32" fmla="*/ 1320800 h 1911350"/>
                <a:gd name="connsiteX33" fmla="*/ 111902 w 2251852"/>
                <a:gd name="connsiteY33" fmla="*/ 1339850 h 1911350"/>
                <a:gd name="connsiteX34" fmla="*/ 143652 w 2251852"/>
                <a:gd name="connsiteY34" fmla="*/ 1371600 h 1911350"/>
                <a:gd name="connsiteX35" fmla="*/ 156352 w 2251852"/>
                <a:gd name="connsiteY35" fmla="*/ 1409700 h 1911350"/>
                <a:gd name="connsiteX36" fmla="*/ 169052 w 2251852"/>
                <a:gd name="connsiteY36" fmla="*/ 1428750 h 1911350"/>
                <a:gd name="connsiteX37" fmla="*/ 175402 w 2251852"/>
                <a:gd name="connsiteY37" fmla="*/ 1447800 h 1911350"/>
                <a:gd name="connsiteX38" fmla="*/ 194452 w 2251852"/>
                <a:gd name="connsiteY38" fmla="*/ 1466850 h 1911350"/>
                <a:gd name="connsiteX39" fmla="*/ 232552 w 2251852"/>
                <a:gd name="connsiteY39" fmla="*/ 1504950 h 1911350"/>
                <a:gd name="connsiteX40" fmla="*/ 238902 w 2251852"/>
                <a:gd name="connsiteY40" fmla="*/ 1524000 h 1911350"/>
                <a:gd name="connsiteX41" fmla="*/ 270652 w 2251852"/>
                <a:gd name="connsiteY41" fmla="*/ 1555750 h 1911350"/>
                <a:gd name="connsiteX42" fmla="*/ 277002 w 2251852"/>
                <a:gd name="connsiteY42" fmla="*/ 1574800 h 1911350"/>
                <a:gd name="connsiteX43" fmla="*/ 296052 w 2251852"/>
                <a:gd name="connsiteY43" fmla="*/ 1593850 h 1911350"/>
                <a:gd name="connsiteX44" fmla="*/ 308752 w 2251852"/>
                <a:gd name="connsiteY44" fmla="*/ 1619250 h 1911350"/>
                <a:gd name="connsiteX45" fmla="*/ 346852 w 2251852"/>
                <a:gd name="connsiteY45" fmla="*/ 1638300 h 1911350"/>
                <a:gd name="connsiteX46" fmla="*/ 397652 w 2251852"/>
                <a:gd name="connsiteY46" fmla="*/ 1682750 h 1911350"/>
                <a:gd name="connsiteX47" fmla="*/ 416702 w 2251852"/>
                <a:gd name="connsiteY47" fmla="*/ 1701800 h 1911350"/>
                <a:gd name="connsiteX48" fmla="*/ 454802 w 2251852"/>
                <a:gd name="connsiteY48" fmla="*/ 1714500 h 1911350"/>
                <a:gd name="connsiteX49" fmla="*/ 505602 w 2251852"/>
                <a:gd name="connsiteY49" fmla="*/ 1752600 h 1911350"/>
                <a:gd name="connsiteX50" fmla="*/ 524652 w 2251852"/>
                <a:gd name="connsiteY50" fmla="*/ 1765300 h 1911350"/>
                <a:gd name="connsiteX51" fmla="*/ 543702 w 2251852"/>
                <a:gd name="connsiteY51" fmla="*/ 1771650 h 1911350"/>
                <a:gd name="connsiteX52" fmla="*/ 562752 w 2251852"/>
                <a:gd name="connsiteY52" fmla="*/ 1784350 h 1911350"/>
                <a:gd name="connsiteX53" fmla="*/ 600852 w 2251852"/>
                <a:gd name="connsiteY53" fmla="*/ 1797050 h 1911350"/>
                <a:gd name="connsiteX54" fmla="*/ 677052 w 2251852"/>
                <a:gd name="connsiteY54" fmla="*/ 1790700 h 1911350"/>
                <a:gd name="connsiteX55" fmla="*/ 696102 w 2251852"/>
                <a:gd name="connsiteY55" fmla="*/ 1778000 h 1911350"/>
                <a:gd name="connsiteX56" fmla="*/ 734202 w 2251852"/>
                <a:gd name="connsiteY56" fmla="*/ 1701800 h 1911350"/>
                <a:gd name="connsiteX57" fmla="*/ 753252 w 2251852"/>
                <a:gd name="connsiteY57" fmla="*/ 1663700 h 1911350"/>
                <a:gd name="connsiteX58" fmla="*/ 772302 w 2251852"/>
                <a:gd name="connsiteY58" fmla="*/ 1619250 h 1911350"/>
                <a:gd name="connsiteX59" fmla="*/ 778652 w 2251852"/>
                <a:gd name="connsiteY59" fmla="*/ 1587500 h 1911350"/>
                <a:gd name="connsiteX60" fmla="*/ 785002 w 2251852"/>
                <a:gd name="connsiteY60" fmla="*/ 1562100 h 1911350"/>
                <a:gd name="connsiteX61" fmla="*/ 791352 w 2251852"/>
                <a:gd name="connsiteY61" fmla="*/ 1530350 h 1911350"/>
                <a:gd name="connsiteX62" fmla="*/ 804052 w 2251852"/>
                <a:gd name="connsiteY62" fmla="*/ 1492250 h 1911350"/>
                <a:gd name="connsiteX63" fmla="*/ 810402 w 2251852"/>
                <a:gd name="connsiteY63" fmla="*/ 1473200 h 1911350"/>
                <a:gd name="connsiteX64" fmla="*/ 829452 w 2251852"/>
                <a:gd name="connsiteY64" fmla="*/ 1428750 h 1911350"/>
                <a:gd name="connsiteX65" fmla="*/ 848502 w 2251852"/>
                <a:gd name="connsiteY65" fmla="*/ 1409700 h 1911350"/>
                <a:gd name="connsiteX66" fmla="*/ 854852 w 2251852"/>
                <a:gd name="connsiteY66" fmla="*/ 1384300 h 1911350"/>
                <a:gd name="connsiteX67" fmla="*/ 886602 w 2251852"/>
                <a:gd name="connsiteY67" fmla="*/ 1339850 h 1911350"/>
                <a:gd name="connsiteX68" fmla="*/ 905652 w 2251852"/>
                <a:gd name="connsiteY68" fmla="*/ 1333500 h 1911350"/>
                <a:gd name="connsiteX69" fmla="*/ 956452 w 2251852"/>
                <a:gd name="connsiteY69" fmla="*/ 1301750 h 1911350"/>
                <a:gd name="connsiteX70" fmla="*/ 975502 w 2251852"/>
                <a:gd name="connsiteY70" fmla="*/ 1295400 h 1911350"/>
                <a:gd name="connsiteX71" fmla="*/ 994552 w 2251852"/>
                <a:gd name="connsiteY71" fmla="*/ 1289050 h 1911350"/>
                <a:gd name="connsiteX72" fmla="*/ 1140602 w 2251852"/>
                <a:gd name="connsiteY72" fmla="*/ 1314450 h 1911350"/>
                <a:gd name="connsiteX73" fmla="*/ 1153302 w 2251852"/>
                <a:gd name="connsiteY73" fmla="*/ 1365250 h 1911350"/>
                <a:gd name="connsiteX74" fmla="*/ 1146952 w 2251852"/>
                <a:gd name="connsiteY74" fmla="*/ 1492250 h 1911350"/>
                <a:gd name="connsiteX75" fmla="*/ 1134252 w 2251852"/>
                <a:gd name="connsiteY75" fmla="*/ 1530350 h 1911350"/>
                <a:gd name="connsiteX76" fmla="*/ 1096152 w 2251852"/>
                <a:gd name="connsiteY76" fmla="*/ 1562100 h 1911350"/>
                <a:gd name="connsiteX77" fmla="*/ 1039002 w 2251852"/>
                <a:gd name="connsiteY77" fmla="*/ 1587500 h 1911350"/>
                <a:gd name="connsiteX78" fmla="*/ 1019952 w 2251852"/>
                <a:gd name="connsiteY78" fmla="*/ 1593850 h 1911350"/>
                <a:gd name="connsiteX79" fmla="*/ 994552 w 2251852"/>
                <a:gd name="connsiteY79" fmla="*/ 1606550 h 1911350"/>
                <a:gd name="connsiteX80" fmla="*/ 975502 w 2251852"/>
                <a:gd name="connsiteY80" fmla="*/ 1612900 h 1911350"/>
                <a:gd name="connsiteX81" fmla="*/ 937402 w 2251852"/>
                <a:gd name="connsiteY81" fmla="*/ 1638300 h 1911350"/>
                <a:gd name="connsiteX82" fmla="*/ 899302 w 2251852"/>
                <a:gd name="connsiteY82" fmla="*/ 1701800 h 1911350"/>
                <a:gd name="connsiteX83" fmla="*/ 873902 w 2251852"/>
                <a:gd name="connsiteY83" fmla="*/ 1765300 h 1911350"/>
                <a:gd name="connsiteX84" fmla="*/ 880252 w 2251852"/>
                <a:gd name="connsiteY84" fmla="*/ 1822450 h 1911350"/>
                <a:gd name="connsiteX85" fmla="*/ 886602 w 2251852"/>
                <a:gd name="connsiteY85" fmla="*/ 1841500 h 1911350"/>
                <a:gd name="connsiteX86" fmla="*/ 912002 w 2251852"/>
                <a:gd name="connsiteY86" fmla="*/ 1879600 h 1911350"/>
                <a:gd name="connsiteX87" fmla="*/ 931052 w 2251852"/>
                <a:gd name="connsiteY87" fmla="*/ 1892300 h 1911350"/>
                <a:gd name="connsiteX88" fmla="*/ 950102 w 2251852"/>
                <a:gd name="connsiteY88" fmla="*/ 1898650 h 1911350"/>
                <a:gd name="connsiteX89" fmla="*/ 975502 w 2251852"/>
                <a:gd name="connsiteY89" fmla="*/ 1911350 h 1911350"/>
                <a:gd name="connsiteX90" fmla="*/ 1248552 w 2251852"/>
                <a:gd name="connsiteY90" fmla="*/ 1905000 h 1911350"/>
                <a:gd name="connsiteX91" fmla="*/ 1305702 w 2251852"/>
                <a:gd name="connsiteY91" fmla="*/ 1898650 h 1911350"/>
                <a:gd name="connsiteX92" fmla="*/ 1350152 w 2251852"/>
                <a:gd name="connsiteY92" fmla="*/ 1885950 h 1911350"/>
                <a:gd name="connsiteX93" fmla="*/ 1375552 w 2251852"/>
                <a:gd name="connsiteY93" fmla="*/ 1879600 h 1911350"/>
                <a:gd name="connsiteX94" fmla="*/ 1420002 w 2251852"/>
                <a:gd name="connsiteY94" fmla="*/ 1873250 h 1911350"/>
                <a:gd name="connsiteX95" fmla="*/ 1470802 w 2251852"/>
                <a:gd name="connsiteY95" fmla="*/ 1860550 h 1911350"/>
                <a:gd name="connsiteX96" fmla="*/ 1489852 w 2251852"/>
                <a:gd name="connsiteY96" fmla="*/ 1854200 h 1911350"/>
                <a:gd name="connsiteX97" fmla="*/ 1527952 w 2251852"/>
                <a:gd name="connsiteY97" fmla="*/ 1847850 h 1911350"/>
                <a:gd name="connsiteX98" fmla="*/ 1591452 w 2251852"/>
                <a:gd name="connsiteY98" fmla="*/ 1828800 h 1911350"/>
                <a:gd name="connsiteX99" fmla="*/ 1629552 w 2251852"/>
                <a:gd name="connsiteY99" fmla="*/ 1816100 h 1911350"/>
                <a:gd name="connsiteX100" fmla="*/ 1642252 w 2251852"/>
                <a:gd name="connsiteY100" fmla="*/ 1797050 h 1911350"/>
                <a:gd name="connsiteX101" fmla="*/ 1661302 w 2251852"/>
                <a:gd name="connsiteY101" fmla="*/ 1790700 h 1911350"/>
                <a:gd name="connsiteX102" fmla="*/ 1680352 w 2251852"/>
                <a:gd name="connsiteY102" fmla="*/ 1778000 h 1911350"/>
                <a:gd name="connsiteX103" fmla="*/ 1705752 w 2251852"/>
                <a:gd name="connsiteY103" fmla="*/ 1746250 h 1911350"/>
                <a:gd name="connsiteX104" fmla="*/ 1724802 w 2251852"/>
                <a:gd name="connsiteY104" fmla="*/ 1708150 h 1911350"/>
                <a:gd name="connsiteX105" fmla="*/ 1743852 w 2251852"/>
                <a:gd name="connsiteY105" fmla="*/ 1695450 h 1911350"/>
                <a:gd name="connsiteX106" fmla="*/ 1762902 w 2251852"/>
                <a:gd name="connsiteY106" fmla="*/ 1676400 h 1911350"/>
                <a:gd name="connsiteX107" fmla="*/ 1781952 w 2251852"/>
                <a:gd name="connsiteY107" fmla="*/ 1638300 h 1911350"/>
                <a:gd name="connsiteX108" fmla="*/ 1788302 w 2251852"/>
                <a:gd name="connsiteY108" fmla="*/ 1619250 h 1911350"/>
                <a:gd name="connsiteX109" fmla="*/ 1794652 w 2251852"/>
                <a:gd name="connsiteY109" fmla="*/ 1593850 h 1911350"/>
                <a:gd name="connsiteX110" fmla="*/ 1826402 w 2251852"/>
                <a:gd name="connsiteY110" fmla="*/ 1536700 h 1911350"/>
                <a:gd name="connsiteX111" fmla="*/ 1820052 w 2251852"/>
                <a:gd name="connsiteY111" fmla="*/ 1416050 h 1911350"/>
                <a:gd name="connsiteX112" fmla="*/ 1801002 w 2251852"/>
                <a:gd name="connsiteY112" fmla="*/ 1403350 h 1911350"/>
                <a:gd name="connsiteX113" fmla="*/ 1762902 w 2251852"/>
                <a:gd name="connsiteY113" fmla="*/ 1390650 h 1911350"/>
                <a:gd name="connsiteX114" fmla="*/ 1743852 w 2251852"/>
                <a:gd name="connsiteY114" fmla="*/ 1384300 h 1911350"/>
                <a:gd name="connsiteX115" fmla="*/ 1527952 w 2251852"/>
                <a:gd name="connsiteY115" fmla="*/ 1384300 h 1911350"/>
                <a:gd name="connsiteX116" fmla="*/ 1508902 w 2251852"/>
                <a:gd name="connsiteY116" fmla="*/ 1371600 h 1911350"/>
                <a:gd name="connsiteX117" fmla="*/ 1477152 w 2251852"/>
                <a:gd name="connsiteY117" fmla="*/ 1289050 h 1911350"/>
                <a:gd name="connsiteX118" fmla="*/ 1483502 w 2251852"/>
                <a:gd name="connsiteY118" fmla="*/ 1162050 h 1911350"/>
                <a:gd name="connsiteX119" fmla="*/ 1540652 w 2251852"/>
                <a:gd name="connsiteY119" fmla="*/ 1130300 h 1911350"/>
                <a:gd name="connsiteX120" fmla="*/ 1559702 w 2251852"/>
                <a:gd name="connsiteY120" fmla="*/ 1117600 h 1911350"/>
                <a:gd name="connsiteX121" fmla="*/ 1578752 w 2251852"/>
                <a:gd name="connsiteY121" fmla="*/ 1111250 h 1911350"/>
                <a:gd name="connsiteX122" fmla="*/ 1597802 w 2251852"/>
                <a:gd name="connsiteY122" fmla="*/ 1098550 h 1911350"/>
                <a:gd name="connsiteX123" fmla="*/ 1699402 w 2251852"/>
                <a:gd name="connsiteY123" fmla="*/ 1085850 h 1911350"/>
                <a:gd name="connsiteX124" fmla="*/ 1756552 w 2251852"/>
                <a:gd name="connsiteY124" fmla="*/ 1079500 h 1911350"/>
                <a:gd name="connsiteX125" fmla="*/ 1794652 w 2251852"/>
                <a:gd name="connsiteY125" fmla="*/ 1066800 h 1911350"/>
                <a:gd name="connsiteX126" fmla="*/ 1813702 w 2251852"/>
                <a:gd name="connsiteY126" fmla="*/ 1060450 h 1911350"/>
                <a:gd name="connsiteX127" fmla="*/ 1832752 w 2251852"/>
                <a:gd name="connsiteY127" fmla="*/ 1047750 h 1911350"/>
                <a:gd name="connsiteX128" fmla="*/ 1851802 w 2251852"/>
                <a:gd name="connsiteY128" fmla="*/ 1041400 h 1911350"/>
                <a:gd name="connsiteX129" fmla="*/ 1889902 w 2251852"/>
                <a:gd name="connsiteY129" fmla="*/ 1009650 h 1911350"/>
                <a:gd name="connsiteX130" fmla="*/ 1908952 w 2251852"/>
                <a:gd name="connsiteY130" fmla="*/ 1003300 h 1911350"/>
                <a:gd name="connsiteX131" fmla="*/ 1928002 w 2251852"/>
                <a:gd name="connsiteY131" fmla="*/ 984250 h 1911350"/>
                <a:gd name="connsiteX132" fmla="*/ 1947052 w 2251852"/>
                <a:gd name="connsiteY132" fmla="*/ 977900 h 1911350"/>
                <a:gd name="connsiteX133" fmla="*/ 2004202 w 2251852"/>
                <a:gd name="connsiteY133" fmla="*/ 933450 h 1911350"/>
                <a:gd name="connsiteX134" fmla="*/ 2042302 w 2251852"/>
                <a:gd name="connsiteY134" fmla="*/ 901700 h 1911350"/>
                <a:gd name="connsiteX135" fmla="*/ 2086752 w 2251852"/>
                <a:gd name="connsiteY135" fmla="*/ 889000 h 1911350"/>
                <a:gd name="connsiteX136" fmla="*/ 2105802 w 2251852"/>
                <a:gd name="connsiteY136" fmla="*/ 876300 h 1911350"/>
                <a:gd name="connsiteX137" fmla="*/ 2131202 w 2251852"/>
                <a:gd name="connsiteY137" fmla="*/ 863600 h 1911350"/>
                <a:gd name="connsiteX138" fmla="*/ 2156602 w 2251852"/>
                <a:gd name="connsiteY138" fmla="*/ 844550 h 1911350"/>
                <a:gd name="connsiteX139" fmla="*/ 2175652 w 2251852"/>
                <a:gd name="connsiteY139" fmla="*/ 838200 h 1911350"/>
                <a:gd name="connsiteX140" fmla="*/ 2213752 w 2251852"/>
                <a:gd name="connsiteY140" fmla="*/ 812800 h 1911350"/>
                <a:gd name="connsiteX141" fmla="*/ 2232802 w 2251852"/>
                <a:gd name="connsiteY141" fmla="*/ 800100 h 1911350"/>
                <a:gd name="connsiteX142" fmla="*/ 2251852 w 2251852"/>
                <a:gd name="connsiteY142" fmla="*/ 793750 h 1911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</a:cxnLst>
              <a:rect l="l" t="t" r="r" b="b"/>
              <a:pathLst>
                <a:path w="2251852" h="1911350">
                  <a:moveTo>
                    <a:pt x="626252" y="0"/>
                  </a:moveTo>
                  <a:cubicBezTo>
                    <a:pt x="615669" y="10583"/>
                    <a:pt x="605928" y="22082"/>
                    <a:pt x="594502" y="31750"/>
                  </a:cubicBezTo>
                  <a:cubicBezTo>
                    <a:pt x="578344" y="45422"/>
                    <a:pt x="560635" y="57150"/>
                    <a:pt x="543702" y="69850"/>
                  </a:cubicBezTo>
                  <a:cubicBezTo>
                    <a:pt x="535235" y="76200"/>
                    <a:pt x="525786" y="81416"/>
                    <a:pt x="518302" y="88900"/>
                  </a:cubicBezTo>
                  <a:cubicBezTo>
                    <a:pt x="511952" y="95250"/>
                    <a:pt x="506070" y="102106"/>
                    <a:pt x="499252" y="107950"/>
                  </a:cubicBezTo>
                  <a:cubicBezTo>
                    <a:pt x="491217" y="114838"/>
                    <a:pt x="481336" y="119516"/>
                    <a:pt x="473852" y="127000"/>
                  </a:cubicBezTo>
                  <a:cubicBezTo>
                    <a:pt x="468456" y="132396"/>
                    <a:pt x="466038" y="140187"/>
                    <a:pt x="461152" y="146050"/>
                  </a:cubicBezTo>
                  <a:cubicBezTo>
                    <a:pt x="455403" y="152949"/>
                    <a:pt x="448452" y="158750"/>
                    <a:pt x="442102" y="165100"/>
                  </a:cubicBezTo>
                  <a:cubicBezTo>
                    <a:pt x="426210" y="228668"/>
                    <a:pt x="450105" y="163447"/>
                    <a:pt x="416702" y="196850"/>
                  </a:cubicBezTo>
                  <a:cubicBezTo>
                    <a:pt x="405909" y="207643"/>
                    <a:pt x="402095" y="224157"/>
                    <a:pt x="391302" y="234950"/>
                  </a:cubicBezTo>
                  <a:cubicBezTo>
                    <a:pt x="384952" y="241300"/>
                    <a:pt x="377765" y="246911"/>
                    <a:pt x="372252" y="254000"/>
                  </a:cubicBezTo>
                  <a:cubicBezTo>
                    <a:pt x="319085" y="322358"/>
                    <a:pt x="371051" y="267901"/>
                    <a:pt x="327802" y="311150"/>
                  </a:cubicBezTo>
                  <a:cubicBezTo>
                    <a:pt x="314180" y="352015"/>
                    <a:pt x="332131" y="307630"/>
                    <a:pt x="302402" y="349250"/>
                  </a:cubicBezTo>
                  <a:cubicBezTo>
                    <a:pt x="296900" y="356953"/>
                    <a:pt x="294398" y="366431"/>
                    <a:pt x="289702" y="374650"/>
                  </a:cubicBezTo>
                  <a:cubicBezTo>
                    <a:pt x="277914" y="395278"/>
                    <a:pt x="275463" y="395239"/>
                    <a:pt x="257952" y="412750"/>
                  </a:cubicBezTo>
                  <a:cubicBezTo>
                    <a:pt x="241991" y="460633"/>
                    <a:pt x="263521" y="401611"/>
                    <a:pt x="238902" y="450850"/>
                  </a:cubicBezTo>
                  <a:cubicBezTo>
                    <a:pt x="235909" y="456837"/>
                    <a:pt x="236733" y="464673"/>
                    <a:pt x="232552" y="469900"/>
                  </a:cubicBezTo>
                  <a:cubicBezTo>
                    <a:pt x="227784" y="475859"/>
                    <a:pt x="219852" y="478367"/>
                    <a:pt x="213502" y="482600"/>
                  </a:cubicBezTo>
                  <a:cubicBezTo>
                    <a:pt x="199202" y="525500"/>
                    <a:pt x="219034" y="478999"/>
                    <a:pt x="188102" y="514350"/>
                  </a:cubicBezTo>
                  <a:cubicBezTo>
                    <a:pt x="178051" y="525837"/>
                    <a:pt x="173495" y="541657"/>
                    <a:pt x="162702" y="552450"/>
                  </a:cubicBezTo>
                  <a:cubicBezTo>
                    <a:pt x="138256" y="576896"/>
                    <a:pt x="151124" y="566519"/>
                    <a:pt x="124602" y="584200"/>
                  </a:cubicBezTo>
                  <a:cubicBezTo>
                    <a:pt x="116135" y="596900"/>
                    <a:pt x="104029" y="607820"/>
                    <a:pt x="99202" y="622300"/>
                  </a:cubicBezTo>
                  <a:cubicBezTo>
                    <a:pt x="94037" y="637794"/>
                    <a:pt x="92462" y="648090"/>
                    <a:pt x="80152" y="660400"/>
                  </a:cubicBezTo>
                  <a:cubicBezTo>
                    <a:pt x="74756" y="665796"/>
                    <a:pt x="67452" y="668867"/>
                    <a:pt x="61102" y="673100"/>
                  </a:cubicBezTo>
                  <a:cubicBezTo>
                    <a:pt x="58985" y="679450"/>
                    <a:pt x="57745" y="686163"/>
                    <a:pt x="54752" y="692150"/>
                  </a:cubicBezTo>
                  <a:cubicBezTo>
                    <a:pt x="51339" y="698976"/>
                    <a:pt x="44245" y="703890"/>
                    <a:pt x="42052" y="711200"/>
                  </a:cubicBezTo>
                  <a:cubicBezTo>
                    <a:pt x="37751" y="725536"/>
                    <a:pt x="38637" y="740974"/>
                    <a:pt x="35702" y="755650"/>
                  </a:cubicBezTo>
                  <a:cubicBezTo>
                    <a:pt x="34389" y="762214"/>
                    <a:pt x="31191" y="768264"/>
                    <a:pt x="29352" y="774700"/>
                  </a:cubicBezTo>
                  <a:cubicBezTo>
                    <a:pt x="26954" y="783091"/>
                    <a:pt x="25119" y="791633"/>
                    <a:pt x="23002" y="800100"/>
                  </a:cubicBezTo>
                  <a:cubicBezTo>
                    <a:pt x="29576" y="1247162"/>
                    <a:pt x="-50496" y="1112127"/>
                    <a:pt x="54752" y="1270000"/>
                  </a:cubicBezTo>
                  <a:lnTo>
                    <a:pt x="54752" y="1270000"/>
                  </a:lnTo>
                  <a:cubicBezTo>
                    <a:pt x="56869" y="1276350"/>
                    <a:pt x="57389" y="1283481"/>
                    <a:pt x="61102" y="1289050"/>
                  </a:cubicBezTo>
                  <a:cubicBezTo>
                    <a:pt x="70881" y="1303718"/>
                    <a:pt x="85145" y="1311429"/>
                    <a:pt x="99202" y="1320800"/>
                  </a:cubicBezTo>
                  <a:cubicBezTo>
                    <a:pt x="103435" y="1327150"/>
                    <a:pt x="106506" y="1334454"/>
                    <a:pt x="111902" y="1339850"/>
                  </a:cubicBezTo>
                  <a:cubicBezTo>
                    <a:pt x="133915" y="1361863"/>
                    <a:pt x="130105" y="1341120"/>
                    <a:pt x="143652" y="1371600"/>
                  </a:cubicBezTo>
                  <a:cubicBezTo>
                    <a:pt x="149089" y="1383833"/>
                    <a:pt x="148926" y="1398561"/>
                    <a:pt x="156352" y="1409700"/>
                  </a:cubicBezTo>
                  <a:cubicBezTo>
                    <a:pt x="160585" y="1416050"/>
                    <a:pt x="165639" y="1421924"/>
                    <a:pt x="169052" y="1428750"/>
                  </a:cubicBezTo>
                  <a:cubicBezTo>
                    <a:pt x="172045" y="1434737"/>
                    <a:pt x="171689" y="1442231"/>
                    <a:pt x="175402" y="1447800"/>
                  </a:cubicBezTo>
                  <a:cubicBezTo>
                    <a:pt x="180383" y="1455272"/>
                    <a:pt x="188608" y="1460032"/>
                    <a:pt x="194452" y="1466850"/>
                  </a:cubicBezTo>
                  <a:cubicBezTo>
                    <a:pt x="225957" y="1503606"/>
                    <a:pt x="199016" y="1482593"/>
                    <a:pt x="232552" y="1504950"/>
                  </a:cubicBezTo>
                  <a:cubicBezTo>
                    <a:pt x="234669" y="1511300"/>
                    <a:pt x="234721" y="1518773"/>
                    <a:pt x="238902" y="1524000"/>
                  </a:cubicBezTo>
                  <a:cubicBezTo>
                    <a:pt x="272769" y="1566333"/>
                    <a:pt x="245252" y="1504950"/>
                    <a:pt x="270652" y="1555750"/>
                  </a:cubicBezTo>
                  <a:cubicBezTo>
                    <a:pt x="273645" y="1561737"/>
                    <a:pt x="273289" y="1569231"/>
                    <a:pt x="277002" y="1574800"/>
                  </a:cubicBezTo>
                  <a:cubicBezTo>
                    <a:pt x="281983" y="1582272"/>
                    <a:pt x="290832" y="1586542"/>
                    <a:pt x="296052" y="1593850"/>
                  </a:cubicBezTo>
                  <a:cubicBezTo>
                    <a:pt x="301554" y="1601553"/>
                    <a:pt x="302692" y="1611978"/>
                    <a:pt x="308752" y="1619250"/>
                  </a:cubicBezTo>
                  <a:cubicBezTo>
                    <a:pt x="318221" y="1630613"/>
                    <a:pt x="333850" y="1633966"/>
                    <a:pt x="346852" y="1638300"/>
                  </a:cubicBezTo>
                  <a:cubicBezTo>
                    <a:pt x="382835" y="1692275"/>
                    <a:pt x="323569" y="1608667"/>
                    <a:pt x="397652" y="1682750"/>
                  </a:cubicBezTo>
                  <a:cubicBezTo>
                    <a:pt x="404002" y="1689100"/>
                    <a:pt x="408852" y="1697439"/>
                    <a:pt x="416702" y="1701800"/>
                  </a:cubicBezTo>
                  <a:cubicBezTo>
                    <a:pt x="428404" y="1708301"/>
                    <a:pt x="454802" y="1714500"/>
                    <a:pt x="454802" y="1714500"/>
                  </a:cubicBezTo>
                  <a:cubicBezTo>
                    <a:pt x="471735" y="1727200"/>
                    <a:pt x="487990" y="1740859"/>
                    <a:pt x="505602" y="1752600"/>
                  </a:cubicBezTo>
                  <a:cubicBezTo>
                    <a:pt x="511952" y="1756833"/>
                    <a:pt x="517826" y="1761887"/>
                    <a:pt x="524652" y="1765300"/>
                  </a:cubicBezTo>
                  <a:cubicBezTo>
                    <a:pt x="530639" y="1768293"/>
                    <a:pt x="537715" y="1768657"/>
                    <a:pt x="543702" y="1771650"/>
                  </a:cubicBezTo>
                  <a:cubicBezTo>
                    <a:pt x="550528" y="1775063"/>
                    <a:pt x="555778" y="1781250"/>
                    <a:pt x="562752" y="1784350"/>
                  </a:cubicBezTo>
                  <a:cubicBezTo>
                    <a:pt x="574985" y="1789787"/>
                    <a:pt x="600852" y="1797050"/>
                    <a:pt x="600852" y="1797050"/>
                  </a:cubicBezTo>
                  <a:cubicBezTo>
                    <a:pt x="626252" y="1794933"/>
                    <a:pt x="652059" y="1795699"/>
                    <a:pt x="677052" y="1790700"/>
                  </a:cubicBezTo>
                  <a:cubicBezTo>
                    <a:pt x="684536" y="1789203"/>
                    <a:pt x="691076" y="1783743"/>
                    <a:pt x="696102" y="1778000"/>
                  </a:cubicBezTo>
                  <a:cubicBezTo>
                    <a:pt x="780033" y="1682079"/>
                    <a:pt x="671853" y="1795323"/>
                    <a:pt x="734202" y="1701800"/>
                  </a:cubicBezTo>
                  <a:cubicBezTo>
                    <a:pt x="758608" y="1665191"/>
                    <a:pt x="737478" y="1700506"/>
                    <a:pt x="753252" y="1663700"/>
                  </a:cubicBezTo>
                  <a:cubicBezTo>
                    <a:pt x="764156" y="1638257"/>
                    <a:pt x="766345" y="1643077"/>
                    <a:pt x="772302" y="1619250"/>
                  </a:cubicBezTo>
                  <a:cubicBezTo>
                    <a:pt x="774920" y="1608779"/>
                    <a:pt x="776311" y="1598036"/>
                    <a:pt x="778652" y="1587500"/>
                  </a:cubicBezTo>
                  <a:cubicBezTo>
                    <a:pt x="780545" y="1578981"/>
                    <a:pt x="783109" y="1570619"/>
                    <a:pt x="785002" y="1562100"/>
                  </a:cubicBezTo>
                  <a:cubicBezTo>
                    <a:pt x="787343" y="1551564"/>
                    <a:pt x="788512" y="1540763"/>
                    <a:pt x="791352" y="1530350"/>
                  </a:cubicBezTo>
                  <a:cubicBezTo>
                    <a:pt x="794874" y="1517435"/>
                    <a:pt x="799819" y="1504950"/>
                    <a:pt x="804052" y="1492250"/>
                  </a:cubicBezTo>
                  <a:lnTo>
                    <a:pt x="810402" y="1473200"/>
                  </a:lnTo>
                  <a:cubicBezTo>
                    <a:pt x="815584" y="1457654"/>
                    <a:pt x="819644" y="1442482"/>
                    <a:pt x="829452" y="1428750"/>
                  </a:cubicBezTo>
                  <a:cubicBezTo>
                    <a:pt x="834672" y="1421442"/>
                    <a:pt x="842152" y="1416050"/>
                    <a:pt x="848502" y="1409700"/>
                  </a:cubicBezTo>
                  <a:cubicBezTo>
                    <a:pt x="850619" y="1401233"/>
                    <a:pt x="851788" y="1392472"/>
                    <a:pt x="854852" y="1384300"/>
                  </a:cubicBezTo>
                  <a:cubicBezTo>
                    <a:pt x="861473" y="1366643"/>
                    <a:pt x="870435" y="1350628"/>
                    <a:pt x="886602" y="1339850"/>
                  </a:cubicBezTo>
                  <a:cubicBezTo>
                    <a:pt x="892171" y="1336137"/>
                    <a:pt x="899302" y="1335617"/>
                    <a:pt x="905652" y="1333500"/>
                  </a:cubicBezTo>
                  <a:cubicBezTo>
                    <a:pt x="925778" y="1303311"/>
                    <a:pt x="911112" y="1316863"/>
                    <a:pt x="956452" y="1301750"/>
                  </a:cubicBezTo>
                  <a:lnTo>
                    <a:pt x="975502" y="1295400"/>
                  </a:lnTo>
                  <a:lnTo>
                    <a:pt x="994552" y="1289050"/>
                  </a:lnTo>
                  <a:cubicBezTo>
                    <a:pt x="1113898" y="1294475"/>
                    <a:pt x="1123394" y="1251354"/>
                    <a:pt x="1140602" y="1314450"/>
                  </a:cubicBezTo>
                  <a:cubicBezTo>
                    <a:pt x="1145195" y="1331289"/>
                    <a:pt x="1149069" y="1348317"/>
                    <a:pt x="1153302" y="1365250"/>
                  </a:cubicBezTo>
                  <a:cubicBezTo>
                    <a:pt x="1151185" y="1407583"/>
                    <a:pt x="1151810" y="1450143"/>
                    <a:pt x="1146952" y="1492250"/>
                  </a:cubicBezTo>
                  <a:cubicBezTo>
                    <a:pt x="1145418" y="1505549"/>
                    <a:pt x="1145391" y="1522924"/>
                    <a:pt x="1134252" y="1530350"/>
                  </a:cubicBezTo>
                  <a:cubicBezTo>
                    <a:pt x="1086954" y="1561882"/>
                    <a:pt x="1145045" y="1521356"/>
                    <a:pt x="1096152" y="1562100"/>
                  </a:cubicBezTo>
                  <a:cubicBezTo>
                    <a:pt x="1076026" y="1578871"/>
                    <a:pt x="1066691" y="1578270"/>
                    <a:pt x="1039002" y="1587500"/>
                  </a:cubicBezTo>
                  <a:cubicBezTo>
                    <a:pt x="1032652" y="1589617"/>
                    <a:pt x="1025939" y="1590857"/>
                    <a:pt x="1019952" y="1593850"/>
                  </a:cubicBezTo>
                  <a:cubicBezTo>
                    <a:pt x="1011485" y="1598083"/>
                    <a:pt x="1003253" y="1602821"/>
                    <a:pt x="994552" y="1606550"/>
                  </a:cubicBezTo>
                  <a:cubicBezTo>
                    <a:pt x="988400" y="1609187"/>
                    <a:pt x="981353" y="1609649"/>
                    <a:pt x="975502" y="1612900"/>
                  </a:cubicBezTo>
                  <a:cubicBezTo>
                    <a:pt x="962159" y="1620313"/>
                    <a:pt x="937402" y="1638300"/>
                    <a:pt x="937402" y="1638300"/>
                  </a:cubicBezTo>
                  <a:cubicBezTo>
                    <a:pt x="922494" y="1660663"/>
                    <a:pt x="909065" y="1677392"/>
                    <a:pt x="899302" y="1701800"/>
                  </a:cubicBezTo>
                  <a:cubicBezTo>
                    <a:pt x="867915" y="1780267"/>
                    <a:pt x="903686" y="1705732"/>
                    <a:pt x="873902" y="1765300"/>
                  </a:cubicBezTo>
                  <a:cubicBezTo>
                    <a:pt x="876019" y="1784350"/>
                    <a:pt x="877101" y="1803544"/>
                    <a:pt x="880252" y="1822450"/>
                  </a:cubicBezTo>
                  <a:cubicBezTo>
                    <a:pt x="881352" y="1829052"/>
                    <a:pt x="883351" y="1835649"/>
                    <a:pt x="886602" y="1841500"/>
                  </a:cubicBezTo>
                  <a:cubicBezTo>
                    <a:pt x="894015" y="1854843"/>
                    <a:pt x="899302" y="1871133"/>
                    <a:pt x="912002" y="1879600"/>
                  </a:cubicBezTo>
                  <a:cubicBezTo>
                    <a:pt x="918352" y="1883833"/>
                    <a:pt x="924226" y="1888887"/>
                    <a:pt x="931052" y="1892300"/>
                  </a:cubicBezTo>
                  <a:cubicBezTo>
                    <a:pt x="937039" y="1895293"/>
                    <a:pt x="943950" y="1896013"/>
                    <a:pt x="950102" y="1898650"/>
                  </a:cubicBezTo>
                  <a:cubicBezTo>
                    <a:pt x="958803" y="1902379"/>
                    <a:pt x="967035" y="1907117"/>
                    <a:pt x="975502" y="1911350"/>
                  </a:cubicBezTo>
                  <a:lnTo>
                    <a:pt x="1248552" y="1905000"/>
                  </a:lnTo>
                  <a:cubicBezTo>
                    <a:pt x="1267705" y="1904263"/>
                    <a:pt x="1286758" y="1901565"/>
                    <a:pt x="1305702" y="1898650"/>
                  </a:cubicBezTo>
                  <a:cubicBezTo>
                    <a:pt x="1327207" y="1895341"/>
                    <a:pt x="1330790" y="1891482"/>
                    <a:pt x="1350152" y="1885950"/>
                  </a:cubicBezTo>
                  <a:cubicBezTo>
                    <a:pt x="1358543" y="1883552"/>
                    <a:pt x="1366966" y="1881161"/>
                    <a:pt x="1375552" y="1879600"/>
                  </a:cubicBezTo>
                  <a:cubicBezTo>
                    <a:pt x="1390278" y="1876923"/>
                    <a:pt x="1405185" y="1875367"/>
                    <a:pt x="1420002" y="1873250"/>
                  </a:cubicBezTo>
                  <a:cubicBezTo>
                    <a:pt x="1463548" y="1858735"/>
                    <a:pt x="1409500" y="1875875"/>
                    <a:pt x="1470802" y="1860550"/>
                  </a:cubicBezTo>
                  <a:cubicBezTo>
                    <a:pt x="1477296" y="1858927"/>
                    <a:pt x="1483318" y="1855652"/>
                    <a:pt x="1489852" y="1854200"/>
                  </a:cubicBezTo>
                  <a:cubicBezTo>
                    <a:pt x="1502421" y="1851407"/>
                    <a:pt x="1515252" y="1849967"/>
                    <a:pt x="1527952" y="1847850"/>
                  </a:cubicBezTo>
                  <a:cubicBezTo>
                    <a:pt x="1576493" y="1823579"/>
                    <a:pt x="1528202" y="1844612"/>
                    <a:pt x="1591452" y="1828800"/>
                  </a:cubicBezTo>
                  <a:cubicBezTo>
                    <a:pt x="1604439" y="1825553"/>
                    <a:pt x="1629552" y="1816100"/>
                    <a:pt x="1629552" y="1816100"/>
                  </a:cubicBezTo>
                  <a:cubicBezTo>
                    <a:pt x="1633785" y="1809750"/>
                    <a:pt x="1636293" y="1801818"/>
                    <a:pt x="1642252" y="1797050"/>
                  </a:cubicBezTo>
                  <a:cubicBezTo>
                    <a:pt x="1647479" y="1792869"/>
                    <a:pt x="1655315" y="1793693"/>
                    <a:pt x="1661302" y="1790700"/>
                  </a:cubicBezTo>
                  <a:cubicBezTo>
                    <a:pt x="1668128" y="1787287"/>
                    <a:pt x="1674002" y="1782233"/>
                    <a:pt x="1680352" y="1778000"/>
                  </a:cubicBezTo>
                  <a:cubicBezTo>
                    <a:pt x="1692714" y="1740914"/>
                    <a:pt x="1677029" y="1774973"/>
                    <a:pt x="1705752" y="1746250"/>
                  </a:cubicBezTo>
                  <a:cubicBezTo>
                    <a:pt x="1759282" y="1692720"/>
                    <a:pt x="1683485" y="1759796"/>
                    <a:pt x="1724802" y="1708150"/>
                  </a:cubicBezTo>
                  <a:cubicBezTo>
                    <a:pt x="1729570" y="1702191"/>
                    <a:pt x="1737989" y="1700336"/>
                    <a:pt x="1743852" y="1695450"/>
                  </a:cubicBezTo>
                  <a:cubicBezTo>
                    <a:pt x="1750751" y="1689701"/>
                    <a:pt x="1756552" y="1682750"/>
                    <a:pt x="1762902" y="1676400"/>
                  </a:cubicBezTo>
                  <a:cubicBezTo>
                    <a:pt x="1778863" y="1628517"/>
                    <a:pt x="1757333" y="1687539"/>
                    <a:pt x="1781952" y="1638300"/>
                  </a:cubicBezTo>
                  <a:cubicBezTo>
                    <a:pt x="1784945" y="1632313"/>
                    <a:pt x="1786463" y="1625686"/>
                    <a:pt x="1788302" y="1619250"/>
                  </a:cubicBezTo>
                  <a:cubicBezTo>
                    <a:pt x="1790700" y="1610859"/>
                    <a:pt x="1790749" y="1601656"/>
                    <a:pt x="1794652" y="1593850"/>
                  </a:cubicBezTo>
                  <a:cubicBezTo>
                    <a:pt x="1838321" y="1506511"/>
                    <a:pt x="1808842" y="1589380"/>
                    <a:pt x="1826402" y="1536700"/>
                  </a:cubicBezTo>
                  <a:cubicBezTo>
                    <a:pt x="1824285" y="1496483"/>
                    <a:pt x="1827587" y="1455611"/>
                    <a:pt x="1820052" y="1416050"/>
                  </a:cubicBezTo>
                  <a:cubicBezTo>
                    <a:pt x="1818624" y="1408553"/>
                    <a:pt x="1807976" y="1406450"/>
                    <a:pt x="1801002" y="1403350"/>
                  </a:cubicBezTo>
                  <a:cubicBezTo>
                    <a:pt x="1788769" y="1397913"/>
                    <a:pt x="1775602" y="1394883"/>
                    <a:pt x="1762902" y="1390650"/>
                  </a:cubicBezTo>
                  <a:lnTo>
                    <a:pt x="1743852" y="1384300"/>
                  </a:lnTo>
                  <a:cubicBezTo>
                    <a:pt x="1658089" y="1390018"/>
                    <a:pt x="1617516" y="1396513"/>
                    <a:pt x="1527952" y="1384300"/>
                  </a:cubicBezTo>
                  <a:cubicBezTo>
                    <a:pt x="1520390" y="1383269"/>
                    <a:pt x="1515252" y="1375833"/>
                    <a:pt x="1508902" y="1371600"/>
                  </a:cubicBezTo>
                  <a:cubicBezTo>
                    <a:pt x="1475200" y="1321047"/>
                    <a:pt x="1485661" y="1348610"/>
                    <a:pt x="1477152" y="1289050"/>
                  </a:cubicBezTo>
                  <a:cubicBezTo>
                    <a:pt x="1479269" y="1246717"/>
                    <a:pt x="1471634" y="1202741"/>
                    <a:pt x="1483502" y="1162050"/>
                  </a:cubicBezTo>
                  <a:cubicBezTo>
                    <a:pt x="1490339" y="1138610"/>
                    <a:pt x="1523274" y="1138989"/>
                    <a:pt x="1540652" y="1130300"/>
                  </a:cubicBezTo>
                  <a:cubicBezTo>
                    <a:pt x="1547478" y="1126887"/>
                    <a:pt x="1552876" y="1121013"/>
                    <a:pt x="1559702" y="1117600"/>
                  </a:cubicBezTo>
                  <a:cubicBezTo>
                    <a:pt x="1565689" y="1114607"/>
                    <a:pt x="1572765" y="1114243"/>
                    <a:pt x="1578752" y="1111250"/>
                  </a:cubicBezTo>
                  <a:cubicBezTo>
                    <a:pt x="1585578" y="1107837"/>
                    <a:pt x="1590334" y="1100122"/>
                    <a:pt x="1597802" y="1098550"/>
                  </a:cubicBezTo>
                  <a:cubicBezTo>
                    <a:pt x="1631200" y="1091519"/>
                    <a:pt x="1665515" y="1089916"/>
                    <a:pt x="1699402" y="1085850"/>
                  </a:cubicBezTo>
                  <a:lnTo>
                    <a:pt x="1756552" y="1079500"/>
                  </a:lnTo>
                  <a:lnTo>
                    <a:pt x="1794652" y="1066800"/>
                  </a:lnTo>
                  <a:cubicBezTo>
                    <a:pt x="1801002" y="1064683"/>
                    <a:pt x="1808133" y="1064163"/>
                    <a:pt x="1813702" y="1060450"/>
                  </a:cubicBezTo>
                  <a:cubicBezTo>
                    <a:pt x="1820052" y="1056217"/>
                    <a:pt x="1825926" y="1051163"/>
                    <a:pt x="1832752" y="1047750"/>
                  </a:cubicBezTo>
                  <a:cubicBezTo>
                    <a:pt x="1838739" y="1044757"/>
                    <a:pt x="1845815" y="1044393"/>
                    <a:pt x="1851802" y="1041400"/>
                  </a:cubicBezTo>
                  <a:cubicBezTo>
                    <a:pt x="1893353" y="1020625"/>
                    <a:pt x="1847771" y="1037737"/>
                    <a:pt x="1889902" y="1009650"/>
                  </a:cubicBezTo>
                  <a:cubicBezTo>
                    <a:pt x="1895471" y="1005937"/>
                    <a:pt x="1902602" y="1005417"/>
                    <a:pt x="1908952" y="1003300"/>
                  </a:cubicBezTo>
                  <a:cubicBezTo>
                    <a:pt x="1915302" y="996950"/>
                    <a:pt x="1920530" y="989231"/>
                    <a:pt x="1928002" y="984250"/>
                  </a:cubicBezTo>
                  <a:cubicBezTo>
                    <a:pt x="1933571" y="980537"/>
                    <a:pt x="1941768" y="982009"/>
                    <a:pt x="1947052" y="977900"/>
                  </a:cubicBezTo>
                  <a:cubicBezTo>
                    <a:pt x="2011302" y="927928"/>
                    <a:pt x="1960132" y="948140"/>
                    <a:pt x="2004202" y="933450"/>
                  </a:cubicBezTo>
                  <a:cubicBezTo>
                    <a:pt x="2015645" y="922007"/>
                    <a:pt x="2026831" y="908331"/>
                    <a:pt x="2042302" y="901700"/>
                  </a:cubicBezTo>
                  <a:cubicBezTo>
                    <a:pt x="2070786" y="889493"/>
                    <a:pt x="2062038" y="901357"/>
                    <a:pt x="2086752" y="889000"/>
                  </a:cubicBezTo>
                  <a:cubicBezTo>
                    <a:pt x="2093578" y="885587"/>
                    <a:pt x="2099176" y="880086"/>
                    <a:pt x="2105802" y="876300"/>
                  </a:cubicBezTo>
                  <a:cubicBezTo>
                    <a:pt x="2114021" y="871604"/>
                    <a:pt x="2123175" y="868617"/>
                    <a:pt x="2131202" y="863600"/>
                  </a:cubicBezTo>
                  <a:cubicBezTo>
                    <a:pt x="2140177" y="857991"/>
                    <a:pt x="2147413" y="849801"/>
                    <a:pt x="2156602" y="844550"/>
                  </a:cubicBezTo>
                  <a:cubicBezTo>
                    <a:pt x="2162414" y="841229"/>
                    <a:pt x="2169801" y="841451"/>
                    <a:pt x="2175652" y="838200"/>
                  </a:cubicBezTo>
                  <a:cubicBezTo>
                    <a:pt x="2188995" y="830787"/>
                    <a:pt x="2201052" y="821267"/>
                    <a:pt x="2213752" y="812800"/>
                  </a:cubicBezTo>
                  <a:cubicBezTo>
                    <a:pt x="2220102" y="808567"/>
                    <a:pt x="2225562" y="802513"/>
                    <a:pt x="2232802" y="800100"/>
                  </a:cubicBezTo>
                  <a:lnTo>
                    <a:pt x="2251852" y="793750"/>
                  </a:lnTo>
                </a:path>
              </a:pathLst>
            </a:custGeom>
            <a:noFill/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47F5026B-9D46-15C8-D2BC-7C7D85A08717}"/>
              </a:ext>
            </a:extLst>
          </p:cNvPr>
          <p:cNvSpPr txBox="1"/>
          <p:nvPr/>
        </p:nvSpPr>
        <p:spPr>
          <a:xfrm>
            <a:off x="2298188" y="4743111"/>
            <a:ext cx="8912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Subajuste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1D2900C2-AB82-B811-AA58-4352203E2D3A}"/>
              </a:ext>
            </a:extLst>
          </p:cNvPr>
          <p:cNvSpPr txBox="1"/>
          <p:nvPr/>
        </p:nvSpPr>
        <p:spPr>
          <a:xfrm>
            <a:off x="6225723" y="4747151"/>
            <a:ext cx="10436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1200" dirty="0"/>
              <a:t>Sobreajuste</a:t>
            </a:r>
          </a:p>
        </p:txBody>
      </p:sp>
      <p:grpSp>
        <p:nvGrpSpPr>
          <p:cNvPr id="149" name="Agrupar 148">
            <a:extLst>
              <a:ext uri="{FF2B5EF4-FFF2-40B4-BE49-F238E27FC236}">
                <a16:creationId xmlns:a16="http://schemas.microsoft.com/office/drawing/2014/main" id="{B709F5F5-D010-140C-54BC-ECD9C9D3BDAC}"/>
              </a:ext>
            </a:extLst>
          </p:cNvPr>
          <p:cNvGrpSpPr/>
          <p:nvPr/>
        </p:nvGrpSpPr>
        <p:grpSpPr>
          <a:xfrm>
            <a:off x="9002294" y="4452345"/>
            <a:ext cx="3181757" cy="2276742"/>
            <a:chOff x="9487183" y="4461310"/>
            <a:chExt cx="3181757" cy="2276742"/>
          </a:xfrm>
        </p:grpSpPr>
        <p:grpSp>
          <p:nvGrpSpPr>
            <p:cNvPr id="150" name="Group 3">
              <a:extLst>
                <a:ext uri="{FF2B5EF4-FFF2-40B4-BE49-F238E27FC236}">
                  <a16:creationId xmlns:a16="http://schemas.microsoft.com/office/drawing/2014/main" id="{AB792365-752F-4BAA-9C4C-B184E03C398D}"/>
                </a:ext>
              </a:extLst>
            </p:cNvPr>
            <p:cNvGrpSpPr/>
            <p:nvPr/>
          </p:nvGrpSpPr>
          <p:grpSpPr>
            <a:xfrm>
              <a:off x="9487183" y="4678324"/>
              <a:ext cx="2614572" cy="2059728"/>
              <a:chOff x="12672659" y="1187117"/>
              <a:chExt cx="2796787" cy="2109915"/>
            </a:xfrm>
          </p:grpSpPr>
          <p:cxnSp>
            <p:nvCxnSpPr>
              <p:cNvPr id="152" name="Straight Connector 4">
                <a:extLst>
                  <a:ext uri="{FF2B5EF4-FFF2-40B4-BE49-F238E27FC236}">
                    <a16:creationId xmlns:a16="http://schemas.microsoft.com/office/drawing/2014/main" id="{8AEF7EF4-C8E2-9025-0F73-D343985CED93}"/>
                  </a:ext>
                </a:extLst>
              </p:cNvPr>
              <p:cNvCxnSpPr/>
              <p:nvPr/>
            </p:nvCxnSpPr>
            <p:spPr>
              <a:xfrm>
                <a:off x="12835767" y="1351116"/>
                <a:ext cx="0" cy="1945916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arrow" w="med" len="med"/>
                <a:tailEnd type="non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3" name="Straight Connector 5">
                <a:extLst>
                  <a:ext uri="{FF2B5EF4-FFF2-40B4-BE49-F238E27FC236}">
                    <a16:creationId xmlns:a16="http://schemas.microsoft.com/office/drawing/2014/main" id="{D0DB9A6C-C2C3-D1E0-888E-5529087456ED}"/>
                  </a:ext>
                </a:extLst>
              </p:cNvPr>
              <p:cNvCxnSpPr/>
              <p:nvPr/>
            </p:nvCxnSpPr>
            <p:spPr>
              <a:xfrm rot="16200000">
                <a:off x="13909339" y="1922497"/>
                <a:ext cx="0" cy="2473360"/>
              </a:xfrm>
              <a:prstGeom prst="line">
                <a:avLst/>
              </a:prstGeom>
              <a:ln w="28575">
                <a:solidFill>
                  <a:schemeClr val="tx1"/>
                </a:solidFill>
                <a:headEnd type="none" w="med" len="med"/>
                <a:tailEnd type="arrow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4" name="TextBox 6">
                    <a:extLst>
                      <a:ext uri="{FF2B5EF4-FFF2-40B4-BE49-F238E27FC236}">
                        <a16:creationId xmlns:a16="http://schemas.microsoft.com/office/drawing/2014/main" id="{9226C786-A614-1FFF-E435-EF9EE0E3BDB5}"/>
                      </a:ext>
                    </a:extLst>
                  </p:cNvPr>
                  <p:cNvSpPr txBox="1"/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835767" y="1187117"/>
                    <a:ext cx="380827" cy="257896"/>
                  </a:xfrm>
                  <a:prstGeom prst="rect">
                    <a:avLst/>
                  </a:prstGeom>
                  <a:blipFill rotWithShape="0">
                    <a:blip r:embed="rId3"/>
                    <a:stretch>
                      <a:fillRect b="-39535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5" name="TextBox 7">
                    <a:extLst>
                      <a:ext uri="{FF2B5EF4-FFF2-40B4-BE49-F238E27FC236}">
                        <a16:creationId xmlns:a16="http://schemas.microsoft.com/office/drawing/2014/main" id="{A7AE877B-7096-7D6A-52D9-0821CEEA5501}"/>
                      </a:ext>
                    </a:extLst>
                  </p:cNvPr>
                  <p:cNvSpPr txBox="1"/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7" name="TextBox 6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5088619" y="3030229"/>
                    <a:ext cx="380827" cy="257896"/>
                  </a:xfrm>
                  <a:prstGeom prst="rect">
                    <a:avLst/>
                  </a:prstGeom>
                  <a:blipFill rotWithShape="0">
                    <a:blip r:embed="rId4"/>
                    <a:stretch>
                      <a:fillRect b="-4285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56" name="Oval 8">
                <a:extLst>
                  <a:ext uri="{FF2B5EF4-FFF2-40B4-BE49-F238E27FC236}">
                    <a16:creationId xmlns:a16="http://schemas.microsoft.com/office/drawing/2014/main" id="{33E38761-B1F8-28E0-C42E-B9D122E3DDEF}"/>
                  </a:ext>
                </a:extLst>
              </p:cNvPr>
              <p:cNvSpPr/>
              <p:nvPr/>
            </p:nvSpPr>
            <p:spPr>
              <a:xfrm>
                <a:off x="13553334" y="191564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7" name="Oval 9">
                <a:extLst>
                  <a:ext uri="{FF2B5EF4-FFF2-40B4-BE49-F238E27FC236}">
                    <a16:creationId xmlns:a16="http://schemas.microsoft.com/office/drawing/2014/main" id="{E60899A5-5DA9-D7A1-35C6-C0FE827771E8}"/>
                  </a:ext>
                </a:extLst>
              </p:cNvPr>
              <p:cNvSpPr/>
              <p:nvPr/>
            </p:nvSpPr>
            <p:spPr>
              <a:xfrm>
                <a:off x="13561681" y="212621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8" name="Oval 10">
                <a:extLst>
                  <a:ext uri="{FF2B5EF4-FFF2-40B4-BE49-F238E27FC236}">
                    <a16:creationId xmlns:a16="http://schemas.microsoft.com/office/drawing/2014/main" id="{4D02DCA5-B9D9-ADA8-0657-7E822EFBD9E6}"/>
                  </a:ext>
                </a:extLst>
              </p:cNvPr>
              <p:cNvSpPr/>
              <p:nvPr/>
            </p:nvSpPr>
            <p:spPr>
              <a:xfrm>
                <a:off x="13295320" y="20544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59" name="Oval 11">
                <a:extLst>
                  <a:ext uri="{FF2B5EF4-FFF2-40B4-BE49-F238E27FC236}">
                    <a16:creationId xmlns:a16="http://schemas.microsoft.com/office/drawing/2014/main" id="{BA4C184D-6569-B044-163D-A6248645074A}"/>
                  </a:ext>
                </a:extLst>
              </p:cNvPr>
              <p:cNvSpPr/>
              <p:nvPr/>
            </p:nvSpPr>
            <p:spPr>
              <a:xfrm>
                <a:off x="13414187" y="22911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0" name="Oval 12">
                <a:extLst>
                  <a:ext uri="{FF2B5EF4-FFF2-40B4-BE49-F238E27FC236}">
                    <a16:creationId xmlns:a16="http://schemas.microsoft.com/office/drawing/2014/main" id="{CE3E37AE-2361-A2C9-9B2E-539168A7485A}"/>
                  </a:ext>
                </a:extLst>
              </p:cNvPr>
              <p:cNvSpPr/>
              <p:nvPr/>
            </p:nvSpPr>
            <p:spPr>
              <a:xfrm>
                <a:off x="13816131" y="2031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1" name="Oval 13">
                <a:extLst>
                  <a:ext uri="{FF2B5EF4-FFF2-40B4-BE49-F238E27FC236}">
                    <a16:creationId xmlns:a16="http://schemas.microsoft.com/office/drawing/2014/main" id="{A1A824E5-D887-DE7B-96A8-350B2E5EC90E}"/>
                  </a:ext>
                </a:extLst>
              </p:cNvPr>
              <p:cNvSpPr/>
              <p:nvPr/>
            </p:nvSpPr>
            <p:spPr>
              <a:xfrm>
                <a:off x="13839512" y="183166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2" name="Oval 14">
                <a:extLst>
                  <a:ext uri="{FF2B5EF4-FFF2-40B4-BE49-F238E27FC236}">
                    <a16:creationId xmlns:a16="http://schemas.microsoft.com/office/drawing/2014/main" id="{79AF25B6-5BAB-77F1-3BA4-38D16A85E1BB}"/>
                  </a:ext>
                </a:extLst>
              </p:cNvPr>
              <p:cNvSpPr/>
              <p:nvPr/>
            </p:nvSpPr>
            <p:spPr>
              <a:xfrm>
                <a:off x="14066354" y="195588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3" name="Oval 15">
                <a:extLst>
                  <a:ext uri="{FF2B5EF4-FFF2-40B4-BE49-F238E27FC236}">
                    <a16:creationId xmlns:a16="http://schemas.microsoft.com/office/drawing/2014/main" id="{E35BE1B7-BEDC-43DD-5F47-C47BEBF516EE}"/>
                  </a:ext>
                </a:extLst>
              </p:cNvPr>
              <p:cNvSpPr/>
              <p:nvPr/>
            </p:nvSpPr>
            <p:spPr>
              <a:xfrm>
                <a:off x="13829460" y="22319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4" name="Oval 16">
                <a:extLst>
                  <a:ext uri="{FF2B5EF4-FFF2-40B4-BE49-F238E27FC236}">
                    <a16:creationId xmlns:a16="http://schemas.microsoft.com/office/drawing/2014/main" id="{477E1B4C-E42D-4763-10F9-3E0F9496FE6B}"/>
                  </a:ext>
                </a:extLst>
              </p:cNvPr>
              <p:cNvSpPr/>
              <p:nvPr/>
            </p:nvSpPr>
            <p:spPr>
              <a:xfrm>
                <a:off x="13345007" y="184010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5" name="Oval 17">
                <a:extLst>
                  <a:ext uri="{FF2B5EF4-FFF2-40B4-BE49-F238E27FC236}">
                    <a16:creationId xmlns:a16="http://schemas.microsoft.com/office/drawing/2014/main" id="{81C69D5A-11B3-C872-0341-EF4ED5FE1ED0}"/>
                  </a:ext>
                </a:extLst>
              </p:cNvPr>
              <p:cNvSpPr/>
              <p:nvPr/>
            </p:nvSpPr>
            <p:spPr>
              <a:xfrm>
                <a:off x="13909339" y="16372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6" name="Oval 18">
                <a:extLst>
                  <a:ext uri="{FF2B5EF4-FFF2-40B4-BE49-F238E27FC236}">
                    <a16:creationId xmlns:a16="http://schemas.microsoft.com/office/drawing/2014/main" id="{24B9C5FC-2A2E-A993-B176-99CC6CEE56A9}"/>
                  </a:ext>
                </a:extLst>
              </p:cNvPr>
              <p:cNvSpPr/>
              <p:nvPr/>
            </p:nvSpPr>
            <p:spPr>
              <a:xfrm>
                <a:off x="13669702" y="2431458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7" name="Oval 19">
                <a:extLst>
                  <a:ext uri="{FF2B5EF4-FFF2-40B4-BE49-F238E27FC236}">
                    <a16:creationId xmlns:a16="http://schemas.microsoft.com/office/drawing/2014/main" id="{E8B38059-E292-EA8F-2239-F0B95C55540A}"/>
                  </a:ext>
                </a:extLst>
              </p:cNvPr>
              <p:cNvSpPr/>
              <p:nvPr/>
            </p:nvSpPr>
            <p:spPr>
              <a:xfrm>
                <a:off x="14059696" y="214175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8" name="Oval 20">
                <a:extLst>
                  <a:ext uri="{FF2B5EF4-FFF2-40B4-BE49-F238E27FC236}">
                    <a16:creationId xmlns:a16="http://schemas.microsoft.com/office/drawing/2014/main" id="{C3121AB0-BF07-7F05-E180-11010A5FB0E3}"/>
                  </a:ext>
                </a:extLst>
              </p:cNvPr>
              <p:cNvSpPr/>
              <p:nvPr/>
            </p:nvSpPr>
            <p:spPr>
              <a:xfrm>
                <a:off x="14308370" y="219052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69" name="Oval 21">
                <a:extLst>
                  <a:ext uri="{FF2B5EF4-FFF2-40B4-BE49-F238E27FC236}">
                    <a16:creationId xmlns:a16="http://schemas.microsoft.com/office/drawing/2014/main" id="{092A8682-0FEF-BD8D-9E42-F775EC0F7A63}"/>
                  </a:ext>
                </a:extLst>
              </p:cNvPr>
              <p:cNvSpPr/>
              <p:nvPr/>
            </p:nvSpPr>
            <p:spPr>
              <a:xfrm>
                <a:off x="14507886" y="1803595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0" name="Oval 22">
                <a:extLst>
                  <a:ext uri="{FF2B5EF4-FFF2-40B4-BE49-F238E27FC236}">
                    <a16:creationId xmlns:a16="http://schemas.microsoft.com/office/drawing/2014/main" id="{B28CEF66-621F-8E66-A286-4FDC907ACA55}"/>
                  </a:ext>
                </a:extLst>
              </p:cNvPr>
              <p:cNvSpPr/>
              <p:nvPr/>
            </p:nvSpPr>
            <p:spPr>
              <a:xfrm>
                <a:off x="13674403" y="16889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1" name="Oval 23">
                <a:extLst>
                  <a:ext uri="{FF2B5EF4-FFF2-40B4-BE49-F238E27FC236}">
                    <a16:creationId xmlns:a16="http://schemas.microsoft.com/office/drawing/2014/main" id="{A100062C-D2DA-A3B9-45AB-2D7D32B3896F}"/>
                  </a:ext>
                </a:extLst>
              </p:cNvPr>
              <p:cNvSpPr/>
              <p:nvPr/>
            </p:nvSpPr>
            <p:spPr>
              <a:xfrm>
                <a:off x="14616909" y="237306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2" name="Oval 24">
                <a:extLst>
                  <a:ext uri="{FF2B5EF4-FFF2-40B4-BE49-F238E27FC236}">
                    <a16:creationId xmlns:a16="http://schemas.microsoft.com/office/drawing/2014/main" id="{E2FB1A37-7AFD-300E-35A7-44A5D09A3977}"/>
                  </a:ext>
                </a:extLst>
              </p:cNvPr>
              <p:cNvSpPr/>
              <p:nvPr/>
            </p:nvSpPr>
            <p:spPr>
              <a:xfrm>
                <a:off x="14276702" y="239274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3" name="Oval 25">
                <a:extLst>
                  <a:ext uri="{FF2B5EF4-FFF2-40B4-BE49-F238E27FC236}">
                    <a16:creationId xmlns:a16="http://schemas.microsoft.com/office/drawing/2014/main" id="{B154C988-DF0C-AB44-22FB-79B0AC600080}"/>
                  </a:ext>
                </a:extLst>
              </p:cNvPr>
              <p:cNvSpPr/>
              <p:nvPr/>
            </p:nvSpPr>
            <p:spPr>
              <a:xfrm>
                <a:off x="14101561" y="1737997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4" name="Oval 26">
                <a:extLst>
                  <a:ext uri="{FF2B5EF4-FFF2-40B4-BE49-F238E27FC236}">
                    <a16:creationId xmlns:a16="http://schemas.microsoft.com/office/drawing/2014/main" id="{9909C57C-258A-326C-08BF-2E2A82D6E9FE}"/>
                  </a:ext>
                </a:extLst>
              </p:cNvPr>
              <p:cNvSpPr/>
              <p:nvPr/>
            </p:nvSpPr>
            <p:spPr>
              <a:xfrm>
                <a:off x="14078959" y="2527686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5" name="Oval 27">
                <a:extLst>
                  <a:ext uri="{FF2B5EF4-FFF2-40B4-BE49-F238E27FC236}">
                    <a16:creationId xmlns:a16="http://schemas.microsoft.com/office/drawing/2014/main" id="{1D4BF54C-F15F-A28D-D7D4-A00791203673}"/>
                  </a:ext>
                </a:extLst>
              </p:cNvPr>
              <p:cNvSpPr/>
              <p:nvPr/>
            </p:nvSpPr>
            <p:spPr>
              <a:xfrm>
                <a:off x="14308370" y="1920633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6" name="Multiply 28">
                <a:extLst>
                  <a:ext uri="{FF2B5EF4-FFF2-40B4-BE49-F238E27FC236}">
                    <a16:creationId xmlns:a16="http://schemas.microsoft.com/office/drawing/2014/main" id="{3F6656AB-9290-5B48-AE96-C07D85094FA7}"/>
                  </a:ext>
                </a:extLst>
              </p:cNvPr>
              <p:cNvSpPr/>
              <p:nvPr/>
            </p:nvSpPr>
            <p:spPr>
              <a:xfrm>
                <a:off x="13999936" y="23047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7" name="Multiply 29">
                <a:extLst>
                  <a:ext uri="{FF2B5EF4-FFF2-40B4-BE49-F238E27FC236}">
                    <a16:creationId xmlns:a16="http://schemas.microsoft.com/office/drawing/2014/main" id="{FD60D1F2-561E-933B-C090-5712EE246864}"/>
                  </a:ext>
                </a:extLst>
              </p:cNvPr>
              <p:cNvSpPr/>
              <p:nvPr/>
            </p:nvSpPr>
            <p:spPr>
              <a:xfrm>
                <a:off x="13211391" y="143837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8" name="Multiply 30">
                <a:extLst>
                  <a:ext uri="{FF2B5EF4-FFF2-40B4-BE49-F238E27FC236}">
                    <a16:creationId xmlns:a16="http://schemas.microsoft.com/office/drawing/2014/main" id="{A7FFB01D-4D6B-3562-0A6F-0539E574A6B7}"/>
                  </a:ext>
                </a:extLst>
              </p:cNvPr>
              <p:cNvSpPr/>
              <p:nvPr/>
            </p:nvSpPr>
            <p:spPr>
              <a:xfrm>
                <a:off x="13083425" y="1686810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79" name="Multiply 31">
                <a:extLst>
                  <a:ext uri="{FF2B5EF4-FFF2-40B4-BE49-F238E27FC236}">
                    <a16:creationId xmlns:a16="http://schemas.microsoft.com/office/drawing/2014/main" id="{B463B717-F694-E44E-A842-9B7E0713F9EA}"/>
                  </a:ext>
                </a:extLst>
              </p:cNvPr>
              <p:cNvSpPr/>
              <p:nvPr/>
            </p:nvSpPr>
            <p:spPr>
              <a:xfrm>
                <a:off x="12887780" y="15429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0" name="Multiply 32">
                <a:extLst>
                  <a:ext uri="{FF2B5EF4-FFF2-40B4-BE49-F238E27FC236}">
                    <a16:creationId xmlns:a16="http://schemas.microsoft.com/office/drawing/2014/main" id="{87718451-5827-F63D-27F8-A6720EB38ABB}"/>
                  </a:ext>
                </a:extLst>
              </p:cNvPr>
              <p:cNvSpPr/>
              <p:nvPr/>
            </p:nvSpPr>
            <p:spPr>
              <a:xfrm>
                <a:off x="12864580" y="1870611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1" name="Multiply 33">
                <a:extLst>
                  <a:ext uri="{FF2B5EF4-FFF2-40B4-BE49-F238E27FC236}">
                    <a16:creationId xmlns:a16="http://schemas.microsoft.com/office/drawing/2014/main" id="{682562FC-827C-1765-A5CB-D2910EA9AA48}"/>
                  </a:ext>
                </a:extLst>
              </p:cNvPr>
              <p:cNvSpPr/>
              <p:nvPr/>
            </p:nvSpPr>
            <p:spPr>
              <a:xfrm>
                <a:off x="14518766" y="21565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2" name="Multiply 34">
                <a:extLst>
                  <a:ext uri="{FF2B5EF4-FFF2-40B4-BE49-F238E27FC236}">
                    <a16:creationId xmlns:a16="http://schemas.microsoft.com/office/drawing/2014/main" id="{0B3FC1BB-6DF3-E297-1012-3C706C263B09}"/>
                  </a:ext>
                </a:extLst>
              </p:cNvPr>
              <p:cNvSpPr/>
              <p:nvPr/>
            </p:nvSpPr>
            <p:spPr>
              <a:xfrm>
                <a:off x="12953812" y="20885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3" name="Oval 35">
                <a:extLst>
                  <a:ext uri="{FF2B5EF4-FFF2-40B4-BE49-F238E27FC236}">
                    <a16:creationId xmlns:a16="http://schemas.microsoft.com/office/drawing/2014/main" id="{54C8198E-A0CF-7980-66D9-E4561D57ECC0}"/>
                  </a:ext>
                </a:extLst>
              </p:cNvPr>
              <p:cNvSpPr/>
              <p:nvPr/>
            </p:nvSpPr>
            <p:spPr>
              <a:xfrm>
                <a:off x="14283730" y="170687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4" name="Oval 36">
                <a:extLst>
                  <a:ext uri="{FF2B5EF4-FFF2-40B4-BE49-F238E27FC236}">
                    <a16:creationId xmlns:a16="http://schemas.microsoft.com/office/drawing/2014/main" id="{7CC9821A-184B-A2E3-A34E-FB92FCCAD3FE}"/>
                  </a:ext>
                </a:extLst>
              </p:cNvPr>
              <p:cNvSpPr/>
              <p:nvPr/>
            </p:nvSpPr>
            <p:spPr>
              <a:xfrm>
                <a:off x="14410280" y="253586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5" name="Oval 37">
                <a:extLst>
                  <a:ext uri="{FF2B5EF4-FFF2-40B4-BE49-F238E27FC236}">
                    <a16:creationId xmlns:a16="http://schemas.microsoft.com/office/drawing/2014/main" id="{D2E9CE2F-7685-B870-D89C-172B0EF21E42}"/>
                  </a:ext>
                </a:extLst>
              </p:cNvPr>
              <p:cNvSpPr/>
              <p:nvPr/>
            </p:nvSpPr>
            <p:spPr>
              <a:xfrm>
                <a:off x="14491843" y="2017611"/>
                <a:ext cx="159758" cy="125690"/>
              </a:xfrm>
              <a:prstGeom prst="ellipse">
                <a:avLst/>
              </a:prstGeom>
              <a:noFill/>
              <a:ln w="38100">
                <a:solidFill>
                  <a:srgbClr val="00B0F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6" name="Multiply 38">
                <a:extLst>
                  <a:ext uri="{FF2B5EF4-FFF2-40B4-BE49-F238E27FC236}">
                    <a16:creationId xmlns:a16="http://schemas.microsoft.com/office/drawing/2014/main" id="{2B52FB2F-6FEB-ECA5-0307-0B3A7EB6509D}"/>
                  </a:ext>
                </a:extLst>
              </p:cNvPr>
              <p:cNvSpPr/>
              <p:nvPr/>
            </p:nvSpPr>
            <p:spPr>
              <a:xfrm>
                <a:off x="13078193" y="2308612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7" name="Multiply 39">
                <a:extLst>
                  <a:ext uri="{FF2B5EF4-FFF2-40B4-BE49-F238E27FC236}">
                    <a16:creationId xmlns:a16="http://schemas.microsoft.com/office/drawing/2014/main" id="{9B99DD54-32A0-38E7-0880-C4EB290C4DDF}"/>
                  </a:ext>
                </a:extLst>
              </p:cNvPr>
              <p:cNvSpPr/>
              <p:nvPr/>
            </p:nvSpPr>
            <p:spPr>
              <a:xfrm>
                <a:off x="13323864" y="251961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8" name="Multiply 40">
                <a:extLst>
                  <a:ext uri="{FF2B5EF4-FFF2-40B4-BE49-F238E27FC236}">
                    <a16:creationId xmlns:a16="http://schemas.microsoft.com/office/drawing/2014/main" id="{F280C803-EB38-1705-8398-9746F2851489}"/>
                  </a:ext>
                </a:extLst>
              </p:cNvPr>
              <p:cNvSpPr/>
              <p:nvPr/>
            </p:nvSpPr>
            <p:spPr>
              <a:xfrm>
                <a:off x="13749168" y="2693328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89" name="Multiply 41">
                <a:extLst>
                  <a:ext uri="{FF2B5EF4-FFF2-40B4-BE49-F238E27FC236}">
                    <a16:creationId xmlns:a16="http://schemas.microsoft.com/office/drawing/2014/main" id="{E08C1E28-5A7D-FE74-1118-F92C672167B5}"/>
                  </a:ext>
                </a:extLst>
              </p:cNvPr>
              <p:cNvSpPr/>
              <p:nvPr/>
            </p:nvSpPr>
            <p:spPr>
              <a:xfrm>
                <a:off x="13507181" y="2672807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0" name="Multiply 42">
                <a:extLst>
                  <a:ext uri="{FF2B5EF4-FFF2-40B4-BE49-F238E27FC236}">
                    <a16:creationId xmlns:a16="http://schemas.microsoft.com/office/drawing/2014/main" id="{31AA7847-F217-38A0-E85F-29B3CD387758}"/>
                  </a:ext>
                </a:extLst>
              </p:cNvPr>
              <p:cNvSpPr/>
              <p:nvPr/>
            </p:nvSpPr>
            <p:spPr>
              <a:xfrm>
                <a:off x="12998875" y="249020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1" name="Multiply 43">
                <a:extLst>
                  <a:ext uri="{FF2B5EF4-FFF2-40B4-BE49-F238E27FC236}">
                    <a16:creationId xmlns:a16="http://schemas.microsoft.com/office/drawing/2014/main" id="{7F009730-A0AB-D1BD-DB01-C8E1C29E5FEE}"/>
                  </a:ext>
                </a:extLst>
              </p:cNvPr>
              <p:cNvSpPr/>
              <p:nvPr/>
            </p:nvSpPr>
            <p:spPr>
              <a:xfrm>
                <a:off x="14136782" y="274991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2" name="Multiply 44">
                <a:extLst>
                  <a:ext uri="{FF2B5EF4-FFF2-40B4-BE49-F238E27FC236}">
                    <a16:creationId xmlns:a16="http://schemas.microsoft.com/office/drawing/2014/main" id="{4B29034B-900A-E1B2-D1FF-AE1BF9AF13E7}"/>
                  </a:ext>
                </a:extLst>
              </p:cNvPr>
              <p:cNvSpPr/>
              <p:nvPr/>
            </p:nvSpPr>
            <p:spPr>
              <a:xfrm>
                <a:off x="14476369" y="2721324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3" name="Multiply 45">
                <a:extLst>
                  <a:ext uri="{FF2B5EF4-FFF2-40B4-BE49-F238E27FC236}">
                    <a16:creationId xmlns:a16="http://schemas.microsoft.com/office/drawing/2014/main" id="{B41E03E0-6F3E-007D-CB4E-5CBC0B3D7B26}"/>
                  </a:ext>
                </a:extLst>
              </p:cNvPr>
              <p:cNvSpPr/>
              <p:nvPr/>
            </p:nvSpPr>
            <p:spPr>
              <a:xfrm>
                <a:off x="13134348" y="275636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4" name="Multiply 46">
                <a:extLst>
                  <a:ext uri="{FF2B5EF4-FFF2-40B4-BE49-F238E27FC236}">
                    <a16:creationId xmlns:a16="http://schemas.microsoft.com/office/drawing/2014/main" id="{6352AA55-D841-6E0D-119F-8443FCF9F3FA}"/>
                  </a:ext>
                </a:extLst>
              </p:cNvPr>
              <p:cNvSpPr/>
              <p:nvPr/>
            </p:nvSpPr>
            <p:spPr>
              <a:xfrm>
                <a:off x="13496384" y="2892653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5" name="Multiply 47">
                <a:extLst>
                  <a:ext uri="{FF2B5EF4-FFF2-40B4-BE49-F238E27FC236}">
                    <a16:creationId xmlns:a16="http://schemas.microsoft.com/office/drawing/2014/main" id="{AD5ECDEC-E8D9-0B0D-2AE3-C179D39008EB}"/>
                  </a:ext>
                </a:extLst>
              </p:cNvPr>
              <p:cNvSpPr/>
              <p:nvPr/>
            </p:nvSpPr>
            <p:spPr>
              <a:xfrm>
                <a:off x="12841249" y="2292189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6" name="Multiply 48">
                <a:extLst>
                  <a:ext uri="{FF2B5EF4-FFF2-40B4-BE49-F238E27FC236}">
                    <a16:creationId xmlns:a16="http://schemas.microsoft.com/office/drawing/2014/main" id="{5865E19B-52B0-4231-CC53-6A279EFF6831}"/>
                  </a:ext>
                </a:extLst>
              </p:cNvPr>
              <p:cNvSpPr/>
              <p:nvPr/>
            </p:nvSpPr>
            <p:spPr>
              <a:xfrm>
                <a:off x="13871464" y="2873205"/>
                <a:ext cx="255613" cy="201104"/>
              </a:xfrm>
              <a:prstGeom prst="mathMultiply">
                <a:avLst/>
              </a:prstGeom>
              <a:noFill/>
              <a:ln w="28575"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  <p:sp>
            <p:nvSpPr>
              <p:cNvPr id="197" name="Freeform 49">
                <a:extLst>
                  <a:ext uri="{FF2B5EF4-FFF2-40B4-BE49-F238E27FC236}">
                    <a16:creationId xmlns:a16="http://schemas.microsoft.com/office/drawing/2014/main" id="{0F4C3783-F2F8-74AF-47CE-AEBAA9AA9B83}"/>
                  </a:ext>
                </a:extLst>
              </p:cNvPr>
              <p:cNvSpPr/>
              <p:nvPr/>
            </p:nvSpPr>
            <p:spPr>
              <a:xfrm>
                <a:off x="13195406" y="1351116"/>
                <a:ext cx="1903847" cy="1403682"/>
              </a:xfrm>
              <a:custGeom>
                <a:avLst/>
                <a:gdLst>
                  <a:gd name="connsiteX0" fmla="*/ 532941 w 2034195"/>
                  <a:gd name="connsiteY0" fmla="*/ 0 h 1853444"/>
                  <a:gd name="connsiteX1" fmla="*/ 14326 w 2034195"/>
                  <a:gd name="connsiteY1" fmla="*/ 1105469 h 1853444"/>
                  <a:gd name="connsiteX2" fmla="*/ 1037908 w 2034195"/>
                  <a:gd name="connsiteY2" fmla="*/ 1842448 h 1853444"/>
                  <a:gd name="connsiteX3" fmla="*/ 2034195 w 2034195"/>
                  <a:gd name="connsiteY3" fmla="*/ 1501254 h 185344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034195" h="1853444">
                    <a:moveTo>
                      <a:pt x="532941" y="0"/>
                    </a:moveTo>
                    <a:cubicBezTo>
                      <a:pt x="231553" y="399197"/>
                      <a:pt x="-69835" y="798394"/>
                      <a:pt x="14326" y="1105469"/>
                    </a:cubicBezTo>
                    <a:cubicBezTo>
                      <a:pt x="98487" y="1412544"/>
                      <a:pt x="701263" y="1776484"/>
                      <a:pt x="1037908" y="1842448"/>
                    </a:cubicBezTo>
                    <a:cubicBezTo>
                      <a:pt x="1374553" y="1908412"/>
                      <a:pt x="1679353" y="1662752"/>
                      <a:pt x="2034195" y="1501254"/>
                    </a:cubicBezTo>
                  </a:path>
                </a:pathLst>
              </a:custGeom>
              <a:noFill/>
              <a:ln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pt-BR"/>
              </a:p>
            </p:txBody>
          </p:sp>
        </p:grpSp>
        <p:sp>
          <p:nvSpPr>
            <p:cNvPr id="151" name="Retângulo 150">
              <a:extLst>
                <a:ext uri="{FF2B5EF4-FFF2-40B4-BE49-F238E27FC236}">
                  <a16:creationId xmlns:a16="http://schemas.microsoft.com/office/drawing/2014/main" id="{F412AD0E-B6FE-48A9-2E60-A151396B0E54}"/>
                </a:ext>
              </a:extLst>
            </p:cNvPr>
            <p:cNvSpPr/>
            <p:nvPr/>
          </p:nvSpPr>
          <p:spPr>
            <a:xfrm>
              <a:off x="10443465" y="4461310"/>
              <a:ext cx="2225475" cy="646331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Relação de compromisso entre flexibilidade </a:t>
              </a:r>
              <a:r>
                <a:rPr lang="pt-BR" sz="1200" dirty="0">
                  <a:solidFill>
                    <a:srgbClr val="000000"/>
                  </a:solidFill>
                  <a:latin typeface="Calibri" panose="020F0502020204030204" pitchFamily="34" charset="0"/>
                </a:rPr>
                <a:t>e </a:t>
              </a:r>
              <a:r>
                <a:rPr lang="pt-BR" sz="1200" dirty="0">
                  <a:solidFill>
                    <a:srgbClr val="000000"/>
                  </a:solidFill>
                  <a:latin typeface="Calibri-Bold"/>
                </a:rPr>
                <a:t>capacidade de generalização.</a:t>
              </a:r>
              <a:endParaRPr lang="pt-BR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93053727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88076" y="2507269"/>
            <a:ext cx="10515600" cy="176547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evitamos o </a:t>
            </a:r>
            <a:r>
              <a:rPr lang="pt-BR" sz="6000" i="1" dirty="0" err="1"/>
              <a:t>subajuste</a:t>
            </a:r>
            <a:r>
              <a:rPr lang="pt-BR" sz="6000" i="1" dirty="0"/>
              <a:t> e o </a:t>
            </a:r>
            <a:r>
              <a:rPr lang="pt-BR" sz="6000" i="1" dirty="0" err="1"/>
              <a:t>sobreajuste</a:t>
            </a:r>
            <a:r>
              <a:rPr lang="pt-BR" sz="6000" i="1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6015905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68722" y="1825625"/>
            <a:ext cx="6069204" cy="5032376"/>
          </a:xfrm>
        </p:spPr>
        <p:txBody>
          <a:bodyPr>
            <a:normAutofit/>
          </a:bodyPr>
          <a:lstStyle/>
          <a:p>
            <a:r>
              <a:rPr lang="pt-BR" dirty="0"/>
              <a:t>Podemos usar </a:t>
            </a:r>
            <a:r>
              <a:rPr lang="pt-BR" b="1" dirty="0">
                <a:solidFill>
                  <a:schemeClr val="accent2"/>
                </a:solidFill>
              </a:rPr>
              <a:t>técnicas de validação cruzada</a:t>
            </a:r>
            <a:r>
              <a:rPr lang="pt-BR" dirty="0">
                <a:solidFill>
                  <a:schemeClr val="accent2"/>
                </a:solidFill>
              </a:rPr>
              <a:t> </a:t>
            </a:r>
            <a:r>
              <a:rPr lang="pt-BR" dirty="0"/>
              <a:t>como o </a:t>
            </a:r>
            <a:r>
              <a:rPr lang="pt-BR" i="1" dirty="0"/>
              <a:t>k-</a:t>
            </a:r>
            <a:r>
              <a:rPr lang="pt-BR" i="1" dirty="0" err="1"/>
              <a:t>fold</a:t>
            </a:r>
            <a:r>
              <a:rPr lang="pt-BR" dirty="0"/>
              <a:t> para encontrar a complexidade ideal para o modelo.</a:t>
            </a:r>
          </a:p>
          <a:p>
            <a:r>
              <a:rPr lang="pt-BR" dirty="0"/>
              <a:t>Esses técnicas nos auxiliam a encontrar um modelo que apresente uma </a:t>
            </a:r>
            <a:r>
              <a:rPr lang="pt-BR" b="1" dirty="0">
                <a:solidFill>
                  <a:srgbClr val="00B050"/>
                </a:solidFill>
              </a:rPr>
              <a:t>relação de compromisso entre flexibilidade e capacidade de generalização</a:t>
            </a:r>
            <a:r>
              <a:rPr lang="pt-BR" dirty="0"/>
              <a:t>, evitando assim os dois problemas.</a:t>
            </a:r>
          </a:p>
        </p:txBody>
      </p:sp>
      <p:pic>
        <p:nvPicPr>
          <p:cNvPr id="1026" name="Picture 2" descr="Cross-Validation: K Fold vs Monte Carlo | by Rebecca Patro | Towards Data  Science">
            <a:extLst>
              <a:ext uri="{FF2B5EF4-FFF2-40B4-BE49-F238E27FC236}">
                <a16:creationId xmlns:a16="http://schemas.microsoft.com/office/drawing/2014/main" id="{59ABA5C6-BECA-6DCB-AB07-53EEA099B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413" y="2723102"/>
            <a:ext cx="5555024" cy="24905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F026CA56-BDFD-05E1-4E35-83187109EF30}"/>
              </a:ext>
            </a:extLst>
          </p:cNvPr>
          <p:cNvSpPr txBox="1"/>
          <p:nvPr/>
        </p:nvSpPr>
        <p:spPr>
          <a:xfrm>
            <a:off x="838200" y="2133190"/>
            <a:ext cx="32112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400" b="1" i="1" dirty="0"/>
              <a:t>k-</a:t>
            </a:r>
            <a:r>
              <a:rPr lang="pt-BR" sz="2400" b="1" i="1" dirty="0" err="1"/>
              <a:t>fold</a:t>
            </a:r>
            <a:endParaRPr lang="pt-BR" sz="2400" b="1" i="1" dirty="0"/>
          </a:p>
        </p:txBody>
      </p:sp>
    </p:spTree>
    <p:extLst>
      <p:ext uri="{BB962C8B-B14F-4D97-AF65-F5344CB8AC3E}">
        <p14:creationId xmlns:p14="http://schemas.microsoft.com/office/powerpoint/2010/main" val="27296218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AF60404-37D7-FAB6-B2A1-A3503583E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evitamos o subajuste e sobreajuste?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965B5D-719E-23AA-7D7E-5C2AA6EB73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5916" y="1825625"/>
            <a:ext cx="6652009" cy="5032376"/>
          </a:xfrm>
        </p:spPr>
        <p:txBody>
          <a:bodyPr>
            <a:normAutofit/>
          </a:bodyPr>
          <a:lstStyle/>
          <a:p>
            <a:r>
              <a:rPr lang="pt-BR" dirty="0"/>
              <a:t>Uma forma de </a:t>
            </a:r>
            <a:r>
              <a:rPr lang="pt-BR" b="1" dirty="0">
                <a:solidFill>
                  <a:srgbClr val="7030A0"/>
                </a:solidFill>
              </a:rPr>
              <a:t>evitar </a:t>
            </a:r>
            <a:r>
              <a:rPr lang="pt-BR" b="1" dirty="0">
                <a:solidFill>
                  <a:schemeClr val="accent2"/>
                </a:solidFill>
              </a:rPr>
              <a:t>apenas</a:t>
            </a:r>
            <a:r>
              <a:rPr lang="pt-BR" b="1" dirty="0">
                <a:solidFill>
                  <a:srgbClr val="7030A0"/>
                </a:solidFill>
              </a:rPr>
              <a:t> problemas de sobreajuste</a:t>
            </a:r>
            <a:r>
              <a:rPr lang="pt-BR" dirty="0"/>
              <a:t> é usar </a:t>
            </a:r>
            <a:r>
              <a:rPr lang="pt-BR" b="1" dirty="0">
                <a:solidFill>
                  <a:srgbClr val="00B050"/>
                </a:solidFill>
              </a:rPr>
              <a:t>técnicas de regularização </a:t>
            </a:r>
            <a:r>
              <a:rPr lang="pt-BR" dirty="0"/>
              <a:t>(e.g., LASSO, Ridge, Elastic-Net, Early-stopping).</a:t>
            </a:r>
          </a:p>
          <a:p>
            <a:r>
              <a:rPr lang="pt-BR" dirty="0"/>
              <a:t>A regularização </a:t>
            </a:r>
            <a:r>
              <a:rPr lang="pt-BR" b="1" dirty="0">
                <a:solidFill>
                  <a:srgbClr val="00B050"/>
                </a:solidFill>
              </a:rPr>
              <a:t>r</a:t>
            </a:r>
            <a:r>
              <a:rPr lang="pt-BR" b="1" dirty="0">
                <a:solidFill>
                  <a:srgbClr val="00B050"/>
                </a:solidFill>
                <a:effectLst/>
              </a:rPr>
              <a:t>eduz a flexibilidade </a:t>
            </a:r>
            <a:r>
              <a:rPr lang="pt-BR" b="0" dirty="0">
                <a:effectLst/>
              </a:rPr>
              <a:t>do modelo por meio de </a:t>
            </a:r>
            <a:r>
              <a:rPr lang="pt-BR" b="1" dirty="0">
                <a:solidFill>
                  <a:srgbClr val="FF0000"/>
                </a:solidFill>
                <a:effectLst/>
              </a:rPr>
              <a:t>penalizações</a:t>
            </a:r>
            <a:r>
              <a:rPr lang="pt-BR" b="0" dirty="0">
                <a:effectLst/>
              </a:rPr>
              <a:t> aplicadas a seus pesos.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Modelos que se </a:t>
            </a:r>
            <a:r>
              <a:rPr lang="pt-BR" b="1" dirty="0">
                <a:solidFill>
                  <a:srgbClr val="7030A0"/>
                </a:solidFill>
              </a:rPr>
              <a:t>sobreajustam</a:t>
            </a:r>
            <a:r>
              <a:rPr lang="pt-BR" dirty="0"/>
              <a:t> têm </a:t>
            </a:r>
            <a:r>
              <a:rPr lang="pt-BR" b="1" dirty="0">
                <a:solidFill>
                  <a:srgbClr val="FF0000"/>
                </a:solidFill>
              </a:rPr>
              <a:t>pesos com valores absolutos muito altos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que as técnicas de regularização fazem é </a:t>
            </a:r>
            <a:r>
              <a:rPr lang="pt-BR" b="1" dirty="0">
                <a:solidFill>
                  <a:srgbClr val="00B050"/>
                </a:solidFill>
              </a:rPr>
              <a:t>restringir o aumento</a:t>
            </a:r>
            <a:r>
              <a:rPr lang="pt-BR" dirty="0"/>
              <a:t> dos pesos a uma </a:t>
            </a:r>
            <a:r>
              <a:rPr lang="pt-BR" b="1" dirty="0"/>
              <a:t>região</a:t>
            </a:r>
            <a:r>
              <a:rPr lang="pt-BR" dirty="0"/>
              <a:t> de possíveis valores.</a:t>
            </a:r>
          </a:p>
        </p:txBody>
      </p:sp>
      <p:pic>
        <p:nvPicPr>
          <p:cNvPr id="2052" name="Picture 4" descr="Regularization | Regularization Techniques in Machine Learning">
            <a:extLst>
              <a:ext uri="{FF2B5EF4-FFF2-40B4-BE49-F238E27FC236}">
                <a16:creationId xmlns:a16="http://schemas.microsoft.com/office/drawing/2014/main" id="{DBEAA147-DD30-5BD1-7D88-D1E0DA2EEA4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99" t="4263" r="3503" b="13944"/>
          <a:stretch/>
        </p:blipFill>
        <p:spPr bwMode="auto">
          <a:xfrm>
            <a:off x="224413" y="2586185"/>
            <a:ext cx="4943790" cy="2727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7C3999F-E11E-BEA4-B848-576DAA84A093}"/>
              </a:ext>
            </a:extLst>
          </p:cNvPr>
          <p:cNvSpPr txBox="1"/>
          <p:nvPr/>
        </p:nvSpPr>
        <p:spPr>
          <a:xfrm>
            <a:off x="224413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LASSO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21A5017-C486-6341-CE55-AA6B086B7AFD}"/>
              </a:ext>
            </a:extLst>
          </p:cNvPr>
          <p:cNvSpPr txBox="1"/>
          <p:nvPr/>
        </p:nvSpPr>
        <p:spPr>
          <a:xfrm>
            <a:off x="3212124" y="2220686"/>
            <a:ext cx="1956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b="1" dirty="0"/>
              <a:t>Ridge</a:t>
            </a:r>
          </a:p>
        </p:txBody>
      </p:sp>
    </p:spTree>
    <p:extLst>
      <p:ext uri="{BB962C8B-B14F-4D97-AF65-F5344CB8AC3E}">
        <p14:creationId xmlns:p14="http://schemas.microsoft.com/office/powerpoint/2010/main" val="317095409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regressão_logística.ipynb</a:t>
            </a:r>
            <a:endParaRPr lang="en-US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320933254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9AE95-3E0A-F9BB-A3FD-4C328EF25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1927B-FE56-CB25-3ECF-AB5E92A7D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Lista</a:t>
            </a:r>
            <a:r>
              <a:rPr lang="en-US" dirty="0"/>
              <a:t> #6 - </a:t>
            </a:r>
            <a:r>
              <a:rPr lang="en-US" dirty="0" err="1"/>
              <a:t>Classificação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20531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0A78A2E-6E03-2C97-4148-5EE803DD51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23898"/>
            <a:ext cx="10515600" cy="181020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5400" dirty="0"/>
              <a:t>Anexo I: Encontrando o vetor gradiente do regressor logístico</a:t>
            </a:r>
          </a:p>
        </p:txBody>
      </p:sp>
    </p:spTree>
    <p:extLst>
      <p:ext uri="{BB962C8B-B14F-4D97-AF65-F5344CB8AC3E}">
        <p14:creationId xmlns:p14="http://schemas.microsoft.com/office/powerpoint/2010/main" val="867571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pt-BR" dirty="0"/>
                  <a:t>Antes de encontrarmos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</m:oMath>
                </a14:m>
                <a:r>
                  <a:rPr lang="pt-BR" dirty="0"/>
                  <a:t>, vamos reescrever a </a:t>
                </a:r>
                <a:r>
                  <a:rPr lang="pt-BR" b="1" i="1" dirty="0"/>
                  <a:t>função de erro</a:t>
                </a:r>
                <a:r>
                  <a:rPr lang="pt-BR" dirty="0"/>
                  <a:t> utilizando as seguintes equivalências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d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f>
                              <m:f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den>
                            </m:f>
                          </m:e>
                        </m:d>
                      </m:e>
                    </m:func>
                    <m:r>
                      <a:rPr lang="pt-BR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Assim, a nova expressão para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𝐽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𝑦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nary>
                      <m:r>
                        <a:rPr lang="pt-BR">
                          <a:latin typeface="Cambria Math" panose="02040503050406030204" pitchFamily="18" charset="0"/>
                        </a:rPr>
                        <m:t>+(1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pt-BR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1+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𝒙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)</m:t>
                                          </m:r>
                                        </m:e>
                                        <m:sup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𝒂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pt-BR" dirty="0"/>
              </a:p>
              <a:p>
                <a:endParaRPr lang="pt-BR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80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2257428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termo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 é cancelado com um dos elementos gerados a partir do produto envolvido no segundo termo, de forma que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sz="2400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sz="240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pt-BR" sz="2400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sz="24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sz="2400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sz="2400" b="1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sz="24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400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pt-BR" sz="240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sz="2400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r>
                                      <a:rPr lang="pt-BR" sz="2400" b="1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sz="2400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sz="2400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sz="2400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sz="2400" dirty="0"/>
                  <a:t>.</a:t>
                </a:r>
              </a:p>
              <a:p>
                <a:r>
                  <a:rPr lang="pt-BR" dirty="0"/>
                  <a:t>Se 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, então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pt-BR" b="1" i="1">
                        <a:latin typeface="Cambria Math" panose="02040503050406030204" pitchFamily="18" charset="0"/>
                      </a:rPr>
                      <m:t>𝒂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  <m:r>
                          <a:rPr lang="pt-BR" b="1" i="1" smtClean="0">
                            <a:latin typeface="Cambria Math" panose="02040503050406030204" pitchFamily="18" charset="0"/>
                          </a:rPr>
                          <m:t>=</m:t>
                        </m:r>
                      </m:e>
                    </m:func>
                    <m:r>
                      <a:rPr lang="pt-BR" b="1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log</m:t>
                        </m:r>
                      </m:fName>
                      <m:e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  <m:sup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  <m:sup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𝒂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Desta forma, a </a:t>
                </a:r>
                <a:r>
                  <a:rPr lang="pt-BR" b="1" i="1" dirty="0"/>
                  <a:t>função de erro médio </a:t>
                </a:r>
                <a:r>
                  <a:rPr lang="pt-BR" dirty="0"/>
                  <a:t>se torna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</m:den>
                    </m:f>
                    <m:nary>
                      <m:naryPr>
                        <m:chr m:val="∑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𝑦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e>
                        </m:d>
                        <m:sSup>
                          <m:sSup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p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  <m:r>
                          <a:rPr lang="pt-BR" b="1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d>
                              <m:dPr>
                                <m:ctrlPr>
                                  <a:rPr lang="pt-B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sSup>
                                  <m:sSup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  <m:sup>
                                    <m:sSup>
                                      <m:sSupPr>
                                        <m:ctrlP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pt-BR" b="1" i="1"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(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)</m:t>
                                        </m:r>
                                      </m:e>
                                      <m:sup>
                                        <m:r>
                                          <a:rPr lang="pt-BR" i="1"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  <m:t>𝒂</m:t>
                                    </m:r>
                                  </m:sup>
                                </m:sSup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Em seguida, encontramos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de cada termo da equação acima.</a:t>
                </a:r>
              </a:p>
              <a:p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55694" cy="4855094"/>
              </a:xfrm>
              <a:blipFill rotWithShape="0">
                <a:blip r:embed="rId2"/>
                <a:stretch>
                  <a:fillRect l="-1002" t="-753" b="-50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256079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3685"/>
            <a:ext cx="10515600" cy="1097915"/>
          </a:xfrm>
        </p:spPr>
        <p:txBody>
          <a:bodyPr>
            <a:normAutofit/>
          </a:bodyPr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Assim,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primeiro termo da equação anterior 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do segundo termo da equação anterior é dado por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1+</m:t>
                                      </m:r>
                                      <m:sSup>
                                        <m:sSup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𝑒</m:t>
                                          </m:r>
                                        </m:e>
                                        <m:sup>
                                          <m:sSup>
                                            <m:sSup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r>
                                                <a:rPr lang="pt-BR" b="1" i="1">
                                                  <a:latin typeface="Cambria Math" panose="02040503050406030204" pitchFamily="18" charset="0"/>
                                                </a:rPr>
                                                <m:t>𝒙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(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)</m:t>
                                              </m:r>
                                            </m:e>
                                            <m:sup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𝑇</m:t>
                                              </m:r>
                                            </m:sup>
                                          </m:sSup>
                                          <m: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  <m:t>𝒂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func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sSup>
                                <m:sSup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  <m:sup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sup>
                          </m:sSup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i="1" dirty="0">
                  <a:latin typeface="Cambria Math" panose="02040503050406030204" pitchFamily="18" charset="0"/>
                </a:endParaRP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𝒂</m:t>
                        </m:r>
                      </m:sub>
                    </m:sSub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d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Usamos a </a:t>
                </a:r>
                <a:r>
                  <a:rPr lang="pt-BR" b="1" i="1" dirty="0"/>
                  <a:t>regra da cadeia </a:t>
                </a:r>
                <a:r>
                  <a:rPr lang="pt-BR" dirty="0"/>
                  <a:t>para encontrar o vetor gradiente do segundo termo.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1186160" cy="5167312"/>
              </a:xfrm>
              <a:blipFill>
                <a:blip r:embed="rId2"/>
                <a:stretch>
                  <a:fillRect l="-981" t="-2594" b="-106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3230880" y="4389120"/>
            <a:ext cx="356002" cy="156585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90431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Encontrando o vetor gradiente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Portanto, combinando os 2 resultados anteriores, temos que o </a:t>
                </a:r>
                <a:r>
                  <a:rPr lang="pt-BR" b="1" i="1" dirty="0"/>
                  <a:t>vetor gradiente </a:t>
                </a:r>
                <a:r>
                  <a:rPr lang="pt-BR" dirty="0"/>
                  <a:t>da</a:t>
                </a:r>
                <a:r>
                  <a:rPr lang="pt-BR" b="1" i="1" dirty="0"/>
                  <a:t> função de erro médio </a:t>
                </a:r>
                <a:r>
                  <a:rPr lang="pt-BR" dirty="0"/>
                  <a:t>é dado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𝒂</m:t>
                              </m:r>
                            </m:e>
                          </m:d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den>
                      </m:f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e>
                                <m:sub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𝒂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  <m:d>
                                    <m:dPr>
                                      <m:ctrlP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e>
                                  </m:d>
                                </m:e>
                              </m:d>
                            </m:e>
                          </m:d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𝒚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𝒚</m:t>
                              </m:r>
                            </m:e>
                          </m:acc>
                        </m:e>
                      </m:d>
                      <m:r>
                        <a:rPr lang="pt-BR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6"/>
              </a:xfrm>
              <a:blipFill>
                <a:blip r:embed="rId3"/>
                <a:stretch>
                  <a:fillRect l="-980" t="-1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/>
              <p:cNvSpPr txBox="1"/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pt-BR"/>
                </a:defPPr>
                <a:lvl1pPr algn="ctr">
                  <a:defRPr sz="1400"/>
                </a:lvl1pPr>
              </a:lstStyle>
              <a:p>
                <a:r>
                  <a:rPr lang="pt-BR" dirty="0"/>
                  <a:t>Forma matricial: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𝑿</m:t>
                    </m:r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K</m:t>
                        </m:r>
                        <m:r>
                          <a:rPr lang="pt-BR" b="0" i="0" smtClean="0">
                            <a:latin typeface="Cambria Math" panose="02040503050406030204" pitchFamily="18" charset="0"/>
                          </a:rPr>
                          <m:t>+1</m:t>
                        </m:r>
                      </m:sup>
                    </m:sSup>
                  </m:oMath>
                </a14:m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</m:acc>
                  </m:oMath>
                </a14:m>
                <a:r>
                  <a:rPr lang="pt-BR" dirty="0"/>
                  <a:t>  </a:t>
                </a:r>
                <a14:m>
                  <m:oMath xmlns:m="http://schemas.openxmlformats.org/officeDocument/2006/math">
                    <m:r>
                      <a:rPr lang="pt-BR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m:rPr>
                            <m:sty m:val="p"/>
                          </m:rPr>
                          <a:rPr lang="pt-BR">
                            <a:latin typeface="Cambria Math" panose="02040503050406030204" pitchFamily="18" charset="0"/>
                          </a:rPr>
                          <m:t>N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pt-BR"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endParaRPr lang="pt-BR" dirty="0"/>
              </a:p>
            </p:txBody>
          </p:sp>
        </mc:Choice>
        <mc:Fallback xmlns="">
          <p:sp>
            <p:nvSpPr>
              <p:cNvPr id="5" name="TextBox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57" y="2175892"/>
                <a:ext cx="1364343" cy="774443"/>
              </a:xfrm>
              <a:prstGeom prst="rect">
                <a:avLst/>
              </a:prstGeom>
              <a:blipFill rotWithShape="0">
                <a:blip r:embed="rId4"/>
                <a:stretch>
                  <a:fillRect l="-1339" t="-1575" r="-4018" b="-393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/>
          <p:cNvCxnSpPr/>
          <p:nvPr/>
        </p:nvCxnSpPr>
        <p:spPr>
          <a:xfrm flipH="1">
            <a:off x="9814560" y="2407920"/>
            <a:ext cx="860698" cy="54241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1736768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8893</TotalTime>
  <Words>5858</Words>
  <Application>Microsoft Office PowerPoint</Application>
  <PresentationFormat>Widescreen</PresentationFormat>
  <Paragraphs>529</Paragraphs>
  <Slides>54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3" baseType="lpstr">
      <vt:lpstr>Arial</vt:lpstr>
      <vt:lpstr>Calibri</vt:lpstr>
      <vt:lpstr>Calibri Light</vt:lpstr>
      <vt:lpstr>Calibri-Bold</vt:lpstr>
      <vt:lpstr>Cambria Math</vt:lpstr>
      <vt:lpstr>Courier New</vt:lpstr>
      <vt:lpstr>Söhne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Fronteiras de decisão de um classificador</vt:lpstr>
      <vt:lpstr>Fronteiras de decisão de um classificador</vt:lpstr>
      <vt:lpstr>Fronteiras de decisão de um classificador</vt:lpstr>
      <vt:lpstr>Funções discriminantes</vt:lpstr>
      <vt:lpstr>Funções discriminantes</vt:lpstr>
      <vt:lpstr>PowerPoint Presentation</vt:lpstr>
      <vt:lpstr>PowerPoint Presentation</vt:lpstr>
      <vt:lpstr>Como mapeamos g(x(i)) nas classes?</vt:lpstr>
      <vt:lpstr>Função de limiar de decisão ou de ativação</vt:lpstr>
      <vt:lpstr>PowerPoint Presentation</vt:lpstr>
      <vt:lpstr>Classificação com função de limiar logístico</vt:lpstr>
      <vt:lpstr>Classificação com função de limiar logístico</vt:lpstr>
      <vt:lpstr>Classificação com função de limiar logístico</vt:lpstr>
      <vt:lpstr>Regressão logística</vt:lpstr>
      <vt:lpstr>O diagrama do regressor logístico</vt:lpstr>
      <vt:lpstr>PowerPoint Presentation</vt:lpstr>
      <vt:lpstr>Regressão logística</vt:lpstr>
      <vt:lpstr>O diagrama do regressor logístico</vt:lpstr>
      <vt:lpstr>Função de erro</vt:lpstr>
      <vt:lpstr>Função de erro</vt:lpstr>
      <vt:lpstr>Função de erro</vt:lpstr>
      <vt:lpstr>Função de erro</vt:lpstr>
      <vt:lpstr>Função de erro</vt:lpstr>
      <vt:lpstr>Vetor gradiente</vt:lpstr>
      <vt:lpstr>Processo de treinamento</vt:lpstr>
      <vt:lpstr>Pseudocódigo do gradiente descendente</vt:lpstr>
      <vt:lpstr>Subajuste e sobreajuste</vt:lpstr>
      <vt:lpstr>Subajuste e sobreajuste</vt:lpstr>
      <vt:lpstr>Subajuste e sobreajuste</vt:lpstr>
      <vt:lpstr>Subajuste e sobreajuste</vt:lpstr>
      <vt:lpstr>PowerPoint Presentation</vt:lpstr>
      <vt:lpstr>Como evitamos o subajuste e sobreajuste?</vt:lpstr>
      <vt:lpstr>Como evitamos o subajuste e sobreajuste?</vt:lpstr>
      <vt:lpstr>Exemplo</vt:lpstr>
      <vt:lpstr>Lista de exercícios</vt:lpstr>
      <vt:lpstr>PowerPoint Presentation</vt:lpstr>
      <vt:lpstr>PowerPoint Presentation</vt:lpstr>
      <vt:lpstr>PowerPoint Presentation</vt:lpstr>
      <vt:lpstr>Encontrando o vetor gradiente</vt:lpstr>
      <vt:lpstr>Encontrando o vetor gradiente</vt:lpstr>
      <vt:lpstr>Encontrando o vetor gradiente</vt:lpstr>
      <vt:lpstr>Encontrando o vetor gradiente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1868</cp:revision>
  <dcterms:created xsi:type="dcterms:W3CDTF">2020-01-20T13:50:05Z</dcterms:created>
  <dcterms:modified xsi:type="dcterms:W3CDTF">2026-02-26T20:02:49Z</dcterms:modified>
</cp:coreProperties>
</file>