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460" r:id="rId17"/>
    <p:sldId id="362" r:id="rId18"/>
    <p:sldId id="363" r:id="rId19"/>
    <p:sldId id="364" r:id="rId20"/>
    <p:sldId id="365" r:id="rId21"/>
    <p:sldId id="356" r:id="rId22"/>
    <p:sldId id="441" r:id="rId23"/>
    <p:sldId id="442" r:id="rId24"/>
    <p:sldId id="444" r:id="rId25"/>
    <p:sldId id="445" r:id="rId26"/>
    <p:sldId id="446" r:id="rId27"/>
    <p:sldId id="447" r:id="rId28"/>
    <p:sldId id="458" r:id="rId29"/>
    <p:sldId id="448" r:id="rId30"/>
    <p:sldId id="449" r:id="rId31"/>
    <p:sldId id="459" r:id="rId32"/>
    <p:sldId id="450" r:id="rId33"/>
    <p:sldId id="451" r:id="rId34"/>
    <p:sldId id="452" r:id="rId35"/>
    <p:sldId id="453" r:id="rId36"/>
    <p:sldId id="454" r:id="rId37"/>
    <p:sldId id="409" r:id="rId38"/>
    <p:sldId id="407" r:id="rId39"/>
    <p:sldId id="372" r:id="rId40"/>
    <p:sldId id="410" r:id="rId41"/>
    <p:sldId id="412" r:id="rId42"/>
    <p:sldId id="414" r:id="rId43"/>
    <p:sldId id="417" r:id="rId44"/>
    <p:sldId id="455" r:id="rId45"/>
    <p:sldId id="413" r:id="rId46"/>
    <p:sldId id="418" r:id="rId47"/>
    <p:sldId id="605" r:id="rId48"/>
    <p:sldId id="456" r:id="rId49"/>
    <p:sldId id="457" r:id="rId50"/>
    <p:sldId id="293" r:id="rId51"/>
    <p:sldId id="306" r:id="rId52"/>
    <p:sldId id="419" r:id="rId53"/>
    <p:sldId id="438" r:id="rId54"/>
    <p:sldId id="439" r:id="rId55"/>
    <p:sldId id="377" r:id="rId56"/>
    <p:sldId id="378" r:id="rId5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9346" autoAdjust="0"/>
  </p:normalViewPr>
  <p:slideViewPr>
    <p:cSldViewPr snapToGrid="0">
      <p:cViewPr varScale="1">
        <p:scale>
          <a:sx n="99" d="100"/>
          <a:sy n="99" d="100"/>
        </p:scale>
        <p:origin x="1254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30/03/2026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0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3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3.emf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3.e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8.png"/><Relationship Id="rId5" Type="http://schemas.openxmlformats.org/officeDocument/2006/relationships/image" Target="../media/image40.png"/><Relationship Id="rId10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6.png"/><Relationship Id="rId7" Type="http://schemas.openxmlformats.org/officeDocument/2006/relationships/image" Target="NUL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jpeg"/><Relationship Id="rId4" Type="http://schemas.openxmlformats.org/officeDocument/2006/relationships/image" Target="../media/image72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833" y="894694"/>
            <a:ext cx="5442334" cy="5068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Em geral, o modelo </a:t>
            </a:r>
            <a:r>
              <a:rPr lang="pt-BR" b="1" dirty="0">
                <a:solidFill>
                  <a:schemeClr val="accent6"/>
                </a:solidFill>
              </a:rPr>
              <a:t>prediz (saída) um escalar binário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0070C0"/>
                </a:solidFill>
              </a:rPr>
              <a:t>não são 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</a:t>
            </a:r>
            <a:r>
              <a:rPr lang="pt-BR" b="1" dirty="0">
                <a:solidFill>
                  <a:schemeClr val="accent1"/>
                </a:solidFill>
              </a:rPr>
              <a:t>prediz (saída) um vetor binário </a:t>
            </a:r>
            <a:r>
              <a:rPr lang="pt-BR" dirty="0"/>
              <a:t>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9905"/>
            <a:ext cx="10515600" cy="257818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 os modelos predizem valores binários, como 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6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6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6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6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6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6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6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6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6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6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6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6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6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6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6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6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6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6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6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60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6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usada no treinamento de redes neurais e </a:t>
                </a:r>
                <a:r>
                  <a:rPr lang="pt-BR" dirty="0" err="1"/>
                  <a:t>regressores</a:t>
                </a:r>
                <a:r>
                  <a:rPr lang="pt-BR" dirty="0"/>
                  <a:t>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>
                <a:blip r:embed="rId3"/>
                <a:stretch>
                  <a:fillRect l="-967" t="-2663" r="-1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159216" cy="5032375"/>
              </a:xfrm>
              <a:blipFill>
                <a:blip r:embed="rId3"/>
                <a:stretch>
                  <a:fillRect l="-1533" t="-1937" r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dirty="0"/>
                  <a:t>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236543" y="2387354"/>
            <a:ext cx="3031267" cy="3481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funções</a:t>
                </a:r>
                <a:r>
                  <a:rPr lang="pt-BR" b="1" dirty="0"/>
                  <a:t>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funções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infinitos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objetivo é atribuir uma classe</a:t>
                </a:r>
                <a:r>
                  <a:rPr lang="pt-BR" dirty="0"/>
                  <a:t>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 err="1"/>
                  <a:t>Além</a:t>
                </a:r>
                <a:r>
                  <a:rPr lang="en-US" dirty="0"/>
                  <a:t> </a:t>
                </a:r>
                <a:r>
                  <a:rPr lang="en-US" dirty="0" err="1"/>
                  <a:t>disso</a:t>
                </a:r>
                <a:r>
                  <a:rPr lang="en-US" dirty="0"/>
                  <a:t>, 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>
                <a:blip r:embed="rId3"/>
                <a:stretch>
                  <a:fillRect l="-157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759745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contexto da classificação, ela é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dirty="0"/>
                  <a:t>ou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função podemos usar?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>
                <a:blip r:embed="rId2"/>
                <a:stretch>
                  <a:fillRect l="-1586" t="-1937" r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791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condicional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79130" cy="5032375"/>
              </a:xfrm>
              <a:blipFill>
                <a:blip r:embed="rId3"/>
                <a:stretch>
                  <a:fillRect l="-1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51718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</a:t>
            </a:r>
            <a:r>
              <a:rPr lang="pt-BR" i="1" dirty="0"/>
              <a:t>softmax</a:t>
            </a:r>
            <a:r>
              <a:rPr lang="pt-BR" dirty="0"/>
              <a:t>, que é uma </a:t>
            </a:r>
            <a:r>
              <a:rPr lang="pt-BR" b="1" dirty="0">
                <a:solidFill>
                  <a:schemeClr val="accent2"/>
                </a:solidFill>
              </a:rPr>
              <a:t>generalização</a:t>
            </a:r>
            <a:r>
              <a:rPr lang="pt-BR" dirty="0"/>
              <a:t> do regressor logístico.</a:t>
            </a:r>
          </a:p>
          <a:p>
            <a:r>
              <a:rPr lang="pt-BR" dirty="0"/>
              <a:t>Temos a combinação linear dos atributos em relação aos pesos passando através da função de ativação.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aproximar a distribuição real.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O 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094396" y="4858410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pelos </a:t>
                </a:r>
                <a:r>
                  <a:rPr lang="pt-BR" dirty="0"/>
                  <a:t>atributos de cada </a:t>
                </a:r>
                <a:r>
                  <a:rPr lang="pt-BR" sz="2400" dirty="0"/>
                  <a:t>monômio do polinômio.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dos originais,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</a:t>
                </a:r>
                <a:r>
                  <a:rPr lang="pt-BR" b="1" dirty="0" err="1">
                    <a:solidFill>
                      <a:schemeClr val="accent1"/>
                    </a:solidFill>
                  </a:rPr>
                  <a:t>regressores</a:t>
                </a:r>
                <a:r>
                  <a:rPr lang="pt-BR" b="1" dirty="0">
                    <a:solidFill>
                      <a:schemeClr val="accent1"/>
                    </a:solidFill>
                  </a:rPr>
                  <a:t> logísticos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são do conjunto de treinamento.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A penalização L1 tem uma característica interessante.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22DEDA-3807-EF14-3CE7-1FAB722E7C05}"/>
              </a:ext>
            </a:extLst>
          </p:cNvPr>
          <p:cNvSpPr txBox="1"/>
          <p:nvPr/>
        </p:nvSpPr>
        <p:spPr>
          <a:xfrm>
            <a:off x="224413" y="190613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4A8EFC-7937-BF86-E363-A57E85319263}"/>
              </a:ext>
            </a:extLst>
          </p:cNvPr>
          <p:cNvSpPr txBox="1"/>
          <p:nvPr/>
        </p:nvSpPr>
        <p:spPr>
          <a:xfrm>
            <a:off x="2916454" y="1939854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Quais </a:t>
            </a:r>
            <a:r>
              <a:rPr lang="en-US" b="1" dirty="0" err="1">
                <a:solidFill>
                  <a:srgbClr val="00B050"/>
                </a:solidFill>
              </a:rPr>
              <a:t>atributos</a:t>
            </a:r>
            <a:r>
              <a:rPr lang="en-US" dirty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importam</a:t>
            </a:r>
            <a:r>
              <a:rPr lang="en-US" dirty="0"/>
              <a:t>?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8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id="{B1E50C15-796B-7379-D1C6-2808D390DEE1}"/>
              </a:ext>
            </a:extLst>
          </p:cNvPr>
          <p:cNvSpPr/>
          <p:nvPr/>
        </p:nvSpPr>
        <p:spPr>
          <a:xfrm>
            <a:off x="3414733" y="1796749"/>
            <a:ext cx="941382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4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93ED1B33-8D6A-0ECE-AF7B-485E94F497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56161" b="13944"/>
          <a:stretch>
            <a:fillRect/>
          </a:stretch>
        </p:blipFill>
        <p:spPr bwMode="auto">
          <a:xfrm>
            <a:off x="2079352" y="4085936"/>
            <a:ext cx="1867593" cy="2487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9083</TotalTime>
  <Words>7040</Words>
  <Application>Microsoft Office PowerPoint</Application>
  <PresentationFormat>Widescreen</PresentationFormat>
  <Paragraphs>597</Paragraphs>
  <Slides>56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de limiar de decisão ou de ativação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PowerPoint Presentation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PowerPoint Presentation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PowerPoint Presentation</vt:lpstr>
      <vt:lpstr>PowerPoint Presentation</vt:lpstr>
      <vt:lpstr>PowerPoint Presentation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1926</cp:revision>
  <dcterms:created xsi:type="dcterms:W3CDTF">2020-01-20T13:50:05Z</dcterms:created>
  <dcterms:modified xsi:type="dcterms:W3CDTF">2026-03-30T19:48:25Z</dcterms:modified>
</cp:coreProperties>
</file>