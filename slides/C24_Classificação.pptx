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handoutMasterIdLst>
    <p:handoutMasterId r:id="rId73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0" r:id="rId23"/>
    <p:sldId id="375" r:id="rId24"/>
    <p:sldId id="392" r:id="rId25"/>
    <p:sldId id="376" r:id="rId26"/>
    <p:sldId id="390" r:id="rId27"/>
    <p:sldId id="395" r:id="rId28"/>
    <p:sldId id="385" r:id="rId29"/>
    <p:sldId id="387" r:id="rId30"/>
    <p:sldId id="398" r:id="rId31"/>
    <p:sldId id="386" r:id="rId32"/>
    <p:sldId id="393" r:id="rId33"/>
    <p:sldId id="435" r:id="rId34"/>
    <p:sldId id="399" r:id="rId35"/>
    <p:sldId id="400" r:id="rId36"/>
    <p:sldId id="389" r:id="rId37"/>
    <p:sldId id="391" r:id="rId38"/>
    <p:sldId id="402" r:id="rId39"/>
    <p:sldId id="436" r:id="rId40"/>
    <p:sldId id="403" r:id="rId41"/>
    <p:sldId id="431" r:id="rId42"/>
    <p:sldId id="432" r:id="rId43"/>
    <p:sldId id="357" r:id="rId44"/>
    <p:sldId id="434" r:id="rId45"/>
    <p:sldId id="397" r:id="rId46"/>
    <p:sldId id="405" r:id="rId47"/>
    <p:sldId id="408" r:id="rId48"/>
    <p:sldId id="409" r:id="rId49"/>
    <p:sldId id="407" r:id="rId50"/>
    <p:sldId id="370" r:id="rId51"/>
    <p:sldId id="424" r:id="rId52"/>
    <p:sldId id="425" r:id="rId53"/>
    <p:sldId id="372" r:id="rId54"/>
    <p:sldId id="410" r:id="rId55"/>
    <p:sldId id="412" r:id="rId56"/>
    <p:sldId id="414" r:id="rId57"/>
    <p:sldId id="417" r:id="rId58"/>
    <p:sldId id="413" r:id="rId59"/>
    <p:sldId id="418" r:id="rId60"/>
    <p:sldId id="396" r:id="rId61"/>
    <p:sldId id="394" r:id="rId62"/>
    <p:sldId id="366" r:id="rId63"/>
    <p:sldId id="352" r:id="rId64"/>
    <p:sldId id="293" r:id="rId65"/>
    <p:sldId id="306" r:id="rId66"/>
    <p:sldId id="419" r:id="rId67"/>
    <p:sldId id="438" r:id="rId68"/>
    <p:sldId id="439" r:id="rId69"/>
    <p:sldId id="377" r:id="rId70"/>
    <p:sldId id="378" r:id="rId7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6B676CD-D7AC-2B3E-F1F4-285137D7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BD83C45-BD26-CB76-54F0-14BDDCDD7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B35AEB-BD45-C559-CA69-3F6AAF8D9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7989778-0D21-4998-A9E3-F299024619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42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32.em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32.emf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32.emf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9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9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9.emf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5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xmlns="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xmlns="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70268" y="1825624"/>
                <a:ext cx="692173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ativação.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70268" y="1825624"/>
                <a:ext cx="6921732" cy="5032375"/>
              </a:xfrm>
              <a:blipFill rotWithShape="0">
                <a:blip r:embed="rId2"/>
                <a:stretch>
                  <a:fillRect l="-1586" t="-1937" r="-14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6391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hipótese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mapeamento pode ser feito através da definição de uma </a:t>
                </a:r>
                <a:r>
                  <a:rPr lang="pt-BR" b="1" dirty="0"/>
                  <a:t>estrutura condicional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O resultado final do mapeamento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em classes é chamado de </a:t>
                </a:r>
                <a:r>
                  <a:rPr lang="pt-BR" b="1" dirty="0"/>
                  <a:t>função hipótese de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classificação</a:t>
                </a:r>
                <a:r>
                  <a:rPr lang="pt-BR" b="1" dirty="0"/>
                  <a:t>.</a:t>
                </a:r>
                <a:endParaRPr lang="pt-BR" dirty="0"/>
              </a:p>
              <a:p>
                <a:r>
                  <a:rPr lang="pt-BR" dirty="0"/>
                  <a:t>Percebam que a saída da </a:t>
                </a:r>
                <a:r>
                  <a:rPr lang="pt-BR" b="1" dirty="0"/>
                  <a:t>função hipótese de classificação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00B050"/>
                    </a:solidFill>
                  </a:rPr>
                  <a:t>binária.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  <a:blipFill>
                <a:blip r:embed="rId2"/>
                <a:stretch>
                  <a:fillRect l="-147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xmlns="" id="{AE4F4277-6964-0C1E-0DD3-569D7AE44CFF}"/>
              </a:ext>
            </a:extLst>
          </p:cNvPr>
          <p:cNvGrpSpPr/>
          <p:nvPr/>
        </p:nvGrpSpPr>
        <p:grpSpPr>
          <a:xfrm>
            <a:off x="525236" y="1961540"/>
            <a:ext cx="3665764" cy="3840545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xmlns="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xmlns="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xmlns="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xmlns="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xmlns="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xmlns="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xmlns="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xmlns="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62D167-B7A4-F76C-EA8F-FFE81D1FC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7D71349-C9D5-2310-AF15-EDB45A962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94C719-3B63-1EE5-01EF-C213CC62F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mapeamento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e a saída 0 ou 1 é feito através da </a:t>
                </a:r>
                <a:r>
                  <a:rPr lang="pt-BR" b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slide anterior,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são as condições.</a:t>
                </a:r>
              </a:p>
              <a:p>
                <a:r>
                  <a:rPr lang="pt-BR" dirty="0"/>
                  <a:t>Porém, para </a:t>
                </a:r>
                <a:r>
                  <a:rPr lang="pt-BR" b="1" dirty="0"/>
                  <a:t>treinarmos</a:t>
                </a:r>
                <a:r>
                  <a:rPr lang="pt-BR" dirty="0"/>
                  <a:t> o modelo de classificação, precisamos definir uma </a:t>
                </a:r>
                <a:r>
                  <a:rPr lang="pt-BR" b="1" dirty="0"/>
                  <a:t>função matemática </a:t>
                </a:r>
                <a:r>
                  <a:rPr lang="pt-BR" dirty="0"/>
                  <a:t>que implemente as </a:t>
                </a:r>
                <a:r>
                  <a:rPr lang="pt-BR" b="1" dirty="0"/>
                  <a:t>condições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Qual função poderia ser usada?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  <a:blipFill>
                <a:blip r:embed="rId2"/>
                <a:stretch>
                  <a:fillRect l="-155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xmlns="" id="{E9BB80B0-A5E6-191D-8E5E-CF49701CABB8}"/>
              </a:ext>
            </a:extLst>
          </p:cNvPr>
          <p:cNvGrpSpPr/>
          <p:nvPr/>
        </p:nvGrpSpPr>
        <p:grpSpPr>
          <a:xfrm>
            <a:off x="753835" y="2048627"/>
            <a:ext cx="3731079" cy="392763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xmlns="" id="{439721E2-BA20-D77E-32F0-07751CA19503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xmlns="" id="{9FAC3E94-7B82-94B8-E5E8-BD17798CDB88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xmlns="" id="{5042AD3C-C929-FE26-38F9-B637B69A3A36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xmlns="" id="{CBB1631B-4833-A4F6-9105-1C830E097B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xmlns="" id="{D94CA792-387F-834D-A4FC-BE7605BD074A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xmlns="" id="{28A004EE-ED86-54F4-2156-D1E356EE7525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xmlns="" id="{58BF80C7-9C37-36F1-F5C1-A104939A438C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xmlns="" id="{7BB08527-0455-8AD0-346B-16B8DBF7E47E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2403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</p:spPr>
            <p:txBody>
              <a:bodyPr/>
              <a:lstStyle/>
              <a:p>
                <a:r>
                  <a:rPr lang="pt-BR" dirty="0"/>
                  <a:t>Podemos usar a </a:t>
                </a:r>
                <a:r>
                  <a:rPr lang="pt-BR" b="1" dirty="0"/>
                  <a:t>função degrau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i="1" dirty="0" err="1"/>
                  <a:t>heaviside</a:t>
                </a:r>
                <a:r>
                  <a:rPr lang="pt-BR" dirty="0"/>
                  <a:t> ou limiar de decisão rígido.</a:t>
                </a:r>
              </a:p>
              <a:p>
                <a:r>
                  <a:rPr lang="pt-BR" dirty="0"/>
                  <a:t>A qual é definida como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)&lt;0</m:t>
                            </m:r>
                          </m:e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Indeterminado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)=0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Entretanto, existem alguns problemas relacionados ao uso desta função.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  <a:blipFill>
                <a:blip r:embed="rId2"/>
                <a:stretch>
                  <a:fillRect l="-150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Agrupar 15">
            <a:extLst>
              <a:ext uri="{FF2B5EF4-FFF2-40B4-BE49-F238E27FC236}">
                <a16:creationId xmlns:a16="http://schemas.microsoft.com/office/drawing/2014/main" xmlns="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:a16="http://schemas.microsoft.com/office/drawing/2014/main" xmlns="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:a16="http://schemas.microsoft.com/office/drawing/2014/main" xmlns="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2895" y="1898980"/>
            <a:ext cx="7331133" cy="4959020"/>
          </a:xfrm>
        </p:spPr>
        <p:txBody>
          <a:bodyPr>
            <a:normAutofit/>
          </a:bodyPr>
          <a:lstStyle/>
          <a:p>
            <a:r>
              <a:rPr lang="pt-BR" dirty="0"/>
              <a:t>Como no caso da regressão, queremos encontrar um modelo de classificação (i.e., a </a:t>
            </a:r>
            <a:r>
              <a:rPr lang="pt-BR" b="1" dirty="0"/>
              <a:t>função hipótese de </a:t>
            </a:r>
            <a:r>
              <a:rPr lang="pt-BR" b="1" dirty="0">
                <a:solidFill>
                  <a:srgbClr val="7030A0"/>
                </a:solidFill>
              </a:rPr>
              <a:t>classificação</a:t>
            </a:r>
            <a:r>
              <a:rPr lang="pt-BR" dirty="0"/>
              <a:t>) que minimize uma dada função de erro (de classificação).</a:t>
            </a:r>
          </a:p>
          <a:p>
            <a:r>
              <a:rPr lang="pt-BR" dirty="0"/>
              <a:t>Na </a:t>
            </a:r>
            <a:r>
              <a:rPr lang="pt-BR" b="1" dirty="0"/>
              <a:t>regressão</a:t>
            </a:r>
            <a:r>
              <a:rPr lang="pt-BR" dirty="0"/>
              <a:t>, podemos fazer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(i.e., </a:t>
            </a:r>
            <a:r>
              <a:rPr lang="pt-BR" b="1" dirty="0"/>
              <a:t>equação normal</a:t>
            </a:r>
            <a:r>
              <a:rPr lang="pt-BR" dirty="0"/>
              <a:t>) tomando a derivada parcial do erro em relação aos pesos, igualando a zero e resolvendo a equação em função dos 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dirty="0"/>
              <a:t>gradiente descendente</a:t>
            </a:r>
            <a:r>
              <a:rPr lang="pt-BR" dirty="0"/>
              <a:t>, usando as derivadas parciais do erro em relação aos pesos.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375957" y="2211906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2A5D62-5663-9DE6-E2A1-F9577788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5065EFE-B8FE-5CBC-5DD0-CE251F6A3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D709016-9081-3D58-87D4-2A2F8AE3F7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Entretanto, com a </a:t>
                </a:r>
                <a:r>
                  <a:rPr lang="pt-BR" b="1" dirty="0"/>
                  <a:t>função degrau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  <a:p>
                <a:r>
                  <a:rPr lang="pt-BR" dirty="0"/>
                  <a:t>Além disto, existe um outro problema.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  <a:blipFill>
                <a:blip r:embed="rId3"/>
                <a:stretch>
                  <a:fillRect l="-1604" t="-2091" r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DB76842-BA4E-0008-49EF-13FF7D823841}"/>
              </a:ext>
            </a:extLst>
          </p:cNvPr>
          <p:cNvGrpSpPr/>
          <p:nvPr/>
        </p:nvGrpSpPr>
        <p:grpSpPr>
          <a:xfrm>
            <a:off x="506586" y="2103049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B9EACBDA-DDE2-3024-9098-AA3F6A805D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0BD67B1E-63FF-FBE8-E7CD-3F156A445685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2214E5AD-266E-78D1-4ED8-C90A5A01F5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7FB3B1C-2D7B-FB91-00B6-C8572C8292C6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9616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4628" y="1825624"/>
            <a:ext cx="665117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é a </a:t>
            </a:r>
            <a:r>
              <a:rPr lang="pt-BR" b="1" dirty="0">
                <a:solidFill>
                  <a:srgbClr val="00B050"/>
                </a:solidFill>
              </a:rPr>
              <a:t>falta de informação sobre a confiança</a:t>
            </a:r>
            <a:r>
              <a:rPr lang="pt-BR" dirty="0"/>
              <a:t> de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dirty="0"/>
              <a:t>fronteira de decisão </a:t>
            </a:r>
            <a:r>
              <a:rPr lang="pt-BR" dirty="0"/>
              <a:t>enquanto outros dois estão bem distantes.</a:t>
            </a:r>
          </a:p>
          <a:p>
            <a:r>
              <a:rPr lang="pt-BR" dirty="0"/>
              <a:t>Como o classificador com </a:t>
            </a:r>
            <a:r>
              <a:rPr lang="pt-BR" b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degrau, percebemos que o classificador faz predições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pontos azuis são classificados como pertencentes à classe negativa.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triângulos vermelhos são classificados como pertencentes à classe positiva.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xmlns="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xmlns="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a amostra.</a:t>
                </a:r>
              </a:p>
              <a:p>
                <a:r>
                  <a:rPr lang="pt-BR" dirty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próximo da fronteira está a amostra.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xmlns="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xmlns="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dirty="0">
                <a:solidFill>
                  <a:schemeClr val="accent2"/>
                </a:solidFill>
              </a:rPr>
              <a:t>pontos </a:t>
            </a:r>
            <a:r>
              <a:rPr lang="pt-BR" sz="2800" b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dirty="0">
                <a:solidFill>
                  <a:srgbClr val="7030A0"/>
                </a:solidFill>
              </a:rPr>
              <a:t>deveriam</a:t>
            </a:r>
            <a:r>
              <a:rPr lang="pt-BR" sz="2800" b="1" dirty="0">
                <a:solidFill>
                  <a:srgbClr val="00B050"/>
                </a:solidFill>
              </a:rPr>
              <a:t> ter uma </a:t>
            </a:r>
            <a:r>
              <a:rPr lang="pt-BR" b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Mas isso não é refletido na saída do classificador com função degrau.</a:t>
            </a:r>
          </a:p>
          <a:p>
            <a:pPr marL="285750" indent="-285750"/>
            <a:r>
              <a:rPr lang="pt-BR" dirty="0"/>
              <a:t>Além de poder treinar os modelos, em muitas situações, nós precisamos de predições mais graduadas, que indiquem a confiança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DA690E-6F0D-F227-D663-2E4C3624E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622813-C213-B0D9-4229-8306BBEC3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827366"/>
            <a:ext cx="11070771" cy="120326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O que podemos fazer?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1759058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20" y="1484909"/>
            <a:ext cx="5289754" cy="4894996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/>
              <a:t>Uma função que apresenta tais características é a </a:t>
            </a:r>
            <a:r>
              <a:rPr lang="pt-BR" b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também conhecida como </a:t>
            </a:r>
            <a:r>
              <a:rPr lang="pt-BR" b="1" dirty="0">
                <a:solidFill>
                  <a:srgbClr val="00B050"/>
                </a:solidFill>
              </a:rPr>
              <a:t>sigmoide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03198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739618" cy="5070144"/>
          </a:xfrm>
        </p:spPr>
        <p:txBody>
          <a:bodyPr>
            <a:normAutofit/>
          </a:bodyPr>
          <a:lstStyle/>
          <a:p>
            <a:r>
              <a:rPr lang="pt-BR" dirty="0"/>
              <a:t>Os problemas com a função degrau podem ser resolvidos com sua </a:t>
            </a:r>
            <a:r>
              <a:rPr lang="pt-BR" b="1" dirty="0">
                <a:solidFill>
                  <a:srgbClr val="00B050"/>
                </a:solidFill>
              </a:rPr>
              <a:t>suavização</a:t>
            </a:r>
            <a:r>
              <a:rPr lang="pt-BR" dirty="0"/>
              <a:t> através de uma função que seja </a:t>
            </a:r>
            <a:r>
              <a:rPr lang="pt-BR" b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 e que </a:t>
            </a:r>
            <a:r>
              <a:rPr lang="pt-BR" b="1" dirty="0">
                <a:solidFill>
                  <a:srgbClr val="00B050"/>
                </a:solidFill>
              </a:rPr>
              <a:t>assuma valores reais dentro do intervalo de 0 a 1</a:t>
            </a:r>
            <a:r>
              <a:rPr lang="pt-BR" dirty="0"/>
              <a:t>.</a:t>
            </a:r>
          </a:p>
          <a:p>
            <a:r>
              <a:rPr lang="pt-BR" dirty="0"/>
              <a:t>Uma função que apresenta tais características é a </a:t>
            </a:r>
            <a:r>
              <a:rPr lang="pt-BR" b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também conhecida como </a:t>
            </a:r>
            <a:r>
              <a:rPr lang="pt-BR" b="1" dirty="0">
                <a:solidFill>
                  <a:srgbClr val="00B050"/>
                </a:solidFill>
              </a:rPr>
              <a:t>sigmoide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97111EDA-EAFA-CA5F-4ED2-A39A480B9E4B}"/>
              </a:ext>
            </a:extLst>
          </p:cNvPr>
          <p:cNvGrpSpPr/>
          <p:nvPr/>
        </p:nvGrpSpPr>
        <p:grpSpPr>
          <a:xfrm>
            <a:off x="593141" y="2291015"/>
            <a:ext cx="4011516" cy="3717899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xmlns="" id="{19F064E0-F11A-8C45-3631-1F7B0427CAB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xmlns="" id="{23754661-C607-C366-CF33-71559EC800A7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xmlns="" id="{999474C9-1B59-1846-09FB-106F96E48A4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xmlns="" id="{779901F9-BC15-31CD-229E-355D4BB26B34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779901F9-BC15-31CD-229E-355D4BB26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xmlns="" id="{0AFB993A-49FF-1E77-114B-354BB8A1F904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0AFB993A-49FF-1E77-114B-354BB8A1F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4">
            <a:extLst>
              <a:ext uri="{FF2B5EF4-FFF2-40B4-BE49-F238E27FC236}">
                <a16:creationId xmlns:a16="http://schemas.microsoft.com/office/drawing/2014/main" xmlns="" id="{4DEC9FCC-DC31-DCEB-0983-72EDCD32A3D5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9">
            <a:extLst>
              <a:ext uri="{FF2B5EF4-FFF2-40B4-BE49-F238E27FC236}">
                <a16:creationId xmlns:a16="http://schemas.microsoft.com/office/drawing/2014/main" xmlns="" id="{07DA4A31-71A5-898C-6FFA-091EC9EF4713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0">
            <a:extLst>
              <a:ext uri="{FF2B5EF4-FFF2-40B4-BE49-F238E27FC236}">
                <a16:creationId xmlns:a16="http://schemas.microsoft.com/office/drawing/2014/main" xmlns="" id="{69A2242F-E1FC-AA0C-3212-3D3E07694B0C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01400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697891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146664-2C44-9E42-584C-7B7A625B6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84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75314" y="1825624"/>
                <a:ext cx="831668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Assim, no caso da regressão logística nós usamos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0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0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75314" y="1825624"/>
                <a:ext cx="8316685" cy="5032375"/>
              </a:xfrm>
              <a:blipFill>
                <a:blip r:embed="rId3"/>
                <a:stretch>
                  <a:fillRect l="-132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para cada exemplo de entrada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a informação dos 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 fontScale="92500" lnSpcReduction="20000"/>
          </a:bodyPr>
          <a:lstStyle/>
          <a:p>
            <a:r>
              <a:rPr lang="pt-BR" sz="3000" dirty="0"/>
              <a:t>Uma má 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/>
              <a:t>Ou seja, não há um equivalente da </a:t>
            </a:r>
            <a:r>
              <a:rPr lang="pt-BR" sz="3000" b="1" i="1" dirty="0"/>
              <a:t>equação normal</a:t>
            </a:r>
            <a:r>
              <a:rPr lang="pt-BR" sz="3000" dirty="0"/>
              <a:t>. </a:t>
            </a:r>
          </a:p>
          <a:p>
            <a:r>
              <a:rPr lang="pt-BR" sz="3000" dirty="0"/>
              <a:t>Entretanto, uma boa 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(GD)</a:t>
            </a:r>
            <a:r>
              <a:rPr lang="pt-BR" sz="3000" dirty="0"/>
              <a:t>.</a:t>
            </a:r>
          </a:p>
          <a:p>
            <a:r>
              <a:rPr lang="pt-BR" sz="3000" dirty="0"/>
              <a:t>Assim, podemos implementar todas as versões do </a:t>
            </a:r>
            <a:r>
              <a:rPr lang="pt-BR" sz="3000" b="1" i="1" dirty="0">
                <a:solidFill>
                  <a:srgbClr val="7030A0"/>
                </a:solidFill>
              </a:rPr>
              <a:t>GD</a:t>
            </a:r>
            <a:r>
              <a:rPr lang="pt-BR" sz="30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xmlns="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8660</TotalTime>
  <Words>4342</Words>
  <Application>Microsoft Office PowerPoint</Application>
  <PresentationFormat>Widescreen</PresentationFormat>
  <Paragraphs>600</Paragraphs>
  <Slides>70</Slides>
  <Notes>30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70</vt:i4>
      </vt:variant>
    </vt:vector>
  </HeadingPairs>
  <TitlesOfParts>
    <vt:vector size="79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Função hipótese de classificação</vt:lpstr>
      <vt:lpstr>Função de limiar de decisão ou de ativação</vt:lpstr>
      <vt:lpstr>Função de limiar de decisão ou de ativação</vt:lpstr>
      <vt:lpstr>Função de limiar de decisão ou de ativação</vt:lpstr>
      <vt:lpstr>Função de limiar de decisão ou de ativação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Apresentação do PowerPoint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Apresentação do PowerPoint</vt:lpstr>
      <vt:lpstr>Apresentação do PowerPoint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Apresentação do PowerPoint</vt:lpstr>
      <vt:lpstr>Apresentação do PowerPoint</vt:lpstr>
      <vt:lpstr>Apresentação do PowerPoint</vt:lpstr>
      <vt:lpstr>Matriz de confusão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1833</cp:revision>
  <dcterms:created xsi:type="dcterms:W3CDTF">2020-01-20T13:50:05Z</dcterms:created>
  <dcterms:modified xsi:type="dcterms:W3CDTF">2026-02-21T21:59:49Z</dcterms:modified>
</cp:coreProperties>
</file>