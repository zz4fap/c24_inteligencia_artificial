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48" r:id="rId28"/>
    <p:sldId id="449" r:id="rId29"/>
    <p:sldId id="450" r:id="rId30"/>
    <p:sldId id="451" r:id="rId31"/>
    <p:sldId id="452" r:id="rId32"/>
    <p:sldId id="453" r:id="rId33"/>
    <p:sldId id="454" r:id="rId34"/>
    <p:sldId id="409" r:id="rId35"/>
    <p:sldId id="407" r:id="rId36"/>
    <p:sldId id="372" r:id="rId37"/>
    <p:sldId id="410" r:id="rId38"/>
    <p:sldId id="412" r:id="rId39"/>
    <p:sldId id="414" r:id="rId40"/>
    <p:sldId id="417" r:id="rId41"/>
    <p:sldId id="455" r:id="rId42"/>
    <p:sldId id="413" r:id="rId43"/>
    <p:sldId id="418" r:id="rId44"/>
    <p:sldId id="456" r:id="rId45"/>
    <p:sldId id="457" r:id="rId46"/>
    <p:sldId id="293" r:id="rId47"/>
    <p:sldId id="306" r:id="rId48"/>
    <p:sldId id="419" r:id="rId49"/>
    <p:sldId id="438" r:id="rId50"/>
    <p:sldId id="439" r:id="rId51"/>
    <p:sldId id="377" r:id="rId52"/>
    <p:sldId id="378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Se y=1y=1y=1 → sobra −log⁡(y^)-\log(\</a:t>
            </a:r>
            <a:r>
              <a:rPr lang="es-ES" dirty="0" err="1" smtClean="0"/>
              <a:t>hat</a:t>
            </a:r>
            <a:r>
              <a:rPr lang="es-ES" dirty="0" smtClean="0"/>
              <a:t>{y})−log(y^​)</a:t>
            </a:r>
          </a:p>
          <a:p>
            <a:r>
              <a:rPr lang="es-ES" dirty="0" smtClean="0"/>
              <a:t>Se y=0y=0y=0 → sobra −log⁡(1−y^)-\log(1-\</a:t>
            </a:r>
            <a:r>
              <a:rPr lang="es-ES" dirty="0" err="1" smtClean="0"/>
              <a:t>hat</a:t>
            </a:r>
            <a:r>
              <a:rPr lang="es-ES" dirty="0" smtClean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50.png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xmlns="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xmlns="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nesse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intervalo</a:t>
                </a:r>
                <a:r>
                  <a:rPr lang="en-US" dirty="0" smtClean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Função de limiar de decisão ou de ativação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 smtClean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 smtClean="0"/>
                  <a:t> no intervalo [0, 1].</a:t>
                </a:r>
              </a:p>
              <a:p>
                <a:r>
                  <a:rPr lang="pt-BR" dirty="0" smtClean="0"/>
                  <a:t>Além disso, para que possamos treinar modelos de classificação, essa função deve ser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 smtClean="0"/>
                  <a:t> e </a:t>
                </a:r>
                <a:r>
                  <a:rPr lang="pt-BR" b="1" dirty="0" err="1" smtClean="0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 smtClean="0"/>
                  <a:t>No contexto da classificação, ela é chamada de função de limiar de decisão ou de ativação.</a:t>
                </a:r>
              </a:p>
              <a:p>
                <a:r>
                  <a:rPr lang="pt-BR" dirty="0" smtClean="0"/>
                  <a:t>Qual função podemos usar?</a:t>
                </a:r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Quanto mais </a:t>
                </a:r>
                <a:r>
                  <a:rPr lang="pt-BR" dirty="0"/>
                  <a:t>distante a amostra estiver da </a:t>
                </a:r>
                <a:r>
                  <a:rPr lang="pt-BR" dirty="0" smtClean="0"/>
                  <a:t>fronteira, maior é a probabilidade dela pertencer à classe daquela região.</a:t>
                </a:r>
                <a:endParaRPr lang="pt-B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xmlns="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no caso da regressão 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Assim, o </a:t>
                </a:r>
                <a:r>
                  <a:rPr lang="pt-BR" dirty="0"/>
                  <a:t>modelo aprende a aproximar a distribuição real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 smtClean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 smtClean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O erro </a:t>
                </a:r>
                <a:r>
                  <a:rPr lang="pt-BR" dirty="0"/>
                  <a:t>é </a:t>
                </a:r>
                <a:r>
                  <a:rPr lang="pt-BR" dirty="0" smtClean="0"/>
                  <a:t>muito alto se o classificador erra e tende a zero se acerta.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Uma má </a:t>
            </a:r>
            <a:r>
              <a:rPr lang="pt-BR" dirty="0" smtClean="0"/>
              <a:t>notícia, </a:t>
            </a:r>
            <a:r>
              <a:rPr lang="pt-BR" b="1" dirty="0" smtClean="0">
                <a:solidFill>
                  <a:srgbClr val="00B050"/>
                </a:solidFill>
              </a:rPr>
              <a:t>não </a:t>
            </a:r>
            <a:r>
              <a:rPr lang="pt-BR" b="1" dirty="0">
                <a:solidFill>
                  <a:srgbClr val="00B050"/>
                </a:solidFill>
              </a:rPr>
              <a:t>existe uma equação </a:t>
            </a:r>
            <a:r>
              <a:rPr lang="pt-BR" b="1" dirty="0" smtClean="0">
                <a:solidFill>
                  <a:srgbClr val="00B050"/>
                </a:solidFill>
              </a:rPr>
              <a:t>analítica </a:t>
            </a:r>
            <a:r>
              <a:rPr lang="pt-BR" dirty="0" smtClean="0"/>
              <a:t>que nos dá diretamente os </a:t>
            </a:r>
            <a:r>
              <a:rPr lang="pt-BR" b="1" dirty="0" smtClean="0"/>
              <a:t>pesos</a:t>
            </a:r>
            <a:r>
              <a:rPr lang="pt-BR" dirty="0" smtClean="0"/>
              <a:t> </a:t>
            </a:r>
            <a:r>
              <a:rPr lang="pt-BR" dirty="0"/>
              <a:t>que </a:t>
            </a:r>
            <a:r>
              <a:rPr lang="pt-BR" dirty="0" smtClean="0"/>
              <a:t>minimizam </a:t>
            </a:r>
            <a:r>
              <a:rPr lang="pt-BR" dirty="0"/>
              <a:t>essa </a:t>
            </a:r>
            <a:r>
              <a:rPr lang="pt-BR" b="1" dirty="0"/>
              <a:t>função de erro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/>
              <a:t>Ou seja, não há um equivalente da </a:t>
            </a:r>
            <a:r>
              <a:rPr lang="pt-BR" sz="2600" b="1" dirty="0"/>
              <a:t>equação normal</a:t>
            </a:r>
            <a:r>
              <a:rPr lang="pt-BR" sz="2600" dirty="0"/>
              <a:t>. </a:t>
            </a:r>
          </a:p>
          <a:p>
            <a:r>
              <a:rPr lang="pt-BR" dirty="0"/>
              <a:t>Entretanto, </a:t>
            </a:r>
            <a:r>
              <a:rPr lang="pt-BR" dirty="0" smtClean="0"/>
              <a:t>a boa </a:t>
            </a:r>
            <a:r>
              <a:rPr lang="pt-BR" dirty="0"/>
              <a:t>notícia é que </a:t>
            </a:r>
            <a:r>
              <a:rPr lang="pt-BR" dirty="0" smtClean="0"/>
              <a:t>por ser </a:t>
            </a:r>
            <a:r>
              <a:rPr lang="pt-BR" b="1" dirty="0" smtClean="0">
                <a:solidFill>
                  <a:srgbClr val="00B050"/>
                </a:solidFill>
              </a:rPr>
              <a:t>convexa</a:t>
            </a:r>
            <a:r>
              <a:rPr lang="pt-BR" dirty="0" smtClean="0"/>
              <a:t> </a:t>
            </a:r>
            <a:r>
              <a:rPr lang="pt-BR" dirty="0"/>
              <a:t>e </a:t>
            </a:r>
            <a:r>
              <a:rPr lang="pt-BR" b="1" dirty="0" err="1" smtClean="0">
                <a:solidFill>
                  <a:srgbClr val="00B050"/>
                </a:solidFill>
              </a:rPr>
              <a:t>diferenciável</a:t>
            </a:r>
            <a:r>
              <a:rPr lang="pt-BR" dirty="0" smtClean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</a:t>
            </a:r>
            <a:r>
              <a:rPr lang="pt-BR" b="1" dirty="0" smtClean="0">
                <a:solidFill>
                  <a:srgbClr val="7030A0"/>
                </a:solidFill>
              </a:rPr>
              <a:t>)</a:t>
            </a:r>
            <a:r>
              <a:rPr lang="pt-BR" dirty="0" smtClean="0"/>
              <a:t>.</a:t>
            </a:r>
          </a:p>
          <a:p>
            <a:r>
              <a:rPr lang="pt-BR" dirty="0" smtClean="0"/>
              <a:t>Podemos </a:t>
            </a:r>
            <a:r>
              <a:rPr lang="pt-BR" dirty="0"/>
              <a:t>implementar todas as versões do </a:t>
            </a:r>
            <a:r>
              <a:rPr lang="pt-BR" b="1" dirty="0" smtClean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Vetor gradiente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</a:t>
                </a:r>
                <a:r>
                  <a:rPr lang="pt-BR" b="1" dirty="0" smtClean="0"/>
                  <a:t>da entropia cruzada </a:t>
                </a:r>
                <a:r>
                  <a:rPr lang="pt-BR" dirty="0" smtClean="0"/>
                  <a:t>é </a:t>
                </a:r>
                <a:r>
                  <a:rPr lang="pt-BR" dirty="0"/>
                  <a:t>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</a:t>
                </a:r>
                <a:r>
                  <a:rPr lang="pt-BR" dirty="0" smtClean="0"/>
                  <a:t>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 smtClean="0"/>
                  <a:t> são vetores contendo </a:t>
                </a:r>
                <a:r>
                  <a:rPr lang="pt-BR" dirty="0"/>
                  <a:t>todos os valores esperados e </a:t>
                </a:r>
                <a:r>
                  <a:rPr lang="pt-BR" dirty="0" smtClean="0"/>
                  <a:t>preditos, </a:t>
                </a:r>
                <a:r>
                  <a:rPr lang="pt-BR" dirty="0"/>
                  <a:t>respectivamente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 anexo I apresenta os passos para se encontrar o vetor gradiente.</a:t>
                </a:r>
                <a:endParaRPr lang="pt-BR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10676368" y="4338826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174780" y="4203892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</a:t>
                </a:r>
                <a:r>
                  <a:rPr lang="pt-BR" sz="2800" dirty="0" smtClean="0"/>
                  <a:t>um </a:t>
                </a:r>
                <a:r>
                  <a:rPr lang="pt-BR" sz="2800" b="1" dirty="0"/>
                  <a:t>hiperplano</a:t>
                </a:r>
                <a:r>
                  <a:rPr lang="pt-BR" sz="2800" dirty="0"/>
                  <a:t>, mas o resultado pode ser diretamente estendido para polinômios</a:t>
                </a:r>
                <a:r>
                  <a:rPr lang="pt-BR" sz="2800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 smtClean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 smtClean="0"/>
                  <a:t> é formada pelas combinações dos atributos originais </a:t>
                </a:r>
                <a:r>
                  <a:rPr lang="pt-BR" dirty="0" smtClean="0"/>
                  <a:t>de cada </a:t>
                </a:r>
                <a:r>
                  <a:rPr lang="pt-BR" sz="2400" dirty="0" smtClean="0"/>
                  <a:t>monômio do polinômio.</a:t>
                </a:r>
                <a:endParaRPr lang="pt-BR" sz="2400" dirty="0"/>
              </a:p>
              <a:p>
                <a:r>
                  <a:rPr lang="pt-BR" dirty="0" smtClean="0"/>
                  <a:t>O </a:t>
                </a:r>
                <a:r>
                  <a:rPr lang="pt-BR" b="1" dirty="0" smtClean="0">
                    <a:solidFill>
                      <a:srgbClr val="7030A0"/>
                    </a:solidFill>
                  </a:rPr>
                  <a:t>vetor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</a:t>
                </a:r>
                <a:r>
                  <a:rPr lang="pt-BR" b="1" dirty="0"/>
                  <a:t> </a:t>
                </a:r>
                <a:r>
                  <a:rPr lang="pt-BR" dirty="0" smtClean="0"/>
                  <a:t>acima</a:t>
                </a:r>
                <a:r>
                  <a:rPr lang="pt-BR" b="1" dirty="0" smtClean="0"/>
                  <a:t> </a:t>
                </a:r>
                <a:r>
                  <a:rPr lang="pt-BR" dirty="0" smtClean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 rotWithShape="0">
                <a:blip r:embed="rId3"/>
                <a:stretch>
                  <a:fillRect l="-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6"/>
          </a:xfrm>
        </p:spPr>
        <p:txBody>
          <a:bodyPr>
            <a:normAutofit/>
          </a:bodyPr>
          <a:lstStyle/>
          <a:p>
            <a:r>
              <a:rPr lang="pt-BR" dirty="0"/>
              <a:t>D</a:t>
            </a:r>
            <a:r>
              <a:rPr lang="pt-BR" dirty="0" smtClean="0"/>
              <a:t>e </a:t>
            </a:r>
            <a:r>
              <a:rPr lang="pt-BR" dirty="0"/>
              <a:t>posse do </a:t>
            </a:r>
            <a:r>
              <a:rPr lang="pt-BR" b="1" dirty="0"/>
              <a:t>vetor gradiente</a:t>
            </a:r>
            <a:r>
              <a:rPr lang="pt-BR" dirty="0"/>
              <a:t>, podemos usá-lo com </a:t>
            </a:r>
            <a:r>
              <a:rPr lang="pt-BR" dirty="0" smtClean="0"/>
              <a:t>qualquer versão do </a:t>
            </a:r>
            <a:r>
              <a:rPr lang="pt-BR" b="1" dirty="0"/>
              <a:t>gradiente descendente</a:t>
            </a:r>
            <a:r>
              <a:rPr lang="pt-BR" dirty="0"/>
              <a:t> </a:t>
            </a:r>
            <a:r>
              <a:rPr lang="pt-BR" dirty="0" smtClean="0"/>
              <a:t>para </a:t>
            </a:r>
            <a:r>
              <a:rPr lang="pt-BR" dirty="0"/>
              <a:t>atualizar os pesos</a:t>
            </a:r>
            <a:r>
              <a:rPr lang="pt-BR" dirty="0" smtClean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=""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998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998558"/>
                <a:ext cx="7675164" cy="1189365"/>
              </a:xfrm>
              <a:prstGeom prst="rect">
                <a:avLst/>
              </a:prstGeom>
              <a:blipFill rotWithShape="0">
                <a:blip r:embed="rId2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 </a:t>
                </a:r>
                <a:r>
                  <a:rPr lang="pt-BR" dirty="0"/>
                  <a:t>como ocorre </a:t>
                </a:r>
                <a:r>
                  <a:rPr lang="pt-BR" dirty="0" smtClean="0"/>
                  <a:t>com a </a:t>
                </a:r>
                <a:r>
                  <a:rPr lang="pt-BR" b="1" dirty="0" smtClean="0"/>
                  <a:t>regressão </a:t>
                </a:r>
                <a:r>
                  <a:rPr lang="pt-BR" b="1" dirty="0"/>
                  <a:t>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</a:t>
                </a:r>
                <a:r>
                  <a:rPr lang="pt-BR" dirty="0" smtClean="0"/>
                  <a:t>à </a:t>
                </a:r>
                <a:r>
                  <a:rPr lang="pt-BR" b="1" dirty="0" err="1" smtClean="0"/>
                  <a:t>sobreajuste</a:t>
                </a:r>
                <a:r>
                  <a:rPr lang="pt-BR" dirty="0" smtClean="0"/>
                  <a:t> </a:t>
                </a:r>
                <a:r>
                  <a:rPr lang="pt-BR" dirty="0"/>
                  <a:t>e </a:t>
                </a:r>
                <a:r>
                  <a:rPr lang="pt-BR" b="1" dirty="0" err="1"/>
                  <a:t>subajuste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Qual deve ser a complexidade, no caso de polinômios, o grau, da </a:t>
                </a:r>
                <a:r>
                  <a:rPr lang="pt-BR" b="1" dirty="0" smtClean="0"/>
                  <a:t>função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 smtClean="0"/>
                  <a:t>?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 rotWithShape="0"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545916" y="4149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486441" y="4116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1816063" y="4211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5743598" y="4215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8520169" y="3905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</a:t>
            </a:r>
            <a:r>
              <a:rPr lang="pt-BR" dirty="0" smtClean="0"/>
              <a:t>grau elevado) </a:t>
            </a:r>
            <a:r>
              <a:rPr lang="pt-BR" dirty="0"/>
              <a:t>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evitamos o </a:t>
            </a:r>
            <a:r>
              <a:rPr lang="pt-BR" sz="6000" i="1" dirty="0" err="1"/>
              <a:t>subajuste</a:t>
            </a:r>
            <a:r>
              <a:rPr lang="pt-BR" sz="6000" i="1" dirty="0"/>
              <a:t> </a:t>
            </a:r>
            <a:r>
              <a:rPr lang="pt-BR" sz="6000" i="1" dirty="0" smtClean="0"/>
              <a:t>e o </a:t>
            </a:r>
            <a:r>
              <a:rPr lang="pt-BR" sz="6000" i="1" dirty="0" err="1"/>
              <a:t>sobreajuste</a:t>
            </a:r>
            <a:r>
              <a:rPr lang="pt-BR" sz="6000" i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 smtClean="0"/>
              <a:t>Podemos </a:t>
            </a:r>
            <a:r>
              <a:rPr lang="pt-BR" dirty="0"/>
              <a:t>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 smtClean="0"/>
              <a:t>como o </a:t>
            </a:r>
            <a:r>
              <a:rPr lang="pt-BR" i="1" dirty="0" smtClean="0"/>
              <a:t>k-</a:t>
            </a:r>
            <a:r>
              <a:rPr lang="pt-BR" i="1" dirty="0" err="1" smtClean="0"/>
              <a:t>fold</a:t>
            </a:r>
            <a:r>
              <a:rPr lang="pt-BR" dirty="0" smtClean="0"/>
              <a:t> para encontrar a complexidade ideal para o modelo.</a:t>
            </a:r>
            <a:endParaRPr lang="pt-BR" dirty="0"/>
          </a:p>
          <a:p>
            <a:r>
              <a:rPr lang="pt-BR" dirty="0"/>
              <a:t>Esses técnicas nos auxiliam a encontrar um </a:t>
            </a:r>
            <a:r>
              <a:rPr lang="pt-BR" dirty="0" smtClean="0"/>
              <a:t>modelo que </a:t>
            </a:r>
            <a:r>
              <a:rPr lang="pt-BR" dirty="0"/>
              <a:t>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 smtClean="0"/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Lista</a:t>
            </a:r>
            <a:r>
              <a:rPr lang="en-US" dirty="0"/>
              <a:t> </a:t>
            </a:r>
            <a:r>
              <a:rPr lang="en-US" dirty="0" smtClean="0"/>
              <a:t>#6 </a:t>
            </a:r>
            <a:r>
              <a:rPr lang="en-US" dirty="0"/>
              <a:t>- </a:t>
            </a:r>
            <a:r>
              <a:rPr lang="en-US" dirty="0" err="1" smtClean="0"/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8835</TotalTime>
  <Words>3472</Words>
  <Application>Microsoft Office PowerPoint</Application>
  <PresentationFormat>Widescreen</PresentationFormat>
  <Paragraphs>493</Paragraphs>
  <Slides>52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Apresentação do PowerPoint</vt:lpstr>
      <vt:lpstr>Regressão logística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1861</cp:revision>
  <dcterms:created xsi:type="dcterms:W3CDTF">2020-01-20T13:50:05Z</dcterms:created>
  <dcterms:modified xsi:type="dcterms:W3CDTF">2026-02-22T18:02:41Z</dcterms:modified>
</cp:coreProperties>
</file>