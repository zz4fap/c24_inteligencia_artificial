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57" r:id="rId14"/>
    <p:sldId id="344" r:id="rId15"/>
    <p:sldId id="360" r:id="rId16"/>
    <p:sldId id="345" r:id="rId17"/>
    <p:sldId id="362" r:id="rId18"/>
    <p:sldId id="363" r:id="rId19"/>
    <p:sldId id="364" r:id="rId20"/>
    <p:sldId id="356" r:id="rId21"/>
    <p:sldId id="352" r:id="rId22"/>
    <p:sldId id="293" r:id="rId23"/>
    <p:sldId id="306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5393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56314" y="1825624"/>
                <a:ext cx="784043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</a:t>
                </a:r>
                <a:r>
                  <a:rPr lang="pt-BR" b="1" dirty="0"/>
                  <a:t>classificação binária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/>
                          </m:ctrlPr>
                        </m:sSubPr>
                        <m:e>
                          <m:r>
                            <a:rPr lang="pt-BR" sz="2000"/>
                            <m:t>𝐶</m:t>
                          </m:r>
                        </m:e>
                        <m:sub>
                          <m:r>
                            <a:rPr lang="pt-BR" sz="2000"/>
                            <m:t>𝑞</m:t>
                          </m:r>
                        </m:sub>
                      </m:sSub>
                      <m:r>
                        <a:rPr lang="pt-BR" sz="2000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/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/>
                              </m:ctrlPr>
                            </m:eqArrPr>
                            <m:e>
                              <m:r>
                                <a:rPr lang="pt-BR" sz="2000"/>
                                <m:t>𝑞</m:t>
                              </m:r>
                              <m:r>
                                <a:rPr lang="pt-BR" sz="2000"/>
                                <m:t>=1,                    </m:t>
                              </m:r>
                              <m: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sz="2000"/>
                                <m:t>𝑔</m:t>
                              </m:r>
                              <m:d>
                                <m:dPr>
                                  <m:ctrlPr>
                                    <a:rPr lang="pt-BR" sz="2000"/>
                                  </m:ctrlPr>
                                </m:dPr>
                                <m:e>
                                  <m:r>
                                    <a:rPr lang="pt-BR" sz="2000"/>
                                    <m:t>𝒙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pt-BR" sz="2000"/>
                                <m:t>&lt;0 (</m:t>
                              </m:r>
                              <m:r>
                                <m:rPr>
                                  <m:nor/>
                                </m:rPr>
                                <a:rPr lang="pt-BR" sz="2000"/>
                                <m:t>Amostra</m:t>
                              </m:r>
                              <m:r>
                                <m:rPr>
                                  <m:nor/>
                                </m:rPr>
                                <a:rPr lang="pt-BR" sz="200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/>
                                <m:t>acima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da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fun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o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)</m:t>
                              </m:r>
                            </m:e>
                            <m:e>
                              <m: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000"/>
                                <m:t>𝑞</m:t>
                              </m:r>
                              <m:r>
                                <a:rPr lang="pt-BR" sz="2000"/>
                                <m:t>=2,                     </m:t>
                              </m:r>
                              <m: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sz="2000"/>
                                <m:t>𝑔</m:t>
                              </m:r>
                              <m:d>
                                <m:dPr>
                                  <m:ctrlPr>
                                    <a:rPr lang="pt-BR" sz="2000"/>
                                  </m:ctrlPr>
                                </m:dPr>
                                <m:e>
                                  <m:r>
                                    <a:rPr lang="pt-BR" sz="2000"/>
                                    <m:t>𝒙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pt-BR" sz="2000"/>
                                <m:t>&gt;0 (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Amostra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abaixo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da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fun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o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)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pt-BR" sz="200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ndetermina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o</m:t>
                              </m:r>
                              <m:r>
                                <a:rPr lang="pt-BR" sz="2000"/>
                                <m:t>, </m:t>
                              </m:r>
                              <m:r>
                                <a:rPr lang="pt-BR" sz="20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000"/>
                                <m:t>𝑔</m:t>
                              </m:r>
                              <m:d>
                                <m:dPr>
                                  <m:ctrlPr>
                                    <a:rPr lang="pt-BR" sz="2000"/>
                                  </m:ctrlPr>
                                </m:dPr>
                                <m:e>
                                  <m:r>
                                    <a:rPr lang="pt-BR" sz="2000"/>
                                    <m:t>𝒙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  <m:r>
                                <a:rPr lang="pt-BR" sz="2000"/>
                                <m:t>=0 (</m:t>
                              </m:r>
                              <m:r>
                                <m:rPr>
                                  <m:nor/>
                                </m:rPr>
                                <a:rPr lang="pt-BR" sz="2000"/>
                                <m:t>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mostra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sobre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a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fun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o</m:t>
                              </m:r>
                              <m:r>
                                <m:rPr>
                                  <m:nor/>
                                </m:rPr>
                                <a:rPr lang="pt-BR" sz="2000" b="0" i="0" dirty="0" smtClean="0"/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pt-BR" sz="2000" dirty="0"/>
                                <m:t> </m:t>
                              </m:r>
                            </m:e>
                          </m:eqArr>
                        </m:e>
                      </m:d>
                      <m:r>
                        <a:rPr lang="pt-BR" sz="20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maior número de exemplos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a mais frequente.</a:t>
                </a:r>
                <a:r>
                  <a:rPr lang="pt-BR" sz="2400" dirty="0"/>
                  <a:t> 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56314" y="1825624"/>
                <a:ext cx="7840438" cy="5032375"/>
              </a:xfrm>
              <a:blipFill>
                <a:blip r:embed="rId3"/>
                <a:stretch>
                  <a:fillRect l="-1400" t="-1937" r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922562" y="2625467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FDC7F-B899-B1A6-F69A-351822C6E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C298-3D62-58C4-3B44-8F0C5C3E0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Da mesma forma que com </a:t>
            </a:r>
            <a:r>
              <a:rPr lang="pt-BR"/>
              <a:t>a regressão, usando </a:t>
            </a:r>
            <a:r>
              <a:rPr lang="pt-BR" dirty="0"/>
              <a:t>o gradiente descendente e validação cruzada, 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, por exemplo.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8207</TotalTime>
  <Words>1925</Words>
  <Application>Microsoft Office PowerPoint</Application>
  <PresentationFormat>Widescreen</PresentationFormat>
  <Paragraphs>198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PowerPoint Presentation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Matriz de confusão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1771</cp:revision>
  <dcterms:created xsi:type="dcterms:W3CDTF">2020-01-20T13:50:05Z</dcterms:created>
  <dcterms:modified xsi:type="dcterms:W3CDTF">2026-02-19T19:05:20Z</dcterms:modified>
</cp:coreProperties>
</file>