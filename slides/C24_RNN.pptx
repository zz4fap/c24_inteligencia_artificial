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6"/>
  </p:notesMasterIdLst>
  <p:handoutMasterIdLst>
    <p:handoutMasterId r:id="rId87"/>
  </p:handoutMasterIdLst>
  <p:sldIdLst>
    <p:sldId id="256" r:id="rId2"/>
    <p:sldId id="315" r:id="rId3"/>
    <p:sldId id="308" r:id="rId4"/>
    <p:sldId id="316" r:id="rId5"/>
    <p:sldId id="325" r:id="rId6"/>
    <p:sldId id="605" r:id="rId7"/>
    <p:sldId id="317" r:id="rId8"/>
    <p:sldId id="326" r:id="rId9"/>
    <p:sldId id="606" r:id="rId10"/>
    <p:sldId id="328" r:id="rId11"/>
    <p:sldId id="329" r:id="rId12"/>
    <p:sldId id="607" r:id="rId13"/>
    <p:sldId id="620" r:id="rId14"/>
    <p:sldId id="334" r:id="rId15"/>
    <p:sldId id="622" r:id="rId16"/>
    <p:sldId id="332" r:id="rId17"/>
    <p:sldId id="609" r:id="rId18"/>
    <p:sldId id="610" r:id="rId19"/>
    <p:sldId id="618" r:id="rId20"/>
    <p:sldId id="333" r:id="rId21"/>
    <p:sldId id="336" r:id="rId22"/>
    <p:sldId id="331" r:id="rId23"/>
    <p:sldId id="338" r:id="rId24"/>
    <p:sldId id="611" r:id="rId25"/>
    <p:sldId id="341" r:id="rId26"/>
    <p:sldId id="612" r:id="rId27"/>
    <p:sldId id="342" r:id="rId28"/>
    <p:sldId id="613" r:id="rId29"/>
    <p:sldId id="343" r:id="rId30"/>
    <p:sldId id="361" r:id="rId31"/>
    <p:sldId id="344" r:id="rId32"/>
    <p:sldId id="345" r:id="rId33"/>
    <p:sldId id="601" r:id="rId34"/>
    <p:sldId id="346" r:id="rId35"/>
    <p:sldId id="347" r:id="rId36"/>
    <p:sldId id="349" r:id="rId37"/>
    <p:sldId id="351" r:id="rId38"/>
    <p:sldId id="352" r:id="rId39"/>
    <p:sldId id="355" r:id="rId40"/>
    <p:sldId id="372" r:id="rId41"/>
    <p:sldId id="616" r:id="rId42"/>
    <p:sldId id="374" r:id="rId43"/>
    <p:sldId id="376" r:id="rId44"/>
    <p:sldId id="614" r:id="rId45"/>
    <p:sldId id="356" r:id="rId46"/>
    <p:sldId id="358" r:id="rId47"/>
    <p:sldId id="362" r:id="rId48"/>
    <p:sldId id="591" r:id="rId49"/>
    <p:sldId id="365" r:id="rId50"/>
    <p:sldId id="366" r:id="rId51"/>
    <p:sldId id="367" r:id="rId52"/>
    <p:sldId id="368" r:id="rId53"/>
    <p:sldId id="371" r:id="rId54"/>
    <p:sldId id="603" r:id="rId55"/>
    <p:sldId id="381" r:id="rId56"/>
    <p:sldId id="377" r:id="rId57"/>
    <p:sldId id="594" r:id="rId58"/>
    <p:sldId id="595" r:id="rId59"/>
    <p:sldId id="596" r:id="rId60"/>
    <p:sldId id="597" r:id="rId61"/>
    <p:sldId id="598" r:id="rId62"/>
    <p:sldId id="599" r:id="rId63"/>
    <p:sldId id="600" r:id="rId64"/>
    <p:sldId id="588" r:id="rId65"/>
    <p:sldId id="589" r:id="rId66"/>
    <p:sldId id="293" r:id="rId67"/>
    <p:sldId id="306" r:id="rId68"/>
    <p:sldId id="335" r:id="rId69"/>
    <p:sldId id="590" r:id="rId70"/>
    <p:sldId id="608" r:id="rId71"/>
    <p:sldId id="330" r:id="rId72"/>
    <p:sldId id="340" r:id="rId73"/>
    <p:sldId id="348" r:id="rId74"/>
    <p:sldId id="350" r:id="rId75"/>
    <p:sldId id="353" r:id="rId76"/>
    <p:sldId id="354" r:id="rId77"/>
    <p:sldId id="373" r:id="rId78"/>
    <p:sldId id="357" r:id="rId79"/>
    <p:sldId id="359" r:id="rId80"/>
    <p:sldId id="592" r:id="rId81"/>
    <p:sldId id="363" r:id="rId82"/>
    <p:sldId id="364" r:id="rId83"/>
    <p:sldId id="369" r:id="rId84"/>
    <p:sldId id="370" r:id="rId85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91985" autoAdjust="0"/>
  </p:normalViewPr>
  <p:slideViewPr>
    <p:cSldViewPr snapToGrid="0">
      <p:cViewPr varScale="1">
        <p:scale>
          <a:sx n="102" d="100"/>
          <a:sy n="102" d="100"/>
        </p:scale>
        <p:origin x="1176" y="9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-54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heme" Target="theme/theme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presProps" Target="presProps.xml"/><Relationship Id="rId9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microsoft.com/office/2016/11/relationships/changesInfo" Target="changesInfos/changesInfo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handoutMaster" Target="handoutMasters/handout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12/05/2026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12/05/2026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8785D-4777-F14B-69C3-B6BAFCD38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DDF803-A9A3-9633-2028-623E4F4F6C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8DD547-B2C7-7112-A7DE-ADDBBB01F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49C1D4-72A0-501C-3168-8B2BFC61F9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07777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8C83C-E5C2-59A6-3FC8-4E2D171F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1688C-1D87-2F5A-4988-70044477EE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00B931-26FB-6145-DA32-A111606D0B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02DE62-EF02-CB68-14EE-B0761BA33C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09294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FFBCC-42BA-B539-3F67-3279DB213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31CD9-A853-64E7-A5E5-D3ECC95EE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C67AC3-547A-D3B7-E0B8-941A9C4502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F2FE16-CDFB-CD86-2334-D4869C4266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9551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9F5C7-5805-714A-EEAF-1B426C0B7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6AF7C2-0C10-C2A5-74DF-5E146878E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F328DC-EA99-659D-C499-951EB30A4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342C4F-189E-6908-E236-D10BBFF53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5336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ADFEA-E95A-172D-702A-934274076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C315E-90E4-B26B-DD23-4038DAFE15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DD3B6A-D9DA-B9E1-FF00-029F9EB2C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5A26C4-FEAF-EF41-9345-35B39655A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2653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9DFDB-891A-E1E1-B52D-C6AEE82A0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A31C3-41B0-5F66-EB31-75D513FCF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DE66F0-452A-52F2-65BD-1FF17CCD7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B5623-27E3-33B1-40FA-9BBE163816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54134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709CC-EB52-3D3B-C97B-A4100429D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970236-CFE9-6513-855E-E0F06E6065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C7DE70-17BD-8B6B-2FC7-2B8628B0FF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20820-D23F-935D-8BEE-E1A04620EA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67178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𝑡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4</m:t>
                    </m:r>
                  </m:oMath>
                </a14:m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𝑡=4</a:t>
                </a:r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ℎ_4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ℎ_3</a:t>
                </a:r>
                <a:r>
                  <a:rPr lang="ar-AE" dirty="0"/>
                  <a:t>, 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ℎ_2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ℎ_1</a:t>
                </a:r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928084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https://medium.com/@surajprakash612/recurrent-neural-networks-rnns-the-engine-for-sequential-data-fc1d552ebfc1</a:t>
            </a:r>
          </a:p>
          <a:p>
            <a:r>
              <a:rPr lang="pt-BR" dirty="0"/>
              <a:t>[2] https://d2l.ai/chapter_recurrent-neural-networks/bptt.html</a:t>
            </a:r>
          </a:p>
          <a:p>
            <a:r>
              <a:rPr lang="pt-BR" dirty="0"/>
              <a:t>[3]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99D2F-876E-BB1A-961B-A09112115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8F1673-F1CD-2EC3-16A4-998A51A1E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EBEC6C-FBC9-4C08-4997-2DF40721D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</a:p>
          <a:p>
            <a:r>
              <a:rPr lang="pt-BR" dirty="0"/>
              <a:t>[2]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DD59FC-4009-0F3A-348B-B8D4863BDC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03574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Porque cada estado carrega um pouco de informação de cada entrada anterior.</a:t>
            </a:r>
          </a:p>
          <a:p>
            <a:endParaRPr lang="pt-BR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memória acumulada no estado oculto atual é suficiente para representar o passado distante, evitando a necessidade matemática de voltar até o primeiro passo da sequência para calcular o gradiente.</a:t>
            </a:r>
            <a:endParaRPr lang="pt-BR" dirty="0"/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56F62-4748-BDBD-8E9B-797882C58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2DC2D-12C6-EEBA-90B7-40B867D94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limLoc m:val="subSup"/>
                          <m:grow m:val="on"/>
                          <m:supHide m:val="on"/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∏130_𝑘▒(∂ℎ_𝑘)/(∂ℎ_(𝑘−1) )</a:t>
                </a:r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0EFD99-EFF4-77CF-2316-515A12848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25485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69864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Procurando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Dory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396832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219282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789552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240E1-B284-11DC-DF84-9C55257C5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6BFCF8-5C7F-EDC5-7B8C-6F5469516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F91DB64-6563-C7F5-B8B4-E9E21B36C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5192F11-8162-11BC-1C3D-C6222C1CA4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185046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95676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6E6D1-C5A9-5E02-CF49-31B3C4C63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536EFD-EBEE-4772-D65A-6AB582407E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7AC9C5-F488-A6D7-4F15-65AEE652BA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7E4DB-58B1-DD85-186B-2CF37F5738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883710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07427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58806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21517-1760-10C5-9ACD-3D4AD737C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98B198-C479-EA3D-55BA-9D6716698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F676CF-1DC3-F6BB-6166-82AE18D62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642C76-6177-C1C7-E8A0-9A1EAA8D0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53107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79292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69682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70727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reinicialização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435495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594373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D3213-0C35-07AC-78F8-52C6D5CDA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EE4CB0-4107-1059-1A28-15E957C15E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6654DA-65BA-C1F1-6DD3-9F046560DB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4336C-1795-AE8D-9FED-22ABF296F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885035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374224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https://colab.research.google.com/github/zz4fap/c24_inteligencia_artificial/blob/master/notebooks/rnn.ipynb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213060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355876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768815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5BA58-4E58-75EA-7BEC-ED2E6436B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3AD002-AA40-E355-B02F-572AE6190D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0F3552-4534-C924-31C6-211591DD81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906D9-35CD-7BBD-9B83-9AF5394718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601780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8EBD2-AA05-D187-F34B-ABF6C940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41C393-F2DD-B5B3-8124-2A3017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BF964D-0563-00C6-DDFF-D33E4F0D3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9EF4F-E76D-C638-D820-CC9A1EF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5313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971963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45150-E3A0-4AA8-1B82-4EB9CA0E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3E8584-A895-574E-5864-7A79AC884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0F3F9-B45E-5A1E-7FC6-0155077F7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CD3A3-7795-BD62-EC53-236C1B172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61072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3BFA3-59AF-04F9-0576-93E8CE77B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AC571C-6EE6-6F3D-F881-BE06D868B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E6B7E9-D7F9-10C6-4778-8BEC26413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BE00AF-4D89-539C-EE0E-6F52B8BD5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145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12/05/2026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Relationship Id="rId4" Type="http://schemas.openxmlformats.org/officeDocument/2006/relationships/image" Target="../media/image29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1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1.png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49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nn.ipynb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45.jpeg"/><Relationship Id="rId4" Type="http://schemas.openxmlformats.org/officeDocument/2006/relationships/image" Target="../media/image44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z4fap/c24_inteligencia_artificial/blob/main/listas/Lista%2011%20-%20RNN.pdf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7.png"/><Relationship Id="rId18" Type="http://schemas.openxmlformats.org/officeDocument/2006/relationships/image" Target="../media/image82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12" Type="http://schemas.openxmlformats.org/officeDocument/2006/relationships/image" Target="../media/image76.png"/><Relationship Id="rId17" Type="http://schemas.openxmlformats.org/officeDocument/2006/relationships/image" Target="../media/image81.png"/><Relationship Id="rId2" Type="http://schemas.openxmlformats.org/officeDocument/2006/relationships/image" Target="../media/image65.png"/><Relationship Id="rId16" Type="http://schemas.openxmlformats.org/officeDocument/2006/relationships/image" Target="../media/image80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5.png"/><Relationship Id="rId5" Type="http://schemas.openxmlformats.org/officeDocument/2006/relationships/image" Target="../media/image68.png"/><Relationship Id="rId15" Type="http://schemas.openxmlformats.org/officeDocument/2006/relationships/image" Target="../media/image79.png"/><Relationship Id="rId10" Type="http://schemas.openxmlformats.org/officeDocument/2006/relationships/image" Target="../media/image73.png"/><Relationship Id="rId19" Type="http://schemas.openxmlformats.org/officeDocument/2006/relationships/image" Target="../media/image8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Relationship Id="rId14" Type="http://schemas.openxmlformats.org/officeDocument/2006/relationships/image" Target="../media/image78.png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64.png"/><Relationship Id="rId18" Type="http://schemas.openxmlformats.org/officeDocument/2006/relationships/image" Target="../media/image420.png"/><Relationship Id="rId26" Type="http://schemas.openxmlformats.org/officeDocument/2006/relationships/image" Target="../media/image490.png"/><Relationship Id="rId3" Type="http://schemas.openxmlformats.org/officeDocument/2006/relationships/image" Target="../media/image280.png"/><Relationship Id="rId21" Type="http://schemas.openxmlformats.org/officeDocument/2006/relationships/image" Target="../media/image86.png"/><Relationship Id="rId7" Type="http://schemas.openxmlformats.org/officeDocument/2006/relationships/image" Target="../media/image320.png"/><Relationship Id="rId12" Type="http://schemas.openxmlformats.org/officeDocument/2006/relationships/image" Target="../media/image370.png"/><Relationship Id="rId17" Type="http://schemas.openxmlformats.org/officeDocument/2006/relationships/image" Target="../media/image85.png"/><Relationship Id="rId25" Type="http://schemas.openxmlformats.org/officeDocument/2006/relationships/image" Target="../media/image480.png"/><Relationship Id="rId2" Type="http://schemas.openxmlformats.org/officeDocument/2006/relationships/image" Target="../media/image270.png"/><Relationship Id="rId16" Type="http://schemas.openxmlformats.org/officeDocument/2006/relationships/image" Target="../media/image400.png"/><Relationship Id="rId20" Type="http://schemas.openxmlformats.org/officeDocument/2006/relationships/image" Target="../media/image440.png"/><Relationship Id="rId29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0.png"/><Relationship Id="rId24" Type="http://schemas.openxmlformats.org/officeDocument/2006/relationships/image" Target="../media/image470.png"/><Relationship Id="rId5" Type="http://schemas.openxmlformats.org/officeDocument/2006/relationships/image" Target="../media/image300.png"/><Relationship Id="rId15" Type="http://schemas.openxmlformats.org/officeDocument/2006/relationships/image" Target="../media/image390.png"/><Relationship Id="rId23" Type="http://schemas.openxmlformats.org/officeDocument/2006/relationships/image" Target="../media/image460.png"/><Relationship Id="rId28" Type="http://schemas.openxmlformats.org/officeDocument/2006/relationships/image" Target="../media/image510.png"/><Relationship Id="rId10" Type="http://schemas.openxmlformats.org/officeDocument/2006/relationships/image" Target="../media/image350.png"/><Relationship Id="rId19" Type="http://schemas.openxmlformats.org/officeDocument/2006/relationships/image" Target="../media/image430.png"/><Relationship Id="rId4" Type="http://schemas.openxmlformats.org/officeDocument/2006/relationships/image" Target="../media/image290.png"/><Relationship Id="rId9" Type="http://schemas.openxmlformats.org/officeDocument/2006/relationships/image" Target="../media/image63.png"/><Relationship Id="rId14" Type="http://schemas.openxmlformats.org/officeDocument/2006/relationships/image" Target="../media/image380.png"/><Relationship Id="rId22" Type="http://schemas.openxmlformats.org/officeDocument/2006/relationships/image" Target="../media/image450.png"/><Relationship Id="rId27" Type="http://schemas.openxmlformats.org/officeDocument/2006/relationships/image" Target="../media/image500.png"/><Relationship Id="rId30" Type="http://schemas.openxmlformats.org/officeDocument/2006/relationships/image" Target="../media/image530.png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3" Type="http://schemas.openxmlformats.org/officeDocument/2006/relationships/image" Target="../media/image86.png"/><Relationship Id="rId18" Type="http://schemas.openxmlformats.org/officeDocument/2006/relationships/image" Target="../media/image490.png"/><Relationship Id="rId3" Type="http://schemas.openxmlformats.org/officeDocument/2006/relationships/image" Target="../media/image360.png"/><Relationship Id="rId21" Type="http://schemas.openxmlformats.org/officeDocument/2006/relationships/image" Target="../media/image520.png"/><Relationship Id="rId7" Type="http://schemas.openxmlformats.org/officeDocument/2006/relationships/image" Target="../media/image390.png"/><Relationship Id="rId12" Type="http://schemas.openxmlformats.org/officeDocument/2006/relationships/image" Target="../media/image440.png"/><Relationship Id="rId17" Type="http://schemas.openxmlformats.org/officeDocument/2006/relationships/image" Target="../media/image480.png"/><Relationship Id="rId2" Type="http://schemas.openxmlformats.org/officeDocument/2006/relationships/image" Target="../media/image350.png"/><Relationship Id="rId16" Type="http://schemas.openxmlformats.org/officeDocument/2006/relationships/image" Target="../media/image470.png"/><Relationship Id="rId20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430.png"/><Relationship Id="rId5" Type="http://schemas.openxmlformats.org/officeDocument/2006/relationships/image" Target="../media/image64.png"/><Relationship Id="rId15" Type="http://schemas.openxmlformats.org/officeDocument/2006/relationships/image" Target="../media/image460.png"/><Relationship Id="rId10" Type="http://schemas.openxmlformats.org/officeDocument/2006/relationships/image" Target="../media/image420.png"/><Relationship Id="rId19" Type="http://schemas.openxmlformats.org/officeDocument/2006/relationships/image" Target="../media/image500.png"/><Relationship Id="rId4" Type="http://schemas.openxmlformats.org/officeDocument/2006/relationships/image" Target="../media/image370.png"/><Relationship Id="rId9" Type="http://schemas.openxmlformats.org/officeDocument/2006/relationships/image" Target="../media/image85.png"/><Relationship Id="rId14" Type="http://schemas.openxmlformats.org/officeDocument/2006/relationships/image" Target="../media/image450.png"/><Relationship Id="rId22" Type="http://schemas.openxmlformats.org/officeDocument/2006/relationships/image" Target="../media/image530.png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5" Type="http://schemas.openxmlformats.org/officeDocument/2006/relationships/image" Target="../media/image770.png"/><Relationship Id="rId4" Type="http://schemas.openxmlformats.org/officeDocument/2006/relationships/image" Target="../media/image760.png"/><Relationship Id="rId9" Type="http://schemas.openxmlformats.org/officeDocument/2006/relationships/image" Target="../media/image811.png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12" Type="http://schemas.openxmlformats.org/officeDocument/2006/relationships/image" Target="../media/image87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11" Type="http://schemas.openxmlformats.org/officeDocument/2006/relationships/image" Target="../media/image860.png"/><Relationship Id="rId5" Type="http://schemas.openxmlformats.org/officeDocument/2006/relationships/image" Target="../media/image831.png"/><Relationship Id="rId10" Type="http://schemas.openxmlformats.org/officeDocument/2006/relationships/image" Target="../media/image811.png"/><Relationship Id="rId4" Type="http://schemas.openxmlformats.org/officeDocument/2006/relationships/image" Target="../media/image821.png"/><Relationship Id="rId9" Type="http://schemas.openxmlformats.org/officeDocument/2006/relationships/image" Target="../media/image850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7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1.png"/><Relationship Id="rId3" Type="http://schemas.openxmlformats.org/officeDocument/2006/relationships/image" Target="../media/image710.png"/><Relationship Id="rId7" Type="http://schemas.openxmlformats.org/officeDocument/2006/relationships/image" Target="../media/image750.png"/><Relationship Id="rId12" Type="http://schemas.openxmlformats.org/officeDocument/2006/relationships/image" Target="../media/image9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1.png"/><Relationship Id="rId11" Type="http://schemas.openxmlformats.org/officeDocument/2006/relationships/image" Target="../media/image95.png"/><Relationship Id="rId5" Type="http://schemas.openxmlformats.org/officeDocument/2006/relationships/image" Target="../media/image730.png"/><Relationship Id="rId10" Type="http://schemas.openxmlformats.org/officeDocument/2006/relationships/image" Target="../media/image941.png"/><Relationship Id="rId4" Type="http://schemas.openxmlformats.org/officeDocument/2006/relationships/image" Target="../media/image720.png"/><Relationship Id="rId9" Type="http://schemas.openxmlformats.org/officeDocument/2006/relationships/image" Target="../media/image932.png"/></Relationships>
</file>

<file path=ppt/slides/_rels/slide7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openxmlformats.org/officeDocument/2006/relationships/image" Target="../media/image810.png"/><Relationship Id="rId7" Type="http://schemas.openxmlformats.org/officeDocument/2006/relationships/image" Target="../media/image9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101.png"/><Relationship Id="rId5" Type="http://schemas.openxmlformats.org/officeDocument/2006/relationships/image" Target="../media/image830.png"/><Relationship Id="rId10" Type="http://schemas.openxmlformats.org/officeDocument/2006/relationships/image" Target="../media/image100.png"/><Relationship Id="rId4" Type="http://schemas.openxmlformats.org/officeDocument/2006/relationships/image" Target="../media/image820.png"/><Relationship Id="rId9" Type="http://schemas.openxmlformats.org/officeDocument/2006/relationships/image" Target="../media/image99.png"/></Relationships>
</file>

<file path=ppt/slides/_rels/slide7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0.png"/><Relationship Id="rId13" Type="http://schemas.openxmlformats.org/officeDocument/2006/relationships/image" Target="../media/image104.png"/><Relationship Id="rId18" Type="http://schemas.openxmlformats.org/officeDocument/2006/relationships/image" Target="../media/image109.png"/><Relationship Id="rId7" Type="http://schemas.openxmlformats.org/officeDocument/2006/relationships/image" Target="../media/image931.png"/><Relationship Id="rId12" Type="http://schemas.openxmlformats.org/officeDocument/2006/relationships/image" Target="../media/image103.png"/><Relationship Id="rId17" Type="http://schemas.openxmlformats.org/officeDocument/2006/relationships/image" Target="../media/image108.png"/><Relationship Id="rId2" Type="http://schemas.openxmlformats.org/officeDocument/2006/relationships/notesSlide" Target="../notesSlides/notesSlide43.xml"/><Relationship Id="rId16" Type="http://schemas.openxmlformats.org/officeDocument/2006/relationships/image" Target="../media/image107.png"/><Relationship Id="rId20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0.png"/><Relationship Id="rId11" Type="http://schemas.openxmlformats.org/officeDocument/2006/relationships/image" Target="../media/image102.png"/><Relationship Id="rId5" Type="http://schemas.openxmlformats.org/officeDocument/2006/relationships/image" Target="../media/image910.png"/><Relationship Id="rId15" Type="http://schemas.openxmlformats.org/officeDocument/2006/relationships/image" Target="../media/image106.png"/><Relationship Id="rId10" Type="http://schemas.openxmlformats.org/officeDocument/2006/relationships/image" Target="../media/image830.png"/><Relationship Id="rId19" Type="http://schemas.openxmlformats.org/officeDocument/2006/relationships/image" Target="../media/image110.png"/><Relationship Id="rId4" Type="http://schemas.openxmlformats.org/officeDocument/2006/relationships/image" Target="../media/image900.png"/><Relationship Id="rId9" Type="http://schemas.openxmlformats.org/officeDocument/2006/relationships/image" Target="../media/image820.png"/><Relationship Id="rId14" Type="http://schemas.openxmlformats.org/officeDocument/2006/relationships/image" Target="../media/image105.png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720.png"/><Relationship Id="rId7" Type="http://schemas.openxmlformats.org/officeDocument/2006/relationships/image" Target="../media/image710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730.png"/><Relationship Id="rId9" Type="http://schemas.openxmlformats.org/officeDocument/2006/relationships/image" Target="../media/image112.png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17.png"/><Relationship Id="rId3" Type="http://schemas.openxmlformats.org/officeDocument/2006/relationships/image" Target="../media/image114.png"/><Relationship Id="rId7" Type="http://schemas.openxmlformats.org/officeDocument/2006/relationships/image" Target="../media/image116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115.png"/><Relationship Id="rId9" Type="http://schemas.openxmlformats.org/officeDocument/2006/relationships/image" Target="../media/image112.png"/><Relationship Id="rId14" Type="http://schemas.openxmlformats.org/officeDocument/2006/relationships/image" Target="../media/image118.png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19.png"/><Relationship Id="rId3" Type="http://schemas.openxmlformats.org/officeDocument/2006/relationships/image" Target="../media/image103.png"/><Relationship Id="rId7" Type="http://schemas.openxmlformats.org/officeDocument/2006/relationships/image" Target="../media/image710.png"/><Relationship Id="rId12" Type="http://schemas.openxmlformats.org/officeDocument/2006/relationships/image" Target="../media/image72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image" Target="../media/image930.png"/><Relationship Id="rId5" Type="http://schemas.openxmlformats.org/officeDocument/2006/relationships/image" Target="../media/image730.png"/><Relationship Id="rId10" Type="http://schemas.openxmlformats.org/officeDocument/2006/relationships/image" Target="../media/image107.png"/><Relationship Id="rId4" Type="http://schemas.openxmlformats.org/officeDocument/2006/relationships/image" Target="../media/image106.png"/><Relationship Id="rId9" Type="http://schemas.openxmlformats.org/officeDocument/2006/relationships/image" Target="../media/image112.png"/><Relationship Id="rId14" Type="http://schemas.openxmlformats.org/officeDocument/2006/relationships/image" Target="../media/image120.png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940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930.png"/><Relationship Id="rId15" Type="http://schemas.openxmlformats.org/officeDocument/2006/relationships/image" Target="../media/image127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envolvem </a:t>
            </a:r>
            <a:r>
              <a:rPr lang="pt-BR" altLang="pt-BR" b="1" dirty="0">
                <a:solidFill>
                  <a:schemeClr val="accent2"/>
                </a:solidFill>
              </a:rPr>
              <a:t>dados que são 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(e.g., EGC, EEG, preço de ações, desvanecimento de um canal)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</a:t>
            </a:r>
            <a:r>
              <a:rPr lang="pt-BR" altLang="pt-BR" b="1" dirty="0">
                <a:solidFill>
                  <a:srgbClr val="7030A0"/>
                </a:solidFill>
              </a:rPr>
              <a:t>modelar dependências temporais!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Em outras palavras, existe</a:t>
            </a:r>
            <a:r>
              <a:rPr lang="pt-BR" altLang="pt-BR" b="1" dirty="0"/>
              <a:t> </a:t>
            </a:r>
            <a:r>
              <a:rPr lang="pt-BR" altLang="pt-BR" b="1" dirty="0">
                <a:solidFill>
                  <a:schemeClr val="accent2"/>
                </a:solidFill>
              </a:rPr>
              <a:t>correlação temporal entre as amostras</a:t>
            </a:r>
            <a:r>
              <a:rPr lang="pt-BR" altLang="pt-BR" b="1" dirty="0"/>
              <a:t>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sz="4000" b="1" dirty="0"/>
              <a:t>Cada amostra carrega informação das anteriores.</a:t>
            </a:r>
            <a:endParaRPr lang="pt-BR" altLang="pt-BR" sz="4000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(e.g., clima, ações, vendas, etc.)</a:t>
            </a:r>
          </a:p>
          <a:p>
            <a:r>
              <a:rPr lang="pt-BR" dirty="0"/>
              <a:t>Tradução automática de texto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Geração de descrições de texto para imagens (</a:t>
            </a:r>
            <a:r>
              <a:rPr lang="pt-BR" i="1" dirty="0" err="1"/>
              <a:t>image</a:t>
            </a:r>
            <a:r>
              <a:rPr lang="pt-BR" i="1" dirty="0"/>
              <a:t> </a:t>
            </a:r>
            <a:r>
              <a:rPr lang="pt-BR" i="1" dirty="0" err="1"/>
              <a:t>captioning</a:t>
            </a:r>
            <a:r>
              <a:rPr lang="pt-BR" dirty="0"/>
              <a:t>)</a:t>
            </a:r>
          </a:p>
          <a:p>
            <a:r>
              <a:rPr lang="pt-BR" dirty="0"/>
              <a:t>Rastreamento de objetos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 lnSpcReduction="10000"/>
          </a:bodyPr>
          <a:lstStyle/>
          <a:p>
            <a:r>
              <a:rPr lang="pt-BR" dirty="0" err="1"/>
              <a:t>MLPs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2"/>
                </a:solidFill>
              </a:rPr>
              <a:t>Não armazenam informações de estados anteriores </a:t>
            </a:r>
            <a:r>
              <a:rPr lang="pt-BR" dirty="0"/>
              <a:t>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As </a:t>
            </a:r>
            <a:r>
              <a:rPr lang="pt-BR" b="1" dirty="0">
                <a:solidFill>
                  <a:srgbClr val="7030A0"/>
                </a:solidFill>
              </a:rPr>
              <a:t>entradas</a:t>
            </a:r>
            <a:r>
              <a:rPr lang="pt-BR" dirty="0"/>
              <a:t> são tratadas de forma </a:t>
            </a:r>
            <a:r>
              <a:rPr lang="pt-BR" b="1" dirty="0">
                <a:solidFill>
                  <a:srgbClr val="7030A0"/>
                </a:solidFill>
              </a:rPr>
              <a:t>independente</a:t>
            </a:r>
            <a:r>
              <a:rPr lang="pt-BR" dirty="0"/>
              <a:t>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Isso faz com que elas </a:t>
            </a:r>
            <a:r>
              <a:rPr lang="pt-BR" b="1" dirty="0">
                <a:solidFill>
                  <a:srgbClr val="0070C0"/>
                </a:solidFill>
              </a:rPr>
              <a:t>não capturem dependências temporais entre amostras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</a:t>
            </a:r>
            <a:r>
              <a:rPr lang="pt-BR" b="1" dirty="0">
                <a:solidFill>
                  <a:srgbClr val="7030A0"/>
                </a:solidFill>
              </a:rPr>
              <a:t>depende apenas da entrada atual</a:t>
            </a:r>
            <a:r>
              <a:rPr lang="pt-BR" dirty="0"/>
              <a:t>.</a:t>
            </a:r>
          </a:p>
          <a:p>
            <a:r>
              <a:rPr lang="pt-BR" dirty="0" err="1"/>
              <a:t>CNNs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Compartilham as limitações das </a:t>
            </a:r>
            <a:r>
              <a:rPr lang="pt-BR" dirty="0" err="1"/>
              <a:t>MLPs</a:t>
            </a:r>
            <a:r>
              <a:rPr lang="pt-BR" dirty="0"/>
              <a:t>, mas com uma exceção: elas </a:t>
            </a:r>
            <a:r>
              <a:rPr lang="pt-BR" b="1" dirty="0">
                <a:solidFill>
                  <a:srgbClr val="00B050"/>
                </a:solidFill>
              </a:rPr>
              <a:t>modelam relações espaciais</a:t>
            </a:r>
            <a:r>
              <a:rPr lang="pt-BR" dirty="0"/>
              <a:t>.</a:t>
            </a:r>
          </a:p>
          <a:p>
            <a:r>
              <a:rPr lang="pt-BR" dirty="0"/>
              <a:t>Ambas famílias </a:t>
            </a:r>
            <a:r>
              <a:rPr lang="pt-BR" b="1" dirty="0">
                <a:solidFill>
                  <a:srgbClr val="0070C0"/>
                </a:solidFill>
              </a:rPr>
              <a:t>exigem</a:t>
            </a:r>
            <a:r>
              <a:rPr lang="pt-BR" dirty="0"/>
              <a:t> que o </a:t>
            </a:r>
            <a:r>
              <a:rPr lang="pt-BR" b="1" dirty="0">
                <a:solidFill>
                  <a:srgbClr val="0070C0"/>
                </a:solidFill>
              </a:rPr>
              <a:t>vetor de entrada</a:t>
            </a:r>
            <a:r>
              <a:rPr lang="pt-BR" dirty="0"/>
              <a:t> tenha um </a:t>
            </a:r>
            <a:r>
              <a:rPr lang="pt-BR" b="1" dirty="0">
                <a:solidFill>
                  <a:srgbClr val="0070C0"/>
                </a:solidFill>
              </a:rPr>
              <a:t>tamanho predefinido e constante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227" y="1637413"/>
            <a:ext cx="10859545" cy="3583173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6000" dirty="0"/>
              <a:t>Como podemos considerar as correlações temporais e trabalhar com entradas sem tamanho predefinido?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63822-3DC5-17FB-ADF9-A3668232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288B7E-EFBE-6F19-F27D-9D5EE1024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9526" y="2576411"/>
            <a:ext cx="3962400" cy="235423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Redes neurais recorrentes têm memória!</a:t>
            </a:r>
            <a:endParaRPr lang="en-US" sz="4800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id="{3187EE8C-1DA4-D24F-08AF-EBBC6954A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583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667152" y="1825624"/>
            <a:ext cx="6524847" cy="5032375"/>
          </a:xfrm>
        </p:spPr>
        <p:txBody>
          <a:bodyPr>
            <a:normAutofit/>
          </a:bodyPr>
          <a:lstStyle/>
          <a:p>
            <a:r>
              <a:rPr lang="pt-BR" dirty="0"/>
              <a:t>Possuem </a:t>
            </a:r>
            <a:r>
              <a:rPr lang="pt-BR" b="1" dirty="0">
                <a:solidFill>
                  <a:srgbClr val="0070C0"/>
                </a:solidFill>
              </a:rPr>
              <a:t>laços de realimentação</a:t>
            </a:r>
            <a:r>
              <a:rPr lang="pt-BR" dirty="0"/>
              <a:t>.</a:t>
            </a:r>
          </a:p>
          <a:p>
            <a:r>
              <a:rPr lang="pt-BR" dirty="0"/>
              <a:t>Mantém um </a:t>
            </a:r>
            <a:r>
              <a:rPr lang="pt-BR" b="1" dirty="0">
                <a:solidFill>
                  <a:srgbClr val="0070C0"/>
                </a:solidFill>
              </a:rPr>
              <a:t>estado interno</a:t>
            </a:r>
            <a:r>
              <a:rPr lang="pt-BR" dirty="0"/>
              <a:t> (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) que </a:t>
            </a:r>
            <a:r>
              <a:rPr lang="pt-BR" b="1" dirty="0">
                <a:solidFill>
                  <a:schemeClr val="accent2"/>
                </a:solidFill>
              </a:rPr>
              <a:t>armazena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informações</a:t>
            </a:r>
            <a:r>
              <a:rPr lang="pt-BR" dirty="0"/>
              <a:t> observadas até o momento.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saída</a:t>
            </a:r>
            <a:r>
              <a:rPr lang="pt-BR" dirty="0"/>
              <a:t> da rede depende da </a:t>
            </a:r>
            <a:r>
              <a:rPr lang="pt-BR" b="1" dirty="0">
                <a:solidFill>
                  <a:srgbClr val="7030A0"/>
                </a:solidFill>
              </a:rPr>
              <a:t>entrada atual</a:t>
            </a:r>
            <a:r>
              <a:rPr lang="pt-BR" dirty="0"/>
              <a:t> e do valor do </a:t>
            </a:r>
            <a:r>
              <a:rPr lang="pt-BR" b="1" dirty="0">
                <a:solidFill>
                  <a:srgbClr val="7030A0"/>
                </a:solidFill>
              </a:rPr>
              <a:t>estado interno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estado interno</a:t>
            </a:r>
            <a:r>
              <a:rPr lang="pt-BR" dirty="0"/>
              <a:t> mantém o histórico de </a:t>
            </a:r>
            <a:r>
              <a:rPr lang="pt-BR" b="1" dirty="0">
                <a:solidFill>
                  <a:srgbClr val="00B050"/>
                </a:solidFill>
              </a:rPr>
              <a:t>das entradas passadas</a:t>
            </a:r>
            <a:r>
              <a:rPr lang="pt-BR" dirty="0"/>
              <a:t>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/>
              <a:t>Uma RNN utiliza </a:t>
            </a:r>
            <a:r>
              <a:rPr lang="pt-BR" b="1" dirty="0">
                <a:solidFill>
                  <a:schemeClr val="accent2"/>
                </a:solidFill>
              </a:rPr>
              <a:t>informações sequenciais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modelando as dependências temporais</a:t>
            </a:r>
            <a:r>
              <a:rPr lang="pt-BR" dirty="0"/>
              <a:t>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</a:t>
            </a:r>
            <a:r>
              <a:rPr lang="pt-BR" b="1" dirty="0">
                <a:solidFill>
                  <a:srgbClr val="7030A0"/>
                </a:solidFill>
              </a:rPr>
              <a:t>prever a próxima palavra</a:t>
            </a:r>
            <a:r>
              <a:rPr lang="pt-BR" dirty="0"/>
              <a:t> em uma frase, precisamos saber </a:t>
            </a:r>
            <a:r>
              <a:rPr lang="pt-BR" b="1" dirty="0">
                <a:solidFill>
                  <a:srgbClr val="7030A0"/>
                </a:solidFill>
              </a:rPr>
              <a:t>quais palavras vieram antes dela</a:t>
            </a:r>
            <a:r>
              <a:rPr lang="pt-BR" dirty="0"/>
              <a:t>.</a:t>
            </a:r>
          </a:p>
          <a:p>
            <a:r>
              <a:rPr lang="pt-BR" dirty="0"/>
              <a:t>Por exemplo, na frase:</a:t>
            </a:r>
          </a:p>
          <a:p>
            <a:pPr marL="0" indent="0" algn="ctr">
              <a:buNone/>
            </a:pPr>
            <a:r>
              <a:rPr lang="pt-BR" dirty="0"/>
              <a:t>“O gato subiu no ____”</a:t>
            </a:r>
          </a:p>
          <a:p>
            <a:pPr marL="0" indent="0">
              <a:buNone/>
            </a:pPr>
            <a:r>
              <a:rPr lang="pt-BR" dirty="0"/>
              <a:t>a rede usa as palavras anteriores para prever “telhado”.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1C89D-FF1F-2926-B807-E6ABE479C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B814E7-25AB-B9C9-EA53-FE90228A1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4CAE375-0AC4-4799-2DED-0550BB967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>
                <a:solidFill>
                  <a:srgbClr val="0070C0"/>
                </a:solidFill>
              </a:rPr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usam o </a:t>
            </a:r>
            <a:r>
              <a:rPr lang="pt-BR" b="1" dirty="0">
                <a:solidFill>
                  <a:schemeClr val="accent2"/>
                </a:solidFill>
              </a:rPr>
              <a:t>histórico de entradas anteriores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2"/>
                </a:solidFill>
              </a:rPr>
              <a:t>gerar uma saída</a:t>
            </a:r>
            <a:r>
              <a:rPr lang="pt-BR" dirty="0"/>
              <a:t>.</a:t>
            </a:r>
          </a:p>
          <a:p>
            <a:r>
              <a:rPr lang="pt-BR" dirty="0"/>
              <a:t>Porém, como veremos, um problema das </a:t>
            </a:r>
            <a:r>
              <a:rPr lang="pt-BR" dirty="0" err="1"/>
              <a:t>RNNs</a:t>
            </a:r>
            <a:r>
              <a:rPr lang="pt-BR" dirty="0"/>
              <a:t> é que a 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desaparece</a:t>
            </a:r>
            <a:r>
              <a:rPr lang="pt-BR" dirty="0"/>
              <a:t> ao longo do tempo.</a:t>
            </a:r>
          </a:p>
          <a:p>
            <a:endParaRPr lang="pt-BR" dirty="0"/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E51D7A82-869E-A081-9F87-50F6BC93FC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8086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O que compõem as </a:t>
            </a:r>
            <a:r>
              <a:rPr lang="pt-BR" sz="6000" dirty="0" err="1"/>
              <a:t>RNNs</a:t>
            </a:r>
            <a:r>
              <a:rPr lang="pt-BR" sz="6000" dirty="0"/>
              <a:t>? 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8CB8C-0F2B-7C4F-63CA-34C693F26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536" y="3218490"/>
            <a:ext cx="6069418" cy="1603375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são compostas por </a:t>
            </a:r>
            <a:r>
              <a:rPr lang="pt-BR" b="1" dirty="0"/>
              <a:t>neurônios recorrentes.</a:t>
            </a:r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5EB088D-2DA8-6B63-CFA0-01BFE1AC71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9058" y="1690688"/>
            <a:ext cx="2261084" cy="4513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49179-BA46-8C10-00C9-7227EB09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A993C-DAEE-C4BC-272A-C2D7C3B5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oculto</a:t>
                </a:r>
                <a:r>
                  <a:rPr lang="en-US" dirty="0"/>
                  <a:t> (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memória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da rede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anterior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oculta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  <a:blipFill>
                <a:blip r:embed="rId3"/>
                <a:stretch>
                  <a:fillRect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A4FBDA72-C26E-0052-AF8A-6E5560FC4E1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4228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58F59-116C-8F6D-B7AC-0250568F7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02BEF-ABFC-2E52-8381-46A90E9EE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1" y="1825624"/>
                <a:ext cx="757705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</a:t>
                </a:r>
                <a:r>
                  <a:rPr lang="pt-BR" dirty="0" err="1"/>
                  <a:t>RNNs</a:t>
                </a:r>
                <a:r>
                  <a:rPr lang="pt-BR" dirty="0"/>
                  <a:t> lidam com as dependências temporais entre amostras mantendo um </a:t>
                </a:r>
                <a:r>
                  <a:rPr lang="pt-BR" b="1" dirty="0">
                    <a:solidFill>
                      <a:srgbClr val="0070C0"/>
                    </a:solidFill>
                  </a:rPr>
                  <a:t>estado oculto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armazena informações de todos os passos de tempo anteriores da sequência (</a:t>
                </a:r>
                <a:r>
                  <a:rPr lang="pt-BR" b="1" dirty="0">
                    <a:solidFill>
                      <a:srgbClr val="0070C0"/>
                    </a:solidFill>
                  </a:rPr>
                  <a:t>memória</a:t>
                </a:r>
                <a:r>
                  <a:rPr lang="pt-BR" dirty="0"/>
                  <a:t>). </a:t>
                </a:r>
              </a:p>
              <a:p>
                <a:r>
                  <a:rPr lang="pt-BR" dirty="0"/>
                  <a:t>O mecanismo de </a:t>
                </a:r>
                <a:r>
                  <a:rPr lang="pt-BR" b="1" dirty="0">
                    <a:solidFill>
                      <a:srgbClr val="0070C0"/>
                    </a:solidFill>
                  </a:rPr>
                  <a:t>recorrência</a:t>
                </a:r>
                <a:r>
                  <a:rPr lang="pt-BR" dirty="0"/>
                  <a:t> permite que a rede aplique o contexto aprendido a partir de entradas anteriores às etapas atuais e futuras.</a:t>
                </a:r>
              </a:p>
              <a:p>
                <a:r>
                  <a:rPr lang="pt-BR" dirty="0"/>
                  <a:t>Uma célula recorrente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aprende padrões presentes</a:t>
                </a:r>
                <a:r>
                  <a:rPr lang="pt-BR" dirty="0"/>
                  <a:t> nas sequências.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1" y="1825624"/>
                <a:ext cx="7577056" cy="5032375"/>
              </a:xfrm>
              <a:blipFill>
                <a:blip r:embed="rId3"/>
                <a:stretch>
                  <a:fillRect l="-1448" t="-1937" r="-8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9391CBA0-FDD8-1C64-EBF3-4D66D849BEE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999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60289" y="1825625"/>
            <a:ext cx="5501076" cy="4351338"/>
          </a:xfrm>
        </p:spPr>
        <p:txBody>
          <a:bodyPr/>
          <a:lstStyle/>
          <a:p>
            <a:r>
              <a:rPr lang="pt-BR" dirty="0"/>
              <a:t>Representação </a:t>
            </a:r>
            <a:r>
              <a:rPr lang="pt-BR" b="1" dirty="0">
                <a:solidFill>
                  <a:schemeClr val="accent2"/>
                </a:solidFill>
              </a:rPr>
              <a:t>simplificada</a:t>
            </a:r>
            <a:r>
              <a:rPr lang="pt-BR" dirty="0"/>
              <a:t> do neurônio.</a:t>
            </a:r>
          </a:p>
          <a:p>
            <a:r>
              <a:rPr lang="pt-BR" dirty="0"/>
              <a:t>Essa representação é bastante utilizada na literatura.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45AF14E0-D72A-9A17-311C-4E3EFE8508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573" y="2596429"/>
            <a:ext cx="4436269" cy="280972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invés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8E223-5A55-598C-6C3A-13F57278F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890A9-36F8-D703-4FF3-2ECF4E39F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célula processa uma sequência de entradas um elemento (e.g., uma palavra ou um caractere) de cada vez, executando os seguintes passos em um laço: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a entrada atual da sequência,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o estado oculto do passo de tempo anterior,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(sua “memória”).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Combina essas duas entradas para calcular 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 o novo estado oculto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calcular a saída,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o passo de tempo atual.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é então passado como memória para o próximo passo de tempo,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  <a:blipFill>
                <a:blip r:embed="rId3"/>
                <a:stretch>
                  <a:fillRect l="-1525" t="-1937" r="-424" b="-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9B000465-E9F3-22E9-59B2-A533B351FE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392" y="2663569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4530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</p:spPr>
            <p:txBody>
              <a:bodyPr/>
              <a:lstStyle/>
              <a:p>
                <a:r>
                  <a:rPr lang="pt-BR" dirty="0"/>
                  <a:t>Equações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</a:t>
                </a:r>
                <a:r>
                  <a:rPr lang="pt-BR" dirty="0"/>
                  <a:t> e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pesos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todos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intervalos</a:t>
                </a:r>
                <a:r>
                  <a:rPr lang="en-US" b="1" dirty="0">
                    <a:solidFill>
                      <a:srgbClr val="7030A0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tangente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hiperbólica</a:t>
                </a:r>
                <a:r>
                  <a:rPr lang="en-US" dirty="0"/>
                  <a:t> (tanh)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sigmóide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se </a:t>
                </a:r>
                <a:r>
                  <a:rPr lang="en-US" dirty="0" err="1"/>
                  <a:t>usa</a:t>
                </a:r>
                <a:r>
                  <a:rPr lang="en-US" dirty="0"/>
                  <a:t> </a:t>
                </a:r>
                <a:r>
                  <a:rPr lang="en-US" dirty="0" err="1"/>
                  <a:t>ReLU</a:t>
                </a:r>
                <a:r>
                  <a:rPr lang="en-US" dirty="0"/>
                  <a:t>, pois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por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não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saturarem</a:t>
                </a:r>
                <a:r>
                  <a:rPr lang="en-US" dirty="0"/>
                  <a:t>, a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recorrência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causar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explosão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gradiente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  <a:blipFill>
                <a:blip r:embed="rId3"/>
                <a:stretch>
                  <a:fillRect l="-1490" t="-1937" r="-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F7DDA95C-C5C7-CCA4-CCDB-D86268AAC52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832" y="1592865"/>
            <a:ext cx="2454517" cy="4900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6C62E-76B5-FA20-EE1A-654E9CD98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5478A-CD8C-A7EE-5ED6-FCEA3B528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</p:spPr>
            <p:txBody>
              <a:bodyPr/>
              <a:lstStyle/>
              <a:p>
                <a:r>
                  <a:rPr lang="pt-BR" dirty="0"/>
                  <a:t>Algumas implementações consideram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função de ativação na saída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 fica assim:</a:t>
                </a: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 </a:t>
                </a:r>
                <a:r>
                  <a:rPr lang="pt-BR" dirty="0"/>
                  <a:t>permanece a mesma.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0AAF98E-E627-AE1F-AE39-31FADE78DD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  <a:blipFill rotWithShape="0">
                <a:blip r:embed="rId3"/>
                <a:stretch>
                  <a:fillRect l="-1532" t="-1937" r="-68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8E2B0E5C-B617-1386-87C2-3A8B717B022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6493" y="1479986"/>
            <a:ext cx="2258313" cy="5231527"/>
          </a:xfrm>
          <a:prstGeom prst="rect">
            <a:avLst/>
          </a:prstGeom>
        </p:spPr>
      </p:pic>
      <p:sp>
        <p:nvSpPr>
          <p:cNvPr id="7" name="Retângulo 6">
            <a:extLst>
              <a:ext uri="{FF2B5EF4-FFF2-40B4-BE49-F238E27FC236}">
                <a16:creationId xmlns:a16="http://schemas.microsoft.com/office/drawing/2014/main" id="{1E3BC3FD-1B5F-5A63-997C-3561384F2766}"/>
              </a:ext>
            </a:extLst>
          </p:cNvPr>
          <p:cNvSpPr/>
          <p:nvPr/>
        </p:nvSpPr>
        <p:spPr>
          <a:xfrm>
            <a:off x="2166492" y="2047875"/>
            <a:ext cx="557657" cy="619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2798602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474F2-5A89-1CB7-BD28-4A23A7F51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EFA5E-749F-7C57-0BA6-488F9D44E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CF467E-0C2B-3D54-B6F1-85395ED9E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09090" y="1825624"/>
            <a:ext cx="4138366" cy="5032375"/>
          </a:xfrm>
        </p:spPr>
        <p:txBody>
          <a:bodyPr>
            <a:normAutofit/>
          </a:bodyPr>
          <a:lstStyle/>
          <a:p>
            <a:r>
              <a:rPr lang="pt-BR" dirty="0"/>
              <a:t>Embora visualizemos a RNN com um laço, é mais fácil entender seu funcionamento </a:t>
            </a:r>
            <a:r>
              <a:rPr lang="pt-BR" b="1" dirty="0">
                <a:solidFill>
                  <a:schemeClr val="accent2"/>
                </a:solidFill>
              </a:rPr>
              <a:t>desenrolando-a</a:t>
            </a:r>
            <a:r>
              <a:rPr lang="pt-BR" dirty="0"/>
              <a:t> ao longo dos passos de tempo.</a:t>
            </a:r>
          </a:p>
          <a:p>
            <a:r>
              <a:rPr lang="pt-BR" dirty="0"/>
              <a:t>Essa visão </a:t>
            </a:r>
            <a:r>
              <a:rPr lang="pt-BR" b="1" dirty="0">
                <a:solidFill>
                  <a:schemeClr val="accent2"/>
                </a:solidFill>
              </a:rPr>
              <a:t>desenrolada</a:t>
            </a:r>
            <a:r>
              <a:rPr lang="pt-BR" dirty="0"/>
              <a:t> mostra claramente o fluxo de informações e a </a:t>
            </a:r>
            <a:r>
              <a:rPr lang="pt-BR" b="1" dirty="0">
                <a:solidFill>
                  <a:srgbClr val="0070C0"/>
                </a:solidFill>
              </a:rPr>
              <a:t>reutilização dos pesos</a:t>
            </a:r>
            <a:r>
              <a:rPr lang="pt-BR" dirty="0"/>
              <a:t>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647394D-B8E2-7039-16A8-7702A1CD08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580" y="1825624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299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040EC-283E-AF0D-98D2-F63FF4265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B01EA-11FE-E505-9C21-2C7DF649E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EF629-DAD2-6F9E-E547-E7199A3C8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4910" y="1825624"/>
            <a:ext cx="4387090" cy="5032375"/>
          </a:xfrm>
        </p:spPr>
        <p:txBody>
          <a:bodyPr>
            <a:normAutofit fontScale="92500"/>
          </a:bodyPr>
          <a:lstStyle/>
          <a:p>
            <a:r>
              <a:rPr lang="pt-BR" dirty="0"/>
              <a:t>Isso nos ajuda a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entender como ela processa sequências,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a treinar a rede usando </a:t>
            </a:r>
            <a:r>
              <a:rPr lang="pt-BR" i="1" dirty="0" err="1"/>
              <a:t>backpropagation</a:t>
            </a:r>
            <a:r>
              <a:rPr lang="pt-BR" dirty="0"/>
              <a:t>.</a:t>
            </a:r>
          </a:p>
          <a:p>
            <a:r>
              <a:rPr lang="pt-BR" dirty="0"/>
              <a:t>A RNN </a:t>
            </a:r>
            <a:r>
              <a:rPr lang="pt-BR" b="1" dirty="0">
                <a:solidFill>
                  <a:schemeClr val="accent2"/>
                </a:solidFill>
              </a:rPr>
              <a:t>reutiliza o mesmo conjunto de pesos</a:t>
            </a:r>
            <a:r>
              <a:rPr lang="pt-BR" dirty="0"/>
              <a:t> a cada passo de tempo. </a:t>
            </a:r>
          </a:p>
          <a:p>
            <a:r>
              <a:rPr lang="pt-BR" dirty="0"/>
              <a:t>Esse </a:t>
            </a:r>
            <a:r>
              <a:rPr lang="pt-BR" b="1" dirty="0">
                <a:solidFill>
                  <a:schemeClr val="accent2"/>
                </a:solidFill>
              </a:rPr>
              <a:t>conjunto compartilhado de pesos</a:t>
            </a:r>
            <a:r>
              <a:rPr lang="pt-BR" dirty="0"/>
              <a:t> é o que torna o modelo "</a:t>
            </a:r>
            <a:r>
              <a:rPr lang="pt-BR" b="1" dirty="0">
                <a:solidFill>
                  <a:srgbClr val="00B050"/>
                </a:solidFill>
              </a:rPr>
              <a:t>recorrente</a:t>
            </a:r>
            <a:r>
              <a:rPr lang="pt-BR" dirty="0"/>
              <a:t>" e permite que ele </a:t>
            </a:r>
            <a:r>
              <a:rPr lang="pt-BR" b="1" dirty="0">
                <a:solidFill>
                  <a:srgbClr val="7030A0"/>
                </a:solidFill>
              </a:rPr>
              <a:t>aprenda padrões em sequências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1D00B5F-AE10-DDBA-90FA-2664155E2E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34" y="1965166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9233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6F952-34AF-BA6E-B7BC-56FB84A3F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A4886-E5F5-4A0C-632C-A874615BA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0575" y="1825624"/>
            <a:ext cx="3781425" cy="5032375"/>
          </a:xfrm>
        </p:spPr>
        <p:txBody>
          <a:bodyPr>
            <a:normAutofit/>
          </a:bodyPr>
          <a:lstStyle/>
          <a:p>
            <a:r>
              <a:rPr lang="pt-BR" dirty="0"/>
              <a:t>Uma RNN desenrolada podem ser vista como </a:t>
            </a:r>
            <a:r>
              <a:rPr lang="pt-BR" b="1" dirty="0">
                <a:solidFill>
                  <a:srgbClr val="7030A0"/>
                </a:solidFill>
              </a:rPr>
              <a:t>múltiplas cópias da mesma camada</a:t>
            </a:r>
            <a:r>
              <a:rPr lang="pt-BR" dirty="0"/>
              <a:t>, cada uma passando </a:t>
            </a:r>
            <a:r>
              <a:rPr lang="pt-BR" b="1" dirty="0">
                <a:solidFill>
                  <a:schemeClr val="accent2"/>
                </a:solidFill>
              </a:rPr>
              <a:t>uma mensagem para a sua sucessora</a:t>
            </a:r>
            <a:r>
              <a:rPr lang="pt-BR" dirty="0"/>
              <a:t>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6C2B3C42-CAFD-00E4-BAE0-A16F954759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383" y="1690688"/>
            <a:ext cx="7911428" cy="4726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2106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2F95D-ED92-C388-CC49-D8F09C885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609EE-8280-8794-483C-637881745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1BBBBA-8C71-1CFD-F648-D5836DBC94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420100" y="1825624"/>
                <a:ext cx="37719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mesma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1"/>
                    </a:solidFill>
                  </a:rPr>
                  <a:t>função de ativação</a:t>
                </a:r>
                <a:r>
                  <a:rPr lang="pt-BR" dirty="0"/>
                  <a:t> e o mesmo </a:t>
                </a:r>
                <a:r>
                  <a:rPr lang="pt-BR" b="1" dirty="0">
                    <a:solidFill>
                      <a:schemeClr val="accent1"/>
                    </a:solidFill>
                  </a:rPr>
                  <a:t>conjunto de pesos</a:t>
                </a:r>
                <a:r>
                  <a:rPr lang="pt-BR" dirty="0"/>
                  <a:t> são usados ​​</a:t>
                </a:r>
                <a:r>
                  <a:rPr lang="pt-BR" b="1" dirty="0">
                    <a:solidFill>
                      <a:srgbClr val="7030A0"/>
                    </a:solidFill>
                  </a:rPr>
                  <a:t>em cada passo</a:t>
                </a:r>
                <a:r>
                  <a:rPr lang="pt-BR" dirty="0"/>
                  <a:t> de tempo.</a:t>
                </a:r>
              </a:p>
              <a:p>
                <a:r>
                  <a:rPr lang="pt-BR" dirty="0"/>
                  <a:t>Percebam que a saída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depende de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e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todos</a:t>
                </a:r>
                <a:r>
                  <a:rPr lang="pt-BR" b="1" dirty="0">
                    <a:solidFill>
                      <a:srgbClr val="00B050"/>
                    </a:solidFill>
                  </a:rPr>
                  <a:t> os seus valores anteriores</a:t>
                </a:r>
                <a:r>
                  <a:rPr lang="pt-BR" dirty="0"/>
                  <a:t> e não apenas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como em uma MLP.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1BBBBA-8C71-1CFD-F648-D5836DBC94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420100" y="1825624"/>
                <a:ext cx="3771900" cy="5032375"/>
              </a:xfrm>
              <a:blipFill>
                <a:blip r:embed="rId2"/>
                <a:stretch>
                  <a:fillRect l="-2908" t="-1937" r="-29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6CC3D6EC-9B36-3830-2344-C39825A414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383" y="1690688"/>
            <a:ext cx="7911428" cy="4726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1077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1620E-F055-A200-7D54-3C89067DA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B90F1A-97F6-4A2B-EB59-AE9A21F31F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10926" cy="5032376"/>
          </a:xfrm>
        </p:spPr>
        <p:txBody>
          <a:bodyPr/>
          <a:lstStyle/>
          <a:p>
            <a:r>
              <a:rPr lang="pt-BR" dirty="0"/>
              <a:t>Os pesos são atualizados usando o </a:t>
            </a:r>
            <a:r>
              <a:rPr lang="pt-BR" b="1" dirty="0">
                <a:solidFill>
                  <a:srgbClr val="7030A0"/>
                </a:solidFill>
              </a:rPr>
              <a:t>gradiente descendente</a:t>
            </a:r>
            <a:r>
              <a:rPr lang="pt-BR" dirty="0"/>
              <a:t>.</a:t>
            </a:r>
          </a:p>
          <a:p>
            <a:r>
              <a:rPr lang="pt-BR" dirty="0"/>
              <a:t>Uma </a:t>
            </a:r>
            <a:r>
              <a:rPr lang="pt-BR" b="1" dirty="0">
                <a:solidFill>
                  <a:srgbClr val="7030A0"/>
                </a:solidFill>
              </a:rPr>
              <a:t>função de erro</a:t>
            </a:r>
            <a:r>
              <a:rPr lang="pt-BR" dirty="0"/>
              <a:t> (EQM, EC, etc.) é usada para calcular o erro entre as saídas da rede e os rótulos do conjunto de treinamento.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derivada da função de erro</a:t>
            </a:r>
            <a:r>
              <a:rPr lang="pt-BR" dirty="0"/>
              <a:t>, em relação aos pesos da rede, é </a:t>
            </a:r>
            <a:r>
              <a:rPr lang="pt-BR" b="1" dirty="0">
                <a:solidFill>
                  <a:schemeClr val="accent2"/>
                </a:solidFill>
              </a:rPr>
              <a:t>retropropagada</a:t>
            </a:r>
            <a:r>
              <a:rPr lang="pt-BR" dirty="0"/>
              <a:t> através da rede.</a:t>
            </a:r>
          </a:p>
          <a:p>
            <a:r>
              <a:rPr lang="pt-BR" dirty="0"/>
              <a:t>Os pesos são ajustados até que um critério de parada seja atendido: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número máximo de épocas é atingido.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função de perda para de diminuir.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1994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6341B-8DD5-B4D0-04B5-B1D29CAF8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5999" cy="5032376"/>
          </a:xfrm>
        </p:spPr>
        <p:txBody>
          <a:bodyPr>
            <a:normAutofit/>
          </a:bodyPr>
          <a:lstStyle/>
          <a:p>
            <a:r>
              <a:rPr lang="pt-BR" dirty="0"/>
              <a:t>Para treinar a rede, ela é primeiro </a:t>
            </a:r>
            <a:r>
              <a:rPr lang="pt-BR" b="1" dirty="0">
                <a:solidFill>
                  <a:schemeClr val="accent2"/>
                </a:solidFill>
              </a:rPr>
              <a:t>desenrolada</a:t>
            </a:r>
            <a:r>
              <a:rPr lang="pt-BR" dirty="0"/>
              <a:t> e </a:t>
            </a:r>
            <a:r>
              <a:rPr lang="pt-BR" b="1" dirty="0">
                <a:solidFill>
                  <a:srgbClr val="7030A0"/>
                </a:solidFill>
              </a:rPr>
              <a:t>depois aplica-se a retropropagação</a:t>
            </a:r>
            <a:r>
              <a:rPr lang="pt-BR" dirty="0"/>
              <a:t> do erro </a:t>
            </a:r>
            <a:r>
              <a:rPr lang="pt-BR" b="1" dirty="0">
                <a:solidFill>
                  <a:srgbClr val="7030A0"/>
                </a:solidFill>
              </a:rPr>
              <a:t>tradicional</a:t>
            </a:r>
            <a:r>
              <a:rPr lang="pt-BR" dirty="0"/>
              <a:t>.</a:t>
            </a:r>
          </a:p>
          <a:p>
            <a:r>
              <a:rPr lang="pt-BR" dirty="0"/>
              <a:t>Cada </a:t>
            </a:r>
            <a:r>
              <a:rPr lang="pt-BR" b="1" dirty="0">
                <a:solidFill>
                  <a:schemeClr val="accent2"/>
                </a:solidFill>
              </a:rPr>
              <a:t>réplica</a:t>
            </a:r>
            <a:r>
              <a:rPr lang="pt-BR" dirty="0"/>
              <a:t> da rede é </a:t>
            </a:r>
            <a:r>
              <a:rPr lang="pt-BR" b="1" dirty="0">
                <a:solidFill>
                  <a:schemeClr val="accent2"/>
                </a:solidFill>
              </a:rPr>
              <a:t>referente </a:t>
            </a:r>
            <a:r>
              <a:rPr lang="pt-BR" dirty="0"/>
              <a:t>a um </a:t>
            </a:r>
            <a:r>
              <a:rPr lang="pt-BR" b="1" dirty="0">
                <a:solidFill>
                  <a:schemeClr val="accent2"/>
                </a:solidFill>
              </a:rPr>
              <a:t>intervalo de tempo diferente</a:t>
            </a:r>
            <a:r>
              <a:rPr lang="pt-BR" dirty="0"/>
              <a:t>.</a:t>
            </a:r>
          </a:p>
          <a:p>
            <a:r>
              <a:rPr lang="pt-BR" dirty="0"/>
              <a:t>Cada </a:t>
            </a:r>
            <a:r>
              <a:rPr lang="pt-BR" b="1" dirty="0">
                <a:solidFill>
                  <a:schemeClr val="accent2"/>
                </a:solidFill>
              </a:rPr>
              <a:t>réplica</a:t>
            </a:r>
            <a:r>
              <a:rPr lang="pt-BR" dirty="0"/>
              <a:t> pode ser pensada como </a:t>
            </a:r>
            <a:r>
              <a:rPr lang="pt-BR" b="1" dirty="0">
                <a:solidFill>
                  <a:srgbClr val="00B050"/>
                </a:solidFill>
              </a:rPr>
              <a:t>uma camada em uma rede MLP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1"/>
                </a:solidFill>
              </a:rPr>
              <a:t>pesos são mantidos constantes</a:t>
            </a:r>
            <a:r>
              <a:rPr lang="pt-BR" dirty="0"/>
              <a:t> em cada </a:t>
            </a:r>
            <a:r>
              <a:rPr lang="pt-BR" b="1" dirty="0">
                <a:solidFill>
                  <a:schemeClr val="accent1"/>
                </a:solidFill>
              </a:rPr>
              <a:t>intervalo de tempo (camada)</a:t>
            </a:r>
            <a:r>
              <a:rPr lang="pt-BR" dirty="0"/>
              <a:t>.</a:t>
            </a:r>
          </a:p>
          <a:p>
            <a:r>
              <a:rPr lang="pt-BR" dirty="0"/>
              <a:t>Percebam que a </a:t>
            </a:r>
            <a:r>
              <a:rPr lang="pt-BR" b="1" dirty="0">
                <a:solidFill>
                  <a:srgbClr val="7030A0"/>
                </a:solidFill>
              </a:rPr>
              <a:t>arquitetura da rede</a:t>
            </a:r>
            <a:r>
              <a:rPr lang="pt-BR" dirty="0"/>
              <a:t> pode se tornar </a:t>
            </a:r>
            <a:r>
              <a:rPr lang="pt-BR" b="1" dirty="0">
                <a:solidFill>
                  <a:srgbClr val="7030A0"/>
                </a:solidFill>
              </a:rPr>
              <a:t>muito profunda</a:t>
            </a:r>
            <a:r>
              <a:rPr lang="pt-BR" dirty="0"/>
              <a:t>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23AD603-5E49-AE24-2071-74753017B5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3594B-041E-A819-7F40-ADDA10695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53FE7-29C4-832D-D880-18B70E1AC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5AC7A-B3D7-B83C-747E-584985A7A3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5999" cy="5032376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Esse </a:t>
            </a:r>
            <a:r>
              <a:rPr lang="pt-BR" b="1" dirty="0">
                <a:solidFill>
                  <a:srgbClr val="00B050"/>
                </a:solidFill>
              </a:rPr>
              <a:t>desenrolamento da rede</a:t>
            </a:r>
            <a:r>
              <a:rPr lang="pt-BR" dirty="0"/>
              <a:t> para se aplicar a retropropagação do erro é chamado de </a:t>
            </a:r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(BPTT).</a:t>
            </a:r>
          </a:p>
          <a:p>
            <a:r>
              <a:rPr lang="pt-BR" dirty="0"/>
              <a:t>Ele é uma </a:t>
            </a:r>
            <a:r>
              <a:rPr lang="pt-BR" b="1" dirty="0">
                <a:solidFill>
                  <a:schemeClr val="accent2"/>
                </a:solidFill>
              </a:rPr>
              <a:t>extensão</a:t>
            </a:r>
            <a:r>
              <a:rPr lang="pt-BR" dirty="0"/>
              <a:t> do </a:t>
            </a:r>
            <a:r>
              <a:rPr lang="pt-BR" i="1" dirty="0" err="1"/>
              <a:t>backpropagation</a:t>
            </a:r>
            <a:r>
              <a:rPr lang="pt-BR" dirty="0"/>
              <a:t> tradicional, mas </a:t>
            </a:r>
            <a:r>
              <a:rPr lang="pt-BR" b="1" dirty="0">
                <a:solidFill>
                  <a:schemeClr val="accent2"/>
                </a:solidFill>
              </a:rPr>
              <a:t>aplicado ao longo do tempo</a:t>
            </a:r>
            <a:r>
              <a:rPr lang="pt-BR" dirty="0"/>
              <a:t>.</a:t>
            </a:r>
          </a:p>
          <a:p>
            <a:r>
              <a:rPr lang="pt-BR" dirty="0"/>
              <a:t>A ideia central é:</a:t>
            </a:r>
          </a:p>
          <a:p>
            <a:pPr marL="0" indent="0" algn="ctr">
              <a:buNone/>
            </a:pPr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erro atual</a:t>
            </a:r>
            <a:r>
              <a:rPr lang="pt-BR" dirty="0"/>
              <a:t> pode ter </a:t>
            </a:r>
            <a:r>
              <a:rPr lang="pt-BR" b="1" dirty="0">
                <a:solidFill>
                  <a:schemeClr val="accent1"/>
                </a:solidFill>
              </a:rPr>
              <a:t>sido causado por </a:t>
            </a:r>
            <a:r>
              <a:rPr lang="pt-BR" b="1" dirty="0">
                <a:solidFill>
                  <a:srgbClr val="7030A0"/>
                </a:solidFill>
              </a:rPr>
              <a:t>estados passados</a:t>
            </a:r>
            <a:r>
              <a:rPr lang="pt-BR" dirty="0"/>
              <a:t> da rede.</a:t>
            </a:r>
          </a:p>
          <a:p>
            <a:r>
              <a:rPr lang="pt-BR" dirty="0"/>
              <a:t>Então o gradiente precisa “</a:t>
            </a:r>
            <a:r>
              <a:rPr lang="pt-BR" b="1" dirty="0">
                <a:solidFill>
                  <a:srgbClr val="00B050"/>
                </a:solidFill>
              </a:rPr>
              <a:t>voltar no tempo</a:t>
            </a:r>
            <a:r>
              <a:rPr lang="pt-BR" dirty="0"/>
              <a:t>”.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D1162C9-8039-1879-F87F-8925166F46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5382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diferença entre a saída da rede e o valor desejado é avaliada por uma função de erro </a:t>
                </a:r>
                <a:r>
                  <a:rPr lang="pt-BR" b="1" dirty="0">
                    <a:solidFill>
                      <a:srgbClr val="7030A0"/>
                    </a:solidFill>
                  </a:rPr>
                  <a:t>ao longo de todos os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pt-BR" b="1" dirty="0">
                    <a:solidFill>
                      <a:srgbClr val="7030A0"/>
                    </a:solidFill>
                  </a:rPr>
                  <a:t> passos de tempo</a:t>
                </a:r>
                <a:endParaRPr lang="pt-BR" b="1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Em </a:t>
                </a:r>
                <a:r>
                  <a:rPr lang="en-US" dirty="0" err="1"/>
                  <a:t>outras</a:t>
                </a:r>
                <a:r>
                  <a:rPr lang="en-US" dirty="0"/>
                  <a:t> </a:t>
                </a:r>
                <a:r>
                  <a:rPr lang="en-US" dirty="0" err="1"/>
                  <a:t>palavras</a:t>
                </a:r>
                <a:r>
                  <a:rPr lang="en-US" dirty="0"/>
                  <a:t>, o </a:t>
                </a:r>
                <a:r>
                  <a:rPr lang="en-US" dirty="0" err="1"/>
                  <a:t>erro</a:t>
                </a:r>
                <a:r>
                  <a:rPr lang="en-US" dirty="0"/>
                  <a:t> total é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média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temporal dos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dirty="0" err="1"/>
                  <a:t>cometidos</a:t>
                </a:r>
                <a:r>
                  <a:rPr lang="en-US" dirty="0"/>
                  <a:t> pela rede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ao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longo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todos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instantes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tempo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 rotWithShape="0"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9DD09-FA86-3CAE-7297-B124DDFD9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EC256-B082-7183-4AD1-C2355A6FD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49026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Por </a:t>
                </a:r>
                <a:r>
                  <a:rPr lang="en-US" dirty="0" err="1"/>
                  <a:t>exemplo</a:t>
                </a:r>
                <a:r>
                  <a:rPr lang="en-US" dirty="0"/>
                  <a:t>, </a:t>
                </a:r>
                <a:r>
                  <a:rPr lang="en-US" dirty="0" err="1"/>
                  <a:t>usando</a:t>
                </a:r>
                <a:r>
                  <a:rPr lang="en-US" dirty="0"/>
                  <a:t> a retropropagação (</a:t>
                </a:r>
                <a:r>
                  <a:rPr lang="en-US" dirty="0" err="1"/>
                  <a:t>regra</a:t>
                </a:r>
                <a:r>
                  <a:rPr lang="en-US" dirty="0"/>
                  <a:t> da </a:t>
                </a:r>
                <a:r>
                  <a:rPr lang="en-US" dirty="0" err="1"/>
                  <a:t>cadeia</a:t>
                </a:r>
                <a:r>
                  <a:rPr lang="en-US" dirty="0"/>
                  <a:t>) para </a:t>
                </a:r>
                <a:r>
                  <a:rPr lang="en-US" dirty="0" err="1"/>
                  <a:t>encontrar</a:t>
                </a:r>
                <a:r>
                  <a:rPr lang="en-US" dirty="0"/>
                  <a:t> o </a:t>
                </a:r>
                <a:r>
                  <a:rPr lang="en-US" dirty="0" err="1"/>
                  <a:t>gradiente</a:t>
                </a:r>
                <a:r>
                  <a:rPr lang="en-US" dirty="0"/>
                  <a:t> com </a:t>
                </a:r>
                <a:r>
                  <a:rPr lang="en-US" dirty="0" err="1"/>
                  <a:t>relação</a:t>
                </a:r>
                <a:r>
                  <a:rPr lang="en-US" dirty="0"/>
                  <a:t> </a:t>
                </a:r>
                <a:r>
                  <a:rPr lang="en-US" dirty="0" err="1"/>
                  <a:t>aos</a:t>
                </a:r>
                <a:r>
                  <a:rPr lang="en-US" dirty="0"/>
                  <a:t> pesos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:r>
                  <a:rPr lang="en-US" dirty="0" err="1"/>
                  <a:t>temos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Notem que </a:t>
                </a:r>
                <a:r>
                  <a:rPr lang="pt-BR" b="1" dirty="0">
                    <a:solidFill>
                      <a:srgbClr val="00B050"/>
                    </a:solidFill>
                  </a:rPr>
                  <a:t>somamos as contribuições de cada passo de tempo</a:t>
                </a:r>
                <a:r>
                  <a:rPr lang="pt-BR" dirty="0"/>
                  <a:t> para obter o gradiente.</a:t>
                </a:r>
              </a:p>
              <a:p>
                <a:r>
                  <a:rPr lang="pt-BR" dirty="0"/>
                  <a:t>O primeiro, o segundo e o quarto fatores do produto são fáceis de calcular. </a:t>
                </a:r>
              </a:p>
              <a:p>
                <a:r>
                  <a:rPr lang="pt-BR" dirty="0"/>
                  <a:t>O terceiro é onde as coisas ficam complicadas, já que precisamos </a:t>
                </a:r>
                <a:r>
                  <a:rPr lang="pt-BR" b="1" dirty="0">
                    <a:solidFill>
                      <a:srgbClr val="7030A0"/>
                    </a:solidFill>
                  </a:rPr>
                  <a:t>calcular recursivamente</a:t>
                </a:r>
                <a:r>
                  <a:rPr lang="pt-BR" dirty="0"/>
                  <a:t> o efeito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03AA9B93-41C8-CC75-5F29-FD0909CE60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49026" cy="5032375"/>
              </a:xfrm>
              <a:blipFill rotWithShape="0">
                <a:blip r:embed="rId3"/>
                <a:stretch>
                  <a:fillRect l="-976" t="-1937" r="-17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tângulo 3">
            <a:extLst>
              <a:ext uri="{FF2B5EF4-FFF2-40B4-BE49-F238E27FC236}">
                <a16:creationId xmlns:a16="http://schemas.microsoft.com/office/drawing/2014/main" id="{FAF83994-B4CC-99A0-FA69-B6B7F2E67A3E}"/>
              </a:ext>
            </a:extLst>
          </p:cNvPr>
          <p:cNvSpPr/>
          <p:nvPr/>
        </p:nvSpPr>
        <p:spPr>
          <a:xfrm>
            <a:off x="9634092" y="2676526"/>
            <a:ext cx="862458" cy="10096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3243999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sz="2400" dirty="0"/>
              </a:p>
              <a:p>
                <a:r>
                  <a:rPr lang="pt-BR" dirty="0"/>
                  <a:t>Se o valor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 for grande (i.e.,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sequência muito longa</a:t>
                </a:r>
                <a:r>
                  <a:rPr lang="pt-BR" dirty="0"/>
                  <a:t>), temos uma </a:t>
                </a:r>
                <a:r>
                  <a:rPr lang="pt-BR" b="1" dirty="0">
                    <a:solidFill>
                      <a:srgbClr val="00B050"/>
                    </a:solidFill>
                  </a:rPr>
                  <a:t>profundidade intratável</a:t>
                </a:r>
                <a:r>
                  <a:rPr lang="pt-BR" dirty="0"/>
                  <a:t>, o que torna o </a:t>
                </a:r>
                <a:r>
                  <a:rPr lang="pt-BR" b="1" dirty="0">
                    <a:solidFill>
                      <a:srgbClr val="7030A0"/>
                    </a:solidFill>
                  </a:rPr>
                  <a:t>treinamento muito lento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1"/>
                    </a:solidFill>
                  </a:rPr>
                  <a:t>consome muita memória</a:t>
                </a:r>
                <a:r>
                  <a:rPr lang="pt-BR" dirty="0"/>
                  <a:t> e pode deixar o </a:t>
                </a:r>
                <a:r>
                  <a:rPr lang="pt-BR" b="1" dirty="0">
                    <a:solidFill>
                      <a:schemeClr val="accent6"/>
                    </a:solidFill>
                  </a:rPr>
                  <a:t>treinamento instável devido à recursão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Na prática, muitas vezes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propagamos até o início da sequência</a:t>
                </a:r>
                <a:r>
                  <a:rPr lang="pt-BR" dirty="0"/>
                  <a:t>, mas até um determinado instante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Esse processo é chamado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BPPT truncado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Ele reduz: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custo computacional,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uso de memória.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 rotWithShape="0">
                <a:blip r:embed="rId3"/>
                <a:stretch>
                  <a:fillRect l="-913" r="-1127" b="-26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1BAB6-1EE4-4547-07FC-97B0B6DEB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B04ED-99C9-38B8-A6B7-07300AEB9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o BPTT truncado funciona?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4DBBF-C43B-70AC-AAA4-A3D9A2DAAB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Funciona porque, na prática, </a:t>
            </a:r>
            <a:r>
              <a:rPr lang="pt-BR" b="1" dirty="0">
                <a:solidFill>
                  <a:schemeClr val="accent2"/>
                </a:solidFill>
              </a:rPr>
              <a:t>muitas dependências temporais relevantes </a:t>
            </a:r>
            <a:r>
              <a:rPr lang="pt-BR" b="1" dirty="0">
                <a:solidFill>
                  <a:srgbClr val="FF0000"/>
                </a:solidFill>
              </a:rPr>
              <a:t>são locais</a:t>
            </a:r>
            <a:r>
              <a:rPr lang="pt-BR" dirty="0"/>
              <a:t>.</a:t>
            </a:r>
          </a:p>
          <a:p>
            <a:r>
              <a:rPr lang="pt-BR" dirty="0"/>
              <a:t>Além disso, muitas </a:t>
            </a:r>
            <a:r>
              <a:rPr lang="pt-BR" b="1" dirty="0">
                <a:solidFill>
                  <a:srgbClr val="00B050"/>
                </a:solidFill>
              </a:rPr>
              <a:t>dependências temporais relevantes decaem com o tempo</a:t>
            </a:r>
            <a:r>
              <a:rPr lang="pt-BR" dirty="0"/>
              <a:t>.</a:t>
            </a:r>
          </a:p>
          <a:p>
            <a:r>
              <a:rPr lang="pt-BR" dirty="0"/>
              <a:t>Isso </a:t>
            </a:r>
            <a:r>
              <a:rPr lang="pt-BR" b="1" dirty="0">
                <a:solidFill>
                  <a:srgbClr val="7030A0"/>
                </a:solidFill>
              </a:rPr>
              <a:t>evita</a:t>
            </a:r>
            <a:r>
              <a:rPr lang="pt-BR" dirty="0"/>
              <a:t> a necessidade de </a:t>
            </a:r>
            <a:r>
              <a:rPr lang="pt-BR" b="1" dirty="0">
                <a:solidFill>
                  <a:srgbClr val="7030A0"/>
                </a:solidFill>
              </a:rPr>
              <a:t>voltar até o primeiro passo</a:t>
            </a:r>
            <a:r>
              <a:rPr lang="pt-BR" dirty="0"/>
              <a:t> da sequência </a:t>
            </a:r>
            <a:r>
              <a:rPr lang="pt-BR" b="1" dirty="0">
                <a:solidFill>
                  <a:srgbClr val="7030A0"/>
                </a:solidFill>
              </a:rPr>
              <a:t>para calcular o gradiente</a:t>
            </a:r>
            <a:r>
              <a:rPr lang="pt-BR" dirty="0"/>
              <a:t>.</a:t>
            </a:r>
          </a:p>
          <a:p>
            <a:r>
              <a:rPr lang="pt-BR" dirty="0"/>
              <a:t>Ou seja: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</a:t>
            </a:r>
            <a:r>
              <a:rPr lang="pt-BR" b="1" dirty="0">
                <a:solidFill>
                  <a:srgbClr val="0070C0"/>
                </a:solidFill>
              </a:rPr>
              <a:t>estado atual</a:t>
            </a:r>
            <a:r>
              <a:rPr lang="pt-BR" dirty="0"/>
              <a:t> geralmente depende mais do </a:t>
            </a:r>
            <a:r>
              <a:rPr lang="pt-BR" b="1" dirty="0">
                <a:solidFill>
                  <a:srgbClr val="0070C0"/>
                </a:solidFill>
              </a:rPr>
              <a:t>passado recente</a:t>
            </a:r>
            <a:r>
              <a:rPr lang="pt-BR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70C0"/>
                </a:solidFill>
              </a:rPr>
              <a:t>contribuições</a:t>
            </a:r>
            <a:r>
              <a:rPr lang="pt-BR" dirty="0"/>
              <a:t> muito </a:t>
            </a:r>
            <a:r>
              <a:rPr lang="pt-BR" b="1" dirty="0">
                <a:solidFill>
                  <a:srgbClr val="0070C0"/>
                </a:solidFill>
              </a:rPr>
              <a:t>antigas</a:t>
            </a:r>
            <a:r>
              <a:rPr lang="pt-BR" dirty="0"/>
              <a:t> tendem a </a:t>
            </a:r>
            <a:r>
              <a:rPr lang="pt-BR" b="1" dirty="0">
                <a:solidFill>
                  <a:srgbClr val="0070C0"/>
                </a:solidFill>
              </a:rPr>
              <a:t>ficar pequenas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442391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4086D-26FF-58C0-0D8C-43E088D7A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r>
                  <a:rPr lang="en-US" dirty="0"/>
                  <a:t>Durante o </a:t>
                </a:r>
                <a:r>
                  <a:rPr lang="en-US" dirty="0" err="1"/>
                  <a:t>treinamento</a:t>
                </a:r>
                <a:r>
                  <a:rPr lang="en-US" dirty="0"/>
                  <a:t>, o BPTT </a:t>
                </a:r>
                <a:r>
                  <a:rPr lang="en-US" dirty="0" err="1"/>
                  <a:t>aplica</a:t>
                </a:r>
                <a:r>
                  <a:rPr lang="en-US" dirty="0"/>
                  <a:t> a </a:t>
                </a:r>
                <a:r>
                  <a:rPr lang="en-US" dirty="0" err="1"/>
                  <a:t>regra</a:t>
                </a:r>
                <a:r>
                  <a:rPr lang="en-US" dirty="0"/>
                  <a:t> da </a:t>
                </a:r>
                <a:r>
                  <a:rPr lang="en-US" dirty="0" err="1"/>
                  <a:t>cadeia</a:t>
                </a:r>
                <a:r>
                  <a:rPr lang="en-US" dirty="0"/>
                  <a:t> </a:t>
                </a:r>
                <a:r>
                  <a:rPr lang="en-US" dirty="0" err="1"/>
                  <a:t>ao</a:t>
                </a:r>
                <a:r>
                  <a:rPr lang="en-US" dirty="0"/>
                  <a:t> </a:t>
                </a:r>
                <a:r>
                  <a:rPr lang="en-US" dirty="0" err="1"/>
                  <a:t>longo</a:t>
                </a:r>
                <a:r>
                  <a:rPr lang="en-US" dirty="0"/>
                  <a:t> de </a:t>
                </a:r>
                <a:r>
                  <a:rPr lang="en-US" dirty="0" err="1"/>
                  <a:t>vários</a:t>
                </a:r>
                <a:r>
                  <a:rPr lang="en-US" dirty="0"/>
                  <a:t> </a:t>
                </a:r>
                <a:r>
                  <a:rPr lang="en-US" dirty="0" err="1"/>
                  <a:t>passos</a:t>
                </a:r>
                <a:r>
                  <a:rPr lang="en-US" dirty="0"/>
                  <a:t> no tempo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</m:e>
                          </m:nary>
                        </m:e>
                      </m:d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gradiente envolve um </a:t>
                </a:r>
                <a:r>
                  <a:rPr lang="pt-BR" b="1" dirty="0">
                    <a:solidFill>
                      <a:srgbClr val="7030A0"/>
                    </a:solidFill>
                  </a:rPr>
                  <a:t>produto de muitas derivadas sucessivas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 err="1">
                    <a:solidFill>
                      <a:schemeClr val="accent2"/>
                    </a:solidFill>
                  </a:rPr>
                  <a:t>produtório</a:t>
                </a:r>
                <a:r>
                  <a:rPr lang="pt-BR" dirty="0"/>
                  <a:t> na equação acima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pode causar o desaparecimento ou a explosão do gradiente</a:t>
                </a:r>
                <a:r>
                  <a:rPr lang="pt-BR" dirty="0"/>
                  <a:t>.</a:t>
                </a:r>
              </a:p>
              <a:p>
                <a:endParaRPr lang="pt-BR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48887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92EF5-5D0B-5502-FD38-96B86F03D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4927" y="2924175"/>
            <a:ext cx="4738255" cy="169545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3600" dirty="0" err="1"/>
              <a:t>RNNs</a:t>
            </a:r>
            <a:r>
              <a:rPr lang="pt-BR" sz="3600" dirty="0"/>
              <a:t> </a:t>
            </a:r>
            <a:r>
              <a:rPr lang="pt-BR" sz="3600" b="1" dirty="0"/>
              <a:t>tradicionais</a:t>
            </a:r>
            <a:r>
              <a:rPr lang="pt-BR" sz="3600" dirty="0"/>
              <a:t> não aprendem dependências longas</a:t>
            </a:r>
            <a:endParaRPr lang="en-US" sz="36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id="{FF2536EA-A247-4883-A44D-13F8ECBEF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818" y="1398154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10832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tende a </a:t>
                </a:r>
                <a:r>
                  <a:rPr lang="pt-BR" b="1" dirty="0"/>
                  <a:t>zero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rede </a:t>
                </a:r>
                <a:r>
                  <a:rPr lang="pt-BR" b="1" dirty="0">
                    <a:solidFill>
                      <a:srgbClr val="7030A0"/>
                    </a:solidFill>
                  </a:rPr>
                  <a:t>esquece o passado mais distante</a:t>
                </a:r>
                <a:r>
                  <a:rPr lang="pt-BR" b="1" dirty="0"/>
                  <a:t> </a:t>
                </a:r>
                <a:r>
                  <a:rPr lang="pt-BR" dirty="0"/>
                  <a:t>(informação antiga se perde).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aprende </a:t>
                </a:r>
                <a:r>
                  <a:rPr lang="pt-BR" b="1" dirty="0"/>
                  <a:t>dependências de longo prazo, apenas curtas.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Estados ocultos anteriores não têm efeito sobre os estados posteriores.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Treinamento </a:t>
                </a:r>
                <a:r>
                  <a:rPr lang="pt-BR" b="1" dirty="0">
                    <a:solidFill>
                      <a:srgbClr val="7030A0"/>
                    </a:solidFill>
                  </a:rPr>
                  <a:t>muito lento ou estagnado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</a:t>
                </a:r>
                <a:r>
                  <a:rPr lang="pt-BR" b="1" dirty="0"/>
                  <a:t>explode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O </a:t>
                </a:r>
                <a:r>
                  <a:rPr lang="en-US" dirty="0" err="1"/>
                  <a:t>modelo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diverge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Atualizações de pesos se tornam enormes.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2"/>
                    </a:solidFill>
                  </a:rPr>
                  <a:t>Treinamento instável</a:t>
                </a:r>
                <a:r>
                  <a:rPr lang="pt-BR" dirty="0"/>
                  <a:t>: erro vira </a:t>
                </a:r>
                <a:r>
                  <a:rPr lang="pt-BR" dirty="0" err="1"/>
                  <a:t>NaN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Sintoma típico: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oscilação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</a:t>
                </a:r>
                <a:r>
                  <a:rPr lang="en-US" dirty="0"/>
                  <a:t>.</a:t>
                </a:r>
              </a:p>
              <a:p>
                <a:r>
                  <a:rPr lang="pt-BR" dirty="0"/>
                  <a:t>Na prática, o desaparecimento do gradiente é mais comum.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3B29E5B8-582B-19A9-B4A3-70C3734023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 rotWithShape="0">
                <a:blip r:embed="rId3"/>
                <a:stretch>
                  <a:fillRect l="-967" t="-96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conceito de </a:t>
                </a:r>
                <a:r>
                  <a:rPr lang="pt-BR" sz="2100" b="1" i="1" dirty="0" err="1">
                    <a:solidFill>
                      <a:schemeClr val="accent2"/>
                    </a:solidFill>
                  </a:rPr>
                  <a:t>gates</a:t>
                </a:r>
                <a:r>
                  <a:rPr lang="pt-BR" sz="2100" dirty="0"/>
                  <a:t>, funcionando como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válvulas 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de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informação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 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gradiente</a:t>
                </a:r>
                <a:endParaRPr lang="pt-BR" sz="2100" b="1" dirty="0">
                  <a:solidFill>
                    <a:schemeClr val="accent2"/>
                  </a:solidFill>
                </a:endParaRP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b="1" dirty="0">
                    <a:solidFill>
                      <a:schemeClr val="accent2"/>
                    </a:solidFill>
                  </a:rPr>
                  <a:t>Mantendo o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6"/>
                    </a:solidFill>
                  </a:rPr>
                  <a:t>Conexões residuais</a:t>
                </a:r>
                <a:r>
                  <a:rPr lang="pt-BR" dirty="0"/>
                  <a:t>: criam </a:t>
                </a:r>
                <a:r>
                  <a:rPr lang="pt-BR" b="1" dirty="0">
                    <a:solidFill>
                      <a:schemeClr val="accent6"/>
                    </a:solidFill>
                  </a:rPr>
                  <a:t>caminhos diretos</a:t>
                </a:r>
                <a:r>
                  <a:rPr lang="pt-BR" dirty="0"/>
                  <a:t>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 rotWithShape="0"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65656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não usar funções de ativação </a:t>
            </a:r>
            <a:r>
              <a:rPr lang="pt-BR" dirty="0" err="1"/>
              <a:t>ReLU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</p:spPr>
            <p:txBody>
              <a:bodyPr/>
              <a:lstStyle/>
              <a:p>
                <a:r>
                  <a:rPr lang="pt-BR" dirty="0"/>
                  <a:t>RNNs </a:t>
                </a:r>
                <a:r>
                  <a:rPr lang="pt-BR" b="1" dirty="0"/>
                  <a:t>reusam</a:t>
                </a:r>
                <a:r>
                  <a:rPr lang="pt-BR" dirty="0"/>
                  <a:t> a </a:t>
                </a:r>
                <a:r>
                  <a:rPr lang="pt-BR" b="1" dirty="0">
                    <a:solidFill>
                      <a:srgbClr val="7030A0"/>
                    </a:solidFill>
                  </a:rPr>
                  <a:t>mesma matriz de pesos e a mesma função de ativação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7030A0"/>
                    </a:solidFill>
                  </a:rPr>
                  <a:t>repetidamente</a:t>
                </a:r>
                <a:r>
                  <a:rPr lang="pt-BR" dirty="0"/>
                  <a:t> em cada passo.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Valores maiores que 1</a:t>
                </a:r>
                <a:r>
                  <a:rPr lang="pt-BR" dirty="0"/>
                  <a:t> na entrada de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que não satura</a:t>
                </a:r>
                <a:r>
                  <a:rPr lang="pt-BR" dirty="0"/>
                  <a:t> como a </a:t>
                </a:r>
                <a:r>
                  <a:rPr lang="pt-BR" dirty="0" err="1"/>
                  <a:t>ReLU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) podem causar um crescimento exponencial (explosão) dos valores do estado oculto,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Isso torna o treinamento instável: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estados podem crescer sem limite, causando dinâmica instável no tempo.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Em </a:t>
                </a:r>
                <a:r>
                  <a:rPr lang="pt-BR" b="1" dirty="0">
                    <a:solidFill>
                      <a:schemeClr val="accent1"/>
                    </a:solidFill>
                  </a:rPr>
                  <a:t>sistemas dinâmicos </a:t>
                </a:r>
                <a:r>
                  <a:rPr lang="pt-BR" dirty="0"/>
                  <a:t>(como em </a:t>
                </a:r>
                <a:r>
                  <a:rPr lang="pt-BR" dirty="0" err="1"/>
                  <a:t>RNNs</a:t>
                </a:r>
                <a:r>
                  <a:rPr lang="pt-BR" dirty="0"/>
                  <a:t>), isso é ruim, pois </a:t>
                </a:r>
                <a:r>
                  <a:rPr lang="pt-BR" b="1" dirty="0">
                    <a:solidFill>
                      <a:schemeClr val="accent1"/>
                    </a:solidFill>
                  </a:rPr>
                  <a:t>causa oscilações ou divergência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Além disso,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valores negativos</a:t>
                </a:r>
                <a:r>
                  <a:rPr lang="pt-BR" dirty="0"/>
                  <a:t> em sua entrada </a:t>
                </a:r>
                <a:r>
                  <a:rPr lang="pt-BR" b="1" dirty="0">
                    <a:solidFill>
                      <a:schemeClr val="accent2"/>
                    </a:solidFill>
                  </a:rPr>
                  <a:t>geram saídas e derivadas iguais a 0</a:t>
                </a:r>
                <a:r>
                  <a:rPr lang="pt-BR" dirty="0"/>
                  <a:t>, fazendo com que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fluxo de aprendizado morra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  <a:blipFill rotWithShape="0">
                <a:blip r:embed="rId2"/>
                <a:stretch>
                  <a:fillRect l="-97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0572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73690" cy="5032375"/>
          </a:xfrm>
        </p:spPr>
        <p:txBody>
          <a:bodyPr>
            <a:normAutofit/>
          </a:bodyPr>
          <a:lstStyle/>
          <a:p>
            <a:r>
              <a:rPr lang="pt-BR" dirty="0"/>
              <a:t>Devido ao </a:t>
            </a:r>
            <a:r>
              <a:rPr lang="pt-BR" b="1" dirty="0">
                <a:solidFill>
                  <a:schemeClr val="accent2"/>
                </a:solidFill>
              </a:rPr>
              <a:t>desaparecimento do gradiente</a:t>
            </a:r>
            <a:r>
              <a:rPr lang="pt-BR" dirty="0"/>
              <a:t>, as </a:t>
            </a:r>
            <a:r>
              <a:rPr lang="pt-BR" dirty="0" err="1"/>
              <a:t>RNNs</a:t>
            </a:r>
            <a:r>
              <a:rPr lang="pt-BR" dirty="0"/>
              <a:t> tradicionais (baunilha) </a:t>
            </a:r>
            <a:r>
              <a:rPr lang="pt-BR" b="1" dirty="0">
                <a:solidFill>
                  <a:schemeClr val="accent2"/>
                </a:solidFill>
              </a:rPr>
              <a:t>são incapazes de aprender dependências de longo prazo</a:t>
            </a:r>
            <a:r>
              <a:rPr lang="pt-BR" dirty="0"/>
              <a:t>.</a:t>
            </a:r>
          </a:p>
          <a:p>
            <a:r>
              <a:rPr lang="pt-BR" dirty="0"/>
              <a:t>Quando uma RNN processa uma </a:t>
            </a:r>
            <a:r>
              <a:rPr lang="pt-BR" b="1" dirty="0">
                <a:solidFill>
                  <a:srgbClr val="7030A0"/>
                </a:solidFill>
              </a:rPr>
              <a:t>sequência longa</a:t>
            </a:r>
            <a:r>
              <a:rPr lang="pt-BR" dirty="0"/>
              <a:t>, ela </a:t>
            </a:r>
            <a:r>
              <a:rPr lang="pt-BR" b="1" dirty="0">
                <a:solidFill>
                  <a:srgbClr val="7030A0"/>
                </a:solidFill>
              </a:rPr>
              <a:t>gradualmente esquece as primeiras entradas</a:t>
            </a:r>
            <a:r>
              <a:rPr lang="pt-BR" dirty="0"/>
              <a:t> da sequência.</a:t>
            </a:r>
          </a:p>
          <a:p>
            <a:r>
              <a:rPr lang="pt-BR" dirty="0"/>
              <a:t>Entretanto, </a:t>
            </a:r>
            <a:r>
              <a:rPr lang="pt-BR" b="1" dirty="0">
                <a:solidFill>
                  <a:srgbClr val="00B050"/>
                </a:solidFill>
              </a:rPr>
              <a:t>algumas aplicações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exigem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dependências tanto de curto quanto de longo prazo</a:t>
            </a:r>
            <a:r>
              <a:rPr lang="pt-BR" dirty="0"/>
              <a:t>.</a:t>
            </a:r>
          </a:p>
          <a:p>
            <a:r>
              <a:rPr lang="pt-BR" b="1" dirty="0"/>
              <a:t>Exemplos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 de texto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Reconhecimento</a:t>
            </a:r>
            <a:r>
              <a:rPr lang="en-US" dirty="0"/>
              <a:t> de </a:t>
            </a:r>
            <a:r>
              <a:rPr lang="en-US" dirty="0" err="1"/>
              <a:t>fala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Rastreamento</a:t>
            </a:r>
            <a:r>
              <a:rPr lang="en-US" dirty="0"/>
              <a:t> de </a:t>
            </a:r>
            <a:r>
              <a:rPr lang="en-US" dirty="0" err="1"/>
              <a:t>objetos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5446177-ADB3-5B28-1AA8-5319ACA645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265718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 RNN ao lado para fazer uma </a:t>
            </a:r>
            <a:r>
              <a:rPr lang="pt-BR" b="1" dirty="0">
                <a:solidFill>
                  <a:srgbClr val="00B050"/>
                </a:solidFill>
              </a:rPr>
              <a:t>previsão de um passo à frente</a:t>
            </a:r>
            <a:r>
              <a:rPr lang="pt-BR" dirty="0"/>
              <a:t>.</a:t>
            </a:r>
          </a:p>
          <a:p>
            <a:r>
              <a:rPr lang="pt-BR" dirty="0"/>
              <a:t>Para </a:t>
            </a:r>
            <a:r>
              <a:rPr lang="pt-BR" b="1" dirty="0">
                <a:solidFill>
                  <a:schemeClr val="accent2"/>
                </a:solidFill>
              </a:rPr>
              <a:t>prever a palavra “azul”</a:t>
            </a:r>
            <a:r>
              <a:rPr lang="pt-BR" dirty="0"/>
              <a:t>, basta olhar apenas </a:t>
            </a:r>
            <a:r>
              <a:rPr lang="pt-BR" b="1" dirty="0">
                <a:solidFill>
                  <a:schemeClr val="accent2"/>
                </a:solidFill>
              </a:rPr>
              <a:t>dois passos atrás</a:t>
            </a:r>
            <a:r>
              <a:rPr lang="pt-BR" dirty="0"/>
              <a:t> no tempo.</a:t>
            </a:r>
          </a:p>
          <a:p>
            <a:r>
              <a:rPr lang="pt-BR" dirty="0"/>
              <a:t>Nesse caso, basta </a:t>
            </a:r>
            <a:r>
              <a:rPr lang="pt-BR" dirty="0" err="1"/>
              <a:t>retropropagar</a:t>
            </a:r>
            <a:r>
              <a:rPr lang="pt-BR" dirty="0"/>
              <a:t> o gradiente dois passos para trás para aprender a palavra com sucesso.</a:t>
            </a:r>
          </a:p>
          <a:p>
            <a:r>
              <a:rPr lang="pt-BR" dirty="0"/>
              <a:t>Porém, existem casos em que a RNN precisa de mais contexto.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3011F6-166D-E866-27C5-69A2EF65F07A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6530" y="1825624"/>
            <a:ext cx="5885469" cy="5032375"/>
          </a:xfrm>
        </p:spPr>
        <p:txBody>
          <a:bodyPr>
            <a:normAutofit/>
          </a:bodyPr>
          <a:lstStyle/>
          <a:p>
            <a:r>
              <a:rPr lang="pt-BR" dirty="0"/>
              <a:t>Continuando com a previsão de um passo à frente.</a:t>
            </a:r>
          </a:p>
          <a:p>
            <a:r>
              <a:rPr lang="pt-BR" dirty="0"/>
              <a:t>Considere a frase: </a:t>
            </a:r>
          </a:p>
          <a:p>
            <a:pPr marL="457200" lvl="1" indent="0" algn="ctr">
              <a:buNone/>
            </a:pPr>
            <a:r>
              <a:rPr lang="pt-BR" dirty="0"/>
              <a:t>“Sou de Roma. Nasci há 30 anos. Gosto de comer bem e andar de bicicleta. Minha língua materna é o italiano.”</a:t>
            </a:r>
          </a:p>
          <a:p>
            <a:r>
              <a:rPr lang="pt-BR" dirty="0"/>
              <a:t>Quando queremos </a:t>
            </a:r>
            <a:r>
              <a:rPr lang="pt-BR" b="1" dirty="0">
                <a:solidFill>
                  <a:schemeClr val="accent2"/>
                </a:solidFill>
              </a:rPr>
              <a:t>prever a palavra "italiano"</a:t>
            </a:r>
            <a:r>
              <a:rPr lang="pt-BR" dirty="0"/>
              <a:t>, temos que olhar </a:t>
            </a:r>
            <a:r>
              <a:rPr lang="pt-BR" b="1" dirty="0">
                <a:solidFill>
                  <a:schemeClr val="accent2"/>
                </a:solidFill>
              </a:rPr>
              <a:t>vários passos para trás no tempo</a:t>
            </a:r>
            <a:r>
              <a:rPr lang="pt-BR" dirty="0"/>
              <a:t>, até a palavra "Roma".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D27DDD-946D-AB8C-ED06-3C325B14C52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0D115FB-FCD8-EC8B-4716-893C986867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dirty="0"/>
              <a:t>Nesse caso, a memória de curto prazo da RNN tradicional pode não ser suficiente.</a:t>
            </a:r>
          </a:p>
          <a:p>
            <a:r>
              <a:rPr lang="pt-BR" dirty="0"/>
              <a:t>À medida que o intervalo de tempo aumenta, torna-se mais difícil para uma RNN lidar com o problema.</a:t>
            </a:r>
          </a:p>
          <a:p>
            <a:r>
              <a:rPr lang="pt-BR" dirty="0"/>
              <a:t>Vamos ver como redes de </a:t>
            </a:r>
            <a:r>
              <a:rPr lang="pt-BR" b="1" dirty="0"/>
              <a:t>memória de curto longo prazo (</a:t>
            </a:r>
            <a:r>
              <a:rPr lang="pt-BR" b="1" i="1" dirty="0" err="1"/>
              <a:t>long</a:t>
            </a:r>
            <a:r>
              <a:rPr lang="pt-BR" b="1" i="1" dirty="0"/>
              <a:t>-short </a:t>
            </a:r>
            <a:r>
              <a:rPr lang="pt-BR" b="1" i="1" dirty="0" err="1"/>
              <a:t>term</a:t>
            </a:r>
            <a:r>
              <a:rPr lang="pt-BR" b="1" i="1" dirty="0"/>
              <a:t> </a:t>
            </a:r>
            <a:r>
              <a:rPr lang="pt-BR" b="1" i="1" dirty="0" err="1"/>
              <a:t>memory</a:t>
            </a:r>
            <a:r>
              <a:rPr lang="pt-BR" b="1" dirty="0"/>
              <a:t> – LSTM) </a:t>
            </a:r>
            <a:r>
              <a:rPr lang="pt-BR" dirty="0"/>
              <a:t>podem lidar com essa dificuldade.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e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</a:t>
            </a:r>
            <a:r>
              <a:rPr lang="pt-BR" b="1" dirty="0">
                <a:solidFill>
                  <a:schemeClr val="accent2"/>
                </a:solidFill>
              </a:rPr>
              <a:t>diversos problemas que envolvem dados sequenciais</a:t>
            </a:r>
            <a:r>
              <a:rPr lang="pt-BR" dirty="0"/>
              <a:t> e são amplamente utilizadas atualmente.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 tradicionais, elas </a:t>
            </a:r>
            <a:r>
              <a:rPr lang="pt-BR" b="1" dirty="0">
                <a:solidFill>
                  <a:srgbClr val="7030A0"/>
                </a:solidFill>
              </a:rPr>
              <a:t>precisam ser desdobradas</a:t>
            </a:r>
            <a:r>
              <a:rPr lang="pt-BR" dirty="0"/>
              <a:t> no tempo para serem </a:t>
            </a:r>
            <a:r>
              <a:rPr lang="pt-BR" b="1" dirty="0">
                <a:solidFill>
                  <a:srgbClr val="7030A0"/>
                </a:solidFill>
              </a:rPr>
              <a:t>treinadas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2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B7EA0D5-79A9-4147-4235-29A2A75B93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2081" y="3804862"/>
            <a:ext cx="8206040" cy="3053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unidade de processamento</a:t>
            </a:r>
            <a:r>
              <a:rPr lang="pt-BR" dirty="0"/>
              <a:t> (neurônio) da LSTM é mais </a:t>
            </a:r>
            <a:r>
              <a:rPr lang="pt-BR" b="1" dirty="0">
                <a:solidFill>
                  <a:srgbClr val="7030A0"/>
                </a:solidFill>
              </a:rPr>
              <a:t>complexa</a:t>
            </a:r>
            <a:r>
              <a:rPr lang="pt-BR" dirty="0"/>
              <a:t> e é chamada de </a:t>
            </a:r>
            <a:r>
              <a:rPr lang="pt-BR" b="1" dirty="0">
                <a:solidFill>
                  <a:srgbClr val="7030A0"/>
                </a:solidFill>
              </a:rPr>
              <a:t>célula</a:t>
            </a:r>
            <a:r>
              <a:rPr lang="pt-BR" dirty="0"/>
              <a:t>.</a:t>
            </a:r>
          </a:p>
          <a:p>
            <a:r>
              <a:rPr lang="pt-BR" dirty="0"/>
              <a:t>Uma célula LSTM é composta por </a:t>
            </a:r>
            <a:r>
              <a:rPr lang="pt-BR" b="1" dirty="0">
                <a:solidFill>
                  <a:schemeClr val="accent2"/>
                </a:solidFill>
              </a:rPr>
              <a:t>4 camadas totalmente conectadas</a:t>
            </a:r>
            <a:r>
              <a:rPr lang="pt-BR" dirty="0"/>
              <a:t>, que interagem entre si de uma maneira especial.</a:t>
            </a:r>
          </a:p>
          <a:p>
            <a:r>
              <a:rPr lang="pt-BR" dirty="0"/>
              <a:t>Elas </a:t>
            </a:r>
            <a:r>
              <a:rPr lang="pt-BR" b="1" dirty="0">
                <a:solidFill>
                  <a:schemeClr val="accent1"/>
                </a:solidFill>
              </a:rPr>
              <a:t>capturam padrões de longo e curto prazo</a:t>
            </a:r>
            <a:r>
              <a:rPr lang="pt-BR" dirty="0"/>
              <a:t> de uma sequência de dados. 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FE238D-F070-FB97-ACEC-0EF800831D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3721" y="4117943"/>
            <a:ext cx="7364558" cy="2740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DB9C1-2571-2FA0-E43E-54FD8004F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A93D8-34FE-B0E1-EB4D-06EB0C123C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2918" y="1825624"/>
            <a:ext cx="6329081" cy="5032375"/>
          </a:xfrm>
        </p:spPr>
        <p:txBody>
          <a:bodyPr>
            <a:normAutofit/>
          </a:bodyPr>
          <a:lstStyle/>
          <a:p>
            <a:r>
              <a:rPr lang="pt-BR" dirty="0"/>
              <a:t>Uma célula LSTM possui </a:t>
            </a:r>
            <a:r>
              <a:rPr lang="pt-BR" b="1" dirty="0"/>
              <a:t>3 portas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Forget </a:t>
            </a:r>
            <a:r>
              <a:rPr lang="pt-BR" b="1" i="1" dirty="0" err="1"/>
              <a:t>gate</a:t>
            </a:r>
            <a:r>
              <a:rPr lang="pt-BR" dirty="0"/>
              <a:t> (porta de esquecimento)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Input </a:t>
            </a:r>
            <a:r>
              <a:rPr lang="pt-BR" b="1" i="1" dirty="0" err="1"/>
              <a:t>gate</a:t>
            </a:r>
            <a:r>
              <a:rPr lang="pt-BR" dirty="0"/>
              <a:t> (porta de entrada)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Output </a:t>
            </a:r>
            <a:r>
              <a:rPr lang="pt-BR" b="1" i="1" dirty="0" err="1"/>
              <a:t>gate</a:t>
            </a:r>
            <a:r>
              <a:rPr lang="pt-BR" dirty="0"/>
              <a:t> (porta de saída)</a:t>
            </a:r>
          </a:p>
          <a:p>
            <a:r>
              <a:rPr lang="pt-BR" dirty="0"/>
              <a:t>A informação na célula é </a:t>
            </a:r>
            <a:r>
              <a:rPr lang="pt-BR" b="1" dirty="0">
                <a:solidFill>
                  <a:srgbClr val="00B050"/>
                </a:solidFill>
              </a:rPr>
              <a:t>protegida e controlada</a:t>
            </a:r>
            <a:r>
              <a:rPr lang="pt-BR" dirty="0"/>
              <a:t> por meio das 3 portas.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180B18-707C-9189-F385-D0DD145061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222745"/>
            <a:ext cx="5320197" cy="322814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9B1DA347-BBC4-AE49-41A5-6D28C39A35B8}"/>
              </a:ext>
            </a:extLst>
          </p:cNvPr>
          <p:cNvSpPr/>
          <p:nvPr/>
        </p:nvSpPr>
        <p:spPr>
          <a:xfrm>
            <a:off x="1678193" y="2893806"/>
            <a:ext cx="484094" cy="182584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C6A37ED-D7FF-0A9B-246C-6A1327E19771}"/>
              </a:ext>
            </a:extLst>
          </p:cNvPr>
          <p:cNvSpPr txBox="1"/>
          <p:nvPr/>
        </p:nvSpPr>
        <p:spPr>
          <a:xfrm>
            <a:off x="1371600" y="2361749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esquecimento</a:t>
            </a:r>
            <a:endParaRPr lang="en-US" sz="11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841BE1E-2151-5C15-382E-E4E866E97366}"/>
              </a:ext>
            </a:extLst>
          </p:cNvPr>
          <p:cNvSpPr/>
          <p:nvPr/>
        </p:nvSpPr>
        <p:spPr>
          <a:xfrm>
            <a:off x="2259105" y="3603812"/>
            <a:ext cx="1312433" cy="1115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9FE171E2-98E2-80BF-7246-2FA7AC491881}"/>
              </a:ext>
            </a:extLst>
          </p:cNvPr>
          <p:cNvSpPr txBox="1"/>
          <p:nvPr/>
        </p:nvSpPr>
        <p:spPr>
          <a:xfrm>
            <a:off x="2366681" y="4776881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entrada</a:t>
            </a:r>
            <a:endParaRPr lang="en-US" sz="1100" dirty="0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B5D41BF3-5175-2D98-868F-9949FD2DD01F}"/>
              </a:ext>
            </a:extLst>
          </p:cNvPr>
          <p:cNvSpPr/>
          <p:nvPr/>
        </p:nvSpPr>
        <p:spPr>
          <a:xfrm>
            <a:off x="3668355" y="3162748"/>
            <a:ext cx="1140313" cy="15569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690B213-E976-D58E-3664-2CC432FE0432}"/>
              </a:ext>
            </a:extLst>
          </p:cNvPr>
          <p:cNvSpPr txBox="1"/>
          <p:nvPr/>
        </p:nvSpPr>
        <p:spPr>
          <a:xfrm>
            <a:off x="3626869" y="4820825"/>
            <a:ext cx="10972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saída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92425130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86379-E466-E661-270D-8BE5BF3F1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80765-C6E3-77E8-073B-A8B3F6BA3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6E7DB-3A45-270A-379C-5B53CF58B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4845" y="1825624"/>
            <a:ext cx="6077154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entra na célula</a:t>
            </a:r>
            <a:r>
              <a:rPr lang="pt-BR" dirty="0"/>
              <a:t> sempre que sua </a:t>
            </a:r>
            <a:r>
              <a:rPr lang="pt-BR" b="1" dirty="0">
                <a:solidFill>
                  <a:schemeClr val="accent2"/>
                </a:solidFill>
              </a:rPr>
              <a:t>porta de entrada</a:t>
            </a:r>
            <a:r>
              <a:rPr lang="pt-BR" dirty="0"/>
              <a:t> está </a:t>
            </a:r>
            <a:r>
              <a:rPr lang="pt-BR" b="1" dirty="0">
                <a:solidFill>
                  <a:schemeClr val="accent2"/>
                </a:solidFill>
              </a:rPr>
              <a:t>ligada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é descartada</a:t>
            </a:r>
            <a:r>
              <a:rPr lang="pt-BR" dirty="0"/>
              <a:t> da célula sempre que sua </a:t>
            </a:r>
            <a:r>
              <a:rPr lang="pt-BR" b="1" dirty="0">
                <a:solidFill>
                  <a:schemeClr val="accent2"/>
                </a:solidFill>
              </a:rPr>
              <a:t>porta de esquecimento está desligada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pode ser lida</a:t>
            </a:r>
            <a:r>
              <a:rPr lang="pt-BR" dirty="0"/>
              <a:t> da célula </a:t>
            </a:r>
            <a:r>
              <a:rPr lang="pt-BR" b="1" dirty="0">
                <a:solidFill>
                  <a:schemeClr val="accent2"/>
                </a:solidFill>
              </a:rPr>
              <a:t>ligando sua porta de saída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390354-76AE-6D7E-6109-156C51E09BD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222745"/>
            <a:ext cx="5320197" cy="322814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5B538100-869E-9015-E39A-A1340D4D0515}"/>
              </a:ext>
            </a:extLst>
          </p:cNvPr>
          <p:cNvSpPr/>
          <p:nvPr/>
        </p:nvSpPr>
        <p:spPr>
          <a:xfrm>
            <a:off x="1678193" y="2893806"/>
            <a:ext cx="484094" cy="182584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5DD632F-0686-568D-5F9B-260BA967E010}"/>
              </a:ext>
            </a:extLst>
          </p:cNvPr>
          <p:cNvSpPr txBox="1"/>
          <p:nvPr/>
        </p:nvSpPr>
        <p:spPr>
          <a:xfrm>
            <a:off x="1371600" y="2361749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esquecimento</a:t>
            </a:r>
            <a:endParaRPr lang="en-US" sz="11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AA82173B-E627-D5F4-C24A-C8EFB8591AF2}"/>
              </a:ext>
            </a:extLst>
          </p:cNvPr>
          <p:cNvSpPr/>
          <p:nvPr/>
        </p:nvSpPr>
        <p:spPr>
          <a:xfrm>
            <a:off x="2259105" y="3603812"/>
            <a:ext cx="1312433" cy="1115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738DFC6-B08A-BCAF-A6DC-558964B054EF}"/>
              </a:ext>
            </a:extLst>
          </p:cNvPr>
          <p:cNvSpPr txBox="1"/>
          <p:nvPr/>
        </p:nvSpPr>
        <p:spPr>
          <a:xfrm>
            <a:off x="2366681" y="4776881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entrada</a:t>
            </a:r>
            <a:endParaRPr lang="en-US" sz="1100" dirty="0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724DFD49-F8A1-B391-4C4D-9D392820E8F5}"/>
              </a:ext>
            </a:extLst>
          </p:cNvPr>
          <p:cNvSpPr/>
          <p:nvPr/>
        </p:nvSpPr>
        <p:spPr>
          <a:xfrm>
            <a:off x="3668355" y="3162748"/>
            <a:ext cx="1140313" cy="15569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256C62AF-7481-CE0B-1BB2-B4A93CE957B9}"/>
              </a:ext>
            </a:extLst>
          </p:cNvPr>
          <p:cNvSpPr txBox="1"/>
          <p:nvPr/>
        </p:nvSpPr>
        <p:spPr>
          <a:xfrm>
            <a:off x="3626869" y="4820825"/>
            <a:ext cx="10972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saída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78010532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62C8C-8191-2D84-EFBA-74B11AA29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B969-F400-92D5-152D-2637CB490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79D43-D4FA-D0BA-8D88-3951453F2C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2163" y="1825624"/>
            <a:ext cx="6186488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informação</a:t>
            </a:r>
            <a:r>
              <a:rPr lang="pt-BR" dirty="0"/>
              <a:t> pode </a:t>
            </a:r>
            <a:r>
              <a:rPr lang="pt-BR" b="1" dirty="0">
                <a:solidFill>
                  <a:schemeClr val="accent2"/>
                </a:solidFill>
              </a:rPr>
              <a:t>fluir ao longo da célula</a:t>
            </a:r>
            <a:r>
              <a:rPr lang="pt-BR" dirty="0"/>
              <a:t> de memória </a:t>
            </a:r>
            <a:r>
              <a:rPr lang="pt-BR" b="1" dirty="0">
                <a:solidFill>
                  <a:srgbClr val="7030A0"/>
                </a:solidFill>
              </a:rPr>
              <a:t>sem sofrer alterações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Interações lineares.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Mitiga o desaparecimento do gradiente.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informação</a:t>
            </a:r>
            <a:r>
              <a:rPr lang="pt-BR" dirty="0"/>
              <a:t> pode ser </a:t>
            </a:r>
            <a:r>
              <a:rPr lang="pt-BR" b="1" dirty="0">
                <a:solidFill>
                  <a:schemeClr val="accent2"/>
                </a:solidFill>
              </a:rPr>
              <a:t>removida</a:t>
            </a:r>
            <a:r>
              <a:rPr lang="pt-BR" dirty="0"/>
              <a:t> ou </a:t>
            </a:r>
            <a:r>
              <a:rPr lang="pt-BR" b="1" dirty="0">
                <a:solidFill>
                  <a:schemeClr val="accent2"/>
                </a:solidFill>
              </a:rPr>
              <a:t>gravada</a:t>
            </a:r>
            <a:r>
              <a:rPr lang="pt-BR" dirty="0"/>
              <a:t> na célula de memória </a:t>
            </a:r>
            <a:r>
              <a:rPr lang="pt-BR" b="1" dirty="0">
                <a:solidFill>
                  <a:srgbClr val="7030A0"/>
                </a:solidFill>
              </a:rPr>
              <a:t>regulando-se as portas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F33E3F-21F0-98F8-7A75-265BBFA1F4F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480" y="2513639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9919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D7632-DD0B-773B-931F-622479528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B612C-6F65-E184-0E1E-387461C1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812A4-BB08-CF51-52EF-8F212B136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8037" y="1825624"/>
            <a:ext cx="6933963" cy="5032375"/>
          </a:xfrm>
        </p:spPr>
        <p:txBody>
          <a:bodyPr>
            <a:normAutofit/>
          </a:bodyPr>
          <a:lstStyle/>
          <a:p>
            <a:r>
              <a:rPr lang="pt-BR" dirty="0"/>
              <a:t>As portas são uma forma de </a:t>
            </a:r>
            <a:r>
              <a:rPr lang="pt-BR" b="1" dirty="0">
                <a:solidFill>
                  <a:srgbClr val="7030A0"/>
                </a:solidFill>
              </a:rPr>
              <a:t>permitir opcionalmente</a:t>
            </a:r>
            <a:r>
              <a:rPr lang="pt-BR" dirty="0"/>
              <a:t> a </a:t>
            </a:r>
            <a:r>
              <a:rPr lang="pt-BR" b="1" dirty="0">
                <a:solidFill>
                  <a:srgbClr val="00B050"/>
                </a:solidFill>
              </a:rPr>
              <a:t>passagem de informações</a:t>
            </a:r>
            <a:r>
              <a:rPr lang="pt-BR" dirty="0"/>
              <a:t>.</a:t>
            </a:r>
          </a:p>
          <a:p>
            <a:r>
              <a:rPr lang="pt-BR" dirty="0"/>
              <a:t>Por exemplo, uma camada densa com função de ativação sigmoide gera valores entre 0 e 1.</a:t>
            </a:r>
          </a:p>
          <a:p>
            <a:r>
              <a:rPr lang="pt-BR" dirty="0"/>
              <a:t>Uma </a:t>
            </a:r>
            <a:r>
              <a:rPr lang="pt-BR" b="1" dirty="0">
                <a:solidFill>
                  <a:schemeClr val="accent2"/>
                </a:solidFill>
              </a:rPr>
              <a:t>operação de multiplicação elemento a elemento</a:t>
            </a:r>
            <a:r>
              <a:rPr lang="pt-BR" dirty="0"/>
              <a:t> decide o quanto da entrada passar.</a:t>
            </a:r>
          </a:p>
          <a:p>
            <a:r>
              <a:rPr lang="pt-BR" dirty="0"/>
              <a:t>Com isso a porta decide (</a:t>
            </a:r>
            <a:r>
              <a:rPr lang="pt-BR" b="1" dirty="0">
                <a:solidFill>
                  <a:srgbClr val="00B050"/>
                </a:solidFill>
              </a:rPr>
              <a:t>aprende</a:t>
            </a:r>
            <a:r>
              <a:rPr lang="pt-BR" dirty="0"/>
              <a:t>) o quanto de cada elemento deve ser permitido passar.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728557-869E-BAFB-3066-1D739731CD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70CEDC2-429E-FD22-6690-830CD30AF0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710488"/>
              </p:ext>
            </p:extLst>
          </p:nvPr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8B26B905-DC25-9DA7-2367-B16D6608B5DA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E348D4B-93D4-C098-7AF9-B153BE1F7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979572"/>
              </p:ext>
            </p:extLst>
          </p:nvPr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32B1D0E7-53E6-C236-1C2B-B2CE4AE3DE25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1F8917B-8816-341A-558C-A1CAEB0704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979028"/>
              </p:ext>
            </p:extLst>
          </p:nvPr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75011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5C087-743B-C7CF-BE89-B5D6C3962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15137-761A-DF31-B5AF-A324F7C30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06F197-D087-7D0F-80F1-D4BCF89B74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58037" y="1825624"/>
                <a:ext cx="693396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Os valores no vetor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variam entre 0 e 1, onde: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0 significa “fechado”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1 significa “aberto”.</a:t>
                </a:r>
              </a:p>
              <a:p>
                <a:r>
                  <a:rPr lang="pt-BR" dirty="0"/>
                  <a:t>Resumindo,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“filtra”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a informação</a:t>
                </a:r>
                <a:r>
                  <a:rPr lang="pt-BR" dirty="0"/>
                  <a:t> multiplicando o vetor de entrada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pelo vetor de porta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elemento a elemento.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06F197-D087-7D0F-80F1-D4BCF89B74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58037" y="1825624"/>
                <a:ext cx="6933963" cy="5032375"/>
              </a:xfrm>
              <a:blipFill>
                <a:blip r:embed="rId3"/>
                <a:stretch>
                  <a:fillRect l="-158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98F49F13-A23B-6EF7-D9E0-57F230B27E4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A36C67E-2EAB-F79C-D505-DE79D767793A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F887BFCD-6D50-ACA8-946F-28EDF6FF4E02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35936FD-C97F-B176-82F3-FD34E8A9ECCF}"/>
              </a:ext>
            </a:extLst>
          </p:cNvPr>
          <p:cNvGraphicFramePr>
            <a:graphicFrameLocks noGrp="1"/>
          </p:cNvGraphicFramePr>
          <p:nvPr/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A400603-03D8-6D82-0212-139747E4B31D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1939FB0-0AA3-25B0-B525-F0D1DAB311A5}"/>
              </a:ext>
            </a:extLst>
          </p:cNvPr>
          <p:cNvGraphicFramePr>
            <a:graphicFrameLocks noGrp="1"/>
          </p:cNvGraphicFramePr>
          <p:nvPr/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4B4D6A2-75FA-8B46-5F44-282DBA566656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FC98C86-8C6F-A5B7-34CD-39F2F88063D8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5AAF2C3-7FC3-BC24-A1B1-38A5EE18C5BA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143984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Estados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23280" y="1825624"/>
                <a:ext cx="666872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Uma célula LSTM possui dois estados: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o estado oculto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a memória de longo prazo.</a:t>
                </a:r>
              </a:p>
              <a:p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memória de curto prazo e saída atual da célula.</a:t>
                </a:r>
              </a:p>
              <a:p>
                <a:r>
                  <a:rPr lang="pt-BR" dirty="0"/>
                  <a:t>A célula modifica 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apenas por meio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interações lineares*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informação flui suavemente ao longo do tempo.</a:t>
                </a:r>
              </a:p>
              <a:p>
                <a:r>
                  <a:rPr lang="pt-BR" dirty="0"/>
                  <a:t>A célula </a:t>
                </a:r>
                <a:r>
                  <a:rPr lang="pt-BR" b="1" dirty="0">
                    <a:solidFill>
                      <a:srgbClr val="00B050"/>
                    </a:solidFill>
                  </a:rPr>
                  <a:t>decide o quanto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 revelar/mostrar</a:t>
                </a:r>
                <a:r>
                  <a:rPr lang="pt-BR" dirty="0"/>
                  <a:t> usando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saída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23280" y="1825624"/>
                <a:ext cx="6668721" cy="5032375"/>
              </a:xfrm>
              <a:blipFill rotWithShape="0">
                <a:blip r:embed="rId2"/>
                <a:stretch>
                  <a:fillRect l="-1645" t="-2663" r="-1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E227967A-2652-CF1C-F0CA-9E5085FEEFB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67" y="2281509"/>
            <a:ext cx="5131773" cy="3158867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08B4F401-8089-55FA-9674-E0D136960DBF}"/>
              </a:ext>
            </a:extLst>
          </p:cNvPr>
          <p:cNvSpPr txBox="1"/>
          <p:nvPr/>
        </p:nvSpPr>
        <p:spPr>
          <a:xfrm>
            <a:off x="0" y="6550222"/>
            <a:ext cx="47635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* importante, pois minimiza o desaparecimento do gradiente.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8489534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Porta de </a:t>
            </a:r>
            <a:r>
              <a:rPr lang="en-US" dirty="0" err="1"/>
              <a:t>esquecimento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Controla quais informações devem ser descartadas do estado de longo prazo da célula.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esquece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completamente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mant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é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da célula anterior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de PLN: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 mantém o gênero do sujeito presente para usar os pronomes corretos.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Ao ver um novo sujeito, esqueça o gênero do sujeito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  <a:blipFill>
                <a:blip r:embed="rId3"/>
                <a:stretch>
                  <a:fillRect l="-1719" t="-2663" r="-1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BCAB297B-CDDB-7EF5-2A7E-0434E34079D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183" y="2387448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4BE9-24E6-DBC5-186F-61B6FA66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entrada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Determina o quanto atualizar o estado antigo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 um novo candidato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PNL: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Gostaríamos de adicionar o gênero do novo sujeito ao estado da célula, para substituir o antigo que estamos esquecendo.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  <a:blipFill>
                <a:blip r:embed="rId3"/>
                <a:stretch>
                  <a:fillRect l="-1727" t="-1937" r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9028197-6E3A-D453-E14C-79F999DC2F8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82" y="2338664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3376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2FAD1-4DBD-A371-7565-6081A1219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76E6C-21FE-5575-46B7-F6F5257A0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Calcular o vetor da porta de esquecimento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vetor da porta de entrada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Calcular o vetor de informação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novo vetor de estado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esquece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anterior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limLow>
                        <m:limLow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acc>
                                    <m:accPr>
                                      <m:chr m:val="̃"/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entarda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nova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o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8A3055A6-AFBF-722F-46B1-12B03F916C6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8567" y="2222205"/>
            <a:ext cx="3443433" cy="211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21222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7D1F2-6CA4-20EA-CC21-706A3BBFA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B3B1D-D2B0-1301-7FA6-4831F5728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é uma versão filtrada do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passado através de uma </a:t>
                </a:r>
                <a:r>
                  <a:rPr lang="pt-BR" i="1" dirty="0" err="1"/>
                  <a:t>tanh</a:t>
                </a:r>
                <a:r>
                  <a:rPr lang="pt-BR" dirty="0"/>
                  <a:t>, que comprime seus valores entre -1 e 1.</a:t>
                </a:r>
              </a:p>
              <a:p>
                <a:r>
                  <a:rPr lang="pt-BR" dirty="0"/>
                  <a:t>Em seguida, a porta decide quais partes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serão passadas para a saída.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               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í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da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passa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do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estado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PLN: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indicar se o sujeito é singular ou plural, para que se um verbo vier em seguida, ele seja conjugado corretamente.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  <a:blipFill>
                <a:blip r:embed="rId3"/>
                <a:stretch>
                  <a:fillRect l="-172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A5BC753-8840-8C1C-7822-2E7EFD9C53F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611" y="2422339"/>
            <a:ext cx="5131773" cy="316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884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9160B-0A9F-1A85-6B15-1990ABAB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</p:spPr>
            <p:txBody>
              <a:bodyPr/>
              <a:lstStyle/>
              <a:p>
                <a:r>
                  <a:rPr lang="pt-BR" dirty="0"/>
                  <a:t>Resumindo, uma célula LSTM pode: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aprender a reconhecer uma entrada importante (essa é a função da porta de entrada),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armazená-la no estado de longo prazo,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preservá-la pelo tempo que for necessário (essa é a função da porta do esquecimento)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extraí-la sempre que necessário (essa é a função da porta de saída).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  <a:blipFill>
                <a:blip r:embed="rId2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87287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A2A55-F68E-8442-C0DD-A2410B7A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desvantagens</a:t>
            </a:r>
            <a:r>
              <a:rPr lang="en-US" dirty="0"/>
              <a:t> de LSTMs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saídas das portas nunca são realmente 0 ou 1.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conteúdo da célula inevitavelmente se corrompe após um longo período.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ainda apresenta dificuldades com dependências temporais muito longas.</a:t>
                </a:r>
              </a:p>
              <a:p>
                <a:r>
                  <a:rPr lang="en-US" dirty="0"/>
                  <a:t>Alta </a:t>
                </a:r>
                <a:r>
                  <a:rPr lang="en-US" dirty="0" err="1"/>
                  <a:t>complexidade</a:t>
                </a:r>
                <a:r>
                  <a:rPr lang="en-US" dirty="0"/>
                  <a:t> </a:t>
                </a:r>
                <a:r>
                  <a:rPr lang="en-US" dirty="0" err="1"/>
                  <a:t>computacional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Muito mais parâmetros que RNN simples.</a:t>
                </a:r>
              </a:p>
              <a:p>
                <a:r>
                  <a:rPr lang="en-US" dirty="0" err="1"/>
                  <a:t>Dificuldade</a:t>
                </a:r>
                <a:r>
                  <a:rPr lang="en-US" dirty="0"/>
                  <a:t> de </a:t>
                </a:r>
                <a:r>
                  <a:rPr lang="en-US" dirty="0" err="1"/>
                  <a:t>paralelização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Processamento sequencial: depende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para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Difícil explorar paralelismo em GPU</a:t>
                </a:r>
              </a:p>
              <a:p>
                <a:r>
                  <a:rPr lang="pt-BR" dirty="0"/>
                  <a:t>Hoje é superada em muitos cenários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Modelos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modernos</a:t>
                </a:r>
                <a:r>
                  <a:rPr lang="en-US" dirty="0"/>
                  <a:t>: Transformers com attention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Eles </a:t>
                </a:r>
                <a:r>
                  <a:rPr lang="en-US" dirty="0" err="1"/>
                  <a:t>apresentam</a:t>
                </a:r>
                <a:r>
                  <a:rPr lang="en-US" dirty="0"/>
                  <a:t> m</a:t>
                </a:r>
                <a:r>
                  <a:rPr lang="pt-BR" dirty="0" err="1"/>
                  <a:t>elhor</a:t>
                </a:r>
                <a:r>
                  <a:rPr lang="pt-BR" dirty="0"/>
                  <a:t>: paralelização e capturam de dependências globais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99936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8692" y="1825624"/>
            <a:ext cx="6743307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 o sucesso das </a:t>
            </a:r>
            <a:r>
              <a:rPr lang="pt-BR" dirty="0" err="1"/>
              <a:t>LSTMs</a:t>
            </a:r>
            <a:r>
              <a:rPr lang="pt-BR" dirty="0"/>
              <a:t> em capturar dependências de longo prazo, arquiteturas simplificadas foram propostas com o objetivo de acelerar a computação.</a:t>
            </a:r>
          </a:p>
          <a:p>
            <a:r>
              <a:rPr lang="pt-BR" dirty="0" err="1"/>
              <a:t>GRUs</a:t>
            </a:r>
            <a:r>
              <a:rPr lang="pt-BR" dirty="0"/>
              <a:t> foram propostas em 2014 por Cho et al.</a:t>
            </a:r>
          </a:p>
          <a:p>
            <a:r>
              <a:rPr lang="pt-BR" dirty="0"/>
              <a:t>São uma versão simplificada da célula de memória LSTM.</a:t>
            </a:r>
          </a:p>
          <a:p>
            <a:r>
              <a:rPr lang="pt-BR" dirty="0"/>
              <a:t>Em geral, atingem desempenho comparável, mas com a vantagem de terem menos parâmetros e serem mais rápidas em termos de computação.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E9C48C-C90C-F33E-D12D-C8B6D0A1B56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303" y="3013147"/>
            <a:ext cx="4929495" cy="265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672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CC0D9-476E-8E7D-EC3C-28E97B88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BE93B-0FD8-4FAC-CF58-5DD52D3DB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8CC03-24B7-54E8-63B4-1022B0069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7500" y="1825624"/>
            <a:ext cx="6794500" cy="5032375"/>
          </a:xfrm>
        </p:spPr>
        <p:txBody>
          <a:bodyPr>
            <a:normAutofit/>
          </a:bodyPr>
          <a:lstStyle/>
          <a:p>
            <a:r>
              <a:rPr lang="pt-BR" dirty="0"/>
              <a:t>Usam menos portas e não possuem um estado da célula.</a:t>
            </a:r>
          </a:p>
          <a:p>
            <a:r>
              <a:rPr lang="pt-BR" dirty="0"/>
              <a:t>A porta de </a:t>
            </a:r>
            <a:r>
              <a:rPr lang="pt-BR" i="1" dirty="0"/>
              <a:t>reset</a:t>
            </a:r>
            <a:r>
              <a:rPr lang="pt-BR" dirty="0"/>
              <a:t> é responsável pela memória de curto prazo, pois decide quanta informação passada será mantida e quanta informação será descartada.</a:t>
            </a:r>
          </a:p>
          <a:p>
            <a:r>
              <a:rPr lang="pt-BR" dirty="0"/>
              <a:t>Em contraste, a porta de atualização é responsável pela memória de longo prazo e é comparável à porta de esquecimento da LSTM.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combinação das portas de esquecimento e de entrada da LSTM.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BB883C-AF65-D3CE-B74B-0176B4408C4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159" y="2601160"/>
            <a:ext cx="4929495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3234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843" y="2170398"/>
            <a:ext cx="11598442" cy="270640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</a:t>
            </a:r>
            <a:r>
              <a:rPr lang="pt-BR" sz="6000" dirty="0" err="1"/>
              <a:t>LSTMs</a:t>
            </a:r>
            <a:r>
              <a:rPr lang="pt-BR" sz="6000" dirty="0"/>
              <a:t> e </a:t>
            </a:r>
            <a:r>
              <a:rPr lang="pt-BR" sz="6000" dirty="0" err="1"/>
              <a:t>GRUs</a:t>
            </a:r>
            <a:r>
              <a:rPr lang="pt-BR" sz="6000" dirty="0"/>
              <a:t> minimizam o problema do desaparecimento do gradiente?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61994258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7C2CC-E86F-6285-9CEE-AEE63628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GRUs e </a:t>
                </a:r>
                <a:r>
                  <a:rPr lang="pt-BR" dirty="0" err="1"/>
                  <a:t>LSTMs</a:t>
                </a:r>
                <a:r>
                  <a:rPr lang="pt-BR" dirty="0"/>
                  <a:t> têm um caminho quase linear para o gradiente.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acc>
                            <m:accPr>
                              <m:chr m:val="̃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Já as </a:t>
                </a:r>
                <a:r>
                  <a:rPr lang="pt-BR" dirty="0" err="1"/>
                  <a:t>RNNs</a:t>
                </a:r>
                <a:r>
                  <a:rPr lang="pt-BR" dirty="0"/>
                  <a:t> baunilha têm uma caminha </a:t>
                </a:r>
                <a:r>
                  <a:rPr lang="pt-BR" dirty="0" err="1"/>
                  <a:t>nã</a:t>
                </a:r>
                <a:r>
                  <a:rPr lang="pt-BR" dirty="0"/>
                  <a:t>-linear: o novo estado passa por um função </a:t>
                </a:r>
                <a:r>
                  <a:rPr lang="pt-BR" dirty="0" err="1"/>
                  <a:t>tanh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  <a:blipFill>
                <a:blip r:embed="rId2"/>
                <a:stretch>
                  <a:fillRect l="-161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0DB283C-57CF-8CCB-475A-8E64A9D1D90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5A00CD-C690-0519-A0B6-48532CE3E9E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42794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7DCE-1242-9C51-3F89-48626CD90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089038-AB05-41BB-2D39-80FBAB080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1459" y="1825625"/>
            <a:ext cx="6620541" cy="5032376"/>
          </a:xfrm>
        </p:spPr>
        <p:txBody>
          <a:bodyPr>
            <a:normAutofit/>
          </a:bodyPr>
          <a:lstStyle/>
          <a:p>
            <a:r>
              <a:rPr lang="pt-BR" dirty="0" err="1"/>
              <a:t>LSTMs</a:t>
            </a:r>
            <a:r>
              <a:rPr lang="pt-BR" dirty="0"/>
              <a:t> e </a:t>
            </a:r>
            <a:r>
              <a:rPr lang="pt-BR" dirty="0" err="1"/>
              <a:t>GRUs</a:t>
            </a:r>
            <a:r>
              <a:rPr lang="pt-BR" dirty="0"/>
              <a:t> minimizam o problema do desaparecimento do gradiente porque a atualização do estado da célula é aditiva e não puramente multiplicativa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A soma cria um “atalho” </a:t>
            </a:r>
            <a:r>
              <a:rPr lang="pt-BR" b="1" dirty="0"/>
              <a:t>configurável</a:t>
            </a:r>
            <a:r>
              <a:rPr lang="pt-BR" dirty="0"/>
              <a:t> para o gradiente.</a:t>
            </a:r>
          </a:p>
          <a:p>
            <a:r>
              <a:rPr lang="pt-BR" dirty="0"/>
              <a:t>Esse atalho permite que os gradientes retrocedam no tempo sem necessariamente desaparecer.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3E2320-9C7D-2BEC-DBF2-A340E846740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9B0D30-CDE5-D51A-1F46-F2F7055CCA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87009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262E0-3E97-671D-6E9F-7D5CF88F7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5C8D3E-7443-40D0-EFC0-AE612DDB8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5298F-0274-DB9E-3AE4-1B71C47C51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</a:t>
                </a:r>
                <a:r>
                  <a:rPr lang="pt-BR" dirty="0" err="1"/>
                  <a:t>LSTMs</a:t>
                </a:r>
                <a:r>
                  <a:rPr lang="pt-BR" dirty="0"/>
                  <a:t> e </a:t>
                </a:r>
                <a:r>
                  <a:rPr lang="pt-BR" dirty="0" err="1"/>
                  <a:t>GRUs</a:t>
                </a:r>
                <a:r>
                  <a:rPr lang="pt-BR" dirty="0"/>
                  <a:t>, o valor da derivada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r>
                  <a:rPr lang="pt-BR" dirty="0"/>
                  <a:t> é função das 3 portas: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do estado de atualização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Esses 4 valores são configurações que a rede aprende a definir.</a:t>
                </a:r>
              </a:p>
              <a:p>
                <a:r>
                  <a:rPr lang="pt-BR" dirty="0"/>
                  <a:t>Dessa forma, a rede aprende a decidir quando deixar o gradiente desaparecer e quando preservá-lo, ajustando os valores das portas.</a:t>
                </a:r>
              </a:p>
              <a:p>
                <a:r>
                  <a:rPr lang="pt-BR" dirty="0"/>
                  <a:t>Assim, as portas permitem que a rede decida o que guardar e o que descartar.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5298F-0274-DB9E-3AE4-1B71C47C51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  <a:blipFill>
                <a:blip r:embed="rId3"/>
                <a:stretch>
                  <a:fillRect l="-1651" t="-1937" r="-2752" b="-13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D4662DC6-AD4B-B713-EE3A-3FDEE28D9C6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BA697ABF-3D68-0137-7426-7AD16763889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36372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Diferentes aplicações de </a:t>
            </a:r>
            <a:r>
              <a:rPr lang="pt-BR" sz="6000" dirty="0" err="1"/>
              <a:t>RNNs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85363786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5519F-4E97-D41B-FEDC-5985815D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FB7023-EEE1-0137-9550-E8D35802B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Rede neural de alimentação direta tradicional.</a:t>
            </a:r>
          </a:p>
          <a:p>
            <a:r>
              <a:rPr lang="pt-BR" dirty="0"/>
              <a:t>Entrada e saída de tamanhos fixos.</a:t>
            </a:r>
          </a:p>
          <a:p>
            <a:r>
              <a:rPr lang="pt-BR" dirty="0"/>
              <a:t>Não há dados sequenciais envolvidos.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imagem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5122A6D-DC79-2AF9-1085-14936C685310}"/>
              </a:ext>
            </a:extLst>
          </p:cNvPr>
          <p:cNvGrpSpPr/>
          <p:nvPr/>
        </p:nvGrpSpPr>
        <p:grpSpPr>
          <a:xfrm>
            <a:off x="2551812" y="1825625"/>
            <a:ext cx="393407" cy="4188675"/>
            <a:chOff x="1754370" y="1988288"/>
            <a:chExt cx="393407" cy="418867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1948E46-812A-1E66-F7BB-490F2947AA8F}"/>
                </a:ext>
              </a:extLst>
            </p:cNvPr>
            <p:cNvSpPr/>
            <p:nvPr/>
          </p:nvSpPr>
          <p:spPr>
            <a:xfrm>
              <a:off x="1754372" y="1988288"/>
              <a:ext cx="393405" cy="108452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DBCB693-614D-5B50-C07B-DA27AF31D3BA}"/>
                </a:ext>
              </a:extLst>
            </p:cNvPr>
            <p:cNvSpPr/>
            <p:nvPr/>
          </p:nvSpPr>
          <p:spPr>
            <a:xfrm>
              <a:off x="1754371" y="3540365"/>
              <a:ext cx="393405" cy="1084521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514DA19-CE6F-9767-CCCD-49466007DF08}"/>
                </a:ext>
              </a:extLst>
            </p:cNvPr>
            <p:cNvSpPr/>
            <p:nvPr/>
          </p:nvSpPr>
          <p:spPr>
            <a:xfrm>
              <a:off x="1754370" y="5092442"/>
              <a:ext cx="393405" cy="1084521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AC2FB4A-7CD4-042C-9701-B24C1E6C7FE3}"/>
                </a:ext>
              </a:extLst>
            </p:cNvPr>
            <p:cNvCxnSpPr>
              <a:stCxn id="5" idx="0"/>
              <a:endCxn id="4" idx="2"/>
            </p:cNvCxnSpPr>
            <p:nvPr/>
          </p:nvCxnSpPr>
          <p:spPr>
            <a:xfrm flipV="1">
              <a:off x="1951074" y="3072809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60CE189-87E8-01A6-FFCA-A4F6919BBAE0}"/>
                </a:ext>
              </a:extLst>
            </p:cNvPr>
            <p:cNvCxnSpPr>
              <a:cxnSpLocks/>
              <a:stCxn id="6" idx="0"/>
              <a:endCxn id="5" idx="2"/>
            </p:cNvCxnSpPr>
            <p:nvPr/>
          </p:nvCxnSpPr>
          <p:spPr>
            <a:xfrm flipV="1">
              <a:off x="1951073" y="4624886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/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/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2919767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6FE1B-2F4B-3642-C94B-B94B9E919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085D-74A3-7DF1-5CE0-BB50E2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um-para-vários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0758ED-F051-FFC1-8759-DD2BFDD23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5"/>
            <a:ext cx="5971952" cy="4351338"/>
          </a:xfrm>
        </p:spPr>
        <p:txBody>
          <a:bodyPr/>
          <a:lstStyle/>
          <a:p>
            <a:r>
              <a:rPr lang="pt-BR" dirty="0"/>
              <a:t>Entrada de tamanho fixo.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Legendas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Imagem de entrada -&gt; sequência de palavras descrevendo a imagem na saída.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Geração de música.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3BC90E-401F-9CA8-D485-C705D4BC18A0}"/>
              </a:ext>
            </a:extLst>
          </p:cNvPr>
          <p:cNvSpPr/>
          <p:nvPr/>
        </p:nvSpPr>
        <p:spPr>
          <a:xfrm>
            <a:off x="2551814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4DE169-2DEC-FD02-39D3-4ED036488B2C}"/>
              </a:ext>
            </a:extLst>
          </p:cNvPr>
          <p:cNvSpPr/>
          <p:nvPr/>
        </p:nvSpPr>
        <p:spPr>
          <a:xfrm>
            <a:off x="2551813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1E458-90CC-1CD9-F668-0F83E5EC2B49}"/>
              </a:ext>
            </a:extLst>
          </p:cNvPr>
          <p:cNvSpPr/>
          <p:nvPr/>
        </p:nvSpPr>
        <p:spPr>
          <a:xfrm>
            <a:off x="2551812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4C9AC7C-2534-C237-037C-6BFE9DD1441F}"/>
              </a:ext>
            </a:extLst>
          </p:cNvPr>
          <p:cNvCxnSpPr>
            <a:stCxn id="5" idx="0"/>
            <a:endCxn id="4" idx="2"/>
          </p:cNvCxnSpPr>
          <p:nvPr/>
        </p:nvCxnSpPr>
        <p:spPr>
          <a:xfrm flipV="1">
            <a:off x="2748516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9FE849-8DE0-FC82-5C8D-E6F4F451D705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748515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/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/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4195ADE5-EFD2-2CE4-120C-33F17F06CF8E}"/>
              </a:ext>
            </a:extLst>
          </p:cNvPr>
          <p:cNvSpPr/>
          <p:nvPr/>
        </p:nvSpPr>
        <p:spPr>
          <a:xfrm>
            <a:off x="3342167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E88036-7171-C33B-3FF7-46CC4F7712FE}"/>
              </a:ext>
            </a:extLst>
          </p:cNvPr>
          <p:cNvSpPr/>
          <p:nvPr/>
        </p:nvSpPr>
        <p:spPr>
          <a:xfrm>
            <a:off x="4127204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1DF6AC-A6FD-8CCC-389D-EA539B1BD52C}"/>
              </a:ext>
            </a:extLst>
          </p:cNvPr>
          <p:cNvSpPr/>
          <p:nvPr/>
        </p:nvSpPr>
        <p:spPr>
          <a:xfrm>
            <a:off x="3342166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7CDD93-437A-87E6-0718-836C2DF6B602}"/>
              </a:ext>
            </a:extLst>
          </p:cNvPr>
          <p:cNvSpPr/>
          <p:nvPr/>
        </p:nvSpPr>
        <p:spPr>
          <a:xfrm>
            <a:off x="4127204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/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/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6B2A9D7-DA78-68D1-4F93-5197D873212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945218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A2E247-2561-B91B-B93F-32FFD3EDDC5F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735572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F1616EF-3A72-1259-59E2-590EFB39D927}"/>
              </a:ext>
            </a:extLst>
          </p:cNvPr>
          <p:cNvCxnSpPr>
            <a:stCxn id="7" idx="0"/>
            <a:endCxn id="11" idx="2"/>
          </p:cNvCxnSpPr>
          <p:nvPr/>
        </p:nvCxnSpPr>
        <p:spPr>
          <a:xfrm flipH="1" flipV="1">
            <a:off x="3538869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138E64-74E4-4721-F500-DB7B5398D8BA}"/>
              </a:ext>
            </a:extLst>
          </p:cNvPr>
          <p:cNvCxnSpPr>
            <a:stCxn id="10" idx="0"/>
            <a:endCxn id="12" idx="2"/>
          </p:cNvCxnSpPr>
          <p:nvPr/>
        </p:nvCxnSpPr>
        <p:spPr>
          <a:xfrm flipV="1">
            <a:off x="4323907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226899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4CC4-1F8D-1221-E0A5-2DD7F9D11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7A3C2-C6DB-13A0-B8F1-546D0E455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6CAEBD-083F-C12D-7B6A-7E3651A6C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5"/>
            <a:ext cx="5971952" cy="4351338"/>
          </a:xfrm>
        </p:spPr>
        <p:txBody>
          <a:bodyPr/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fixo.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sentimentos.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Por exemplo, classificar o sentimento em uma mensagem de rede social.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sequência de palavras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sentimento.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302BEE-2F04-7DDD-4454-3518684E7D47}"/>
              </a:ext>
            </a:extLst>
          </p:cNvPr>
          <p:cNvSpPr/>
          <p:nvPr/>
        </p:nvSpPr>
        <p:spPr>
          <a:xfrm>
            <a:off x="356367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42A486-679A-4E3B-7913-6F218BD23A83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137C4D-A821-FEC0-D8F6-AE7B0C2954FE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3ADAD61-EE48-411E-977D-6A94581807B9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/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706B4863-BE44-D743-50A1-A3EEBEF19A35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232E91-DB17-6760-4C7B-BAFB26A059DE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5FC7DDE-A424-45F8-3EC3-88B4FA815788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996B64A-481D-45A0-6C85-EF8B17685CE6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23C1344-9F0C-C2A8-439A-E28032095064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3760382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8B36DB85-1904-3FAD-DB09-F697141543B7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85D741A9-7260-51BF-BD2E-69E1839284AD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AA0414-818E-6F6B-1BE6-D96E6EE87D8B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6CC9551-6E4F-358E-26ED-41D46B38457B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508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404BC-1C10-75A1-B4B9-0F07ABD9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0E4F9-E85F-5499-E6C5-4B935396A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3A1C2-4E07-2232-684D-8A7C66D92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1" y="1825624"/>
            <a:ext cx="642206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Entrada e saída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são iguais.</a:t>
            </a:r>
          </a:p>
          <a:p>
            <a:r>
              <a:rPr lang="pt-BR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vídeo em nível de quadro.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Contagem de tráfego: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Imagem de carros em um semáforo.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quantos carros na imagem.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Etiquetagem gramatical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 gramatical de cada palavra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  <a:p>
            <a:pPr lvl="2">
              <a:buFont typeface="Wingdings" panose="05000000000000000000" pitchFamily="2" charset="2"/>
              <a:buChar char="§"/>
            </a:pPr>
            <a:endParaRPr lang="pt-B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995F72F-2BD9-38FB-B83A-AB47646799CC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8E543B-2A6C-76EE-A90B-AF59A3BC4B35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9813126-B789-1A77-F6A1-7A11925203A8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558C9C3B-60A4-C64D-B49B-1B1C9E194593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676B9C2-12DC-9ABF-3BAF-AC571AACC871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6A19DB0-6685-2AD8-373E-D2F68ECAF744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1E13E0C-1119-C2C4-FCB5-4819B3CCF11B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6AE3F7AB-D78A-57A0-6D37-1952662B3091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628D5E02-FAD3-DE67-0AFB-5246C0981DBF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34BE841-89F2-A2C4-C9B5-D0DB8124B0D6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3135856-AF84-67C1-10D1-525E750AED6A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EA502664-2B02-D8DD-2049-E6242569B361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A70192F-4EE8-A08F-E106-F257ECAA7DA0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FB649-89CE-B9B7-1DA9-70653D12A0E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35F41B-B1EC-9A7E-FDFC-47DBBCE4E7BC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E3989D9-DC44-B559-A01E-848ADB238AD5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74BD4A0-F2CD-47D6-7C05-F5BABD485877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26594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F80CB-9E3E-541A-008D-49B810D2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3B55B-5A45-B168-45F1-33C226DBC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assíncrono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483E7-E17F-0BD3-09E3-C6956FD7A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Entrada e saída não são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não são necessariamente iguais.</a:t>
            </a:r>
          </a:p>
          <a:p>
            <a:r>
              <a:rPr lang="pt-BR" dirty="0"/>
              <a:t>Exemplo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 e </a:t>
            </a:r>
            <a:r>
              <a:rPr lang="pt-BR" dirty="0" err="1"/>
              <a:t>chatbots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sequência de palavras.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8C9BC5-15E8-FB86-A2FF-03CF2C96CB13}"/>
              </a:ext>
            </a:extLst>
          </p:cNvPr>
          <p:cNvSpPr/>
          <p:nvPr/>
        </p:nvSpPr>
        <p:spPr>
          <a:xfrm>
            <a:off x="2913321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577D96-6FE7-F60B-ED7E-0CE5B6852522}"/>
              </a:ext>
            </a:extLst>
          </p:cNvPr>
          <p:cNvSpPr/>
          <p:nvPr/>
        </p:nvSpPr>
        <p:spPr>
          <a:xfrm>
            <a:off x="3703675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E04DD1-F3A6-5114-B79F-4BC65F8FEA96}"/>
              </a:ext>
            </a:extLst>
          </p:cNvPr>
          <p:cNvSpPr/>
          <p:nvPr/>
        </p:nvSpPr>
        <p:spPr>
          <a:xfrm>
            <a:off x="4488712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44DBCE3-F503-E62D-06A2-1F1E871B411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3306726" y="3925832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6DD0089-EB3B-2E96-D1AD-99C175C43B5D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4097080" y="3925832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8EBFA63A-7A7F-C301-161E-58CB3778B150}"/>
              </a:ext>
            </a:extLst>
          </p:cNvPr>
          <p:cNvSpPr/>
          <p:nvPr/>
        </p:nvSpPr>
        <p:spPr>
          <a:xfrm>
            <a:off x="2900031" y="183149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88EB1AD-6975-BCC1-C82D-8CF2AB176F0A}"/>
              </a:ext>
            </a:extLst>
          </p:cNvPr>
          <p:cNvCxnSpPr>
            <a:endCxn id="8" idx="2"/>
          </p:cNvCxnSpPr>
          <p:nvPr/>
        </p:nvCxnSpPr>
        <p:spPr>
          <a:xfrm flipV="1">
            <a:off x="3096733" y="2916015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/>
              <p:nvPr/>
            </p:nvSpPr>
            <p:spPr>
              <a:xfrm>
                <a:off x="2900029" y="218322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0029" y="2183220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70E72-E9CD-203F-5D6D-CD2520CE5E69}"/>
              </a:ext>
            </a:extLst>
          </p:cNvPr>
          <p:cNvSpPr/>
          <p:nvPr/>
        </p:nvSpPr>
        <p:spPr>
          <a:xfrm>
            <a:off x="3690383" y="183149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FFB94F9-963A-CC29-C51E-098A134A1737}"/>
              </a:ext>
            </a:extLst>
          </p:cNvPr>
          <p:cNvSpPr/>
          <p:nvPr/>
        </p:nvSpPr>
        <p:spPr>
          <a:xfrm>
            <a:off x="4475421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/>
              <p:nvPr/>
            </p:nvSpPr>
            <p:spPr>
              <a:xfrm>
                <a:off x="3685068" y="218322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5068" y="2183220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/>
              <p:nvPr/>
            </p:nvSpPr>
            <p:spPr>
              <a:xfrm>
                <a:off x="4475420" y="218322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5420" y="2183220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85B9A2E-6534-2437-D967-5DF1514BF9F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3887086" y="2916015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668834C-FD74-F5C2-962C-47E7E949C549}"/>
              </a:ext>
            </a:extLst>
          </p:cNvPr>
          <p:cNvCxnSpPr>
            <a:endCxn id="16" idx="2"/>
          </p:cNvCxnSpPr>
          <p:nvPr/>
        </p:nvCxnSpPr>
        <p:spPr>
          <a:xfrm flipV="1">
            <a:off x="4672124" y="2910146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078DBB0-1AC8-EAEA-D2B3-81EBA1BC73AB}"/>
              </a:ext>
            </a:extLst>
          </p:cNvPr>
          <p:cNvSpPr/>
          <p:nvPr/>
        </p:nvSpPr>
        <p:spPr>
          <a:xfrm>
            <a:off x="1324640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B7F1159-D526-3036-9F30-22158503DAFC}"/>
              </a:ext>
            </a:extLst>
          </p:cNvPr>
          <p:cNvSpPr/>
          <p:nvPr/>
        </p:nvSpPr>
        <p:spPr>
          <a:xfrm>
            <a:off x="2114994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E7B0A6F-5745-009B-E429-C10DA86AAFB2}"/>
              </a:ext>
            </a:extLst>
          </p:cNvPr>
          <p:cNvCxnSpPr>
            <a:stCxn id="4" idx="3"/>
            <a:endCxn id="15" idx="1"/>
          </p:cNvCxnSpPr>
          <p:nvPr/>
        </p:nvCxnSpPr>
        <p:spPr>
          <a:xfrm>
            <a:off x="1718045" y="3925832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02BBC63-2BC0-6A02-4BFE-A72CD982FBB0}"/>
              </a:ext>
            </a:extLst>
          </p:cNvPr>
          <p:cNvCxnSpPr>
            <a:stCxn id="15" idx="3"/>
          </p:cNvCxnSpPr>
          <p:nvPr/>
        </p:nvCxnSpPr>
        <p:spPr>
          <a:xfrm>
            <a:off x="2508399" y="3925832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5D3FFC8E-6BAF-6DF7-526E-C081A5A48F93}"/>
              </a:ext>
            </a:extLst>
          </p:cNvPr>
          <p:cNvSpPr/>
          <p:nvPr/>
        </p:nvSpPr>
        <p:spPr>
          <a:xfrm>
            <a:off x="1320651" y="495037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401AD97-C582-4298-BF25-40AEF15257C9}"/>
              </a:ext>
            </a:extLst>
          </p:cNvPr>
          <p:cNvCxnSpPr>
            <a:cxnSpLocks/>
            <a:stCxn id="31" idx="0"/>
            <a:endCxn id="4" idx="2"/>
          </p:cNvCxnSpPr>
          <p:nvPr/>
        </p:nvCxnSpPr>
        <p:spPr>
          <a:xfrm flipV="1">
            <a:off x="1517354" y="4468092"/>
            <a:ext cx="3989" cy="482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/>
              <p:nvPr/>
            </p:nvSpPr>
            <p:spPr>
              <a:xfrm>
                <a:off x="1351219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1219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61795796-1CB2-CAB5-F67E-063C07C2A635}"/>
              </a:ext>
            </a:extLst>
          </p:cNvPr>
          <p:cNvSpPr/>
          <p:nvPr/>
        </p:nvSpPr>
        <p:spPr>
          <a:xfrm>
            <a:off x="2114994" y="4980504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/>
              <p:nvPr/>
            </p:nvSpPr>
            <p:spPr>
              <a:xfrm>
                <a:off x="2141574" y="529911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1574" y="529911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35">
            <a:extLst>
              <a:ext uri="{FF2B5EF4-FFF2-40B4-BE49-F238E27FC236}">
                <a16:creationId xmlns:a16="http://schemas.microsoft.com/office/drawing/2014/main" id="{C5443291-1F22-B419-C44A-99E58D94E756}"/>
              </a:ext>
            </a:extLst>
          </p:cNvPr>
          <p:cNvSpPr/>
          <p:nvPr/>
        </p:nvSpPr>
        <p:spPr>
          <a:xfrm>
            <a:off x="2913320" y="4941517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/>
              <p:nvPr/>
            </p:nvSpPr>
            <p:spPr>
              <a:xfrm>
                <a:off x="2913320" y="529911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3320" y="529911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49CB08D-F5AA-E52C-D64E-AC29F0A74978}"/>
              </a:ext>
            </a:extLst>
          </p:cNvPr>
          <p:cNvCxnSpPr>
            <a:cxnSpLocks/>
            <a:stCxn id="34" idx="0"/>
            <a:endCxn id="15" idx="2"/>
          </p:cNvCxnSpPr>
          <p:nvPr/>
        </p:nvCxnSpPr>
        <p:spPr>
          <a:xfrm flipV="1">
            <a:off x="2311697" y="4468092"/>
            <a:ext cx="0" cy="512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D3C2576-5153-3012-FA03-0337C7695948}"/>
              </a:ext>
            </a:extLst>
          </p:cNvPr>
          <p:cNvCxnSpPr>
            <a:cxnSpLocks/>
            <a:stCxn id="36" idx="0"/>
            <a:endCxn id="5" idx="2"/>
          </p:cNvCxnSpPr>
          <p:nvPr/>
        </p:nvCxnSpPr>
        <p:spPr>
          <a:xfrm flipV="1">
            <a:off x="3110023" y="4468092"/>
            <a:ext cx="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811313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rnn.ipynb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05788333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3"/>
              </a:rPr>
              <a:t>Lista #11 - RNN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21703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8A46A3-09D1-BF84-46BF-5DD0CFCB54BB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AAA4727-42FC-D852-70A3-FE7D6EFC060F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F0F4DCF-1128-7141-872A-5150C966E5B4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B044B29-E334-B283-ECE9-172FFEED329B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3F79C63-8A97-3798-0A1A-3B97F54CBEDF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DE13DB6-EB3A-33B1-B9CD-0D058C9C2D69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68AB800-6BC7-A115-99F7-7F9B7DBA3E4F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9812C75-10B2-9725-A4FB-608050339CDD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245F456D-9193-75AC-AD0C-F0AEF65F581F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7679F52-FF4E-A676-77F3-69261169E611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48139367-BD98-8B0F-B273-9E6711E213AE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8353AC8-4824-D852-D532-76B054942D98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1427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DBFA4-777B-82AF-1A9B-F48A28DB9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2B2D82-0D27-C941-539F-498F105E3DA0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F055540-C990-1A9A-9C94-41EB929A64A7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042FA5CD-9CE3-87BD-4B6D-3A2AA78339A7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F14954C-7EC0-B9F4-6F9E-53AC300DD5FF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DA2C43F-1B49-FEC7-FAE7-A0ACA4D4234B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029031C-EE39-DC4A-38B6-6AB3AA7D2240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C4F7EB3-D0C6-9F8D-7706-7CD68BAC8D89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D5082C2A-8327-CEDD-4900-C2D931D47946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A43B19B-1AF9-B52D-782E-9684B3C10C01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FEE0C87-5541-88B8-CF13-7700BB245BE2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3B9126E-856B-A481-2BDC-2BCDB3E8C46B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B365E45-03C9-2E0C-E041-90FBE73656A7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0F1A1930-40E8-C197-F80E-372AB039654C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68586CC-B615-4023-89FD-BE8617ECB8DA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1722F0A-10F9-92E8-89F5-5A6C1427DC3A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5341A0C-7341-971A-6542-8F7BD907C5F2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479DF22-88BC-7AF2-D47B-E7EDAA7CB1FB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29FB4D8B-3A52-D2C4-EB21-AFAB1BD12521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E891D50-0373-CCDA-A4D1-7C229656E91C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5D6AF3B-B78D-5F77-466B-A91F78E4DCA6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0" name="Agrupar 49">
            <a:extLst>
              <a:ext uri="{FF2B5EF4-FFF2-40B4-BE49-F238E27FC236}">
                <a16:creationId xmlns:a16="http://schemas.microsoft.com/office/drawing/2014/main" id="{68106E7F-C424-D8F9-32BD-AB1D97C0EBF4}"/>
              </a:ext>
            </a:extLst>
          </p:cNvPr>
          <p:cNvGrpSpPr/>
          <p:nvPr/>
        </p:nvGrpSpPr>
        <p:grpSpPr>
          <a:xfrm>
            <a:off x="7876500" y="320782"/>
            <a:ext cx="2259869" cy="5225594"/>
            <a:chOff x="7876500" y="320782"/>
            <a:chExt cx="2259869" cy="52255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/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  <a:blipFill>
                  <a:blip r:embed="rId11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/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  <a:blipFill>
                  <a:blip r:embed="rId12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/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  <a:blipFill>
                  <a:blip r:embed="rId13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Oval 7">
              <a:extLst>
                <a:ext uri="{FF2B5EF4-FFF2-40B4-BE49-F238E27FC236}">
                  <a16:creationId xmlns:a16="http://schemas.microsoft.com/office/drawing/2014/main" id="{CA988B7A-1B0B-82F5-9415-E8E6402D7314}"/>
                </a:ext>
              </a:extLst>
            </p:cNvPr>
            <p:cNvSpPr/>
            <p:nvPr/>
          </p:nvSpPr>
          <p:spPr>
            <a:xfrm>
              <a:off x="7925595" y="320782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28" name="Oval 8">
              <a:extLst>
                <a:ext uri="{FF2B5EF4-FFF2-40B4-BE49-F238E27FC236}">
                  <a16:creationId xmlns:a16="http://schemas.microsoft.com/office/drawing/2014/main" id="{AAE1E49D-9B08-0B79-5467-F9E05E71413E}"/>
                </a:ext>
              </a:extLst>
            </p:cNvPr>
            <p:cNvSpPr/>
            <p:nvPr/>
          </p:nvSpPr>
          <p:spPr>
            <a:xfrm>
              <a:off x="7917975" y="313843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9" name="Oval 9">
              <a:extLst>
                <a:ext uri="{FF2B5EF4-FFF2-40B4-BE49-F238E27FC236}">
                  <a16:creationId xmlns:a16="http://schemas.microsoft.com/office/drawing/2014/main" id="{B8BE4B74-3C6A-2E82-FCA0-6556493DD525}"/>
                </a:ext>
              </a:extLst>
            </p:cNvPr>
            <p:cNvSpPr/>
            <p:nvPr/>
          </p:nvSpPr>
          <p:spPr>
            <a:xfrm>
              <a:off x="7917975" y="510530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/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/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  <a:blipFill>
                  <a:blip r:embed="rId1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12">
              <a:extLst>
                <a:ext uri="{FF2B5EF4-FFF2-40B4-BE49-F238E27FC236}">
                  <a16:creationId xmlns:a16="http://schemas.microsoft.com/office/drawing/2014/main" id="{4C7F79EF-BDDD-A3E9-801D-ECB66DFEA188}"/>
                </a:ext>
              </a:extLst>
            </p:cNvPr>
            <p:cNvCxnSpPr>
              <a:stCxn id="29" idx="0"/>
              <a:endCxn id="4" idx="2"/>
            </p:cNvCxnSpPr>
            <p:nvPr/>
          </p:nvCxnSpPr>
          <p:spPr>
            <a:xfrm flipH="1" flipV="1">
              <a:off x="8130203" y="4905250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13">
              <a:extLst>
                <a:ext uri="{FF2B5EF4-FFF2-40B4-BE49-F238E27FC236}">
                  <a16:creationId xmlns:a16="http://schemas.microsoft.com/office/drawing/2014/main" id="{B5CF0874-65C0-A04C-D46E-1D31438CA4BA}"/>
                </a:ext>
              </a:extLst>
            </p:cNvPr>
            <p:cNvCxnSpPr/>
            <p:nvPr/>
          </p:nvCxnSpPr>
          <p:spPr>
            <a:xfrm flipH="1" flipV="1">
              <a:off x="8133975" y="4227367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14">
              <a:extLst>
                <a:ext uri="{FF2B5EF4-FFF2-40B4-BE49-F238E27FC236}">
                  <a16:creationId xmlns:a16="http://schemas.microsoft.com/office/drawing/2014/main" id="{B7FC0459-C9D3-5EC5-CA8E-F63D1801A265}"/>
                </a:ext>
              </a:extLst>
            </p:cNvPr>
            <p:cNvCxnSpPr/>
            <p:nvPr/>
          </p:nvCxnSpPr>
          <p:spPr>
            <a:xfrm flipH="1" flipV="1">
              <a:off x="8130203" y="3586241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Arrow Connector 15">
              <a:extLst>
                <a:ext uri="{FF2B5EF4-FFF2-40B4-BE49-F238E27FC236}">
                  <a16:creationId xmlns:a16="http://schemas.microsoft.com/office/drawing/2014/main" id="{62627B63-6154-491C-CEF1-B37C66D42BAF}"/>
                </a:ext>
              </a:extLst>
            </p:cNvPr>
            <p:cNvCxnSpPr>
              <a:stCxn id="28" idx="0"/>
              <a:endCxn id="3" idx="2"/>
            </p:cNvCxnSpPr>
            <p:nvPr/>
          </p:nvCxnSpPr>
          <p:spPr>
            <a:xfrm flipV="1">
              <a:off x="8133975" y="2079591"/>
              <a:ext cx="2760" cy="105884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Connector: Elbow 16">
              <a:extLst>
                <a:ext uri="{FF2B5EF4-FFF2-40B4-BE49-F238E27FC236}">
                  <a16:creationId xmlns:a16="http://schemas.microsoft.com/office/drawing/2014/main" id="{3519258D-B8C1-DE2B-9AB3-D478E3C893D8}"/>
                </a:ext>
              </a:extLst>
            </p:cNvPr>
            <p:cNvCxnSpPr>
              <a:stCxn id="30" idx="3"/>
              <a:endCxn id="21" idx="0"/>
            </p:cNvCxnSpPr>
            <p:nvPr/>
          </p:nvCxnSpPr>
          <p:spPr>
            <a:xfrm>
              <a:off x="8959997" y="2657934"/>
              <a:ext cx="185300" cy="46212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17">
              <a:extLst>
                <a:ext uri="{FF2B5EF4-FFF2-40B4-BE49-F238E27FC236}">
                  <a16:creationId xmlns:a16="http://schemas.microsoft.com/office/drawing/2014/main" id="{9079B4A8-8566-C8E3-FD26-1AD2E579A563}"/>
                </a:ext>
              </a:extLst>
            </p:cNvPr>
            <p:cNvCxnSpPr>
              <a:stCxn id="30" idx="1"/>
            </p:cNvCxnSpPr>
            <p:nvPr/>
          </p:nvCxnSpPr>
          <p:spPr>
            <a:xfrm flipH="1">
              <a:off x="8146675" y="265793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Connector: Elbow 18">
              <a:extLst>
                <a:ext uri="{FF2B5EF4-FFF2-40B4-BE49-F238E27FC236}">
                  <a16:creationId xmlns:a16="http://schemas.microsoft.com/office/drawing/2014/main" id="{FB5A9D70-A6BA-5543-5036-B306037D4314}"/>
                </a:ext>
              </a:extLst>
            </p:cNvPr>
            <p:cNvCxnSpPr>
              <a:cxnSpLocks/>
              <a:stCxn id="21" idx="2"/>
              <a:endCxn id="31" idx="6"/>
            </p:cNvCxnSpPr>
            <p:nvPr/>
          </p:nvCxnSpPr>
          <p:spPr>
            <a:xfrm rot="5400000">
              <a:off x="8539389" y="3400925"/>
              <a:ext cx="408949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19">
              <a:extLst>
                <a:ext uri="{FF2B5EF4-FFF2-40B4-BE49-F238E27FC236}">
                  <a16:creationId xmlns:a16="http://schemas.microsoft.com/office/drawing/2014/main" id="{165E681B-13AF-F55B-80BE-0268B15154D6}"/>
                </a:ext>
              </a:extLst>
            </p:cNvPr>
            <p:cNvCxnSpPr>
              <a:cxnSpLocks/>
              <a:stCxn id="3" idx="0"/>
              <a:endCxn id="44" idx="4"/>
            </p:cNvCxnSpPr>
            <p:nvPr/>
          </p:nvCxnSpPr>
          <p:spPr>
            <a:xfrm flipV="1">
              <a:off x="8136735" y="1376596"/>
              <a:ext cx="3848" cy="22517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/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blipFill>
                  <a:blip r:embed="rId16"/>
                  <a:stretch>
                    <a:fillRect l="-4211" t="-6557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/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blipFill>
                  <a:blip r:embed="rId17"/>
                  <a:stretch>
                    <a:fillRect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/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blipFill>
                  <a:blip r:embed="rId18"/>
                  <a:stretch>
                    <a:fillRect l="-4211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/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blipFill>
                  <a:blip r:embed="rId19"/>
                  <a:stretch>
                    <a:fillRect l="-2469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/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  <a:blipFill>
                  <a:blip r:embed="rId20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19">
              <a:extLst>
                <a:ext uri="{FF2B5EF4-FFF2-40B4-BE49-F238E27FC236}">
                  <a16:creationId xmlns:a16="http://schemas.microsoft.com/office/drawing/2014/main" id="{08F3B26B-77C0-F7A6-9D1B-EFA91EC5706D}"/>
                </a:ext>
              </a:extLst>
            </p:cNvPr>
            <p:cNvCxnSpPr>
              <a:cxnSpLocks/>
              <a:stCxn id="44" idx="0"/>
              <a:endCxn id="27" idx="4"/>
            </p:cNvCxnSpPr>
            <p:nvPr/>
          </p:nvCxnSpPr>
          <p:spPr>
            <a:xfrm flipV="1">
              <a:off x="8140583" y="761852"/>
              <a:ext cx="1012" cy="1736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5395537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5556"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6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7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2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21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:a16="http://schemas.microsoft.com/office/drawing/2014/main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7038FDD0-F92D-0792-1189-9D15218C870B}"/>
                </a:ext>
              </a:extLst>
            </p:cNvPr>
            <p:cNvSpPr txBox="1"/>
            <p:nvPr/>
          </p:nvSpPr>
          <p:spPr>
            <a:xfrm>
              <a:off x="2259911" y="3843004"/>
              <a:ext cx="12180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desenrolando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3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0000" r="-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80F7944-C56A-4918-32CC-D4E7982F8ACD}"/>
              </a:ext>
            </a:extLst>
          </p:cNvPr>
          <p:cNvGrpSpPr/>
          <p:nvPr/>
        </p:nvGrpSpPr>
        <p:grpSpPr>
          <a:xfrm>
            <a:off x="7045381" y="2909386"/>
            <a:ext cx="5001376" cy="2479740"/>
            <a:chOff x="7045381" y="2909386"/>
            <a:chExt cx="5001376" cy="24797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/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E389E7D6-0E03-C09E-A5BD-EF4F78F47BED}"/>
                </a:ext>
              </a:extLst>
            </p:cNvPr>
            <p:cNvSpPr/>
            <p:nvPr/>
          </p:nvSpPr>
          <p:spPr>
            <a:xfrm>
              <a:off x="8042034" y="290938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B906B69-397B-E0FA-9BAF-87CDB2217708}"/>
                </a:ext>
              </a:extLst>
            </p:cNvPr>
            <p:cNvSpPr/>
            <p:nvPr/>
          </p:nvSpPr>
          <p:spPr>
            <a:xfrm>
              <a:off x="9263573" y="30508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6885ED8-AB22-72C4-5CEA-3CE25FC19B23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559040" y="3223260"/>
              <a:ext cx="1704533" cy="725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2EBD8D7-1711-1660-5F56-EBD07F649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8376" y="3230511"/>
              <a:ext cx="3184" cy="183243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/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89BFDFC-AB2B-933B-5EF7-48728379F3B2}"/>
                </a:ext>
              </a:extLst>
            </p:cNvPr>
            <p:cNvCxnSpPr/>
            <p:nvPr/>
          </p:nvCxnSpPr>
          <p:spPr>
            <a:xfrm>
              <a:off x="9938488" y="3230511"/>
              <a:ext cx="160581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/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" name="Agrupar 29">
            <a:extLst>
              <a:ext uri="{FF2B5EF4-FFF2-40B4-BE49-F238E27FC236}">
                <a16:creationId xmlns:a16="http://schemas.microsoft.com/office/drawing/2014/main" id="{A0125BEA-E856-3203-44A2-4CB6E4673641}"/>
              </a:ext>
            </a:extLst>
          </p:cNvPr>
          <p:cNvGrpSpPr/>
          <p:nvPr/>
        </p:nvGrpSpPr>
        <p:grpSpPr>
          <a:xfrm>
            <a:off x="260912" y="1662798"/>
            <a:ext cx="4435239" cy="2809250"/>
            <a:chOff x="260912" y="1662798"/>
            <a:chExt cx="4435239" cy="280925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843DECB-C956-D955-D499-DD22189CE5D6}"/>
                </a:ext>
              </a:extLst>
            </p:cNvPr>
            <p:cNvSpPr/>
            <p:nvPr/>
          </p:nvSpPr>
          <p:spPr>
            <a:xfrm>
              <a:off x="948207" y="216915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C21CDDD-60F4-254E-D0B1-DD9880058CAE}"/>
                </a:ext>
              </a:extLst>
            </p:cNvPr>
            <p:cNvSpPr/>
            <p:nvPr/>
          </p:nvSpPr>
          <p:spPr>
            <a:xfrm>
              <a:off x="2095472" y="28727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id="{E01C2A5B-A164-6913-FA94-CA99DB0244FA}"/>
                </a:ext>
              </a:extLst>
            </p:cNvPr>
            <p:cNvCxnSpPr>
              <a:cxnSpLocks/>
              <a:endCxn id="40" idx="2"/>
            </p:cNvCxnSpPr>
            <p:nvPr/>
          </p:nvCxnSpPr>
          <p:spPr>
            <a:xfrm rot="5400000" flipH="1" flipV="1">
              <a:off x="1289550" y="3229045"/>
              <a:ext cx="1140399" cy="114636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396F9498-A53F-5856-A31E-72DF09B3702B}"/>
                </a:ext>
              </a:extLst>
            </p:cNvPr>
            <p:cNvCxnSpPr>
              <a:cxnSpLocks/>
              <a:stCxn id="40" idx="0"/>
            </p:cNvCxnSpPr>
            <p:nvPr/>
          </p:nvCxnSpPr>
          <p:spPr>
            <a:xfrm rot="5400000" flipH="1" flipV="1">
              <a:off x="3275955" y="1600184"/>
              <a:ext cx="429588" cy="211563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466E2E6D-A249-7CAB-4045-844CE9311D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5978" y="1773736"/>
              <a:ext cx="0" cy="6694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B4EFE449-B504-6CD4-C0C2-B0B6CF080A10}"/>
                </a:ext>
              </a:extLst>
            </p:cNvPr>
            <p:cNvCxnSpPr>
              <a:cxnSpLocks/>
            </p:cNvCxnSpPr>
            <p:nvPr/>
          </p:nvCxnSpPr>
          <p:spPr>
            <a:xfrm>
              <a:off x="578644" y="2434828"/>
              <a:ext cx="1199096" cy="1368028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/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/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/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/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B730E203-9618-266A-ECBC-6DE7A196CA8A}"/>
              </a:ext>
            </a:extLst>
          </p:cNvPr>
          <p:cNvGrpSpPr/>
          <p:nvPr/>
        </p:nvGrpSpPr>
        <p:grpSpPr>
          <a:xfrm>
            <a:off x="234415" y="1834844"/>
            <a:ext cx="11584793" cy="4281015"/>
            <a:chOff x="234415" y="1834844"/>
            <a:chExt cx="11584793" cy="428101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348B5B75-FB28-2E80-145D-B7B4D142BE9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C478EC-B109-7888-038E-8DBF57461B91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FC53C9F-10FB-711C-2512-7250BF72FAA1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CE50EACA-BDC6-7C2A-E8C3-F5699FD5BCD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7990D6E-A5C5-CDF4-C0D9-387966509DC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4B85D8D-87CD-87BC-E833-CE9988D869D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878B83A-9006-D2B3-60B8-E2D14A5914D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F4CC40-6B8A-C2D7-30F9-5E2A663458EB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84D7DD5-AF06-660E-B8AB-56FEBD03D05B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76F3A98F-48B9-9CD1-B9F1-E75DD2E8FE3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2E979E6-DCC4-331B-D941-6882D88766DC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BCF5E98C-CA06-9023-8D8F-DC58885C84A8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6EAF062E-2592-CB45-36A5-2A33D358D8BF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2EAE681-2114-E3E3-C3A4-320425997F09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D1D65BD3-E604-D135-F107-EC4CC81E93D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C9DC9C7A-C05F-76B8-966F-44753826D4BF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A822FBB9-C029-EAAD-530F-8A6805EE47F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6BFA24E6-0E52-669D-D3F8-9864EDC5552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0BF0A013-C46F-87B6-A913-AB6006AD99D3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BBA55220-0A3C-FB05-7E36-C68DDF50F07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F73AECF-36D3-CBDF-5806-CA480B4C449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A0680E3E-2512-6A1A-E3EA-44839A3E0D6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A4015C41-4587-E1BF-7A8F-3DF236C02ABD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089EBFBE-86AF-DCA0-9896-A6D5E6FBA8F6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10EF1A2A-AF97-E7D2-178C-FFE80B3251D1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C0636B7D-2A5C-4392-28D4-DBDF85E54A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F7CB8566-5FA8-4AE1-E1A3-37AA355FE5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7" name="Rectangle: Rounded Corners 96">
              <a:extLst>
                <a:ext uri="{FF2B5EF4-FFF2-40B4-BE49-F238E27FC236}">
                  <a16:creationId xmlns:a16="http://schemas.microsoft.com/office/drawing/2014/main" id="{A6D9F0B4-913F-1EED-8A29-810518E05463}"/>
                </a:ext>
              </a:extLst>
            </p:cNvPr>
            <p:cNvSpPr/>
            <p:nvPr/>
          </p:nvSpPr>
          <p:spPr>
            <a:xfrm>
              <a:off x="492094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092FA1F5-FD24-F58C-C0EA-B1FA15F86729}"/>
                </a:ext>
              </a:extLst>
            </p:cNvPr>
            <p:cNvCxnSpPr>
              <a:cxnSpLocks/>
            </p:cNvCxnSpPr>
            <p:nvPr/>
          </p:nvCxnSpPr>
          <p:spPr>
            <a:xfrm>
              <a:off x="4012696" y="2715788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C2AF8E87-6151-A661-474A-AD4443F2A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348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E38F9929-0D9E-7BAE-3976-F3AACAC47318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863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3" name="Rectangle: Rounded Corners 102">
              <a:extLst>
                <a:ext uri="{FF2B5EF4-FFF2-40B4-BE49-F238E27FC236}">
                  <a16:creationId xmlns:a16="http://schemas.microsoft.com/office/drawing/2014/main" id="{0549E296-9BF6-1073-36A7-44A6BC84E646}"/>
                </a:ext>
              </a:extLst>
            </p:cNvPr>
            <p:cNvSpPr/>
            <p:nvPr/>
          </p:nvSpPr>
          <p:spPr>
            <a:xfrm>
              <a:off x="8083166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3F4FFE22-901A-5ECB-8DD0-DE274D49C1CE}"/>
                </a:ext>
              </a:extLst>
            </p:cNvPr>
            <p:cNvCxnSpPr>
              <a:cxnSpLocks/>
            </p:cNvCxnSpPr>
            <p:nvPr/>
          </p:nvCxnSpPr>
          <p:spPr>
            <a:xfrm>
              <a:off x="11572921" y="424195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63C39462-6C16-B627-F0AA-034DBCEEAFBA}"/>
                </a:ext>
              </a:extLst>
            </p:cNvPr>
            <p:cNvCxnSpPr>
              <a:cxnSpLocks/>
            </p:cNvCxnSpPr>
            <p:nvPr/>
          </p:nvCxnSpPr>
          <p:spPr>
            <a:xfrm>
              <a:off x="11606773" y="2715942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/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922EF61C-EF99-D374-EA91-A8D137ADC9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2412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2DA2877-36E8-DE52-7D68-11E5A3DA45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76770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E7D096F0-65EF-76A1-E864-DEFDD7B1DF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404780" y="2212072"/>
              <a:ext cx="0" cy="273953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43419660-66CC-40DA-03A8-9CA6E7C0AF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93922" y="2204176"/>
              <a:ext cx="0" cy="234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/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483E7F-A937-DCD5-593D-9BF0A521317D}"/>
                </a:ext>
              </a:extLst>
            </p:cNvPr>
            <p:cNvSpPr txBox="1"/>
            <p:nvPr/>
          </p:nvSpPr>
          <p:spPr>
            <a:xfrm>
              <a:off x="1991126" y="5592639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sigmoide</a:t>
              </a:r>
              <a:endParaRPr lang="en-US" sz="1400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10A206D-DE0F-FE1C-4415-C2DFE8541DE1}"/>
                </a:ext>
              </a:extLst>
            </p:cNvPr>
            <p:cNvSpPr/>
            <p:nvPr/>
          </p:nvSpPr>
          <p:spPr>
            <a:xfrm>
              <a:off x="5608613" y="528852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601EEF9-98B3-9F64-F85F-07641BA1F0E3}"/>
                </a:ext>
              </a:extLst>
            </p:cNvPr>
            <p:cNvSpPr txBox="1"/>
            <p:nvPr/>
          </p:nvSpPr>
          <p:spPr>
            <a:xfrm>
              <a:off x="5139666" y="5533393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/>
                <a:t>pontual</a:t>
              </a:r>
              <a:endParaRPr lang="en-US" sz="1400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637778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4D46D6C-FBD0-36BF-A4A0-F0AA4C62BC59}"/>
                </a:ext>
              </a:extLst>
            </p:cNvPr>
            <p:cNvSpPr txBox="1"/>
            <p:nvPr/>
          </p:nvSpPr>
          <p:spPr>
            <a:xfrm>
              <a:off x="6275192" y="5531005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7871574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AA379DA-FDF4-4C2E-212F-301E5D1A6625}"/>
                </a:ext>
              </a:extLst>
            </p:cNvPr>
            <p:cNvCxnSpPr/>
            <p:nvPr/>
          </p:nvCxnSpPr>
          <p:spPr>
            <a:xfrm>
              <a:off x="8134689" y="5434573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2C1639E-62C8-EF4F-BC59-06D35F047F64}"/>
                </a:ext>
              </a:extLst>
            </p:cNvPr>
            <p:cNvSpPr txBox="1"/>
            <p:nvPr/>
          </p:nvSpPr>
          <p:spPr>
            <a:xfrm>
              <a:off x="7538311" y="5690289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concatenação</a:t>
              </a:r>
              <a:endParaRPr lang="en-US" sz="1400" dirty="0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9030310" y="5689985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0868D48C-258F-30A1-C079-D3E227346BD5}"/>
                </a:ext>
              </a:extLst>
            </p:cNvPr>
            <p:cNvCxnSpPr/>
            <p:nvPr/>
          </p:nvCxnSpPr>
          <p:spPr>
            <a:xfrm>
              <a:off x="9293364" y="5385798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2CB8A93-557A-5259-EB5A-85D7D4D96AD1}"/>
                </a:ext>
              </a:extLst>
            </p:cNvPr>
            <p:cNvSpPr txBox="1"/>
            <p:nvPr/>
          </p:nvSpPr>
          <p:spPr>
            <a:xfrm>
              <a:off x="8664743" y="5681618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cópia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/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/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/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/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8A9D5604-42D8-94B0-F0FA-40F8A5FE0687}"/>
                </a:ext>
              </a:extLst>
            </p:cNvPr>
            <p:cNvSpPr/>
            <p:nvPr/>
          </p:nvSpPr>
          <p:spPr>
            <a:xfrm>
              <a:off x="4263911" y="5283385"/>
              <a:ext cx="588587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600" dirty="0" err="1">
                  <a:solidFill>
                    <a:schemeClr val="tx1"/>
                  </a:solidFill>
                </a:rPr>
                <a:t>tanh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6895CF3-782C-C5FB-0D92-D28EF588D039}"/>
                </a:ext>
              </a:extLst>
            </p:cNvPr>
            <p:cNvSpPr txBox="1"/>
            <p:nvPr/>
          </p:nvSpPr>
          <p:spPr>
            <a:xfrm>
              <a:off x="3608193" y="5581257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</a:t>
              </a:r>
              <a:r>
                <a:rPr lang="pt-BR" sz="1400" dirty="0" err="1"/>
                <a:t>tanh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62617247-07D2-6657-99D1-398FE3BE06C0}"/>
              </a:ext>
            </a:extLst>
          </p:cNvPr>
          <p:cNvGrpSpPr/>
          <p:nvPr/>
        </p:nvGrpSpPr>
        <p:grpSpPr>
          <a:xfrm>
            <a:off x="3489806" y="1834844"/>
            <a:ext cx="5319746" cy="3227138"/>
            <a:chOff x="3489806" y="1834844"/>
            <a:chExt cx="5319746" cy="3227138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9B84FA2-83D7-7AD8-9610-5A415E5EE1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E2E3973-7BB3-5423-9E41-4A439D4AD2FA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57EC369-9B76-A27D-EDC3-890F0716751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105FA2D-CACC-93FD-8147-BCE771CE8357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07EE48F-7B86-5BD2-1F8C-469594A636F0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34FE972-9F06-C11C-3F53-9D4666EC5095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A318A7D-6AD1-A164-9144-BD5F28A4E7B7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AE5B4441-DF89-25A1-3560-8E5404670E9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4031369" y="4036770"/>
              <a:ext cx="2675053" cy="2145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093E439-25EF-02C4-D9C2-A1FE29C3AD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60E907D-7CA5-2C6C-E31F-2F003AE9D09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37E1A15-7B2A-4277-FFA1-74355E9235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93AEA26-EC0B-1E3E-D68C-6CE9227A173D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461F8C01-4628-007D-8EE8-08D26131E8B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5D0673A-6CCA-67DE-BB0A-0EAB5B641853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4707AEE-8AB6-332F-D775-5D47B6EAB570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FDEDCE-1E3B-8147-4D13-A242E9C2B33E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06E60737-7998-C245-9FB1-6B1755A8F2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E690B6A-0885-819C-6118-6C7D093B193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4E0DA3A1-C433-12FD-E043-1BB3EB5D007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63A645C-4CC1-5896-32E8-305EA54E21C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7FF5E71-FB7D-9609-3FC5-AD13B5F1C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942AD4B1-3DFB-E8BA-0218-D9E850190EBC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4D8692E4-6CA5-D2CA-A76D-73771408476E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9FE0230A-FA48-1674-EE72-563556A3AD37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D806146-5F28-31BB-C91D-206A9C7C1949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97AFC188-C5E0-E364-C3F7-EF901703C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5C32825B-E0C6-9CDA-AFFC-FEF61AC5A1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/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8169" r="-56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/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/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/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74094E0-AD46-6D7F-26FE-DF8481A5AC18}"/>
                </a:ext>
              </a:extLst>
            </p:cNvPr>
            <p:cNvCxnSpPr/>
            <p:nvPr/>
          </p:nvCxnSpPr>
          <p:spPr>
            <a:xfrm>
              <a:off x="4558205" y="4251345"/>
              <a:ext cx="0" cy="49210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/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1436747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oup 90">
            <a:extLst>
              <a:ext uri="{FF2B5EF4-FFF2-40B4-BE49-F238E27FC236}">
                <a16:creationId xmlns:a16="http://schemas.microsoft.com/office/drawing/2014/main" id="{259B7582-66CD-ED15-2ABE-5F4548CFEC4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/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/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/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/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5231D62-9346-C19A-B2D8-2171CAAC4060}"/>
              </a:ext>
            </a:extLst>
          </p:cNvPr>
          <p:cNvGrpSpPr/>
          <p:nvPr/>
        </p:nvGrpSpPr>
        <p:grpSpPr>
          <a:xfrm>
            <a:off x="510827" y="2688275"/>
            <a:ext cx="1832394" cy="1751496"/>
            <a:chOff x="510827" y="2688275"/>
            <a:chExt cx="1832394" cy="17514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8898" y="2934602"/>
              <a:ext cx="1008000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/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/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blipFill>
                  <a:blip r:embed="rId1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/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blipFill>
                  <a:blip r:embed="rId2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FCF6190C-3568-243C-A1F8-FA1F0809E3B8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748BDEF-2446-FE23-5B2C-793AF909BDCE}"/>
                </a:ext>
              </a:extLst>
            </p:cNvPr>
            <p:cNvSpPr txBox="1"/>
            <p:nvPr/>
          </p:nvSpPr>
          <p:spPr>
            <a:xfrm>
              <a:off x="4384923" y="1911844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esquecimento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C85B4195-B372-E787-8F12-B08B80B3B37A}"/>
                </a:ext>
              </a:extLst>
            </p:cNvPr>
            <p:cNvCxnSpPr/>
            <p:nvPr/>
          </p:nvCxnSpPr>
          <p:spPr>
            <a:xfrm flipH="1">
              <a:off x="4782073" y="2353118"/>
              <a:ext cx="157824" cy="183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1D64E-2469-FC63-F655-1FF1BC1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DDDC66B4-795D-0386-C6A6-872680ACA1CA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41D6A04D-A977-57C6-BBE4-F7117DDBB8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1835FD8-8AD3-4B0A-A371-E7966EE6A4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A7A50D6-894D-6761-436C-B653D779F630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EF27BDE-C09D-0D68-9C79-DA7E9ED468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060D2FD5-A69E-1D6A-534C-B7C9F72F797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3D9F307-397C-606E-026E-047B70D57EB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AC76772-952E-8B82-1FFD-D73E6C8944FE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993F300-F04C-CB11-8596-077DAD6C20A2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0EB91E8-A109-F185-A3B3-750D3FDB2887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ABFA6D8-9AE7-2CDF-00A7-00D520C155BE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9F88B70-CD76-6EAC-06FD-9D255BF40A35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061F6089-8AE3-02BC-8033-D7C3B58283FE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9E3D552-CE30-5202-A21A-83298410275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F28AF39C-2834-16CA-DBA0-AEBFF348E5C1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6FE9D677-F8B6-B80A-64A4-6B5F9BBFF1AC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E05879-A92C-038A-26CD-627B3B3BBC9E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369DC99-7E45-4694-C02B-8827A4A578AB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04662E6-BA88-D85D-EFCC-CAA961373A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263CD92-0FD0-A7D7-9599-9C89CC8A9E3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77AFBF91-0509-83D7-B0FC-53BB614F4BD3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D26CA9E-56A6-4198-D806-3A332FD6EB3F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9734D40-9979-E514-4F53-502671E18AD6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192221E8-98B0-97BB-6D77-9137D6CE5F6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5187632-EDBE-4A9F-6F24-A0E1DC2389CF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B63BB8C-8CDF-507A-D3B3-AEC868E78ACB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998E1E6-9B24-24E9-20DE-CFED16703223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69C3F89-4C87-AF8C-C0CE-A02D4E854092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265FA536-7F65-7BCA-9097-19FF4C657AFE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000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7D80BECE-9ECC-B9DE-EF50-2C2B2C4AC5DB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/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/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5545564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34DB3-EF34-ECEA-612A-5AF4DB05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F9BBD2FD-CF73-528D-5800-EBFA500E45C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F034DC8-C749-090B-EE51-94854F66C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7177" y="4033973"/>
              <a:ext cx="709244" cy="20612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6FE0EB9D-21F9-4127-6D82-435A59995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13CBD50A-A730-8AFE-B031-D15997274F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886DE6-1077-206C-D3CA-99E74DEC9394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FF05A71-582D-9191-9743-99F9C78418F2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654B79FE-0697-96CC-0810-CAF4594A53DB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15C5B51-0C20-185B-0040-A8999AD745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4A337265-AB1F-6C47-6023-FD5F7C1D768B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A8CE05B-78DD-6CF4-4CBF-4D95C037C8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EE08F870-46C7-6BA5-D892-5DC0823B8B82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70F127C9-AC3F-6FC7-7015-EB3F874395B3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DEFA638-D7CB-D2C1-F61C-49C9439A7FA6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8A0CBF4-F2C9-5D9E-588A-3326EE3EECF4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07CF738-51F4-26CF-4AAC-343FF70BC94C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C4917B0-970A-52A6-4BF6-4C187C5F5E9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3CB2341-7DBA-D4E4-B23F-BF0D44A485D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A8D110F-2064-E200-21EE-AF61992464E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CDC89E9-0430-8EEF-44E8-B1162A3894F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F52A80A-7364-7C4A-491B-E886D00144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7D3300A-C524-4BB3-938B-E7ABEAA6648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5C896E5-693F-A300-F512-729F492C7D88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6A4B15F-241C-8207-6750-4AC1C26C03EF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CB04675-C1B8-179E-063A-83532350B5B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7CE081A-B21A-762E-73B2-73F86C9D8550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C2883E7-1C60-5FCB-605F-9E00B531F42A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8C799CC9-8CDC-AC46-4D9C-14D8CB6E28DC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E2DCA249-8B08-434F-AA72-F87E61B4122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DC3B73C-A49D-04B7-5662-8E7514E23CD8}"/>
                </a:ext>
              </a:extLst>
            </p:cNvPr>
            <p:cNvSpPr txBox="1"/>
            <p:nvPr/>
          </p:nvSpPr>
          <p:spPr>
            <a:xfrm>
              <a:off x="6106421" y="1896928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entrada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B80609F-3EC0-40F6-4D37-14444E24F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6673" y="2356574"/>
              <a:ext cx="442406" cy="9723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9077C205-DBA7-D8FC-2C97-C88478ADBE7F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139" cy="465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68098FF-7972-7827-660D-CE72BBD2AC48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7051480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1E6693AB-9080-966C-4D58-2EA6DBD07FBC}"/>
              </a:ext>
            </a:extLst>
          </p:cNvPr>
          <p:cNvGrpSpPr/>
          <p:nvPr/>
        </p:nvGrpSpPr>
        <p:grpSpPr>
          <a:xfrm>
            <a:off x="134391" y="1849548"/>
            <a:ext cx="5133274" cy="3158904"/>
            <a:chOff x="3387954" y="1841814"/>
            <a:chExt cx="5133274" cy="315890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A3F5154-2CA6-DA77-77EC-40A67ED99630}"/>
                </a:ext>
              </a:extLst>
            </p:cNvPr>
            <p:cNvSpPr txBox="1"/>
            <p:nvPr/>
          </p:nvSpPr>
          <p:spPr>
            <a:xfrm>
              <a:off x="5830072" y="1866123"/>
              <a:ext cx="732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saída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92D561B4-41EA-C30D-E56D-D9342BDCD50E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196208" y="2327788"/>
              <a:ext cx="884662" cy="105272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11088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4AEBB-1DB3-0C45-B06E-B6487708D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F7B7D8FC-9645-4A44-7D00-F1E2AE598CBE}"/>
              </a:ext>
            </a:extLst>
          </p:cNvPr>
          <p:cNvGrpSpPr/>
          <p:nvPr/>
        </p:nvGrpSpPr>
        <p:grpSpPr>
          <a:xfrm>
            <a:off x="3581399" y="2244873"/>
            <a:ext cx="4928922" cy="2579854"/>
            <a:chOff x="3581399" y="2244873"/>
            <a:chExt cx="4928922" cy="2579854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90050B18-8D3F-55EF-2EB2-32D909A3DE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10C8CDDB-6BDF-ED81-4C18-815D38FC460E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C878417F-026D-C5E4-7CD5-9AF914BD3FA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3690F93B-C813-8543-60EE-FD8C453D5D34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D95F8E15-9ACA-85AA-D57F-195E21823AC0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C6E8D3F7-3B24-BD33-C5A8-30120A16C309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A167DEAA-A4BC-3DC5-B475-EBB7590347D8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117D1456-CB87-98A7-0EB1-D7D8E8F96920}"/>
                </a:ext>
              </a:extLst>
            </p:cNvPr>
            <p:cNvCxnSpPr>
              <a:cxnSpLocks/>
              <a:stCxn id="140" idx="3"/>
              <a:endCxn id="137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58E46E7A-E1E3-D586-BCF0-E5340AD35998}"/>
                </a:ext>
              </a:extLst>
            </p:cNvPr>
            <p:cNvCxnSpPr>
              <a:cxnSpLocks/>
              <a:stCxn id="142" idx="0"/>
              <a:endCxn id="137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2B2D2713-80F9-8691-6DD2-110DFD52B741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89B28A53-8903-1E7F-2167-9D4D45F09B8D}"/>
                </a:ext>
              </a:extLst>
            </p:cNvPr>
            <p:cNvCxnSpPr>
              <a:stCxn id="137" idx="6"/>
              <a:endCxn id="139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D4E7BBA5-09C3-80E0-1CAB-039A11EDF1AE}"/>
                </a:ext>
              </a:extLst>
            </p:cNvPr>
            <p:cNvCxnSpPr>
              <a:stCxn id="141" idx="0"/>
              <a:endCxn id="139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92B680C6-14AA-8FD4-B377-1166A521DAE9}"/>
                </a:ext>
              </a:extLst>
            </p:cNvPr>
            <p:cNvCxnSpPr>
              <a:cxnSpLocks/>
              <a:stCxn id="138" idx="0"/>
              <a:endCxn id="141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629C1E56-B71B-009E-0B81-04D4491F1D52}"/>
                </a:ext>
              </a:extLst>
            </p:cNvPr>
            <p:cNvCxnSpPr>
              <a:cxnSpLocks/>
              <a:stCxn id="139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Connector: Elbow 152">
              <a:extLst>
                <a:ext uri="{FF2B5EF4-FFF2-40B4-BE49-F238E27FC236}">
                  <a16:creationId xmlns:a16="http://schemas.microsoft.com/office/drawing/2014/main" id="{105EEC1D-3C43-F2A9-88AE-42FA04BF1309}"/>
                </a:ext>
              </a:extLst>
            </p:cNvPr>
            <p:cNvCxnSpPr>
              <a:stCxn id="143" idx="0"/>
              <a:endCxn id="136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2EE7824F-8399-FB24-5842-DC6000E156F9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Connector: Elbow 154">
              <a:extLst>
                <a:ext uri="{FF2B5EF4-FFF2-40B4-BE49-F238E27FC236}">
                  <a16:creationId xmlns:a16="http://schemas.microsoft.com/office/drawing/2014/main" id="{BB4CE004-4534-6E2D-73FA-39554F4B499D}"/>
                </a:ext>
              </a:extLst>
            </p:cNvPr>
            <p:cNvCxnSpPr>
              <a:stCxn id="136" idx="4"/>
              <a:endCxn id="138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7" name="Connector: Elbow 156">
              <a:extLst>
                <a:ext uri="{FF2B5EF4-FFF2-40B4-BE49-F238E27FC236}">
                  <a16:creationId xmlns:a16="http://schemas.microsoft.com/office/drawing/2014/main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6C9CC7CA-AB4F-1D5E-EE6E-AA03D2E71EB1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:a16="http://schemas.microsoft.com/office/drawing/2014/main" id="{CA24E0D2-DBB3-B807-0058-DB1675A40AD5}"/>
                </a:ext>
              </a:extLst>
            </p:cNvPr>
            <p:cNvCxnSpPr>
              <a:cxnSpLocks/>
              <a:stCxn id="160" idx="2"/>
              <a:endCxn id="142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88429B5-EC77-54D8-F1D7-DD4559DEA260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EB9F10BE-C0D9-DCE6-20B3-0600C34F7790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1F9CCA16-0915-4D37-C307-5E13D4257933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2472D226-670D-5BCA-F37F-C3B918721002}"/>
                </a:ext>
              </a:extLst>
            </p:cNvPr>
            <p:cNvCxnSpPr>
              <a:cxnSpLocks/>
              <a:stCxn id="143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id="{392EC775-E042-840D-378B-90F1077C2FE0}"/>
                </a:ext>
              </a:extLst>
            </p:cNvPr>
            <p:cNvCxnSpPr>
              <a:cxnSpLocks/>
              <a:endCxn id="144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Straight Arrow Connector 173">
              <a:extLst>
                <a:ext uri="{FF2B5EF4-FFF2-40B4-BE49-F238E27FC236}">
                  <a16:creationId xmlns:a16="http://schemas.microsoft.com/office/drawing/2014/main" id="{52896F66-9320-EEE1-2DE9-C988426FD4C8}"/>
                </a:ext>
              </a:extLst>
            </p:cNvPr>
            <p:cNvCxnSpPr>
              <a:cxnSpLocks/>
              <a:stCxn id="144" idx="6"/>
              <a:endCxn id="141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745027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252F6-7CF6-0CB5-2A37-B62D170C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5D8E9F3C-B497-3F06-40DA-7AF6840F84ED}"/>
              </a:ext>
            </a:extLst>
          </p:cNvPr>
          <p:cNvGrpSpPr/>
          <p:nvPr/>
        </p:nvGrpSpPr>
        <p:grpSpPr>
          <a:xfrm>
            <a:off x="3581399" y="1829242"/>
            <a:ext cx="4928922" cy="2995485"/>
            <a:chOff x="3581399" y="1829242"/>
            <a:chExt cx="4928922" cy="299548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A002826-58F0-2B0D-1038-C97581B5271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1B79736A-236D-E3D9-6C83-C58E440FA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2414ECA-C1B7-3469-AA7E-EC751760A2ED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D51A595-29D8-A07D-C3F0-F222BCFA01C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0BE548-A72A-2BF0-59F6-02658DA115FF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E6D8DDBB-3D1C-6DFC-433F-295B122112B7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1A0E8F15-DE4D-390E-F4A4-F035B779E166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0629450-C119-502D-C9FE-A91B3C7D5847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C05E61-D20B-738A-2DA6-6C154D176A9D}"/>
                </a:ext>
              </a:extLst>
            </p:cNvPr>
            <p:cNvCxnSpPr>
              <a:cxnSpLocks/>
              <a:stCxn id="5" idx="3"/>
              <a:endCxn id="52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A92D7CB-640B-D967-DC02-4066C5EB26AA}"/>
                </a:ext>
              </a:extLst>
            </p:cNvPr>
            <p:cNvCxnSpPr>
              <a:cxnSpLocks/>
              <a:stCxn id="14" idx="0"/>
              <a:endCxn id="52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D1B64B4-7D6A-099F-591C-1F74EE2899F3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F1C8C073-B9C6-A980-3D68-03DD6E4321DA}"/>
                </a:ext>
              </a:extLst>
            </p:cNvPr>
            <p:cNvCxnSpPr>
              <a:stCxn id="52" idx="6"/>
              <a:endCxn id="48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E2228004-25D2-FC50-BB67-5122D67A3E40}"/>
                </a:ext>
              </a:extLst>
            </p:cNvPr>
            <p:cNvCxnSpPr>
              <a:stCxn id="4" idx="0"/>
              <a:endCxn id="48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8224F3CC-FC36-8E12-DB65-87AA483CCE92}"/>
                </a:ext>
              </a:extLst>
            </p:cNvPr>
            <p:cNvCxnSpPr>
              <a:cxnSpLocks/>
              <a:stCxn id="12" idx="0"/>
              <a:endCxn id="4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FC4C760C-41A3-2B9F-BDBD-EACAF2930C86}"/>
                </a:ext>
              </a:extLst>
            </p:cNvPr>
            <p:cNvCxnSpPr>
              <a:cxnSpLocks/>
              <a:stCxn id="48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ctor: Elbow 86">
              <a:extLst>
                <a:ext uri="{FF2B5EF4-FFF2-40B4-BE49-F238E27FC236}">
                  <a16:creationId xmlns:a16="http://schemas.microsoft.com/office/drawing/2014/main" id="{540822DA-C440-2FF8-1393-44F98D89EC54}"/>
                </a:ext>
              </a:extLst>
            </p:cNvPr>
            <p:cNvCxnSpPr>
              <a:stCxn id="19" idx="0"/>
              <a:endCxn id="37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180749C7-0E69-D172-CFA1-210BCB96C9E1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Connector: Elbow 90">
              <a:extLst>
                <a:ext uri="{FF2B5EF4-FFF2-40B4-BE49-F238E27FC236}">
                  <a16:creationId xmlns:a16="http://schemas.microsoft.com/office/drawing/2014/main" id="{641E2C6D-8BAA-2586-960B-35BF5D6E68FC}"/>
                </a:ext>
              </a:extLst>
            </p:cNvPr>
            <p:cNvCxnSpPr>
              <a:stCxn id="37" idx="4"/>
              <a:endCxn id="12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Connector: Elbow 103">
              <a:extLst>
                <a:ext uri="{FF2B5EF4-FFF2-40B4-BE49-F238E27FC236}">
                  <a16:creationId xmlns:a16="http://schemas.microsoft.com/office/drawing/2014/main" id="{0DE47F14-750D-68C0-E1AD-B3723EE38E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716C0B98-441D-08AF-01CE-CB39C12BF5BC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: Elbow 110">
              <a:extLst>
                <a:ext uri="{FF2B5EF4-FFF2-40B4-BE49-F238E27FC236}">
                  <a16:creationId xmlns:a16="http://schemas.microsoft.com/office/drawing/2014/main" id="{737121D0-0380-2E97-A3BF-0A624A417999}"/>
                </a:ext>
              </a:extLst>
            </p:cNvPr>
            <p:cNvCxnSpPr>
              <a:cxnSpLocks/>
              <a:stCxn id="114" idx="2"/>
              <a:endCxn id="14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11A13A5E-D171-20F2-D972-AD32DF855867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4CA64C18-D2EA-8E55-6B93-5C413921DD43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B1F4FBC4-364C-A19F-A81D-DA38A3FDF67F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A4AFA3A5-3D61-AD77-0FD5-E05A04A78770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8154BB7-44CA-1D82-2AC2-22171A0642D6}"/>
                </a:ext>
              </a:extLst>
            </p:cNvPr>
            <p:cNvSpPr/>
            <p:nvPr/>
          </p:nvSpPr>
          <p:spPr>
            <a:xfrm>
              <a:off x="6036582" y="2520191"/>
              <a:ext cx="539413" cy="1620565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BBC452-1110-2988-2E65-E445EE63C4C7}"/>
                </a:ext>
              </a:extLst>
            </p:cNvPr>
            <p:cNvSpPr/>
            <p:nvPr/>
          </p:nvSpPr>
          <p:spPr>
            <a:xfrm>
              <a:off x="4666818" y="3031273"/>
              <a:ext cx="1117692" cy="11033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3AB5C93-A0FA-4FF5-F0AA-FD75161F0631}"/>
                </a:ext>
              </a:extLst>
            </p:cNvPr>
            <p:cNvSpPr txBox="1"/>
            <p:nvPr/>
          </p:nvSpPr>
          <p:spPr>
            <a:xfrm>
              <a:off x="5835605" y="1829242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atualização</a:t>
              </a:r>
              <a:endParaRPr lang="en-US" sz="1200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B4BB778-3C5D-0F93-B5F7-D66D9C30556C}"/>
                </a:ext>
              </a:extLst>
            </p:cNvPr>
            <p:cNvCxnSpPr>
              <a:cxnSpLocks/>
              <a:stCxn id="2" idx="0"/>
              <a:endCxn id="6" idx="2"/>
            </p:cNvCxnSpPr>
            <p:nvPr/>
          </p:nvCxnSpPr>
          <p:spPr>
            <a:xfrm flipH="1" flipV="1">
              <a:off x="6306288" y="2290907"/>
              <a:ext cx="1" cy="229284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27BE59C-84F5-3A6A-1F58-4156CACC3A1F}"/>
                </a:ext>
              </a:extLst>
            </p:cNvPr>
            <p:cNvSpPr txBox="1"/>
            <p:nvPr/>
          </p:nvSpPr>
          <p:spPr>
            <a:xfrm>
              <a:off x="4759386" y="1840210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</a:t>
              </a:r>
              <a:r>
                <a:rPr lang="pt-BR" sz="1200" i="1" dirty="0"/>
                <a:t>reset</a:t>
              </a:r>
              <a:endParaRPr lang="en-US" sz="1200" i="1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D7901D-0577-0DF7-A300-F4B8DDD2B08B}"/>
                </a:ext>
              </a:extLst>
            </p:cNvPr>
            <p:cNvCxnSpPr>
              <a:cxnSpLocks/>
              <a:stCxn id="3" idx="0"/>
              <a:endCxn id="9" idx="2"/>
            </p:cNvCxnSpPr>
            <p:nvPr/>
          </p:nvCxnSpPr>
          <p:spPr>
            <a:xfrm flipV="1">
              <a:off x="5225664" y="2301875"/>
              <a:ext cx="4405" cy="72939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CF85A48-30D2-A843-6627-1DD7BA329BD6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53162AA-0266-E2D5-F390-ED75645298B3}"/>
                </a:ext>
              </a:extLst>
            </p:cNvPr>
            <p:cNvCxnSpPr>
              <a:cxnSpLocks/>
              <a:stCxn id="17" idx="6"/>
              <a:endCxn id="4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3583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9889</TotalTime>
  <Words>5466</Words>
  <Application>Microsoft Office PowerPoint</Application>
  <PresentationFormat>Widescreen</PresentationFormat>
  <Paragraphs>890</Paragraphs>
  <Slides>84</Slides>
  <Notes>49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84</vt:i4>
      </vt:variant>
    </vt:vector>
  </HeadingPairs>
  <TitlesOfParts>
    <vt:vector size="91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Apresentação do PowerPoint</vt:lpstr>
      <vt:lpstr>Apresentação do PowerPoint</vt:lpstr>
      <vt:lpstr>Redes recorrentes</vt:lpstr>
      <vt:lpstr>Redes recorrentes</vt:lpstr>
      <vt:lpstr>Redes recorrentes</vt:lpstr>
      <vt:lpstr>Apresentação do PowerPoint</vt:lpstr>
      <vt:lpstr>Neurônio (ou célula) recorrente</vt:lpstr>
      <vt:lpstr>Neurônio (ou célula) recorrente</vt:lpstr>
      <vt:lpstr>Neurônio (ou célula) recorrente</vt:lpstr>
      <vt:lpstr>Neurônio recorrente</vt:lpstr>
      <vt:lpstr>Neurônio recorrente</vt:lpstr>
      <vt:lpstr>Atualização do estado e geração da saída</vt:lpstr>
      <vt:lpstr>Atualização do estado e geração da saída</vt:lpstr>
      <vt:lpstr>Desenrolando uma RNN</vt:lpstr>
      <vt:lpstr>Desenrolando uma RNN</vt:lpstr>
      <vt:lpstr>Desenrolando uma RNN</vt:lpstr>
      <vt:lpstr>Desenrolando uma RNN</vt:lpstr>
      <vt:lpstr>Treinando uma RNN</vt:lpstr>
      <vt:lpstr>Treinando uma RNN</vt:lpstr>
      <vt:lpstr>Treinando uma RNN</vt:lpstr>
      <vt:lpstr>Backpropagation Through Time (BPTT)</vt:lpstr>
      <vt:lpstr>Backpropagation Through Time (BPTT)</vt:lpstr>
      <vt:lpstr>Backpropagation Through Time (BPTT)</vt:lpstr>
      <vt:lpstr>Por que o BPTT truncado funciona?</vt:lpstr>
      <vt:lpstr>Desaparecimento e explosão do gradiente</vt:lpstr>
      <vt:lpstr>Apresentação do PowerPoint</vt:lpstr>
      <vt:lpstr>Desaparecimento e explosão do gradiente</vt:lpstr>
      <vt:lpstr>Como mitigar esses problemas?</vt:lpstr>
      <vt:lpstr>Por que não usar funções de ativação ReLU?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Long-short term memory (LSTM)</vt:lpstr>
      <vt:lpstr>Long-short term memory (LSTM)</vt:lpstr>
      <vt:lpstr>Long-short term memory (LSTM)</vt:lpstr>
      <vt:lpstr>Long-short term memory (LSTM)</vt:lpstr>
      <vt:lpstr>A ideia central por trás das LSTMs: o estado da célula</vt:lpstr>
      <vt:lpstr>A ideia central por trás das LSTMs: o estado da célula</vt:lpstr>
      <vt:lpstr>A ideia central por trás das LSTMs: o estado da célula</vt:lpstr>
      <vt:lpstr>Estados da célula</vt:lpstr>
      <vt:lpstr>Porta de esquecimento</vt:lpstr>
      <vt:lpstr>Porta de entrada</vt:lpstr>
      <vt:lpstr>Atualização do estado da célula</vt:lpstr>
      <vt:lpstr>Porta de saída</vt:lpstr>
      <vt:lpstr>Long-short term memory (LSTM)</vt:lpstr>
      <vt:lpstr>Principais desvantagens de LSTMs</vt:lpstr>
      <vt:lpstr>Gated recurrent unit (GRU)</vt:lpstr>
      <vt:lpstr>Gated recurrent unit (GRU)</vt:lpstr>
      <vt:lpstr>Apresentação do PowerPoint</vt:lpstr>
      <vt:lpstr>Desaparecimento do gradiente</vt:lpstr>
      <vt:lpstr>Desaparecimento do gradiente</vt:lpstr>
      <vt:lpstr>Desaparecimento do gradiente</vt:lpstr>
      <vt:lpstr>Apresentação do PowerPoint</vt:lpstr>
      <vt:lpstr>Aplicação: um-para-um</vt:lpstr>
      <vt:lpstr>Aplicação: um-para-vários</vt:lpstr>
      <vt:lpstr>Aplicação: vários-para-um</vt:lpstr>
      <vt:lpstr>Aplicação: vários-para-vários síncrono</vt:lpstr>
      <vt:lpstr>Aplicação: vários-para-vários assíncrono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1988</cp:revision>
  <dcterms:created xsi:type="dcterms:W3CDTF">2020-01-20T13:50:05Z</dcterms:created>
  <dcterms:modified xsi:type="dcterms:W3CDTF">2026-05-12T19:47:36Z</dcterms:modified>
</cp:coreProperties>
</file>