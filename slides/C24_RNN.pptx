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2"/>
  </p:notesMasterIdLst>
  <p:handoutMasterIdLst>
    <p:handoutMasterId r:id="rId73"/>
  </p:handoutMasterIdLst>
  <p:sldIdLst>
    <p:sldId id="256" r:id="rId2"/>
    <p:sldId id="315" r:id="rId3"/>
    <p:sldId id="308" r:id="rId4"/>
    <p:sldId id="316" r:id="rId5"/>
    <p:sldId id="325" r:id="rId6"/>
    <p:sldId id="317" r:id="rId7"/>
    <p:sldId id="326" r:id="rId8"/>
    <p:sldId id="328" r:id="rId9"/>
    <p:sldId id="329" r:id="rId10"/>
    <p:sldId id="334" r:id="rId11"/>
    <p:sldId id="332" r:id="rId12"/>
    <p:sldId id="333" r:id="rId13"/>
    <p:sldId id="336" r:id="rId14"/>
    <p:sldId id="331" r:id="rId15"/>
    <p:sldId id="338" r:id="rId16"/>
    <p:sldId id="341" r:id="rId17"/>
    <p:sldId id="342" r:id="rId18"/>
    <p:sldId id="343" r:id="rId19"/>
    <p:sldId id="361" r:id="rId20"/>
    <p:sldId id="344" r:id="rId21"/>
    <p:sldId id="345" r:id="rId22"/>
    <p:sldId id="601" r:id="rId23"/>
    <p:sldId id="346" r:id="rId24"/>
    <p:sldId id="347" r:id="rId25"/>
    <p:sldId id="349" r:id="rId26"/>
    <p:sldId id="351" r:id="rId27"/>
    <p:sldId id="352" r:id="rId28"/>
    <p:sldId id="355" r:id="rId29"/>
    <p:sldId id="372" r:id="rId30"/>
    <p:sldId id="374" r:id="rId31"/>
    <p:sldId id="376" r:id="rId32"/>
    <p:sldId id="356" r:id="rId33"/>
    <p:sldId id="358" r:id="rId34"/>
    <p:sldId id="362" r:id="rId35"/>
    <p:sldId id="591" r:id="rId36"/>
    <p:sldId id="365" r:id="rId37"/>
    <p:sldId id="366" r:id="rId38"/>
    <p:sldId id="367" r:id="rId39"/>
    <p:sldId id="368" r:id="rId40"/>
    <p:sldId id="371" r:id="rId41"/>
    <p:sldId id="603" r:id="rId42"/>
    <p:sldId id="381" r:id="rId43"/>
    <p:sldId id="377" r:id="rId44"/>
    <p:sldId id="594" r:id="rId45"/>
    <p:sldId id="595" r:id="rId46"/>
    <p:sldId id="596" r:id="rId47"/>
    <p:sldId id="597" r:id="rId48"/>
    <p:sldId id="598" r:id="rId49"/>
    <p:sldId id="599" r:id="rId50"/>
    <p:sldId id="600" r:id="rId51"/>
    <p:sldId id="588" r:id="rId52"/>
    <p:sldId id="589" r:id="rId53"/>
    <p:sldId id="293" r:id="rId54"/>
    <p:sldId id="306" r:id="rId55"/>
    <p:sldId id="335" r:id="rId56"/>
    <p:sldId id="590" r:id="rId57"/>
    <p:sldId id="330" r:id="rId58"/>
    <p:sldId id="340" r:id="rId59"/>
    <p:sldId id="348" r:id="rId60"/>
    <p:sldId id="350" r:id="rId61"/>
    <p:sldId id="353" r:id="rId62"/>
    <p:sldId id="354" r:id="rId63"/>
    <p:sldId id="373" r:id="rId64"/>
    <p:sldId id="357" r:id="rId65"/>
    <p:sldId id="359" r:id="rId66"/>
    <p:sldId id="592" r:id="rId67"/>
    <p:sldId id="363" r:id="rId68"/>
    <p:sldId id="364" r:id="rId69"/>
    <p:sldId id="369" r:id="rId70"/>
    <p:sldId id="370" r:id="rId71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1598" autoAdjust="0"/>
  </p:normalViewPr>
  <p:slideViewPr>
    <p:cSldViewPr snapToGrid="0">
      <p:cViewPr varScale="1">
        <p:scale>
          <a:sx n="60" d="100"/>
          <a:sy n="60" d="100"/>
        </p:scale>
        <p:origin x="1296" y="60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presProps" Target="presProps.xml"/><Relationship Id="rId79" Type="http://schemas.microsoft.com/office/2015/10/relationships/revisionInfo" Target="revisionInfo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handoutMaster" Target="handoutMasters/handoutMaster1.xml"/><Relationship Id="rId78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29/03/2026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9182961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18875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61417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DC9BA21-D8BC-1049-8F29-21ED16A8E3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C584FCD-2462-F8A2-1938-163C0709B9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DB09072-013A-0614-ACA7-D012EF0DB6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A Flexibilidade da RNN:</a:t>
            </a:r>
            <a:r>
              <a:rPr lang="pt-BR" dirty="0"/>
              <a:t> Elas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Elas iteram sobre a sequência elemento por elemento, o que as torna ideais para tradução automática ou reconhecimento de fala.</a:t>
            </a:r>
          </a:p>
          <a:p>
            <a:endParaRPr lang="pt-BR" dirty="0"/>
          </a:p>
          <a:p>
            <a:r>
              <a:rPr lang="pt-BR" dirty="0"/>
              <a:t>De forma mais geral, as </a:t>
            </a:r>
            <a:r>
              <a:rPr lang="pt-BR" dirty="0" err="1"/>
              <a:t>RNNs</a:t>
            </a:r>
            <a:r>
              <a:rPr lang="pt-BR" dirty="0"/>
              <a:t> podem operar com sequências de comprimento arbitrário, em vez de entradas de tamanho fixo. Por exemplo, elas podem receber frases, documentos ou amostras de áudio como entrada, tornando-as extremamente úteis para aplicações de processamento de linguagem natural, como tradução automática ou reconhecimento de fala.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7CDC41C-7FEE-80DC-975E-EFA1C4B2E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489728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6458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1181A3B-733B-928E-1D84-1F64E3273B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3272983-0C6A-43FE-BA89-508E0B2125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AE2D7C08-7E68-409C-ED9B-AB35F3D740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D6ED3A18-642E-C99A-850A-9619C8CAE3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64675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78841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https://d2l.ai/chapter_recurrent-neural-networks/bptt.html</a:t>
            </a:r>
          </a:p>
          <a:p>
            <a:r>
              <a:rPr lang="pt-BR" dirty="0"/>
              <a:t>[2]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543513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25EF0C8-2D91-FA35-AF2B-95E36E0E1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B9AAD211-78C1-76CF-37C1-2799926821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984A298-DEE7-D577-1EDF-6AEC8A4A40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smtClean="0"/>
              <a:t>Porque cada estado carrega um pouco de informação de cada entrada anterior.</a:t>
            </a:r>
          </a:p>
          <a:p>
            <a:endParaRPr lang="pt-BR" sz="1200" b="0" i="0" u="none" strike="noStrike" kern="1200" dirty="0" smtClean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u="none" strike="noStrike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memória acumulada no estado oculto atual é suficiente para representar o passado distante, evitando a necessidade matemática de voltar até o primeiro passo da sequência para calcular o gradiente.</a:t>
            </a:r>
            <a:endParaRPr lang="pt-BR" dirty="0" smtClean="0"/>
          </a:p>
          <a:p>
            <a:endParaRPr lang="pt-BR" dirty="0" smtClean="0"/>
          </a:p>
          <a:p>
            <a:r>
              <a:rPr lang="pt-BR" dirty="0" smtClean="0"/>
              <a:t>Referências</a:t>
            </a:r>
            <a:endParaRPr lang="pt-BR" dirty="0"/>
          </a:p>
          <a:p>
            <a:r>
              <a:rPr lang="pt-BR" dirty="0"/>
              <a:t>[1] https://d2l.ai/chapter_recurrent-neural-networks/bptt.html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B6FFB4E4-8199-22E4-AFF4-DEB1442C3C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50877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3698640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65583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Esses </a:t>
            </a:r>
            <a:r>
              <a:rPr lang="pt-BR" dirty="0" err="1"/>
              <a:t>gates</a:t>
            </a:r>
            <a:r>
              <a:rPr lang="pt-BR" dirty="0"/>
              <a:t> permitem que a rede:</a:t>
            </a:r>
          </a:p>
          <a:p>
            <a:r>
              <a:rPr lang="pt-BR" b="1" dirty="0"/>
              <a:t>controle o fluxo de informação</a:t>
            </a:r>
            <a:r>
              <a:rPr lang="pt-BR" dirty="0"/>
              <a:t> </a:t>
            </a:r>
          </a:p>
          <a:p>
            <a:r>
              <a:rPr lang="pt-BR" b="1" dirty="0"/>
              <a:t>controle o fluxo do gradiente</a:t>
            </a:r>
            <a:r>
              <a:rPr lang="pt-BR" dirty="0"/>
              <a:t> </a:t>
            </a:r>
          </a:p>
          <a:p>
            <a:r>
              <a:rPr lang="pt-BR" dirty="0"/>
              <a:t>👉 Diferente da RNN simples, onde tudo é propagado sem controle.</a:t>
            </a:r>
          </a:p>
          <a:p>
            <a:r>
              <a:rPr lang="en-US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21928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Mecanismos de Controle: As </a:t>
            </a:r>
            <a:r>
              <a:rPr lang="pt-BR" dirty="0" err="1"/>
              <a:t>LSTMs</a:t>
            </a:r>
            <a:r>
              <a:rPr lang="pt-BR" dirty="0"/>
              <a:t> utilizam três mecanismos principais (ativados por sigmoide) para regular o fluxo de informações: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Esquecimento: Determina o que descartar do estado anterior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Entrada: Determina qual nova informação adicionar ao estado da célula.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Mecanismo de Saída: Determina qual parte do estado da célula será emitida.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9567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770742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05880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AF21517-1760-10C5-9ACD-3D4AD737C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5F98B198-C479-EA3D-55BA-9D67166985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0F676CF-1DC3-F6BB-6166-82AE18D62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7642C76-6177-C1C7-E8A0-9A1EAA8D0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531073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https://www.cs.ubc.ca/labs/lci/mlrg/slides/rnn.pdf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077929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46968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7072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As </a:t>
            </a:r>
            <a:r>
              <a:rPr lang="pt-BR" dirty="0" err="1"/>
              <a:t>GRUs</a:t>
            </a:r>
            <a:r>
              <a:rPr lang="pt-BR" dirty="0"/>
              <a:t> possuem as seguintes duas características distintivas:</a:t>
            </a:r>
          </a:p>
          <a:p>
            <a:endParaRPr lang="pt-BR" dirty="0"/>
          </a:p>
          <a:p>
            <a:r>
              <a:rPr lang="pt-BR" dirty="0"/>
              <a:t>Portas de reinicialização ajudam a capturar dependências de curto prazo em sequências.</a:t>
            </a:r>
          </a:p>
          <a:p>
            <a:endParaRPr lang="pt-BR" dirty="0"/>
          </a:p>
          <a:p>
            <a:r>
              <a:rPr lang="pt-BR" dirty="0"/>
              <a:t>Portas de atualização ajudam a capturar dependências de longo prazo em sequências.</a:t>
            </a:r>
          </a:p>
          <a:p>
            <a:endParaRPr lang="pt-BR" dirty="0"/>
          </a:p>
          <a:p>
            <a:r>
              <a:rPr lang="pt-BR" dirty="0"/>
              <a:t>Referências</a:t>
            </a:r>
          </a:p>
          <a:p>
            <a:r>
              <a:rPr lang="pt-BR" dirty="0"/>
              <a:t>[1] https://towardsdatascience.com/a-brief-introduction-to-recurrent-neural-networks-638f64a61ff4/</a:t>
            </a:r>
          </a:p>
          <a:p>
            <a:r>
              <a:rPr lang="pt-BR" dirty="0"/>
              <a:t>[2] https://colah.github.io/posts/2015-08-Understanding-LSTMs/</a:t>
            </a:r>
          </a:p>
          <a:p>
            <a:r>
              <a:rPr lang="pt-BR" dirty="0"/>
              <a:t>[3] https://www.sintef.no/contentassets/9689621c8cda44d9b2bc91c5fba21135/bianchi.pdf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243549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0594373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83D3213-0C35-07AC-78F8-52C6D5CDA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D9EE4CB0-4107-1059-1A28-15E957C15E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BC6654DA-65BA-C1F1-6DD3-9F046560DB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  <a:p>
            <a:r>
              <a:rPr lang="pt-BR" dirty="0"/>
              <a:t>[1] https://weberna.github.io/blog/2017/11/15/LSTM-Vanishing-Gradients.html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5EA4336C-1795-AE8D-9FED-22ABF296F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9885035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7422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</a:t>
            </a:r>
            <a:r>
              <a:rPr lang="en-US" dirty="0" smtClean="0"/>
              <a:t>colab.research.google.com/github/zz4fap/c24_inteligencia_artificial/blob/master/notebooks/rnn.ipynb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1213060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355876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02585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8D7C511-A7D2-5EB1-97DA-D3F90E4E1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6374BD0-DC0C-EDA8-E7F1-DE8D8E563B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EEAD1AE6-6E02-5D42-7E6C-4FEB17403E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2CD063DC-C958-65C8-2E55-CB2FF9520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76881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5383363-000A-0D60-6C1E-B401D651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0FBA9BC8-6559-200B-A0DC-C7C193B50C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B93FD94-0D0E-D985-C243-70A96161BF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8444AF09-4A8D-EB58-C542-61C146A8C5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31442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B775DFA-E39B-0EF4-1143-A327A7CAA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87859BB1-D8C1-65C8-6748-CB851BA5D5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F422EE45-2516-549E-714A-C375BCD8BB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900447B7-D6A2-FFD4-F49A-1A0A90A83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573918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D5BA58-4E58-75EA-7BEC-ED2E6436B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E53AD002-AA40-E355-B02F-572AE6190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40F3552-4534-C924-31C6-211591DD81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87906D9-35CD-7BBD-9B83-9AF5394718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9601780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888EBD2-AA05-D187-F34B-ABF6C940A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2541C393-F2DD-B5B3-8124-2A3017B81B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04BF964D-0563-00C6-DDFF-D33E4F0D35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CD49EF4F-E76D-C638-D820-CC9A1EFEA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96531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FC757CE-BF53-437D-28DC-9D1656072D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B0179AB-2D11-DEBD-9B1F-449BB16F9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6F126D2B-715D-BDF5-8BC7-7ACBED622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F6DE5B57-5F1E-72D0-DAE3-0F58D801D6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297196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72845150-E3A0-4AA8-1B82-4EB9CA0E8F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A53E8584-A895-574E-5864-7A79AC8845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4C0F3F9-B45E-5A1E-7FC6-0155077F71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761CD3A3-7795-BD62-EC53-236C1B172A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610720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FC3BFA3-59AF-04F9-0576-93E8CE77B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90AC571C-6EE6-6F3D-F881-BE06D868B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30E6B7E9-D7F9-10C6-4778-8BEC26413A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17BE00AF-4D89-539C-EE0E-6F52B8BD50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14569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29/03/2026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7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4.png"/><Relationship Id="rId4" Type="http://schemas.openxmlformats.org/officeDocument/2006/relationships/image" Target="../media/image41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49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nn.ipynb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5" Type="http://schemas.openxmlformats.org/officeDocument/2006/relationships/image" Target="../media/image63.jpeg"/><Relationship Id="rId4" Type="http://schemas.openxmlformats.org/officeDocument/2006/relationships/image" Target="../media/image62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zz4fap/c24_inteligencia_artificial/blob/main/listas/Lista%2011%20-%20RNN.pdf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0.png"/><Relationship Id="rId13" Type="http://schemas.openxmlformats.org/officeDocument/2006/relationships/image" Target="../media/image380.png"/><Relationship Id="rId18" Type="http://schemas.openxmlformats.org/officeDocument/2006/relationships/image" Target="../media/image430.png"/><Relationship Id="rId26" Type="http://schemas.openxmlformats.org/officeDocument/2006/relationships/image" Target="../media/image510.png"/><Relationship Id="rId3" Type="http://schemas.openxmlformats.org/officeDocument/2006/relationships/image" Target="../media/image280.png"/><Relationship Id="rId21" Type="http://schemas.openxmlformats.org/officeDocument/2006/relationships/image" Target="../media/image460.png"/><Relationship Id="rId7" Type="http://schemas.openxmlformats.org/officeDocument/2006/relationships/image" Target="../media/image320.png"/><Relationship Id="rId12" Type="http://schemas.openxmlformats.org/officeDocument/2006/relationships/image" Target="../media/image370.png"/><Relationship Id="rId17" Type="http://schemas.openxmlformats.org/officeDocument/2006/relationships/image" Target="../media/image420.png"/><Relationship Id="rId25" Type="http://schemas.openxmlformats.org/officeDocument/2006/relationships/image" Target="../media/image500.png"/><Relationship Id="rId2" Type="http://schemas.openxmlformats.org/officeDocument/2006/relationships/image" Target="../media/image270.png"/><Relationship Id="rId16" Type="http://schemas.openxmlformats.org/officeDocument/2006/relationships/image" Target="../media/image410.png"/><Relationship Id="rId20" Type="http://schemas.openxmlformats.org/officeDocument/2006/relationships/image" Target="../media/image4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0.png"/><Relationship Id="rId11" Type="http://schemas.openxmlformats.org/officeDocument/2006/relationships/image" Target="../media/image360.png"/><Relationship Id="rId24" Type="http://schemas.openxmlformats.org/officeDocument/2006/relationships/image" Target="../media/image490.png"/><Relationship Id="rId5" Type="http://schemas.openxmlformats.org/officeDocument/2006/relationships/image" Target="../media/image300.png"/><Relationship Id="rId15" Type="http://schemas.openxmlformats.org/officeDocument/2006/relationships/image" Target="../media/image400.png"/><Relationship Id="rId23" Type="http://schemas.openxmlformats.org/officeDocument/2006/relationships/image" Target="../media/image480.png"/><Relationship Id="rId28" Type="http://schemas.openxmlformats.org/officeDocument/2006/relationships/image" Target="../media/image530.png"/><Relationship Id="rId10" Type="http://schemas.openxmlformats.org/officeDocument/2006/relationships/image" Target="../media/image350.png"/><Relationship Id="rId19" Type="http://schemas.openxmlformats.org/officeDocument/2006/relationships/image" Target="../media/image440.png"/><Relationship Id="rId4" Type="http://schemas.openxmlformats.org/officeDocument/2006/relationships/image" Target="../media/image290.png"/><Relationship Id="rId9" Type="http://schemas.openxmlformats.org/officeDocument/2006/relationships/image" Target="../media/image340.png"/><Relationship Id="rId14" Type="http://schemas.openxmlformats.org/officeDocument/2006/relationships/image" Target="../media/image390.png"/><Relationship Id="rId22" Type="http://schemas.openxmlformats.org/officeDocument/2006/relationships/image" Target="../media/image470.png"/><Relationship Id="rId27" Type="http://schemas.openxmlformats.org/officeDocument/2006/relationships/image" Target="../media/image520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0.png"/><Relationship Id="rId13" Type="http://schemas.openxmlformats.org/officeDocument/2006/relationships/image" Target="../media/image450.png"/><Relationship Id="rId18" Type="http://schemas.openxmlformats.org/officeDocument/2006/relationships/image" Target="../media/image500.png"/><Relationship Id="rId3" Type="http://schemas.openxmlformats.org/officeDocument/2006/relationships/image" Target="../media/image360.png"/><Relationship Id="rId21" Type="http://schemas.openxmlformats.org/officeDocument/2006/relationships/image" Target="../media/image530.png"/><Relationship Id="rId7" Type="http://schemas.openxmlformats.org/officeDocument/2006/relationships/image" Target="../media/image390.png"/><Relationship Id="rId12" Type="http://schemas.openxmlformats.org/officeDocument/2006/relationships/image" Target="../media/image440.png"/><Relationship Id="rId17" Type="http://schemas.openxmlformats.org/officeDocument/2006/relationships/image" Target="../media/image490.png"/><Relationship Id="rId2" Type="http://schemas.openxmlformats.org/officeDocument/2006/relationships/image" Target="../media/image350.png"/><Relationship Id="rId16" Type="http://schemas.openxmlformats.org/officeDocument/2006/relationships/image" Target="../media/image480.png"/><Relationship Id="rId20" Type="http://schemas.openxmlformats.org/officeDocument/2006/relationships/image" Target="../media/image5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0.png"/><Relationship Id="rId11" Type="http://schemas.openxmlformats.org/officeDocument/2006/relationships/image" Target="../media/image430.png"/><Relationship Id="rId5" Type="http://schemas.openxmlformats.org/officeDocument/2006/relationships/image" Target="../media/image340.png"/><Relationship Id="rId15" Type="http://schemas.openxmlformats.org/officeDocument/2006/relationships/image" Target="../media/image470.png"/><Relationship Id="rId10" Type="http://schemas.openxmlformats.org/officeDocument/2006/relationships/image" Target="../media/image420.png"/><Relationship Id="rId19" Type="http://schemas.openxmlformats.org/officeDocument/2006/relationships/image" Target="../media/image510.png"/><Relationship Id="rId4" Type="http://schemas.openxmlformats.org/officeDocument/2006/relationships/image" Target="../media/image370.png"/><Relationship Id="rId9" Type="http://schemas.openxmlformats.org/officeDocument/2006/relationships/image" Target="../media/image410.png"/><Relationship Id="rId14" Type="http://schemas.openxmlformats.org/officeDocument/2006/relationships/image" Target="../media/image460.png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5" Type="http://schemas.openxmlformats.org/officeDocument/2006/relationships/image" Target="../media/image77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7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8.png"/><Relationship Id="rId11" Type="http://schemas.openxmlformats.org/officeDocument/2006/relationships/image" Target="../media/image86.png"/><Relationship Id="rId5" Type="http://schemas.openxmlformats.org/officeDocument/2006/relationships/image" Target="../media/image83.png"/><Relationship Id="rId10" Type="http://schemas.openxmlformats.org/officeDocument/2006/relationships/image" Target="../media/image81.png"/><Relationship Id="rId4" Type="http://schemas.openxmlformats.org/officeDocument/2006/relationships/image" Target="../media/image82.png"/><Relationship Id="rId9" Type="http://schemas.openxmlformats.org/officeDocument/2006/relationships/image" Target="../media/image85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0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0.png"/><Relationship Id="rId5" Type="http://schemas.openxmlformats.org/officeDocument/2006/relationships/image" Target="../media/image89.png"/><Relationship Id="rId4" Type="http://schemas.openxmlformats.org/officeDocument/2006/relationships/image" Target="../media/image88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2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1.png"/><Relationship Id="rId11" Type="http://schemas.openxmlformats.org/officeDocument/2006/relationships/image" Target="../media/image95.png"/><Relationship Id="rId5" Type="http://schemas.openxmlformats.org/officeDocument/2006/relationships/image" Target="../media/image730.png"/><Relationship Id="rId10" Type="http://schemas.openxmlformats.org/officeDocument/2006/relationships/image" Target="../media/image94.png"/><Relationship Id="rId4" Type="http://schemas.openxmlformats.org/officeDocument/2006/relationships/image" Target="../media/image720.png"/><Relationship Id="rId9" Type="http://schemas.openxmlformats.org/officeDocument/2006/relationships/image" Target="../media/image93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3" Type="http://schemas.openxmlformats.org/officeDocument/2006/relationships/image" Target="../media/image810.png"/><Relationship Id="rId7" Type="http://schemas.openxmlformats.org/officeDocument/2006/relationships/image" Target="../media/image9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7.png"/><Relationship Id="rId11" Type="http://schemas.openxmlformats.org/officeDocument/2006/relationships/image" Target="../media/image101.png"/><Relationship Id="rId5" Type="http://schemas.openxmlformats.org/officeDocument/2006/relationships/image" Target="../media/image830.png"/><Relationship Id="rId10" Type="http://schemas.openxmlformats.org/officeDocument/2006/relationships/image" Target="../media/image100.png"/><Relationship Id="rId4" Type="http://schemas.openxmlformats.org/officeDocument/2006/relationships/image" Target="../media/image820.png"/><Relationship Id="rId9" Type="http://schemas.openxmlformats.org/officeDocument/2006/relationships/image" Target="../media/image99.png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0.png"/><Relationship Id="rId13" Type="http://schemas.openxmlformats.org/officeDocument/2006/relationships/image" Target="../media/image104.png"/><Relationship Id="rId18" Type="http://schemas.openxmlformats.org/officeDocument/2006/relationships/image" Target="../media/image109.png"/><Relationship Id="rId7" Type="http://schemas.openxmlformats.org/officeDocument/2006/relationships/image" Target="../media/image931.png"/><Relationship Id="rId12" Type="http://schemas.openxmlformats.org/officeDocument/2006/relationships/image" Target="../media/image103.png"/><Relationship Id="rId17" Type="http://schemas.openxmlformats.org/officeDocument/2006/relationships/image" Target="../media/image108.png"/><Relationship Id="rId2" Type="http://schemas.openxmlformats.org/officeDocument/2006/relationships/notesSlide" Target="../notesSlides/notesSlide29.xml"/><Relationship Id="rId16" Type="http://schemas.openxmlformats.org/officeDocument/2006/relationships/image" Target="../media/image107.png"/><Relationship Id="rId20" Type="http://schemas.openxmlformats.org/officeDocument/2006/relationships/image" Target="../media/image1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20.png"/><Relationship Id="rId11" Type="http://schemas.openxmlformats.org/officeDocument/2006/relationships/image" Target="../media/image102.png"/><Relationship Id="rId5" Type="http://schemas.openxmlformats.org/officeDocument/2006/relationships/image" Target="../media/image910.png"/><Relationship Id="rId15" Type="http://schemas.openxmlformats.org/officeDocument/2006/relationships/image" Target="../media/image106.png"/><Relationship Id="rId10" Type="http://schemas.openxmlformats.org/officeDocument/2006/relationships/image" Target="../media/image830.png"/><Relationship Id="rId19" Type="http://schemas.openxmlformats.org/officeDocument/2006/relationships/image" Target="../media/image110.png"/><Relationship Id="rId4" Type="http://schemas.openxmlformats.org/officeDocument/2006/relationships/image" Target="../media/image900.png"/><Relationship Id="rId9" Type="http://schemas.openxmlformats.org/officeDocument/2006/relationships/image" Target="../media/image820.png"/><Relationship Id="rId14" Type="http://schemas.openxmlformats.org/officeDocument/2006/relationships/image" Target="../media/image105.png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3" Type="http://schemas.openxmlformats.org/officeDocument/2006/relationships/image" Target="../media/image720.png"/><Relationship Id="rId7" Type="http://schemas.openxmlformats.org/officeDocument/2006/relationships/image" Target="../media/image710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730.png"/><Relationship Id="rId9" Type="http://schemas.openxmlformats.org/officeDocument/2006/relationships/image" Target="../media/image112.png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7.png"/><Relationship Id="rId3" Type="http://schemas.openxmlformats.org/officeDocument/2006/relationships/image" Target="../media/image114.png"/><Relationship Id="rId7" Type="http://schemas.openxmlformats.org/officeDocument/2006/relationships/image" Target="../media/image116.png"/><Relationship Id="rId12" Type="http://schemas.openxmlformats.org/officeDocument/2006/relationships/image" Target="../media/image11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.png"/><Relationship Id="rId11" Type="http://schemas.openxmlformats.org/officeDocument/2006/relationships/image" Target="../media/image107.png"/><Relationship Id="rId5" Type="http://schemas.openxmlformats.org/officeDocument/2006/relationships/image" Target="../media/image105.png"/><Relationship Id="rId10" Type="http://schemas.openxmlformats.org/officeDocument/2006/relationships/image" Target="../media/image106.png"/><Relationship Id="rId4" Type="http://schemas.openxmlformats.org/officeDocument/2006/relationships/image" Target="../media/image115.png"/><Relationship Id="rId9" Type="http://schemas.openxmlformats.org/officeDocument/2006/relationships/image" Target="../media/image112.png"/><Relationship Id="rId14" Type="http://schemas.openxmlformats.org/officeDocument/2006/relationships/image" Target="../media/image118.png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2.png"/><Relationship Id="rId13" Type="http://schemas.openxmlformats.org/officeDocument/2006/relationships/image" Target="../media/image119.png"/><Relationship Id="rId3" Type="http://schemas.openxmlformats.org/officeDocument/2006/relationships/image" Target="../media/image103.png"/><Relationship Id="rId7" Type="http://schemas.openxmlformats.org/officeDocument/2006/relationships/image" Target="../media/image710.png"/><Relationship Id="rId12" Type="http://schemas.openxmlformats.org/officeDocument/2006/relationships/image" Target="../media/image7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5.png"/><Relationship Id="rId11" Type="http://schemas.openxmlformats.org/officeDocument/2006/relationships/image" Target="../media/image930.png"/><Relationship Id="rId5" Type="http://schemas.openxmlformats.org/officeDocument/2006/relationships/image" Target="../media/image730.png"/><Relationship Id="rId10" Type="http://schemas.openxmlformats.org/officeDocument/2006/relationships/image" Target="../media/image107.png"/><Relationship Id="rId4" Type="http://schemas.openxmlformats.org/officeDocument/2006/relationships/image" Target="../media/image106.png"/><Relationship Id="rId9" Type="http://schemas.openxmlformats.org/officeDocument/2006/relationships/image" Target="../media/image112.png"/><Relationship Id="rId14" Type="http://schemas.openxmlformats.org/officeDocument/2006/relationships/image" Target="../media/image120.png"/></Relationships>
</file>

<file path=ppt/slides/_rels/slide68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0.png"/><Relationship Id="rId13" Type="http://schemas.openxmlformats.org/officeDocument/2006/relationships/image" Target="../media/image125.png"/><Relationship Id="rId3" Type="http://schemas.openxmlformats.org/officeDocument/2006/relationships/image" Target="../media/image710.png"/><Relationship Id="rId7" Type="http://schemas.openxmlformats.org/officeDocument/2006/relationships/image" Target="../media/image940.png"/><Relationship Id="rId12" Type="http://schemas.openxmlformats.org/officeDocument/2006/relationships/image" Target="../media/image12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730.png"/><Relationship Id="rId5" Type="http://schemas.openxmlformats.org/officeDocument/2006/relationships/image" Target="../media/image930.png"/><Relationship Id="rId15" Type="http://schemas.openxmlformats.org/officeDocument/2006/relationships/image" Target="../media/image127.png"/><Relationship Id="rId10" Type="http://schemas.openxmlformats.org/officeDocument/2006/relationships/image" Target="../media/image123.png"/><Relationship Id="rId4" Type="http://schemas.openxmlformats.org/officeDocument/2006/relationships/image" Target="../media/image121.png"/><Relationship Id="rId9" Type="http://schemas.openxmlformats.org/officeDocument/2006/relationships/image" Target="../media/image122.png"/><Relationship Id="rId14" Type="http://schemas.openxmlformats.org/officeDocument/2006/relationships/image" Target="../media/image126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_rels/slide7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8.png"/><Relationship Id="rId7" Type="http://schemas.openxmlformats.org/officeDocument/2006/relationships/image" Target="../media/image13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990.png"/><Relationship Id="rId10" Type="http://schemas.openxmlformats.org/officeDocument/2006/relationships/image" Target="../media/image133.png"/><Relationship Id="rId4" Type="http://schemas.openxmlformats.org/officeDocument/2006/relationships/image" Target="../media/image980.png"/><Relationship Id="rId9" Type="http://schemas.openxmlformats.org/officeDocument/2006/relationships/image" Target="../media/image13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/>
              <a:t>Redes neurais recorrentes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Motivação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/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Muitos problemas são </a:t>
            </a:r>
            <a:r>
              <a:rPr lang="pt-BR" altLang="pt-BR" b="1" dirty="0"/>
              <a:t>sequenciais</a:t>
            </a:r>
            <a:r>
              <a:rPr lang="pt-BR" altLang="pt-BR" dirty="0"/>
              <a:t>: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Voz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Texto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Séries temporais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dirty="0"/>
              <a:t>Vídeo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pt-BR" altLang="pt-BR" dirty="0"/>
              <a:t>Para lidarmos com eles, precisamos modelar </a:t>
            </a:r>
            <a:r>
              <a:rPr lang="pt-BR" altLang="pt-BR" b="1" dirty="0"/>
              <a:t>dependências temporais</a:t>
            </a:r>
            <a:r>
              <a:rPr lang="pt-BR" altLang="pt-BR" dirty="0"/>
              <a:t>!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lang="pt-BR" altLang="pt-BR" b="1" dirty="0"/>
              <a:t>Existe correlação temporal entre as amostras.</a:t>
            </a:r>
            <a:endParaRPr lang="pt-BR" altLang="pt-BR" dirty="0"/>
          </a:p>
        </p:txBody>
      </p:sp>
    </p:spTree>
    <p:extLst>
      <p:ext uri="{BB962C8B-B14F-4D97-AF65-F5344CB8AC3E}">
        <p14:creationId xmlns:p14="http://schemas.microsoft.com/office/powerpoint/2010/main" val="14475287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Aplicações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Previsão de séries temporais (clima, ações, vendas, etc.)</a:t>
            </a:r>
          </a:p>
          <a:p>
            <a:r>
              <a:rPr lang="pt-BR" dirty="0"/>
              <a:t>Tradução automática</a:t>
            </a:r>
          </a:p>
          <a:p>
            <a:r>
              <a:rPr lang="pt-BR" dirty="0"/>
              <a:t>Reconhecimento de fala</a:t>
            </a:r>
          </a:p>
          <a:p>
            <a:r>
              <a:rPr lang="pt-BR" dirty="0"/>
              <a:t>Tradução fala para texto e vice versa</a:t>
            </a:r>
          </a:p>
          <a:p>
            <a:r>
              <a:rPr lang="pt-BR" dirty="0"/>
              <a:t>Classificação de sentimentos</a:t>
            </a:r>
          </a:p>
          <a:p>
            <a:r>
              <a:rPr lang="pt-BR" dirty="0"/>
              <a:t>Geração de texto</a:t>
            </a:r>
          </a:p>
          <a:p>
            <a:r>
              <a:rPr lang="pt-BR" dirty="0"/>
              <a:t>Legenda de imagens e vídeos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Limitação de redes tradicionais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256314" y="1825625"/>
            <a:ext cx="7935686" cy="5032375"/>
          </a:xfrm>
        </p:spPr>
        <p:txBody>
          <a:bodyPr>
            <a:normAutofit/>
          </a:bodyPr>
          <a:lstStyle/>
          <a:p>
            <a:r>
              <a:rPr lang="pt-BR" dirty="0"/>
              <a:t>MLP: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armazenam informações de estados anteriores (i.e., sem memória)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Cada entrada é tratada de forma independente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capturam dependências temporais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ser de alimentação direta, a saída depende apenas da entrada atual</a:t>
            </a:r>
          </a:p>
          <a:p>
            <a:r>
              <a:rPr lang="pt-BR" dirty="0"/>
              <a:t>CNN: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Compartilha as limitações das </a:t>
            </a:r>
            <a:r>
              <a:rPr lang="pt-BR" dirty="0" err="1"/>
              <a:t>MLPs</a:t>
            </a:r>
            <a:r>
              <a:rPr lang="pt-BR" dirty="0"/>
              <a:t>, com uma exceção: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Modela relações espaciais.</a:t>
            </a:r>
          </a:p>
          <a:p>
            <a:r>
              <a:rPr lang="pt-BR" dirty="0"/>
              <a:t>Ambas famílias exigem que o vetor de entrada tenha um tamanho predefinido e constante.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FA8E2659-A57A-38A3-FD87-03127E9124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03"/>
          <a:stretch>
            <a:fillRect/>
          </a:stretch>
        </p:blipFill>
        <p:spPr>
          <a:xfrm>
            <a:off x="986159" y="1943553"/>
            <a:ext cx="2686768" cy="23105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9AAB68BF-5C1E-7F73-8FBA-8E33B17EBF8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550" y="4795610"/>
            <a:ext cx="3599986" cy="1889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04472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7A47F2C-5902-D14E-461A-E03776C92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83954" y="3142796"/>
            <a:ext cx="3962400" cy="972003"/>
          </a:xfrm>
        </p:spPr>
        <p:txBody>
          <a:bodyPr/>
          <a:lstStyle/>
          <a:p>
            <a:pPr marL="0" indent="0" algn="ctr">
              <a:buNone/>
            </a:pPr>
            <a:r>
              <a:rPr lang="pt-BR" dirty="0"/>
              <a:t>Redes neurais recorrentes têm memória!</a:t>
            </a:r>
            <a:endParaRPr lang="en-US" dirty="0"/>
          </a:p>
        </p:txBody>
      </p:sp>
      <p:pic>
        <p:nvPicPr>
          <p:cNvPr id="2050" name="Picture 2" descr="RNN be like! #RNN #NeuralNetwork #meme">
            <a:extLst>
              <a:ext uri="{FF2B5EF4-FFF2-40B4-BE49-F238E27FC236}">
                <a16:creationId xmlns="" xmlns:a16="http://schemas.microsoft.com/office/drawing/2014/main" id="{B99978AC-6F74-4307-94F5-3BAC8F4A5B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646" y="1911803"/>
            <a:ext cx="6551109" cy="3683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6836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Possuem laços de realimentação.</a:t>
            </a:r>
          </a:p>
          <a:p>
            <a:r>
              <a:rPr lang="pt-BR" dirty="0"/>
              <a:t>Mantém um estado interno (memória) que armazena informações observadas até o momento.</a:t>
            </a:r>
          </a:p>
          <a:p>
            <a:r>
              <a:rPr lang="pt-BR" dirty="0"/>
              <a:t>A saída da rede depende da entrada atual e do valor do estado interno anterior.</a:t>
            </a:r>
          </a:p>
          <a:p>
            <a:r>
              <a:rPr lang="pt-BR" dirty="0"/>
              <a:t>O estado interno mantém uma memória (que desaparece) sobre o histórico de todas as entradas passadas.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CF222E86-9883-F0F3-0C3D-DE894656D1F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8720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3774E3A9-57FD-9928-3B76-20D86E536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CAA669-542C-6851-4558-AB1FBFA2F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Redes recorrentes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7BC8D1AF-6B61-5C93-6D51-B0F1660220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3486" y="1825624"/>
            <a:ext cx="6498771" cy="5032375"/>
          </a:xfrm>
        </p:spPr>
        <p:txBody>
          <a:bodyPr/>
          <a:lstStyle/>
          <a:p>
            <a:r>
              <a:rPr lang="pt-BR" dirty="0"/>
              <a:t>Uma RNN utiliza informações sequenciais, modelando as dependências temporais entre as amostras de entrada.</a:t>
            </a:r>
          </a:p>
          <a:p>
            <a:r>
              <a:rPr lang="pt-BR" b="1" dirty="0"/>
              <a:t>Exemplo</a:t>
            </a:r>
            <a:r>
              <a:rPr lang="pt-BR" dirty="0"/>
              <a:t>: se quisermos prever a próxima palavra em uma frase, precisamos saber quais palavras vieram antes dela.</a:t>
            </a:r>
          </a:p>
          <a:p>
            <a:r>
              <a:rPr lang="pt-BR" dirty="0" err="1"/>
              <a:t>RNNs</a:t>
            </a:r>
            <a:r>
              <a:rPr lang="pt-BR" dirty="0"/>
              <a:t> são projetadas para processar sequências de </a:t>
            </a:r>
            <a:r>
              <a:rPr lang="pt-BR" b="1" dirty="0"/>
              <a:t>comprimento variável</a:t>
            </a:r>
            <a:r>
              <a:rPr lang="pt-BR" dirty="0"/>
              <a:t>. </a:t>
            </a:r>
          </a:p>
          <a:p>
            <a:r>
              <a:rPr lang="pt-BR" dirty="0"/>
              <a:t>Elas mapeiam todo o histórico de entradas anteriores para cada saída.</a:t>
            </a:r>
          </a:p>
        </p:txBody>
      </p:sp>
      <p:pic>
        <p:nvPicPr>
          <p:cNvPr id="3074" name="Picture 2" descr="RNN architecture and the concept of sequential memory |... | Fiveable">
            <a:extLst>
              <a:ext uri="{FF2B5EF4-FFF2-40B4-BE49-F238E27FC236}">
                <a16:creationId xmlns="" xmlns:a16="http://schemas.microsoft.com/office/drawing/2014/main" id="{65461C4D-C555-02A7-8AE3-2D52AC2FCB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2" t="38503" r="81251" b="2949"/>
          <a:stretch>
            <a:fillRect/>
          </a:stretch>
        </p:blipFill>
        <p:spPr bwMode="auto">
          <a:xfrm>
            <a:off x="1534885" y="2296884"/>
            <a:ext cx="2471058" cy="3663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087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BBA7CF3C-2AB5-ECC1-9920-3B2DE38CC3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Componentes de uma RNN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35140497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71F0C14-67BD-40CF-9A8F-E9FC30FC9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(ou célula) recorrente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6FF8CB8C-0F2B-7C4F-63CA-34C693F263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</p:spPr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entrada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(</a:t>
                </a:r>
                <a:r>
                  <a:rPr lang="en-US" dirty="0" err="1"/>
                  <a:t>memória</a:t>
                </a:r>
                <a:r>
                  <a:rPr lang="en-US" dirty="0"/>
                  <a:t> da rede)</a:t>
                </a:r>
              </a:p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𝒉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: </a:t>
                </a:r>
                <a:r>
                  <a:rPr lang="en-US" dirty="0" err="1"/>
                  <a:t>estado</a:t>
                </a:r>
                <a:r>
                  <a:rPr lang="en-US" dirty="0"/>
                  <a:t> </a:t>
                </a:r>
                <a:r>
                  <a:rPr lang="en-US" dirty="0" err="1"/>
                  <a:t>interno</a:t>
                </a:r>
                <a:r>
                  <a:rPr lang="en-US" dirty="0"/>
                  <a:t> anterior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: pesos de entrada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: pesos da </a:t>
                </a:r>
                <a:r>
                  <a:rPr lang="en-US" dirty="0" err="1"/>
                  <a:t>camada</a:t>
                </a:r>
                <a:r>
                  <a:rPr lang="en-US" dirty="0"/>
                  <a:t> </a:t>
                </a:r>
                <a:r>
                  <a:rPr lang="en-US" dirty="0" err="1"/>
                  <a:t>recorrente</a:t>
                </a:r>
                <a:r>
                  <a:rPr lang="en-US" dirty="0"/>
                  <a:t> (</a:t>
                </a:r>
                <a:r>
                  <a:rPr lang="en-US" dirty="0" err="1"/>
                  <a:t>oculta</a:t>
                </a:r>
                <a:r>
                  <a:rPr lang="en-US" dirty="0"/>
                  <a:t>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</m:oMath>
                </a14:m>
                <a:r>
                  <a:rPr lang="en-US" dirty="0"/>
                  <a:t>: pesos de </a:t>
                </a:r>
                <a:r>
                  <a:rPr lang="en-US" dirty="0" err="1"/>
                  <a:t>saída</a:t>
                </a:r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r>
                  <a:rPr lang="pt-BR" dirty="0"/>
                  <a:t>: unidade de retardo de tempo</a:t>
                </a:r>
              </a:p>
              <a:p>
                <a:r>
                  <a:rPr lang="en-US" dirty="0"/>
                  <a:t>       : </a:t>
                </a:r>
                <a:r>
                  <a:rPr lang="en-US" dirty="0" err="1"/>
                  <a:t>função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F8CB8C-0F2B-7C4F-63CA-34C693F263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86401" y="1825624"/>
                <a:ext cx="6705600" cy="5032375"/>
              </a:xfrm>
              <a:blipFill>
                <a:blip r:embed="rId3"/>
                <a:stretch>
                  <a:fillRect l="-163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="" xmlns:a16="http://schemas.microsoft.com/office/drawing/2014/main" id="{377ED572-EE63-9E0B-64E3-7DF577A4C2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2605" y="5925270"/>
            <a:ext cx="466790" cy="46679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86FDD9EF-C288-8B21-44EF-F150DD4A022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6673" y="1825624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1643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4D77AF7-AEE9-58FC-8805-639651C8A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7B90BF9-4F35-7CC8-B4A2-9A0C7D20F6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Neurônio recorrente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="" xmlns:a16="http://schemas.microsoft.com/office/drawing/2014/main" id="{32AD1736-B6E9-B84B-54CD-849BC507F7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92371" y="1825625"/>
            <a:ext cx="5168993" cy="4351338"/>
          </a:xfrm>
        </p:spPr>
        <p:txBody>
          <a:bodyPr/>
          <a:lstStyle/>
          <a:p>
            <a:r>
              <a:rPr lang="pt-BR" dirty="0"/>
              <a:t>Representação simplificada do neurônio.</a:t>
            </a:r>
          </a:p>
          <a:p>
            <a:r>
              <a:rPr lang="pt-BR" dirty="0"/>
              <a:t>Bastante utilizada na literatura.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296112B2-05B8-3CF7-45B0-CD1096C74C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784" y="2759914"/>
            <a:ext cx="4577586" cy="2482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264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0058803-0098-D69B-94E1-8CF2F7283A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e geração da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88FD72E-BE70-A3E4-42F1-AA2A1AE8D95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</p:spPr>
            <p:txBody>
              <a:bodyPr/>
              <a:lstStyle/>
              <a:p>
                <a:r>
                  <a:rPr lang="pt-BR" dirty="0"/>
                  <a:t>Equações de atualização do estado e de saída do neurônio recorrente: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None/>
                </a:pPr>
                <a:endParaRPr lang="en-US" sz="7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</m:acc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𝑾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𝑜</m:t>
                          </m:r>
                        </m:sub>
                      </m:sSub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𝒉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Os</a:t>
                </a:r>
                <a:r>
                  <a:rPr lang="en-US" dirty="0"/>
                  <a:t> pesos </a:t>
                </a:r>
                <a:r>
                  <a:rPr lang="en-US" dirty="0" err="1"/>
                  <a:t>são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mesmos</a:t>
                </a:r>
                <a:r>
                  <a:rPr lang="en-US" dirty="0"/>
                  <a:t> </a:t>
                </a:r>
                <a:r>
                  <a:rPr lang="en-US" dirty="0" err="1"/>
                  <a:t>em</a:t>
                </a:r>
                <a:r>
                  <a:rPr lang="en-US" dirty="0"/>
                  <a:t> </a:t>
                </a:r>
                <a:r>
                  <a:rPr lang="en-US" dirty="0" err="1"/>
                  <a:t>todos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intervalos</a:t>
                </a:r>
                <a:r>
                  <a:rPr lang="en-US" dirty="0"/>
                  <a:t> de tempo.</a:t>
                </a:r>
              </a:p>
              <a:p>
                <a:r>
                  <a:rPr lang="en-US" dirty="0"/>
                  <a:t>Em </a:t>
                </a:r>
                <a:r>
                  <a:rPr lang="en-US" dirty="0" err="1"/>
                  <a:t>geral</a:t>
                </a:r>
                <a:r>
                  <a:rPr lang="en-US" dirty="0"/>
                  <a:t>, </a:t>
                </a:r>
                <a:r>
                  <a:rPr lang="en-US" dirty="0" err="1"/>
                  <a:t>usa</a:t>
                </a:r>
                <a:r>
                  <a:rPr lang="en-US" dirty="0"/>
                  <a:t>-se </a:t>
                </a:r>
                <a:r>
                  <a:rPr lang="en-US" dirty="0" err="1"/>
                  <a:t>funções</a:t>
                </a:r>
                <a:r>
                  <a:rPr lang="en-US" dirty="0"/>
                  <a:t> de </a:t>
                </a:r>
                <a:r>
                  <a:rPr lang="en-US" dirty="0" err="1"/>
                  <a:t>ativação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en-US" dirty="0"/>
                  <a:t>, do </a:t>
                </a:r>
                <a:r>
                  <a:rPr lang="en-US" dirty="0" err="1"/>
                  <a:t>tipo</a:t>
                </a:r>
                <a:r>
                  <a:rPr lang="en-US" dirty="0"/>
                  <a:t> </a:t>
                </a:r>
                <a:r>
                  <a:rPr lang="en-US" dirty="0" err="1"/>
                  <a:t>tangente</a:t>
                </a:r>
                <a:r>
                  <a:rPr lang="en-US" dirty="0"/>
                  <a:t> </a:t>
                </a:r>
                <a:r>
                  <a:rPr lang="en-US" dirty="0" err="1"/>
                  <a:t>hiperbólica</a:t>
                </a:r>
                <a:r>
                  <a:rPr lang="en-US" dirty="0"/>
                  <a:t> (tanh) </a:t>
                </a:r>
                <a:r>
                  <a:rPr lang="en-US" dirty="0" err="1"/>
                  <a:t>ou</a:t>
                </a:r>
                <a:r>
                  <a:rPr lang="en-US" dirty="0"/>
                  <a:t> </a:t>
                </a:r>
                <a:r>
                  <a:rPr lang="en-US" dirty="0" err="1"/>
                  <a:t>sigmóide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Não</a:t>
                </a:r>
                <a:r>
                  <a:rPr lang="en-US" dirty="0"/>
                  <a:t> se </a:t>
                </a:r>
                <a:r>
                  <a:rPr lang="en-US" dirty="0" err="1"/>
                  <a:t>usa</a:t>
                </a:r>
                <a:r>
                  <a:rPr lang="en-US" dirty="0"/>
                  <a:t> </a:t>
                </a:r>
                <a:r>
                  <a:rPr lang="en-US" dirty="0" err="1"/>
                  <a:t>ReLU</a:t>
                </a:r>
                <a:r>
                  <a:rPr lang="en-US" dirty="0"/>
                  <a:t>, pois </a:t>
                </a:r>
                <a:r>
                  <a:rPr lang="en-US" dirty="0" err="1"/>
                  <a:t>por</a:t>
                </a:r>
                <a:r>
                  <a:rPr lang="en-US" dirty="0"/>
                  <a:t> </a:t>
                </a:r>
                <a:r>
                  <a:rPr lang="en-US" dirty="0" err="1"/>
                  <a:t>não</a:t>
                </a:r>
                <a:r>
                  <a:rPr lang="en-US" dirty="0"/>
                  <a:t> </a:t>
                </a:r>
                <a:r>
                  <a:rPr lang="en-US" dirty="0" err="1"/>
                  <a:t>saturarem</a:t>
                </a:r>
                <a:r>
                  <a:rPr lang="en-US" dirty="0"/>
                  <a:t>, a </a:t>
                </a:r>
                <a:r>
                  <a:rPr lang="en-US" dirty="0" err="1"/>
                  <a:t>recorrência</a:t>
                </a:r>
                <a:r>
                  <a:rPr lang="en-US" dirty="0"/>
                  <a:t> </a:t>
                </a:r>
                <a:r>
                  <a:rPr lang="en-US" dirty="0" err="1"/>
                  <a:t>pode</a:t>
                </a:r>
                <a:r>
                  <a:rPr lang="en-US" dirty="0"/>
                  <a:t> </a:t>
                </a:r>
                <a:r>
                  <a:rPr lang="en-US" dirty="0" err="1"/>
                  <a:t>causar</a:t>
                </a:r>
                <a:r>
                  <a:rPr lang="en-US" dirty="0"/>
                  <a:t> </a:t>
                </a:r>
                <a:r>
                  <a:rPr lang="en-US" dirty="0" err="1"/>
                  <a:t>explosão</a:t>
                </a:r>
                <a:r>
                  <a:rPr lang="en-US" dirty="0"/>
                  <a:t> do </a:t>
                </a:r>
                <a:r>
                  <a:rPr lang="en-US" dirty="0" err="1"/>
                  <a:t>gradiente</a:t>
                </a:r>
                <a:r>
                  <a:rPr lang="en-US" dirty="0"/>
                  <a:t>.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8FD72E-BE70-A3E4-42F1-AA2A1AE8D95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29200" y="1825624"/>
                <a:ext cx="7162800" cy="5032375"/>
              </a:xfrm>
              <a:blipFill>
                <a:blip r:embed="rId3"/>
                <a:stretch>
                  <a:fillRect l="-1532" t="-1937" r="-10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E28D20D5-C438-1DA8-08BD-C91255661E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5690" y="1690688"/>
            <a:ext cx="2261084" cy="4513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4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316F952-34AF-BA6E-B7BC-56FB84A3F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30A4886-E5F5-4A0C-632C-A874615BA6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As </a:t>
            </a:r>
            <a:r>
              <a:rPr lang="pt-BR" dirty="0" err="1"/>
              <a:t>RNNs</a:t>
            </a:r>
            <a:r>
              <a:rPr lang="pt-BR" dirty="0"/>
              <a:t> podem ser vistas como múltiplas cópias da mesma rede, cada uma passando uma mensagem para a sua sucessora.</a:t>
            </a:r>
          </a:p>
          <a:p>
            <a:r>
              <a:rPr lang="pt-BR" dirty="0"/>
              <a:t>É como se tivéssemos uma rede com várias camadas.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21DBF9CD-22BC-BF23-C3DB-8A0935A9334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2106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812F95D-ED92-C388-CC49-D8F09C885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62609EE-8280-8794-483C-637881745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Desdobrando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71BBBBA-8C71-1CFD-F648-D5836DBC9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96300" y="1825624"/>
            <a:ext cx="3695700" cy="5032375"/>
          </a:xfrm>
        </p:spPr>
        <p:txBody>
          <a:bodyPr>
            <a:normAutofit/>
          </a:bodyPr>
          <a:lstStyle/>
          <a:p>
            <a:r>
              <a:rPr lang="pt-BR" dirty="0"/>
              <a:t>A mesma função e o mesmo conjunto de pesos são usados ​​em cada passo de tempo.</a:t>
            </a:r>
          </a:p>
          <a:p>
            <a:r>
              <a:rPr lang="pt-BR" dirty="0"/>
              <a:t>São chamadas recorrentes porque executam a mesma tarefa para cada entrada.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8315E294-5B43-04E7-8028-22C59DA3BF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820" y="1690688"/>
            <a:ext cx="7578510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91077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941620E-F055-A200-7D54-3C89067DAB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FB90F1A-97F6-4A2B-EB59-AE9A21F31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10926" cy="5032376"/>
          </a:xfrm>
        </p:spPr>
        <p:txBody>
          <a:bodyPr/>
          <a:lstStyle/>
          <a:p>
            <a:r>
              <a:rPr lang="pt-BR" dirty="0"/>
              <a:t>Os pesos são atualizados usando o gradiente descendente.</a:t>
            </a:r>
          </a:p>
          <a:p>
            <a:r>
              <a:rPr lang="pt-BR" dirty="0"/>
              <a:t>Uma função de erro (EQM, EQ, etc.) é avaliada com base no erro cometido pela rede no conjunto de treinamento.</a:t>
            </a:r>
          </a:p>
          <a:p>
            <a:r>
              <a:rPr lang="pt-BR" dirty="0"/>
              <a:t>A derivada da função de perda, em relação aos parâmetros do modelo, é retropropagada através da rede.</a:t>
            </a:r>
          </a:p>
          <a:p>
            <a:r>
              <a:rPr lang="pt-BR" dirty="0"/>
              <a:t>Os pesos são ajustados até que um critério de parada seja atendido: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número máximo de épocas é atingido.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função de perda para de diminuir.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7199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E55AF5A-930E-4EB7-9C3A-7CA94CC8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167BFA-0FC4-2278-90FE-EEBB76F8C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Treinando uma RNN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856341B-8DD5-B4D0-04B5-B1D29CAF8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6"/>
          </a:xfrm>
        </p:spPr>
        <p:txBody>
          <a:bodyPr>
            <a:normAutofit/>
          </a:bodyPr>
          <a:lstStyle/>
          <a:p>
            <a:r>
              <a:rPr lang="pt-BR" dirty="0"/>
              <a:t>Para treinar a rede, primeiro a desdobramos e depois aplicamos a retropropagação do erro tradicional.</a:t>
            </a:r>
          </a:p>
          <a:p>
            <a:r>
              <a:rPr lang="pt-BR" dirty="0"/>
              <a:t>Cada réplica da rede é relativa a um intervalo de tempo diferente.</a:t>
            </a:r>
          </a:p>
          <a:p>
            <a:r>
              <a:rPr lang="pt-BR" dirty="0"/>
              <a:t>A arquitetura da rede pode se tornar muito profunda.</a:t>
            </a:r>
          </a:p>
          <a:p>
            <a:r>
              <a:rPr lang="pt-BR" dirty="0"/>
              <a:t>Os pesos são mantidos constantes em cada intervalo de tempo.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E0D16130-635A-563B-0B23-54F9982484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25624"/>
            <a:ext cx="4896244" cy="4527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461123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725BD8C-59A6-E96C-9CCD-7115BEC93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D0347F1D-7D82-FBF2-C746-409D3CF4FA0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diferença entre a saída e o valor desejado é avaliada por uma função de erro ao longo de todos 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passos de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Por </a:t>
                </a:r>
                <a:r>
                  <a:rPr lang="en-US" dirty="0" err="1"/>
                  <a:t>exemplo</a:t>
                </a:r>
                <a:r>
                  <a:rPr lang="en-US" dirty="0"/>
                  <a:t>, </a:t>
                </a:r>
                <a:r>
                  <a:rPr lang="en-US" dirty="0" err="1"/>
                  <a:t>usando</a:t>
                </a:r>
                <a:r>
                  <a:rPr lang="en-US" dirty="0"/>
                  <a:t> a retropropagação para </a:t>
                </a:r>
                <a:r>
                  <a:rPr lang="en-US" dirty="0" err="1"/>
                  <a:t>encontrar</a:t>
                </a:r>
                <a:r>
                  <a:rPr lang="en-US" dirty="0"/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gradiente</a:t>
                </a:r>
                <a:r>
                  <a:rPr lang="en-US" dirty="0"/>
                  <a:t> com </a:t>
                </a:r>
                <a:r>
                  <a:rPr lang="en-US" dirty="0" err="1"/>
                  <a:t>relação</a:t>
                </a:r>
                <a:r>
                  <a:rPr lang="en-US" dirty="0"/>
                  <a:t> </a:t>
                </a:r>
                <a:r>
                  <a:rPr lang="en-US" dirty="0" err="1"/>
                  <a:t>aos</a:t>
                </a:r>
                <a:r>
                  <a:rPr lang="en-US" dirty="0"/>
                  <a:t> pesos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𝑾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dirty="0"/>
                  <a:t>, </a:t>
                </a:r>
                <a:r>
                  <a:rPr lang="en-US" dirty="0" err="1"/>
                  <a:t>temos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O primeiro, o segundo e o quarto fatores do produto são fáceis de calcular. O terceiro é onde as coisas ficam complicadas, já que precisamos calcular recursivamente o efeito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pt-BR" dirty="0"/>
                  <a:t>.</a:t>
                </a:r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347F1D-7D82-FBF2-C746-409D3CF4FA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663" r="-215" b="-6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6234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D14D433-326F-849D-932A-FF7EE19B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55088ED-FFA8-2495-4BDA-71832C583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Backpropagation</a:t>
            </a:r>
            <a:r>
              <a:rPr lang="pt-BR" i="1" dirty="0"/>
              <a:t> </a:t>
            </a:r>
            <a:r>
              <a:rPr lang="pt-BR" i="1" dirty="0" err="1"/>
              <a:t>Through</a:t>
            </a:r>
            <a:r>
              <a:rPr lang="pt-BR" i="1" dirty="0"/>
              <a:t> Time</a:t>
            </a:r>
            <a:r>
              <a:rPr lang="pt-BR" dirty="0"/>
              <a:t> (BPTT)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9318CD52-A943-7B32-573B-CF8EC5A121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400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sz="24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r>
                  <a:rPr lang="pt-BR" dirty="0"/>
                  <a:t>Somamos as contribuições de cada passo de tempo para obter o gradiente.</a:t>
                </a:r>
              </a:p>
              <a:p>
                <a:r>
                  <a:rPr lang="pt-BR" dirty="0"/>
                  <a:t>Com uma sequência muito longa, temos uma profundidade intratável, o que torna o treinamento muito lento.</a:t>
                </a:r>
              </a:p>
              <a:p>
                <a:r>
                  <a:rPr lang="pt-BR" dirty="0"/>
                  <a:t>O que se faz na prática é repetir o procedimento apenas até um determinado instante de tempo,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Esse processo é chamado de BPPT truncado.</a:t>
                </a:r>
              </a:p>
              <a:p>
                <a:r>
                  <a:rPr lang="pt-BR" dirty="0"/>
                  <a:t>Por que ele funciona?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A </a:t>
                </a:r>
                <a:r>
                  <a:rPr lang="pt-BR" dirty="0"/>
                  <a:t>memória acumulada no estado oculto atual é suficiente para representar o passado distante, evitando a necessidade </a:t>
                </a:r>
                <a:r>
                  <a:rPr lang="pt-BR" dirty="0" smtClean="0"/>
                  <a:t>de </a:t>
                </a:r>
                <a:r>
                  <a:rPr lang="pt-BR" dirty="0"/>
                  <a:t>voltar até o primeiro passo da sequência para calcular o gradiente.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318CD52-A943-7B32-573B-CF8EC5A121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 rotWithShape="0">
                <a:blip r:embed="rId3"/>
                <a:stretch>
                  <a:fillRect l="-91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842944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A74086D-26FF-58C0-0D8C-43E088D7A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D17322D7-1E5D-8654-5448-A6C0D6748A7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r>
                  <a:rPr lang="en-US" dirty="0"/>
                  <a:t>Durante o </a:t>
                </a:r>
                <a:r>
                  <a:rPr lang="en-US" dirty="0" err="1"/>
                  <a:t>treinamento</a:t>
                </a:r>
                <a:r>
                  <a:rPr lang="en-US" dirty="0"/>
                  <a:t>, o BPTT </a:t>
                </a:r>
                <a:r>
                  <a:rPr lang="en-US" dirty="0" err="1"/>
                  <a:t>aplica</a:t>
                </a:r>
                <a:r>
                  <a:rPr lang="en-US" dirty="0"/>
                  <a:t> a </a:t>
                </a:r>
                <a:r>
                  <a:rPr lang="en-US" dirty="0" err="1"/>
                  <a:t>regra</a:t>
                </a:r>
                <a:r>
                  <a:rPr lang="en-US" dirty="0"/>
                  <a:t> da </a:t>
                </a:r>
                <a:r>
                  <a:rPr lang="en-US" dirty="0" err="1"/>
                  <a:t>cadeia</a:t>
                </a:r>
                <a:r>
                  <a:rPr lang="en-US" dirty="0"/>
                  <a:t> </a:t>
                </a:r>
                <a:r>
                  <a:rPr lang="en-US" dirty="0" err="1"/>
                  <a:t>ao</a:t>
                </a:r>
                <a:r>
                  <a:rPr lang="en-US" dirty="0"/>
                  <a:t> </a:t>
                </a:r>
                <a:r>
                  <a:rPr lang="en-US" dirty="0" err="1"/>
                  <a:t>longo</a:t>
                </a:r>
                <a:r>
                  <a:rPr lang="en-US" dirty="0"/>
                  <a:t> de </a:t>
                </a:r>
                <a:r>
                  <a:rPr lang="en-US" dirty="0" err="1"/>
                  <a:t>vários</a:t>
                </a:r>
                <a:r>
                  <a:rPr lang="en-US" dirty="0"/>
                  <a:t> </a:t>
                </a:r>
                <a:r>
                  <a:rPr lang="en-US" dirty="0" err="1"/>
                  <a:t>passos</a:t>
                </a:r>
                <a:r>
                  <a:rPr lang="en-US" dirty="0"/>
                  <a:t> no tempo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])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acc>
                                <m:accPr>
                                  <m:chr m:val="̂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]</m:t>
                              </m:r>
                            </m:den>
                          </m:f>
                        </m:e>
                      </m:nary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den>
                      </m:f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∏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+1]</m:t>
                                  </m:r>
                                </m:num>
                                <m:den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[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]</m:t>
                                  </m:r>
                                </m:den>
                              </m:f>
                            </m:e>
                          </m:nary>
                        </m:e>
                      </m:d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]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  <a:p>
                <a:r>
                  <a:rPr lang="pt-BR" dirty="0"/>
                  <a:t>O gradiente envolve um </a:t>
                </a:r>
                <a:r>
                  <a:rPr lang="pt-BR" b="1" dirty="0"/>
                  <a:t>produto de muitas derivadas sucessivas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dirty="0" err="1"/>
                  <a:t>produtório</a:t>
                </a:r>
                <a:r>
                  <a:rPr lang="pt-BR" dirty="0"/>
                  <a:t> pode causar o desaparecimento ou a explosão do gradiente.</a:t>
                </a:r>
              </a:p>
              <a:p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7322D7-1E5D-8654-5448-A6C0D6748A7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0488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E092EF5-5D0B-5502-FD38-96B86F03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4927" y="3429000"/>
            <a:ext cx="4738255" cy="1325563"/>
          </a:xfrm>
        </p:spPr>
        <p:txBody>
          <a:bodyPr>
            <a:normAutofit lnSpcReduction="10000"/>
          </a:bodyPr>
          <a:lstStyle/>
          <a:p>
            <a:pPr marL="0" indent="0" algn="ctr">
              <a:buNone/>
            </a:pPr>
            <a:r>
              <a:rPr lang="pt-BR" sz="3200" dirty="0" err="1"/>
              <a:t>RNNs</a:t>
            </a:r>
            <a:r>
              <a:rPr lang="pt-BR" sz="3200" dirty="0"/>
              <a:t> simples não aprendem dependências longas</a:t>
            </a:r>
            <a:endParaRPr lang="en-US" sz="3200" dirty="0"/>
          </a:p>
        </p:txBody>
      </p:sp>
      <p:pic>
        <p:nvPicPr>
          <p:cNvPr id="1026" name="Picture 2" descr="I AM NEVER DRINKING AGAIN! OOOHHH LOOK, ALCOHOL! - Dory from Nemo (5 second  memory) | Make a Meme">
            <a:extLst>
              <a:ext uri="{FF2B5EF4-FFF2-40B4-BE49-F238E27FC236}">
                <a16:creationId xmlns="" xmlns:a16="http://schemas.microsoft.com/office/drawing/2014/main" id="{FF2536EA-A247-4883-A44D-13F8ECBEF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8818" y="1398154"/>
            <a:ext cx="5957678" cy="46271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10832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30B3E83-9EAE-E8A7-7AA4-FBE22E963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e explosão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3B29E5B8-582B-19A9-B4A3-70C3734023A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pt-BR" dirty="0"/>
                  <a:t>, então o produto tende a </a:t>
                </a:r>
                <a:r>
                  <a:rPr lang="pt-BR" b="1" dirty="0"/>
                  <a:t>zero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rede </a:t>
                </a:r>
                <a:r>
                  <a:rPr lang="pt-BR" b="1" dirty="0"/>
                  <a:t>esquece o passado mais distante </a:t>
                </a:r>
                <a:r>
                  <a:rPr lang="pt-BR" dirty="0"/>
                  <a:t>(informação antiga se perde).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Não aprende </a:t>
                </a:r>
                <a:r>
                  <a:rPr lang="pt-BR" b="1" dirty="0"/>
                  <a:t>dependências de longo prazo, apenas curtas.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Estados ocultos anteriores não têm efeito sobre os estados posteriores.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muito lento ou estagnado.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+1]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]</m:t>
                        </m:r>
                      </m:den>
                    </m:f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∀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𝑘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pt-BR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, então o produto </a:t>
                </a:r>
                <a:r>
                  <a:rPr lang="pt-BR" b="1" dirty="0"/>
                  <a:t>explode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Modelo </a:t>
                </a:r>
                <a:r>
                  <a:rPr lang="en-US" dirty="0" err="1"/>
                  <a:t>não</a:t>
                </a:r>
                <a:r>
                  <a:rPr lang="en-US" dirty="0"/>
                  <a:t> converge.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Atualizações de peso enormes.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Treinamento instável: erro vira </a:t>
                </a:r>
                <a:r>
                  <a:rPr lang="pt-BR" dirty="0" err="1"/>
                  <a:t>NaN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Sintoma típico: </a:t>
                </a:r>
                <a:r>
                  <a:rPr lang="en-US" dirty="0" err="1"/>
                  <a:t>oscilação</a:t>
                </a:r>
                <a:r>
                  <a:rPr lang="en-US" dirty="0"/>
                  <a:t> do </a:t>
                </a:r>
                <a:r>
                  <a:rPr lang="en-US" dirty="0" err="1"/>
                  <a:t>erro</a:t>
                </a:r>
                <a:r>
                  <a:rPr lang="en-US" dirty="0"/>
                  <a:t>.</a:t>
                </a:r>
              </a:p>
              <a:p>
                <a:r>
                  <a:rPr lang="pt-BR" dirty="0"/>
                  <a:t>Na prática, o desaparecimento do gradiente é mais comum.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B29E5B8-582B-19A9-B4A3-70C3734023A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9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77562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CD051B6-265A-12A8-3776-6A1674C72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mitigar esses problemas?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174046BC-6244-425E-9E7B-A8996ECB3C7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Para a explosão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Limitar a magnitude do gradiente (</a:t>
                </a:r>
                <a:r>
                  <a:rPr lang="pt-BR" i="1" dirty="0" err="1"/>
                  <a:t>gradient</a:t>
                </a:r>
                <a:r>
                  <a:rPr lang="pt-BR" i="1" dirty="0"/>
                  <a:t> clipping</a:t>
                </a:r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  <a:p>
                <a:r>
                  <a:rPr lang="pt-BR" b="1" dirty="0"/>
                  <a:t>Para o desaparecimento</a:t>
                </a:r>
                <a:r>
                  <a:rPr lang="pt-BR" dirty="0"/>
                  <a:t>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Usar arquiteturas de </a:t>
                </a:r>
                <a:r>
                  <a:rPr lang="pt-BR" dirty="0" err="1"/>
                  <a:t>RNNs</a:t>
                </a:r>
                <a:r>
                  <a:rPr lang="pt-BR" dirty="0"/>
                  <a:t> mais avançadas: LSTM e GRU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2100" dirty="0"/>
                  <a:t>Introduzem o conceito de </a:t>
                </a:r>
                <a:r>
                  <a:rPr lang="pt-BR" sz="2100" i="1" dirty="0" err="1"/>
                  <a:t>gates</a:t>
                </a:r>
                <a:r>
                  <a:rPr lang="pt-BR" sz="2100" dirty="0"/>
                  <a:t>, funcionando como válvulas </a:t>
                </a:r>
                <a:r>
                  <a:rPr lang="en-US" sz="2100" dirty="0"/>
                  <a:t>de </a:t>
                </a:r>
                <a:r>
                  <a:rPr lang="en-US" sz="2100" dirty="0" err="1"/>
                  <a:t>informação</a:t>
                </a:r>
                <a:r>
                  <a:rPr lang="en-US" sz="2100" dirty="0"/>
                  <a:t> e </a:t>
                </a:r>
                <a:r>
                  <a:rPr lang="en-US" sz="2100" dirty="0" err="1"/>
                  <a:t>gradiente</a:t>
                </a:r>
                <a:endParaRPr lang="pt-BR" sz="2100" dirty="0"/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Eles são funções (em geral, sigmoide) que produzem valores entre 0 e 1: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0 → bloqueia informação </a:t>
                </a:r>
              </a:p>
              <a:p>
                <a:pPr lvl="4">
                  <a:buFont typeface="Wingdings" panose="05000000000000000000" pitchFamily="2" charset="2"/>
                  <a:buChar char="Ø"/>
                </a:pPr>
                <a:r>
                  <a:rPr lang="pt-BR" dirty="0"/>
                  <a:t>1 → deixa passar totalmente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sz="1800" dirty="0"/>
                  <a:t>Criam caminhos com derivada </a:t>
                </a:r>
                <a14:m>
                  <m:oMath xmlns:m="http://schemas.openxmlformats.org/officeDocument/2006/math">
                    <m:r>
                      <a:rPr lang="pt-BR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pt-BR" sz="1800" dirty="0"/>
                  <a:t> 1</a:t>
                </a:r>
              </a:p>
              <a:p>
                <a:pPr lvl="3">
                  <a:buFont typeface="Wingdings" panose="05000000000000000000" pitchFamily="2" charset="2"/>
                  <a:buChar char="ü"/>
                </a:pPr>
                <a:r>
                  <a:rPr lang="pt-BR" dirty="0"/>
                  <a:t>Mantêm gradiente estável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Conexões residuais: criam caminhos diretos para o gradiente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Inicializar os pesos de forma apropriada (inicializações de He e Xavier)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74046BC-6244-425E-9E7B-A8996ECB3C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165656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Por que não usar funções de ativação </a:t>
            </a:r>
            <a:r>
              <a:rPr lang="pt-BR" dirty="0" err="1" smtClean="0"/>
              <a:t>ReLU</a:t>
            </a:r>
            <a:r>
              <a:rPr lang="pt-BR" dirty="0" smtClean="0"/>
              <a:t>?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29210" cy="5032375"/>
              </a:xfrm>
            </p:spPr>
            <p:txBody>
              <a:bodyPr/>
              <a:lstStyle/>
              <a:p>
                <a:r>
                  <a:rPr lang="pt-BR" dirty="0" smtClean="0"/>
                  <a:t>RNNs reaplicam </a:t>
                </a:r>
                <a:r>
                  <a:rPr lang="pt-BR" dirty="0"/>
                  <a:t>a mesma matriz de pesos e a mesma função de ativação repetidamente em cada passo, </a:t>
                </a:r>
                <a:endParaRPr lang="pt-BR" dirty="0" smtClean="0"/>
              </a:p>
              <a:p>
                <a:r>
                  <a:rPr lang="pt-BR" dirty="0" smtClean="0"/>
                  <a:t>Valores </a:t>
                </a:r>
                <a:r>
                  <a:rPr lang="pt-BR" dirty="0"/>
                  <a:t>maiores que 1 </a:t>
                </a:r>
                <a:r>
                  <a:rPr lang="pt-BR" dirty="0" smtClean="0"/>
                  <a:t>na entrada de uma </a:t>
                </a:r>
                <a:r>
                  <a:rPr lang="pt-BR" dirty="0"/>
                  <a:t>função não saturada como a </a:t>
                </a:r>
                <a:r>
                  <a:rPr lang="pt-BR" dirty="0" err="1"/>
                  <a:t>ReLU</a:t>
                </a:r>
                <a:r>
                  <a:rPr lang="pt-BR" dirty="0"/>
                  <a:t> </a:t>
                </a:r>
                <a:r>
                  <a:rPr lang="pt-BR" dirty="0" smtClean="0"/>
                  <a:t>(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𝒚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pt-BR" b="0" i="0" smtClean="0">
                        <a:latin typeface="Cambria Math" panose="02040503050406030204" pitchFamily="18" charset="0"/>
                      </a:rPr>
                      <m:t>max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⁡(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,0</m:t>
                    </m:r>
                  </m:oMath>
                </a14:m>
                <a:r>
                  <a:rPr lang="pt-BR" dirty="0" smtClean="0"/>
                  <a:t>) podem </a:t>
                </a:r>
                <a:r>
                  <a:rPr lang="pt-BR" dirty="0"/>
                  <a:t>causar um crescimento exponencial (explosão) dos valores do estado oculto, tornando o treinamento instável</a:t>
                </a:r>
                <a:r>
                  <a:rPr lang="pt-BR" dirty="0" smtClean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Os estados podem crescer </a:t>
                </a:r>
                <a:r>
                  <a:rPr lang="pt-BR" dirty="0"/>
                  <a:t>sem limite, </a:t>
                </a:r>
                <a:r>
                  <a:rPr lang="pt-BR" dirty="0" smtClean="0"/>
                  <a:t>causando dinâmica </a:t>
                </a:r>
                <a:r>
                  <a:rPr lang="pt-BR" dirty="0"/>
                  <a:t>instável no </a:t>
                </a:r>
                <a:r>
                  <a:rPr lang="pt-BR" dirty="0" smtClean="0"/>
                  <a:t>tempo.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 smtClean="0"/>
                  <a:t>Em </a:t>
                </a:r>
                <a:r>
                  <a:rPr lang="pt-BR" dirty="0"/>
                  <a:t>sistemas dinâmicos (como RNN), isso é </a:t>
                </a:r>
                <a:r>
                  <a:rPr lang="pt-BR" dirty="0" smtClean="0"/>
                  <a:t>ruim, pois causa oscilações ou divergência.</a:t>
                </a:r>
              </a:p>
              <a:p>
                <a:r>
                  <a:rPr lang="pt-BR" dirty="0" smtClean="0"/>
                  <a:t>Além disso, valores negativos em sua entrada geram saídas e derivadas iguais a 0, fazendo com que o fluxo de aprendizado morra.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29210" cy="5032375"/>
              </a:xfrm>
              <a:blipFill rotWithShape="0">
                <a:blip r:embed="rId2"/>
                <a:stretch>
                  <a:fillRect l="-986" t="-1937" r="-16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380572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D6302C1-1D71-8369-2652-1C4831795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210C7DC-900E-A12D-9EE8-1087C3111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73690" cy="5032375"/>
          </a:xfrm>
        </p:spPr>
        <p:txBody>
          <a:bodyPr>
            <a:normAutofit/>
          </a:bodyPr>
          <a:lstStyle/>
          <a:p>
            <a:r>
              <a:rPr lang="pt-BR" dirty="0"/>
              <a:t>Devido ao desaparecimento do gradiente, as </a:t>
            </a:r>
            <a:r>
              <a:rPr lang="pt-BR" dirty="0" err="1"/>
              <a:t>RNNs</a:t>
            </a:r>
            <a:r>
              <a:rPr lang="pt-BR" dirty="0"/>
              <a:t> tradicionais (baunilha) são incapazes de aprender dependências de longo prazo.</a:t>
            </a:r>
          </a:p>
          <a:p>
            <a:r>
              <a:rPr lang="pt-BR" dirty="0"/>
              <a:t>Quando uma RNN processa uma sequência longa, ela gradualmente esquece as primeiras entradas da sequência.</a:t>
            </a:r>
          </a:p>
          <a:p>
            <a:r>
              <a:rPr lang="pt-BR" dirty="0"/>
              <a:t>Algumas aplicações exigem dependências tanto de curto quanto de longo prazo.</a:t>
            </a:r>
          </a:p>
          <a:p>
            <a:r>
              <a:rPr lang="pt-BR" b="1" dirty="0"/>
              <a:t>Exemplo</a:t>
            </a:r>
            <a:r>
              <a:rPr lang="pt-BR" dirty="0"/>
              <a:t>: Processamento de Linguagem Natural (PLN).</a:t>
            </a:r>
          </a:p>
          <a:p>
            <a:r>
              <a:rPr lang="pt-BR" dirty="0"/>
              <a:t>Em alguns casos, dependências de curto prazo são suficientes para fazer previsões.</a:t>
            </a:r>
          </a:p>
        </p:txBody>
      </p:sp>
    </p:spTree>
    <p:extLst>
      <p:ext uri="{BB962C8B-B14F-4D97-AF65-F5344CB8AC3E}">
        <p14:creationId xmlns:p14="http://schemas.microsoft.com/office/powerpoint/2010/main" val="30121137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C27CE59-D8FC-0683-12EB-3BCB0F76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D5446177-ADB3-5B28-1AA8-5319ACA645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490" y="2158372"/>
            <a:ext cx="4373006" cy="377459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0DA6D747-76A0-672E-907C-B0D4EB836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F0A8BB54-C317-2A6B-095D-1AE752708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8910" y="1825624"/>
            <a:ext cx="6265718" cy="5032375"/>
          </a:xfrm>
        </p:spPr>
        <p:txBody>
          <a:bodyPr>
            <a:normAutofit/>
          </a:bodyPr>
          <a:lstStyle/>
          <a:p>
            <a:r>
              <a:rPr lang="pt-BR" dirty="0"/>
              <a:t>Considere treinar ao lado RNN para fazer uma previsão de um passo à frente.</a:t>
            </a:r>
          </a:p>
          <a:p>
            <a:r>
              <a:rPr lang="pt-BR" dirty="0"/>
              <a:t>Para prever a palavra “azul", basta olhar apenas dois passos para trás no tempo.</a:t>
            </a:r>
          </a:p>
          <a:p>
            <a:r>
              <a:rPr lang="pt-BR" dirty="0"/>
              <a:t>Nesse caso, basta </a:t>
            </a:r>
            <a:r>
              <a:rPr lang="pt-BR" dirty="0" err="1"/>
              <a:t>retropropagar</a:t>
            </a:r>
            <a:r>
              <a:rPr lang="pt-BR" dirty="0"/>
              <a:t> o gradiente dois passos para trás para aprender essa tarefa com sucesso.</a:t>
            </a:r>
          </a:p>
          <a:p>
            <a:r>
              <a:rPr lang="pt-BR" dirty="0"/>
              <a:t>Porém, existem casos em que a RNN precisa de mais contexto.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C53011F6-166D-E866-27C5-69A2EF65F07A}"/>
              </a:ext>
            </a:extLst>
          </p:cNvPr>
          <p:cNvSpPr/>
          <p:nvPr/>
        </p:nvSpPr>
        <p:spPr>
          <a:xfrm>
            <a:off x="3314699" y="2225711"/>
            <a:ext cx="716973" cy="132556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37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D984BD1-9D88-7A7E-95C0-39AB6310B8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B6B7A25-7D9F-2655-41EB-F9274FE4A3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60FF3FD-0963-BC17-8992-4327E5058B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6530" y="1825624"/>
            <a:ext cx="5885469" cy="5032375"/>
          </a:xfrm>
        </p:spPr>
        <p:txBody>
          <a:bodyPr>
            <a:normAutofit/>
          </a:bodyPr>
          <a:lstStyle/>
          <a:p>
            <a:r>
              <a:rPr lang="pt-BR" dirty="0"/>
              <a:t>Vamos nos ater à previsão de um passo à frente.</a:t>
            </a:r>
          </a:p>
          <a:p>
            <a:r>
              <a:rPr lang="pt-BR" dirty="0"/>
              <a:t>Considere a frase: </a:t>
            </a:r>
          </a:p>
          <a:p>
            <a:pPr marL="457200" lvl="1" indent="0" algn="ctr">
              <a:buNone/>
            </a:pPr>
            <a:r>
              <a:rPr lang="pt-BR" dirty="0"/>
              <a:t>“Sou de Roma. Nasci há 30 anos. Gosto de comer bem e andar de bicicleta. Minha língua materna é o italiano.”</a:t>
            </a:r>
          </a:p>
          <a:p>
            <a:r>
              <a:rPr lang="pt-BR" dirty="0"/>
              <a:t>Quando queremos prever a palavra "italiano", temos que olhar vários passos para trás no tempo, até a palavra "Roma".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EB82918D-ADE2-AAB7-1AE4-7AF0D762FD32}"/>
              </a:ext>
            </a:extLst>
          </p:cNvPr>
          <p:cNvSpPr/>
          <p:nvPr/>
        </p:nvSpPr>
        <p:spPr>
          <a:xfrm>
            <a:off x="4322619" y="2597510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C4D27DDD-946D-AB8C-ED06-3C325B14C5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0407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9FCAA46-FB18-7F4A-9CA9-0600DE6F2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80D115FB-FCD8-EC8B-4716-893C9868673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32" y="2597510"/>
            <a:ext cx="5885468" cy="274045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="" xmlns:a16="http://schemas.microsoft.com/office/drawing/2014/main" id="{54791B03-E616-FD43-80C5-5DF812B2B6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problema das dependências de longo prazo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C1404A6-E7DD-907F-A21B-91BD8A91F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9158" y="1825624"/>
            <a:ext cx="5992842" cy="5032375"/>
          </a:xfrm>
        </p:spPr>
        <p:txBody>
          <a:bodyPr>
            <a:normAutofit/>
          </a:bodyPr>
          <a:lstStyle/>
          <a:p>
            <a:r>
              <a:rPr lang="pt-BR" dirty="0"/>
              <a:t>Nesse caso, a memória de curto prazo da RNN baunilha não seria suficiente.</a:t>
            </a:r>
          </a:p>
          <a:p>
            <a:r>
              <a:rPr lang="pt-BR" dirty="0"/>
              <a:t>À medida que o intervalo de tempo aumenta, torna-se mais difícil para uma RNN lidar com o problema.</a:t>
            </a:r>
          </a:p>
          <a:p>
            <a:r>
              <a:rPr lang="pt-BR" dirty="0"/>
              <a:t>Vamos ver como redes de </a:t>
            </a:r>
            <a:r>
              <a:rPr lang="pt-BR" b="1" dirty="0"/>
              <a:t>memória de curto longo prazo (</a:t>
            </a:r>
            <a:r>
              <a:rPr lang="pt-BR" b="1" i="1" dirty="0" err="1"/>
              <a:t>long</a:t>
            </a:r>
            <a:r>
              <a:rPr lang="pt-BR" b="1" i="1" dirty="0"/>
              <a:t>-short </a:t>
            </a:r>
            <a:r>
              <a:rPr lang="pt-BR" b="1" i="1" dirty="0" err="1"/>
              <a:t>term</a:t>
            </a:r>
            <a:r>
              <a:rPr lang="pt-BR" b="1" i="1" dirty="0"/>
              <a:t> </a:t>
            </a:r>
            <a:r>
              <a:rPr lang="pt-BR" b="1" i="1" dirty="0" err="1"/>
              <a:t>memory</a:t>
            </a:r>
            <a:r>
              <a:rPr lang="pt-BR" b="1" dirty="0"/>
              <a:t> – LSTM) </a:t>
            </a:r>
            <a:r>
              <a:rPr lang="pt-BR" dirty="0"/>
              <a:t>podem lidar com essa dificuldade.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ADCDC70A-B3DA-C5F7-B8FF-163E59F072E4}"/>
              </a:ext>
            </a:extLst>
          </p:cNvPr>
          <p:cNvSpPr/>
          <p:nvPr/>
        </p:nvSpPr>
        <p:spPr>
          <a:xfrm>
            <a:off x="4322619" y="2618292"/>
            <a:ext cx="779318" cy="101390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410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E5FE4D3-51CB-D07E-2D42-B438EA185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E0BCFCB7-6C37-0809-93AB-AF4180361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Introduzida por </a:t>
            </a:r>
            <a:r>
              <a:rPr lang="pt-BR" dirty="0" err="1"/>
              <a:t>Hochreiter</a:t>
            </a:r>
            <a:r>
              <a:rPr lang="pt-BR" dirty="0"/>
              <a:t> e </a:t>
            </a:r>
            <a:r>
              <a:rPr lang="pt-BR" dirty="0" err="1"/>
              <a:t>Schmidhuber</a:t>
            </a:r>
            <a:r>
              <a:rPr lang="pt-BR" dirty="0"/>
              <a:t> em 1997.</a:t>
            </a:r>
          </a:p>
          <a:p>
            <a:r>
              <a:rPr lang="pt-BR" dirty="0"/>
              <a:t>Funcionam muito bem em diversos problemas e são amplamente utilizadas atualmente.</a:t>
            </a:r>
          </a:p>
          <a:p>
            <a:r>
              <a:rPr lang="pt-BR" dirty="0"/>
              <a:t>Assim como as </a:t>
            </a:r>
            <a:r>
              <a:rPr lang="pt-BR" dirty="0" err="1"/>
              <a:t>RNNs</a:t>
            </a:r>
            <a:r>
              <a:rPr lang="pt-BR" dirty="0"/>
              <a:t>, elas precisam ser desdobradas no tempo para serem treinadas.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="" xmlns:a16="http://schemas.microsoft.com/office/drawing/2014/main" id="{767CEB79-6A0F-ABB3-2CE7-334D403DD862}"/>
                  </a:ext>
                </a:extLst>
              </p:cNvPr>
              <p:cNvSpPr txBox="1"/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1000" b="1" dirty="0"/>
                  <a:t>OBS</a:t>
                </a:r>
                <a:r>
                  <a:rPr lang="pt-BR" sz="1000" dirty="0"/>
                  <a:t>.: Para facilitar a notação, usamos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1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000" dirty="0"/>
                  <a:t> </a:t>
                </a:r>
                <a:r>
                  <a:rPr lang="en-US" sz="1000" dirty="0" err="1"/>
                  <a:t>ao</a:t>
                </a:r>
                <a:r>
                  <a:rPr lang="en-US" sz="1000" dirty="0"/>
                  <a:t> </a:t>
                </a:r>
                <a:r>
                  <a:rPr lang="en-US" sz="1000" dirty="0" err="1"/>
                  <a:t>inves</a:t>
                </a:r>
                <a:r>
                  <a:rPr lang="en-US" sz="1000" dirty="0"/>
                  <a:t> de </a:t>
                </a:r>
                <a14:m>
                  <m:oMath xmlns:m="http://schemas.openxmlformats.org/officeDocument/2006/math">
                    <m:r>
                      <a:rPr lang="pt-BR" sz="1000" b="1" i="1" smtClean="0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begChr m:val="["/>
                        <m:endChr m:val="]"/>
                        <m:ctrlPr>
                          <a:rPr lang="pt-BR" sz="1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pt-BR" sz="10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0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7CEB79-6A0F-ABB3-2CE7-334D403DD8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6611778"/>
                <a:ext cx="3175036" cy="246221"/>
              </a:xfrm>
              <a:prstGeom prst="rect">
                <a:avLst/>
              </a:prstGeom>
              <a:blipFill>
                <a:blip r:embed="rId2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3B7EA0D5-79A9-4147-4235-29A2A75B93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2081" y="3804862"/>
            <a:ext cx="8206040" cy="3053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70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0A8604B-8785-D978-9325-685488A93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8A21FDD-8B38-01BA-02A2-E93917D46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D789EFBE-5969-6A4D-8EA1-2E41201F52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353800" cy="5032375"/>
          </a:xfrm>
        </p:spPr>
        <p:txBody>
          <a:bodyPr/>
          <a:lstStyle/>
          <a:p>
            <a:r>
              <a:rPr lang="pt-BR" dirty="0"/>
              <a:t>A unidade de processamento da LSTM é mais complexa e é chamada de célula.</a:t>
            </a:r>
          </a:p>
          <a:p>
            <a:r>
              <a:rPr lang="pt-BR" dirty="0"/>
              <a:t>Uma célula LSTM é composta por 4 camadas totalmente conectadas, que interagem entre si de uma maneira especial.</a:t>
            </a:r>
          </a:p>
          <a:p>
            <a:r>
              <a:rPr lang="pt-BR" dirty="0"/>
              <a:t>Capturam padrões de longo e curto prazo de uma sequência de dados. 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57FE238D-F070-FB97-ACEC-0EF800831D8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3721" y="4117943"/>
            <a:ext cx="7364558" cy="274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9202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6EDB9C1-2571-2FA0-E43E-54FD8004F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dirty="0"/>
              <a:t> (LSTM)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7A93D8-34FE-B0E1-EB4D-06EB0C123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Uma célula de memória LSTM: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entra na célula sempre que sua porta de entrada está 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é descartada da célula sempre que sua porta de esquecimento está desligada.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informação pode ser lida da célula ligando sua porta de saída.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E0180B18-707C-9189-F385-D0DD1450619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31" y="2222745"/>
            <a:ext cx="5320197" cy="3228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2513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F262C8C-8191-2D84-EFBA-74B11AA29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49B969-F400-92D5-152D-2637CB490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9079D43-D4FA-D0BA-8D88-3951453F2C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18028" y="1825624"/>
            <a:ext cx="6173971" cy="5032375"/>
          </a:xfrm>
        </p:spPr>
        <p:txBody>
          <a:bodyPr>
            <a:normAutofit/>
          </a:bodyPr>
          <a:lstStyle/>
          <a:p>
            <a:r>
              <a:rPr lang="pt-BR" dirty="0"/>
              <a:t>A informação pode fluir ao longo da célula de memória sem sofrer alterações.</a:t>
            </a:r>
          </a:p>
          <a:p>
            <a:r>
              <a:rPr lang="pt-BR" dirty="0"/>
              <a:t>A informação pode ser removida ou gravada na célula de memória, conforme regulado pelas portas.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6F33E3F-21F0-98F8-7A75-265BBFA1F4F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30" y="2270752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99196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6D7632-DD0B-773B-931F-622479528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91B612C-6F65-E184-0E1E-387461C173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ideia central por trás das </a:t>
            </a:r>
            <a:r>
              <a:rPr lang="pt-BR" dirty="0" err="1"/>
              <a:t>LSTMs</a:t>
            </a:r>
            <a:r>
              <a:rPr lang="pt-BR" dirty="0"/>
              <a:t>: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CA3812A4-BB08-CF51-52EF-8F212B136A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703" y="1825624"/>
                <a:ext cx="678129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 portas são uma forma de permitir opcionalmente a passagem de informações.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Uma camada densa com função de ativação sigmoide gera um número entre 0 e 1, decidindo quanto de cada elemento deve ser permitido passar.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Uma operação de multiplicação ponto a ponto aplica a decisão.</a:t>
                </a:r>
              </a:p>
              <a:p>
                <a:r>
                  <a:rPr lang="pt-BR" dirty="0"/>
                  <a:t>Os valores no vetor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variam de 0 a 1.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0 significa “fechado” e 1 significa “aberto”.</a:t>
                </a:r>
              </a:p>
              <a:p>
                <a:r>
                  <a:rPr lang="pt-BR" dirty="0"/>
                  <a:t>“Filtra” a informação multiplicando o vetor de entrada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pelo vetor de porta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elemento a elemento.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A3812A4-BB08-CF51-52EF-8F212B136A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703" y="1825624"/>
                <a:ext cx="6781297" cy="5032375"/>
              </a:xfrm>
              <a:blipFill>
                <a:blip r:embed="rId3"/>
                <a:stretch>
                  <a:fillRect l="-1619" t="-2663" r="-1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="" xmlns:a16="http://schemas.microsoft.com/office/drawing/2014/main" id="{B9728557-869E-BAFB-3066-1D739731CD5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85284" y="2051849"/>
            <a:ext cx="1834360" cy="1839902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="" xmlns:a16="http://schemas.microsoft.com/office/drawing/2014/main" id="{070CEDC2-429E-FD22-6690-830CD30AF0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10488"/>
              </p:ext>
            </p:extLst>
          </p:nvPr>
        </p:nvGraphicFramePr>
        <p:xfrm>
          <a:off x="8382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0.58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1.24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0" name="Oval 9">
            <a:extLst>
              <a:ext uri="{FF2B5EF4-FFF2-40B4-BE49-F238E27FC236}">
                <a16:creationId xmlns="" xmlns:a16="http://schemas.microsoft.com/office/drawing/2014/main" id="{8B26B905-DC25-9DA7-2367-B16D6608B5DA}"/>
              </a:ext>
            </a:extLst>
          </p:cNvPr>
          <p:cNvSpPr/>
          <p:nvPr/>
        </p:nvSpPr>
        <p:spPr>
          <a:xfrm>
            <a:off x="1748784" y="5351237"/>
            <a:ext cx="273050" cy="273050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>
                <a:solidFill>
                  <a:schemeClr val="tx1"/>
                </a:solidFill>
              </a:rPr>
              <a:t>x</a:t>
            </a:r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="" xmlns:a16="http://schemas.microsoft.com/office/drawing/2014/main" id="{5E348D4B-93D4-C098-7AF9-B153BE1F75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979572"/>
              </p:ext>
            </p:extLst>
          </p:nvPr>
        </p:nvGraphicFramePr>
        <p:xfrm>
          <a:off x="2247800" y="4746082"/>
          <a:ext cx="684618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84618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0.95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="" xmlns:a16="http://schemas.microsoft.com/office/drawing/2014/main" id="{32B1D0E7-53E6-C236-1C2B-B2CE4AE3DE25}"/>
              </a:ext>
            </a:extLst>
          </p:cNvPr>
          <p:cNvSpPr txBox="1"/>
          <p:nvPr/>
        </p:nvSpPr>
        <p:spPr>
          <a:xfrm>
            <a:off x="3045720" y="5195374"/>
            <a:ext cx="3898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3200" dirty="0"/>
              <a:t>=</a:t>
            </a:r>
            <a:endParaRPr lang="en-US" sz="320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="" xmlns:a16="http://schemas.microsoft.com/office/drawing/2014/main" id="{01F8917B-8816-341A-558C-A1CAEB070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5979028"/>
              </p:ext>
            </p:extLst>
          </p:nvPr>
        </p:nvGraphicFramePr>
        <p:xfrm>
          <a:off x="3548871" y="4746082"/>
          <a:ext cx="920346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20346">
                  <a:extLst>
                    <a:ext uri="{9D8B030D-6E8A-4147-A177-3AD203B41FA5}">
                      <a16:colId xmlns="" xmlns:a16="http://schemas.microsoft.com/office/drawing/2014/main" val="37986754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0.116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3934049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-0.3168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1836293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0.001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6566198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1.178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="" xmlns:a16="http://schemas.microsoft.com/office/drawing/2014/main" val="2751490427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="" xmlns:a16="http://schemas.microsoft.com/office/drawing/2014/main" id="{53BADD3D-2C82-CCC1-B891-BEB0379E4781}"/>
                  </a:ext>
                </a:extLst>
              </p:cNvPr>
              <p:cNvSpPr txBox="1"/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3BADD3D-2C82-CCC1-B891-BEB0379E47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312" y="4318900"/>
                <a:ext cx="45839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="" xmlns:a16="http://schemas.microsoft.com/office/drawing/2014/main" id="{BF8D9E77-C242-804E-69C9-0B2514AE0614}"/>
                  </a:ext>
                </a:extLst>
              </p:cNvPr>
              <p:cNvSpPr txBox="1"/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𝒈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F8D9E77-C242-804E-69C9-0B2514AE0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66605" y="4324531"/>
                <a:ext cx="48083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="" xmlns:a16="http://schemas.microsoft.com/office/drawing/2014/main" id="{98D3637C-D10A-1278-EAC9-E3EAAC103B78}"/>
                  </a:ext>
                </a:extLst>
              </p:cNvPr>
              <p:cNvSpPr txBox="1"/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8D3637C-D10A-1278-EAC9-E3EAAC103B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1137" y="4318900"/>
                <a:ext cx="463204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7501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9C3E673-1103-7EA7-9CAE-C63E5DA9C3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Estado da célula e portas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F6C3165D-F5CE-BE8B-AF39-F79FAD0B84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estado de uma célula no instante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pt-BR" dirty="0"/>
                  <a:t> é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Podemos pensar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estado de longo prazo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como o de curto prazo.</a:t>
                </a:r>
              </a:p>
              <a:p>
                <a:r>
                  <a:rPr lang="pt-BR" dirty="0"/>
                  <a:t>A célula modifica o estado apenas por meio de </a:t>
                </a:r>
                <a:r>
                  <a:rPr lang="pt-BR" b="1" dirty="0"/>
                  <a:t>interações lineares*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informação flui suavemente ao longo do tempo.</a:t>
                </a:r>
              </a:p>
              <a:p>
                <a:r>
                  <a:rPr lang="pt-BR" dirty="0"/>
                  <a:t>A informação na célula LSTM é protegida e controlada por meio de 3 portas.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C3165D-F5CE-BE8B-AF39-F79FAD0B84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67153" y="1825624"/>
                <a:ext cx="6524848" cy="5032375"/>
              </a:xfrm>
              <a:blipFill>
                <a:blip r:embed="rId2"/>
                <a:stretch>
                  <a:fillRect l="-1682" t="-1937" r="-14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E227967A-2652-CF1C-F0CA-9E5085FEE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30" y="2270752"/>
            <a:ext cx="5131773" cy="31588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2F85A674-3EBE-C361-A66C-681B77D8C532}"/>
              </a:ext>
            </a:extLst>
          </p:cNvPr>
          <p:cNvSpPr txBox="1"/>
          <p:nvPr/>
        </p:nvSpPr>
        <p:spPr>
          <a:xfrm>
            <a:off x="0" y="6550222"/>
            <a:ext cx="113749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400" dirty="0"/>
              <a:t>* importante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408489534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4F0908E-61BC-4EE3-3C23-07FB350F4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Porta de </a:t>
            </a:r>
            <a:r>
              <a:rPr lang="en-US" dirty="0" err="1"/>
              <a:t>esquecimento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2AB8871D-05B3-0B5D-B7A9-8B87B3BFA96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Controla quais informações devem ser descartadas do estado de longo prazo da célula.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esquece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completamente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mant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é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1" i="1" smtClean="0">
                                            <a:latin typeface="Cambria Math" panose="02040503050406030204" pitchFamily="18" charset="0"/>
                                          </a:rPr>
                                          <m:t>𝒄</m:t>
                                        </m:r>
                                      </m:e>
                                      <m:sub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−1</m:t>
                                        </m:r>
                                      </m:sub>
                                    </m:sSub>
                                    <m:r>
                                      <a:rPr lang="pt-BR" sz="2000" b="0" i="1" smtClean="0">
                                        <a:latin typeface="Cambria Math" panose="02040503050406030204" pitchFamily="18" charset="0"/>
                                      </a:rPr>
                                      <m:t>  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Porta controlada pela entrada atual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pela saída da célula anterior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Exemplo de PLN: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estado da célula mantém o gênero do sujeito presente para usar os pronomes corretos.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Ao ver um novo sujeito, esqueça o gênero do sujeito anterior.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AB8871D-05B3-0B5D-B7A9-8B87B3BFA96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1825624"/>
                <a:ext cx="6096001" cy="5032375"/>
              </a:xfrm>
              <a:blipFill>
                <a:blip r:embed="rId3"/>
                <a:stretch>
                  <a:fillRect l="-1800" t="-2663" r="-18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80F4CF14-BBA4-1BD4-51A4-699EE410225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5528" y="2228222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806058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81B4BE9-24E6-DBC5-186F-61B6FA668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entrada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D2F9DE0-B3FD-2A90-3146-043295CAFD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Determina o quanto atualizar o estado antigo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com um novo candidato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pt-BR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atualiza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com</m:t>
                                    </m:r>
                                    <m: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 b="0" i="0" smtClean="0">
                                        <a:latin typeface="Cambria Math" panose="02040503050406030204" pitchFamily="18" charset="0"/>
                                      </a:rPr>
                                      <m:t>de</m:t>
                                    </m:r>
                                    <m:sSub>
                                      <m:sSubPr>
                                        <m:ctrlP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sz="2000" b="0" i="1" smtClean="0">
                                            <a:latin typeface="Cambria Math" panose="02040503050406030204" pitchFamily="18" charset="0"/>
                                          </a:rPr>
                                          <m:t> </m:t>
                                        </m:r>
                                        <m:acc>
                                          <m:accPr>
                                            <m:chr m:val="̃"/>
                                            <m:ctrlP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accPr>
                                          <m:e>
                                            <m:r>
                                              <a:rPr lang="pt-BR" sz="2000" i="1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</m:acc>
                                      </m:e>
                                      <m:sub>
                                        <m:r>
                                          <a:rPr lang="pt-BR" sz="2000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PNL: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Gostaríamos de adicionar o gênero do novo sujeito ao estado da célula, para substituir o antigo que estamos esquecendo.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D2F9DE0-B3FD-2A90-3146-043295CAFD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38826" y="1825624"/>
                <a:ext cx="6353174" cy="5032375"/>
              </a:xfrm>
              <a:blipFill>
                <a:blip r:embed="rId3"/>
                <a:stretch>
                  <a:fillRect l="-1727" t="-1937" r="-18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C9028197-6E3A-D453-E14C-79F999DC2F8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182" y="2338664"/>
            <a:ext cx="5131773" cy="315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933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772FAD1-4DBD-A371-7565-6081A1219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9476E6C-21FE-5575-46B7-F6F5257A0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Atualização do estado da célula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="" xmlns:a16="http://schemas.microsoft.com/office/drawing/2014/main" id="{7B42820C-05C1-F0F4-4D04-180E613444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Calcular o vetor da porta de esquecimento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vetor da porta de entrada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𝒉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𝒃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pt-BR" dirty="0"/>
                  <a:t>Calcular o vetor de informação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d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𝑾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𝒃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Calcular o novo vetor de estado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𝒇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esquece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anterior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𝒊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acc>
                                    <m:accPr>
                                      <m:chr m:val="̃"/>
                                      <m:ctrlP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𝒄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entarda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nova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informa</m:t>
                          </m:r>
                          <m:r>
                            <a:rPr lang="pt-BR">
                              <a:latin typeface="Cambria Math" panose="02040503050406030204" pitchFamily="18" charset="0"/>
                            </a:rPr>
                            <m:t>çã</m:t>
                          </m:r>
                          <m:r>
                            <m:rPr>
                              <m:sty m:val="p"/>
                            </m:rPr>
                            <a:rPr lang="pt-BR">
                              <a:latin typeface="Cambria Math" panose="02040503050406030204" pitchFamily="18" charset="0"/>
                            </a:rPr>
                            <m:t>o</m:t>
                          </m:r>
                        </m:lim>
                      </m:limLow>
                      <m:r>
                        <a:rPr lang="pt-BR" i="1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7B42820C-05C1-F0F4-4D04-180E613444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353801" cy="5032376"/>
              </a:xfrm>
              <a:blipFill>
                <a:blip r:embed="rId3"/>
                <a:stretch>
                  <a:fillRect l="-96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="" xmlns:a16="http://schemas.microsoft.com/office/drawing/2014/main" id="{8A3055A6-AFBF-722F-46B1-12B03F916C6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8567" y="2222205"/>
            <a:ext cx="3443433" cy="21196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2122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1C7D1F2-6CA4-20EA-CC21-706A3BBFA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E3B3B1D-D2B0-1301-7FA6-4831F57283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Porta de saída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0A65D47D-498E-037A-E3AD-6F97600C32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é uma versão filtrada do estado da célula,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é passado através de uma </a:t>
                </a:r>
                <a:r>
                  <a:rPr lang="pt-BR" i="1" dirty="0" err="1"/>
                  <a:t>tanh</a:t>
                </a:r>
                <a:r>
                  <a:rPr lang="pt-BR" dirty="0"/>
                  <a:t>, que comprime seus valores entre -1 e 1.</a:t>
                </a:r>
              </a:p>
              <a:p>
                <a:r>
                  <a:rPr lang="pt-BR" dirty="0"/>
                  <a:t>Em seguida, a porta decide quais partes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serão passadas para a saída.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000" b="1" i="1">
                              <a:latin typeface="Cambria Math" panose="02040503050406030204" pitchFamily="18" charset="0"/>
                            </a:rPr>
                            <m:t>𝒐</m:t>
                          </m:r>
                        </m:e>
                        <m:sub>
                          <m:r>
                            <a:rPr lang="pt-BR" sz="2000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sz="20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0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                       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sem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í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da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000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000" i="1">
                                        <a:latin typeface="Cambria Math" panose="02040503050406030204" pitchFamily="18" charset="0"/>
                                      </a:rPr>
                                      <m:t>         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passa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100%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do</m:t>
                                    </m:r>
                                    <m: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000">
                                        <a:latin typeface="Cambria Math" panose="02040503050406030204" pitchFamily="18" charset="0"/>
                                      </a:rPr>
                                      <m:t>estado</m:t>
                                    </m:r>
                                  </m:e>
                                </m:mr>
                              </m:m>
                            </m:e>
                          </m:eqArr>
                        </m:e>
                      </m:d>
                    </m:oMath>
                  </m:oMathPara>
                </a14:m>
                <a:endParaRPr lang="pt-BR" sz="2000" dirty="0"/>
              </a:p>
              <a:p>
                <a:r>
                  <a:rPr lang="pt-BR" dirty="0"/>
                  <a:t>No exemplo de PLN: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Pode indicar se o sujeito é singular ou plural, para que se um verbo vier em seguida, ele seja conjugado corretamente.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A65D47D-498E-037A-E3AD-6F97600C32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829300" y="1825624"/>
                <a:ext cx="6362700" cy="5032375"/>
              </a:xfrm>
              <a:blipFill>
                <a:blip r:embed="rId3"/>
                <a:stretch>
                  <a:fillRect l="-172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AA5BC753-8840-8C1C-7822-2E7EFD9C53F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11" y="2422339"/>
            <a:ext cx="5131773" cy="3161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38841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ACA9160B-0A9F-1A85-6B15-1990ABAB5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Long</a:t>
            </a:r>
            <a:r>
              <a:rPr lang="pt-BR" i="1" dirty="0"/>
              <a:t>-short </a:t>
            </a:r>
            <a:r>
              <a:rPr lang="pt-BR" i="1" dirty="0" err="1"/>
              <a:t>term</a:t>
            </a:r>
            <a:r>
              <a:rPr lang="pt-BR" i="1" dirty="0"/>
              <a:t> </a:t>
            </a:r>
            <a:r>
              <a:rPr lang="pt-BR" i="1" dirty="0" err="1"/>
              <a:t>memory</a:t>
            </a:r>
            <a:r>
              <a:rPr lang="pt-BR" i="1" dirty="0"/>
              <a:t> </a:t>
            </a:r>
            <a:r>
              <a:rPr lang="pt-BR" dirty="0"/>
              <a:t>(LSTM)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65A0CB09-932B-8FCE-FD61-796D1203C8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</p:spPr>
            <p:txBody>
              <a:bodyPr/>
              <a:lstStyle/>
              <a:p>
                <a:r>
                  <a:rPr lang="pt-BR" dirty="0"/>
                  <a:t>Resumindo, uma célula LSTM pode: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aprender a reconhecer uma entrada importante (essa é a função da porta de entrada),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armazená-la no estado de longo prazo,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preservá-la pelo tempo que for necessário (essa é a função da porta do esquecimento)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extraí-la sempre que necessário (essa é a função da porta de saída).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5A0CB09-932B-8FCE-FD61-796D1203C8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42518" cy="5032375"/>
              </a:xfrm>
              <a:blipFill>
                <a:blip r:embed="rId2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387287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F2A2A55-F68E-8442-C0DD-A2410B7AC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desvantagens</a:t>
            </a:r>
            <a:r>
              <a:rPr lang="en-US" dirty="0"/>
              <a:t> de LSTMs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4BBE798D-84FA-D85F-AF66-CCB3774595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 saídas das portas nunca são realmente 0 ou 1.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conteúdo da célula inevitavelmente se corrompe após um longo período.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Portanto, ainda apresenta dificuldades com dependências temporais muito longas.</a:t>
                </a:r>
              </a:p>
              <a:p>
                <a:r>
                  <a:rPr lang="en-US" dirty="0"/>
                  <a:t>Alta </a:t>
                </a:r>
                <a:r>
                  <a:rPr lang="en-US" dirty="0" err="1"/>
                  <a:t>complexidade</a:t>
                </a:r>
                <a:r>
                  <a:rPr lang="en-US" dirty="0"/>
                  <a:t> </a:t>
                </a:r>
                <a:r>
                  <a:rPr lang="en-US" dirty="0" err="1"/>
                  <a:t>computacional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Muito mais parâmetros que RNN simples.</a:t>
                </a:r>
              </a:p>
              <a:p>
                <a:r>
                  <a:rPr lang="en-US" dirty="0" err="1"/>
                  <a:t>Dificuldade</a:t>
                </a:r>
                <a:r>
                  <a:rPr lang="en-US" dirty="0"/>
                  <a:t> de </a:t>
                </a:r>
                <a:r>
                  <a:rPr lang="en-US" dirty="0" err="1"/>
                  <a:t>paralelização</a:t>
                </a:r>
                <a:endParaRPr lang="en-US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Processamento sequencial: depende de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pt-BR" dirty="0"/>
                  <a:t> para calcular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Difícil explorar paralelismo em GPU</a:t>
                </a:r>
              </a:p>
              <a:p>
                <a:r>
                  <a:rPr lang="pt-BR" dirty="0"/>
                  <a:t>Hoje é superada em muitos cenários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Modelos</a:t>
                </a:r>
                <a:r>
                  <a:rPr lang="en-US" dirty="0"/>
                  <a:t> </a:t>
                </a:r>
                <a:r>
                  <a:rPr lang="en-US" dirty="0" err="1"/>
                  <a:t>mais</a:t>
                </a:r>
                <a:r>
                  <a:rPr lang="en-US" dirty="0"/>
                  <a:t> </a:t>
                </a:r>
                <a:r>
                  <a:rPr lang="en-US" dirty="0" err="1"/>
                  <a:t>modernos</a:t>
                </a:r>
                <a:r>
                  <a:rPr lang="en-US" dirty="0"/>
                  <a:t>: Transformers com attention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Eles </a:t>
                </a:r>
                <a:r>
                  <a:rPr lang="en-US" dirty="0" err="1"/>
                  <a:t>apresentam</a:t>
                </a:r>
                <a:r>
                  <a:rPr lang="en-US" dirty="0"/>
                  <a:t> m</a:t>
                </a:r>
                <a:r>
                  <a:rPr lang="pt-BR" dirty="0" err="1"/>
                  <a:t>elhor</a:t>
                </a:r>
                <a:r>
                  <a:rPr lang="pt-BR" dirty="0"/>
                  <a:t>: paralelização e capturam de dependências globais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BBE798D-84FA-D85F-AF66-CCB3774595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999936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45D02D76-2EBA-1393-BE09-7CDA497C6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EBE64A2-9011-342C-7697-75B6C48776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8692" y="1825624"/>
            <a:ext cx="6743307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 o sucesso das </a:t>
            </a:r>
            <a:r>
              <a:rPr lang="pt-BR" dirty="0" err="1"/>
              <a:t>LSTMs</a:t>
            </a:r>
            <a:r>
              <a:rPr lang="pt-BR" dirty="0"/>
              <a:t> em capturar dependências de longo prazo, arquiteturas simplificadas foram propostas com o objetivo de acelerar a computação.</a:t>
            </a:r>
          </a:p>
          <a:p>
            <a:r>
              <a:rPr lang="pt-BR" dirty="0" err="1"/>
              <a:t>GRUs</a:t>
            </a:r>
            <a:r>
              <a:rPr lang="pt-BR" dirty="0"/>
              <a:t> foram propostas em 2014 por Cho et al.</a:t>
            </a:r>
          </a:p>
          <a:p>
            <a:r>
              <a:rPr lang="pt-BR" dirty="0"/>
              <a:t>São uma versão simplificada da célula de memória LSTM.</a:t>
            </a:r>
          </a:p>
          <a:p>
            <a:r>
              <a:rPr lang="pt-BR" dirty="0"/>
              <a:t>Em geral, atingem desempenho comparável, mas com a vantagem de terem menos parâmetros e serem mais rápidas em termos de computação.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FEE9C48C-C90C-F33E-D12D-C8B6D0A1B5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303" y="3013147"/>
            <a:ext cx="4929495" cy="265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6729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46CC0D9-476E-8E7D-EC3C-28E97B88A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B5BE93B-0FD8-4FAC-CF58-5DD52D3DB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 err="1"/>
              <a:t>Gated</a:t>
            </a:r>
            <a:r>
              <a:rPr lang="pt-BR" i="1" dirty="0"/>
              <a:t> </a:t>
            </a:r>
            <a:r>
              <a:rPr lang="pt-BR" i="1" dirty="0" err="1"/>
              <a:t>recurrent</a:t>
            </a:r>
            <a:r>
              <a:rPr lang="pt-BR" i="1" dirty="0"/>
              <a:t> </a:t>
            </a:r>
            <a:r>
              <a:rPr lang="pt-BR" i="1" dirty="0" err="1"/>
              <a:t>unit</a:t>
            </a:r>
            <a:r>
              <a:rPr lang="pt-BR" dirty="0"/>
              <a:t> (GRU)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26A8CC03-24B7-54E8-63B4-1022B00698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7500" y="1825624"/>
            <a:ext cx="6794500" cy="5032375"/>
          </a:xfrm>
        </p:spPr>
        <p:txBody>
          <a:bodyPr>
            <a:normAutofit/>
          </a:bodyPr>
          <a:lstStyle/>
          <a:p>
            <a:r>
              <a:rPr lang="pt-BR" dirty="0"/>
              <a:t>Usam menos portas e não possuem um estado da célula.</a:t>
            </a:r>
          </a:p>
          <a:p>
            <a:r>
              <a:rPr lang="pt-BR" dirty="0"/>
              <a:t>A porta de </a:t>
            </a:r>
            <a:r>
              <a:rPr lang="pt-BR" i="1" dirty="0"/>
              <a:t>reset</a:t>
            </a:r>
            <a:r>
              <a:rPr lang="pt-BR" dirty="0"/>
              <a:t> é responsável pela memória de curto prazo, pois decide quanta informação passada será mantida e quanta informação será descartada.</a:t>
            </a:r>
          </a:p>
          <a:p>
            <a:r>
              <a:rPr lang="pt-BR" dirty="0"/>
              <a:t>Em contraste, a porta de atualização é responsável pela memória de longo prazo e é comparável à porta de esquecimento da LSTM.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a combinação das portas de esquecimento e de entrada da LSTM.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FEBB883C-AF65-D3CE-B74B-0176B4408C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159" y="2601160"/>
            <a:ext cx="4929495" cy="299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53234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0843" y="2170398"/>
            <a:ext cx="11598442" cy="270640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 smtClean="0"/>
              <a:t>Como </a:t>
            </a:r>
            <a:r>
              <a:rPr lang="pt-BR" sz="6000" dirty="0" err="1" smtClean="0"/>
              <a:t>LSTMs</a:t>
            </a:r>
            <a:r>
              <a:rPr lang="pt-BR" sz="6000" dirty="0" smtClean="0"/>
              <a:t> e </a:t>
            </a:r>
            <a:r>
              <a:rPr lang="pt-BR" sz="6000" dirty="0" err="1" smtClean="0"/>
              <a:t>GRUs</a:t>
            </a:r>
            <a:r>
              <a:rPr lang="pt-BR" sz="6000" dirty="0" smtClean="0"/>
              <a:t> minimizam o problema do desaparecimento do gradiente?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6199425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217C2CC-E86F-6285-9CEE-AEE63628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2691B0C-DF41-453D-2999-4912A83FED7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GRUs e </a:t>
                </a:r>
                <a:r>
                  <a:rPr lang="pt-BR" dirty="0" err="1"/>
                  <a:t>LSTMs</a:t>
                </a:r>
                <a:r>
                  <a:rPr lang="pt-BR" dirty="0"/>
                  <a:t> têm um caminho quase linear para o gradiente.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𝒄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acc>
                            <m:accPr>
                              <m:chr m:val="̃"/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𝒄</m:t>
                              </m:r>
                            </m:e>
                          </m:acc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Já as </a:t>
                </a:r>
                <a:r>
                  <a:rPr lang="pt-BR" dirty="0" err="1"/>
                  <a:t>RNNs</a:t>
                </a:r>
                <a:r>
                  <a:rPr lang="pt-BR" dirty="0"/>
                  <a:t> baunilha têm uma caminha </a:t>
                </a:r>
                <a:r>
                  <a:rPr lang="pt-BR" dirty="0" err="1"/>
                  <a:t>nã</a:t>
                </a:r>
                <a:r>
                  <a:rPr lang="pt-BR" dirty="0"/>
                  <a:t>-linear: o novo estado passa por um função </a:t>
                </a:r>
                <a:r>
                  <a:rPr lang="pt-BR" dirty="0" err="1"/>
                  <a:t>tanh</a:t>
                </a:r>
                <a:r>
                  <a:rPr lang="pt-BR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𝒉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i="0" smtClean="0">
                              <a:latin typeface="Cambria Math" panose="02040503050406030204" pitchFamily="18" charset="0"/>
                            </a:rPr>
                            <m:t>tanh</m:t>
                          </m:r>
                        </m:fName>
                        <m:e>
                          <m:d>
                            <m:d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</m:e>
                                    <m:sub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𝒉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691B0C-DF41-453D-2999-4912A83FE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80074" y="1825624"/>
                <a:ext cx="6811926" cy="5032375"/>
              </a:xfrm>
              <a:blipFill>
                <a:blip r:embed="rId2"/>
                <a:stretch>
                  <a:fillRect l="-161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A0DB283C-57CF-8CCB-475A-8E64A9D1D9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="" xmlns:a16="http://schemas.microsoft.com/office/drawing/2014/main" id="{945A00CD-C690-0519-A0B6-48532CE3E9E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4279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CDD7DCE-1242-9C51-3F89-48626CD90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1089038-AB05-41BB-2D39-80FBAB0804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71459" y="1825625"/>
            <a:ext cx="6620541" cy="5032376"/>
          </a:xfrm>
        </p:spPr>
        <p:txBody>
          <a:bodyPr>
            <a:normAutofit/>
          </a:bodyPr>
          <a:lstStyle/>
          <a:p>
            <a:r>
              <a:rPr lang="pt-BR" dirty="0" err="1"/>
              <a:t>LSTMs</a:t>
            </a:r>
            <a:r>
              <a:rPr lang="pt-BR" dirty="0"/>
              <a:t> e </a:t>
            </a:r>
            <a:r>
              <a:rPr lang="pt-BR" dirty="0" err="1"/>
              <a:t>GRUs</a:t>
            </a:r>
            <a:r>
              <a:rPr lang="pt-BR" dirty="0"/>
              <a:t> minimizam o problema do desaparecimento do gradiente porque a atualização do estado da célula é aditiva e não puramente multiplicativa</a:t>
            </a:r>
            <a:r>
              <a:rPr lang="en-US" dirty="0"/>
              <a:t>.</a:t>
            </a:r>
            <a:endParaRPr lang="pt-BR" dirty="0"/>
          </a:p>
          <a:p>
            <a:r>
              <a:rPr lang="pt-BR" dirty="0"/>
              <a:t>A soma cria um “atalho” </a:t>
            </a:r>
            <a:r>
              <a:rPr lang="pt-BR" b="1" dirty="0"/>
              <a:t>configurável</a:t>
            </a:r>
            <a:r>
              <a:rPr lang="pt-BR" dirty="0"/>
              <a:t> para o gradiente.</a:t>
            </a:r>
          </a:p>
          <a:p>
            <a:r>
              <a:rPr lang="pt-BR" dirty="0"/>
              <a:t>Esse atalho permite que os gradientes retrocedam no tempo sem necessariamente desaparecer.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F63E2320-9C7D-2BEC-DBF2-A340E846740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739B0D30-CDE5-D51A-1F46-F2F7055CCA3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08700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C27262E0-3E97-671D-6E9F-7D5CF88F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F5C8D3E-7443-40D0-EFC0-AE612DDB8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Desaparecimento do gradiente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77E5298F-0274-DB9E-3AE4-1B71C47C51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Para </a:t>
                </a:r>
                <a:r>
                  <a:rPr lang="pt-BR" dirty="0" err="1"/>
                  <a:t>LSTMs</a:t>
                </a:r>
                <a:r>
                  <a:rPr lang="pt-BR" dirty="0"/>
                  <a:t> e </a:t>
                </a:r>
                <a:r>
                  <a:rPr lang="pt-BR" dirty="0" err="1"/>
                  <a:t>GRUs</a:t>
                </a:r>
                <a:r>
                  <a:rPr lang="pt-BR" dirty="0"/>
                  <a:t>, o valor da derivada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den>
                    </m:f>
                  </m:oMath>
                </a14:m>
                <a:r>
                  <a:rPr lang="pt-BR" dirty="0"/>
                  <a:t> é função das 3 portas: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 e do estado de atualização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Esses 4 valores são configurações que a rede aprende a definir.</a:t>
                </a:r>
              </a:p>
              <a:p>
                <a:r>
                  <a:rPr lang="pt-BR" dirty="0"/>
                  <a:t>Dessa forma, a rede aprende a decidir quando deixar o gradiente desaparecer e quando preservá-lo, ajustando os valores das portas.</a:t>
                </a:r>
              </a:p>
              <a:p>
                <a:r>
                  <a:rPr lang="pt-BR" dirty="0"/>
                  <a:t>Assim, as portas permitem que a rede decida o que guardar e o que descartar.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7E5298F-0274-DB9E-3AE4-1B71C47C51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33237" y="1825625"/>
                <a:ext cx="6645349" cy="5032376"/>
              </a:xfrm>
              <a:blipFill>
                <a:blip r:embed="rId3"/>
                <a:stretch>
                  <a:fillRect l="-1651" t="-1937" r="-2752" b="-13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="" xmlns:a16="http://schemas.microsoft.com/office/drawing/2014/main" id="{D4662DC6-AD4B-B713-EE3A-3FDEE28D9C6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3888430" cy="239352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="" xmlns:a16="http://schemas.microsoft.com/office/drawing/2014/main" id="{3B0BA7DE-BA19-14FA-4FA3-25310BBE5CB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243" y="4667693"/>
            <a:ext cx="4112520" cy="2041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3637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6F46201-70AB-3101-010F-37663AAABA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C31D9534-0BDC-5AAE-8B8A-DE28FBF111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96041"/>
            <a:ext cx="10515600" cy="126591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Diferentes aplicações de </a:t>
            </a:r>
            <a:r>
              <a:rPr lang="pt-BR" sz="6000" dirty="0" err="1"/>
              <a:t>RNNs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28536378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1E75519F-4E97-D41B-FEDC-5985815D89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3FB7023-EEE1-0137-9550-E8D35802B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Rede neural de alimentação direta tradicional.</a:t>
            </a:r>
          </a:p>
          <a:p>
            <a:r>
              <a:rPr lang="pt-BR" dirty="0"/>
              <a:t>Entrada e saída de tamanhos fixos.</a:t>
            </a:r>
          </a:p>
          <a:p>
            <a:r>
              <a:rPr lang="pt-BR" dirty="0"/>
              <a:t>Não há dados sequenciais envolvidos.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imagem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</a:t>
            </a:r>
            <a:endParaRPr lang="en-US" dirty="0"/>
          </a:p>
        </p:txBody>
      </p:sp>
      <p:grpSp>
        <p:nvGrpSpPr>
          <p:cNvPr id="16" name="Group 15">
            <a:extLst>
              <a:ext uri="{FF2B5EF4-FFF2-40B4-BE49-F238E27FC236}">
                <a16:creationId xmlns="" xmlns:a16="http://schemas.microsoft.com/office/drawing/2014/main" id="{15122A6D-DC79-2AF9-1085-14936C685310}"/>
              </a:ext>
            </a:extLst>
          </p:cNvPr>
          <p:cNvGrpSpPr/>
          <p:nvPr/>
        </p:nvGrpSpPr>
        <p:grpSpPr>
          <a:xfrm>
            <a:off x="2551812" y="1825625"/>
            <a:ext cx="393407" cy="4188675"/>
            <a:chOff x="1754370" y="1988288"/>
            <a:chExt cx="393407" cy="4188675"/>
          </a:xfrm>
        </p:grpSpPr>
        <p:sp>
          <p:nvSpPr>
            <p:cNvPr id="4" name="Rectangle 3">
              <a:extLst>
                <a:ext uri="{FF2B5EF4-FFF2-40B4-BE49-F238E27FC236}">
                  <a16:creationId xmlns="" xmlns:a16="http://schemas.microsoft.com/office/drawing/2014/main" id="{01948E46-812A-1E66-F7BB-490F2947AA8F}"/>
                </a:ext>
              </a:extLst>
            </p:cNvPr>
            <p:cNvSpPr/>
            <p:nvPr/>
          </p:nvSpPr>
          <p:spPr>
            <a:xfrm>
              <a:off x="1754372" y="1988288"/>
              <a:ext cx="393405" cy="108452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9DBCB693-614D-5B50-C07B-DA27AF31D3BA}"/>
                </a:ext>
              </a:extLst>
            </p:cNvPr>
            <p:cNvSpPr/>
            <p:nvPr/>
          </p:nvSpPr>
          <p:spPr>
            <a:xfrm>
              <a:off x="1754371" y="3540365"/>
              <a:ext cx="393405" cy="1084521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A514DA19-CE6F-9767-CCCD-49466007DF08}"/>
                </a:ext>
              </a:extLst>
            </p:cNvPr>
            <p:cNvSpPr/>
            <p:nvPr/>
          </p:nvSpPr>
          <p:spPr>
            <a:xfrm>
              <a:off x="1754370" y="5092442"/>
              <a:ext cx="393405" cy="108452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="" xmlns:a16="http://schemas.microsoft.com/office/drawing/2014/main" id="{8AC2FB4A-7CD4-042C-9701-B24C1E6C7FE3}"/>
                </a:ext>
              </a:extLst>
            </p:cNvPr>
            <p:cNvCxnSpPr>
              <a:stCxn id="5" idx="0"/>
              <a:endCxn id="4" idx="2"/>
            </p:cNvCxnSpPr>
            <p:nvPr/>
          </p:nvCxnSpPr>
          <p:spPr>
            <a:xfrm flipV="1">
              <a:off x="1951074" y="3072809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960CE189-87E8-01A6-FFCA-A4F6919BBAE0}"/>
                </a:ext>
              </a:extLst>
            </p:cNvPr>
            <p:cNvCxnSpPr>
              <a:cxnSpLocks/>
              <a:stCxn id="6" idx="0"/>
              <a:endCxn id="5" idx="2"/>
            </p:cNvCxnSpPr>
            <p:nvPr/>
          </p:nvCxnSpPr>
          <p:spPr>
            <a:xfrm flipV="1">
              <a:off x="1951073" y="4624886"/>
              <a:ext cx="1" cy="46755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="" xmlns:a16="http://schemas.microsoft.com/office/drawing/2014/main" id="{624E2679-792C-F87E-14FB-2AF9E64F6E79}"/>
                    </a:ext>
                  </a:extLst>
                </p:cNvPr>
                <p:cNvSpPr txBox="1"/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624E2679-792C-F87E-14FB-2AF9E64F6E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5450036"/>
                  <a:ext cx="393406" cy="369332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="" xmlns:a16="http://schemas.microsoft.com/office/drawing/2014/main" id="{1668DFCE-0DD9-DC2F-2185-D32B6C069879}"/>
                    </a:ext>
                  </a:extLst>
                </p:cNvPr>
                <p:cNvSpPr txBox="1"/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1668DFCE-0DD9-DC2F-2185-D32B6C0698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4370" y="2340014"/>
                  <a:ext cx="393406" cy="369332"/>
                </a:xfrm>
                <a:prstGeom prst="rect">
                  <a:avLst/>
                </a:prstGeom>
                <a:blipFill>
                  <a:blip r:embed="rId3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29197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A56FE1B-2F4B-3642-C94B-B94B9E919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A24085D-74A3-7DF1-5CE0-BB50E2AA9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um-para-vários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10758ED-F051-FFC1-8759-DD2BFDD237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fixo.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Legendas de imagens.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Imagem de entrada -&gt; sequência de palavras descrevendo a imagem na saída.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Geração de música.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173BC90E-401F-9CA8-D485-C705D4BC18A0}"/>
              </a:ext>
            </a:extLst>
          </p:cNvPr>
          <p:cNvSpPr/>
          <p:nvPr/>
        </p:nvSpPr>
        <p:spPr>
          <a:xfrm>
            <a:off x="2551814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9B4DE169-2DEC-FD02-39D3-4ED036488B2C}"/>
              </a:ext>
            </a:extLst>
          </p:cNvPr>
          <p:cNvSpPr/>
          <p:nvPr/>
        </p:nvSpPr>
        <p:spPr>
          <a:xfrm>
            <a:off x="2551813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B071E458-90CC-1CD9-F668-0F83E5EC2B49}"/>
              </a:ext>
            </a:extLst>
          </p:cNvPr>
          <p:cNvSpPr/>
          <p:nvPr/>
        </p:nvSpPr>
        <p:spPr>
          <a:xfrm>
            <a:off x="2551812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="" xmlns:a16="http://schemas.microsoft.com/office/drawing/2014/main" id="{74C9AC7C-2534-C237-037C-6BFE9DD1441F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2748516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949FE849-8DE0-FC82-5C8D-E6F4F451D705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748515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BF0B0C31-83B7-B86A-1FDA-929B051F4519}"/>
                  </a:ext>
                </a:extLst>
              </p:cNvPr>
              <p:cNvSpPr txBox="1"/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F0B0C31-83B7-B86A-1FDA-929B051F45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5C4EB947-2B00-01B1-897A-ECEC27DA1157}"/>
                  </a:ext>
                </a:extLst>
              </p:cNvPr>
              <p:cNvSpPr txBox="1"/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C4EB947-2B00-01B1-897A-ECEC27DA11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51812" y="2177351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4195ADE5-EFD2-2CE4-120C-33F17F06CF8E}"/>
              </a:ext>
            </a:extLst>
          </p:cNvPr>
          <p:cNvSpPr/>
          <p:nvPr/>
        </p:nvSpPr>
        <p:spPr>
          <a:xfrm>
            <a:off x="3342167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8BE88036-7171-C33B-3FF7-46CC4F7712FE}"/>
              </a:ext>
            </a:extLst>
          </p:cNvPr>
          <p:cNvSpPr/>
          <p:nvPr/>
        </p:nvSpPr>
        <p:spPr>
          <a:xfrm>
            <a:off x="4127204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B91DF6AC-A6FD-8CCC-389D-EA539B1BD52C}"/>
              </a:ext>
            </a:extLst>
          </p:cNvPr>
          <p:cNvSpPr/>
          <p:nvPr/>
        </p:nvSpPr>
        <p:spPr>
          <a:xfrm>
            <a:off x="3342166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="" xmlns:a16="http://schemas.microsoft.com/office/drawing/2014/main" id="{DB7CDD93-437A-87E6-0718-836C2DF6B602}"/>
              </a:ext>
            </a:extLst>
          </p:cNvPr>
          <p:cNvSpPr/>
          <p:nvPr/>
        </p:nvSpPr>
        <p:spPr>
          <a:xfrm>
            <a:off x="4127204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="" xmlns:a16="http://schemas.microsoft.com/office/drawing/2014/main" id="{E681BE14-7B2A-5CF4-E10E-A7DEB61B11C4}"/>
                  </a:ext>
                </a:extLst>
              </p:cNvPr>
              <p:cNvSpPr txBox="1"/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681BE14-7B2A-5CF4-E10E-A7DEB61B11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6851" y="2177351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CBEA5730-C4C7-738D-E0EB-6B0AC22615B6}"/>
                  </a:ext>
                </a:extLst>
              </p:cNvPr>
              <p:cNvSpPr txBox="1"/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BEA5730-C4C7-738D-E0EB-6B0AC22615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7203" y="2177351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56B2A9D7-DA78-68D1-4F93-5197D873212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945218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B6A2E247-2561-B91B-B93F-32FFD3EDDC5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735572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="" xmlns:a16="http://schemas.microsoft.com/office/drawing/2014/main" id="{6F1616EF-3A72-1259-59E2-590EFB39D927}"/>
              </a:ext>
            </a:extLst>
          </p:cNvPr>
          <p:cNvCxnSpPr>
            <a:stCxn id="7" idx="0"/>
            <a:endCxn id="11" idx="2"/>
          </p:cNvCxnSpPr>
          <p:nvPr/>
        </p:nvCxnSpPr>
        <p:spPr>
          <a:xfrm flipH="1" flipV="1">
            <a:off x="3538869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7B138E64-74E4-4721-F500-DB7B5398D8BA}"/>
              </a:ext>
            </a:extLst>
          </p:cNvPr>
          <p:cNvCxnSpPr>
            <a:stCxn id="10" idx="0"/>
            <a:endCxn id="12" idx="2"/>
          </p:cNvCxnSpPr>
          <p:nvPr/>
        </p:nvCxnSpPr>
        <p:spPr>
          <a:xfrm flipV="1">
            <a:off x="4323907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226899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3444CC4-1F8D-1221-E0A5-2DD7F9D11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347A3C2-C6DB-13A0-B8F1-546D0E455D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vários-para-um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426CAEBD-083F-C12D-7B6A-7E3651A6C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5"/>
            <a:ext cx="5971952" cy="4351338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fixo.</a:t>
            </a:r>
          </a:p>
          <a:p>
            <a:r>
              <a:rPr lang="pt-BR" dirty="0"/>
              <a:t>Exemplo de uso: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sentimentos.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Por exemplo, classificar o sentimento em uma mensagem de rede social.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sequência de palavras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sentimento.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C9302BEE-2F04-7DDD-4454-3518684E7D47}"/>
              </a:ext>
            </a:extLst>
          </p:cNvPr>
          <p:cNvSpPr/>
          <p:nvPr/>
        </p:nvSpPr>
        <p:spPr>
          <a:xfrm>
            <a:off x="356367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5C42A486-679A-4E3B-7913-6F218BD23A83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84137C4D-A821-FEC0-D8F6-AE7B0C2954FE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03ADAD61-EE48-411E-977D-6A94581807B9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D438ACA1-F975-B9C5-FACB-89F4912E372A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438ACA1-F975-B9C5-FACB-89F4912E3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7E8B84A3-F2D0-4ED5-997A-BF31055ECC10}"/>
                  </a:ext>
                </a:extLst>
              </p:cNvPr>
              <p:cNvSpPr txBox="1"/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E8B84A3-F2D0-4ED5-997A-BF31055ECC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6486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706B4863-BE44-D743-50A1-A3EEBEF19A35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E3232E91-DB17-6760-4C7B-BAFB26A059DE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E5FC7DDE-A424-45F8-3EC3-88B4FA815788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3996B64A-481D-45A0-6C85-EF8B17685CE6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E23C1344-9F0C-C2A8-439A-E28032095064}"/>
              </a:ext>
            </a:extLst>
          </p:cNvPr>
          <p:cNvCxnSpPr>
            <a:cxnSpLocks/>
            <a:stCxn id="10" idx="0"/>
          </p:cNvCxnSpPr>
          <p:nvPr/>
        </p:nvCxnSpPr>
        <p:spPr>
          <a:xfrm flipV="1">
            <a:off x="3760382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8B36DB85-1904-3FAD-DB09-F697141543B7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="" xmlns:a16="http://schemas.microsoft.com/office/drawing/2014/main" id="{BAFB01E3-9980-BEE6-183B-C3D6A9366013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AFB01E3-9980-BEE6-183B-C3D6A93660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85D741A9-7260-51BF-BD2E-69E1839284AD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="" xmlns:a16="http://schemas.microsoft.com/office/drawing/2014/main" id="{A840B1E8-BB78-B6D2-D8D6-825201C6243F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840B1E8-BB78-B6D2-D8D6-825201C624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="" xmlns:a16="http://schemas.microsoft.com/office/drawing/2014/main" id="{03AA0414-818E-6F6B-1BE6-D96E6EE87D8B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="" xmlns:a16="http://schemas.microsoft.com/office/drawing/2014/main" id="{86CC9551-6E4F-358E-26ED-41D46B38457B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3508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20F404BC-1C10-75A1-B4B9-0F07ABD9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9B0E4F9-E85F-5499-E6C5-4B935396A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6D63A1C2-4E07-2232-684D-8A7C66D92F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45891" y="1825624"/>
            <a:ext cx="6422062" cy="5032375"/>
          </a:xfrm>
        </p:spPr>
        <p:txBody>
          <a:bodyPr>
            <a:normAutofit/>
          </a:bodyPr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são iguais.</a:t>
            </a:r>
          </a:p>
          <a:p>
            <a:r>
              <a:rPr lang="pt-BR" dirty="0"/>
              <a:t>Exemplos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de vídeo em nível de quadro.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Contagem de tráfego: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Entrada: Imagem de carros em um semáforo.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Saída: quantos carros na imagem.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Etiquetagem gramatical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 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classe gramatical de cada palavra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endParaRPr lang="pt-BR" dirty="0"/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4995F72F-2BD9-38FB-B83A-AB47646799CC}"/>
              </a:ext>
            </a:extLst>
          </p:cNvPr>
          <p:cNvSpPr/>
          <p:nvPr/>
        </p:nvSpPr>
        <p:spPr>
          <a:xfrm>
            <a:off x="1988288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4A8E543B-2A6C-76EE-A90B-AF59A3BC4B35}"/>
              </a:ext>
            </a:extLst>
          </p:cNvPr>
          <p:cNvSpPr/>
          <p:nvPr/>
        </p:nvSpPr>
        <p:spPr>
          <a:xfrm>
            <a:off x="1988287" y="4929779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="" xmlns:a16="http://schemas.microsoft.com/office/drawing/2014/main" id="{D9813126-B789-1A77-F6A1-7A11925203A8}"/>
              </a:ext>
            </a:extLst>
          </p:cNvPr>
          <p:cNvCxnSpPr>
            <a:cxnSpLocks/>
            <a:stCxn id="6" idx="0"/>
            <a:endCxn id="5" idx="2"/>
          </p:cNvCxnSpPr>
          <p:nvPr/>
        </p:nvCxnSpPr>
        <p:spPr>
          <a:xfrm flipV="1">
            <a:off x="2184990" y="4462223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="" xmlns:a16="http://schemas.microsoft.com/office/drawing/2014/main" id="{150A4A27-B2A2-9AEE-E4C4-3E3FD4C84292}"/>
                  </a:ext>
                </a:extLst>
              </p:cNvPr>
              <p:cNvSpPr txBox="1"/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150A4A27-B2A2-9AEE-E4C4-3E3FD4C842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287" y="5287373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558C9C3B-60A4-C64D-B49B-1B1C9E194593}"/>
              </a:ext>
            </a:extLst>
          </p:cNvPr>
          <p:cNvSpPr/>
          <p:nvPr/>
        </p:nvSpPr>
        <p:spPr>
          <a:xfrm>
            <a:off x="2778642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7676B9C2-12DC-9ABF-3BAF-AC571AACC871}"/>
              </a:ext>
            </a:extLst>
          </p:cNvPr>
          <p:cNvSpPr/>
          <p:nvPr/>
        </p:nvSpPr>
        <p:spPr>
          <a:xfrm>
            <a:off x="3563679" y="3377702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46A19DB0-6685-2AD8-373E-D2F68ECAF744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381693" y="3919963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E1E13E0C-1119-C2C4-FCB5-4819B3CCF11B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172047" y="3919963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="" xmlns:a16="http://schemas.microsoft.com/office/drawing/2014/main" id="{6AE3F7AB-D78A-57A0-6D37-1952662B3091}"/>
              </a:ext>
            </a:extLst>
          </p:cNvPr>
          <p:cNvSpPr/>
          <p:nvPr/>
        </p:nvSpPr>
        <p:spPr>
          <a:xfrm>
            <a:off x="2778642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="" xmlns:a16="http://schemas.microsoft.com/office/drawing/2014/main" id="{8A6FCE55-45B7-948C-5BF5-B5109D06298E}"/>
                  </a:ext>
                </a:extLst>
              </p:cNvPr>
              <p:cNvSpPr txBox="1"/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A6FCE55-45B7-948C-5BF5-B5109D0629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8642" y="5293242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="" xmlns:a16="http://schemas.microsoft.com/office/drawing/2014/main" id="{628D5E02-FAD3-DE67-0AFB-5246C0981DBF}"/>
              </a:ext>
            </a:extLst>
          </p:cNvPr>
          <p:cNvSpPr/>
          <p:nvPr/>
        </p:nvSpPr>
        <p:spPr>
          <a:xfrm>
            <a:off x="3550388" y="493564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="" xmlns:a16="http://schemas.microsoft.com/office/drawing/2014/main" id="{360B5F50-7612-CF7D-5752-6D6B29496A45}"/>
                  </a:ext>
                </a:extLst>
              </p:cNvPr>
              <p:cNvSpPr txBox="1"/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360B5F50-7612-CF7D-5752-6D6B29496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8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Straight Arrow Connector 25">
            <a:extLst>
              <a:ext uri="{FF2B5EF4-FFF2-40B4-BE49-F238E27FC236}">
                <a16:creationId xmlns="" xmlns:a16="http://schemas.microsoft.com/office/drawing/2014/main" id="{134BE841-89F2-A2C4-C9B5-D0DB8124B0D6}"/>
              </a:ext>
            </a:extLst>
          </p:cNvPr>
          <p:cNvCxnSpPr>
            <a:cxnSpLocks/>
            <a:stCxn id="18" idx="0"/>
            <a:endCxn id="7" idx="2"/>
          </p:cNvCxnSpPr>
          <p:nvPr/>
        </p:nvCxnSpPr>
        <p:spPr>
          <a:xfrm flipV="1">
            <a:off x="2975345" y="4462223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="" xmlns:a16="http://schemas.microsoft.com/office/drawing/2014/main" id="{93135856-AF84-67C1-10D1-525E750AED6A}"/>
              </a:ext>
            </a:extLst>
          </p:cNvPr>
          <p:cNvCxnSpPr>
            <a:cxnSpLocks/>
            <a:stCxn id="22" idx="0"/>
            <a:endCxn id="10" idx="2"/>
          </p:cNvCxnSpPr>
          <p:nvPr/>
        </p:nvCxnSpPr>
        <p:spPr>
          <a:xfrm flipV="1">
            <a:off x="3747091" y="4462223"/>
            <a:ext cx="1329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EA502664-2B02-D8DD-2049-E6242569B361}"/>
              </a:ext>
            </a:extLst>
          </p:cNvPr>
          <p:cNvSpPr/>
          <p:nvPr/>
        </p:nvSpPr>
        <p:spPr>
          <a:xfrm>
            <a:off x="1974998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8A70192F-4EE8-A08F-E106-F257ECAA7DA0}"/>
              </a:ext>
            </a:extLst>
          </p:cNvPr>
          <p:cNvCxnSpPr>
            <a:endCxn id="8" idx="2"/>
          </p:cNvCxnSpPr>
          <p:nvPr/>
        </p:nvCxnSpPr>
        <p:spPr>
          <a:xfrm flipV="1">
            <a:off x="2171700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A02AA77B-A4A9-98E6-A431-1FF627F50371}"/>
                  </a:ext>
                </a:extLst>
              </p:cNvPr>
              <p:cNvSpPr txBox="1"/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02AA77B-A4A9-98E6-A431-1FF627F50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4996" y="217735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A69FB649-89CE-B9B7-1DA9-70653D12A0EB}"/>
              </a:ext>
            </a:extLst>
          </p:cNvPr>
          <p:cNvSpPr/>
          <p:nvPr/>
        </p:nvSpPr>
        <p:spPr>
          <a:xfrm>
            <a:off x="2765350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0535F41B-B1EC-9A7E-FDFC-47DBBCE4E7BC}"/>
              </a:ext>
            </a:extLst>
          </p:cNvPr>
          <p:cNvSpPr/>
          <p:nvPr/>
        </p:nvSpPr>
        <p:spPr>
          <a:xfrm>
            <a:off x="3550388" y="1819756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323C9920-DB11-694B-4711-8E46CF485FF0}"/>
                  </a:ext>
                </a:extLst>
              </p:cNvPr>
              <p:cNvSpPr txBox="1"/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23C9920-DB11-694B-4711-8E46CF485F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60035" y="217735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A1E7D38B-069D-1161-9EB1-AE548F7B17FD}"/>
                  </a:ext>
                </a:extLst>
              </p:cNvPr>
              <p:cNvSpPr txBox="1"/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A1E7D38B-069D-1161-9EB1-AE548F7B1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50387" y="2177351"/>
                <a:ext cx="393406" cy="369332"/>
              </a:xfrm>
              <a:prstGeom prst="rect">
                <a:avLst/>
              </a:prstGeom>
              <a:blipFill>
                <a:blip r:embed="rId8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="" xmlns:a16="http://schemas.microsoft.com/office/drawing/2014/main" id="{6E3989D9-DC44-B559-A01E-848ADB238AD5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2962053" y="2910146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="" xmlns:a16="http://schemas.microsoft.com/office/drawing/2014/main" id="{374BD4A0-F2CD-47D6-7C05-F5BABD485877}"/>
              </a:ext>
            </a:extLst>
          </p:cNvPr>
          <p:cNvCxnSpPr>
            <a:endCxn id="16" idx="2"/>
          </p:cNvCxnSpPr>
          <p:nvPr/>
        </p:nvCxnSpPr>
        <p:spPr>
          <a:xfrm flipV="1">
            <a:off x="3747091" y="2904277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26594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2F80CB-9E3E-541A-008D-49B810D2E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7693B55B-5A45-B168-45F1-33C226DBC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Aplicação: vários-para-vários assíncrono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9CC483E7-E17F-0BD3-09E3-C6956FD7A4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1" y="1825624"/>
            <a:ext cx="5971952" cy="5032375"/>
          </a:xfrm>
        </p:spPr>
        <p:txBody>
          <a:bodyPr/>
          <a:lstStyle/>
          <a:p>
            <a:r>
              <a:rPr lang="pt-BR" dirty="0"/>
              <a:t>Entrada de tamanho variável (sequência).</a:t>
            </a:r>
          </a:p>
          <a:p>
            <a:r>
              <a:rPr lang="pt-BR" dirty="0"/>
              <a:t>Saída de tamanho variável (sequência).</a:t>
            </a:r>
          </a:p>
          <a:p>
            <a:r>
              <a:rPr lang="pt-BR" dirty="0"/>
              <a:t>Entrada e saída não são sincronizadas.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Comprimentos de entrada e saída não são necessariamente iguais.</a:t>
            </a:r>
          </a:p>
          <a:p>
            <a:r>
              <a:rPr lang="pt-BR" dirty="0"/>
              <a:t>Exemplo de uso: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Tradução automática e </a:t>
            </a:r>
            <a:r>
              <a:rPr lang="pt-BR" dirty="0" err="1"/>
              <a:t>chatbots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Entrada: sequência de palavras.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Saída: sequência de palavras.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798C9BC5-15E8-FB86-A2FF-03CF2C96CB13}"/>
              </a:ext>
            </a:extLst>
          </p:cNvPr>
          <p:cNvSpPr/>
          <p:nvPr/>
        </p:nvSpPr>
        <p:spPr>
          <a:xfrm>
            <a:off x="2913321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63577D96-6FE7-F60B-ED7E-0CE5B6852522}"/>
              </a:ext>
            </a:extLst>
          </p:cNvPr>
          <p:cNvSpPr/>
          <p:nvPr/>
        </p:nvSpPr>
        <p:spPr>
          <a:xfrm>
            <a:off x="3703675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="" xmlns:a16="http://schemas.microsoft.com/office/drawing/2014/main" id="{C8E04DD1-F3A6-5114-B79F-4BC65F8FEA96}"/>
              </a:ext>
            </a:extLst>
          </p:cNvPr>
          <p:cNvSpPr/>
          <p:nvPr/>
        </p:nvSpPr>
        <p:spPr>
          <a:xfrm>
            <a:off x="4488712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="" xmlns:a16="http://schemas.microsoft.com/office/drawing/2014/main" id="{544DBCE3-F503-E62D-06A2-1F1E871B411F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3306726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="" xmlns:a16="http://schemas.microsoft.com/office/drawing/2014/main" id="{96DD0089-EB3B-2E96-D1AD-99C175C43B5D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4097080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8EBFA63A-7A7F-C301-161E-58CB3778B150}"/>
              </a:ext>
            </a:extLst>
          </p:cNvPr>
          <p:cNvSpPr/>
          <p:nvPr/>
        </p:nvSpPr>
        <p:spPr>
          <a:xfrm>
            <a:off x="2900031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C88EB1AD-6975-BCC1-C82D-8CF2AB176F0A}"/>
              </a:ext>
            </a:extLst>
          </p:cNvPr>
          <p:cNvCxnSpPr>
            <a:endCxn id="8" idx="2"/>
          </p:cNvCxnSpPr>
          <p:nvPr/>
        </p:nvCxnSpPr>
        <p:spPr>
          <a:xfrm flipV="1">
            <a:off x="3096733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="" xmlns:a16="http://schemas.microsoft.com/office/drawing/2014/main" id="{9C6940C0-6ABE-A439-AED8-8F3DA6633B44}"/>
                  </a:ext>
                </a:extLst>
              </p:cNvPr>
              <p:cNvSpPr txBox="1"/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C6940C0-6ABE-A439-AED8-8F3DA6633B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00029" y="2183220"/>
                <a:ext cx="393406" cy="369332"/>
              </a:xfrm>
              <a:prstGeom prst="rect">
                <a:avLst/>
              </a:prstGeom>
              <a:blipFill>
                <a:blip r:embed="rId2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="" xmlns:a16="http://schemas.microsoft.com/office/drawing/2014/main" id="{A6970E72-E9CD-203F-5D6D-CD2520CE5E69}"/>
              </a:ext>
            </a:extLst>
          </p:cNvPr>
          <p:cNvSpPr/>
          <p:nvPr/>
        </p:nvSpPr>
        <p:spPr>
          <a:xfrm>
            <a:off x="3690383" y="1831494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="" xmlns:a16="http://schemas.microsoft.com/office/drawing/2014/main" id="{DFFB94F9-963A-CC29-C51E-098A134A1737}"/>
              </a:ext>
            </a:extLst>
          </p:cNvPr>
          <p:cNvSpPr/>
          <p:nvPr/>
        </p:nvSpPr>
        <p:spPr>
          <a:xfrm>
            <a:off x="4475421" y="1825625"/>
            <a:ext cx="393405" cy="108452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="" xmlns:a16="http://schemas.microsoft.com/office/drawing/2014/main" id="{C270900E-2C0E-C040-BAF6-1BBA1B85CAE2}"/>
                  </a:ext>
                </a:extLst>
              </p:cNvPr>
              <p:cNvSpPr txBox="1"/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270900E-2C0E-C040-BAF6-1BBA1B85C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5068" y="2183220"/>
                <a:ext cx="393406" cy="369332"/>
              </a:xfrm>
              <a:prstGeom prst="rect">
                <a:avLst/>
              </a:prstGeom>
              <a:blipFill>
                <a:blip r:embed="rId3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="" xmlns:a16="http://schemas.microsoft.com/office/drawing/2014/main" id="{53791838-1266-112F-718E-55D7F92583EF}"/>
                  </a:ext>
                </a:extLst>
              </p:cNvPr>
              <p:cNvSpPr txBox="1"/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3791838-1266-112F-718E-55D7F92583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5420" y="2183220"/>
                <a:ext cx="393406" cy="369332"/>
              </a:xfrm>
              <a:prstGeom prst="rect">
                <a:avLst/>
              </a:prstGeom>
              <a:blipFill>
                <a:blip r:embed="rId4"/>
                <a:stretch>
                  <a:fillRect b="-65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="" xmlns:a16="http://schemas.microsoft.com/office/drawing/2014/main" id="{085B9A2E-6534-2437-D967-5DF1514BF9F3}"/>
              </a:ext>
            </a:extLst>
          </p:cNvPr>
          <p:cNvCxnSpPr>
            <a:endCxn id="13" idx="2"/>
          </p:cNvCxnSpPr>
          <p:nvPr/>
        </p:nvCxnSpPr>
        <p:spPr>
          <a:xfrm flipH="1" flipV="1">
            <a:off x="3887086" y="2916015"/>
            <a:ext cx="1" cy="4675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="" xmlns:a16="http://schemas.microsoft.com/office/drawing/2014/main" id="{2668834C-FD74-F5C2-962C-47E7E949C549}"/>
              </a:ext>
            </a:extLst>
          </p:cNvPr>
          <p:cNvCxnSpPr>
            <a:endCxn id="16" idx="2"/>
          </p:cNvCxnSpPr>
          <p:nvPr/>
        </p:nvCxnSpPr>
        <p:spPr>
          <a:xfrm flipV="1">
            <a:off x="4672124" y="2910146"/>
            <a:ext cx="0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F078DBB0-1AC8-EAEA-D2B3-81EBA1BC73AB}"/>
              </a:ext>
            </a:extLst>
          </p:cNvPr>
          <p:cNvSpPr/>
          <p:nvPr/>
        </p:nvSpPr>
        <p:spPr>
          <a:xfrm>
            <a:off x="1324640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="" xmlns:a16="http://schemas.microsoft.com/office/drawing/2014/main" id="{7B7F1159-D526-3036-9F30-22158503DAFC}"/>
              </a:ext>
            </a:extLst>
          </p:cNvPr>
          <p:cNvSpPr/>
          <p:nvPr/>
        </p:nvSpPr>
        <p:spPr>
          <a:xfrm>
            <a:off x="2114994" y="3383571"/>
            <a:ext cx="393405" cy="1084521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="" xmlns:a16="http://schemas.microsoft.com/office/drawing/2014/main" id="{1E7B0A6F-5745-009B-E429-C10DA86AAFB2}"/>
              </a:ext>
            </a:extLst>
          </p:cNvPr>
          <p:cNvCxnSpPr>
            <a:stCxn id="4" idx="3"/>
            <a:endCxn id="15" idx="1"/>
          </p:cNvCxnSpPr>
          <p:nvPr/>
        </p:nvCxnSpPr>
        <p:spPr>
          <a:xfrm>
            <a:off x="1718045" y="3925832"/>
            <a:ext cx="39694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="" xmlns:a16="http://schemas.microsoft.com/office/drawing/2014/main" id="{102BBC63-2BC0-6A02-4BFE-A72CD982FBB0}"/>
              </a:ext>
            </a:extLst>
          </p:cNvPr>
          <p:cNvCxnSpPr>
            <a:stCxn id="15" idx="3"/>
          </p:cNvCxnSpPr>
          <p:nvPr/>
        </p:nvCxnSpPr>
        <p:spPr>
          <a:xfrm>
            <a:off x="2508399" y="3925832"/>
            <a:ext cx="39163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="" xmlns:a16="http://schemas.microsoft.com/office/drawing/2014/main" id="{5D3FFC8E-6BAF-6DF7-526E-C081A5A48F93}"/>
              </a:ext>
            </a:extLst>
          </p:cNvPr>
          <p:cNvSpPr/>
          <p:nvPr/>
        </p:nvSpPr>
        <p:spPr>
          <a:xfrm>
            <a:off x="1320651" y="4950378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="" xmlns:a16="http://schemas.microsoft.com/office/drawing/2014/main" id="{1401AD97-C582-4298-BF25-40AEF15257C9}"/>
              </a:ext>
            </a:extLst>
          </p:cNvPr>
          <p:cNvCxnSpPr>
            <a:cxnSpLocks/>
            <a:stCxn id="31" idx="0"/>
            <a:endCxn id="4" idx="2"/>
          </p:cNvCxnSpPr>
          <p:nvPr/>
        </p:nvCxnSpPr>
        <p:spPr>
          <a:xfrm flipV="1">
            <a:off x="1517354" y="4468092"/>
            <a:ext cx="3989" cy="4822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="" xmlns:a16="http://schemas.microsoft.com/office/drawing/2014/main" id="{0ECCB039-D660-E729-AA13-2E270370247F}"/>
                  </a:ext>
                </a:extLst>
              </p:cNvPr>
              <p:cNvSpPr txBox="1"/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ECCB039-D660-E729-AA13-2E2703702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219" y="5293242"/>
                <a:ext cx="393406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="" xmlns:a16="http://schemas.microsoft.com/office/drawing/2014/main" id="{61795796-1CB2-CAB5-F67E-063C07C2A635}"/>
              </a:ext>
            </a:extLst>
          </p:cNvPr>
          <p:cNvSpPr/>
          <p:nvPr/>
        </p:nvSpPr>
        <p:spPr>
          <a:xfrm>
            <a:off x="2114994" y="4980504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="" xmlns:a16="http://schemas.microsoft.com/office/drawing/2014/main" id="{FC51BB95-2E57-AE1B-0448-EEF63C3319E4}"/>
                  </a:ext>
                </a:extLst>
              </p:cNvPr>
              <p:cNvSpPr txBox="1"/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FC51BB95-2E57-AE1B-0448-EEF63C3319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574" y="5299111"/>
                <a:ext cx="393406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35">
            <a:extLst>
              <a:ext uri="{FF2B5EF4-FFF2-40B4-BE49-F238E27FC236}">
                <a16:creationId xmlns="" xmlns:a16="http://schemas.microsoft.com/office/drawing/2014/main" id="{C5443291-1F22-B419-C44A-99E58D94E756}"/>
              </a:ext>
            </a:extLst>
          </p:cNvPr>
          <p:cNvSpPr/>
          <p:nvPr/>
        </p:nvSpPr>
        <p:spPr>
          <a:xfrm>
            <a:off x="2913320" y="4941517"/>
            <a:ext cx="393405" cy="108452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="" xmlns:a16="http://schemas.microsoft.com/office/drawing/2014/main" id="{94029703-0659-3912-FB5F-EE18C24BD3C7}"/>
                  </a:ext>
                </a:extLst>
              </p:cNvPr>
              <p:cNvSpPr txBox="1"/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4029703-0659-3912-FB5F-EE18C24BD3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13320" y="5299111"/>
                <a:ext cx="39340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8" name="Straight Arrow Connector 37">
            <a:extLst>
              <a:ext uri="{FF2B5EF4-FFF2-40B4-BE49-F238E27FC236}">
                <a16:creationId xmlns="" xmlns:a16="http://schemas.microsoft.com/office/drawing/2014/main" id="{049CB08D-F5AA-E52C-D64E-AC29F0A74978}"/>
              </a:ext>
            </a:extLst>
          </p:cNvPr>
          <p:cNvCxnSpPr>
            <a:cxnSpLocks/>
            <a:stCxn id="34" idx="0"/>
            <a:endCxn id="15" idx="2"/>
          </p:cNvCxnSpPr>
          <p:nvPr/>
        </p:nvCxnSpPr>
        <p:spPr>
          <a:xfrm flipV="1">
            <a:off x="2311697" y="4468092"/>
            <a:ext cx="0" cy="51241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="" xmlns:a16="http://schemas.microsoft.com/office/drawing/2014/main" id="{8D3C2576-5153-3012-FA03-0337C7695948}"/>
              </a:ext>
            </a:extLst>
          </p:cNvPr>
          <p:cNvCxnSpPr>
            <a:cxnSpLocks/>
            <a:stCxn id="36" idx="0"/>
            <a:endCxn id="5" idx="2"/>
          </p:cNvCxnSpPr>
          <p:nvPr/>
        </p:nvCxnSpPr>
        <p:spPr>
          <a:xfrm flipV="1">
            <a:off x="3110023" y="4468092"/>
            <a:ext cx="1" cy="4734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811313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rnn.ipynb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=""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=""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=""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=""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=""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05788333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3"/>
              </a:rPr>
              <a:t>Lista #11 - RNN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21703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9C8F1BEC-82EA-8E7D-59D1-DE7E34F444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="" xmlns:a16="http://schemas.microsoft.com/office/drawing/2014/main" id="{C86FB9B7-731C-2994-71E3-590F6E30894D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6196307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="" xmlns:a16="http://schemas.microsoft.com/office/drawing/2014/main" id="{388A46A3-09D1-BF84-46BF-5DD0CFCB54BB}"/>
              </a:ext>
            </a:extLst>
          </p:cNvPr>
          <p:cNvGrpSpPr/>
          <p:nvPr/>
        </p:nvGrpSpPr>
        <p:grpSpPr>
          <a:xfrm>
            <a:off x="3630565" y="1067128"/>
            <a:ext cx="2259869" cy="4507363"/>
            <a:chOff x="3630565" y="1067128"/>
            <a:chExt cx="2259869" cy="450736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6023DD78-A989-E94C-DAE1-B296D3C4E21C}"/>
                    </a:ext>
                  </a:extLst>
                </p:cNvPr>
                <p:cNvSpPr/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6023DD78-A989-E94C-DAE1-B296D3C4E21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6800" y="1710993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3D42FE05-5457-F925-05EF-0E3701418F8C}"/>
                    </a:ext>
                  </a:extLst>
                </p:cNvPr>
                <p:cNvSpPr/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3D42FE05-5457-F925-05EF-0E3701418F8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50268" y="4478548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28D2664B-9505-156A-4753-DDE3DEC9FD22}"/>
                    </a:ext>
                  </a:extLst>
                </p:cNvPr>
                <p:cNvSpPr/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28D2664B-9505-156A-4753-DDE3DEC9FD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65362" y="3198065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BAAA4727-42FC-D852-70A3-FE7D6EFC060F}"/>
                </a:ext>
              </a:extLst>
            </p:cNvPr>
            <p:cNvSpPr/>
            <p:nvPr/>
          </p:nvSpPr>
          <p:spPr>
            <a:xfrm>
              <a:off x="3672040" y="106712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600" b="1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="" xmlns:a16="http://schemas.microsoft.com/office/drawing/2014/main" id="{4F0F4DCF-1128-7141-872A-5150C966E5B4}"/>
                </a:ext>
              </a:extLst>
            </p:cNvPr>
            <p:cNvSpPr/>
            <p:nvPr/>
          </p:nvSpPr>
          <p:spPr>
            <a:xfrm>
              <a:off x="3672040" y="3216065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="" xmlns:a16="http://schemas.microsoft.com/office/drawing/2014/main" id="{9B044B29-E334-B283-ECE9-172FFEED329B}"/>
                </a:ext>
              </a:extLst>
            </p:cNvPr>
            <p:cNvSpPr/>
            <p:nvPr/>
          </p:nvSpPr>
          <p:spPr>
            <a:xfrm>
              <a:off x="3672040" y="514249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312629E1-FE97-AB15-90EC-002877C4697A}"/>
                    </a:ext>
                  </a:extLst>
                </p:cNvPr>
                <p:cNvSpPr/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312629E1-FE97-AB15-90EC-002877C4697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67544" y="2511444"/>
                  <a:ext cx="546518" cy="468000"/>
                </a:xfrm>
                <a:prstGeom prst="diamond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CA3B853E-0B5B-6325-4CC5-A2C4E5EE4A2A}"/>
                    </a:ext>
                  </a:extLst>
                </p:cNvPr>
                <p:cNvSpPr/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CA3B853E-0B5B-6325-4CC5-A2C4E5EE4A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64496" y="3850605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43F79C63-8A97-3798-0A1A-3B97F54CBEDF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3884268" y="494654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1DE13DB6-EB3A-33B1-B9CD-0D058C9C2D69}"/>
                </a:ext>
              </a:extLst>
            </p:cNvPr>
            <p:cNvCxnSpPr/>
            <p:nvPr/>
          </p:nvCxnSpPr>
          <p:spPr>
            <a:xfrm flipH="1" flipV="1">
              <a:off x="3888040" y="428260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E68AB800-6BC7-A115-99F7-7F9B7DBA3E4F}"/>
                </a:ext>
              </a:extLst>
            </p:cNvPr>
            <p:cNvCxnSpPr/>
            <p:nvPr/>
          </p:nvCxnSpPr>
          <p:spPr>
            <a:xfrm flipH="1" flipV="1">
              <a:off x="3884268" y="3654662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19812C75-10B2-9725-A4FB-608050339CDD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3888040" y="2178993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245F456D-9193-75AC-AD0C-F0AEF65F581F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4714062" y="2745444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D7679F52-FF4E-A676-77F3-69261169E611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3900740" y="2745444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48139367-BD98-8B0F-B273-9E6711E213AE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4297659" y="3464902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F8353AC8-4824-D852-D532-76B054942D98}"/>
                </a:ext>
              </a:extLst>
            </p:cNvPr>
            <p:cNvCxnSpPr/>
            <p:nvPr/>
          </p:nvCxnSpPr>
          <p:spPr>
            <a:xfrm flipH="1" flipV="1">
              <a:off x="3890883" y="150845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="" xmlns:a16="http://schemas.microsoft.com/office/drawing/2014/main" id="{03C120BA-79E8-ADD5-3D67-6C901D8D1494}"/>
                    </a:ext>
                  </a:extLst>
                </p:cNvPr>
                <p:cNvSpPr txBox="1"/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18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8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03C120BA-79E8-ADD5-3D67-6C901D8D1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1198" y="1083900"/>
                  <a:ext cx="578748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158" t="-6667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="" xmlns:a16="http://schemas.microsoft.com/office/drawing/2014/main" id="{B9898A35-5D27-3AFD-DCEC-B3870EE9A20C}"/>
                    </a:ext>
                  </a:extLst>
                </p:cNvPr>
                <p:cNvSpPr txBox="1"/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898A35-5D27-3AFD-DCEC-B3870EE9A2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0565" y="5177044"/>
                  <a:ext cx="578748" cy="369332"/>
                </a:xfrm>
                <a:prstGeom prst="rect">
                  <a:avLst/>
                </a:prstGeom>
                <a:blipFill>
                  <a:blip r:embed="rId8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2EAF4EBF-06B1-79A7-1B72-595DB550A38F}"/>
                    </a:ext>
                  </a:extLst>
                </p:cNvPr>
                <p:cNvSpPr txBox="1"/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2EAF4EBF-06B1-79A7-1B72-595DB550A38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4353" y="3236362"/>
                  <a:ext cx="578748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4211" b="-1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="" xmlns:a16="http://schemas.microsoft.com/office/drawing/2014/main" id="{EF8E314D-D94B-E03E-107A-3344F9B3AAC5}"/>
                    </a:ext>
                  </a:extLst>
                </p:cNvPr>
                <p:cNvSpPr txBox="1"/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8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8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EF8E314D-D94B-E03E-107A-3344F9B3AA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5741" y="2755189"/>
                  <a:ext cx="984693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2484" b="-1475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1427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6" name="Group 65">
            <a:extLst>
              <a:ext uri="{FF2B5EF4-FFF2-40B4-BE49-F238E27FC236}">
                <a16:creationId xmlns="" xmlns:a16="http://schemas.microsoft.com/office/drawing/2014/main" id="{22ECFCAF-AE04-0921-2229-1CAFB376C6C4}"/>
              </a:ext>
            </a:extLst>
          </p:cNvPr>
          <p:cNvGrpSpPr/>
          <p:nvPr/>
        </p:nvGrpSpPr>
        <p:grpSpPr>
          <a:xfrm>
            <a:off x="776817" y="1394981"/>
            <a:ext cx="7495804" cy="4521741"/>
            <a:chOff x="776817" y="1394981"/>
            <a:chExt cx="7495804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>
                  <a:extLst>
                    <a:ext uri="{FF2B5EF4-FFF2-40B4-BE49-F238E27FC236}">
                      <a16:creationId xmlns="" xmlns:a16="http://schemas.microsoft.com/office/drawing/2014/main" id="{D50E87A4-4DE1-5096-E2D7-2696ABAE4BD9}"/>
                    </a:ext>
                  </a:extLst>
                </p:cNvPr>
                <p:cNvSpPr/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D50E87A4-4DE1-5096-E2D7-2696ABAE4BD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3349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ectangle 5">
                  <a:extLst>
                    <a:ext uri="{FF2B5EF4-FFF2-40B4-BE49-F238E27FC236}">
                      <a16:creationId xmlns="" xmlns:a16="http://schemas.microsoft.com/office/drawing/2014/main" id="{5A8CCC43-1D42-7F2F-E428-E85BBDA67D37}"/>
                    </a:ext>
                  </a:extLst>
                </p:cNvPr>
                <p:cNvSpPr/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5A8CCC43-1D42-7F2F-E428-E85BBDA67D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817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Rectangle 6">
                  <a:extLst>
                    <a:ext uri="{FF2B5EF4-FFF2-40B4-BE49-F238E27FC236}">
                      <a16:creationId xmlns="" xmlns:a16="http://schemas.microsoft.com/office/drawing/2014/main" id="{60C4F936-CDC1-6A01-F955-FDED61DA084A}"/>
                    </a:ext>
                  </a:extLst>
                </p:cNvPr>
                <p:cNvSpPr/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60C4F936-CDC1-6A01-F955-FDED61DA084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911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Oval 7">
                  <a:extLst>
                    <a:ext uri="{FF2B5EF4-FFF2-40B4-BE49-F238E27FC236}">
                      <a16:creationId xmlns="" xmlns:a16="http://schemas.microsoft.com/office/drawing/2014/main" id="{410E7DC3-8E48-A5D7-D205-DC7611FFE8EE}"/>
                    </a:ext>
                  </a:extLst>
                </p:cNvPr>
                <p:cNvSpPr/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6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8" name="Oval 7">
                  <a:extLst>
                    <a:ext uri="{FF2B5EF4-FFF2-40B4-BE49-F238E27FC236}">
                      <a16:creationId xmlns:a16="http://schemas.microsoft.com/office/drawing/2014/main" id="{410E7DC3-8E48-A5D7-D205-DC7611FFE8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1409359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12500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Oval 8">
                  <a:extLst>
                    <a:ext uri="{FF2B5EF4-FFF2-40B4-BE49-F238E27FC236}">
                      <a16:creationId xmlns="" xmlns:a16="http://schemas.microsoft.com/office/drawing/2014/main" id="{967F25C8-3A9B-7637-C6F3-B9857C012763}"/>
                    </a:ext>
                  </a:extLst>
                </p:cNvPr>
                <p:cNvSpPr/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i="1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b="1" dirty="0"/>
                </a:p>
              </p:txBody>
            </p:sp>
          </mc:Choice>
          <mc:Fallback xmlns=""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967F25C8-3A9B-7637-C6F3-B9857C01276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3558296"/>
                  <a:ext cx="432000" cy="432000"/>
                </a:xfrm>
                <a:prstGeom prst="ellipse">
                  <a:avLst/>
                </a:prstGeom>
                <a:blipFill>
                  <a:blip r:embed="rId6"/>
                  <a:stretch>
                    <a:fillRect l="-13889" r="-694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Oval 9">
                  <a:extLst>
                    <a:ext uri="{FF2B5EF4-FFF2-40B4-BE49-F238E27FC236}">
                      <a16:creationId xmlns="" xmlns:a16="http://schemas.microsoft.com/office/drawing/2014/main" id="{CC6B1917-7E5F-F008-0FC7-4FE6D71A2353}"/>
                    </a:ext>
                  </a:extLst>
                </p:cNvPr>
                <p:cNvSpPr/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6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6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CC6B1917-7E5F-F008-0FC7-4FE6D71A235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8589" y="5484722"/>
                  <a:ext cx="432000" cy="432000"/>
                </a:xfrm>
                <a:prstGeom prst="ellipse">
                  <a:avLst/>
                </a:prstGeom>
                <a:blipFill>
                  <a:blip r:embed="rId7"/>
                  <a:stretch>
                    <a:fillRect l="-6944" r="-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Diamond 10">
                  <a:extLst>
                    <a:ext uri="{FF2B5EF4-FFF2-40B4-BE49-F238E27FC236}">
                      <a16:creationId xmlns="" xmlns:a16="http://schemas.microsoft.com/office/drawing/2014/main" id="{60284885-263A-F227-A49B-F9CB80C834EB}"/>
                    </a:ext>
                  </a:extLst>
                </p:cNvPr>
                <p:cNvSpPr/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Diamond 10">
                  <a:extLst>
                    <a:ext uri="{FF2B5EF4-FFF2-40B4-BE49-F238E27FC236}">
                      <a16:creationId xmlns:a16="http://schemas.microsoft.com/office/drawing/2014/main" id="{60284885-263A-F227-A49B-F9CB80C834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4093" y="2853675"/>
                  <a:ext cx="546518" cy="468000"/>
                </a:xfrm>
                <a:prstGeom prst="diamond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Oval 11">
                  <a:extLst>
                    <a:ext uri="{FF2B5EF4-FFF2-40B4-BE49-F238E27FC236}">
                      <a16:creationId xmlns="" xmlns:a16="http://schemas.microsoft.com/office/drawing/2014/main" id="{079DA998-9F52-469B-DD25-D55FBEE92922}"/>
                    </a:ext>
                  </a:extLst>
                </p:cNvPr>
                <p:cNvSpPr/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079DA998-9F52-469B-DD25-D55FBEE929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1045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6E1ADF88-3F46-3F6C-D44A-25CFCFF58380}"/>
                </a:ext>
              </a:extLst>
            </p:cNvPr>
            <p:cNvCxnSpPr>
              <a:stCxn id="10" idx="0"/>
              <a:endCxn id="6" idx="2"/>
            </p:cNvCxnSpPr>
            <p:nvPr/>
          </p:nvCxnSpPr>
          <p:spPr>
            <a:xfrm flipH="1" flipV="1">
              <a:off x="1010817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="" xmlns:a16="http://schemas.microsoft.com/office/drawing/2014/main" id="{4213198D-DC17-2470-5AB4-FBACBBC41374}"/>
                </a:ext>
              </a:extLst>
            </p:cNvPr>
            <p:cNvCxnSpPr/>
            <p:nvPr/>
          </p:nvCxnSpPr>
          <p:spPr>
            <a:xfrm flipH="1" flipV="1">
              <a:off x="1014589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="" xmlns:a16="http://schemas.microsoft.com/office/drawing/2014/main" id="{E2EEB733-16FD-5318-5CC4-8001B20FED06}"/>
                </a:ext>
              </a:extLst>
            </p:cNvPr>
            <p:cNvCxnSpPr/>
            <p:nvPr/>
          </p:nvCxnSpPr>
          <p:spPr>
            <a:xfrm flipH="1" flipV="1">
              <a:off x="1010817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134D4DC2-A277-FD4E-40F5-DE2014B8CF64}"/>
                </a:ext>
              </a:extLst>
            </p:cNvPr>
            <p:cNvCxnSpPr>
              <a:stCxn id="9" idx="0"/>
              <a:endCxn id="5" idx="2"/>
            </p:cNvCxnSpPr>
            <p:nvPr/>
          </p:nvCxnSpPr>
          <p:spPr>
            <a:xfrm flipV="1">
              <a:off x="1014589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Connector: Elbow 16">
              <a:extLst>
                <a:ext uri="{FF2B5EF4-FFF2-40B4-BE49-F238E27FC236}">
                  <a16:creationId xmlns="" xmlns:a16="http://schemas.microsoft.com/office/drawing/2014/main" id="{80866249-EC15-EB3A-E296-1474E5364721}"/>
                </a:ext>
              </a:extLst>
            </p:cNvPr>
            <p:cNvCxnSpPr>
              <a:stCxn id="11" idx="3"/>
              <a:endCxn id="7" idx="0"/>
            </p:cNvCxnSpPr>
            <p:nvPr/>
          </p:nvCxnSpPr>
          <p:spPr>
            <a:xfrm>
              <a:off x="1840611" y="3087675"/>
              <a:ext cx="185300" cy="45262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2DC952F7-2D10-9433-7DE4-21443557DCB2}"/>
                </a:ext>
              </a:extLst>
            </p:cNvPr>
            <p:cNvCxnSpPr>
              <a:stCxn id="11" idx="1"/>
            </p:cNvCxnSpPr>
            <p:nvPr/>
          </p:nvCxnSpPr>
          <p:spPr>
            <a:xfrm flipH="1">
              <a:off x="1027289" y="3087675"/>
              <a:ext cx="266804" cy="0"/>
            </a:xfrm>
            <a:prstGeom prst="line">
              <a:avLst/>
            </a:prstGeom>
            <a:ln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CA1FB7FE-64DA-AD96-0437-50FF891D4C76}"/>
                </a:ext>
              </a:extLst>
            </p:cNvPr>
            <p:cNvCxnSpPr>
              <a:cxnSpLocks/>
              <a:stCxn id="7" idx="2"/>
              <a:endCxn id="12" idx="6"/>
            </p:cNvCxnSpPr>
            <p:nvPr/>
          </p:nvCxnSpPr>
          <p:spPr>
            <a:xfrm rot="5400000">
              <a:off x="1424208" y="3807133"/>
              <a:ext cx="400540" cy="802866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0D7B5B44-7EE7-8F6D-8655-20CC522D805D}"/>
                </a:ext>
              </a:extLst>
            </p:cNvPr>
            <p:cNvCxnSpPr/>
            <p:nvPr/>
          </p:nvCxnSpPr>
          <p:spPr>
            <a:xfrm flipH="1" flipV="1">
              <a:off x="1017432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="" xmlns:a16="http://schemas.microsoft.com/office/drawing/2014/main" id="{3F732168-587A-F518-C9A0-C396F786016E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732168-587A-F518-C9A0-C396F78601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="" xmlns:a16="http://schemas.microsoft.com/office/drawing/2014/main" id="{DF8C03E3-8716-2E6D-369B-AC1813574A57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8C03E3-8716-2E6D-369B-AC1813574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="" xmlns:a16="http://schemas.microsoft.com/office/drawing/2014/main" id="{E2D972F1-922C-BE5B-4DE2-1F83A9F164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E2D972F1-922C-BE5B-4DE2-1F83A9F164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="" xmlns:a16="http://schemas.microsoft.com/office/drawing/2014/main" id="{AD295B7E-C267-873F-E0E0-6F754810CBE3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="" xmlns:a16="http://schemas.microsoft.com/office/drawing/2014/main" id="{48BC489B-02C6-E486-E972-34A1CF1476C7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="" xmlns:a16="http://schemas.microsoft.com/office/drawing/2014/main" id="{22F39AD1-94B7-7A64-F11A-A209AC4FBCED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="" xmlns:a16="http://schemas.microsoft.com/office/drawing/2014/main" id="{9ADE25A5-BE1D-ABA0-A628-A6BB52EC7BCB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9ADE25A5-BE1D-ABA0-A628-A6BB52EC7BC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="" xmlns:a16="http://schemas.microsoft.com/office/drawing/2014/main" id="{A265BF78-156E-E80F-64A8-219A58A58CD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DBAA1E31-4ACF-4A4A-4878-2FDC1544D4AC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556BC459-E07F-8B38-40B7-C40DE6F65CCC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="" xmlns:a16="http://schemas.microsoft.com/office/drawing/2014/main" id="{C1BDF5E7-1B84-C21C-89E8-5BBB07E38580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="" xmlns:a16="http://schemas.microsoft.com/office/drawing/2014/main" id="{8712AE4D-2FE9-5832-6870-304083EF637F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="" xmlns:a16="http://schemas.microsoft.com/office/drawing/2014/main" id="{2B4E3A99-2587-3850-4484-D40AF1A376B3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="" xmlns:a16="http://schemas.microsoft.com/office/drawing/2014/main" id="{5EE8A078-E420-65CE-F198-2ACDE8F319E7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="" xmlns:a16="http://schemas.microsoft.com/office/drawing/2014/main" id="{B64B2562-9B66-F9DC-AC17-84E794F0C2A4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64B2562-9B66-F9DC-AC17-84E794F0C2A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13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="" xmlns:a16="http://schemas.microsoft.com/office/drawing/2014/main" id="{C935B77A-2A90-8654-7AA4-487ED72D18B7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C935B77A-2A90-8654-7AA4-487ED72D18B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14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="" xmlns:a16="http://schemas.microsoft.com/office/drawing/2014/main" id="{CD41D7EC-FEBE-0970-5028-78102734AEDB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D41D7EC-FEBE-0970-5028-78102734AED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15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="" xmlns:a16="http://schemas.microsoft.com/office/drawing/2014/main" id="{08C12D3D-1458-CB06-00FF-813305E88984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2AC7B9B4-2A7C-64AA-026F-7DB52BAED14B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="" xmlns:a16="http://schemas.microsoft.com/office/drawing/2014/main" id="{033A37FD-3D2D-1C32-A21B-3476BA69473A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="" xmlns:a16="http://schemas.microsoft.com/office/drawing/2014/main" id="{39CDF73B-805C-E8B7-7546-C55D8F1C08F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39CDF73B-805C-E8B7-7546-C55D8F1C08F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16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="" xmlns:a16="http://schemas.microsoft.com/office/drawing/2014/main" id="{D03D73B0-F40C-EA41-E76B-E7EB0E170398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="" xmlns:a16="http://schemas.microsoft.com/office/drawing/2014/main" id="{001566B3-ACB2-0F70-F410-8B26149B92AA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A2E71A66-C086-B192-CBF8-A6ADCDE67B96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="" xmlns:a16="http://schemas.microsoft.com/office/drawing/2014/main" id="{44DBF132-C67B-43B1-8396-02C753C33482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="" xmlns:a16="http://schemas.microsoft.com/office/drawing/2014/main" id="{06DC19FF-C6CB-E2FF-D08F-2EED992C1F16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="" xmlns:a16="http://schemas.microsoft.com/office/drawing/2014/main" id="{81526F28-5C26-E6E7-DB90-96E6E4383D7E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="" xmlns:a16="http://schemas.microsoft.com/office/drawing/2014/main" id="{47D4ECCA-1B5E-7F2C-A9FC-B18B5CB0BADE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="" xmlns:a16="http://schemas.microsoft.com/office/drawing/2014/main" id="{6F8EB797-5698-E042-FF57-E65BBC096EB6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6F8EB797-5698-E042-FF57-E65BBC096E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7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="" xmlns:a16="http://schemas.microsoft.com/office/drawing/2014/main" id="{41D8D43E-E48E-C188-72E9-121AEB1D37C4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1D8D43E-E48E-C188-72E9-121AEB1D37C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8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="" xmlns:a16="http://schemas.microsoft.com/office/drawing/2014/main" id="{473AF7E6-4193-2A83-11DB-56A80EAC8C6E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473AF7E6-4193-2A83-11DB-56A80EAC8C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9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="" xmlns:a16="http://schemas.microsoft.com/office/drawing/2014/main" id="{4CE11F32-F73C-593D-2BB1-23924A5693E0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="" xmlns:a16="http://schemas.microsoft.com/office/drawing/2014/main" id="{795687D3-C897-50E8-7FD2-2C5BAA88152E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62CE4D63-E952-565F-A041-5FE4F250C5CE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="" xmlns:a16="http://schemas.microsoft.com/office/drawing/2014/main" id="{86EEAEB3-B546-95C8-F54D-9562C3C46A5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86EEAEB3-B546-95C8-F54D-9562C3C46A5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="" xmlns:a16="http://schemas.microsoft.com/office/drawing/2014/main" id="{3080287C-8306-9C65-7A6F-2D218C99C919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554A301A-E6EA-C46C-78E5-5942556E42DF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="" xmlns:a16="http://schemas.microsoft.com/office/drawing/2014/main" id="{F1FBB8CC-7B58-3828-8D59-845FC6145CD3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="" xmlns:a16="http://schemas.microsoft.com/office/drawing/2014/main" id="{112EE4C8-C51C-8DBB-3C89-672F8D8D53B5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="" xmlns:a16="http://schemas.microsoft.com/office/drawing/2014/main" id="{CBB9CBD8-9F5B-3611-67FF-D958304DF83A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="" xmlns:a16="http://schemas.microsoft.com/office/drawing/2014/main" id="{729D2BFC-99F1-AA14-B4EB-0843932843B9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="" xmlns:a16="http://schemas.microsoft.com/office/drawing/2014/main" id="{45188B31-976F-6366-AAD8-A63C479F343F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="" xmlns:a16="http://schemas.microsoft.com/office/drawing/2014/main" id="{693E3011-495E-7E76-8871-F30E1F5C8088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6" name="Arrow: Right 85">
              <a:extLst>
                <a:ext uri="{FF2B5EF4-FFF2-40B4-BE49-F238E27FC236}">
                  <a16:creationId xmlns="" xmlns:a16="http://schemas.microsoft.com/office/drawing/2014/main" id="{19912397-A908-9D98-7A8E-1257E21D0881}"/>
                </a:ext>
              </a:extLst>
            </p:cNvPr>
            <p:cNvSpPr/>
            <p:nvPr/>
          </p:nvSpPr>
          <p:spPr>
            <a:xfrm>
              <a:off x="2672771" y="3651918"/>
              <a:ext cx="447018" cy="216000"/>
            </a:xfrm>
            <a:prstGeom prst="rightArrow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7038FDD0-F92D-0792-1189-9D15218C870B}"/>
                </a:ext>
              </a:extLst>
            </p:cNvPr>
            <p:cNvSpPr txBox="1"/>
            <p:nvPr/>
          </p:nvSpPr>
          <p:spPr>
            <a:xfrm>
              <a:off x="2317060" y="3843004"/>
              <a:ext cx="116091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desdobrando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377E887F-EDBB-0313-5CE7-0FFA5FC4E09D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377E887F-EDBB-0313-5CE7-0FFA5FC4E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E4EC7983-6440-106E-40A4-B9271A9AD72F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4EC7983-6440-106E-40A4-B9271A9AD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="" xmlns:a16="http://schemas.microsoft.com/office/drawing/2014/main" id="{DD5EA899-4635-3E2A-C4DF-7472C47377E5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DD5EA899-4635-3E2A-C4DF-7472C47377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22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="" xmlns:a16="http://schemas.microsoft.com/office/drawing/2014/main" id="{4F88E0E9-05F4-B69C-9592-D8DDF331EB10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4F88E0E9-05F4-B69C-9592-D8DDF331EB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2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86F263A7-30BD-E91C-D8BD-5BF37E71E050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86F263A7-30BD-E91C-D8BD-5BF37E71E0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2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="" xmlns:a16="http://schemas.microsoft.com/office/drawing/2014/main" id="{EEA3AB4B-4256-3B9E-5840-580E6B1EDB73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EA3AB4B-4256-3B9E-5840-580E6B1EDB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25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="" xmlns:a16="http://schemas.microsoft.com/office/drawing/2014/main" id="{DB33A7FE-46D7-DEBB-AF6F-0E2BF6B23F69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DB33A7FE-46D7-DEBB-AF6F-0E2BF6B23F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2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EF26E3FE-6209-F4AA-637B-22DC9834FEA1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F26E3FE-6209-F4AA-637B-22DC9834FE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="" xmlns:a16="http://schemas.microsoft.com/office/drawing/2014/main" id="{C00EA537-BE98-DE0B-50F5-FFC11DA371D0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C00EA537-BE98-DE0B-50F5-FFC11DA37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4207752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5FD3EB3-5EBF-59B6-185F-3A08307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="" xmlns:a16="http://schemas.microsoft.com/office/drawing/2014/main" id="{CE6F6907-3D96-B227-166E-896DA60436B6}"/>
              </a:ext>
            </a:extLst>
          </p:cNvPr>
          <p:cNvGrpSpPr/>
          <p:nvPr/>
        </p:nvGrpSpPr>
        <p:grpSpPr>
          <a:xfrm>
            <a:off x="3458971" y="1394981"/>
            <a:ext cx="4813650" cy="4521741"/>
            <a:chOff x="3458971" y="1394981"/>
            <a:chExt cx="4813650" cy="452174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Rectangle 21">
                  <a:extLst>
                    <a:ext uri="{FF2B5EF4-FFF2-40B4-BE49-F238E27FC236}">
                      <a16:creationId xmlns="" xmlns:a16="http://schemas.microsoft.com/office/drawing/2014/main" id="{9037E731-6093-52C9-FF64-477D5D5902E5}"/>
                    </a:ext>
                  </a:extLst>
                </p:cNvPr>
                <p:cNvSpPr/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9037E731-6093-52C9-FF64-477D5D5902E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0878" y="2053224"/>
                  <a:ext cx="468000" cy="468000"/>
                </a:xfrm>
                <a:prstGeom prst="rect">
                  <a:avLst/>
                </a:prstGeom>
                <a:blipFill>
                  <a:blip r:embed="rId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Rectangle 22">
                  <a:extLst>
                    <a:ext uri="{FF2B5EF4-FFF2-40B4-BE49-F238E27FC236}">
                      <a16:creationId xmlns="" xmlns:a16="http://schemas.microsoft.com/office/drawing/2014/main" id="{DF0C5B7A-BCE3-F052-50EC-9B88A67812E2}"/>
                    </a:ext>
                  </a:extLst>
                </p:cNvPr>
                <p:cNvSpPr/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DF0C5B7A-BCE3-F052-50EC-9B88A67812E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24346" y="4820779"/>
                  <a:ext cx="468000" cy="468000"/>
                </a:xfrm>
                <a:prstGeom prst="rect">
                  <a:avLst/>
                </a:prstGeom>
                <a:blipFill>
                  <a:blip r:embed="rId3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Rectangle 23">
                  <a:extLst>
                    <a:ext uri="{FF2B5EF4-FFF2-40B4-BE49-F238E27FC236}">
                      <a16:creationId xmlns="" xmlns:a16="http://schemas.microsoft.com/office/drawing/2014/main" id="{58741BD0-606E-9F1C-3E99-578839912D3F}"/>
                    </a:ext>
                  </a:extLst>
                </p:cNvPr>
                <p:cNvSpPr/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58741BD0-606E-9F1C-3E99-578839912D3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0964" y="3540296"/>
                  <a:ext cx="468000" cy="468000"/>
                </a:xfrm>
                <a:prstGeom prst="rect">
                  <a:avLst/>
                </a:prstGeom>
                <a:blipFill>
                  <a:blip r:embed="rId4"/>
                  <a:stretch>
                    <a:fillRect l="-1039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Oval 24">
              <a:extLst>
                <a:ext uri="{FF2B5EF4-FFF2-40B4-BE49-F238E27FC236}">
                  <a16:creationId xmlns="" xmlns:a16="http://schemas.microsoft.com/office/drawing/2014/main" id="{B46C2697-6BEA-7C20-191A-6BD4799A3BDB}"/>
                </a:ext>
              </a:extLst>
            </p:cNvPr>
            <p:cNvSpPr/>
            <p:nvPr/>
          </p:nvSpPr>
          <p:spPr>
            <a:xfrm>
              <a:off x="3846118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6" name="Oval 25">
              <a:extLst>
                <a:ext uri="{FF2B5EF4-FFF2-40B4-BE49-F238E27FC236}">
                  <a16:creationId xmlns="" xmlns:a16="http://schemas.microsoft.com/office/drawing/2014/main" id="{18FB23CC-D060-A350-089A-54E8CB7ADFEE}"/>
                </a:ext>
              </a:extLst>
            </p:cNvPr>
            <p:cNvSpPr/>
            <p:nvPr/>
          </p:nvSpPr>
          <p:spPr>
            <a:xfrm>
              <a:off x="3846118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27" name="Oval 26">
              <a:extLst>
                <a:ext uri="{FF2B5EF4-FFF2-40B4-BE49-F238E27FC236}">
                  <a16:creationId xmlns="" xmlns:a16="http://schemas.microsoft.com/office/drawing/2014/main" id="{F2369338-A44F-7A99-25FB-2434D64DDD85}"/>
                </a:ext>
              </a:extLst>
            </p:cNvPr>
            <p:cNvSpPr/>
            <p:nvPr/>
          </p:nvSpPr>
          <p:spPr>
            <a:xfrm>
              <a:off x="3846118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50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Oval 28">
                  <a:extLst>
                    <a:ext uri="{FF2B5EF4-FFF2-40B4-BE49-F238E27FC236}">
                      <a16:creationId xmlns="" xmlns:a16="http://schemas.microsoft.com/office/drawing/2014/main" id="{E6544A4A-65E5-3677-5B6F-90CE14CBC247}"/>
                    </a:ext>
                  </a:extLst>
                </p:cNvPr>
                <p:cNvSpPr/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E6544A4A-65E5-3677-5B6F-90CE14CBC2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38574" y="4192836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Straight Arrow Connector 29">
              <a:extLst>
                <a:ext uri="{FF2B5EF4-FFF2-40B4-BE49-F238E27FC236}">
                  <a16:creationId xmlns="" xmlns:a16="http://schemas.microsoft.com/office/drawing/2014/main" id="{ED20FD6C-87CA-F9A4-BF29-4A9DDE387B47}"/>
                </a:ext>
              </a:extLst>
            </p:cNvPr>
            <p:cNvCxnSpPr>
              <a:cxnSpLocks/>
              <a:stCxn id="27" idx="0"/>
              <a:endCxn id="23" idx="2"/>
            </p:cNvCxnSpPr>
            <p:nvPr/>
          </p:nvCxnSpPr>
          <p:spPr>
            <a:xfrm flipH="1" flipV="1">
              <a:off x="4058346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33BBAECB-E07B-3C9A-CF9F-4D33D251BB64}"/>
                </a:ext>
              </a:extLst>
            </p:cNvPr>
            <p:cNvCxnSpPr/>
            <p:nvPr/>
          </p:nvCxnSpPr>
          <p:spPr>
            <a:xfrm flipH="1" flipV="1">
              <a:off x="4062118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3613390A-F0EF-6DC1-FE10-D768AD8F70A2}"/>
                </a:ext>
              </a:extLst>
            </p:cNvPr>
            <p:cNvCxnSpPr/>
            <p:nvPr/>
          </p:nvCxnSpPr>
          <p:spPr>
            <a:xfrm flipH="1" flipV="1">
              <a:off x="4058346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="" xmlns:a16="http://schemas.microsoft.com/office/drawing/2014/main" id="{CFF5E1B4-9351-9FFE-87AA-72B9EDEF149C}"/>
                </a:ext>
              </a:extLst>
            </p:cNvPr>
            <p:cNvCxnSpPr>
              <a:stCxn id="26" idx="0"/>
              <a:endCxn id="22" idx="2"/>
            </p:cNvCxnSpPr>
            <p:nvPr/>
          </p:nvCxnSpPr>
          <p:spPr>
            <a:xfrm flipV="1">
              <a:off x="4062118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ctor: Elbow 33">
              <a:extLst>
                <a:ext uri="{FF2B5EF4-FFF2-40B4-BE49-F238E27FC236}">
                  <a16:creationId xmlns="" xmlns:a16="http://schemas.microsoft.com/office/drawing/2014/main" id="{F5B52639-55A0-BC72-2057-1160DF41D5A9}"/>
                </a:ext>
              </a:extLst>
            </p:cNvPr>
            <p:cNvCxnSpPr>
              <a:cxnSpLocks/>
              <a:endCxn id="24" idx="0"/>
            </p:cNvCxnSpPr>
            <p:nvPr/>
          </p:nvCxnSpPr>
          <p:spPr>
            <a:xfrm>
              <a:off x="4062118" y="3066699"/>
              <a:ext cx="722846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="" xmlns:a16="http://schemas.microsoft.com/office/drawing/2014/main" id="{5B7DEA0A-FC6B-AA97-CF60-3AD7C50CACAF}"/>
                </a:ext>
              </a:extLst>
            </p:cNvPr>
            <p:cNvCxnSpPr/>
            <p:nvPr/>
          </p:nvCxnSpPr>
          <p:spPr>
            <a:xfrm flipH="1" flipV="1">
              <a:off x="4064961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9" name="Connector: Elbow 38">
              <a:extLst>
                <a:ext uri="{FF2B5EF4-FFF2-40B4-BE49-F238E27FC236}">
                  <a16:creationId xmlns="" xmlns:a16="http://schemas.microsoft.com/office/drawing/2014/main" id="{2F4252DA-9D7D-1337-D118-43C1F1ED2820}"/>
                </a:ext>
              </a:extLst>
            </p:cNvPr>
            <p:cNvCxnSpPr>
              <a:cxnSpLocks/>
              <a:endCxn id="29" idx="2"/>
            </p:cNvCxnSpPr>
            <p:nvPr/>
          </p:nvCxnSpPr>
          <p:spPr>
            <a:xfrm rot="16200000" flipH="1">
              <a:off x="3512189" y="4082450"/>
              <a:ext cx="273167" cy="379603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Rectangle 43">
                  <a:extLst>
                    <a:ext uri="{FF2B5EF4-FFF2-40B4-BE49-F238E27FC236}">
                      <a16:creationId xmlns="" xmlns:a16="http://schemas.microsoft.com/office/drawing/2014/main" id="{95E93986-12E0-00EE-A36A-3CCFDB7284C9}"/>
                    </a:ext>
                  </a:extLst>
                </p:cNvPr>
                <p:cNvSpPr/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95E93986-12E0-00EE-A36A-3CCFDB7284C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850" y="2053224"/>
                  <a:ext cx="468000" cy="468000"/>
                </a:xfrm>
                <a:prstGeom prst="rect">
                  <a:avLst/>
                </a:prstGeom>
                <a:blipFill>
                  <a:blip r:embed="rId6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Rectangle 44">
                  <a:extLst>
                    <a:ext uri="{FF2B5EF4-FFF2-40B4-BE49-F238E27FC236}">
                      <a16:creationId xmlns="" xmlns:a16="http://schemas.microsoft.com/office/drawing/2014/main" id="{7CDFC847-46C3-2DA1-011C-F5DCADB42DCC}"/>
                    </a:ext>
                  </a:extLst>
                </p:cNvPr>
                <p:cNvSpPr/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7CDFC847-46C3-2DA1-011C-F5DCADB42D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7318" y="4820779"/>
                  <a:ext cx="468000" cy="468000"/>
                </a:xfrm>
                <a:prstGeom prst="rect">
                  <a:avLst/>
                </a:prstGeom>
                <a:blipFill>
                  <a:blip r:embed="rId7"/>
                  <a:stretch>
                    <a:fillRect l="-512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Rectangle 45">
                  <a:extLst>
                    <a:ext uri="{FF2B5EF4-FFF2-40B4-BE49-F238E27FC236}">
                      <a16:creationId xmlns="" xmlns:a16="http://schemas.microsoft.com/office/drawing/2014/main" id="{C9003F32-FF22-F8C7-D909-D98E50A379E8}"/>
                    </a:ext>
                  </a:extLst>
                </p:cNvPr>
                <p:cNvSpPr/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6" name="Rectangle 45">
                  <a:extLst>
                    <a:ext uri="{FF2B5EF4-FFF2-40B4-BE49-F238E27FC236}">
                      <a16:creationId xmlns:a16="http://schemas.microsoft.com/office/drawing/2014/main" id="{C9003F32-FF22-F8C7-D909-D98E50A379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2511" y="3540296"/>
                  <a:ext cx="468000" cy="468000"/>
                </a:xfrm>
                <a:prstGeom prst="rect">
                  <a:avLst/>
                </a:prstGeom>
                <a:blipFill>
                  <a:blip r:embed="rId8"/>
                  <a:stretch>
                    <a:fillRect l="-102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7" name="Oval 46">
              <a:extLst>
                <a:ext uri="{FF2B5EF4-FFF2-40B4-BE49-F238E27FC236}">
                  <a16:creationId xmlns="" xmlns:a16="http://schemas.microsoft.com/office/drawing/2014/main" id="{CDFD11FA-B131-9D81-4E0A-363A3400B3AF}"/>
                </a:ext>
              </a:extLst>
            </p:cNvPr>
            <p:cNvSpPr/>
            <p:nvPr/>
          </p:nvSpPr>
          <p:spPr>
            <a:xfrm>
              <a:off x="5289090" y="1409359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5A71F691-F9B4-DBCD-5A2F-F4FE6ED218F1}"/>
                </a:ext>
              </a:extLst>
            </p:cNvPr>
            <p:cNvSpPr/>
            <p:nvPr/>
          </p:nvSpPr>
          <p:spPr>
            <a:xfrm>
              <a:off x="5289090" y="3558296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9" name="Oval 48">
              <a:extLst>
                <a:ext uri="{FF2B5EF4-FFF2-40B4-BE49-F238E27FC236}">
                  <a16:creationId xmlns="" xmlns:a16="http://schemas.microsoft.com/office/drawing/2014/main" id="{C4236D7E-FDB3-350E-288B-59C66F3B92DE}"/>
                </a:ext>
              </a:extLst>
            </p:cNvPr>
            <p:cNvSpPr/>
            <p:nvPr/>
          </p:nvSpPr>
          <p:spPr>
            <a:xfrm>
              <a:off x="5289090" y="5484722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Oval 50">
                  <a:extLst>
                    <a:ext uri="{FF2B5EF4-FFF2-40B4-BE49-F238E27FC236}">
                      <a16:creationId xmlns="" xmlns:a16="http://schemas.microsoft.com/office/drawing/2014/main" id="{2D680CE4-4C2C-EAB2-8166-DAA2E76F1D54}"/>
                    </a:ext>
                  </a:extLst>
                </p:cNvPr>
                <p:cNvSpPr/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2D680CE4-4C2C-EAB2-8166-DAA2E76F1D5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81546" y="4192836"/>
                  <a:ext cx="432000" cy="432000"/>
                </a:xfrm>
                <a:prstGeom prst="ellipse">
                  <a:avLst/>
                </a:prstGeom>
                <a:blipFill>
                  <a:blip r:embed="rId9"/>
                  <a:stretch>
                    <a:fillRect l="-8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Straight Arrow Connector 51">
              <a:extLst>
                <a:ext uri="{FF2B5EF4-FFF2-40B4-BE49-F238E27FC236}">
                  <a16:creationId xmlns="" xmlns:a16="http://schemas.microsoft.com/office/drawing/2014/main" id="{267136A0-6D98-74F4-BC06-E399AA2C8CA1}"/>
                </a:ext>
              </a:extLst>
            </p:cNvPr>
            <p:cNvCxnSpPr>
              <a:stCxn id="49" idx="0"/>
              <a:endCxn id="45" idx="2"/>
            </p:cNvCxnSpPr>
            <p:nvPr/>
          </p:nvCxnSpPr>
          <p:spPr>
            <a:xfrm flipH="1" flipV="1">
              <a:off x="5501318" y="5288779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="" xmlns:a16="http://schemas.microsoft.com/office/drawing/2014/main" id="{C17629BF-E3F8-1CFE-9840-ACD35AE829D2}"/>
                </a:ext>
              </a:extLst>
            </p:cNvPr>
            <p:cNvCxnSpPr/>
            <p:nvPr/>
          </p:nvCxnSpPr>
          <p:spPr>
            <a:xfrm flipH="1" flipV="1">
              <a:off x="5505090" y="462483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4F6C6731-5C72-4F8C-3D3F-D0A75C98A7AF}"/>
                </a:ext>
              </a:extLst>
            </p:cNvPr>
            <p:cNvCxnSpPr/>
            <p:nvPr/>
          </p:nvCxnSpPr>
          <p:spPr>
            <a:xfrm flipH="1" flipV="1">
              <a:off x="5501318" y="3996893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Arrow Connector 54">
              <a:extLst>
                <a:ext uri="{FF2B5EF4-FFF2-40B4-BE49-F238E27FC236}">
                  <a16:creationId xmlns="" xmlns:a16="http://schemas.microsoft.com/office/drawing/2014/main" id="{49EC2415-5780-09A1-6E95-25715135C6AF}"/>
                </a:ext>
              </a:extLst>
            </p:cNvPr>
            <p:cNvCxnSpPr>
              <a:stCxn id="48" idx="0"/>
              <a:endCxn id="44" idx="2"/>
            </p:cNvCxnSpPr>
            <p:nvPr/>
          </p:nvCxnSpPr>
          <p:spPr>
            <a:xfrm flipV="1">
              <a:off x="5505090" y="2521224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Connector: Elbow 55">
              <a:extLst>
                <a:ext uri="{FF2B5EF4-FFF2-40B4-BE49-F238E27FC236}">
                  <a16:creationId xmlns="" xmlns:a16="http://schemas.microsoft.com/office/drawing/2014/main" id="{285042DD-1CE7-8819-4A4D-023EA751F111}"/>
                </a:ext>
              </a:extLst>
            </p:cNvPr>
            <p:cNvCxnSpPr>
              <a:cxnSpLocks/>
              <a:endCxn id="46" idx="0"/>
            </p:cNvCxnSpPr>
            <p:nvPr/>
          </p:nvCxnSpPr>
          <p:spPr>
            <a:xfrm>
              <a:off x="5509819" y="3066699"/>
              <a:ext cx="746692" cy="473597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="" xmlns:a16="http://schemas.microsoft.com/office/drawing/2014/main" id="{9556B928-D372-CFDD-293D-ACBEEC241F4C}"/>
                </a:ext>
              </a:extLst>
            </p:cNvPr>
            <p:cNvCxnSpPr/>
            <p:nvPr/>
          </p:nvCxnSpPr>
          <p:spPr>
            <a:xfrm flipH="1" flipV="1">
              <a:off x="5507933" y="1850684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2" name="Connector: Elbow 61">
              <a:extLst>
                <a:ext uri="{FF2B5EF4-FFF2-40B4-BE49-F238E27FC236}">
                  <a16:creationId xmlns="" xmlns:a16="http://schemas.microsoft.com/office/drawing/2014/main" id="{312DFA69-9ADD-E60D-49A2-C5E09A907A21}"/>
                </a:ext>
              </a:extLst>
            </p:cNvPr>
            <p:cNvCxnSpPr>
              <a:stCxn id="24" idx="2"/>
              <a:endCxn id="51" idx="2"/>
            </p:cNvCxnSpPr>
            <p:nvPr/>
          </p:nvCxnSpPr>
          <p:spPr>
            <a:xfrm rot="16200000" flipH="1">
              <a:off x="4832985" y="3960275"/>
              <a:ext cx="400540" cy="496582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Rectangle 67">
                  <a:extLst>
                    <a:ext uri="{FF2B5EF4-FFF2-40B4-BE49-F238E27FC236}">
                      <a16:creationId xmlns="" xmlns:a16="http://schemas.microsoft.com/office/drawing/2014/main" id="{FB57FCA5-4AE7-F1D4-5313-E7C61D1521CC}"/>
                    </a:ext>
                  </a:extLst>
                </p:cNvPr>
                <p:cNvSpPr/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𝑜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FB57FCA5-4AE7-F1D4-5313-E7C61D1521C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3706" y="2038846"/>
                  <a:ext cx="468000" cy="468000"/>
                </a:xfrm>
                <a:prstGeom prst="rect">
                  <a:avLst/>
                </a:prstGeom>
                <a:blipFill>
                  <a:blip r:embed="rId10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Rectangle 68">
                  <a:extLst>
                    <a:ext uri="{FF2B5EF4-FFF2-40B4-BE49-F238E27FC236}">
                      <a16:creationId xmlns="" xmlns:a16="http://schemas.microsoft.com/office/drawing/2014/main" id="{7D97202F-5367-82C3-A597-F264450888D6}"/>
                    </a:ext>
                  </a:extLst>
                </p:cNvPr>
                <p:cNvSpPr/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7D97202F-5367-82C3-A597-F264450888D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07174" y="4806401"/>
                  <a:ext cx="468000" cy="468000"/>
                </a:xfrm>
                <a:prstGeom prst="rect">
                  <a:avLst/>
                </a:prstGeom>
                <a:blipFill>
                  <a:blip r:embed="rId11"/>
                  <a:stretch>
                    <a:fillRect l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Rectangle 69">
                  <a:extLst>
                    <a:ext uri="{FF2B5EF4-FFF2-40B4-BE49-F238E27FC236}">
                      <a16:creationId xmlns="" xmlns:a16="http://schemas.microsoft.com/office/drawing/2014/main" id="{616304BC-E218-7F40-A5FE-AF61796A5FF8}"/>
                    </a:ext>
                  </a:extLst>
                </p:cNvPr>
                <p:cNvSpPr/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𝑾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0" name="Rectangle 69">
                  <a:extLst>
                    <a:ext uri="{FF2B5EF4-FFF2-40B4-BE49-F238E27FC236}">
                      <a16:creationId xmlns:a16="http://schemas.microsoft.com/office/drawing/2014/main" id="{616304BC-E218-7F40-A5FE-AF61796A5F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84143" y="3525918"/>
                  <a:ext cx="468000" cy="468000"/>
                </a:xfrm>
                <a:prstGeom prst="rect">
                  <a:avLst/>
                </a:prstGeom>
                <a:blipFill>
                  <a:blip r:embed="rId12"/>
                  <a:stretch>
                    <a:fillRect l="-89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1" name="Oval 70">
              <a:extLst>
                <a:ext uri="{FF2B5EF4-FFF2-40B4-BE49-F238E27FC236}">
                  <a16:creationId xmlns="" xmlns:a16="http://schemas.microsoft.com/office/drawing/2014/main" id="{09273FA2-4059-259C-EA18-EB97F916DE67}"/>
                </a:ext>
              </a:extLst>
            </p:cNvPr>
            <p:cNvSpPr/>
            <p:nvPr/>
          </p:nvSpPr>
          <p:spPr>
            <a:xfrm>
              <a:off x="6828946" y="1394981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="" xmlns:a16="http://schemas.microsoft.com/office/drawing/2014/main" id="{DFF6184A-A6ED-0D56-4E38-4F6CDA7A0E2B}"/>
                </a:ext>
              </a:extLst>
            </p:cNvPr>
            <p:cNvSpPr/>
            <p:nvPr/>
          </p:nvSpPr>
          <p:spPr>
            <a:xfrm>
              <a:off x="6828946" y="3543918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="" xmlns:a16="http://schemas.microsoft.com/office/drawing/2014/main" id="{2121102B-C918-3940-6CF1-E75935317C81}"/>
                </a:ext>
              </a:extLst>
            </p:cNvPr>
            <p:cNvSpPr/>
            <p:nvPr/>
          </p:nvSpPr>
          <p:spPr>
            <a:xfrm>
              <a:off x="6828946" y="5470344"/>
              <a:ext cx="432000" cy="432000"/>
            </a:xfrm>
            <a:prstGeom prst="ellipse">
              <a:avLst/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4" name="Oval 73">
                  <a:extLst>
                    <a:ext uri="{FF2B5EF4-FFF2-40B4-BE49-F238E27FC236}">
                      <a16:creationId xmlns="" xmlns:a16="http://schemas.microsoft.com/office/drawing/2014/main" id="{64F9467F-B7FB-69CB-D6EF-0437402FB82C}"/>
                    </a:ext>
                  </a:extLst>
                </p:cNvPr>
                <p:cNvSpPr/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</p:spPr>
              <p:style>
                <a:lnRef idx="1">
                  <a:schemeClr val="accent3"/>
                </a:lnRef>
                <a:fillRef idx="2">
                  <a:schemeClr val="accent3"/>
                </a:fillRef>
                <a:effectRef idx="1">
                  <a:schemeClr val="accent3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t-BR" sz="1400" b="0" i="0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74" name="Oval 73">
                  <a:extLst>
                    <a:ext uri="{FF2B5EF4-FFF2-40B4-BE49-F238E27FC236}">
                      <a16:creationId xmlns:a16="http://schemas.microsoft.com/office/drawing/2014/main" id="{64F9467F-B7FB-69CB-D6EF-0437402FB82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1402" y="4178458"/>
                  <a:ext cx="432000" cy="432000"/>
                </a:xfrm>
                <a:prstGeom prst="ellipse">
                  <a:avLst/>
                </a:prstGeom>
                <a:blipFill>
                  <a:blip r:embed="rId5"/>
                  <a:stretch>
                    <a:fillRect l="-97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5" name="Straight Arrow Connector 74">
              <a:extLst>
                <a:ext uri="{FF2B5EF4-FFF2-40B4-BE49-F238E27FC236}">
                  <a16:creationId xmlns="" xmlns:a16="http://schemas.microsoft.com/office/drawing/2014/main" id="{722BA7B2-AE96-181C-AD84-36105B49ABE7}"/>
                </a:ext>
              </a:extLst>
            </p:cNvPr>
            <p:cNvCxnSpPr>
              <a:stCxn id="73" idx="0"/>
              <a:endCxn id="69" idx="2"/>
            </p:cNvCxnSpPr>
            <p:nvPr/>
          </p:nvCxnSpPr>
          <p:spPr>
            <a:xfrm flipH="1" flipV="1">
              <a:off x="7041174" y="5274401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6C64B0C0-12C6-3252-D13D-AA422EA7C3B0}"/>
                </a:ext>
              </a:extLst>
            </p:cNvPr>
            <p:cNvCxnSpPr/>
            <p:nvPr/>
          </p:nvCxnSpPr>
          <p:spPr>
            <a:xfrm flipH="1" flipV="1">
              <a:off x="7044946" y="4610458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7" name="Straight Arrow Connector 76">
              <a:extLst>
                <a:ext uri="{FF2B5EF4-FFF2-40B4-BE49-F238E27FC236}">
                  <a16:creationId xmlns="" xmlns:a16="http://schemas.microsoft.com/office/drawing/2014/main" id="{E4CA3838-A40C-8B9E-1D6B-F85B59667588}"/>
                </a:ext>
              </a:extLst>
            </p:cNvPr>
            <p:cNvCxnSpPr/>
            <p:nvPr/>
          </p:nvCxnSpPr>
          <p:spPr>
            <a:xfrm flipH="1" flipV="1">
              <a:off x="7041174" y="3982515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Straight Arrow Connector 77">
              <a:extLst>
                <a:ext uri="{FF2B5EF4-FFF2-40B4-BE49-F238E27FC236}">
                  <a16:creationId xmlns="" xmlns:a16="http://schemas.microsoft.com/office/drawing/2014/main" id="{39487332-3618-8A01-F0BB-84D13D9712FF}"/>
                </a:ext>
              </a:extLst>
            </p:cNvPr>
            <p:cNvCxnSpPr>
              <a:stCxn id="72" idx="0"/>
              <a:endCxn id="68" idx="2"/>
            </p:cNvCxnSpPr>
            <p:nvPr/>
          </p:nvCxnSpPr>
          <p:spPr>
            <a:xfrm flipV="1">
              <a:off x="7044946" y="2506846"/>
              <a:ext cx="2760" cy="103707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9" name="Connector: Elbow 78">
              <a:extLst>
                <a:ext uri="{FF2B5EF4-FFF2-40B4-BE49-F238E27FC236}">
                  <a16:creationId xmlns="" xmlns:a16="http://schemas.microsoft.com/office/drawing/2014/main" id="{71DB84C7-7B11-1862-C76C-54F0E7671AAD}"/>
                </a:ext>
              </a:extLst>
            </p:cNvPr>
            <p:cNvCxnSpPr>
              <a:cxnSpLocks/>
              <a:endCxn id="70" idx="0"/>
            </p:cNvCxnSpPr>
            <p:nvPr/>
          </p:nvCxnSpPr>
          <p:spPr>
            <a:xfrm>
              <a:off x="7044946" y="3039760"/>
              <a:ext cx="773197" cy="486158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Arrow Connector 79">
              <a:extLst>
                <a:ext uri="{FF2B5EF4-FFF2-40B4-BE49-F238E27FC236}">
                  <a16:creationId xmlns="" xmlns:a16="http://schemas.microsoft.com/office/drawing/2014/main" id="{D5054840-0F89-8CAA-CC7A-84281836C332}"/>
                </a:ext>
              </a:extLst>
            </p:cNvPr>
            <p:cNvCxnSpPr/>
            <p:nvPr/>
          </p:nvCxnSpPr>
          <p:spPr>
            <a:xfrm flipH="1" flipV="1">
              <a:off x="7047789" y="1836306"/>
              <a:ext cx="3772" cy="19594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nector: Elbow 81">
              <a:extLst>
                <a:ext uri="{FF2B5EF4-FFF2-40B4-BE49-F238E27FC236}">
                  <a16:creationId xmlns="" xmlns:a16="http://schemas.microsoft.com/office/drawing/2014/main" id="{169FFFE1-DA65-0934-D4DB-A1388A72A745}"/>
                </a:ext>
              </a:extLst>
            </p:cNvPr>
            <p:cNvCxnSpPr>
              <a:stCxn id="46" idx="2"/>
              <a:endCxn id="74" idx="2"/>
            </p:cNvCxnSpPr>
            <p:nvPr/>
          </p:nvCxnSpPr>
          <p:spPr>
            <a:xfrm rot="16200000" flipH="1">
              <a:off x="6345875" y="3918931"/>
              <a:ext cx="386162" cy="564891"/>
            </a:xfrm>
            <a:prstGeom prst="bentConnector2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5" name="Connector: Elbow 84">
              <a:extLst>
                <a:ext uri="{FF2B5EF4-FFF2-40B4-BE49-F238E27FC236}">
                  <a16:creationId xmlns="" xmlns:a16="http://schemas.microsoft.com/office/drawing/2014/main" id="{5317DB74-CA78-5EF6-06B9-38C66CF38F67}"/>
                </a:ext>
              </a:extLst>
            </p:cNvPr>
            <p:cNvCxnSpPr>
              <a:cxnSpLocks/>
              <a:stCxn id="70" idx="2"/>
            </p:cNvCxnSpPr>
            <p:nvPr/>
          </p:nvCxnSpPr>
          <p:spPr>
            <a:xfrm rot="16200000" flipH="1">
              <a:off x="7833653" y="3978408"/>
              <a:ext cx="423458" cy="454478"/>
            </a:xfrm>
            <a:prstGeom prst="bentConnector2">
              <a:avLst/>
            </a:prstGeom>
            <a:ln>
              <a:prstDash val="dash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77F60FEF-A404-8FB2-5EE7-81C000751BF6}"/>
                    </a:ext>
                  </a:extLst>
                </p:cNvPr>
                <p:cNvSpPr txBox="1"/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7F60FEF-A404-8FB2-5EE7-81C000751B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467" y="5569917"/>
                  <a:ext cx="1004707" cy="246221"/>
                </a:xfrm>
                <a:prstGeom prst="rect">
                  <a:avLst/>
                </a:prstGeom>
                <a:blipFill>
                  <a:blip r:embed="rId13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4E37C70B-1CCE-C852-EA6E-B0EA32D80266}"/>
                    </a:ext>
                  </a:extLst>
                </p:cNvPr>
                <p:cNvSpPr txBox="1"/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4E37C70B-1CCE-C852-EA6E-B0EA32D802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18964" y="5577611"/>
                  <a:ext cx="1004707" cy="246221"/>
                </a:xfrm>
                <a:prstGeom prst="rect">
                  <a:avLst/>
                </a:prstGeom>
                <a:blipFill>
                  <a:blip r:embed="rId14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="" xmlns:a16="http://schemas.microsoft.com/office/drawing/2014/main" id="{C7DCB563-40B7-B6A4-D465-0D1BADFA0CCF}"/>
                    </a:ext>
                  </a:extLst>
                </p:cNvPr>
                <p:cNvSpPr txBox="1"/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C7DCB563-40B7-B6A4-D465-0D1BADFA0C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3" y="5566725"/>
                  <a:ext cx="1004707" cy="246221"/>
                </a:xfrm>
                <a:prstGeom prst="rect">
                  <a:avLst/>
                </a:prstGeom>
                <a:blipFill>
                  <a:blip r:embed="rId15"/>
                  <a:stretch>
                    <a:fillRect b="-48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="" xmlns:a16="http://schemas.microsoft.com/office/drawing/2014/main" id="{5A0C2E9F-587C-97B2-5025-2264937181F7}"/>
                    </a:ext>
                  </a:extLst>
                </p:cNvPr>
                <p:cNvSpPr txBox="1"/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5A0C2E9F-587C-97B2-5025-2264937181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4650" y="3645334"/>
                  <a:ext cx="1004707" cy="246221"/>
                </a:xfrm>
                <a:prstGeom prst="rect">
                  <a:avLst/>
                </a:prstGeom>
                <a:blipFill>
                  <a:blip r:embed="rId16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17395D95-79E5-D78E-09A6-D0FADC418687}"/>
                    </a:ext>
                  </a:extLst>
                </p:cNvPr>
                <p:cNvSpPr txBox="1"/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17395D95-79E5-D78E-09A6-D0FADC4186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4626" y="3637725"/>
                  <a:ext cx="1004707" cy="246221"/>
                </a:xfrm>
                <a:prstGeom prst="rect">
                  <a:avLst/>
                </a:prstGeom>
                <a:blipFill>
                  <a:blip r:embed="rId17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Box 41">
                  <a:extLst>
                    <a:ext uri="{FF2B5EF4-FFF2-40B4-BE49-F238E27FC236}">
                      <a16:creationId xmlns="" xmlns:a16="http://schemas.microsoft.com/office/drawing/2014/main" id="{E06A6EBF-4AE5-6650-6BFA-221AD79ED5F5}"/>
                    </a:ext>
                  </a:extLst>
                </p:cNvPr>
                <p:cNvSpPr txBox="1"/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E06A6EBF-4AE5-6650-6BFA-221AD79E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0092" y="3621567"/>
                  <a:ext cx="1004707" cy="246221"/>
                </a:xfrm>
                <a:prstGeom prst="rect">
                  <a:avLst/>
                </a:prstGeom>
                <a:blipFill>
                  <a:blip r:embed="rId18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="" xmlns:a16="http://schemas.microsoft.com/office/drawing/2014/main" id="{65384143-FEF8-7CF0-F802-2CC38B7C25D8}"/>
                    </a:ext>
                  </a:extLst>
                </p:cNvPr>
                <p:cNvSpPr txBox="1"/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−1]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65384143-FEF8-7CF0-F802-2CC38B7C25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991" y="1493574"/>
                  <a:ext cx="1004707" cy="246221"/>
                </a:xfrm>
                <a:prstGeom prst="rect">
                  <a:avLst/>
                </a:prstGeom>
                <a:blipFill>
                  <a:blip r:embed="rId19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E3AD042C-4051-B4C6-A8B2-8015CF873920}"/>
                    </a:ext>
                  </a:extLst>
                </p:cNvPr>
                <p:cNvSpPr txBox="1"/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E3AD042C-4051-B4C6-A8B2-8015CF8739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3255" y="1486992"/>
                  <a:ext cx="1004707" cy="246221"/>
                </a:xfrm>
                <a:prstGeom prst="rect">
                  <a:avLst/>
                </a:prstGeom>
                <a:blipFill>
                  <a:blip r:embed="rId20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TextBox 59">
                  <a:extLst>
                    <a:ext uri="{FF2B5EF4-FFF2-40B4-BE49-F238E27FC236}">
                      <a16:creationId xmlns="" xmlns:a16="http://schemas.microsoft.com/office/drawing/2014/main" id="{8312CF0C-65D9-B808-C295-661A2F44742D}"/>
                    </a:ext>
                  </a:extLst>
                </p:cNvPr>
                <p:cNvSpPr txBox="1"/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sz="1000" b="1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sz="1000" b="1" i="1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</m:acc>
                        <m:r>
                          <a:rPr lang="pt-BR" sz="1000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b="1" dirty="0"/>
                </a:p>
              </p:txBody>
            </p:sp>
          </mc:Choice>
          <mc:Fallback xmlns=""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8312CF0C-65D9-B808-C295-661A2F447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67235" y="1481955"/>
                  <a:ext cx="1004707" cy="246221"/>
                </a:xfrm>
                <a:prstGeom prst="rect">
                  <a:avLst/>
                </a:prstGeom>
                <a:blipFill>
                  <a:blip r:embed="rId2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14294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AFC46F5-9D39-3200-9315-7E41F8A21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oup 99">
            <a:extLst>
              <a:ext uri="{FF2B5EF4-FFF2-40B4-BE49-F238E27FC236}">
                <a16:creationId xmlns="" xmlns:a16="http://schemas.microsoft.com/office/drawing/2014/main" id="{5848EDA5-D183-93CF-2EA4-41FF8DEF531E}"/>
              </a:ext>
            </a:extLst>
          </p:cNvPr>
          <p:cNvGrpSpPr/>
          <p:nvPr/>
        </p:nvGrpSpPr>
        <p:grpSpPr>
          <a:xfrm>
            <a:off x="3532909" y="1911927"/>
            <a:ext cx="3090150" cy="2613440"/>
            <a:chOff x="3532909" y="1911927"/>
            <a:chExt cx="3090150" cy="2613440"/>
          </a:xfrm>
        </p:grpSpPr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C0534D28-CEEB-F347-7428-695FCFDD6FD0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026D259C-2F42-013A-4513-8545895EBC0A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22DC3002-17E7-8F70-DAB0-4CE49CBA033A}"/>
                </a:ext>
              </a:extLst>
            </p:cNvPr>
            <p:cNvSpPr/>
            <p:nvPr/>
          </p:nvSpPr>
          <p:spPr>
            <a:xfrm>
              <a:off x="5209307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="" xmlns:a16="http://schemas.microsoft.com/office/drawing/2014/main" id="{8EF0ACA0-1266-E99E-2733-10E832A0C15D}"/>
                </a:ext>
              </a:extLst>
            </p:cNvPr>
            <p:cNvSpPr/>
            <p:nvPr/>
          </p:nvSpPr>
          <p:spPr>
            <a:xfrm>
              <a:off x="6047506" y="303950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F7F6D4AE-C331-40DD-5100-DC5C7B3F44A9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="" xmlns:a16="http://schemas.microsoft.com/office/drawing/2014/main" id="{386C2C92-0CC5-ADC3-4EEC-0177DFD60A37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 flipV="1">
              <a:off x="4911108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EFF6839D-CACE-9E2F-A029-736CE3391E11}"/>
                </a:ext>
              </a:extLst>
            </p:cNvPr>
            <p:cNvCxnSpPr>
              <a:stCxn id="6" idx="3"/>
              <a:endCxn id="7" idx="1"/>
            </p:cNvCxnSpPr>
            <p:nvPr/>
          </p:nvCxnSpPr>
          <p:spPr>
            <a:xfrm>
              <a:off x="5749307" y="323660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="" xmlns:a16="http://schemas.microsoft.com/office/drawing/2014/main" id="{8A25C4F4-BDDD-1357-5894-BBBEAB136FDF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8A25C4F4-BDDD-1357-5894-BBBEAB136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2FDBCC82-BD5A-68A7-87A4-4A651886FB80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="" xmlns:a16="http://schemas.microsoft.com/office/drawing/2014/main" id="{52722EC4-648E-315C-70C6-C19E306B6E1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2722EC4-648E-315C-70C6-C19E306B6E1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="" xmlns:a16="http://schemas.microsoft.com/office/drawing/2014/main" id="{B83D5045-507C-09DE-9249-D35934725844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="" xmlns:a16="http://schemas.microsoft.com/office/drawing/2014/main" id="{C5E5668A-3613-7850-70F3-C9B8E4A52FF1}"/>
                    </a:ext>
                  </a:extLst>
                </p:cNvPr>
                <p:cNvSpPr/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5E5668A-3613-7850-70F3-C9B8E4A52FF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51117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F7E15D01-6FDB-794A-E003-736262810557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="" xmlns:a16="http://schemas.microsoft.com/office/drawing/2014/main" id="{0031823E-FE60-1D2D-F19F-55B0E209D968}"/>
                    </a:ext>
                  </a:extLst>
                </p:cNvPr>
                <p:cNvSpPr/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0031823E-FE60-1D2D-F19F-55B0E209D96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29160" y="3751117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4286" r="-28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4F964C84-B656-9E27-A3FA-BB652F5F18AF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6336978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="" xmlns:a16="http://schemas.microsoft.com/office/drawing/2014/main" id="{D3E890DB-71EF-713A-14D8-3C24E4337EE1}"/>
                </a:ext>
              </a:extLst>
            </p:cNvPr>
            <p:cNvSpPr txBox="1"/>
            <p:nvPr/>
          </p:nvSpPr>
          <p:spPr>
            <a:xfrm>
              <a:off x="3634433" y="4156035"/>
              <a:ext cx="33695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="" xmlns:a16="http://schemas.microsoft.com/office/drawing/2014/main" id="{57B34361-3900-1266-3D58-C3384D25DB7D}"/>
                </a:ext>
              </a:extLst>
            </p:cNvPr>
            <p:cNvSpPr txBox="1"/>
            <p:nvPr/>
          </p:nvSpPr>
          <p:spPr>
            <a:xfrm>
              <a:off x="4391414" y="4151004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="" xmlns:a16="http://schemas.microsoft.com/office/drawing/2014/main" id="{D8BB3D9F-5B39-1045-1636-9A97CDA0FC7A}"/>
                </a:ext>
              </a:extLst>
            </p:cNvPr>
            <p:cNvSpPr txBox="1"/>
            <p:nvPr/>
          </p:nvSpPr>
          <p:spPr>
            <a:xfrm>
              <a:off x="5310176" y="4151004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="" xmlns:a16="http://schemas.microsoft.com/office/drawing/2014/main" id="{73D30054-6A82-5512-0EE4-37AF61A11200}"/>
                </a:ext>
              </a:extLst>
            </p:cNvPr>
            <p:cNvSpPr txBox="1"/>
            <p:nvPr/>
          </p:nvSpPr>
          <p:spPr>
            <a:xfrm>
              <a:off x="6062841" y="4150676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="" xmlns:a16="http://schemas.microsoft.com/office/drawing/2014/main" id="{F87D58A6-2B88-2E5E-90B2-E06F40638232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87D58A6-2B88-2E5E-90B2-E06F406382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="" xmlns:a16="http://schemas.microsoft.com/office/drawing/2014/main" id="{6439B11B-0286-EBCA-49E0-335FE5EBE8FA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="" xmlns:a16="http://schemas.microsoft.com/office/drawing/2014/main" id="{E08AEBD1-432B-3013-BE2F-DF9CF8403889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E08AEBD1-432B-3013-BE2F-DF9CF84038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="" xmlns:a16="http://schemas.microsoft.com/office/drawing/2014/main" id="{28850714-0B6D-B080-5A71-750BA6C67D95}"/>
                    </a:ext>
                  </a:extLst>
                </p:cNvPr>
                <p:cNvSpPr/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28850714-0B6D-B080-5A71-750BA6C67D9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17173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="" xmlns:a16="http://schemas.microsoft.com/office/drawing/2014/main" id="{DF32C4FF-E000-6153-5A85-CFD8746E3222}"/>
                    </a:ext>
                  </a:extLst>
                </p:cNvPr>
                <p:cNvSpPr/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F32C4FF-E000-6153-5A85-CFD8746E322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08331" y="2317173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="" xmlns:a16="http://schemas.microsoft.com/office/drawing/2014/main" id="{F40667E5-8E58-C310-CBFB-57422FB0D492}"/>
                </a:ext>
              </a:extLst>
            </p:cNvPr>
            <p:cNvSpPr txBox="1"/>
            <p:nvPr/>
          </p:nvSpPr>
          <p:spPr>
            <a:xfrm>
              <a:off x="3553215" y="1912255"/>
              <a:ext cx="5196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céu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65A7BAD0-E22A-00A7-79D3-E281691F9BFA}"/>
                </a:ext>
              </a:extLst>
            </p:cNvPr>
            <p:cNvSpPr txBox="1"/>
            <p:nvPr/>
          </p:nvSpPr>
          <p:spPr>
            <a:xfrm>
              <a:off x="4513541" y="191225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="" xmlns:a16="http://schemas.microsoft.com/office/drawing/2014/main" id="{0347D807-1FF8-98CB-58CE-4939C4B01C91}"/>
                </a:ext>
              </a:extLst>
            </p:cNvPr>
            <p:cNvSpPr txBox="1"/>
            <p:nvPr/>
          </p:nvSpPr>
          <p:spPr>
            <a:xfrm>
              <a:off x="5183078" y="1911927"/>
              <a:ext cx="56021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azul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="" xmlns:a16="http://schemas.microsoft.com/office/drawing/2014/main" id="{7159E20A-C910-CA52-1ABE-5C094C505360}"/>
                </a:ext>
              </a:extLst>
            </p:cNvPr>
            <p:cNvSpPr txBox="1"/>
            <p:nvPr/>
          </p:nvSpPr>
          <p:spPr>
            <a:xfrm>
              <a:off x="6148539" y="1911927"/>
              <a:ext cx="3577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="" xmlns:a16="http://schemas.microsoft.com/office/drawing/2014/main" id="{4D2EEB39-53FF-4D7F-6AAD-272D9A605970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="" xmlns:a16="http://schemas.microsoft.com/office/drawing/2014/main" id="{7925EE7B-7FE6-D157-299F-C4532C92625C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22091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="" xmlns:a16="http://schemas.microsoft.com/office/drawing/2014/main" id="{1A59467C-A62E-94C1-6003-D3BD8B84751F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6316149" y="272209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011338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B5573694-5604-5578-962F-15A2E6C1A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="" xmlns:a16="http://schemas.microsoft.com/office/drawing/2014/main" id="{2E164ADA-3029-B0E6-C546-EC28E23B01A5}"/>
              </a:ext>
            </a:extLst>
          </p:cNvPr>
          <p:cNvGrpSpPr/>
          <p:nvPr/>
        </p:nvGrpSpPr>
        <p:grpSpPr>
          <a:xfrm>
            <a:off x="3470087" y="1912255"/>
            <a:ext cx="5837554" cy="2626162"/>
            <a:chOff x="3470087" y="1912255"/>
            <a:chExt cx="5837554" cy="2626162"/>
          </a:xfrm>
        </p:grpSpPr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2CA71C07-A927-7553-9A53-EA7C1F0FD54D}"/>
                </a:ext>
              </a:extLst>
            </p:cNvPr>
            <p:cNvSpPr/>
            <p:nvPr/>
          </p:nvSpPr>
          <p:spPr>
            <a:xfrm>
              <a:off x="3532909" y="303414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="" xmlns:a16="http://schemas.microsoft.com/office/drawing/2014/main" id="{D5756A99-BCC4-DB10-974D-9BC155740184}"/>
                </a:ext>
              </a:extLst>
            </p:cNvPr>
            <p:cNvSpPr/>
            <p:nvPr/>
          </p:nvSpPr>
          <p:spPr>
            <a:xfrm>
              <a:off x="4371108" y="303917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="" xmlns:a16="http://schemas.microsoft.com/office/drawing/2014/main" id="{0F4C5972-08B6-39F9-5752-5DEFC6E9A590}"/>
                </a:ext>
              </a:extLst>
            </p:cNvPr>
            <p:cNvSpPr/>
            <p:nvPr/>
          </p:nvSpPr>
          <p:spPr>
            <a:xfrm>
              <a:off x="5209307" y="3044536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="" xmlns:a16="http://schemas.microsoft.com/office/drawing/2014/main" id="{20920392-DFDC-1C8D-8962-1C191C9B874E}"/>
                </a:ext>
              </a:extLst>
            </p:cNvPr>
            <p:cNvSpPr/>
            <p:nvPr/>
          </p:nvSpPr>
          <p:spPr>
            <a:xfrm>
              <a:off x="6805709" y="3057913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="" xmlns:a16="http://schemas.microsoft.com/office/drawing/2014/main" id="{CC4000C8-59B4-CB55-CF73-071EADD1E13A}"/>
                </a:ext>
              </a:extLst>
            </p:cNvPr>
            <p:cNvCxnSpPr>
              <a:stCxn id="3" idx="3"/>
              <a:endCxn id="5" idx="1"/>
            </p:cNvCxnSpPr>
            <p:nvPr/>
          </p:nvCxnSpPr>
          <p:spPr>
            <a:xfrm>
              <a:off x="4072909" y="3236604"/>
              <a:ext cx="298199" cy="50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="" xmlns:a16="http://schemas.microsoft.com/office/drawing/2014/main" id="{816E4A48-D71F-43E1-A17C-7346F79DEE88}"/>
                </a:ext>
              </a:extLst>
            </p:cNvPr>
            <p:cNvCxnSpPr>
              <a:stCxn id="5" idx="3"/>
              <a:endCxn id="6" idx="1"/>
            </p:cNvCxnSpPr>
            <p:nvPr/>
          </p:nvCxnSpPr>
          <p:spPr>
            <a:xfrm>
              <a:off x="4911108" y="3241635"/>
              <a:ext cx="298199" cy="53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="" xmlns:a16="http://schemas.microsoft.com/office/drawing/2014/main" id="{1E77AE6D-1F96-FB35-1187-485D66AD36CD}"/>
                </a:ext>
              </a:extLst>
            </p:cNvPr>
            <p:cNvCxnSpPr>
              <a:cxnSpLocks/>
              <a:endCxn id="7" idx="1"/>
            </p:cNvCxnSpPr>
            <p:nvPr/>
          </p:nvCxnSpPr>
          <p:spPr>
            <a:xfrm>
              <a:off x="6507510" y="3255013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Oval 13">
                  <a:extLst>
                    <a:ext uri="{FF2B5EF4-FFF2-40B4-BE49-F238E27FC236}">
                      <a16:creationId xmlns="" xmlns:a16="http://schemas.microsoft.com/office/drawing/2014/main" id="{BEF50F89-3F9C-B7A0-D32B-766398AF529D}"/>
                    </a:ext>
                  </a:extLst>
                </p:cNvPr>
                <p:cNvSpPr/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BEF50F89-3F9C-B7A0-D32B-766398AF529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5091" y="3751117"/>
                  <a:ext cx="415636" cy="404918"/>
                </a:xfrm>
                <a:prstGeom prst="ellipse">
                  <a:avLst/>
                </a:prstGeom>
                <a:blipFill>
                  <a:blip r:embed="rId2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Straight Arrow Connector 15">
              <a:extLst>
                <a:ext uri="{FF2B5EF4-FFF2-40B4-BE49-F238E27FC236}">
                  <a16:creationId xmlns="" xmlns:a16="http://schemas.microsoft.com/office/drawing/2014/main" id="{5536ECC4-8EDC-BF81-A381-67C4AA33FE42}"/>
                </a:ext>
              </a:extLst>
            </p:cNvPr>
            <p:cNvCxnSpPr>
              <a:stCxn id="14" idx="0"/>
              <a:endCxn id="3" idx="2"/>
            </p:cNvCxnSpPr>
            <p:nvPr/>
          </p:nvCxnSpPr>
          <p:spPr>
            <a:xfrm flipV="1">
              <a:off x="3802909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Oval 16">
                  <a:extLst>
                    <a:ext uri="{FF2B5EF4-FFF2-40B4-BE49-F238E27FC236}">
                      <a16:creationId xmlns="" xmlns:a16="http://schemas.microsoft.com/office/drawing/2014/main" id="{EA1B6128-BF0B-0502-7C92-F80DC5E8DF84}"/>
                    </a:ext>
                  </a:extLst>
                </p:cNvPr>
                <p:cNvSpPr/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EA1B6128-BF0B-0502-7C92-F80DC5E8DF8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2962" y="3751117"/>
                  <a:ext cx="415636" cy="404918"/>
                </a:xfrm>
                <a:prstGeom prst="ellipse">
                  <a:avLst/>
                </a:prstGeom>
                <a:blipFill>
                  <a:blip r:embed="rId3"/>
                  <a:stretch>
                    <a:fillRect l="-4348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Straight Arrow Connector 17">
              <a:extLst>
                <a:ext uri="{FF2B5EF4-FFF2-40B4-BE49-F238E27FC236}">
                  <a16:creationId xmlns="" xmlns:a16="http://schemas.microsoft.com/office/drawing/2014/main" id="{4832C06D-CF74-766F-FFC2-610ACF8FC042}"/>
                </a:ext>
              </a:extLst>
            </p:cNvPr>
            <p:cNvCxnSpPr>
              <a:stCxn id="17" idx="0"/>
            </p:cNvCxnSpPr>
            <p:nvPr/>
          </p:nvCxnSpPr>
          <p:spPr>
            <a:xfrm flipV="1">
              <a:off x="4640780" y="343906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Oval 18">
                  <a:extLst>
                    <a:ext uri="{FF2B5EF4-FFF2-40B4-BE49-F238E27FC236}">
                      <a16:creationId xmlns="" xmlns:a16="http://schemas.microsoft.com/office/drawing/2014/main" id="{E5CA2E1F-C39D-CBA3-A6E1-D4C1F4AF373C}"/>
                    </a:ext>
                  </a:extLst>
                </p:cNvPr>
                <p:cNvSpPr/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E5CA2E1F-C39D-CBA3-A6E1-D4C1F4AF37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0834" y="3761508"/>
                  <a:ext cx="415636" cy="404918"/>
                </a:xfrm>
                <a:prstGeom prst="ellipse">
                  <a:avLst/>
                </a:prstGeom>
                <a:blipFill>
                  <a:blip r:embed="rId4"/>
                  <a:stretch>
                    <a:fillRect l="-5797" r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90D394B9-6B7A-EE4E-A95D-801F9C111BDA}"/>
                </a:ext>
              </a:extLst>
            </p:cNvPr>
            <p:cNvCxnSpPr>
              <a:stCxn id="19" idx="0"/>
            </p:cNvCxnSpPr>
            <p:nvPr/>
          </p:nvCxnSpPr>
          <p:spPr>
            <a:xfrm flipV="1">
              <a:off x="5478652" y="34494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Oval 20">
                  <a:extLst>
                    <a:ext uri="{FF2B5EF4-FFF2-40B4-BE49-F238E27FC236}">
                      <a16:creationId xmlns="" xmlns:a16="http://schemas.microsoft.com/office/drawing/2014/main" id="{278B2A68-FDF3-D539-0397-EB5939ABFA5D}"/>
                    </a:ext>
                  </a:extLst>
                </p:cNvPr>
                <p:cNvSpPr/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5"/>
                </a:lnRef>
                <a:fillRef idx="2">
                  <a:schemeClr val="accent5"/>
                </a:fillRef>
                <a:effectRef idx="1">
                  <a:schemeClr val="accent5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278B2A68-FDF3-D539-0397-EB5939ABFA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7363" y="3769526"/>
                  <a:ext cx="415636" cy="404918"/>
                </a:xfrm>
                <a:prstGeom prst="ellipse">
                  <a:avLst/>
                </a:prstGeom>
                <a:blipFill>
                  <a:blip r:embed="rId5"/>
                  <a:stretch>
                    <a:fillRect l="-289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="" xmlns:a16="http://schemas.microsoft.com/office/drawing/2014/main" id="{0E40F23A-D8D4-25F6-DDDB-17B95E9C8E39}"/>
                </a:ext>
              </a:extLst>
            </p:cNvPr>
            <p:cNvCxnSpPr>
              <a:stCxn id="21" idx="0"/>
            </p:cNvCxnSpPr>
            <p:nvPr/>
          </p:nvCxnSpPr>
          <p:spPr>
            <a:xfrm flipV="1">
              <a:off x="7095181" y="3457472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="" xmlns:a16="http://schemas.microsoft.com/office/drawing/2014/main" id="{EB19DA87-A58F-46A6-EDE2-943BC4C3D386}"/>
                </a:ext>
              </a:extLst>
            </p:cNvPr>
            <p:cNvSpPr txBox="1"/>
            <p:nvPr/>
          </p:nvSpPr>
          <p:spPr>
            <a:xfrm>
              <a:off x="3609879" y="4161395"/>
              <a:ext cx="4219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de</a:t>
              </a:r>
              <a:endParaRPr lang="en-US" dirty="0"/>
            </a:p>
          </p:txBody>
        </p:sp>
        <p:sp>
          <p:nvSpPr>
            <p:cNvPr id="58" name="TextBox 57">
              <a:extLst>
                <a:ext uri="{FF2B5EF4-FFF2-40B4-BE49-F238E27FC236}">
                  <a16:creationId xmlns="" xmlns:a16="http://schemas.microsoft.com/office/drawing/2014/main" id="{C6D6550D-0169-2E65-9876-AB1FF91B3C6B}"/>
                </a:ext>
              </a:extLst>
            </p:cNvPr>
            <p:cNvSpPr txBox="1"/>
            <p:nvPr/>
          </p:nvSpPr>
          <p:spPr>
            <a:xfrm>
              <a:off x="4328259" y="416139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61" name="TextBox 60">
              <a:extLst>
                <a:ext uri="{FF2B5EF4-FFF2-40B4-BE49-F238E27FC236}">
                  <a16:creationId xmlns="" xmlns:a16="http://schemas.microsoft.com/office/drawing/2014/main" id="{B1F4A0A2-8071-5489-B1DC-AE37EE9B6CC4}"/>
                </a:ext>
              </a:extLst>
            </p:cNvPr>
            <p:cNvSpPr txBox="1"/>
            <p:nvPr/>
          </p:nvSpPr>
          <p:spPr>
            <a:xfrm>
              <a:off x="5373693" y="416139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="" xmlns:a16="http://schemas.microsoft.com/office/drawing/2014/main" id="{233D19E0-8BC8-DCF3-25F7-112FD8019AAF}"/>
                </a:ext>
              </a:extLst>
            </p:cNvPr>
            <p:cNvSpPr txBox="1"/>
            <p:nvPr/>
          </p:nvSpPr>
          <p:spPr>
            <a:xfrm>
              <a:off x="6966518" y="4169085"/>
              <a:ext cx="3000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é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Oval 63">
                  <a:extLst>
                    <a:ext uri="{FF2B5EF4-FFF2-40B4-BE49-F238E27FC236}">
                      <a16:creationId xmlns="" xmlns:a16="http://schemas.microsoft.com/office/drawing/2014/main" id="{F36D6E33-7BC5-5E4C-56CB-E03DF0F68ED7}"/>
                    </a:ext>
                  </a:extLst>
                </p:cNvPr>
                <p:cNvSpPr/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[0]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F36D6E33-7BC5-5E4C-56CB-E03DF0F68E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96985" y="2317173"/>
                  <a:ext cx="415636" cy="404918"/>
                </a:xfrm>
                <a:prstGeom prst="ellipse">
                  <a:avLst/>
                </a:prstGeom>
                <a:blipFill>
                  <a:blip r:embed="rId6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6" name="Straight Arrow Connector 65">
              <a:extLst>
                <a:ext uri="{FF2B5EF4-FFF2-40B4-BE49-F238E27FC236}">
                  <a16:creationId xmlns="" xmlns:a16="http://schemas.microsoft.com/office/drawing/2014/main" id="{DEE5256F-F5BF-0D94-50CE-460735EE0070}"/>
                </a:ext>
              </a:extLst>
            </p:cNvPr>
            <p:cNvCxnSpPr>
              <a:stCxn id="3" idx="0"/>
              <a:endCxn id="64" idx="4"/>
            </p:cNvCxnSpPr>
            <p:nvPr/>
          </p:nvCxnSpPr>
          <p:spPr>
            <a:xfrm flipV="1">
              <a:off x="3802909" y="2722091"/>
              <a:ext cx="1894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Oval 66">
                  <a:extLst>
                    <a:ext uri="{FF2B5EF4-FFF2-40B4-BE49-F238E27FC236}">
                      <a16:creationId xmlns="" xmlns:a16="http://schemas.microsoft.com/office/drawing/2014/main" id="{D5CB3226-5F82-6A5B-41B1-CC0280509CB6}"/>
                    </a:ext>
                  </a:extLst>
                </p:cNvPr>
                <p:cNvSpPr/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[1]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7" name="Oval 66">
                  <a:extLst>
                    <a:ext uri="{FF2B5EF4-FFF2-40B4-BE49-F238E27FC236}">
                      <a16:creationId xmlns:a16="http://schemas.microsoft.com/office/drawing/2014/main" id="{D5CB3226-5F82-6A5B-41B1-CC0280509C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33052" y="2317173"/>
                  <a:ext cx="415636" cy="404918"/>
                </a:xfrm>
                <a:prstGeom prst="ellipse">
                  <a:avLst/>
                </a:prstGeom>
                <a:blipFill>
                  <a:blip r:embed="rId7"/>
                  <a:stretch>
                    <a:fillRect l="-10145" r="-579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Oval 80">
                  <a:extLst>
                    <a:ext uri="{FF2B5EF4-FFF2-40B4-BE49-F238E27FC236}">
                      <a16:creationId xmlns="" xmlns:a16="http://schemas.microsoft.com/office/drawing/2014/main" id="{A4595E6A-8A12-4BE5-B8A9-4620252A3DF7}"/>
                    </a:ext>
                  </a:extLst>
                </p:cNvPr>
                <p:cNvSpPr/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[2]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A4595E6A-8A12-4BE5-B8A9-4620252A3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3181" y="2327564"/>
                  <a:ext cx="415636" cy="404918"/>
                </a:xfrm>
                <a:prstGeom prst="ellipse">
                  <a:avLst/>
                </a:prstGeom>
                <a:blipFill>
                  <a:blip r:embed="rId8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Oval 82">
                  <a:extLst>
                    <a:ext uri="{FF2B5EF4-FFF2-40B4-BE49-F238E27FC236}">
                      <a16:creationId xmlns="" xmlns:a16="http://schemas.microsoft.com/office/drawing/2014/main" id="{DB641876-7756-4556-5D5B-3FF6052D5D67}"/>
                    </a:ext>
                  </a:extLst>
                </p:cNvPr>
                <p:cNvSpPr/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83" name="Oval 82">
                  <a:extLst>
                    <a:ext uri="{FF2B5EF4-FFF2-40B4-BE49-F238E27FC236}">
                      <a16:creationId xmlns:a16="http://schemas.microsoft.com/office/drawing/2014/main" id="{DB641876-7756-4556-5D5B-3FF6052D5D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6534" y="2335582"/>
                  <a:ext cx="415636" cy="404918"/>
                </a:xfrm>
                <a:prstGeom prst="ellipse">
                  <a:avLst/>
                </a:prstGeom>
                <a:blipFill>
                  <a:blip r:embed="rId9"/>
                  <a:stretch>
                    <a:fillRect l="-10000" r="-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6" name="TextBox 85">
              <a:extLst>
                <a:ext uri="{FF2B5EF4-FFF2-40B4-BE49-F238E27FC236}">
                  <a16:creationId xmlns="" xmlns:a16="http://schemas.microsoft.com/office/drawing/2014/main" id="{6F325E6A-0D08-A66B-C255-CB42FFF9995F}"/>
                </a:ext>
              </a:extLst>
            </p:cNvPr>
            <p:cNvSpPr txBox="1"/>
            <p:nvPr/>
          </p:nvSpPr>
          <p:spPr>
            <a:xfrm>
              <a:off x="3470087" y="1912255"/>
              <a:ext cx="72173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Roma</a:t>
              </a:r>
              <a:endParaRPr lang="en-US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="" xmlns:a16="http://schemas.microsoft.com/office/drawing/2014/main" id="{9AF428C7-99F7-79EE-905C-5BFFD1D6B794}"/>
                </a:ext>
              </a:extLst>
            </p:cNvPr>
            <p:cNvSpPr txBox="1"/>
            <p:nvPr/>
          </p:nvSpPr>
          <p:spPr>
            <a:xfrm>
              <a:off x="4513541" y="1912255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  <p:sp>
          <p:nvSpPr>
            <p:cNvPr id="88" name="TextBox 87">
              <a:extLst>
                <a:ext uri="{FF2B5EF4-FFF2-40B4-BE49-F238E27FC236}">
                  <a16:creationId xmlns="" xmlns:a16="http://schemas.microsoft.com/office/drawing/2014/main" id="{DD2D0EBE-EFA3-2C35-531F-42E1FB1848CF}"/>
                </a:ext>
              </a:extLst>
            </p:cNvPr>
            <p:cNvSpPr txBox="1"/>
            <p:nvPr/>
          </p:nvSpPr>
          <p:spPr>
            <a:xfrm>
              <a:off x="5151905" y="1922318"/>
              <a:ext cx="6848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Nasci</a:t>
              </a:r>
              <a:endParaRPr lang="en-US" dirty="0"/>
            </a:p>
          </p:txBody>
        </p:sp>
        <p:sp>
          <p:nvSpPr>
            <p:cNvPr id="89" name="TextBox 88">
              <a:extLst>
                <a:ext uri="{FF2B5EF4-FFF2-40B4-BE49-F238E27FC236}">
                  <a16:creationId xmlns="" xmlns:a16="http://schemas.microsoft.com/office/drawing/2014/main" id="{D18C53F0-5275-B2B1-41F3-3E7649629DDA}"/>
                </a:ext>
              </a:extLst>
            </p:cNvPr>
            <p:cNvSpPr txBox="1"/>
            <p:nvPr/>
          </p:nvSpPr>
          <p:spPr>
            <a:xfrm>
              <a:off x="6906742" y="193033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p:cxnSp>
          <p:nvCxnSpPr>
            <p:cNvPr id="92" name="Straight Arrow Connector 91">
              <a:extLst>
                <a:ext uri="{FF2B5EF4-FFF2-40B4-BE49-F238E27FC236}">
                  <a16:creationId xmlns="" xmlns:a16="http://schemas.microsoft.com/office/drawing/2014/main" id="{DE520B99-8262-A48A-55C7-26AE0E413875}"/>
                </a:ext>
              </a:extLst>
            </p:cNvPr>
            <p:cNvCxnSpPr>
              <a:stCxn id="5" idx="0"/>
              <a:endCxn id="67" idx="4"/>
            </p:cNvCxnSpPr>
            <p:nvPr/>
          </p:nvCxnSpPr>
          <p:spPr>
            <a:xfrm flipH="1" flipV="1">
              <a:off x="4640870" y="2722091"/>
              <a:ext cx="238" cy="31708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Arrow Connector 93">
              <a:extLst>
                <a:ext uri="{FF2B5EF4-FFF2-40B4-BE49-F238E27FC236}">
                  <a16:creationId xmlns="" xmlns:a16="http://schemas.microsoft.com/office/drawing/2014/main" id="{2C8AC8EA-926E-E9E1-49ED-DCA004E88087}"/>
                </a:ext>
              </a:extLst>
            </p:cNvPr>
            <p:cNvCxnSpPr>
              <a:stCxn id="6" idx="0"/>
              <a:endCxn id="81" idx="4"/>
            </p:cNvCxnSpPr>
            <p:nvPr/>
          </p:nvCxnSpPr>
          <p:spPr>
            <a:xfrm flipV="1">
              <a:off x="5479307" y="2732482"/>
              <a:ext cx="1692" cy="31205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Arrow Connector 97">
              <a:extLst>
                <a:ext uri="{FF2B5EF4-FFF2-40B4-BE49-F238E27FC236}">
                  <a16:creationId xmlns="" xmlns:a16="http://schemas.microsoft.com/office/drawing/2014/main" id="{871252BB-9DB8-A8D2-D42B-16B83AE1A7C8}"/>
                </a:ext>
              </a:extLst>
            </p:cNvPr>
            <p:cNvCxnSpPr>
              <a:stCxn id="7" idx="0"/>
              <a:endCxn id="83" idx="4"/>
            </p:cNvCxnSpPr>
            <p:nvPr/>
          </p:nvCxnSpPr>
          <p:spPr>
            <a:xfrm flipH="1" flipV="1">
              <a:off x="7074352" y="2740500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ectangle 1">
              <a:extLst>
                <a:ext uri="{FF2B5EF4-FFF2-40B4-BE49-F238E27FC236}">
                  <a16:creationId xmlns="" xmlns:a16="http://schemas.microsoft.com/office/drawing/2014/main" id="{42C90E03-64F0-F10B-EC25-ED11EC008951}"/>
                </a:ext>
              </a:extLst>
            </p:cNvPr>
            <p:cNvSpPr/>
            <p:nvPr/>
          </p:nvSpPr>
          <p:spPr>
            <a:xfrm>
              <a:off x="7654226" y="3052554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="" xmlns:a16="http://schemas.microsoft.com/office/drawing/2014/main" id="{022EED10-87AA-5C00-4822-C3520E39F05F}"/>
                </a:ext>
              </a:extLst>
            </p:cNvPr>
            <p:cNvCxnSpPr>
              <a:cxnSpLocks/>
              <a:endCxn id="2" idx="1"/>
            </p:cNvCxnSpPr>
            <p:nvPr/>
          </p:nvCxnSpPr>
          <p:spPr>
            <a:xfrm>
              <a:off x="7356027" y="3249654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96C5BE88-049C-7EB4-1781-EEA2A0A41860}"/>
                </a:ext>
              </a:extLst>
            </p:cNvPr>
            <p:cNvSpPr/>
            <p:nvPr/>
          </p:nvSpPr>
          <p:spPr>
            <a:xfrm>
              <a:off x="7735880" y="3764167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/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="" xmlns:a16="http://schemas.microsoft.com/office/drawing/2014/main" id="{083CB2E8-EF82-839D-F96B-B6727E29EFA5}"/>
                </a:ext>
              </a:extLst>
            </p:cNvPr>
            <p:cNvCxnSpPr>
              <a:stCxn id="8" idx="0"/>
            </p:cNvCxnSpPr>
            <p:nvPr/>
          </p:nvCxnSpPr>
          <p:spPr>
            <a:xfrm flipV="1">
              <a:off x="7943698" y="3452113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="" xmlns:a16="http://schemas.microsoft.com/office/drawing/2014/main" id="{DFE4C0D3-DCC2-D3B6-B855-67D6DC13EFF3}"/>
                </a:ext>
              </a:extLst>
            </p:cNvPr>
            <p:cNvSpPr txBox="1"/>
            <p:nvPr/>
          </p:nvSpPr>
          <p:spPr>
            <a:xfrm>
              <a:off x="7823504" y="4163726"/>
              <a:ext cx="30649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Oval 14">
                  <a:extLst>
                    <a:ext uri="{FF2B5EF4-FFF2-40B4-BE49-F238E27FC236}">
                      <a16:creationId xmlns="" xmlns:a16="http://schemas.microsoft.com/office/drawing/2014/main" id="{23F9A3F4-2E58-124C-03D9-237E2903604B}"/>
                    </a:ext>
                  </a:extLst>
                </p:cNvPr>
                <p:cNvSpPr/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3F9A3F4-2E58-124C-03D9-237E2903604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15051" y="2330223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Box 21">
              <a:extLst>
                <a:ext uri="{FF2B5EF4-FFF2-40B4-BE49-F238E27FC236}">
                  <a16:creationId xmlns="" xmlns:a16="http://schemas.microsoft.com/office/drawing/2014/main" id="{E9C8EE0E-F481-3EAF-0B16-38FF89D122F2}"/>
                </a:ext>
              </a:extLst>
            </p:cNvPr>
            <p:cNvSpPr txBox="1"/>
            <p:nvPr/>
          </p:nvSpPr>
          <p:spPr>
            <a:xfrm>
              <a:off x="7500115" y="195349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="" xmlns:a16="http://schemas.microsoft.com/office/drawing/2014/main" id="{777CB690-B844-9432-D277-3DAEF181FA47}"/>
                </a:ext>
              </a:extLst>
            </p:cNvPr>
            <p:cNvCxnSpPr>
              <a:stCxn id="2" idx="0"/>
              <a:endCxn id="15" idx="4"/>
            </p:cNvCxnSpPr>
            <p:nvPr/>
          </p:nvCxnSpPr>
          <p:spPr>
            <a:xfrm flipH="1" flipV="1">
              <a:off x="7922869" y="2735141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="" xmlns:a16="http://schemas.microsoft.com/office/drawing/2014/main" id="{B342B593-E0A1-FA17-862E-41D6D0D679FC}"/>
                </a:ext>
              </a:extLst>
            </p:cNvPr>
            <p:cNvCxnSpPr>
              <a:cxnSpLocks/>
            </p:cNvCxnSpPr>
            <p:nvPr/>
          </p:nvCxnSpPr>
          <p:spPr>
            <a:xfrm>
              <a:off x="5749307" y="3252027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="" xmlns:a16="http://schemas.microsoft.com/office/drawing/2014/main" id="{781F298F-67A3-70DF-C0A7-49BE483D54BE}"/>
                </a:ext>
              </a:extLst>
            </p:cNvPr>
            <p:cNvSpPr txBox="1"/>
            <p:nvPr/>
          </p:nvSpPr>
          <p:spPr>
            <a:xfrm>
              <a:off x="6096000" y="3018393"/>
              <a:ext cx="36335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dirty="0"/>
                <a:t>...</a:t>
              </a:r>
              <a:endParaRPr lang="en-US" dirty="0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="" xmlns:a16="http://schemas.microsoft.com/office/drawing/2014/main" id="{804F6421-1237-F1A2-5E79-FE7BCA610A48}"/>
                </a:ext>
              </a:extLst>
            </p:cNvPr>
            <p:cNvSpPr/>
            <p:nvPr/>
          </p:nvSpPr>
          <p:spPr>
            <a:xfrm>
              <a:off x="8501386" y="3047195"/>
              <a:ext cx="540000" cy="404918"/>
            </a:xfrm>
            <a:prstGeom prst="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</a:t>
              </a:r>
              <a:endParaRPr lang="en-US" dirty="0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="" xmlns:a16="http://schemas.microsoft.com/office/drawing/2014/main" id="{BF98A6BA-A4C3-1228-F3C0-DD2836B87CD4}"/>
                </a:ext>
              </a:extLst>
            </p:cNvPr>
            <p:cNvCxnSpPr>
              <a:cxnSpLocks/>
              <a:endCxn id="26" idx="1"/>
            </p:cNvCxnSpPr>
            <p:nvPr/>
          </p:nvCxnSpPr>
          <p:spPr>
            <a:xfrm>
              <a:off x="8203187" y="3244295"/>
              <a:ext cx="298199" cy="535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="" xmlns:a16="http://schemas.microsoft.com/office/drawing/2014/main" id="{592DE97E-7082-B851-330D-322A2228597A}"/>
                </a:ext>
              </a:extLst>
            </p:cNvPr>
            <p:cNvSpPr/>
            <p:nvPr/>
          </p:nvSpPr>
          <p:spPr>
            <a:xfrm>
              <a:off x="8583040" y="3758808"/>
              <a:ext cx="415636" cy="404918"/>
            </a:xfrm>
            <a:prstGeom prst="ellipse">
              <a:avLst/>
            </a:prstGeom>
          </p:spPr>
          <p:style>
            <a:lnRef idx="1">
              <a:schemeClr val="accent5"/>
            </a:lnRef>
            <a:fillRef idx="2">
              <a:schemeClr val="accent5"/>
            </a:fillRef>
            <a:effectRef idx="1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900" dirty="0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="" xmlns:a16="http://schemas.microsoft.com/office/drawing/2014/main" id="{0EAB2269-9766-9629-F24D-AD449A7D529B}"/>
                </a:ext>
              </a:extLst>
            </p:cNvPr>
            <p:cNvCxnSpPr>
              <a:stCxn id="28" idx="0"/>
            </p:cNvCxnSpPr>
            <p:nvPr/>
          </p:nvCxnSpPr>
          <p:spPr>
            <a:xfrm flipV="1">
              <a:off x="8790858" y="3446754"/>
              <a:ext cx="0" cy="312054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="" xmlns:a16="http://schemas.microsoft.com/office/drawing/2014/main" id="{8D037400-C2BB-9BDD-2FCF-C6DD77FA2016}"/>
                </a:ext>
              </a:extLst>
            </p:cNvPr>
            <p:cNvSpPr txBox="1"/>
            <p:nvPr/>
          </p:nvSpPr>
          <p:spPr>
            <a:xfrm>
              <a:off x="8368747" y="4152971"/>
              <a:ext cx="88235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italiano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Oval 30">
                  <a:extLst>
                    <a:ext uri="{FF2B5EF4-FFF2-40B4-BE49-F238E27FC236}">
                      <a16:creationId xmlns="" xmlns:a16="http://schemas.microsoft.com/office/drawing/2014/main" id="{4991E1B3-322B-85B2-8F5E-1AA5F8458D09}"/>
                    </a:ext>
                  </a:extLst>
                </p:cNvPr>
                <p:cNvSpPr/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</p:spPr>
              <p:style>
                <a:lnRef idx="1">
                  <a:schemeClr val="accent2"/>
                </a:lnRef>
                <a:fillRef idx="2">
                  <a:schemeClr val="accent2"/>
                </a:fillRef>
                <a:effectRef idx="1">
                  <a:schemeClr val="accent2"/>
                </a:effectRef>
                <a:fontRef idx="minor">
                  <a:schemeClr val="dk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[3]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4991E1B3-322B-85B2-8F5E-1AA5F8458D0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62211" y="2324864"/>
                  <a:ext cx="415636" cy="404918"/>
                </a:xfrm>
                <a:prstGeom prst="ellipse">
                  <a:avLst/>
                </a:prstGeom>
                <a:blipFill>
                  <a:blip r:embed="rId10"/>
                  <a:stretch>
                    <a:fillRect l="-11594" r="-434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="" xmlns:a16="http://schemas.microsoft.com/office/drawing/2014/main" id="{2A561BD5-0CAE-FB6F-CB1A-2A227C613163}"/>
                </a:ext>
              </a:extLst>
            </p:cNvPr>
            <p:cNvCxnSpPr>
              <a:stCxn id="26" idx="0"/>
              <a:endCxn id="31" idx="4"/>
            </p:cNvCxnSpPr>
            <p:nvPr/>
          </p:nvCxnSpPr>
          <p:spPr>
            <a:xfrm flipH="1" flipV="1">
              <a:off x="8770029" y="2729782"/>
              <a:ext cx="1357" cy="31741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="" xmlns:a16="http://schemas.microsoft.com/office/drawing/2014/main" id="{B150E44D-343B-AC49-B71A-0BE368DAD0F9}"/>
                    </a:ext>
                  </a:extLst>
                </p:cNvPr>
                <p:cNvSpPr txBox="1"/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+1]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150E44D-343B-AC49-B71A-0BE368DAD0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59294" y="3840668"/>
                  <a:ext cx="1011404" cy="246221"/>
                </a:xfrm>
                <a:prstGeom prst="rect">
                  <a:avLst/>
                </a:prstGeom>
                <a:blipFill>
                  <a:blip r:embed="rId11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="" xmlns:a16="http://schemas.microsoft.com/office/drawing/2014/main" id="{208D4C2E-77B0-7513-CAC1-139708606D42}"/>
                    </a:ext>
                  </a:extLst>
                </p:cNvPr>
                <p:cNvSpPr txBox="1"/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pt-BR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sz="1000" b="0" i="1" smtClean="0">
                            <a:latin typeface="Cambria Math" panose="02040503050406030204" pitchFamily="18" charset="0"/>
                          </a:rPr>
                          <m:t>+2]</m:t>
                        </m:r>
                      </m:oMath>
                    </m:oMathPara>
                  </a14:m>
                  <a:endParaRPr lang="en-US" sz="10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208D4C2E-77B0-7513-CAC1-139708606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96237" y="3851672"/>
                  <a:ext cx="1011404" cy="246221"/>
                </a:xfrm>
                <a:prstGeom prst="rect">
                  <a:avLst/>
                </a:prstGeom>
                <a:blipFill>
                  <a:blip r:embed="rId12"/>
                  <a:stretch>
                    <a:fillRect b="-7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TextBox 36">
              <a:extLst>
                <a:ext uri="{FF2B5EF4-FFF2-40B4-BE49-F238E27FC236}">
                  <a16:creationId xmlns="" xmlns:a16="http://schemas.microsoft.com/office/drawing/2014/main" id="{48B2946E-9ED7-EB8C-9669-04C9C3EA8A23}"/>
                </a:ext>
              </a:extLst>
            </p:cNvPr>
            <p:cNvSpPr txBox="1"/>
            <p:nvPr/>
          </p:nvSpPr>
          <p:spPr>
            <a:xfrm>
              <a:off x="8648842" y="1930336"/>
              <a:ext cx="2423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641929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861A8E6-4B10-4A75-B9D7-6D57BC91B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Rectangle: Rounded Corners 38">
            <a:extLst>
              <a:ext uri="{FF2B5EF4-FFF2-40B4-BE49-F238E27FC236}">
                <a16:creationId xmlns="" xmlns:a16="http://schemas.microsoft.com/office/drawing/2014/main" id="{F843DECB-C956-D955-D499-DD22189CE5D6}"/>
              </a:ext>
            </a:extLst>
          </p:cNvPr>
          <p:cNvSpPr/>
          <p:nvPr/>
        </p:nvSpPr>
        <p:spPr>
          <a:xfrm>
            <a:off x="948207" y="2169156"/>
            <a:ext cx="3069771" cy="198120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>
            <a:extLst>
              <a:ext uri="{FF2B5EF4-FFF2-40B4-BE49-F238E27FC236}">
                <a16:creationId xmlns="" xmlns:a16="http://schemas.microsoft.com/office/drawing/2014/main" id="{7C21CDDD-60F4-254E-D0B1-DD9880058CAE}"/>
              </a:ext>
            </a:extLst>
          </p:cNvPr>
          <p:cNvSpPr/>
          <p:nvPr/>
        </p:nvSpPr>
        <p:spPr>
          <a:xfrm>
            <a:off x="1982349" y="3410126"/>
            <a:ext cx="674915" cy="3592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 err="1">
                <a:solidFill>
                  <a:schemeClr val="tx1"/>
                </a:solidFill>
              </a:rPr>
              <a:t>tanh</a:t>
            </a:r>
            <a:endParaRPr lang="en-US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Oval 40">
                <a:extLst>
                  <a:ext uri="{FF2B5EF4-FFF2-40B4-BE49-F238E27FC236}">
                    <a16:creationId xmlns="" xmlns:a16="http://schemas.microsoft.com/office/drawing/2014/main" id="{9EE18230-BCFC-D646-9600-19C5BBE32E49}"/>
                  </a:ext>
                </a:extLst>
              </p:cNvPr>
              <p:cNvSpPr/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1" name="Oval 40">
                <a:extLst>
                  <a:ext uri="{FF2B5EF4-FFF2-40B4-BE49-F238E27FC236}">
                    <a16:creationId xmlns:a16="http://schemas.microsoft.com/office/drawing/2014/main" id="{9EE18230-BCFC-D646-9600-19C5BBE32E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2765" y="4358898"/>
                <a:ext cx="432000" cy="432000"/>
              </a:xfrm>
              <a:prstGeom prst="ellipse">
                <a:avLst/>
              </a:prstGeom>
              <a:blipFill>
                <a:blip r:embed="rId2"/>
                <a:stretch>
                  <a:fillRect l="-15278" r="-12500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2" name="Connector: Elbow 41">
            <a:extLst>
              <a:ext uri="{FF2B5EF4-FFF2-40B4-BE49-F238E27FC236}">
                <a16:creationId xmlns="" xmlns:a16="http://schemas.microsoft.com/office/drawing/2014/main" id="{E01C2A5B-A164-6913-FA94-CA99DB0244FA}"/>
              </a:ext>
            </a:extLst>
          </p:cNvPr>
          <p:cNvCxnSpPr>
            <a:cxnSpLocks/>
            <a:stCxn id="41" idx="0"/>
            <a:endCxn id="40" idx="2"/>
          </p:cNvCxnSpPr>
          <p:nvPr/>
        </p:nvCxnSpPr>
        <p:spPr>
          <a:xfrm rot="5400000" flipH="1" flipV="1">
            <a:off x="1444515" y="3483606"/>
            <a:ext cx="589543" cy="1161042"/>
          </a:xfrm>
          <a:prstGeom prst="bentConnector3">
            <a:avLst>
              <a:gd name="adj1" fmla="val 7031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="" xmlns:a16="http://schemas.microsoft.com/office/drawing/2014/main" id="{396F9498-A53F-5856-A31E-72DF09B3702B}"/>
              </a:ext>
            </a:extLst>
          </p:cNvPr>
          <p:cNvCxnSpPr>
            <a:cxnSpLocks/>
            <a:stCxn id="40" idx="0"/>
          </p:cNvCxnSpPr>
          <p:nvPr/>
        </p:nvCxnSpPr>
        <p:spPr>
          <a:xfrm rot="5400000" flipH="1" flipV="1">
            <a:off x="2894030" y="1839863"/>
            <a:ext cx="996041" cy="214448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="" xmlns:a16="http://schemas.microsoft.com/office/drawing/2014/main" id="{F93040B1-005E-00D0-E6E7-AFB3E1CDFC40}"/>
                  </a:ext>
                </a:extLst>
              </p:cNvPr>
              <p:cNvSpPr/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</p:spPr>
            <p:style>
              <a:lnRef idx="1">
                <a:schemeClr val="accent3"/>
              </a:lnRef>
              <a:fillRef idx="2">
                <a:schemeClr val="accent3"/>
              </a:fillRef>
              <a:effectRef idx="1">
                <a:schemeClr val="accent3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h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F93040B1-005E-00D0-E6E7-AFB3E1CDFC4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85978" y="1312614"/>
                <a:ext cx="432000" cy="432000"/>
              </a:xfrm>
              <a:prstGeom prst="ellipse">
                <a:avLst/>
              </a:prstGeom>
              <a:blipFill>
                <a:blip r:embed="rId3"/>
                <a:stretch>
                  <a:fillRect l="-19444" r="-12500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Arrow Connector 44">
            <a:extLst>
              <a:ext uri="{FF2B5EF4-FFF2-40B4-BE49-F238E27FC236}">
                <a16:creationId xmlns="" xmlns:a16="http://schemas.microsoft.com/office/drawing/2014/main" id="{466E2E6D-A249-7CAB-4045-844CE9311DCA}"/>
              </a:ext>
            </a:extLst>
          </p:cNvPr>
          <p:cNvCxnSpPr>
            <a:endCxn id="44" idx="4"/>
          </p:cNvCxnSpPr>
          <p:nvPr/>
        </p:nvCxnSpPr>
        <p:spPr>
          <a:xfrm flipV="1">
            <a:off x="3801978" y="1744614"/>
            <a:ext cx="0" cy="669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="" xmlns:a16="http://schemas.microsoft.com/office/drawing/2014/main" id="{B4EFE449-B504-6CD4-C0C2-B0B6CF080A10}"/>
              </a:ext>
            </a:extLst>
          </p:cNvPr>
          <p:cNvCxnSpPr>
            <a:cxnSpLocks/>
          </p:cNvCxnSpPr>
          <p:nvPr/>
        </p:nvCxnSpPr>
        <p:spPr>
          <a:xfrm>
            <a:off x="633880" y="2403198"/>
            <a:ext cx="921744" cy="1552235"/>
          </a:xfrm>
          <a:prstGeom prst="bentConnector2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C80F7944-C56A-4918-32CC-D4E7982F8ACD}"/>
              </a:ext>
            </a:extLst>
          </p:cNvPr>
          <p:cNvGrpSpPr/>
          <p:nvPr/>
        </p:nvGrpSpPr>
        <p:grpSpPr>
          <a:xfrm>
            <a:off x="7045381" y="2909386"/>
            <a:ext cx="5001376" cy="2479740"/>
            <a:chOff x="7045381" y="2909386"/>
            <a:chExt cx="5001376" cy="247974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6952C40A-6BC1-7D50-9FEA-BBFC70E1732F}"/>
                    </a:ext>
                  </a:extLst>
                </p:cNvPr>
                <p:cNvSpPr txBox="1"/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952C40A-6BC1-7D50-9FEA-BBFC70E173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9537" y="3038594"/>
                  <a:ext cx="617220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: Rounded Corners 1">
              <a:extLst>
                <a:ext uri="{FF2B5EF4-FFF2-40B4-BE49-F238E27FC236}">
                  <a16:creationId xmlns="" xmlns:a16="http://schemas.microsoft.com/office/drawing/2014/main" id="{E389E7D6-0E03-C09E-A5BD-EF4F78F47BED}"/>
                </a:ext>
              </a:extLst>
            </p:cNvPr>
            <p:cNvSpPr/>
            <p:nvPr/>
          </p:nvSpPr>
          <p:spPr>
            <a:xfrm>
              <a:off x="8042034" y="2909386"/>
              <a:ext cx="3069771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4B906B69-397B-E0FA-9BAF-87CDB2217708}"/>
                </a:ext>
              </a:extLst>
            </p:cNvPr>
            <p:cNvSpPr/>
            <p:nvPr/>
          </p:nvSpPr>
          <p:spPr>
            <a:xfrm>
              <a:off x="9263573" y="3050897"/>
              <a:ext cx="674915" cy="359229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="" xmlns:a16="http://schemas.microsoft.com/office/drawing/2014/main" id="{86885ED8-AB22-72C4-5CEA-3CE25FC19B23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559040" y="3223260"/>
              <a:ext cx="1704533" cy="725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="" xmlns:a16="http://schemas.microsoft.com/office/drawing/2014/main" id="{22EBD8D7-1711-1660-5F56-EBD07F649D6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668376" y="3230511"/>
              <a:ext cx="3184" cy="1832438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="" xmlns:a16="http://schemas.microsoft.com/office/drawing/2014/main" id="{D658E785-464A-A8FA-4EBA-DADD72D51FEB}"/>
                    </a:ext>
                  </a:extLst>
                </p:cNvPr>
                <p:cNvSpPr txBox="1"/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658E785-464A-A8FA-4EBA-DADD72D51F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59766" y="5019794"/>
                  <a:ext cx="617220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6" name="Straight Arrow Connector 25">
              <a:extLst>
                <a:ext uri="{FF2B5EF4-FFF2-40B4-BE49-F238E27FC236}">
                  <a16:creationId xmlns="" xmlns:a16="http://schemas.microsoft.com/office/drawing/2014/main" id="{489BFDFC-AB2B-933B-5EF7-48728379F3B2}"/>
                </a:ext>
              </a:extLst>
            </p:cNvPr>
            <p:cNvCxnSpPr/>
            <p:nvPr/>
          </p:nvCxnSpPr>
          <p:spPr>
            <a:xfrm>
              <a:off x="9938488" y="3230511"/>
              <a:ext cx="1605812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89A2981D-B8A0-3122-77FD-ECBC0C46E0E6}"/>
                    </a:ext>
                  </a:extLst>
                </p:cNvPr>
                <p:cNvSpPr txBox="1"/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89A2981D-B8A0-3122-77FD-ECBC0C46E0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45381" y="3045845"/>
                  <a:ext cx="61722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450308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80909C4-DA03-1F5F-0403-1DEE60B89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="" xmlns:a16="http://schemas.microsoft.com/office/drawing/2014/main" id="{B730E203-9618-266A-ECBC-6DE7A196CA8A}"/>
              </a:ext>
            </a:extLst>
          </p:cNvPr>
          <p:cNvGrpSpPr/>
          <p:nvPr/>
        </p:nvGrpSpPr>
        <p:grpSpPr>
          <a:xfrm>
            <a:off x="234415" y="1834844"/>
            <a:ext cx="11584793" cy="4281015"/>
            <a:chOff x="234415" y="1834844"/>
            <a:chExt cx="11584793" cy="428101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348B5B75-FB28-2E80-145D-B7B4D142BE9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84CE6692-2FDA-8E8D-AB8D-4C22F39EF85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4CE6692-2FDA-8E8D-AB8D-4C22F39EF8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6ACD58FC-A360-C11A-7C44-B9487691833B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6ACD58FC-A360-C11A-7C44-B948769183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BE5C8D3A-0A6E-2136-613E-58C2566A481B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BE5C8D3A-0A6E-2136-613E-58C2566A48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44C478EC-B109-7888-038E-8DBF57461B91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FFC53C9F-10FB-711C-2512-7250BF72FAA1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CE50EACA-BDC6-7C2A-E8C3-F5699FD5BCD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37990D6E-A5C5-CDF4-C0D9-387966509DC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74B85D8D-87CD-87BC-E833-CE9988D869D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A878B83A-9006-D2B3-60B8-E2D14A5914D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43F4CC40-6B8A-C2D7-30F9-5E2A663458EB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584D7DD5-AF06-660E-B8AB-56FEBD03D05B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76F3A98F-48B9-9CD1-B9F1-E75DD2E8FE3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2E979E6-DCC4-331B-D941-6882D88766DC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BCF5E98C-CA06-9023-8D8F-DC58885C84A8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6EAF062E-2592-CB45-36A5-2A33D358D8BF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52EAE681-2114-E3E3-C3A4-320425997F09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D1D65BD3-E604-D135-F107-EC4CC81E93D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C9DC9C7A-C05F-76B8-966F-44753826D4BF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A822FBB9-C029-EAAD-530F-8A6805EE47F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6BFA24E6-0E52-669D-D3F8-9864EDC5552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0BF0A013-C46F-87B6-A913-AB6006AD99D3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BBA55220-0A3C-FB05-7E36-C68DDF50F07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CF73AECF-36D3-CBDF-5806-CA480B4C449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A0680E3E-2512-6A1A-E3EA-44839A3E0D6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A4015C41-4587-E1BF-7A8F-3DF236C02ABD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089EBFBE-86AF-DCA0-9896-A6D5E6FBA8F6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10EF1A2A-AF97-E7D2-178C-FFE80B3251D1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C0636B7D-2A5C-4392-28D4-DBDF85E54A2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F7CB8566-5FA8-4AE1-E1A3-37AA355FE51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7" name="Rectangle: Rounded Corners 96">
              <a:extLst>
                <a:ext uri="{FF2B5EF4-FFF2-40B4-BE49-F238E27FC236}">
                  <a16:creationId xmlns="" xmlns:a16="http://schemas.microsoft.com/office/drawing/2014/main" id="{A6D9F0B4-913F-1EED-8A29-810518E05463}"/>
                </a:ext>
              </a:extLst>
            </p:cNvPr>
            <p:cNvSpPr/>
            <p:nvPr/>
          </p:nvSpPr>
          <p:spPr>
            <a:xfrm>
              <a:off x="492094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="" xmlns:a16="http://schemas.microsoft.com/office/drawing/2014/main" id="{092FA1F5-FD24-F58C-C0EA-B1FA15F86729}"/>
                </a:ext>
              </a:extLst>
            </p:cNvPr>
            <p:cNvCxnSpPr>
              <a:cxnSpLocks/>
            </p:cNvCxnSpPr>
            <p:nvPr/>
          </p:nvCxnSpPr>
          <p:spPr>
            <a:xfrm>
              <a:off x="4012696" y="2715788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C2AF8E87-6151-A661-474A-AD4443F2A4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348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="" xmlns:a16="http://schemas.microsoft.com/office/drawing/2014/main" id="{E38F9929-0D9E-7BAE-3976-F3AACAC47318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863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3" name="Rectangle: Rounded Corners 102">
              <a:extLst>
                <a:ext uri="{FF2B5EF4-FFF2-40B4-BE49-F238E27FC236}">
                  <a16:creationId xmlns="" xmlns:a16="http://schemas.microsoft.com/office/drawing/2014/main" id="{0549E296-9BF6-1073-36A7-44A6BC84E646}"/>
                </a:ext>
              </a:extLst>
            </p:cNvPr>
            <p:cNvSpPr/>
            <p:nvPr/>
          </p:nvSpPr>
          <p:spPr>
            <a:xfrm>
              <a:off x="8083166" y="2438176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pt-BR" sz="6000" dirty="0"/>
                <a:t>A</a:t>
              </a:r>
              <a:endParaRPr lang="en-US" dirty="0"/>
            </a:p>
          </p:txBody>
        </p:sp>
        <p:cxnSp>
          <p:nvCxnSpPr>
            <p:cNvPr id="104" name="Straight Connector 103">
              <a:extLst>
                <a:ext uri="{FF2B5EF4-FFF2-40B4-BE49-F238E27FC236}">
                  <a16:creationId xmlns="" xmlns:a16="http://schemas.microsoft.com/office/drawing/2014/main" id="{3F4FFE22-901A-5ECB-8DD0-DE274D49C1CE}"/>
                </a:ext>
              </a:extLst>
            </p:cNvPr>
            <p:cNvCxnSpPr>
              <a:cxnSpLocks/>
            </p:cNvCxnSpPr>
            <p:nvPr/>
          </p:nvCxnSpPr>
          <p:spPr>
            <a:xfrm>
              <a:off x="11572921" y="4241954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="" xmlns:a16="http://schemas.microsoft.com/office/drawing/2014/main" id="{63C39462-6C16-B627-F0AA-034DBCEEAFBA}"/>
                </a:ext>
              </a:extLst>
            </p:cNvPr>
            <p:cNvCxnSpPr>
              <a:cxnSpLocks/>
            </p:cNvCxnSpPr>
            <p:nvPr/>
          </p:nvCxnSpPr>
          <p:spPr>
            <a:xfrm>
              <a:off x="11606773" y="2715942"/>
              <a:ext cx="212435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TextBox 107">
                  <a:extLst>
                    <a:ext uri="{FF2B5EF4-FFF2-40B4-BE49-F238E27FC236}">
                      <a16:creationId xmlns="" xmlns:a16="http://schemas.microsoft.com/office/drawing/2014/main" id="{74B7AA29-1794-6E8C-61F5-28A8A04CC1A1}"/>
                    </a:ext>
                  </a:extLst>
                </p:cNvPr>
                <p:cNvSpPr txBox="1"/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8" name="TextBox 107">
                  <a:extLst>
                    <a:ext uri="{FF2B5EF4-FFF2-40B4-BE49-F238E27FC236}">
                      <a16:creationId xmlns:a16="http://schemas.microsoft.com/office/drawing/2014/main" id="{74B7AA29-1794-6E8C-61F5-28A8A04CC1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4415" y="4579126"/>
                  <a:ext cx="1024570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0" name="Straight Connector 109">
              <a:extLst>
                <a:ext uri="{FF2B5EF4-FFF2-40B4-BE49-F238E27FC236}">
                  <a16:creationId xmlns="" xmlns:a16="http://schemas.microsoft.com/office/drawing/2014/main" id="{922EF61C-EF99-D374-EA91-A8D137ADC9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02412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="" xmlns:a16="http://schemas.microsoft.com/office/drawing/2014/main" id="{A2DA2877-36E8-DE52-7D68-11E5A3DA45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76770" y="4392609"/>
              <a:ext cx="0" cy="288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1" name="Straight Arrow Connector 120">
              <a:extLst>
                <a:ext uri="{FF2B5EF4-FFF2-40B4-BE49-F238E27FC236}">
                  <a16:creationId xmlns="" xmlns:a16="http://schemas.microsoft.com/office/drawing/2014/main" id="{E7D096F0-65EF-76A1-E864-DEFDD7B1DF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404780" y="2212072"/>
              <a:ext cx="0" cy="273953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="" xmlns:a16="http://schemas.microsoft.com/office/drawing/2014/main" id="{43419660-66CC-40DA-03A8-9CA6E7C0AF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93922" y="2204176"/>
              <a:ext cx="0" cy="234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Rectangle 1">
                  <a:extLst>
                    <a:ext uri="{FF2B5EF4-FFF2-40B4-BE49-F238E27FC236}">
                      <a16:creationId xmlns="" xmlns:a16="http://schemas.microsoft.com/office/drawing/2014/main" id="{67B8102E-31B3-C3A9-13A3-0364FF9802EB}"/>
                    </a:ext>
                  </a:extLst>
                </p:cNvPr>
                <p:cNvSpPr/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7B8102E-31B3-C3A9-13A3-0364FF9802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46845" y="5294767"/>
                  <a:ext cx="375794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TextBox 2">
              <a:extLst>
                <a:ext uri="{FF2B5EF4-FFF2-40B4-BE49-F238E27FC236}">
                  <a16:creationId xmlns="" xmlns:a16="http://schemas.microsoft.com/office/drawing/2014/main" id="{94483E7F-A937-DCD5-593D-9BF0A521317D}"/>
                </a:ext>
              </a:extLst>
            </p:cNvPr>
            <p:cNvSpPr txBox="1"/>
            <p:nvPr/>
          </p:nvSpPr>
          <p:spPr>
            <a:xfrm>
              <a:off x="1991126" y="5592639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sigmoide</a:t>
              </a:r>
              <a:endParaRPr lang="en-US" sz="1400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="" xmlns:a16="http://schemas.microsoft.com/office/drawing/2014/main" id="{A10A206D-DE0F-FE1C-4415-C2DFE8541DE1}"/>
                </a:ext>
              </a:extLst>
            </p:cNvPr>
            <p:cNvSpPr/>
            <p:nvPr/>
          </p:nvSpPr>
          <p:spPr>
            <a:xfrm>
              <a:off x="5608613" y="528852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="" xmlns:a16="http://schemas.microsoft.com/office/drawing/2014/main" id="{E601EEF9-98B3-9F64-F85F-07641BA1F0E3}"/>
                </a:ext>
              </a:extLst>
            </p:cNvPr>
            <p:cNvSpPr txBox="1"/>
            <p:nvPr/>
          </p:nvSpPr>
          <p:spPr>
            <a:xfrm>
              <a:off x="5139666" y="5533393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operação</a:t>
              </a:r>
              <a:r>
                <a:rPr lang="en-US" sz="1400" dirty="0"/>
                <a:t> </a:t>
              </a:r>
              <a:r>
                <a:rPr lang="en-US" sz="1400" dirty="0" err="1"/>
                <a:t>pontual</a:t>
              </a:r>
              <a:endParaRPr lang="en-US" sz="1400" dirty="0"/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="" xmlns:a16="http://schemas.microsoft.com/office/drawing/2014/main" id="{4CCF47AF-2D48-1D6C-D27B-0CC557A4D3BC}"/>
                </a:ext>
              </a:extLst>
            </p:cNvPr>
            <p:cNvCxnSpPr>
              <a:cxnSpLocks/>
            </p:cNvCxnSpPr>
            <p:nvPr/>
          </p:nvCxnSpPr>
          <p:spPr>
            <a:xfrm>
              <a:off x="6637778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="" xmlns:a16="http://schemas.microsoft.com/office/drawing/2014/main" id="{D4D46D6C-FBD0-36BF-A4A0-F0AA4C62BC59}"/>
                </a:ext>
              </a:extLst>
            </p:cNvPr>
            <p:cNvSpPr txBox="1"/>
            <p:nvPr/>
          </p:nvSpPr>
          <p:spPr>
            <a:xfrm>
              <a:off x="6275192" y="5531005"/>
              <a:ext cx="1210943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transferência</a:t>
              </a:r>
              <a:r>
                <a:rPr lang="en-US" sz="1400" dirty="0"/>
                <a:t> de </a:t>
              </a:r>
              <a:r>
                <a:rPr lang="en-US" sz="1400" dirty="0" err="1"/>
                <a:t>vetor</a:t>
              </a:r>
              <a:endParaRPr lang="en-US" sz="1400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="" xmlns:a16="http://schemas.microsoft.com/office/drawing/2014/main" id="{87FE6DA6-5752-4BD9-4B22-C5A902BD5C6B}"/>
                </a:ext>
              </a:extLst>
            </p:cNvPr>
            <p:cNvCxnSpPr>
              <a:cxnSpLocks/>
            </p:cNvCxnSpPr>
            <p:nvPr/>
          </p:nvCxnSpPr>
          <p:spPr>
            <a:xfrm>
              <a:off x="7871574" y="5441203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="" xmlns:a16="http://schemas.microsoft.com/office/drawing/2014/main" id="{4AA379DA-FDF4-4C2E-212F-301E5D1A6625}"/>
                </a:ext>
              </a:extLst>
            </p:cNvPr>
            <p:cNvCxnSpPr/>
            <p:nvPr/>
          </p:nvCxnSpPr>
          <p:spPr>
            <a:xfrm>
              <a:off x="8134689" y="5434573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="" xmlns:a16="http://schemas.microsoft.com/office/drawing/2014/main" id="{F2C1639E-62C8-EF4F-BC59-06D35F047F64}"/>
                </a:ext>
              </a:extLst>
            </p:cNvPr>
            <p:cNvSpPr txBox="1"/>
            <p:nvPr/>
          </p:nvSpPr>
          <p:spPr>
            <a:xfrm>
              <a:off x="7538311" y="5690289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concatenação</a:t>
              </a:r>
              <a:endParaRPr lang="en-US" sz="1400" dirty="0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="" xmlns:a16="http://schemas.microsoft.com/office/drawing/2014/main" id="{456BE94A-7B45-0DB7-05F1-86A17C409BD0}"/>
                </a:ext>
              </a:extLst>
            </p:cNvPr>
            <p:cNvCxnSpPr>
              <a:cxnSpLocks/>
            </p:cNvCxnSpPr>
            <p:nvPr/>
          </p:nvCxnSpPr>
          <p:spPr>
            <a:xfrm>
              <a:off x="9030310" y="5689985"/>
              <a:ext cx="576000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="" xmlns:a16="http://schemas.microsoft.com/office/drawing/2014/main" id="{0868D48C-258F-30A1-C079-D3E227346BD5}"/>
                </a:ext>
              </a:extLst>
            </p:cNvPr>
            <p:cNvCxnSpPr/>
            <p:nvPr/>
          </p:nvCxnSpPr>
          <p:spPr>
            <a:xfrm>
              <a:off x="9293364" y="5385798"/>
              <a:ext cx="0" cy="290413"/>
            </a:xfrm>
            <a:prstGeom prst="line">
              <a:avLst/>
            </a:prstGeom>
            <a:ln w="19050">
              <a:solidFill>
                <a:schemeClr val="tx1"/>
              </a:solidFill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="" xmlns:a16="http://schemas.microsoft.com/office/drawing/2014/main" id="{82CB8A93-557A-5259-EB5A-85D7D4D96AD1}"/>
                </a:ext>
              </a:extLst>
            </p:cNvPr>
            <p:cNvSpPr txBox="1"/>
            <p:nvPr/>
          </p:nvSpPr>
          <p:spPr>
            <a:xfrm>
              <a:off x="8664743" y="5681618"/>
              <a:ext cx="121094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/>
                <a:t>cópia</a:t>
              </a:r>
              <a:endParaRPr lang="en-US" sz="14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2246AAD0-1376-49ED-6106-0413203680D6}"/>
                    </a:ext>
                  </a:extLst>
                </p:cNvPr>
                <p:cNvSpPr txBox="1"/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2246AAD0-1376-49ED-6106-0413203680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5614" y="4613929"/>
                  <a:ext cx="432000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679AA4D9-0CBE-CBE0-7232-D2B675E04931}"/>
                    </a:ext>
                  </a:extLst>
                </p:cNvPr>
                <p:cNvSpPr txBox="1"/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679AA4D9-0CBE-CBE0-7232-D2B675E049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70263" y="4592155"/>
                  <a:ext cx="88522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96FA6F2C-8E33-655A-EAEF-0D0E286BD191}"/>
                    </a:ext>
                  </a:extLst>
                </p:cNvPr>
                <p:cNvSpPr txBox="1"/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96FA6F2C-8E33-655A-EAEF-0D0E286BD1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134" y="1834844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="" xmlns:a16="http://schemas.microsoft.com/office/drawing/2014/main" id="{2E911784-46DC-FD4B-8F99-C5D6064602E6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E911784-46DC-FD4B-8F99-C5D606460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="" xmlns:a16="http://schemas.microsoft.com/office/drawing/2014/main" id="{5276B13D-7144-BE36-299F-CE78D79813D4}"/>
                    </a:ext>
                  </a:extLst>
                </p:cNvPr>
                <p:cNvSpPr txBox="1"/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276B13D-7144-BE36-299F-CE78D79813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37173" y="1834844"/>
                  <a:ext cx="885222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Rectangle 37">
              <a:extLst>
                <a:ext uri="{FF2B5EF4-FFF2-40B4-BE49-F238E27FC236}">
                  <a16:creationId xmlns="" xmlns:a16="http://schemas.microsoft.com/office/drawing/2014/main" id="{8A9D5604-42D8-94B0-F0FA-40F8A5FE0687}"/>
                </a:ext>
              </a:extLst>
            </p:cNvPr>
            <p:cNvSpPr/>
            <p:nvPr/>
          </p:nvSpPr>
          <p:spPr>
            <a:xfrm>
              <a:off x="4263911" y="5283385"/>
              <a:ext cx="588587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1600" dirty="0" err="1">
                  <a:solidFill>
                    <a:schemeClr val="tx1"/>
                  </a:solidFill>
                </a:rPr>
                <a:t>tanh</a:t>
              </a:r>
              <a:endParaRPr 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40" name="TextBox 39">
              <a:extLst>
                <a:ext uri="{FF2B5EF4-FFF2-40B4-BE49-F238E27FC236}">
                  <a16:creationId xmlns="" xmlns:a16="http://schemas.microsoft.com/office/drawing/2014/main" id="{36895CF3-782C-C5FB-0D92-D28EF588D039}"/>
                </a:ext>
              </a:extLst>
            </p:cNvPr>
            <p:cNvSpPr txBox="1"/>
            <p:nvPr/>
          </p:nvSpPr>
          <p:spPr>
            <a:xfrm>
              <a:off x="3608193" y="5581257"/>
              <a:ext cx="170502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dirty="0"/>
                <a:t>Camada densa com ativação </a:t>
              </a:r>
              <a:r>
                <a:rPr lang="pt-BR" sz="1400" dirty="0" err="1"/>
                <a:t>tanh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4756579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8D4EC042-7CB7-B389-4F07-73C2D81EF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Group 42">
            <a:extLst>
              <a:ext uri="{FF2B5EF4-FFF2-40B4-BE49-F238E27FC236}">
                <a16:creationId xmlns="" xmlns:a16="http://schemas.microsoft.com/office/drawing/2014/main" id="{62617247-07D2-6657-99D1-398FE3BE06C0}"/>
              </a:ext>
            </a:extLst>
          </p:cNvPr>
          <p:cNvGrpSpPr/>
          <p:nvPr/>
        </p:nvGrpSpPr>
        <p:grpSpPr>
          <a:xfrm>
            <a:off x="3489806" y="1834844"/>
            <a:ext cx="5319746" cy="3227138"/>
            <a:chOff x="3489806" y="1834844"/>
            <a:chExt cx="5319746" cy="3227138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F9B84FA2-83D7-7AD8-9610-5A415E5EE1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62E9A632-1F8F-BB2C-9A7A-07DEA62B46A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62E9A632-1F8F-BB2C-9A7A-07DEA62B46A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9B13C382-E365-0604-E2B1-4396795DE5D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9B13C382-E365-0604-E2B1-4396795DE5D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28298EA5-A736-9895-9469-3658052D65D0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8298EA5-A736-9895-9469-3658052D65D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FE2E3973-7BB3-5423-9E41-4A439D4AD2FA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357EC369-9B76-A27D-EDC3-890F0716751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1105FA2D-CACC-93FD-8147-BCE771CE8357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007EE48F-7B86-5BD2-1F8C-469594A636F0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734FE972-9F06-C11C-3F53-9D4666EC5095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EA318A7D-6AD1-A164-9144-BD5F28A4E7B7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AE5B4441-DF89-25A1-3560-8E5404670E9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flipV="1">
              <a:off x="4031369" y="4036770"/>
              <a:ext cx="2675053" cy="2145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0093E439-25EF-02C4-D9C2-A1FE29C3AD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A60E907D-7CA5-2C6C-E31F-2F003AE9D09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137E1A15-7B2A-4277-FFA1-74355E9235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D93AEA26-EC0B-1E3E-D68C-6CE9227A173D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461F8C01-4628-007D-8EE8-08D26131E8B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F5D0673A-6CCA-67DE-BB0A-0EAB5B641853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34707AEE-8AB6-332F-D775-5D47B6EAB570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FDEDCE-1E3B-8147-4D13-A242E9C2B33E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06E60737-7998-C245-9FB1-6B1755A8F20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FE690B6A-0885-819C-6118-6C7D093B193B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4E0DA3A1-C433-12FD-E043-1BB3EB5D007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A63A645C-4CC1-5896-32E8-305EA54E21C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C7FF5E71-FB7D-9609-3FC5-AD13B5F1C3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942AD4B1-3DFB-E8BA-0218-D9E850190EBC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4D8692E4-6CA5-D2CA-A76D-73771408476E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9FE0230A-FA48-1674-EE72-563556A3AD37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D806146-5F28-31BB-C91D-206A9C7C1949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97AFC188-C5E0-E364-C3F7-EF901703C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5C32825B-E0C6-9CDA-AFFC-FEF61AC5A1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CE32A260-F120-9DD1-2C21-2F72B830F80E}"/>
                    </a:ext>
                  </a:extLst>
                </p:cNvPr>
                <p:cNvSpPr txBox="1"/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CE32A260-F120-9DD1-2C21-2F72B830F80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2865" y="4033974"/>
                  <a:ext cx="432000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28169" r="-56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CB757A62-58FF-F46D-A7A5-BC95B2F299AF}"/>
                    </a:ext>
                  </a:extLst>
                </p:cNvPr>
                <p:cNvSpPr txBox="1"/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B757A62-58FF-F46D-A7A5-BC95B2F299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0169" y="2525610"/>
                  <a:ext cx="58934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="" xmlns:a16="http://schemas.microsoft.com/office/drawing/2014/main" id="{B53DAB36-7F1E-A38E-607F-E5656744709C}"/>
                    </a:ext>
                  </a:extLst>
                </p:cNvPr>
                <p:cNvSpPr txBox="1"/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B53DAB36-7F1E-A38E-607F-E565674470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9557" y="1834844"/>
                  <a:ext cx="88522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="" xmlns:a16="http://schemas.microsoft.com/office/drawing/2014/main" id="{D5B871EC-42BA-BC5E-43FA-B2D29508EEFD}"/>
                    </a:ext>
                  </a:extLst>
                </p:cNvPr>
                <p:cNvSpPr txBox="1"/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D5B871EC-42BA-BC5E-43FA-B2D29508EE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89806" y="2511465"/>
                  <a:ext cx="5918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B05700EA-ADF6-1501-A886-A487A7F4F0DF}"/>
                    </a:ext>
                  </a:extLst>
                </p:cNvPr>
                <p:cNvSpPr txBox="1"/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B05700EA-ADF6-1501-A886-A487A7F4F0D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24330" y="4057288"/>
                  <a:ext cx="88522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4" name="Straight Connector 33">
              <a:extLst>
                <a:ext uri="{FF2B5EF4-FFF2-40B4-BE49-F238E27FC236}">
                  <a16:creationId xmlns="" xmlns:a16="http://schemas.microsoft.com/office/drawing/2014/main" id="{174094E0-AD46-6D7F-26FE-DF8481A5AC18}"/>
                </a:ext>
              </a:extLst>
            </p:cNvPr>
            <p:cNvCxnSpPr/>
            <p:nvPr/>
          </p:nvCxnSpPr>
          <p:spPr>
            <a:xfrm>
              <a:off x="4558205" y="4251345"/>
              <a:ext cx="0" cy="492105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BABCE601-1CC7-DA51-8E3E-DB40B8174F54}"/>
                    </a:ext>
                  </a:extLst>
                </p:cNvPr>
                <p:cNvSpPr txBox="1"/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ABCE601-1CC7-DA51-8E3E-DB40B8174F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1935" y="4692650"/>
                  <a:ext cx="432000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1436747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CEF7BC4-3994-CEE8-677F-0741A6B1A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1" name="Group 90">
            <a:extLst>
              <a:ext uri="{FF2B5EF4-FFF2-40B4-BE49-F238E27FC236}">
                <a16:creationId xmlns="" xmlns:a16="http://schemas.microsoft.com/office/drawing/2014/main" id="{259B7582-66CD-ED15-2ABE-5F4548CFEC4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="" xmlns:a16="http://schemas.microsoft.com/office/drawing/2014/main" id="{A3C354A2-1F93-E0BA-7BEB-1E8BB1A4752E}"/>
                    </a:ext>
                  </a:extLst>
                </p:cNvPr>
                <p:cNvSpPr txBox="1"/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A3C354A2-1F93-E0BA-7BEB-1E8BB1A475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8602" y="3074247"/>
                  <a:ext cx="415947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="" xmlns:a16="http://schemas.microsoft.com/office/drawing/2014/main" id="{A1951F4B-38D3-1319-7B2A-ECDDFF348DBB}"/>
                    </a:ext>
                  </a:extLst>
                </p:cNvPr>
                <p:cNvSpPr txBox="1"/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A1951F4B-38D3-1319-7B2A-ECDDFF348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41440" y="3053867"/>
                  <a:ext cx="399084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TextBox 88">
                  <a:extLst>
                    <a:ext uri="{FF2B5EF4-FFF2-40B4-BE49-F238E27FC236}">
                      <a16:creationId xmlns="" xmlns:a16="http://schemas.microsoft.com/office/drawing/2014/main" id="{106D3A33-618E-C1DA-5D91-C0E86025E614}"/>
                    </a:ext>
                  </a:extLst>
                </p:cNvPr>
                <p:cNvSpPr txBox="1"/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106D3A33-618E-C1DA-5D91-C0E86025E6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6038" y="3068367"/>
                  <a:ext cx="44146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TextBox 89">
                  <a:extLst>
                    <a:ext uri="{FF2B5EF4-FFF2-40B4-BE49-F238E27FC236}">
                      <a16:creationId xmlns="" xmlns:a16="http://schemas.microsoft.com/office/drawing/2014/main" id="{0AD91B46-B781-DC41-B1E1-4726FC1FB47E}"/>
                    </a:ext>
                  </a:extLst>
                </p:cNvPr>
                <p:cNvSpPr txBox="1"/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0" name="TextBox 89">
                  <a:extLst>
                    <a:ext uri="{FF2B5EF4-FFF2-40B4-BE49-F238E27FC236}">
                      <a16:creationId xmlns:a16="http://schemas.microsoft.com/office/drawing/2014/main" id="{0AD91B46-B781-DC41-B1E1-4726FC1FB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5977" y="3399083"/>
                  <a:ext cx="425501" cy="369332"/>
                </a:xfrm>
                <a:prstGeom prst="rect">
                  <a:avLst/>
                </a:prstGeom>
                <a:blipFill>
                  <a:blip r:embed="rId7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23B5C879-86CF-1489-D983-F6C55915B10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59ED29A8-D33B-A9E0-6FB0-6DA35F11AA6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C9ED7EA8-2248-C549-C0D3-4789E31F21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F26C059A-6E06-5777-5754-23C200926D83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F26C059A-6E06-5777-5754-23C200926D8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D5E7D54C-7034-1BD8-63C6-5043FC65A28D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5E7D54C-7034-1BD8-63C6-5043FC65A28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177514C8-D2E4-86D6-AF82-FAF60A44C33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177514C8-D2E4-86D6-AF82-FAF60A44C33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6F8531BB-5842-5BAF-1D3A-682398D284D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C7E17DBB-C7BC-494A-E992-8DE8D288F40F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9AE3C16C-5A7A-867F-EC09-5B9B011DE1C6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1D4D654B-F301-B853-EA77-8F8D3F0CAF86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D2F697DC-DE68-5F5D-A5BE-F745A119CF71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8BAC7E3D-1CA3-518E-DD58-B30975FF74A6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B3565DE1-2C94-76FF-7E49-46F7EA406B1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1ABDDD09-DD98-0666-3795-306DBE0ECE9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F61B55E-723D-2358-27DC-A1C3C16D2B69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2A4E816D-7056-ACB4-28DE-1431775F31B9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CF3F4951-741E-7175-755B-F847FABD1A53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0C9119F5-BC18-B506-6AE3-54BED2ACDE1D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9A90CFC2-367F-DDD0-0347-A75CC3C46DD8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742EAAEE-4BC0-0FF8-1B29-921257A94C8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6B39DB6C-853E-9EC6-5E8B-6D4F3DB4B58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55E9DF20-2BAA-AD3A-BF01-C8B2A79EBCBF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F73F4CFE-21DF-A9CF-A0E3-BE6FCD93FD2F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3B2DE638-D898-6EEE-FDE9-EF6483D3EE43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B4FC16DB-E8FC-F794-ADC0-7F23CD1719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71971" y="4247524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842C10F0-6ADD-9912-2061-FB7E19CE2DD3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290DB68F-D678-91AC-FDAB-0432895FD9F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2189D1DB-4B5F-E20F-5E70-0649D2A09125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2F17F637-CDA3-BC2F-CEC0-EDA23BDF1793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B7F0BCAC-2A6C-C3FC-BFC1-52890A7CFAFB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DB10787B-CA55-FACA-097A-B384CCF2FC57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C4A866C9-4A28-7252-015B-A2E419706176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C4A866C9-4A28-7252-015B-A2E4197061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26498C2-0A02-0FDF-4FCF-947527EBD09A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26498C2-0A02-0FDF-4FCF-947527EBD0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12B529DB-2BE0-6E9C-4EBB-DBD7BFF2CD32}"/>
                    </a:ext>
                  </a:extLst>
                </p:cNvPr>
                <p:cNvSpPr txBox="1"/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12B529DB-2BE0-6E9C-4EBB-DBD7BFF2CD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62549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EB1DAE0C-E746-36F2-7A7D-C331502D001C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B1DAE0C-E746-36F2-7A7D-C331502D00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CE10D406-319D-3BE3-1B60-7827B12CBF7C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CE10D406-319D-3BE3-1B60-7827B12CBF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5F8E290-BD3E-780B-C51B-6AB841AA0F43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5F8E290-BD3E-780B-C51B-6AB841AA0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="" xmlns:a16="http://schemas.microsoft.com/office/drawing/2014/main" id="{45231D62-9346-C19A-B2D8-2171CAAC4060}"/>
              </a:ext>
            </a:extLst>
          </p:cNvPr>
          <p:cNvGrpSpPr/>
          <p:nvPr/>
        </p:nvGrpSpPr>
        <p:grpSpPr>
          <a:xfrm>
            <a:off x="510827" y="2688275"/>
            <a:ext cx="1832394" cy="1751496"/>
            <a:chOff x="510827" y="2688275"/>
            <a:chExt cx="1832394" cy="17514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="" xmlns:a16="http://schemas.microsoft.com/office/drawing/2014/main" id="{61EA366A-638B-19A2-FADF-869CD901FD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8898" y="2934602"/>
              <a:ext cx="1008000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Rectangle 30">
                  <a:extLst>
                    <a:ext uri="{FF2B5EF4-FFF2-40B4-BE49-F238E27FC236}">
                      <a16:creationId xmlns="" xmlns:a16="http://schemas.microsoft.com/office/drawing/2014/main" id="{EBC88C9A-7E93-26B5-43AD-0D21BC813E6A}"/>
                    </a:ext>
                  </a:extLst>
                </p:cNvPr>
                <p:cNvSpPr/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31" name="Rectangle 30">
                  <a:extLst>
                    <a:ext uri="{FF2B5EF4-FFF2-40B4-BE49-F238E27FC236}">
                      <a16:creationId xmlns:a16="http://schemas.microsoft.com/office/drawing/2014/main" id="{EBC88C9A-7E93-26B5-43AD-0D21BC813E6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0764" y="3348906"/>
                  <a:ext cx="332510" cy="29787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Oval 31">
              <a:extLst>
                <a:ext uri="{FF2B5EF4-FFF2-40B4-BE49-F238E27FC236}">
                  <a16:creationId xmlns="" xmlns:a16="http://schemas.microsoft.com/office/drawing/2014/main" id="{1A354AC7-6F14-F502-309B-B6DF3115DCEC}"/>
                </a:ext>
              </a:extLst>
            </p:cNvPr>
            <p:cNvSpPr/>
            <p:nvPr/>
          </p:nvSpPr>
          <p:spPr>
            <a:xfrm>
              <a:off x="1270494" y="2795317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="" xmlns:a16="http://schemas.microsoft.com/office/drawing/2014/main" id="{4155F256-7522-763D-F307-222BEC825F1D}"/>
                </a:ext>
              </a:extLst>
            </p:cNvPr>
            <p:cNvCxnSpPr>
              <a:stCxn id="31" idx="0"/>
              <a:endCxn id="32" idx="4"/>
            </p:cNvCxnSpPr>
            <p:nvPr/>
          </p:nvCxnSpPr>
          <p:spPr>
            <a:xfrm flipV="1">
              <a:off x="1407019" y="3068367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="" xmlns:a16="http://schemas.microsoft.com/office/drawing/2014/main" id="{B515080E-515E-F684-8C15-0D9EE9C6B308}"/>
                </a:ext>
              </a:extLst>
            </p:cNvPr>
            <p:cNvCxnSpPr/>
            <p:nvPr/>
          </p:nvCxnSpPr>
          <p:spPr>
            <a:xfrm flipV="1">
              <a:off x="1407019" y="3646778"/>
              <a:ext cx="0" cy="28053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3" name="Right Brace 42">
              <a:extLst>
                <a:ext uri="{FF2B5EF4-FFF2-40B4-BE49-F238E27FC236}">
                  <a16:creationId xmlns="" xmlns:a16="http://schemas.microsoft.com/office/drawing/2014/main" id="{7FDD430D-62DC-C54E-5726-B5316B0CD7AC}"/>
                </a:ext>
              </a:extLst>
            </p:cNvPr>
            <p:cNvSpPr/>
            <p:nvPr/>
          </p:nvSpPr>
          <p:spPr>
            <a:xfrm rot="5400000">
              <a:off x="1304308" y="3414477"/>
              <a:ext cx="205421" cy="1238994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="" xmlns:a16="http://schemas.microsoft.com/office/drawing/2014/main" id="{EC283BF4-C291-0D01-D34B-CCB67EF0B6CC}"/>
                </a:ext>
              </a:extLst>
            </p:cNvPr>
            <p:cNvSpPr txBox="1"/>
            <p:nvPr/>
          </p:nvSpPr>
          <p:spPr>
            <a:xfrm>
              <a:off x="1047098" y="4070439"/>
              <a:ext cx="69320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porta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TextBox 1">
                  <a:extLst>
                    <a:ext uri="{FF2B5EF4-FFF2-40B4-BE49-F238E27FC236}">
                      <a16:creationId xmlns="" xmlns:a16="http://schemas.microsoft.com/office/drawing/2014/main" id="{F288BC0B-701F-DD40-E539-EE9ACBCA5489}"/>
                    </a:ext>
                  </a:extLst>
                </p:cNvPr>
                <p:cNvSpPr txBox="1"/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F288BC0B-701F-DD40-E539-EE9ACBCA54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827" y="2688275"/>
                  <a:ext cx="458394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="" xmlns:a16="http://schemas.microsoft.com/office/drawing/2014/main" id="{EEDC5D6C-3289-0D8E-9DDB-6C9470087026}"/>
                    </a:ext>
                  </a:extLst>
                </p:cNvPr>
                <p:cNvSpPr txBox="1"/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𝒈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EDC5D6C-3289-0D8E-9DDB-6C9470087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9043" y="2978310"/>
                  <a:ext cx="480836" cy="369332"/>
                </a:xfrm>
                <a:prstGeom prst="rect">
                  <a:avLst/>
                </a:prstGeom>
                <a:blipFill>
                  <a:blip r:embed="rId19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="" xmlns:a16="http://schemas.microsoft.com/office/drawing/2014/main" id="{4D40272D-BABB-2719-28B7-93A8B8650926}"/>
                    </a:ext>
                  </a:extLst>
                </p:cNvPr>
                <p:cNvSpPr txBox="1"/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4D40272D-BABB-2719-28B7-93A8B86509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017" y="2709477"/>
                  <a:ext cx="463204" cy="369332"/>
                </a:xfrm>
                <a:prstGeom prst="rect">
                  <a:avLst/>
                </a:prstGeom>
                <a:blipFill>
                  <a:blip r:embed="rId20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4836208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E681C906-BA12-06E8-B408-AC0076449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="" xmlns:a16="http://schemas.microsoft.com/office/drawing/2014/main" id="{FCF6190C-3568-243C-A1F8-FA1F0809E3B8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39A730AB-F009-09B7-7FB0-EE9AFB00CB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5CFBB8F-7F83-05F4-5991-D9B2A3C177C2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4329F69A-78DB-87D6-4B31-68E94E84869A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9309C712-EF05-B2E0-6A0E-9B6B6D832FB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55605F55-30EA-A9AD-82E9-A71DA52E29E0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0AFE4F1F-C8AF-2071-1411-B9B18B7B0704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4BF2B54E-88E4-6623-837A-40C28827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D05F7E73-ADBE-A779-2E49-69EE3D2EF593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D05F7E73-ADBE-A779-2E49-69EE3D2EF5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6AFE5021-0A6E-22A6-DF4A-B232EDC28847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6AFE5021-0A6E-22A6-DF4A-B232EDC2884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62691682-17D1-2759-4AEA-95CB4A2AC442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1E1B6485-D533-DFBA-CFB6-2D9F4A32B5BC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7920B390-AA70-127C-665E-BCD4AFAB2692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8347C514-5C0A-87D8-490F-8BE6DE17F058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D209583F-0F66-13DA-E8B1-65163BB76534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9FFD6D3A-4074-C913-6F99-8172D8284BB8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C6132C55-7CE0-B243-9524-22263E32A9FD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FF5609EE-16ED-D9C9-C8B6-08BF97D17108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BBCF3E7F-5361-B4DC-E106-88F2D362536D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BCF3E7F-5361-B4DC-E106-88F2D36253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F8D1C230-9AD6-9DC7-AED1-35225D1F83CD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DC5D7F9A-1009-06DB-C683-3F0A389F7B42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4F12F6A6-D554-126C-3ECA-862ED1EAA5B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1CC77F96-16FB-3864-7DB1-07277106DE8B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822B40A6-CAB4-62EA-370C-1357CAED5D30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AE3BC04-7F37-C331-64C8-47928CB17AE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2C216754-64A0-2413-BC8A-9899491730A4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A6114FA9-48A9-7AB5-089D-28FB8F3DD455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A6114FA9-48A9-7AB5-089D-28FB8F3DD4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2BBC2FE9-36F7-2933-C887-72273FF6AA32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7ACF06C9-EDD8-B72E-3A6F-2D9C18CE4477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FA172608-B764-39AB-FC65-DD74524231B1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7D1E7939-B085-04A7-417C-F8FF5441903B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7D1E7939-B085-04A7-417C-F8FF5441903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BCBA5E58-1A30-E919-16E9-05C7BCBA30A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449F04FB-A11C-6CDA-54CF-327E7BE7D9EA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D866472C-9411-1D10-EBFC-6CE069E407B5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762694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E4140CD2-4809-10E5-1F86-BDC4132DD5F5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E4140CD2-4809-10E5-1F86-BDC4132DD5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C92B0883-35DE-44C7-12D4-5B70BF0A6B1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C92B0883-35DE-44C7-12D4-5B70BF0A6B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0F98C804-71F7-C250-7524-2D037AFFAAC7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0F98C804-71F7-C250-7524-2D037AFFA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5EEB1DB6-D554-F46E-BF18-2EF32C38355A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5EEB1DB6-D554-F46E-BF18-2EF32C3835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0E6AD43A-0C05-5B07-5C6E-D66CA2266A17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F84839D8-1FE8-558D-F04D-CEBF12FBE23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F84839D8-1FE8-558D-F04D-CEBF12FBE2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4748BDEF-2446-FE23-5B2C-793AF909BDCE}"/>
                </a:ext>
              </a:extLst>
            </p:cNvPr>
            <p:cNvSpPr txBox="1"/>
            <p:nvPr/>
          </p:nvSpPr>
          <p:spPr>
            <a:xfrm>
              <a:off x="4384923" y="1911844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do esquecimento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C85B4195-B372-E787-8F12-B08B80B3B37A}"/>
                </a:ext>
              </a:extLst>
            </p:cNvPr>
            <p:cNvCxnSpPr/>
            <p:nvPr/>
          </p:nvCxnSpPr>
          <p:spPr>
            <a:xfrm flipH="1">
              <a:off x="4782073" y="2353118"/>
              <a:ext cx="157824" cy="183542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6992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861D64E-2469-FC63-F655-1FF1BC1DD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Group 21">
            <a:extLst>
              <a:ext uri="{FF2B5EF4-FFF2-40B4-BE49-F238E27FC236}">
                <a16:creationId xmlns="" xmlns:a16="http://schemas.microsoft.com/office/drawing/2014/main" id="{DDDC66B4-795D-0386-C6A6-872680ACA1CA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41D6A04D-A977-57C6-BBE4-F7117DDBB8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31835FD8-8AD3-4B0A-A371-E7966EE6A42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CA7A50D6-894D-6761-436C-B653D779F630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AEF27BDE-C09D-0D68-9C79-DA7E9ED468F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060D2FD5-A69E-1D6A-534C-B7C9F72F797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93D9F307-397C-606E-026E-047B70D57EB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345AE2C3-FEB2-71A4-AA2C-1F8BD04F7BBA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45AE2C3-FEB2-71A4-AA2C-1F8BD04F7BB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6AC76772-952E-8B82-1FFD-D73E6C8944FE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2993F300-F04C-CB11-8596-077DAD6C20A2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30EB91E8-A109-F185-A3B3-750D3FDB2887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AABFA6D8-9AE7-2CDF-00A7-00D520C155BE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39F88B70-CD76-6EAC-06FD-9D255BF40A35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0" name="Connector: Elbow 29">
              <a:extLst>
                <a:ext uri="{FF2B5EF4-FFF2-40B4-BE49-F238E27FC236}">
                  <a16:creationId xmlns="" xmlns:a16="http://schemas.microsoft.com/office/drawing/2014/main" id="{061F6089-8AE3-02BC-8033-D7C3B58283FE}"/>
                </a:ext>
              </a:extLst>
            </p:cNvPr>
            <p:cNvCxnSpPr>
              <a:cxnSpLocks/>
              <a:endCxn id="11" idx="2"/>
            </p:cNvCxnSpPr>
            <p:nvPr/>
          </p:nvCxnSpPr>
          <p:spPr>
            <a:xfrm rot="5400000" flipH="1" flipV="1">
              <a:off x="5288165" y="3260341"/>
              <a:ext cx="641827" cy="2194687"/>
            </a:xfrm>
            <a:prstGeom prst="bentConnector3">
              <a:avLst>
                <a:gd name="adj1" fmla="val 6728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B9E3D552-CE30-5202-A21A-83298410275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F28AF39C-2834-16CA-DBA0-AEBFF348E5C1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6FE9D677-F8B6-B80A-64A4-6B5F9BBFF1AC}"/>
                </a:ext>
              </a:extLst>
            </p:cNvPr>
            <p:cNvSpPr/>
            <p:nvPr/>
          </p:nvSpPr>
          <p:spPr>
            <a:xfrm>
              <a:off x="5856481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FF9FAE6-D5F3-4F38-FD2D-96EF300B54D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F9FAE6-D5F3-4F38-FD2D-96EF300B54D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DDE05879-A92C-038A-26CD-627B3B3BBC9E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B369DC99-7E45-4694-C02B-8827A4A578AB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904662E6-BA88-D85D-EFCC-CAA961373AEA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2263CD92-0FD0-A7D7-9599-9C89CC8A9E39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602002"/>
              <a:ext cx="868" cy="1341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77AFBF91-0509-83D7-B0FC-53BB614F4BD3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437228" y="3316849"/>
              <a:ext cx="2706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EAC61687-6D03-CF74-F42B-08A5DC2E29D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EAC61687-6D03-CF74-F42B-08A5DC2E29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AD26CA9E-56A6-4198-D806-3A332FD6EB3F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09734D40-9979-E514-4F53-502671E18AD6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192221E8-98B0-97BB-6D77-9137D6CE5F6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4754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6BE2E37D-C9CD-672F-BC9A-55D75190BBF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6BE2E37D-C9CD-672F-BC9A-55D75190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95187632-EDBE-4A9F-6F24-A0E1DC2389CF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FB63BB8C-8CDF-507A-D3B3-AEC868E78ACB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3F479985-A1F4-6572-D403-27A06458A8E1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3F479985-A1F4-6572-D403-27A06458A8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9998E1E6-9B24-24E9-20DE-CFED16703223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169C3F89-4C87-AF8C-C0CE-A02D4E854092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265FA536-7F65-7BCA-9097-19FF4C657AFE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000" cy="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AEB3C603-8DDE-BBB3-F8E0-B4A4998EAC0C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EB3C603-8DDE-BBB3-F8E0-B4A4998EAC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8628CEEE-8E89-1C4D-2220-FE4E61FFCE88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628CEEE-8E89-1C4D-2220-FE4E61FFCE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1985298A-2856-ABFD-C452-1A9F3EBD0134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1985298A-2856-ABFD-C452-1A9F3EBD01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6215880-FBAA-2090-61D8-3381AF0E06B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6215880-FBAA-2090-61D8-3381AF0E06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7D80BECE-9ECC-B9DE-EF50-2C2B2C4AC5DB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1CBB1F56-3EBF-2506-9BB1-48E8BF989340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1CBB1F56-3EBF-2506-9BB1-48E8BF9893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55189" cy="369332"/>
                </a:xfrm>
                <a:prstGeom prst="rect">
                  <a:avLst/>
                </a:prstGeom>
                <a:blipFill>
                  <a:blip r:embed="rId12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="" xmlns:a16="http://schemas.microsoft.com/office/drawing/2014/main" id="{CA952064-AD70-94D9-E2DD-B91D4A28DC0F}"/>
                    </a:ext>
                  </a:extLst>
                </p:cNvPr>
                <p:cNvSpPr txBox="1"/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CA952064-AD70-94D9-E2DD-B91D4A28DC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8207" y="312943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="" xmlns:a16="http://schemas.microsoft.com/office/drawing/2014/main" id="{906BA239-78D0-0FC7-46DA-9E9A58FF0EA2}"/>
                    </a:ext>
                  </a:extLst>
                </p:cNvPr>
                <p:cNvSpPr txBox="1"/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06BA239-78D0-0FC7-46DA-9E9A58FF0E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344" y="3390696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4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554556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A234DB3-EF34-ECEA-612A-5AF4DB057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="" xmlns:a16="http://schemas.microsoft.com/office/drawing/2014/main" id="{F9BBD2FD-CF73-528D-5800-EBFA500E45CD}"/>
              </a:ext>
            </a:extLst>
          </p:cNvPr>
          <p:cNvGrpSpPr/>
          <p:nvPr/>
        </p:nvGrpSpPr>
        <p:grpSpPr>
          <a:xfrm>
            <a:off x="3387954" y="1841814"/>
            <a:ext cx="5133274" cy="3158904"/>
            <a:chOff x="3387954" y="1841814"/>
            <a:chExt cx="5133274" cy="3158904"/>
          </a:xfrm>
        </p:grpSpPr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DF034DC8-C749-090B-EE51-94854F66C6F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97177" y="4033973"/>
              <a:ext cx="709244" cy="20612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6FE0EB9D-21F9-4127-6D82-435A599952E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13CBD50A-A730-8AFE-B031-D15997274FB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91D4EC76-045A-4A76-251A-E4E6ACE08988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91D4EC76-045A-4A76-251A-E4E6ACE089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4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689F7505-4009-14AF-E17D-4AAF1B48F2F2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689F7505-4009-14AF-E17D-4AAF1B48F2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5886DE6-1077-206C-D3CA-99E74DEC9394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CFF05A71-582D-9191-9743-99F9C78418F2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654B79FE-0697-96CC-0810-CAF4594A53DB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C15C5B51-0C20-185B-0040-A8999AD745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4A337265-AB1F-6C47-6023-FD5F7C1D768B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FA8CE05B-78DD-6CF4-4CBF-4D95C037C8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35C35CCD-5DF6-163D-A028-0291F843D86F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35C35CCD-5DF6-163D-A028-0291F843D8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EE08F870-46C7-6BA5-D892-5DC0823B8B82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70F127C9-AC3F-6FC7-7015-EB3F874395B3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2DEFA638-D7CB-D2C1-F61C-49C9439A7FA6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80D1BF60-4C30-885A-46CD-5A06FD769BC1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80D1BF60-4C30-885A-46CD-5A06FD769B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E8A0CBF4-F2C9-5D9E-588A-3326EE3EECF4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107CF738-51F4-26CF-4AAC-343FF70BC94C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4C4917B0-970A-52A6-4BF6-4C187C5F5E93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F3CB2341-7DBA-D4E4-B23F-BF0D44A485D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AA8D110F-2064-E200-21EE-AF61992464EC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23647E35-392E-B810-6545-AEF318DFD74D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23647E35-392E-B810-6545-AEF318DFD74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4CDC89E9-0430-8EEF-44E8-B1162A3894FA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CF52A80A-7364-7C4A-491B-E886D001446E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B7E1AAE5-0DE3-43D5-FD4E-3B36E025A6D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B7E1AAE5-0DE3-43D5-FD4E-3B36E025A6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346BD185-FE16-6426-012D-3F5E5BC1B0BF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346BD185-FE16-6426-012D-3F5E5BC1B0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3083DA91-C8EF-B9D3-7A03-4B16B76C739C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083DA91-C8EF-B9D3-7A03-4B16B76C73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466CBD43-63E2-FE59-CAE9-5B06AEA54494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466CBD43-63E2-FE59-CAE9-5B06AEA5449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11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27D3300A-C524-4BB3-938B-E7ABEAA66485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05C896E5-693F-A300-F512-729F492C7D88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D3A246B-9585-73E3-9594-FF1ACEFC8834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D3A246B-9585-73E3-9594-FF1ACEFC88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76A4B15F-241C-8207-6750-4AC1C26C03EF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CB04675-C1B8-179E-063A-83532350B5B6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17CE081A-B21A-762E-73B2-73F86C9D8550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2C2883E7-1C60-5FCB-605F-9E00B531F42A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8C799CC9-8CDC-AC46-4D9C-14D8CB6E28DC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E2DCA249-8B08-434F-AA72-F87E61B41222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BDC3B73C-A49D-04B7-5662-8E7514E23CD8}"/>
                </a:ext>
              </a:extLst>
            </p:cNvPr>
            <p:cNvSpPr txBox="1"/>
            <p:nvPr/>
          </p:nvSpPr>
          <p:spPr>
            <a:xfrm>
              <a:off x="6106421" y="1896928"/>
              <a:ext cx="1109948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entrada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3B80609F-3EC0-40F6-4D37-14444E24FA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6673" y="2356574"/>
              <a:ext cx="442406" cy="972378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="" xmlns:a16="http://schemas.microsoft.com/office/drawing/2014/main" id="{9077C205-DBA7-D8FC-2C97-C88478ADBE7F}"/>
                </a:ext>
              </a:extLst>
            </p:cNvPr>
            <p:cNvCxnSpPr>
              <a:cxnSpLocks/>
            </p:cNvCxnSpPr>
            <p:nvPr/>
          </p:nvCxnSpPr>
          <p:spPr>
            <a:xfrm>
              <a:off x="3971971" y="4237301"/>
              <a:ext cx="2016139" cy="465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868098FF-7972-7827-660D-CE72BBD2AC48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8C33C103-F223-93E6-D020-D7253E16BE98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8C33C103-F223-93E6-D020-D7253E16BE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410304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79AD6FF1-1653-82A9-4E02-91F61C3D7321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𝒄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79AD6FF1-1653-82A9-4E02-91F61C3D73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42364" cy="369332"/>
                </a:xfrm>
                <a:prstGeom prst="rect">
                  <a:avLst/>
                </a:prstGeom>
                <a:blipFill>
                  <a:blip r:embed="rId14"/>
                  <a:stretch>
                    <a:fillRect r="-277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87051480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535DB89-0292-4C5A-F4B1-0C7B0D5D71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roup 31">
            <a:extLst>
              <a:ext uri="{FF2B5EF4-FFF2-40B4-BE49-F238E27FC236}">
                <a16:creationId xmlns="" xmlns:a16="http://schemas.microsoft.com/office/drawing/2014/main" id="{1E6693AB-9080-966C-4D58-2EA6DBD07FBC}"/>
              </a:ext>
            </a:extLst>
          </p:cNvPr>
          <p:cNvGrpSpPr/>
          <p:nvPr/>
        </p:nvGrpSpPr>
        <p:grpSpPr>
          <a:xfrm>
            <a:off x="134391" y="1849548"/>
            <a:ext cx="5133274" cy="3158904"/>
            <a:chOff x="3387954" y="1841814"/>
            <a:chExt cx="5133274" cy="3158904"/>
          </a:xfrm>
        </p:grpSpPr>
        <p:cxnSp>
          <p:nvCxnSpPr>
            <p:cNvPr id="33" name="Straight Connector 32">
              <a:extLst>
                <a:ext uri="{FF2B5EF4-FFF2-40B4-BE49-F238E27FC236}">
                  <a16:creationId xmlns="" xmlns:a16="http://schemas.microsoft.com/office/drawing/2014/main" id="{9D484352-76E3-BDB1-D326-EDCC4E24536F}"/>
                </a:ext>
              </a:extLst>
            </p:cNvPr>
            <p:cNvCxnSpPr>
              <a:cxnSpLocks/>
            </p:cNvCxnSpPr>
            <p:nvPr/>
          </p:nvCxnSpPr>
          <p:spPr>
            <a:xfrm>
              <a:off x="47244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="" xmlns:a16="http://schemas.microsoft.com/office/drawing/2014/main" id="{45339A55-66C9-1111-90CF-606F78A377CF}"/>
                </a:ext>
              </a:extLst>
            </p:cNvPr>
            <p:cNvCxnSpPr>
              <a:cxnSpLocks/>
            </p:cNvCxnSpPr>
            <p:nvPr/>
          </p:nvCxnSpPr>
          <p:spPr>
            <a:xfrm>
              <a:off x="528326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="" xmlns:a16="http://schemas.microsoft.com/office/drawing/2014/main" id="{B36FCAE8-5860-FC81-28DB-F1330525841E}"/>
                </a:ext>
              </a:extLst>
            </p:cNvPr>
            <p:cNvCxnSpPr>
              <a:cxnSpLocks/>
            </p:cNvCxnSpPr>
            <p:nvPr/>
          </p:nvCxnSpPr>
          <p:spPr>
            <a:xfrm>
              <a:off x="5988110" y="4033974"/>
              <a:ext cx="0" cy="211613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="" xmlns:a16="http://schemas.microsoft.com/office/drawing/2014/main" id="{CDAD974B-2567-4FED-B1AF-B8BC328A9530}"/>
                </a:ext>
              </a:extLst>
            </p:cNvPr>
            <p:cNvCxnSpPr>
              <a:cxnSpLocks/>
            </p:cNvCxnSpPr>
            <p:nvPr/>
          </p:nvCxnSpPr>
          <p:spPr>
            <a:xfrm>
              <a:off x="6126191" y="2715788"/>
              <a:ext cx="1980000" cy="1163"/>
            </a:xfrm>
            <a:prstGeom prst="line">
              <a:avLst/>
            </a:prstGeom>
            <a:ln w="19050">
              <a:solidFill>
                <a:schemeClr val="dk1"/>
              </a:solidFill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="" xmlns:a16="http://schemas.microsoft.com/office/drawing/2014/main" id="{EEF54D2C-3691-135A-5D48-B7BB3D84F1E6}"/>
                </a:ext>
              </a:extLst>
            </p:cNvPr>
            <p:cNvCxnSpPr>
              <a:cxnSpLocks/>
              <a:stCxn id="17" idx="6"/>
              <a:endCxn id="48" idx="2"/>
            </p:cNvCxnSpPr>
            <p:nvPr/>
          </p:nvCxnSpPr>
          <p:spPr>
            <a:xfrm>
              <a:off x="4860985" y="2715788"/>
              <a:ext cx="992156" cy="1163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6CFC43CE-312C-CC1D-0867-9CAB78D3BDC8}"/>
                </a:ext>
              </a:extLst>
            </p:cNvPr>
            <p:cNvSpPr/>
            <p:nvPr/>
          </p:nvSpPr>
          <p:spPr>
            <a:xfrm>
              <a:off x="5853141" y="2580426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="" xmlns:a16="http://schemas.microsoft.com/office/drawing/2014/main" id="{52054C13-DF96-0311-7938-30530BBE6CA2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012696" y="2715788"/>
              <a:ext cx="575239" cy="168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6EEDC121-F607-FE73-E57A-90D5378D9C3D}"/>
                </a:ext>
              </a:extLst>
            </p:cNvPr>
            <p:cNvSpPr/>
            <p:nvPr/>
          </p:nvSpPr>
          <p:spPr>
            <a:xfrm>
              <a:off x="4587935" y="257926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ectangle 7">
                  <a:extLst>
                    <a:ext uri="{FF2B5EF4-FFF2-40B4-BE49-F238E27FC236}">
                      <a16:creationId xmlns="" xmlns:a16="http://schemas.microsoft.com/office/drawing/2014/main" id="{9C8FF9AB-00C9-B769-9AED-2DC857398DF7}"/>
                    </a:ext>
                  </a:extLst>
                </p:cNvPr>
                <p:cNvSpPr/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C8FF9AB-00C9-B769-9AED-2DC857398DF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8205" y="3736102"/>
                  <a:ext cx="332510" cy="29787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0" name="Straight Arrow Connector 19">
              <a:extLst>
                <a:ext uri="{FF2B5EF4-FFF2-40B4-BE49-F238E27FC236}">
                  <a16:creationId xmlns="" xmlns:a16="http://schemas.microsoft.com/office/drawing/2014/main" id="{254208A2-C0A3-CC7C-102B-529EF10CE5E0}"/>
                </a:ext>
              </a:extLst>
            </p:cNvPr>
            <p:cNvCxnSpPr>
              <a:stCxn id="8" idx="0"/>
              <a:endCxn id="17" idx="4"/>
            </p:cNvCxnSpPr>
            <p:nvPr/>
          </p:nvCxnSpPr>
          <p:spPr>
            <a:xfrm flipV="1">
              <a:off x="4724460" y="2852313"/>
              <a:ext cx="0" cy="883789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67D2E9AC-D0D7-5FF8-3056-16991D60205D}"/>
                    </a:ext>
                  </a:extLst>
                </p:cNvPr>
                <p:cNvSpPr txBox="1"/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67D2E9AC-D0D7-5FF8-3056-16991D602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9976" y="2480066"/>
                  <a:ext cx="66197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="" xmlns:a16="http://schemas.microsoft.com/office/drawing/2014/main" id="{79558D3F-5963-20E5-DEAE-BB393D386DFC}"/>
                    </a:ext>
                  </a:extLst>
                </p:cNvPr>
                <p:cNvSpPr txBox="1"/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9558D3F-5963-20E5-DEAE-BB393D386D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4939" y="3086237"/>
                  <a:ext cx="415947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41E5331B-7497-3EAB-612D-76B2411DE483}"/>
                </a:ext>
              </a:extLst>
            </p:cNvPr>
            <p:cNvSpPr/>
            <p:nvPr/>
          </p:nvSpPr>
          <p:spPr>
            <a:xfrm>
              <a:off x="5856481" y="32527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Rectangle 9">
                  <a:extLst>
                    <a:ext uri="{FF2B5EF4-FFF2-40B4-BE49-F238E27FC236}">
                      <a16:creationId xmlns="" xmlns:a16="http://schemas.microsoft.com/office/drawing/2014/main" id="{5F79EBCF-B49E-1CFB-4AB2-62E6C0D8D56C}"/>
                    </a:ext>
                  </a:extLst>
                </p:cNvPr>
                <p:cNvSpPr/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F79EBCF-B49E-1CFB-4AB2-62E6C0D8D5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344" y="3736102"/>
                  <a:ext cx="332510" cy="29787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574A35A4-9645-799F-CFAB-50CBB9BB146C}"/>
                </a:ext>
              </a:extLst>
            </p:cNvPr>
            <p:cNvSpPr/>
            <p:nvPr/>
          </p:nvSpPr>
          <p:spPr>
            <a:xfrm>
              <a:off x="5686483" y="3736102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="" xmlns:a16="http://schemas.microsoft.com/office/drawing/2014/main" id="{372D9875-E4CD-C4BF-D584-E170D8775680}"/>
                </a:ext>
              </a:extLst>
            </p:cNvPr>
            <p:cNvCxnSpPr>
              <a:cxnSpLocks/>
              <a:stCxn id="12" idx="0"/>
              <a:endCxn id="37" idx="4"/>
            </p:cNvCxnSpPr>
            <p:nvPr/>
          </p:nvCxnSpPr>
          <p:spPr>
            <a:xfrm flipH="1" flipV="1">
              <a:off x="5993006" y="3525802"/>
              <a:ext cx="868" cy="210300"/>
            </a:xfrm>
            <a:prstGeom prst="straightConnector1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Connector: Elbow 82">
              <a:extLst>
                <a:ext uri="{FF2B5EF4-FFF2-40B4-BE49-F238E27FC236}">
                  <a16:creationId xmlns="" xmlns:a16="http://schemas.microsoft.com/office/drawing/2014/main" id="{60BE383E-58A4-904C-1437-9E2DD4690B12}"/>
                </a:ext>
              </a:extLst>
            </p:cNvPr>
            <p:cNvCxnSpPr>
              <a:stCxn id="10" idx="0"/>
              <a:endCxn id="37" idx="2"/>
            </p:cNvCxnSpPr>
            <p:nvPr/>
          </p:nvCxnSpPr>
          <p:spPr>
            <a:xfrm rot="5400000" flipH="1" flipV="1">
              <a:off x="5399128" y="3278749"/>
              <a:ext cx="346825" cy="567882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="" xmlns:a16="http://schemas.microsoft.com/office/drawing/2014/main" id="{B44B526B-5C9D-0035-BEF6-CCF89FFA0A78}"/>
                </a:ext>
              </a:extLst>
            </p:cNvPr>
            <p:cNvCxnSpPr>
              <a:cxnSpLocks/>
              <a:stCxn id="37" idx="0"/>
              <a:endCxn id="48" idx="4"/>
            </p:cNvCxnSpPr>
            <p:nvPr/>
          </p:nvCxnSpPr>
          <p:spPr>
            <a:xfrm flipH="1" flipV="1">
              <a:off x="5989666" y="2853476"/>
              <a:ext cx="3340" cy="399276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="" xmlns:a16="http://schemas.microsoft.com/office/drawing/2014/main" id="{3CF19B3A-11ED-BF65-8794-A33574BF5B8D}"/>
                    </a:ext>
                  </a:extLst>
                </p:cNvPr>
                <p:cNvSpPr txBox="1"/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3CF19B3A-11ED-BF65-8794-A33574BF5B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7727" y="3030377"/>
                  <a:ext cx="39908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="" xmlns:a16="http://schemas.microsoft.com/office/drawing/2014/main" id="{084BF1A6-CB8D-11E0-69DF-1D0112A2A4FC}"/>
                    </a:ext>
                  </a:extLst>
                </p:cNvPr>
                <p:cNvSpPr txBox="1"/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084BF1A6-CB8D-11E0-69DF-1D0112A2A4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83458" y="3389277"/>
                  <a:ext cx="425501" cy="369332"/>
                </a:xfrm>
                <a:prstGeom prst="rect">
                  <a:avLst/>
                </a:prstGeom>
                <a:blipFill>
                  <a:blip r:embed="rId8"/>
                  <a:stretch>
                    <a:fillRect r="-231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E5E1E212-22FF-F303-C8DD-044D2FD556B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9" name="Connector: Elbow 18">
              <a:extLst>
                <a:ext uri="{FF2B5EF4-FFF2-40B4-BE49-F238E27FC236}">
                  <a16:creationId xmlns="" xmlns:a16="http://schemas.microsoft.com/office/drawing/2014/main" id="{FEB49339-2251-0621-3FB2-5F0777E8738C}"/>
                </a:ext>
              </a:extLst>
            </p:cNvPr>
            <p:cNvCxnSpPr>
              <a:cxnSpLocks/>
              <a:stCxn id="50" idx="3"/>
              <a:endCxn id="11" idx="2"/>
            </p:cNvCxnSpPr>
            <p:nvPr/>
          </p:nvCxnSpPr>
          <p:spPr>
            <a:xfrm flipV="1">
              <a:off x="4078784" y="4036770"/>
              <a:ext cx="2627638" cy="20005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D8D54B05-5AA3-748E-C625-27B672EE4CA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50185" y="2204176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="" xmlns:a16="http://schemas.microsoft.com/office/drawing/2014/main" id="{657E8D60-7374-6BC0-8074-CA18852806F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2357" y="2715838"/>
              <a:ext cx="625" cy="180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="" xmlns:a16="http://schemas.microsoft.com/office/drawing/2014/main" id="{4614BDFA-040F-E6C8-3A70-82B16A049EA3}"/>
                    </a:ext>
                  </a:extLst>
                </p:cNvPr>
                <p:cNvSpPr txBox="1"/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4614BDFA-040F-E6C8-3A70-82B16A049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39200" y="2529630"/>
                  <a:ext cx="442365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TextBox 52">
                  <a:extLst>
                    <a:ext uri="{FF2B5EF4-FFF2-40B4-BE49-F238E27FC236}">
                      <a16:creationId xmlns="" xmlns:a16="http://schemas.microsoft.com/office/drawing/2014/main" id="{7131B2AC-785B-6A00-6403-4173D30B3DBE}"/>
                    </a:ext>
                  </a:extLst>
                </p:cNvPr>
                <p:cNvSpPr txBox="1"/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7131B2AC-785B-6A00-6403-4173D30B3D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3392" y="1841814"/>
                  <a:ext cx="47121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6" name="Straight Connector 95">
              <a:extLst>
                <a:ext uri="{FF2B5EF4-FFF2-40B4-BE49-F238E27FC236}">
                  <a16:creationId xmlns="" xmlns:a16="http://schemas.microsoft.com/office/drawing/2014/main" id="{2F1CAFE8-16C4-F79F-5ED8-5BEB2A55D30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650185" y="2756590"/>
              <a:ext cx="625" cy="1476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3211A3E-6145-4D12-2D22-D70496F90575}"/>
                </a:ext>
              </a:extLst>
            </p:cNvPr>
            <p:cNvSpPr/>
            <p:nvPr/>
          </p:nvSpPr>
          <p:spPr>
            <a:xfrm>
              <a:off x="7100175" y="3328952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57" name="Straight Connector 56">
              <a:extLst>
                <a:ext uri="{FF2B5EF4-FFF2-40B4-BE49-F238E27FC236}">
                  <a16:creationId xmlns="" xmlns:a16="http://schemas.microsoft.com/office/drawing/2014/main" id="{19A8E8F3-38BE-87E6-D274-984A8015898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7236075" y="3192538"/>
              <a:ext cx="625" cy="144000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Rectangle 10">
                  <a:extLst>
                    <a:ext uri="{FF2B5EF4-FFF2-40B4-BE49-F238E27FC236}">
                      <a16:creationId xmlns="" xmlns:a16="http://schemas.microsoft.com/office/drawing/2014/main" id="{7B460A71-A162-3B2F-0534-D5097B71597C}"/>
                    </a:ext>
                  </a:extLst>
                </p:cNvPr>
                <p:cNvSpPr/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7B460A71-A162-3B2F-0534-D5097B7159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0167" y="3738898"/>
                  <a:ext cx="332510" cy="297872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8" name="Connector: Elbow 77">
              <a:extLst>
                <a:ext uri="{FF2B5EF4-FFF2-40B4-BE49-F238E27FC236}">
                  <a16:creationId xmlns="" xmlns:a16="http://schemas.microsoft.com/office/drawing/2014/main" id="{0D1C2C55-7250-38DB-BDFD-F1FDC6C7AC0F}"/>
                </a:ext>
              </a:extLst>
            </p:cNvPr>
            <p:cNvCxnSpPr>
              <a:cxnSpLocks/>
              <a:endCxn id="52" idx="2"/>
            </p:cNvCxnSpPr>
            <p:nvPr/>
          </p:nvCxnSpPr>
          <p:spPr>
            <a:xfrm flipV="1">
              <a:off x="6706422" y="3465477"/>
              <a:ext cx="393753" cy="270625"/>
            </a:xfrm>
            <a:prstGeom prst="bentConnector3">
              <a:avLst>
                <a:gd name="adj1" fmla="val 1620"/>
              </a:avLst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="" xmlns:a16="http://schemas.microsoft.com/office/drawing/2014/main" id="{AA96CA20-B5D2-5828-E8D6-0B6C6EA98888}"/>
                </a:ext>
              </a:extLst>
            </p:cNvPr>
            <p:cNvCxnSpPr>
              <a:cxnSpLocks/>
            </p:cNvCxnSpPr>
            <p:nvPr/>
          </p:nvCxnSpPr>
          <p:spPr>
            <a:xfrm>
              <a:off x="7233694" y="4241954"/>
              <a:ext cx="876634" cy="0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="" xmlns:a16="http://schemas.microsoft.com/office/drawing/2014/main" id="{D46B60D4-017B-0910-D204-0D84EE74F3CD}"/>
                </a:ext>
              </a:extLst>
            </p:cNvPr>
            <p:cNvCxnSpPr>
              <a:cxnSpLocks/>
              <a:endCxn id="52" idx="4"/>
            </p:cNvCxnSpPr>
            <p:nvPr/>
          </p:nvCxnSpPr>
          <p:spPr>
            <a:xfrm flipV="1">
              <a:off x="7236700" y="3602002"/>
              <a:ext cx="0" cy="63995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="" xmlns:a16="http://schemas.microsoft.com/office/drawing/2014/main" id="{AEB9BA74-F15E-4C0E-554A-8F737160BF12}"/>
                    </a:ext>
                  </a:extLst>
                </p:cNvPr>
                <p:cNvSpPr txBox="1"/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AEB9BA74-F15E-4C0E-554A-8F737160BF1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50010" y="4070439"/>
                  <a:ext cx="471218" cy="369332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6" name="Group 15">
              <a:extLst>
                <a:ext uri="{FF2B5EF4-FFF2-40B4-BE49-F238E27FC236}">
                  <a16:creationId xmlns="" xmlns:a16="http://schemas.microsoft.com/office/drawing/2014/main" id="{67FE728A-0062-CF04-49C7-136BF8661AD5}"/>
                </a:ext>
              </a:extLst>
            </p:cNvPr>
            <p:cNvGrpSpPr/>
            <p:nvPr/>
          </p:nvGrpSpPr>
          <p:grpSpPr>
            <a:xfrm>
              <a:off x="6922167" y="2849398"/>
              <a:ext cx="627482" cy="369332"/>
              <a:chOff x="6108367" y="2910505"/>
              <a:chExt cx="627482" cy="369332"/>
            </a:xfrm>
          </p:grpSpPr>
          <p:sp>
            <p:nvSpPr>
              <p:cNvPr id="13" name="Oval 12">
                <a:extLst>
                  <a:ext uri="{FF2B5EF4-FFF2-40B4-BE49-F238E27FC236}">
                    <a16:creationId xmlns="" xmlns:a16="http://schemas.microsoft.com/office/drawing/2014/main" id="{BC7D8FBB-5A16-AD70-891F-CF9586387C28}"/>
                  </a:ext>
                </a:extLst>
              </p:cNvPr>
              <p:cNvSpPr/>
              <p:nvPr/>
            </p:nvSpPr>
            <p:spPr>
              <a:xfrm>
                <a:off x="6108367" y="2964609"/>
                <a:ext cx="614781" cy="297873"/>
              </a:xfrm>
              <a:prstGeom prst="ellipse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050" dirty="0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="" xmlns:a16="http://schemas.microsoft.com/office/drawing/2014/main" id="{204CF9FF-C56F-CC88-41C7-A4068C357EFC}"/>
                  </a:ext>
                </a:extLst>
              </p:cNvPr>
              <p:cNvSpPr txBox="1"/>
              <p:nvPr/>
            </p:nvSpPr>
            <p:spPr>
              <a:xfrm>
                <a:off x="6108701" y="2910505"/>
                <a:ext cx="62714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pt-BR" dirty="0" err="1">
                    <a:solidFill>
                      <a:schemeClr val="tx1"/>
                    </a:solidFill>
                  </a:rPr>
                  <a:t>tanh</a:t>
                </a:r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="" xmlns:a16="http://schemas.microsoft.com/office/drawing/2014/main" id="{F84BDC07-58AB-814F-9F8F-8414DD043B2C}"/>
                    </a:ext>
                  </a:extLst>
                </p:cNvPr>
                <p:cNvSpPr txBox="1"/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F84BDC07-58AB-814F-9F8F-8414DD043B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87954" y="4052158"/>
                  <a:ext cx="690830" cy="369332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="" xmlns:a16="http://schemas.microsoft.com/office/drawing/2014/main" id="{1F9BEE74-0585-0BF9-6739-9B6E594E5FE2}"/>
                    </a:ext>
                  </a:extLst>
                </p:cNvPr>
                <p:cNvSpPr txBox="1"/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1F9BEE74-0585-0BF9-6739-9B6E594E5F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8133" y="4631386"/>
                  <a:ext cx="458394" cy="369332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TextBox 1">
              <a:extLst>
                <a:ext uri="{FF2B5EF4-FFF2-40B4-BE49-F238E27FC236}">
                  <a16:creationId xmlns="" xmlns:a16="http://schemas.microsoft.com/office/drawing/2014/main" id="{EA3F5154-2CA6-DA77-77EC-40A67ED99630}"/>
                </a:ext>
              </a:extLst>
            </p:cNvPr>
            <p:cNvSpPr txBox="1"/>
            <p:nvPr/>
          </p:nvSpPr>
          <p:spPr>
            <a:xfrm>
              <a:off x="5830072" y="1866123"/>
              <a:ext cx="73227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saída</a:t>
              </a:r>
              <a:endParaRPr lang="en-US" sz="1200" dirty="0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="" xmlns:a16="http://schemas.microsoft.com/office/drawing/2014/main" id="{92D561B4-41EA-C30D-E56D-D9342BDCD50E}"/>
                </a:ext>
              </a:extLst>
            </p:cNvPr>
            <p:cNvCxnSpPr>
              <a:cxnSpLocks/>
              <a:stCxn id="2" idx="2"/>
            </p:cNvCxnSpPr>
            <p:nvPr/>
          </p:nvCxnSpPr>
          <p:spPr>
            <a:xfrm>
              <a:off x="6196208" y="2327788"/>
              <a:ext cx="884662" cy="1052726"/>
            </a:xfrm>
            <a:prstGeom prst="straightConnector1">
              <a:avLst/>
            </a:prstGeom>
            <a:ln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="" xmlns:a16="http://schemas.microsoft.com/office/drawing/2014/main" id="{1783A325-B082-C554-B2BA-28AD9A80CD2C}"/>
                </a:ext>
              </a:extLst>
            </p:cNvPr>
            <p:cNvCxnSpPr>
              <a:cxnSpLocks/>
              <a:stCxn id="55" idx="0"/>
            </p:cNvCxnSpPr>
            <p:nvPr/>
          </p:nvCxnSpPr>
          <p:spPr>
            <a:xfrm flipH="1" flipV="1">
              <a:off x="4511399" y="4241954"/>
              <a:ext cx="5931" cy="389432"/>
            </a:xfrm>
            <a:prstGeom prst="line">
              <a:avLst/>
            </a:prstGeom>
            <a:ln w="1905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="" xmlns:a16="http://schemas.microsoft.com/office/drawing/2014/main" id="{9461D240-8679-EED9-2C4E-0B5228660B56}"/>
                    </a:ext>
                  </a:extLst>
                </p:cNvPr>
                <p:cNvSpPr txBox="1"/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𝒐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9461D240-8679-EED9-2C4E-0B5228660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67806" y="3192172"/>
                  <a:ext cx="458394" cy="369332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20111088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F794AEBB-1DB3-0C45-B06E-B6487708D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3" name="Group 132">
            <a:extLst>
              <a:ext uri="{FF2B5EF4-FFF2-40B4-BE49-F238E27FC236}">
                <a16:creationId xmlns="" xmlns:a16="http://schemas.microsoft.com/office/drawing/2014/main" id="{F7B7D8FC-9645-4A44-7D00-F1E2AE598CBE}"/>
              </a:ext>
            </a:extLst>
          </p:cNvPr>
          <p:cNvGrpSpPr/>
          <p:nvPr/>
        </p:nvGrpSpPr>
        <p:grpSpPr>
          <a:xfrm>
            <a:off x="3581399" y="2244873"/>
            <a:ext cx="4928922" cy="2579854"/>
            <a:chOff x="3581399" y="2244873"/>
            <a:chExt cx="4928922" cy="2579854"/>
          </a:xfrm>
        </p:grpSpPr>
        <p:sp>
          <p:nvSpPr>
            <p:cNvPr id="134" name="Rectangle: Rounded Corners 133">
              <a:extLst>
                <a:ext uri="{FF2B5EF4-FFF2-40B4-BE49-F238E27FC236}">
                  <a16:creationId xmlns="" xmlns:a16="http://schemas.microsoft.com/office/drawing/2014/main" id="{90050B18-8D3F-55EF-2EB2-32D909A3DEA1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35" name="Straight Arrow Connector 134">
              <a:extLst>
                <a:ext uri="{FF2B5EF4-FFF2-40B4-BE49-F238E27FC236}">
                  <a16:creationId xmlns="" xmlns:a16="http://schemas.microsoft.com/office/drawing/2014/main" id="{74C5C52F-9EF8-E099-77E3-78FBC698A9E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36" name="Oval 135">
              <a:extLst>
                <a:ext uri="{FF2B5EF4-FFF2-40B4-BE49-F238E27FC236}">
                  <a16:creationId xmlns="" xmlns:a16="http://schemas.microsoft.com/office/drawing/2014/main" id="{10C8CDDB-6BDF-ED81-4C18-815D38FC460E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7" name="Oval 136">
              <a:extLst>
                <a:ext uri="{FF2B5EF4-FFF2-40B4-BE49-F238E27FC236}">
                  <a16:creationId xmlns="" xmlns:a16="http://schemas.microsoft.com/office/drawing/2014/main" id="{C878417F-026D-C5E4-7CD5-9AF914BD3FA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8" name="Rectangle 137">
              <a:extLst>
                <a:ext uri="{FF2B5EF4-FFF2-40B4-BE49-F238E27FC236}">
                  <a16:creationId xmlns="" xmlns:a16="http://schemas.microsoft.com/office/drawing/2014/main" id="{3690F93B-C813-8543-60EE-FD8C453D5D34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39" name="Oval 138">
              <a:extLst>
                <a:ext uri="{FF2B5EF4-FFF2-40B4-BE49-F238E27FC236}">
                  <a16:creationId xmlns="" xmlns:a16="http://schemas.microsoft.com/office/drawing/2014/main" id="{D95F8E15-9ACA-85AA-D57F-195E21823AC0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0" name="TextBox 139">
                  <a:extLst>
                    <a:ext uri="{FF2B5EF4-FFF2-40B4-BE49-F238E27FC236}">
                      <a16:creationId xmlns="" xmlns:a16="http://schemas.microsoft.com/office/drawing/2014/main" id="{DAD0E2EE-D6B9-4EAA-3EA2-01FF5FF7F9A0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0" name="TextBox 139">
                  <a:extLst>
                    <a:ext uri="{FF2B5EF4-FFF2-40B4-BE49-F238E27FC236}">
                      <a16:creationId xmlns:a16="http://schemas.microsoft.com/office/drawing/2014/main" id="{DAD0E2EE-D6B9-4EAA-3EA2-01FF5FF7F9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1" name="Oval 140">
              <a:extLst>
                <a:ext uri="{FF2B5EF4-FFF2-40B4-BE49-F238E27FC236}">
                  <a16:creationId xmlns="" xmlns:a16="http://schemas.microsoft.com/office/drawing/2014/main" id="{C6E8D3F7-3B24-BD33-C5A8-30120A16C309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2" name="Rectangle 141">
                  <a:extLst>
                    <a:ext uri="{FF2B5EF4-FFF2-40B4-BE49-F238E27FC236}">
                      <a16:creationId xmlns="" xmlns:a16="http://schemas.microsoft.com/office/drawing/2014/main" id="{BA9026C2-ACF3-B134-C819-4C9178161B1B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2" name="Rectangle 141">
                  <a:extLst>
                    <a:ext uri="{FF2B5EF4-FFF2-40B4-BE49-F238E27FC236}">
                      <a16:creationId xmlns:a16="http://schemas.microsoft.com/office/drawing/2014/main" id="{BA9026C2-ACF3-B134-C819-4C9178161B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3" name="Rectangle 142">
                  <a:extLst>
                    <a:ext uri="{FF2B5EF4-FFF2-40B4-BE49-F238E27FC236}">
                      <a16:creationId xmlns="" xmlns:a16="http://schemas.microsoft.com/office/drawing/2014/main" id="{1628C659-015D-1DA5-CA6B-E8B9389E03EE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3" name="Rectangle 142">
                  <a:extLst>
                    <a:ext uri="{FF2B5EF4-FFF2-40B4-BE49-F238E27FC236}">
                      <a16:creationId xmlns:a16="http://schemas.microsoft.com/office/drawing/2014/main" id="{1628C659-015D-1DA5-CA6B-E8B9389E03E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Oval 143">
              <a:extLst>
                <a:ext uri="{FF2B5EF4-FFF2-40B4-BE49-F238E27FC236}">
                  <a16:creationId xmlns="" xmlns:a16="http://schemas.microsoft.com/office/drawing/2014/main" id="{A167DEAA-A4BC-3DC5-B475-EBB7590347D8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145" name="Straight Connector 144">
              <a:extLst>
                <a:ext uri="{FF2B5EF4-FFF2-40B4-BE49-F238E27FC236}">
                  <a16:creationId xmlns="" xmlns:a16="http://schemas.microsoft.com/office/drawing/2014/main" id="{117D1456-CB87-98A7-0EB1-D7D8E8F96920}"/>
                </a:ext>
              </a:extLst>
            </p:cNvPr>
            <p:cNvCxnSpPr>
              <a:cxnSpLocks/>
              <a:stCxn id="140" idx="3"/>
              <a:endCxn id="137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46" name="Straight Arrow Connector 145">
              <a:extLst>
                <a:ext uri="{FF2B5EF4-FFF2-40B4-BE49-F238E27FC236}">
                  <a16:creationId xmlns="" xmlns:a16="http://schemas.microsoft.com/office/drawing/2014/main" id="{58E46E7A-E1E3-D586-BCF0-E5340AD35998}"/>
                </a:ext>
              </a:extLst>
            </p:cNvPr>
            <p:cNvCxnSpPr>
              <a:cxnSpLocks/>
              <a:stCxn id="142" idx="0"/>
              <a:endCxn id="137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7" name="TextBox 146">
              <a:extLst>
                <a:ext uri="{FF2B5EF4-FFF2-40B4-BE49-F238E27FC236}">
                  <a16:creationId xmlns="" xmlns:a16="http://schemas.microsoft.com/office/drawing/2014/main" id="{2B2D2713-80F9-8691-6DD2-110DFD52B741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148" name="Straight Connector 147">
              <a:extLst>
                <a:ext uri="{FF2B5EF4-FFF2-40B4-BE49-F238E27FC236}">
                  <a16:creationId xmlns="" xmlns:a16="http://schemas.microsoft.com/office/drawing/2014/main" id="{89B28A53-8903-1E7F-2167-9D4D45F09B8D}"/>
                </a:ext>
              </a:extLst>
            </p:cNvPr>
            <p:cNvCxnSpPr>
              <a:stCxn id="137" idx="6"/>
              <a:endCxn id="139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9" name="Straight Arrow Connector 148">
              <a:extLst>
                <a:ext uri="{FF2B5EF4-FFF2-40B4-BE49-F238E27FC236}">
                  <a16:creationId xmlns="" xmlns:a16="http://schemas.microsoft.com/office/drawing/2014/main" id="{D4E7BBA5-09C3-80E0-1CAB-039A11EDF1AE}"/>
                </a:ext>
              </a:extLst>
            </p:cNvPr>
            <p:cNvCxnSpPr>
              <a:stCxn id="141" idx="0"/>
              <a:endCxn id="139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="" xmlns:a16="http://schemas.microsoft.com/office/drawing/2014/main" id="{92B680C6-14AA-8FD4-B377-1166A521DAE9}"/>
                </a:ext>
              </a:extLst>
            </p:cNvPr>
            <p:cNvCxnSpPr>
              <a:cxnSpLocks/>
              <a:stCxn id="138" idx="0"/>
              <a:endCxn id="141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1" name="Straight Arrow Connector 150">
              <a:extLst>
                <a:ext uri="{FF2B5EF4-FFF2-40B4-BE49-F238E27FC236}">
                  <a16:creationId xmlns="" xmlns:a16="http://schemas.microsoft.com/office/drawing/2014/main" id="{629C1E56-B71B-009E-0B81-04D4491F1D52}"/>
                </a:ext>
              </a:extLst>
            </p:cNvPr>
            <p:cNvCxnSpPr>
              <a:cxnSpLocks/>
              <a:stCxn id="139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2" name="TextBox 151">
                  <a:extLst>
                    <a:ext uri="{FF2B5EF4-FFF2-40B4-BE49-F238E27FC236}">
                      <a16:creationId xmlns="" xmlns:a16="http://schemas.microsoft.com/office/drawing/2014/main" id="{13433DA1-D8F5-0EEE-EEC8-A05EC5E55CC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2" name="TextBox 151">
                  <a:extLst>
                    <a:ext uri="{FF2B5EF4-FFF2-40B4-BE49-F238E27FC236}">
                      <a16:creationId xmlns:a16="http://schemas.microsoft.com/office/drawing/2014/main" id="{13433DA1-D8F5-0EEE-EEC8-A05EC5E55C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3" name="Connector: Elbow 152">
              <a:extLst>
                <a:ext uri="{FF2B5EF4-FFF2-40B4-BE49-F238E27FC236}">
                  <a16:creationId xmlns="" xmlns:a16="http://schemas.microsoft.com/office/drawing/2014/main" id="{105EEC1D-3C43-F2A9-88AE-42FA04BF1309}"/>
                </a:ext>
              </a:extLst>
            </p:cNvPr>
            <p:cNvCxnSpPr>
              <a:stCxn id="143" idx="0"/>
              <a:endCxn id="136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4" name="Straight Connector 153">
              <a:extLst>
                <a:ext uri="{FF2B5EF4-FFF2-40B4-BE49-F238E27FC236}">
                  <a16:creationId xmlns="" xmlns:a16="http://schemas.microsoft.com/office/drawing/2014/main" id="{2EE7824F-8399-FB24-5842-DC6000E156F9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5" name="Connector: Elbow 154">
              <a:extLst>
                <a:ext uri="{FF2B5EF4-FFF2-40B4-BE49-F238E27FC236}">
                  <a16:creationId xmlns="" xmlns:a16="http://schemas.microsoft.com/office/drawing/2014/main" id="{BB4CE004-4534-6E2D-73FA-39554F4B499D}"/>
                </a:ext>
              </a:extLst>
            </p:cNvPr>
            <p:cNvCxnSpPr>
              <a:stCxn id="136" idx="4"/>
              <a:endCxn id="138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6" name="TextBox 155">
                  <a:extLst>
                    <a:ext uri="{FF2B5EF4-FFF2-40B4-BE49-F238E27FC236}">
                      <a16:creationId xmlns="" xmlns:a16="http://schemas.microsoft.com/office/drawing/2014/main" id="{62C37C40-4525-A06C-71DB-6F6890D83DE4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6" name="TextBox 155">
                  <a:extLst>
                    <a:ext uri="{FF2B5EF4-FFF2-40B4-BE49-F238E27FC236}">
                      <a16:creationId xmlns:a16="http://schemas.microsoft.com/office/drawing/2014/main" id="{62C37C40-4525-A06C-71DB-6F6890D83DE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7" name="Connector: Elbow 156">
              <a:extLst>
                <a:ext uri="{FF2B5EF4-FFF2-40B4-BE49-F238E27FC236}">
                  <a16:creationId xmlns="" xmlns:a16="http://schemas.microsoft.com/office/drawing/2014/main" id="{F21A6FE6-B20A-D2B8-1A2A-BF0CD68E032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8" name="Straight Connector 157">
              <a:extLst>
                <a:ext uri="{FF2B5EF4-FFF2-40B4-BE49-F238E27FC236}">
                  <a16:creationId xmlns="" xmlns:a16="http://schemas.microsoft.com/office/drawing/2014/main" id="{6C9CC7CA-AB4F-1D5E-EE6E-AA03D2E71EB1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: Elbow 158">
              <a:extLst>
                <a:ext uri="{FF2B5EF4-FFF2-40B4-BE49-F238E27FC236}">
                  <a16:creationId xmlns="" xmlns:a16="http://schemas.microsoft.com/office/drawing/2014/main" id="{CA24E0D2-DBB3-B807-0058-DB1675A40AD5}"/>
                </a:ext>
              </a:extLst>
            </p:cNvPr>
            <p:cNvCxnSpPr>
              <a:cxnSpLocks/>
              <a:stCxn id="160" idx="2"/>
              <a:endCxn id="142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0" name="Freeform: Shape 159">
              <a:extLst>
                <a:ext uri="{FF2B5EF4-FFF2-40B4-BE49-F238E27FC236}">
                  <a16:creationId xmlns="" xmlns:a16="http://schemas.microsoft.com/office/drawing/2014/main" id="{388429B5-EC77-54D8-F1D7-DD4559DEA260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1" name="Straight Connector 160">
              <a:extLst>
                <a:ext uri="{FF2B5EF4-FFF2-40B4-BE49-F238E27FC236}">
                  <a16:creationId xmlns="" xmlns:a16="http://schemas.microsoft.com/office/drawing/2014/main" id="{EB9F10BE-C0D9-DCE6-20B3-0600C34F7790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Freeform: Shape 161">
              <a:extLst>
                <a:ext uri="{FF2B5EF4-FFF2-40B4-BE49-F238E27FC236}">
                  <a16:creationId xmlns="" xmlns:a16="http://schemas.microsoft.com/office/drawing/2014/main" id="{1F9CCA16-0915-4D37-C307-5E13D4257933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="" xmlns:a16="http://schemas.microsoft.com/office/drawing/2014/main" id="{2472D226-670D-5BCA-F37F-C3B918721002}"/>
                </a:ext>
              </a:extLst>
            </p:cNvPr>
            <p:cNvCxnSpPr>
              <a:cxnSpLocks/>
              <a:stCxn id="143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4" name="TextBox 163">
                  <a:extLst>
                    <a:ext uri="{FF2B5EF4-FFF2-40B4-BE49-F238E27FC236}">
                      <a16:creationId xmlns="" xmlns:a16="http://schemas.microsoft.com/office/drawing/2014/main" id="{AF66BBF7-1C5B-A091-3F98-EC9EFC352EA7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𝒕</m:t>
                            </m:r>
                          </m:sub>
                        </m:sSub>
                      </m:oMath>
                    </m:oMathPara>
                  </a14:m>
                  <a:endParaRPr lang="en-US" b="1" dirty="0"/>
                </a:p>
              </p:txBody>
            </p:sp>
          </mc:Choice>
          <mc:Fallback xmlns="">
            <p:sp>
              <p:nvSpPr>
                <p:cNvPr id="164" name="TextBox 163">
                  <a:extLst>
                    <a:ext uri="{FF2B5EF4-FFF2-40B4-BE49-F238E27FC236}">
                      <a16:creationId xmlns:a16="http://schemas.microsoft.com/office/drawing/2014/main" id="{AF66BBF7-1C5B-A091-3F98-EC9EFC352E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36273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="" xmlns:a16="http://schemas.microsoft.com/office/drawing/2014/main" id="{3DD599C4-3F95-4407-2AF1-A0D0C08AD7CC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3DD599C4-3F95-4407-2AF1-A0D0C08AD7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6" name="TextBox 165">
                  <a:extLst>
                    <a:ext uri="{FF2B5EF4-FFF2-40B4-BE49-F238E27FC236}">
                      <a16:creationId xmlns="" xmlns:a16="http://schemas.microsoft.com/office/drawing/2014/main" id="{450F4BB0-A5D6-64C7-220A-31E7EF22B78D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6" name="TextBox 165">
                  <a:extLst>
                    <a:ext uri="{FF2B5EF4-FFF2-40B4-BE49-F238E27FC236}">
                      <a16:creationId xmlns:a16="http://schemas.microsoft.com/office/drawing/2014/main" id="{450F4BB0-A5D6-64C7-220A-31E7EF22B7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3" name="Straight Arrow Connector 172">
              <a:extLst>
                <a:ext uri="{FF2B5EF4-FFF2-40B4-BE49-F238E27FC236}">
                  <a16:creationId xmlns="" xmlns:a16="http://schemas.microsoft.com/office/drawing/2014/main" id="{392EC775-E042-840D-378B-90F1077C2FE0}"/>
                </a:ext>
              </a:extLst>
            </p:cNvPr>
            <p:cNvCxnSpPr>
              <a:cxnSpLocks/>
              <a:endCxn id="144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4" name="Straight Arrow Connector 173">
              <a:extLst>
                <a:ext uri="{FF2B5EF4-FFF2-40B4-BE49-F238E27FC236}">
                  <a16:creationId xmlns="" xmlns:a16="http://schemas.microsoft.com/office/drawing/2014/main" id="{52896F66-9320-EEE1-2DE9-C988426FD4C8}"/>
                </a:ext>
              </a:extLst>
            </p:cNvPr>
            <p:cNvCxnSpPr>
              <a:cxnSpLocks/>
              <a:stCxn id="144" idx="6"/>
              <a:endCxn id="141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33745027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562252F6-7CF6-0CB5-2A37-B62D170C7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="" xmlns:a16="http://schemas.microsoft.com/office/drawing/2014/main" id="{5D8E9F3C-B497-3F06-40DA-7AF6840F84ED}"/>
              </a:ext>
            </a:extLst>
          </p:cNvPr>
          <p:cNvGrpSpPr/>
          <p:nvPr/>
        </p:nvGrpSpPr>
        <p:grpSpPr>
          <a:xfrm>
            <a:off x="3581399" y="1829242"/>
            <a:ext cx="4928922" cy="2995485"/>
            <a:chOff x="3581399" y="1829242"/>
            <a:chExt cx="4928922" cy="2995485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="" xmlns:a16="http://schemas.microsoft.com/office/drawing/2014/main" id="{BA002826-58F0-2B0D-1038-C97581B5271D}"/>
                </a:ext>
              </a:extLst>
            </p:cNvPr>
            <p:cNvSpPr/>
            <p:nvPr/>
          </p:nvSpPr>
          <p:spPr>
            <a:xfrm>
              <a:off x="4301176" y="2438400"/>
              <a:ext cx="3522024" cy="1981200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  <a:alpha val="88000"/>
              </a:schemeClr>
            </a:solidFill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93" name="Straight Arrow Connector 92">
              <a:extLst>
                <a:ext uri="{FF2B5EF4-FFF2-40B4-BE49-F238E27FC236}">
                  <a16:creationId xmlns="" xmlns:a16="http://schemas.microsoft.com/office/drawing/2014/main" id="{1B79736A-236D-E3D9-6C83-C58E440FA7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24149" y="2244873"/>
              <a:ext cx="0" cy="468000"/>
            </a:xfrm>
            <a:prstGeom prst="straightConnector1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37" name="Oval 36">
              <a:extLst>
                <a:ext uri="{FF2B5EF4-FFF2-40B4-BE49-F238E27FC236}">
                  <a16:creationId xmlns="" xmlns:a16="http://schemas.microsoft.com/office/drawing/2014/main" id="{D2414ECA-C1B7-3469-AA7E-EC751760A2ED}"/>
                </a:ext>
              </a:extLst>
            </p:cNvPr>
            <p:cNvSpPr/>
            <p:nvPr/>
          </p:nvSpPr>
          <p:spPr>
            <a:xfrm>
              <a:off x="4733602" y="31878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2" name="Oval 51">
              <a:extLst>
                <a:ext uri="{FF2B5EF4-FFF2-40B4-BE49-F238E27FC236}">
                  <a16:creationId xmlns="" xmlns:a16="http://schemas.microsoft.com/office/drawing/2014/main" id="{ED51A595-29D8-A07D-C3F0-F222BCFA01C8}"/>
                </a:ext>
              </a:extLst>
            </p:cNvPr>
            <p:cNvSpPr/>
            <p:nvPr/>
          </p:nvSpPr>
          <p:spPr>
            <a:xfrm>
              <a:off x="6236481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="" xmlns:a16="http://schemas.microsoft.com/office/drawing/2014/main" id="{440BE548-A72A-2BF0-59F6-02658DA115FF}"/>
                </a:ext>
              </a:extLst>
            </p:cNvPr>
            <p:cNvSpPr/>
            <p:nvPr/>
          </p:nvSpPr>
          <p:spPr>
            <a:xfrm>
              <a:off x="7076731" y="3612407"/>
              <a:ext cx="614781" cy="297872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 err="1">
                  <a:solidFill>
                    <a:schemeClr val="tx1"/>
                  </a:solidFill>
                </a:rPr>
                <a:t>tanh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="" xmlns:a16="http://schemas.microsoft.com/office/drawing/2014/main" id="{E6D8DDBB-3D1C-6DFC-433F-295B122112B7}"/>
                </a:ext>
              </a:extLst>
            </p:cNvPr>
            <p:cNvSpPr/>
            <p:nvPr/>
          </p:nvSpPr>
          <p:spPr>
            <a:xfrm>
              <a:off x="7247597" y="2576348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+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="" xmlns:a16="http://schemas.microsoft.com/office/drawing/2014/main" id="{24262BB3-B947-8525-67E1-678650132CEC}"/>
                    </a:ext>
                  </a:extLst>
                </p:cNvPr>
                <p:cNvSpPr txBox="1"/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24262BB3-B947-8525-67E1-678650132C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81399" y="2520191"/>
                  <a:ext cx="511583" cy="369332"/>
                </a:xfrm>
                <a:prstGeom prst="rect">
                  <a:avLst/>
                </a:prstGeom>
                <a:blipFill>
                  <a:blip r:embed="rId3"/>
                  <a:stretch>
                    <a:fillRect r="-1428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" name="Oval 3">
              <a:extLst>
                <a:ext uri="{FF2B5EF4-FFF2-40B4-BE49-F238E27FC236}">
                  <a16:creationId xmlns="" xmlns:a16="http://schemas.microsoft.com/office/drawing/2014/main" id="{1A0E8F15-DE4D-390E-F4A4-F035B779E166}"/>
                </a:ext>
              </a:extLst>
            </p:cNvPr>
            <p:cNvSpPr/>
            <p:nvPr/>
          </p:nvSpPr>
          <p:spPr>
            <a:xfrm>
              <a:off x="7247597" y="3086265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x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Rectangle 13">
                  <a:extLst>
                    <a:ext uri="{FF2B5EF4-FFF2-40B4-BE49-F238E27FC236}">
                      <a16:creationId xmlns="" xmlns:a16="http://schemas.microsoft.com/office/drawing/2014/main" id="{9213067C-7827-348E-6613-891F3A96783C}"/>
                    </a:ext>
                  </a:extLst>
                </p:cNvPr>
                <p:cNvSpPr/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9213067C-7827-348E-6613-891F3A96783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6433" y="3607165"/>
                  <a:ext cx="332510" cy="29787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>
                  <a:extLst>
                    <a:ext uri="{FF2B5EF4-FFF2-40B4-BE49-F238E27FC236}">
                      <a16:creationId xmlns="" xmlns:a16="http://schemas.microsoft.com/office/drawing/2014/main" id="{D9360C69-650C-8769-4C8B-CFCD0CF33DA6}"/>
                    </a:ext>
                  </a:extLst>
                </p:cNvPr>
                <p:cNvSpPr/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D9360C69-650C-8769-4C8B-CFCD0CF33DA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26611" y="3610051"/>
                  <a:ext cx="332510" cy="29787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Oval 16">
              <a:extLst>
                <a:ext uri="{FF2B5EF4-FFF2-40B4-BE49-F238E27FC236}">
                  <a16:creationId xmlns="" xmlns:a16="http://schemas.microsoft.com/office/drawing/2014/main" id="{C0629450-C119-502D-C9FE-A91B3C7D5847}"/>
                </a:ext>
              </a:extLst>
            </p:cNvPr>
            <p:cNvSpPr/>
            <p:nvPr/>
          </p:nvSpPr>
          <p:spPr>
            <a:xfrm>
              <a:off x="6680078" y="3084943"/>
              <a:ext cx="273050" cy="273050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000" dirty="0">
                <a:solidFill>
                  <a:schemeClr val="tx1"/>
                </a:solidFill>
              </a:endParaRPr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="" xmlns:a16="http://schemas.microsoft.com/office/drawing/2014/main" id="{54C05E61-D20B-738A-2DA6-6C154D176A9D}"/>
                </a:ext>
              </a:extLst>
            </p:cNvPr>
            <p:cNvCxnSpPr>
              <a:cxnSpLocks/>
              <a:stCxn id="5" idx="3"/>
              <a:endCxn id="52" idx="2"/>
            </p:cNvCxnSpPr>
            <p:nvPr/>
          </p:nvCxnSpPr>
          <p:spPr>
            <a:xfrm>
              <a:off x="4092982" y="2704857"/>
              <a:ext cx="2143499" cy="8016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="" xmlns:a16="http://schemas.microsoft.com/office/drawing/2014/main" id="{AA92D7CB-640B-D967-DC02-4066C5EB26AA}"/>
                </a:ext>
              </a:extLst>
            </p:cNvPr>
            <p:cNvCxnSpPr>
              <a:cxnSpLocks/>
              <a:stCxn id="14" idx="0"/>
              <a:endCxn id="52" idx="4"/>
            </p:cNvCxnSpPr>
            <p:nvPr/>
          </p:nvCxnSpPr>
          <p:spPr>
            <a:xfrm flipV="1">
              <a:off x="6372688" y="2849398"/>
              <a:ext cx="318" cy="7577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="" xmlns:a16="http://schemas.microsoft.com/office/drawing/2014/main" id="{0D1B64B4-7D6A-099F-591C-1F74EE2899F3}"/>
                </a:ext>
              </a:extLst>
            </p:cNvPr>
            <p:cNvSpPr txBox="1"/>
            <p:nvPr/>
          </p:nvSpPr>
          <p:spPr>
            <a:xfrm>
              <a:off x="6643013" y="3036802"/>
              <a:ext cx="36993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pt-BR" dirty="0">
                  <a:solidFill>
                    <a:schemeClr val="tx1"/>
                  </a:solidFill>
                </a:rPr>
                <a:t>1-</a:t>
              </a:r>
              <a:endParaRPr lang="en-US" dirty="0">
                <a:solidFill>
                  <a:schemeClr val="tx1"/>
                </a:solidFill>
              </a:endParaRPr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="" xmlns:a16="http://schemas.microsoft.com/office/drawing/2014/main" id="{F1C8C073-B9C6-A980-3D68-03DD6E4321DA}"/>
                </a:ext>
              </a:extLst>
            </p:cNvPr>
            <p:cNvCxnSpPr>
              <a:stCxn id="52" idx="6"/>
              <a:endCxn id="48" idx="2"/>
            </p:cNvCxnSpPr>
            <p:nvPr/>
          </p:nvCxnSpPr>
          <p:spPr>
            <a:xfrm>
              <a:off x="6509531" y="2712873"/>
              <a:ext cx="73806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Arrow Connector 53">
              <a:extLst>
                <a:ext uri="{FF2B5EF4-FFF2-40B4-BE49-F238E27FC236}">
                  <a16:creationId xmlns="" xmlns:a16="http://schemas.microsoft.com/office/drawing/2014/main" id="{E2228004-25D2-FC50-BB67-5122D67A3E40}"/>
                </a:ext>
              </a:extLst>
            </p:cNvPr>
            <p:cNvCxnSpPr>
              <a:stCxn id="4" idx="0"/>
              <a:endCxn id="48" idx="4"/>
            </p:cNvCxnSpPr>
            <p:nvPr/>
          </p:nvCxnSpPr>
          <p:spPr>
            <a:xfrm flipV="1">
              <a:off x="7384122" y="2849398"/>
              <a:ext cx="0" cy="236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="" xmlns:a16="http://schemas.microsoft.com/office/drawing/2014/main" id="{8224F3CC-FC36-8E12-DB65-87AA483CCE92}"/>
                </a:ext>
              </a:extLst>
            </p:cNvPr>
            <p:cNvCxnSpPr>
              <a:cxnSpLocks/>
              <a:stCxn id="12" idx="0"/>
              <a:endCxn id="4" idx="4"/>
            </p:cNvCxnSpPr>
            <p:nvPr/>
          </p:nvCxnSpPr>
          <p:spPr>
            <a:xfrm flipV="1">
              <a:off x="7384122" y="3359315"/>
              <a:ext cx="0" cy="253092"/>
            </a:xfrm>
            <a:prstGeom prst="line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Straight Arrow Connector 75">
              <a:extLst>
                <a:ext uri="{FF2B5EF4-FFF2-40B4-BE49-F238E27FC236}">
                  <a16:creationId xmlns="" xmlns:a16="http://schemas.microsoft.com/office/drawing/2014/main" id="{FC4C760C-41A3-2B9F-BDBD-EACAF2930C86}"/>
                </a:ext>
              </a:extLst>
            </p:cNvPr>
            <p:cNvCxnSpPr>
              <a:cxnSpLocks/>
              <a:stCxn id="48" idx="6"/>
            </p:cNvCxnSpPr>
            <p:nvPr/>
          </p:nvCxnSpPr>
          <p:spPr>
            <a:xfrm>
              <a:off x="7520646" y="2712873"/>
              <a:ext cx="648000" cy="311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="" xmlns:a16="http://schemas.microsoft.com/office/drawing/2014/main" id="{488590DC-E339-4D94-6CCB-A85E1063A95C}"/>
                    </a:ext>
                  </a:extLst>
                </p:cNvPr>
                <p:cNvSpPr txBox="1"/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𝒉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488590DC-E339-4D94-6CCB-A85E1063A9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46477" y="2520191"/>
                  <a:ext cx="363844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ctor: Elbow 86">
              <a:extLst>
                <a:ext uri="{FF2B5EF4-FFF2-40B4-BE49-F238E27FC236}">
                  <a16:creationId xmlns="" xmlns:a16="http://schemas.microsoft.com/office/drawing/2014/main" id="{540822DA-C440-2FF8-1393-44F98D89EC54}"/>
                </a:ext>
              </a:extLst>
            </p:cNvPr>
            <p:cNvCxnSpPr>
              <a:stCxn id="19" idx="0"/>
              <a:endCxn id="37" idx="6"/>
            </p:cNvCxnSpPr>
            <p:nvPr/>
          </p:nvCxnSpPr>
          <p:spPr>
            <a:xfrm rot="16200000" flipV="1">
              <a:off x="5106929" y="3224114"/>
              <a:ext cx="285661" cy="486214"/>
            </a:xfrm>
            <a:prstGeom prst="bentConnector2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="" xmlns:a16="http://schemas.microsoft.com/office/drawing/2014/main" id="{180749C7-0E69-D172-CFA1-210BCB96C9E1}"/>
                </a:ext>
              </a:extLst>
            </p:cNvPr>
            <p:cNvCxnSpPr/>
            <p:nvPr/>
          </p:nvCxnSpPr>
          <p:spPr>
            <a:xfrm flipV="1">
              <a:off x="4870127" y="2712873"/>
              <a:ext cx="0" cy="474992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91" name="Connector: Elbow 90">
              <a:extLst>
                <a:ext uri="{FF2B5EF4-FFF2-40B4-BE49-F238E27FC236}">
                  <a16:creationId xmlns="" xmlns:a16="http://schemas.microsoft.com/office/drawing/2014/main" id="{641E2C6D-8BAA-2586-960B-35BF5D6E68FC}"/>
                </a:ext>
              </a:extLst>
            </p:cNvPr>
            <p:cNvCxnSpPr>
              <a:stCxn id="37" idx="4"/>
              <a:endCxn id="12" idx="2"/>
            </p:cNvCxnSpPr>
            <p:nvPr/>
          </p:nvCxnSpPr>
          <p:spPr>
            <a:xfrm rot="16200000" flipH="1">
              <a:off x="5902442" y="2428599"/>
              <a:ext cx="449364" cy="2513995"/>
            </a:xfrm>
            <a:prstGeom prst="bentConnector3">
              <a:avLst>
                <a:gd name="adj1" fmla="val 171009"/>
              </a:avLst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8" name="TextBox 97">
                  <a:extLst>
                    <a:ext uri="{FF2B5EF4-FFF2-40B4-BE49-F238E27FC236}">
                      <a16:creationId xmlns="" xmlns:a16="http://schemas.microsoft.com/office/drawing/2014/main" id="{775ACD4F-2125-CA2F-A6D1-F0CFBF0C345E}"/>
                    </a:ext>
                  </a:extLst>
                </p:cNvPr>
                <p:cNvSpPr txBox="1"/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8" name="TextBox 97">
                  <a:extLst>
                    <a:ext uri="{FF2B5EF4-FFF2-40B4-BE49-F238E27FC236}">
                      <a16:creationId xmlns:a16="http://schemas.microsoft.com/office/drawing/2014/main" id="{775ACD4F-2125-CA2F-A6D1-F0CFBF0C3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0792" y="4455395"/>
                  <a:ext cx="458394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4" name="Connector: Elbow 103">
              <a:extLst>
                <a:ext uri="{FF2B5EF4-FFF2-40B4-BE49-F238E27FC236}">
                  <a16:creationId xmlns="" xmlns:a16="http://schemas.microsoft.com/office/drawing/2014/main" id="{0DE47F14-750D-68C0-E1AD-B3723EE38EFD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779325" y="2625890"/>
              <a:ext cx="320409" cy="2889186"/>
            </a:xfrm>
            <a:prstGeom prst="bentConnector2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="" xmlns:a16="http://schemas.microsoft.com/office/drawing/2014/main" id="{716C0B98-441D-08AF-01CE-CB39C12BF5BC}"/>
                </a:ext>
              </a:extLst>
            </p:cNvPr>
            <p:cNvCxnSpPr/>
            <p:nvPr/>
          </p:nvCxnSpPr>
          <p:spPr>
            <a:xfrm flipV="1">
              <a:off x="4502150" y="2712873"/>
              <a:ext cx="0" cy="1111415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Connector: Elbow 110">
              <a:extLst>
                <a:ext uri="{FF2B5EF4-FFF2-40B4-BE49-F238E27FC236}">
                  <a16:creationId xmlns="" xmlns:a16="http://schemas.microsoft.com/office/drawing/2014/main" id="{737121D0-0380-2E97-A3BF-0A624A417999}"/>
                </a:ext>
              </a:extLst>
            </p:cNvPr>
            <p:cNvCxnSpPr>
              <a:cxnSpLocks/>
              <a:stCxn id="114" idx="2"/>
              <a:endCxn id="14" idx="2"/>
            </p:cNvCxnSpPr>
            <p:nvPr/>
          </p:nvCxnSpPr>
          <p:spPr>
            <a:xfrm flipV="1">
              <a:off x="4600574" y="3905037"/>
              <a:ext cx="1772114" cy="124675"/>
            </a:xfrm>
            <a:prstGeom prst="bentConnector2">
              <a:avLst/>
            </a:prstGeom>
            <a:ln w="19050"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14" name="Freeform: Shape 113">
              <a:extLst>
                <a:ext uri="{FF2B5EF4-FFF2-40B4-BE49-F238E27FC236}">
                  <a16:creationId xmlns="" xmlns:a16="http://schemas.microsoft.com/office/drawing/2014/main" id="{11A13A5E-D171-20F2-D972-AD32DF855867}"/>
                </a:ext>
              </a:extLst>
            </p:cNvPr>
            <p:cNvSpPr/>
            <p:nvPr/>
          </p:nvSpPr>
          <p:spPr>
            <a:xfrm>
              <a:off x="4495799" y="3802856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2" name="Straight Connector 121">
              <a:extLst>
                <a:ext uri="{FF2B5EF4-FFF2-40B4-BE49-F238E27FC236}">
                  <a16:creationId xmlns="" xmlns:a16="http://schemas.microsoft.com/office/drawing/2014/main" id="{4CA64C18-D2EA-8E55-6B93-5C413921DD43}"/>
                </a:ext>
              </a:extLst>
            </p:cNvPr>
            <p:cNvCxnSpPr/>
            <p:nvPr/>
          </p:nvCxnSpPr>
          <p:spPr>
            <a:xfrm flipV="1">
              <a:off x="4500561" y="4140756"/>
              <a:ext cx="0" cy="3960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Freeform: Shape 122">
              <a:extLst>
                <a:ext uri="{FF2B5EF4-FFF2-40B4-BE49-F238E27FC236}">
                  <a16:creationId xmlns="" xmlns:a16="http://schemas.microsoft.com/office/drawing/2014/main" id="{B1F4FBC4-364C-A19F-A81D-DA38A3FDF67F}"/>
                </a:ext>
              </a:extLst>
            </p:cNvPr>
            <p:cNvSpPr/>
            <p:nvPr/>
          </p:nvSpPr>
          <p:spPr>
            <a:xfrm rot="5170363">
              <a:off x="4558343" y="3970802"/>
              <a:ext cx="104775" cy="226856"/>
            </a:xfrm>
            <a:custGeom>
              <a:avLst/>
              <a:gdLst>
                <a:gd name="csX0" fmla="*/ 6107 w 106120"/>
                <a:gd name="csY0" fmla="*/ 0 h 214313"/>
                <a:gd name="csX1" fmla="*/ 10870 w 106120"/>
                <a:gd name="csY1" fmla="*/ 157163 h 214313"/>
                <a:gd name="csX2" fmla="*/ 106120 w 106120"/>
                <a:gd name="csY2" fmla="*/ 214313 h 2143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06120" h="214313">
                  <a:moveTo>
                    <a:pt x="6107" y="0"/>
                  </a:moveTo>
                  <a:cubicBezTo>
                    <a:pt x="154" y="60722"/>
                    <a:pt x="-5799" y="121444"/>
                    <a:pt x="10870" y="157163"/>
                  </a:cubicBezTo>
                  <a:cubicBezTo>
                    <a:pt x="27539" y="192882"/>
                    <a:pt x="66829" y="203597"/>
                    <a:pt x="106120" y="214313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6" name="Straight Connector 125">
              <a:extLst>
                <a:ext uri="{FF2B5EF4-FFF2-40B4-BE49-F238E27FC236}">
                  <a16:creationId xmlns="" xmlns:a16="http://schemas.microsoft.com/office/drawing/2014/main" id="{A4AFA3A5-3D61-AD77-0FD5-E05A04A78770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>
              <a:off x="5492866" y="3907923"/>
              <a:ext cx="0" cy="116465"/>
            </a:xfrm>
            <a:prstGeom prst="line">
              <a:avLst/>
            </a:prstGeom>
            <a:ln w="19050">
              <a:headEnd type="triangl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9" name="TextBox 128">
                  <a:extLst>
                    <a:ext uri="{FF2B5EF4-FFF2-40B4-BE49-F238E27FC236}">
                      <a16:creationId xmlns="" xmlns:a16="http://schemas.microsoft.com/office/drawing/2014/main" id="{2ADCA7E5-A076-5B32-BC9D-A16A6D795C3A}"/>
                    </a:ext>
                  </a:extLst>
                </p:cNvPr>
                <p:cNvSpPr txBox="1"/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9" name="TextBox 128">
                  <a:extLst>
                    <a:ext uri="{FF2B5EF4-FFF2-40B4-BE49-F238E27FC236}">
                      <a16:creationId xmlns:a16="http://schemas.microsoft.com/office/drawing/2014/main" id="{2ADCA7E5-A076-5B32-BC9D-A16A6D795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02906" y="3222817"/>
                  <a:ext cx="443968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="" xmlns:a16="http://schemas.microsoft.com/office/drawing/2014/main" id="{30D44200-682E-3C64-7263-CD46DB66F451}"/>
                    </a:ext>
                  </a:extLst>
                </p:cNvPr>
                <p:cNvSpPr txBox="1"/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1" i="1" smtClean="0">
                                <a:latin typeface="Cambria Math" panose="02040503050406030204" pitchFamily="18" charset="0"/>
                              </a:rPr>
                              <m:t>𝒓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30D44200-682E-3C64-7263-CD46DB66F45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22198" y="3247949"/>
                  <a:ext cx="448777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="" xmlns:a16="http://schemas.microsoft.com/office/drawing/2014/main" id="{6700C2E8-30BB-D3C5-50C9-1951D85495E1}"/>
                    </a:ext>
                  </a:extLst>
                </p:cNvPr>
                <p:cNvSpPr txBox="1"/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en-US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𝒉</m:t>
                                </m:r>
                              </m:e>
                            </m:acc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6700C2E8-30BB-D3C5-50C9-1951D85495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76868" y="3269551"/>
                  <a:ext cx="471218" cy="383759"/>
                </a:xfrm>
                <a:prstGeom prst="rect">
                  <a:avLst/>
                </a:prstGeom>
                <a:blipFill>
                  <a:blip r:embed="rId10"/>
                  <a:stretch>
                    <a:fillRect t="-7937" r="-519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" name="Rectangle 1">
              <a:extLst>
                <a:ext uri="{FF2B5EF4-FFF2-40B4-BE49-F238E27FC236}">
                  <a16:creationId xmlns="" xmlns:a16="http://schemas.microsoft.com/office/drawing/2014/main" id="{68154BB7-44CA-1D82-2AC2-22171A0642D6}"/>
                </a:ext>
              </a:extLst>
            </p:cNvPr>
            <p:cNvSpPr/>
            <p:nvPr/>
          </p:nvSpPr>
          <p:spPr>
            <a:xfrm>
              <a:off x="6036582" y="2520191"/>
              <a:ext cx="539413" cy="1620565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="" xmlns:a16="http://schemas.microsoft.com/office/drawing/2014/main" id="{84BBC452-1110-2988-2E65-E445EE63C4C7}"/>
                </a:ext>
              </a:extLst>
            </p:cNvPr>
            <p:cNvSpPr/>
            <p:nvPr/>
          </p:nvSpPr>
          <p:spPr>
            <a:xfrm>
              <a:off x="4666818" y="3031273"/>
              <a:ext cx="1117692" cy="1103399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="" xmlns:a16="http://schemas.microsoft.com/office/drawing/2014/main" id="{E3AB5C93-A0FA-4FF5-F0AA-FD75161F0631}"/>
                </a:ext>
              </a:extLst>
            </p:cNvPr>
            <p:cNvSpPr txBox="1"/>
            <p:nvPr/>
          </p:nvSpPr>
          <p:spPr>
            <a:xfrm>
              <a:off x="5835605" y="1829242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atualização</a:t>
              </a:r>
              <a:endParaRPr lang="en-US" sz="1200" dirty="0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="" xmlns:a16="http://schemas.microsoft.com/office/drawing/2014/main" id="{7B4BB778-3C5D-0F93-B5F7-D66D9C30556C}"/>
                </a:ext>
              </a:extLst>
            </p:cNvPr>
            <p:cNvCxnSpPr>
              <a:cxnSpLocks/>
              <a:stCxn id="2" idx="0"/>
              <a:endCxn id="6" idx="2"/>
            </p:cNvCxnSpPr>
            <p:nvPr/>
          </p:nvCxnSpPr>
          <p:spPr>
            <a:xfrm flipH="1" flipV="1">
              <a:off x="6306288" y="2290907"/>
              <a:ext cx="1" cy="229284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="" xmlns:a16="http://schemas.microsoft.com/office/drawing/2014/main" id="{027BE59C-84F5-3A6A-1F58-4156CACC3A1F}"/>
                </a:ext>
              </a:extLst>
            </p:cNvPr>
            <p:cNvSpPr txBox="1"/>
            <p:nvPr/>
          </p:nvSpPr>
          <p:spPr>
            <a:xfrm>
              <a:off x="4759386" y="1840210"/>
              <a:ext cx="94136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200" dirty="0"/>
                <a:t>porta de </a:t>
              </a:r>
              <a:r>
                <a:rPr lang="pt-BR" sz="1200" i="1" dirty="0"/>
                <a:t>reset</a:t>
              </a:r>
              <a:endParaRPr lang="en-US" sz="1200" i="1" dirty="0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="" xmlns:a16="http://schemas.microsoft.com/office/drawing/2014/main" id="{F4D7901D-0577-0DF7-A300-F4B8DDD2B08B}"/>
                </a:ext>
              </a:extLst>
            </p:cNvPr>
            <p:cNvCxnSpPr>
              <a:cxnSpLocks/>
              <a:stCxn id="3" idx="0"/>
              <a:endCxn id="9" idx="2"/>
            </p:cNvCxnSpPr>
            <p:nvPr/>
          </p:nvCxnSpPr>
          <p:spPr>
            <a:xfrm flipV="1">
              <a:off x="5225664" y="2301875"/>
              <a:ext cx="4405" cy="729398"/>
            </a:xfrm>
            <a:prstGeom prst="line">
              <a:avLst/>
            </a:prstGeom>
            <a:ln w="19050">
              <a:prstDash val="sysDot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="" xmlns:a16="http://schemas.microsoft.com/office/drawing/2014/main" id="{8CF85A48-30D2-A843-6627-1DD7BA329BD6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>
              <a:off x="6372688" y="3221468"/>
              <a:ext cx="307390" cy="0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="" xmlns:a16="http://schemas.microsoft.com/office/drawing/2014/main" id="{353162AA-0266-E2D5-F390-ED75645298B3}"/>
                </a:ext>
              </a:extLst>
            </p:cNvPr>
            <p:cNvCxnSpPr>
              <a:cxnSpLocks/>
              <a:stCxn id="17" idx="6"/>
              <a:endCxn id="4" idx="2"/>
            </p:cNvCxnSpPr>
            <p:nvPr/>
          </p:nvCxnSpPr>
          <p:spPr>
            <a:xfrm>
              <a:off x="6953128" y="3221468"/>
              <a:ext cx="294469" cy="132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7358362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9464</TotalTime>
  <Words>2883</Words>
  <Application>Microsoft Office PowerPoint</Application>
  <PresentationFormat>Widescreen</PresentationFormat>
  <Paragraphs>721</Paragraphs>
  <Slides>70</Slides>
  <Notes>35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70</vt:i4>
      </vt:variant>
    </vt:vector>
  </HeadingPairs>
  <TitlesOfParts>
    <vt:vector size="77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Redes neurais recorrentes</vt:lpstr>
      <vt:lpstr>Motivação</vt:lpstr>
      <vt:lpstr>Aplicações</vt:lpstr>
      <vt:lpstr>Limitação de redes tradicionais</vt:lpstr>
      <vt:lpstr>Apresentação do PowerPoint</vt:lpstr>
      <vt:lpstr>Redes recorrentes</vt:lpstr>
      <vt:lpstr>Redes recorrentes</vt:lpstr>
      <vt:lpstr>Apresentação do PowerPoint</vt:lpstr>
      <vt:lpstr>Neurônio (ou célula) recorrente</vt:lpstr>
      <vt:lpstr>Neurônio recorrente</vt:lpstr>
      <vt:lpstr>Atualização do estado e geração da saída</vt:lpstr>
      <vt:lpstr>Desdobrando uma RNN</vt:lpstr>
      <vt:lpstr>Desdobrando uma RNN</vt:lpstr>
      <vt:lpstr>Treinando uma RNN</vt:lpstr>
      <vt:lpstr>Treinando uma RNN</vt:lpstr>
      <vt:lpstr>Backpropagation Through Time (BPTT)</vt:lpstr>
      <vt:lpstr>Backpropagation Through Time (BPTT)</vt:lpstr>
      <vt:lpstr>Desaparecimento e explosão do gradiente</vt:lpstr>
      <vt:lpstr>Apresentação do PowerPoint</vt:lpstr>
      <vt:lpstr>Desaparecimento e explosão do gradiente</vt:lpstr>
      <vt:lpstr>Como mitigar esses problemas?</vt:lpstr>
      <vt:lpstr>Por que não usar funções de ativação ReLU?</vt:lpstr>
      <vt:lpstr>O problema das dependências de longo prazo</vt:lpstr>
      <vt:lpstr>O problema das dependências de longo prazo</vt:lpstr>
      <vt:lpstr>O problema das dependências de longo prazo</vt:lpstr>
      <vt:lpstr>O problema das dependências de longo prazo</vt:lpstr>
      <vt:lpstr>Long-short term memory (LSTM)</vt:lpstr>
      <vt:lpstr>Long-short term memory (LSTM)</vt:lpstr>
      <vt:lpstr>Long-short term memory (LSTM)</vt:lpstr>
      <vt:lpstr>A ideia central por trás das LSTMs: Estado da célula</vt:lpstr>
      <vt:lpstr>A ideia central por trás das LSTMs: estado da célula</vt:lpstr>
      <vt:lpstr>Estado da célula e portas</vt:lpstr>
      <vt:lpstr>Porta de esquecimento</vt:lpstr>
      <vt:lpstr>Porta de entrada</vt:lpstr>
      <vt:lpstr>Atualização do estado da célula</vt:lpstr>
      <vt:lpstr>Porta de saída</vt:lpstr>
      <vt:lpstr>Long-short term memory (LSTM)</vt:lpstr>
      <vt:lpstr>Principais desvantagens de LSTMs</vt:lpstr>
      <vt:lpstr>Gated recurrent unit (GRU)</vt:lpstr>
      <vt:lpstr>Gated recurrent unit (GRU)</vt:lpstr>
      <vt:lpstr>Apresentação do PowerPoint</vt:lpstr>
      <vt:lpstr>Desaparecimento do gradiente</vt:lpstr>
      <vt:lpstr>Desaparecimento do gradiente</vt:lpstr>
      <vt:lpstr>Desaparecimento do gradiente</vt:lpstr>
      <vt:lpstr>Apresentação do PowerPoint</vt:lpstr>
      <vt:lpstr>Aplicação: um-para-um</vt:lpstr>
      <vt:lpstr>Aplicação: um-para-vários</vt:lpstr>
      <vt:lpstr>Aplicação: vários-para-um</vt:lpstr>
      <vt:lpstr>Aplicação: vários-para-vários síncrono</vt:lpstr>
      <vt:lpstr>Aplicação: vários-para-vários assíncrono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1866</cp:revision>
  <dcterms:created xsi:type="dcterms:W3CDTF">2020-01-20T13:50:05Z</dcterms:created>
  <dcterms:modified xsi:type="dcterms:W3CDTF">2026-03-30T02:37:16Z</dcterms:modified>
</cp:coreProperties>
</file>