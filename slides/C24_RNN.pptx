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59" r:id="rId52"/>
    <p:sldId id="660" r:id="rId53"/>
    <p:sldId id="656" r:id="rId54"/>
    <p:sldId id="358" r:id="rId55"/>
    <p:sldId id="362" r:id="rId56"/>
    <p:sldId id="591" r:id="rId57"/>
    <p:sldId id="365" r:id="rId58"/>
    <p:sldId id="366" r:id="rId59"/>
    <p:sldId id="367" r:id="rId60"/>
    <p:sldId id="642" r:id="rId61"/>
    <p:sldId id="368" r:id="rId62"/>
    <p:sldId id="371" r:id="rId63"/>
    <p:sldId id="603" r:id="rId64"/>
    <p:sldId id="381" r:id="rId65"/>
    <p:sldId id="662" r:id="rId66"/>
    <p:sldId id="664" r:id="rId67"/>
    <p:sldId id="663" r:id="rId68"/>
    <p:sldId id="594" r:id="rId69"/>
    <p:sldId id="658" r:id="rId70"/>
    <p:sldId id="595" r:id="rId71"/>
    <p:sldId id="596" r:id="rId72"/>
    <p:sldId id="597" r:id="rId73"/>
    <p:sldId id="598" r:id="rId74"/>
    <p:sldId id="599" r:id="rId75"/>
    <p:sldId id="624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4140" autoAdjust="0"/>
  </p:normalViewPr>
  <p:slideViewPr>
    <p:cSldViewPr snapToGrid="0">
      <p:cViewPr varScale="1">
        <p:scale>
          <a:sx n="62" d="100"/>
          <a:sy n="62" d="100"/>
        </p:scale>
        <p:origin x="1218" y="4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xmlns="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5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0.png"/><Relationship Id="rId7" Type="http://schemas.openxmlformats.org/officeDocument/2006/relationships/image" Target="../media/image130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0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xmlns="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xmlns="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xmlns="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xmlns="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tradicional processa uma sequência muito longa, ela se esquece gradualmente das primeiras amostras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O TBPTT </a:t>
            </a:r>
            <a:r>
              <a:rPr lang="pt-BR" b="1" dirty="0"/>
              <a:t>também limita o aprendizado de longo prazo</a:t>
            </a:r>
            <a:r>
              <a:rPr lang="pt-BR" dirty="0"/>
              <a:t>, pois impõe um horizonte máximo para a retropropagação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: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, i.e., a informação relevante está a poucos passos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treinamento, o erro precisa ser retropropagado por apenas alguns instantes temporais.</a:t>
            </a:r>
          </a:p>
          <a:p>
            <a:r>
              <a:rPr lang="pt-BR" dirty="0"/>
              <a:t>Porém, em muitas aplicações, a informação importante pode estar muito distante na sequência.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7810" y="1825624"/>
            <a:ext cx="5884189" cy="5032375"/>
          </a:xfrm>
        </p:spPr>
        <p:txBody>
          <a:bodyPr>
            <a:normAutofit/>
          </a:bodyPr>
          <a:lstStyle/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uma informação muito antiga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erro precisa ser </a:t>
            </a:r>
            <a:r>
              <a:rPr lang="pt-BR" dirty="0" err="1"/>
              <a:t>retropropagado</a:t>
            </a:r>
            <a:r>
              <a:rPr lang="pt-BR" dirty="0"/>
              <a:t> por vários instantes de tempo,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Quanto maior a distância temporal, mais difícil é para a RNN manter a informação relevante.</a:t>
            </a:r>
          </a:p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tradicionais têm dificuldade em preservar informações por muitos passos temporais.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por muito mais tempo?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resolver o problema das dependências de longo prazo, causado pelo desaparecimento ou explosão do gradiente, foram propostas arquiteturas com mecanismos de memória: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criam caminhos ao longo do tempo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controlar: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informações devem ser armazenadas (o que lembrar).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esquecidas.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quais devem ser utilizadas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xmlns="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xmlns="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xmlns="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 r="-1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esquecimento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entrada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p</a:t>
                </a:r>
                <a:r>
                  <a:rPr lang="pt-BR" dirty="0">
                    <a:solidFill>
                      <a:schemeClr val="tx1"/>
                    </a:solidFill>
                  </a:rPr>
                  <a:t>orta de saída (controlada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lidas e fornecidas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neste passo de tempo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1985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elementos assumindo valores entre 0 e 1.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o quanto da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isso a porta decide (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Uma nova informação é armazenada na célula sempre que um elemento da porta de entrada tender a 1.</a:t>
            </a:r>
          </a:p>
          <a:p>
            <a:r>
              <a:rPr lang="pt-BR" dirty="0"/>
              <a:t>Uma informação de longo prazo é descartada da célula sempre que um elemento da porta de esquecimento tender a 0.</a:t>
            </a:r>
          </a:p>
          <a:p>
            <a:r>
              <a:rPr lang="pt-BR" dirty="0"/>
              <a:t>Uma informação de longo prazo é lida da célula sempre que um elemento da porta de saída tender a 1.</a:t>
            </a:r>
          </a:p>
          <a:p>
            <a:r>
              <a:rPr lang="pt-BR" dirty="0"/>
              <a:t>Em resumo, uma célula LSTM aprende a reconhecer uma informação importante, armazená-la no estado de longo prazo, preservá-la pelo tempo que for </a:t>
            </a:r>
            <a:r>
              <a:rPr lang="pt-BR"/>
              <a:t>necessário e </a:t>
            </a:r>
            <a:r>
              <a:rPr lang="pt-BR" dirty="0"/>
              <a:t>extraí-la sempre que necessário.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estado interno da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portas de entrada e de esquecimento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flexibilidade de aprender quando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7410" y="1825624"/>
                <a:ext cx="6743665" cy="5032375"/>
              </a:xfrm>
              <a:blipFill>
                <a:blip r:embed="rId2"/>
                <a:stretch>
                  <a:fillRect l="-1626" t="-2663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/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sem inibição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1937" r="-2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110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</a:t>
                </a:r>
                <a:r>
                  <a:rPr lang="pt-BR" dirty="0" smtClean="0"/>
                  <a:t>(totalmente ou parcialmente) no </a:t>
                </a:r>
                <a:r>
                  <a:rPr lang="pt-BR" dirty="0"/>
                  <a:t>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</a:t>
                </a:r>
                <a:r>
                  <a:rPr lang="pt-BR" dirty="0" smtClean="0"/>
                  <a:t>de </a:t>
                </a:r>
                <a:r>
                  <a:rPr lang="pt-BR" dirty="0"/>
                  <a:t>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 rotWithShape="0"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</a:t>
                </a:r>
                <a:r>
                  <a:rPr lang="pt-BR" dirty="0" smtClean="0"/>
                  <a:t>do que as </a:t>
                </a:r>
                <a:r>
                  <a:rPr lang="pt-BR" dirty="0" err="1" smtClean="0"/>
                  <a:t>RNNs</a:t>
                </a:r>
                <a:r>
                  <a:rPr lang="pt-BR" dirty="0"/>
                  <a:t> </a:t>
                </a:r>
                <a:r>
                  <a:rPr lang="pt-BR" dirty="0" smtClean="0"/>
                  <a:t>tradicionais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</a:t>
                </a:r>
                <a:r>
                  <a:rPr lang="pt-BR" dirty="0" smtClean="0"/>
                  <a:t>GPU.</a:t>
                </a:r>
                <a:endParaRPr lang="pt-BR" dirty="0"/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 smtClean="0"/>
                  <a:t>attention.</a:t>
                </a:r>
                <a:endParaRPr lang="en-US" i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 smtClean="0"/>
                  <a:t>elhor</a:t>
                </a:r>
                <a:r>
                  <a:rPr lang="pt-BR" dirty="0" smtClean="0"/>
                  <a:t> paralelização </a:t>
                </a:r>
                <a:r>
                  <a:rPr lang="pt-BR" dirty="0"/>
                  <a:t>e capturam de dependências </a:t>
                </a:r>
                <a:r>
                  <a:rPr lang="pt-BR" dirty="0" smtClean="0"/>
                  <a:t>globais.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não-linear para 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novo estado da célula passa por uma função </a:t>
                </a:r>
                <a:r>
                  <a:rPr lang="pt-BR" dirty="0" err="1"/>
                  <a:t>tanh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de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de 1. </a:t>
                </a:r>
              </a:p>
              <a:p>
                <a:r>
                  <a:rPr lang="pt-BR" dirty="0"/>
                  <a:t>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7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LSTM e GRU modificam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por meio de um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contém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rgbClr val="00B050"/>
                    </a:solidFill>
                  </a:rPr>
                  <a:t>caminho controlável</a:t>
                </a:r>
                <a:r>
                  <a:rPr lang="pt-BR" dirty="0"/>
                  <a:t> permite que os gradientes retrocedam no tempo sem necessariamente desaparecer.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>
                <a:blip r:embed="rId2"/>
                <a:stretch>
                  <a:fillRect l="-161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como nas </a:t>
                </a:r>
                <a:r>
                  <a:rPr lang="pt-BR" dirty="0" err="1"/>
                  <a:t>RNNs</a:t>
                </a:r>
                <a:r>
                  <a:rPr lang="pt-BR" dirty="0"/>
                  <a:t> tradicionais </a:t>
                </a:r>
                <a:r>
                  <a:rPr lang="pt-BR" dirty="0" smtClean="0"/>
                  <a:t>há um </a:t>
                </a:r>
                <a:r>
                  <a:rPr lang="pt-BR" dirty="0"/>
                  <a:t>termo recursivo envolvendo o estado </a:t>
                </a:r>
                <a:r>
                  <a:rPr lang="pt-BR" dirty="0" smtClean="0"/>
                  <a:t>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 smtClean="0"/>
                  <a:t>nas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dirty="0" smtClean="0"/>
                  <a:t>há um </a:t>
                </a:r>
                <a:r>
                  <a:rPr lang="pt-BR" dirty="0"/>
                  <a:t>termo recorrente envolvendo o estado interno da </a:t>
                </a:r>
                <a:r>
                  <a:rPr lang="pt-BR" dirty="0" smtClean="0"/>
                  <a:t>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0" y="1825624"/>
                <a:ext cx="6777519" cy="5032375"/>
              </a:xfrm>
              <a:blipFill rotWithShape="0">
                <a:blip r:embed="rId2"/>
                <a:stretch>
                  <a:fillRect l="-17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7649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9143CF0-9F49-DAEC-18D2-77BFC9144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0325E21-C66F-5A89-71B4-232BE482D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Melhorar e integrar dos dois slides na sequência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965952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dos sinais de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1927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xmlns="" id="{385C46CB-56B7-5DD1-52FD-87B9D73E999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28149"/>
            <a:ext cx="3888430" cy="239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897FA8-995E-6E5C-E176-9980DDAF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C67D99B-33D2-086E-BF94-57B852357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 célula mantém a memória de longo prazo?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3FD33B3-EF62-AB89-F38A-0DAD602CF5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principal vantagem vem da derivada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derivada de 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informação</a:t>
                </a:r>
                <a:r>
                  <a:rPr lang="pt-BR" dirty="0"/>
                  <a:t> pode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fluir ao longo da célula</a:t>
                </a:r>
                <a:r>
                  <a:rPr lang="pt-BR" dirty="0"/>
                  <a:t> de memória </a:t>
                </a:r>
                <a:r>
                  <a:rPr lang="pt-BR" b="1" dirty="0">
                    <a:solidFill>
                      <a:srgbClr val="7030A0"/>
                    </a:solidFill>
                  </a:rPr>
                  <a:t>sem sofrer alterações, mitigando</a:t>
                </a:r>
                <a:r>
                  <a:rPr lang="pt-BR" dirty="0"/>
                  <a:t> </a:t>
                </a:r>
                <a:r>
                  <a:rPr lang="pt-BR"/>
                  <a:t>o problema do </a:t>
                </a:r>
                <a:r>
                  <a:rPr lang="pt-BR" dirty="0"/>
                  <a:t>desaparecimento do gradiente.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D33B3-EF62-AB89-F38A-0DAD602CF5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2163" y="1825624"/>
                <a:ext cx="6186488" cy="5032375"/>
              </a:xfrm>
              <a:blipFill>
                <a:blip r:embed="rId2"/>
                <a:stretch>
                  <a:fillRect l="-177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505517BC-4356-F71D-48AB-B991F64844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5355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xmlns="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xmlns="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xmlns="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xmlns="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xmlns="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xmlns="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xmlns="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xmlns="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xmlns="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xmlns="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xmlns="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xmlns="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xmlns="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xmlns="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xmlns="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xmlns="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xmlns="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xmlns="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xmlns="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xmlns="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xmlns="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xmlns="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xmlns="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xmlns="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xmlns="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xmlns="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xmlns="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xmlns="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xmlns="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xmlns="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xmlns="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xmlns="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xmlns="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xmlns="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xmlns="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xmlns="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xmlns="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xmlns="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xmlns="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xmlns="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xmlns="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xmlns="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="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="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="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xmlns="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xmlns="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xmlns="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xmlns="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xmlns="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xmlns="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xmlns="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xmlns="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xmlns="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xmlns="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xmlns="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xmlns="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xmlns="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xmlns="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xmlns="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xmlns="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xmlns="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xmlns="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xmlns="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xmlns="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xmlns="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xmlns="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xmlns="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xmlns="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xmlns="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xmlns="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xmlns="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="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xmlns="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xmlns="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xmlns="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="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xmlns="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="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="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xmlns="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xmlns="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xmlns="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xmlns="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xmlns="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xmlns="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xmlns="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xmlns="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xmlns="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xmlns="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xmlns="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xmlns="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xmlns="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xmlns="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xmlns="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xmlns="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xmlns="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xmlns="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xmlns="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xmlns="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xmlns="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xmlns="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xmlns="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xmlns="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xmlns="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xmlns="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xmlns="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xmlns="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xmlns="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xmlns="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xmlns="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xmlns="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xmlns="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xmlns="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xmlns="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xmlns="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xmlns="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xmlns="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xmlns="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11290</TotalTime>
  <Words>4606</Words>
  <Application>Microsoft Office PowerPoint</Application>
  <PresentationFormat>Widescreen</PresentationFormat>
  <Paragraphs>1023</Paragraphs>
  <Slides>99</Slides>
  <Notes>56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Apresentação do PowerPoint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Desaparecimento do gradiente</vt:lpstr>
      <vt:lpstr>Como a célula mantém a memória de longo prazo?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2143</cp:revision>
  <dcterms:created xsi:type="dcterms:W3CDTF">2020-01-20T13:50:05Z</dcterms:created>
  <dcterms:modified xsi:type="dcterms:W3CDTF">2026-05-17T22:43:58Z</dcterms:modified>
</cp:coreProperties>
</file>