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3"/>
  </p:notesMasterIdLst>
  <p:handoutMasterIdLst>
    <p:handoutMasterId r:id="rId84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334" r:id="rId14"/>
    <p:sldId id="332" r:id="rId15"/>
    <p:sldId id="609" r:id="rId16"/>
    <p:sldId id="610" r:id="rId17"/>
    <p:sldId id="333" r:id="rId18"/>
    <p:sldId id="336" r:id="rId19"/>
    <p:sldId id="331" r:id="rId20"/>
    <p:sldId id="338" r:id="rId21"/>
    <p:sldId id="611" r:id="rId22"/>
    <p:sldId id="341" r:id="rId23"/>
    <p:sldId id="612" r:id="rId24"/>
    <p:sldId id="342" r:id="rId25"/>
    <p:sldId id="613" r:id="rId26"/>
    <p:sldId id="343" r:id="rId27"/>
    <p:sldId id="361" r:id="rId28"/>
    <p:sldId id="344" r:id="rId29"/>
    <p:sldId id="345" r:id="rId30"/>
    <p:sldId id="601" r:id="rId31"/>
    <p:sldId id="346" r:id="rId32"/>
    <p:sldId id="347" r:id="rId33"/>
    <p:sldId id="349" r:id="rId34"/>
    <p:sldId id="351" r:id="rId35"/>
    <p:sldId id="352" r:id="rId36"/>
    <p:sldId id="355" r:id="rId37"/>
    <p:sldId id="372" r:id="rId38"/>
    <p:sldId id="616" r:id="rId39"/>
    <p:sldId id="374" r:id="rId40"/>
    <p:sldId id="376" r:id="rId41"/>
    <p:sldId id="614" r:id="rId42"/>
    <p:sldId id="356" r:id="rId43"/>
    <p:sldId id="358" r:id="rId44"/>
    <p:sldId id="362" r:id="rId45"/>
    <p:sldId id="591" r:id="rId46"/>
    <p:sldId id="365" r:id="rId47"/>
    <p:sldId id="366" r:id="rId48"/>
    <p:sldId id="367" r:id="rId49"/>
    <p:sldId id="368" r:id="rId50"/>
    <p:sldId id="371" r:id="rId51"/>
    <p:sldId id="603" r:id="rId52"/>
    <p:sldId id="381" r:id="rId53"/>
    <p:sldId id="377" r:id="rId54"/>
    <p:sldId id="594" r:id="rId55"/>
    <p:sldId id="595" r:id="rId56"/>
    <p:sldId id="596" r:id="rId57"/>
    <p:sldId id="597" r:id="rId58"/>
    <p:sldId id="598" r:id="rId59"/>
    <p:sldId id="599" r:id="rId60"/>
    <p:sldId id="600" r:id="rId61"/>
    <p:sldId id="588" r:id="rId62"/>
    <p:sldId id="589" r:id="rId63"/>
    <p:sldId id="293" r:id="rId64"/>
    <p:sldId id="306" r:id="rId65"/>
    <p:sldId id="335" r:id="rId66"/>
    <p:sldId id="590" r:id="rId67"/>
    <p:sldId id="608" r:id="rId68"/>
    <p:sldId id="330" r:id="rId69"/>
    <p:sldId id="340" r:id="rId70"/>
    <p:sldId id="348" r:id="rId71"/>
    <p:sldId id="350" r:id="rId72"/>
    <p:sldId id="353" r:id="rId73"/>
    <p:sldId id="354" r:id="rId74"/>
    <p:sldId id="373" r:id="rId75"/>
    <p:sldId id="357" r:id="rId76"/>
    <p:sldId id="359" r:id="rId77"/>
    <p:sldId id="592" r:id="rId78"/>
    <p:sldId id="363" r:id="rId79"/>
    <p:sldId id="364" r:id="rId80"/>
    <p:sldId id="369" r:id="rId81"/>
    <p:sldId id="370" r:id="rId8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0630" autoAdjust="0"/>
  </p:normalViewPr>
  <p:slideViewPr>
    <p:cSldViewPr snapToGrid="0">
      <p:cViewPr varScale="1">
        <p:scale>
          <a:sx n="89" d="100"/>
          <a:sy n="89" d="100"/>
        </p:scale>
        <p:origin x="1656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handoutMaster" Target="handoutMasters/handoutMaster1.xml"/><Relationship Id="rId89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microsoft.com/office/2015/10/relationships/revisionInfo" Target="revisionInfo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11/05/2026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</a:p>
          <a:p>
            <a:r>
              <a:rPr lang="pt-BR" dirty="0"/>
              <a:t>[2]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</a:p>
          <a:p>
            <a:r>
              <a:rPr lang="pt-BR" dirty="0"/>
              <a:t>[2]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78955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6E6D1-C5A9-5E02-CF49-31B3C4C6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536EFD-EBEE-4772-D65A-6AB582407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7AC9C5-F488-A6D7-4F15-65AEE652B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7E4DB-58B1-DD85-186B-2CF37F5738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883710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594373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3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380.png"/><Relationship Id="rId18" Type="http://schemas.openxmlformats.org/officeDocument/2006/relationships/image" Target="../media/image430.png"/><Relationship Id="rId26" Type="http://schemas.openxmlformats.org/officeDocument/2006/relationships/image" Target="../media/image510.png"/><Relationship Id="rId3" Type="http://schemas.openxmlformats.org/officeDocument/2006/relationships/image" Target="../media/image280.png"/><Relationship Id="rId21" Type="http://schemas.openxmlformats.org/officeDocument/2006/relationships/image" Target="../media/image460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420.png"/><Relationship Id="rId25" Type="http://schemas.openxmlformats.org/officeDocument/2006/relationships/image" Target="../media/image500.png"/><Relationship Id="rId2" Type="http://schemas.openxmlformats.org/officeDocument/2006/relationships/image" Target="../media/image270.png"/><Relationship Id="rId16" Type="http://schemas.openxmlformats.org/officeDocument/2006/relationships/image" Target="../media/image410.png"/><Relationship Id="rId20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90.png"/><Relationship Id="rId5" Type="http://schemas.openxmlformats.org/officeDocument/2006/relationships/image" Target="../media/image300.png"/><Relationship Id="rId15" Type="http://schemas.openxmlformats.org/officeDocument/2006/relationships/image" Target="../media/image400.png"/><Relationship Id="rId23" Type="http://schemas.openxmlformats.org/officeDocument/2006/relationships/image" Target="../media/image480.png"/><Relationship Id="rId28" Type="http://schemas.openxmlformats.org/officeDocument/2006/relationships/image" Target="../media/image530.png"/><Relationship Id="rId10" Type="http://schemas.openxmlformats.org/officeDocument/2006/relationships/image" Target="../media/image350.png"/><Relationship Id="rId19" Type="http://schemas.openxmlformats.org/officeDocument/2006/relationships/image" Target="../media/image440.png"/><Relationship Id="rId4" Type="http://schemas.openxmlformats.org/officeDocument/2006/relationships/image" Target="../media/image290.png"/><Relationship Id="rId9" Type="http://schemas.openxmlformats.org/officeDocument/2006/relationships/image" Target="../media/image340.png"/><Relationship Id="rId14" Type="http://schemas.openxmlformats.org/officeDocument/2006/relationships/image" Target="../media/image390.png"/><Relationship Id="rId22" Type="http://schemas.openxmlformats.org/officeDocument/2006/relationships/image" Target="../media/image470.png"/><Relationship Id="rId27" Type="http://schemas.openxmlformats.org/officeDocument/2006/relationships/image" Target="../media/image520.png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450.png"/><Relationship Id="rId18" Type="http://schemas.openxmlformats.org/officeDocument/2006/relationships/image" Target="../media/image500.png"/><Relationship Id="rId3" Type="http://schemas.openxmlformats.org/officeDocument/2006/relationships/image" Target="../media/image360.png"/><Relationship Id="rId21" Type="http://schemas.openxmlformats.org/officeDocument/2006/relationships/image" Target="../media/image53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90.png"/><Relationship Id="rId2" Type="http://schemas.openxmlformats.org/officeDocument/2006/relationships/image" Target="../media/image350.png"/><Relationship Id="rId16" Type="http://schemas.openxmlformats.org/officeDocument/2006/relationships/image" Target="../media/image480.png"/><Relationship Id="rId20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340.png"/><Relationship Id="rId15" Type="http://schemas.openxmlformats.org/officeDocument/2006/relationships/image" Target="../media/image470.png"/><Relationship Id="rId10" Type="http://schemas.openxmlformats.org/officeDocument/2006/relationships/image" Target="../media/image420.png"/><Relationship Id="rId19" Type="http://schemas.openxmlformats.org/officeDocument/2006/relationships/image" Target="../media/image510.png"/><Relationship Id="rId4" Type="http://schemas.openxmlformats.org/officeDocument/2006/relationships/image" Target="../media/image370.png"/><Relationship Id="rId9" Type="http://schemas.openxmlformats.org/officeDocument/2006/relationships/image" Target="../media/image410.png"/><Relationship Id="rId14" Type="http://schemas.openxmlformats.org/officeDocument/2006/relationships/image" Target="../media/image460.png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0.png"/><Relationship Id="rId2" Type="http://schemas.openxmlformats.org/officeDocument/2006/relationships/image" Target="../media/image6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11" Type="http://schemas.openxmlformats.org/officeDocument/2006/relationships/image" Target="../media/image95.png"/><Relationship Id="rId5" Type="http://schemas.openxmlformats.org/officeDocument/2006/relationships/image" Target="../media/image730.png"/><Relationship Id="rId10" Type="http://schemas.openxmlformats.org/officeDocument/2006/relationships/image" Target="../media/image94.png"/><Relationship Id="rId4" Type="http://schemas.openxmlformats.org/officeDocument/2006/relationships/image" Target="../media/image720.png"/><Relationship Id="rId9" Type="http://schemas.openxmlformats.org/officeDocument/2006/relationships/image" Target="../media/image93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810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1.png"/><Relationship Id="rId5" Type="http://schemas.openxmlformats.org/officeDocument/2006/relationships/image" Target="../media/image830.png"/><Relationship Id="rId10" Type="http://schemas.openxmlformats.org/officeDocument/2006/relationships/image" Target="../media/image100.png"/><Relationship Id="rId4" Type="http://schemas.openxmlformats.org/officeDocument/2006/relationships/image" Target="../media/image820.png"/><Relationship Id="rId9" Type="http://schemas.openxmlformats.org/officeDocument/2006/relationships/image" Target="../media/image99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39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9.png"/><Relationship Id="rId3" Type="http://schemas.openxmlformats.org/officeDocument/2006/relationships/image" Target="../media/image103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</a:t>
            </a:r>
            <a:r>
              <a:rPr lang="pt-BR" b="1" dirty="0">
                <a:solidFill>
                  <a:srgbClr val="7030A0"/>
                </a:solidFill>
              </a:rPr>
              <a:t>entrada</a:t>
            </a:r>
            <a:r>
              <a:rPr lang="pt-BR" dirty="0"/>
              <a:t> é tratada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Não</a:t>
            </a:r>
            <a:r>
              <a:rPr lang="pt-BR" dirty="0"/>
              <a:t> capturam </a:t>
            </a:r>
            <a:r>
              <a:rPr lang="pt-BR" b="1" dirty="0">
                <a:solidFill>
                  <a:srgbClr val="7030A0"/>
                </a:solidFill>
              </a:rPr>
              <a:t>dependências temporais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 anterior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uma </a:t>
            </a:r>
            <a:r>
              <a:rPr lang="pt-BR" b="1" dirty="0">
                <a:solidFill>
                  <a:srgbClr val="00B050"/>
                </a:solidFill>
              </a:rPr>
              <a:t>memória</a:t>
            </a:r>
            <a:r>
              <a:rPr lang="pt-BR" dirty="0"/>
              <a:t> do histórico de </a:t>
            </a:r>
            <a:r>
              <a:rPr lang="pt-BR" b="1" dirty="0">
                <a:solidFill>
                  <a:srgbClr val="00B050"/>
                </a:solidFill>
              </a:rPr>
              <a:t>todas as entradas passadas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ao longo do tempo.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“telhado”.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:r>
                  <a:rPr lang="pt-BR" dirty="0" err="1"/>
                  <a:t>tanh</a:t>
                </a:r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l="-142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0289" y="1825625"/>
            <a:ext cx="5501076" cy="4351338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Essa representação é bastante utilizada na literatura.</a:t>
            </a:r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EC84E1F-D55A-A9C6-47FA-3415032B2B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50" y="2759914"/>
            <a:ext cx="5001539" cy="2482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490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</p:spPr>
            <p:txBody>
              <a:bodyPr/>
              <a:lstStyle/>
              <a:p>
                <a:r>
                  <a:rPr lang="pt-BR" dirty="0"/>
                  <a:t>Algumas implementações consideram uma função de ativação na saída.</a:t>
                </a:r>
              </a:p>
              <a:p>
                <a:r>
                  <a:rPr lang="pt-BR" dirty="0"/>
                  <a:t>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  <a:blipFill>
                <a:blip r:embed="rId3"/>
                <a:stretch>
                  <a:fillRect l="-1532" t="-1937" r="-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8E2B0E5C-B617-1386-87C2-3A8B717B02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493" y="1479986"/>
            <a:ext cx="2258313" cy="5231527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1E3BC3FD-1B5F-5A63-997C-3561384F2766}"/>
              </a:ext>
            </a:extLst>
          </p:cNvPr>
          <p:cNvSpPr/>
          <p:nvPr/>
        </p:nvSpPr>
        <p:spPr>
          <a:xfrm>
            <a:off x="2166492" y="2047875"/>
            <a:ext cx="557657" cy="619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00" y="1825624"/>
            <a:ext cx="7162800" cy="5032375"/>
          </a:xfrm>
        </p:spPr>
        <p:txBody>
          <a:bodyPr/>
          <a:lstStyle/>
          <a:p>
            <a:r>
              <a:rPr lang="pt-BR" dirty="0"/>
              <a:t>Podemos </a:t>
            </a:r>
            <a:r>
              <a:rPr lang="pt-BR" b="1" dirty="0">
                <a:solidFill>
                  <a:schemeClr val="accent2"/>
                </a:solidFill>
              </a:rPr>
              <a:t>desdobrar</a:t>
            </a:r>
            <a:r>
              <a:rPr lang="pt-BR" dirty="0"/>
              <a:t> uma RNN para entender como a </a:t>
            </a:r>
            <a:r>
              <a:rPr lang="pt-BR" b="1" dirty="0">
                <a:solidFill>
                  <a:srgbClr val="7030A0"/>
                </a:solidFill>
              </a:rPr>
              <a:t>memória evolui ao longo do tempo</a:t>
            </a:r>
            <a:r>
              <a:rPr lang="pt-BR" dirty="0"/>
              <a:t>.</a:t>
            </a:r>
          </a:p>
          <a:p>
            <a:r>
              <a:rPr lang="pt-BR" dirty="0"/>
              <a:t>Isso nos ajuda a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entender como ela processa sequências,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a treinar a rede usando </a:t>
            </a:r>
            <a:r>
              <a:rPr lang="pt-BR" i="1" dirty="0" err="1"/>
              <a:t>backpropagation</a:t>
            </a:r>
            <a:r>
              <a:rPr lang="pt-BR" dirty="0"/>
              <a:t>;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AA8D65D-0C7B-0947-2D49-1632A699E6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493" y="1479986"/>
            <a:ext cx="2258313" cy="5231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6F952-34AF-BA6E-B7BC-56FB84A3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A4886-E5F5-4A0C-632C-A874615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0575" y="1825624"/>
            <a:ext cx="3781425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podem ser vistas como </a:t>
            </a:r>
            <a:r>
              <a:rPr lang="pt-BR" b="1" dirty="0">
                <a:solidFill>
                  <a:srgbClr val="7030A0"/>
                </a:solidFill>
              </a:rPr>
              <a:t>múltiplas cópias da mesma rede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r>
              <a:rPr lang="pt-BR" dirty="0"/>
              <a:t>É como se tivéssemos uma rede MLP com várias camadas.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DBF9CD-22BC-BF23-C3DB-8A0935A933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106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2F95D-ED92-C388-CC49-D8F09C88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609EE-8280-8794-483C-637881745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1BBBBA-8C71-1CFD-F648-D5836DBC94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420100" y="1825624"/>
                <a:ext cx="37719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mesma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1"/>
                    </a:solidFill>
                  </a:rPr>
                  <a:t>função de ativação</a:t>
                </a:r>
                <a:r>
                  <a:rPr lang="pt-BR" dirty="0"/>
                  <a:t> e o mesmo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conjunto de pesos</a:t>
                </a:r>
                <a:r>
                  <a:rPr lang="pt-BR" dirty="0"/>
                  <a:t> são usados ​​</a:t>
                </a:r>
                <a:r>
                  <a:rPr lang="pt-BR" b="1" dirty="0">
                    <a:solidFill>
                      <a:srgbClr val="7030A0"/>
                    </a:solidFill>
                  </a:rPr>
                  <a:t>em cada passo</a:t>
                </a:r>
                <a:r>
                  <a:rPr lang="pt-BR" dirty="0"/>
                  <a:t> de tempo.</a:t>
                </a:r>
              </a:p>
              <a:p>
                <a:r>
                  <a:rPr lang="pt-BR" dirty="0"/>
                  <a:t>Percebam que uma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depende dos valores anteriores e não apenas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1BBBBA-8C71-1CFD-F648-D5836DBC94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420100" y="1825624"/>
                <a:ext cx="3771900" cy="5032375"/>
              </a:xfrm>
              <a:blipFill>
                <a:blip r:embed="rId2"/>
                <a:stretch>
                  <a:fillRect l="-2908" t="-1937" r="-29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8315E294-5B43-04E7-8028-22C59DA3BF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1077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0926" cy="5032376"/>
          </a:xfrm>
        </p:spPr>
        <p:txBody>
          <a:bodyPr/>
          <a:lstStyle/>
          <a:p>
            <a:r>
              <a:rPr lang="pt-BR" dirty="0"/>
              <a:t>Os pesos são atualizados usando o </a:t>
            </a:r>
            <a:r>
              <a:rPr lang="pt-BR" b="1" dirty="0">
                <a:solidFill>
                  <a:srgbClr val="7030A0"/>
                </a:solidFill>
              </a:rPr>
              <a:t>gradiente descendente</a:t>
            </a:r>
            <a:r>
              <a:rPr lang="pt-BR" dirty="0"/>
              <a:t>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rgbClr val="7030A0"/>
                </a:solidFill>
              </a:rPr>
              <a:t>função de erro</a:t>
            </a:r>
            <a:r>
              <a:rPr lang="pt-BR" dirty="0"/>
              <a:t> (EQM, EC, etc.) é usada para calcular o erro entre as saídas da rede e os rótulos do conjunto de treinamento.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derivada da função de erro</a:t>
            </a:r>
            <a:r>
              <a:rPr lang="pt-BR" dirty="0"/>
              <a:t>, em relação aos pesos da rede, é </a:t>
            </a:r>
            <a:r>
              <a:rPr lang="pt-BR" b="1" dirty="0">
                <a:solidFill>
                  <a:schemeClr val="accent2"/>
                </a:solidFill>
              </a:rPr>
              <a:t>retropropagada</a:t>
            </a:r>
            <a:r>
              <a:rPr lang="pt-BR" dirty="0"/>
              <a:t> através da rede.</a:t>
            </a:r>
          </a:p>
          <a:p>
            <a:r>
              <a:rPr lang="pt-BR" dirty="0"/>
              <a:t>Os pesos são ajustados até que um critério de parada seja atendido: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número máximo de épocas é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função de perda para de diminuir.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6341B-8DD5-B4D0-04B5-B1D29CAF8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/>
          </a:bodyPr>
          <a:lstStyle/>
          <a:p>
            <a:r>
              <a:rPr lang="pt-BR" dirty="0"/>
              <a:t>Para treinar a rede, ela é primeiro </a:t>
            </a:r>
            <a:r>
              <a:rPr lang="pt-BR" b="1" dirty="0">
                <a:solidFill>
                  <a:schemeClr val="accent2"/>
                </a:solidFill>
              </a:rPr>
              <a:t>desdobrada</a:t>
            </a:r>
            <a:r>
              <a:rPr lang="pt-BR" dirty="0"/>
              <a:t> e </a:t>
            </a:r>
            <a:r>
              <a:rPr lang="pt-BR" b="1" dirty="0">
                <a:solidFill>
                  <a:srgbClr val="7030A0"/>
                </a:solidFill>
              </a:rPr>
              <a:t>depois aplica-se a retropropagação</a:t>
            </a:r>
            <a:r>
              <a:rPr lang="pt-BR" dirty="0"/>
              <a:t> do erro </a:t>
            </a:r>
            <a:r>
              <a:rPr lang="pt-BR" b="1" dirty="0">
                <a:solidFill>
                  <a:srgbClr val="7030A0"/>
                </a:solidFill>
              </a:rPr>
              <a:t>tradicional</a:t>
            </a:r>
            <a:r>
              <a:rPr lang="pt-BR" dirty="0"/>
              <a:t>.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relativa</a:t>
            </a:r>
            <a:r>
              <a:rPr lang="pt-BR" dirty="0"/>
              <a:t> a um </a:t>
            </a:r>
            <a:r>
              <a:rPr lang="pt-BR" b="1" dirty="0">
                <a:solidFill>
                  <a:schemeClr val="accent2"/>
                </a:solidFill>
              </a:rPr>
              <a:t>intervalo de tempo diferente</a:t>
            </a:r>
            <a:r>
              <a:rPr lang="pt-BR" dirty="0"/>
              <a:t>.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são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D16130-635A-563B-0B23-54F9982484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Esse desdobramento da rede para se aplicar 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“voltar no tempo”.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753EF2-09AE-E550-8ECE-484A73CEFC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diferença entre a saída da rede e o valor desejado é avaliada por uma função de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ao longo de todos os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pt-BR" b="1" dirty="0">
                    <a:solidFill>
                      <a:srgbClr val="7030A0"/>
                    </a:solidFill>
                  </a:rPr>
                  <a:t> passos de tempo</a:t>
                </a:r>
                <a:endParaRPr lang="pt-BR" b="1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 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media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9026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, </a:t>
                </a:r>
                <a:r>
                  <a:rPr lang="en-US" dirty="0" err="1"/>
                  <a:t>usando</a:t>
                </a:r>
                <a:r>
                  <a:rPr lang="en-US" dirty="0"/>
                  <a:t> a retropropagação (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) para </a:t>
                </a:r>
                <a:r>
                  <a:rPr lang="en-US" dirty="0" err="1"/>
                  <a:t>encontrar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</a:t>
                </a:r>
                <a:r>
                  <a:rPr lang="en-US" dirty="0"/>
                  <a:t> com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aos</a:t>
                </a:r>
                <a:r>
                  <a:rPr lang="en-US" dirty="0"/>
                  <a:t> pesos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temos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</a:t>
                </a:r>
                <a:r>
                  <a:rPr lang="pt-BR" b="1" dirty="0">
                    <a:solidFill>
                      <a:srgbClr val="00B050"/>
                    </a:solidFill>
                  </a:rPr>
                  <a:t>somamos as contribuições de cada passo de tempo</a:t>
                </a:r>
                <a:r>
                  <a:rPr lang="pt-BR" dirty="0"/>
                  <a:t> para obter o gradiente.</a:t>
                </a:r>
              </a:p>
              <a:p>
                <a:r>
                  <a:rPr lang="pt-BR" dirty="0"/>
                  <a:t>O primeiro, o segundo e o quarto fatores do produto são fáceis de calcular. </a:t>
                </a:r>
              </a:p>
              <a:p>
                <a:r>
                  <a:rPr lang="pt-BR" dirty="0"/>
                  <a:t>O terceiro é onde as coisas ficam complicadas, já que precisamos </a:t>
                </a:r>
                <a:r>
                  <a:rPr lang="pt-BR" b="1" dirty="0">
                    <a:solidFill>
                      <a:srgbClr val="7030A0"/>
                    </a:solidFill>
                  </a:rPr>
                  <a:t>calcular recursivamente</a:t>
                </a:r>
                <a:r>
                  <a:rPr lang="pt-BR" dirty="0"/>
                  <a:t> o efeito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9026" cy="5032375"/>
              </a:xfrm>
              <a:blipFill>
                <a:blip r:embed="rId3"/>
                <a:stretch>
                  <a:fillRect l="-976" t="-1937" r="-1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tângulo 3">
            <a:extLst>
              <a:ext uri="{FF2B5EF4-FFF2-40B4-BE49-F238E27FC236}">
                <a16:creationId xmlns:a16="http://schemas.microsoft.com/office/drawing/2014/main" id="{FAF83994-B4CC-99A0-FA69-B6B7F2E67A3E}"/>
              </a:ext>
            </a:extLst>
          </p:cNvPr>
          <p:cNvSpPr/>
          <p:nvPr/>
        </p:nvSpPr>
        <p:spPr>
          <a:xfrm>
            <a:off x="9634092" y="2676526"/>
            <a:ext cx="862458" cy="10096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consume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uso de memória.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r="-1127" b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+1]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</m:e>
                          </m:nary>
                        </m:e>
                      </m:d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92EF5-5D0B-5502-FD38-96B86F03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2924175"/>
            <a:ext cx="4738255" cy="16954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 err="1"/>
              <a:t>RNNs</a:t>
            </a:r>
            <a:r>
              <a:rPr lang="pt-BR" sz="3600" dirty="0"/>
              <a:t> </a:t>
            </a:r>
            <a:r>
              <a:rPr lang="pt-BR" sz="3600" b="1" dirty="0"/>
              <a:t>tradicionais</a:t>
            </a:r>
            <a:r>
              <a:rPr lang="pt-BR" sz="3600" dirty="0"/>
              <a:t>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FF2536EA-A247-4883-A44D-13F8ECBEF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832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 ou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Modelo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Mantêm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/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sistemas dinâmicos 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causa oscilações ou divergência.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</a:t>
            </a:r>
            <a:r>
              <a:rPr lang="pt-BR" b="1" dirty="0">
                <a:solidFill>
                  <a:schemeClr val="accent2"/>
                </a:solidFill>
              </a:rPr>
              <a:t>são incapazes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Quando uma RNN processa uma </a:t>
            </a:r>
            <a:r>
              <a:rPr lang="pt-BR" b="1" dirty="0">
                <a:solidFill>
                  <a:srgbClr val="7030A0"/>
                </a:solidFill>
              </a:rPr>
              <a:t>sequência longa</a:t>
            </a:r>
            <a:r>
              <a:rPr lang="pt-BR" dirty="0"/>
              <a:t>, ela </a:t>
            </a:r>
            <a:r>
              <a:rPr lang="pt-BR" b="1" dirty="0">
                <a:solidFill>
                  <a:srgbClr val="7030A0"/>
                </a:solidFill>
              </a:rPr>
              <a:t>gradualmente esquece as primeiras entradas</a:t>
            </a:r>
            <a:r>
              <a:rPr lang="pt-BR" dirty="0"/>
              <a:t> da sequência.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r>
              <a:rPr lang="pt-BR" b="1" dirty="0"/>
              <a:t>Exemplos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 de texto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Reconhecimento</a:t>
            </a:r>
            <a:r>
              <a:rPr lang="en-US" dirty="0"/>
              <a:t> de </a:t>
            </a:r>
            <a:r>
              <a:rPr lang="en-US" dirty="0" err="1"/>
              <a:t>fala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Rastreamento</a:t>
            </a:r>
            <a:r>
              <a:rPr lang="en-US" dirty="0"/>
              <a:t> de </a:t>
            </a:r>
            <a:r>
              <a:rPr lang="en-US" dirty="0" err="1"/>
              <a:t>objetos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fazer uma </a:t>
            </a:r>
            <a:r>
              <a:rPr lang="pt-BR" b="1" dirty="0">
                <a:solidFill>
                  <a:srgbClr val="00B050"/>
                </a:solidFill>
              </a:rPr>
              <a:t>previsão de um passo à frente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a palavra “azul”</a:t>
            </a:r>
            <a:r>
              <a:rPr lang="pt-BR" dirty="0"/>
              <a:t>, basta olhar apenas </a:t>
            </a:r>
            <a:r>
              <a:rPr lang="pt-BR" b="1" dirty="0">
                <a:solidFill>
                  <a:schemeClr val="accent2"/>
                </a:solidFill>
              </a:rPr>
              <a:t>dois passos atrás</a:t>
            </a:r>
            <a:r>
              <a:rPr lang="pt-BR" dirty="0"/>
              <a:t>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essa tarefa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Vamos nos ater à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</a:t>
            </a:r>
            <a:r>
              <a:rPr lang="pt-BR" b="1" dirty="0">
                <a:solidFill>
                  <a:schemeClr val="accent2"/>
                </a:solidFill>
              </a:rPr>
              <a:t>prever a palavra "italiano"</a:t>
            </a:r>
            <a:r>
              <a:rPr lang="pt-BR" dirty="0"/>
              <a:t>, temos que olhar </a:t>
            </a:r>
            <a:r>
              <a:rPr lang="pt-BR" b="1" dirty="0">
                <a:solidFill>
                  <a:schemeClr val="accent2"/>
                </a:solidFill>
              </a:rPr>
              <a:t>vários passos para trás no tempo</a:t>
            </a:r>
            <a:r>
              <a:rPr lang="pt-BR" dirty="0"/>
              <a:t>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tradicional não seria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2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7EA0D5-79A9-4147-4235-29A2A75B93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2081" y="3804862"/>
            <a:ext cx="8206040" cy="3053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interagem entre si de uma maneira especial.</a:t>
            </a:r>
          </a:p>
          <a:p>
            <a:r>
              <a:rPr lang="pt-BR" dirty="0"/>
              <a:t>Elas capturam padrões de longo e curto prazo de uma sequência de dados.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FE238D-F070-FB97-ACEC-0EF800831D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721" y="4117943"/>
            <a:ext cx="7364558" cy="274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2918" y="1825624"/>
            <a:ext cx="632908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LSTM possui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Forget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80B18-707C-9189-F385-D0DD145061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9B1DA347-BBC4-AE49-41A5-6D28C39A35B8}"/>
              </a:ext>
            </a:extLst>
          </p:cNvPr>
          <p:cNvSpPr/>
          <p:nvPr/>
        </p:nvSpPr>
        <p:spPr>
          <a:xfrm>
            <a:off x="1678193" y="2893806"/>
            <a:ext cx="484094" cy="16734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C6A37ED-D7FF-0A9B-246C-6A1327E19771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841BE1E-2151-5C15-382E-E4E866E97366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FE171E2-98E2-80BF-7246-2FA7AC491881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B5D41BF3-5175-2D98-868F-9949FD2DD01F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690B213-E976-D58E-3664-2CC432FE0432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6E7DB-3A45-270A-379C-5B53CF58B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4845" y="1825624"/>
            <a:ext cx="6077154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entra na célula</a:t>
            </a:r>
            <a:r>
              <a:rPr lang="pt-BR" dirty="0"/>
              <a:t> sempre que sua </a:t>
            </a:r>
            <a:r>
              <a:rPr lang="pt-BR" b="1" dirty="0">
                <a:solidFill>
                  <a:schemeClr val="accent2"/>
                </a:solidFill>
              </a:rPr>
              <a:t>porta de entrada</a:t>
            </a:r>
            <a:r>
              <a:rPr lang="pt-BR" dirty="0"/>
              <a:t> está </a:t>
            </a:r>
            <a:r>
              <a:rPr lang="pt-BR" b="1" dirty="0">
                <a:solidFill>
                  <a:schemeClr val="accent2"/>
                </a:solidFill>
              </a:rPr>
              <a:t>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é descartada</a:t>
            </a:r>
            <a:r>
              <a:rPr lang="pt-BR" dirty="0"/>
              <a:t> da célula sempre que sua </a:t>
            </a:r>
            <a:r>
              <a:rPr lang="pt-BR" b="1" dirty="0">
                <a:solidFill>
                  <a:schemeClr val="accent2"/>
                </a:solidFill>
              </a:rPr>
              <a:t>porta de esquecimento está desligada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pode ser lida</a:t>
            </a:r>
            <a:r>
              <a:rPr lang="pt-BR" dirty="0"/>
              <a:t> da célula </a:t>
            </a:r>
            <a:r>
              <a:rPr lang="pt-BR" b="1" dirty="0">
                <a:solidFill>
                  <a:schemeClr val="accent2"/>
                </a:solidFill>
              </a:rPr>
              <a:t>ligando sua porta de saída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390354-76AE-6D7E-6109-156C51E09B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5B538100-869E-9015-E39A-A1340D4D0515}"/>
              </a:ext>
            </a:extLst>
          </p:cNvPr>
          <p:cNvSpPr/>
          <p:nvPr/>
        </p:nvSpPr>
        <p:spPr>
          <a:xfrm>
            <a:off x="1678193" y="2893806"/>
            <a:ext cx="484094" cy="16734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DD632F-0686-568D-5F9B-260BA967E010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A82173B-E627-D5F4-C24A-C8EFB8591AF2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738DFC6-B08A-BCAF-A6DC-558964B054EF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724DFD49-F8A1-B391-4C4D-9D392820E8F5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56C62AF-7481-CE0B-1BB2-B4A93CE957B9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8028" y="1825624"/>
            <a:ext cx="6173971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</a:t>
            </a:r>
            <a:r>
              <a:rPr lang="pt-BR" b="1" dirty="0">
                <a:solidFill>
                  <a:schemeClr val="accent2"/>
                </a:solidFill>
              </a:rPr>
              <a:t>fluir ao longo da célula</a:t>
            </a:r>
            <a:r>
              <a:rPr lang="pt-BR" dirty="0"/>
              <a:t> de memória </a:t>
            </a:r>
            <a:r>
              <a:rPr lang="pt-BR" b="1" dirty="0">
                <a:solidFill>
                  <a:srgbClr val="7030A0"/>
                </a:solidFill>
              </a:rPr>
              <a:t>sem sofrer alterações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ser </a:t>
            </a:r>
            <a:r>
              <a:rPr lang="pt-BR" b="1" dirty="0">
                <a:solidFill>
                  <a:schemeClr val="accent2"/>
                </a:solidFill>
              </a:rPr>
              <a:t>removida</a:t>
            </a:r>
            <a:r>
              <a:rPr lang="pt-BR" dirty="0"/>
              <a:t> ou </a:t>
            </a:r>
            <a:r>
              <a:rPr lang="pt-BR" b="1" dirty="0">
                <a:solidFill>
                  <a:schemeClr val="accent2"/>
                </a:solidFill>
              </a:rPr>
              <a:t>gravada</a:t>
            </a:r>
            <a:r>
              <a:rPr lang="pt-BR" dirty="0"/>
              <a:t> na célula de memória, conforme </a:t>
            </a:r>
            <a:r>
              <a:rPr lang="pt-BR" b="1" dirty="0">
                <a:solidFill>
                  <a:srgbClr val="7030A0"/>
                </a:solidFill>
              </a:rPr>
              <a:t>regulado pelas portas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630" y="2270752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812A4-BB08-CF51-52EF-8F212B136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8037" y="1825624"/>
            <a:ext cx="6933963" cy="5032375"/>
          </a:xfrm>
        </p:spPr>
        <p:txBody>
          <a:bodyPr>
            <a:normAutofit/>
          </a:bodyPr>
          <a:lstStyle/>
          <a:p>
            <a:r>
              <a:rPr lang="pt-BR" dirty="0"/>
              <a:t>As portas são uma forma de </a:t>
            </a:r>
            <a:r>
              <a:rPr lang="pt-BR" b="1" dirty="0">
                <a:solidFill>
                  <a:srgbClr val="7030A0"/>
                </a:solidFill>
              </a:rPr>
              <a:t>permitir opcionalmente</a:t>
            </a:r>
            <a:r>
              <a:rPr lang="pt-BR" dirty="0"/>
              <a:t> a </a:t>
            </a:r>
            <a:r>
              <a:rPr lang="pt-BR" b="1" dirty="0">
                <a:solidFill>
                  <a:srgbClr val="00B050"/>
                </a:solidFill>
              </a:rPr>
              <a:t>passagem de informações</a:t>
            </a:r>
            <a:r>
              <a:rPr lang="pt-BR" dirty="0"/>
              <a:t>.</a:t>
            </a:r>
          </a:p>
          <a:p>
            <a:r>
              <a:rPr lang="pt-BR" dirty="0"/>
              <a:t>Por exemplo, uma camada densa com função de ativação sigmoide gera valores entre 0 e 1.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chemeClr val="accent2"/>
                </a:solidFill>
              </a:rPr>
              <a:t>operação de multiplicação elemento a elemento</a:t>
            </a:r>
            <a:r>
              <a:rPr lang="pt-BR" dirty="0"/>
              <a:t> decide o quanto da entrada passar.</a:t>
            </a:r>
          </a:p>
          <a:p>
            <a:r>
              <a:rPr lang="pt-BR" dirty="0"/>
              <a:t>Com isso a porta decide (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/>
              <a:t>) o quanto de cada elemento deve ser permitido passar.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710488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79572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5C087-743B-C7CF-BE89-B5D6C3962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15137-761A-DF31-B5AF-A324F7C30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estado da célula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valores no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variam entre 0 e 1, onde: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0 significa “fechado”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1 significa “aberto”.</a:t>
                </a:r>
              </a:p>
              <a:p>
                <a:r>
                  <a:rPr lang="pt-BR" dirty="0"/>
                  <a:t>Resumindo,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“filtra”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a informação</a:t>
                </a:r>
                <a:r>
                  <a:rPr lang="pt-BR" dirty="0"/>
                  <a:t> multiplicando o vetor de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pelo vetor de porta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elemento a elemento.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  <a:blipFill>
                <a:blip r:embed="rId3"/>
                <a:stretch>
                  <a:fillRect l="-158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98F49F13-A23B-6EF7-D9E0-57F230B27E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A36C67E-2EAB-F79C-D505-DE79D767793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F887BFCD-6D50-ACA8-946F-28EDF6FF4E02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35936FD-C97F-B176-82F3-FD34E8A9ECCF}"/>
              </a:ext>
            </a:extLst>
          </p:cNvPr>
          <p:cNvGraphicFramePr>
            <a:graphicFrameLocks noGrp="1"/>
          </p:cNvGraphicFramePr>
          <p:nvPr/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00603-03D8-6D82-0212-139747E4B31D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1939FB0-0AA3-25B0-B525-F0D1DAB311A5}"/>
              </a:ext>
            </a:extLst>
          </p:cNvPr>
          <p:cNvGraphicFramePr>
            <a:graphicFrameLocks noGrp="1"/>
          </p:cNvGraphicFramePr>
          <p:nvPr/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4B4D6A2-75FA-8B46-5F44-282DBA566656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FC98C86-8C6F-A5B7-34CD-39F2F88063D8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5AAF2C3-7FC3-BC24-A1B1-38A5EE18C5BA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14398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Estados da célula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saída atual da célula.</a:t>
                </a:r>
              </a:p>
              <a:p>
                <a:r>
                  <a:rPr lang="pt-BR" dirty="0"/>
                  <a:t>A célula modifica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apenas por meio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lineares*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célula </a:t>
                </a:r>
                <a:r>
                  <a:rPr lang="pt-BR" b="1" dirty="0">
                    <a:solidFill>
                      <a:srgbClr val="00B050"/>
                    </a:solidFill>
                  </a:rPr>
                  <a:t>decide quanto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revelar</a:t>
                </a:r>
                <a:r>
                  <a:rPr lang="pt-BR" dirty="0"/>
                  <a:t> usando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saída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  <a:blipFill>
                <a:blip r:embed="rId2"/>
                <a:stretch>
                  <a:fillRect l="-1645" t="-2663" r="-13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E227967A-2652-CF1C-F0CA-9E5085FEE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507" y="2281509"/>
            <a:ext cx="5131773" cy="3158867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08B4F401-8089-55FA-9674-E0D136960DBF}"/>
              </a:ext>
            </a:extLst>
          </p:cNvPr>
          <p:cNvSpPr txBox="1"/>
          <p:nvPr/>
        </p:nvSpPr>
        <p:spPr>
          <a:xfrm>
            <a:off x="0" y="6550222"/>
            <a:ext cx="4763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* importante, pois minimiza o desaparecimento do gradiente.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2663" r="-1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entarda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843" y="2170398"/>
            <a:ext cx="11598442" cy="27064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</a:t>
            </a:r>
            <a:r>
              <a:rPr lang="pt-BR" sz="6000" dirty="0" err="1"/>
              <a:t>LSTMs</a:t>
            </a:r>
            <a:r>
              <a:rPr lang="pt-BR" sz="6000" dirty="0"/>
              <a:t> e </a:t>
            </a:r>
            <a:r>
              <a:rPr lang="pt-BR" sz="6000" dirty="0" err="1"/>
              <a:t>GRUs</a:t>
            </a:r>
            <a:r>
              <a:rPr lang="pt-BR" sz="6000" dirty="0"/>
              <a:t> minimizam o problema do desaparecimento do gradiente?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GRUs e </a:t>
                </a:r>
                <a:r>
                  <a:rPr lang="pt-BR" dirty="0" err="1"/>
                  <a:t>LSTMs</a:t>
                </a:r>
                <a:r>
                  <a:rPr lang="pt-BR" dirty="0"/>
                  <a:t> têm um caminho quase linear para o gradiente.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Já as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caminha </a:t>
                </a:r>
                <a:r>
                  <a:rPr lang="pt-BR" dirty="0" err="1"/>
                  <a:t>nã</a:t>
                </a:r>
                <a:r>
                  <a:rPr lang="pt-BR" dirty="0"/>
                  <a:t>-linear: o novo estado passa por um função </a:t>
                </a:r>
                <a:r>
                  <a:rPr lang="pt-BR" dirty="0" err="1"/>
                  <a:t>tanh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0DB283C-57CF-8CCB-475A-8E64A9D1D9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89038-AB05-41BB-2D39-80FBAB080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1459" y="1825625"/>
            <a:ext cx="6620541" cy="5032376"/>
          </a:xfrm>
        </p:spPr>
        <p:txBody>
          <a:bodyPr>
            <a:normAutofit/>
          </a:bodyPr>
          <a:lstStyle/>
          <a:p>
            <a:r>
              <a:rPr lang="pt-BR" dirty="0" err="1"/>
              <a:t>LSTMs</a:t>
            </a:r>
            <a:r>
              <a:rPr lang="pt-BR" dirty="0"/>
              <a:t> e </a:t>
            </a:r>
            <a:r>
              <a:rPr lang="pt-BR" dirty="0" err="1"/>
              <a:t>GRUs</a:t>
            </a:r>
            <a:r>
              <a:rPr lang="pt-BR" dirty="0"/>
              <a:t> minimizam o problema do desaparecimento do gradiente porque a atualização do estado da célula é aditiva e não puramente multiplicativa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A soma cria um “atalho” </a:t>
            </a:r>
            <a:r>
              <a:rPr lang="pt-BR" b="1" dirty="0"/>
              <a:t>configurável</a:t>
            </a:r>
            <a:r>
              <a:rPr lang="pt-BR" dirty="0"/>
              <a:t> para o gradiente.</a:t>
            </a:r>
          </a:p>
          <a:p>
            <a:r>
              <a:rPr lang="pt-BR" dirty="0"/>
              <a:t>Esse atalho permite que os gradientes retrocedam no tempo sem necessariamente desaparecer.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3E2320-9C7D-2BEC-DBF2-A340E84674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9B0D30-CDE5-D51A-1F46-F2F7055CCA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, o valor da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pt-BR" dirty="0"/>
                  <a:t> é função das 3 portas: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do estado de atualização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Esses 4 valores são configurações que a rede aprende a definir.</a:t>
                </a:r>
              </a:p>
              <a:p>
                <a:r>
                  <a:rPr lang="pt-BR" dirty="0"/>
                  <a:t>Dessa forma, a rede aprende a decidir quando deixar o gradiente desaparecer e quando preservá-lo, ajustando os valores das portas.</a:t>
                </a:r>
              </a:p>
              <a:p>
                <a:r>
                  <a:rPr lang="pt-BR" dirty="0"/>
                  <a:t>Assim, as portas permitem que a rede decida o que guardar e o que descartar.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  <a:blipFill>
                <a:blip r:embed="rId3"/>
                <a:stretch>
                  <a:fillRect l="-1651" t="-1937" r="-2752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4662DC6-AD4B-B713-EE3A-3FDEE28D9C6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BA697ABF-3D68-0137-7426-7AD16763889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de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5"/>
            <a:ext cx="5971952" cy="4351338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5"/>
            <a:ext cx="5971952" cy="4351338"/>
          </a:xfrm>
        </p:spPr>
        <p:txBody>
          <a:bodyPr/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 gramatical de cada palavra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  <a:p>
            <a:pPr lvl="2">
              <a:buFont typeface="Wingdings" panose="05000000000000000000" pitchFamily="2" charset="2"/>
              <a:buChar char="§"/>
            </a:pP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 e </a:t>
            </a:r>
            <a:r>
              <a:rPr lang="pt-BR" dirty="0" err="1"/>
              <a:t>chatbots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2913321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3703675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4488712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3306726" y="3925832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4097080" y="3925832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2900031" y="183149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8EB1AD-6975-BCC1-C82D-8CF2AB176F0A}"/>
              </a:ext>
            </a:extLst>
          </p:cNvPr>
          <p:cNvCxnSpPr>
            <a:endCxn id="8" idx="2"/>
          </p:cNvCxnSpPr>
          <p:nvPr/>
        </p:nvCxnSpPr>
        <p:spPr>
          <a:xfrm flipV="1">
            <a:off x="3096733" y="2916015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2900029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0029" y="2183220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3690383" y="183149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4475421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3685068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5068" y="2183220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4475420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5420" y="2183220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3887086" y="2916015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4672124" y="2910146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1324640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2114994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1718045" y="3925832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2508399" y="3925832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1320651" y="495037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1517354" y="4468092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1351219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219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2114994" y="4980504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2141574" y="529911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574" y="529911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2913320" y="494151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2913320" y="529911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3320" y="529911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2311697" y="4468092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3110023" y="4468092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3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6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7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317060" y="3843004"/>
              <a:ext cx="11609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desdobrando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843DECB-C956-D955-D499-DD22189CE5D6}"/>
              </a:ext>
            </a:extLst>
          </p:cNvPr>
          <p:cNvSpPr/>
          <p:nvPr/>
        </p:nvSpPr>
        <p:spPr>
          <a:xfrm>
            <a:off x="948207" y="2169156"/>
            <a:ext cx="3069771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C21CDDD-60F4-254E-D0B1-DD9880058CAE}"/>
              </a:ext>
            </a:extLst>
          </p:cNvPr>
          <p:cNvSpPr/>
          <p:nvPr/>
        </p:nvSpPr>
        <p:spPr>
          <a:xfrm>
            <a:off x="1982349" y="3410126"/>
            <a:ext cx="674915" cy="3592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/>
              <p:nvPr/>
            </p:nvSpPr>
            <p:spPr>
              <a:xfrm>
                <a:off x="942765" y="4358898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765" y="4358898"/>
                <a:ext cx="432000" cy="432000"/>
              </a:xfrm>
              <a:prstGeom prst="ellipse">
                <a:avLst/>
              </a:prstGeom>
              <a:blipFill>
                <a:blip r:embed="rId2"/>
                <a:stretch>
                  <a:fillRect l="-15278" r="-12500"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E01C2A5B-A164-6913-FA94-CA99DB0244FA}"/>
              </a:ext>
            </a:extLst>
          </p:cNvPr>
          <p:cNvCxnSpPr>
            <a:cxnSpLocks/>
            <a:stCxn id="41" idx="0"/>
            <a:endCxn id="40" idx="2"/>
          </p:cNvCxnSpPr>
          <p:nvPr/>
        </p:nvCxnSpPr>
        <p:spPr>
          <a:xfrm rot="5400000" flipH="1" flipV="1">
            <a:off x="1444515" y="3483606"/>
            <a:ext cx="589543" cy="1161042"/>
          </a:xfrm>
          <a:prstGeom prst="bentConnector3">
            <a:avLst>
              <a:gd name="adj1" fmla="val 7031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396F9498-A53F-5856-A31E-72DF09B3702B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2894030" y="1839863"/>
            <a:ext cx="996041" cy="21444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/>
              <p:nvPr/>
            </p:nvSpPr>
            <p:spPr>
              <a:xfrm>
                <a:off x="3585978" y="1312614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5978" y="1312614"/>
                <a:ext cx="432000" cy="432000"/>
              </a:xfrm>
              <a:prstGeom prst="ellipse">
                <a:avLst/>
              </a:prstGeom>
              <a:blipFill>
                <a:blip r:embed="rId3"/>
                <a:stretch>
                  <a:fillRect l="-19444" r="-12500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66E2E6D-A249-7CAB-4045-844CE9311DCA}"/>
              </a:ext>
            </a:extLst>
          </p:cNvPr>
          <p:cNvCxnSpPr>
            <a:endCxn id="44" idx="4"/>
          </p:cNvCxnSpPr>
          <p:nvPr/>
        </p:nvCxnSpPr>
        <p:spPr>
          <a:xfrm flipV="1">
            <a:off x="3801978" y="1744614"/>
            <a:ext cx="0" cy="669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4EFE449-B504-6CD4-C0C2-B0B6CF080A10}"/>
              </a:ext>
            </a:extLst>
          </p:cNvPr>
          <p:cNvCxnSpPr>
            <a:cxnSpLocks/>
          </p:cNvCxnSpPr>
          <p:nvPr/>
        </p:nvCxnSpPr>
        <p:spPr>
          <a:xfrm>
            <a:off x="633880" y="2403198"/>
            <a:ext cx="921744" cy="1552235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9675</TotalTime>
  <Words>5129</Words>
  <Application>Microsoft Office PowerPoint</Application>
  <PresentationFormat>Widescreen</PresentationFormat>
  <Paragraphs>865</Paragraphs>
  <Slides>81</Slides>
  <Notes>45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81</vt:i4>
      </vt:variant>
    </vt:vector>
  </HeadingPairs>
  <TitlesOfParts>
    <vt:vector size="88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recorrente</vt:lpstr>
      <vt:lpstr>Atualização do estado e geração da saída</vt:lpstr>
      <vt:lpstr>Atualização do estado e geração da saída</vt:lpstr>
      <vt:lpstr>Atualização do estado e geração da saída</vt:lpstr>
      <vt:lpstr>Desdobrando uma RNN</vt:lpstr>
      <vt:lpstr>Desdobrando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Por que o BPTT truncado funciona?</vt:lpstr>
      <vt:lpstr>Desaparecimento e explosão do gradiente</vt:lpstr>
      <vt:lpstr>Apresentação do PowerPoint</vt:lpstr>
      <vt:lpstr>Desaparecimento e explosão do gradiente</vt:lpstr>
      <vt:lpstr>Como mitigar esses problemas?</vt:lpstr>
      <vt:lpstr>Por que não usar funções de ativação ReLU?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Long-short term memory (LSTM)</vt:lpstr>
      <vt:lpstr>A ideia central por trás das LSTMs: estado da célula</vt:lpstr>
      <vt:lpstr>A ideia central por trás das LSTMs: estado da célula</vt:lpstr>
      <vt:lpstr>A ideia central por trás das LSTMs: estado da célula</vt:lpstr>
      <vt:lpstr>Estados da célula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1947</cp:revision>
  <dcterms:created xsi:type="dcterms:W3CDTF">2020-01-20T13:50:05Z</dcterms:created>
  <dcterms:modified xsi:type="dcterms:W3CDTF">2026-05-11T20:34:21Z</dcterms:modified>
</cp:coreProperties>
</file>