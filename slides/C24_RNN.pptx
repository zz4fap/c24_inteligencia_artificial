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3"/>
  </p:notesMasterIdLst>
  <p:handoutMasterIdLst>
    <p:handoutMasterId r:id="rId64"/>
  </p:handoutMasterIdLst>
  <p:sldIdLst>
    <p:sldId id="256" r:id="rId2"/>
    <p:sldId id="315" r:id="rId3"/>
    <p:sldId id="308" r:id="rId4"/>
    <p:sldId id="316" r:id="rId5"/>
    <p:sldId id="325" r:id="rId6"/>
    <p:sldId id="317" r:id="rId7"/>
    <p:sldId id="326" r:id="rId8"/>
    <p:sldId id="328" r:id="rId9"/>
    <p:sldId id="329" r:id="rId10"/>
    <p:sldId id="334" r:id="rId11"/>
    <p:sldId id="332" r:id="rId12"/>
    <p:sldId id="333" r:id="rId13"/>
    <p:sldId id="336" r:id="rId14"/>
    <p:sldId id="331" r:id="rId15"/>
    <p:sldId id="338" r:id="rId16"/>
    <p:sldId id="341" r:id="rId17"/>
    <p:sldId id="342" r:id="rId18"/>
    <p:sldId id="343" r:id="rId19"/>
    <p:sldId id="361" r:id="rId20"/>
    <p:sldId id="344" r:id="rId21"/>
    <p:sldId id="345" r:id="rId22"/>
    <p:sldId id="346" r:id="rId23"/>
    <p:sldId id="347" r:id="rId24"/>
    <p:sldId id="349" r:id="rId25"/>
    <p:sldId id="351" r:id="rId26"/>
    <p:sldId id="352" r:id="rId27"/>
    <p:sldId id="355" r:id="rId28"/>
    <p:sldId id="372" r:id="rId29"/>
    <p:sldId id="374" r:id="rId30"/>
    <p:sldId id="376" r:id="rId31"/>
    <p:sldId id="356" r:id="rId32"/>
    <p:sldId id="358" r:id="rId33"/>
    <p:sldId id="362" r:id="rId34"/>
    <p:sldId id="365" r:id="rId35"/>
    <p:sldId id="366" r:id="rId36"/>
    <p:sldId id="367" r:id="rId37"/>
    <p:sldId id="368" r:id="rId38"/>
    <p:sldId id="371" r:id="rId39"/>
    <p:sldId id="379" r:id="rId40"/>
    <p:sldId id="377" r:id="rId41"/>
    <p:sldId id="381" r:id="rId42"/>
    <p:sldId id="360" r:id="rId43"/>
    <p:sldId id="337" r:id="rId44"/>
    <p:sldId id="588" r:id="rId45"/>
    <p:sldId id="589" r:id="rId46"/>
    <p:sldId id="293" r:id="rId47"/>
    <p:sldId id="306" r:id="rId48"/>
    <p:sldId id="335" r:id="rId49"/>
    <p:sldId id="330" r:id="rId50"/>
    <p:sldId id="340" r:id="rId51"/>
    <p:sldId id="348" r:id="rId52"/>
    <p:sldId id="350" r:id="rId53"/>
    <p:sldId id="353" r:id="rId54"/>
    <p:sldId id="354" r:id="rId55"/>
    <p:sldId id="373" r:id="rId56"/>
    <p:sldId id="357" r:id="rId57"/>
    <p:sldId id="359" r:id="rId58"/>
    <p:sldId id="363" r:id="rId59"/>
    <p:sldId id="364" r:id="rId60"/>
    <p:sldId id="369" r:id="rId61"/>
    <p:sldId id="370" r:id="rId6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1598" autoAdjust="0"/>
  </p:normalViewPr>
  <p:slideViewPr>
    <p:cSldViewPr snapToGrid="0">
      <p:cViewPr varScale="1">
        <p:scale>
          <a:sx n="90" d="100"/>
          <a:sy n="90" d="100"/>
        </p:scale>
        <p:origin x="1614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notesMaster" Target="notesMasters/notesMaster1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handoutMaster" Target="handoutMasters/handoutMaster1.xml"/><Relationship Id="rId69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27/03/2026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27/03/2026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</a:p>
          <a:p>
            <a:r>
              <a:rPr lang="pt-BR" dirty="0"/>
              <a:t>[2]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594373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https://colab.research.google.com/github/zz4fap/c24_inteligencia_artificial/blob/master/notebooks/cnn.ipynb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2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jpe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380.png"/><Relationship Id="rId18" Type="http://schemas.openxmlformats.org/officeDocument/2006/relationships/image" Target="../media/image430.png"/><Relationship Id="rId26" Type="http://schemas.openxmlformats.org/officeDocument/2006/relationships/image" Target="../media/image51.png"/><Relationship Id="rId3" Type="http://schemas.openxmlformats.org/officeDocument/2006/relationships/image" Target="../media/image280.png"/><Relationship Id="rId21" Type="http://schemas.openxmlformats.org/officeDocument/2006/relationships/image" Target="../media/image460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420.png"/><Relationship Id="rId25" Type="http://schemas.openxmlformats.org/officeDocument/2006/relationships/image" Target="../media/image50.png"/><Relationship Id="rId2" Type="http://schemas.openxmlformats.org/officeDocument/2006/relationships/image" Target="../media/image270.png"/><Relationship Id="rId16" Type="http://schemas.openxmlformats.org/officeDocument/2006/relationships/image" Target="../media/image410.png"/><Relationship Id="rId20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9.png"/><Relationship Id="rId5" Type="http://schemas.openxmlformats.org/officeDocument/2006/relationships/image" Target="../media/image300.png"/><Relationship Id="rId15" Type="http://schemas.openxmlformats.org/officeDocument/2006/relationships/image" Target="../media/image400.png"/><Relationship Id="rId23" Type="http://schemas.openxmlformats.org/officeDocument/2006/relationships/image" Target="../media/image480.png"/><Relationship Id="rId28" Type="http://schemas.openxmlformats.org/officeDocument/2006/relationships/image" Target="../media/image53.png"/><Relationship Id="rId10" Type="http://schemas.openxmlformats.org/officeDocument/2006/relationships/image" Target="../media/image350.png"/><Relationship Id="rId19" Type="http://schemas.openxmlformats.org/officeDocument/2006/relationships/image" Target="../media/image440.png"/><Relationship Id="rId4" Type="http://schemas.openxmlformats.org/officeDocument/2006/relationships/image" Target="../media/image290.png"/><Relationship Id="rId9" Type="http://schemas.openxmlformats.org/officeDocument/2006/relationships/image" Target="../media/image340.png"/><Relationship Id="rId14" Type="http://schemas.openxmlformats.org/officeDocument/2006/relationships/image" Target="../media/image390.png"/><Relationship Id="rId22" Type="http://schemas.openxmlformats.org/officeDocument/2006/relationships/image" Target="../media/image47.png"/><Relationship Id="rId27" Type="http://schemas.openxmlformats.org/officeDocument/2006/relationships/image" Target="../media/image52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450.png"/><Relationship Id="rId18" Type="http://schemas.openxmlformats.org/officeDocument/2006/relationships/image" Target="../media/image50.png"/><Relationship Id="rId3" Type="http://schemas.openxmlformats.org/officeDocument/2006/relationships/image" Target="../media/image360.png"/><Relationship Id="rId21" Type="http://schemas.openxmlformats.org/officeDocument/2006/relationships/image" Target="../media/image53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9.png"/><Relationship Id="rId2" Type="http://schemas.openxmlformats.org/officeDocument/2006/relationships/image" Target="../media/image350.png"/><Relationship Id="rId16" Type="http://schemas.openxmlformats.org/officeDocument/2006/relationships/image" Target="../media/image480.png"/><Relationship Id="rId20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340.png"/><Relationship Id="rId15" Type="http://schemas.openxmlformats.org/officeDocument/2006/relationships/image" Target="../media/image47.png"/><Relationship Id="rId10" Type="http://schemas.openxmlformats.org/officeDocument/2006/relationships/image" Target="../media/image420.png"/><Relationship Id="rId19" Type="http://schemas.openxmlformats.org/officeDocument/2006/relationships/image" Target="../media/image51.png"/><Relationship Id="rId4" Type="http://schemas.openxmlformats.org/officeDocument/2006/relationships/image" Target="../media/image370.png"/><Relationship Id="rId9" Type="http://schemas.openxmlformats.org/officeDocument/2006/relationships/image" Target="../media/image410.png"/><Relationship Id="rId14" Type="http://schemas.openxmlformats.org/officeDocument/2006/relationships/image" Target="../media/image460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8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11" Type="http://schemas.openxmlformats.org/officeDocument/2006/relationships/image" Target="../media/image67.png"/><Relationship Id="rId5" Type="http://schemas.openxmlformats.org/officeDocument/2006/relationships/image" Target="../media/image63.png"/><Relationship Id="rId10" Type="http://schemas.openxmlformats.org/officeDocument/2006/relationships/image" Target="../media/image66.png"/><Relationship Id="rId4" Type="http://schemas.openxmlformats.org/officeDocument/2006/relationships/image" Target="../media/image62.png"/><Relationship Id="rId9" Type="http://schemas.openxmlformats.org/officeDocument/2006/relationships/image" Target="../media/image6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10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0.png"/><Relationship Id="rId10" Type="http://schemas.openxmlformats.org/officeDocument/2006/relationships/image" Target="../media/image78.png"/><Relationship Id="rId4" Type="http://schemas.openxmlformats.org/officeDocument/2006/relationships/image" Target="../media/image720.png"/><Relationship Id="rId9" Type="http://schemas.openxmlformats.org/officeDocument/2006/relationships/image" Target="../media/image77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5" Type="http://schemas.openxmlformats.org/officeDocument/2006/relationships/image" Target="../media/image83.png"/><Relationship Id="rId10" Type="http://schemas.openxmlformats.org/officeDocument/2006/relationships/image" Target="../media/image88.png"/><Relationship Id="rId4" Type="http://schemas.openxmlformats.org/officeDocument/2006/relationships/image" Target="../media/image82.png"/><Relationship Id="rId9" Type="http://schemas.openxmlformats.org/officeDocument/2006/relationships/image" Target="../media/image87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96.png"/><Relationship Id="rId3" Type="http://schemas.openxmlformats.org/officeDocument/2006/relationships/image" Target="../media/image800.png"/><Relationship Id="rId7" Type="http://schemas.openxmlformats.org/officeDocument/2006/relationships/image" Target="../media/image93.png"/><Relationship Id="rId12" Type="http://schemas.openxmlformats.org/officeDocument/2006/relationships/image" Target="../media/image95.png"/><Relationship Id="rId2" Type="http://schemas.openxmlformats.org/officeDocument/2006/relationships/notesSlide" Target="../notesSlides/notesSlide26.xml"/><Relationship Id="rId16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11" Type="http://schemas.openxmlformats.org/officeDocument/2006/relationships/image" Target="../media/image94.png"/><Relationship Id="rId5" Type="http://schemas.openxmlformats.org/officeDocument/2006/relationships/image" Target="../media/image91.png"/><Relationship Id="rId15" Type="http://schemas.openxmlformats.org/officeDocument/2006/relationships/image" Target="../media/image98.png"/><Relationship Id="rId10" Type="http://schemas.openxmlformats.org/officeDocument/2006/relationships/image" Target="../media/image83.png"/><Relationship Id="rId4" Type="http://schemas.openxmlformats.org/officeDocument/2006/relationships/image" Target="../media/image90.png"/><Relationship Id="rId9" Type="http://schemas.openxmlformats.org/officeDocument/2006/relationships/image" Target="../media/image82.png"/><Relationship Id="rId14" Type="http://schemas.openxmlformats.org/officeDocument/2006/relationships/image" Target="../media/image97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9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0.png"/><Relationship Id="rId11" Type="http://schemas.openxmlformats.org/officeDocument/2006/relationships/image" Target="../media/image920.png"/><Relationship Id="rId5" Type="http://schemas.openxmlformats.org/officeDocument/2006/relationships/image" Target="../media/image870.png"/><Relationship Id="rId10" Type="http://schemas.openxmlformats.org/officeDocument/2006/relationships/image" Target="../media/image910.png"/><Relationship Id="rId4" Type="http://schemas.openxmlformats.org/officeDocument/2006/relationships/image" Target="../media/image730.png"/><Relationship Id="rId9" Type="http://schemas.openxmlformats.org/officeDocument/2006/relationships/image" Target="../media/image900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image" Target="../media/image940.png"/><Relationship Id="rId3" Type="http://schemas.openxmlformats.org/officeDocument/2006/relationships/image" Target="../media/image880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0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920.png"/><Relationship Id="rId4" Type="http://schemas.openxmlformats.org/officeDocument/2006/relationships/image" Target="../media/image910.png"/><Relationship Id="rId9" Type="http://schemas.openxmlformats.org/officeDocument/2006/relationships/image" Target="../media/image900.png"/><Relationship Id="rId14" Type="http://schemas.openxmlformats.org/officeDocument/2006/relationships/image" Target="../media/image950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900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87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960.png"/><Relationship Id="rId10" Type="http://schemas.openxmlformats.org/officeDocument/2006/relationships/image" Target="../media/image910.png"/><Relationship Id="rId4" Type="http://schemas.openxmlformats.org/officeDocument/2006/relationships/image" Target="../media/image890.png"/><Relationship Id="rId9" Type="http://schemas.openxmlformats.org/officeDocument/2006/relationships/image" Target="../media/image880.png"/><Relationship Id="rId14" Type="http://schemas.openxmlformats.org/officeDocument/2006/relationships/image" Target="../media/image920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70.pn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0.png"/><Relationship Id="rId10" Type="http://schemas.openxmlformats.org/officeDocument/2006/relationships/image" Target="../media/image104.png"/><Relationship Id="rId4" Type="http://schemas.openxmlformats.org/officeDocument/2006/relationships/image" Target="../media/image980.png"/><Relationship Id="rId9" Type="http://schemas.openxmlformats.org/officeDocument/2006/relationships/image" Target="../media/image103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70.pn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0.png"/><Relationship Id="rId10" Type="http://schemas.openxmlformats.org/officeDocument/2006/relationships/image" Target="../media/image104.png"/><Relationship Id="rId4" Type="http://schemas.openxmlformats.org/officeDocument/2006/relationships/image" Target="../media/image980.png"/><Relationship Id="rId9" Type="http://schemas.openxmlformats.org/officeDocument/2006/relationships/image" Target="../media/image10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são </a:t>
            </a:r>
            <a:r>
              <a:rPr lang="pt-BR" altLang="pt-BR" b="1" dirty="0"/>
              <a:t>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modelar </a:t>
            </a:r>
            <a:r>
              <a:rPr lang="pt-BR" altLang="pt-BR" b="1" dirty="0"/>
              <a:t>dependências temporais</a:t>
            </a:r>
            <a:r>
              <a:rPr lang="pt-BR" altLang="pt-BR" dirty="0"/>
              <a:t>!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b="1" dirty="0"/>
              <a:t>Existe correlação temporal entre as amostras.</a:t>
            </a:r>
            <a:endParaRPr lang="pt-BR" altLang="pt-BR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(clima, ações, vendas, etc.)</a:t>
            </a:r>
          </a:p>
          <a:p>
            <a:r>
              <a:rPr lang="pt-BR" dirty="0"/>
              <a:t>Tradução automática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Legenda de imagens e vídeos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/>
          </a:bodyPr>
          <a:lstStyle/>
          <a:p>
            <a:r>
              <a:rPr lang="pt-BR" dirty="0"/>
              <a:t>MLP: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armazenam informações de estados anteriores 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entrada é tratada de forma independente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capturam dependências temporais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depende apenas da entrada atual</a:t>
            </a:r>
          </a:p>
          <a:p>
            <a:r>
              <a:rPr lang="pt-BR" dirty="0"/>
              <a:t>CNN: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 as limitações das </a:t>
            </a:r>
            <a:r>
              <a:rPr lang="pt-BR" dirty="0" err="1"/>
              <a:t>MLPs</a:t>
            </a:r>
            <a:r>
              <a:rPr lang="pt-BR" dirty="0"/>
              <a:t>, com uma exceção: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Modela relações espaciais.</a:t>
            </a:r>
          </a:p>
          <a:p>
            <a:r>
              <a:rPr lang="pt-BR" dirty="0"/>
              <a:t>Ambas famílias exigem que o vetor de entrada tenha um tamanho predefinido e constante.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3954" y="3142796"/>
            <a:ext cx="3962400" cy="972003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Redes neurais recorrentes têm memória!</a:t>
            </a:r>
            <a:endParaRPr lang="en-US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B99978AC-6F74-4307-94F5-3BAC8F4A5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Possuem laços de realimentação.</a:t>
            </a:r>
          </a:p>
          <a:p>
            <a:r>
              <a:rPr lang="pt-BR" dirty="0"/>
              <a:t>Mantém um estado interno (memória) que armazena informações observadas até o momento.</a:t>
            </a:r>
          </a:p>
          <a:p>
            <a:r>
              <a:rPr lang="pt-BR" dirty="0"/>
              <a:t>A saída da rede depende da entrada atual e do valor do estado interno anterior.</a:t>
            </a:r>
          </a:p>
          <a:p>
            <a:r>
              <a:rPr lang="pt-BR" dirty="0"/>
              <a:t>O estado interno mantém uma memória (que desaparece) sobre o histórico de todas as entradas passadas.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/>
          <a:lstStyle/>
          <a:p>
            <a:r>
              <a:rPr lang="pt-BR" dirty="0"/>
              <a:t>Uma RNN utiliza informações sequenciais, modelando as dependências temporais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prever a próxima palavra em uma frase, precisamos saber quais palavras vieram antes dela.</a:t>
            </a:r>
          </a:p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mapeiam todo o histórico de entradas anteriores para cada saída.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Componentes de uma RNN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(</a:t>
                </a:r>
                <a:r>
                  <a:rPr lang="en-US" dirty="0" err="1"/>
                  <a:t>memória</a:t>
                </a:r>
                <a:r>
                  <a:rPr lang="en-US" dirty="0"/>
                  <a:t> da rede)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oculto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:r>
                  <a:rPr lang="en-US" dirty="0"/>
                  <a:t>       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  <a:blipFill>
                <a:blip r:embed="rId3"/>
                <a:stretch>
                  <a:fillRect l="-163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377ED572-EE63-9E0B-64E3-7DF577A4C2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2605" y="5393637"/>
            <a:ext cx="466790" cy="46679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3818980-F547-0E5A-1FB3-02FC98C202F2}"/>
              </a:ext>
            </a:extLst>
          </p:cNvPr>
          <p:cNvGrpSpPr/>
          <p:nvPr/>
        </p:nvGrpSpPr>
        <p:grpSpPr>
          <a:xfrm>
            <a:off x="2225506" y="1747612"/>
            <a:ext cx="1483094" cy="4507363"/>
            <a:chOff x="2454106" y="1782434"/>
            <a:chExt cx="1483094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1A64FDC-EF69-BEDA-15E2-93E0F6665937}"/>
                    </a:ext>
                  </a:extLst>
                </p:cNvPr>
                <p:cNvSpPr/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1A64FDC-EF69-BEDA-15E2-93E0F66659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  <a:blipFill>
                  <a:blip r:embed="rId5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86D7FAB-7118-5D20-2DBF-2FF3EAF87830}"/>
                    </a:ext>
                  </a:extLst>
                </p:cNvPr>
                <p:cNvSpPr/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86D7FAB-7118-5D20-2DBF-2FF3EAF8783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07E56CD-571A-F75D-A1A7-7B928CD4CBCE}"/>
                    </a:ext>
                  </a:extLst>
                </p:cNvPr>
                <p:cNvSpPr/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07E56CD-571A-F75D-A1A7-7B928CD4CB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DFE758E-AA0D-24E9-ACDD-5EB509378589}"/>
                    </a:ext>
                  </a:extLst>
                </p:cNvPr>
                <p:cNvSpPr/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DFE758E-AA0D-24E9-ACDD-5EB5093785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/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/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/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/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  <a:blipFill>
                  <a:blip r:embed="rId12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74BCD5F-A26B-5098-88E1-CB8911BEF0B7}"/>
                </a:ext>
              </a:extLst>
            </p:cNvPr>
            <p:cNvCxnSpPr>
              <a:stCxn id="14" idx="0"/>
              <a:endCxn id="9" idx="2"/>
            </p:cNvCxnSpPr>
            <p:nvPr/>
          </p:nvCxnSpPr>
          <p:spPr>
            <a:xfrm flipH="1" flipV="1">
              <a:off x="2688106" y="566185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4D61A13-9F5D-8BB8-1C60-28D90D0C40B3}"/>
                </a:ext>
              </a:extLst>
            </p:cNvPr>
            <p:cNvCxnSpPr/>
            <p:nvPr/>
          </p:nvCxnSpPr>
          <p:spPr>
            <a:xfrm flipH="1" flipV="1">
              <a:off x="2691878" y="499791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6D5D1B1-5D0C-A928-E4A0-19B840DC8462}"/>
                </a:ext>
              </a:extLst>
            </p:cNvPr>
            <p:cNvCxnSpPr/>
            <p:nvPr/>
          </p:nvCxnSpPr>
          <p:spPr>
            <a:xfrm flipH="1" flipV="1">
              <a:off x="2688106" y="436996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1AE4C5E-26C8-56CF-D359-49E2A105C2BC}"/>
                </a:ext>
              </a:extLst>
            </p:cNvPr>
            <p:cNvCxnSpPr>
              <a:stCxn id="13" idx="0"/>
              <a:endCxn id="8" idx="2"/>
            </p:cNvCxnSpPr>
            <p:nvPr/>
          </p:nvCxnSpPr>
          <p:spPr>
            <a:xfrm flipV="1">
              <a:off x="2691878" y="2894299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5C4D3998-08DD-3820-D170-02DFE501BF6A}"/>
                </a:ext>
              </a:extLst>
            </p:cNvPr>
            <p:cNvCxnSpPr>
              <a:stCxn id="15" idx="3"/>
              <a:endCxn id="11" idx="0"/>
            </p:cNvCxnSpPr>
            <p:nvPr/>
          </p:nvCxnSpPr>
          <p:spPr>
            <a:xfrm>
              <a:off x="3517900" y="3460750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029FFC5-80B8-0F57-67F9-B90CD57A4845}"/>
                </a:ext>
              </a:extLst>
            </p:cNvPr>
            <p:cNvCxnSpPr>
              <a:stCxn id="15" idx="1"/>
            </p:cNvCxnSpPr>
            <p:nvPr/>
          </p:nvCxnSpPr>
          <p:spPr>
            <a:xfrm flipH="1">
              <a:off x="2704578" y="3460750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CD4A7C63-26B6-7B49-354D-6EA8E40614ED}"/>
                </a:ext>
              </a:extLst>
            </p:cNvPr>
            <p:cNvCxnSpPr>
              <a:cxnSpLocks/>
              <a:stCxn id="11" idx="2"/>
              <a:endCxn id="16" idx="6"/>
            </p:cNvCxnSpPr>
            <p:nvPr/>
          </p:nvCxnSpPr>
          <p:spPr>
            <a:xfrm rot="5400000">
              <a:off x="3101497" y="4180208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3952B2F4-490F-BC90-DE7A-C07F43FC886C}"/>
                </a:ext>
              </a:extLst>
            </p:cNvPr>
            <p:cNvCxnSpPr/>
            <p:nvPr/>
          </p:nvCxnSpPr>
          <p:spPr>
            <a:xfrm flipH="1" flipV="1">
              <a:off x="2694721" y="222375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371" y="1825625"/>
            <a:ext cx="5168993" cy="4351338"/>
          </a:xfrm>
        </p:spPr>
        <p:txBody>
          <a:bodyPr/>
          <a:lstStyle/>
          <a:p>
            <a:r>
              <a:rPr lang="pt-BR" dirty="0"/>
              <a:t>Representação simplificada do neurônio.</a:t>
            </a:r>
          </a:p>
          <a:p>
            <a:r>
              <a:rPr lang="pt-BR" dirty="0"/>
              <a:t>Bastante utilizada na literatura.</a:t>
            </a:r>
            <a:endParaRPr lang="en-US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1FC8C81-094A-585B-4F3A-F0DE5D997784}"/>
              </a:ext>
            </a:extLst>
          </p:cNvPr>
          <p:cNvGrpSpPr/>
          <p:nvPr/>
        </p:nvGrpSpPr>
        <p:grpSpPr>
          <a:xfrm>
            <a:off x="1372959" y="2169687"/>
            <a:ext cx="3830414" cy="3478284"/>
            <a:chOff x="654502" y="2093487"/>
            <a:chExt cx="3830414" cy="3478284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310BD8F-0E7C-F10A-9C86-B2303040BE7D}"/>
                </a:ext>
              </a:extLst>
            </p:cNvPr>
            <p:cNvSpPr/>
            <p:nvPr/>
          </p:nvSpPr>
          <p:spPr>
            <a:xfrm>
              <a:off x="968829" y="2950029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7B0CC01-48A2-5CAE-7F49-62D52A2AF9AD}"/>
                </a:ext>
              </a:extLst>
            </p:cNvPr>
            <p:cNvSpPr/>
            <p:nvPr/>
          </p:nvSpPr>
          <p:spPr>
            <a:xfrm>
              <a:off x="2002971" y="4190999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03DB30CA-971F-1223-BF82-5944AA83DAE8}"/>
                    </a:ext>
                  </a:extLst>
                </p:cNvPr>
                <p:cNvSpPr/>
                <p:nvPr/>
              </p:nvSpPr>
              <p:spPr>
                <a:xfrm>
                  <a:off x="963387" y="5139771"/>
                  <a:ext cx="432000" cy="432000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03DB30CA-971F-1223-BF82-5944AA83DA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87" y="5139771"/>
                  <a:ext cx="432000" cy="432000"/>
                </a:xfrm>
                <a:prstGeom prst="ellipse">
                  <a:avLst/>
                </a:prstGeom>
                <a:blipFill>
                  <a:blip r:embed="rId3"/>
                  <a:stretch>
                    <a:fillRect l="-13889" r="-12500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88D081D5-3BD3-DB47-44D4-01356D923649}"/>
                </a:ext>
              </a:extLst>
            </p:cNvPr>
            <p:cNvCxnSpPr>
              <a:cxnSpLocks/>
              <a:stCxn id="28" idx="0"/>
              <a:endCxn id="25" idx="2"/>
            </p:cNvCxnSpPr>
            <p:nvPr/>
          </p:nvCxnSpPr>
          <p:spPr>
            <a:xfrm rot="5400000" flipH="1" flipV="1">
              <a:off x="1465137" y="4264479"/>
              <a:ext cx="589543" cy="1161042"/>
            </a:xfrm>
            <a:prstGeom prst="bentConnector3">
              <a:avLst>
                <a:gd name="adj1" fmla="val 70311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C5432765-70CB-E050-EE29-01A4C98D1B3F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rot="5400000" flipH="1" flipV="1">
              <a:off x="2914652" y="2620736"/>
              <a:ext cx="996041" cy="214448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83DC4B7-2C13-1CCB-8C68-6B3BE9405B2B}"/>
                    </a:ext>
                  </a:extLst>
                </p:cNvPr>
                <p:cNvSpPr/>
                <p:nvPr/>
              </p:nvSpPr>
              <p:spPr>
                <a:xfrm>
                  <a:off x="3606600" y="2093487"/>
                  <a:ext cx="432000" cy="432000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83DC4B7-2C13-1CCB-8C68-6B3BE9405B2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6600" y="2093487"/>
                  <a:ext cx="432000" cy="432000"/>
                </a:xfrm>
                <a:prstGeom prst="ellipse">
                  <a:avLst/>
                </a:prstGeom>
                <a:blipFill>
                  <a:blip r:embed="rId4"/>
                  <a:stretch>
                    <a:fillRect l="-20833" r="-12500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6D1BA2-8986-9A38-5DBF-FC5C2135B588}"/>
                </a:ext>
              </a:extLst>
            </p:cNvPr>
            <p:cNvCxnSpPr>
              <a:endCxn id="37" idx="4"/>
            </p:cNvCxnSpPr>
            <p:nvPr/>
          </p:nvCxnSpPr>
          <p:spPr>
            <a:xfrm flipV="1">
              <a:off x="3822600" y="2525487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64662ABC-6DDD-AA92-96BF-BCFBA039FB72}"/>
                </a:ext>
              </a:extLst>
            </p:cNvPr>
            <p:cNvCxnSpPr>
              <a:cxnSpLocks/>
            </p:cNvCxnSpPr>
            <p:nvPr/>
          </p:nvCxnSpPr>
          <p:spPr>
            <a:xfrm>
              <a:off x="654502" y="3184071"/>
              <a:ext cx="921744" cy="1552235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</p:spPr>
            <p:txBody>
              <a:bodyPr/>
              <a:lstStyle/>
              <a:p>
                <a:r>
                  <a:rPr lang="pt-BR" dirty="0"/>
                  <a:t>Equações de atualização do estado e de saída do neurônio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pesos </a:t>
                </a:r>
                <a:r>
                  <a:rPr lang="en-US" dirty="0" err="1"/>
                  <a:t>são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dirty="0" err="1"/>
                  <a:t>todos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intervalos</a:t>
                </a:r>
                <a:r>
                  <a:rPr lang="en-US" dirty="0"/>
                  <a:t> de tempo.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dirty="0" err="1"/>
                  <a:t>tangente</a:t>
                </a:r>
                <a:r>
                  <a:rPr lang="en-US" dirty="0"/>
                  <a:t> </a:t>
                </a:r>
                <a:r>
                  <a:rPr lang="en-US" dirty="0" err="1"/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en-US" dirty="0" err="1"/>
                  <a:t>não</a:t>
                </a:r>
                <a:r>
                  <a:rPr lang="en-US" dirty="0"/>
                  <a:t> </a:t>
                </a:r>
                <a:r>
                  <a:rPr lang="en-US" dirty="0" err="1"/>
                  <a:t>saturarem</a:t>
                </a:r>
                <a:r>
                  <a:rPr lang="en-US" dirty="0"/>
                  <a:t>, a </a:t>
                </a:r>
                <a:r>
                  <a:rPr lang="en-US" dirty="0" err="1"/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dirty="0" err="1"/>
                  <a:t>causar</a:t>
                </a:r>
                <a:r>
                  <a:rPr lang="en-US" dirty="0"/>
                  <a:t> </a:t>
                </a:r>
                <a:r>
                  <a:rPr lang="en-US" dirty="0" err="1"/>
                  <a:t>explosão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  <a:blipFill>
                <a:blip r:embed="rId3"/>
                <a:stretch>
                  <a:fillRect l="-1532" t="-1937" r="-10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21A8E-E596-0752-ABB3-DDE290A038F7}"/>
              </a:ext>
            </a:extLst>
          </p:cNvPr>
          <p:cNvGrpSpPr/>
          <p:nvPr/>
        </p:nvGrpSpPr>
        <p:grpSpPr>
          <a:xfrm>
            <a:off x="2225506" y="1747612"/>
            <a:ext cx="1483094" cy="4507363"/>
            <a:chOff x="2454106" y="1782434"/>
            <a:chExt cx="1483094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48C80E92-14C9-01F0-8DC8-2E63A00BB223}"/>
                    </a:ext>
                  </a:extLst>
                </p:cNvPr>
                <p:cNvSpPr/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48C80E92-14C9-01F0-8DC8-2E63A00BB22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8D681600-DE64-6E97-06BB-EDCA0D68B898}"/>
                    </a:ext>
                  </a:extLst>
                </p:cNvPr>
                <p:cNvSpPr/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8D681600-DE64-6E97-06BB-EDCA0D68B89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  <a:blipFill>
                  <a:blip r:embed="rId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9DCA2272-8C0C-B896-9826-E54FBA0FE64C}"/>
                    </a:ext>
                  </a:extLst>
                </p:cNvPr>
                <p:cNvSpPr/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9DCA2272-8C0C-B896-9826-E54FBA0FE64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33BC30A3-21C6-CC65-3BE1-E00A8369C8D6}"/>
                    </a:ext>
                  </a:extLst>
                </p:cNvPr>
                <p:cNvSpPr/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33BC30A3-21C6-CC65-3BE1-E00A8369C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6BADA7E3-1C7D-B324-5E45-068ED77CE8B2}"/>
                    </a:ext>
                  </a:extLst>
                </p:cNvPr>
                <p:cNvSpPr/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36597884-C966-E4A2-1EDB-3DAB2C2DF642}"/>
                    </a:ext>
                  </a:extLst>
                </p:cNvPr>
                <p:cNvSpPr/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Diamond 44">
                  <a:extLst>
                    <a:ext uri="{FF2B5EF4-FFF2-40B4-BE49-F238E27FC236}">
                      <a16:creationId xmlns:a16="http://schemas.microsoft.com/office/drawing/2014/main" id="{44CD1704-9F4B-7614-C983-EC06D8823ADD}"/>
                    </a:ext>
                  </a:extLst>
                </p:cNvPr>
                <p:cNvSpPr/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B4687A43-B7BF-FC67-428F-19AAB9F01D26}"/>
                    </a:ext>
                  </a:extLst>
                </p:cNvPr>
                <p:cNvSpPr/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  <a:blipFill>
                  <a:blip r:embed="rId12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F47C8075-E677-7E77-992F-CBAA22C9A20D}"/>
                </a:ext>
              </a:extLst>
            </p:cNvPr>
            <p:cNvCxnSpPr>
              <a:stCxn id="44" idx="0"/>
              <a:endCxn id="40" idx="2"/>
            </p:cNvCxnSpPr>
            <p:nvPr/>
          </p:nvCxnSpPr>
          <p:spPr>
            <a:xfrm flipH="1" flipV="1">
              <a:off x="2688106" y="566185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79B07ABA-1F34-A866-F6AE-C6374482977A}"/>
                </a:ext>
              </a:extLst>
            </p:cNvPr>
            <p:cNvCxnSpPr/>
            <p:nvPr/>
          </p:nvCxnSpPr>
          <p:spPr>
            <a:xfrm flipH="1" flipV="1">
              <a:off x="2691878" y="499791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A28FEB4E-C9B5-452A-41C9-8829FFF5252F}"/>
                </a:ext>
              </a:extLst>
            </p:cNvPr>
            <p:cNvCxnSpPr/>
            <p:nvPr/>
          </p:nvCxnSpPr>
          <p:spPr>
            <a:xfrm flipH="1" flipV="1">
              <a:off x="2688106" y="436996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EA95CBE-A623-F33B-9C69-EB087DE22470}"/>
                </a:ext>
              </a:extLst>
            </p:cNvPr>
            <p:cNvCxnSpPr>
              <a:stCxn id="43" idx="0"/>
              <a:endCxn id="39" idx="2"/>
            </p:cNvCxnSpPr>
            <p:nvPr/>
          </p:nvCxnSpPr>
          <p:spPr>
            <a:xfrm flipV="1">
              <a:off x="2691878" y="2894299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D2F72A6A-C9B6-97A0-D67B-09F2B17B4D0C}"/>
                </a:ext>
              </a:extLst>
            </p:cNvPr>
            <p:cNvCxnSpPr>
              <a:stCxn id="45" idx="3"/>
              <a:endCxn id="41" idx="0"/>
            </p:cNvCxnSpPr>
            <p:nvPr/>
          </p:nvCxnSpPr>
          <p:spPr>
            <a:xfrm>
              <a:off x="3517900" y="3460750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12AD9BC8-B6BB-BE6A-4257-F93675D1F7A1}"/>
                </a:ext>
              </a:extLst>
            </p:cNvPr>
            <p:cNvCxnSpPr>
              <a:stCxn id="45" idx="1"/>
            </p:cNvCxnSpPr>
            <p:nvPr/>
          </p:nvCxnSpPr>
          <p:spPr>
            <a:xfrm flipH="1">
              <a:off x="2704578" y="3460750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EB97BFAB-B73F-6C46-1F34-886A2489EA05}"/>
                </a:ext>
              </a:extLst>
            </p:cNvPr>
            <p:cNvCxnSpPr>
              <a:cxnSpLocks/>
              <a:stCxn id="41" idx="2"/>
              <a:endCxn id="46" idx="6"/>
            </p:cNvCxnSpPr>
            <p:nvPr/>
          </p:nvCxnSpPr>
          <p:spPr>
            <a:xfrm rot="5400000">
              <a:off x="3101497" y="4180208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C5B9F570-C6A4-8F71-2B37-1F5F88E5EDDA}"/>
                </a:ext>
              </a:extLst>
            </p:cNvPr>
            <p:cNvCxnSpPr/>
            <p:nvPr/>
          </p:nvCxnSpPr>
          <p:spPr>
            <a:xfrm flipH="1" flipV="1">
              <a:off x="2694721" y="222375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6F952-34AF-BA6E-B7BC-56FB84A3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A4886-E5F5-4A0C-632C-A874615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podem ser vistas como múltiplas cópias da mesma rede, cada uma passando uma mensagem para a sua sucessora.</a:t>
            </a:r>
          </a:p>
          <a:p>
            <a:r>
              <a:rPr lang="pt-BR" dirty="0"/>
              <a:t>É como se tivéssemos uma rede com várias camadas.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DBF9CD-22BC-BF23-C3DB-8A0935A933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10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2F95D-ED92-C388-CC49-D8F09C88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609EE-8280-8794-483C-637881745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BBBBA-8C71-1CFD-F648-D5836DBC9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 mesma função e o mesmo conjunto de pesos são usados ​​em cada passo de tempo.</a:t>
            </a:r>
          </a:p>
          <a:p>
            <a:r>
              <a:rPr lang="pt-BR" dirty="0"/>
              <a:t>São chamadas recorrentes porque executam a mesma tarefa para cada entrada.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15E294-5B43-04E7-8028-22C59DA3BF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1077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0926" cy="5032376"/>
          </a:xfrm>
        </p:spPr>
        <p:txBody>
          <a:bodyPr/>
          <a:lstStyle/>
          <a:p>
            <a:r>
              <a:rPr lang="pt-BR" dirty="0"/>
              <a:t>Os pesos são atualizados usando o gradiente descendente.</a:t>
            </a:r>
          </a:p>
          <a:p>
            <a:r>
              <a:rPr lang="pt-BR" dirty="0"/>
              <a:t>Uma função de erro (EQM, EQ, etc.) é avaliada com base no erro cometido pela rede no conjunto de treinamento.</a:t>
            </a:r>
          </a:p>
          <a:p>
            <a:r>
              <a:rPr lang="pt-BR" dirty="0"/>
              <a:t>A derivada da função de perda, em relação aos parâmetros do modelo, é retropropagada através da rede.</a:t>
            </a:r>
          </a:p>
          <a:p>
            <a:r>
              <a:rPr lang="pt-BR" dirty="0"/>
              <a:t>Os pesos são ajustados até que um critério de parada seja atendido: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número máximo de épocas é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função de perda para de diminuir.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6341B-8DD5-B4D0-04B5-B1D29CAF8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/>
          </a:bodyPr>
          <a:lstStyle/>
          <a:p>
            <a:r>
              <a:rPr lang="pt-BR" dirty="0"/>
              <a:t>Para treinar a rede, primeiro a desdobramos e depois aplicamos a retropropagação do erro tradicional.</a:t>
            </a:r>
          </a:p>
          <a:p>
            <a:r>
              <a:rPr lang="pt-BR" dirty="0"/>
              <a:t>Cada réplica da rede é relativa a um intervalo de tempo diferente.</a:t>
            </a:r>
          </a:p>
          <a:p>
            <a:r>
              <a:rPr lang="pt-BR" dirty="0"/>
              <a:t>A arquitetura da rede pode se tornar muito profunda.</a:t>
            </a:r>
          </a:p>
          <a:p>
            <a:r>
              <a:rPr lang="pt-BR" dirty="0"/>
              <a:t>Os pesos são mantidos constantes em cada intervalo de tempo.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D16130-635A-563B-0B23-54F9982484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diferença entre a saída e o valor desejado é avaliada por uma função de erro ao longo de todos os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passos de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, </a:t>
                </a:r>
                <a:r>
                  <a:rPr lang="en-US" dirty="0" err="1"/>
                  <a:t>usando</a:t>
                </a:r>
                <a:r>
                  <a:rPr lang="en-US" dirty="0"/>
                  <a:t> a retropropagação para </a:t>
                </a:r>
                <a:r>
                  <a:rPr lang="en-US" dirty="0" err="1"/>
                  <a:t>encontrar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</a:t>
                </a:r>
                <a:r>
                  <a:rPr lang="en-US" dirty="0"/>
                  <a:t> com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aos</a:t>
                </a:r>
                <a:r>
                  <a:rPr lang="en-US" dirty="0"/>
                  <a:t> pesos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temos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O primeiro, o segundo e o quarto fatores do produto são fáceis de calcular. O terceiro é onde as coisas ficam complicadas, já que precisamos calcular recursivamente o efeito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r="-215" b="-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Somamos as contribuições de cada passo de tempo para obter o gradiente.</a:t>
                </a:r>
              </a:p>
              <a:p>
                <a:r>
                  <a:rPr lang="pt-BR" dirty="0"/>
                  <a:t>Com uma sequência muito longa, temos uma profundidade intratável, o que torna o treinamento muito lento.</a:t>
                </a:r>
              </a:p>
              <a:p>
                <a:r>
                  <a:rPr lang="pt-BR" dirty="0"/>
                  <a:t>O que se faz na prática é repetir o procedimento apenas até um determinado instante de tempo,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Esse processo é chamado de BPPT truncado.</a:t>
                </a:r>
              </a:p>
              <a:p>
                <a:r>
                  <a:rPr lang="pt-BR" dirty="0"/>
                  <a:t>Por que ele funciona?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Porque cada estado carrega um pouco de informação de cada entrada anterior.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</m:e>
                          </m:nary>
                        </m:e>
                      </m:d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/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dirty="0" err="1"/>
                  <a:t>produtório</a:t>
                </a:r>
                <a:r>
                  <a:rPr lang="pt-BR" dirty="0"/>
                  <a:t> pode causar o desaparecimento ou a explosão do gradiente.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92EF5-5D0B-5502-FD38-96B86F03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3429000"/>
            <a:ext cx="4738255" cy="1325563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pt-BR" sz="3200" dirty="0" err="1"/>
              <a:t>RNNs</a:t>
            </a:r>
            <a:r>
              <a:rPr lang="pt-BR" sz="3200" dirty="0"/>
              <a:t> simples não aprendem dependências longas</a:t>
            </a:r>
            <a:endParaRPr lang="en-US" sz="32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FF2536EA-A247-4883-A44D-13F8ECBEF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832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/>
                  <a:t>esquece o passado mais distante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muito lento ou estagnado.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Modelo </a:t>
                </a:r>
                <a:r>
                  <a:rPr lang="en-US" dirty="0" err="1"/>
                  <a:t>não</a:t>
                </a:r>
                <a:r>
                  <a:rPr lang="en-US" dirty="0"/>
                  <a:t> converge.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instável: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dirty="0" err="1"/>
                  <a:t>oscilação</a:t>
                </a:r>
                <a:r>
                  <a:rPr lang="en-US" dirty="0"/>
                  <a:t> do </a:t>
                </a:r>
                <a:r>
                  <a:rPr lang="en-US" dirty="0" err="1"/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conceito de </a:t>
                </a:r>
                <a:r>
                  <a:rPr lang="pt-BR" sz="2100" i="1" dirty="0" err="1"/>
                  <a:t>gates</a:t>
                </a:r>
                <a:r>
                  <a:rPr lang="pt-BR" sz="2100" dirty="0"/>
                  <a:t>, funcionando como válvulas </a:t>
                </a:r>
                <a:r>
                  <a:rPr lang="en-US" sz="2100" dirty="0"/>
                  <a:t>de </a:t>
                </a:r>
                <a:r>
                  <a:rPr lang="en-US" sz="2100" dirty="0" err="1"/>
                  <a:t>informação</a:t>
                </a:r>
                <a:r>
                  <a:rPr lang="en-US" sz="2100" dirty="0"/>
                  <a:t> e </a:t>
                </a:r>
                <a:r>
                  <a:rPr lang="en-US" sz="2100" dirty="0" err="1"/>
                  <a:t>gradiente</a:t>
                </a:r>
                <a:endParaRPr lang="pt-BR" sz="2100" dirty="0"/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Mantêm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Conexões residuais: criam caminhos diretos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desaparecimento do gradiente, as </a:t>
            </a:r>
            <a:r>
              <a:rPr lang="pt-BR" dirty="0" err="1"/>
              <a:t>RNNs</a:t>
            </a:r>
            <a:r>
              <a:rPr lang="pt-BR" dirty="0"/>
              <a:t> tradicionais (baunilha) são incapazes de aprender dependências de longo prazo.</a:t>
            </a:r>
          </a:p>
          <a:p>
            <a:r>
              <a:rPr lang="pt-BR" dirty="0"/>
              <a:t>Quando uma RNN processa uma sequência longa, ela gradualmente esquece as primeiras entradas da sequência.</a:t>
            </a:r>
          </a:p>
          <a:p>
            <a:r>
              <a:rPr lang="pt-BR" dirty="0"/>
              <a:t>Algumas aplicações exigem dependências tanto de curto quanto de longo prazo.</a:t>
            </a:r>
          </a:p>
          <a:p>
            <a:r>
              <a:rPr lang="pt-BR" b="1" dirty="0"/>
              <a:t>Exemplo</a:t>
            </a:r>
            <a:r>
              <a:rPr lang="pt-BR" dirty="0"/>
              <a:t>: Processamento de Linguagem Natural (PLN).</a:t>
            </a:r>
          </a:p>
          <a:p>
            <a:r>
              <a:rPr lang="pt-BR" dirty="0"/>
              <a:t>Em alguns casos, dependências de curto prazo são suficientes para fazer previsões.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ao lado RNN para fazer uma previsão de um passo à frente.</a:t>
            </a:r>
          </a:p>
          <a:p>
            <a:r>
              <a:rPr lang="pt-BR" dirty="0"/>
              <a:t>Para prever a palavra “azul", basta olhar apenas dois passos para trás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essa tarefa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7B8F14-0842-D92A-805B-AF9783C1791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4603" y="2200781"/>
            <a:ext cx="3818548" cy="329601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306782"/>
            <a:ext cx="716973" cy="11222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Vamos nos ater à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prever a palavra "italiano", temos que olhar vários passos para trás no tempo,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111A3CC-9C99-E6FB-E930-1F4CA005605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baunilha não seria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60C21FF-66C9-53B5-BFCF-188EFAC10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618292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diversos problemas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, elas precisam ser desdobradas no tempo para serem treinadas.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B44F65-E378-72E6-9E82-AB5132A7370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933" y="3710248"/>
            <a:ext cx="8460335" cy="314775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unidade de processamento da LSTM é mais complexa e é chamada de célula.</a:t>
            </a:r>
          </a:p>
          <a:p>
            <a:r>
              <a:rPr lang="pt-BR" dirty="0"/>
              <a:t>Uma célula LSTM é composta por 4 camadas totalmente conectadas, que interagem entre si de uma maneira especial.</a:t>
            </a:r>
          </a:p>
          <a:p>
            <a:r>
              <a:rPr lang="pt-BR" dirty="0"/>
              <a:t>Capturam padrões de longo e curto prazo de uma sequência de dados. 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7FE8D5-45C3-C0F4-87DB-1AE7EB88B8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646" y="4095564"/>
            <a:ext cx="7424707" cy="2762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8028" y="1825624"/>
            <a:ext cx="617397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de memória LSTM: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entra na célula sempre que sua porta de entrada está ligada.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é descartada da célula sempre que sua porta de esquecimento está desligada.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pode ser lida da célula ligando sua porta de saída.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1F9A43-4D6C-BE90-B804-973CA6F52D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148305"/>
            <a:ext cx="5320197" cy="3228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8028" y="1825624"/>
            <a:ext cx="6173971" cy="5032375"/>
          </a:xfrm>
        </p:spPr>
        <p:txBody>
          <a:bodyPr>
            <a:normAutofit/>
          </a:bodyPr>
          <a:lstStyle/>
          <a:p>
            <a:r>
              <a:rPr lang="pt-BR" dirty="0"/>
              <a:t>A informação pode fluir ao longo da célula de memória sem sofrer alterações.</a:t>
            </a:r>
          </a:p>
          <a:p>
            <a:r>
              <a:rPr lang="pt-BR" dirty="0"/>
              <a:t>A informação pode ser removida ou gravada na célula de memória, conforme regulado pelas portas.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27905A-0A9F-1C05-9388-4BF9F6B4ED4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672" y="2201051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812A4-BB08-CF51-52EF-8F212B136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7274" y="1825624"/>
            <a:ext cx="6354725" cy="5032375"/>
          </a:xfrm>
        </p:spPr>
        <p:txBody>
          <a:bodyPr>
            <a:normAutofit/>
          </a:bodyPr>
          <a:lstStyle/>
          <a:p>
            <a:r>
              <a:rPr lang="pt-BR" dirty="0"/>
              <a:t>As portas são uma forma de permitir opcionalmente a passagem de informações.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Uma camada densa com função de ativação sigmoide gera um número entre 0 e 1, decidindo quanto de cada elemento deve ser permitido passar.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Uma operação de multiplicação ponto a ponto aplica a decisão.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6CBEF4-2DBD-18DF-A9FB-5BE74A49873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886" y="5187067"/>
            <a:ext cx="1091750" cy="158291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CA9EB42-F6B4-A24F-AC2F-2C23E497552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244" y="1690688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 da célula e portas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67153" y="1825624"/>
                <a:ext cx="65248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estado de uma célula no instante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Podemos pensar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como o estado de longo prazo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como o de curto prazo.</a:t>
                </a:r>
              </a:p>
              <a:p>
                <a:r>
                  <a:rPr lang="pt-BR" dirty="0"/>
                  <a:t>A célula modifica o estado apenas por meio de interações lineares: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informação na célula LSTM é protegida e controlada por meio de 3 portas.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67153" y="1825624"/>
                <a:ext cx="6524848" cy="5032375"/>
              </a:xfrm>
              <a:blipFill>
                <a:blip r:embed="rId2"/>
                <a:stretch>
                  <a:fillRect l="-1682" t="-1937" r="-18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16CF6AB8-1619-4CC1-DEEE-C177B6C0F7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886" y="5187067"/>
            <a:ext cx="1091750" cy="15829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7ADA3D-5865-765B-496D-7585F44B789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244" y="1690688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1825624"/>
                <a:ext cx="60960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1825624"/>
                <a:ext cx="6096001" cy="5032375"/>
              </a:xfrm>
              <a:blipFill>
                <a:blip r:embed="rId3"/>
                <a:stretch>
                  <a:fillRect l="-1800" t="-2663" r="-1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C1773A-A795-2DDB-65F5-3E4494F17B5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326" y="2358720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D5E06B7-026A-E591-8B19-3F1AC18DACF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26" y="2344866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6CFE2064-3693-46C1-D7CB-71B01BCEC98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34" y="2337939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4A36DE-8349-8BBF-2D03-55B024955A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352" y="2681361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38C40E-CB7E-E4BB-FDBA-B493D89783E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302" y="2398034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AED6D-E5DB-954B-B69B-4E1818333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C5508-2238-D8B8-4C8F-9CA1D1587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6600" b="1" dirty="0">
                <a:solidFill>
                  <a:srgbClr val="FF0000"/>
                </a:solidFill>
              </a:rPr>
              <a:t>PAREI AQUI!!!!!!!!!!!!!</a:t>
            </a:r>
            <a:endParaRPr lang="en-US" sz="6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06034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089038-AB05-41BB-2D39-80FBAB0804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71459" y="1825625"/>
                <a:ext cx="6620541" cy="5032376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pt-BR" dirty="0"/>
                  <a:t>LSTMs e </a:t>
                </a:r>
                <a:r>
                  <a:rPr lang="pt-BR" dirty="0" err="1"/>
                  <a:t>GRUs</a:t>
                </a:r>
                <a:r>
                  <a:rPr lang="pt-BR" dirty="0"/>
                  <a:t> minimizam o problema do desaparecimento do gradiente porque a atualização do estado da célula é aditiva e não puramente multiplicativa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A soma cria um “atalho” configurável para o gradiente.</a:t>
                </a:r>
              </a:p>
              <a:p>
                <a:r>
                  <a:rPr lang="pt-BR" dirty="0"/>
                  <a:t>O atalho permite que os gradientes retrocedam no tempo sem desaparecer.</a:t>
                </a:r>
              </a:p>
              <a:p>
                <a:r>
                  <a:rPr lang="pt-BR" dirty="0"/>
                  <a:t>As portas permitem que a rede decida o quanto o gradiente desaparece.</a:t>
                </a:r>
              </a:p>
              <a:p>
                <a:r>
                  <a:rPr lang="pt-BR"/>
                  <a:t>Controle de Fluxo Gradiente: O portão de esquecimento funciona como um controlador de memória, permitindo que a rede mantenha um gradiente quase constante (derivada de 1,0) para dependências de longo prazo, ao mesmo tempo que permite a atualização das memórias.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089038-AB05-41BB-2D39-80FBAB0804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71459" y="1825625"/>
                <a:ext cx="6620541" cy="5032376"/>
              </a:xfrm>
              <a:blipFill>
                <a:blip r:embed="rId3"/>
                <a:stretch>
                  <a:fillRect l="-1105" t="-2421" r="-1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1" name="Picture 90">
            <a:extLst>
              <a:ext uri="{FF2B5EF4-FFF2-40B4-BE49-F238E27FC236}">
                <a16:creationId xmlns:a16="http://schemas.microsoft.com/office/drawing/2014/main" id="{5AFC02B2-35F7-2C22-7D72-967BEF90230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84362"/>
            <a:ext cx="4028664" cy="2487907"/>
          </a:xfrm>
          <a:prstGeom prst="rect">
            <a:avLst/>
          </a:prstGeom>
        </p:spPr>
      </p:pic>
      <p:pic>
        <p:nvPicPr>
          <p:cNvPr id="92" name="Picture 91">
            <a:extLst>
              <a:ext uri="{FF2B5EF4-FFF2-40B4-BE49-F238E27FC236}">
                <a16:creationId xmlns:a16="http://schemas.microsoft.com/office/drawing/2014/main" id="{9D65C9E4-9ED6-99CA-99CE-5B033BC0986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7" y="4522576"/>
            <a:ext cx="4028665" cy="2185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91B0C-DF41-453D-2999-4912A83FED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4400" b="1" dirty="0">
                <a:solidFill>
                  <a:srgbClr val="FF0000"/>
                </a:solidFill>
              </a:rPr>
              <a:t>LSTM funcionam como redes residuais. </a:t>
            </a:r>
          </a:p>
          <a:p>
            <a:r>
              <a:rPr lang="pt-BR" sz="4400" b="1" dirty="0">
                <a:solidFill>
                  <a:srgbClr val="FF0000"/>
                </a:solidFill>
              </a:rPr>
              <a:t>Mitigam o desaparecimento do gradiente pelo caminho de cima da célula.</a:t>
            </a:r>
          </a:p>
        </p:txBody>
      </p:sp>
    </p:spTree>
    <p:extLst>
      <p:ext uri="{BB962C8B-B14F-4D97-AF65-F5344CB8AC3E}">
        <p14:creationId xmlns:p14="http://schemas.microsoft.com/office/powerpoint/2010/main" val="38697164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B02C5-D493-4CC7-3754-1A41C3082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97E1BC-1A39-E40B-7547-5FF180551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704" y="1118865"/>
            <a:ext cx="9440592" cy="462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8025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Exemplo: </a:t>
            </a:r>
            <a:r>
              <a:rPr lang="pt-BR" dirty="0" err="1"/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3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6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7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317060" y="3843004"/>
              <a:ext cx="11609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desdobrando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1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8571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0145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0145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843DECB-C956-D955-D499-DD22189CE5D6}"/>
              </a:ext>
            </a:extLst>
          </p:cNvPr>
          <p:cNvSpPr/>
          <p:nvPr/>
        </p:nvSpPr>
        <p:spPr>
          <a:xfrm>
            <a:off x="948207" y="2169156"/>
            <a:ext cx="3069771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C21CDDD-60F4-254E-D0B1-DD9880058CAE}"/>
              </a:ext>
            </a:extLst>
          </p:cNvPr>
          <p:cNvSpPr/>
          <p:nvPr/>
        </p:nvSpPr>
        <p:spPr>
          <a:xfrm>
            <a:off x="1982349" y="3410126"/>
            <a:ext cx="674915" cy="3592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/>
              <p:nvPr/>
            </p:nvSpPr>
            <p:spPr>
              <a:xfrm>
                <a:off x="942765" y="4358898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765" y="4358898"/>
                <a:ext cx="432000" cy="432000"/>
              </a:xfrm>
              <a:prstGeom prst="ellipse">
                <a:avLst/>
              </a:prstGeom>
              <a:blipFill>
                <a:blip r:embed="rId2"/>
                <a:stretch>
                  <a:fillRect l="-15278" r="-12500"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E01C2A5B-A164-6913-FA94-CA99DB0244FA}"/>
              </a:ext>
            </a:extLst>
          </p:cNvPr>
          <p:cNvCxnSpPr>
            <a:cxnSpLocks/>
            <a:stCxn id="41" idx="0"/>
            <a:endCxn id="40" idx="2"/>
          </p:cNvCxnSpPr>
          <p:nvPr/>
        </p:nvCxnSpPr>
        <p:spPr>
          <a:xfrm rot="5400000" flipH="1" flipV="1">
            <a:off x="1444515" y="3483606"/>
            <a:ext cx="589543" cy="1161042"/>
          </a:xfrm>
          <a:prstGeom prst="bentConnector3">
            <a:avLst>
              <a:gd name="adj1" fmla="val 7031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396F9498-A53F-5856-A31E-72DF09B3702B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2894030" y="1839863"/>
            <a:ext cx="996041" cy="21444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/>
              <p:nvPr/>
            </p:nvSpPr>
            <p:spPr>
              <a:xfrm>
                <a:off x="3585978" y="1312614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5978" y="1312614"/>
                <a:ext cx="432000" cy="432000"/>
              </a:xfrm>
              <a:prstGeom prst="ellipse">
                <a:avLst/>
              </a:prstGeom>
              <a:blipFill>
                <a:blip r:embed="rId3"/>
                <a:stretch>
                  <a:fillRect l="-19444" r="-12500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66E2E6D-A249-7CAB-4045-844CE9311DCA}"/>
              </a:ext>
            </a:extLst>
          </p:cNvPr>
          <p:cNvCxnSpPr>
            <a:endCxn id="44" idx="4"/>
          </p:cNvCxnSpPr>
          <p:nvPr/>
        </p:nvCxnSpPr>
        <p:spPr>
          <a:xfrm flipV="1">
            <a:off x="3801978" y="1744614"/>
            <a:ext cx="0" cy="669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4EFE449-B504-6CD4-C0C2-B0B6CF080A10}"/>
              </a:ext>
            </a:extLst>
          </p:cNvPr>
          <p:cNvCxnSpPr>
            <a:cxnSpLocks/>
          </p:cNvCxnSpPr>
          <p:nvPr/>
        </p:nvCxnSpPr>
        <p:spPr>
          <a:xfrm>
            <a:off x="633880" y="2403198"/>
            <a:ext cx="921744" cy="1552235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952C40A-6BC1-7D50-9FEA-BBFC70E1732F}"/>
                  </a:ext>
                </a:extLst>
              </p:cNvPr>
              <p:cNvSpPr txBox="1"/>
              <p:nvPr/>
            </p:nvSpPr>
            <p:spPr>
              <a:xfrm>
                <a:off x="11429537" y="3038594"/>
                <a:ext cx="6172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952C40A-6BC1-7D50-9FEA-BBFC70E17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537" y="3038594"/>
                <a:ext cx="61722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AB75B05B-FED6-3FCA-7286-4D24883789A2}"/>
              </a:ext>
            </a:extLst>
          </p:cNvPr>
          <p:cNvGrpSpPr/>
          <p:nvPr/>
        </p:nvGrpSpPr>
        <p:grpSpPr>
          <a:xfrm>
            <a:off x="7045381" y="2909386"/>
            <a:ext cx="4498919" cy="2479740"/>
            <a:chOff x="7045381" y="2909386"/>
            <a:chExt cx="4498919" cy="2479740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6761" r="-42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0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9516E441-E135-8036-EB1A-48A9DF99CC9D}"/>
              </a:ext>
            </a:extLst>
          </p:cNvPr>
          <p:cNvGrpSpPr/>
          <p:nvPr/>
        </p:nvGrpSpPr>
        <p:grpSpPr>
          <a:xfrm>
            <a:off x="787522" y="2795317"/>
            <a:ext cx="1238994" cy="1644454"/>
            <a:chOff x="787522" y="2795317"/>
            <a:chExt cx="1238994" cy="1644454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7319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V="1">
              <a:off x="4511399" y="4241954"/>
              <a:ext cx="0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do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V="1">
              <a:off x="4511399" y="4241954"/>
              <a:ext cx="0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15642" cy="3158904"/>
            <a:chOff x="3387954" y="1841814"/>
            <a:chExt cx="5115642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61151" y="4036770"/>
              <a:ext cx="2645271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V="1">
              <a:off x="4511399" y="4241954"/>
              <a:ext cx="0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4146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19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4653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1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191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0895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08958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53586" cy="38164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53586" cy="381643"/>
                </a:xfrm>
                <a:prstGeom prst="rect">
                  <a:avLst/>
                </a:prstGeom>
                <a:blipFill>
                  <a:blip r:embed="rId10"/>
                  <a:stretch>
                    <a:fillRect t="-4762" r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19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4653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1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191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0895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08958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53586" cy="38164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53586" cy="381643"/>
                </a:xfrm>
                <a:prstGeom prst="rect">
                  <a:avLst/>
                </a:prstGeom>
                <a:blipFill>
                  <a:blip r:embed="rId10"/>
                  <a:stretch>
                    <a:fillRect t="-4762" r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9181</TotalTime>
  <Words>3414</Words>
  <Application>Microsoft Office PowerPoint</Application>
  <PresentationFormat>Widescreen</PresentationFormat>
  <Paragraphs>588</Paragraphs>
  <Slides>61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8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PowerPoint Presentation</vt:lpstr>
      <vt:lpstr>Redes recorrentes</vt:lpstr>
      <vt:lpstr>Redes recorrentes</vt:lpstr>
      <vt:lpstr>PowerPoint Presentation</vt:lpstr>
      <vt:lpstr>Neurônio (ou célula) recorrente</vt:lpstr>
      <vt:lpstr>Neurônio recorrente</vt:lpstr>
      <vt:lpstr>Atualização do estado e geração da saída</vt:lpstr>
      <vt:lpstr>Desdobrando uma RNN</vt:lpstr>
      <vt:lpstr>Desdobrando uma RNN</vt:lpstr>
      <vt:lpstr>Treinando uma RNN</vt:lpstr>
      <vt:lpstr>Treinando uma RNN</vt:lpstr>
      <vt:lpstr>Backpropagation Through Time (BPTT)</vt:lpstr>
      <vt:lpstr>Backpropagation Through Time (BPTT)</vt:lpstr>
      <vt:lpstr>Desaparecimento e explosão do gradiente</vt:lpstr>
      <vt:lpstr>PowerPoint Presentation</vt:lpstr>
      <vt:lpstr>Desaparecimento e explosão do gradiente</vt:lpstr>
      <vt:lpstr>Como mitigar esses problemas?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A ideia central por trás das LSTMs: Estado da célula</vt:lpstr>
      <vt:lpstr>A ideia central por trás das LSTMs: estado da célula</vt:lpstr>
      <vt:lpstr>Estado da célula e portas</vt:lpstr>
      <vt:lpstr>Porta de esquecimento</vt:lpstr>
      <vt:lpstr>Porta de entrada</vt:lpstr>
      <vt:lpstr>Porta de saída</vt:lpstr>
      <vt:lpstr>Long-short term memory (LSTM)</vt:lpstr>
      <vt:lpstr>Principais desvantagens de LSTMs</vt:lpstr>
      <vt:lpstr>Gated recurrent unit (GRU)</vt:lpstr>
      <vt:lpstr>Gated recurrent unit (GRU)</vt:lpstr>
      <vt:lpstr>PowerPoint Presentation</vt:lpstr>
      <vt:lpstr>Desaparecimento do gradiente</vt:lpstr>
      <vt:lpstr>PowerPoint Presentation</vt:lpstr>
      <vt:lpstr>PowerPoint Presentation</vt:lpstr>
      <vt:lpstr>PowerPoint Presentation</vt:lpstr>
      <vt:lpstr>Exemplo</vt:lpstr>
      <vt:lpstr>Lista de exercícios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1832</cp:revision>
  <dcterms:created xsi:type="dcterms:W3CDTF">2020-01-20T13:50:05Z</dcterms:created>
  <dcterms:modified xsi:type="dcterms:W3CDTF">2026-03-27T14:02:52Z</dcterms:modified>
</cp:coreProperties>
</file>