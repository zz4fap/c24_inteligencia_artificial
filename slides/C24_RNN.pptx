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1"/>
  </p:notesMasterIdLst>
  <p:handoutMasterIdLst>
    <p:handoutMasterId r:id="rId82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334" r:id="rId14"/>
    <p:sldId id="332" r:id="rId15"/>
    <p:sldId id="609" r:id="rId16"/>
    <p:sldId id="610" r:id="rId17"/>
    <p:sldId id="333" r:id="rId18"/>
    <p:sldId id="336" r:id="rId19"/>
    <p:sldId id="331" r:id="rId20"/>
    <p:sldId id="338" r:id="rId21"/>
    <p:sldId id="611" r:id="rId22"/>
    <p:sldId id="341" r:id="rId23"/>
    <p:sldId id="612" r:id="rId24"/>
    <p:sldId id="342" r:id="rId25"/>
    <p:sldId id="613" r:id="rId26"/>
    <p:sldId id="343" r:id="rId27"/>
    <p:sldId id="361" r:id="rId28"/>
    <p:sldId id="344" r:id="rId29"/>
    <p:sldId id="345" r:id="rId30"/>
    <p:sldId id="601" r:id="rId31"/>
    <p:sldId id="346" r:id="rId32"/>
    <p:sldId id="347" r:id="rId33"/>
    <p:sldId id="349" r:id="rId34"/>
    <p:sldId id="351" r:id="rId35"/>
    <p:sldId id="352" r:id="rId36"/>
    <p:sldId id="355" r:id="rId37"/>
    <p:sldId id="372" r:id="rId38"/>
    <p:sldId id="374" r:id="rId39"/>
    <p:sldId id="376" r:id="rId40"/>
    <p:sldId id="356" r:id="rId41"/>
    <p:sldId id="358" r:id="rId42"/>
    <p:sldId id="362" r:id="rId43"/>
    <p:sldId id="591" r:id="rId44"/>
    <p:sldId id="365" r:id="rId45"/>
    <p:sldId id="366" r:id="rId46"/>
    <p:sldId id="367" r:id="rId47"/>
    <p:sldId id="368" r:id="rId48"/>
    <p:sldId id="371" r:id="rId49"/>
    <p:sldId id="603" r:id="rId50"/>
    <p:sldId id="381" r:id="rId51"/>
    <p:sldId id="377" r:id="rId52"/>
    <p:sldId id="594" r:id="rId53"/>
    <p:sldId id="595" r:id="rId54"/>
    <p:sldId id="596" r:id="rId55"/>
    <p:sldId id="597" r:id="rId56"/>
    <p:sldId id="598" r:id="rId57"/>
    <p:sldId id="599" r:id="rId58"/>
    <p:sldId id="600" r:id="rId59"/>
    <p:sldId id="588" r:id="rId60"/>
    <p:sldId id="589" r:id="rId61"/>
    <p:sldId id="293" r:id="rId62"/>
    <p:sldId id="306" r:id="rId63"/>
    <p:sldId id="335" r:id="rId64"/>
    <p:sldId id="590" r:id="rId65"/>
    <p:sldId id="608" r:id="rId66"/>
    <p:sldId id="330" r:id="rId67"/>
    <p:sldId id="340" r:id="rId68"/>
    <p:sldId id="348" r:id="rId69"/>
    <p:sldId id="350" r:id="rId70"/>
    <p:sldId id="353" r:id="rId71"/>
    <p:sldId id="354" r:id="rId72"/>
    <p:sldId id="373" r:id="rId73"/>
    <p:sldId id="357" r:id="rId74"/>
    <p:sldId id="359" r:id="rId75"/>
    <p:sldId id="592" r:id="rId76"/>
    <p:sldId id="363" r:id="rId77"/>
    <p:sldId id="364" r:id="rId78"/>
    <p:sldId id="369" r:id="rId79"/>
    <p:sldId id="370" r:id="rId8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0630" autoAdjust="0"/>
  </p:normalViewPr>
  <p:slideViewPr>
    <p:cSldViewPr snapToGrid="0">
      <p:cViewPr>
        <p:scale>
          <a:sx n="100" d="100"/>
          <a:sy n="100" d="100"/>
        </p:scale>
        <p:origin x="1218" y="2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-9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88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11/05/2026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=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∂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∂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2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3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380.png"/><Relationship Id="rId18" Type="http://schemas.openxmlformats.org/officeDocument/2006/relationships/image" Target="../media/image430.png"/><Relationship Id="rId26" Type="http://schemas.openxmlformats.org/officeDocument/2006/relationships/image" Target="../media/image510.png"/><Relationship Id="rId3" Type="http://schemas.openxmlformats.org/officeDocument/2006/relationships/image" Target="../media/image280.png"/><Relationship Id="rId21" Type="http://schemas.openxmlformats.org/officeDocument/2006/relationships/image" Target="../media/image460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420.png"/><Relationship Id="rId25" Type="http://schemas.openxmlformats.org/officeDocument/2006/relationships/image" Target="../media/image500.png"/><Relationship Id="rId2" Type="http://schemas.openxmlformats.org/officeDocument/2006/relationships/image" Target="../media/image270.png"/><Relationship Id="rId16" Type="http://schemas.openxmlformats.org/officeDocument/2006/relationships/image" Target="../media/image410.png"/><Relationship Id="rId20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90.png"/><Relationship Id="rId5" Type="http://schemas.openxmlformats.org/officeDocument/2006/relationships/image" Target="../media/image300.png"/><Relationship Id="rId15" Type="http://schemas.openxmlformats.org/officeDocument/2006/relationships/image" Target="../media/image400.png"/><Relationship Id="rId23" Type="http://schemas.openxmlformats.org/officeDocument/2006/relationships/image" Target="../media/image480.png"/><Relationship Id="rId28" Type="http://schemas.openxmlformats.org/officeDocument/2006/relationships/image" Target="../media/image530.png"/><Relationship Id="rId10" Type="http://schemas.openxmlformats.org/officeDocument/2006/relationships/image" Target="../media/image350.png"/><Relationship Id="rId19" Type="http://schemas.openxmlformats.org/officeDocument/2006/relationships/image" Target="../media/image440.png"/><Relationship Id="rId4" Type="http://schemas.openxmlformats.org/officeDocument/2006/relationships/image" Target="../media/image290.png"/><Relationship Id="rId9" Type="http://schemas.openxmlformats.org/officeDocument/2006/relationships/image" Target="../media/image340.png"/><Relationship Id="rId14" Type="http://schemas.openxmlformats.org/officeDocument/2006/relationships/image" Target="../media/image390.png"/><Relationship Id="rId22" Type="http://schemas.openxmlformats.org/officeDocument/2006/relationships/image" Target="../media/image470.png"/><Relationship Id="rId27" Type="http://schemas.openxmlformats.org/officeDocument/2006/relationships/image" Target="../media/image520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450.png"/><Relationship Id="rId18" Type="http://schemas.openxmlformats.org/officeDocument/2006/relationships/image" Target="../media/image500.png"/><Relationship Id="rId3" Type="http://schemas.openxmlformats.org/officeDocument/2006/relationships/image" Target="../media/image360.png"/><Relationship Id="rId21" Type="http://schemas.openxmlformats.org/officeDocument/2006/relationships/image" Target="../media/image53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90.png"/><Relationship Id="rId2" Type="http://schemas.openxmlformats.org/officeDocument/2006/relationships/image" Target="../media/image350.png"/><Relationship Id="rId16" Type="http://schemas.openxmlformats.org/officeDocument/2006/relationships/image" Target="../media/image480.png"/><Relationship Id="rId20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340.png"/><Relationship Id="rId15" Type="http://schemas.openxmlformats.org/officeDocument/2006/relationships/image" Target="../media/image470.png"/><Relationship Id="rId10" Type="http://schemas.openxmlformats.org/officeDocument/2006/relationships/image" Target="../media/image420.png"/><Relationship Id="rId19" Type="http://schemas.openxmlformats.org/officeDocument/2006/relationships/image" Target="../media/image510.png"/><Relationship Id="rId4" Type="http://schemas.openxmlformats.org/officeDocument/2006/relationships/image" Target="../media/image370.png"/><Relationship Id="rId9" Type="http://schemas.openxmlformats.org/officeDocument/2006/relationships/image" Target="../media/image410.png"/><Relationship Id="rId14" Type="http://schemas.openxmlformats.org/officeDocument/2006/relationships/image" Target="../media/image460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0.png"/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.png"/><Relationship Id="rId4" Type="http://schemas.openxmlformats.org/officeDocument/2006/relationships/image" Target="../media/image720.png"/><Relationship Id="rId9" Type="http://schemas.openxmlformats.org/officeDocument/2006/relationships/image" Target="../media/image93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36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rgbClr val="7030A0"/>
                </a:solidFill>
              </a:rPr>
              <a:t>entrada</a:t>
            </a:r>
            <a:r>
              <a:rPr lang="pt-BR" dirty="0"/>
              <a:t> é tratada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Não</a:t>
            </a:r>
            <a:r>
              <a:rPr lang="pt-BR" dirty="0"/>
              <a:t> capturam </a:t>
            </a:r>
            <a:r>
              <a:rPr lang="pt-BR" b="1" dirty="0">
                <a:solidFill>
                  <a:srgbClr val="7030A0"/>
                </a:solidFill>
              </a:rPr>
              <a:t>dependências temporais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 anterior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uma </a:t>
            </a:r>
            <a:r>
              <a:rPr lang="pt-BR" b="1" dirty="0">
                <a:solidFill>
                  <a:srgbClr val="00B050"/>
                </a:solidFill>
              </a:rPr>
              <a:t>memória</a:t>
            </a:r>
            <a:r>
              <a:rPr lang="pt-BR" dirty="0"/>
              <a:t> do histórico de </a:t>
            </a:r>
            <a:r>
              <a:rPr lang="pt-BR" b="1" dirty="0">
                <a:solidFill>
                  <a:srgbClr val="00B050"/>
                </a:solidFill>
              </a:rPr>
              <a:t>todas as entradas passadas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ao longo do tempo.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“telhado”.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pt-BR" dirty="0" err="1"/>
                  <a:t>tanh</a:t>
                </a:r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l="-142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0289" y="1825625"/>
            <a:ext cx="5501076" cy="4351338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Essa representação é bastante utilizada na literatura.</a:t>
            </a:r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EC84E1F-D55A-A9C6-47FA-3415032B2B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50" y="2759914"/>
            <a:ext cx="5001539" cy="2482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490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Algumas implementações consideram uma função de ativação na saída.</a:t>
                </a:r>
              </a:p>
              <a:p>
                <a:r>
                  <a:rPr lang="pt-BR" dirty="0"/>
                  <a:t>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532" t="-1937" r="-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8E2B0E5C-B617-1386-87C2-3A8B717B02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493" y="1479986"/>
            <a:ext cx="2258313" cy="5231527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1E3BC3FD-1B5F-5A63-997C-3561384F2766}"/>
              </a:ext>
            </a:extLst>
          </p:cNvPr>
          <p:cNvSpPr/>
          <p:nvPr/>
        </p:nvSpPr>
        <p:spPr>
          <a:xfrm>
            <a:off x="2166492" y="2047875"/>
            <a:ext cx="557657" cy="619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1825624"/>
            <a:ext cx="7162800" cy="5032375"/>
          </a:xfrm>
        </p:spPr>
        <p:txBody>
          <a:bodyPr/>
          <a:lstStyle/>
          <a:p>
            <a:r>
              <a:rPr lang="pt-BR" dirty="0"/>
              <a:t>Podemos </a:t>
            </a:r>
            <a:r>
              <a:rPr lang="pt-BR" b="1" dirty="0">
                <a:solidFill>
                  <a:schemeClr val="accent2"/>
                </a:solidFill>
              </a:rPr>
              <a:t>desdobrar</a:t>
            </a:r>
            <a:r>
              <a:rPr lang="pt-BR" dirty="0"/>
              <a:t> uma RNN para entender como a </a:t>
            </a:r>
            <a:r>
              <a:rPr lang="pt-BR" b="1" dirty="0">
                <a:solidFill>
                  <a:srgbClr val="7030A0"/>
                </a:solidFill>
              </a:rPr>
              <a:t>memória evolui ao longo do tempo</a:t>
            </a:r>
            <a:r>
              <a:rPr lang="pt-BR" dirty="0"/>
              <a:t>.</a:t>
            </a:r>
          </a:p>
          <a:p>
            <a:r>
              <a:rPr lang="pt-BR" dirty="0"/>
              <a:t>Isso nos ajuda a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entender como ela processa sequências,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a treinar a rede usando </a:t>
            </a:r>
            <a:r>
              <a:rPr lang="pt-BR" i="1" dirty="0" err="1"/>
              <a:t>backpropagation</a:t>
            </a:r>
            <a:r>
              <a:rPr lang="pt-BR" dirty="0"/>
              <a:t>;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AA8D65D-0C7B-0947-2D49-1632A699E6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493" y="1479986"/>
            <a:ext cx="2258313" cy="523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0575" y="1825624"/>
            <a:ext cx="3781425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</a:t>
            </a:r>
            <a:r>
              <a:rPr lang="pt-BR" b="1" dirty="0">
                <a:solidFill>
                  <a:srgbClr val="7030A0"/>
                </a:solidFill>
              </a:rPr>
              <a:t>múltiplas cópias da mesma rede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r>
              <a:rPr lang="pt-BR" dirty="0"/>
              <a:t>É como se tivéssemos uma rede MLP com várias camadas.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DBF9CD-22BC-BF23-C3DB-8A0935A933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1BBBBA-8C71-1CFD-F648-D5836DBC94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20100" y="1825624"/>
                <a:ext cx="37719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mesma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função de ativação</a:t>
                </a:r>
                <a:r>
                  <a:rPr lang="pt-BR" dirty="0"/>
                  <a:t> e o mesmo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conjunto de pesos</a:t>
                </a:r>
                <a:r>
                  <a:rPr lang="pt-BR" dirty="0"/>
                  <a:t> são usados ​​</a:t>
                </a:r>
                <a:r>
                  <a:rPr lang="pt-BR" b="1" dirty="0">
                    <a:solidFill>
                      <a:srgbClr val="7030A0"/>
                    </a:solidFill>
                  </a:rPr>
                  <a:t>em cada passo</a:t>
                </a:r>
                <a:r>
                  <a:rPr lang="pt-BR" dirty="0"/>
                  <a:t> de tempo.</a:t>
                </a:r>
              </a:p>
              <a:p>
                <a:r>
                  <a:rPr lang="pt-BR" dirty="0"/>
                  <a:t>Percebam que uma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depende dos valores anteriores e não apenas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1BBBBA-8C71-1CFD-F648-D5836DBC94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20100" y="1825624"/>
                <a:ext cx="3771900" cy="5032375"/>
              </a:xfrm>
              <a:blipFill>
                <a:blip r:embed="rId2"/>
                <a:stretch>
                  <a:fillRect l="-2908" t="-1937" r="-2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315E294-5B43-04E7-8028-22C59DA3BF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</a:t>
            </a:r>
            <a:r>
              <a:rPr lang="pt-BR" b="1" dirty="0">
                <a:solidFill>
                  <a:srgbClr val="7030A0"/>
                </a:solidFill>
              </a:rPr>
              <a:t>gradiente descendente</a:t>
            </a:r>
            <a:r>
              <a:rPr lang="pt-BR" dirty="0"/>
              <a:t>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rgbClr val="7030A0"/>
                </a:solidFill>
              </a:rPr>
              <a:t>função de erro</a:t>
            </a:r>
            <a:r>
              <a:rPr lang="pt-BR" dirty="0"/>
              <a:t> (EQM, EC, etc.) é usada para calcular o erro entre as saídas da rede e os rótulos do conjunto de treinamento.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derivada da função de erro</a:t>
            </a:r>
            <a:r>
              <a:rPr lang="pt-BR" dirty="0"/>
              <a:t>, em relação aos pesos da rede, é </a:t>
            </a:r>
            <a:r>
              <a:rPr lang="pt-BR" b="1" dirty="0">
                <a:solidFill>
                  <a:schemeClr val="accent2"/>
                </a:solidFill>
              </a:rPr>
              <a:t>retropropagada</a:t>
            </a:r>
            <a:r>
              <a:rPr lang="pt-BR" dirty="0"/>
              <a:t>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ela é primeiro </a:t>
            </a:r>
            <a:r>
              <a:rPr lang="pt-BR" b="1" dirty="0">
                <a:solidFill>
                  <a:schemeClr val="accent2"/>
                </a:solidFill>
              </a:rPr>
              <a:t>desdobrada</a:t>
            </a:r>
            <a:r>
              <a:rPr lang="pt-BR" dirty="0"/>
              <a:t> e </a:t>
            </a:r>
            <a:r>
              <a:rPr lang="pt-BR" b="1" dirty="0">
                <a:solidFill>
                  <a:srgbClr val="7030A0"/>
                </a:solidFill>
              </a:rPr>
              <a:t>depois aplica-se a retropropagação</a:t>
            </a:r>
            <a:r>
              <a:rPr lang="pt-BR" dirty="0"/>
              <a:t> do erro </a:t>
            </a:r>
            <a:r>
              <a:rPr lang="pt-BR" b="1" dirty="0">
                <a:solidFill>
                  <a:srgbClr val="7030A0"/>
                </a:solidFill>
              </a:rPr>
              <a:t>tradicional</a:t>
            </a:r>
            <a:r>
              <a:rPr lang="pt-BR" dirty="0"/>
              <a:t>.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relativa</a:t>
            </a:r>
            <a:r>
              <a:rPr lang="pt-BR" dirty="0"/>
              <a:t> a um </a:t>
            </a:r>
            <a:r>
              <a:rPr lang="pt-BR" b="1" dirty="0">
                <a:solidFill>
                  <a:schemeClr val="accent2"/>
                </a:solidFill>
              </a:rPr>
              <a:t>intervalo de tempo diferente</a:t>
            </a:r>
            <a:r>
              <a:rPr lang="pt-BR" dirty="0"/>
              <a:t>.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são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D16130-635A-563B-0B23-54F9982484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Esse desdobramento da rede para se aplicar 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“voltar no tempo”.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753EF2-09AE-E550-8ECE-484A73CEFC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diferença entre a saída da rede e o valor desejado é avaliada por uma função de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ao longo de todos os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passos de tempo</a:t>
                </a:r>
                <a:endParaRPr lang="pt-BR" b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 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media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(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) para </a:t>
                </a:r>
                <a:r>
                  <a:rPr lang="en-US" dirty="0" err="1"/>
                  <a:t>encontrar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</a:t>
                </a:r>
                <a:r>
                  <a:rPr lang="pt-BR" b="1" dirty="0">
                    <a:solidFill>
                      <a:srgbClr val="00B050"/>
                    </a:solidFill>
                  </a:rPr>
                  <a:t>somamos as contribuições de cada passo de tempo</a:t>
                </a:r>
                <a:r>
                  <a:rPr lang="pt-BR" dirty="0"/>
                  <a:t> para obter o gradiente.</a:t>
                </a:r>
              </a:p>
              <a:p>
                <a:r>
                  <a:rPr lang="pt-BR" dirty="0"/>
                  <a:t>O primeiro, o segundo e o quarto fatores do produto são fáceis de calcular. </a:t>
                </a:r>
              </a:p>
              <a:p>
                <a:r>
                  <a:rPr lang="pt-BR" dirty="0"/>
                  <a:t>O terceiro é onde as coisas ficam complicadas, já que precisamos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calcular recursivamente</a:t>
                </a:r>
                <a:r>
                  <a:rPr lang="pt-BR" dirty="0"/>
                  <a:t> o efeito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  <a:blipFill>
                <a:blip r:embed="rId3"/>
                <a:stretch>
                  <a:fillRect l="-976" t="-1937" r="-1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FAF83994-B4CC-99A0-FA69-B6B7F2E67A3E}"/>
              </a:ext>
            </a:extLst>
          </p:cNvPr>
          <p:cNvSpPr/>
          <p:nvPr/>
        </p:nvSpPr>
        <p:spPr>
          <a:xfrm>
            <a:off x="9634092" y="2676526"/>
            <a:ext cx="862458" cy="10096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consume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uso de memória.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r="-1127" b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 memória acumulada no estado oculto atual é suficiente para representar o passado distante, evitando a necessidade de voltar até o primeiro passo da sequência para calcular o gradiente.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geralmente depende mais do passado recente;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contribuições muito antigas tendem a ficar pequenas.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/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dirty="0" err="1"/>
                  <a:t>produtório</a:t>
                </a:r>
                <a:r>
                  <a:rPr lang="pt-BR" dirty="0"/>
                  <a:t> pode causar o desaparecimento ou a explosão do gradiente.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2924175"/>
            <a:ext cx="4738255" cy="16954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 err="1"/>
              <a:t>RNNs</a:t>
            </a:r>
            <a:r>
              <a:rPr lang="pt-BR" sz="3600" dirty="0"/>
              <a:t> </a:t>
            </a:r>
            <a:r>
              <a:rPr lang="pt-BR" sz="3600" b="1" dirty="0"/>
              <a:t>clássicas</a:t>
            </a:r>
            <a:r>
              <a:rPr lang="pt-BR" sz="3600" dirty="0"/>
              <a:t>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/>
                  <a:t>esquece o passado mais distante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muito lento ou estagnado.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Modelo </a:t>
                </a:r>
                <a:r>
                  <a:rPr lang="en-US" dirty="0" err="1"/>
                  <a:t>não</a:t>
                </a:r>
                <a:r>
                  <a:rPr lang="en-US" dirty="0"/>
                  <a:t> converge.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instável: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dirty="0" err="1"/>
                  <a:t>oscilação</a:t>
                </a:r>
                <a:r>
                  <a:rPr lang="en-US" dirty="0"/>
                  <a:t> do </a:t>
                </a:r>
                <a:r>
                  <a:rPr lang="en-US" dirty="0" err="1"/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conceito de </a:t>
                </a:r>
                <a:r>
                  <a:rPr lang="pt-BR" sz="2100" i="1" dirty="0" err="1"/>
                  <a:t>gates</a:t>
                </a:r>
                <a:r>
                  <a:rPr lang="pt-BR" sz="2100" dirty="0"/>
                  <a:t>, funcionando como válvulas </a:t>
                </a:r>
                <a:r>
                  <a:rPr lang="en-US" sz="2100" dirty="0"/>
                  <a:t>de </a:t>
                </a:r>
                <a:r>
                  <a:rPr lang="en-US" sz="2100" dirty="0" err="1"/>
                  <a:t>informação</a:t>
                </a:r>
                <a:r>
                  <a:rPr lang="en-US" sz="2100" dirty="0"/>
                  <a:t> e </a:t>
                </a:r>
                <a:r>
                  <a:rPr lang="en-US" sz="2100" dirty="0" err="1"/>
                  <a:t>gradiente</a:t>
                </a:r>
                <a:endParaRPr lang="pt-BR" sz="2100" dirty="0"/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Mantêm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Conexões residuais: criam caminhos diretos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29210" cy="5032375"/>
              </a:xfrm>
            </p:spPr>
            <p:txBody>
              <a:bodyPr/>
              <a:lstStyle/>
              <a:p>
                <a:r>
                  <a:rPr lang="pt-BR" dirty="0"/>
                  <a:t>RNNs reaplicam a mesma matriz de pesos e a mesma função de ativação repetidamente em cada passo, </a:t>
                </a:r>
              </a:p>
              <a:p>
                <a:r>
                  <a:rPr lang="pt-BR" dirty="0"/>
                  <a:t>Valores maiores que 1 na entrada de uma função não saturada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tornando o treinamento instável.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sistemas dinâmicos (como RNN), isso é ruim, pois causa oscilações ou divergência.</a:t>
                </a:r>
              </a:p>
              <a:p>
                <a:r>
                  <a:rPr lang="pt-BR" dirty="0"/>
                  <a:t>Além disso, valores negativos em sua entrada geram saídas e derivadas iguais a 0, fazendo com que o fluxo de aprendizado morra.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29210" cy="5032375"/>
              </a:xfrm>
              <a:blipFill rotWithShape="0">
                <a:blip r:embed="rId2"/>
                <a:stretch>
                  <a:fillRect l="-986" t="-1937" r="-1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desaparecimento do gradiente, as </a:t>
            </a:r>
            <a:r>
              <a:rPr lang="pt-BR" dirty="0" err="1"/>
              <a:t>RNNs</a:t>
            </a:r>
            <a:r>
              <a:rPr lang="pt-BR" dirty="0"/>
              <a:t> tradicionais (baunilha) são incapazes de aprender dependências de longo prazo.</a:t>
            </a:r>
          </a:p>
          <a:p>
            <a:r>
              <a:rPr lang="pt-BR" dirty="0"/>
              <a:t>Quando uma RNN processa uma sequência longa, ela gradualmente esquece as primeiras entradas da sequência.</a:t>
            </a:r>
          </a:p>
          <a:p>
            <a:r>
              <a:rPr lang="pt-BR" dirty="0"/>
              <a:t>Algumas aplicações exigem dependências tanto de curto quanto de longo prazo.</a:t>
            </a:r>
          </a:p>
          <a:p>
            <a:r>
              <a:rPr lang="pt-BR" b="1" dirty="0"/>
              <a:t>Exemplo</a:t>
            </a:r>
            <a:r>
              <a:rPr lang="pt-BR" dirty="0"/>
              <a:t>: Processamento de Linguagem Natural (PLN).</a:t>
            </a:r>
          </a:p>
          <a:p>
            <a:r>
              <a:rPr lang="pt-BR" dirty="0"/>
              <a:t>Em alguns casos, dependências de curto prazo são suficientes para fazer previsões.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ao lado RNN para fazer uma previsão de um passo à frente.</a:t>
            </a:r>
          </a:p>
          <a:p>
            <a:r>
              <a:rPr lang="pt-BR" dirty="0"/>
              <a:t>Para prever a palavra “azul", basta olhar apenas dois passos para trás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essa tarefa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Vamos nos ater à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prever a palavra "italiano", temos que olhar vários passos para trás no tempo,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baunilha não seria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diversos problemas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, elas precisam ser desdobradas no tempo para serem treinadas.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unidade de processamento da LSTM é mais complexa e é chamada de célula.</a:t>
            </a:r>
          </a:p>
          <a:p>
            <a:r>
              <a:rPr lang="pt-BR" dirty="0"/>
              <a:t>Uma célula LSTM é composta por 4 camadas totalmente conectadas, que interagem entre si de uma maneira especial.</a:t>
            </a:r>
          </a:p>
          <a:p>
            <a:r>
              <a:rPr lang="pt-BR" dirty="0"/>
              <a:t>Capturam padrões de longo e curto prazo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de memória LSTM: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entra na célula sempre que sua porta de entrada está ligada.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é descartada da célula sempre que sua porta de esquecimento está desligada.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pode ser lida da célula ligando sua porta de saída.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A informação pode fluir ao longo da célula de memória sem sofrer alterações.</a:t>
            </a:r>
          </a:p>
          <a:p>
            <a:r>
              <a:rPr lang="pt-BR" dirty="0"/>
              <a:t>A informação pode ser removida ou gravada na célula de memória, conforme regulado pelas portas.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630" y="2270752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812A4-BB08-CF51-52EF-8F212B136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703" y="1825624"/>
                <a:ext cx="678129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 portas são uma forma de permitir opcionalmente a passagem de informações.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Uma camada densa com função de ativação sigmoide gera um número entre 0 e 1, decidindo quanto de cada elemento deve ser permitido passar.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Uma operação de multiplicação ponto a ponto aplica a decisão.</a:t>
                </a:r>
              </a:p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de 0 a 1.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e 1 significa “aberto”.</a:t>
                </a:r>
              </a:p>
              <a:p>
                <a:r>
                  <a:rPr lang="pt-BR" dirty="0"/>
                  <a:t>“Filtra” a informação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812A4-BB08-CF51-52EF-8F212B136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703" y="1825624"/>
                <a:ext cx="6781297" cy="5032375"/>
              </a:xfrm>
              <a:blipFill>
                <a:blip r:embed="rId3"/>
                <a:stretch>
                  <a:fillRect l="-1619" t="-2663" r="-1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 da célula e portas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153" y="1825624"/>
                <a:ext cx="65248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estado de uma célula no instante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Podemos pensar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estado de longo prazo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de curto prazo.</a:t>
                </a:r>
              </a:p>
              <a:p>
                <a:r>
                  <a:rPr lang="pt-BR" dirty="0"/>
                  <a:t>A célula modifica o estado apenas por meio de </a:t>
                </a:r>
                <a:r>
                  <a:rPr lang="pt-BR" b="1" dirty="0"/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informação na célula LSTM é protegida e controlada por meio de 3 portas.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153" y="1825624"/>
                <a:ext cx="6524848" cy="5032375"/>
              </a:xfrm>
              <a:blipFill>
                <a:blip r:embed="rId2"/>
                <a:stretch>
                  <a:fillRect l="-1682" t="-1937" r="-1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630" y="2270752"/>
            <a:ext cx="5131773" cy="31588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F85A674-3EBE-C361-A66C-681B77D8C532}"/>
              </a:ext>
            </a:extLst>
          </p:cNvPr>
          <p:cNvSpPr txBox="1"/>
          <p:nvPr/>
        </p:nvSpPr>
        <p:spPr>
          <a:xfrm>
            <a:off x="0" y="6550222"/>
            <a:ext cx="11374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  <a:blipFill>
                <a:blip r:embed="rId3"/>
                <a:stretch>
                  <a:fillRect l="-1800" t="-2663" r="-1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0F4CF14-BBA4-1BD4-51A4-699EE410225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528" y="2228222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</a:t>
            </a:r>
            <a:r>
              <a:rPr lang="pt-BR" sz="6000" dirty="0" err="1"/>
              <a:t>LSTMs</a:t>
            </a:r>
            <a:r>
              <a:rPr lang="pt-BR" sz="6000" dirty="0"/>
              <a:t> e </a:t>
            </a:r>
            <a:r>
              <a:rPr lang="pt-BR" sz="6000" dirty="0" err="1"/>
              <a:t>GRUs</a:t>
            </a:r>
            <a:r>
              <a:rPr lang="pt-BR" sz="6000" dirty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B0BA7DE-BA19-14FA-4FA3-25310BBE5CB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 gramatical de cada palavra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2">
              <a:buFont typeface="Wingdings" panose="05000000000000000000" pitchFamily="2" charset="2"/>
              <a:buChar char="§"/>
            </a:pP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e </a:t>
            </a:r>
            <a:r>
              <a:rPr lang="pt-BR" dirty="0" err="1"/>
              <a:t>chatbots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2913321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3703675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4488712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3306726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4097080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2900031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endCxn id="8" idx="2"/>
          </p:cNvCxnSpPr>
          <p:nvPr/>
        </p:nvCxnSpPr>
        <p:spPr>
          <a:xfrm flipV="1">
            <a:off x="3096733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3690383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4475421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3887086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4672124" y="2910146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1324640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2114994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1718045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2508399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1320651" y="495037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1517354" y="4468092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2114994" y="4980504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2913320" y="494151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2311697" y="4468092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3110023" y="4468092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3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6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7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317060" y="3843004"/>
              <a:ext cx="11609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desdobrando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843DECB-C956-D955-D499-DD22189CE5D6}"/>
              </a:ext>
            </a:extLst>
          </p:cNvPr>
          <p:cNvSpPr/>
          <p:nvPr/>
        </p:nvSpPr>
        <p:spPr>
          <a:xfrm>
            <a:off x="948207" y="2169156"/>
            <a:ext cx="3069771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C21CDDD-60F4-254E-D0B1-DD9880058CAE}"/>
              </a:ext>
            </a:extLst>
          </p:cNvPr>
          <p:cNvSpPr/>
          <p:nvPr/>
        </p:nvSpPr>
        <p:spPr>
          <a:xfrm>
            <a:off x="1982349" y="3410126"/>
            <a:ext cx="674915" cy="3592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/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blipFill>
                <a:blip r:embed="rId2"/>
                <a:stretch>
                  <a:fillRect l="-15278" r="-12500"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E01C2A5B-A164-6913-FA94-CA99DB0244FA}"/>
              </a:ext>
            </a:extLst>
          </p:cNvPr>
          <p:cNvCxnSpPr>
            <a:cxnSpLocks/>
            <a:stCxn id="41" idx="0"/>
            <a:endCxn id="40" idx="2"/>
          </p:cNvCxnSpPr>
          <p:nvPr/>
        </p:nvCxnSpPr>
        <p:spPr>
          <a:xfrm rot="5400000" flipH="1" flipV="1">
            <a:off x="1444515" y="3483606"/>
            <a:ext cx="589543" cy="1161042"/>
          </a:xfrm>
          <a:prstGeom prst="bentConnector3">
            <a:avLst>
              <a:gd name="adj1" fmla="val 7031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96F9498-A53F-5856-A31E-72DF09B3702B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2894030" y="1839863"/>
            <a:ext cx="996041" cy="2144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/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blipFill>
                <a:blip r:embed="rId3"/>
                <a:stretch>
                  <a:fillRect l="-19444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66E2E6D-A249-7CAB-4045-844CE9311DCA}"/>
              </a:ext>
            </a:extLst>
          </p:cNvPr>
          <p:cNvCxnSpPr>
            <a:endCxn id="44" idx="4"/>
          </p:cNvCxnSpPr>
          <p:nvPr/>
        </p:nvCxnSpPr>
        <p:spPr>
          <a:xfrm flipV="1">
            <a:off x="3801978" y="1744614"/>
            <a:ext cx="0" cy="669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4EFE449-B504-6CD4-C0C2-B0B6CF080A10}"/>
              </a:ext>
            </a:extLst>
          </p:cNvPr>
          <p:cNvCxnSpPr>
            <a:cxnSpLocks/>
          </p:cNvCxnSpPr>
          <p:nvPr/>
        </p:nvCxnSpPr>
        <p:spPr>
          <a:xfrm>
            <a:off x="633880" y="2403198"/>
            <a:ext cx="921744" cy="1552235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do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9597</TotalTime>
  <Words>4907</Words>
  <Application>Microsoft Office PowerPoint</Application>
  <PresentationFormat>Widescreen</PresentationFormat>
  <Paragraphs>819</Paragraphs>
  <Slides>79</Slides>
  <Notes>42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79</vt:i4>
      </vt:variant>
    </vt:vector>
  </HeadingPairs>
  <TitlesOfParts>
    <vt:vector size="86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recorrente</vt:lpstr>
      <vt:lpstr>Atualização do estado e geração da saída</vt:lpstr>
      <vt:lpstr>Atualização do estado e geração da saída</vt:lpstr>
      <vt:lpstr>Atualização do estado e geração da saída</vt:lpstr>
      <vt:lpstr>Desdobrando uma RNN</vt:lpstr>
      <vt:lpstr>Desdobrando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Por que o BPTT truncado funciona?</vt:lpstr>
      <vt:lpstr>Desaparecimento e explosão do gradiente</vt:lpstr>
      <vt:lpstr>Apresentação do PowerPoint</vt:lpstr>
      <vt:lpstr>Desaparecimento e explosão do gradiente</vt:lpstr>
      <vt:lpstr>Como mitigar esses problemas?</vt:lpstr>
      <vt:lpstr>Por que não usar funções de ativação ReLU?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A ideia central por trás das LSTMs: Estado da célula</vt:lpstr>
      <vt:lpstr>A ideia central por trás das LSTMs: estado da célula</vt:lpstr>
      <vt:lpstr>Estado da célula e portas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1911</cp:revision>
  <dcterms:created xsi:type="dcterms:W3CDTF">2020-01-20T13:50:05Z</dcterms:created>
  <dcterms:modified xsi:type="dcterms:W3CDTF">2026-05-11T19:03:06Z</dcterms:modified>
</cp:coreProperties>
</file>