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0"/>
  </p:notesMasterIdLst>
  <p:handoutMasterIdLst>
    <p:handoutMasterId r:id="rId101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620" r:id="rId14"/>
    <p:sldId id="334" r:id="rId15"/>
    <p:sldId id="622" r:id="rId16"/>
    <p:sldId id="332" r:id="rId17"/>
    <p:sldId id="609" r:id="rId18"/>
    <p:sldId id="610" r:id="rId19"/>
    <p:sldId id="627" r:id="rId20"/>
    <p:sldId id="625" r:id="rId21"/>
    <p:sldId id="618" r:id="rId22"/>
    <p:sldId id="633" r:id="rId23"/>
    <p:sldId id="338" r:id="rId24"/>
    <p:sldId id="630" r:id="rId25"/>
    <p:sldId id="631" r:id="rId26"/>
    <p:sldId id="611" r:id="rId27"/>
    <p:sldId id="341" r:id="rId28"/>
    <p:sldId id="612" r:id="rId29"/>
    <p:sldId id="637" r:id="rId30"/>
    <p:sldId id="638" r:id="rId31"/>
    <p:sldId id="344" r:id="rId32"/>
    <p:sldId id="345" r:id="rId33"/>
    <p:sldId id="640" r:id="rId34"/>
    <p:sldId id="342" r:id="rId35"/>
    <p:sldId id="613" r:id="rId36"/>
    <p:sldId id="601" r:id="rId37"/>
    <p:sldId id="623" r:id="rId38"/>
    <p:sldId id="346" r:id="rId39"/>
    <p:sldId id="347" r:id="rId40"/>
    <p:sldId id="643" r:id="rId41"/>
    <p:sldId id="349" r:id="rId42"/>
    <p:sldId id="351" r:id="rId43"/>
    <p:sldId id="645" r:id="rId44"/>
    <p:sldId id="352" r:id="rId45"/>
    <p:sldId id="649" r:id="rId46"/>
    <p:sldId id="355" r:id="rId47"/>
    <p:sldId id="650" r:id="rId48"/>
    <p:sldId id="376" r:id="rId49"/>
    <p:sldId id="655" r:id="rId50"/>
    <p:sldId id="616" r:id="rId51"/>
    <p:sldId id="673" r:id="rId52"/>
    <p:sldId id="659" r:id="rId53"/>
    <p:sldId id="660" r:id="rId54"/>
    <p:sldId id="358" r:id="rId55"/>
    <p:sldId id="362" r:id="rId56"/>
    <p:sldId id="365" r:id="rId57"/>
    <p:sldId id="591" r:id="rId58"/>
    <p:sldId id="366" r:id="rId59"/>
    <p:sldId id="367" r:id="rId60"/>
    <p:sldId id="669" r:id="rId61"/>
    <p:sldId id="368" r:id="rId62"/>
    <p:sldId id="668" r:id="rId63"/>
    <p:sldId id="671" r:id="rId64"/>
    <p:sldId id="672" r:id="rId65"/>
    <p:sldId id="670" r:id="rId66"/>
    <p:sldId id="603" r:id="rId67"/>
    <p:sldId id="381" r:id="rId68"/>
    <p:sldId id="662" r:id="rId69"/>
    <p:sldId id="667" r:id="rId70"/>
    <p:sldId id="595" r:id="rId71"/>
    <p:sldId id="596" r:id="rId72"/>
    <p:sldId id="597" r:id="rId73"/>
    <p:sldId id="598" r:id="rId74"/>
    <p:sldId id="599" r:id="rId75"/>
    <p:sldId id="600" r:id="rId76"/>
    <p:sldId id="588" r:id="rId77"/>
    <p:sldId id="589" r:id="rId78"/>
    <p:sldId id="293" r:id="rId79"/>
    <p:sldId id="306" r:id="rId80"/>
    <p:sldId id="335" r:id="rId81"/>
    <p:sldId id="590" r:id="rId82"/>
    <p:sldId id="608" r:id="rId83"/>
    <p:sldId id="330" r:id="rId84"/>
    <p:sldId id="340" r:id="rId85"/>
    <p:sldId id="348" r:id="rId86"/>
    <p:sldId id="350" r:id="rId87"/>
    <p:sldId id="353" r:id="rId88"/>
    <p:sldId id="354" r:id="rId89"/>
    <p:sldId id="373" r:id="rId90"/>
    <p:sldId id="647" r:id="rId91"/>
    <p:sldId id="357" r:id="rId92"/>
    <p:sldId id="359" r:id="rId93"/>
    <p:sldId id="592" r:id="rId94"/>
    <p:sldId id="363" r:id="rId95"/>
    <p:sldId id="364" r:id="rId96"/>
    <p:sldId id="654" r:id="rId97"/>
    <p:sldId id="369" r:id="rId98"/>
    <p:sldId id="370" r:id="rId99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0678" autoAdjust="0"/>
  </p:normalViewPr>
  <p:slideViewPr>
    <p:cSldViewPr snapToGrid="0">
      <p:cViewPr varScale="1">
        <p:scale>
          <a:sx n="66" d="100"/>
          <a:sy n="66" d="100"/>
        </p:scale>
        <p:origin x="105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07" Type="http://schemas.microsoft.com/office/2015/10/relationships/revisionInfo" Target="revisionInfo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FFBCC-42BA-B539-3F67-3279DB213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31CD9-A853-64E7-A5E5-D3ECC95EE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C67AC3-547A-D3B7-E0B8-941A9C4502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F2FE16-CDFB-CD86-2334-D4869C426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9551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99F5C7-5805-714A-EEAF-1B426C0B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6AF7C2-0C10-C2A5-74DF-5E146878E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4F328DC-EA99-659D-C499-951EB30A4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D342C4F-189E-6908-E236-D10BBFF53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533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Isso transforma a RNN em algo parecido com uma rede profunda muito longa. 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373F99E-96D4-E465-0481-26D4E9A59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D81308E-10FA-7DC6-DD9D-04986B6059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87E0819-3FAB-6761-340F-977AD2419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73537D7-7245-E4B2-0788-AD0C39EF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65311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F3C868-5C56-1670-F210-879F8B7F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293D50E-077B-AFB9-5B77-826A49853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30AECB-823E-350D-513D-259055D2E3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A60C77D-4D54-B0EE-D5AD-64F9D79EE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730354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78709CC-EB52-3D3B-C97B-A4100429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6970236-CFE9-6513-855E-E0F06E6065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C7DE70-17BD-8B6B-2FC7-2B8628B0FF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D220820-D23F-935D-8BEE-E1A04620EA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67178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D0F856F-66E3-CBE0-6437-99B23422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AEBFE94-D230-7B0E-C887-977799B28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D8F8232-9A2A-7AF1-C33B-59B7B8D32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D1F3297-B90D-C7C9-16F5-94E583ECE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40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0F0EAF-7848-C03E-2CE6-EB11D2264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71F3D72-ADBB-EBCB-029C-4C93AF8DB9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0EF2D66-FEE9-BF28-90BD-C43836630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https://web.stanford.edu/class/archive/cs/cs224n/cs224n.1194/slides/cs224n-2019-lecture07-fancy-rnn.pdf </a:t>
            </a:r>
          </a:p>
          <a:p>
            <a:r>
              <a:rPr lang="pt-BR" dirty="0"/>
              <a:t>[2] https://medium.com/@surajprakash612/recurrent-neural-networks-rnns-the-engine-for-sequential-data-fc1d552ebfc1</a:t>
            </a:r>
          </a:p>
          <a:p>
            <a:r>
              <a:rPr lang="pt-BR" dirty="0"/>
              <a:t>[3] https://d2l.ai/chapter_recurrent-neural-networks/bptt.html</a:t>
            </a:r>
          </a:p>
          <a:p>
            <a:r>
              <a:rPr lang="pt-BR" dirty="0"/>
              <a:t>[4] https://weberna.github.io/blog/2017/11/15/LSTM-Vanishing-Gradients.html</a:t>
            </a:r>
          </a:p>
          <a:p>
            <a:r>
              <a:rPr lang="pt-BR" dirty="0"/>
              <a:t>[5] https://eclass.upatras.gr/modules/document/file.php/EE935/%CE%97%CE%BB%CE%B5%CE%BA%CF%84%CF%81%CE%BF%CE%BD%CE%B9%CE%BA%CE%AC%20%CE%92%CE%B9%CE%B2%CE%BB%CE%AF%CE%B1/2018_Book_NeuralNetworksAndDeepLeaning.pdf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DFDBA4-83C0-D64A-1B55-22DBA7D828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2314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62237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534BABD-C6BA-B242-44D4-0D6C5A374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F27738A7-2AEB-8A53-4EB7-BC3FD8863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5458E17C-27B6-C886-364B-BADEC2D44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3D0D4AB1-9E8B-F207-5580-BB12C93E1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449397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Eventos separados por mais do que esse horizonte não geram sinal de atualização direto, impedindo a rede de aprender correlações temporais que excedam a janela definida.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447570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“</a:t>
            </a:r>
            <a:r>
              <a:rPr lang="pt-BR" b="1" dirty="0">
                <a:solidFill>
                  <a:srgbClr val="7030A0"/>
                </a:solidFill>
              </a:rPr>
              <a:t>A menina </a:t>
            </a:r>
            <a:r>
              <a:rPr lang="pt-BR" dirty="0"/>
              <a:t>que ganhou o prêmio na competição internacional de matemática disse que estava muito </a:t>
            </a:r>
            <a:r>
              <a:rPr lang="pt-BR" b="1" dirty="0">
                <a:solidFill>
                  <a:srgbClr val="7030A0"/>
                </a:solidFill>
              </a:rPr>
              <a:t>feliz</a:t>
            </a:r>
            <a:r>
              <a:rPr lang="pt-BR" dirty="0"/>
              <a:t>”.</a:t>
            </a:r>
          </a:p>
          <a:p>
            <a:pPr lvl="0" algn="l">
              <a:buFont typeface="Courier New" panose="02070309020205020404" pitchFamily="49" charset="0"/>
              <a:buNone/>
            </a:pPr>
            <a:r>
              <a:rPr lang="pt-BR" dirty="0"/>
              <a:t>Ao chegar em “feliz”, a rede ainda precisa lembrar que o sujeito principal era: “A menina” (feminino singular), mesmo após muitas palavras intermediárias.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93732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7517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A668401-ADA4-3C4F-1CA5-0B0EF583C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33A7EE6-35DA-3513-AC98-9814A1EF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FE9E4134-7AC4-6D21-191F-0465D5E9D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913DE283-E634-E815-9ACF-D12EAFFA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85278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porta de saída decide </a:t>
            </a:r>
            <a:r>
              <a:rPr lang="pt-BR" i="1" dirty="0"/>
              <a:t>o</a:t>
            </a:r>
            <a:r>
              <a:rPr lang="pt-BR" dirty="0"/>
              <a:t> </a:t>
            </a:r>
            <a:r>
              <a:rPr lang="pt-BR" b="1" dirty="0"/>
              <a:t>quanto da informação armazenada será exposta como saída naquele instante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897646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822798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44228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D7EE1F0-BD5F-58F6-0B98-195856CB7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F113980-A624-5C36-D922-705246EF1B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886E628-AC10-6257-A910-0D8913738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085326A-22FD-BA6A-1FFA-405FF4255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34806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4C5E186-D248-19A0-1A87-124CEB362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332F1D-95DB-1978-1776-796129959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CA96C98-EE2F-5535-DB30-B8C3930A30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E50A54A-8706-9B45-68F9-9EBF984A5E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852531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ED99CFB-F71C-A643-C93A-91BD8743B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6118884-A733-51F0-166E-874ACE5F91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7B9E6BA-0364-919A-82CD-6548B62A0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reset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https://datahacker.rs/005-rnn-tackling-vanishing-gradients-with-gru-and-lstm/ </a:t>
            </a:r>
          </a:p>
          <a:p>
            <a:r>
              <a:rPr lang="pt-BR" dirty="0"/>
              <a:t>[2] https://towardsdatascience.com/a-brief-introduction-to-recurrent-neural-networks-638f64a61ff4/</a:t>
            </a:r>
          </a:p>
          <a:p>
            <a:r>
              <a:rPr lang="pt-BR" dirty="0"/>
              <a:t>[3] https://colah.github.io/posts/2015-08-Understanding-LSTMs/</a:t>
            </a:r>
          </a:p>
          <a:p>
            <a:r>
              <a:rPr lang="pt-BR" dirty="0"/>
              <a:t>[4]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8E865C5-84FC-7423-84BF-215C0499C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41443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rede do tipo sequência para vetor (</a:t>
            </a:r>
            <a:r>
              <a:rPr lang="pt-BR" dirty="0" err="1"/>
              <a:t>encoder</a:t>
            </a:r>
            <a:r>
              <a:rPr lang="pt-BR" dirty="0"/>
              <a:t>) conectada a uma rede do tipo vetor para sequência (</a:t>
            </a:r>
            <a:r>
              <a:rPr lang="pt-BR" dirty="0" err="1"/>
              <a:t>decoder</a:t>
            </a:r>
            <a:r>
              <a:rPr lang="pt-BR" dirty="0"/>
              <a:t>)</a:t>
            </a:r>
          </a:p>
          <a:p>
            <a:r>
              <a:rPr lang="pt-BR" dirty="0"/>
              <a:t>O </a:t>
            </a:r>
            <a:r>
              <a:rPr lang="pt-BR" dirty="0" err="1"/>
              <a:t>encoder</a:t>
            </a:r>
            <a:r>
              <a:rPr lang="pt-BR" dirty="0"/>
              <a:t> gera um vetor contendo informação latente da sequência de entrada e o </a:t>
            </a:r>
            <a:r>
              <a:rPr lang="pt-BR" dirty="0" err="1"/>
              <a:t>decoder</a:t>
            </a:r>
            <a:r>
              <a:rPr lang="pt-BR" dirty="0"/>
              <a:t> decodifica ele em uma sequência.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74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818911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18552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6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1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1.png"/><Relationship Id="rId4" Type="http://schemas.openxmlformats.org/officeDocument/2006/relationships/image" Target="../media/image47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0.png"/><Relationship Id="rId3" Type="http://schemas.openxmlformats.org/officeDocument/2006/relationships/image" Target="../media/image491.png"/><Relationship Id="rId7" Type="http://schemas.openxmlformats.org/officeDocument/2006/relationships/image" Target="../media/image54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1.png"/><Relationship Id="rId5" Type="http://schemas.openxmlformats.org/officeDocument/2006/relationships/image" Target="../media/image521.png"/><Relationship Id="rId4" Type="http://schemas.openxmlformats.org/officeDocument/2006/relationships/image" Target="../media/image511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0.png"/><Relationship Id="rId3" Type="http://schemas.openxmlformats.org/officeDocument/2006/relationships/image" Target="../media/image441.png"/><Relationship Id="rId7" Type="http://schemas.openxmlformats.org/officeDocument/2006/relationships/image" Target="../media/image590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0.png"/><Relationship Id="rId5" Type="http://schemas.openxmlformats.org/officeDocument/2006/relationships/image" Target="../media/image570.png"/><Relationship Id="rId4" Type="http://schemas.openxmlformats.org/officeDocument/2006/relationships/image" Target="../media/image560.png"/><Relationship Id="rId9" Type="http://schemas.openxmlformats.org/officeDocument/2006/relationships/image" Target="../media/image6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jpeg"/><Relationship Id="rId4" Type="http://schemas.openxmlformats.org/officeDocument/2006/relationships/image" Target="../media/image65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0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640.png"/><Relationship Id="rId18" Type="http://schemas.openxmlformats.org/officeDocument/2006/relationships/image" Target="../media/image420.png"/><Relationship Id="rId26" Type="http://schemas.openxmlformats.org/officeDocument/2006/relationships/image" Target="../media/image490.png"/><Relationship Id="rId3" Type="http://schemas.openxmlformats.org/officeDocument/2006/relationships/image" Target="../media/image280.png"/><Relationship Id="rId21" Type="http://schemas.openxmlformats.org/officeDocument/2006/relationships/image" Target="../media/image86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85.png"/><Relationship Id="rId25" Type="http://schemas.openxmlformats.org/officeDocument/2006/relationships/image" Target="../media/image480.png"/><Relationship Id="rId2" Type="http://schemas.openxmlformats.org/officeDocument/2006/relationships/image" Target="../media/image270.png"/><Relationship Id="rId16" Type="http://schemas.openxmlformats.org/officeDocument/2006/relationships/image" Target="../media/image400.png"/><Relationship Id="rId20" Type="http://schemas.openxmlformats.org/officeDocument/2006/relationships/image" Target="../media/image440.png"/><Relationship Id="rId29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70.png"/><Relationship Id="rId5" Type="http://schemas.openxmlformats.org/officeDocument/2006/relationships/image" Target="../media/image300.png"/><Relationship Id="rId15" Type="http://schemas.openxmlformats.org/officeDocument/2006/relationships/image" Target="../media/image390.png"/><Relationship Id="rId23" Type="http://schemas.openxmlformats.org/officeDocument/2006/relationships/image" Target="../media/image460.png"/><Relationship Id="rId28" Type="http://schemas.openxmlformats.org/officeDocument/2006/relationships/image" Target="../media/image510.png"/><Relationship Id="rId10" Type="http://schemas.openxmlformats.org/officeDocument/2006/relationships/image" Target="../media/image350.png"/><Relationship Id="rId19" Type="http://schemas.openxmlformats.org/officeDocument/2006/relationships/image" Target="../media/image430.png"/><Relationship Id="rId4" Type="http://schemas.openxmlformats.org/officeDocument/2006/relationships/image" Target="../media/image290.png"/><Relationship Id="rId9" Type="http://schemas.openxmlformats.org/officeDocument/2006/relationships/image" Target="../media/image630.png"/><Relationship Id="rId14" Type="http://schemas.openxmlformats.org/officeDocument/2006/relationships/image" Target="../media/image380.png"/><Relationship Id="rId22" Type="http://schemas.openxmlformats.org/officeDocument/2006/relationships/image" Target="../media/image450.png"/><Relationship Id="rId27" Type="http://schemas.openxmlformats.org/officeDocument/2006/relationships/image" Target="../media/image500.png"/><Relationship Id="rId30" Type="http://schemas.openxmlformats.org/officeDocument/2006/relationships/image" Target="../media/image530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86.png"/><Relationship Id="rId18" Type="http://schemas.openxmlformats.org/officeDocument/2006/relationships/image" Target="../media/image490.png"/><Relationship Id="rId3" Type="http://schemas.openxmlformats.org/officeDocument/2006/relationships/image" Target="../media/image360.png"/><Relationship Id="rId21" Type="http://schemas.openxmlformats.org/officeDocument/2006/relationships/image" Target="../media/image52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80.png"/><Relationship Id="rId2" Type="http://schemas.openxmlformats.org/officeDocument/2006/relationships/image" Target="../media/image350.png"/><Relationship Id="rId16" Type="http://schemas.openxmlformats.org/officeDocument/2006/relationships/image" Target="../media/image470.png"/><Relationship Id="rId20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640.png"/><Relationship Id="rId15" Type="http://schemas.openxmlformats.org/officeDocument/2006/relationships/image" Target="../media/image460.png"/><Relationship Id="rId10" Type="http://schemas.openxmlformats.org/officeDocument/2006/relationships/image" Target="../media/image420.png"/><Relationship Id="rId19" Type="http://schemas.openxmlformats.org/officeDocument/2006/relationships/image" Target="../media/image500.png"/><Relationship Id="rId4" Type="http://schemas.openxmlformats.org/officeDocument/2006/relationships/image" Target="../media/image370.png"/><Relationship Id="rId9" Type="http://schemas.openxmlformats.org/officeDocument/2006/relationships/image" Target="../media/image85.png"/><Relationship Id="rId14" Type="http://schemas.openxmlformats.org/officeDocument/2006/relationships/image" Target="../media/image450.png"/><Relationship Id="rId22" Type="http://schemas.openxmlformats.org/officeDocument/2006/relationships/image" Target="../media/image530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0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0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7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png"/><Relationship Id="rId3" Type="http://schemas.openxmlformats.org/officeDocument/2006/relationships/image" Target="../media/image641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5" Type="http://schemas.openxmlformats.org/officeDocument/2006/relationships/image" Target="../media/image96.png"/><Relationship Id="rId10" Type="http://schemas.openxmlformats.org/officeDocument/2006/relationships/image" Target="../media/image101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12" Type="http://schemas.openxmlformats.org/officeDocument/2006/relationships/image" Target="../media/image104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1.png"/><Relationship Id="rId3" Type="http://schemas.openxmlformats.org/officeDocument/2006/relationships/image" Target="../media/image810.png"/><Relationship Id="rId7" Type="http://schemas.openxmlformats.org/officeDocument/2006/relationships/image" Target="../media/image98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0.png"/><Relationship Id="rId11" Type="http://schemas.openxmlformats.org/officeDocument/2006/relationships/image" Target="../media/image1010.png"/><Relationship Id="rId5" Type="http://schemas.openxmlformats.org/officeDocument/2006/relationships/image" Target="../media/image830.png"/><Relationship Id="rId10" Type="http://schemas.openxmlformats.org/officeDocument/2006/relationships/image" Target="../media/image1000.png"/><Relationship Id="rId4" Type="http://schemas.openxmlformats.org/officeDocument/2006/relationships/image" Target="../media/image820.png"/><Relationship Id="rId9" Type="http://schemas.openxmlformats.org/officeDocument/2006/relationships/image" Target="../media/image99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0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0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53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0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0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0.png"/><Relationship Id="rId13" Type="http://schemas.openxmlformats.org/officeDocument/2006/relationships/image" Target="../media/image119.png"/><Relationship Id="rId3" Type="http://schemas.openxmlformats.org/officeDocument/2006/relationships/image" Target="../media/image1030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129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128.png"/><Relationship Id="rId15" Type="http://schemas.openxmlformats.org/officeDocument/2006/relationships/image" Target="../media/image131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147.png"/><Relationship Id="rId26" Type="http://schemas.openxmlformats.org/officeDocument/2006/relationships/image" Target="../media/image155.png"/><Relationship Id="rId3" Type="http://schemas.openxmlformats.org/officeDocument/2006/relationships/image" Target="../media/image132.png"/><Relationship Id="rId21" Type="http://schemas.openxmlformats.org/officeDocument/2006/relationships/image" Target="../media/image150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4.png"/><Relationship Id="rId2" Type="http://schemas.openxmlformats.org/officeDocument/2006/relationships/notesSlide" Target="../notesSlides/notesSlide59.xml"/><Relationship Id="rId16" Type="http://schemas.openxmlformats.org/officeDocument/2006/relationships/image" Target="../media/image145.png"/><Relationship Id="rId20" Type="http://schemas.openxmlformats.org/officeDocument/2006/relationships/image" Target="../media/image149.png"/><Relationship Id="rId29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3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2.png"/><Relationship Id="rId28" Type="http://schemas.openxmlformats.org/officeDocument/2006/relationships/image" Target="../media/image157.png"/><Relationship Id="rId10" Type="http://schemas.openxmlformats.org/officeDocument/2006/relationships/image" Target="../media/image139.png"/><Relationship Id="rId19" Type="http://schemas.openxmlformats.org/officeDocument/2006/relationships/image" Target="../media/image148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1.png"/><Relationship Id="rId27" Type="http://schemas.openxmlformats.org/officeDocument/2006/relationships/image" Target="../media/image156.png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3" Type="http://schemas.openxmlformats.org/officeDocument/2006/relationships/image" Target="../media/image159.png"/><Relationship Id="rId7" Type="http://schemas.openxmlformats.org/officeDocument/2006/relationships/image" Target="../media/image164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62.png"/><Relationship Id="rId10" Type="http://schemas.openxmlformats.org/officeDocument/2006/relationships/image" Target="../media/image167.png"/><Relationship Id="rId4" Type="http://schemas.openxmlformats.org/officeDocument/2006/relationships/image" Target="../media/image161.png"/><Relationship Id="rId9" Type="http://schemas.openxmlformats.org/officeDocument/2006/relationships/image" Target="../media/image1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entradas</a:t>
            </a:r>
            <a:r>
              <a:rPr lang="pt-BR" dirty="0"/>
              <a:t> são tratadas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Isso faz com que elas </a:t>
            </a:r>
            <a:r>
              <a:rPr lang="pt-BR" b="1" dirty="0">
                <a:solidFill>
                  <a:srgbClr val="0070C0"/>
                </a:solidFill>
              </a:rPr>
              <a:t>não capturem dependências temporais entre amostras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interno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o histórico de </a:t>
            </a:r>
            <a:r>
              <a:rPr lang="pt-BR" b="1" dirty="0">
                <a:solidFill>
                  <a:srgbClr val="00B050"/>
                </a:solidFill>
              </a:rPr>
              <a:t>das entradas passadas</a:t>
            </a:r>
            <a:r>
              <a:rPr lang="pt-BR" dirty="0"/>
              <a:t>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que “telhado”, “muro”, “sofá” têm maior probabilidade.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/>
              <a:t>.</a:t>
            </a:r>
          </a:p>
          <a:p>
            <a:r>
              <a:rPr lang="pt-BR" dirty="0"/>
              <a:t>Porém, como veremos, um problema das </a:t>
            </a:r>
            <a:r>
              <a:rPr lang="pt-BR" dirty="0" err="1"/>
              <a:t>RNNs</a:t>
            </a:r>
            <a:r>
              <a:rPr lang="pt-BR" dirty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rapidamente</a:t>
            </a:r>
            <a:r>
              <a:rPr lang="pt-BR" dirty="0"/>
              <a:t> ao longo do tempo.</a:t>
            </a:r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5E58F59-116C-8F6D-B7AC-0250568F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9402BEF-ABFC-2E52-8381-46A90E9EE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AFC11EF-1F73-384D-FC08-ADC0A69BE1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RNNs</a:t>
                </a:r>
                <a:r>
                  <a:rPr lang="pt-BR" dirty="0"/>
                  <a:t> lidam com as dependências temporais entre amostras mantendo um </a:t>
                </a:r>
                <a:r>
                  <a:rPr lang="pt-BR" b="1" dirty="0">
                    <a:solidFill>
                      <a:srgbClr val="0070C0"/>
                    </a:solidFill>
                  </a:rPr>
                  <a:t>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armazena informações de todos os passos de tempo anteriores da sequência (</a:t>
                </a:r>
                <a:r>
                  <a:rPr lang="pt-BR" b="1" dirty="0">
                    <a:solidFill>
                      <a:srgbClr val="0070C0"/>
                    </a:solidFill>
                  </a:rPr>
                  <a:t>memória</a:t>
                </a:r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é uma representação compacta da história da sequência.</a:t>
                </a:r>
              </a:p>
              <a:p>
                <a:r>
                  <a:rPr lang="pt-BR" dirty="0"/>
                  <a:t>O mecanismo de </a:t>
                </a:r>
                <a:r>
                  <a:rPr lang="pt-BR" b="1" dirty="0">
                    <a:solidFill>
                      <a:srgbClr val="0070C0"/>
                    </a:solidFill>
                  </a:rPr>
                  <a:t>recorrência</a:t>
                </a:r>
                <a:r>
                  <a:rPr lang="pt-BR" dirty="0"/>
                  <a:t> permite que a rede aplique o contexto aprendido a partir de entradas anteriores às etapas atuais e futuras.</a:t>
                </a:r>
              </a:p>
              <a:p>
                <a:r>
                  <a:rPr lang="pt-BR" dirty="0"/>
                  <a:t>Uma célula recorrente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aprende padrões presentes</a:t>
                </a:r>
                <a:r>
                  <a:rPr lang="pt-BR" dirty="0"/>
                  <a:t> nas sequências.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FC11EF-1F73-384D-FC08-ADC0A69BE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633615" cy="5032375"/>
              </a:xfrm>
              <a:blipFill>
                <a:blip r:embed="rId3"/>
                <a:stretch>
                  <a:fillRect l="-1437" t="-1937" r="-2075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9391CBA0-FDD8-1C64-EBF3-4D66D849BEE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999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7678" y="1825625"/>
            <a:ext cx="5773687" cy="5032374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Ela omite a maioria das matrizes de pesos, mostrando uma caixa laranja que corresponde a uma camada densa com função de ativação do tipo tangente hiperbólica (</a:t>
            </a:r>
            <a:r>
              <a:rPr lang="pt-BR" dirty="0" err="1"/>
              <a:t>tanh</a:t>
            </a:r>
            <a:r>
              <a:rPr lang="pt-BR" dirty="0"/>
              <a:t>).</a:t>
            </a:r>
          </a:p>
          <a:p>
            <a:r>
              <a:rPr lang="pt-BR" dirty="0"/>
              <a:t>Essa representação é bastante utilizada na literatura.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xmlns="" id="{7CED28AA-0E05-B2BA-0D30-E8DA542D766E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invés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7" name="TextBox 3">
                <a:extLst>
                  <a:ext uri="{FF2B5EF4-FFF2-40B4-BE49-F238E27FC236}">
                    <a16:creationId xmlns:a16="http://schemas.microsoft.com/office/drawing/2014/main" id="{7CED28AA-0E05-B2BA-0D30-E8DA542D7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FCC30CB-CB89-F35B-D92D-21E6B094C07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238" y="2457768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F8E223-5A55-598C-6C3A-13F57278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C890A9-36F8-D703-4FF3-2ECF4E39F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xmlns="" id="{5D53E8F3-31EC-96A2-5086-93E2C9E2F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célula processa uma sequência de entradas um elemento (e.g., uma palavra ou um caractere) de cada vez, executando os seguintes passos em um laço: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a entrada atual da sequência,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Recebe o estado oculto do passo de tempo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(sua “memória”).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Combina essas duas entradas para calcular 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 o novo estado oculto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calcular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para o passo de tempo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novo estado oculto,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é então passado como memória para o próximo passo de tempo,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5D53E8F3-31EC-96A2-5086-93E2C9E2F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01477" y="1825624"/>
                <a:ext cx="7190523" cy="5032375"/>
              </a:xfrm>
              <a:blipFill>
                <a:blip r:embed="rId3"/>
                <a:stretch>
                  <a:fillRect l="-1525" t="-1937" r="-424" b="-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8380297D-98CD-60DC-3ED7-95B86C2C0C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40" y="2749999"/>
            <a:ext cx="4436269" cy="2809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4530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</a:t>
                </a:r>
                <a:r>
                  <a:rPr lang="pt-BR" dirty="0"/>
                  <a:t>.</a:t>
                </a:r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656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 </a:t>
                </a:r>
                <a:r>
                  <a:rPr lang="pt-BR" dirty="0"/>
                  <a:t>(e.g., logística ou </a:t>
                </a:r>
                <a:r>
                  <a:rPr lang="pt-BR" dirty="0" err="1"/>
                  <a:t>tanh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Desta forma, 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pt-BR" dirty="0"/>
                  <a:t> é o vetor de </a:t>
                </a:r>
                <a:r>
                  <a:rPr lang="pt-BR" i="1" dirty="0"/>
                  <a:t>bias.</a:t>
                </a:r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949072" y="1825624"/>
                <a:ext cx="7242928" cy="5032375"/>
              </a:xfrm>
              <a:blipFill>
                <a:blip r:embed="rId3"/>
                <a:stretch>
                  <a:fillRect l="-176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18759DC6-199E-9641-2389-B62D876BAC88}"/>
              </a:ext>
            </a:extLst>
          </p:cNvPr>
          <p:cNvGrpSpPr/>
          <p:nvPr/>
        </p:nvGrpSpPr>
        <p:grpSpPr>
          <a:xfrm>
            <a:off x="1676298" y="1517693"/>
            <a:ext cx="2258314" cy="5231527"/>
            <a:chOff x="1582030" y="1498840"/>
            <a:chExt cx="2258314" cy="5231527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8E2B0E5C-B617-1386-87C2-3A8B717B0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2031" y="1498840"/>
              <a:ext cx="2258313" cy="5231527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xmlns="" id="{1E3BC3FD-1B5F-5A63-997C-3561384F2766}"/>
                </a:ext>
              </a:extLst>
            </p:cNvPr>
            <p:cNvSpPr/>
            <p:nvPr/>
          </p:nvSpPr>
          <p:spPr>
            <a:xfrm>
              <a:off x="1582030" y="2066729"/>
              <a:ext cx="557657" cy="61912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n>
                  <a:solidFill>
                    <a:srgbClr val="FF0000"/>
                  </a:solidFill>
                </a:ln>
                <a:noFill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r>
              <a:rPr lang="pt-BR" dirty="0"/>
              <a:t>Embora visualizemos a RNN com um </a:t>
            </a:r>
            <a:r>
              <a:rPr lang="pt-BR" b="1" dirty="0">
                <a:solidFill>
                  <a:schemeClr val="accent1"/>
                </a:solidFill>
              </a:rPr>
              <a:t>laço</a:t>
            </a:r>
            <a:r>
              <a:rPr lang="pt-BR" dirty="0"/>
              <a:t>, é mais fácil entender seu funcionamento </a:t>
            </a:r>
            <a:r>
              <a:rPr lang="pt-BR" b="1" dirty="0">
                <a:solidFill>
                  <a:schemeClr val="accent2"/>
                </a:solidFill>
              </a:rPr>
              <a:t>desenrolando-a</a:t>
            </a:r>
            <a:r>
              <a:rPr lang="pt-BR" dirty="0"/>
              <a:t> ao longo dos passos de tempo.</a:t>
            </a:r>
          </a:p>
          <a:p>
            <a:r>
              <a:rPr lang="pt-BR" dirty="0"/>
              <a:t>Uma RNN desenrolada pode ser vista como </a:t>
            </a:r>
            <a:r>
              <a:rPr lang="pt-BR" b="1" dirty="0">
                <a:solidFill>
                  <a:srgbClr val="7030A0"/>
                </a:solidFill>
              </a:rPr>
              <a:t>múltiplas cópias da mesma camada</a:t>
            </a:r>
            <a:r>
              <a:rPr lang="pt-BR" dirty="0"/>
              <a:t>, 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7647394D-B8E2-7039-16A8-7702A1CD088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DDC0DF-3D06-4045-B165-7AAB8FC3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4B05D09-B51B-9F1D-840C-8F31ECA8A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5DB0C75-40DB-1344-2644-3F9C5110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5395" y="1825624"/>
            <a:ext cx="4386605" cy="5032375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>
                <a:solidFill>
                  <a:schemeClr val="accent2"/>
                </a:solidFill>
              </a:rPr>
              <a:t>referente </a:t>
            </a:r>
            <a:r>
              <a:rPr lang="pt-BR" dirty="0"/>
              <a:t>a um </a:t>
            </a:r>
            <a:r>
              <a:rPr lang="pt-BR" b="1" dirty="0">
                <a:solidFill>
                  <a:schemeClr val="accent2"/>
                </a:solidFill>
              </a:rPr>
              <a:t>intervalo de tempo diferente </a:t>
            </a:r>
            <a:r>
              <a:rPr lang="pt-BR" dirty="0"/>
              <a:t>e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 </a:t>
            </a:r>
            <a:r>
              <a:rPr lang="pt-BR" dirty="0"/>
              <a:t>para</a:t>
            </a:r>
            <a:r>
              <a:rPr lang="pt-BR" b="1" dirty="0">
                <a:solidFill>
                  <a:srgbClr val="7030A0"/>
                </a:solidFill>
              </a:rPr>
              <a:t> sequências muito longas</a:t>
            </a:r>
            <a:r>
              <a:rPr lang="pt-BR" dirty="0"/>
              <a:t>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5432393F-CC34-9AA6-AE14-3B0ED66B82F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85" y="185154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74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7131961-1381-6F3E-8FD0-08285C79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74E138-4FDB-0A0C-AE94-7C75814D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4D1FC21-9877-8A53-D087-E821889E0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20553" y="1825624"/>
            <a:ext cx="4471447" cy="5032375"/>
          </a:xfrm>
        </p:spPr>
        <p:txBody>
          <a:bodyPr>
            <a:normAutofit/>
          </a:bodyPr>
          <a:lstStyle/>
          <a:p>
            <a:r>
              <a:rPr lang="pt-BR" dirty="0"/>
              <a:t>Essa visão </a:t>
            </a:r>
            <a:r>
              <a:rPr lang="pt-BR" b="1" dirty="0">
                <a:solidFill>
                  <a:schemeClr val="accent2"/>
                </a:solidFill>
              </a:rPr>
              <a:t>desenrolada</a:t>
            </a:r>
            <a:r>
              <a:rPr lang="pt-BR" dirty="0"/>
              <a:t> mostra claramente o fluxo de informações e a </a:t>
            </a:r>
            <a:r>
              <a:rPr lang="pt-BR" b="1" dirty="0">
                <a:solidFill>
                  <a:srgbClr val="0070C0"/>
                </a:solidFill>
              </a:rPr>
              <a:t>reutilização dos pesos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</a:t>
            </a:r>
            <a:r>
              <a:rPr lang="pt-BR" dirty="0"/>
              <a:t>e as </a:t>
            </a:r>
            <a:r>
              <a:rPr lang="pt-BR" b="1" dirty="0">
                <a:solidFill>
                  <a:schemeClr val="accent1"/>
                </a:solidFill>
              </a:rPr>
              <a:t>funções de ativação </a:t>
            </a:r>
            <a:r>
              <a:rPr lang="pt-BR" dirty="0"/>
              <a:t>são</a:t>
            </a:r>
            <a:r>
              <a:rPr lang="pt-BR" b="1" dirty="0">
                <a:solidFill>
                  <a:schemeClr val="accent1"/>
                </a:solidFill>
              </a:rPr>
              <a:t>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tempo.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C67339C6-8630-9318-806E-885B3088E3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43" y="1898682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3572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08040EC-283E-AF0D-98D2-F63FF4265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D6B01EA-11FE-E505-9C21-2C7DF649E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7EF629-DAD2-6F9E-E547-E7199A3C8A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compartilhado de pesos</a:t>
                </a:r>
                <a:r>
                  <a:rPr lang="pt-BR" dirty="0"/>
                  <a:t> é o que torna o modelo "</a:t>
                </a:r>
                <a:r>
                  <a:rPr lang="pt-BR" b="1" dirty="0">
                    <a:solidFill>
                      <a:srgbClr val="00B050"/>
                    </a:solidFill>
                  </a:rPr>
                  <a:t>recorrente</a:t>
                </a:r>
                <a:r>
                  <a:rPr lang="pt-BR" dirty="0"/>
                  <a:t>" e permite que ele </a:t>
                </a:r>
                <a:r>
                  <a:rPr lang="pt-BR" b="1" dirty="0">
                    <a:solidFill>
                      <a:srgbClr val="7030A0"/>
                    </a:solidFill>
                  </a:rPr>
                  <a:t>aprenda (detecte) padrões em sequências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Notem que a 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e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todos</a:t>
                </a:r>
                <a:r>
                  <a:rPr lang="pt-BR" b="1" dirty="0">
                    <a:solidFill>
                      <a:srgbClr val="00B050"/>
                    </a:solidFill>
                  </a:rPr>
                  <a:t> os seus valores anteriores</a:t>
                </a:r>
                <a:r>
                  <a:rPr lang="pt-BR" dirty="0"/>
                  <a:t> e não apenas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7EF629-DAD2-6F9E-E547-E7199A3C8A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804910" y="1825624"/>
                <a:ext cx="4387090" cy="5032375"/>
              </a:xfrm>
              <a:blipFill>
                <a:blip r:embed="rId3"/>
                <a:stretch>
                  <a:fillRect l="-2500" t="-1937" r="-4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1D00B5F-AE10-DDBA-90FA-2664155E2E1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434" y="1965166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923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A4CF61-CE52-9ED4-4E52-19F81312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517226-7116-AD96-CC12-97CF12663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Desenrolando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4BD94AA-1AF4-CE3E-B58D-37EA5EC18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6000" cy="5032375"/>
          </a:xfrm>
        </p:spPr>
        <p:txBody>
          <a:bodyPr>
            <a:normAutofit/>
          </a:bodyPr>
          <a:lstStyle/>
          <a:p>
            <a:r>
              <a:rPr lang="pt-BR" dirty="0"/>
              <a:t>O processo de desenrolar uma RNN nos ajuda a treinar a rede usando a </a:t>
            </a:r>
            <a:r>
              <a:rPr lang="pt-BR" b="1" dirty="0">
                <a:solidFill>
                  <a:srgbClr val="7030A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O objetivo é: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como cada peso influenciou o erro,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os pesos para minimizar o erro. </a:t>
            </a:r>
          </a:p>
          <a:p>
            <a:r>
              <a:rPr lang="pt-BR" dirty="0"/>
              <a:t>Nas </a:t>
            </a:r>
            <a:r>
              <a:rPr lang="pt-BR" dirty="0" err="1"/>
              <a:t>RNNs</a:t>
            </a:r>
            <a:r>
              <a:rPr lang="pt-BR" dirty="0"/>
              <a:t>, isso é mais complexo pois: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estado atual depende dos estados anteriores,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então o erro precisa voltar no tempo.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EFA75654-DF42-EDB9-B152-A60A131AFD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727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856341B-8DD5-B4D0-04B5-B1D29CAF8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rede, ela é primeiro </a:t>
                </a:r>
                <a:r>
                  <a:rPr lang="pt-BR" b="1" dirty="0">
                    <a:solidFill>
                      <a:schemeClr val="accent2"/>
                    </a:solidFill>
                  </a:rPr>
                  <a:t>desenrolada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depois aplica-se a retropropagação</a:t>
                </a:r>
                <a:r>
                  <a:rPr lang="pt-BR" dirty="0"/>
                  <a:t> do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tradicional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a sequência,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, é processada em uma </a:t>
                </a:r>
                <a:r>
                  <a:rPr lang="pt-BR" b="1" dirty="0">
                    <a:solidFill>
                      <a:srgbClr val="00B050"/>
                    </a:solidFill>
                  </a:rPr>
                  <a:t>etapa direta</a:t>
                </a:r>
                <a:r>
                  <a:rPr lang="pt-BR" dirty="0"/>
                  <a:t>, gerando saídas ao longo dos vários instantes de tempo,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Em seguida,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,(e.g., EQM, EC) é </a:t>
                </a:r>
                <a:r>
                  <a:rPr lang="pt-BR" b="1" dirty="0">
                    <a:solidFill>
                      <a:srgbClr val="00B050"/>
                    </a:solidFill>
                  </a:rPr>
                  <a:t>calculada</a:t>
                </a:r>
                <a:r>
                  <a:rPr lang="pt-BR" dirty="0"/>
                  <a:t> utilizando as saídas e os rótulos,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56341B-8DD5-B4D0-04B5-B1D29CAF8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6338" y="1825624"/>
                <a:ext cx="6375662" cy="5032376"/>
              </a:xfrm>
              <a:blipFill>
                <a:blip r:embed="rId2"/>
                <a:stretch>
                  <a:fillRect l="-1721" t="-1937" r="-2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3AD603-5E49-AE24-2071-74753017B5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D94518-B943-3652-40D5-8C674576F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CA5185B-0A25-F012-4043-94A4C688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11E477E-D988-C2C5-1555-C6A90F36E3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1180" y="1825624"/>
            <a:ext cx="6290820" cy="5032376"/>
          </a:xfrm>
        </p:spPr>
        <p:txBody>
          <a:bodyPr>
            <a:normAutofit/>
          </a:bodyPr>
          <a:lstStyle/>
          <a:p>
            <a:r>
              <a:rPr lang="pt-BR" noProof="0" dirty="0"/>
              <a:t>Após o cálculo do erro, os </a:t>
            </a:r>
            <a:r>
              <a:rPr lang="pt-BR" b="1" noProof="0" dirty="0">
                <a:solidFill>
                  <a:srgbClr val="00B050"/>
                </a:solidFill>
              </a:rPr>
              <a:t>gradientes são propagados retroativamente </a:t>
            </a:r>
            <a:r>
              <a:rPr lang="pt-BR" noProof="0" dirty="0"/>
              <a:t>ao longo da rede desenrolada no tempo.</a:t>
            </a:r>
          </a:p>
          <a:p>
            <a:r>
              <a:rPr lang="pt-BR" noProof="0" dirty="0"/>
              <a:t>Como os </a:t>
            </a:r>
            <a:r>
              <a:rPr lang="pt-BR" b="1" noProof="0" dirty="0">
                <a:solidFill>
                  <a:schemeClr val="accent2"/>
                </a:solidFill>
              </a:rPr>
              <a:t>mesmos pesos são reutilizados</a:t>
            </a:r>
            <a:r>
              <a:rPr lang="pt-BR" noProof="0" dirty="0"/>
              <a:t> em todos os instantes da sequência, </a:t>
            </a:r>
            <a:r>
              <a:rPr lang="pt-BR" b="1" noProof="0" dirty="0">
                <a:solidFill>
                  <a:schemeClr val="accent2"/>
                </a:solidFill>
              </a:rPr>
              <a:t>cada instante</a:t>
            </a:r>
            <a:r>
              <a:rPr lang="pt-BR" noProof="0" dirty="0"/>
              <a:t> temporal </a:t>
            </a:r>
            <a:r>
              <a:rPr lang="pt-BR" b="1" noProof="0" dirty="0">
                <a:solidFill>
                  <a:schemeClr val="accent2"/>
                </a:solidFill>
              </a:rPr>
              <a:t>produz uma contribuição para o gradiente final</a:t>
            </a:r>
            <a:r>
              <a:rPr lang="pt-BR" noProof="0" dirty="0"/>
              <a:t> desses pesos.</a:t>
            </a:r>
          </a:p>
          <a:p>
            <a:r>
              <a:rPr lang="pt-BR" noProof="0" dirty="0"/>
              <a:t>Durante o treinamento, </a:t>
            </a:r>
            <a:r>
              <a:rPr lang="pt-BR" b="1" noProof="0" dirty="0">
                <a:solidFill>
                  <a:srgbClr val="7030A0"/>
                </a:solidFill>
              </a:rPr>
              <a:t>essas contribuições são somadas</a:t>
            </a:r>
            <a:r>
              <a:rPr lang="pt-BR" noProof="0" dirty="0"/>
              <a:t> para gerar o </a:t>
            </a:r>
            <a:r>
              <a:rPr lang="pt-BR" b="1" noProof="0" dirty="0">
                <a:solidFill>
                  <a:srgbClr val="7030A0"/>
                </a:solidFill>
              </a:rPr>
              <a:t>gradiente final</a:t>
            </a:r>
            <a:r>
              <a:rPr lang="pt-BR" noProof="0" dirty="0"/>
              <a:t> e atualizar os pesos da rede.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FFEFC366-25A0-8801-988D-FFCD224F3E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479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D87738-FC7E-21B4-8EC1-0DABBFF6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5A50FF2-35C9-AA04-ED08-BE0660251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18A30A8-8D7E-A868-522E-8860A7F87F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fim, os pesos da rede são atualizados utilizando algum método de otimização baseados no vetor gradiente.</a:t>
                </a:r>
              </a:p>
              <a:p>
                <a:r>
                  <a:rPr lang="pt-BR" dirty="0"/>
                  <a:t>Por exemplo, usando o gradiente descendente em batelada: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𝑾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é uma das matrizes de peso da célula,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pt-BR" dirty="0"/>
                  <a:t> é a função de erro.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8A30A8-8D7E-A868-522E-8860A7F87F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1180" y="1825624"/>
                <a:ext cx="6290820" cy="5032376"/>
              </a:xfrm>
              <a:blipFill>
                <a:blip r:embed="rId2"/>
                <a:stretch>
                  <a:fillRect l="-1938" t="-1937" r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72E6F4CD-19AC-4CEA-A975-57686007571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5050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168" y="1825624"/>
            <a:ext cx="6224832" cy="5032376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desenrolar da rede</a:t>
            </a:r>
            <a:r>
              <a:rPr lang="pt-BR" dirty="0"/>
              <a:t> para aplicação da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DD1162C9-8039-1879-F87F-8925166F46B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49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do treinamento é minimizar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total</a:t>
                </a:r>
                <a:r>
                  <a:rPr lang="pt-BR" dirty="0"/>
                  <a:t> gerado pela rede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ao longo de todos os passos de tempo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Inicialmente,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é calculado para cada passo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, da sequência temporal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erro total</a:t>
                </a:r>
                <a:r>
                  <a:rPr lang="pt-BR" dirty="0"/>
                  <a:t> é a média do </a:t>
                </a:r>
                <a:r>
                  <a:rPr lang="pt-BR" b="1" dirty="0">
                    <a:solidFill>
                      <a:schemeClr val="accent2"/>
                    </a:solidFill>
                  </a:rPr>
                  <a:t>erro instantâneo</a:t>
                </a:r>
                <a:r>
                  <a:rPr lang="pt-BR" dirty="0"/>
                  <a:t> para todos os instantes de tempo considerados,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/>
                  <a:t>palavras</a:t>
                </a:r>
                <a:r>
                  <a:rPr lang="en-US" dirty="0"/>
                  <a:t>, o </a:t>
                </a:r>
                <a:r>
                  <a:rPr lang="en-US" b="1" dirty="0" err="1">
                    <a:solidFill>
                      <a:srgbClr val="00B050"/>
                    </a:solidFill>
                  </a:rPr>
                  <a:t>erro</a:t>
                </a:r>
                <a:r>
                  <a:rPr lang="en-US" b="1" dirty="0">
                    <a:solidFill>
                      <a:srgbClr val="00B050"/>
                    </a:solidFill>
                  </a:rPr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 b="-2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De forma genérica, a derivada do erro em relação à matriz de pesos, </a:t>
                </a:r>
                <a14:m>
                  <m:oMath xmlns:m="http://schemas.openxmlformats.org/officeDocument/2006/math">
                    <m:r>
                      <a:rPr lang="pt-BR" b="1" i="1" noProof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noProof="0" dirty="0"/>
                  <a:t> é obtida usando a </a:t>
                </a:r>
                <a:r>
                  <a:rPr lang="pt-BR" b="1" noProof="0" dirty="0"/>
                  <a:t>regra da cadeia</a:t>
                </a:r>
                <a:r>
                  <a:rPr lang="pt-BR" noProof="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pPr marL="0" indent="0">
                  <a:buNone/>
                </a:pPr>
                <a:r>
                  <a:rPr lang="pt-BR" dirty="0"/>
                  <a:t>o</a:t>
                </a:r>
                <a:r>
                  <a:rPr lang="pt-BR" noProof="0" dirty="0" err="1"/>
                  <a:t>nde</a:t>
                </a:r>
                <a:r>
                  <a:rPr lang="pt-BR" noProof="0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noProof="0" dirty="0"/>
                  <a:t> é o estado oculto.</a:t>
                </a:r>
              </a:p>
              <a:p>
                <a:r>
                  <a:rPr lang="pt-BR" noProof="0" dirty="0"/>
                  <a:t>O gradiente é obtido somando-se as </a:t>
                </a:r>
                <a:r>
                  <a:rPr lang="pt-BR" b="1" dirty="0">
                    <a:solidFill>
                      <a:srgbClr val="00B050"/>
                    </a:solidFill>
                  </a:rPr>
                  <a:t>contribuições de cada passo de tempo.</a:t>
                </a:r>
                <a:endParaRPr lang="pt-BR" noProof="0" dirty="0"/>
              </a:p>
              <a:p>
                <a:r>
                  <a:rPr lang="pt-BR" noProof="0" dirty="0"/>
                  <a:t>Como os pesos são compartilhados ao longo do tempo, uma única atualização de peso deve levar em conta sua influência na predição (e, consequentemente, no erro) feita em </a:t>
                </a: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noProof="0" dirty="0"/>
                  <a:t>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 até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r>
                  <a:rPr lang="pt-BR" dirty="0"/>
                  <a:t>Em outras palavras, o BPTT propaga os erros do futuro para o passado.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1128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F2798CD-19D6-ECEC-B650-20958EB82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7A14C7-1400-69E1-2BE4-A1A26E2E2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D8FEDBB-8B0C-1AAA-8297-CE500B93DB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 noProof="0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pt-BR" i="1" noProof="0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 noProof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noProof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noProof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noProof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dirty="0"/>
                  <a:t>Os dois primeiros termos são fáceis de se calcular, mas o terceiro é onde as coisas se complicam, já que precisamos calcular </a:t>
                </a:r>
                <a:r>
                  <a:rPr lang="pt-BR" b="1" dirty="0">
                    <a:solidFill>
                      <a:srgbClr val="7030A0"/>
                    </a:solidFill>
                  </a:rPr>
                  <a:t>recursivamente</a:t>
                </a:r>
                <a:r>
                  <a:rPr lang="pt-BR" dirty="0"/>
                  <a:t> o efeito da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sobre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afeta o erro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de duas maneiras: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Diretamente:</a:t>
                </a:r>
                <a:r>
                  <a:rPr lang="pt-BR" dirty="0"/>
                  <a:t> No cálculo do estado oculto atual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Indiretamente:</a:t>
                </a:r>
                <a:r>
                  <a:rPr lang="pt-BR" dirty="0"/>
                  <a:t> Porque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depende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que por sua vez dependeu de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 no passado, que dependeu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, e assim por diante, voltando até o estado inicial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8FEDBB-8B0C-1AAA-8297-CE500B93DB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r="-1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xmlns="" id="{50E1D4C1-A556-7B10-9906-749DD399F979}"/>
              </a:ext>
            </a:extLst>
          </p:cNvPr>
          <p:cNvSpPr/>
          <p:nvPr/>
        </p:nvSpPr>
        <p:spPr>
          <a:xfrm>
            <a:off x="9341749" y="1898923"/>
            <a:ext cx="867267" cy="9898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4303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FE833D8-2F7F-4BE1-D525-5FAE41667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EF0B173-DE7A-5E16-3DD6-EB66D50745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Aplicando a regra da cadeia ao terceiro termo, obtemos a formulação analítica completa do BPTT para o passo de tempo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brk m:alnAt="23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 dependendo dos valores das derivadas parciais,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EF0B173-DE7A-5E16-3DD6-EB66D50745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728862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se torna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</a:t>
                </a:r>
                <a:r>
                  <a:rPr lang="pt-BR" dirty="0"/>
                  <a:t> ou fica</a:t>
                </a:r>
                <a:r>
                  <a:rPr lang="pt-BR" b="1" dirty="0">
                    <a:solidFill>
                      <a:srgbClr val="7030A0"/>
                    </a:solidFill>
                  </a:rPr>
                  <a:t>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O </a:t>
                </a:r>
                <a:r>
                  <a:rPr lang="en-US" dirty="0" err="1"/>
                  <a:t>modelo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>
                    <a:solidFill>
                      <a:schemeClr val="accent2"/>
                    </a:solidFill>
                  </a:rPr>
                  <a:t>Mantendo o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21784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8E720CE-A76C-A8B2-DCF8-0B3E17CD9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E327AF2-2A80-2FD6-C65B-1F47B4EFD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4F3B9AB-2499-75D6-23C6-F253DEDF36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𝐸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den>
                          </m:f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])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∏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m:rPr>
                                          <m:brk m:alnAt="23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p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[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]</m:t>
                                          </m:r>
                                        </m:den>
                                      </m:f>
                                    </m:e>
                                  </m:nary>
                                </m:e>
                              </m:d>
                            </m:e>
                          </m:nary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Na prática, essa equação diz que para atualizar a matriz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pt-BR" dirty="0"/>
                  <a:t>, a rede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calcula o erro em cada saída,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propaga esse erro de volta através das conexões recorrentes até o início da sequência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acumula os ajustes baseados nos estados passados.</a:t>
                </a:r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consome 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4F3B9AB-2499-75D6-23C6-F253DEDF36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2"/>
                <a:stretch>
                  <a:fillRect l="-913" r="-1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20368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 (TBPPT)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 é um </a:t>
                </a:r>
                <a:r>
                  <a:rPr lang="pt-BR" dirty="0" err="1"/>
                  <a:t>hiperparâmetro</a:t>
                </a:r>
                <a:r>
                  <a:rPr lang="pt-BR" dirty="0"/>
                  <a:t> crucial que deve ser otimizado: pequeno demais prejudica a memória de longo prazo e grande demais perde a eficiência que motivou a técnica.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uso de memória.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 </a:t>
                </a:r>
                <a:r>
                  <a:rPr lang="en-US" dirty="0" err="1"/>
                  <a:t>ajuda</a:t>
                </a:r>
                <a:r>
                  <a:rPr lang="en-US" dirty="0"/>
                  <a:t> a combater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explosão</a:t>
                </a:r>
                <a:r>
                  <a:rPr lang="en-US" dirty="0"/>
                  <a:t> e </a:t>
                </a:r>
                <a:r>
                  <a:rPr lang="en-US" dirty="0" err="1"/>
                  <a:t>desaparecimento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Porém</a:t>
                </a:r>
                <a:r>
                  <a:rPr lang="en-US" dirty="0"/>
                  <a:t>, o TBPPT </a:t>
                </a:r>
                <a:r>
                  <a:rPr lang="pt-BR" dirty="0"/>
                  <a:t>força a rede a se concentrar em padrões de curto e médio alcance.</a:t>
                </a:r>
              </a:p>
              <a:p>
                <a:r>
                  <a:rPr lang="pt-BR" dirty="0"/>
                  <a:t>Dependências que excedem o tamanho do truncamento </a:t>
                </a:r>
                <a:r>
                  <a:rPr lang="pt-BR" b="1" dirty="0"/>
                  <a:t>não são aprendidas.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776FCFB-336A-8296-6F79-4601798B9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6A579CB-F7BE-007A-141C-207261894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8608" y="904126"/>
            <a:ext cx="5661060" cy="56405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Quando uma </a:t>
            </a:r>
            <a:r>
              <a:rPr lang="pt-BR" sz="3600" b="1" dirty="0">
                <a:solidFill>
                  <a:srgbClr val="00B050"/>
                </a:solidFill>
              </a:rPr>
              <a:t>RNN tradicional</a:t>
            </a:r>
            <a:r>
              <a:rPr lang="pt-BR" sz="3600" dirty="0"/>
              <a:t> processa uma </a:t>
            </a:r>
            <a:r>
              <a:rPr lang="pt-BR" sz="3600" b="1" dirty="0">
                <a:solidFill>
                  <a:schemeClr val="accent2"/>
                </a:solidFill>
              </a:rPr>
              <a:t>sequência muito longa</a:t>
            </a:r>
            <a:r>
              <a:rPr lang="pt-BR" sz="3600" dirty="0"/>
              <a:t>, ela se </a:t>
            </a:r>
            <a:r>
              <a:rPr lang="pt-BR" sz="3600" b="1" dirty="0">
                <a:solidFill>
                  <a:srgbClr val="7030A0"/>
                </a:solidFill>
              </a:rPr>
              <a:t>esquece gradualmente das primeiras amostras</a:t>
            </a:r>
            <a:r>
              <a:rPr lang="pt-BR" sz="3600" dirty="0"/>
              <a:t> da sequência.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elas </a:t>
            </a:r>
            <a:r>
              <a:rPr lang="pt-BR" sz="3600" b="1" dirty="0">
                <a:solidFill>
                  <a:schemeClr val="accent1"/>
                </a:solidFill>
              </a:rPr>
              <a:t>não aprendem dependências longas</a:t>
            </a:r>
            <a:endParaRPr lang="en-US" sz="3600" b="1" dirty="0">
              <a:solidFill>
                <a:schemeClr val="accent1"/>
              </a:solidFill>
            </a:endParaRPr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E63707F4-DB83-9062-72ED-B2E6A96EE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33" y="1410817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72792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treinadas usando o BPTT </a:t>
            </a:r>
            <a:r>
              <a:rPr lang="pt-BR" b="1" dirty="0">
                <a:solidFill>
                  <a:schemeClr val="accent2"/>
                </a:solidFill>
              </a:rPr>
              <a:t>são </a:t>
            </a:r>
            <a:r>
              <a:rPr lang="pt-BR" b="1" dirty="0">
                <a:solidFill>
                  <a:schemeClr val="accent1"/>
                </a:solidFill>
              </a:rPr>
              <a:t>incapazes</a:t>
            </a:r>
            <a:r>
              <a:rPr lang="pt-BR" b="1" dirty="0">
                <a:solidFill>
                  <a:schemeClr val="accent2"/>
                </a:solidFill>
              </a:rPr>
              <a:t>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rgbClr val="7030A0"/>
                </a:solidFill>
              </a:rPr>
              <a:t>BPTT truncado</a:t>
            </a:r>
            <a:r>
              <a:rPr lang="pt-BR" dirty="0"/>
              <a:t> </a:t>
            </a:r>
            <a:r>
              <a:rPr lang="pt-BR" b="1" dirty="0"/>
              <a:t>também limita o aprendizado de longo prazo</a:t>
            </a:r>
            <a:r>
              <a:rPr lang="pt-BR" dirty="0"/>
              <a:t>, pois </a:t>
            </a:r>
            <a:r>
              <a:rPr lang="pt-BR" b="1" dirty="0">
                <a:solidFill>
                  <a:srgbClr val="7030A0"/>
                </a:solidFill>
              </a:rPr>
              <a:t>impõe um horizonte</a:t>
            </a:r>
            <a:r>
              <a:rPr lang="pt-BR" dirty="0"/>
              <a:t> máximo </a:t>
            </a:r>
            <a:r>
              <a:rPr lang="pt-BR" b="1" dirty="0">
                <a:solidFill>
                  <a:srgbClr val="7030A0"/>
                </a:solidFill>
              </a:rPr>
              <a:t>para a retropropagação</a:t>
            </a:r>
            <a:r>
              <a:rPr lang="pt-BR" dirty="0"/>
              <a:t> dos gradientes.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dirty="0"/>
              <a:t>Por exemplo, e</a:t>
            </a:r>
            <a:r>
              <a:rPr lang="en-US" dirty="0"/>
              <a:t>m </a:t>
            </a:r>
            <a:r>
              <a:rPr lang="en-US" dirty="0" err="1"/>
              <a:t>tradução</a:t>
            </a:r>
            <a:r>
              <a:rPr lang="en-US" dirty="0"/>
              <a:t> </a:t>
            </a:r>
            <a:r>
              <a:rPr lang="en-US" dirty="0" err="1"/>
              <a:t>automática</a:t>
            </a:r>
            <a:r>
              <a:rPr lang="en-US" dirty="0"/>
              <a:t>, </a:t>
            </a:r>
            <a:r>
              <a:rPr lang="pt-BR" dirty="0"/>
              <a:t>o significado de uma palavra ou frase pode depender de palavras vizinhas ou de um contexto que apareceu muito antes no texto.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prever </a:t>
            </a:r>
            <a:r>
              <a:rPr lang="pt-BR" b="1" dirty="0">
                <a:solidFill>
                  <a:srgbClr val="00B050"/>
                </a:solidFill>
              </a:rPr>
              <a:t>a próxima palavra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</a:t>
            </a:r>
            <a:r>
              <a:rPr lang="pt-BR" dirty="0"/>
              <a:t>a palavra</a:t>
            </a:r>
            <a:r>
              <a:rPr lang="pt-BR" b="1" dirty="0">
                <a:solidFill>
                  <a:schemeClr val="accent2"/>
                </a:solidFill>
              </a:rPr>
              <a:t> </a:t>
            </a:r>
            <a:r>
              <a:rPr lang="pt-BR" b="1" dirty="0">
                <a:solidFill>
                  <a:schemeClr val="accent5"/>
                </a:solidFill>
              </a:rPr>
              <a:t>“azul”</a:t>
            </a:r>
            <a:r>
              <a:rPr lang="pt-BR" dirty="0"/>
              <a:t>, a RNN precisa apenas de </a:t>
            </a:r>
            <a:r>
              <a:rPr lang="pt-BR" b="1" dirty="0">
                <a:solidFill>
                  <a:srgbClr val="00B050"/>
                </a:solidFill>
              </a:rPr>
              <a:t>informação de dois passos atrás</a:t>
            </a:r>
            <a:r>
              <a:rPr lang="pt-BR" dirty="0"/>
              <a:t>.</a:t>
            </a:r>
          </a:p>
          <a:p>
            <a:r>
              <a:rPr lang="pt-BR" dirty="0"/>
              <a:t>Ou seja, a </a:t>
            </a:r>
            <a:r>
              <a:rPr lang="pt-BR" b="1" dirty="0">
                <a:solidFill>
                  <a:srgbClr val="7030A0"/>
                </a:solidFill>
              </a:rPr>
              <a:t>informação relevante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está a poucos passos</a:t>
            </a:r>
            <a:r>
              <a:rPr lang="pt-BR" dirty="0"/>
              <a:t> no tempo (</a:t>
            </a:r>
            <a:r>
              <a:rPr lang="pt-BR" b="1" dirty="0">
                <a:solidFill>
                  <a:schemeClr val="accent2"/>
                </a:solidFill>
              </a:rPr>
              <a:t>contexto recente</a:t>
            </a:r>
            <a:r>
              <a:rPr lang="pt-BR" dirty="0"/>
              <a:t>).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C64356E-F5FE-E5D3-9E6C-6927EBEC8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3A944CD8-CBDA-65AB-AE05-7694FE8B6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E9B53B2-8E68-BEE1-0D8A-E19655A4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571CB8A-DBB4-30C0-9F19-9763A30E40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373090" cy="5032375"/>
          </a:xfrm>
        </p:spPr>
        <p:txBody>
          <a:bodyPr>
            <a:normAutofit/>
          </a:bodyPr>
          <a:lstStyle/>
          <a:p>
            <a:r>
              <a:rPr lang="pt-BR" dirty="0"/>
              <a:t>Assim, durante 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, o </a:t>
            </a:r>
            <a:r>
              <a:rPr lang="pt-BR" b="1" dirty="0">
                <a:solidFill>
                  <a:schemeClr val="accent2"/>
                </a:solidFill>
              </a:rPr>
              <a:t>erro precisa ser retropropagado por apenas alguns instantes</a:t>
            </a:r>
            <a:r>
              <a:rPr lang="pt-BR" dirty="0"/>
              <a:t> temporais.</a:t>
            </a:r>
          </a:p>
          <a:p>
            <a:r>
              <a:rPr lang="pt-BR" dirty="0"/>
              <a:t>Porém, em muitas aplicações, a </a:t>
            </a:r>
            <a:r>
              <a:rPr lang="pt-BR" b="1" dirty="0">
                <a:solidFill>
                  <a:srgbClr val="7030A0"/>
                </a:solidFill>
              </a:rPr>
              <a:t>informação importante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pode estar muito distante na sequência</a:t>
            </a:r>
            <a:r>
              <a:rPr lang="pt-BR" dirty="0"/>
              <a:t>.</a:t>
            </a:r>
          </a:p>
          <a:p>
            <a:r>
              <a:rPr lang="pt-BR" dirty="0"/>
              <a:t>Agora, vamos considerar a frase: </a:t>
            </a:r>
          </a:p>
          <a:p>
            <a:pPr marL="457200" lvl="1" indent="0" algn="ctr">
              <a:buNone/>
            </a:pPr>
            <a:r>
              <a:rPr lang="pt-BR" dirty="0"/>
              <a:t>“Sou de </a:t>
            </a:r>
            <a:r>
              <a:rPr lang="pt-BR" b="1" dirty="0"/>
              <a:t>Roma</a:t>
            </a:r>
            <a:r>
              <a:rPr lang="pt-BR" dirty="0"/>
              <a:t>. Nasci há 30 anos. Gosto de comer bem e andar de bicicleta. Minha língua materna é o </a:t>
            </a:r>
            <a:r>
              <a:rPr lang="pt-BR" b="1" dirty="0"/>
              <a:t>italiano</a:t>
            </a:r>
            <a:r>
              <a:rPr lang="pt-BR" dirty="0"/>
              <a:t>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DA4B9400-011F-CE71-B12A-9EB45E21B3C6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4092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74" y="1825624"/>
            <a:ext cx="5953125" cy="50323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Para prever </a:t>
            </a:r>
            <a:r>
              <a:rPr lang="pt-BR" b="1" dirty="0">
                <a:solidFill>
                  <a:schemeClr val="accent2"/>
                </a:solidFill>
              </a:rPr>
              <a:t>“italiano”</a:t>
            </a:r>
            <a:r>
              <a:rPr lang="pt-BR" dirty="0"/>
              <a:t>, a rede precisa lembrar de uma </a:t>
            </a:r>
            <a:r>
              <a:rPr lang="pt-BR" b="1" dirty="0">
                <a:solidFill>
                  <a:srgbClr val="7030A0"/>
                </a:solidFill>
              </a:rPr>
              <a:t>informação muito antiga</a:t>
            </a:r>
            <a:r>
              <a:rPr lang="pt-BR" dirty="0"/>
              <a:t> da sequência, a palavra </a:t>
            </a:r>
            <a:r>
              <a:rPr lang="pt-BR" b="1" dirty="0">
                <a:solidFill>
                  <a:schemeClr val="accent2"/>
                </a:solidFill>
              </a:rPr>
              <a:t>“Roma”</a:t>
            </a:r>
            <a:r>
              <a:rPr lang="pt-BR" dirty="0"/>
              <a:t>.</a:t>
            </a:r>
          </a:p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pt-BR" dirty="0"/>
              <a:t>Durante o treinamento, o </a:t>
            </a:r>
            <a:r>
              <a:rPr lang="pt-BR" b="1" dirty="0">
                <a:solidFill>
                  <a:srgbClr val="00B050"/>
                </a:solidFill>
              </a:rPr>
              <a:t>erro</a:t>
            </a:r>
            <a:r>
              <a:rPr lang="pt-BR" dirty="0"/>
              <a:t> precisa ser </a:t>
            </a:r>
            <a:r>
              <a:rPr lang="pt-BR" b="1" dirty="0" err="1">
                <a:solidFill>
                  <a:srgbClr val="00B050"/>
                </a:solidFill>
              </a:rPr>
              <a:t>retropropagado</a:t>
            </a:r>
            <a:r>
              <a:rPr lang="pt-BR" dirty="0"/>
              <a:t> por </a:t>
            </a:r>
            <a:r>
              <a:rPr lang="pt-BR" b="1" dirty="0">
                <a:solidFill>
                  <a:srgbClr val="00B050"/>
                </a:solidFill>
              </a:rPr>
              <a:t>vários instantes de tempo</a:t>
            </a:r>
            <a:r>
              <a:rPr lang="pt-BR" dirty="0"/>
              <a:t>, o que pode fazer com que o </a:t>
            </a:r>
            <a:r>
              <a:rPr lang="pt-BR" b="1" dirty="0">
                <a:solidFill>
                  <a:srgbClr val="7030A0"/>
                </a:solidFill>
              </a:rPr>
              <a:t>gradiente desapareça</a:t>
            </a:r>
            <a:r>
              <a:rPr lang="pt-BR" dirty="0"/>
              <a:t>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rgbClr val="7030A0"/>
                </a:solidFill>
              </a:rPr>
              <a:t>Quanto maior a distância temporal</a:t>
            </a:r>
            <a:r>
              <a:rPr lang="pt-BR" dirty="0"/>
              <a:t>, </a:t>
            </a:r>
            <a:r>
              <a:rPr lang="pt-BR" b="1" dirty="0">
                <a:solidFill>
                  <a:schemeClr val="accent2"/>
                </a:solidFill>
              </a:rPr>
              <a:t>mais difícil é para uma RNN tradicional </a:t>
            </a:r>
            <a:r>
              <a:rPr lang="pt-BR" dirty="0"/>
              <a:t>manter a informação relevante, ou seja, </a:t>
            </a:r>
            <a:r>
              <a:rPr lang="pt-BR" b="1" dirty="0">
                <a:solidFill>
                  <a:schemeClr val="accent1"/>
                </a:solidFill>
              </a:rPr>
              <a:t>se lembrar do passado distante</a:t>
            </a:r>
            <a:r>
              <a:rPr lang="pt-BR" dirty="0"/>
              <a:t>.</a:t>
            </a:r>
          </a:p>
          <a:p>
            <a:pPr marL="0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dirty="0"/>
              <a:t>Como permitir que a rede preserve </a:t>
            </a:r>
            <a:r>
              <a:rPr lang="pt-BR" b="1" dirty="0">
                <a:solidFill>
                  <a:schemeClr val="accent2"/>
                </a:solidFill>
              </a:rPr>
              <a:t>informações importantes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por muito mais tempo</a:t>
            </a:r>
            <a:r>
              <a:rPr lang="pt-BR" dirty="0"/>
              <a:t>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diminuir o problema das dependências de longo prazo</a:t>
            </a:r>
            <a:r>
              <a:rPr lang="pt-BR" dirty="0"/>
              <a:t>, causado pelo desaparecimento ou explosão do gradiente, foram propostas </a:t>
            </a:r>
            <a:r>
              <a:rPr lang="pt-BR" b="1" dirty="0">
                <a:solidFill>
                  <a:srgbClr val="00B050"/>
                </a:solidFill>
              </a:rPr>
              <a:t>arquiteturas com mecanismos de memória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Long</a:t>
            </a:r>
            <a:r>
              <a:rPr lang="pt-BR" dirty="0"/>
              <a:t> Short-</a:t>
            </a:r>
            <a:r>
              <a:rPr lang="pt-BR" dirty="0" err="1"/>
              <a:t>Term</a:t>
            </a:r>
            <a:r>
              <a:rPr lang="pt-BR" dirty="0"/>
              <a:t> </a:t>
            </a:r>
            <a:r>
              <a:rPr lang="pt-BR" dirty="0" err="1"/>
              <a:t>Memory</a:t>
            </a:r>
            <a:r>
              <a:rPr lang="pt-BR" dirty="0"/>
              <a:t> (LSTM)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Gated</a:t>
            </a:r>
            <a:r>
              <a:rPr lang="pt-BR" dirty="0"/>
              <a:t> </a:t>
            </a:r>
            <a:r>
              <a:rPr lang="pt-BR" dirty="0" err="1"/>
              <a:t>Recurrent</a:t>
            </a:r>
            <a:r>
              <a:rPr lang="pt-BR" dirty="0"/>
              <a:t> Unit (GRU)</a:t>
            </a:r>
          </a:p>
          <a:p>
            <a:r>
              <a:rPr lang="pt-BR" dirty="0"/>
              <a:t>Essas redes </a:t>
            </a:r>
            <a:r>
              <a:rPr lang="pt-BR" b="1" dirty="0">
                <a:solidFill>
                  <a:srgbClr val="7030A0"/>
                </a:solidFill>
              </a:rPr>
              <a:t>criam caminhos ao longo do tempo</a:t>
            </a:r>
            <a:r>
              <a:rPr lang="pt-BR" dirty="0"/>
              <a:t> cujas </a:t>
            </a:r>
            <a:r>
              <a:rPr lang="pt-BR" b="1" dirty="0">
                <a:solidFill>
                  <a:schemeClr val="accent2"/>
                </a:solidFill>
              </a:rPr>
              <a:t>derivadas podem ser controladas</a:t>
            </a:r>
            <a:r>
              <a:rPr lang="pt-BR" dirty="0"/>
              <a:t> para não desaparecer nem explodir.</a:t>
            </a:r>
          </a:p>
          <a:p>
            <a:r>
              <a:rPr lang="pt-BR" dirty="0"/>
              <a:t>Elas utilizam </a:t>
            </a:r>
            <a:r>
              <a:rPr lang="pt-BR" b="1" dirty="0"/>
              <a:t>portas (</a:t>
            </a:r>
            <a:r>
              <a:rPr lang="pt-BR" b="1" i="1" dirty="0" err="1"/>
              <a:t>gates</a:t>
            </a:r>
            <a:r>
              <a:rPr lang="pt-BR" b="1" dirty="0"/>
              <a:t>)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controlar</a:t>
            </a:r>
            <a:r>
              <a:rPr lang="pt-BR" dirty="0"/>
              <a:t> quais </a:t>
            </a:r>
            <a:r>
              <a:rPr lang="pt-BR" b="1" dirty="0">
                <a:solidFill>
                  <a:schemeClr val="accent1"/>
                </a:solidFill>
              </a:rPr>
              <a:t>informações</a:t>
            </a:r>
            <a:r>
              <a:rPr lang="pt-BR" dirty="0"/>
              <a:t> devem ser: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armazenadas (o que lembrar),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esquecidas ou mantidas,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expostas na saída (quando usar uma informação armazenada).</a:t>
            </a:r>
          </a:p>
        </p:txBody>
      </p:sp>
    </p:spTree>
    <p:extLst>
      <p:ext uri="{BB962C8B-B14F-4D97-AF65-F5344CB8AC3E}">
        <p14:creationId xmlns:p14="http://schemas.microsoft.com/office/powerpoint/2010/main" val="386265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.</a:t>
            </a:r>
          </a:p>
          <a:p>
            <a:r>
              <a:rPr lang="pt-BR" dirty="0"/>
              <a:t>São amplamente utilizadas atualmente.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8156" y="1825624"/>
            <a:ext cx="4473845" cy="5032375"/>
          </a:xfrm>
        </p:spPr>
        <p:txBody>
          <a:bodyPr/>
          <a:lstStyle/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25624"/>
            <a:ext cx="7882811" cy="452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380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6035" y="1825624"/>
            <a:ext cx="6235967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 (de memória)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formam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 err="1"/>
              <a:t>Forget</a:t>
            </a:r>
            <a:r>
              <a:rPr lang="pt-BR" b="1" i="1" dirty="0"/>
              <a:t>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</a:t>
            </a:r>
            <a:r>
              <a:rPr lang="pt-BR" dirty="0" smtClean="0"/>
              <a:t>destas </a:t>
            </a:r>
            <a:r>
              <a:rPr lang="pt-BR" dirty="0"/>
              <a:t>3 portas.</a:t>
            </a:r>
          </a:p>
          <a:p>
            <a:endParaRPr lang="pt-BR" dirty="0"/>
          </a:p>
          <a:p>
            <a:endParaRPr lang="pt-BR" dirty="0"/>
          </a:p>
        </p:txBody>
      </p:sp>
      <p:grpSp>
        <p:nvGrpSpPr>
          <p:cNvPr id="5" name="Grupo 4"/>
          <p:cNvGrpSpPr/>
          <p:nvPr/>
        </p:nvGrpSpPr>
        <p:grpSpPr>
          <a:xfrm>
            <a:off x="635838" y="2424223"/>
            <a:ext cx="5320197" cy="3228140"/>
            <a:chOff x="697831" y="2222745"/>
            <a:chExt cx="5320197" cy="3228140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xmlns="" id="{E0180B18-707C-9189-F385-D0DD145061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7831" y="2222745"/>
              <a:ext cx="5320197" cy="3228140"/>
            </a:xfrm>
            <a:prstGeom prst="rect">
              <a:avLst/>
            </a:prstGeom>
          </p:spPr>
        </p:pic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9B1DA347-BBC4-AE49-41A5-6D28C39A35B8}"/>
                </a:ext>
              </a:extLst>
            </p:cNvPr>
            <p:cNvSpPr/>
            <p:nvPr/>
          </p:nvSpPr>
          <p:spPr>
            <a:xfrm>
              <a:off x="1678193" y="2893806"/>
              <a:ext cx="484094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C6A37ED-D7FF-0A9B-246C-6A1327E19771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841BE1E-2151-5C15-382E-E4E866E97366}"/>
                </a:ext>
              </a:extLst>
            </p:cNvPr>
            <p:cNvSpPr/>
            <p:nvPr/>
          </p:nvSpPr>
          <p:spPr>
            <a:xfrm>
              <a:off x="2259105" y="3603812"/>
              <a:ext cx="1312433" cy="111584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9FE171E2-98E2-80BF-7246-2FA7AC49188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xmlns="" id="{B5D41BF3-5175-2D98-868F-9949FD2DD01F}"/>
                </a:ext>
              </a:extLst>
            </p:cNvPr>
            <p:cNvSpPr/>
            <p:nvPr/>
          </p:nvSpPr>
          <p:spPr>
            <a:xfrm>
              <a:off x="3668355" y="3162748"/>
              <a:ext cx="1140313" cy="1556907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xmlns="" id="{5690B213-E976-D58E-3664-2CC432FE0432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interno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a saída da célula.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4854" y="1825624"/>
                <a:ext cx="6287147" cy="5032375"/>
              </a:xfrm>
              <a:blipFill>
                <a:blip r:embed="rId2"/>
                <a:stretch>
                  <a:fillRect l="-174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88" y="2312161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8177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portas são uma forma de </a:t>
                </a:r>
                <a:r>
                  <a:rPr lang="pt-BR" b="1" dirty="0">
                    <a:solidFill>
                      <a:srgbClr val="7030A0"/>
                    </a:solidFill>
                  </a:rPr>
                  <a:t>permitir </a:t>
                </a:r>
                <a:r>
                  <a:rPr lang="pt-BR" dirty="0"/>
                  <a:t>a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passagem ou não de informações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Imaginem uma das 3 camadas </a:t>
                </a:r>
                <a:r>
                  <a:rPr lang="pt-BR" dirty="0" smtClean="0"/>
                  <a:t>com </a:t>
                </a:r>
                <a:r>
                  <a:rPr lang="pt-BR" dirty="0"/>
                  <a:t>função de ativação sigmoide da célula LSTM.</a:t>
                </a:r>
              </a:p>
              <a:p>
                <a:r>
                  <a:rPr lang="pt-BR" dirty="0"/>
                  <a:t>A camada gera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com </a:t>
                </a:r>
                <a:r>
                  <a:rPr lang="pt-BR" b="1" dirty="0">
                    <a:solidFill>
                      <a:schemeClr val="accent1"/>
                    </a:solidFill>
                  </a:rPr>
                  <a:t>elementos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assumindo valores entre 0 e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operação de multiplicação elemento a elemento</a:t>
                </a:r>
                <a:r>
                  <a:rPr lang="pt-BR" dirty="0"/>
                  <a:t> decide </a:t>
                </a:r>
                <a:r>
                  <a:rPr lang="pt-BR" b="1" dirty="0">
                    <a:solidFill>
                      <a:srgbClr val="7030A0"/>
                    </a:solidFill>
                  </a:rPr>
                  <a:t>o quanto da entrada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passa para a saída,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porta </a:t>
                </a:r>
                <a:r>
                  <a:rPr lang="pt-BR" b="1" dirty="0">
                    <a:solidFill>
                      <a:srgbClr val="00B050"/>
                    </a:solidFill>
                  </a:rPr>
                  <a:t>aprende</a:t>
                </a:r>
                <a:r>
                  <a:rPr lang="pt-BR" dirty="0"/>
                  <a:t> </a:t>
                </a:r>
                <a:r>
                  <a:rPr lang="pt-BR" dirty="0" smtClean="0"/>
                  <a:t>(através dos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</a:t>
                </a:r>
                <a:r>
                  <a:rPr lang="pt-BR" dirty="0"/>
                  <a:t>) o quanto de cada elemento deve ser permitido passar.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85670" y="1825624"/>
                <a:ext cx="7106331" cy="5032375"/>
              </a:xfrm>
              <a:blipFill rotWithShape="0">
                <a:blip r:embed="rId3"/>
                <a:stretch>
                  <a:fillRect l="-1544" t="-1937" r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4853161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1257650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BB5F7986-EAE8-359B-3AAD-10594FC9B15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98434"/>
            <a:ext cx="3552340" cy="183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esquecimento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da </a:t>
                </a:r>
                <a:r>
                  <a:rPr lang="pt-BR" b="1" dirty="0">
                    <a:solidFill>
                      <a:srgbClr val="7030A0"/>
                    </a:solidFill>
                  </a:rPr>
                  <a:t>informação passada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apagadas ou mantidas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/>
                  <a:t>de </a:t>
                </a:r>
                <a:r>
                  <a:rPr lang="pt-BR" b="1" dirty="0">
                    <a:solidFill>
                      <a:srgbClr val="7030A0"/>
                    </a:solidFill>
                  </a:rPr>
                  <a:t>novas informações (memórias)</a:t>
                </a:r>
                <a:r>
                  <a:rPr lang="pt-BR" dirty="0"/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adicionadas</a:t>
                </a:r>
                <a:r>
                  <a:rPr lang="pt-BR" dirty="0">
                    <a:solidFill>
                      <a:schemeClr val="tx1"/>
                    </a:solidFill>
                  </a:rPr>
                  <a:t> 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saída</a:t>
                </a:r>
                <a:r>
                  <a:rPr lang="pt-BR" dirty="0">
                    <a:solidFill>
                      <a:schemeClr val="tx1"/>
                    </a:solidFill>
                  </a:rPr>
                  <a:t> (controlada pelo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) controla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quais partes </a:t>
                </a:r>
                <a:r>
                  <a:rPr lang="pt-BR" dirty="0">
                    <a:solidFill>
                      <a:schemeClr val="tx1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devem ser </a:t>
                </a:r>
                <a:r>
                  <a:rPr lang="pt-BR" b="1" dirty="0">
                    <a:solidFill>
                      <a:srgbClr val="00B050"/>
                    </a:solidFill>
                  </a:rPr>
                  <a:t>expostas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na saída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1381" y="1825624"/>
                <a:ext cx="6450619" cy="5032375"/>
              </a:xfrm>
              <a:blipFill rotWithShape="0">
                <a:blip r:embed="rId3"/>
                <a:stretch>
                  <a:fillRect l="-1701" t="-1937" r="-30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/>
          <p:cNvGrpSpPr/>
          <p:nvPr/>
        </p:nvGrpSpPr>
        <p:grpSpPr>
          <a:xfrm>
            <a:off x="336708" y="2419245"/>
            <a:ext cx="5133277" cy="3164098"/>
            <a:chOff x="584681" y="2224681"/>
            <a:chExt cx="5133277" cy="3164098"/>
          </a:xfrm>
        </p:grpSpPr>
        <p:pic>
          <p:nvPicPr>
            <p:cNvPr id="5" name="Imagem 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B538100-869E-9015-E39A-A1340D4D0515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45DD632F-0686-568D-5F9B-260BA967E01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AA82173B-E627-D5F4-C24A-C8EFB8591AF2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738DFC6-B08A-BCAF-A6DC-558964B054EF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724DFD49-F8A1-B391-4C4D-9D392820E8F5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256C62AF-7481-CE0B-1BB2-B4A93CE957B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27670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06E7DB-3A45-270A-379C-5B53CF58BB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entrada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nova informação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adicionada</a:t>
                </a:r>
                <a:r>
                  <a:rPr lang="pt-BR" dirty="0"/>
                  <a:t> à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Porta de esquecimento</a:t>
                </a:r>
                <a:r>
                  <a:rPr lang="pt-BR" dirty="0"/>
                  <a:t>: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</a:t>
                </a:r>
                <a:r>
                  <a:rPr lang="pt-BR" dirty="0"/>
                  <a:t> 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0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06E7DB-3A45-270A-379C-5B53CF58BB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5" y="1825624"/>
                <a:ext cx="6400800" cy="5032375"/>
              </a:xfrm>
              <a:blipFill>
                <a:blip r:embed="rId3"/>
                <a:stretch>
                  <a:fillRect l="-1714" t="-1937" r="-2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28925255-2033-E562-5006-471EA9D29CCE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EC25FC48-58E7-B559-5B12-596F007AA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C3E50261-8EF0-729C-2E8C-D20829E397C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46FD26D3-71D3-A60C-E0EE-CA25D27B76AD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FF90DD8F-312C-6128-D7F9-6758A78D3E05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B822F81E-E7E9-78B7-979D-5948EDFFFE01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6D604DA9-1158-4638-9555-AC2DFEC3B7FE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BF5BE9D3-9B2F-4871-C5F9-B471DE6FFE8F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E1FD865-7758-8250-A67E-67962788E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87E05B-91D0-82AC-6DC0-9D016FC41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as portas funcionam?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768F3B9-2D69-B2FC-20A9-E2305A81CE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Porta de saída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uma informação de longo prazo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rgbClr val="7030A0"/>
                    </a:solidFill>
                  </a:rPr>
                  <a:t>exposta</a:t>
                </a:r>
                <a:r>
                  <a:rPr lang="pt-BR" dirty="0"/>
                  <a:t> na </a:t>
                </a:r>
                <a:r>
                  <a:rPr lang="pt-BR" b="1" dirty="0">
                    <a:solidFill>
                      <a:schemeClr val="accent1"/>
                    </a:solidFill>
                  </a:rPr>
                  <a:t>saída da célula</a:t>
                </a:r>
                <a:r>
                  <a:rPr lang="pt-BR" dirty="0"/>
                  <a:t> sempre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um elemento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tender a 1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resumo, uma </a:t>
                </a:r>
                <a:r>
                  <a:rPr lang="pt-BR" b="1" dirty="0">
                    <a:solidFill>
                      <a:schemeClr val="accent1"/>
                    </a:solidFill>
                  </a:rPr>
                  <a:t>célula</a:t>
                </a:r>
                <a:r>
                  <a:rPr lang="pt-BR" dirty="0"/>
                  <a:t> LSTM </a:t>
                </a:r>
                <a:r>
                  <a:rPr lang="pt-BR" b="1" dirty="0">
                    <a:solidFill>
                      <a:schemeClr val="accent1"/>
                    </a:solidFill>
                  </a:rPr>
                  <a:t>aprende a reconhecer</a:t>
                </a:r>
                <a:r>
                  <a:rPr lang="pt-BR" dirty="0"/>
                  <a:t>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importante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armazená-la</a:t>
                </a:r>
                <a:r>
                  <a:rPr lang="pt-BR" dirty="0"/>
                  <a:t> no estado de longo prazo, </a:t>
                </a: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e </a:t>
                </a:r>
                <a:r>
                  <a:rPr lang="pt-BR" b="1" dirty="0">
                    <a:solidFill>
                      <a:srgbClr val="00B050"/>
                    </a:solidFill>
                  </a:rPr>
                  <a:t>expô-la</a:t>
                </a:r>
                <a:r>
                  <a:rPr lang="pt-BR" dirty="0"/>
                  <a:t> sempre que necessário.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68F3B9-2D69-B2FC-20A9-E2305A81CE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2125" y="1825624"/>
                <a:ext cx="6496049" cy="5032375"/>
              </a:xfrm>
              <a:blipFill>
                <a:blip r:embed="rId3"/>
                <a:stretch>
                  <a:fillRect l="-1689" t="-1937" r="-26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30A49084-94B6-B8E7-59B3-CC070B24B2C0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253079B4-18BC-BF80-BE7B-CE83181297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E4B9BA39-662D-46CA-6EB3-1A11A0E5E48C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C3885B0C-C367-A49E-C294-BC6208B0CBEA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DEECB2F0-6815-65A7-784A-725403118CDC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A0AD30D6-6C15-8675-00A9-F79CE9B8FB1A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276E1BF6-AAEA-804C-8249-ACF259021E97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E176483C-CF62-64B2-3BAE-3BC5ACE74909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41369445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A9546B0-E611-8DE0-67E8-AC0E006F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EE102919-44DD-475F-D93A-6A393403D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1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sempre </a:t>
                </a:r>
                <a:r>
                  <a:rPr lang="pt-BR" b="1" dirty="0"/>
                  <a:t>0</a:t>
                </a:r>
                <a:r>
                  <a:rPr lang="pt-BR" dirty="0"/>
                  <a:t>, então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Ou seja, o </a:t>
                </a:r>
                <a:r>
                  <a:rPr lang="pt-BR" b="1" dirty="0"/>
                  <a:t>estado interno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permanecerá constante para sempre</a:t>
                </a:r>
                <a:r>
                  <a:rPr lang="pt-BR" dirty="0"/>
                  <a:t>, passando inalterado para cada passo de tempo subsequente.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assim que a memória de longo prazo é mantida.</a:t>
                </a:r>
              </a:p>
              <a:p>
                <a:r>
                  <a:rPr lang="pt-BR" dirty="0" smtClean="0"/>
                  <a:t>Assim, </a:t>
                </a:r>
                <a:r>
                  <a:rPr lang="pt-BR" dirty="0"/>
                  <a:t>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portas de entrada e de esquecimento</a:t>
                </a:r>
                <a:r>
                  <a:rPr lang="pt-BR" dirty="0"/>
                  <a:t> dão ao modelo a </a:t>
                </a:r>
                <a:r>
                  <a:rPr lang="pt-BR" b="1" dirty="0">
                    <a:solidFill>
                      <a:srgbClr val="7030A0"/>
                    </a:solidFill>
                  </a:rPr>
                  <a:t>capacidade de aprender quando (e o quanto) manter ou não</a:t>
                </a:r>
                <a:r>
                  <a:rPr lang="pt-BR" dirty="0"/>
                  <a:t> esse valor inalterado em resposta a entradas subsequentes.</a:t>
                </a:r>
                <a:endParaRPr lang="en-US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E102919-44DD-475F-D93A-6A393403D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61320" y="1825624"/>
                <a:ext cx="6809755" cy="5032375"/>
              </a:xfrm>
              <a:blipFill rotWithShape="0">
                <a:blip r:embed="rId2"/>
                <a:stretch>
                  <a:fillRect l="-1610" t="-2663" r="-19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177CA027-CFCC-FCF8-FD37-50222E2DAA65}"/>
              </a:ext>
            </a:extLst>
          </p:cNvPr>
          <p:cNvGrpSpPr/>
          <p:nvPr/>
        </p:nvGrpSpPr>
        <p:grpSpPr>
          <a:xfrm>
            <a:off x="131225" y="2429518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32060EE7-289F-5B75-AB76-73E333DE6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56302AEA-37ED-B440-6221-CCAC9091219A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1C094EB-7488-FB9B-1E9C-03B1C6C799F0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DF703A9D-5199-717A-7731-5781954D7F20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C8FC18C0-A7EF-FB6B-7E12-D72DD3F13622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D6C3AADC-9B70-D706-CC6D-0DC43A127731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6E3A303C-5914-D4DD-FEA0-76EC3BB8CCF4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82116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BD5BAE2-6A9C-5F01-525B-45AB07730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Dinâmica das portas em uma célula LSTM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D67E614-DAEB-F5E1-30D0-2E4A5E8BE3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Sempre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1</a:t>
                </a:r>
                <a:r>
                  <a:rPr lang="pt-BR" dirty="0"/>
                  <a:t>, permitimos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</a:t>
                </a:r>
                <a:r>
                  <a:rPr lang="pt-BR" dirty="0"/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 outro lado,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for próximo de </a:t>
                </a:r>
                <a:r>
                  <a:rPr lang="pt-BR" b="1" dirty="0"/>
                  <a:t>0</a:t>
                </a:r>
                <a:r>
                  <a:rPr lang="pt-BR" dirty="0"/>
                  <a:t>, impedimos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interno atual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impacte os instantes de tempo subsequentes.</a:t>
                </a:r>
              </a:p>
              <a:p>
                <a:r>
                  <a:rPr lang="pt-BR" dirty="0"/>
                  <a:t>Assim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smtClean="0"/>
                  <a:t>a </a:t>
                </a:r>
                <a:r>
                  <a:rPr lang="en-US" b="1" dirty="0" err="1" smtClean="0"/>
                  <a:t>informação</a:t>
                </a:r>
                <a:r>
                  <a:rPr lang="en-US" b="1" dirty="0" smtClean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 smtClean="0"/>
                  <a:t> é </a:t>
                </a:r>
                <a:r>
                  <a:rPr lang="en-US" b="1" dirty="0" err="1"/>
                  <a:t>importante</a:t>
                </a:r>
                <a:r>
                  <a:rPr lang="en-US" b="1" dirty="0"/>
                  <a:t> </a:t>
                </a:r>
                <a:r>
                  <a:rPr lang="en-US" dirty="0"/>
                  <a:t>para o </a:t>
                </a:r>
                <a:r>
                  <a:rPr lang="en-US" dirty="0" err="1"/>
                  <a:t>futuro</a:t>
                </a:r>
                <a:r>
                  <a:rPr lang="en-US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smtClean="0"/>
                  <a:t>a </a:t>
                </a:r>
                <a:r>
                  <a:rPr lang="en-US" b="1" dirty="0" err="1" smtClean="0"/>
                  <a:t>informação</a:t>
                </a:r>
                <a:r>
                  <a:rPr lang="en-US" b="1" dirty="0" smtClean="0"/>
                  <a:t>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b="1" dirty="0" smtClean="0"/>
                  <a:t> </a:t>
                </a:r>
                <a:r>
                  <a:rPr lang="en-US" b="1" dirty="0" err="1" smtClean="0"/>
                  <a:t>não</a:t>
                </a:r>
                <a:r>
                  <a:rPr lang="en-US" b="1" dirty="0" smtClean="0"/>
                  <a:t> </a:t>
                </a:r>
                <a:r>
                  <a:rPr lang="en-US" b="1" dirty="0"/>
                  <a:t>é </a:t>
                </a:r>
                <a:r>
                  <a:rPr lang="en-US" b="1" dirty="0" err="1"/>
                  <a:t>relevante</a:t>
                </a:r>
                <a:r>
                  <a:rPr lang="en-US" dirty="0"/>
                  <a:t> para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próximos</a:t>
                </a:r>
                <a:r>
                  <a:rPr lang="en-US" dirty="0"/>
                  <a:t> </a:t>
                </a:r>
                <a:r>
                  <a:rPr lang="en-US" dirty="0" err="1"/>
                  <a:t>estados</a:t>
                </a:r>
                <a:r>
                  <a:rPr lang="en-US" dirty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67E614-DAEB-F5E1-30D0-2E4A5E8BE3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3802" y="1825624"/>
                <a:ext cx="6428198" cy="5032375"/>
              </a:xfrm>
              <a:blipFill rotWithShape="0">
                <a:blip r:embed="rId2"/>
                <a:stretch>
                  <a:fillRect l="-170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upo 3">
            <a:extLst>
              <a:ext uri="{FF2B5EF4-FFF2-40B4-BE49-F238E27FC236}">
                <a16:creationId xmlns:a16="http://schemas.microsoft.com/office/drawing/2014/main" xmlns="" id="{79E4F418-670A-DED4-CF7C-05F26F21CCCB}"/>
              </a:ext>
            </a:extLst>
          </p:cNvPr>
          <p:cNvGrpSpPr/>
          <p:nvPr/>
        </p:nvGrpSpPr>
        <p:grpSpPr>
          <a:xfrm>
            <a:off x="223692" y="2408970"/>
            <a:ext cx="5133277" cy="3164098"/>
            <a:chOff x="584681" y="2224681"/>
            <a:chExt cx="5133277" cy="3164098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xmlns="" id="{035911D9-7242-6F9F-9F6D-8C568A0F1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681" y="2224681"/>
              <a:ext cx="5133277" cy="3164098"/>
            </a:xfrm>
            <a:prstGeom prst="rect">
              <a:avLst/>
            </a:prstGeom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xmlns="" id="{89568A9D-6534-78D5-9441-295D48B12F12}"/>
                </a:ext>
              </a:extLst>
            </p:cNvPr>
            <p:cNvSpPr/>
            <p:nvPr/>
          </p:nvSpPr>
          <p:spPr>
            <a:xfrm>
              <a:off x="1627322" y="2893806"/>
              <a:ext cx="534965" cy="1825849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xmlns="" id="{3820B776-09FD-3576-AAD3-BD2DD712BEDE}"/>
                </a:ext>
              </a:extLst>
            </p:cNvPr>
            <p:cNvSpPr txBox="1"/>
            <p:nvPr/>
          </p:nvSpPr>
          <p:spPr>
            <a:xfrm>
              <a:off x="1371600" y="2361749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esquecimento</a:t>
              </a:r>
              <a:endParaRPr lang="en-US" sz="1100" dirty="0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xmlns="" id="{18B8C167-A714-6FEF-845B-8A21565C6038}"/>
                </a:ext>
              </a:extLst>
            </p:cNvPr>
            <p:cNvSpPr/>
            <p:nvPr/>
          </p:nvSpPr>
          <p:spPr>
            <a:xfrm>
              <a:off x="2259105" y="3456122"/>
              <a:ext cx="1312433" cy="1263533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xmlns="" id="{D7A11C8E-1A5D-C6CB-FB98-99CBC8D5BFFC}"/>
                </a:ext>
              </a:extLst>
            </p:cNvPr>
            <p:cNvSpPr txBox="1"/>
            <p:nvPr/>
          </p:nvSpPr>
          <p:spPr>
            <a:xfrm>
              <a:off x="2366681" y="4776881"/>
              <a:ext cx="10972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entrada</a:t>
              </a:r>
              <a:endParaRPr lang="en-US" sz="1100" dirty="0"/>
            </a:p>
          </p:txBody>
        </p:sp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xmlns="" id="{694C4716-9A87-CC7F-64FE-06EDC9867093}"/>
                </a:ext>
              </a:extLst>
            </p:cNvPr>
            <p:cNvSpPr/>
            <p:nvPr/>
          </p:nvSpPr>
          <p:spPr>
            <a:xfrm>
              <a:off x="3652858" y="3192651"/>
              <a:ext cx="1140312" cy="1527004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xmlns="" id="{A6A3A084-0B5C-153E-599D-70B15346BEA3}"/>
                </a:ext>
              </a:extLst>
            </p:cNvPr>
            <p:cNvSpPr txBox="1"/>
            <p:nvPr/>
          </p:nvSpPr>
          <p:spPr>
            <a:xfrm>
              <a:off x="3626869" y="4820825"/>
              <a:ext cx="109728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Porta de saída</a:t>
              </a:r>
              <a:endParaRPr lang="en-US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6205074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esquecimento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quais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informações</a:t>
                </a:r>
                <a:r>
                  <a:rPr lang="pt-BR" dirty="0"/>
                  <a:t> devem ser </a:t>
                </a:r>
                <a:r>
                  <a:rPr lang="pt-BR" b="1" dirty="0">
                    <a:solidFill>
                      <a:srgbClr val="7030A0"/>
                    </a:solidFill>
                  </a:rPr>
                  <a:t>descartadas</a:t>
                </a:r>
                <a:r>
                  <a:rPr lang="pt-BR" dirty="0"/>
                  <a:t> do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anterior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aplicado ao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</a:t>
                </a:r>
                <a:r>
                  <a:rPr lang="pt-BR" b="1" dirty="0"/>
                  <a:t>estado de longo prazo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mantém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00B050"/>
                    </a:solidFill>
                  </a:rPr>
                  <a:t>gênero do sujeito</a:t>
                </a:r>
                <a:r>
                  <a:rPr lang="pt-BR" dirty="0"/>
                  <a:t> </a:t>
                </a:r>
                <a:r>
                  <a:rPr lang="pt-BR" dirty="0" smtClean="0"/>
                  <a:t>de uma </a:t>
                </a:r>
                <a:r>
                  <a:rPr lang="pt-BR" dirty="0"/>
                  <a:t>frase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</a:t>
                </a:r>
                <a:r>
                  <a:rPr lang="pt-BR" b="1" dirty="0">
                    <a:solidFill>
                      <a:srgbClr val="00B050"/>
                    </a:solidFill>
                  </a:rPr>
                  <a:t>novo sujeito</a:t>
                </a:r>
                <a:r>
                  <a:rPr lang="pt-BR" dirty="0"/>
                  <a:t>, 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esquece</a:t>
                </a:r>
                <a:r>
                  <a:rPr lang="pt-BR" dirty="0"/>
                  <a:t> o gênero do sujeito anterior.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 rotWithShape="0">
                <a:blip r:embed="rId3"/>
                <a:stretch>
                  <a:fillRect l="-1719" t="-1937" r="-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 smtClean="0">
                    <a:solidFill>
                      <a:schemeClr val="accent2"/>
                    </a:solidFill>
                  </a:rPr>
                  <a:t>Controla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o quanto atualizar o estado antigo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com um novo candidato,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       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400" b="1" i="1" smtClean="0">
                                                <a:latin typeface="Cambria Math" panose="02040503050406030204" pitchFamily="18" charset="0"/>
                                              </a:rPr>
                                              <m:t>𝒄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Também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1"/>
                    </a:solidFill>
                  </a:rPr>
                  <a:t>Adiciona</a:t>
                </a:r>
                <a:r>
                  <a:rPr lang="pt-BR" dirty="0"/>
                  <a:t> o </a:t>
                </a:r>
                <a:r>
                  <a:rPr lang="pt-BR" b="1" dirty="0">
                    <a:solidFill>
                      <a:srgbClr val="7030A0"/>
                    </a:solidFill>
                  </a:rPr>
                  <a:t>gênero do novo sujeito</a:t>
                </a:r>
                <a:r>
                  <a:rPr lang="pt-BR" dirty="0"/>
                  <a:t> </a:t>
                </a:r>
                <a:r>
                  <a:rPr lang="pt-BR" dirty="0" smtClean="0"/>
                  <a:t>da frase ao </a:t>
                </a:r>
                <a:r>
                  <a:rPr lang="pt-BR" b="1" dirty="0">
                    <a:solidFill>
                      <a:schemeClr val="accent1"/>
                    </a:solidFill>
                  </a:rPr>
                  <a:t>estado de longo prazo</a:t>
                </a:r>
                <a:r>
                  <a:rPr lang="pt-BR" dirty="0"/>
                  <a:t> da célula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substituir</a:t>
                </a:r>
                <a:r>
                  <a:rPr lang="pt-BR" dirty="0"/>
                  <a:t> o antigo </a:t>
                </a:r>
                <a:r>
                  <a:rPr lang="pt-BR" b="1" dirty="0">
                    <a:solidFill>
                      <a:srgbClr val="00B050"/>
                    </a:solidFill>
                  </a:rPr>
                  <a:t>que foi esquecido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 rotWithShape="0">
                <a:blip r:embed="rId3"/>
                <a:stretch>
                  <a:fillRect l="-1727" t="-1937" r="-57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rgbClr val="7030A0"/>
                    </a:solidFill>
                  </a:rPr>
                  <a:t>saída da célula</a:t>
                </a:r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versão filtrada</a:t>
                </a:r>
                <a:r>
                  <a:rPr lang="pt-BR" dirty="0"/>
                  <a:t> do </a:t>
                </a:r>
                <a:r>
                  <a:rPr lang="pt-BR" b="1" dirty="0">
                    <a:solidFill>
                      <a:srgbClr val="7030A0"/>
                    </a:solidFill>
                  </a:rPr>
                  <a:t>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controlada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função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decide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o quanto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será exposto na saída</a:t>
                </a:r>
                <a:endParaRPr lang="pt-BR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𝟎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célula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armazena</a:t>
                </a:r>
                <a:r>
                  <a:rPr lang="pt-BR" dirty="0"/>
                  <a:t> que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sujeito é plural</a:t>
                </a:r>
                <a:r>
                  <a:rPr lang="pt-BR" dirty="0"/>
                  <a:t>. Quando um </a:t>
                </a:r>
                <a:r>
                  <a:rPr lang="pt-BR" b="1" dirty="0">
                    <a:solidFill>
                      <a:schemeClr val="accent1"/>
                    </a:solidFill>
                  </a:rPr>
                  <a:t>verbo aparece</a:t>
                </a:r>
                <a:r>
                  <a:rPr lang="pt-BR" dirty="0"/>
                  <a:t>, a porta de saída </a:t>
                </a:r>
                <a:r>
                  <a:rPr lang="pt-BR" b="1" dirty="0">
                    <a:solidFill>
                      <a:schemeClr val="accent1"/>
                    </a:solidFill>
                  </a:rPr>
                  <a:t>libera</a:t>
                </a:r>
                <a:r>
                  <a:rPr lang="pt-BR" dirty="0"/>
                  <a:t> essa </a:t>
                </a:r>
                <a:r>
                  <a:rPr lang="pt-BR" b="1" dirty="0">
                    <a:solidFill>
                      <a:schemeClr val="accent1"/>
                    </a:solidFill>
                  </a:rPr>
                  <a:t>informação</a:t>
                </a:r>
                <a:r>
                  <a:rPr lang="pt-BR" dirty="0"/>
                  <a:t>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escolher a conjugação correta </a:t>
                </a:r>
                <a:r>
                  <a:rPr lang="pt-BR" b="1" dirty="0">
                    <a:solidFill>
                      <a:srgbClr val="7030A0"/>
                    </a:solidFill>
                  </a:rPr>
                  <a:t>e influenciar passos subsequentes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14975" y="1825624"/>
                <a:ext cx="6677026" cy="5032375"/>
              </a:xfrm>
              <a:blipFill>
                <a:blip r:embed="rId3"/>
                <a:stretch>
                  <a:fillRect l="-1461" t="-1816" r="-1461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91C409A5-CDD8-0D53-406F-0AE1480763A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13" y="2505406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44200" cy="1325563"/>
          </a:xfrm>
        </p:spPr>
        <p:txBody>
          <a:bodyPr/>
          <a:lstStyle/>
          <a:p>
            <a:r>
              <a:rPr lang="pt-BR" dirty="0" smtClean="0"/>
              <a:t>Resumo das e</a:t>
            </a:r>
            <a:r>
              <a:rPr lang="pt-BR" dirty="0" smtClean="0"/>
              <a:t>quações </a:t>
            </a:r>
            <a:r>
              <a:rPr lang="pt-BR" dirty="0"/>
              <a:t>de atualização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noProof="0" dirty="0"/>
                  <a:t>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i="1" noProof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sz="2400" i="1" noProof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4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da porta de saída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600" b="1" i="1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6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sz="2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noProof="0" dirty="0"/>
              </a:p>
              <a:p>
                <a:r>
                  <a:rPr lang="pt-BR" noProof="0" dirty="0"/>
                  <a:t>Vetor de informação candidata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b="1" i="1" noProof="0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 i="0" noProof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sz="2400" b="0" i="1" noProof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pt-BR" sz="24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longo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b="1" i="1" noProof="0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esquecimento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sz="2400" i="1" noProof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sz="24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sz="2400" i="1" noProof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pt-BR" sz="2400" b="1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400" b="1" i="1" noProof="0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sz="24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,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controla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entrada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b="0" i="0" noProof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sz="2400" noProof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sz="2400" noProof="0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</m:oMath>
                  </m:oMathPara>
                </a14:m>
                <a:endParaRPr lang="pt-BR" sz="2400" noProof="0" dirty="0"/>
              </a:p>
              <a:p>
                <a:r>
                  <a:rPr lang="pt-BR" noProof="0" dirty="0"/>
                  <a:t>Vetor de estado de curto prazo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sz="24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i="1" noProof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pt-BR" sz="2400" noProof="0"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24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 noProof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sz="24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24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⊙</m:t>
                          </m:r>
                          <m:r>
                            <a:rPr lang="pt-BR" sz="2400" b="1" i="1" noProof="0" smtClean="0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400" b="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400" b="0" i="1" noProof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noProof="0" dirty="0"/>
              </a:p>
              <a:p>
                <a:pPr marL="0" indent="0">
                  <a:buNone/>
                </a:pPr>
                <a:r>
                  <a:rPr lang="pt-BR" sz="2400" dirty="0"/>
                  <a:t>o</a:t>
                </a:r>
                <a:r>
                  <a:rPr lang="pt-BR" sz="2400" noProof="0" dirty="0" err="1"/>
                  <a:t>nde</a:t>
                </a:r>
                <a:r>
                  <a:rPr lang="pt-BR" sz="2400" noProof="0" dirty="0"/>
                  <a:t> </a:t>
                </a:r>
                <a14:m>
                  <m:oMath xmlns:m="http://schemas.openxmlformats.org/officeDocument/2006/math">
                    <m:r>
                      <a:rPr lang="pt-BR" sz="24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lang="pt-BR" sz="2400" noProof="0" dirty="0"/>
                  <a:t> é o operador de multiplicação elemento a elemento.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0" cy="5032376"/>
              </a:xfrm>
              <a:blipFill>
                <a:blip r:embed="rId3"/>
                <a:stretch>
                  <a:fillRect l="-859" t="-3027" b="-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Imagem 2">
            <a:extLst>
              <a:ext uri="{FF2B5EF4-FFF2-40B4-BE49-F238E27FC236}">
                <a16:creationId xmlns:a16="http://schemas.microsoft.com/office/drawing/2014/main" xmlns="" id="{F34C26FC-7CB2-C5BB-4322-287A8FC71D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676" y="2274888"/>
            <a:ext cx="3368249" cy="2076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</a:t>
                </a:r>
                <a:r>
                  <a:rPr lang="pt-BR" b="1" dirty="0">
                    <a:solidFill>
                      <a:srgbClr val="7030A0"/>
                    </a:solidFill>
                  </a:rPr>
                  <a:t>reconhecer uma entrada </a:t>
                </a:r>
                <a:r>
                  <a:rPr lang="pt-BR" b="1">
                    <a:solidFill>
                      <a:srgbClr val="7030A0"/>
                    </a:solidFill>
                  </a:rPr>
                  <a:t>importante</a:t>
                </a:r>
                <a:r>
                  <a:rPr lang="pt-BR"/>
                  <a:t> </a:t>
                </a:r>
                <a:r>
                  <a:rPr lang="pt-BR" b="1">
                    <a:solidFill>
                      <a:schemeClr val="accent1"/>
                    </a:solidFill>
                  </a:rPr>
                  <a:t>e </a:t>
                </a:r>
                <a:r>
                  <a:rPr lang="pt-BR" b="1" dirty="0">
                    <a:solidFill>
                      <a:schemeClr val="accent1"/>
                    </a:solidFill>
                  </a:rPr>
                  <a:t>armazená-la</a:t>
                </a:r>
                <a:r>
                  <a:rPr lang="pt-BR" dirty="0"/>
                  <a:t> (totalmente ou parcialmente)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Essas são as funções da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preservá-la</a:t>
                </a:r>
                <a:r>
                  <a:rPr lang="pt-BR" dirty="0"/>
                  <a:t> pelo tempo que for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 de esquecimento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expô-la</a:t>
                </a:r>
                <a:r>
                  <a:rPr lang="pt-BR" dirty="0"/>
                  <a:t> sempre que necessário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Essa é a função 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endParaRPr lang="en-US" b="1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CF2120A0-D981-B947-4CAC-B115BE5EB6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675" y="3877765"/>
            <a:ext cx="4505325" cy="2777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nunca são realmente 0 ou 1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:r>
                  <a:rPr lang="pt-BR" b="1" dirty="0">
                    <a:solidFill>
                      <a:srgbClr val="00B050"/>
                    </a:solidFill>
                  </a:rPr>
                  <a:t>conteúdo da célula </a:t>
                </a:r>
                <a:r>
                  <a:rPr lang="pt-BR" b="1" dirty="0">
                    <a:solidFill>
                      <a:srgbClr val="FF0000"/>
                    </a:solidFill>
                  </a:rPr>
                  <a:t>inevitavelmente </a:t>
                </a:r>
                <a:r>
                  <a:rPr lang="pt-BR" b="1" dirty="0">
                    <a:solidFill>
                      <a:srgbClr val="00B050"/>
                    </a:solidFill>
                  </a:rPr>
                  <a:t>se corrompe após um longo período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</a:t>
                </a:r>
                <a:r>
                  <a:rPr lang="pt-BR" b="1" dirty="0">
                    <a:solidFill>
                      <a:srgbClr val="7030A0"/>
                    </a:solidFill>
                  </a:rPr>
                  <a:t>dificuldades com dependências temporais muito longas</a:t>
                </a:r>
                <a:r>
                  <a:rPr lang="pt-BR" dirty="0"/>
                  <a:t>.</a:t>
                </a:r>
              </a:p>
              <a:p>
                <a:r>
                  <a:rPr lang="en-US" dirty="0"/>
                  <a:t>Alta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complexidade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Muito mais parâmetros</a:t>
                </a:r>
                <a:r>
                  <a:rPr lang="pt-BR" dirty="0"/>
                  <a:t> do que as </a:t>
                </a:r>
                <a:r>
                  <a:rPr lang="pt-BR" dirty="0" err="1"/>
                  <a:t>RNNs</a:t>
                </a:r>
                <a:r>
                  <a:rPr lang="pt-BR" dirty="0"/>
                  <a:t> tradicionais.</a:t>
                </a:r>
              </a:p>
              <a:p>
                <a:r>
                  <a:rPr lang="en-US" b="1" dirty="0" err="1">
                    <a:solidFill>
                      <a:schemeClr val="accent2"/>
                    </a:solidFill>
                  </a:rPr>
                  <a:t>Dificuldade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paralelização</a:t>
                </a:r>
                <a:endParaRPr lang="en-US" b="1" dirty="0">
                  <a:solidFill>
                    <a:schemeClr val="accent2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Processamento sequencial</a:t>
                </a:r>
                <a:r>
                  <a:rPr lang="pt-BR" dirty="0"/>
                  <a:t>: a célula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GPU.</a:t>
                </a:r>
              </a:p>
              <a:p>
                <a:r>
                  <a:rPr lang="pt-BR" dirty="0"/>
                  <a:t>Hoje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 smtClean="0"/>
                  <a:t>modernos</a:t>
                </a:r>
                <a:r>
                  <a:rPr lang="en-US" dirty="0" smtClean="0"/>
                  <a:t>, </a:t>
                </a:r>
                <a:r>
                  <a:rPr lang="en-US" dirty="0" err="1" smtClean="0"/>
                  <a:t>como</a:t>
                </a:r>
                <a:r>
                  <a:rPr lang="en-US" dirty="0" smtClean="0"/>
                  <a:t> </a:t>
                </a:r>
                <a:r>
                  <a:rPr lang="en-US" i="1" dirty="0"/>
                  <a:t>Transformers</a:t>
                </a:r>
                <a:r>
                  <a:rPr lang="en-US" dirty="0"/>
                  <a:t> com </a:t>
                </a:r>
                <a:r>
                  <a:rPr lang="en-US" i="1" dirty="0" smtClean="0"/>
                  <a:t>attention</a:t>
                </a:r>
                <a:r>
                  <a:rPr lang="en-US" dirty="0" smtClean="0"/>
                  <a:t>,</a:t>
                </a:r>
                <a:r>
                  <a:rPr lang="en-US" i="1" dirty="0" smtClean="0"/>
                  <a:t> </a:t>
                </a:r>
                <a:r>
                  <a:rPr lang="en-US" dirty="0" err="1" smtClean="0"/>
                  <a:t>apresentam</a:t>
                </a:r>
                <a:r>
                  <a:rPr lang="en-US" dirty="0" smtClean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m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elhor</a:t>
                </a:r>
                <a:r>
                  <a:rPr lang="pt-BR" b="1" dirty="0">
                    <a:solidFill>
                      <a:srgbClr val="00B050"/>
                    </a:solidFill>
                  </a:rPr>
                  <a:t> paralelização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rgbClr val="7030A0"/>
                    </a:solidFill>
                  </a:rPr>
                  <a:t>capturam de dependências globais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5464" y="2120092"/>
            <a:ext cx="11499741" cy="269988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Será que conseguimos algo quase tão bom quanto uma LSTM, porém mais simples?</a:t>
            </a:r>
          </a:p>
        </p:txBody>
      </p:sp>
    </p:spTree>
    <p:extLst>
      <p:ext uri="{BB962C8B-B14F-4D97-AF65-F5344CB8AC3E}">
        <p14:creationId xmlns:p14="http://schemas.microsoft.com/office/powerpoint/2010/main" val="13942240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1" y="1825624"/>
            <a:ext cx="6777518" cy="5032375"/>
          </a:xfrm>
        </p:spPr>
        <p:txBody>
          <a:bodyPr>
            <a:normAutofit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novas arquiteturas foram propostas com o objetivo 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a quantidade de parâmetros,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custo computacional,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reduzir o consumo de memória,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acelerar o treinamento </a:t>
            </a:r>
          </a:p>
          <a:p>
            <a:pPr marL="0" indent="0">
              <a:buNone/>
            </a:pPr>
            <a:r>
              <a:rPr lang="pt-BR" dirty="0" smtClean="0"/>
              <a:t>em relação </a:t>
            </a:r>
            <a:r>
              <a:rPr lang="pt-BR" dirty="0"/>
              <a:t>às </a:t>
            </a:r>
            <a:r>
              <a:rPr lang="pt-BR" dirty="0" err="1"/>
              <a:t>LSTMs</a:t>
            </a:r>
            <a:r>
              <a:rPr lang="pt-BR" dirty="0"/>
              <a:t>.</a:t>
            </a:r>
          </a:p>
          <a:p>
            <a:r>
              <a:rPr lang="pt-BR" dirty="0"/>
              <a:t>Assim, as </a:t>
            </a:r>
            <a:r>
              <a:rPr lang="pt-BR" dirty="0" err="1"/>
              <a:t>GRUs</a:t>
            </a:r>
            <a:r>
              <a:rPr lang="pt-BR" dirty="0"/>
              <a:t> foram </a:t>
            </a:r>
            <a:r>
              <a:rPr lang="pt-BR" b="1" dirty="0">
                <a:solidFill>
                  <a:srgbClr val="7030A0"/>
                </a:solidFill>
              </a:rPr>
              <a:t>propostas em 2014</a:t>
            </a:r>
            <a:r>
              <a:rPr lang="pt-BR" dirty="0"/>
              <a:t> por </a:t>
            </a:r>
            <a:r>
              <a:rPr lang="pt-BR" dirty="0" err="1"/>
              <a:t>Kyunghyun</a:t>
            </a:r>
            <a:r>
              <a:rPr lang="pt-BR" dirty="0"/>
              <a:t> Cho e colegas com esse objetivo.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F31EEDFF-2831-68EB-4816-26ECD567CF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EBE64A2-9011-342C-7697-75B6C48776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</a:t>
                </a:r>
                <a:r>
                  <a:rPr lang="pt-BR" dirty="0" err="1"/>
                  <a:t>GRUs</a:t>
                </a:r>
                <a:r>
                  <a:rPr lang="pt-BR" dirty="0"/>
                  <a:t> são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versão simplificada</a:t>
                </a:r>
                <a:r>
                  <a:rPr lang="pt-BR" dirty="0"/>
                  <a:t> da célula de memória LSTM.</a:t>
                </a:r>
              </a:p>
              <a:p>
                <a:r>
                  <a:rPr lang="pt-BR" dirty="0"/>
                  <a:t>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atingem desempenho comparável</a:t>
                </a:r>
                <a:r>
                  <a:rPr lang="pt-BR" dirty="0"/>
                  <a:t> às </a:t>
                </a:r>
                <a:r>
                  <a:rPr lang="pt-BR" dirty="0" err="1"/>
                  <a:t>LSTMs</a:t>
                </a:r>
                <a:r>
                  <a:rPr lang="pt-BR" dirty="0"/>
                  <a:t>, mas com a vantagem de terem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parâmetros</a:t>
                </a:r>
                <a:r>
                  <a:rPr lang="pt-BR" dirty="0"/>
                  <a:t>,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menos complexas</a:t>
                </a:r>
                <a:r>
                  <a:rPr lang="pt-BR" dirty="0"/>
                  <a:t> e serem </a:t>
                </a:r>
                <a:r>
                  <a:rPr lang="pt-BR" b="1" dirty="0">
                    <a:solidFill>
                      <a:srgbClr val="00B050"/>
                    </a:solidFill>
                  </a:rPr>
                  <a:t>treinadas mais rapidamente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Elas têm </a:t>
                </a:r>
                <a:r>
                  <a:rPr lang="pt-BR" b="1" dirty="0">
                    <a:solidFill>
                      <a:srgbClr val="7030A0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70C0"/>
                    </a:solidFill>
                  </a:rPr>
                  <a:t>duas portas</a:t>
                </a:r>
                <a:r>
                  <a:rPr lang="pt-BR" dirty="0"/>
                  <a:t>: a de </a:t>
                </a:r>
                <a:r>
                  <a:rPr lang="pt-BR" i="1" dirty="0"/>
                  <a:t>reset</a:t>
                </a:r>
                <a:r>
                  <a:rPr lang="pt-BR" dirty="0"/>
                  <a:t> e a de atualização (controladas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Além disso, elas </a:t>
                </a:r>
                <a:r>
                  <a:rPr lang="pt-BR" b="1" dirty="0">
                    <a:solidFill>
                      <a:srgbClr val="0070C0"/>
                    </a:solidFill>
                  </a:rPr>
                  <a:t>incorporam a </a:t>
                </a:r>
                <a:r>
                  <a:rPr lang="pt-BR" b="1" dirty="0">
                    <a:solidFill>
                      <a:srgbClr val="7030A0"/>
                    </a:solidFill>
                  </a:rPr>
                  <a:t>memória de longo prazo</a:t>
                </a:r>
                <a:r>
                  <a:rPr lang="pt-BR" b="1" dirty="0">
                    <a:solidFill>
                      <a:srgbClr val="0070C0"/>
                    </a:solidFill>
                  </a:rPr>
                  <a:t> no próprio estado oculto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EBE64A2-9011-342C-7697-75B6C48776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4481" y="1825624"/>
                <a:ext cx="6777518" cy="5032375"/>
              </a:xfrm>
              <a:blipFill>
                <a:blip r:embed="rId3"/>
                <a:stretch>
                  <a:fillRect l="-1619" t="-1937" r="-25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E32847C-0C70-9E63-F12B-02171460BCE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229" y="2837154"/>
            <a:ext cx="4929495" cy="2712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13731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18896D-0E5F-15B7-8FA2-57B111C58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8AEF6DB-1474-DD6E-AD8C-CD2405CD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084B8E4-F0D0-B986-4782-CE0C6EF5C4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atualização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1"/>
                    </a:solidFill>
                  </a:rPr>
                  <a:t>memória de longo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é a </a:t>
                </a:r>
                <a:r>
                  <a:rPr lang="pt-BR" b="1" dirty="0">
                    <a:solidFill>
                      <a:srgbClr val="00B050"/>
                    </a:solidFill>
                  </a:rPr>
                  <a:t>combinação</a:t>
                </a:r>
                <a:r>
                  <a:rPr lang="pt-BR" dirty="0"/>
                  <a:t> das </a:t>
                </a:r>
                <a:r>
                  <a:rPr lang="pt-BR" b="1" dirty="0">
                    <a:solidFill>
                      <a:srgbClr val="00B050"/>
                    </a:solidFill>
                  </a:rPr>
                  <a:t>portas de esquecimento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entrada</a:t>
                </a:r>
                <a:r>
                  <a:rPr lang="pt-BR" dirty="0"/>
                  <a:t> da LSTM.</a:t>
                </a:r>
              </a:p>
              <a:p>
                <a:r>
                  <a:rPr lang="pt-BR" dirty="0"/>
                  <a:t>Um </a:t>
                </a:r>
                <a:r>
                  <a:rPr lang="pt-BR" b="1" dirty="0">
                    <a:solidFill>
                      <a:srgbClr val="7030A0"/>
                    </a:solidFill>
                  </a:rPr>
                  <a:t>único vetor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controla</a:t>
                </a:r>
                <a:r>
                  <a:rPr lang="pt-BR" dirty="0"/>
                  <a:t> tanto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esquecimento</a:t>
                </a:r>
                <a:r>
                  <a:rPr lang="pt-BR" dirty="0"/>
                  <a:t> quanto a </a:t>
                </a:r>
                <a:r>
                  <a:rPr lang="pt-BR" b="1" dirty="0">
                    <a:solidFill>
                      <a:srgbClr val="7030A0"/>
                    </a:solidFill>
                  </a:rPr>
                  <a:t>porta de entrada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84B8E4-F0D0-B986-4782-CE0C6EF5C4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7092" y="1825624"/>
                <a:ext cx="6304908" cy="5032375"/>
              </a:xfrm>
              <a:blipFill>
                <a:blip r:embed="rId3"/>
                <a:stretch>
                  <a:fillRect l="-174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1E70865A-8BA1-07F3-6790-5184F2C3713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38" y="261710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7611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B75B47-CDB0-8D01-C24B-627D81FFF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AC1009E-6742-3978-C9F4-B66C1CFBE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CFD774B-6AD0-3D5A-6E43-1615AD14A6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aberta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fechada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Retem-se o estado anterior,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esquecimento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fechada</a:t>
                </a:r>
                <a:r>
                  <a:rPr lang="pt-BR" dirty="0"/>
                  <a:t> e a </a:t>
                </a:r>
                <a:r>
                  <a:rPr lang="pt-BR" b="1" dirty="0">
                    <a:solidFill>
                      <a:schemeClr val="accent1"/>
                    </a:solidFill>
                  </a:rPr>
                  <a:t>porta de entrada</a:t>
                </a:r>
                <a:r>
                  <a:rPr lang="pt-BR" dirty="0"/>
                  <a:t> é </a:t>
                </a:r>
                <a:r>
                  <a:rPr lang="pt-BR" b="1" dirty="0">
                    <a:solidFill>
                      <a:schemeClr val="accent1"/>
                    </a:solidFill>
                  </a:rPr>
                  <a:t>aberta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oculto passa a ser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sempre que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informação precisa ser armazenada</a:t>
                </a:r>
                <a:r>
                  <a:rPr lang="pt-BR" dirty="0"/>
                  <a:t>, o </a:t>
                </a:r>
                <a:r>
                  <a:rPr lang="pt-BR" b="1" dirty="0">
                    <a:solidFill>
                      <a:schemeClr val="accent1"/>
                    </a:solidFill>
                  </a:rPr>
                  <a:t>local</a:t>
                </a:r>
                <a:r>
                  <a:rPr lang="pt-BR" dirty="0"/>
                  <a:t> (i.e., elemento) </a:t>
                </a:r>
                <a:r>
                  <a:rPr lang="pt-BR" b="1" dirty="0">
                    <a:solidFill>
                      <a:srgbClr val="00B050"/>
                    </a:solidFill>
                  </a:rPr>
                  <a:t>onde ela será armazenada é apagado primeiro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CFD774B-6AD0-3D5A-6E43-1615AD14A6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896100" cy="5032375"/>
              </a:xfrm>
              <a:blipFill>
                <a:blip r:embed="rId3"/>
                <a:stretch>
                  <a:fillRect l="-1592" t="-1937" r="-2034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B2F3CC40-49C1-A17A-D102-481B76DDA4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6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05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F3733C-58C8-E4B7-FC35-0AEFAEF04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097EC14-5D3D-1ECB-B8D3-E899D7B33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0C49AE4-0F34-2E99-C4AF-643B19DB56B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porta de </a:t>
                </a:r>
                <a:r>
                  <a:rPr lang="pt-BR" i="1" dirty="0"/>
                  <a:t>reset</a:t>
                </a:r>
                <a:r>
                  <a:rPr lang="pt-BR" dirty="0"/>
                  <a:t> é responsável pela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memória de curto prazo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Ela decide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quanta informação passada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será </a:t>
                </a:r>
                <a:r>
                  <a:rPr lang="pt-BR" b="1" dirty="0">
                    <a:solidFill>
                      <a:schemeClr val="accent1"/>
                    </a:solidFill>
                  </a:rPr>
                  <a:t>mantida ou descartada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célula GRU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tem uma porta de saída</a:t>
                </a:r>
                <a:r>
                  <a:rPr lang="pt-BR" dirty="0"/>
                  <a:t>. </a:t>
                </a:r>
                <a:endParaRPr lang="pt-BR" b="1" dirty="0">
                  <a:solidFill>
                    <a:schemeClr val="accent2"/>
                  </a:solidFill>
                </a:endParaRPr>
              </a:p>
              <a:p>
                <a:r>
                  <a:rPr lang="pt-BR" b="1" dirty="0">
                    <a:solidFill>
                      <a:schemeClr val="accent2"/>
                    </a:solidFill>
                  </a:rPr>
                  <a:t>O vetor de estado oculto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completo é apresentado na saída</a:t>
                </a:r>
                <a:r>
                  <a:rPr lang="pt-BR" dirty="0"/>
                  <a:t> da célula a cada passo de tempo.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C49AE4-0F34-2E99-C4AF-643B19DB56B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374" y="1825624"/>
                <a:ext cx="6524625" cy="5032375"/>
              </a:xfrm>
              <a:blipFill>
                <a:blip r:embed="rId3"/>
                <a:stretch>
                  <a:fillRect l="-1682" t="-1937" r="-13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88CDDFE4-456B-9ED2-0DB9-E39DD3E4A5B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3" y="2636159"/>
            <a:ext cx="4926724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74278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6779" y="1230330"/>
            <a:ext cx="11598442" cy="439734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as células LSTM e GRU minimizam o problema do desaparecimento do gradiente e, consequentemente, mantém a memória de longo prazo?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células de </a:t>
                </a:r>
                <a:r>
                  <a:rPr lang="pt-BR" dirty="0" err="1"/>
                  <a:t>RNNs</a:t>
                </a:r>
                <a:r>
                  <a:rPr lang="pt-BR" dirty="0"/>
                  <a:t> tradicionais apresentam um </a:t>
                </a:r>
                <a:r>
                  <a:rPr lang="pt-BR" b="1" dirty="0">
                    <a:solidFill>
                      <a:srgbClr val="7030A0"/>
                    </a:solidFill>
                  </a:rPr>
                  <a:t>caminho </a:t>
                </a:r>
                <a:r>
                  <a:rPr lang="pt-BR" b="1" dirty="0">
                    <a:solidFill>
                      <a:srgbClr val="00B050"/>
                    </a:solidFill>
                  </a:rPr>
                  <a:t>não-linear</a:t>
                </a:r>
                <a:r>
                  <a:rPr lang="pt-BR" b="1" dirty="0">
                    <a:solidFill>
                      <a:srgbClr val="7030A0"/>
                    </a:solidFill>
                  </a:rPr>
                  <a:t> para a retropropagação do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chemeClr val="accent1"/>
                    </a:solidFill>
                  </a:rPr>
                  <a:t>novo estado da célula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passa por uma função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tanh</a:t>
                </a:r>
                <a:endParaRPr lang="pt-BR" b="1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Como sabemos, a derivada da função </a:t>
                </a:r>
                <a:r>
                  <a:rPr lang="pt-BR" dirty="0" err="1"/>
                  <a:t>tanh</a:t>
                </a:r>
                <a:r>
                  <a:rPr lang="pt-BR" dirty="0"/>
                  <a:t> tem um valor máximo igual 1. </a:t>
                </a:r>
              </a:p>
              <a:p>
                <a:r>
                  <a:rPr lang="pt-BR" dirty="0"/>
                  <a:t>Como vimos, o resultado é que o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 diminui exponencialmente</a:t>
                </a:r>
                <a:r>
                  <a:rPr lang="pt-BR" dirty="0"/>
                  <a:t> à medida que volta no tempo,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impedindo que a rede aprenda dependências de longo prazo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71586" y="1825624"/>
                <a:ext cx="6920414" cy="5032375"/>
              </a:xfrm>
              <a:blipFill>
                <a:blip r:embed="rId2"/>
                <a:stretch>
                  <a:fillRect l="-1586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258" y="3177798"/>
            <a:ext cx="4689828" cy="232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4731FB8-17E6-6325-5B4E-B3F89A3E62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Já as células de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modificam o estado da célula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b="1" dirty="0">
                    <a:solidFill>
                      <a:srgbClr val="00B050"/>
                    </a:solidFill>
                  </a:rPr>
                  <a:t>por meio de um caminho controlável</a:t>
                </a:r>
                <a:r>
                  <a:rPr lang="pt-BR" dirty="0">
                    <a:solidFill>
                      <a:schemeClr val="tx1"/>
                    </a:solidFill>
                  </a:rPr>
                  <a:t> (por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solidFill>
                      <a:schemeClr val="tx1"/>
                    </a:solidFill>
                  </a:rPr>
                  <a:t>) </a:t>
                </a:r>
                <a:r>
                  <a:rPr lang="pt-BR" dirty="0"/>
                  <a:t>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contém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apenas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LSTM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 smtClean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acc>
                          <m:accPr>
                            <m:chr m:val="̃"/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>
                    <a:latin typeface="Cambria Math" panose="02040503050406030204" pitchFamily="18" charset="0"/>
                  </a:rPr>
                  <a:t> (GRU)</a:t>
                </a:r>
                <a:endParaRPr lang="pt-BR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 smtClean="0"/>
                  <a:t> são atualizados </a:t>
                </a:r>
                <a:r>
                  <a:rPr lang="pt-BR" dirty="0"/>
                  <a:t>usando-se </a:t>
                </a:r>
                <a:r>
                  <a:rPr lang="pt-BR" b="1" dirty="0"/>
                  <a:t>uma</a:t>
                </a:r>
                <a:r>
                  <a:rPr lang="pt-BR" dirty="0"/>
                  <a:t> </a:t>
                </a:r>
                <a:r>
                  <a:rPr lang="pt-BR" b="1" dirty="0"/>
                  <a:t>soma e multiplicações elemento a elemento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rgbClr val="7030A0"/>
                    </a:solidFill>
                  </a:rPr>
                  <a:t>sem passar por transformações não lineares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4731FB8-17E6-6325-5B4E-B3F89A3E62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59837" y="1825624"/>
                <a:ext cx="6132162" cy="5032375"/>
              </a:xfrm>
              <a:blipFill rotWithShape="0">
                <a:blip r:embed="rId2"/>
                <a:stretch>
                  <a:fillRect l="-1789" t="-1937" r="-2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1690688"/>
            <a:ext cx="3888430" cy="239352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xmlns="" id="{3540DDFD-8900-4E48-7C98-3C262F3FE9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655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695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7AA2CFE-86F0-EADA-5F6B-21779E0D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846F83-8A94-AC30-CA13-A79DBA57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731FB8-17E6-6325-5B4E-B3F89A3E6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4480" y="1825624"/>
            <a:ext cx="6777519" cy="5032375"/>
          </a:xfrm>
        </p:spPr>
        <p:txBody>
          <a:bodyPr>
            <a:normAutofit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caminho controlável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permite que os gradientes retrocedam</a:t>
            </a:r>
            <a:r>
              <a:rPr lang="pt-BR" dirty="0"/>
              <a:t> </a:t>
            </a:r>
            <a:r>
              <a:rPr lang="pt-BR" b="1" dirty="0">
                <a:solidFill>
                  <a:schemeClr val="accent1"/>
                </a:solidFill>
              </a:rPr>
              <a:t>por longos instantes de tempo </a:t>
            </a:r>
            <a:r>
              <a:rPr lang="pt-BR" dirty="0" smtClean="0"/>
              <a:t>sem </a:t>
            </a:r>
            <a:r>
              <a:rPr lang="pt-BR" b="1" dirty="0" smtClean="0">
                <a:solidFill>
                  <a:schemeClr val="accent1"/>
                </a:solidFill>
              </a:rPr>
              <a:t>desaparecer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A rede 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a decidir quando deixar o </a:t>
            </a:r>
            <a:r>
              <a:rPr lang="pt-BR" b="1" dirty="0">
                <a:solidFill>
                  <a:schemeClr val="accent2"/>
                </a:solidFill>
              </a:rPr>
              <a:t>gradiente desaparecer </a:t>
            </a:r>
            <a:r>
              <a:rPr lang="pt-BR" dirty="0"/>
              <a:t>e quando </a:t>
            </a:r>
            <a:r>
              <a:rPr lang="pt-BR" b="1" dirty="0">
                <a:solidFill>
                  <a:schemeClr val="accent2"/>
                </a:solidFill>
              </a:rPr>
              <a:t>preservá-lo</a:t>
            </a:r>
            <a:r>
              <a:rPr lang="pt-BR" dirty="0"/>
              <a:t>.</a:t>
            </a:r>
          </a:p>
          <a:p>
            <a:r>
              <a:rPr lang="pt-BR" dirty="0"/>
              <a:t>Portanto, as portas permitem que a rede decida o que guardar e o que descartar.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C6B5183E-9AC1-0221-501F-8EC3C14578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8D22978F-A98B-7B35-B4FF-07AD9BDAC9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50851"/>
            <a:ext cx="3888430" cy="2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5466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351" y="2890341"/>
            <a:ext cx="11291298" cy="107731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para as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466087" y="1895280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xmlns="" id="{8A95AB21-C2EA-0465-36B4-A7DEBD773301}"/>
              </a:ext>
            </a:extLst>
          </p:cNvPr>
          <p:cNvGrpSpPr/>
          <p:nvPr/>
        </p:nvGrpSpPr>
        <p:grpSpPr>
          <a:xfrm>
            <a:off x="3532515" y="5802560"/>
            <a:ext cx="4106535" cy="831618"/>
            <a:chOff x="3532515" y="5802560"/>
            <a:chExt cx="4106535" cy="831618"/>
          </a:xfrm>
        </p:grpSpPr>
        <p:sp>
          <p:nvSpPr>
            <p:cNvPr id="7" name="Rectangle 4">
              <a:extLst>
                <a:ext uri="{FF2B5EF4-FFF2-40B4-BE49-F238E27FC236}">
                  <a16:creationId xmlns:a16="http://schemas.microsoft.com/office/drawing/2014/main" xmlns="" id="{1AEF0F1E-D18A-69B9-8100-6562DDA956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19601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xmlns="" id="{F0205C4C-EF1E-AD08-1638-F516E21033EF}"/>
                </a:ext>
              </a:extLst>
            </p:cNvPr>
            <p:cNvSpPr txBox="1"/>
            <p:nvPr/>
          </p:nvSpPr>
          <p:spPr>
            <a:xfrm>
              <a:off x="3799601" y="6083955"/>
              <a:ext cx="97959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recorrente</a:t>
              </a:r>
              <a:endParaRPr lang="en-US" sz="1400" dirty="0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xmlns="" id="{7944A1DE-4D0F-01A0-4EE6-F5FEC92F3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36410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xmlns="" id="{7A758A03-28F9-6577-A08D-C8D03DF0D316}"/>
                    </a:ext>
                  </a:extLst>
                </p:cNvPr>
                <p:cNvSpPr txBox="1"/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Amostra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7A758A03-28F9-6577-A08D-C8D03DF0D3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378" y="6110958"/>
                  <a:ext cx="131680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1163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 4">
              <a:extLst>
                <a:ext uri="{FF2B5EF4-FFF2-40B4-BE49-F238E27FC236}">
                  <a16:creationId xmlns:a16="http://schemas.microsoft.com/office/drawing/2014/main" xmlns="" id="{4E0EEB81-462A-7BAE-2557-C9EAD8B473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382049" y="6110958"/>
              <a:ext cx="180000" cy="4962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xmlns="" id="{C1A456E8-254D-7BB3-D272-3FBC9FB4B353}"/>
                    </a:ext>
                  </a:extLst>
                </p:cNvPr>
                <p:cNvSpPr txBox="1"/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pt-BR" sz="1400" dirty="0"/>
                    <a:t>Saída do </a:t>
                  </a:r>
                  <a14:m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a14:m>
                  <a:r>
                    <a:rPr lang="pt-BR" sz="1400" dirty="0"/>
                    <a:t>-ésimo passo</a:t>
                  </a:r>
                  <a:endParaRPr lang="en-US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C1A456E8-254D-7BB3-D272-3FBC9FB4B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2049" y="6083955"/>
                  <a:ext cx="1077001" cy="523220"/>
                </a:xfrm>
                <a:prstGeom prst="rect">
                  <a:avLst/>
                </a:prstGeom>
                <a:blipFill>
                  <a:blip r:embed="rId5"/>
                  <a:stretch>
                    <a:fillRect l="-1130" t="-2326" r="-565" b="-116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CaixaDeTexto 17">
              <a:extLst>
                <a:ext uri="{FF2B5EF4-FFF2-40B4-BE49-F238E27FC236}">
                  <a16:creationId xmlns:a16="http://schemas.microsoft.com/office/drawing/2014/main" xmlns="" id="{3029FE31-547D-0852-38F2-23F0748C5331}"/>
                </a:ext>
              </a:extLst>
            </p:cNvPr>
            <p:cNvSpPr txBox="1"/>
            <p:nvPr/>
          </p:nvSpPr>
          <p:spPr>
            <a:xfrm>
              <a:off x="3532515" y="5802560"/>
              <a:ext cx="87756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/>
                <a:t>Legenda:</a:t>
              </a:r>
              <a:endParaRPr 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200553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vetor para sequência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uma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descrevendo a imagem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Entrada: um vetor que representa um gênero musical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Saída: as amostras de </a:t>
            </a:r>
            <a:r>
              <a:rPr lang="en-US" dirty="0" err="1"/>
              <a:t>áudio</a:t>
            </a:r>
            <a:r>
              <a:rPr lang="en-US" dirty="0"/>
              <a:t> da </a:t>
            </a:r>
            <a:r>
              <a:rPr lang="en-US" dirty="0" err="1"/>
              <a:t>música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698" y="1825624"/>
            <a:ext cx="6570256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Rede do tipo sequência para vetor.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sentimentos: por exemplo, classificar o sentimento de uma crítica </a:t>
            </a:r>
            <a:r>
              <a:rPr lang="pt-BR" dirty="0" smtClean="0"/>
              <a:t>de filme</a:t>
            </a:r>
            <a:r>
              <a:rPr lang="pt-BR" dirty="0"/>
              <a:t>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correspondentes à crítica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pontuação da crítica: 0 [odiou] até 1 [amou]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sequência para sequência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quadro a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Monitoramento de </a:t>
            </a:r>
            <a:r>
              <a:rPr lang="pt-BR" dirty="0"/>
              <a:t>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imagens da vista de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quantidade de carros em cada imagem.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3637" y="1825624"/>
            <a:ext cx="6248363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Rede do tipo </a:t>
            </a:r>
            <a:r>
              <a:rPr lang="pt-BR" i="1" dirty="0" err="1"/>
              <a:t>encoder</a:t>
            </a:r>
            <a:r>
              <a:rPr lang="pt-BR" dirty="0"/>
              <a:t>/</a:t>
            </a:r>
            <a:r>
              <a:rPr lang="pt-BR" i="1" dirty="0" err="1"/>
              <a:t>decoder</a:t>
            </a:r>
            <a:r>
              <a:rPr lang="pt-BR" dirty="0"/>
              <a:t>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em uma língua.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 em outra língua.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chatbots</a:t>
            </a: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1857517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2647871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3432908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250922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041276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4217946" y="187105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414648" y="295557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7944" y="2222779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2634579" y="187692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3419617" y="187105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264" y="2228649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9616" y="2228649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831282" y="296144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3616320" y="2955575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268836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1059190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662241" y="3971261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1452595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264847" y="499580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461550" y="4513521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415" y="533867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1059190" y="5025933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770" y="5344540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1857516" y="4986946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7516" y="5344540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1255893" y="4513521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2054219" y="4513521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9">
            <a:extLst>
              <a:ext uri="{FF2B5EF4-FFF2-40B4-BE49-F238E27FC236}">
                <a16:creationId xmlns:a16="http://schemas.microsoft.com/office/drawing/2014/main" xmlns="" id="{26BA397E-5740-263D-B08B-906451E582EA}"/>
              </a:ext>
            </a:extLst>
          </p:cNvPr>
          <p:cNvSpPr/>
          <p:nvPr/>
        </p:nvSpPr>
        <p:spPr>
          <a:xfrm>
            <a:off x="4216969" y="342900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20">
            <a:extLst>
              <a:ext uri="{FF2B5EF4-FFF2-40B4-BE49-F238E27FC236}">
                <a16:creationId xmlns:a16="http://schemas.microsoft.com/office/drawing/2014/main" xmlns="" id="{C43B1F7D-195A-9A30-C98A-8808DEDB70A1}"/>
              </a:ext>
            </a:extLst>
          </p:cNvPr>
          <p:cNvCxnSpPr>
            <a:endCxn id="6" idx="1"/>
          </p:cNvCxnSpPr>
          <p:nvPr/>
        </p:nvCxnSpPr>
        <p:spPr>
          <a:xfrm>
            <a:off x="3825337" y="397126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 7">
            <a:extLst>
              <a:ext uri="{FF2B5EF4-FFF2-40B4-BE49-F238E27FC236}">
                <a16:creationId xmlns:a16="http://schemas.microsoft.com/office/drawing/2014/main" xmlns="" id="{5367D5C5-083B-1D09-F4AB-A3D1E257E22D}"/>
              </a:ext>
            </a:extLst>
          </p:cNvPr>
          <p:cNvSpPr/>
          <p:nvPr/>
        </p:nvSpPr>
        <p:spPr>
          <a:xfrm>
            <a:off x="5013526" y="1865183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0">
            <a:extLst>
              <a:ext uri="{FF2B5EF4-FFF2-40B4-BE49-F238E27FC236}">
                <a16:creationId xmlns:a16="http://schemas.microsoft.com/office/drawing/2014/main" xmlns="" id="{885B04B9-C592-171E-A0A1-B25B746EACB5}"/>
              </a:ext>
            </a:extLst>
          </p:cNvPr>
          <p:cNvCxnSpPr>
            <a:cxnSpLocks/>
            <a:endCxn id="14" idx="2"/>
          </p:cNvCxnSpPr>
          <p:nvPr/>
        </p:nvCxnSpPr>
        <p:spPr>
          <a:xfrm flipV="1">
            <a:off x="5210228" y="2949704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xmlns="" id="{180B069D-B5EE-8B0D-ED92-AF0BA5BBA75C}"/>
                  </a:ext>
                </a:extLst>
              </p:cNvPr>
              <p:cNvSpPr txBox="1"/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1">
                <a:extLst>
                  <a:ext uri="{FF2B5EF4-FFF2-40B4-BE49-F238E27FC236}">
                    <a16:creationId xmlns:a16="http://schemas.microsoft.com/office/drawing/2014/main" id="{180B069D-B5EE-8B0D-ED92-AF0BA5BBA7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524" y="2216909"/>
                <a:ext cx="393406" cy="369332"/>
              </a:xfrm>
              <a:prstGeom prst="rect">
                <a:avLst/>
              </a:prstGeom>
              <a:blipFill>
                <a:blip r:embed="rId9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9">
            <a:extLst>
              <a:ext uri="{FF2B5EF4-FFF2-40B4-BE49-F238E27FC236}">
                <a16:creationId xmlns:a16="http://schemas.microsoft.com/office/drawing/2014/main" xmlns="" id="{E10C2FC0-915E-3754-CB58-210B42F3F1CC}"/>
              </a:ext>
            </a:extLst>
          </p:cNvPr>
          <p:cNvSpPr/>
          <p:nvPr/>
        </p:nvSpPr>
        <p:spPr>
          <a:xfrm>
            <a:off x="5012549" y="3423130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0">
            <a:extLst>
              <a:ext uri="{FF2B5EF4-FFF2-40B4-BE49-F238E27FC236}">
                <a16:creationId xmlns:a16="http://schemas.microsoft.com/office/drawing/2014/main" xmlns="" id="{BF33D4D8-000A-D268-E3D6-DBE55534455E}"/>
              </a:ext>
            </a:extLst>
          </p:cNvPr>
          <p:cNvCxnSpPr>
            <a:endCxn id="22" idx="1"/>
          </p:cNvCxnSpPr>
          <p:nvPr/>
        </p:nvCxnSpPr>
        <p:spPr>
          <a:xfrm>
            <a:off x="4620917" y="3965391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tângulo 25">
            <a:extLst>
              <a:ext uri="{FF2B5EF4-FFF2-40B4-BE49-F238E27FC236}">
                <a16:creationId xmlns:a16="http://schemas.microsoft.com/office/drawing/2014/main" xmlns="" id="{D7B5CC2B-59F2-0721-6F7F-1F194BA7EDF4}"/>
              </a:ext>
            </a:extLst>
          </p:cNvPr>
          <p:cNvSpPr/>
          <p:nvPr/>
        </p:nvSpPr>
        <p:spPr>
          <a:xfrm>
            <a:off x="120378" y="3305301"/>
            <a:ext cx="2219329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xmlns="" id="{CDD4DB52-5878-5675-CF1D-C88AD8295959}"/>
              </a:ext>
            </a:extLst>
          </p:cNvPr>
          <p:cNvSpPr txBox="1"/>
          <p:nvPr/>
        </p:nvSpPr>
        <p:spPr>
          <a:xfrm>
            <a:off x="688821" y="6195027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encoder</a:t>
            </a:r>
            <a:endParaRPr lang="en-US" dirty="0"/>
          </a:p>
        </p:txBody>
      </p:sp>
      <p:sp>
        <p:nvSpPr>
          <p:cNvPr id="40" name="Retângulo 39">
            <a:extLst>
              <a:ext uri="{FF2B5EF4-FFF2-40B4-BE49-F238E27FC236}">
                <a16:creationId xmlns:a16="http://schemas.microsoft.com/office/drawing/2014/main" xmlns="" id="{7F7DEE5D-466F-66F4-91E6-234AF002DE61}"/>
              </a:ext>
            </a:extLst>
          </p:cNvPr>
          <p:cNvSpPr/>
          <p:nvPr/>
        </p:nvSpPr>
        <p:spPr>
          <a:xfrm>
            <a:off x="2464880" y="1734092"/>
            <a:ext cx="3112355" cy="291638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xmlns="" id="{534B0A90-B886-D96D-37BA-01A7E49780CA}"/>
              </a:ext>
            </a:extLst>
          </p:cNvPr>
          <p:cNvSpPr txBox="1"/>
          <p:nvPr/>
        </p:nvSpPr>
        <p:spPr>
          <a:xfrm>
            <a:off x="3542560" y="4632875"/>
            <a:ext cx="956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decoder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5556"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6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7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2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21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259911" y="3843004"/>
              <a:ext cx="1218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desenrolando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3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1389" r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13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Agrupar 29">
            <a:extLst>
              <a:ext uri="{FF2B5EF4-FFF2-40B4-BE49-F238E27FC236}">
                <a16:creationId xmlns:a16="http://schemas.microsoft.com/office/drawing/2014/main" xmlns="" id="{A0125BEA-E856-3203-44A2-4CB6E4673641}"/>
              </a:ext>
            </a:extLst>
          </p:cNvPr>
          <p:cNvGrpSpPr/>
          <p:nvPr/>
        </p:nvGrpSpPr>
        <p:grpSpPr>
          <a:xfrm>
            <a:off x="260912" y="1662798"/>
            <a:ext cx="4435239" cy="2809250"/>
            <a:chOff x="260912" y="1662798"/>
            <a:chExt cx="4435239" cy="2809250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843DECB-C956-D955-D499-DD22189CE5D6}"/>
                </a:ext>
              </a:extLst>
            </p:cNvPr>
            <p:cNvSpPr/>
            <p:nvPr/>
          </p:nvSpPr>
          <p:spPr>
            <a:xfrm>
              <a:off x="948207" y="216915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xmlns="" id="{7C21CDDD-60F4-254E-D0B1-DD9880058CAE}"/>
                </a:ext>
              </a:extLst>
            </p:cNvPr>
            <p:cNvSpPr/>
            <p:nvPr/>
          </p:nvSpPr>
          <p:spPr>
            <a:xfrm>
              <a:off x="2095472" y="28727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xmlns="" id="{E01C2A5B-A164-6913-FA94-CA99DB0244FA}"/>
                </a:ext>
              </a:extLst>
            </p:cNvPr>
            <p:cNvCxnSpPr>
              <a:cxnSpLocks/>
              <a:endCxn id="40" idx="2"/>
            </p:cNvCxnSpPr>
            <p:nvPr/>
          </p:nvCxnSpPr>
          <p:spPr>
            <a:xfrm rot="5400000" flipH="1" flipV="1">
              <a:off x="1289550" y="3229045"/>
              <a:ext cx="1140399" cy="1146362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xmlns="" id="{396F9498-A53F-5856-A31E-72DF09B3702B}"/>
                </a:ext>
              </a:extLst>
            </p:cNvPr>
            <p:cNvCxnSpPr>
              <a:cxnSpLocks/>
              <a:stCxn id="40" idx="0"/>
            </p:cNvCxnSpPr>
            <p:nvPr/>
          </p:nvCxnSpPr>
          <p:spPr>
            <a:xfrm rot="5400000" flipH="1" flipV="1">
              <a:off x="3275955" y="1600184"/>
              <a:ext cx="429588" cy="211563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xmlns="" id="{466E2E6D-A249-7CAB-4045-844CE9311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85978" y="1773736"/>
              <a:ext cx="0" cy="66947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Connector: Elbow 45">
              <a:extLst>
                <a:ext uri="{FF2B5EF4-FFF2-40B4-BE49-F238E27FC236}">
                  <a16:creationId xmlns:a16="http://schemas.microsoft.com/office/drawing/2014/main" xmlns="" id="{B4EFE449-B504-6CD4-C0C2-B0B6CF080A1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44" y="2434828"/>
              <a:ext cx="1199096" cy="1368028"/>
            </a:xfrm>
            <a:prstGeom prst="bentConnector2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xmlns="" id="{864BEB98-D0A6-8E21-632A-DA567336A9C4}"/>
                    </a:ext>
                  </a:extLst>
                </p:cNvPr>
                <p:cNvSpPr txBox="1"/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TextBox 27">
                  <a:extLst>
                    <a:ext uri="{FF2B5EF4-FFF2-40B4-BE49-F238E27FC236}">
                      <a16:creationId xmlns:a16="http://schemas.microsoft.com/office/drawing/2014/main" id="{864BEB98-D0A6-8E21-632A-DA567336A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912" y="2073875"/>
                  <a:ext cx="61722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xmlns="" id="{23C0A7C0-E234-D21C-25F8-B0FE9763391F}"/>
                    </a:ext>
                  </a:extLst>
                </p:cNvPr>
                <p:cNvSpPr txBox="1"/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26">
                  <a:extLst>
                    <a:ext uri="{FF2B5EF4-FFF2-40B4-BE49-F238E27FC236}">
                      <a16:creationId xmlns:a16="http://schemas.microsoft.com/office/drawing/2014/main" id="{23C0A7C0-E234-D21C-25F8-B0FE97633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8931" y="2065496"/>
                  <a:ext cx="61722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xmlns="" id="{5B72E209-48BF-DCE5-F02F-5A30F57B54CA}"/>
                    </a:ext>
                  </a:extLst>
                </p:cNvPr>
                <p:cNvSpPr txBox="1"/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26">
                  <a:extLst>
                    <a:ext uri="{FF2B5EF4-FFF2-40B4-BE49-F238E27FC236}">
                      <a16:creationId xmlns:a16="http://schemas.microsoft.com/office/drawing/2014/main" id="{5B72E209-48BF-DCE5-F02F-5A30F57B5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6809" y="1662798"/>
                  <a:ext cx="617220" cy="369332"/>
                </a:xfrm>
                <a:prstGeom prst="rect">
                  <a:avLst/>
                </a:prstGeom>
                <a:blipFill>
                  <a:blip r:embed="rId9"/>
                  <a:stretch>
                    <a:fillRect t="-6667" r="-15842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xmlns="" id="{0E57B151-E333-76CA-A791-FC163B5574D4}"/>
                    </a:ext>
                  </a:extLst>
                </p:cNvPr>
                <p:cNvSpPr txBox="1"/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3">
                  <a:extLst>
                    <a:ext uri="{FF2B5EF4-FFF2-40B4-BE49-F238E27FC236}">
                      <a16:creationId xmlns:a16="http://schemas.microsoft.com/office/drawing/2014/main" id="{0E57B151-E333-76CA-A791-FC163B55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364" y="4102716"/>
                  <a:ext cx="61722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348B5B75-FB28-2E80-145D-B7B4D142BE9D}"/>
              </a:ext>
            </a:extLst>
          </p:cNvPr>
          <p:cNvSpPr/>
          <p:nvPr/>
        </p:nvSpPr>
        <p:spPr>
          <a:xfrm>
            <a:off x="4301176" y="2438400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="" id="{84CE6692-2FDA-8E8D-AB8D-4C22F39EF85B}"/>
                  </a:ext>
                </a:extLst>
              </p:cNvPr>
              <p:cNvSpPr/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4CE6692-2FDA-8E8D-AB8D-4C22F39EF8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205" y="3736102"/>
                <a:ext cx="332510" cy="29787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="" id="{6ACD58FC-A360-C11A-7C44-B9487691833B}"/>
                  </a:ext>
                </a:extLst>
              </p:cNvPr>
              <p:cNvSpPr/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ACD58FC-A360-C11A-7C44-B948769183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2344" y="3736102"/>
                <a:ext cx="332510" cy="297872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="" id="{BE5C8D3A-0A6E-2136-613E-58C2566A481B}"/>
                  </a:ext>
                </a:extLst>
              </p:cNvPr>
              <p:cNvSpPr/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E5C8D3A-0A6E-2136-613E-58C2566A48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167" y="3738898"/>
                <a:ext cx="332510" cy="297872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44C478EC-B109-7888-038E-8DBF57461B91}"/>
              </a:ext>
            </a:extLst>
          </p:cNvPr>
          <p:cNvSpPr/>
          <p:nvPr/>
        </p:nvSpPr>
        <p:spPr>
          <a:xfrm>
            <a:off x="5686483" y="3736102"/>
            <a:ext cx="614781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FFC53C9F-10FB-711C-2512-7250BF72FAA1}"/>
              </a:ext>
            </a:extLst>
          </p:cNvPr>
          <p:cNvGrpSpPr/>
          <p:nvPr/>
        </p:nvGrpSpPr>
        <p:grpSpPr>
          <a:xfrm>
            <a:off x="6922167" y="2849398"/>
            <a:ext cx="627482" cy="369332"/>
            <a:chOff x="6108367" y="2910505"/>
            <a:chExt cx="627482" cy="369332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xmlns="" id="{CE50EACA-BDC6-7C2A-E8C3-F5699FD5BCD0}"/>
                </a:ext>
              </a:extLst>
            </p:cNvPr>
            <p:cNvSpPr/>
            <p:nvPr/>
          </p:nvSpPr>
          <p:spPr>
            <a:xfrm>
              <a:off x="6108367" y="2964609"/>
              <a:ext cx="614781" cy="297873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xmlns="" id="{37990D6E-A5C5-CDF4-C0D9-387966509DC6}"/>
                </a:ext>
              </a:extLst>
            </p:cNvPr>
            <p:cNvSpPr txBox="1"/>
            <p:nvPr/>
          </p:nvSpPr>
          <p:spPr>
            <a:xfrm>
              <a:off x="6108701" y="2910505"/>
              <a:ext cx="62714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xmlns="" id="{74B85D8D-87CD-87BC-E833-CE9988D869DD}"/>
              </a:ext>
            </a:extLst>
          </p:cNvPr>
          <p:cNvSpPr/>
          <p:nvPr/>
        </p:nvSpPr>
        <p:spPr>
          <a:xfrm>
            <a:off x="4587935" y="2579263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xmlns="" id="{A878B83A-9006-D2B3-60B8-E2D14A5914D1}"/>
              </a:ext>
            </a:extLst>
          </p:cNvPr>
          <p:cNvCxnSpPr>
            <a:stCxn id="8" idx="0"/>
            <a:endCxn id="17" idx="4"/>
          </p:cNvCxnSpPr>
          <p:nvPr/>
        </p:nvCxnSpPr>
        <p:spPr>
          <a:xfrm flipV="1">
            <a:off x="4724460" y="2852313"/>
            <a:ext cx="0" cy="883789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xmlns="" id="{43F4CC40-6B8A-C2D7-30F9-5E2A663458EB}"/>
              </a:ext>
            </a:extLst>
          </p:cNvPr>
          <p:cNvCxnSpPr>
            <a:cxnSpLocks/>
            <a:endCxn id="11" idx="2"/>
          </p:cNvCxnSpPr>
          <p:nvPr/>
        </p:nvCxnSpPr>
        <p:spPr>
          <a:xfrm rot="5400000" flipH="1" flipV="1">
            <a:off x="5288165" y="3260341"/>
            <a:ext cx="641827" cy="2194687"/>
          </a:xfrm>
          <a:prstGeom prst="bentConnector3">
            <a:avLst>
              <a:gd name="adj1" fmla="val 67289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xmlns="" id="{584D7DD5-AF06-660E-B8AB-56FEBD03D05B}"/>
              </a:ext>
            </a:extLst>
          </p:cNvPr>
          <p:cNvCxnSpPr>
            <a:cxnSpLocks/>
          </p:cNvCxnSpPr>
          <p:nvPr/>
        </p:nvCxnSpPr>
        <p:spPr>
          <a:xfrm>
            <a:off x="47244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xmlns="" id="{76F3A98F-48B9-9CD1-B9F1-E75DD2E8FE3C}"/>
              </a:ext>
            </a:extLst>
          </p:cNvPr>
          <p:cNvCxnSpPr>
            <a:cxnSpLocks/>
          </p:cNvCxnSpPr>
          <p:nvPr/>
        </p:nvCxnSpPr>
        <p:spPr>
          <a:xfrm>
            <a:off x="528326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xmlns="" id="{72E979E6-DCC4-331B-D941-6882D88766DC}"/>
              </a:ext>
            </a:extLst>
          </p:cNvPr>
          <p:cNvCxnSpPr>
            <a:cxnSpLocks/>
          </p:cNvCxnSpPr>
          <p:nvPr/>
        </p:nvCxnSpPr>
        <p:spPr>
          <a:xfrm>
            <a:off x="5988110" y="4033974"/>
            <a:ext cx="0" cy="211613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Oval 36">
            <a:extLst>
              <a:ext uri="{FF2B5EF4-FFF2-40B4-BE49-F238E27FC236}">
                <a16:creationId xmlns:a16="http://schemas.microsoft.com/office/drawing/2014/main" xmlns="" id="{BCF5E98C-CA06-9023-8D8F-DC58885C84A8}"/>
              </a:ext>
            </a:extLst>
          </p:cNvPr>
          <p:cNvSpPr/>
          <p:nvPr/>
        </p:nvSpPr>
        <p:spPr>
          <a:xfrm>
            <a:off x="5856481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xmlns="" id="{6EAF062E-2592-CB45-36A5-2A33D358D8BF}"/>
              </a:ext>
            </a:extLst>
          </p:cNvPr>
          <p:cNvCxnSpPr>
            <a:cxnSpLocks/>
            <a:stCxn id="12" idx="0"/>
            <a:endCxn id="37" idx="4"/>
          </p:cNvCxnSpPr>
          <p:nvPr/>
        </p:nvCxnSpPr>
        <p:spPr>
          <a:xfrm flipH="1" flipV="1">
            <a:off x="5993006" y="3602002"/>
            <a:ext cx="868" cy="134100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Oval 47">
            <a:extLst>
              <a:ext uri="{FF2B5EF4-FFF2-40B4-BE49-F238E27FC236}">
                <a16:creationId xmlns:a16="http://schemas.microsoft.com/office/drawing/2014/main" xmlns="" id="{52EAE681-2114-E3E3-C3A4-320425997F09}"/>
              </a:ext>
            </a:extLst>
          </p:cNvPr>
          <p:cNvSpPr/>
          <p:nvPr/>
        </p:nvSpPr>
        <p:spPr>
          <a:xfrm>
            <a:off x="5853141" y="2580426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+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xmlns="" id="{D1D65BD3-E604-D135-F107-EC4CC81E93DD}"/>
              </a:ext>
            </a:extLst>
          </p:cNvPr>
          <p:cNvCxnSpPr>
            <a:cxnSpLocks/>
            <a:stCxn id="37" idx="0"/>
            <a:endCxn id="48" idx="4"/>
          </p:cNvCxnSpPr>
          <p:nvPr/>
        </p:nvCxnSpPr>
        <p:spPr>
          <a:xfrm flipH="1" flipV="1">
            <a:off x="5989666" y="2853476"/>
            <a:ext cx="3340" cy="475476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xmlns="" id="{C9DC9C7A-C05F-76B8-966F-44753826D4BF}"/>
              </a:ext>
            </a:extLst>
          </p:cNvPr>
          <p:cNvSpPr/>
          <p:nvPr/>
        </p:nvSpPr>
        <p:spPr>
          <a:xfrm>
            <a:off x="7100175" y="332895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xmlns="" id="{A822FBB9-C029-EAAD-530F-8A6805EE47F8}"/>
              </a:ext>
            </a:extLst>
          </p:cNvPr>
          <p:cNvCxnSpPr>
            <a:cxnSpLocks/>
          </p:cNvCxnSpPr>
          <p:nvPr/>
        </p:nvCxnSpPr>
        <p:spPr>
          <a:xfrm flipH="1" flipV="1">
            <a:off x="7236075" y="3192538"/>
            <a:ext cx="625" cy="144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xmlns="" id="{6BFA24E6-0E52-669D-D3F8-9864EDC5552B}"/>
              </a:ext>
            </a:extLst>
          </p:cNvPr>
          <p:cNvCxnSpPr>
            <a:cxnSpLocks/>
            <a:endCxn id="17" idx="2"/>
          </p:cNvCxnSpPr>
          <p:nvPr/>
        </p:nvCxnSpPr>
        <p:spPr>
          <a:xfrm flipV="1">
            <a:off x="4012696" y="2715788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xmlns="" id="{0BF0A013-C46F-87B6-A913-AB6006AD99D3}"/>
              </a:ext>
            </a:extLst>
          </p:cNvPr>
          <p:cNvCxnSpPr>
            <a:cxnSpLocks/>
            <a:stCxn id="17" idx="6"/>
            <a:endCxn id="48" idx="2"/>
          </p:cNvCxnSpPr>
          <p:nvPr/>
        </p:nvCxnSpPr>
        <p:spPr>
          <a:xfrm>
            <a:off x="4860985" y="2715788"/>
            <a:ext cx="992156" cy="1163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xmlns="" id="{BBA55220-0A3C-FB05-7E36-C68DDF50F072}"/>
              </a:ext>
            </a:extLst>
          </p:cNvPr>
          <p:cNvCxnSpPr>
            <a:cxnSpLocks/>
          </p:cNvCxnSpPr>
          <p:nvPr/>
        </p:nvCxnSpPr>
        <p:spPr>
          <a:xfrm>
            <a:off x="6126191" y="2715788"/>
            <a:ext cx="1980000" cy="1163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xmlns="" id="{CF73AECF-36D3-CBDF-5806-CA480B4C4499}"/>
              </a:ext>
            </a:extLst>
          </p:cNvPr>
          <p:cNvCxnSpPr>
            <a:cxnSpLocks/>
          </p:cNvCxnSpPr>
          <p:nvPr/>
        </p:nvCxnSpPr>
        <p:spPr>
          <a:xfrm flipH="1" flipV="1">
            <a:off x="7232357" y="2715838"/>
            <a:ext cx="625" cy="180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xmlns="" id="{A0680E3E-2512-6A1A-E3EA-44839A3E0D6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6706422" y="3465477"/>
            <a:ext cx="393753" cy="270625"/>
          </a:xfrm>
          <a:prstGeom prst="bentConnector3">
            <a:avLst>
              <a:gd name="adj1" fmla="val 1620"/>
            </a:avLst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xmlns="" id="{A4015C41-4587-E1BF-7A8F-3DF236C02ABD}"/>
              </a:ext>
            </a:extLst>
          </p:cNvPr>
          <p:cNvCxnSpPr>
            <a:stCxn id="10" idx="0"/>
            <a:endCxn id="37" idx="2"/>
          </p:cNvCxnSpPr>
          <p:nvPr/>
        </p:nvCxnSpPr>
        <p:spPr>
          <a:xfrm rot="5400000" flipH="1" flipV="1">
            <a:off x="5437228" y="3316849"/>
            <a:ext cx="270625" cy="567882"/>
          </a:xfrm>
          <a:prstGeom prst="bentConnector2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xmlns="" id="{089EBFBE-86AF-DCA0-9896-A6D5E6FBA8F6}"/>
              </a:ext>
            </a:extLst>
          </p:cNvPr>
          <p:cNvCxnSpPr>
            <a:cxnSpLocks/>
          </p:cNvCxnSpPr>
          <p:nvPr/>
        </p:nvCxnSpPr>
        <p:spPr>
          <a:xfrm>
            <a:off x="7233694" y="4241954"/>
            <a:ext cx="876634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xmlns="" id="{10EF1A2A-AF97-E7D2-178C-FFE80B3251D1}"/>
              </a:ext>
            </a:extLst>
          </p:cNvPr>
          <p:cNvCxnSpPr>
            <a:cxnSpLocks/>
            <a:endCxn id="52" idx="4"/>
          </p:cNvCxnSpPr>
          <p:nvPr/>
        </p:nvCxnSpPr>
        <p:spPr>
          <a:xfrm flipV="1">
            <a:off x="7236700" y="3602002"/>
            <a:ext cx="0" cy="639952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xmlns="" id="{C0636B7D-2A5C-4392-28D4-DBDF85E54A2A}"/>
              </a:ext>
            </a:extLst>
          </p:cNvPr>
          <p:cNvCxnSpPr>
            <a:cxnSpLocks/>
          </p:cNvCxnSpPr>
          <p:nvPr/>
        </p:nvCxnSpPr>
        <p:spPr>
          <a:xfrm flipV="1">
            <a:off x="7650185" y="2204176"/>
            <a:ext cx="0" cy="468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xmlns="" id="{F7CB8566-5FA8-4AE1-E1A3-37AA355FE51D}"/>
              </a:ext>
            </a:extLst>
          </p:cNvPr>
          <p:cNvCxnSpPr>
            <a:cxnSpLocks/>
          </p:cNvCxnSpPr>
          <p:nvPr/>
        </p:nvCxnSpPr>
        <p:spPr>
          <a:xfrm flipH="1" flipV="1">
            <a:off x="7650185" y="2756590"/>
            <a:ext cx="625" cy="1476000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xmlns="" id="{A6D9F0B4-913F-1EED-8A29-810518E05463}"/>
              </a:ext>
            </a:extLst>
          </p:cNvPr>
          <p:cNvSpPr/>
          <p:nvPr/>
        </p:nvSpPr>
        <p:spPr>
          <a:xfrm>
            <a:off x="492094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xmlns="" id="{092FA1F5-FD24-F58C-C0EA-B1FA15F86729}"/>
              </a:ext>
            </a:extLst>
          </p:cNvPr>
          <p:cNvCxnSpPr>
            <a:cxnSpLocks/>
          </p:cNvCxnSpPr>
          <p:nvPr/>
        </p:nvCxnSpPr>
        <p:spPr>
          <a:xfrm>
            <a:off x="4012696" y="2715788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xmlns="" id="{C2AF8E87-6151-A661-474A-AD4443F2A4DC}"/>
              </a:ext>
            </a:extLst>
          </p:cNvPr>
          <p:cNvCxnSpPr>
            <a:cxnSpLocks/>
          </p:cNvCxnSpPr>
          <p:nvPr/>
        </p:nvCxnSpPr>
        <p:spPr>
          <a:xfrm flipV="1">
            <a:off x="3971971" y="4234824"/>
            <a:ext cx="575239" cy="168"/>
          </a:xfrm>
          <a:prstGeom prst="line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xmlns="" id="{E38F9929-0D9E-7BAE-3976-F3AACAC47318}"/>
              </a:ext>
            </a:extLst>
          </p:cNvPr>
          <p:cNvCxnSpPr>
            <a:cxnSpLocks/>
          </p:cNvCxnSpPr>
          <p:nvPr/>
        </p:nvCxnSpPr>
        <p:spPr>
          <a:xfrm>
            <a:off x="3971971" y="423863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xmlns="" id="{0549E296-9BF6-1073-36A7-44A6BC84E646}"/>
              </a:ext>
            </a:extLst>
          </p:cNvPr>
          <p:cNvSpPr/>
          <p:nvPr/>
        </p:nvSpPr>
        <p:spPr>
          <a:xfrm>
            <a:off x="8083166" y="2438176"/>
            <a:ext cx="3522024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6000" dirty="0"/>
              <a:t>A</a:t>
            </a:r>
            <a:endParaRPr lang="en-US" dirty="0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xmlns="" id="{3F4FFE22-901A-5ECB-8DD0-DE274D49C1CE}"/>
              </a:ext>
            </a:extLst>
          </p:cNvPr>
          <p:cNvCxnSpPr>
            <a:cxnSpLocks/>
          </p:cNvCxnSpPr>
          <p:nvPr/>
        </p:nvCxnSpPr>
        <p:spPr>
          <a:xfrm>
            <a:off x="11572921" y="4241954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xmlns="" id="{63C39462-6C16-B627-F0AA-034DBCEEAFBA}"/>
              </a:ext>
            </a:extLst>
          </p:cNvPr>
          <p:cNvCxnSpPr>
            <a:cxnSpLocks/>
          </p:cNvCxnSpPr>
          <p:nvPr/>
        </p:nvCxnSpPr>
        <p:spPr>
          <a:xfrm>
            <a:off x="11606773" y="2715942"/>
            <a:ext cx="212435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="" id="{74B7AA29-1794-6E8C-61F5-28A8A04CC1A1}"/>
                  </a:ext>
                </a:extLst>
              </p:cNvPr>
              <p:cNvSpPr txBox="1"/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4B7AA29-1794-6E8C-61F5-28A8A04CC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415" y="4579126"/>
                <a:ext cx="1024570" cy="369332"/>
              </a:xfrm>
              <a:prstGeom prst="rect">
                <a:avLst/>
              </a:prstGeom>
              <a:blipFill rotWithShape="0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xmlns="" id="{922EF61C-EF99-D374-EA91-A8D137ADC993}"/>
              </a:ext>
            </a:extLst>
          </p:cNvPr>
          <p:cNvCxnSpPr>
            <a:cxnSpLocks/>
          </p:cNvCxnSpPr>
          <p:nvPr/>
        </p:nvCxnSpPr>
        <p:spPr>
          <a:xfrm flipV="1">
            <a:off x="702412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xmlns="" id="{A2DA2877-36E8-DE52-7D68-11E5A3DA45FF}"/>
              </a:ext>
            </a:extLst>
          </p:cNvPr>
          <p:cNvCxnSpPr>
            <a:cxnSpLocks/>
          </p:cNvCxnSpPr>
          <p:nvPr/>
        </p:nvCxnSpPr>
        <p:spPr>
          <a:xfrm flipV="1">
            <a:off x="8276770" y="4392609"/>
            <a:ext cx="0" cy="2880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xmlns="" id="{E7D096F0-65EF-76A1-E864-DEFDD7B1DF2E}"/>
              </a:ext>
            </a:extLst>
          </p:cNvPr>
          <p:cNvCxnSpPr>
            <a:cxnSpLocks/>
          </p:cNvCxnSpPr>
          <p:nvPr/>
        </p:nvCxnSpPr>
        <p:spPr>
          <a:xfrm flipV="1">
            <a:off x="11404780" y="2212072"/>
            <a:ext cx="0" cy="273953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xmlns="" id="{43419660-66CC-40DA-03A8-9CA6E7C0AF37}"/>
              </a:ext>
            </a:extLst>
          </p:cNvPr>
          <p:cNvCxnSpPr>
            <a:cxnSpLocks/>
          </p:cNvCxnSpPr>
          <p:nvPr/>
        </p:nvCxnSpPr>
        <p:spPr>
          <a:xfrm flipV="1">
            <a:off x="3693922" y="2204176"/>
            <a:ext cx="0" cy="234000"/>
          </a:xfrm>
          <a:prstGeom prst="straightConnector1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="" id="{67B8102E-31B3-C3A9-13A3-0364FF9802EB}"/>
                  </a:ext>
                </a:extLst>
              </p:cNvPr>
              <p:cNvSpPr/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B8102E-31B3-C3A9-13A3-0364FF9802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6845" y="5294767"/>
                <a:ext cx="375794" cy="297872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4483E7F-A937-DCD5-593D-9BF0A521317D}"/>
              </a:ext>
            </a:extLst>
          </p:cNvPr>
          <p:cNvSpPr txBox="1"/>
          <p:nvPr/>
        </p:nvSpPr>
        <p:spPr>
          <a:xfrm>
            <a:off x="1991126" y="5592639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sigmoide</a:t>
            </a:r>
            <a:endParaRPr lang="en-US" sz="140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xmlns="" id="{A10A206D-DE0F-FE1C-4415-C2DFE8541DE1}"/>
              </a:ext>
            </a:extLst>
          </p:cNvPr>
          <p:cNvSpPr/>
          <p:nvPr/>
        </p:nvSpPr>
        <p:spPr>
          <a:xfrm>
            <a:off x="5608613" y="5288522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601EEF9-98B3-9F64-F85F-07641BA1F0E3}"/>
              </a:ext>
            </a:extLst>
          </p:cNvPr>
          <p:cNvSpPr txBox="1"/>
          <p:nvPr/>
        </p:nvSpPr>
        <p:spPr>
          <a:xfrm>
            <a:off x="5139666" y="5533393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operação</a:t>
            </a:r>
            <a:r>
              <a:rPr lang="en-US" sz="1400" dirty="0"/>
              <a:t> </a:t>
            </a:r>
            <a:r>
              <a:rPr lang="en-US" sz="1400" dirty="0" err="1"/>
              <a:t>pontual</a:t>
            </a:r>
            <a:endParaRPr lang="en-US" sz="14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xmlns="" id="{4CCF47AF-2D48-1D6C-D27B-0CC557A4D3BC}"/>
              </a:ext>
            </a:extLst>
          </p:cNvPr>
          <p:cNvCxnSpPr>
            <a:cxnSpLocks/>
          </p:cNvCxnSpPr>
          <p:nvPr/>
        </p:nvCxnSpPr>
        <p:spPr>
          <a:xfrm>
            <a:off x="6637778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D4D46D6C-FBD0-36BF-A4A0-F0AA4C62BC59}"/>
              </a:ext>
            </a:extLst>
          </p:cNvPr>
          <p:cNvSpPr txBox="1"/>
          <p:nvPr/>
        </p:nvSpPr>
        <p:spPr>
          <a:xfrm>
            <a:off x="6275192" y="5531005"/>
            <a:ext cx="121094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transferência</a:t>
            </a:r>
            <a:r>
              <a:rPr lang="en-US" sz="1400" dirty="0"/>
              <a:t> de </a:t>
            </a:r>
            <a:r>
              <a:rPr lang="en-US" sz="1400" dirty="0" err="1"/>
              <a:t>vetor</a:t>
            </a:r>
            <a:endParaRPr lang="en-US" sz="14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xmlns="" id="{87FE6DA6-5752-4BD9-4B22-C5A902BD5C6B}"/>
              </a:ext>
            </a:extLst>
          </p:cNvPr>
          <p:cNvCxnSpPr>
            <a:cxnSpLocks/>
          </p:cNvCxnSpPr>
          <p:nvPr/>
        </p:nvCxnSpPr>
        <p:spPr>
          <a:xfrm>
            <a:off x="7871574" y="5441203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xmlns="" id="{4AA379DA-FDF4-4C2E-212F-301E5D1A6625}"/>
              </a:ext>
            </a:extLst>
          </p:cNvPr>
          <p:cNvCxnSpPr/>
          <p:nvPr/>
        </p:nvCxnSpPr>
        <p:spPr>
          <a:xfrm>
            <a:off x="8134689" y="5434573"/>
            <a:ext cx="0" cy="2904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xmlns="" id="{F2C1639E-62C8-EF4F-BC59-06D35F047F64}"/>
              </a:ext>
            </a:extLst>
          </p:cNvPr>
          <p:cNvSpPr txBox="1"/>
          <p:nvPr/>
        </p:nvSpPr>
        <p:spPr>
          <a:xfrm>
            <a:off x="7538311" y="5690289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concatenação</a:t>
            </a:r>
            <a:endParaRPr lang="en-US" sz="14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xmlns="" id="{456BE94A-7B45-0DB7-05F1-86A17C409BD0}"/>
              </a:ext>
            </a:extLst>
          </p:cNvPr>
          <p:cNvCxnSpPr>
            <a:cxnSpLocks/>
          </p:cNvCxnSpPr>
          <p:nvPr/>
        </p:nvCxnSpPr>
        <p:spPr>
          <a:xfrm>
            <a:off x="9030310" y="5689985"/>
            <a:ext cx="576000" cy="0"/>
          </a:xfrm>
          <a:prstGeom prst="line">
            <a:avLst/>
          </a:prstGeom>
          <a:ln w="19050"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xmlns="" id="{0868D48C-258F-30A1-C079-D3E227346BD5}"/>
              </a:ext>
            </a:extLst>
          </p:cNvPr>
          <p:cNvCxnSpPr/>
          <p:nvPr/>
        </p:nvCxnSpPr>
        <p:spPr>
          <a:xfrm>
            <a:off x="9293364" y="5385798"/>
            <a:ext cx="0" cy="290413"/>
          </a:xfrm>
          <a:prstGeom prst="line">
            <a:avLst/>
          </a:prstGeom>
          <a:ln w="190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xmlns="" id="{82CB8A93-557A-5259-EB5A-85D7D4D96AD1}"/>
              </a:ext>
            </a:extLst>
          </p:cNvPr>
          <p:cNvSpPr txBox="1"/>
          <p:nvPr/>
        </p:nvSpPr>
        <p:spPr>
          <a:xfrm>
            <a:off x="8664743" y="5681618"/>
            <a:ext cx="121094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 err="1"/>
              <a:t>cópia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="" id="{2246AAD0-1376-49ED-6106-0413203680D6}"/>
                  </a:ext>
                </a:extLst>
              </p:cNvPr>
              <p:cNvSpPr txBox="1"/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246AAD0-1376-49ED-6106-0413203680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5614" y="4613929"/>
                <a:ext cx="432000" cy="369332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679AA4D9-0CBE-CBE0-7232-D2B675E04931}"/>
                  </a:ext>
                </a:extLst>
              </p:cNvPr>
              <p:cNvSpPr txBox="1"/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79AA4D9-0CBE-CBE0-7232-D2B675E04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0263" y="4592155"/>
                <a:ext cx="885222" cy="369332"/>
              </a:xfrm>
              <a:prstGeom prst="rect">
                <a:avLst/>
              </a:prstGeom>
              <a:blipFill rotWithShape="0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="" id="{96FA6F2C-8E33-655A-EAEF-0D0E286BD191}"/>
                  </a:ext>
                </a:extLst>
              </p:cNvPr>
              <p:cNvSpPr txBox="1"/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6FA6F2C-8E33-655A-EAEF-0D0E286BD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0134" y="1834844"/>
                <a:ext cx="885222" cy="369332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="" id="{2E911784-46DC-FD4B-8F99-C5D6064602E6}"/>
                  </a:ext>
                </a:extLst>
              </p:cNvPr>
              <p:cNvSpPr txBox="1"/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2E911784-46DC-FD4B-8F99-C5D60646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9557" y="1834844"/>
                <a:ext cx="885222" cy="369332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="" id="{5276B13D-7144-BE36-299F-CE78D79813D4}"/>
                  </a:ext>
                </a:extLst>
              </p:cNvPr>
              <p:cNvSpPr txBox="1"/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5276B13D-7144-BE36-299F-CE78D7981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7173" y="1834844"/>
                <a:ext cx="885222" cy="369332"/>
              </a:xfrm>
              <a:prstGeom prst="rect">
                <a:avLst/>
              </a:prstGeom>
              <a:blipFill rotWithShape="0"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37">
            <a:extLst>
              <a:ext uri="{FF2B5EF4-FFF2-40B4-BE49-F238E27FC236}">
                <a16:creationId xmlns:a16="http://schemas.microsoft.com/office/drawing/2014/main" xmlns="" id="{8A9D5604-42D8-94B0-F0FA-40F8A5FE0687}"/>
              </a:ext>
            </a:extLst>
          </p:cNvPr>
          <p:cNvSpPr/>
          <p:nvPr/>
        </p:nvSpPr>
        <p:spPr>
          <a:xfrm>
            <a:off x="4263911" y="5283385"/>
            <a:ext cx="588587" cy="29787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600" dirty="0" err="1">
                <a:solidFill>
                  <a:schemeClr val="tx1"/>
                </a:solidFill>
              </a:rPr>
              <a:t>tanh</a:t>
            </a:r>
            <a:endParaRPr lang="en-US" sz="10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xmlns="" id="{36895CF3-782C-C5FB-0D92-D28EF588D039}"/>
              </a:ext>
            </a:extLst>
          </p:cNvPr>
          <p:cNvSpPr txBox="1"/>
          <p:nvPr/>
        </p:nvSpPr>
        <p:spPr>
          <a:xfrm>
            <a:off x="3608193" y="5581257"/>
            <a:ext cx="17050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densa com ativação </a:t>
            </a:r>
            <a:r>
              <a:rPr lang="pt-BR" sz="1400" dirty="0" err="1"/>
              <a:t>tanh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975628" y="1834844"/>
            <a:ext cx="7884560" cy="4465463"/>
            <a:chOff x="1975628" y="1834844"/>
            <a:chExt cx="7884560" cy="4465463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xmlns="" id="{62617247-07D2-6657-99D1-398FE3BE06C0}"/>
                </a:ext>
              </a:extLst>
            </p:cNvPr>
            <p:cNvGrpSpPr/>
            <p:nvPr/>
          </p:nvGrpSpPr>
          <p:grpSpPr>
            <a:xfrm>
              <a:off x="3489806" y="1834844"/>
              <a:ext cx="5319746" cy="3227138"/>
              <a:chOff x="3489806" y="1834844"/>
              <a:chExt cx="5319746" cy="3227138"/>
            </a:xfrm>
          </p:grpSpPr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xmlns="" id="{F9B84FA2-83D7-7AD8-9610-5A415E5EE1A1}"/>
                  </a:ext>
                </a:extLst>
              </p:cNvPr>
              <p:cNvSpPr/>
              <p:nvPr/>
            </p:nvSpPr>
            <p:spPr>
              <a:xfrm>
                <a:off x="4301176" y="2438400"/>
                <a:ext cx="3522024" cy="1981200"/>
              </a:xfrm>
              <a:prstGeom prst="roundRect">
                <a:avLst/>
              </a:prstGeom>
            </p:spPr>
            <p:style>
              <a:lnRef idx="1">
                <a:schemeClr val="accent6"/>
              </a:lnRef>
              <a:fillRef idx="2">
                <a:schemeClr val="accent6"/>
              </a:fillRef>
              <a:effectRef idx="1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xmlns="" id="{62E9A632-1F8F-BB2C-9A7A-07DEA62B46A1}"/>
                      </a:ext>
                    </a:extLst>
                  </p:cNvPr>
                  <p:cNvSpPr/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62E9A632-1F8F-BB2C-9A7A-07DEA62B46A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58205" y="3736102"/>
                    <a:ext cx="332510" cy="29787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xmlns="" id="{9B13C382-E365-0604-E2B1-4396795DE5DD}"/>
                      </a:ext>
                    </a:extLst>
                  </p:cNvPr>
                  <p:cNvSpPr/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9B13C382-E365-0604-E2B1-4396795DE5D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22344" y="3736102"/>
                    <a:ext cx="332510" cy="29787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xmlns="" id="{28298EA5-A736-9895-9469-3658052D65D0}"/>
                      </a:ext>
                    </a:extLst>
                  </p:cNvPr>
                  <p:cNvSpPr/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oMath>
                      </m:oMathPara>
                    </a14:m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28298EA5-A736-9895-9469-3658052D65D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40167" y="3738898"/>
                    <a:ext cx="332510" cy="29787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xmlns="" id="{FE2E3973-7BB3-5423-9E41-4A439D4AD2FA}"/>
                  </a:ext>
                </a:extLst>
              </p:cNvPr>
              <p:cNvSpPr/>
              <p:nvPr/>
            </p:nvSpPr>
            <p:spPr>
              <a:xfrm>
                <a:off x="5686483" y="3736102"/>
                <a:ext cx="614781" cy="29787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xmlns="" id="{357EC369-9B76-A27D-EDC3-890F0716751F}"/>
                  </a:ext>
                </a:extLst>
              </p:cNvPr>
              <p:cNvGrpSpPr/>
              <p:nvPr/>
            </p:nvGrpSpPr>
            <p:grpSpPr>
              <a:xfrm>
                <a:off x="6922167" y="2849398"/>
                <a:ext cx="627482" cy="369332"/>
                <a:chOff x="6108367" y="2910505"/>
                <a:chExt cx="627482" cy="369332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xmlns="" id="{1105FA2D-CACC-93FD-8147-BCE771CE8357}"/>
                    </a:ext>
                  </a:extLst>
                </p:cNvPr>
                <p:cNvSpPr/>
                <p:nvPr/>
              </p:nvSpPr>
              <p:spPr>
                <a:xfrm>
                  <a:off x="6108367" y="2964609"/>
                  <a:ext cx="614781" cy="297873"/>
                </a:xfrm>
                <a:prstGeom prst="ellipse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50" dirty="0"/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007EE48F-7B86-5BD2-1F8C-469594A636F0}"/>
                    </a:ext>
                  </a:extLst>
                </p:cNvPr>
                <p:cNvSpPr txBox="1"/>
                <p:nvPr/>
              </p:nvSpPr>
              <p:spPr>
                <a:xfrm>
                  <a:off x="6108701" y="2910505"/>
                  <a:ext cx="6271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dirty="0" err="1">
                      <a:solidFill>
                        <a:schemeClr val="tx1"/>
                      </a:solidFill>
                    </a:rPr>
                    <a:t>tanh</a:t>
                  </a:r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xmlns="" id="{734FE972-9F06-C11C-3F53-9D4666EC5095}"/>
                  </a:ext>
                </a:extLst>
              </p:cNvPr>
              <p:cNvSpPr/>
              <p:nvPr/>
            </p:nvSpPr>
            <p:spPr>
              <a:xfrm>
                <a:off x="4587935" y="2579263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xmlns="" id="{EA318A7D-6AD1-A164-9144-BD5F28A4E7B7}"/>
                  </a:ext>
                </a:extLst>
              </p:cNvPr>
              <p:cNvCxnSpPr>
                <a:stCxn id="8" idx="0"/>
                <a:endCxn id="17" idx="4"/>
              </p:cNvCxnSpPr>
              <p:nvPr/>
            </p:nvCxnSpPr>
            <p:spPr>
              <a:xfrm flipV="1">
                <a:off x="4724460" y="2852313"/>
                <a:ext cx="0" cy="883789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Connector: Elbow 29">
                <a:extLst>
                  <a:ext uri="{FF2B5EF4-FFF2-40B4-BE49-F238E27FC236}">
                    <a16:creationId xmlns:a16="http://schemas.microsoft.com/office/drawing/2014/main" xmlns="" id="{AE5B4441-DF89-25A1-3560-8E5404670E96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 flipV="1">
                <a:off x="4031369" y="4036770"/>
                <a:ext cx="2675053" cy="214575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xmlns="" id="{0093E439-25EF-02C4-D9C2-A1FE29C3AD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xmlns="" id="{A60E907D-7CA5-2C6C-E31F-2F003AE9D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8326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xmlns="" id="{137E1A15-7B2A-4277-FFA1-74355E9235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88110" y="4033974"/>
                <a:ext cx="0" cy="211613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xmlns="" id="{D93AEA26-EC0B-1E3E-D68C-6CE9227A173D}"/>
                  </a:ext>
                </a:extLst>
              </p:cNvPr>
              <p:cNvSpPr/>
              <p:nvPr/>
            </p:nvSpPr>
            <p:spPr>
              <a:xfrm>
                <a:off x="5856481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xmlns="" id="{461F8C01-4628-007D-8EE8-08D26131E8B9}"/>
                  </a:ext>
                </a:extLst>
              </p:cNvPr>
              <p:cNvCxnSpPr>
                <a:cxnSpLocks/>
                <a:stCxn id="12" idx="0"/>
                <a:endCxn id="37" idx="4"/>
              </p:cNvCxnSpPr>
              <p:nvPr/>
            </p:nvCxnSpPr>
            <p:spPr>
              <a:xfrm flipH="1" flipV="1">
                <a:off x="5993006" y="3602002"/>
                <a:ext cx="868" cy="1341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xmlns="" id="{F5D0673A-6CCA-67DE-BB0A-0EAB5B641853}"/>
                  </a:ext>
                </a:extLst>
              </p:cNvPr>
              <p:cNvSpPr/>
              <p:nvPr/>
            </p:nvSpPr>
            <p:spPr>
              <a:xfrm>
                <a:off x="5853141" y="2580426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+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xmlns="" id="{34707AEE-8AB6-332F-D775-5D47B6EAB570}"/>
                  </a:ext>
                </a:extLst>
              </p:cNvPr>
              <p:cNvCxnSpPr>
                <a:cxnSpLocks/>
                <a:stCxn id="37" idx="0"/>
                <a:endCxn id="48" idx="4"/>
              </p:cNvCxnSpPr>
              <p:nvPr/>
            </p:nvCxnSpPr>
            <p:spPr>
              <a:xfrm flipH="1" flipV="1">
                <a:off x="5989666" y="2853476"/>
                <a:ext cx="3340" cy="475476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xmlns="" id="{E3FDEDCE-1E3B-8147-4D13-A242E9C2B33E}"/>
                  </a:ext>
                </a:extLst>
              </p:cNvPr>
              <p:cNvSpPr/>
              <p:nvPr/>
            </p:nvSpPr>
            <p:spPr>
              <a:xfrm>
                <a:off x="7100175" y="3328952"/>
                <a:ext cx="273050" cy="27305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x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xmlns="" id="{06E60737-7998-C245-9FB1-6B1755A8F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6075" y="3192538"/>
                <a:ext cx="625" cy="144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xmlns="" id="{FE690B6A-0885-819C-6118-6C7D093B193B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V="1">
                <a:off x="4012696" y="2715788"/>
                <a:ext cx="575239" cy="168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xmlns="" id="{4E0DA3A1-C433-12FD-E043-1BB3EB5D0076}"/>
                  </a:ext>
                </a:extLst>
              </p:cNvPr>
              <p:cNvCxnSpPr>
                <a:cxnSpLocks/>
                <a:stCxn id="17" idx="6"/>
                <a:endCxn id="48" idx="2"/>
              </p:cNvCxnSpPr>
              <p:nvPr/>
            </p:nvCxnSpPr>
            <p:spPr>
              <a:xfrm>
                <a:off x="4860985" y="2715788"/>
                <a:ext cx="992156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xmlns="" id="{A63A645C-4CC1-5896-32E8-305EA54E21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26191" y="2715788"/>
                <a:ext cx="1980000" cy="1163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xmlns="" id="{C7FF5E71-FB7D-9609-3FC5-AD13B5F1C3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232357" y="2715838"/>
                <a:ext cx="625" cy="180000"/>
              </a:xfrm>
              <a:prstGeom prst="line">
                <a:avLst/>
              </a:prstGeom>
              <a:ln w="19050">
                <a:headEnd type="triangl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Connector: Elbow 77">
                <a:extLst>
                  <a:ext uri="{FF2B5EF4-FFF2-40B4-BE49-F238E27FC236}">
                    <a16:creationId xmlns:a16="http://schemas.microsoft.com/office/drawing/2014/main" xmlns="" id="{942AD4B1-3DFB-E8BA-0218-D9E850190EBC}"/>
                  </a:ext>
                </a:extLst>
              </p:cNvPr>
              <p:cNvCxnSpPr>
                <a:cxnSpLocks/>
                <a:endCxn id="52" idx="2"/>
              </p:cNvCxnSpPr>
              <p:nvPr/>
            </p:nvCxnSpPr>
            <p:spPr>
              <a:xfrm flipV="1">
                <a:off x="6706422" y="3465477"/>
                <a:ext cx="393753" cy="270625"/>
              </a:xfrm>
              <a:prstGeom prst="bentConnector3">
                <a:avLst>
                  <a:gd name="adj1" fmla="val 1620"/>
                </a:avLst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Connector: Elbow 82">
                <a:extLst>
                  <a:ext uri="{FF2B5EF4-FFF2-40B4-BE49-F238E27FC236}">
                    <a16:creationId xmlns:a16="http://schemas.microsoft.com/office/drawing/2014/main" xmlns="" id="{4D8692E4-6CA5-D2CA-A76D-73771408476E}"/>
                  </a:ext>
                </a:extLst>
              </p:cNvPr>
              <p:cNvCxnSpPr>
                <a:stCxn id="10" idx="0"/>
                <a:endCxn id="37" idx="2"/>
              </p:cNvCxnSpPr>
              <p:nvPr/>
            </p:nvCxnSpPr>
            <p:spPr>
              <a:xfrm rot="5400000" flipH="1" flipV="1">
                <a:off x="5437228" y="3316849"/>
                <a:ext cx="270625" cy="567882"/>
              </a:xfrm>
              <a:prstGeom prst="bentConnector2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xmlns="" id="{9FE0230A-FA48-1674-EE72-563556A3A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33694" y="4241954"/>
                <a:ext cx="876634" cy="0"/>
              </a:xfrm>
              <a:prstGeom prst="line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xmlns="" id="{DD806146-5F28-31BB-C91D-206A9C7C1949}"/>
                  </a:ext>
                </a:extLst>
              </p:cNvPr>
              <p:cNvCxnSpPr>
                <a:cxnSpLocks/>
                <a:endCxn id="52" idx="4"/>
              </p:cNvCxnSpPr>
              <p:nvPr/>
            </p:nvCxnSpPr>
            <p:spPr>
              <a:xfrm flipV="1">
                <a:off x="7236700" y="3602002"/>
                <a:ext cx="0" cy="639952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Straight Arrow Connector 92">
                <a:extLst>
                  <a:ext uri="{FF2B5EF4-FFF2-40B4-BE49-F238E27FC236}">
                    <a16:creationId xmlns:a16="http://schemas.microsoft.com/office/drawing/2014/main" xmlns="" id="{97AFC188-C5E0-E364-C3F7-EF901703C4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50185" y="2204176"/>
                <a:ext cx="0" cy="468000"/>
              </a:xfrm>
              <a:prstGeom prst="straightConnector1">
                <a:avLst/>
              </a:prstGeom>
              <a:ln w="19050">
                <a:headEnd type="none" w="med" len="med"/>
                <a:tailEnd type="triangl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xmlns="" id="{5C32825B-E0C6-9CDA-AFFC-FEF61AC5A16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650185" y="2756590"/>
                <a:ext cx="625" cy="1476000"/>
              </a:xfrm>
              <a:prstGeom prst="line">
                <a:avLst/>
              </a:prstGeom>
              <a:ln w="19050"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xmlns="" id="{CE32A260-F120-9DD1-2C21-2F72B830F80E}"/>
                      </a:ext>
                    </a:extLst>
                  </p:cNvPr>
                  <p:cNvSpPr txBox="1"/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CE32A260-F120-9DD1-2C21-2F72B830F8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2865" y="4033974"/>
                    <a:ext cx="43200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8169" r="-563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xmlns="" id="{CB757A62-58FF-F46D-A7A5-BC95B2F299AF}"/>
                      </a:ext>
                    </a:extLst>
                  </p:cNvPr>
                  <p:cNvSpPr txBox="1"/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B757A62-58FF-F46D-A7A5-BC95B2F299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30169" y="2525610"/>
                    <a:ext cx="58934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xmlns="" id="{B53DAB36-7F1E-A38E-607F-E5656744709C}"/>
                      </a:ext>
                    </a:extLst>
                  </p:cNvPr>
                  <p:cNvSpPr txBox="1"/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B53DAB36-7F1E-A38E-607F-E565674470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29557" y="1834844"/>
                    <a:ext cx="88522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xmlns="" id="{D5B871EC-42BA-BC5E-43FA-B2D29508EEF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1" name="TextBox 30">
                    <a:extLst>
                      <a:ext uri="{FF2B5EF4-FFF2-40B4-BE49-F238E27FC236}">
                        <a16:creationId xmlns:a16="http://schemas.microsoft.com/office/drawing/2014/main" id="{D5B871EC-42BA-BC5E-43FA-B2D29508EE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9806" y="2511465"/>
                    <a:ext cx="591877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xmlns="" id="{B05700EA-ADF6-1501-A886-A487A7F4F0DF}"/>
                      </a:ext>
                    </a:extLst>
                  </p:cNvPr>
                  <p:cNvSpPr txBox="1"/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𝒉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05700EA-ADF6-1501-A886-A487A7F4F0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4330" y="4057288"/>
                    <a:ext cx="885222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xmlns="" id="{174094E0-AD46-6D7F-26FE-DF8481A5AC18}"/>
                  </a:ext>
                </a:extLst>
              </p:cNvPr>
              <p:cNvCxnSpPr/>
              <p:nvPr/>
            </p:nvCxnSpPr>
            <p:spPr>
              <a:xfrm>
                <a:off x="4558205" y="4251345"/>
                <a:ext cx="0" cy="492105"/>
              </a:xfrm>
              <a:prstGeom prst="line">
                <a:avLst/>
              </a:prstGeom>
              <a:ln w="1905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xmlns="" id="{BABCE601-1CC7-DA51-8E3E-DB40B8174F54}"/>
                      </a:ext>
                    </a:extLst>
                  </p:cNvPr>
                  <p:cNvSpPr txBox="1"/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BABCE601-1CC7-DA51-8E3E-DB40B8174F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71935" y="4692650"/>
                    <a:ext cx="432000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Rectangle 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1347" y="5263771"/>
                  <a:ext cx="375794" cy="297872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75628" y="5561643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</a:t>
              </a:r>
              <a:r>
                <a:rPr lang="pt-BR" sz="1400" dirty="0" smtClean="0"/>
                <a:t>totalmente conectada com </a:t>
              </a:r>
              <a:r>
                <a:rPr lang="pt-BR" sz="1400" dirty="0"/>
                <a:t>ativação sigmoide</a:t>
              </a:r>
              <a:endParaRPr lang="en-US" sz="1400" dirty="0"/>
            </a:p>
          </p:txBody>
        </p:sp>
        <p:sp>
          <p:nvSpPr>
            <p:cNvPr id="4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593115" y="52575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24168" y="5560453"/>
              <a:ext cx="1210943" cy="7386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 smtClean="0"/>
                <a:t>elemento</a:t>
              </a:r>
              <a:r>
                <a:rPr lang="en-US" sz="1400" dirty="0" smtClean="0"/>
                <a:t> a </a:t>
              </a:r>
              <a:r>
                <a:rPr lang="en-US" sz="1400" dirty="0" err="1" smtClean="0"/>
                <a:t>elemento</a:t>
              </a:r>
              <a:endParaRPr lang="en-US" sz="1400" dirty="0"/>
            </a:p>
          </p:txBody>
        </p:sp>
        <p:cxnSp>
          <p:nvCxnSpPr>
            <p:cNvPr id="46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22280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59694" y="5500009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51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56076" y="5410207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19191" y="5403577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22813" y="56592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</a:t>
              </a:r>
              <a:r>
                <a:rPr lang="en-US" sz="1400" dirty="0" err="1" smtClean="0"/>
                <a:t>oncatenação</a:t>
              </a:r>
              <a:r>
                <a:rPr lang="en-US" sz="1400" dirty="0" smtClean="0"/>
                <a:t> de </a:t>
              </a:r>
              <a:r>
                <a:rPr lang="en-US" sz="1400" dirty="0" err="1" smtClean="0"/>
                <a:t>vetores</a:t>
              </a:r>
              <a:endParaRPr lang="en-US" sz="1400" dirty="0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14812" y="5658989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77866" y="5354802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49245" y="5650622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</a:t>
              </a:r>
              <a:r>
                <a:rPr lang="en-US" sz="1400" dirty="0" err="1" smtClean="0"/>
                <a:t>ópia</a:t>
              </a:r>
              <a:r>
                <a:rPr lang="en-US" sz="1400" dirty="0" smtClean="0"/>
                <a:t> de </a:t>
              </a:r>
              <a:r>
                <a:rPr lang="en-US" sz="1400" dirty="0" err="1" smtClean="0"/>
                <a:t>vetor</a:t>
              </a:r>
              <a:endParaRPr lang="en-US" sz="1400" dirty="0"/>
            </a:p>
          </p:txBody>
        </p:sp>
        <p:sp>
          <p:nvSpPr>
            <p:cNvPr id="59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48413" y="5252389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592695" y="5550261"/>
              <a:ext cx="1705021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</a:t>
              </a:r>
              <a:r>
                <a:rPr lang="pt-BR" sz="1400" dirty="0" smtClean="0"/>
                <a:t>totalmente conectada com </a:t>
              </a:r>
              <a:r>
                <a:rPr lang="pt-BR" sz="1400" dirty="0"/>
                <a:t>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3197032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6011628" y="1918390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EE45A31D-EB0C-6D89-2D47-756B80675F45}"/>
              </a:ext>
            </a:extLst>
          </p:cNvPr>
          <p:cNvGrpSpPr/>
          <p:nvPr/>
        </p:nvGrpSpPr>
        <p:grpSpPr>
          <a:xfrm>
            <a:off x="510827" y="2688275"/>
            <a:ext cx="3550826" cy="1751496"/>
            <a:chOff x="510827" y="2688275"/>
            <a:chExt cx="3550826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748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𝒉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𝑾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𝒃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3793" y="3006885"/>
                  <a:ext cx="2717860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41">
              <a:extLst>
                <a:ext uri="{FF2B5EF4-FFF2-40B4-BE49-F238E27FC236}">
                  <a16:creationId xmlns:a16="http://schemas.microsoft.com/office/drawing/2014/main" xmlns="" id="{4351BED6-9CC8-9034-67A1-1A6D7E93D2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8023" y="2934602"/>
              <a:ext cx="396000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506345" y="1849548"/>
            <a:ext cx="5133274" cy="3158904"/>
            <a:chOff x="3387954" y="1841814"/>
            <a:chExt cx="5133274" cy="3158904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 rotWithShape="0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063158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1000551" y="722618"/>
            <a:ext cx="4928922" cy="2713085"/>
            <a:chOff x="3581399" y="2111642"/>
            <a:chExt cx="4928922" cy="2713085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1547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151">
                  <a:extLst>
                    <a:ext uri="{FF2B5EF4-FFF2-40B4-BE49-F238E27FC236}">
                      <a16:creationId xmlns="" xmlns:a16="http://schemas.microsoft.com/office/drawing/2014/main" xmlns:a14="http://schemas.microsoft.com/office/drawing/2010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857" y="2111642"/>
                  <a:ext cx="363844" cy="369332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 r="-169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3" name="Agrupar 82">
            <a:extLst>
              <a:ext uri="{FF2B5EF4-FFF2-40B4-BE49-F238E27FC236}">
                <a16:creationId xmlns:a16="http://schemas.microsoft.com/office/drawing/2014/main" xmlns="" id="{3829C9C8-68E0-A161-6783-8325BBD0C9AF}"/>
              </a:ext>
            </a:extLst>
          </p:cNvPr>
          <p:cNvGrpSpPr/>
          <p:nvPr/>
        </p:nvGrpSpPr>
        <p:grpSpPr>
          <a:xfrm>
            <a:off x="1393870" y="3892247"/>
            <a:ext cx="4928922" cy="2713085"/>
            <a:chOff x="1393870" y="3892247"/>
            <a:chExt cx="4928922" cy="2713085"/>
          </a:xfrm>
        </p:grpSpPr>
        <p:sp>
          <p:nvSpPr>
            <p:cNvPr id="5" name="Rectangle: Rounded Corners 133">
              <a:extLst>
                <a:ext uri="{FF2B5EF4-FFF2-40B4-BE49-F238E27FC236}">
                  <a16:creationId xmlns:a16="http://schemas.microsoft.com/office/drawing/2014/main" xmlns="" id="{76B82460-6712-509A-7F39-7E3342D21837}"/>
                </a:ext>
              </a:extLst>
            </p:cNvPr>
            <p:cNvSpPr/>
            <p:nvPr/>
          </p:nvSpPr>
          <p:spPr>
            <a:xfrm>
              <a:off x="2113647" y="4219005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" name="Straight Arrow Connector 134">
              <a:extLst>
                <a:ext uri="{FF2B5EF4-FFF2-40B4-BE49-F238E27FC236}">
                  <a16:creationId xmlns:a16="http://schemas.microsoft.com/office/drawing/2014/main" xmlns="" id="{00825B81-BABB-775B-C142-3EB6C20FB5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36620" y="4025478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135">
              <a:extLst>
                <a:ext uri="{FF2B5EF4-FFF2-40B4-BE49-F238E27FC236}">
                  <a16:creationId xmlns:a16="http://schemas.microsoft.com/office/drawing/2014/main" xmlns="" id="{299B97CD-2596-41F1-C944-D841B055FD4F}"/>
                </a:ext>
              </a:extLst>
            </p:cNvPr>
            <p:cNvSpPr/>
            <p:nvPr/>
          </p:nvSpPr>
          <p:spPr>
            <a:xfrm>
              <a:off x="2546073" y="49684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Oval 136">
              <a:extLst>
                <a:ext uri="{FF2B5EF4-FFF2-40B4-BE49-F238E27FC236}">
                  <a16:creationId xmlns:a16="http://schemas.microsoft.com/office/drawing/2014/main" xmlns="" id="{5A2821D2-04DD-590C-E6EF-7FEB220F2DD9}"/>
                </a:ext>
              </a:extLst>
            </p:cNvPr>
            <p:cNvSpPr/>
            <p:nvPr/>
          </p:nvSpPr>
          <p:spPr>
            <a:xfrm>
              <a:off x="4048952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137">
              <a:extLst>
                <a:ext uri="{FF2B5EF4-FFF2-40B4-BE49-F238E27FC236}">
                  <a16:creationId xmlns:a16="http://schemas.microsoft.com/office/drawing/2014/main" xmlns="" id="{51169341-7C6A-C220-1721-4F73952EEF3F}"/>
                </a:ext>
              </a:extLst>
            </p:cNvPr>
            <p:cNvSpPr/>
            <p:nvPr/>
          </p:nvSpPr>
          <p:spPr>
            <a:xfrm>
              <a:off x="4889202" y="539301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Oval 138">
              <a:extLst>
                <a:ext uri="{FF2B5EF4-FFF2-40B4-BE49-F238E27FC236}">
                  <a16:creationId xmlns:a16="http://schemas.microsoft.com/office/drawing/2014/main" xmlns="" id="{66B6166C-B62E-A0A3-1C8F-5870F25564FC}"/>
                </a:ext>
              </a:extLst>
            </p:cNvPr>
            <p:cNvSpPr/>
            <p:nvPr/>
          </p:nvSpPr>
          <p:spPr>
            <a:xfrm>
              <a:off x="5060068" y="435695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xmlns="" id="{14D576C3-4CC9-E995-4273-0A0504F1DC54}"/>
                    </a:ext>
                  </a:extLst>
                </p:cNvPr>
                <p:cNvSpPr txBox="1"/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39">
                  <a:extLst>
                    <a:ext uri="{FF2B5EF4-FFF2-40B4-BE49-F238E27FC236}">
                      <a16:creationId xmlns:a16="http://schemas.microsoft.com/office/drawing/2014/main" id="{14D576C3-4CC9-E995-4273-0A0504F1D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870" y="4300796"/>
                  <a:ext cx="511583" cy="369332"/>
                </a:xfrm>
                <a:prstGeom prst="rect">
                  <a:avLst/>
                </a:prstGeom>
                <a:blipFill>
                  <a:blip r:embed="rId12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Oval 140">
              <a:extLst>
                <a:ext uri="{FF2B5EF4-FFF2-40B4-BE49-F238E27FC236}">
                  <a16:creationId xmlns:a16="http://schemas.microsoft.com/office/drawing/2014/main" xmlns="" id="{E32641F0-F42D-21EA-BC6A-9B9282C4533E}"/>
                </a:ext>
              </a:extLst>
            </p:cNvPr>
            <p:cNvSpPr/>
            <p:nvPr/>
          </p:nvSpPr>
          <p:spPr>
            <a:xfrm>
              <a:off x="5060068" y="4866870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xmlns="" id="{C3636391-8219-5A2B-D717-423AC3B27F6E}"/>
                    </a:ext>
                  </a:extLst>
                </p:cNvPr>
                <p:cNvSpPr/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41">
                  <a:extLst>
                    <a:ext uri="{FF2B5EF4-FFF2-40B4-BE49-F238E27FC236}">
                      <a16:creationId xmlns:a16="http://schemas.microsoft.com/office/drawing/2014/main" id="{C3636391-8219-5A2B-D717-423AC3B27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8904" y="5387770"/>
                  <a:ext cx="332510" cy="29787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xmlns="" id="{E0E83C28-82ED-F423-E8E9-0253AE0C615B}"/>
                    </a:ext>
                  </a:extLst>
                </p:cNvPr>
                <p:cNvSpPr/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42">
                  <a:extLst>
                    <a:ext uri="{FF2B5EF4-FFF2-40B4-BE49-F238E27FC236}">
                      <a16:creationId xmlns:a16="http://schemas.microsoft.com/office/drawing/2014/main" id="{E0E83C28-82ED-F423-E8E9-0253AE0C61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39082" y="5390656"/>
                  <a:ext cx="332510" cy="2978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3">
              <a:extLst>
                <a:ext uri="{FF2B5EF4-FFF2-40B4-BE49-F238E27FC236}">
                  <a16:creationId xmlns:a16="http://schemas.microsoft.com/office/drawing/2014/main" xmlns="" id="{041396E0-C58E-16C3-3F28-E205627319DE}"/>
                </a:ext>
              </a:extLst>
            </p:cNvPr>
            <p:cNvSpPr/>
            <p:nvPr/>
          </p:nvSpPr>
          <p:spPr>
            <a:xfrm>
              <a:off x="4492549" y="48655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44">
              <a:extLst>
                <a:ext uri="{FF2B5EF4-FFF2-40B4-BE49-F238E27FC236}">
                  <a16:creationId xmlns:a16="http://schemas.microsoft.com/office/drawing/2014/main" xmlns="" id="{329DFF21-ACA5-F8F3-FBE8-F05E18912B49}"/>
                </a:ext>
              </a:extLst>
            </p:cNvPr>
            <p:cNvCxnSpPr>
              <a:cxnSpLocks/>
              <a:stCxn id="11" idx="3"/>
              <a:endCxn id="8" idx="2"/>
            </p:cNvCxnSpPr>
            <p:nvPr/>
          </p:nvCxnSpPr>
          <p:spPr>
            <a:xfrm>
              <a:off x="1905453" y="4485462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45">
              <a:extLst>
                <a:ext uri="{FF2B5EF4-FFF2-40B4-BE49-F238E27FC236}">
                  <a16:creationId xmlns:a16="http://schemas.microsoft.com/office/drawing/2014/main" xmlns="" id="{BD8F51DA-A7F5-1B2D-C65A-52E31CC37001}"/>
                </a:ext>
              </a:extLst>
            </p:cNvPr>
            <p:cNvCxnSpPr>
              <a:cxnSpLocks/>
              <a:stCxn id="13" idx="0"/>
              <a:endCxn id="8" idx="4"/>
            </p:cNvCxnSpPr>
            <p:nvPr/>
          </p:nvCxnSpPr>
          <p:spPr>
            <a:xfrm flipV="1">
              <a:off x="4185159" y="4630003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46">
              <a:extLst>
                <a:ext uri="{FF2B5EF4-FFF2-40B4-BE49-F238E27FC236}">
                  <a16:creationId xmlns:a16="http://schemas.microsoft.com/office/drawing/2014/main" xmlns="" id="{8DC40D2B-03A4-E6E0-8F28-A1C990D606DB}"/>
                </a:ext>
              </a:extLst>
            </p:cNvPr>
            <p:cNvSpPr txBox="1"/>
            <p:nvPr/>
          </p:nvSpPr>
          <p:spPr>
            <a:xfrm>
              <a:off x="4455484" y="4817407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Connector 147">
              <a:extLst>
                <a:ext uri="{FF2B5EF4-FFF2-40B4-BE49-F238E27FC236}">
                  <a16:creationId xmlns:a16="http://schemas.microsoft.com/office/drawing/2014/main" xmlns="" id="{CDA71C24-089D-2774-5617-65EA4D14DEA6}"/>
                </a:ext>
              </a:extLst>
            </p:cNvPr>
            <p:cNvCxnSpPr>
              <a:stCxn id="8" idx="6"/>
              <a:endCxn id="10" idx="2"/>
            </p:cNvCxnSpPr>
            <p:nvPr/>
          </p:nvCxnSpPr>
          <p:spPr>
            <a:xfrm>
              <a:off x="4322002" y="4493478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48">
              <a:extLst>
                <a:ext uri="{FF2B5EF4-FFF2-40B4-BE49-F238E27FC236}">
                  <a16:creationId xmlns:a16="http://schemas.microsoft.com/office/drawing/2014/main" xmlns="" id="{2C2EE00C-3585-DF73-1A5B-40B6ADF20BE2}"/>
                </a:ext>
              </a:extLst>
            </p:cNvPr>
            <p:cNvCxnSpPr>
              <a:stCxn id="12" idx="0"/>
              <a:endCxn id="10" idx="4"/>
            </p:cNvCxnSpPr>
            <p:nvPr/>
          </p:nvCxnSpPr>
          <p:spPr>
            <a:xfrm flipV="1">
              <a:off x="5196593" y="4630003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149">
              <a:extLst>
                <a:ext uri="{FF2B5EF4-FFF2-40B4-BE49-F238E27FC236}">
                  <a16:creationId xmlns:a16="http://schemas.microsoft.com/office/drawing/2014/main" xmlns="" id="{B4CA279F-EB35-30D6-EFCA-25E43EFC16BE}"/>
                </a:ext>
              </a:extLst>
            </p:cNvPr>
            <p:cNvCxnSpPr>
              <a:cxnSpLocks/>
              <a:stCxn id="9" idx="0"/>
              <a:endCxn id="12" idx="4"/>
            </p:cNvCxnSpPr>
            <p:nvPr/>
          </p:nvCxnSpPr>
          <p:spPr>
            <a:xfrm flipV="1">
              <a:off x="5196593" y="5139920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150">
              <a:extLst>
                <a:ext uri="{FF2B5EF4-FFF2-40B4-BE49-F238E27FC236}">
                  <a16:creationId xmlns:a16="http://schemas.microsoft.com/office/drawing/2014/main" xmlns="" id="{BDEBB756-37EB-569D-DA71-65F80EDBF030}"/>
                </a:ext>
              </a:extLst>
            </p:cNvPr>
            <p:cNvCxnSpPr>
              <a:cxnSpLocks/>
              <a:stCxn id="10" idx="6"/>
            </p:cNvCxnSpPr>
            <p:nvPr/>
          </p:nvCxnSpPr>
          <p:spPr>
            <a:xfrm>
              <a:off x="5333117" y="4493478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xmlns="" id="{213CE53E-9D45-277F-6053-A932079CC9B1}"/>
                    </a:ext>
                  </a:extLst>
                </p:cNvPr>
                <p:cNvSpPr txBox="1"/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151">
                  <a:extLst>
                    <a:ext uri="{FF2B5EF4-FFF2-40B4-BE49-F238E27FC236}">
                      <a16:creationId xmlns:a16="http://schemas.microsoft.com/office/drawing/2014/main" id="{213CE53E-9D45-277F-6053-A932079CC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8948" y="4300796"/>
                  <a:ext cx="36384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Connector: Elbow 152">
              <a:extLst>
                <a:ext uri="{FF2B5EF4-FFF2-40B4-BE49-F238E27FC236}">
                  <a16:creationId xmlns:a16="http://schemas.microsoft.com/office/drawing/2014/main" xmlns="" id="{4FF11D69-F448-12A8-95B0-78E5BDBD95AA}"/>
                </a:ext>
              </a:extLst>
            </p:cNvPr>
            <p:cNvCxnSpPr>
              <a:stCxn id="14" idx="0"/>
              <a:endCxn id="7" idx="6"/>
            </p:cNvCxnSpPr>
            <p:nvPr/>
          </p:nvCxnSpPr>
          <p:spPr>
            <a:xfrm rot="16200000" flipV="1">
              <a:off x="2919400" y="5004719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Connector 153">
              <a:extLst>
                <a:ext uri="{FF2B5EF4-FFF2-40B4-BE49-F238E27FC236}">
                  <a16:creationId xmlns:a16="http://schemas.microsoft.com/office/drawing/2014/main" xmlns="" id="{C85D28FD-CBC7-37E0-25B1-EF2F02F553F2}"/>
                </a:ext>
              </a:extLst>
            </p:cNvPr>
            <p:cNvCxnSpPr/>
            <p:nvPr/>
          </p:nvCxnSpPr>
          <p:spPr>
            <a:xfrm flipV="1">
              <a:off x="2682598" y="4493478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xmlns="" id="{6871C6B9-2768-B203-7CBF-BD84246AE9AC}"/>
                    </a:ext>
                  </a:extLst>
                </p:cNvPr>
                <p:cNvSpPr txBox="1"/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155">
                  <a:extLst>
                    <a:ext uri="{FF2B5EF4-FFF2-40B4-BE49-F238E27FC236}">
                      <a16:creationId xmlns:a16="http://schemas.microsoft.com/office/drawing/2014/main" id="{6871C6B9-2768-B203-7CBF-BD84246AE9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3263" y="6236000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" name="Connector: Elbow 156">
              <a:extLst>
                <a:ext uri="{FF2B5EF4-FFF2-40B4-BE49-F238E27FC236}">
                  <a16:creationId xmlns:a16="http://schemas.microsoft.com/office/drawing/2014/main" xmlns="" id="{DEC0DAD1-6E1E-2C3D-2296-C329C2DB383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591796" y="4406495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157">
              <a:extLst>
                <a:ext uri="{FF2B5EF4-FFF2-40B4-BE49-F238E27FC236}">
                  <a16:creationId xmlns:a16="http://schemas.microsoft.com/office/drawing/2014/main" xmlns="" id="{4EA62229-0791-55FD-3E6E-71532C8BDCB1}"/>
                </a:ext>
              </a:extLst>
            </p:cNvPr>
            <p:cNvCxnSpPr/>
            <p:nvPr/>
          </p:nvCxnSpPr>
          <p:spPr>
            <a:xfrm flipV="1">
              <a:off x="2314621" y="4493478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158">
              <a:extLst>
                <a:ext uri="{FF2B5EF4-FFF2-40B4-BE49-F238E27FC236}">
                  <a16:creationId xmlns:a16="http://schemas.microsoft.com/office/drawing/2014/main" xmlns="" id="{EA1DA73A-2215-EBA2-9BBC-A62FB48161EE}"/>
                </a:ext>
              </a:extLst>
            </p:cNvPr>
            <p:cNvCxnSpPr>
              <a:cxnSpLocks/>
              <a:stCxn id="31" idx="2"/>
              <a:endCxn id="13" idx="2"/>
            </p:cNvCxnSpPr>
            <p:nvPr/>
          </p:nvCxnSpPr>
          <p:spPr>
            <a:xfrm flipV="1">
              <a:off x="2413045" y="5685642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Freeform: Shape 159">
              <a:extLst>
                <a:ext uri="{FF2B5EF4-FFF2-40B4-BE49-F238E27FC236}">
                  <a16:creationId xmlns:a16="http://schemas.microsoft.com/office/drawing/2014/main" xmlns="" id="{894E7D26-6B82-2506-9B0D-661DCACF7BB7}"/>
                </a:ext>
              </a:extLst>
            </p:cNvPr>
            <p:cNvSpPr/>
            <p:nvPr/>
          </p:nvSpPr>
          <p:spPr>
            <a:xfrm>
              <a:off x="2308270" y="558346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2" name="Straight Connector 160">
              <a:extLst>
                <a:ext uri="{FF2B5EF4-FFF2-40B4-BE49-F238E27FC236}">
                  <a16:creationId xmlns:a16="http://schemas.microsoft.com/office/drawing/2014/main" xmlns="" id="{57BA2596-1AE8-FD32-F75E-AC2C9EB74155}"/>
                </a:ext>
              </a:extLst>
            </p:cNvPr>
            <p:cNvCxnSpPr/>
            <p:nvPr/>
          </p:nvCxnSpPr>
          <p:spPr>
            <a:xfrm flipV="1">
              <a:off x="2313032" y="5921361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Freeform: Shape 161">
              <a:extLst>
                <a:ext uri="{FF2B5EF4-FFF2-40B4-BE49-F238E27FC236}">
                  <a16:creationId xmlns:a16="http://schemas.microsoft.com/office/drawing/2014/main" xmlns="" id="{A40F716A-DA26-CD3D-F640-06D13B113263}"/>
                </a:ext>
              </a:extLst>
            </p:cNvPr>
            <p:cNvSpPr/>
            <p:nvPr/>
          </p:nvSpPr>
          <p:spPr>
            <a:xfrm rot="5170363">
              <a:off x="2370814" y="5751407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Connector 162">
              <a:extLst>
                <a:ext uri="{FF2B5EF4-FFF2-40B4-BE49-F238E27FC236}">
                  <a16:creationId xmlns:a16="http://schemas.microsoft.com/office/drawing/2014/main" xmlns="" id="{7AFF4DB5-70AC-A228-2CED-B874D1B909D1}"/>
                </a:ext>
              </a:extLst>
            </p:cNvPr>
            <p:cNvCxnSpPr>
              <a:cxnSpLocks/>
              <a:stCxn id="14" idx="2"/>
            </p:cNvCxnSpPr>
            <p:nvPr/>
          </p:nvCxnSpPr>
          <p:spPr>
            <a:xfrm>
              <a:off x="3305337" y="5688528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xmlns="" id="{B67C4B5A-CC33-184B-EE45-86AA186E3AF2}"/>
                    </a:ext>
                  </a:extLst>
                </p:cNvPr>
                <p:cNvSpPr txBox="1"/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35" name="TextBox 163">
                  <a:extLst>
                    <a:ext uri="{FF2B5EF4-FFF2-40B4-BE49-F238E27FC236}">
                      <a16:creationId xmlns:a16="http://schemas.microsoft.com/office/drawing/2014/main" id="{B67C4B5A-CC33-184B-EE45-86AA186E3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5377" y="5003422"/>
                  <a:ext cx="43627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xmlns="" id="{42109F51-0327-B208-BD2B-4785C4C9A0DD}"/>
                    </a:ext>
                  </a:extLst>
                </p:cNvPr>
                <p:cNvSpPr txBox="1"/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6" name="TextBox 164">
                  <a:extLst>
                    <a:ext uri="{FF2B5EF4-FFF2-40B4-BE49-F238E27FC236}">
                      <a16:creationId xmlns:a16="http://schemas.microsoft.com/office/drawing/2014/main" id="{42109F51-0327-B208-BD2B-4785C4C9A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34669" y="5028554"/>
                  <a:ext cx="44877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xmlns="" id="{5709A3A4-F24D-A15B-23F3-CB82A893FB70}"/>
                    </a:ext>
                  </a:extLst>
                </p:cNvPr>
                <p:cNvSpPr txBox="1"/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7" name="TextBox 165">
                  <a:extLst>
                    <a:ext uri="{FF2B5EF4-FFF2-40B4-BE49-F238E27FC236}">
                      <a16:creationId xmlns:a16="http://schemas.microsoft.com/office/drawing/2014/main" id="{5709A3A4-F24D-A15B-23F3-CB82A893FB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9339" y="5050156"/>
                  <a:ext cx="471218" cy="383759"/>
                </a:xfrm>
                <a:prstGeom prst="rect">
                  <a:avLst/>
                </a:prstGeom>
                <a:blipFill>
                  <a:blip r:embed="rId19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Straight Arrow Connector 172">
              <a:extLst>
                <a:ext uri="{FF2B5EF4-FFF2-40B4-BE49-F238E27FC236}">
                  <a16:creationId xmlns:a16="http://schemas.microsoft.com/office/drawing/2014/main" xmlns="" id="{B6850192-2E70-FA7D-0690-8617CA2A2D95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>
              <a:off x="4185159" y="5002073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173">
              <a:extLst>
                <a:ext uri="{FF2B5EF4-FFF2-40B4-BE49-F238E27FC236}">
                  <a16:creationId xmlns:a16="http://schemas.microsoft.com/office/drawing/2014/main" xmlns="" id="{957CA07F-439B-EA86-6998-D63B28329897}"/>
                </a:ext>
              </a:extLst>
            </p:cNvPr>
            <p:cNvCxnSpPr>
              <a:cxnSpLocks/>
              <a:stCxn id="15" idx="6"/>
              <a:endCxn id="12" idx="2"/>
            </p:cNvCxnSpPr>
            <p:nvPr/>
          </p:nvCxnSpPr>
          <p:spPr>
            <a:xfrm>
              <a:off x="4765599" y="5002073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xmlns="" id="{3CE7FA00-5AD7-0B4D-FAC7-E41D83AD74D4}"/>
                    </a:ext>
                  </a:extLst>
                </p:cNvPr>
                <p:cNvSpPr txBox="1"/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7" name="TextBox 151">
                  <a:extLst>
                    <a:ext uri="{FF2B5EF4-FFF2-40B4-BE49-F238E27FC236}">
                      <a16:creationId xmlns:a16="http://schemas.microsoft.com/office/drawing/2014/main" id="{3CE7FA00-5AD7-0B4D-FAC7-E41D83AD7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7328" y="3892247"/>
                  <a:ext cx="363844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Freeform: Shape 159">
              <a:extLst>
                <a:ext uri="{FF2B5EF4-FFF2-40B4-BE49-F238E27FC236}">
                  <a16:creationId xmlns:a16="http://schemas.microsoft.com/office/drawing/2014/main" xmlns="" id="{3098DFA0-3B06-44D9-2E01-EE616EADE9E3}"/>
                </a:ext>
              </a:extLst>
            </p:cNvPr>
            <p:cNvSpPr/>
            <p:nvPr/>
          </p:nvSpPr>
          <p:spPr>
            <a:xfrm rot="21335253">
              <a:off x="2677364" y="57906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1" name="Conector reto 80">
              <a:extLst>
                <a:ext uri="{FF2B5EF4-FFF2-40B4-BE49-F238E27FC236}">
                  <a16:creationId xmlns:a16="http://schemas.microsoft.com/office/drawing/2014/main" xmlns="" id="{BDC6C279-F0D0-F104-A845-992FEF41D8B1}"/>
                </a:ext>
              </a:extLst>
            </p:cNvPr>
            <p:cNvCxnSpPr>
              <a:stCxn id="7" idx="4"/>
              <a:endCxn id="79" idx="0"/>
            </p:cNvCxnSpPr>
            <p:nvPr/>
          </p:nvCxnSpPr>
          <p:spPr>
            <a:xfrm flipH="1">
              <a:off x="2674805" y="5241520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23" name="Agrupar 122">
            <a:extLst>
              <a:ext uri="{FF2B5EF4-FFF2-40B4-BE49-F238E27FC236}">
                <a16:creationId xmlns:a16="http://schemas.microsoft.com/office/drawing/2014/main" xmlns="" id="{A14CA10E-C85E-28AC-674E-E3875C9EB7BE}"/>
              </a:ext>
            </a:extLst>
          </p:cNvPr>
          <p:cNvGrpSpPr/>
          <p:nvPr/>
        </p:nvGrpSpPr>
        <p:grpSpPr>
          <a:xfrm>
            <a:off x="6373737" y="1935366"/>
            <a:ext cx="4928922" cy="2713085"/>
            <a:chOff x="6373737" y="1935366"/>
            <a:chExt cx="4928922" cy="2713085"/>
          </a:xfrm>
        </p:grpSpPr>
        <p:cxnSp>
          <p:nvCxnSpPr>
            <p:cNvPr id="97" name="Straight Arrow Connector 145">
              <a:extLst>
                <a:ext uri="{FF2B5EF4-FFF2-40B4-BE49-F238E27FC236}">
                  <a16:creationId xmlns:a16="http://schemas.microsoft.com/office/drawing/2014/main" xmlns="" id="{FFCE4766-33E0-D27F-4E2E-47FA24C524B1}"/>
                </a:ext>
              </a:extLst>
            </p:cNvPr>
            <p:cNvCxnSpPr>
              <a:cxnSpLocks/>
              <a:stCxn id="93" idx="0"/>
              <a:endCxn id="88" idx="4"/>
            </p:cNvCxnSpPr>
            <p:nvPr/>
          </p:nvCxnSpPr>
          <p:spPr>
            <a:xfrm flipV="1">
              <a:off x="9165026" y="2673122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148">
              <a:extLst>
                <a:ext uri="{FF2B5EF4-FFF2-40B4-BE49-F238E27FC236}">
                  <a16:creationId xmlns:a16="http://schemas.microsoft.com/office/drawing/2014/main" xmlns="" id="{07F340C5-8E03-EE50-399C-BF6C3555B23F}"/>
                </a:ext>
              </a:extLst>
            </p:cNvPr>
            <p:cNvCxnSpPr>
              <a:stCxn id="92" idx="0"/>
              <a:endCxn id="90" idx="4"/>
            </p:cNvCxnSpPr>
            <p:nvPr/>
          </p:nvCxnSpPr>
          <p:spPr>
            <a:xfrm flipV="1">
              <a:off x="10176460" y="2673122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49">
              <a:extLst>
                <a:ext uri="{FF2B5EF4-FFF2-40B4-BE49-F238E27FC236}">
                  <a16:creationId xmlns:a16="http://schemas.microsoft.com/office/drawing/2014/main" xmlns="" id="{9103FDCA-D84F-37DF-CC5A-91588F757EB0}"/>
                </a:ext>
              </a:extLst>
            </p:cNvPr>
            <p:cNvCxnSpPr>
              <a:cxnSpLocks/>
              <a:stCxn id="89" idx="0"/>
              <a:endCxn id="92" idx="4"/>
            </p:cNvCxnSpPr>
            <p:nvPr/>
          </p:nvCxnSpPr>
          <p:spPr>
            <a:xfrm flipV="1">
              <a:off x="10176460" y="3183039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53">
              <a:extLst>
                <a:ext uri="{FF2B5EF4-FFF2-40B4-BE49-F238E27FC236}">
                  <a16:creationId xmlns:a16="http://schemas.microsoft.com/office/drawing/2014/main" xmlns="" id="{AE75D4EB-B1D4-701F-E710-BDE4E4FBB64F}"/>
                </a:ext>
              </a:extLst>
            </p:cNvPr>
            <p:cNvCxnSpPr/>
            <p:nvPr/>
          </p:nvCxnSpPr>
          <p:spPr>
            <a:xfrm flipV="1">
              <a:off x="7662465" y="2536597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Straight Connector 160">
              <a:extLst>
                <a:ext uri="{FF2B5EF4-FFF2-40B4-BE49-F238E27FC236}">
                  <a16:creationId xmlns:a16="http://schemas.microsoft.com/office/drawing/2014/main" xmlns="" id="{D754B5F8-378E-308B-8249-A26A4D326863}"/>
                </a:ext>
              </a:extLst>
            </p:cNvPr>
            <p:cNvCxnSpPr/>
            <p:nvPr/>
          </p:nvCxnSpPr>
          <p:spPr>
            <a:xfrm flipV="1">
              <a:off x="7292899" y="3964480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62">
              <a:extLst>
                <a:ext uri="{FF2B5EF4-FFF2-40B4-BE49-F238E27FC236}">
                  <a16:creationId xmlns:a16="http://schemas.microsoft.com/office/drawing/2014/main" xmlns="" id="{A30D0A16-E2D1-7E19-1B40-8CC5510F0079}"/>
                </a:ext>
              </a:extLst>
            </p:cNvPr>
            <p:cNvCxnSpPr>
              <a:cxnSpLocks/>
              <a:stCxn id="94" idx="2"/>
            </p:cNvCxnSpPr>
            <p:nvPr/>
          </p:nvCxnSpPr>
          <p:spPr>
            <a:xfrm>
              <a:off x="8285204" y="3731647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7" name="Straight Arrow Connector 172">
              <a:extLst>
                <a:ext uri="{FF2B5EF4-FFF2-40B4-BE49-F238E27FC236}">
                  <a16:creationId xmlns:a16="http://schemas.microsoft.com/office/drawing/2014/main" xmlns="" id="{17380AA7-33C3-AE39-20FE-857F6BE421A0}"/>
                </a:ext>
              </a:extLst>
            </p:cNvPr>
            <p:cNvCxnSpPr>
              <a:cxnSpLocks/>
              <a:endCxn id="95" idx="2"/>
            </p:cNvCxnSpPr>
            <p:nvPr/>
          </p:nvCxnSpPr>
          <p:spPr>
            <a:xfrm>
              <a:off x="9165026" y="3045192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8" name="Straight Arrow Connector 173">
              <a:extLst>
                <a:ext uri="{FF2B5EF4-FFF2-40B4-BE49-F238E27FC236}">
                  <a16:creationId xmlns:a16="http://schemas.microsoft.com/office/drawing/2014/main" xmlns="" id="{8A0D0F86-73AA-4C37-7FD6-7A351477CA6F}"/>
                </a:ext>
              </a:extLst>
            </p:cNvPr>
            <p:cNvCxnSpPr>
              <a:cxnSpLocks/>
              <a:stCxn id="95" idx="6"/>
              <a:endCxn id="92" idx="2"/>
            </p:cNvCxnSpPr>
            <p:nvPr/>
          </p:nvCxnSpPr>
          <p:spPr>
            <a:xfrm>
              <a:off x="9745466" y="3045192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0" name="Freeform: Shape 159">
              <a:extLst>
                <a:ext uri="{FF2B5EF4-FFF2-40B4-BE49-F238E27FC236}">
                  <a16:creationId xmlns:a16="http://schemas.microsoft.com/office/drawing/2014/main" xmlns="" id="{817D3687-4C52-A7B6-4116-0DC677950DA9}"/>
                </a:ext>
              </a:extLst>
            </p:cNvPr>
            <p:cNvSpPr/>
            <p:nvPr/>
          </p:nvSpPr>
          <p:spPr>
            <a:xfrm rot="21335253">
              <a:off x="7657231" y="3833745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140">
              <a:extLst>
                <a:ext uri="{FF2B5EF4-FFF2-40B4-BE49-F238E27FC236}">
                  <a16:creationId xmlns:a16="http://schemas.microsoft.com/office/drawing/2014/main" xmlns="" id="{3C934291-13E8-1615-4FB3-16C593530C71}"/>
                </a:ext>
              </a:extLst>
            </p:cNvPr>
            <p:cNvSpPr/>
            <p:nvPr/>
          </p:nvSpPr>
          <p:spPr>
            <a:xfrm>
              <a:off x="10039935" y="29099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5" name="Oval 143">
              <a:extLst>
                <a:ext uri="{FF2B5EF4-FFF2-40B4-BE49-F238E27FC236}">
                  <a16:creationId xmlns:a16="http://schemas.microsoft.com/office/drawing/2014/main" xmlns="" id="{084FC3E3-2BA8-69D2-39C3-09B20D59055D}"/>
                </a:ext>
              </a:extLst>
            </p:cNvPr>
            <p:cNvSpPr/>
            <p:nvPr/>
          </p:nvSpPr>
          <p:spPr>
            <a:xfrm>
              <a:off x="9472416" y="290866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04" name="Connector: Elbow 152">
              <a:extLst>
                <a:ext uri="{FF2B5EF4-FFF2-40B4-BE49-F238E27FC236}">
                  <a16:creationId xmlns:a16="http://schemas.microsoft.com/office/drawing/2014/main" xmlns="" id="{CE2BFA31-B2A1-3DB2-A292-68B304312768}"/>
                </a:ext>
              </a:extLst>
            </p:cNvPr>
            <p:cNvCxnSpPr>
              <a:stCxn id="94" idx="0"/>
              <a:endCxn id="87" idx="6"/>
            </p:cNvCxnSpPr>
            <p:nvPr/>
          </p:nvCxnSpPr>
          <p:spPr>
            <a:xfrm rot="16200000" flipV="1">
              <a:off x="7899267" y="3047838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Connector: Elbow 156">
              <a:extLst>
                <a:ext uri="{FF2B5EF4-FFF2-40B4-BE49-F238E27FC236}">
                  <a16:creationId xmlns:a16="http://schemas.microsoft.com/office/drawing/2014/main" xmlns="" id="{896C1B2B-91E0-847B-9289-47EB59AD80B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571663" y="2449614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Connector: Elbow 158">
              <a:extLst>
                <a:ext uri="{FF2B5EF4-FFF2-40B4-BE49-F238E27FC236}">
                  <a16:creationId xmlns:a16="http://schemas.microsoft.com/office/drawing/2014/main" xmlns="" id="{F0FA5897-623E-2F28-C0F4-4782D5CCDB4D}"/>
                </a:ext>
              </a:extLst>
            </p:cNvPr>
            <p:cNvCxnSpPr>
              <a:cxnSpLocks/>
              <a:stCxn id="110" idx="2"/>
              <a:endCxn id="93" idx="2"/>
            </p:cNvCxnSpPr>
            <p:nvPr/>
          </p:nvCxnSpPr>
          <p:spPr>
            <a:xfrm flipV="1">
              <a:off x="7412984" y="3728761"/>
              <a:ext cx="1752042" cy="12394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0" name="Freeform: Shape 159">
              <a:extLst>
                <a:ext uri="{FF2B5EF4-FFF2-40B4-BE49-F238E27FC236}">
                  <a16:creationId xmlns:a16="http://schemas.microsoft.com/office/drawing/2014/main" xmlns="" id="{F41FB465-21CE-CF3A-5C9B-60312CA84496}"/>
                </a:ext>
              </a:extLst>
            </p:cNvPr>
            <p:cNvSpPr/>
            <p:nvPr/>
          </p:nvSpPr>
          <p:spPr>
            <a:xfrm rot="21272626">
              <a:off x="7297661" y="363134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Conector reto 120">
              <a:extLst>
                <a:ext uri="{FF2B5EF4-FFF2-40B4-BE49-F238E27FC236}">
                  <a16:creationId xmlns:a16="http://schemas.microsoft.com/office/drawing/2014/main" xmlns="" id="{C46C344B-1AD9-9C35-4670-EFB6F8B3D4CB}"/>
                </a:ext>
              </a:extLst>
            </p:cNvPr>
            <p:cNvCxnSpPr>
              <a:stCxn id="87" idx="4"/>
              <a:endCxn id="120" idx="0"/>
            </p:cNvCxnSpPr>
            <p:nvPr/>
          </p:nvCxnSpPr>
          <p:spPr>
            <a:xfrm flipH="1">
              <a:off x="7654672" y="3284639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7" name="Oval 135">
              <a:extLst>
                <a:ext uri="{FF2B5EF4-FFF2-40B4-BE49-F238E27FC236}">
                  <a16:creationId xmlns:a16="http://schemas.microsoft.com/office/drawing/2014/main" xmlns="" id="{B7B574ED-AB73-EA18-9CBB-7B7DCF08F2BA}"/>
                </a:ext>
              </a:extLst>
            </p:cNvPr>
            <p:cNvSpPr/>
            <p:nvPr/>
          </p:nvSpPr>
          <p:spPr>
            <a:xfrm>
              <a:off x="7525940" y="3011589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137">
              <a:extLst>
                <a:ext uri="{FF2B5EF4-FFF2-40B4-BE49-F238E27FC236}">
                  <a16:creationId xmlns:a16="http://schemas.microsoft.com/office/drawing/2014/main" xmlns="" id="{1ADBB6FE-3220-812D-AA74-CBE4E6BDA6FF}"/>
                </a:ext>
              </a:extLst>
            </p:cNvPr>
            <p:cNvSpPr/>
            <p:nvPr/>
          </p:nvSpPr>
          <p:spPr>
            <a:xfrm>
              <a:off x="9869069" y="3436131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xmlns="" id="{AB880D80-7CF8-A920-5EBA-FFE6D639145A}"/>
                    </a:ext>
                  </a:extLst>
                </p:cNvPr>
                <p:cNvSpPr/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Rectangle 141">
                  <a:extLst>
                    <a:ext uri="{FF2B5EF4-FFF2-40B4-BE49-F238E27FC236}">
                      <a16:creationId xmlns:a16="http://schemas.microsoft.com/office/drawing/2014/main" id="{AB880D80-7CF8-A920-5EBA-FFE6D63914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771" y="3430889"/>
                  <a:ext cx="332510" cy="29787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xmlns="" id="{4CA8F6E9-E6F7-AFE2-0B59-007659AF56BD}"/>
                    </a:ext>
                  </a:extLst>
                </p:cNvPr>
                <p:cNvSpPr/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Rectangle 142">
                  <a:extLst>
                    <a:ext uri="{FF2B5EF4-FFF2-40B4-BE49-F238E27FC236}">
                      <a16:creationId xmlns:a16="http://schemas.microsoft.com/office/drawing/2014/main" id="{4CA8F6E9-E6F7-AFE2-0B59-007659AF56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8949" y="3433775"/>
                  <a:ext cx="332510" cy="29787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8" name="TextBox 146">
              <a:extLst>
                <a:ext uri="{FF2B5EF4-FFF2-40B4-BE49-F238E27FC236}">
                  <a16:creationId xmlns:a16="http://schemas.microsoft.com/office/drawing/2014/main" xmlns="" id="{E88579DA-24C0-EACC-F7CA-C594474567CA}"/>
                </a:ext>
              </a:extLst>
            </p:cNvPr>
            <p:cNvSpPr txBox="1"/>
            <p:nvPr/>
          </p:nvSpPr>
          <p:spPr>
            <a:xfrm>
              <a:off x="9435351" y="2860526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08" name="Straight Connector 157">
              <a:extLst>
                <a:ext uri="{FF2B5EF4-FFF2-40B4-BE49-F238E27FC236}">
                  <a16:creationId xmlns:a16="http://schemas.microsoft.com/office/drawing/2014/main" xmlns="" id="{864F9693-07A6-4744-FB2C-A4BCBAEDF7FA}"/>
                </a:ext>
              </a:extLst>
            </p:cNvPr>
            <p:cNvCxnSpPr/>
            <p:nvPr/>
          </p:nvCxnSpPr>
          <p:spPr>
            <a:xfrm flipV="1">
              <a:off x="7294488" y="2536597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Freeform: Shape 161">
              <a:extLst>
                <a:ext uri="{FF2B5EF4-FFF2-40B4-BE49-F238E27FC236}">
                  <a16:creationId xmlns:a16="http://schemas.microsoft.com/office/drawing/2014/main" xmlns="" id="{1F87D734-F552-E139-FBF4-397A865A6BAE}"/>
                </a:ext>
              </a:extLst>
            </p:cNvPr>
            <p:cNvSpPr/>
            <p:nvPr/>
          </p:nvSpPr>
          <p:spPr>
            <a:xfrm rot="5093909">
              <a:off x="7348300" y="379452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xmlns="" id="{DDAE1450-82FA-3CB6-B806-701797994D45}"/>
                    </a:ext>
                  </a:extLst>
                </p:cNvPr>
                <p:cNvSpPr txBox="1"/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14" name="TextBox 163">
                  <a:extLst>
                    <a:ext uri="{FF2B5EF4-FFF2-40B4-BE49-F238E27FC236}">
                      <a16:creationId xmlns:a16="http://schemas.microsoft.com/office/drawing/2014/main" id="{DDAE1450-82FA-3CB6-B806-701797994D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244" y="3046541"/>
                  <a:ext cx="436273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xmlns="" id="{C32CC159-0AA5-71A0-F4E5-E9352BF7A293}"/>
                    </a:ext>
                  </a:extLst>
                </p:cNvPr>
                <p:cNvSpPr txBox="1"/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5" name="TextBox 164">
                  <a:extLst>
                    <a:ext uri="{FF2B5EF4-FFF2-40B4-BE49-F238E27FC236}">
                      <a16:creationId xmlns:a16="http://schemas.microsoft.com/office/drawing/2014/main" id="{C32CC159-0AA5-71A0-F4E5-E9352BF7A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4536" y="3071673"/>
                  <a:ext cx="44877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xmlns="" id="{88FC8830-6A3A-4A8C-DA3A-F7C924023353}"/>
                    </a:ext>
                  </a:extLst>
                </p:cNvPr>
                <p:cNvSpPr txBox="1"/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6" name="TextBox 165">
                  <a:extLst>
                    <a:ext uri="{FF2B5EF4-FFF2-40B4-BE49-F238E27FC236}">
                      <a16:creationId xmlns:a16="http://schemas.microsoft.com/office/drawing/2014/main" id="{88FC8830-6A3A-4A8C-DA3A-F7C9240233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69206" y="3093275"/>
                  <a:ext cx="471218" cy="383759"/>
                </a:xfrm>
                <a:prstGeom prst="rect">
                  <a:avLst/>
                </a:prstGeom>
                <a:blipFill>
                  <a:blip r:embed="rId25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5" name="Rectangle: Rounded Corners 133">
              <a:extLst>
                <a:ext uri="{FF2B5EF4-FFF2-40B4-BE49-F238E27FC236}">
                  <a16:creationId xmlns:a16="http://schemas.microsoft.com/office/drawing/2014/main" xmlns="" id="{C22F73FC-22E6-4C04-4138-C6E4840A457B}"/>
                </a:ext>
              </a:extLst>
            </p:cNvPr>
            <p:cNvSpPr/>
            <p:nvPr/>
          </p:nvSpPr>
          <p:spPr>
            <a:xfrm>
              <a:off x="7093514" y="2262124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6" name="Straight Arrow Connector 134">
              <a:extLst>
                <a:ext uri="{FF2B5EF4-FFF2-40B4-BE49-F238E27FC236}">
                  <a16:creationId xmlns:a16="http://schemas.microsoft.com/office/drawing/2014/main" xmlns="" id="{2CC61B4E-8888-D162-6D95-B9FE3B5D36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16487" y="2068597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8" name="Oval 136">
              <a:extLst>
                <a:ext uri="{FF2B5EF4-FFF2-40B4-BE49-F238E27FC236}">
                  <a16:creationId xmlns:a16="http://schemas.microsoft.com/office/drawing/2014/main" xmlns="" id="{C68A2736-8717-3DD0-DD01-7B61C8468B69}"/>
                </a:ext>
              </a:extLst>
            </p:cNvPr>
            <p:cNvSpPr/>
            <p:nvPr/>
          </p:nvSpPr>
          <p:spPr>
            <a:xfrm>
              <a:off x="9028819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90" name="Oval 138">
              <a:extLst>
                <a:ext uri="{FF2B5EF4-FFF2-40B4-BE49-F238E27FC236}">
                  <a16:creationId xmlns:a16="http://schemas.microsoft.com/office/drawing/2014/main" xmlns="" id="{28474D35-7F2A-1499-BF67-A56E9CBB2FC6}"/>
                </a:ext>
              </a:extLst>
            </p:cNvPr>
            <p:cNvSpPr/>
            <p:nvPr/>
          </p:nvSpPr>
          <p:spPr>
            <a:xfrm>
              <a:off x="10039935" y="240007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xmlns="" id="{E0C6E98E-ACF4-9488-A87C-FDDDBD391DC5}"/>
                    </a:ext>
                  </a:extLst>
                </p:cNvPr>
                <p:cNvSpPr txBox="1"/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1" name="TextBox 139">
                  <a:extLst>
                    <a:ext uri="{FF2B5EF4-FFF2-40B4-BE49-F238E27FC236}">
                      <a16:creationId xmlns:a16="http://schemas.microsoft.com/office/drawing/2014/main" id="{E0C6E98E-ACF4-9488-A87C-FDDDBD391D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3737" y="2343915"/>
                  <a:ext cx="511583" cy="369332"/>
                </a:xfrm>
                <a:prstGeom prst="rect">
                  <a:avLst/>
                </a:prstGeom>
                <a:blipFill>
                  <a:blip r:embed="rId26"/>
                  <a:stretch>
                    <a:fillRect r="-1566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144">
              <a:extLst>
                <a:ext uri="{FF2B5EF4-FFF2-40B4-BE49-F238E27FC236}">
                  <a16:creationId xmlns:a16="http://schemas.microsoft.com/office/drawing/2014/main" xmlns="" id="{94081AD1-ED81-9C0E-2BC9-06E7A6BFA20D}"/>
                </a:ext>
              </a:extLst>
            </p:cNvPr>
            <p:cNvCxnSpPr>
              <a:cxnSpLocks/>
              <a:stCxn id="91" idx="3"/>
              <a:endCxn id="88" idx="2"/>
            </p:cNvCxnSpPr>
            <p:nvPr/>
          </p:nvCxnSpPr>
          <p:spPr>
            <a:xfrm>
              <a:off x="6885320" y="2528581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9" name="Straight Connector 147">
              <a:extLst>
                <a:ext uri="{FF2B5EF4-FFF2-40B4-BE49-F238E27FC236}">
                  <a16:creationId xmlns:a16="http://schemas.microsoft.com/office/drawing/2014/main" xmlns="" id="{75B733EE-950D-D301-BA46-CA4DC385D6EB}"/>
                </a:ext>
              </a:extLst>
            </p:cNvPr>
            <p:cNvCxnSpPr>
              <a:stCxn id="88" idx="6"/>
              <a:endCxn id="90" idx="2"/>
            </p:cNvCxnSpPr>
            <p:nvPr/>
          </p:nvCxnSpPr>
          <p:spPr>
            <a:xfrm>
              <a:off x="9301869" y="2536597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Arrow Connector 150">
              <a:extLst>
                <a:ext uri="{FF2B5EF4-FFF2-40B4-BE49-F238E27FC236}">
                  <a16:creationId xmlns:a16="http://schemas.microsoft.com/office/drawing/2014/main" xmlns="" id="{FEFDB515-7ABA-4900-267A-51F10B3F22A9}"/>
                </a:ext>
              </a:extLst>
            </p:cNvPr>
            <p:cNvCxnSpPr>
              <a:cxnSpLocks/>
              <a:stCxn id="90" idx="6"/>
            </p:cNvCxnSpPr>
            <p:nvPr/>
          </p:nvCxnSpPr>
          <p:spPr>
            <a:xfrm>
              <a:off x="10312984" y="2536597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xmlns="" id="{03DA660E-E283-6E20-ED9F-5E2FB81B5106}"/>
                    </a:ext>
                  </a:extLst>
                </p:cNvPr>
                <p:cNvSpPr txBox="1"/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3" name="TextBox 151">
                  <a:extLst>
                    <a:ext uri="{FF2B5EF4-FFF2-40B4-BE49-F238E27FC236}">
                      <a16:creationId xmlns:a16="http://schemas.microsoft.com/office/drawing/2014/main" id="{03DA660E-E283-6E20-ED9F-5E2FB81B51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38815" y="2343915"/>
                  <a:ext cx="363844" cy="369332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xmlns="" id="{4887E9F6-207A-7111-1D25-FF90C0EED4DD}"/>
                    </a:ext>
                  </a:extLst>
                </p:cNvPr>
                <p:cNvSpPr txBox="1"/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6" name="TextBox 155">
                  <a:extLst>
                    <a:ext uri="{FF2B5EF4-FFF2-40B4-BE49-F238E27FC236}">
                      <a16:creationId xmlns:a16="http://schemas.microsoft.com/office/drawing/2014/main" id="{4887E9F6-207A-7111-1D25-FF90C0EED4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3130" y="4279119"/>
                  <a:ext cx="458394" cy="36933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xmlns="" id="{6347BF7A-E257-0517-DF8B-551D5E60395D}"/>
                    </a:ext>
                  </a:extLst>
                </p:cNvPr>
                <p:cNvSpPr txBox="1"/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9" name="TextBox 151">
                  <a:extLst>
                    <a:ext uri="{FF2B5EF4-FFF2-40B4-BE49-F238E27FC236}">
                      <a16:creationId xmlns:a16="http://schemas.microsoft.com/office/drawing/2014/main" id="{6347BF7A-E257-0517-DF8B-551D5E6039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7195" y="1935366"/>
                  <a:ext cx="363844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Agrupar 10">
            <a:extLst>
              <a:ext uri="{FF2B5EF4-FFF2-40B4-BE49-F238E27FC236}">
                <a16:creationId xmlns:a16="http://schemas.microsoft.com/office/drawing/2014/main" xmlns="" id="{366F7BF2-C635-C709-4EB5-7F9A5D5B6DBD}"/>
              </a:ext>
            </a:extLst>
          </p:cNvPr>
          <p:cNvGrpSpPr/>
          <p:nvPr/>
        </p:nvGrpSpPr>
        <p:grpSpPr>
          <a:xfrm>
            <a:off x="3105149" y="1848292"/>
            <a:ext cx="4928922" cy="2995485"/>
            <a:chOff x="3105149" y="184829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3824926" y="245745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899" y="226392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257352" y="32069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5760231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6600481" y="363145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6771347" y="259539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05149" y="253924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6771347" y="310531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0183" y="362621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50361" y="362910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203828" y="310399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3616732" y="272390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5896438" y="286844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166763" y="305585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033281" y="273192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6907872" y="286844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6907872" y="337836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044396" y="273192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0227" y="253924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4630679" y="324316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393877" y="273192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4542" y="447444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303075" y="264494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025900" y="273192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124324" y="392408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019549" y="382190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024311" y="415980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082093" y="398985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016616" y="392697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6656" y="324186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5948" y="326699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8718" y="324288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384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190568" y="305032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359355" y="184829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 flipH="1" flipV="1">
              <a:off x="5830038" y="2309957"/>
              <a:ext cx="646840" cy="19140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283136" y="185926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4749414" y="232092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5896438" y="324051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476878" y="324051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7796" y="2133771"/>
                  <a:ext cx="36384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4" name="Agrupar 43">
              <a:extLst>
                <a:ext uri="{FF2B5EF4-FFF2-40B4-BE49-F238E27FC236}">
                  <a16:creationId xmlns:a16="http://schemas.microsoft.com/office/drawing/2014/main" xmlns="" id="{A3051DFC-A45B-FD0E-D278-10E63E4DF97B}"/>
                </a:ext>
              </a:extLst>
            </p:cNvPr>
            <p:cNvGrpSpPr/>
            <p:nvPr/>
          </p:nvGrpSpPr>
          <p:grpSpPr>
            <a:xfrm>
              <a:off x="5584607" y="2516381"/>
              <a:ext cx="1717688" cy="1642522"/>
              <a:chOff x="8827837" y="3357993"/>
              <a:chExt cx="1717688" cy="1642522"/>
            </a:xfrm>
          </p:grpSpPr>
          <p:cxnSp>
            <p:nvCxnSpPr>
              <p:cNvPr id="28" name="Conector reto 27">
                <a:extLst>
                  <a:ext uri="{FF2B5EF4-FFF2-40B4-BE49-F238E27FC236}">
                    <a16:creationId xmlns:a16="http://schemas.microsoft.com/office/drawing/2014/main" xmlns="" id="{3C801D42-BBEE-7EA8-C27E-E2E9B59BE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27837" y="3357993"/>
                <a:ext cx="0" cy="1642522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3" name="Conector reto 32">
                <a:extLst>
                  <a:ext uri="{FF2B5EF4-FFF2-40B4-BE49-F238E27FC236}">
                    <a16:creationId xmlns:a16="http://schemas.microsoft.com/office/drawing/2014/main" xmlns="" id="{B1603849-608A-D0CB-04FF-7FFE5C64EB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27837" y="3357993"/>
                <a:ext cx="1717688" cy="0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49" name="Conector reto 48">
              <a:extLst>
                <a:ext uri="{FF2B5EF4-FFF2-40B4-BE49-F238E27FC236}">
                  <a16:creationId xmlns:a16="http://schemas.microsoft.com/office/drawing/2014/main" xmlns="" id="{7ED3F87C-EFFD-4DE1-2450-B47542CF5F92}"/>
                </a:ext>
              </a:extLst>
            </p:cNvPr>
            <p:cNvCxnSpPr/>
            <p:nvPr/>
          </p:nvCxnSpPr>
          <p:spPr>
            <a:xfrm>
              <a:off x="5584607" y="4158903"/>
              <a:ext cx="756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0" name="Conector reto 49">
              <a:extLst>
                <a:ext uri="{FF2B5EF4-FFF2-40B4-BE49-F238E27FC236}">
                  <a16:creationId xmlns:a16="http://schemas.microsoft.com/office/drawing/2014/main" xmlns="" id="{E34E9718-BF01-738B-8B73-3E583890193A}"/>
                </a:ext>
              </a:extLst>
            </p:cNvPr>
            <p:cNvCxnSpPr/>
            <p:nvPr/>
          </p:nvCxnSpPr>
          <p:spPr>
            <a:xfrm>
              <a:off x="6338693" y="3582688"/>
              <a:ext cx="972000" cy="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1" name="Conector reto 50">
              <a:extLst>
                <a:ext uri="{FF2B5EF4-FFF2-40B4-BE49-F238E27FC236}">
                  <a16:creationId xmlns:a16="http://schemas.microsoft.com/office/drawing/2014/main" xmlns="" id="{DEA0A1B2-AC93-F32B-6CCA-266EDCD9B1B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31156" y="3587184"/>
              <a:ext cx="1783" cy="5760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9" name="Conector reto 58">
              <a:extLst>
                <a:ext uri="{FF2B5EF4-FFF2-40B4-BE49-F238E27FC236}">
                  <a16:creationId xmlns:a16="http://schemas.microsoft.com/office/drawing/2014/main" xmlns="" id="{C7A5282E-7541-7BB9-8579-7C168E5DCB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315217" y="2522793"/>
              <a:ext cx="4437" cy="1024100"/>
            </a:xfrm>
            <a:prstGeom prst="line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" name="Freeform: Shape 159">
              <a:extLst>
                <a:ext uri="{FF2B5EF4-FFF2-40B4-BE49-F238E27FC236}">
                  <a16:creationId xmlns:a16="http://schemas.microsoft.com/office/drawing/2014/main" xmlns="" id="{01FDC6DC-1E90-1E8B-0DFA-A33BB1DA9614}"/>
                </a:ext>
              </a:extLst>
            </p:cNvPr>
            <p:cNvSpPr/>
            <p:nvPr/>
          </p:nvSpPr>
          <p:spPr>
            <a:xfrm rot="21335253">
              <a:off x="4397003" y="4029071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xmlns="" id="{E74C7B34-C122-8861-FE4A-62F6E6658992}"/>
                </a:ext>
              </a:extLst>
            </p:cNvPr>
            <p:cNvCxnSpPr>
              <a:endCxn id="2" idx="0"/>
            </p:cNvCxnSpPr>
            <p:nvPr/>
          </p:nvCxnSpPr>
          <p:spPr>
            <a:xfrm flipH="1">
              <a:off x="4394444" y="3479965"/>
              <a:ext cx="7793" cy="553009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11897</TotalTime>
  <Words>4855</Words>
  <Application>Microsoft Office PowerPoint</Application>
  <PresentationFormat>Widescreen</PresentationFormat>
  <Paragraphs>1103</Paragraphs>
  <Slides>98</Slides>
  <Notes>60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98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(ou célula) recorrente</vt:lpstr>
      <vt:lpstr>Neurônio recorrente</vt:lpstr>
      <vt:lpstr>Neurônio recorrente</vt:lpstr>
      <vt:lpstr>Atualização do estado e geração da saída</vt:lpstr>
      <vt:lpstr>Atualização do estado e geração da saída</vt:lpstr>
      <vt:lpstr>Desenrolando uma RNN</vt:lpstr>
      <vt:lpstr>Desenrolando uma RNN</vt:lpstr>
      <vt:lpstr>Desenrolando uma RNN</vt:lpstr>
      <vt:lpstr>Desenrolando uma RNN</vt:lpstr>
      <vt:lpstr>Desenrolando uma RNN</vt:lpstr>
      <vt:lpstr>Treinando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Backpropagation Through Time (BPTT)</vt:lpstr>
      <vt:lpstr>Desaparecimento e explosão do gradiente</vt:lpstr>
      <vt:lpstr>Como mitigar esses problemas?</vt:lpstr>
      <vt:lpstr>Backpropagation Through Time (BPTT)</vt:lpstr>
      <vt:lpstr>Backpropagation Through Time (BPTT)</vt:lpstr>
      <vt:lpstr>Por que o BPTT truncado funciona?</vt:lpstr>
      <vt:lpstr>Por que não usar funções de ativação ReLU?</vt:lpstr>
      <vt:lpstr>Apresentação do PowerPoint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Como as portas funcionam?</vt:lpstr>
      <vt:lpstr>Long-short term memory (LSTM)</vt:lpstr>
      <vt:lpstr>Como as portas funcionam?</vt:lpstr>
      <vt:lpstr>Como as portas funcionam?</vt:lpstr>
      <vt:lpstr>Dinâmica das portas em uma célula LSTM</vt:lpstr>
      <vt:lpstr>Dinâmica das portas em uma célula LSTM</vt:lpstr>
      <vt:lpstr>Porta de esquecimento</vt:lpstr>
      <vt:lpstr>Porta de entrada</vt:lpstr>
      <vt:lpstr>Porta de saída</vt:lpstr>
      <vt:lpstr>Resumo das equações de atualização da célula</vt:lpstr>
      <vt:lpstr>Long-short term memory (LSTM)</vt:lpstr>
      <vt:lpstr>Principais desvantagens de LSTMs</vt:lpstr>
      <vt:lpstr>Apresentação do PowerPoint</vt:lpstr>
      <vt:lpstr>Gated recurrent unit (GRU)</vt:lpstr>
      <vt:lpstr>Gated recurrent unit (GRU)</vt:lpstr>
      <vt:lpstr>Gated recurrent unit (GRU)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2261</cp:revision>
  <dcterms:created xsi:type="dcterms:W3CDTF">2020-01-20T13:50:05Z</dcterms:created>
  <dcterms:modified xsi:type="dcterms:W3CDTF">2026-05-18T21:58:23Z</dcterms:modified>
</cp:coreProperties>
</file>