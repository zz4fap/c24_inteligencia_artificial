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315" r:id="rId3"/>
    <p:sldId id="316" r:id="rId4"/>
    <p:sldId id="325" r:id="rId5"/>
    <p:sldId id="605" r:id="rId6"/>
    <p:sldId id="308" r:id="rId7"/>
    <p:sldId id="674" r:id="rId8"/>
    <p:sldId id="317" r:id="rId9"/>
    <p:sldId id="326" r:id="rId10"/>
    <p:sldId id="606" r:id="rId11"/>
    <p:sldId id="328" r:id="rId12"/>
    <p:sldId id="329" r:id="rId13"/>
    <p:sldId id="607" r:id="rId14"/>
    <p:sldId id="620" r:id="rId15"/>
    <p:sldId id="334" r:id="rId16"/>
    <p:sldId id="622" r:id="rId17"/>
    <p:sldId id="332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376" r:id="rId49"/>
    <p:sldId id="655" r:id="rId50"/>
    <p:sldId id="616" r:id="rId51"/>
    <p:sldId id="673" r:id="rId52"/>
    <p:sldId id="659" r:id="rId53"/>
    <p:sldId id="660" r:id="rId54"/>
    <p:sldId id="358" r:id="rId55"/>
    <p:sldId id="362" r:id="rId56"/>
    <p:sldId id="365" r:id="rId57"/>
    <p:sldId id="591" r:id="rId58"/>
    <p:sldId id="366" r:id="rId59"/>
    <p:sldId id="367" r:id="rId60"/>
    <p:sldId id="669" r:id="rId61"/>
    <p:sldId id="368" r:id="rId62"/>
    <p:sldId id="668" r:id="rId63"/>
    <p:sldId id="671" r:id="rId64"/>
    <p:sldId id="672" r:id="rId65"/>
    <p:sldId id="670" r:id="rId66"/>
    <p:sldId id="603" r:id="rId67"/>
    <p:sldId id="381" r:id="rId68"/>
    <p:sldId id="662" r:id="rId69"/>
    <p:sldId id="667" r:id="rId70"/>
    <p:sldId id="595" r:id="rId71"/>
    <p:sldId id="596" r:id="rId72"/>
    <p:sldId id="597" r:id="rId73"/>
    <p:sldId id="598" r:id="rId74"/>
    <p:sldId id="599" r:id="rId75"/>
    <p:sldId id="600" r:id="rId76"/>
    <p:sldId id="588" r:id="rId77"/>
    <p:sldId id="589" r:id="rId78"/>
    <p:sldId id="293" r:id="rId79"/>
    <p:sldId id="306" r:id="rId80"/>
    <p:sldId id="335" r:id="rId81"/>
    <p:sldId id="590" r:id="rId82"/>
    <p:sldId id="608" r:id="rId83"/>
    <p:sldId id="330" r:id="rId84"/>
    <p:sldId id="340" r:id="rId85"/>
    <p:sldId id="348" r:id="rId86"/>
    <p:sldId id="350" r:id="rId87"/>
    <p:sldId id="353" r:id="rId88"/>
    <p:sldId id="354" r:id="rId89"/>
    <p:sldId id="373" r:id="rId90"/>
    <p:sldId id="647" r:id="rId91"/>
    <p:sldId id="357" r:id="rId92"/>
    <p:sldId id="359" r:id="rId93"/>
    <p:sldId id="592" r:id="rId94"/>
    <p:sldId id="363" r:id="rId95"/>
    <p:sldId id="364" r:id="rId96"/>
    <p:sldId id="654" r:id="rId97"/>
    <p:sldId id="369" r:id="rId98"/>
    <p:sldId id="370" r:id="rId99"/>
    <p:sldId id="675" r:id="rId10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0678" autoAdjust="0"/>
  </p:normalViewPr>
  <p:slideViewPr>
    <p:cSldViewPr snapToGrid="0">
      <p:cViewPr varScale="1">
        <p:scale>
          <a:sx n="100" d="100"/>
          <a:sy n="100" d="100"/>
        </p:scale>
        <p:origin x="1218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19/10/2026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8174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ℎ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ℎ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ℎ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ℎ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68401-ADA4-3C4F-1CA5-0B0EF583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33A7EE6-35DA-3513-AC98-9814A1EF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E9E4134-7AC4-6D21-191F-0465D5E9D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13DE283-E634-E815-9ACF-D12EAFFA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8527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porta de saída decide </a:t>
            </a:r>
            <a:r>
              <a:rPr lang="pt-BR" i="1" dirty="0"/>
              <a:t>o</a:t>
            </a:r>
            <a:r>
              <a:rPr lang="pt-BR" dirty="0"/>
              <a:t> </a:t>
            </a:r>
            <a:r>
              <a:rPr lang="pt-BR" b="1" dirty="0"/>
              <a:t>quanto da informação armazenada será exposta como saída naquele instante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764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2279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44228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E1F0-BD5F-58F6-0B98-195856CB7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13980-A624-5C36-D922-705246EF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6E628-AC10-6257-A910-0D8913738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85326A-22FD-BA6A-1FFA-405FF4255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34806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E186-D248-19A0-1A87-124CEB36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32F1D-95DB-1978-1776-796129959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96C98-EE2F-5535-DB30-B8C3930A3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0A54A-8706-9B45-68F9-9EBF984A5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85253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99CFB-F71C-A643-C93A-91BD8743B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118884-A733-51F0-166E-874ACE5F9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9E6BA-0364-919A-82CD-6548B62A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865C5-84FC-7423-84BF-215C0499C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1443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6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441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Relationship Id="rId9" Type="http://schemas.openxmlformats.org/officeDocument/2006/relationships/image" Target="../media/image6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0.png"/><Relationship Id="rId9" Type="http://schemas.openxmlformats.org/officeDocument/2006/relationships/image" Target="../media/image72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0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0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5.png"/><Relationship Id="rId18" Type="http://schemas.openxmlformats.org/officeDocument/2006/relationships/image" Target="../media/image100.png"/><Relationship Id="rId26" Type="http://schemas.openxmlformats.org/officeDocument/2006/relationships/image" Target="../media/image108.png"/><Relationship Id="rId3" Type="http://schemas.openxmlformats.org/officeDocument/2006/relationships/image" Target="../media/image85.png"/><Relationship Id="rId21" Type="http://schemas.openxmlformats.org/officeDocument/2006/relationships/image" Target="../media/image103.png"/><Relationship Id="rId7" Type="http://schemas.openxmlformats.org/officeDocument/2006/relationships/image" Target="../media/image89.png"/><Relationship Id="rId12" Type="http://schemas.openxmlformats.org/officeDocument/2006/relationships/image" Target="../media/image94.png"/><Relationship Id="rId17" Type="http://schemas.openxmlformats.org/officeDocument/2006/relationships/image" Target="../media/image99.png"/><Relationship Id="rId25" Type="http://schemas.openxmlformats.org/officeDocument/2006/relationships/image" Target="../media/image107.png"/><Relationship Id="rId33" Type="http://schemas.openxmlformats.org/officeDocument/2006/relationships/image" Target="../media/image115.png"/><Relationship Id="rId2" Type="http://schemas.openxmlformats.org/officeDocument/2006/relationships/image" Target="../media/image67.png"/><Relationship Id="rId16" Type="http://schemas.openxmlformats.org/officeDocument/2006/relationships/image" Target="../media/image98.png"/><Relationship Id="rId20" Type="http://schemas.openxmlformats.org/officeDocument/2006/relationships/image" Target="../media/image102.png"/><Relationship Id="rId29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3.png"/><Relationship Id="rId24" Type="http://schemas.openxmlformats.org/officeDocument/2006/relationships/image" Target="../media/image106.png"/><Relationship Id="rId32" Type="http://schemas.openxmlformats.org/officeDocument/2006/relationships/image" Target="../media/image114.png"/><Relationship Id="rId5" Type="http://schemas.openxmlformats.org/officeDocument/2006/relationships/image" Target="../media/image87.png"/><Relationship Id="rId15" Type="http://schemas.openxmlformats.org/officeDocument/2006/relationships/image" Target="../media/image97.png"/><Relationship Id="rId23" Type="http://schemas.openxmlformats.org/officeDocument/2006/relationships/image" Target="../media/image105.png"/><Relationship Id="rId28" Type="http://schemas.openxmlformats.org/officeDocument/2006/relationships/image" Target="../media/image110.png"/><Relationship Id="rId10" Type="http://schemas.openxmlformats.org/officeDocument/2006/relationships/image" Target="../media/image92.png"/><Relationship Id="rId19" Type="http://schemas.openxmlformats.org/officeDocument/2006/relationships/image" Target="../media/image101.png"/><Relationship Id="rId31" Type="http://schemas.openxmlformats.org/officeDocument/2006/relationships/image" Target="../media/image113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Relationship Id="rId14" Type="http://schemas.openxmlformats.org/officeDocument/2006/relationships/image" Target="../media/image96.png"/><Relationship Id="rId22" Type="http://schemas.openxmlformats.org/officeDocument/2006/relationships/image" Target="../media/image104.png"/><Relationship Id="rId27" Type="http://schemas.openxmlformats.org/officeDocument/2006/relationships/image" Target="../media/image109.png"/><Relationship Id="rId30" Type="http://schemas.openxmlformats.org/officeDocument/2006/relationships/image" Target="../media/image112.png"/><Relationship Id="rId8" Type="http://schemas.openxmlformats.org/officeDocument/2006/relationships/image" Target="../media/image9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18" Type="http://schemas.openxmlformats.org/officeDocument/2006/relationships/image" Target="../media/image108.png"/><Relationship Id="rId3" Type="http://schemas.openxmlformats.org/officeDocument/2006/relationships/image" Target="../media/image93.png"/><Relationship Id="rId21" Type="http://schemas.openxmlformats.org/officeDocument/2006/relationships/image" Target="../media/image111.png"/><Relationship Id="rId7" Type="http://schemas.openxmlformats.org/officeDocument/2006/relationships/image" Target="../media/image97.png"/><Relationship Id="rId12" Type="http://schemas.openxmlformats.org/officeDocument/2006/relationships/image" Target="../media/image102.png"/><Relationship Id="rId17" Type="http://schemas.openxmlformats.org/officeDocument/2006/relationships/image" Target="../media/image107.png"/><Relationship Id="rId2" Type="http://schemas.openxmlformats.org/officeDocument/2006/relationships/image" Target="../media/image92.png"/><Relationship Id="rId16" Type="http://schemas.openxmlformats.org/officeDocument/2006/relationships/image" Target="../media/image106.png"/><Relationship Id="rId20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5" Type="http://schemas.openxmlformats.org/officeDocument/2006/relationships/image" Target="../media/image95.png"/><Relationship Id="rId15" Type="http://schemas.openxmlformats.org/officeDocument/2006/relationships/image" Target="../media/image105.png"/><Relationship Id="rId10" Type="http://schemas.openxmlformats.org/officeDocument/2006/relationships/image" Target="../media/image100.png"/><Relationship Id="rId19" Type="http://schemas.openxmlformats.org/officeDocument/2006/relationships/image" Target="../media/image109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Relationship Id="rId22" Type="http://schemas.openxmlformats.org/officeDocument/2006/relationships/image" Target="../media/image112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7" Type="http://schemas.openxmlformats.org/officeDocument/2006/relationships/image" Target="../media/image9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1.png"/><Relationship Id="rId5" Type="http://schemas.openxmlformats.org/officeDocument/2006/relationships/image" Target="../media/image890.png"/><Relationship Id="rId10" Type="http://schemas.openxmlformats.org/officeDocument/2006/relationships/image" Target="../media/image941.png"/><Relationship Id="rId4" Type="http://schemas.openxmlformats.org/officeDocument/2006/relationships/image" Target="../media/image880.png"/><Relationship Id="rId9" Type="http://schemas.openxmlformats.org/officeDocument/2006/relationships/image" Target="../media/image932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0.png"/><Relationship Id="rId3" Type="http://schemas.openxmlformats.org/officeDocument/2006/relationships/image" Target="../media/image641.png"/><Relationship Id="rId7" Type="http://schemas.openxmlformats.org/officeDocument/2006/relationships/image" Target="../media/image980.png"/><Relationship Id="rId12" Type="http://schemas.openxmlformats.org/officeDocument/2006/relationships/image" Target="../media/image10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1.png"/><Relationship Id="rId11" Type="http://schemas.openxmlformats.org/officeDocument/2006/relationships/image" Target="../media/image1021.png"/><Relationship Id="rId5" Type="http://schemas.openxmlformats.org/officeDocument/2006/relationships/image" Target="../media/image960.png"/><Relationship Id="rId10" Type="http://schemas.openxmlformats.org/officeDocument/2006/relationships/image" Target="../media/image1011.png"/><Relationship Id="rId4" Type="http://schemas.openxmlformats.org/officeDocument/2006/relationships/image" Target="../media/image952.png"/><Relationship Id="rId9" Type="http://schemas.openxmlformats.org/officeDocument/2006/relationships/image" Target="../media/image1001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0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0.png"/><Relationship Id="rId2" Type="http://schemas.openxmlformats.org/officeDocument/2006/relationships/notesSlide" Target="../notesSlides/notesSlide53.xml"/><Relationship Id="rId16" Type="http://schemas.openxmlformats.org/officeDocument/2006/relationships/image" Target="../media/image1070.png"/><Relationship Id="rId20" Type="http://schemas.openxmlformats.org/officeDocument/2006/relationships/image" Target="../media/image1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0.png"/><Relationship Id="rId10" Type="http://schemas.openxmlformats.org/officeDocument/2006/relationships/image" Target="../media/image830.png"/><Relationship Id="rId19" Type="http://schemas.openxmlformats.org/officeDocument/2006/relationships/image" Target="../media/image110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0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0.png"/><Relationship Id="rId5" Type="http://schemas.openxmlformats.org/officeDocument/2006/relationships/image" Target="../media/image1050.png"/><Relationship Id="rId10" Type="http://schemas.openxmlformats.org/officeDocument/2006/relationships/image" Target="../media/image1060.png"/><Relationship Id="rId4" Type="http://schemas.openxmlformats.org/officeDocument/2006/relationships/image" Target="../media/image730.png"/><Relationship Id="rId9" Type="http://schemas.openxmlformats.org/officeDocument/2006/relationships/image" Target="../media/image1120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0.png"/><Relationship Id="rId7" Type="http://schemas.openxmlformats.org/officeDocument/2006/relationships/image" Target="../media/image116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0.png"/><Relationship Id="rId5" Type="http://schemas.openxmlformats.org/officeDocument/2006/relationships/image" Target="../media/image1050.png"/><Relationship Id="rId10" Type="http://schemas.openxmlformats.org/officeDocument/2006/relationships/image" Target="../media/image1060.png"/><Relationship Id="rId4" Type="http://schemas.openxmlformats.org/officeDocument/2006/relationships/image" Target="../media/image1150.png"/><Relationship Id="rId9" Type="http://schemas.openxmlformats.org/officeDocument/2006/relationships/image" Target="../media/image1120.png"/><Relationship Id="rId14" Type="http://schemas.openxmlformats.org/officeDocument/2006/relationships/image" Target="../media/image118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0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0.png"/><Relationship Id="rId4" Type="http://schemas.openxmlformats.org/officeDocument/2006/relationships/image" Target="../media/image1060.png"/><Relationship Id="rId9" Type="http://schemas.openxmlformats.org/officeDocument/2006/relationships/image" Target="../media/image1120.png"/><Relationship Id="rId14" Type="http://schemas.openxmlformats.org/officeDocument/2006/relationships/image" Target="../media/image120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147.png"/><Relationship Id="rId26" Type="http://schemas.openxmlformats.org/officeDocument/2006/relationships/image" Target="../media/image155.png"/><Relationship Id="rId3" Type="http://schemas.openxmlformats.org/officeDocument/2006/relationships/image" Target="../media/image132.png"/><Relationship Id="rId21" Type="http://schemas.openxmlformats.org/officeDocument/2006/relationships/image" Target="../media/image150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4.png"/><Relationship Id="rId2" Type="http://schemas.openxmlformats.org/officeDocument/2006/relationships/notesSlide" Target="../notesSlides/notesSlide59.xml"/><Relationship Id="rId16" Type="http://schemas.openxmlformats.org/officeDocument/2006/relationships/image" Target="../media/image145.png"/><Relationship Id="rId20" Type="http://schemas.openxmlformats.org/officeDocument/2006/relationships/image" Target="../media/image149.png"/><Relationship Id="rId29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24" Type="http://schemas.openxmlformats.org/officeDocument/2006/relationships/image" Target="../media/image153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23" Type="http://schemas.openxmlformats.org/officeDocument/2006/relationships/image" Target="../media/image152.png"/><Relationship Id="rId28" Type="http://schemas.openxmlformats.org/officeDocument/2006/relationships/image" Target="../media/image157.png"/><Relationship Id="rId10" Type="http://schemas.openxmlformats.org/officeDocument/2006/relationships/image" Target="../media/image139.png"/><Relationship Id="rId19" Type="http://schemas.openxmlformats.org/officeDocument/2006/relationships/image" Target="../media/image148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Relationship Id="rId22" Type="http://schemas.openxmlformats.org/officeDocument/2006/relationships/image" Target="../media/image151.png"/><Relationship Id="rId27" Type="http://schemas.openxmlformats.org/officeDocument/2006/relationships/image" Target="../media/image15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59.png"/><Relationship Id="rId7" Type="http://schemas.openxmlformats.org/officeDocument/2006/relationships/image" Target="../media/image16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sz="4000" b="1" dirty="0"/>
              <a:t>Cada amostra tende a carregar informação correlacionada com 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741" y="1927699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9429" y="1911803"/>
            <a:ext cx="5021941" cy="368345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(</a:t>
            </a:r>
            <a:r>
              <a:rPr lang="pt-BR" sz="4800" i="1" dirty="0" err="1"/>
              <a:t>recurrent</a:t>
            </a:r>
            <a:r>
              <a:rPr lang="pt-BR" sz="4800" i="1" dirty="0"/>
              <a:t> neural networks</a:t>
            </a:r>
            <a:r>
              <a:rPr lang="pt-BR" sz="4800" dirty="0"/>
              <a:t> – </a:t>
            </a:r>
            <a:r>
              <a:rPr lang="pt-BR" sz="4800" dirty="0" err="1"/>
              <a:t>RNNs</a:t>
            </a:r>
            <a:r>
              <a:rPr lang="pt-BR" sz="4800" dirty="0"/>
              <a:t>)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8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 de redes neurais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Padrões temporais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371771" y="1690688"/>
            <a:ext cx="5704114" cy="5167311"/>
          </a:xfrm>
        </p:spPr>
        <p:txBody>
          <a:bodyPr>
            <a:normAutofit/>
          </a:bodyPr>
          <a:lstStyle/>
          <a:p>
            <a:r>
              <a:rPr lang="pt-BR" dirty="0"/>
              <a:t>CNNs aprendem padrões espaciais, enquanto </a:t>
            </a:r>
            <a:r>
              <a:rPr lang="pt-BR" dirty="0" err="1"/>
              <a:t>RNNs</a:t>
            </a:r>
            <a:r>
              <a:rPr lang="pt-BR" dirty="0"/>
              <a:t> aprendem padrões temporais.</a:t>
            </a:r>
          </a:p>
          <a:p>
            <a:r>
              <a:rPr lang="pt-BR" dirty="0"/>
              <a:t>No exemplo ao lado, a RNN recebe um contexto, como o “</a:t>
            </a:r>
            <a:r>
              <a:rPr lang="pt-BR" b="1" dirty="0">
                <a:solidFill>
                  <a:srgbClr val="00B050"/>
                </a:solidFill>
              </a:rPr>
              <a:t>O gato subiu no</a:t>
            </a:r>
            <a:r>
              <a:rPr lang="pt-BR" dirty="0"/>
              <a:t>”, e apresenta as palavras candidatas com suas respectivas probabilidades estimadas.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3" name="Imagem 3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15" y="2001659"/>
            <a:ext cx="6052456" cy="399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345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</a:t>
            </a:r>
            <a:r>
              <a:rPr lang="pt-BR" b="1" dirty="0">
                <a:solidFill>
                  <a:srgbClr val="FF0000"/>
                </a:solidFill>
              </a:rPr>
              <a:t>recorrentes</a:t>
            </a:r>
            <a:r>
              <a:rPr lang="pt-BR" b="1" dirty="0"/>
              <a:t>.</a:t>
            </a:r>
            <a:endParaRPr lang="en-US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DCA16A0-BC88-7690-E5AE-8270F81FE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562" y="1546980"/>
            <a:ext cx="2135013" cy="4945895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701C896C-307C-C0C5-738A-44085EB29110}"/>
              </a:ext>
            </a:extLst>
          </p:cNvPr>
          <p:cNvSpPr/>
          <p:nvPr/>
        </p:nvSpPr>
        <p:spPr>
          <a:xfrm>
            <a:off x="2505075" y="3429000"/>
            <a:ext cx="1628775" cy="1771650"/>
          </a:xfrm>
          <a:prstGeom prst="rect">
            <a:avLst/>
          </a:prstGeom>
          <a:noFill/>
          <a:ln w="3810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52EFB16C-1831-3F78-A14D-2E49F1D064D5}"/>
              </a:ext>
            </a:extLst>
          </p:cNvPr>
          <p:cNvCxnSpPr/>
          <p:nvPr/>
        </p:nvCxnSpPr>
        <p:spPr>
          <a:xfrm flipH="1">
            <a:off x="4219575" y="4048125"/>
            <a:ext cx="3676650" cy="27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vetor</a:t>
                </a:r>
                <a:r>
                  <a:rPr lang="en-US" dirty="0"/>
                  <a:t> de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vetor</a:t>
                </a:r>
                <a:r>
                  <a:rPr lang="en-US" dirty="0"/>
                  <a:t>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vetor</a:t>
                </a:r>
                <a:r>
                  <a:rPr lang="en-US" dirty="0"/>
                  <a:t> de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vetor</a:t>
                </a:r>
                <a:r>
                  <a:rPr lang="en-US" dirty="0"/>
                  <a:t> de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matriz</a:t>
                </a:r>
                <a:r>
                  <a:rPr lang="en-US" dirty="0"/>
                  <a:t> de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matriz</a:t>
                </a:r>
                <a:r>
                  <a:rPr lang="en-US" dirty="0"/>
                  <a:t> de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matriz</a:t>
                </a:r>
                <a:r>
                  <a:rPr lang="en-US" dirty="0"/>
                  <a:t> de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2663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1252C758-277F-DA66-B941-C4CEC9A7F8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993" y="1546661"/>
            <a:ext cx="2258313" cy="523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7699" y="1825624"/>
                <a:ext cx="76463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7699" y="1825624"/>
                <a:ext cx="7646316" cy="5032375"/>
              </a:xfrm>
              <a:blipFill>
                <a:blip r:embed="rId3"/>
                <a:stretch>
                  <a:fillRect l="-1434" t="-1937" r="-1912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01F782D5-71AB-D553-55B4-A6F6837094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618" y="1537136"/>
            <a:ext cx="2258313" cy="523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são vetores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902527C-C851-72E8-E575-0D9C14F549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0243" y="1537136"/>
            <a:ext cx="2258313" cy="523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2E19A24-18DD-F79E-7B92-8A292CB749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35" y="1613600"/>
            <a:ext cx="7578510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8860499-3665-D223-33E1-1F20C0E668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35" y="1613600"/>
            <a:ext cx="7578510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72CE34D-4805-E8D2-07CB-F75589512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35" y="1613600"/>
            <a:ext cx="7578510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9B7CC2F-1E75-F4A8-18F2-B84C9D523C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35" y="1613600"/>
            <a:ext cx="7578510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F97558D-F894-C4E9-53CE-FEE46C4435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128" y="1502633"/>
            <a:ext cx="4896244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7050A144-74D6-CCAF-068D-357E453024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128" y="1502633"/>
            <a:ext cx="4896244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FF51F8A-649B-6C47-A540-B02E3A29F9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128" y="1502633"/>
            <a:ext cx="4896244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00ABB534-8CE1-B2CC-8D4D-EAAE4A92D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128" y="1502633"/>
            <a:ext cx="4896244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B4057F0-5375-36E9-2B1A-1445C87A3A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128" y="1502633"/>
            <a:ext cx="4896244" cy="516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−2]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ℎ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ℎ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ℎ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ℎ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</a:t>
            </a:r>
            <a:r>
              <a:rPr lang="pt-BR" sz="3600" b="1" dirty="0">
                <a:solidFill>
                  <a:srgbClr val="00B050"/>
                </a:solidFill>
              </a:rPr>
              <a:t>RNN tradicional</a:t>
            </a:r>
            <a:r>
              <a:rPr lang="pt-BR" sz="3600" dirty="0"/>
              <a:t> processa uma </a:t>
            </a:r>
            <a:r>
              <a:rPr lang="pt-BR" sz="3600" b="1" dirty="0">
                <a:solidFill>
                  <a:schemeClr val="accent2"/>
                </a:solidFill>
              </a:rPr>
              <a:t>sequência muito longa</a:t>
            </a:r>
            <a:r>
              <a:rPr lang="pt-BR" sz="3600" dirty="0"/>
              <a:t>, ela se </a:t>
            </a:r>
            <a:r>
              <a:rPr lang="pt-BR" sz="3600" b="1" dirty="0">
                <a:solidFill>
                  <a:srgbClr val="7030A0"/>
                </a:solidFill>
              </a:rPr>
              <a:t>esquece gradualmente das primeiras amostras</a:t>
            </a:r>
            <a:r>
              <a:rPr lang="pt-BR" sz="3600" dirty="0"/>
              <a:t>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</a:t>
            </a:r>
            <a:r>
              <a:rPr lang="pt-BR" sz="3600" b="1" dirty="0">
                <a:solidFill>
                  <a:schemeClr val="accent1"/>
                </a:solidFill>
              </a:rPr>
              <a:t>não aprendem dependências longas</a:t>
            </a:r>
            <a:endParaRPr lang="en-US" sz="3600" b="1" dirty="0">
              <a:solidFill>
                <a:schemeClr val="accent1"/>
              </a:solidFill>
            </a:endParaRPr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</a:t>
            </a:r>
            <a:r>
              <a:rPr lang="pt-BR" b="1" dirty="0">
                <a:solidFill>
                  <a:schemeClr val="accent1"/>
                </a:solidFill>
              </a:rPr>
              <a:t>incapazes</a:t>
            </a:r>
            <a:r>
              <a:rPr lang="pt-BR" b="1" dirty="0">
                <a:solidFill>
                  <a:schemeClr val="accent2"/>
                </a:solidFill>
              </a:rPr>
              <a:t>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7030A0"/>
                </a:solidFill>
              </a:rPr>
              <a:t>BPTT truncado</a:t>
            </a:r>
            <a:r>
              <a:rPr lang="pt-BR" dirty="0"/>
              <a:t> </a:t>
            </a:r>
            <a:r>
              <a:rPr lang="pt-BR" b="1" dirty="0"/>
              <a:t>também limita o aprendizado de longo prazo</a:t>
            </a:r>
            <a:r>
              <a:rPr lang="pt-BR" dirty="0"/>
              <a:t>, pois </a:t>
            </a:r>
            <a:r>
              <a:rPr lang="pt-BR" b="1" dirty="0">
                <a:solidFill>
                  <a:srgbClr val="7030A0"/>
                </a:solidFill>
              </a:rPr>
              <a:t>impõe um horizonte</a:t>
            </a:r>
            <a:r>
              <a:rPr lang="pt-BR" dirty="0"/>
              <a:t> máximo </a:t>
            </a:r>
            <a:r>
              <a:rPr lang="pt-BR" b="1" dirty="0">
                <a:solidFill>
                  <a:srgbClr val="7030A0"/>
                </a:solidFill>
              </a:rPr>
              <a:t>para a retropropagação</a:t>
            </a:r>
            <a:r>
              <a:rPr lang="pt-BR" dirty="0"/>
              <a:t>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dirty="0"/>
              <a:t>Por exemplo, e</a:t>
            </a:r>
            <a:r>
              <a:rPr lang="en-US" dirty="0"/>
              <a:t>m </a:t>
            </a: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,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.</a:t>
            </a:r>
          </a:p>
          <a:p>
            <a:r>
              <a:rPr lang="pt-BR" dirty="0"/>
              <a:t>Ou seja, a </a:t>
            </a:r>
            <a:r>
              <a:rPr lang="pt-BR" b="1" dirty="0">
                <a:solidFill>
                  <a:srgbClr val="7030A0"/>
                </a:solidFill>
              </a:rPr>
              <a:t>informação relevante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está a poucos passos</a:t>
            </a:r>
            <a:r>
              <a:rPr lang="pt-BR" dirty="0"/>
              <a:t>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, o </a:t>
            </a:r>
            <a:r>
              <a:rPr lang="pt-BR" b="1" dirty="0">
                <a:solidFill>
                  <a:schemeClr val="accent2"/>
                </a:solidFill>
              </a:rPr>
              <a:t>erro precisa ser retropropagado por apenas alguns instantes</a:t>
            </a:r>
            <a:r>
              <a:rPr lang="pt-BR" dirty="0"/>
              <a:t> temporais.</a:t>
            </a:r>
          </a:p>
          <a:p>
            <a:r>
              <a:rPr lang="pt-BR" dirty="0"/>
              <a:t>Porém, em muitas aplicações, a </a:t>
            </a:r>
            <a:r>
              <a:rPr lang="pt-BR" b="1" dirty="0">
                <a:solidFill>
                  <a:srgbClr val="7030A0"/>
                </a:solidFill>
              </a:rPr>
              <a:t>informação importante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pode estar muito distante na sequência</a:t>
            </a:r>
            <a:r>
              <a:rPr lang="pt-BR" dirty="0"/>
              <a:t>.</a:t>
            </a:r>
          </a:p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</a:t>
            </a:r>
            <a:r>
              <a:rPr lang="pt-BR" b="1" dirty="0"/>
              <a:t>Roma</a:t>
            </a:r>
            <a:r>
              <a:rPr lang="pt-BR" dirty="0"/>
              <a:t>. Nasci há 30 anos. Gosto de comer bem e andar de bicicleta. Minha língua materna é o </a:t>
            </a:r>
            <a:r>
              <a:rPr lang="pt-BR" b="1" dirty="0"/>
              <a:t>italiano</a:t>
            </a:r>
            <a:r>
              <a:rPr lang="pt-BR" dirty="0"/>
              <a:t>.”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4" y="1825624"/>
            <a:ext cx="5953125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de uma </a:t>
            </a:r>
            <a:r>
              <a:rPr lang="pt-BR" b="1" dirty="0">
                <a:solidFill>
                  <a:srgbClr val="7030A0"/>
                </a:solidFill>
              </a:rPr>
              <a:t>informação muito antiga</a:t>
            </a:r>
            <a:r>
              <a:rPr lang="pt-BR" dirty="0"/>
              <a:t>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</a:t>
            </a:r>
            <a:r>
              <a:rPr lang="pt-BR" b="1" dirty="0">
                <a:solidFill>
                  <a:srgbClr val="00B050"/>
                </a:solidFill>
              </a:rPr>
              <a:t>erro</a:t>
            </a:r>
            <a:r>
              <a:rPr lang="pt-BR" dirty="0"/>
              <a:t> precisa ser </a:t>
            </a:r>
            <a:r>
              <a:rPr lang="pt-BR" b="1" dirty="0" err="1">
                <a:solidFill>
                  <a:srgbClr val="00B050"/>
                </a:solidFill>
              </a:rPr>
              <a:t>retropropagado</a:t>
            </a:r>
            <a:r>
              <a:rPr lang="pt-BR" dirty="0"/>
              <a:t> por </a:t>
            </a:r>
            <a:r>
              <a:rPr lang="pt-BR" b="1" dirty="0">
                <a:solidFill>
                  <a:srgbClr val="00B050"/>
                </a:solidFill>
              </a:rPr>
              <a:t>vários instantes de tempo</a:t>
            </a:r>
            <a:r>
              <a:rPr lang="pt-BR" dirty="0"/>
              <a:t>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Quanto maior a distância temporal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mais difícil é para uma RNN tradicional </a:t>
            </a:r>
            <a:r>
              <a:rPr lang="pt-BR" dirty="0"/>
              <a:t>manter a informação relevante, ou seja, </a:t>
            </a:r>
            <a:r>
              <a:rPr lang="pt-BR" b="1" dirty="0">
                <a:solidFill>
                  <a:schemeClr val="accent1"/>
                </a:solidFill>
              </a:rPr>
              <a:t>se lembrar do passado distante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por muito mais tempo</a:t>
            </a:r>
            <a:r>
              <a:rPr lang="pt-BR" dirty="0"/>
              <a:t>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diminuir o problema das dependências de longo prazo</a:t>
            </a:r>
            <a:r>
              <a:rPr lang="pt-BR" dirty="0"/>
              <a:t>, causado pelo desaparecimento ou explosão do gradiente, foram propostas </a:t>
            </a:r>
            <a:r>
              <a:rPr lang="pt-BR" b="1" dirty="0">
                <a:solidFill>
                  <a:srgbClr val="00B050"/>
                </a:solidFill>
              </a:rPr>
              <a:t>arquiteturas com mecanismos de memória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</a:t>
            </a:r>
            <a:r>
              <a:rPr lang="pt-BR" b="1" dirty="0">
                <a:solidFill>
                  <a:srgbClr val="7030A0"/>
                </a:solidFill>
              </a:rPr>
              <a:t>criam caminhos ao longo do tempo</a:t>
            </a:r>
            <a:r>
              <a:rPr lang="pt-BR" dirty="0"/>
              <a:t>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controlar</a:t>
            </a:r>
            <a:r>
              <a:rPr lang="pt-BR" dirty="0"/>
              <a:t> quais </a:t>
            </a:r>
            <a:r>
              <a:rPr lang="pt-BR" b="1" dirty="0">
                <a:solidFill>
                  <a:schemeClr val="accent1"/>
                </a:solidFill>
              </a:rPr>
              <a:t>informações</a:t>
            </a:r>
            <a:r>
              <a:rPr lang="pt-BR" dirty="0"/>
              <a:t> devem ser: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armazenadas (o que lembrar),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esquecidas ou mantidas,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expostas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5624"/>
            <a:ext cx="7882811" cy="45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5624"/>
            <a:ext cx="7882811" cy="45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 (de memória)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destas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a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com função de ativação sigmoide da célula LSTM.</a:t>
                </a:r>
              </a:p>
              <a:p>
                <a:r>
                  <a:rPr lang="pt-BR" dirty="0"/>
                  <a:t>A camada gera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</a:t>
                </a:r>
                <a:r>
                  <a:rPr lang="pt-BR" b="1" dirty="0">
                    <a:solidFill>
                      <a:schemeClr val="accent1"/>
                    </a:solidFill>
                  </a:rPr>
                  <a:t>elementos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assumindo valores entre 0 e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</a:t>
                </a:r>
                <a:r>
                  <a:rPr lang="pt-BR" b="1" dirty="0">
                    <a:solidFill>
                      <a:srgbClr val="7030A0"/>
                    </a:solidFill>
                  </a:rPr>
                  <a:t>o quanto da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porta 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 (através dos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 r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BB5F7986-EAE8-359B-3AAD-10594FC9B15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98434"/>
            <a:ext cx="3552340" cy="183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esquecimento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saída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expostas na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302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6E7DB-3A45-270A-379C-5B53CF58BB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entrada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nova informação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adicionada</a:t>
                </a:r>
                <a:r>
                  <a:rPr lang="pt-BR" dirty="0"/>
                  <a:t> à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Porta de esquecimento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</a:t>
                </a:r>
                <a:r>
                  <a:rPr lang="pt-BR" dirty="0"/>
                  <a:t> 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0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6E7DB-3A45-270A-379C-5B53CF58BB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  <a:blipFill>
                <a:blip r:embed="rId3"/>
                <a:stretch>
                  <a:fillRect l="-1714" t="-1937" r="-2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28925255-2033-E562-5006-471EA9D29CCE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EC25FC48-58E7-B559-5B12-596F007AA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C3E50261-8EF0-729C-2E8C-D20829E397C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6FD26D3-71D3-A60C-E0EE-CA25D27B76AD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F90DD8F-312C-6128-D7F9-6758A78D3E05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822F81E-E7E9-78B7-979D-5948EDFFFE0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D604DA9-1158-4638-9555-AC2DFEC3B7FE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BF5BE9D3-9B2F-4871-C5F9-B471DE6FFE8F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FD865-7758-8250-A67E-67962788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7E05B-91D0-82AC-6DC0-9D016FC41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8F3B9-2D69-B2FC-20A9-E2305A81CE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saída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uma 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exposta</a:t>
                </a:r>
                <a:r>
                  <a:rPr lang="pt-BR" dirty="0"/>
                  <a:t> na </a:t>
                </a:r>
                <a:r>
                  <a:rPr lang="pt-BR" b="1" dirty="0">
                    <a:solidFill>
                      <a:schemeClr val="accent1"/>
                    </a:solidFill>
                  </a:rPr>
                  <a:t>saída da célula</a:t>
                </a:r>
                <a:r>
                  <a:rPr lang="pt-BR" dirty="0"/>
                  <a:t>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resumo, uma </a:t>
                </a:r>
                <a:r>
                  <a:rPr lang="pt-BR" b="1" dirty="0">
                    <a:solidFill>
                      <a:schemeClr val="accent1"/>
                    </a:solidFill>
                  </a:rPr>
                  <a:t>célula</a:t>
                </a:r>
                <a:r>
                  <a:rPr lang="pt-BR" dirty="0"/>
                  <a:t> LSTM </a:t>
                </a:r>
                <a:r>
                  <a:rPr lang="pt-BR" b="1" dirty="0">
                    <a:solidFill>
                      <a:schemeClr val="accent1"/>
                    </a:solidFill>
                  </a:rPr>
                  <a:t>aprende a reconhecer</a:t>
                </a:r>
                <a:r>
                  <a:rPr lang="pt-BR" dirty="0"/>
                  <a:t>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importante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armazená-la</a:t>
                </a:r>
                <a:r>
                  <a:rPr lang="pt-BR" dirty="0"/>
                  <a:t> no estado de longo prazo, </a:t>
                </a: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e </a:t>
                </a:r>
                <a:r>
                  <a:rPr lang="pt-BR" b="1" dirty="0">
                    <a:solidFill>
                      <a:srgbClr val="00B050"/>
                    </a:solidFill>
                  </a:rPr>
                  <a:t>expô-la</a:t>
                </a:r>
                <a:r>
                  <a:rPr lang="pt-BR" dirty="0"/>
                  <a:t> sempre que necessário.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8F3B9-2D69-B2FC-20A9-E2305A81CE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  <a:blipFill>
                <a:blip r:embed="rId3"/>
                <a:stretch>
                  <a:fillRect l="-1689" t="-1937" r="-2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30A49084-94B6-B8E7-59B3-CC070B24B2C0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253079B4-18BC-BF80-BE7B-CE8318129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E4B9BA39-662D-46CA-6EB3-1A11A0E5E48C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C3885B0C-C367-A49E-C294-BC6208B0CBEA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EECB2F0-6815-65A7-784A-725403118CDC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0AD30D6-6C15-8675-00A9-F79CE9B8FB1A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276E1BF6-AAEA-804C-8249-ACF259021E97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E176483C-CF62-64B2-3BAE-3BC5ACE7490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36944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</a:t>
                </a:r>
                <a:r>
                  <a:rPr lang="pt-BR" b="1" dirty="0"/>
                  <a:t>estado interno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Assim, 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portas de entrada e de esquecimento</a:t>
                </a:r>
                <a:r>
                  <a:rPr lang="pt-BR" dirty="0"/>
                  <a:t>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capacidade de aprender quando (e o quanto)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  <a:blipFill rotWithShape="0">
                <a:blip r:embed="rId2"/>
                <a:stretch>
                  <a:fillRect l="-1610" t="-2663" r="-19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</a:p>
              <a:p>
                <a:r>
                  <a:rPr lang="pt-BR" dirty="0"/>
                  <a:t>Assim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: a </a:t>
                </a:r>
                <a:r>
                  <a:rPr lang="en-US" b="1" dirty="0" err="1"/>
                  <a:t>informação</a:t>
                </a:r>
                <a:r>
                  <a:rPr lang="en-US" b="1" dirty="0"/>
                  <a:t>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/>
                  <a:t> é </a:t>
                </a:r>
                <a:r>
                  <a:rPr lang="en-US" b="1" dirty="0" err="1"/>
                  <a:t>importante</a:t>
                </a:r>
                <a:r>
                  <a:rPr lang="en-US" b="1" dirty="0"/>
                  <a:t> </a:t>
                </a:r>
                <a:r>
                  <a:rPr lang="en-US" dirty="0"/>
                  <a:t>para o </a:t>
                </a:r>
                <a:r>
                  <a:rPr lang="en-US" dirty="0" err="1"/>
                  <a:t>futuro</a:t>
                </a:r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: a </a:t>
                </a:r>
                <a:r>
                  <a:rPr lang="en-US" b="1" dirty="0" err="1"/>
                  <a:t>informação</a:t>
                </a:r>
                <a:r>
                  <a:rPr lang="en-US" b="1" dirty="0"/>
                  <a:t>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é </a:t>
                </a:r>
                <a:r>
                  <a:rPr lang="en-US" b="1" dirty="0" err="1"/>
                  <a:t>relevante</a:t>
                </a:r>
                <a:r>
                  <a:rPr lang="en-US" dirty="0"/>
                  <a:t> para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próximos</a:t>
                </a:r>
                <a:r>
                  <a:rPr lang="en-US" dirty="0"/>
                  <a:t> </a:t>
                </a:r>
                <a:r>
                  <a:rPr lang="en-US" dirty="0" err="1"/>
                  <a:t>estados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 rotWithShape="0">
                <a:blip r:embed="rId2"/>
                <a:stretch>
                  <a:fillRect l="-1708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quais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informações</a:t>
                </a:r>
                <a:r>
                  <a:rPr lang="pt-BR" dirty="0"/>
                  <a:t> devem ser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descartadas</a:t>
                </a:r>
                <a:r>
                  <a:rPr lang="pt-BR" dirty="0"/>
                  <a:t> do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anterior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aplicado ao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/>
                  <a:t>estado de longo prazo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mantém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00B050"/>
                    </a:solidFill>
                  </a:rPr>
                  <a:t>gênero do sujeito</a:t>
                </a:r>
                <a:r>
                  <a:rPr lang="pt-BR" dirty="0"/>
                  <a:t> de uma frase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</a:t>
                </a:r>
                <a:r>
                  <a:rPr lang="pt-BR" b="1" dirty="0">
                    <a:solidFill>
                      <a:srgbClr val="00B050"/>
                    </a:solidFill>
                  </a:rPr>
                  <a:t>novo sujeito</a:t>
                </a:r>
                <a:r>
                  <a:rPr lang="pt-BR" dirty="0"/>
                  <a:t>, 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esquece</a:t>
                </a:r>
                <a:r>
                  <a:rPr lang="pt-BR" dirty="0"/>
                  <a:t>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 rotWithShape="0">
                <a:blip r:embed="rId3"/>
                <a:stretch>
                  <a:fillRect l="-1719" t="-1937" r="-3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70C0"/>
                    </a:solidFill>
                  </a:rPr>
                  <a:t>o quanto atualizar o estado antigo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, com um novo candidato,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       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sSub>
                                      <m:sSubPr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400" b="1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400" b="1" i="1" smtClean="0">
                                                <a:latin typeface="Cambria Math" panose="02040503050406030204" pitchFamily="18" charset="0"/>
                                              </a:rPr>
                                              <m:t>𝒄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Também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1"/>
                    </a:solidFill>
                  </a:rPr>
                  <a:t>Adiciona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7030A0"/>
                    </a:solidFill>
                  </a:rPr>
                  <a:t>gênero do novo sujeito</a:t>
                </a:r>
                <a:r>
                  <a:rPr lang="pt-BR" dirty="0"/>
                  <a:t> da frase ao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estado de longo prazo</a:t>
                </a:r>
                <a:r>
                  <a:rPr lang="pt-BR" dirty="0"/>
                  <a:t> da célula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substituir</a:t>
                </a:r>
                <a:r>
                  <a:rPr lang="pt-BR" dirty="0"/>
                  <a:t> o antigo </a:t>
                </a:r>
                <a:r>
                  <a:rPr lang="pt-BR" b="1" dirty="0">
                    <a:solidFill>
                      <a:srgbClr val="00B050"/>
                    </a:solidFill>
                  </a:rPr>
                  <a:t>que foi esquecido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 rotWithShape="0">
                <a:blip r:embed="rId3"/>
                <a:stretch>
                  <a:fillRect l="-1727" t="-1937" r="-57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rgbClr val="7030A0"/>
                    </a:solidFill>
                  </a:rPr>
                  <a:t>saída da célula</a:t>
                </a:r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versão filtrada</a:t>
                </a:r>
                <a:r>
                  <a:rPr lang="pt-BR" dirty="0"/>
                  <a:t> do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função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decide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será exposto na saída</a:t>
                </a:r>
                <a:endParaRPr lang="pt-BR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armazena</a:t>
                </a:r>
                <a:r>
                  <a:rPr lang="pt-BR" dirty="0"/>
                  <a:t> que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sujeito é plural</a:t>
                </a:r>
                <a:r>
                  <a:rPr lang="pt-BR" dirty="0"/>
                  <a:t>. Quando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verbo aparece</a:t>
                </a:r>
                <a:r>
                  <a:rPr lang="pt-BR" dirty="0"/>
                  <a:t>, a porta de saída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libera</a:t>
                </a:r>
                <a:r>
                  <a:rPr lang="pt-BR" dirty="0"/>
                  <a:t> essa </a:t>
                </a:r>
                <a:r>
                  <a:rPr lang="pt-BR" b="1" dirty="0">
                    <a:solidFill>
                      <a:schemeClr val="accent1"/>
                    </a:solidFill>
                  </a:rPr>
                  <a:t>informação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escolher a conjugação correta </a:t>
                </a:r>
                <a:r>
                  <a:rPr lang="pt-BR" b="1" dirty="0">
                    <a:solidFill>
                      <a:srgbClr val="7030A0"/>
                    </a:solidFill>
                  </a:rPr>
                  <a:t>e influenciar passos subsequentes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  <a:blipFill>
                <a:blip r:embed="rId3"/>
                <a:stretch>
                  <a:fillRect l="-1461" t="-1816" r="-1461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91C409A5-CDD8-0D53-406F-0AE1480763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13" y="2505406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44200" cy="1325563"/>
          </a:xfrm>
        </p:spPr>
        <p:txBody>
          <a:bodyPr/>
          <a:lstStyle/>
          <a:p>
            <a:r>
              <a:rPr lang="pt-BR" dirty="0"/>
              <a:t>Resumo das equações de atualização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noProof="0" dirty="0"/>
                  <a:t>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da porta de saída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de informação candidata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i="0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 noProof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sz="2400" b="1" i="1" noProof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esquecimento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sz="2400" i="1" noProof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curto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noProof="0"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b="1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pPr marL="0" indent="0">
                  <a:buNone/>
                </a:pPr>
                <a:r>
                  <a:rPr lang="pt-BR" sz="2400" dirty="0"/>
                  <a:t>o</a:t>
                </a:r>
                <a:r>
                  <a:rPr lang="pt-BR" sz="2400" noProof="0" dirty="0" err="1"/>
                  <a:t>nde</a:t>
                </a:r>
                <a:r>
                  <a:rPr lang="pt-BR" sz="2400" noProof="0" dirty="0"/>
                  <a:t> </a:t>
                </a:r>
                <a14:m>
                  <m:oMath xmlns:m="http://schemas.openxmlformats.org/officeDocument/2006/math">
                    <m:r>
                      <a:rPr lang="pt-BR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lang="pt-BR" sz="2400" noProof="0" dirty="0"/>
                  <a:t> é o operador de multiplicação elemento a elemento.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  <a:blipFill>
                <a:blip r:embed="rId3"/>
                <a:stretch>
                  <a:fillRect l="-859" t="-3027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F34C26FC-7CB2-C5BB-4322-287A8FC71D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676" y="2274888"/>
            <a:ext cx="3368249" cy="207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</a:t>
                </a:r>
                <a:r>
                  <a:rPr lang="pt-BR" b="1" dirty="0">
                    <a:solidFill>
                      <a:srgbClr val="7030A0"/>
                    </a:solidFill>
                  </a:rPr>
                  <a:t>reconhecer uma entrada </a:t>
                </a:r>
                <a:r>
                  <a:rPr lang="pt-BR" b="1">
                    <a:solidFill>
                      <a:srgbClr val="7030A0"/>
                    </a:solidFill>
                  </a:rPr>
                  <a:t>importante</a:t>
                </a:r>
                <a:r>
                  <a:rPr lang="pt-BR"/>
                  <a:t> </a:t>
                </a:r>
                <a:r>
                  <a:rPr lang="pt-BR" b="1">
                    <a:solidFill>
                      <a:schemeClr val="accent1"/>
                    </a:solidFill>
                  </a:rPr>
                  <a:t>e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armazená-la</a:t>
                </a:r>
                <a:r>
                  <a:rPr lang="pt-BR" dirty="0"/>
                  <a:t> (totalmente ou parcialmente)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Essas são as funções da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 de esquecimento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expô-la</a:t>
                </a:r>
                <a:r>
                  <a:rPr lang="pt-BR" dirty="0"/>
                  <a:t> sempre que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CF2120A0-D981-B947-4CAC-B115BE5EB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5675" y="3877765"/>
            <a:ext cx="4505325" cy="277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nunca são realmente 0 ou 1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:r>
                  <a:rPr lang="pt-BR" b="1" dirty="0">
                    <a:solidFill>
                      <a:srgbClr val="00B050"/>
                    </a:solidFill>
                  </a:rPr>
                  <a:t>conteúdo da célula </a:t>
                </a:r>
                <a:r>
                  <a:rPr lang="pt-BR" b="1" dirty="0">
                    <a:solidFill>
                      <a:srgbClr val="FF0000"/>
                    </a:solidFill>
                  </a:rPr>
                  <a:t>inevitavelmente </a:t>
                </a:r>
                <a:r>
                  <a:rPr lang="pt-BR" b="1" dirty="0">
                    <a:solidFill>
                      <a:srgbClr val="00B050"/>
                    </a:solidFill>
                  </a:rPr>
                  <a:t>se corrompe após um longo período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</a:t>
                </a:r>
                <a:r>
                  <a:rPr lang="pt-BR" b="1" dirty="0">
                    <a:solidFill>
                      <a:srgbClr val="7030A0"/>
                    </a:solidFill>
                  </a:rPr>
                  <a:t>dificuldades com dependências temporais muito longas</a:t>
                </a:r>
                <a:r>
                  <a:rPr lang="pt-BR" dirty="0"/>
                  <a:t>.</a:t>
                </a:r>
              </a:p>
              <a:p>
                <a:r>
                  <a:rPr lang="en-US" dirty="0"/>
                  <a:t>Alta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complexidade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Muito mais parâmetros</a:t>
                </a:r>
                <a:r>
                  <a:rPr lang="pt-BR" dirty="0"/>
                  <a:t> do que as </a:t>
                </a:r>
                <a:r>
                  <a:rPr lang="pt-BR" dirty="0" err="1"/>
                  <a:t>RNNs</a:t>
                </a:r>
                <a:r>
                  <a:rPr lang="pt-BR" dirty="0"/>
                  <a:t> tradicionais.</a:t>
                </a:r>
              </a:p>
              <a:p>
                <a:r>
                  <a:rPr lang="en-US" b="1" dirty="0" err="1">
                    <a:solidFill>
                      <a:schemeClr val="accent2"/>
                    </a:solidFill>
                  </a:rPr>
                  <a:t>Dificuldade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paralelização</a:t>
                </a:r>
                <a:endParaRPr lang="en-US" b="1" dirty="0">
                  <a:solidFill>
                    <a:schemeClr val="accent2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Processamento sequencial</a:t>
                </a:r>
                <a:r>
                  <a:rPr lang="pt-BR" dirty="0"/>
                  <a:t>: a célula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GPU.</a:t>
                </a:r>
              </a:p>
              <a:p>
                <a:r>
                  <a:rPr lang="pt-BR" dirty="0"/>
                  <a:t>Hoje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, </a:t>
                </a:r>
                <a:r>
                  <a:rPr lang="en-US" dirty="0" err="1"/>
                  <a:t>como</a:t>
                </a:r>
                <a:r>
                  <a:rPr lang="en-US" dirty="0"/>
                  <a:t>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/>
                  <a:t>attention</a:t>
                </a:r>
                <a:r>
                  <a:rPr lang="en-US" dirty="0"/>
                  <a:t>,</a:t>
                </a:r>
                <a:r>
                  <a:rPr lang="en-US" i="1" dirty="0"/>
                  <a:t> </a:t>
                </a:r>
                <a:r>
                  <a:rPr lang="en-US" dirty="0" err="1"/>
                  <a:t>apresentam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m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elhor</a:t>
                </a:r>
                <a:r>
                  <a:rPr lang="pt-BR" b="1" dirty="0">
                    <a:solidFill>
                      <a:srgbClr val="00B050"/>
                    </a:solidFill>
                  </a:rPr>
                  <a:t> paralelização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capturam de dependências globais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5464" y="2120092"/>
            <a:ext cx="11499741" cy="2699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Será que conseguimos algo quase tão bom quanto uma LSTM, porém mais simples?</a:t>
            </a:r>
          </a:p>
        </p:txBody>
      </p:sp>
    </p:spTree>
    <p:extLst>
      <p:ext uri="{BB962C8B-B14F-4D97-AF65-F5344CB8AC3E}">
        <p14:creationId xmlns:p14="http://schemas.microsoft.com/office/powerpoint/2010/main" val="13942240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novas arquiteturas foram propostas com o objetivo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a quantidade de parâmetros,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custo computacional,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consumo de memória,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acelerar o treinamento </a:t>
            </a:r>
          </a:p>
          <a:p>
            <a:pPr marL="0" indent="0">
              <a:buNone/>
            </a:pPr>
            <a:r>
              <a:rPr lang="pt-BR" dirty="0"/>
              <a:t>em relação às </a:t>
            </a:r>
            <a:r>
              <a:rPr lang="pt-BR" dirty="0" err="1"/>
              <a:t>LSTMs</a:t>
            </a:r>
            <a:r>
              <a:rPr lang="pt-BR" dirty="0"/>
              <a:t>.</a:t>
            </a:r>
          </a:p>
          <a:p>
            <a:r>
              <a:rPr lang="pt-BR" dirty="0"/>
              <a:t>Assim, as </a:t>
            </a:r>
            <a:r>
              <a:rPr lang="pt-BR" dirty="0" err="1"/>
              <a:t>GRUs</a:t>
            </a:r>
            <a:r>
              <a:rPr lang="pt-BR" dirty="0"/>
              <a:t> foram </a:t>
            </a:r>
            <a:r>
              <a:rPr lang="pt-BR" b="1" dirty="0">
                <a:solidFill>
                  <a:srgbClr val="7030A0"/>
                </a:solidFill>
              </a:rPr>
              <a:t>propostas em 2014</a:t>
            </a:r>
            <a:r>
              <a:rPr lang="pt-BR" dirty="0"/>
              <a:t> por </a:t>
            </a:r>
            <a:r>
              <a:rPr lang="pt-BR" dirty="0" err="1"/>
              <a:t>Kyunghyun</a:t>
            </a:r>
            <a:r>
              <a:rPr lang="pt-BR" dirty="0"/>
              <a:t> Cho e colegas com esse objetivo.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31EEDFF-2831-68EB-4816-26ECD567CFA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BE64A2-9011-342C-7697-75B6C48776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1" y="1825624"/>
                <a:ext cx="677751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GRUs</a:t>
                </a:r>
                <a:r>
                  <a:rPr lang="pt-BR" dirty="0"/>
                  <a:t> são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versão simplificada</a:t>
                </a:r>
                <a:r>
                  <a:rPr lang="pt-BR" dirty="0"/>
                  <a:t> da célula de memória LSTM.</a:t>
                </a:r>
              </a:p>
              <a:p>
                <a:r>
                  <a:rPr lang="pt-BR" dirty="0"/>
                  <a:t>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atingem desempenho comparável</a:t>
                </a:r>
                <a:r>
                  <a:rPr lang="pt-BR" dirty="0"/>
                  <a:t> às </a:t>
                </a:r>
                <a:r>
                  <a:rPr lang="pt-BR" dirty="0" err="1"/>
                  <a:t>LSTMs</a:t>
                </a:r>
                <a:r>
                  <a:rPr lang="pt-BR" dirty="0"/>
                  <a:t>, mas com a vantagem de terem </a:t>
                </a:r>
                <a:r>
                  <a:rPr lang="pt-BR" b="1" dirty="0">
                    <a:solidFill>
                      <a:srgbClr val="00B050"/>
                    </a:solidFill>
                  </a:rPr>
                  <a:t>menos parâmetros</a:t>
                </a:r>
                <a:r>
                  <a:rPr lang="pt-BR" dirty="0"/>
                  <a:t>, serem </a:t>
                </a:r>
                <a:r>
                  <a:rPr lang="pt-BR" b="1" dirty="0">
                    <a:solidFill>
                      <a:srgbClr val="00B050"/>
                    </a:solidFill>
                  </a:rPr>
                  <a:t>menos complexas</a:t>
                </a:r>
                <a:r>
                  <a:rPr lang="pt-BR" dirty="0"/>
                  <a:t> e serem </a:t>
                </a:r>
                <a:r>
                  <a:rPr lang="pt-BR" b="1" dirty="0">
                    <a:solidFill>
                      <a:srgbClr val="00B050"/>
                    </a:solidFill>
                  </a:rPr>
                  <a:t>treinadas mais rapidamente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Elas têm </a:t>
                </a:r>
                <a:r>
                  <a:rPr lang="pt-BR" b="1" dirty="0">
                    <a:solidFill>
                      <a:srgbClr val="7030A0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70C0"/>
                    </a:solidFill>
                  </a:rPr>
                  <a:t>duas portas</a:t>
                </a:r>
                <a:r>
                  <a:rPr lang="pt-BR" dirty="0"/>
                  <a:t>: a de </a:t>
                </a:r>
                <a:r>
                  <a:rPr lang="pt-BR" i="1" dirty="0"/>
                  <a:t>reset</a:t>
                </a:r>
                <a:r>
                  <a:rPr lang="pt-BR" dirty="0"/>
                  <a:t> e a de atualização (controladas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Além disso, elas </a:t>
                </a:r>
                <a:r>
                  <a:rPr lang="pt-BR" b="1" dirty="0">
                    <a:solidFill>
                      <a:srgbClr val="0070C0"/>
                    </a:solidFill>
                  </a:rPr>
                  <a:t>incorporam a </a:t>
                </a:r>
                <a:r>
                  <a:rPr lang="pt-BR" b="1" dirty="0">
                    <a:solidFill>
                      <a:srgbClr val="7030A0"/>
                    </a:solidFill>
                  </a:rPr>
                  <a:t>memória de longo prazo</a:t>
                </a:r>
                <a:r>
                  <a:rPr lang="pt-BR" b="1" dirty="0">
                    <a:solidFill>
                      <a:srgbClr val="0070C0"/>
                    </a:solidFill>
                  </a:rPr>
                  <a:t> no próprio estado oculto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BE64A2-9011-342C-7697-75B6C48776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1" y="1825624"/>
                <a:ext cx="6777518" cy="5032375"/>
              </a:xfrm>
              <a:blipFill>
                <a:blip r:embed="rId3"/>
                <a:stretch>
                  <a:fillRect l="-1619" t="-1937" r="-25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E32847C-0C70-9E63-F12B-02171460BC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373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896D-0E5F-15B7-8FA2-57B111C5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EF6DB-1474-DD6E-AD8C-CD2405CD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atualização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é a </a:t>
                </a:r>
                <a:r>
                  <a:rPr lang="pt-BR" b="1" dirty="0">
                    <a:solidFill>
                      <a:srgbClr val="00B050"/>
                    </a:solidFill>
                  </a:rPr>
                  <a:t>combinação</a:t>
                </a:r>
                <a:r>
                  <a:rPr lang="pt-BR" dirty="0"/>
                  <a:t> das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portas de esquecimento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entrada</a:t>
                </a:r>
                <a:r>
                  <a:rPr lang="pt-BR" dirty="0"/>
                  <a:t> da LSTM.</a:t>
                </a:r>
              </a:p>
              <a:p>
                <a:r>
                  <a:rPr lang="pt-BR" dirty="0"/>
                  <a:t>Um </a:t>
                </a:r>
                <a:r>
                  <a:rPr lang="pt-BR" b="1" dirty="0">
                    <a:solidFill>
                      <a:srgbClr val="7030A0"/>
                    </a:solidFill>
                  </a:rPr>
                  <a:t>único 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controla</a:t>
                </a:r>
                <a:r>
                  <a:rPr lang="pt-BR" dirty="0"/>
                  <a:t> tanto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esquecimento</a:t>
                </a:r>
                <a:r>
                  <a:rPr lang="pt-BR" dirty="0"/>
                  <a:t> quanto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  <a:blipFill>
                <a:blip r:embed="rId3"/>
                <a:stretch>
                  <a:fillRect l="-17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E70865A-8BA1-07F3-6790-5184F2C371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38" y="261710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7611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75B47-CDB0-8D01-C24B-627D81FF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1009E-6742-3978-C9F4-B66C1CFBE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aberta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fechada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Retem-se o estado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fechada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aberta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oculto passa a ser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sempre que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precisa ser armazenada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local</a:t>
                </a:r>
                <a:r>
                  <a:rPr lang="pt-BR" dirty="0"/>
                  <a:t> (i.e., elemento) </a:t>
                </a:r>
                <a:r>
                  <a:rPr lang="pt-BR" b="1" dirty="0">
                    <a:solidFill>
                      <a:srgbClr val="00B050"/>
                    </a:solidFill>
                  </a:rPr>
                  <a:t>onde ela será armazenada é apagado primeiro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 r="-2034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B2F3CC40-49C1-A17A-D102-481B76DDA4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6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0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3733C-58C8-E4B7-FC35-0AEFAEF0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7EC14-5D3D-1ECB-B8D3-E899D7B33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porta de </a:t>
                </a:r>
                <a:r>
                  <a:rPr lang="pt-BR" i="1" dirty="0"/>
                  <a:t>reset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memória de curto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decide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quanta informação passada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, será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mantida ou descartada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célula GRU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tem uma porta de saída</a:t>
                </a:r>
                <a:r>
                  <a:rPr lang="pt-BR" dirty="0"/>
                  <a:t>. </a:t>
                </a:r>
                <a:endParaRPr lang="pt-BR" b="1" dirty="0">
                  <a:solidFill>
                    <a:schemeClr val="accent2"/>
                  </a:solidFill>
                </a:endParaRPr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O vetor de 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completo é apresentado na saída</a:t>
                </a:r>
                <a:r>
                  <a:rPr lang="pt-BR" dirty="0"/>
                  <a:t> da célula a cada passo de tempo.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  <a:blipFill>
                <a:blip r:embed="rId3"/>
                <a:stretch>
                  <a:fillRect l="-1682" t="-1937" r="-1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8CDDFE4-456B-9ED2-0DB9-E39DD3E4A5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7427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71586" y="1825624"/>
                <a:ext cx="69204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tradicionais apresentam um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</a:t>
                </a:r>
                <a:r>
                  <a:rPr lang="pt-BR" b="1" dirty="0">
                    <a:solidFill>
                      <a:srgbClr val="00B050"/>
                    </a:solidFill>
                  </a:rPr>
                  <a:t>não-linear</a:t>
                </a:r>
                <a:r>
                  <a:rPr lang="pt-BR" b="1" dirty="0">
                    <a:solidFill>
                      <a:srgbClr val="7030A0"/>
                    </a:solidFill>
                  </a:rPr>
                  <a:t> para a retropropagação do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chemeClr val="accent1"/>
                    </a:solidFill>
                  </a:rPr>
                  <a:t>novo estado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 por uma função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tanh</a:t>
                </a:r>
                <a:endParaRPr lang="pt-BR" b="1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da função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igual 1. </a:t>
                </a:r>
              </a:p>
              <a:p>
                <a:r>
                  <a:rPr lang="pt-BR" dirty="0"/>
                  <a:t>Como vimos, 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71586" y="1825624"/>
                <a:ext cx="6920414" cy="5032375"/>
              </a:xfrm>
              <a:blipFill>
                <a:blip r:embed="rId2"/>
                <a:stretch>
                  <a:fillRect l="-1586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2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de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modificam o 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por meio de um 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contém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LSTM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latin typeface="Cambria Math" panose="02040503050406030204" pitchFamily="18" charset="0"/>
                  </a:rPr>
                  <a:t> (GRU)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são atualizados usando-se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  <a:blipFill rotWithShape="0">
                <a:blip r:embed="rId2"/>
                <a:stretch>
                  <a:fillRect l="-1789" t="-1937" r="-2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1690688"/>
            <a:ext cx="3888430" cy="239352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540DDFD-8900-4E48-7C98-3C262F3FE9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31FB8-17E6-6325-5B4E-B3F89A3E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0" y="1825624"/>
            <a:ext cx="677751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caminho controlável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permite que os gradientes retrocedam</a:t>
            </a:r>
            <a:r>
              <a:rPr lang="pt-BR" dirty="0"/>
              <a:t> </a:t>
            </a:r>
            <a:r>
              <a:rPr lang="pt-BR" b="1" dirty="0">
                <a:solidFill>
                  <a:schemeClr val="accent1"/>
                </a:solidFill>
              </a:rPr>
              <a:t>por longos instantes de tempo </a:t>
            </a:r>
            <a:r>
              <a:rPr lang="pt-BR" dirty="0"/>
              <a:t>sem </a:t>
            </a:r>
            <a:r>
              <a:rPr lang="pt-BR" b="1" dirty="0">
                <a:solidFill>
                  <a:schemeClr val="accent1"/>
                </a:solidFill>
              </a:rPr>
              <a:t>desaparecer</a:t>
            </a:r>
            <a:r>
              <a:rPr lang="pt-BR" dirty="0"/>
              <a:t>.</a:t>
            </a:r>
          </a:p>
          <a:p>
            <a:r>
              <a:rPr lang="pt-BR" dirty="0"/>
              <a:t>A 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decidir quando deixar o </a:t>
            </a:r>
            <a:r>
              <a:rPr lang="pt-BR" b="1" dirty="0">
                <a:solidFill>
                  <a:schemeClr val="accent2"/>
                </a:solidFill>
              </a:rPr>
              <a:t>gradiente desaparecer </a:t>
            </a:r>
            <a:r>
              <a:rPr lang="pt-BR" dirty="0"/>
              <a:t>e quando </a:t>
            </a:r>
            <a:r>
              <a:rPr lang="pt-BR" b="1" dirty="0">
                <a:solidFill>
                  <a:schemeClr val="accent2"/>
                </a:solidFill>
              </a:rPr>
              <a:t>preservá-lo</a:t>
            </a:r>
            <a:r>
              <a:rPr lang="pt-BR" dirty="0"/>
              <a:t>.</a:t>
            </a:r>
          </a:p>
          <a:p>
            <a:r>
              <a:rPr lang="pt-BR" dirty="0"/>
              <a:t>Portanto, as portas permitem que a rede decida o que guardar e o que descartar.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D22978F-A98B-7B35-B4FF-07AD9BDAC9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466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466087" y="1895280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8A95AB21-C2EA-0465-36B4-A7DEBD773301}"/>
              </a:ext>
            </a:extLst>
          </p:cNvPr>
          <p:cNvGrpSpPr/>
          <p:nvPr/>
        </p:nvGrpSpPr>
        <p:grpSpPr>
          <a:xfrm>
            <a:off x="3532515" y="5802560"/>
            <a:ext cx="4106535" cy="831618"/>
            <a:chOff x="3532515" y="5802560"/>
            <a:chExt cx="4106535" cy="831618"/>
          </a:xfrm>
        </p:grpSpPr>
        <p:sp>
          <p:nvSpPr>
            <p:cNvPr id="7" name="Rectangle 4">
              <a:extLst>
                <a:ext uri="{FF2B5EF4-FFF2-40B4-BE49-F238E27FC236}">
                  <a16:creationId xmlns:a16="http://schemas.microsoft.com/office/drawing/2014/main" id="{1AEF0F1E-D18A-69B9-8100-6562DDA956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9601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F0205C4C-EF1E-AD08-1638-F516E21033EF}"/>
                </a:ext>
              </a:extLst>
            </p:cNvPr>
            <p:cNvSpPr txBox="1"/>
            <p:nvPr/>
          </p:nvSpPr>
          <p:spPr>
            <a:xfrm>
              <a:off x="3799601" y="6083955"/>
              <a:ext cx="9795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recorrente</a:t>
              </a:r>
              <a:endParaRPr lang="en-US" sz="1400" dirty="0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7944A1DE-4D0F-01A0-4EE6-F5FEC92F3E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36410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7A758A03-28F9-6577-A08D-C8D03DF0D316}"/>
                    </a:ext>
                  </a:extLst>
                </p:cNvPr>
                <p:cNvSpPr txBox="1"/>
                <p:nvPr/>
              </p:nvSpPr>
              <p:spPr>
                <a:xfrm>
                  <a:off x="5100378" y="6110958"/>
                  <a:ext cx="131680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Amostra do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pt-BR" sz="1400" dirty="0"/>
                    <a:t>-ésimo passo</a:t>
                  </a:r>
                  <a:endParaRPr lang="en-US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7A758A03-28F9-6577-A08D-C8D03DF0D3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378" y="6110958"/>
                  <a:ext cx="131680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 4">
              <a:extLst>
                <a:ext uri="{FF2B5EF4-FFF2-40B4-BE49-F238E27FC236}">
                  <a16:creationId xmlns:a16="http://schemas.microsoft.com/office/drawing/2014/main" id="{4E0EEB81-462A-7BAE-2557-C9EAD8B473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2049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C1A456E8-254D-7BB3-D272-3FBC9FB4B353}"/>
                    </a:ext>
                  </a:extLst>
                </p:cNvPr>
                <p:cNvSpPr txBox="1"/>
                <p:nvPr/>
              </p:nvSpPr>
              <p:spPr>
                <a:xfrm>
                  <a:off x="6562049" y="6083955"/>
                  <a:ext cx="1077001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Saída do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pt-BR" sz="1400" dirty="0"/>
                    <a:t>-ésimo passo</a:t>
                  </a:r>
                  <a:endParaRPr lang="en-US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C1A456E8-254D-7BB3-D272-3FBC9FB4B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2049" y="6083955"/>
                  <a:ext cx="1077001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130" t="-2326" r="-565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3029FE31-547D-0852-38F2-23F0748C5331}"/>
                </a:ext>
              </a:extLst>
            </p:cNvPr>
            <p:cNvSpPr txBox="1"/>
            <p:nvPr/>
          </p:nvSpPr>
          <p:spPr>
            <a:xfrm>
              <a:off x="3532515" y="5802560"/>
              <a:ext cx="8775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/>
                <a:t>Legenda:</a:t>
              </a:r>
              <a:endParaRPr 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200553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uma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descrevendo a imagem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Entrada: um vetor que representa um gênero musical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Saída: as amostras de </a:t>
            </a:r>
            <a:r>
              <a:rPr lang="en-US" dirty="0" err="1"/>
              <a:t>áudio</a:t>
            </a:r>
            <a:r>
              <a:rPr lang="en-US" dirty="0"/>
              <a:t> da </a:t>
            </a:r>
            <a:r>
              <a:rPr lang="en-US" dirty="0" err="1"/>
              <a:t>música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698" y="1825624"/>
            <a:ext cx="6570256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sentimentos: por exemplo, classificar o sentimento de uma crítica de filme: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à crítica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da crítica: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quadro a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Monitoramento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imagens da vista de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quantidade de carros em cada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acc>
                          <m:accPr>
                            <m:chr m:val="̂"/>
                            <m:ctrlP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acc>
                          <m:accPr>
                            <m:chr m:val="̂"/>
                            <m:ctrlP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acc>
                          <m:accPr>
                            <m:chr m:val="̂"/>
                            <m:ctrlP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Agrupar 93">
            <a:extLst>
              <a:ext uri="{FF2B5EF4-FFF2-40B4-BE49-F238E27FC236}">
                <a16:creationId xmlns:a16="http://schemas.microsoft.com/office/drawing/2014/main" id="{4E7F4B7B-10C0-160C-BF93-998135135F61}"/>
              </a:ext>
            </a:extLst>
          </p:cNvPr>
          <p:cNvGrpSpPr/>
          <p:nvPr/>
        </p:nvGrpSpPr>
        <p:grpSpPr>
          <a:xfrm>
            <a:off x="776817" y="756806"/>
            <a:ext cx="7495804" cy="5159916"/>
            <a:chOff x="776817" y="756806"/>
            <a:chExt cx="7495804" cy="515991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808114" y="77118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8114" y="771184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4085" r="-70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74693" y="77118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308140" y="77118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47996" y="75680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611566" y="855399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̂"/>
                            <m:ctrlP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1566" y="855399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8488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848817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86285" y="843780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6285" y="843780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Oval 11">
                  <a:extLst>
                    <a:ext uri="{FF2B5EF4-FFF2-40B4-BE49-F238E27FC236}">
                      <a16:creationId xmlns:a16="http://schemas.microsoft.com/office/drawing/2014/main" id="{C5E5D330-A6A2-200D-669F-4FD803F346E3}"/>
                    </a:ext>
                  </a:extLst>
                </p:cNvPr>
                <p:cNvSpPr/>
                <p:nvPr/>
              </p:nvSpPr>
              <p:spPr>
                <a:xfrm>
                  <a:off x="807320" y="1403017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" name="Oval 11">
                  <a:extLst>
                    <a:ext uri="{FF2B5EF4-FFF2-40B4-BE49-F238E27FC236}">
                      <a16:creationId xmlns:a16="http://schemas.microsoft.com/office/drawing/2014/main" id="{C5E5D330-A6A2-200D-669F-4FD803F346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320" y="1403017"/>
                  <a:ext cx="432000" cy="441070"/>
                </a:xfrm>
                <a:prstGeom prst="ellipse">
                  <a:avLst/>
                </a:prstGeom>
                <a:blipFill>
                  <a:blip r:embed="rId31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Oval 11">
                  <a:extLst>
                    <a:ext uri="{FF2B5EF4-FFF2-40B4-BE49-F238E27FC236}">
                      <a16:creationId xmlns:a16="http://schemas.microsoft.com/office/drawing/2014/main" id="{B6FE33E8-0760-8FC9-84F7-56C62D4E1118}"/>
                    </a:ext>
                  </a:extLst>
                </p:cNvPr>
                <p:cNvSpPr/>
                <p:nvPr/>
              </p:nvSpPr>
              <p:spPr>
                <a:xfrm>
                  <a:off x="3871799" y="1402402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" name="Oval 11">
                  <a:extLst>
                    <a:ext uri="{FF2B5EF4-FFF2-40B4-BE49-F238E27FC236}">
                      <a16:creationId xmlns:a16="http://schemas.microsoft.com/office/drawing/2014/main" id="{B6FE33E8-0760-8FC9-84F7-56C62D4E111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1799" y="1402402"/>
                  <a:ext cx="432000" cy="441070"/>
                </a:xfrm>
                <a:prstGeom prst="ellipse">
                  <a:avLst/>
                </a:prstGeom>
                <a:blipFill>
                  <a:blip r:embed="rId32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Oval 11">
                  <a:extLst>
                    <a:ext uri="{FF2B5EF4-FFF2-40B4-BE49-F238E27FC236}">
                      <a16:creationId xmlns:a16="http://schemas.microsoft.com/office/drawing/2014/main" id="{C0F421C5-E4C5-F634-6C6D-62942FCBDD5D}"/>
                    </a:ext>
                  </a:extLst>
                </p:cNvPr>
                <p:cNvSpPr/>
                <p:nvPr/>
              </p:nvSpPr>
              <p:spPr>
                <a:xfrm>
                  <a:off x="5305317" y="1402402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7" name="Oval 11">
                  <a:extLst>
                    <a:ext uri="{FF2B5EF4-FFF2-40B4-BE49-F238E27FC236}">
                      <a16:creationId xmlns:a16="http://schemas.microsoft.com/office/drawing/2014/main" id="{C0F421C5-E4C5-F634-6C6D-62942FCBDD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5317" y="1402402"/>
                  <a:ext cx="432000" cy="441070"/>
                </a:xfrm>
                <a:prstGeom prst="ellipse">
                  <a:avLst/>
                </a:prstGeom>
                <a:blipFill>
                  <a:blip r:embed="rId33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Oval 11">
                  <a:extLst>
                    <a:ext uri="{FF2B5EF4-FFF2-40B4-BE49-F238E27FC236}">
                      <a16:creationId xmlns:a16="http://schemas.microsoft.com/office/drawing/2014/main" id="{BC90D06B-3639-7A67-06BC-FC60D23DDB6C}"/>
                    </a:ext>
                  </a:extLst>
                </p:cNvPr>
                <p:cNvSpPr/>
                <p:nvPr/>
              </p:nvSpPr>
              <p:spPr>
                <a:xfrm>
                  <a:off x="6848095" y="1402402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1" name="Oval 11">
                  <a:extLst>
                    <a:ext uri="{FF2B5EF4-FFF2-40B4-BE49-F238E27FC236}">
                      <a16:creationId xmlns:a16="http://schemas.microsoft.com/office/drawing/2014/main" id="{BC90D06B-3639-7A67-06BC-FC60D23DDB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8095" y="1402402"/>
                  <a:ext cx="432000" cy="441070"/>
                </a:xfrm>
                <a:prstGeom prst="ellipse">
                  <a:avLst/>
                </a:prstGeom>
                <a:blipFill>
                  <a:blip r:embed="rId33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Conector de Seta Reta 66">
              <a:extLst>
                <a:ext uri="{FF2B5EF4-FFF2-40B4-BE49-F238E27FC236}">
                  <a16:creationId xmlns:a16="http://schemas.microsoft.com/office/drawing/2014/main" id="{86429720-2DF6-7A74-9EC1-6BEE85907D59}"/>
                </a:ext>
              </a:extLst>
            </p:cNvPr>
            <p:cNvCxnSpPr>
              <a:stCxn id="3" idx="0"/>
              <a:endCxn id="8" idx="4"/>
            </p:cNvCxnSpPr>
            <p:nvPr/>
          </p:nvCxnSpPr>
          <p:spPr>
            <a:xfrm flipV="1">
              <a:off x="1023320" y="1203184"/>
              <a:ext cx="794" cy="1998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87">
              <a:extLst>
                <a:ext uri="{FF2B5EF4-FFF2-40B4-BE49-F238E27FC236}">
                  <a16:creationId xmlns:a16="http://schemas.microsoft.com/office/drawing/2014/main" id="{AB54464B-2901-8D54-0EDE-480548FAE497}"/>
                </a:ext>
              </a:extLst>
            </p:cNvPr>
            <p:cNvCxnSpPr>
              <a:stCxn id="21" idx="0"/>
              <a:endCxn id="25" idx="4"/>
            </p:cNvCxnSpPr>
            <p:nvPr/>
          </p:nvCxnSpPr>
          <p:spPr>
            <a:xfrm flipV="1">
              <a:off x="4087799" y="1203184"/>
              <a:ext cx="2894" cy="19921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8E37C0AA-93CB-AB30-D02A-AEA85FD9686D}"/>
                </a:ext>
              </a:extLst>
            </p:cNvPr>
            <p:cNvCxnSpPr>
              <a:stCxn id="57" idx="0"/>
              <a:endCxn id="47" idx="4"/>
            </p:cNvCxnSpPr>
            <p:nvPr/>
          </p:nvCxnSpPr>
          <p:spPr>
            <a:xfrm flipV="1">
              <a:off x="5521317" y="1203184"/>
              <a:ext cx="2823" cy="19921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3B223D1E-A477-5832-D7EC-B417A729B8D2}"/>
                </a:ext>
              </a:extLst>
            </p:cNvPr>
            <p:cNvCxnSpPr>
              <a:stCxn id="61" idx="0"/>
              <a:endCxn id="71" idx="4"/>
            </p:cNvCxnSpPr>
            <p:nvPr/>
          </p:nvCxnSpPr>
          <p:spPr>
            <a:xfrm flipH="1" flipV="1">
              <a:off x="7063996" y="1188806"/>
              <a:ext cx="99" cy="21359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Agrupar 83">
            <a:extLst>
              <a:ext uri="{FF2B5EF4-FFF2-40B4-BE49-F238E27FC236}">
                <a16:creationId xmlns:a16="http://schemas.microsoft.com/office/drawing/2014/main" id="{80860D3C-23CB-996F-574C-22D9FFFBAB00}"/>
              </a:ext>
            </a:extLst>
          </p:cNvPr>
          <p:cNvGrpSpPr/>
          <p:nvPr/>
        </p:nvGrpSpPr>
        <p:grpSpPr>
          <a:xfrm>
            <a:off x="3458971" y="756806"/>
            <a:ext cx="4813650" cy="5159916"/>
            <a:chOff x="3458971" y="756806"/>
            <a:chExt cx="4813650" cy="515991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77118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77118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ℎ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75680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855399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855399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8488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848817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843780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843780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Oval 28">
                  <a:extLst>
                    <a:ext uri="{FF2B5EF4-FFF2-40B4-BE49-F238E27FC236}">
                      <a16:creationId xmlns:a16="http://schemas.microsoft.com/office/drawing/2014/main" id="{64940581-EA46-7B23-B84C-C5EE0340CC57}"/>
                    </a:ext>
                  </a:extLst>
                </p:cNvPr>
                <p:cNvSpPr/>
                <p:nvPr/>
              </p:nvSpPr>
              <p:spPr>
                <a:xfrm>
                  <a:off x="3848878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8" name="Oval 28">
                  <a:extLst>
                    <a:ext uri="{FF2B5EF4-FFF2-40B4-BE49-F238E27FC236}">
                      <a16:creationId xmlns:a16="http://schemas.microsoft.com/office/drawing/2014/main" id="{64940581-EA46-7B23-B84C-C5EE0340CC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8878" y="1409359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31">
              <a:extLst>
                <a:ext uri="{FF2B5EF4-FFF2-40B4-BE49-F238E27FC236}">
                  <a16:creationId xmlns:a16="http://schemas.microsoft.com/office/drawing/2014/main" id="{FCB6FCEA-DF0A-27A0-9CDB-DEC2C52FCDD1}"/>
                </a:ext>
              </a:extLst>
            </p:cNvPr>
            <p:cNvCxnSpPr>
              <a:cxnSpLocks/>
              <a:stCxn id="18" idx="0"/>
              <a:endCxn id="25" idx="4"/>
            </p:cNvCxnSpPr>
            <p:nvPr/>
          </p:nvCxnSpPr>
          <p:spPr>
            <a:xfrm flipH="1" flipV="1">
              <a:off x="4062118" y="1203184"/>
              <a:ext cx="2760" cy="2061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Oval 50">
                  <a:extLst>
                    <a:ext uri="{FF2B5EF4-FFF2-40B4-BE49-F238E27FC236}">
                      <a16:creationId xmlns:a16="http://schemas.microsoft.com/office/drawing/2014/main" id="{7AB4ECA1-9C18-B521-9AD2-453FAE07FA36}"/>
                    </a:ext>
                  </a:extLst>
                </p:cNvPr>
                <p:cNvSpPr/>
                <p:nvPr/>
              </p:nvSpPr>
              <p:spPr>
                <a:xfrm>
                  <a:off x="5291850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1" name="Oval 50">
                  <a:extLst>
                    <a:ext uri="{FF2B5EF4-FFF2-40B4-BE49-F238E27FC236}">
                      <a16:creationId xmlns:a16="http://schemas.microsoft.com/office/drawing/2014/main" id="{7AB4ECA1-9C18-B521-9AD2-453FAE07FA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1850" y="1409359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53">
              <a:extLst>
                <a:ext uri="{FF2B5EF4-FFF2-40B4-BE49-F238E27FC236}">
                  <a16:creationId xmlns:a16="http://schemas.microsoft.com/office/drawing/2014/main" id="{51B08306-793B-CFB8-FF70-79B8F8A0A82F}"/>
                </a:ext>
              </a:extLst>
            </p:cNvPr>
            <p:cNvCxnSpPr>
              <a:cxnSpLocks/>
              <a:stCxn id="21" idx="0"/>
              <a:endCxn id="47" idx="4"/>
            </p:cNvCxnSpPr>
            <p:nvPr/>
          </p:nvCxnSpPr>
          <p:spPr>
            <a:xfrm flipH="1" flipV="1">
              <a:off x="5505090" y="1203184"/>
              <a:ext cx="2760" cy="2061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Oval 73">
                  <a:extLst>
                    <a:ext uri="{FF2B5EF4-FFF2-40B4-BE49-F238E27FC236}">
                      <a16:creationId xmlns:a16="http://schemas.microsoft.com/office/drawing/2014/main" id="{7D954F0B-8268-4EDF-4627-91C0162BA5FB}"/>
                    </a:ext>
                  </a:extLst>
                </p:cNvPr>
                <p:cNvSpPr/>
                <p:nvPr/>
              </p:nvSpPr>
              <p:spPr>
                <a:xfrm>
                  <a:off x="6831706" y="139498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8" name="Oval 73">
                  <a:extLst>
                    <a:ext uri="{FF2B5EF4-FFF2-40B4-BE49-F238E27FC236}">
                      <a16:creationId xmlns:a16="http://schemas.microsoft.com/office/drawing/2014/main" id="{7D954F0B-8268-4EDF-4627-91C0162BA5F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1706" y="1394981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Arrow Connector 76">
              <a:extLst>
                <a:ext uri="{FF2B5EF4-FFF2-40B4-BE49-F238E27FC236}">
                  <a16:creationId xmlns:a16="http://schemas.microsoft.com/office/drawing/2014/main" id="{F6DE96BC-85FE-01E8-2328-7BDF51AFD89C}"/>
                </a:ext>
              </a:extLst>
            </p:cNvPr>
            <p:cNvCxnSpPr>
              <a:cxnSpLocks/>
              <a:stCxn id="58" idx="0"/>
              <a:endCxn id="71" idx="4"/>
            </p:cNvCxnSpPr>
            <p:nvPr/>
          </p:nvCxnSpPr>
          <p:spPr>
            <a:xfrm flipH="1" flipV="1">
              <a:off x="7044946" y="1188806"/>
              <a:ext cx="2760" cy="2061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465463"/>
            <a:chOff x="1975628" y="1834844"/>
            <a:chExt cx="7884560" cy="4465463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sSub>
                            <m:sSub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sSub>
                            <m:sSub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sSub>
                            <m:sSub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sSub>
                            <m:sSub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sSub>
                            <m:sSub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sSub>
                            <m:sSub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totalmente conectada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60453"/>
              <a:ext cx="1210943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elemento</a:t>
              </a:r>
              <a:r>
                <a:rPr lang="en-US" sz="1400" dirty="0"/>
                <a:t> a </a:t>
              </a:r>
              <a:r>
                <a:rPr lang="en-US" sz="1400" dirty="0" err="1"/>
                <a:t>elemento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r>
                <a:rPr lang="en-US" sz="1400" dirty="0"/>
                <a:t> de </a:t>
              </a:r>
              <a:r>
                <a:rPr lang="en-US" sz="1400" dirty="0" err="1"/>
                <a:t>vetores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totalmente conectada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6011628" y="1918390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EE45A31D-EB0C-6D89-2D47-756B80675F45}"/>
              </a:ext>
            </a:extLst>
          </p:cNvPr>
          <p:cNvGrpSpPr/>
          <p:nvPr/>
        </p:nvGrpSpPr>
        <p:grpSpPr>
          <a:xfrm>
            <a:off x="510827" y="2688275"/>
            <a:ext cx="3550826" cy="1751496"/>
            <a:chOff x="510827" y="2688275"/>
            <a:chExt cx="3550826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748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𝒉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𝑾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41">
              <a:extLst>
                <a:ext uri="{FF2B5EF4-FFF2-40B4-BE49-F238E27FC236}">
                  <a16:creationId xmlns:a16="http://schemas.microsoft.com/office/drawing/2014/main" id="{4351BED6-9CC8-9034-67A1-1A6D7E93D2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023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000551" y="722618"/>
            <a:ext cx="4928922" cy="2713085"/>
            <a:chOff x="3581399" y="2111642"/>
            <a:chExt cx="4928922" cy="2713085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3" name="Agrupar 82">
            <a:extLst>
              <a:ext uri="{FF2B5EF4-FFF2-40B4-BE49-F238E27FC236}">
                <a16:creationId xmlns:a16="http://schemas.microsoft.com/office/drawing/2014/main" id="{3829C9C8-68E0-A161-6783-8325BBD0C9AF}"/>
              </a:ext>
            </a:extLst>
          </p:cNvPr>
          <p:cNvGrpSpPr/>
          <p:nvPr/>
        </p:nvGrpSpPr>
        <p:grpSpPr>
          <a:xfrm>
            <a:off x="1393870" y="3892247"/>
            <a:ext cx="4928922" cy="2713085"/>
            <a:chOff x="1393870" y="3892247"/>
            <a:chExt cx="4928922" cy="2713085"/>
          </a:xfrm>
        </p:grpSpPr>
        <p:sp>
          <p:nvSpPr>
            <p:cNvPr id="5" name="Rectangle: Rounded Corners 133">
              <a:extLst>
                <a:ext uri="{FF2B5EF4-FFF2-40B4-BE49-F238E27FC236}">
                  <a16:creationId xmlns:a16="http://schemas.microsoft.com/office/drawing/2014/main" id="{76B82460-6712-509A-7F39-7E3342D21837}"/>
                </a:ext>
              </a:extLst>
            </p:cNvPr>
            <p:cNvSpPr/>
            <p:nvPr/>
          </p:nvSpPr>
          <p:spPr>
            <a:xfrm>
              <a:off x="2113647" y="4219005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Arrow Connector 134">
              <a:extLst>
                <a:ext uri="{FF2B5EF4-FFF2-40B4-BE49-F238E27FC236}">
                  <a16:creationId xmlns:a16="http://schemas.microsoft.com/office/drawing/2014/main" id="{00825B81-BABB-775B-C142-3EB6C20FB5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6620" y="4025478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135">
              <a:extLst>
                <a:ext uri="{FF2B5EF4-FFF2-40B4-BE49-F238E27FC236}">
                  <a16:creationId xmlns:a16="http://schemas.microsoft.com/office/drawing/2014/main" id="{299B97CD-2596-41F1-C944-D841B055FD4F}"/>
                </a:ext>
              </a:extLst>
            </p:cNvPr>
            <p:cNvSpPr/>
            <p:nvPr/>
          </p:nvSpPr>
          <p:spPr>
            <a:xfrm>
              <a:off x="2546073" y="49684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Oval 136">
              <a:extLst>
                <a:ext uri="{FF2B5EF4-FFF2-40B4-BE49-F238E27FC236}">
                  <a16:creationId xmlns:a16="http://schemas.microsoft.com/office/drawing/2014/main" id="{5A2821D2-04DD-590C-E6EF-7FEB220F2DD9}"/>
                </a:ext>
              </a:extLst>
            </p:cNvPr>
            <p:cNvSpPr/>
            <p:nvPr/>
          </p:nvSpPr>
          <p:spPr>
            <a:xfrm>
              <a:off x="4048952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137">
              <a:extLst>
                <a:ext uri="{FF2B5EF4-FFF2-40B4-BE49-F238E27FC236}">
                  <a16:creationId xmlns:a16="http://schemas.microsoft.com/office/drawing/2014/main" id="{51169341-7C6A-C220-1721-4F73952EEF3F}"/>
                </a:ext>
              </a:extLst>
            </p:cNvPr>
            <p:cNvSpPr/>
            <p:nvPr/>
          </p:nvSpPr>
          <p:spPr>
            <a:xfrm>
              <a:off x="4889202" y="539301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138">
              <a:extLst>
                <a:ext uri="{FF2B5EF4-FFF2-40B4-BE49-F238E27FC236}">
                  <a16:creationId xmlns:a16="http://schemas.microsoft.com/office/drawing/2014/main" id="{66B6166C-B62E-A0A3-1C8F-5870F25564FC}"/>
                </a:ext>
              </a:extLst>
            </p:cNvPr>
            <p:cNvSpPr/>
            <p:nvPr/>
          </p:nvSpPr>
          <p:spPr>
            <a:xfrm>
              <a:off x="5060068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/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40">
              <a:extLst>
                <a:ext uri="{FF2B5EF4-FFF2-40B4-BE49-F238E27FC236}">
                  <a16:creationId xmlns:a16="http://schemas.microsoft.com/office/drawing/2014/main" id="{E32641F0-F42D-21EA-BC6A-9B9282C4533E}"/>
                </a:ext>
              </a:extLst>
            </p:cNvPr>
            <p:cNvSpPr/>
            <p:nvPr/>
          </p:nvSpPr>
          <p:spPr>
            <a:xfrm>
              <a:off x="5060068" y="48668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/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/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3">
              <a:extLst>
                <a:ext uri="{FF2B5EF4-FFF2-40B4-BE49-F238E27FC236}">
                  <a16:creationId xmlns:a16="http://schemas.microsoft.com/office/drawing/2014/main" id="{041396E0-C58E-16C3-3F28-E205627319DE}"/>
                </a:ext>
              </a:extLst>
            </p:cNvPr>
            <p:cNvSpPr/>
            <p:nvPr/>
          </p:nvSpPr>
          <p:spPr>
            <a:xfrm>
              <a:off x="4492549" y="48655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44">
              <a:extLst>
                <a:ext uri="{FF2B5EF4-FFF2-40B4-BE49-F238E27FC236}">
                  <a16:creationId xmlns:a16="http://schemas.microsoft.com/office/drawing/2014/main" id="{329DFF21-ACA5-F8F3-FBE8-F05E18912B49}"/>
                </a:ext>
              </a:extLst>
            </p:cNvPr>
            <p:cNvCxnSpPr>
              <a:cxnSpLocks/>
              <a:stCxn id="11" idx="3"/>
              <a:endCxn id="8" idx="2"/>
            </p:cNvCxnSpPr>
            <p:nvPr/>
          </p:nvCxnSpPr>
          <p:spPr>
            <a:xfrm>
              <a:off x="1905453" y="4485462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45">
              <a:extLst>
                <a:ext uri="{FF2B5EF4-FFF2-40B4-BE49-F238E27FC236}">
                  <a16:creationId xmlns:a16="http://schemas.microsoft.com/office/drawing/2014/main" id="{BD8F51DA-A7F5-1B2D-C65A-52E31CC37001}"/>
                </a:ext>
              </a:extLst>
            </p:cNvPr>
            <p:cNvCxnSpPr>
              <a:cxnSpLocks/>
              <a:stCxn id="13" idx="0"/>
              <a:endCxn id="8" idx="4"/>
            </p:cNvCxnSpPr>
            <p:nvPr/>
          </p:nvCxnSpPr>
          <p:spPr>
            <a:xfrm flipV="1">
              <a:off x="4185159" y="4630003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46">
              <a:extLst>
                <a:ext uri="{FF2B5EF4-FFF2-40B4-BE49-F238E27FC236}">
                  <a16:creationId xmlns:a16="http://schemas.microsoft.com/office/drawing/2014/main" id="{8DC40D2B-03A4-E6E0-8F28-A1C990D606DB}"/>
                </a:ext>
              </a:extLst>
            </p:cNvPr>
            <p:cNvSpPr txBox="1"/>
            <p:nvPr/>
          </p:nvSpPr>
          <p:spPr>
            <a:xfrm>
              <a:off x="4455484" y="4817407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Connector 147">
              <a:extLst>
                <a:ext uri="{FF2B5EF4-FFF2-40B4-BE49-F238E27FC236}">
                  <a16:creationId xmlns:a16="http://schemas.microsoft.com/office/drawing/2014/main" id="{CDA71C24-089D-2774-5617-65EA4D14DEA6}"/>
                </a:ext>
              </a:extLst>
            </p:cNvPr>
            <p:cNvCxnSpPr>
              <a:stCxn id="8" idx="6"/>
              <a:endCxn id="10" idx="2"/>
            </p:cNvCxnSpPr>
            <p:nvPr/>
          </p:nvCxnSpPr>
          <p:spPr>
            <a:xfrm>
              <a:off x="4322002" y="4493478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48">
              <a:extLst>
                <a:ext uri="{FF2B5EF4-FFF2-40B4-BE49-F238E27FC236}">
                  <a16:creationId xmlns:a16="http://schemas.microsoft.com/office/drawing/2014/main" id="{2C2EE00C-3585-DF73-1A5B-40B6ADF20BE2}"/>
                </a:ext>
              </a:extLst>
            </p:cNvPr>
            <p:cNvCxnSpPr>
              <a:stCxn id="12" idx="0"/>
              <a:endCxn id="10" idx="4"/>
            </p:cNvCxnSpPr>
            <p:nvPr/>
          </p:nvCxnSpPr>
          <p:spPr>
            <a:xfrm flipV="1">
              <a:off x="5196593" y="4630003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149">
              <a:extLst>
                <a:ext uri="{FF2B5EF4-FFF2-40B4-BE49-F238E27FC236}">
                  <a16:creationId xmlns:a16="http://schemas.microsoft.com/office/drawing/2014/main" id="{B4CA279F-EB35-30D6-EFCA-25E43EFC16BE}"/>
                </a:ext>
              </a:extLst>
            </p:cNvPr>
            <p:cNvCxnSpPr>
              <a:cxnSpLocks/>
              <a:stCxn id="9" idx="0"/>
              <a:endCxn id="12" idx="4"/>
            </p:cNvCxnSpPr>
            <p:nvPr/>
          </p:nvCxnSpPr>
          <p:spPr>
            <a:xfrm flipV="1">
              <a:off x="5196593" y="5139920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150">
              <a:extLst>
                <a:ext uri="{FF2B5EF4-FFF2-40B4-BE49-F238E27FC236}">
                  <a16:creationId xmlns:a16="http://schemas.microsoft.com/office/drawing/2014/main" id="{BDEBB756-37EB-569D-DA71-65F80EDBF030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5333117" y="4493478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/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Connector: Elbow 152">
              <a:extLst>
                <a:ext uri="{FF2B5EF4-FFF2-40B4-BE49-F238E27FC236}">
                  <a16:creationId xmlns:a16="http://schemas.microsoft.com/office/drawing/2014/main" id="{4FF11D69-F448-12A8-95B0-78E5BDBD95AA}"/>
                </a:ext>
              </a:extLst>
            </p:cNvPr>
            <p:cNvCxnSpPr>
              <a:stCxn id="14" idx="0"/>
              <a:endCxn id="7" idx="6"/>
            </p:cNvCxnSpPr>
            <p:nvPr/>
          </p:nvCxnSpPr>
          <p:spPr>
            <a:xfrm rot="16200000" flipV="1">
              <a:off x="2919400" y="5004719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153">
              <a:extLst>
                <a:ext uri="{FF2B5EF4-FFF2-40B4-BE49-F238E27FC236}">
                  <a16:creationId xmlns:a16="http://schemas.microsoft.com/office/drawing/2014/main" id="{C85D28FD-CBC7-37E0-25B1-EF2F02F553F2}"/>
                </a:ext>
              </a:extLst>
            </p:cNvPr>
            <p:cNvCxnSpPr/>
            <p:nvPr/>
          </p:nvCxnSpPr>
          <p:spPr>
            <a:xfrm flipV="1">
              <a:off x="2682598" y="4493478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/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Connector: Elbow 156">
              <a:extLst>
                <a:ext uri="{FF2B5EF4-FFF2-40B4-BE49-F238E27FC236}">
                  <a16:creationId xmlns:a16="http://schemas.microsoft.com/office/drawing/2014/main" id="{DEC0DAD1-6E1E-2C3D-2296-C329C2DB383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591796" y="4406495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157">
              <a:extLst>
                <a:ext uri="{FF2B5EF4-FFF2-40B4-BE49-F238E27FC236}">
                  <a16:creationId xmlns:a16="http://schemas.microsoft.com/office/drawing/2014/main" id="{4EA62229-0791-55FD-3E6E-71532C8BDCB1}"/>
                </a:ext>
              </a:extLst>
            </p:cNvPr>
            <p:cNvCxnSpPr/>
            <p:nvPr/>
          </p:nvCxnSpPr>
          <p:spPr>
            <a:xfrm flipV="1">
              <a:off x="2314621" y="4493478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158">
              <a:extLst>
                <a:ext uri="{FF2B5EF4-FFF2-40B4-BE49-F238E27FC236}">
                  <a16:creationId xmlns:a16="http://schemas.microsoft.com/office/drawing/2014/main" id="{EA1DA73A-2215-EBA2-9BBC-A62FB48161EE}"/>
                </a:ext>
              </a:extLst>
            </p:cNvPr>
            <p:cNvCxnSpPr>
              <a:cxnSpLocks/>
              <a:stCxn id="31" idx="2"/>
              <a:endCxn id="13" idx="2"/>
            </p:cNvCxnSpPr>
            <p:nvPr/>
          </p:nvCxnSpPr>
          <p:spPr>
            <a:xfrm flipV="1">
              <a:off x="2413045" y="5685642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Freeform: Shape 159">
              <a:extLst>
                <a:ext uri="{FF2B5EF4-FFF2-40B4-BE49-F238E27FC236}">
                  <a16:creationId xmlns:a16="http://schemas.microsoft.com/office/drawing/2014/main" id="{894E7D26-6B82-2506-9B0D-661DCACF7BB7}"/>
                </a:ext>
              </a:extLst>
            </p:cNvPr>
            <p:cNvSpPr/>
            <p:nvPr/>
          </p:nvSpPr>
          <p:spPr>
            <a:xfrm>
              <a:off x="2308270" y="558346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Connector 160">
              <a:extLst>
                <a:ext uri="{FF2B5EF4-FFF2-40B4-BE49-F238E27FC236}">
                  <a16:creationId xmlns:a16="http://schemas.microsoft.com/office/drawing/2014/main" id="{57BA2596-1AE8-FD32-F75E-AC2C9EB74155}"/>
                </a:ext>
              </a:extLst>
            </p:cNvPr>
            <p:cNvCxnSpPr/>
            <p:nvPr/>
          </p:nvCxnSpPr>
          <p:spPr>
            <a:xfrm flipV="1">
              <a:off x="2313032" y="5921361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reeform: Shape 161">
              <a:extLst>
                <a:ext uri="{FF2B5EF4-FFF2-40B4-BE49-F238E27FC236}">
                  <a16:creationId xmlns:a16="http://schemas.microsoft.com/office/drawing/2014/main" id="{A40F716A-DA26-CD3D-F640-06D13B113263}"/>
                </a:ext>
              </a:extLst>
            </p:cNvPr>
            <p:cNvSpPr/>
            <p:nvPr/>
          </p:nvSpPr>
          <p:spPr>
            <a:xfrm rot="5170363">
              <a:off x="2370814" y="5751407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162">
              <a:extLst>
                <a:ext uri="{FF2B5EF4-FFF2-40B4-BE49-F238E27FC236}">
                  <a16:creationId xmlns:a16="http://schemas.microsoft.com/office/drawing/2014/main" id="{7AFF4DB5-70AC-A228-2CED-B874D1B909D1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3305337" y="5688528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/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/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/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blipFill>
                  <a:blip r:embed="rId19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172">
              <a:extLst>
                <a:ext uri="{FF2B5EF4-FFF2-40B4-BE49-F238E27FC236}">
                  <a16:creationId xmlns:a16="http://schemas.microsoft.com/office/drawing/2014/main" id="{B6850192-2E70-FA7D-0690-8617CA2A2D95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4185159" y="5002073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173">
              <a:extLst>
                <a:ext uri="{FF2B5EF4-FFF2-40B4-BE49-F238E27FC236}">
                  <a16:creationId xmlns:a16="http://schemas.microsoft.com/office/drawing/2014/main" id="{957CA07F-439B-EA86-6998-D63B28329897}"/>
                </a:ext>
              </a:extLst>
            </p:cNvPr>
            <p:cNvCxnSpPr>
              <a:cxnSpLocks/>
              <a:stCxn id="15" idx="6"/>
              <a:endCxn id="12" idx="2"/>
            </p:cNvCxnSpPr>
            <p:nvPr/>
          </p:nvCxnSpPr>
          <p:spPr>
            <a:xfrm>
              <a:off x="4765599" y="5002073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/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Freeform: Shape 159">
              <a:extLst>
                <a:ext uri="{FF2B5EF4-FFF2-40B4-BE49-F238E27FC236}">
                  <a16:creationId xmlns:a16="http://schemas.microsoft.com/office/drawing/2014/main" id="{3098DFA0-3B06-44D9-2E01-EE616EADE9E3}"/>
                </a:ext>
              </a:extLst>
            </p:cNvPr>
            <p:cNvSpPr/>
            <p:nvPr/>
          </p:nvSpPr>
          <p:spPr>
            <a:xfrm rot="21335253">
              <a:off x="2677364" y="57906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Conector reto 80">
              <a:extLst>
                <a:ext uri="{FF2B5EF4-FFF2-40B4-BE49-F238E27FC236}">
                  <a16:creationId xmlns:a16="http://schemas.microsoft.com/office/drawing/2014/main" id="{BDC6C279-F0D0-F104-A845-992FEF41D8B1}"/>
                </a:ext>
              </a:extLst>
            </p:cNvPr>
            <p:cNvCxnSpPr>
              <a:stCxn id="7" idx="4"/>
              <a:endCxn id="79" idx="0"/>
            </p:cNvCxnSpPr>
            <p:nvPr/>
          </p:nvCxnSpPr>
          <p:spPr>
            <a:xfrm flipH="1">
              <a:off x="2674805" y="5241520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3" name="Agrupar 122">
            <a:extLst>
              <a:ext uri="{FF2B5EF4-FFF2-40B4-BE49-F238E27FC236}">
                <a16:creationId xmlns:a16="http://schemas.microsoft.com/office/drawing/2014/main" id="{A14CA10E-C85E-28AC-674E-E3875C9EB7BE}"/>
              </a:ext>
            </a:extLst>
          </p:cNvPr>
          <p:cNvGrpSpPr/>
          <p:nvPr/>
        </p:nvGrpSpPr>
        <p:grpSpPr>
          <a:xfrm>
            <a:off x="6373737" y="1935366"/>
            <a:ext cx="4928922" cy="2713085"/>
            <a:chOff x="6373737" y="1935366"/>
            <a:chExt cx="4928922" cy="2713085"/>
          </a:xfrm>
        </p:grpSpPr>
        <p:cxnSp>
          <p:nvCxnSpPr>
            <p:cNvPr id="97" name="Straight Arrow Connector 145">
              <a:extLst>
                <a:ext uri="{FF2B5EF4-FFF2-40B4-BE49-F238E27FC236}">
                  <a16:creationId xmlns:a16="http://schemas.microsoft.com/office/drawing/2014/main" id="{FFCE4766-33E0-D27F-4E2E-47FA24C524B1}"/>
                </a:ext>
              </a:extLst>
            </p:cNvPr>
            <p:cNvCxnSpPr>
              <a:cxnSpLocks/>
              <a:stCxn id="93" idx="0"/>
              <a:endCxn id="88" idx="4"/>
            </p:cNvCxnSpPr>
            <p:nvPr/>
          </p:nvCxnSpPr>
          <p:spPr>
            <a:xfrm flipV="1">
              <a:off x="9165026" y="2673122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148">
              <a:extLst>
                <a:ext uri="{FF2B5EF4-FFF2-40B4-BE49-F238E27FC236}">
                  <a16:creationId xmlns:a16="http://schemas.microsoft.com/office/drawing/2014/main" id="{07F340C5-8E03-EE50-399C-BF6C3555B23F}"/>
                </a:ext>
              </a:extLst>
            </p:cNvPr>
            <p:cNvCxnSpPr>
              <a:stCxn id="92" idx="0"/>
              <a:endCxn id="90" idx="4"/>
            </p:cNvCxnSpPr>
            <p:nvPr/>
          </p:nvCxnSpPr>
          <p:spPr>
            <a:xfrm flipV="1">
              <a:off x="10176460" y="2673122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49">
              <a:extLst>
                <a:ext uri="{FF2B5EF4-FFF2-40B4-BE49-F238E27FC236}">
                  <a16:creationId xmlns:a16="http://schemas.microsoft.com/office/drawing/2014/main" id="{9103FDCA-D84F-37DF-CC5A-91588F757EB0}"/>
                </a:ext>
              </a:extLst>
            </p:cNvPr>
            <p:cNvCxnSpPr>
              <a:cxnSpLocks/>
              <a:stCxn id="89" idx="0"/>
              <a:endCxn id="92" idx="4"/>
            </p:cNvCxnSpPr>
            <p:nvPr/>
          </p:nvCxnSpPr>
          <p:spPr>
            <a:xfrm flipV="1">
              <a:off x="10176460" y="3183039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53">
              <a:extLst>
                <a:ext uri="{FF2B5EF4-FFF2-40B4-BE49-F238E27FC236}">
                  <a16:creationId xmlns:a16="http://schemas.microsoft.com/office/drawing/2014/main" id="{AE75D4EB-B1D4-701F-E710-BDE4E4FBB64F}"/>
                </a:ext>
              </a:extLst>
            </p:cNvPr>
            <p:cNvCxnSpPr/>
            <p:nvPr/>
          </p:nvCxnSpPr>
          <p:spPr>
            <a:xfrm flipV="1">
              <a:off x="7662465" y="2536597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60">
              <a:extLst>
                <a:ext uri="{FF2B5EF4-FFF2-40B4-BE49-F238E27FC236}">
                  <a16:creationId xmlns:a16="http://schemas.microsoft.com/office/drawing/2014/main" id="{D754B5F8-378E-308B-8249-A26A4D326863}"/>
                </a:ext>
              </a:extLst>
            </p:cNvPr>
            <p:cNvCxnSpPr/>
            <p:nvPr/>
          </p:nvCxnSpPr>
          <p:spPr>
            <a:xfrm flipV="1">
              <a:off x="7292899" y="3964480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62">
              <a:extLst>
                <a:ext uri="{FF2B5EF4-FFF2-40B4-BE49-F238E27FC236}">
                  <a16:creationId xmlns:a16="http://schemas.microsoft.com/office/drawing/2014/main" id="{A30D0A16-E2D1-7E19-1B40-8CC5510F0079}"/>
                </a:ext>
              </a:extLst>
            </p:cNvPr>
            <p:cNvCxnSpPr>
              <a:cxnSpLocks/>
              <a:stCxn id="94" idx="2"/>
            </p:cNvCxnSpPr>
            <p:nvPr/>
          </p:nvCxnSpPr>
          <p:spPr>
            <a:xfrm>
              <a:off x="8285204" y="3731647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72">
              <a:extLst>
                <a:ext uri="{FF2B5EF4-FFF2-40B4-BE49-F238E27FC236}">
                  <a16:creationId xmlns:a16="http://schemas.microsoft.com/office/drawing/2014/main" id="{17380AA7-33C3-AE39-20FE-857F6BE421A0}"/>
                </a:ext>
              </a:extLst>
            </p:cNvPr>
            <p:cNvCxnSpPr>
              <a:cxnSpLocks/>
              <a:endCxn id="95" idx="2"/>
            </p:cNvCxnSpPr>
            <p:nvPr/>
          </p:nvCxnSpPr>
          <p:spPr>
            <a:xfrm>
              <a:off x="9165026" y="3045192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73">
              <a:extLst>
                <a:ext uri="{FF2B5EF4-FFF2-40B4-BE49-F238E27FC236}">
                  <a16:creationId xmlns:a16="http://schemas.microsoft.com/office/drawing/2014/main" id="{8A0D0F86-73AA-4C37-7FD6-7A351477CA6F}"/>
                </a:ext>
              </a:extLst>
            </p:cNvPr>
            <p:cNvCxnSpPr>
              <a:cxnSpLocks/>
              <a:stCxn id="95" idx="6"/>
              <a:endCxn id="92" idx="2"/>
            </p:cNvCxnSpPr>
            <p:nvPr/>
          </p:nvCxnSpPr>
          <p:spPr>
            <a:xfrm>
              <a:off x="9745466" y="3045192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Freeform: Shape 159">
              <a:extLst>
                <a:ext uri="{FF2B5EF4-FFF2-40B4-BE49-F238E27FC236}">
                  <a16:creationId xmlns:a16="http://schemas.microsoft.com/office/drawing/2014/main" id="{817D3687-4C52-A7B6-4116-0DC677950DA9}"/>
                </a:ext>
              </a:extLst>
            </p:cNvPr>
            <p:cNvSpPr/>
            <p:nvPr/>
          </p:nvSpPr>
          <p:spPr>
            <a:xfrm rot="21335253">
              <a:off x="7657231" y="3833745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140">
              <a:extLst>
                <a:ext uri="{FF2B5EF4-FFF2-40B4-BE49-F238E27FC236}">
                  <a16:creationId xmlns:a16="http://schemas.microsoft.com/office/drawing/2014/main" id="{3C934291-13E8-1615-4FB3-16C593530C71}"/>
                </a:ext>
              </a:extLst>
            </p:cNvPr>
            <p:cNvSpPr/>
            <p:nvPr/>
          </p:nvSpPr>
          <p:spPr>
            <a:xfrm>
              <a:off x="10039935" y="29099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5" name="Oval 143">
              <a:extLst>
                <a:ext uri="{FF2B5EF4-FFF2-40B4-BE49-F238E27FC236}">
                  <a16:creationId xmlns:a16="http://schemas.microsoft.com/office/drawing/2014/main" id="{084FC3E3-2BA8-69D2-39C3-09B20D59055D}"/>
                </a:ext>
              </a:extLst>
            </p:cNvPr>
            <p:cNvSpPr/>
            <p:nvPr/>
          </p:nvSpPr>
          <p:spPr>
            <a:xfrm>
              <a:off x="9472416" y="290866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04" name="Connector: Elbow 152">
              <a:extLst>
                <a:ext uri="{FF2B5EF4-FFF2-40B4-BE49-F238E27FC236}">
                  <a16:creationId xmlns:a16="http://schemas.microsoft.com/office/drawing/2014/main" id="{CE2BFA31-B2A1-3DB2-A292-68B304312768}"/>
                </a:ext>
              </a:extLst>
            </p:cNvPr>
            <p:cNvCxnSpPr>
              <a:stCxn id="94" idx="0"/>
              <a:endCxn id="87" idx="6"/>
            </p:cNvCxnSpPr>
            <p:nvPr/>
          </p:nvCxnSpPr>
          <p:spPr>
            <a:xfrm rot="16200000" flipV="1">
              <a:off x="7899267" y="3047838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Connector: Elbow 156">
              <a:extLst>
                <a:ext uri="{FF2B5EF4-FFF2-40B4-BE49-F238E27FC236}">
                  <a16:creationId xmlns:a16="http://schemas.microsoft.com/office/drawing/2014/main" id="{896C1B2B-91E0-847B-9289-47EB59AD80B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571663" y="2449614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Connector: Elbow 158">
              <a:extLst>
                <a:ext uri="{FF2B5EF4-FFF2-40B4-BE49-F238E27FC236}">
                  <a16:creationId xmlns:a16="http://schemas.microsoft.com/office/drawing/2014/main" id="{F0FA5897-623E-2F28-C0F4-4782D5CCDB4D}"/>
                </a:ext>
              </a:extLst>
            </p:cNvPr>
            <p:cNvCxnSpPr>
              <a:cxnSpLocks/>
              <a:stCxn id="110" idx="2"/>
              <a:endCxn id="93" idx="2"/>
            </p:cNvCxnSpPr>
            <p:nvPr/>
          </p:nvCxnSpPr>
          <p:spPr>
            <a:xfrm flipV="1">
              <a:off x="7412984" y="3728761"/>
              <a:ext cx="1752042" cy="12394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0" name="Freeform: Shape 159">
              <a:extLst>
                <a:ext uri="{FF2B5EF4-FFF2-40B4-BE49-F238E27FC236}">
                  <a16:creationId xmlns:a16="http://schemas.microsoft.com/office/drawing/2014/main" id="{F41FB465-21CE-CF3A-5C9B-60312CA84496}"/>
                </a:ext>
              </a:extLst>
            </p:cNvPr>
            <p:cNvSpPr/>
            <p:nvPr/>
          </p:nvSpPr>
          <p:spPr>
            <a:xfrm rot="21272626">
              <a:off x="7297661" y="363134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Conector reto 120">
              <a:extLst>
                <a:ext uri="{FF2B5EF4-FFF2-40B4-BE49-F238E27FC236}">
                  <a16:creationId xmlns:a16="http://schemas.microsoft.com/office/drawing/2014/main" id="{C46C344B-1AD9-9C35-4670-EFB6F8B3D4CB}"/>
                </a:ext>
              </a:extLst>
            </p:cNvPr>
            <p:cNvCxnSpPr>
              <a:stCxn id="87" idx="4"/>
              <a:endCxn id="120" idx="0"/>
            </p:cNvCxnSpPr>
            <p:nvPr/>
          </p:nvCxnSpPr>
          <p:spPr>
            <a:xfrm flipH="1">
              <a:off x="7654672" y="3284639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7" name="Oval 135">
              <a:extLst>
                <a:ext uri="{FF2B5EF4-FFF2-40B4-BE49-F238E27FC236}">
                  <a16:creationId xmlns:a16="http://schemas.microsoft.com/office/drawing/2014/main" id="{B7B574ED-AB73-EA18-9CBB-7B7DCF08F2BA}"/>
                </a:ext>
              </a:extLst>
            </p:cNvPr>
            <p:cNvSpPr/>
            <p:nvPr/>
          </p:nvSpPr>
          <p:spPr>
            <a:xfrm>
              <a:off x="7525940" y="30115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Rectangle 137">
              <a:extLst>
                <a:ext uri="{FF2B5EF4-FFF2-40B4-BE49-F238E27FC236}">
                  <a16:creationId xmlns:a16="http://schemas.microsoft.com/office/drawing/2014/main" id="{1ADBB6FE-3220-812D-AA74-CBE4E6BDA6FF}"/>
                </a:ext>
              </a:extLst>
            </p:cNvPr>
            <p:cNvSpPr/>
            <p:nvPr/>
          </p:nvSpPr>
          <p:spPr>
            <a:xfrm>
              <a:off x="9869069" y="3436131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/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/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8" name="TextBox 146">
              <a:extLst>
                <a:ext uri="{FF2B5EF4-FFF2-40B4-BE49-F238E27FC236}">
                  <a16:creationId xmlns:a16="http://schemas.microsoft.com/office/drawing/2014/main" id="{E88579DA-24C0-EACC-F7CA-C594474567CA}"/>
                </a:ext>
              </a:extLst>
            </p:cNvPr>
            <p:cNvSpPr txBox="1"/>
            <p:nvPr/>
          </p:nvSpPr>
          <p:spPr>
            <a:xfrm>
              <a:off x="9435351" y="2860526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08" name="Straight Connector 157">
              <a:extLst>
                <a:ext uri="{FF2B5EF4-FFF2-40B4-BE49-F238E27FC236}">
                  <a16:creationId xmlns:a16="http://schemas.microsoft.com/office/drawing/2014/main" id="{864F9693-07A6-4744-FB2C-A4BCBAEDF7FA}"/>
                </a:ext>
              </a:extLst>
            </p:cNvPr>
            <p:cNvCxnSpPr/>
            <p:nvPr/>
          </p:nvCxnSpPr>
          <p:spPr>
            <a:xfrm flipV="1">
              <a:off x="7294488" y="2536597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Freeform: Shape 161">
              <a:extLst>
                <a:ext uri="{FF2B5EF4-FFF2-40B4-BE49-F238E27FC236}">
                  <a16:creationId xmlns:a16="http://schemas.microsoft.com/office/drawing/2014/main" id="{1F87D734-F552-E139-FBF4-397A865A6BAE}"/>
                </a:ext>
              </a:extLst>
            </p:cNvPr>
            <p:cNvSpPr/>
            <p:nvPr/>
          </p:nvSpPr>
          <p:spPr>
            <a:xfrm rot="5093909">
              <a:off x="7348300" y="37945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/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/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/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blipFill>
                  <a:blip r:embed="rId25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5" name="Rectangle: Rounded Corners 133">
              <a:extLst>
                <a:ext uri="{FF2B5EF4-FFF2-40B4-BE49-F238E27FC236}">
                  <a16:creationId xmlns:a16="http://schemas.microsoft.com/office/drawing/2014/main" id="{C22F73FC-22E6-4C04-4138-C6E4840A457B}"/>
                </a:ext>
              </a:extLst>
            </p:cNvPr>
            <p:cNvSpPr/>
            <p:nvPr/>
          </p:nvSpPr>
          <p:spPr>
            <a:xfrm>
              <a:off x="7093514" y="2262124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6" name="Straight Arrow Connector 134">
              <a:extLst>
                <a:ext uri="{FF2B5EF4-FFF2-40B4-BE49-F238E27FC236}">
                  <a16:creationId xmlns:a16="http://schemas.microsoft.com/office/drawing/2014/main" id="{2CC61B4E-8888-D162-6D95-B9FE3B5D36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16487" y="2068597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Oval 136">
              <a:extLst>
                <a:ext uri="{FF2B5EF4-FFF2-40B4-BE49-F238E27FC236}">
                  <a16:creationId xmlns:a16="http://schemas.microsoft.com/office/drawing/2014/main" id="{C68A2736-8717-3DD0-DD01-7B61C8468B69}"/>
                </a:ext>
              </a:extLst>
            </p:cNvPr>
            <p:cNvSpPr/>
            <p:nvPr/>
          </p:nvSpPr>
          <p:spPr>
            <a:xfrm>
              <a:off x="9028819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Oval 138">
              <a:extLst>
                <a:ext uri="{FF2B5EF4-FFF2-40B4-BE49-F238E27FC236}">
                  <a16:creationId xmlns:a16="http://schemas.microsoft.com/office/drawing/2014/main" id="{28474D35-7F2A-1499-BF67-A56E9CBB2FC6}"/>
                </a:ext>
              </a:extLst>
            </p:cNvPr>
            <p:cNvSpPr/>
            <p:nvPr/>
          </p:nvSpPr>
          <p:spPr>
            <a:xfrm>
              <a:off x="10039935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/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blipFill>
                  <a:blip r:embed="rId26"/>
                  <a:stretch>
                    <a:fillRect r="-156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144">
              <a:extLst>
                <a:ext uri="{FF2B5EF4-FFF2-40B4-BE49-F238E27FC236}">
                  <a16:creationId xmlns:a16="http://schemas.microsoft.com/office/drawing/2014/main" id="{94081AD1-ED81-9C0E-2BC9-06E7A6BFA20D}"/>
                </a:ext>
              </a:extLst>
            </p:cNvPr>
            <p:cNvCxnSpPr>
              <a:cxnSpLocks/>
              <a:stCxn id="91" idx="3"/>
              <a:endCxn id="88" idx="2"/>
            </p:cNvCxnSpPr>
            <p:nvPr/>
          </p:nvCxnSpPr>
          <p:spPr>
            <a:xfrm>
              <a:off x="6885320" y="2528581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147">
              <a:extLst>
                <a:ext uri="{FF2B5EF4-FFF2-40B4-BE49-F238E27FC236}">
                  <a16:creationId xmlns:a16="http://schemas.microsoft.com/office/drawing/2014/main" id="{75B733EE-950D-D301-BA46-CA4DC385D6EB}"/>
                </a:ext>
              </a:extLst>
            </p:cNvPr>
            <p:cNvCxnSpPr>
              <a:stCxn id="88" idx="6"/>
              <a:endCxn id="90" idx="2"/>
            </p:cNvCxnSpPr>
            <p:nvPr/>
          </p:nvCxnSpPr>
          <p:spPr>
            <a:xfrm>
              <a:off x="9301869" y="2536597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50">
              <a:extLst>
                <a:ext uri="{FF2B5EF4-FFF2-40B4-BE49-F238E27FC236}">
                  <a16:creationId xmlns:a16="http://schemas.microsoft.com/office/drawing/2014/main" id="{FEFDB515-7ABA-4900-267A-51F10B3F22A9}"/>
                </a:ext>
              </a:extLst>
            </p:cNvPr>
            <p:cNvCxnSpPr>
              <a:cxnSpLocks/>
              <a:stCxn id="90" idx="6"/>
            </p:cNvCxnSpPr>
            <p:nvPr/>
          </p:nvCxnSpPr>
          <p:spPr>
            <a:xfrm>
              <a:off x="10312984" y="2536597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/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/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/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Agrupar 10">
            <a:extLst>
              <a:ext uri="{FF2B5EF4-FFF2-40B4-BE49-F238E27FC236}">
                <a16:creationId xmlns:a16="http://schemas.microsoft.com/office/drawing/2014/main" id="{366F7BF2-C635-C709-4EB5-7F9A5D5B6DBD}"/>
              </a:ext>
            </a:extLst>
          </p:cNvPr>
          <p:cNvGrpSpPr/>
          <p:nvPr/>
        </p:nvGrpSpPr>
        <p:grpSpPr>
          <a:xfrm>
            <a:off x="3105149" y="1848292"/>
            <a:ext cx="4928922" cy="2995485"/>
            <a:chOff x="3105149" y="184829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3824926" y="245745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7899" y="226392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257352" y="32069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5760231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6600481" y="363145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6771347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6771347" y="31053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203828" y="310399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3616732" y="272390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5896438" y="286844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166763" y="305585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033281" y="273192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6907872" y="286844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6907872" y="337836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044396" y="273192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4630679" y="324316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393877" y="273192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303075" y="264494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025900" y="273192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124324" y="392408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019549" y="382190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024311" y="415980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082093" y="398985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016616" y="392697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190568" y="305032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359355" y="184829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H="1" flipV="1">
              <a:off x="5830038" y="2309957"/>
              <a:ext cx="646840" cy="19140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283136" y="185926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4749414" y="232092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5896438" y="324051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476878" y="324051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" name="Agrupar 43">
              <a:extLst>
                <a:ext uri="{FF2B5EF4-FFF2-40B4-BE49-F238E27FC236}">
                  <a16:creationId xmlns:a16="http://schemas.microsoft.com/office/drawing/2014/main" id="{A3051DFC-A45B-FD0E-D278-10E63E4DF97B}"/>
                </a:ext>
              </a:extLst>
            </p:cNvPr>
            <p:cNvGrpSpPr/>
            <p:nvPr/>
          </p:nvGrpSpPr>
          <p:grpSpPr>
            <a:xfrm>
              <a:off x="5584607" y="2516381"/>
              <a:ext cx="1717688" cy="1642522"/>
              <a:chOff x="8827837" y="3357993"/>
              <a:chExt cx="1717688" cy="1642522"/>
            </a:xfrm>
          </p:grpSpPr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3C801D42-BBEE-7EA8-C27E-E2E9B59BE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7837" y="3357993"/>
                <a:ext cx="0" cy="1642522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B1603849-608A-D0CB-04FF-7FFE5C64E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27837" y="3357993"/>
                <a:ext cx="1717688" cy="0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49" name="Conector reto 48">
              <a:extLst>
                <a:ext uri="{FF2B5EF4-FFF2-40B4-BE49-F238E27FC236}">
                  <a16:creationId xmlns:a16="http://schemas.microsoft.com/office/drawing/2014/main" id="{7ED3F87C-EFFD-4DE1-2450-B47542CF5F92}"/>
                </a:ext>
              </a:extLst>
            </p:cNvPr>
            <p:cNvCxnSpPr/>
            <p:nvPr/>
          </p:nvCxnSpPr>
          <p:spPr>
            <a:xfrm>
              <a:off x="5584607" y="4158903"/>
              <a:ext cx="756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to 49">
              <a:extLst>
                <a:ext uri="{FF2B5EF4-FFF2-40B4-BE49-F238E27FC236}">
                  <a16:creationId xmlns:a16="http://schemas.microsoft.com/office/drawing/2014/main" id="{E34E9718-BF01-738B-8B73-3E583890193A}"/>
                </a:ext>
              </a:extLst>
            </p:cNvPr>
            <p:cNvCxnSpPr/>
            <p:nvPr/>
          </p:nvCxnSpPr>
          <p:spPr>
            <a:xfrm>
              <a:off x="6338693" y="3582688"/>
              <a:ext cx="972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:a16="http://schemas.microsoft.com/office/drawing/2014/main" id="{DEA0A1B2-AC93-F32B-6CCA-266EDCD9B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31156" y="3587184"/>
              <a:ext cx="1783" cy="5760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to 58">
              <a:extLst>
                <a:ext uri="{FF2B5EF4-FFF2-40B4-BE49-F238E27FC236}">
                  <a16:creationId xmlns:a16="http://schemas.microsoft.com/office/drawing/2014/main" id="{C7A5282E-7541-7BB9-8579-7C168E5DCB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15217" y="2522793"/>
              <a:ext cx="4437" cy="10241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" name="Freeform: Shape 159">
              <a:extLst>
                <a:ext uri="{FF2B5EF4-FFF2-40B4-BE49-F238E27FC236}">
                  <a16:creationId xmlns:a16="http://schemas.microsoft.com/office/drawing/2014/main" id="{01FDC6DC-1E90-1E8B-0DFA-A33BB1DA9614}"/>
                </a:ext>
              </a:extLst>
            </p:cNvPr>
            <p:cNvSpPr/>
            <p:nvPr/>
          </p:nvSpPr>
          <p:spPr>
            <a:xfrm rot="21335253">
              <a:off x="4397003" y="402907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E74C7B34-C122-8861-FE4A-62F6E6658992}"/>
                </a:ext>
              </a:extLst>
            </p:cNvPr>
            <p:cNvCxnSpPr>
              <a:endCxn id="2" idx="0"/>
            </p:cNvCxnSpPr>
            <p:nvPr/>
          </p:nvCxnSpPr>
          <p:spPr>
            <a:xfrm flipH="1">
              <a:off x="4394444" y="3479965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/>
          <p:cNvGrpSpPr/>
          <p:nvPr/>
        </p:nvGrpSpPr>
        <p:grpSpPr>
          <a:xfrm>
            <a:off x="438243" y="2178701"/>
            <a:ext cx="5212640" cy="3419852"/>
            <a:chOff x="438243" y="2178701"/>
            <a:chExt cx="5212640" cy="3419852"/>
          </a:xfrm>
        </p:grpSpPr>
        <p:sp>
          <p:nvSpPr>
            <p:cNvPr id="5" name="Retângulo 4"/>
            <p:cNvSpPr/>
            <p:nvPr/>
          </p:nvSpPr>
          <p:spPr>
            <a:xfrm>
              <a:off x="1132114" y="3641911"/>
              <a:ext cx="972456" cy="75474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/>
                <a:t>RNN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762000" y="2625271"/>
              <a:ext cx="171268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O gato subiu no</a:t>
              </a:r>
            </a:p>
          </p:txBody>
        </p:sp>
        <p:cxnSp>
          <p:nvCxnSpPr>
            <p:cNvPr id="7" name="Conector de seta reta 6"/>
            <p:cNvCxnSpPr>
              <a:stCxn id="6" idx="2"/>
              <a:endCxn id="5" idx="0"/>
            </p:cNvCxnSpPr>
            <p:nvPr/>
          </p:nvCxnSpPr>
          <p:spPr>
            <a:xfrm flipH="1">
              <a:off x="1618342" y="2994603"/>
              <a:ext cx="1" cy="64730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tângulo 7"/>
            <p:cNvSpPr/>
            <p:nvPr/>
          </p:nvSpPr>
          <p:spPr>
            <a:xfrm>
              <a:off x="3233057" y="3305625"/>
              <a:ext cx="1152000" cy="2775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0.6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4362435" y="3259752"/>
              <a:ext cx="934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Telhado</a:t>
              </a:r>
            </a:p>
          </p:txBody>
        </p:sp>
        <p:sp>
          <p:nvSpPr>
            <p:cNvPr id="10" name="Retângulo 9"/>
            <p:cNvSpPr/>
            <p:nvPr/>
          </p:nvSpPr>
          <p:spPr>
            <a:xfrm>
              <a:off x="3244837" y="3728355"/>
              <a:ext cx="504000" cy="277587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0.1</a:t>
              </a:r>
            </a:p>
          </p:txBody>
        </p:sp>
        <p:sp>
          <p:nvSpPr>
            <p:cNvPr id="11" name="CaixaDeTexto 10"/>
            <p:cNvSpPr txBox="1"/>
            <p:nvPr/>
          </p:nvSpPr>
          <p:spPr>
            <a:xfrm>
              <a:off x="4350655" y="3686504"/>
              <a:ext cx="9727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Hospital</a:t>
              </a:r>
            </a:p>
          </p:txBody>
        </p:sp>
        <p:sp>
          <p:nvSpPr>
            <p:cNvPr id="12" name="Retângulo 11"/>
            <p:cNvSpPr/>
            <p:nvPr/>
          </p:nvSpPr>
          <p:spPr>
            <a:xfrm>
              <a:off x="3244837" y="4153457"/>
              <a:ext cx="720000" cy="27758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0.2</a:t>
              </a:r>
            </a:p>
          </p:txBody>
        </p:sp>
        <p:sp>
          <p:nvSpPr>
            <p:cNvPr id="13" name="CaixaDeTexto 12"/>
            <p:cNvSpPr txBox="1"/>
            <p:nvPr/>
          </p:nvSpPr>
          <p:spPr>
            <a:xfrm>
              <a:off x="4350655" y="4111606"/>
              <a:ext cx="7124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Muro</a:t>
              </a:r>
            </a:p>
          </p:txBody>
        </p:sp>
        <p:sp>
          <p:nvSpPr>
            <p:cNvPr id="14" name="Retângulo 13"/>
            <p:cNvSpPr/>
            <p:nvPr/>
          </p:nvSpPr>
          <p:spPr>
            <a:xfrm>
              <a:off x="3244837" y="4561505"/>
              <a:ext cx="504000" cy="277587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0.1</a:t>
              </a:r>
            </a:p>
          </p:txBody>
        </p:sp>
        <p:sp>
          <p:nvSpPr>
            <p:cNvPr id="15" name="CaixaDeTexto 14"/>
            <p:cNvSpPr txBox="1"/>
            <p:nvPr/>
          </p:nvSpPr>
          <p:spPr>
            <a:xfrm>
              <a:off x="4350655" y="4519654"/>
              <a:ext cx="13002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Espaçonave</a:t>
              </a:r>
            </a:p>
          </p:txBody>
        </p:sp>
        <p:cxnSp>
          <p:nvCxnSpPr>
            <p:cNvPr id="16" name="Conector angulado 15"/>
            <p:cNvCxnSpPr>
              <a:stCxn id="5" idx="3"/>
              <a:endCxn id="8" idx="1"/>
            </p:cNvCxnSpPr>
            <p:nvPr/>
          </p:nvCxnSpPr>
          <p:spPr>
            <a:xfrm flipV="1">
              <a:off x="2104570" y="3444419"/>
              <a:ext cx="1128487" cy="57486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angulado 16"/>
            <p:cNvCxnSpPr>
              <a:stCxn id="5" idx="3"/>
              <a:endCxn id="10" idx="1"/>
            </p:cNvCxnSpPr>
            <p:nvPr/>
          </p:nvCxnSpPr>
          <p:spPr>
            <a:xfrm flipV="1">
              <a:off x="2104570" y="3867149"/>
              <a:ext cx="1140267" cy="15213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angulado 17"/>
            <p:cNvCxnSpPr>
              <a:stCxn id="5" idx="3"/>
              <a:endCxn id="12" idx="1"/>
            </p:cNvCxnSpPr>
            <p:nvPr/>
          </p:nvCxnSpPr>
          <p:spPr>
            <a:xfrm>
              <a:off x="2104570" y="4019283"/>
              <a:ext cx="1140267" cy="272968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angulado 18"/>
            <p:cNvCxnSpPr>
              <a:stCxn id="5" idx="3"/>
              <a:endCxn id="14" idx="1"/>
            </p:cNvCxnSpPr>
            <p:nvPr/>
          </p:nvCxnSpPr>
          <p:spPr>
            <a:xfrm>
              <a:off x="2104570" y="4019283"/>
              <a:ext cx="1140267" cy="681016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aixaDeTexto 19"/>
            <p:cNvSpPr txBox="1"/>
            <p:nvPr/>
          </p:nvSpPr>
          <p:spPr>
            <a:xfrm>
              <a:off x="438243" y="2178701"/>
              <a:ext cx="236019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400" dirty="0"/>
                <a:t>Palavras anteriores (contexto)</a:t>
              </a:r>
            </a:p>
          </p:txBody>
        </p:sp>
        <p:sp>
          <p:nvSpPr>
            <p:cNvPr id="21" name="CaixaDeTexto 20"/>
            <p:cNvSpPr txBox="1"/>
            <p:nvPr/>
          </p:nvSpPr>
          <p:spPr>
            <a:xfrm>
              <a:off x="3102427" y="2645949"/>
              <a:ext cx="23222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Distribuição de probabilidade da próxima palavra</a:t>
              </a:r>
            </a:p>
          </p:txBody>
        </p:sp>
        <p:sp>
          <p:nvSpPr>
            <p:cNvPr id="22" name="CaixaDeTexto 21"/>
            <p:cNvSpPr txBox="1"/>
            <p:nvPr/>
          </p:nvSpPr>
          <p:spPr>
            <a:xfrm>
              <a:off x="2974314" y="5075333"/>
              <a:ext cx="23222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A palavra com maior probabilidade é escolhida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77372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11966</TotalTime>
  <Words>7783</Words>
  <Application>Microsoft Office PowerPoint</Application>
  <PresentationFormat>Widescreen</PresentationFormat>
  <Paragraphs>1118</Paragraphs>
  <Slides>99</Slides>
  <Notes>60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Limitação de redes tradicionais</vt:lpstr>
      <vt:lpstr>Apresentação do PowerPoint</vt:lpstr>
      <vt:lpstr>Apresentação do PowerPoint</vt:lpstr>
      <vt:lpstr>Aplicações de redes neurais recorrentes</vt:lpstr>
      <vt:lpstr>Padrões temporais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Porta de esquecimento</vt:lpstr>
      <vt:lpstr>Porta de entrada</vt:lpstr>
      <vt:lpstr>Porta de saída</vt:lpstr>
      <vt:lpstr>Resumo das equações de atualização da célula</vt:lpstr>
      <vt:lpstr>Long-short term memory (LSTM)</vt:lpstr>
      <vt:lpstr>Principais desvantagens de LSTMs</vt:lpstr>
      <vt:lpstr>Apresentação do PowerPoint</vt:lpstr>
      <vt:lpstr>Gated recurrent unit (GRU)</vt:lpstr>
      <vt:lpstr>Gated recurrent unit (GRU)</vt:lpstr>
      <vt:lpstr>Gated recurrent unit (GRU)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2272</cp:revision>
  <dcterms:created xsi:type="dcterms:W3CDTF">2020-01-20T13:50:05Z</dcterms:created>
  <dcterms:modified xsi:type="dcterms:W3CDTF">2026-10-19T11:37:33Z</dcterms:modified>
</cp:coreProperties>
</file>