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7"/>
  </p:notesMasterIdLst>
  <p:handoutMasterIdLst>
    <p:handoutMasterId r:id="rId48"/>
  </p:handoutMasterIdLst>
  <p:sldIdLst>
    <p:sldId id="256" r:id="rId2"/>
    <p:sldId id="315" r:id="rId3"/>
    <p:sldId id="308" r:id="rId4"/>
    <p:sldId id="316" r:id="rId5"/>
    <p:sldId id="325" r:id="rId6"/>
    <p:sldId id="317" r:id="rId7"/>
    <p:sldId id="326" r:id="rId8"/>
    <p:sldId id="328" r:id="rId9"/>
    <p:sldId id="329" r:id="rId10"/>
    <p:sldId id="334" r:id="rId11"/>
    <p:sldId id="332" r:id="rId12"/>
    <p:sldId id="333" r:id="rId13"/>
    <p:sldId id="336" r:id="rId14"/>
    <p:sldId id="331" r:id="rId15"/>
    <p:sldId id="338" r:id="rId16"/>
    <p:sldId id="341" r:id="rId17"/>
    <p:sldId id="342" r:id="rId18"/>
    <p:sldId id="343" r:id="rId19"/>
    <p:sldId id="344" r:id="rId20"/>
    <p:sldId id="345" r:id="rId21"/>
    <p:sldId id="346" r:id="rId22"/>
    <p:sldId id="347" r:id="rId23"/>
    <p:sldId id="349" r:id="rId24"/>
    <p:sldId id="351" r:id="rId25"/>
    <p:sldId id="352" r:id="rId26"/>
    <p:sldId id="355" r:id="rId27"/>
    <p:sldId id="356" r:id="rId28"/>
    <p:sldId id="358" r:id="rId29"/>
    <p:sldId id="360" r:id="rId30"/>
    <p:sldId id="337" r:id="rId31"/>
    <p:sldId id="322" r:id="rId32"/>
    <p:sldId id="321" r:id="rId33"/>
    <p:sldId id="324" r:id="rId34"/>
    <p:sldId id="323" r:id="rId35"/>
    <p:sldId id="293" r:id="rId36"/>
    <p:sldId id="306" r:id="rId37"/>
    <p:sldId id="335" r:id="rId38"/>
    <p:sldId id="330" r:id="rId39"/>
    <p:sldId id="340" r:id="rId40"/>
    <p:sldId id="348" r:id="rId41"/>
    <p:sldId id="350" r:id="rId42"/>
    <p:sldId id="353" r:id="rId43"/>
    <p:sldId id="354" r:id="rId44"/>
    <p:sldId id="357" r:id="rId45"/>
    <p:sldId id="359" r:id="rId46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83051" autoAdjust="0"/>
  </p:normalViewPr>
  <p:slideViewPr>
    <p:cSldViewPr snapToGrid="0">
      <p:cViewPr varScale="1">
        <p:scale>
          <a:sx n="61" d="100"/>
          <a:sy n="61" d="100"/>
        </p:scale>
        <p:origin x="1260" y="6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25/03/2026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69864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21928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12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9.png"/><Relationship Id="rId9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13" Type="http://schemas.openxmlformats.org/officeDocument/2006/relationships/image" Target="../media/image38.png"/><Relationship Id="rId18" Type="http://schemas.openxmlformats.org/officeDocument/2006/relationships/image" Target="../media/image43.png"/><Relationship Id="rId26" Type="http://schemas.openxmlformats.org/officeDocument/2006/relationships/image" Target="../media/image51.png"/><Relationship Id="rId3" Type="http://schemas.openxmlformats.org/officeDocument/2006/relationships/image" Target="../media/image280.png"/><Relationship Id="rId21" Type="http://schemas.openxmlformats.org/officeDocument/2006/relationships/image" Target="../media/image46.png"/><Relationship Id="rId7" Type="http://schemas.openxmlformats.org/officeDocument/2006/relationships/image" Target="../media/image320.png"/><Relationship Id="rId12" Type="http://schemas.openxmlformats.org/officeDocument/2006/relationships/image" Target="../media/image37.png"/><Relationship Id="rId17" Type="http://schemas.openxmlformats.org/officeDocument/2006/relationships/image" Target="../media/image42.png"/><Relationship Id="rId25" Type="http://schemas.openxmlformats.org/officeDocument/2006/relationships/image" Target="../media/image50.png"/><Relationship Id="rId2" Type="http://schemas.openxmlformats.org/officeDocument/2006/relationships/image" Target="../media/image270.png"/><Relationship Id="rId16" Type="http://schemas.openxmlformats.org/officeDocument/2006/relationships/image" Target="../media/image41.png"/><Relationship Id="rId20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1" Type="http://schemas.openxmlformats.org/officeDocument/2006/relationships/image" Target="../media/image36.png"/><Relationship Id="rId24" Type="http://schemas.openxmlformats.org/officeDocument/2006/relationships/image" Target="../media/image49.png"/><Relationship Id="rId5" Type="http://schemas.openxmlformats.org/officeDocument/2006/relationships/image" Target="../media/image300.png"/><Relationship Id="rId15" Type="http://schemas.openxmlformats.org/officeDocument/2006/relationships/image" Target="../media/image40.png"/><Relationship Id="rId23" Type="http://schemas.openxmlformats.org/officeDocument/2006/relationships/image" Target="../media/image48.png"/><Relationship Id="rId28" Type="http://schemas.openxmlformats.org/officeDocument/2006/relationships/image" Target="../media/image53.png"/><Relationship Id="rId10" Type="http://schemas.openxmlformats.org/officeDocument/2006/relationships/image" Target="../media/image35.png"/><Relationship Id="rId19" Type="http://schemas.openxmlformats.org/officeDocument/2006/relationships/image" Target="../media/image44.png"/><Relationship Id="rId4" Type="http://schemas.openxmlformats.org/officeDocument/2006/relationships/image" Target="../media/image290.png"/><Relationship Id="rId9" Type="http://schemas.openxmlformats.org/officeDocument/2006/relationships/image" Target="../media/image340.png"/><Relationship Id="rId14" Type="http://schemas.openxmlformats.org/officeDocument/2006/relationships/image" Target="../media/image39.png"/><Relationship Id="rId22" Type="http://schemas.openxmlformats.org/officeDocument/2006/relationships/image" Target="../media/image47.png"/><Relationship Id="rId27" Type="http://schemas.openxmlformats.org/officeDocument/2006/relationships/image" Target="../media/image52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5.png"/><Relationship Id="rId18" Type="http://schemas.openxmlformats.org/officeDocument/2006/relationships/image" Target="../media/image50.png"/><Relationship Id="rId3" Type="http://schemas.openxmlformats.org/officeDocument/2006/relationships/image" Target="../media/image36.png"/><Relationship Id="rId21" Type="http://schemas.openxmlformats.org/officeDocument/2006/relationships/image" Target="../media/image53.png"/><Relationship Id="rId7" Type="http://schemas.openxmlformats.org/officeDocument/2006/relationships/image" Target="../media/image39.png"/><Relationship Id="rId12" Type="http://schemas.openxmlformats.org/officeDocument/2006/relationships/image" Target="../media/image44.png"/><Relationship Id="rId17" Type="http://schemas.openxmlformats.org/officeDocument/2006/relationships/image" Target="../media/image49.png"/><Relationship Id="rId2" Type="http://schemas.openxmlformats.org/officeDocument/2006/relationships/image" Target="../media/image35.png"/><Relationship Id="rId16" Type="http://schemas.openxmlformats.org/officeDocument/2006/relationships/image" Target="../media/image48.png"/><Relationship Id="rId20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11" Type="http://schemas.openxmlformats.org/officeDocument/2006/relationships/image" Target="../media/image43.png"/><Relationship Id="rId5" Type="http://schemas.openxmlformats.org/officeDocument/2006/relationships/image" Target="../media/image340.png"/><Relationship Id="rId15" Type="http://schemas.openxmlformats.org/officeDocument/2006/relationships/image" Target="../media/image47.png"/><Relationship Id="rId10" Type="http://schemas.openxmlformats.org/officeDocument/2006/relationships/image" Target="../media/image42.png"/><Relationship Id="rId19" Type="http://schemas.openxmlformats.org/officeDocument/2006/relationships/image" Target="../media/image51.png"/><Relationship Id="rId4" Type="http://schemas.openxmlformats.org/officeDocument/2006/relationships/image" Target="../media/image37.png"/><Relationship Id="rId9" Type="http://schemas.openxmlformats.org/officeDocument/2006/relationships/image" Target="../media/image41.png"/><Relationship Id="rId14" Type="http://schemas.openxmlformats.org/officeDocument/2006/relationships/image" Target="../media/image46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12" Type="http://schemas.openxmlformats.org/officeDocument/2006/relationships/image" Target="../media/image68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11" Type="http://schemas.openxmlformats.org/officeDocument/2006/relationships/image" Target="../media/image67.png"/><Relationship Id="rId5" Type="http://schemas.openxmlformats.org/officeDocument/2006/relationships/image" Target="../media/image63.png"/><Relationship Id="rId10" Type="http://schemas.openxmlformats.org/officeDocument/2006/relationships/image" Target="../media/image66.png"/><Relationship Id="rId4" Type="http://schemas.openxmlformats.org/officeDocument/2006/relationships/image" Target="../media/image62.png"/><Relationship Id="rId9" Type="http://schemas.openxmlformats.org/officeDocument/2006/relationships/image" Target="../media/image6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image" Target="../media/image71.png"/><Relationship Id="rId7" Type="http://schemas.openxmlformats.org/officeDocument/2006/relationships/image" Target="../media/image7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.png"/><Relationship Id="rId10" Type="http://schemas.openxmlformats.org/officeDocument/2006/relationships/image" Target="../media/image78.png"/><Relationship Id="rId4" Type="http://schemas.openxmlformats.org/officeDocument/2006/relationships/image" Target="../media/image72.png"/><Relationship Id="rId9" Type="http://schemas.openxmlformats.org/officeDocument/2006/relationships/image" Target="../media/image77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3" Type="http://schemas.openxmlformats.org/officeDocument/2006/relationships/image" Target="../media/image80.png"/><Relationship Id="rId7" Type="http://schemas.openxmlformats.org/officeDocument/2006/relationships/image" Target="../media/image81.png"/><Relationship Id="rId12" Type="http://schemas.openxmlformats.org/officeDocument/2006/relationships/image" Target="../media/image8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png"/><Relationship Id="rId11" Type="http://schemas.openxmlformats.org/officeDocument/2006/relationships/image" Target="../media/image85.png"/><Relationship Id="rId5" Type="http://schemas.openxmlformats.org/officeDocument/2006/relationships/image" Target="../media/image74.png"/><Relationship Id="rId10" Type="http://schemas.openxmlformats.org/officeDocument/2006/relationships/image" Target="../media/image84.png"/><Relationship Id="rId4" Type="http://schemas.openxmlformats.org/officeDocument/2006/relationships/image" Target="../media/image73.png"/><Relationship Id="rId9" Type="http://schemas.openxmlformats.org/officeDocument/2006/relationships/image" Target="../media/image83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3" Type="http://schemas.openxmlformats.org/officeDocument/2006/relationships/image" Target="../media/image74.png"/><Relationship Id="rId7" Type="http://schemas.openxmlformats.org/officeDocument/2006/relationships/image" Target="../media/image81.png"/><Relationship Id="rId12" Type="http://schemas.openxmlformats.org/officeDocument/2006/relationships/image" Target="../media/image8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11" Type="http://schemas.openxmlformats.org/officeDocument/2006/relationships/image" Target="../media/image86.png"/><Relationship Id="rId5" Type="http://schemas.openxmlformats.org/officeDocument/2006/relationships/image" Target="../media/image84.png"/><Relationship Id="rId10" Type="http://schemas.openxmlformats.org/officeDocument/2006/relationships/image" Target="../media/image85.png"/><Relationship Id="rId4" Type="http://schemas.openxmlformats.org/officeDocument/2006/relationships/image" Target="../media/image75.png"/><Relationship Id="rId9" Type="http://schemas.openxmlformats.org/officeDocument/2006/relationships/image" Target="../media/image8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são </a:t>
            </a:r>
            <a:r>
              <a:rPr lang="pt-BR" altLang="pt-BR" b="1" dirty="0"/>
              <a:t>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modelar </a:t>
            </a:r>
            <a:r>
              <a:rPr lang="pt-BR" altLang="pt-BR" b="1" dirty="0"/>
              <a:t>dependências temporais</a:t>
            </a:r>
            <a:r>
              <a:rPr lang="pt-BR" altLang="pt-BR" dirty="0"/>
              <a:t>!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b="1" dirty="0"/>
              <a:t>Existe correlação temporal entre as amostras.</a:t>
            </a:r>
            <a:endParaRPr lang="pt-BR" altLang="pt-BR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(clima, ações, vendas, etc.)</a:t>
            </a:r>
          </a:p>
          <a:p>
            <a:r>
              <a:rPr lang="pt-BR" dirty="0"/>
              <a:t>Tradução automática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Legenda de imagens e vídeos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/>
          </a:bodyPr>
          <a:lstStyle/>
          <a:p>
            <a:r>
              <a:rPr lang="pt-BR" dirty="0"/>
              <a:t>MLP: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armazenam informações de estados anteriores 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entrada é tratada de forma independente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capturam dependências temporais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depende apenas da entrada atual</a:t>
            </a:r>
          </a:p>
          <a:p>
            <a:r>
              <a:rPr lang="pt-BR" dirty="0"/>
              <a:t>CNN: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 as limitações das </a:t>
            </a:r>
            <a:r>
              <a:rPr lang="pt-BR" dirty="0" err="1"/>
              <a:t>MLPs</a:t>
            </a:r>
            <a:r>
              <a:rPr lang="pt-BR" dirty="0"/>
              <a:t>, com uma exceção: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Modela relações espaciais.</a:t>
            </a:r>
          </a:p>
          <a:p>
            <a:r>
              <a:rPr lang="pt-BR" dirty="0"/>
              <a:t>Ambas famílias exigem que o vetor de entrada tenha um tamanho predefinido e constante.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3954" y="3142796"/>
            <a:ext cx="3962400" cy="972003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Redes neurais recorrentes têm memória!</a:t>
            </a:r>
            <a:endParaRPr lang="en-US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:a16="http://schemas.microsoft.com/office/drawing/2014/main" xmlns="" id="{B99978AC-6F74-4307-94F5-3BAC8F4A5B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573486" y="1825624"/>
            <a:ext cx="6498771" cy="5032375"/>
          </a:xfrm>
        </p:spPr>
        <p:txBody>
          <a:bodyPr>
            <a:normAutofit/>
          </a:bodyPr>
          <a:lstStyle/>
          <a:p>
            <a:r>
              <a:rPr lang="pt-BR" dirty="0"/>
              <a:t>Possuem laços de realimentação.</a:t>
            </a:r>
          </a:p>
          <a:p>
            <a:r>
              <a:rPr lang="pt-BR" dirty="0"/>
              <a:t>Mantém um estado interno (memória) que armazena informações observadas até o momento.</a:t>
            </a:r>
          </a:p>
          <a:p>
            <a:r>
              <a:rPr lang="pt-BR" dirty="0"/>
              <a:t>A saída da rede depende da entrada atual e do valor do estado interno anterior.</a:t>
            </a:r>
          </a:p>
          <a:p>
            <a:r>
              <a:rPr lang="pt-BR" dirty="0"/>
              <a:t>O estado interno mantém uma memória (que desaparece) sobre o histórico de todas as entradas passadas.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xmlns="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3486" y="1825624"/>
            <a:ext cx="6498771" cy="5032375"/>
          </a:xfrm>
        </p:spPr>
        <p:txBody>
          <a:bodyPr/>
          <a:lstStyle/>
          <a:p>
            <a:r>
              <a:rPr lang="pt-BR" dirty="0"/>
              <a:t>Uma RNN utiliza informações sequenciais, modelando as dependências temporais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prever a próxima palavra em uma frase, precisamos saber quais palavras vieram antes dela.</a:t>
            </a:r>
          </a:p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mapeiam todo o histórico de entradas anteriores para cada saída.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xmlns="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Componentes de uma RNN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6FF8CB8C-0F2B-7C4F-63CA-34C693F263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86401" y="1825624"/>
                <a:ext cx="6705600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(</a:t>
                </a:r>
                <a:r>
                  <a:rPr lang="en-US" dirty="0" err="1"/>
                  <a:t>memória</a:t>
                </a:r>
                <a:r>
                  <a:rPr lang="en-US" dirty="0"/>
                  <a:t> da rede)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oculto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:r>
                  <a:rPr lang="en-US" dirty="0"/>
                  <a:t>       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F8CB8C-0F2B-7C4F-63CA-34C693F263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86401" y="1825624"/>
                <a:ext cx="6705600" cy="5032375"/>
              </a:xfrm>
              <a:blipFill>
                <a:blip r:embed="rId3"/>
                <a:stretch>
                  <a:fillRect l="-163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xmlns="" id="{377ED572-EE63-9E0B-64E3-7DF577A4C2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2605" y="5393637"/>
            <a:ext cx="466790" cy="46679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93818980-F547-0E5A-1FB3-02FC98C202F2}"/>
              </a:ext>
            </a:extLst>
          </p:cNvPr>
          <p:cNvGrpSpPr/>
          <p:nvPr/>
        </p:nvGrpSpPr>
        <p:grpSpPr>
          <a:xfrm>
            <a:off x="2225506" y="1747612"/>
            <a:ext cx="1483094" cy="4507363"/>
            <a:chOff x="2454106" y="1782434"/>
            <a:chExt cx="1483094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01A64FDC-EF69-BEDA-15E2-93E0F6665937}"/>
                    </a:ext>
                  </a:extLst>
                </p:cNvPr>
                <p:cNvSpPr/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1A64FDC-EF69-BEDA-15E2-93E0F66659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  <a:blipFill>
                  <a:blip r:embed="rId5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xmlns="" id="{186D7FAB-7118-5D20-2DBF-2FF3EAF87830}"/>
                    </a:ext>
                  </a:extLst>
                </p:cNvPr>
                <p:cNvSpPr/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86D7FAB-7118-5D20-2DBF-2FF3EAF8783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C07E56CD-571A-F75D-A1A7-7B928CD4CBCE}"/>
                    </a:ext>
                  </a:extLst>
                </p:cNvPr>
                <p:cNvSpPr/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C07E56CD-571A-F75D-A1A7-7B928CD4CB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xmlns="" id="{0DFE758E-AA0D-24E9-ACDD-5EB509378589}"/>
                    </a:ext>
                  </a:extLst>
                </p:cNvPr>
                <p:cNvSpPr/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DFE758E-AA0D-24E9-ACDD-5EB5093785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xmlns="" id="{536A747D-2D61-6719-5F86-0A8E352880D4}"/>
                    </a:ext>
                  </a:extLst>
                </p:cNvPr>
                <p:cNvSpPr/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36A747D-2D61-6719-5F86-0A8E352880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xmlns="" id="{2FE8CA7C-772F-3BB3-6BD7-E3F13B6038B0}"/>
                    </a:ext>
                  </a:extLst>
                </p:cNvPr>
                <p:cNvSpPr/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2FE8CA7C-772F-3BB3-6BD7-E3F13B6038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Diamond 14">
                  <a:extLst>
                    <a:ext uri="{FF2B5EF4-FFF2-40B4-BE49-F238E27FC236}">
                      <a16:creationId xmlns:a16="http://schemas.microsoft.com/office/drawing/2014/main" xmlns="" id="{59379733-07D8-5D46-149B-54EB96CC6129}"/>
                    </a:ext>
                  </a:extLst>
                </p:cNvPr>
                <p:cNvSpPr/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Diamond 14">
                  <a:extLst>
                    <a:ext uri="{FF2B5EF4-FFF2-40B4-BE49-F238E27FC236}">
                      <a16:creationId xmlns:a16="http://schemas.microsoft.com/office/drawing/2014/main" id="{59379733-07D8-5D46-149B-54EB96CC61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xmlns="" id="{BA8FA2A5-55CF-3204-8044-DC2B8D19B59B}"/>
                    </a:ext>
                  </a:extLst>
                </p:cNvPr>
                <p:cNvSpPr/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BA8FA2A5-55CF-3204-8044-DC2B8D19B59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  <a:blipFill>
                  <a:blip r:embed="rId12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xmlns="" id="{D74BCD5F-A26B-5098-88E1-CB8911BEF0B7}"/>
                </a:ext>
              </a:extLst>
            </p:cNvPr>
            <p:cNvCxnSpPr>
              <a:stCxn id="14" idx="0"/>
              <a:endCxn id="9" idx="2"/>
            </p:cNvCxnSpPr>
            <p:nvPr/>
          </p:nvCxnSpPr>
          <p:spPr>
            <a:xfrm flipH="1" flipV="1">
              <a:off x="2688106" y="566185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xmlns="" id="{D4D61A13-9F5D-8BB8-1C60-28D90D0C40B3}"/>
                </a:ext>
              </a:extLst>
            </p:cNvPr>
            <p:cNvCxnSpPr/>
            <p:nvPr/>
          </p:nvCxnSpPr>
          <p:spPr>
            <a:xfrm flipH="1" flipV="1">
              <a:off x="2691878" y="499791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xmlns="" id="{A6D5D1B1-5D0C-A928-E4A0-19B840DC8462}"/>
                </a:ext>
              </a:extLst>
            </p:cNvPr>
            <p:cNvCxnSpPr/>
            <p:nvPr/>
          </p:nvCxnSpPr>
          <p:spPr>
            <a:xfrm flipH="1" flipV="1">
              <a:off x="2688106" y="436996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41AE4C5E-26C8-56CF-D359-49E2A105C2BC}"/>
                </a:ext>
              </a:extLst>
            </p:cNvPr>
            <p:cNvCxnSpPr>
              <a:stCxn id="13" idx="0"/>
              <a:endCxn id="8" idx="2"/>
            </p:cNvCxnSpPr>
            <p:nvPr/>
          </p:nvCxnSpPr>
          <p:spPr>
            <a:xfrm flipV="1">
              <a:off x="2691878" y="2894299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xmlns="" id="{5C4D3998-08DD-3820-D170-02DFE501BF6A}"/>
                </a:ext>
              </a:extLst>
            </p:cNvPr>
            <p:cNvCxnSpPr>
              <a:stCxn id="15" idx="3"/>
              <a:endCxn id="11" idx="0"/>
            </p:cNvCxnSpPr>
            <p:nvPr/>
          </p:nvCxnSpPr>
          <p:spPr>
            <a:xfrm>
              <a:off x="3517900" y="3460750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xmlns="" id="{7029FFC5-80B8-0F57-67F9-B90CD57A4845}"/>
                </a:ext>
              </a:extLst>
            </p:cNvPr>
            <p:cNvCxnSpPr>
              <a:stCxn id="15" idx="1"/>
            </p:cNvCxnSpPr>
            <p:nvPr/>
          </p:nvCxnSpPr>
          <p:spPr>
            <a:xfrm flipH="1">
              <a:off x="2704578" y="3460750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Connector: Elbow 22">
              <a:extLst>
                <a:ext uri="{FF2B5EF4-FFF2-40B4-BE49-F238E27FC236}">
                  <a16:creationId xmlns:a16="http://schemas.microsoft.com/office/drawing/2014/main" xmlns="" id="{CD4A7C63-26B6-7B49-354D-6EA8E40614ED}"/>
                </a:ext>
              </a:extLst>
            </p:cNvPr>
            <p:cNvCxnSpPr>
              <a:cxnSpLocks/>
              <a:stCxn id="11" idx="2"/>
              <a:endCxn id="16" idx="6"/>
            </p:cNvCxnSpPr>
            <p:nvPr/>
          </p:nvCxnSpPr>
          <p:spPr>
            <a:xfrm rot="5400000">
              <a:off x="3101497" y="4180208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xmlns="" id="{3952B2F4-490F-BC90-DE7A-C07F43FC886C}"/>
                </a:ext>
              </a:extLst>
            </p:cNvPr>
            <p:cNvCxnSpPr/>
            <p:nvPr/>
          </p:nvCxnSpPr>
          <p:spPr>
            <a:xfrm flipH="1" flipV="1">
              <a:off x="2694721" y="222375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2371" y="1825625"/>
            <a:ext cx="5168993" cy="4351338"/>
          </a:xfrm>
        </p:spPr>
        <p:txBody>
          <a:bodyPr/>
          <a:lstStyle/>
          <a:p>
            <a:r>
              <a:rPr lang="pt-BR" dirty="0"/>
              <a:t>Representação simplificada do neurônio.</a:t>
            </a:r>
          </a:p>
          <a:p>
            <a:r>
              <a:rPr lang="pt-BR" dirty="0"/>
              <a:t>Bastante utilizada na literatura.</a:t>
            </a:r>
            <a:endParaRPr lang="en-US"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xmlns="" id="{F1FC8C81-094A-585B-4F3A-F0DE5D997784}"/>
              </a:ext>
            </a:extLst>
          </p:cNvPr>
          <p:cNvGrpSpPr/>
          <p:nvPr/>
        </p:nvGrpSpPr>
        <p:grpSpPr>
          <a:xfrm>
            <a:off x="1372959" y="2169687"/>
            <a:ext cx="3830414" cy="3478284"/>
            <a:chOff x="654502" y="2093487"/>
            <a:chExt cx="3830414" cy="3478284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xmlns="" id="{0310BD8F-0E7C-F10A-9C86-B2303040BE7D}"/>
                </a:ext>
              </a:extLst>
            </p:cNvPr>
            <p:cNvSpPr/>
            <p:nvPr/>
          </p:nvSpPr>
          <p:spPr>
            <a:xfrm>
              <a:off x="968829" y="2950029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xmlns="" id="{B7B0CC01-48A2-5CAE-7F49-62D52A2AF9AD}"/>
                </a:ext>
              </a:extLst>
            </p:cNvPr>
            <p:cNvSpPr/>
            <p:nvPr/>
          </p:nvSpPr>
          <p:spPr>
            <a:xfrm>
              <a:off x="2002971" y="4190999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xmlns="" id="{03DB30CA-971F-1223-BF82-5944AA83DAE8}"/>
                    </a:ext>
                  </a:extLst>
                </p:cNvPr>
                <p:cNvSpPr/>
                <p:nvPr/>
              </p:nvSpPr>
              <p:spPr>
                <a:xfrm>
                  <a:off x="963387" y="5139771"/>
                  <a:ext cx="432000" cy="432000"/>
                </a:xfrm>
                <a:prstGeom prst="ellipse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03DB30CA-971F-1223-BF82-5944AA83DA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387" y="5139771"/>
                  <a:ext cx="432000" cy="432000"/>
                </a:xfrm>
                <a:prstGeom prst="ellipse">
                  <a:avLst/>
                </a:prstGeom>
                <a:blipFill>
                  <a:blip r:embed="rId3"/>
                  <a:stretch>
                    <a:fillRect l="-13889" r="-12500" b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xmlns="" id="{88D081D5-3BD3-DB47-44D4-01356D923649}"/>
                </a:ext>
              </a:extLst>
            </p:cNvPr>
            <p:cNvCxnSpPr>
              <a:cxnSpLocks/>
              <a:stCxn id="28" idx="0"/>
              <a:endCxn id="25" idx="2"/>
            </p:cNvCxnSpPr>
            <p:nvPr/>
          </p:nvCxnSpPr>
          <p:spPr>
            <a:xfrm rot="5400000" flipH="1" flipV="1">
              <a:off x="1465137" y="4264479"/>
              <a:ext cx="589543" cy="1161042"/>
            </a:xfrm>
            <a:prstGeom prst="bentConnector3">
              <a:avLst>
                <a:gd name="adj1" fmla="val 70311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Connector: Elbow 34">
              <a:extLst>
                <a:ext uri="{FF2B5EF4-FFF2-40B4-BE49-F238E27FC236}">
                  <a16:creationId xmlns:a16="http://schemas.microsoft.com/office/drawing/2014/main" xmlns="" id="{C5432765-70CB-E050-EE29-01A4C98D1B3F}"/>
                </a:ext>
              </a:extLst>
            </p:cNvPr>
            <p:cNvCxnSpPr>
              <a:cxnSpLocks/>
              <a:stCxn id="25" idx="0"/>
            </p:cNvCxnSpPr>
            <p:nvPr/>
          </p:nvCxnSpPr>
          <p:spPr>
            <a:xfrm rot="5400000" flipH="1" flipV="1">
              <a:off x="2914652" y="2620736"/>
              <a:ext cx="996041" cy="214448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xmlns="" id="{C83DC4B7-2C13-1CCB-8C68-6B3BE9405B2B}"/>
                    </a:ext>
                  </a:extLst>
                </p:cNvPr>
                <p:cNvSpPr/>
                <p:nvPr/>
              </p:nvSpPr>
              <p:spPr>
                <a:xfrm>
                  <a:off x="3606600" y="2093487"/>
                  <a:ext cx="432000" cy="432000"/>
                </a:xfrm>
                <a:prstGeom prst="ellipse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C83DC4B7-2C13-1CCB-8C68-6B3BE9405B2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6600" y="2093487"/>
                  <a:ext cx="432000" cy="432000"/>
                </a:xfrm>
                <a:prstGeom prst="ellipse">
                  <a:avLst/>
                </a:prstGeom>
                <a:blipFill>
                  <a:blip r:embed="rId4"/>
                  <a:stretch>
                    <a:fillRect l="-20833" r="-12500" b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xmlns="" id="{E36D1BA2-8986-9A38-5DBF-FC5C2135B588}"/>
                </a:ext>
              </a:extLst>
            </p:cNvPr>
            <p:cNvCxnSpPr>
              <a:endCxn id="37" idx="4"/>
            </p:cNvCxnSpPr>
            <p:nvPr/>
          </p:nvCxnSpPr>
          <p:spPr>
            <a:xfrm flipV="1">
              <a:off x="3822600" y="2525487"/>
              <a:ext cx="0" cy="6694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xmlns="" id="{64662ABC-6DDD-AA92-96BF-BCFBA039FB72}"/>
                </a:ext>
              </a:extLst>
            </p:cNvPr>
            <p:cNvCxnSpPr>
              <a:cxnSpLocks/>
            </p:cNvCxnSpPr>
            <p:nvPr/>
          </p:nvCxnSpPr>
          <p:spPr>
            <a:xfrm>
              <a:off x="654502" y="3184071"/>
              <a:ext cx="921744" cy="1552235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</p:spPr>
            <p:txBody>
              <a:bodyPr/>
              <a:lstStyle/>
              <a:p>
                <a:r>
                  <a:rPr lang="pt-BR" dirty="0"/>
                  <a:t>Equações de atualização do estado e de saída do neurônio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pesos </a:t>
                </a:r>
                <a:r>
                  <a:rPr lang="en-US" dirty="0" err="1"/>
                  <a:t>são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dirty="0" err="1"/>
                  <a:t>todos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intervalos</a:t>
                </a:r>
                <a:r>
                  <a:rPr lang="en-US" dirty="0"/>
                  <a:t> de tempo.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dirty="0" err="1"/>
                  <a:t>tangente</a:t>
                </a:r>
                <a:r>
                  <a:rPr lang="en-US" dirty="0"/>
                  <a:t> </a:t>
                </a:r>
                <a:r>
                  <a:rPr lang="en-US" dirty="0" err="1"/>
                  <a:t>hiperbólica</a:t>
                </a:r>
                <a:r>
                  <a:rPr lang="en-US" dirty="0"/>
                  <a:t> (tanh).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  <a:blipFill>
                <a:blip r:embed="rId3"/>
                <a:stretch>
                  <a:fillRect l="-1532" t="-1937" r="-14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xmlns="" id="{24B21A8E-E596-0752-ABB3-DDE290A038F7}"/>
              </a:ext>
            </a:extLst>
          </p:cNvPr>
          <p:cNvGrpSpPr/>
          <p:nvPr/>
        </p:nvGrpSpPr>
        <p:grpSpPr>
          <a:xfrm>
            <a:off x="2225506" y="1747612"/>
            <a:ext cx="1483094" cy="4507363"/>
            <a:chOff x="2454106" y="1782434"/>
            <a:chExt cx="1483094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xmlns="" id="{48C80E92-14C9-01F0-8DC8-2E63A00BB223}"/>
                    </a:ext>
                  </a:extLst>
                </p:cNvPr>
                <p:cNvSpPr/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48C80E92-14C9-01F0-8DC8-2E63A00BB22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xmlns="" id="{8D681600-DE64-6E97-06BB-EDCA0D68B898}"/>
                    </a:ext>
                  </a:extLst>
                </p:cNvPr>
                <p:cNvSpPr/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8D681600-DE64-6E97-06BB-EDCA0D68B89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  <a:blipFill>
                  <a:blip r:embed="rId5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xmlns="" id="{9DCA2272-8C0C-B896-9826-E54FBA0FE64C}"/>
                    </a:ext>
                  </a:extLst>
                </p:cNvPr>
                <p:cNvSpPr/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9DCA2272-8C0C-B896-9826-E54FBA0FE64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xmlns="" id="{33BC30A3-21C6-CC65-3BE1-E00A8369C8D6}"/>
                    </a:ext>
                  </a:extLst>
                </p:cNvPr>
                <p:cNvSpPr/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33BC30A3-21C6-CC65-3BE1-E00A8369C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xmlns="" id="{6BADA7E3-1C7D-B324-5E45-068ED77CE8B2}"/>
                    </a:ext>
                  </a:extLst>
                </p:cNvPr>
                <p:cNvSpPr/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36A747D-2D61-6719-5F86-0A8E352880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xmlns="" id="{36597884-C966-E4A2-1EDB-3DAB2C2DF642}"/>
                    </a:ext>
                  </a:extLst>
                </p:cNvPr>
                <p:cNvSpPr/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2FE8CA7C-772F-3BB3-6BD7-E3F13B6038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Diamond 44">
                  <a:extLst>
                    <a:ext uri="{FF2B5EF4-FFF2-40B4-BE49-F238E27FC236}">
                      <a16:creationId xmlns:a16="http://schemas.microsoft.com/office/drawing/2014/main" xmlns="" id="{44CD1704-9F4B-7614-C983-EC06D8823ADD}"/>
                    </a:ext>
                  </a:extLst>
                </p:cNvPr>
                <p:cNvSpPr/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Diamond 14">
                  <a:extLst>
                    <a:ext uri="{FF2B5EF4-FFF2-40B4-BE49-F238E27FC236}">
                      <a16:creationId xmlns:a16="http://schemas.microsoft.com/office/drawing/2014/main" id="{59379733-07D8-5D46-149B-54EB96CC61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xmlns="" id="{B4687A43-B7BF-FC67-428F-19AAB9F01D26}"/>
                    </a:ext>
                  </a:extLst>
                </p:cNvPr>
                <p:cNvSpPr/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BA8FA2A5-55CF-3204-8044-DC2B8D19B59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  <a:blipFill>
                  <a:blip r:embed="rId12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F47C8075-E677-7E77-992F-CBAA22C9A20D}"/>
                </a:ext>
              </a:extLst>
            </p:cNvPr>
            <p:cNvCxnSpPr>
              <a:stCxn id="44" idx="0"/>
              <a:endCxn id="40" idx="2"/>
            </p:cNvCxnSpPr>
            <p:nvPr/>
          </p:nvCxnSpPr>
          <p:spPr>
            <a:xfrm flipH="1" flipV="1">
              <a:off x="2688106" y="566185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xmlns="" id="{79B07ABA-1F34-A866-F6AE-C6374482977A}"/>
                </a:ext>
              </a:extLst>
            </p:cNvPr>
            <p:cNvCxnSpPr/>
            <p:nvPr/>
          </p:nvCxnSpPr>
          <p:spPr>
            <a:xfrm flipH="1" flipV="1">
              <a:off x="2691878" y="499791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A28FEB4E-C9B5-452A-41C9-8829FFF5252F}"/>
                </a:ext>
              </a:extLst>
            </p:cNvPr>
            <p:cNvCxnSpPr/>
            <p:nvPr/>
          </p:nvCxnSpPr>
          <p:spPr>
            <a:xfrm flipH="1" flipV="1">
              <a:off x="2688106" y="436996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xmlns="" id="{DEA95CBE-A623-F33B-9C69-EB087DE22470}"/>
                </a:ext>
              </a:extLst>
            </p:cNvPr>
            <p:cNvCxnSpPr>
              <a:stCxn id="43" idx="0"/>
              <a:endCxn id="39" idx="2"/>
            </p:cNvCxnSpPr>
            <p:nvPr/>
          </p:nvCxnSpPr>
          <p:spPr>
            <a:xfrm flipV="1">
              <a:off x="2691878" y="2894299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Connector: Elbow 50">
              <a:extLst>
                <a:ext uri="{FF2B5EF4-FFF2-40B4-BE49-F238E27FC236}">
                  <a16:creationId xmlns:a16="http://schemas.microsoft.com/office/drawing/2014/main" xmlns="" id="{D2F72A6A-C9B6-97A0-D67B-09F2B17B4D0C}"/>
                </a:ext>
              </a:extLst>
            </p:cNvPr>
            <p:cNvCxnSpPr>
              <a:stCxn id="45" idx="3"/>
              <a:endCxn id="41" idx="0"/>
            </p:cNvCxnSpPr>
            <p:nvPr/>
          </p:nvCxnSpPr>
          <p:spPr>
            <a:xfrm>
              <a:off x="3517900" y="3460750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xmlns="" id="{12AD9BC8-B6BB-BE6A-4257-F93675D1F7A1}"/>
                </a:ext>
              </a:extLst>
            </p:cNvPr>
            <p:cNvCxnSpPr>
              <a:stCxn id="45" idx="1"/>
            </p:cNvCxnSpPr>
            <p:nvPr/>
          </p:nvCxnSpPr>
          <p:spPr>
            <a:xfrm flipH="1">
              <a:off x="2704578" y="3460750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Connector: Elbow 52">
              <a:extLst>
                <a:ext uri="{FF2B5EF4-FFF2-40B4-BE49-F238E27FC236}">
                  <a16:creationId xmlns:a16="http://schemas.microsoft.com/office/drawing/2014/main" xmlns="" id="{EB97BFAB-B73F-6C46-1F34-886A2489EA05}"/>
                </a:ext>
              </a:extLst>
            </p:cNvPr>
            <p:cNvCxnSpPr>
              <a:cxnSpLocks/>
              <a:stCxn id="41" idx="2"/>
              <a:endCxn id="46" idx="6"/>
            </p:cNvCxnSpPr>
            <p:nvPr/>
          </p:nvCxnSpPr>
          <p:spPr>
            <a:xfrm rot="5400000">
              <a:off x="3101497" y="4180208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xmlns="" id="{C5B9F570-C6A4-8F71-2B37-1F5F88E5EDDA}"/>
                </a:ext>
              </a:extLst>
            </p:cNvPr>
            <p:cNvCxnSpPr/>
            <p:nvPr/>
          </p:nvCxnSpPr>
          <p:spPr>
            <a:xfrm flipH="1" flipV="1">
              <a:off x="2694721" y="222375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316F952-34AF-BA6E-B7BC-56FB84A3F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Desdobrando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30A4886-E5F5-4A0C-632C-A874615BA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96300" y="1825624"/>
            <a:ext cx="3695700" cy="5032375"/>
          </a:xfrm>
        </p:spPr>
        <p:txBody>
          <a:bodyPr>
            <a:normAutofit/>
          </a:bodyPr>
          <a:lstStyle/>
          <a:p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podem ser vistas como múltiplas cópias da mesma rede, cada uma passando uma mensagem para a sua sucessora.</a:t>
            </a:r>
          </a:p>
          <a:p>
            <a:r>
              <a:rPr lang="pt-BR" dirty="0"/>
              <a:t>É como se tivéssemos uma rede com várias camadas.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21DBF9CD-22BC-BF23-C3DB-8A0935A9334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20" y="169068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2106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812F95D-ED92-C388-CC49-D8F09C885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62609EE-8280-8794-483C-637881745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Desdobrando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71BBBBA-8C71-1CFD-F648-D5836DBC94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96300" y="1825624"/>
            <a:ext cx="3695700" cy="5032375"/>
          </a:xfrm>
        </p:spPr>
        <p:txBody>
          <a:bodyPr>
            <a:normAutofit/>
          </a:bodyPr>
          <a:lstStyle/>
          <a:p>
            <a:r>
              <a:rPr lang="pt-BR" dirty="0"/>
              <a:t>A mesma função e o mesmo conjunto de pesos são usados ​​em cada passo de tempo.</a:t>
            </a:r>
          </a:p>
          <a:p>
            <a:r>
              <a:rPr lang="pt-BR" dirty="0"/>
              <a:t>São chamadas recorrentes porque executam a mesma tarefa para cada entrada.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8315E294-5B43-04E7-8028-22C59DA3BF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20" y="169068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1077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941620E-F055-A200-7D54-3C89067DA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FB90F1A-97F6-4A2B-EB59-AE9A21F31F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10926" cy="5032376"/>
          </a:xfrm>
        </p:spPr>
        <p:txBody>
          <a:bodyPr/>
          <a:lstStyle/>
          <a:p>
            <a:r>
              <a:rPr lang="pt-BR" dirty="0"/>
              <a:t>Os pesos são atualizados usando o gradiente descendente.</a:t>
            </a:r>
          </a:p>
          <a:p>
            <a:r>
              <a:rPr lang="pt-BR" dirty="0"/>
              <a:t>Uma função de erro (EQM, EQ, etc.) é avaliada com base no erro cometido pela rede no conjunto de treinamento.</a:t>
            </a:r>
          </a:p>
          <a:p>
            <a:r>
              <a:rPr lang="pt-BR" dirty="0"/>
              <a:t>A derivada da função de perda, em relação aos parâmetros do modelo, é retropropagada através da rede.</a:t>
            </a:r>
          </a:p>
          <a:p>
            <a:r>
              <a:rPr lang="pt-BR" dirty="0"/>
              <a:t>Os pesos são ajustados até que um critério de parada seja atendido: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número máximo de épocas é atingido.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função de perda para de diminuir.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1994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856341B-8DD5-B4D0-04B5-B1D29CAF8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5999" cy="5032376"/>
          </a:xfrm>
        </p:spPr>
        <p:txBody>
          <a:bodyPr>
            <a:normAutofit/>
          </a:bodyPr>
          <a:lstStyle/>
          <a:p>
            <a:r>
              <a:rPr lang="pt-BR" dirty="0"/>
              <a:t>Para treinar a rede, primeiro a desdobramos e depois aplicamos a retropropagação do erro tradicional.</a:t>
            </a:r>
          </a:p>
          <a:p>
            <a:r>
              <a:rPr lang="pt-BR" dirty="0"/>
              <a:t>Cada réplica da rede é relativa a um intervalo de tempo diferente.</a:t>
            </a:r>
          </a:p>
          <a:p>
            <a:r>
              <a:rPr lang="pt-BR" dirty="0"/>
              <a:t>A arquitetura da rede pode se tornar muito profunda.</a:t>
            </a:r>
          </a:p>
          <a:p>
            <a:r>
              <a:rPr lang="pt-BR" dirty="0"/>
              <a:t>Os pesos são mantidos constantes em cada intervalo de tempo.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E0D16130-635A-563B-0B23-54F9982484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 diferença entre a saída e o valor desejado é avaliada por uma função de erro ao longo de todos os passos de tempo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−1]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Por </a:t>
                </a:r>
                <a:r>
                  <a:rPr lang="en-US" dirty="0" err="1"/>
                  <a:t>exemplo</a:t>
                </a:r>
                <a:r>
                  <a:rPr lang="en-US" dirty="0"/>
                  <a:t>, </a:t>
                </a:r>
                <a:r>
                  <a:rPr lang="en-US" dirty="0" err="1"/>
                  <a:t>usando</a:t>
                </a:r>
                <a:r>
                  <a:rPr lang="en-US" dirty="0"/>
                  <a:t> a retropropagação para </a:t>
                </a:r>
                <a:r>
                  <a:rPr lang="en-US" dirty="0" err="1"/>
                  <a:t>encontrar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</a:t>
                </a:r>
                <a:r>
                  <a:rPr lang="en-US" dirty="0"/>
                  <a:t> com </a:t>
                </a:r>
                <a:r>
                  <a:rPr lang="en-US" dirty="0" err="1"/>
                  <a:t>relação</a:t>
                </a:r>
                <a:r>
                  <a:rPr lang="en-US" dirty="0"/>
                  <a:t> </a:t>
                </a:r>
                <a:r>
                  <a:rPr lang="en-US" dirty="0" err="1"/>
                  <a:t>aos</a:t>
                </a:r>
                <a:r>
                  <a:rPr lang="en-US" dirty="0"/>
                  <a:t> pesos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:r>
                  <a:rPr lang="en-US" dirty="0" err="1"/>
                  <a:t>temos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O primeiro e o segundo fatores do produto são fáceis de calcular. O terceiro é onde as coisas ficam complicadas, já que precisamos calcular recursivamente o efeito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2663" b="-8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Somamos as contribuições de cada passo de tempo para obter o gradiente.</a:t>
                </a:r>
              </a:p>
              <a:p>
                <a:r>
                  <a:rPr lang="pt-BR" dirty="0"/>
                  <a:t>Com uma sequência muito longa, temos uma profundidade intratável, o que torna o treinamento muito lento.</a:t>
                </a:r>
              </a:p>
              <a:p>
                <a:r>
                  <a:rPr lang="pt-BR" dirty="0"/>
                  <a:t>O que se faz na prática é repetir o procedimento apenas até um determinado instante de tempo,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Esse processo é chamado de BPPT truncado.</a:t>
                </a:r>
              </a:p>
              <a:p>
                <a:r>
                  <a:rPr lang="pt-BR" dirty="0"/>
                  <a:t>Por que isso funciona? Porque cada estado carrega um pouco de informação de cada entrada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b="-3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A74086D-26FF-58C0-0D8C-43E088D7A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D17322D7-1E5D-8654-5448-A6C0D6748A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r>
                  <a:rPr lang="en-US" dirty="0"/>
                  <a:t>Durante o </a:t>
                </a:r>
                <a:r>
                  <a:rPr lang="en-US" dirty="0" err="1"/>
                  <a:t>treinamento</a:t>
                </a:r>
                <a:r>
                  <a:rPr lang="en-US" dirty="0"/>
                  <a:t>, o BPTT </a:t>
                </a:r>
                <a:r>
                  <a:rPr lang="en-US" dirty="0" err="1"/>
                  <a:t>aplica</a:t>
                </a:r>
                <a:r>
                  <a:rPr lang="en-US" dirty="0"/>
                  <a:t> a </a:t>
                </a:r>
                <a:r>
                  <a:rPr lang="en-US" dirty="0" err="1"/>
                  <a:t>regra</a:t>
                </a:r>
                <a:r>
                  <a:rPr lang="en-US" dirty="0"/>
                  <a:t> da </a:t>
                </a:r>
                <a:r>
                  <a:rPr lang="en-US" dirty="0" err="1"/>
                  <a:t>cadeia</a:t>
                </a:r>
                <a:r>
                  <a:rPr lang="en-US" dirty="0"/>
                  <a:t> </a:t>
                </a:r>
                <a:r>
                  <a:rPr lang="en-US" dirty="0" err="1"/>
                  <a:t>ao</a:t>
                </a:r>
                <a:r>
                  <a:rPr lang="en-US" dirty="0"/>
                  <a:t> </a:t>
                </a:r>
                <a:r>
                  <a:rPr lang="en-US" dirty="0" err="1"/>
                  <a:t>longo</a:t>
                </a:r>
                <a:r>
                  <a:rPr lang="en-US" dirty="0"/>
                  <a:t> de </a:t>
                </a:r>
                <a:r>
                  <a:rPr lang="en-US" dirty="0" err="1"/>
                  <a:t>vários</a:t>
                </a:r>
                <a:r>
                  <a:rPr lang="en-US" dirty="0"/>
                  <a:t> </a:t>
                </a:r>
                <a:r>
                  <a:rPr lang="en-US" dirty="0" err="1"/>
                  <a:t>passos</a:t>
                </a:r>
                <a:r>
                  <a:rPr lang="en-US" dirty="0"/>
                  <a:t> no tempo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 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−2]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gradiente envolve um </a:t>
                </a:r>
                <a:r>
                  <a:rPr lang="pt-BR" b="1" dirty="0"/>
                  <a:t>produto de muitas derivadas sucessivas</a:t>
                </a:r>
                <a:r>
                  <a:rPr lang="pt-BR" dirty="0"/>
                  <a:t>.</a:t>
                </a:r>
              </a:p>
              <a:p>
                <a:endParaRPr lang="pt-BR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48887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B29E5B8-582B-19A9-B4A3-70C373402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dirty="0"/>
              <a:t>Se cada termo &lt; 1 → produto → </a:t>
            </a:r>
            <a:r>
              <a:rPr lang="pt-BR" b="1" dirty="0"/>
              <a:t>vai para zero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rede </a:t>
            </a:r>
            <a:r>
              <a:rPr lang="pt-BR" b="1" dirty="0"/>
              <a:t>esquece o passado mais distante </a:t>
            </a:r>
            <a:r>
              <a:rPr lang="pt-BR" dirty="0"/>
              <a:t>(informação antiga se perde).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aprende </a:t>
            </a:r>
            <a:r>
              <a:rPr lang="pt-BR" b="1" dirty="0"/>
              <a:t>dependências de longo prazo, apenas curtas.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 muito lento ou estagnado.</a:t>
            </a:r>
          </a:p>
          <a:p>
            <a:r>
              <a:rPr lang="pt-BR" dirty="0"/>
              <a:t>Se cada termo &gt; 1 → produto → </a:t>
            </a:r>
            <a:r>
              <a:rPr lang="pt-BR" b="1" dirty="0"/>
              <a:t>explode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Modelo </a:t>
            </a:r>
            <a:r>
              <a:rPr lang="en-US" dirty="0" err="1"/>
              <a:t>não</a:t>
            </a:r>
            <a:r>
              <a:rPr lang="en-US" dirty="0"/>
              <a:t> converge.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Atualizações de peso enormes.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 instável: erro vira </a:t>
            </a:r>
            <a:r>
              <a:rPr lang="pt-BR" dirty="0" err="1"/>
              <a:t>NaN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Sintoma típico: </a:t>
            </a:r>
            <a:r>
              <a:rPr lang="en-US" dirty="0" err="1"/>
              <a:t>oscilação</a:t>
            </a:r>
            <a:r>
              <a:rPr lang="en-US" dirty="0"/>
              <a:t> do </a:t>
            </a:r>
            <a:r>
              <a:rPr lang="en-US" dirty="0" err="1"/>
              <a:t>erro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sz="600" dirty="0"/>
          </a:p>
          <a:p>
            <a:pPr marL="0" indent="0" algn="ctr">
              <a:buNone/>
            </a:pPr>
            <a:r>
              <a:rPr lang="pt-BR" b="1" dirty="0" err="1">
                <a:solidFill>
                  <a:schemeClr val="accent2"/>
                </a:solidFill>
              </a:rPr>
              <a:t>RNNs</a:t>
            </a:r>
            <a:r>
              <a:rPr lang="pt-BR" b="1" dirty="0">
                <a:solidFill>
                  <a:schemeClr val="accent2"/>
                </a:solidFill>
              </a:rPr>
              <a:t> simples não aprendem dependências longas</a:t>
            </a:r>
            <a:endParaRPr lang="en-US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conceito de </a:t>
                </a:r>
                <a:r>
                  <a:rPr lang="pt-BR" sz="2100" i="1" dirty="0" err="1"/>
                  <a:t>gates</a:t>
                </a:r>
                <a:r>
                  <a:rPr lang="pt-BR" sz="2100" dirty="0"/>
                  <a:t>, funcionando como válvulas </a:t>
                </a:r>
                <a:r>
                  <a:rPr lang="en-US" sz="2100" dirty="0"/>
                  <a:t>de </a:t>
                </a:r>
                <a:r>
                  <a:rPr lang="en-US" sz="2100" dirty="0" err="1"/>
                  <a:t>informação</a:t>
                </a:r>
                <a:r>
                  <a:rPr lang="en-US" sz="2100" dirty="0"/>
                  <a:t> e </a:t>
                </a:r>
                <a:r>
                  <a:rPr lang="en-US" sz="2100" dirty="0" err="1"/>
                  <a:t>gradiente</a:t>
                </a:r>
                <a:endParaRPr lang="pt-BR" sz="2100" dirty="0"/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Mantêm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Conexões residuais: criam caminhos diretos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65656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73690" cy="5032375"/>
          </a:xfrm>
        </p:spPr>
        <p:txBody>
          <a:bodyPr>
            <a:normAutofit/>
          </a:bodyPr>
          <a:lstStyle/>
          <a:p>
            <a:r>
              <a:rPr lang="pt-BR" dirty="0"/>
              <a:t>Devido ao desaparecimento do gradiente, as </a:t>
            </a:r>
            <a:r>
              <a:rPr lang="pt-BR" dirty="0" err="1"/>
              <a:t>RNNs</a:t>
            </a:r>
            <a:r>
              <a:rPr lang="pt-BR" dirty="0"/>
              <a:t> tradicionais (baunilha) são incapazes de aprender dependências de longo prazo.</a:t>
            </a:r>
          </a:p>
          <a:p>
            <a:r>
              <a:rPr lang="pt-BR" dirty="0"/>
              <a:t>Algumas aplicações exigem dependências tanto de curto quanto de longo prazo.</a:t>
            </a:r>
          </a:p>
          <a:p>
            <a:r>
              <a:rPr lang="pt-BR" b="1" dirty="0"/>
              <a:t>Exemplo</a:t>
            </a:r>
            <a:r>
              <a:rPr lang="pt-BR" dirty="0"/>
              <a:t>: Processamento de Linguagem Natural (PLN).</a:t>
            </a:r>
          </a:p>
          <a:p>
            <a:r>
              <a:rPr lang="pt-BR" dirty="0"/>
              <a:t>Em alguns casos, dependências de curto prazo são suficientes para fazer previsões.</a:t>
            </a:r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265718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ao lado RNN para fazer uma previsão de um passo à frente.</a:t>
            </a:r>
          </a:p>
          <a:p>
            <a:r>
              <a:rPr lang="pt-BR" dirty="0"/>
              <a:t>Para prever a palavra “azul", basta olhar apenas dois passos para trás no tempo.</a:t>
            </a:r>
          </a:p>
          <a:p>
            <a:r>
              <a:rPr lang="pt-BR" dirty="0"/>
              <a:t>Nesse caso, basta </a:t>
            </a:r>
            <a:r>
              <a:rPr lang="pt-BR" dirty="0" err="1"/>
              <a:t>retropropagar</a:t>
            </a:r>
            <a:r>
              <a:rPr lang="pt-BR" dirty="0"/>
              <a:t> o gradiente dois passos para trás para aprender essa tarefa com sucesso.</a:t>
            </a:r>
          </a:p>
          <a:p>
            <a:r>
              <a:rPr lang="pt-BR" dirty="0"/>
              <a:t>Porém, existem casos em que a RNN precisa de mais contexto.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F37B8F14-0842-D92A-805B-AF9783C1791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4603" y="2200781"/>
            <a:ext cx="3818548" cy="329601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C53011F6-166D-E866-27C5-69A2EF65F07A}"/>
              </a:ext>
            </a:extLst>
          </p:cNvPr>
          <p:cNvSpPr/>
          <p:nvPr/>
        </p:nvSpPr>
        <p:spPr>
          <a:xfrm>
            <a:off x="3314699" y="2306782"/>
            <a:ext cx="716973" cy="11222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6530" y="1825624"/>
            <a:ext cx="5885469" cy="5032375"/>
          </a:xfrm>
        </p:spPr>
        <p:txBody>
          <a:bodyPr>
            <a:normAutofit/>
          </a:bodyPr>
          <a:lstStyle/>
          <a:p>
            <a:r>
              <a:rPr lang="pt-BR" dirty="0"/>
              <a:t>Vamos nos ater à previsão de um passo à frente.</a:t>
            </a:r>
          </a:p>
          <a:p>
            <a:r>
              <a:rPr lang="pt-BR" dirty="0"/>
              <a:t>Considere a frase: </a:t>
            </a:r>
          </a:p>
          <a:p>
            <a:pPr marL="457200" lvl="1" indent="0" algn="ctr">
              <a:buNone/>
            </a:pPr>
            <a:r>
              <a:rPr lang="pt-BR" dirty="0"/>
              <a:t>“Sou de Roma. Nasci há 30 anos. Gosto de comer bem e andar de bicicleta. Minha língua materna é o italiano.”</a:t>
            </a:r>
          </a:p>
          <a:p>
            <a:r>
              <a:rPr lang="pt-BR" dirty="0"/>
              <a:t>Quando queremos prever a palavra "italiano", temos que olhar vários passos para trás no tempo, até a palavra "Roma".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C111A3CC-9C99-E6FB-E930-1F4CA005605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dirty="0"/>
              <a:t>Nesse caso, a memória de curto prazo da RNN baunilha não seria suficiente.</a:t>
            </a:r>
          </a:p>
          <a:p>
            <a:r>
              <a:rPr lang="pt-BR" dirty="0"/>
              <a:t>À medida que o intervalo de tempo aumenta, torna-se mais difícil para uma RNN lidar com o problema.</a:t>
            </a:r>
          </a:p>
          <a:p>
            <a:r>
              <a:rPr lang="pt-BR" dirty="0"/>
              <a:t>Vamos ver como redes de </a:t>
            </a:r>
            <a:r>
              <a:rPr lang="pt-BR" b="1" dirty="0"/>
              <a:t>memória de curto longo prazo (</a:t>
            </a:r>
            <a:r>
              <a:rPr lang="pt-BR" b="1" i="1" dirty="0" err="1"/>
              <a:t>long</a:t>
            </a:r>
            <a:r>
              <a:rPr lang="pt-BR" b="1" i="1" dirty="0"/>
              <a:t>-short </a:t>
            </a:r>
            <a:r>
              <a:rPr lang="pt-BR" b="1" i="1" dirty="0" err="1"/>
              <a:t>term</a:t>
            </a:r>
            <a:r>
              <a:rPr lang="pt-BR" b="1" i="1" dirty="0"/>
              <a:t> </a:t>
            </a:r>
            <a:r>
              <a:rPr lang="pt-BR" b="1" i="1" dirty="0" err="1"/>
              <a:t>memory</a:t>
            </a:r>
            <a:r>
              <a:rPr lang="pt-BR" b="1" dirty="0"/>
              <a:t> – LSTM) </a:t>
            </a:r>
            <a:r>
              <a:rPr lang="pt-BR" dirty="0"/>
              <a:t>podem lidar com essa dificuldade.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160C21FF-66C9-53B5-BFCF-188EFAC10A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618292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&amp;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diversos problemas e são amplamente utilizadas atualmente.</a:t>
            </a:r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, elas precisam ser desdobradas no tempo para serem treinadas.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D0DC87B8-4F6E-CEB2-D403-2F7BDDB3D72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4250" y="3764595"/>
            <a:ext cx="7683500" cy="3093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A unidade de processamento da LSTM é mais complexa e é chamada de célula.</a:t>
            </a:r>
          </a:p>
          <a:p>
            <a:r>
              <a:rPr lang="pt-BR" dirty="0"/>
              <a:t>Uma célula LSTM é composta por 4 camadas, que interagem entre si de uma maneira especial.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06E3CB25-4857-9D5B-2AC8-7BC55E4DE77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9300" y="3537312"/>
            <a:ext cx="8153400" cy="3282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Estado da célula e portas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43600" y="1825624"/>
                <a:ext cx="62484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estado de uma célula no instante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 LSTM modifica o estado apenas por meio de interações lineares: a informação flui suavemente ao longo do tempo.</a:t>
                </a:r>
              </a:p>
              <a:p>
                <a:r>
                  <a:rPr lang="pt-BR" dirty="0"/>
                  <a:t>A LSTM protege e controla a informação na célula por meio de 3 portas.</a:t>
                </a:r>
              </a:p>
              <a:p>
                <a:r>
                  <a:rPr lang="pt-BR" dirty="0"/>
                  <a:t>As portas são implementadas por uma função sigmoide e uma multiplicação pontual.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43600" y="1825624"/>
                <a:ext cx="6248400" cy="5032375"/>
              </a:xfrm>
              <a:blipFill>
                <a:blip r:embed="rId2"/>
                <a:stretch>
                  <a:fillRect l="-1756" t="-1937" r="-2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16CF6AB8-1619-4CC1-DEEE-C177B6C0F7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5533" y="5187067"/>
            <a:ext cx="1091750" cy="158291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03E77964-877A-9521-4053-D644BDEBD56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001" y="1690688"/>
            <a:ext cx="5115148" cy="3269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48953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Porta de </a:t>
            </a:r>
            <a:r>
              <a:rPr lang="en-US" dirty="0" err="1"/>
              <a:t>esquecimento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92982" y="1825624"/>
                <a:ext cx="599901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Decida quais informações devem ser descartadas do estado da célula.</a:t>
                </a:r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da célula anterior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de PLN: o estado da célula mantém o gênero do sujeito presente para usar os pronomes corretos.</a:t>
                </a:r>
              </a:p>
              <a:p>
                <a:r>
                  <a:rPr lang="pt-BR" dirty="0"/>
                  <a:t>Ao ver um novo sujeito, esqueça o gênero do sujeito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92982" y="1825624"/>
                <a:ext cx="5999018" cy="5032375"/>
              </a:xfrm>
              <a:blipFill>
                <a:blip r:embed="rId2"/>
                <a:stretch>
                  <a:fillRect l="-1829" t="-1937" r="-9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1E6B41EB-3934-DA18-8CAB-1A2E9802405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853" y="2535366"/>
            <a:ext cx="5115148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LSTM </a:t>
            </a:r>
            <a:r>
              <a:rPr lang="pt-BR" dirty="0" err="1" smtClean="0"/>
              <a:t>funciobam</a:t>
            </a:r>
            <a:r>
              <a:rPr lang="pt-BR" dirty="0" smtClean="0"/>
              <a:t> como redes residuais. </a:t>
            </a:r>
          </a:p>
          <a:p>
            <a:r>
              <a:rPr lang="pt-BR" dirty="0" smtClean="0"/>
              <a:t>Mitigam o desaparecimento do gradiente pelo caminho de cima </a:t>
            </a:r>
            <a:r>
              <a:rPr lang="pt-BR" smtClean="0"/>
              <a:t>da célula.</a:t>
            </a:r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97164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EBB02C5-D493-4CC7-3754-1A41C3082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C697E1BC-1A39-E40B-7547-5FF1805515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5704" y="1118865"/>
            <a:ext cx="9440592" cy="4620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8025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788323" y="2873029"/>
            <a:ext cx="10515600" cy="106720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LSTM</a:t>
            </a:r>
          </a:p>
        </p:txBody>
      </p:sp>
    </p:spTree>
    <p:extLst>
      <p:ext uri="{BB962C8B-B14F-4D97-AF65-F5344CB8AC3E}">
        <p14:creationId xmlns:p14="http://schemas.microsoft.com/office/powerpoint/2010/main" val="38633316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 para LSTM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Resolver dependências longas</a:t>
            </a:r>
          </a:p>
          <a:p>
            <a:r>
              <a:rPr lang="pt-BR" dirty="0"/>
              <a:t>Evitar </a:t>
            </a:r>
            <a:r>
              <a:rPr lang="pt-BR" dirty="0" err="1"/>
              <a:t>vanishing</a:t>
            </a:r>
            <a:r>
              <a:rPr lang="pt-BR" dirty="0"/>
              <a:t> </a:t>
            </a:r>
            <a:r>
              <a:rPr lang="pt-BR" dirty="0" err="1"/>
              <a:t>gradient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436546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788323" y="2873029"/>
            <a:ext cx="10515600" cy="106720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Variantes</a:t>
            </a:r>
          </a:p>
        </p:txBody>
      </p:sp>
    </p:spTree>
    <p:extLst>
      <p:ext uri="{BB962C8B-B14F-4D97-AF65-F5344CB8AC3E}">
        <p14:creationId xmlns:p14="http://schemas.microsoft.com/office/powerpoint/2010/main" val="28377013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Variantes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GRU</a:t>
            </a:r>
          </a:p>
          <a:p>
            <a:pPr lvl="1"/>
            <a:r>
              <a:rPr lang="pt-BR" dirty="0"/>
              <a:t>Versão simplificada</a:t>
            </a:r>
          </a:p>
          <a:p>
            <a:pPr lvl="1"/>
            <a:r>
              <a:rPr lang="pt-BR" dirty="0"/>
              <a:t>Menos parâmetros</a:t>
            </a:r>
          </a:p>
          <a:p>
            <a:pPr lvl="1"/>
            <a:r>
              <a:rPr lang="pt-BR" dirty="0"/>
              <a:t>Frequentemente mais rápida de treinar. </a:t>
            </a:r>
          </a:p>
          <a:p>
            <a:r>
              <a:rPr lang="pt-BR" dirty="0" err="1"/>
              <a:t>Bidirectional</a:t>
            </a:r>
            <a:r>
              <a:rPr lang="pt-BR" dirty="0"/>
              <a:t> RNN</a:t>
            </a:r>
          </a:p>
          <a:p>
            <a:pPr lvl="1"/>
            <a:r>
              <a:rPr lang="pt-BR" dirty="0"/>
              <a:t>Considera passado e futuro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2048193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xmlns="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xmlns="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xmlns="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xmlns="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xmlns="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xmlns="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xmlns="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xmlns="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xmlns="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xmlns="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xmlns="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xmlns="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xmlns="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xmlns="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xmlns="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xmlns="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xmlns="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xmlns="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xmlns="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xmlns="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xmlns="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xmlns="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xmlns="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xmlns="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xmlns="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xmlns="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xmlns="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xmlns="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3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xmlns="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xmlns="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xmlns="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xmlns="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xmlns="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6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xmlns="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xmlns="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xmlns="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xmlns="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xmlns="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xmlns="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xmlns="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xmlns="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7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xmlns="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xmlns="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xmlns="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xmlns="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xmlns="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xmlns="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xmlns="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xmlns="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xmlns="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xmlns="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xmlns="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xmlns="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xmlns="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xmlns="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:a16="http://schemas.microsoft.com/office/drawing/2014/main" xmlns="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xmlns="" id="{7038FDD0-F92D-0792-1189-9D15218C870B}"/>
                </a:ext>
              </a:extLst>
            </p:cNvPr>
            <p:cNvSpPr txBox="1"/>
            <p:nvPr/>
          </p:nvSpPr>
          <p:spPr>
            <a:xfrm>
              <a:off x="2317060" y="3843004"/>
              <a:ext cx="11609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desdobrando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xmlns="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xmlns="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xmlns="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xmlns="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xmlns="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xmlns="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xmlns="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xmlns="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xmlns="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xmlns="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xmlns="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xmlns="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xmlns="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xmlns="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xmlns="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xmlns="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xmlns="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xmlns="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xmlns="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xmlns="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xmlns="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xmlns="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xmlns="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xmlns="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xmlns="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xmlns="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xmlns="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xmlns="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xmlns="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xmlns="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xmlns="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xmlns="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xmlns="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xmlns="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xmlns="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xmlns="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xmlns="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xmlns="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xmlns="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xmlns="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xmlns="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xmlns="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xmlns="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xmlns="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xmlns="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xmlns="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xmlns="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xmlns="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xmlns="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xmlns="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xmlns="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xmlns="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xmlns="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xmlns="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xmlns="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xmlns="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xmlns="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xmlns="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xmlns="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xmlns="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xmlns="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xmlns="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xmlns="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xmlns="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xmlns="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xmlns="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xmlns="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xmlns="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xmlns="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xmlns="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xmlns="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xmlns="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xmlns="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xmlns="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xmlns="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xmlns="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xmlns="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xmlns="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xmlns="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xmlns="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xmlns="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xmlns="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xmlns="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xmlns="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xmlns="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xmlns="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xmlns="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xmlns="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xmlns="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xmlns="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xmlns="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xmlns="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xmlns="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xmlns="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xmlns="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xmlns="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xmlns="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xmlns="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1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xmlns="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xmlns="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xmlns="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xmlns="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xmlns="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xmlns="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xmlns="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xmlns="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xmlns="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xmlns="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8571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xmlns="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xmlns="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xmlns="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xmlns="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xmlns="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xmlns="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xmlns="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xmlns="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xmlns="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xmlns="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xmlns="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xmlns="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xmlns="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0145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xmlns="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xmlns="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xmlns="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xmlns="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xmlns="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xmlns="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xmlns="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xmlns="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xmlns="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xmlns="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0145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xmlns="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xmlns="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xmlns="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+2]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xmlns="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xmlns="" id="{F843DECB-C956-D955-D499-DD22189CE5D6}"/>
              </a:ext>
            </a:extLst>
          </p:cNvPr>
          <p:cNvSpPr/>
          <p:nvPr/>
        </p:nvSpPr>
        <p:spPr>
          <a:xfrm>
            <a:off x="3869377" y="2438400"/>
            <a:ext cx="3069771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xmlns="" id="{7C21CDDD-60F4-254E-D0B1-DD9880058CAE}"/>
              </a:ext>
            </a:extLst>
          </p:cNvPr>
          <p:cNvSpPr/>
          <p:nvPr/>
        </p:nvSpPr>
        <p:spPr>
          <a:xfrm>
            <a:off x="4903519" y="3679370"/>
            <a:ext cx="674915" cy="35922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tanh</a:t>
            </a:r>
            <a:endParaRPr lang="en-US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xmlns="" id="{9EE18230-BCFC-D646-9600-19C5BBE32E49}"/>
                  </a:ext>
                </a:extLst>
              </p:cNvPr>
              <p:cNvSpPr/>
              <p:nvPr/>
            </p:nvSpPr>
            <p:spPr>
              <a:xfrm>
                <a:off x="3863935" y="4628142"/>
                <a:ext cx="432000" cy="432000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9EE18230-BCFC-D646-9600-19C5BBE32E4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3935" y="4628142"/>
                <a:ext cx="432000" cy="432000"/>
              </a:xfrm>
              <a:prstGeom prst="ellipse">
                <a:avLst/>
              </a:prstGeom>
              <a:blipFill>
                <a:blip r:embed="rId2"/>
                <a:stretch>
                  <a:fillRect l="-15278" r="-12500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xmlns="" id="{E01C2A5B-A164-6913-FA94-CA99DB0244FA}"/>
              </a:ext>
            </a:extLst>
          </p:cNvPr>
          <p:cNvCxnSpPr>
            <a:cxnSpLocks/>
            <a:stCxn id="41" idx="0"/>
            <a:endCxn id="40" idx="2"/>
          </p:cNvCxnSpPr>
          <p:nvPr/>
        </p:nvCxnSpPr>
        <p:spPr>
          <a:xfrm rot="5400000" flipH="1" flipV="1">
            <a:off x="4365685" y="3752850"/>
            <a:ext cx="589543" cy="1161042"/>
          </a:xfrm>
          <a:prstGeom prst="bentConnector3">
            <a:avLst>
              <a:gd name="adj1" fmla="val 70311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xmlns="" id="{396F9498-A53F-5856-A31E-72DF09B3702B}"/>
              </a:ext>
            </a:extLst>
          </p:cNvPr>
          <p:cNvCxnSpPr>
            <a:cxnSpLocks/>
            <a:stCxn id="40" idx="0"/>
          </p:cNvCxnSpPr>
          <p:nvPr/>
        </p:nvCxnSpPr>
        <p:spPr>
          <a:xfrm rot="5400000" flipH="1" flipV="1">
            <a:off x="5815200" y="2109107"/>
            <a:ext cx="996041" cy="214448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xmlns="" id="{F93040B1-005E-00D0-E6E7-AFB3E1CDFC40}"/>
                  </a:ext>
                </a:extLst>
              </p:cNvPr>
              <p:cNvSpPr/>
              <p:nvPr/>
            </p:nvSpPr>
            <p:spPr>
              <a:xfrm>
                <a:off x="6507148" y="1581858"/>
                <a:ext cx="432000" cy="432000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F93040B1-005E-00D0-E6E7-AFB3E1CDFC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7148" y="1581858"/>
                <a:ext cx="432000" cy="432000"/>
              </a:xfrm>
              <a:prstGeom prst="ellipse">
                <a:avLst/>
              </a:prstGeom>
              <a:blipFill>
                <a:blip r:embed="rId3"/>
                <a:stretch>
                  <a:fillRect l="-19444" r="-12500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xmlns="" id="{466E2E6D-A249-7CAB-4045-844CE9311DCA}"/>
              </a:ext>
            </a:extLst>
          </p:cNvPr>
          <p:cNvCxnSpPr>
            <a:endCxn id="44" idx="4"/>
          </p:cNvCxnSpPr>
          <p:nvPr/>
        </p:nvCxnSpPr>
        <p:spPr>
          <a:xfrm flipV="1">
            <a:off x="6723148" y="2013858"/>
            <a:ext cx="0" cy="6694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xmlns="" id="{B4EFE449-B504-6CD4-C0C2-B0B6CF080A10}"/>
              </a:ext>
            </a:extLst>
          </p:cNvPr>
          <p:cNvCxnSpPr>
            <a:cxnSpLocks/>
          </p:cNvCxnSpPr>
          <p:nvPr/>
        </p:nvCxnSpPr>
        <p:spPr>
          <a:xfrm>
            <a:off x="3555050" y="2672442"/>
            <a:ext cx="921744" cy="1552235"/>
          </a:xfrm>
          <a:prstGeom prst="bentConnector2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xmlns="" id="{C3E13D58-EA11-F717-7D57-FFAA03CBE4C5}"/>
              </a:ext>
            </a:extLst>
          </p:cNvPr>
          <p:cNvGrpSpPr/>
          <p:nvPr/>
        </p:nvGrpSpPr>
        <p:grpSpPr>
          <a:xfrm>
            <a:off x="190127" y="1772176"/>
            <a:ext cx="11700342" cy="4653171"/>
            <a:chOff x="190127" y="1772176"/>
            <a:chExt cx="11700342" cy="4653171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348B5B75-FB28-2E80-145D-B7B4D142BE9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xmlns="" id="{2C9F794B-CFB1-1BB2-342D-143A1BF74B0A}"/>
                    </a:ext>
                  </a:extLst>
                </p:cNvPr>
                <p:cNvSpPr/>
                <p:nvPr/>
              </p:nvSpPr>
              <p:spPr>
                <a:xfrm>
                  <a:off x="4295735" y="4678597"/>
                  <a:ext cx="432000" cy="432000"/>
                </a:xfrm>
                <a:prstGeom prst="ellipse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2C9F794B-CFB1-1BB2-342D-143A1BF74B0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5735" y="4678597"/>
                  <a:ext cx="432000" cy="432000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xmlns="" id="{43AB69E9-4912-F1A4-2E97-BE90E480D0F8}"/>
                    </a:ext>
                  </a:extLst>
                </p:cNvPr>
                <p:cNvSpPr/>
                <p:nvPr/>
              </p:nvSpPr>
              <p:spPr>
                <a:xfrm>
                  <a:off x="7434185" y="1772176"/>
                  <a:ext cx="432000" cy="432000"/>
                </a:xfrm>
                <a:prstGeom prst="ellipse">
                  <a:avLst/>
                </a:prstGeom>
                <a:solidFill>
                  <a:schemeClr val="tx2">
                    <a:lumMod val="20000"/>
                    <a:lumOff val="80000"/>
                  </a:schemeClr>
                </a:soli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43AB69E9-4912-F1A4-2E97-BE90E480D0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34185" y="1772176"/>
                  <a:ext cx="432000" cy="432000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84CE6692-2FDA-8E8D-AB8D-4C22F39EF85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6ACD58FC-A360-C11A-7C44-B9487691833B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BE5C8D3A-0A6E-2136-613E-58C2566A481B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44C478EC-B109-7888-038E-8DBF57461B91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FFC53C9F-10FB-711C-2512-7250BF72FAA1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CE50EACA-BDC6-7C2A-E8C3-F5699FD5BCD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37990D6E-A5C5-CDF4-C0D9-387966509DC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74B85D8D-87CD-87BC-E833-CE9988D869D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A878B83A-9006-D2B3-60B8-E2D14A5914D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xmlns="" id="{43F4CC40-6B8A-C2D7-30F9-5E2A663458EB}"/>
                </a:ext>
              </a:extLst>
            </p:cNvPr>
            <p:cNvCxnSpPr>
              <a:stCxn id="41" idx="0"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584D7DD5-AF06-660E-B8AB-56FEBD03D05B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76F3A98F-48B9-9CD1-B9F1-E75DD2E8FE3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72E979E6-DCC4-331B-D941-6882D88766DC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BCF5E98C-CA06-9023-8D8F-DC58885C84A8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6EAF062E-2592-CB45-36A5-2A33D358D8BF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52EAE681-2114-E3E3-C3A4-320425997F09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D1D65BD3-E604-D135-F107-EC4CC81E93D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C9DC9C7A-C05F-76B8-966F-44753826D4BF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A822FBB9-C029-EAAD-530F-8A6805EE47F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6BFA24E6-0E52-669D-D3F8-9864EDC5552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0BF0A013-C46F-87B6-A913-AB6006AD99D3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BBA55220-0A3C-FB05-7E36-C68DDF50F07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CF73AECF-36D3-CBDF-5806-CA480B4C449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A0680E3E-2512-6A1A-E3EA-44839A3E0D6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A4015C41-4587-E1BF-7A8F-3DF236C02ABD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089EBFBE-86AF-DCA0-9896-A6D5E6FBA8F6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10EF1A2A-AF97-E7D2-178C-FFE80B3251D1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C0636B7D-2A5C-4392-28D4-DBDF85E54A2A}"/>
                </a:ext>
              </a:extLst>
            </p:cNvPr>
            <p:cNvCxnSpPr>
              <a:cxnSpLocks/>
              <a:endCxn id="44" idx="4"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F7CB8566-5FA8-4AE1-E1A3-37AA355FE5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7" name="Rectangle: Rounded Corners 96">
              <a:extLst>
                <a:ext uri="{FF2B5EF4-FFF2-40B4-BE49-F238E27FC236}">
                  <a16:creationId xmlns:a16="http://schemas.microsoft.com/office/drawing/2014/main" xmlns="" id="{A6D9F0B4-913F-1EED-8A29-810518E05463}"/>
                </a:ext>
              </a:extLst>
            </p:cNvPr>
            <p:cNvSpPr/>
            <p:nvPr/>
          </p:nvSpPr>
          <p:spPr>
            <a:xfrm>
              <a:off x="492094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xmlns="" id="{092FA1F5-FD24-F58C-C0EA-B1FA15F86729}"/>
                </a:ext>
              </a:extLst>
            </p:cNvPr>
            <p:cNvCxnSpPr>
              <a:cxnSpLocks/>
            </p:cNvCxnSpPr>
            <p:nvPr/>
          </p:nvCxnSpPr>
          <p:spPr>
            <a:xfrm>
              <a:off x="4012696" y="2715788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xmlns="" id="{C2AF8E87-6151-A661-474A-AD4443F2A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348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xmlns="" id="{E38F9929-0D9E-7BAE-3976-F3AACAC47318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863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3" name="Rectangle: Rounded Corners 102">
              <a:extLst>
                <a:ext uri="{FF2B5EF4-FFF2-40B4-BE49-F238E27FC236}">
                  <a16:creationId xmlns:a16="http://schemas.microsoft.com/office/drawing/2014/main" xmlns="" id="{0549E296-9BF6-1073-36A7-44A6BC84E646}"/>
                </a:ext>
              </a:extLst>
            </p:cNvPr>
            <p:cNvSpPr/>
            <p:nvPr/>
          </p:nvSpPr>
          <p:spPr>
            <a:xfrm>
              <a:off x="8083166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xmlns="" id="{3F4FFE22-901A-5ECB-8DD0-DE274D49C1CE}"/>
                </a:ext>
              </a:extLst>
            </p:cNvPr>
            <p:cNvCxnSpPr>
              <a:cxnSpLocks/>
            </p:cNvCxnSpPr>
            <p:nvPr/>
          </p:nvCxnSpPr>
          <p:spPr>
            <a:xfrm>
              <a:off x="11572921" y="424195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xmlns="" id="{63C39462-6C16-B627-F0AA-034DBCEEAFBA}"/>
                </a:ext>
              </a:extLst>
            </p:cNvPr>
            <p:cNvCxnSpPr>
              <a:cxnSpLocks/>
            </p:cNvCxnSpPr>
            <p:nvPr/>
          </p:nvCxnSpPr>
          <p:spPr>
            <a:xfrm>
              <a:off x="11606773" y="2715942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xmlns="" id="{BCDEE74E-A3A9-7A71-C9CC-5B26A604B389}"/>
                </a:ext>
              </a:extLst>
            </p:cNvPr>
            <p:cNvSpPr/>
            <p:nvPr/>
          </p:nvSpPr>
          <p:spPr>
            <a:xfrm>
              <a:off x="486412" y="4678597"/>
              <a:ext cx="432000" cy="432000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xmlns="" id="{74B7AA29-1794-6E8C-61F5-28A8A04CC1A1}"/>
                    </a:ext>
                  </a:extLst>
                </p:cNvPr>
                <p:cNvSpPr txBox="1"/>
                <p:nvPr/>
              </p:nvSpPr>
              <p:spPr>
                <a:xfrm>
                  <a:off x="190127" y="4776729"/>
                  <a:ext cx="1024570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1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1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1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0127" y="4776729"/>
                  <a:ext cx="1024570" cy="261610"/>
                </a:xfrm>
                <a:prstGeom prst="rect">
                  <a:avLst/>
                </a:prstGeom>
                <a:blipFill>
                  <a:blip r:embed="rId8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xmlns="" id="{922EF61C-EF99-D374-EA91-A8D137ADC9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2412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xmlns="" id="{70706A45-7B2F-ABA5-CB52-2E8903DD0ED9}"/>
                </a:ext>
              </a:extLst>
            </p:cNvPr>
            <p:cNvSpPr/>
            <p:nvPr/>
          </p:nvSpPr>
          <p:spPr>
            <a:xfrm>
              <a:off x="8060770" y="4678597"/>
              <a:ext cx="432000" cy="432000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xmlns="" id="{A2DA2877-36E8-DE52-7D68-11E5A3DA45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76770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xmlns="" id="{CD6C7B57-51FE-CBCC-F748-ABA19E9899AB}"/>
                    </a:ext>
                  </a:extLst>
                </p:cNvPr>
                <p:cNvSpPr txBox="1"/>
                <p:nvPr/>
              </p:nvSpPr>
              <p:spPr>
                <a:xfrm>
                  <a:off x="7764485" y="4763792"/>
                  <a:ext cx="1024570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1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1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1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CD6C7B57-51FE-CBCC-F748-ABA19E9899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4485" y="4763792"/>
                  <a:ext cx="1024570" cy="261610"/>
                </a:xfrm>
                <a:prstGeom prst="rect">
                  <a:avLst/>
                </a:prstGeom>
                <a:blipFill>
                  <a:blip r:embed="rId9"/>
                  <a:stretch>
                    <a:fillRect b="-697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6" name="Oval 115">
              <a:extLst>
                <a:ext uri="{FF2B5EF4-FFF2-40B4-BE49-F238E27FC236}">
                  <a16:creationId xmlns:a16="http://schemas.microsoft.com/office/drawing/2014/main" xmlns="" id="{FD02C6B7-F4EA-B8A3-BE37-599EFE03C112}"/>
                </a:ext>
              </a:extLst>
            </p:cNvPr>
            <p:cNvSpPr/>
            <p:nvPr/>
          </p:nvSpPr>
          <p:spPr>
            <a:xfrm>
              <a:off x="3482642" y="1772176"/>
              <a:ext cx="432000" cy="432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8" name="TextBox 117">
                  <a:extLst>
                    <a:ext uri="{FF2B5EF4-FFF2-40B4-BE49-F238E27FC236}">
                      <a16:creationId xmlns:a16="http://schemas.microsoft.com/office/drawing/2014/main" xmlns="" id="{68328405-6201-72C5-BFEE-027EEEDE3184}"/>
                    </a:ext>
                  </a:extLst>
                </p:cNvPr>
                <p:cNvSpPr txBox="1"/>
                <p:nvPr/>
              </p:nvSpPr>
              <p:spPr>
                <a:xfrm>
                  <a:off x="3215649" y="1865267"/>
                  <a:ext cx="1009482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1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1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1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118" name="TextBox 117">
                  <a:extLst>
                    <a:ext uri="{FF2B5EF4-FFF2-40B4-BE49-F238E27FC236}">
                      <a16:creationId xmlns:a16="http://schemas.microsoft.com/office/drawing/2014/main" id="{68328405-6201-72C5-BFEE-027EEEDE31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15649" y="1865267"/>
                  <a:ext cx="1009482" cy="261610"/>
                </a:xfrm>
                <a:prstGeom prst="rect">
                  <a:avLst/>
                </a:prstGeom>
                <a:blipFill>
                  <a:blip r:embed="rId10"/>
                  <a:stretch>
                    <a:fillRect b="-465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9" name="Oval 118">
              <a:extLst>
                <a:ext uri="{FF2B5EF4-FFF2-40B4-BE49-F238E27FC236}">
                  <a16:creationId xmlns:a16="http://schemas.microsoft.com/office/drawing/2014/main" xmlns="" id="{3F757B78-CA4C-764C-84A7-66B6A5BC6064}"/>
                </a:ext>
              </a:extLst>
            </p:cNvPr>
            <p:cNvSpPr/>
            <p:nvPr/>
          </p:nvSpPr>
          <p:spPr>
            <a:xfrm>
              <a:off x="11175945" y="1780072"/>
              <a:ext cx="432000" cy="432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0" name="TextBox 119">
                  <a:extLst>
                    <a:ext uri="{FF2B5EF4-FFF2-40B4-BE49-F238E27FC236}">
                      <a16:creationId xmlns:a16="http://schemas.microsoft.com/office/drawing/2014/main" xmlns="" id="{9087BD80-376A-9A53-92FA-503823D7568B}"/>
                    </a:ext>
                  </a:extLst>
                </p:cNvPr>
                <p:cNvSpPr txBox="1"/>
                <p:nvPr/>
              </p:nvSpPr>
              <p:spPr>
                <a:xfrm>
                  <a:off x="10880987" y="1884865"/>
                  <a:ext cx="1009482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1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1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1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120" name="TextBox 119">
                  <a:extLst>
                    <a:ext uri="{FF2B5EF4-FFF2-40B4-BE49-F238E27FC236}">
                      <a16:creationId xmlns:a16="http://schemas.microsoft.com/office/drawing/2014/main" id="{9087BD80-376A-9A53-92FA-503823D756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80987" y="1884865"/>
                  <a:ext cx="1009482" cy="261610"/>
                </a:xfrm>
                <a:prstGeom prst="rect">
                  <a:avLst/>
                </a:prstGeom>
                <a:blipFill>
                  <a:blip r:embed="rId11"/>
                  <a:stretch>
                    <a:fillRect b="-697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xmlns="" id="{E7D096F0-65EF-76A1-E864-DEFDD7B1DF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404780" y="2212072"/>
              <a:ext cx="0" cy="273953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xmlns="" id="{43419660-66CC-40DA-03A8-9CA6E7C0AF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93922" y="2204176"/>
              <a:ext cx="0" cy="234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xmlns="" id="{67B8102E-31B3-C3A9-13A3-0364FF9802EB}"/>
                </a:ext>
              </a:extLst>
            </p:cNvPr>
            <p:cNvSpPr/>
            <p:nvPr/>
          </p:nvSpPr>
          <p:spPr>
            <a:xfrm>
              <a:off x="3488080" y="5632434"/>
              <a:ext cx="375794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xmlns="" id="{94483E7F-A937-DCD5-593D-9BF0A521317D}"/>
                </a:ext>
              </a:extLst>
            </p:cNvPr>
            <p:cNvSpPr txBox="1"/>
            <p:nvPr/>
          </p:nvSpPr>
          <p:spPr>
            <a:xfrm>
              <a:off x="3298245" y="5930306"/>
              <a:ext cx="75546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400" dirty="0"/>
                <a:t>camada</a:t>
              </a:r>
              <a:endParaRPr lang="en-US" sz="1400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xmlns="" id="{A10A206D-DE0F-FE1C-4415-C2DFE8541DE1}"/>
                </a:ext>
              </a:extLst>
            </p:cNvPr>
            <p:cNvSpPr/>
            <p:nvPr/>
          </p:nvSpPr>
          <p:spPr>
            <a:xfrm>
              <a:off x="4581090" y="565725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xmlns="" id="{E601EEF9-98B3-9F64-F85F-07641BA1F0E3}"/>
                </a:ext>
              </a:extLst>
            </p:cNvPr>
            <p:cNvSpPr txBox="1"/>
            <p:nvPr/>
          </p:nvSpPr>
          <p:spPr>
            <a:xfrm>
              <a:off x="4112143" y="5902127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/>
                <a:t>pontual</a:t>
              </a:r>
              <a:endParaRPr lang="en-US" sz="1400" dirty="0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xmlns="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5610255" y="5809937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xmlns="" id="{D4D46D6C-FBD0-36BF-A4A0-F0AA4C62BC59}"/>
                </a:ext>
              </a:extLst>
            </p:cNvPr>
            <p:cNvSpPr txBox="1"/>
            <p:nvPr/>
          </p:nvSpPr>
          <p:spPr>
            <a:xfrm>
              <a:off x="5247669" y="5899739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xmlns="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6844051" y="5809937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xmlns="" id="{4AA379DA-FDF4-4C2E-212F-301E5D1A6625}"/>
                </a:ext>
              </a:extLst>
            </p:cNvPr>
            <p:cNvCxnSpPr/>
            <p:nvPr/>
          </p:nvCxnSpPr>
          <p:spPr>
            <a:xfrm>
              <a:off x="7107166" y="5803307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xmlns="" id="{F2C1639E-62C8-EF4F-BC59-06D35F047F64}"/>
                </a:ext>
              </a:extLst>
            </p:cNvPr>
            <p:cNvSpPr txBox="1"/>
            <p:nvPr/>
          </p:nvSpPr>
          <p:spPr>
            <a:xfrm>
              <a:off x="6510788" y="6059023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concatenação</a:t>
              </a:r>
              <a:endParaRPr lang="en-US" sz="1400" dirty="0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xmlns="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8002787" y="6058719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xmlns="" id="{0868D48C-258F-30A1-C079-D3E227346BD5}"/>
                </a:ext>
              </a:extLst>
            </p:cNvPr>
            <p:cNvCxnSpPr/>
            <p:nvPr/>
          </p:nvCxnSpPr>
          <p:spPr>
            <a:xfrm>
              <a:off x="8265841" y="5754532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xmlns="" id="{82CB8A93-557A-5259-EB5A-85D7D4D96AD1}"/>
                </a:ext>
              </a:extLst>
            </p:cNvPr>
            <p:cNvSpPr txBox="1"/>
            <p:nvPr/>
          </p:nvSpPr>
          <p:spPr>
            <a:xfrm>
              <a:off x="7637220" y="6050352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cópia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xmlns="" id="{9516E441-E135-8036-EB1A-48A9DF99CC9D}"/>
              </a:ext>
            </a:extLst>
          </p:cNvPr>
          <p:cNvGrpSpPr/>
          <p:nvPr/>
        </p:nvGrpSpPr>
        <p:grpSpPr>
          <a:xfrm>
            <a:off x="787522" y="2795317"/>
            <a:ext cx="1238994" cy="1644454"/>
            <a:chOff x="787522" y="2795317"/>
            <a:chExt cx="1238994" cy="1644454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xmlns="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8898" y="2934602"/>
              <a:ext cx="1008000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xmlns="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:a16="http://schemas.microsoft.com/office/drawing/2014/main" xmlns="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xmlns="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xmlns="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xmlns="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xmlns="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xmlns="" id="{CE5E7BE9-7FC2-5E7C-BABE-DEDBFF28BC85}"/>
              </a:ext>
            </a:extLst>
          </p:cNvPr>
          <p:cNvGrpSpPr/>
          <p:nvPr/>
        </p:nvGrpSpPr>
        <p:grpSpPr>
          <a:xfrm>
            <a:off x="3387954" y="1841814"/>
            <a:ext cx="5115642" cy="3158904"/>
            <a:chOff x="3387954" y="1841814"/>
            <a:chExt cx="5115642" cy="3158904"/>
          </a:xfrm>
        </p:grpSpPr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xmlns="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xmlns="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7319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7319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xmlns="" id="{E92D97BC-2DB9-66AE-888D-FCCEB21088D5}"/>
              </a:ext>
            </a:extLst>
          </p:cNvPr>
          <p:cNvGrpSpPr/>
          <p:nvPr/>
        </p:nvGrpSpPr>
        <p:grpSpPr>
          <a:xfrm>
            <a:off x="3387954" y="1841814"/>
            <a:ext cx="5115642" cy="3158904"/>
            <a:chOff x="3387954" y="1841814"/>
            <a:chExt cx="5115642" cy="3158904"/>
          </a:xfrm>
        </p:grpSpPr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xmlns="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xmlns="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47692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7319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7319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xmlns="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V="1">
              <a:off x="4511399" y="4241954"/>
              <a:ext cx="0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xmlns="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8540</TotalTime>
  <Words>1641</Words>
  <Application>Microsoft Office PowerPoint</Application>
  <PresentationFormat>Widescreen</PresentationFormat>
  <Paragraphs>387</Paragraphs>
  <Slides>45</Slides>
  <Notes>16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45</vt:i4>
      </vt:variant>
    </vt:vector>
  </HeadingPairs>
  <TitlesOfParts>
    <vt:vector size="52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Apresentação do PowerPoint</vt:lpstr>
      <vt:lpstr>Redes recorrentes</vt:lpstr>
      <vt:lpstr>Redes recorrentes</vt:lpstr>
      <vt:lpstr>Apresentação do PowerPoint</vt:lpstr>
      <vt:lpstr>Neurônio (ou célula) recorrente</vt:lpstr>
      <vt:lpstr>Neurônio recorrente</vt:lpstr>
      <vt:lpstr>Atualização do estado e geração da saída</vt:lpstr>
      <vt:lpstr>Desdobrando uma RNN</vt:lpstr>
      <vt:lpstr>Desdobrando uma RNN</vt:lpstr>
      <vt:lpstr>Treinando uma RNN</vt:lpstr>
      <vt:lpstr>Treinando uma RNN</vt:lpstr>
      <vt:lpstr>Backpropagation Through Time (BPTT)</vt:lpstr>
      <vt:lpstr>Backpropagation Through Time (BPTT)</vt:lpstr>
      <vt:lpstr>Desaparecimento e explosão do gradiente</vt:lpstr>
      <vt:lpstr>Desaparecimento e explosão do gradiente</vt:lpstr>
      <vt:lpstr>Como mitigar esses problemas?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Long-short term memory</vt:lpstr>
      <vt:lpstr>Long-short term memory</vt:lpstr>
      <vt:lpstr>Estado da célula e portas</vt:lpstr>
      <vt:lpstr>Porta de esquecimento</vt:lpstr>
      <vt:lpstr>Apresentação do PowerPoint</vt:lpstr>
      <vt:lpstr>Apresentação do PowerPoint</vt:lpstr>
      <vt:lpstr>Apresentação do PowerPoint</vt:lpstr>
      <vt:lpstr>Motivação para LSTM</vt:lpstr>
      <vt:lpstr>Apresentação do PowerPoint</vt:lpstr>
      <vt:lpstr>Variantes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1780</cp:revision>
  <dcterms:created xsi:type="dcterms:W3CDTF">2020-01-20T13:50:05Z</dcterms:created>
  <dcterms:modified xsi:type="dcterms:W3CDTF">2026-03-26T01:45:32Z</dcterms:modified>
</cp:coreProperties>
</file>