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handoutMasterIdLst>
    <p:handoutMasterId r:id="rId62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61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72" r:id="rId29"/>
    <p:sldId id="374" r:id="rId30"/>
    <p:sldId id="376" r:id="rId31"/>
    <p:sldId id="356" r:id="rId32"/>
    <p:sldId id="358" r:id="rId33"/>
    <p:sldId id="362" r:id="rId34"/>
    <p:sldId id="365" r:id="rId35"/>
    <p:sldId id="366" r:id="rId36"/>
    <p:sldId id="367" r:id="rId37"/>
    <p:sldId id="368" r:id="rId38"/>
    <p:sldId id="371" r:id="rId39"/>
    <p:sldId id="379" r:id="rId40"/>
    <p:sldId id="377" r:id="rId41"/>
    <p:sldId id="378" r:id="rId42"/>
    <p:sldId id="360" r:id="rId43"/>
    <p:sldId id="337" r:id="rId44"/>
    <p:sldId id="293" r:id="rId45"/>
    <p:sldId id="306" r:id="rId46"/>
    <p:sldId id="335" r:id="rId47"/>
    <p:sldId id="330" r:id="rId48"/>
    <p:sldId id="340" r:id="rId49"/>
    <p:sldId id="348" r:id="rId50"/>
    <p:sldId id="350" r:id="rId51"/>
    <p:sldId id="353" r:id="rId52"/>
    <p:sldId id="354" r:id="rId53"/>
    <p:sldId id="373" r:id="rId54"/>
    <p:sldId id="357" r:id="rId55"/>
    <p:sldId id="359" r:id="rId56"/>
    <p:sldId id="363" r:id="rId57"/>
    <p:sldId id="364" r:id="rId58"/>
    <p:sldId id="369" r:id="rId59"/>
    <p:sldId id="370" r:id="rId6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1598" autoAdjust="0"/>
  </p:normalViewPr>
  <p:slideViewPr>
    <p:cSldViewPr snapToGrid="0">
      <p:cViewPr varScale="1">
        <p:scale>
          <a:sx n="90" d="100"/>
          <a:sy n="90" d="100"/>
        </p:scale>
        <p:origin x="1614" y="9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.png"/><Relationship Id="rId3" Type="http://schemas.openxmlformats.org/officeDocument/2006/relationships/image" Target="../media/image360.png"/><Relationship Id="rId21" Type="http://schemas.openxmlformats.org/officeDocument/2006/relationships/image" Target="../media/image53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.png"/><Relationship Id="rId2" Type="http://schemas.openxmlformats.org/officeDocument/2006/relationships/image" Target="../media/image350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0.png"/><Relationship Id="rId19" Type="http://schemas.openxmlformats.org/officeDocument/2006/relationships/image" Target="../media/image51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0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.png"/><Relationship Id="rId4" Type="http://schemas.openxmlformats.org/officeDocument/2006/relationships/image" Target="../media/image720.png"/><Relationship Id="rId9" Type="http://schemas.openxmlformats.org/officeDocument/2006/relationships/image" Target="../media/image7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96.png"/><Relationship Id="rId3" Type="http://schemas.openxmlformats.org/officeDocument/2006/relationships/image" Target="../media/image800.png"/><Relationship Id="rId7" Type="http://schemas.openxmlformats.org/officeDocument/2006/relationships/image" Target="../media/image93.png"/><Relationship Id="rId12" Type="http://schemas.openxmlformats.org/officeDocument/2006/relationships/image" Target="../media/image95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4.png"/><Relationship Id="rId5" Type="http://schemas.openxmlformats.org/officeDocument/2006/relationships/image" Target="../media/image91.png"/><Relationship Id="rId15" Type="http://schemas.openxmlformats.org/officeDocument/2006/relationships/image" Target="../media/image98.png"/><Relationship Id="rId10" Type="http://schemas.openxmlformats.org/officeDocument/2006/relationships/image" Target="../media/image83.png"/><Relationship Id="rId4" Type="http://schemas.openxmlformats.org/officeDocument/2006/relationships/image" Target="../media/image90.png"/><Relationship Id="rId9" Type="http://schemas.openxmlformats.org/officeDocument/2006/relationships/image" Target="../media/image82.png"/><Relationship Id="rId14" Type="http://schemas.openxmlformats.org/officeDocument/2006/relationships/image" Target="../media/image9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9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0.png"/><Relationship Id="rId11" Type="http://schemas.openxmlformats.org/officeDocument/2006/relationships/image" Target="../media/image920.png"/><Relationship Id="rId5" Type="http://schemas.openxmlformats.org/officeDocument/2006/relationships/image" Target="../media/image870.png"/><Relationship Id="rId10" Type="http://schemas.openxmlformats.org/officeDocument/2006/relationships/image" Target="../media/image910.png"/><Relationship Id="rId4" Type="http://schemas.openxmlformats.org/officeDocument/2006/relationships/image" Target="../media/image730.png"/><Relationship Id="rId9" Type="http://schemas.openxmlformats.org/officeDocument/2006/relationships/image" Target="../media/image900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image" Target="../media/image940.png"/><Relationship Id="rId3" Type="http://schemas.openxmlformats.org/officeDocument/2006/relationships/image" Target="../media/image88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0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920.png"/><Relationship Id="rId4" Type="http://schemas.openxmlformats.org/officeDocument/2006/relationships/image" Target="../media/image910.png"/><Relationship Id="rId9" Type="http://schemas.openxmlformats.org/officeDocument/2006/relationships/image" Target="../media/image900.png"/><Relationship Id="rId14" Type="http://schemas.openxmlformats.org/officeDocument/2006/relationships/image" Target="../media/image95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900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8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960.png"/><Relationship Id="rId10" Type="http://schemas.openxmlformats.org/officeDocument/2006/relationships/image" Target="../media/image910.png"/><Relationship Id="rId4" Type="http://schemas.openxmlformats.org/officeDocument/2006/relationships/image" Target="../media/image890.png"/><Relationship Id="rId9" Type="http://schemas.openxmlformats.org/officeDocument/2006/relationships/image" Target="../media/image880.png"/><Relationship Id="rId14" Type="http://schemas.openxmlformats.org/officeDocument/2006/relationships/image" Target="../media/image92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0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0.png"/><Relationship Id="rId10" Type="http://schemas.openxmlformats.org/officeDocument/2006/relationships/image" Target="../media/image104.png"/><Relationship Id="rId4" Type="http://schemas.openxmlformats.org/officeDocument/2006/relationships/image" Target="../media/image980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44F65-E378-72E6-9E82-AB5132A73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33" y="3710248"/>
            <a:ext cx="8460335" cy="314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7FE8D5-45C3-C0F4-87DB-1AE7EB88B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646" y="4095564"/>
            <a:ext cx="7424707" cy="276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1F9A43-4D6C-BE90-B804-973CA6F52D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14830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7905A-0A9F-1C05-9388-4BF9F6B4ED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672" y="2201051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7274" y="1825624"/>
            <a:ext cx="6354725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permitir opcionalmente a passagem de informações.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camada densa com função de ativação sigmoide gera um número entre 0 e 1, decidindo quanto de cada elemento deve ser permitido passar.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Uma operação de multiplicação ponto a ponto aplica a decisão.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6CBEF4-2DBD-18DF-A9FB-5BE74A49873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A9EB42-F6B4-A24F-AC2F-2C23E49755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interações lineares: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8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7ADA3D-5865-765B-496D-7585F44B78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1773A-A795-2DDB-65F5-3E4494F17B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6" y="2358720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D5E06B7-026A-E591-8B19-3F1AC18DAC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26" y="23448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6CFE2064-3693-46C1-D7CB-71B01BCEC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4" y="2337939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4A36DE-8349-8BBF-2D03-55B024955A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52" y="2681361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8C40E-CB7E-E4BB-FDBA-B493D8978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02" y="2398034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AED6D-E5DB-954B-B69B-4E181833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C5508-2238-D8B8-4C8F-9CA1D1587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6600" b="1" dirty="0">
                <a:solidFill>
                  <a:srgbClr val="FF0000"/>
                </a:solidFill>
              </a:rPr>
              <a:t>PAREI AQUI!!!!!!!!!!!!!</a:t>
            </a:r>
            <a:endParaRPr lang="en-US" sz="6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603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89038-AB05-41BB-2D39-80FBAB0804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</p:spPr>
            <p:txBody>
              <a:bodyPr/>
              <a:lstStyle/>
              <a:p>
                <a:r>
                  <a:rPr lang="pt-BR" dirty="0"/>
                  <a:t>LSTMs e </a:t>
                </a:r>
                <a:r>
                  <a:rPr lang="pt-BR" dirty="0" err="1"/>
                  <a:t>GRUs</a:t>
                </a:r>
                <a:r>
                  <a:rPr lang="pt-BR" dirty="0"/>
                  <a:t> minimizam o problema do desaparecimento do gradiente devido a um </a:t>
                </a:r>
                <a:r>
                  <a:rPr lang="en-US" dirty="0" err="1"/>
                  <a:t>conceito</a:t>
                </a:r>
                <a:r>
                  <a:rPr lang="en-US" dirty="0"/>
                  <a:t> fundamental: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Elas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pt-BR" dirty="0"/>
                  <a:t>um caminho quase linear para o gradiente (</a:t>
                </a:r>
                <a:r>
                  <a:rPr lang="pt-BR" dirty="0" err="1"/>
                  <a:t>cell</a:t>
                </a:r>
                <a:r>
                  <a:rPr lang="pt-BR" dirty="0"/>
                  <a:t> </a:t>
                </a:r>
                <a:r>
                  <a:rPr lang="pt-BR" dirty="0" err="1"/>
                  <a:t>state</a:t>
                </a:r>
                <a:r>
                  <a:rPr lang="pt-BR" dirty="0"/>
                  <a:t>).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vez</a:t>
                </a:r>
                <a:r>
                  <a:rPr lang="en-US" dirty="0"/>
                  <a:t> de </a:t>
                </a:r>
                <a:r>
                  <a:rPr lang="en-US" dirty="0" err="1"/>
                  <a:t>transformar</a:t>
                </a:r>
                <a:r>
                  <a:rPr lang="en-US" dirty="0"/>
                  <a:t> </a:t>
                </a:r>
                <a:r>
                  <a:rPr lang="en-US" dirty="0" err="1"/>
                  <a:t>tudo</a:t>
                </a:r>
                <a:r>
                  <a:rPr lang="en-US" dirty="0"/>
                  <a:t> com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não-lineares</a:t>
                </a:r>
                <a:r>
                  <a:rPr lang="en-US" dirty="0"/>
                  <a:t> 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passo</a:t>
                </a:r>
                <a:r>
                  <a:rPr lang="en-US" dirty="0"/>
                  <a:t> (</a:t>
                </a:r>
                <a:r>
                  <a:rPr lang="en-US" dirty="0" err="1"/>
                  <a:t>como</a:t>
                </a:r>
                <a:r>
                  <a:rPr lang="en-US" dirty="0"/>
                  <a:t> a RNN), a LSTM </a:t>
                </a:r>
                <a:r>
                  <a:rPr lang="en-US" dirty="0" err="1"/>
                  <a:t>mantém</a:t>
                </a:r>
                <a:r>
                  <a:rPr lang="en-US" dirty="0"/>
                  <a:t> um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𝐶</m:t>
                        </m:r>
                      </m:e>
                      <m:sub>
                        <m:r>
                          <a:rPr lang="ar-AE" i="1"/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evolui</a:t>
                </a:r>
                <a:r>
                  <a:rPr lang="en-US" dirty="0"/>
                  <a:t> </a:t>
                </a:r>
                <a:r>
                  <a:rPr lang="en-US" dirty="0" err="1"/>
                  <a:t>assim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089038-AB05-41BB-2D39-80FBAB0804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  <a:blipFill>
                <a:blip r:embed="rId2"/>
                <a:stretch>
                  <a:fillRect l="-1729" t="-1937" r="-3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1" name="Picture 90">
            <a:extLst>
              <a:ext uri="{FF2B5EF4-FFF2-40B4-BE49-F238E27FC236}">
                <a16:creationId xmlns:a16="http://schemas.microsoft.com/office/drawing/2014/main" id="{5AFC02B2-35F7-2C22-7D72-967BEF9023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9D65C9E4-9ED6-99CA-99CE-5B033BC09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0BD66-DB3E-984E-417F-F5F28D53F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E789-EA21-23E5-1765-31493CE06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D3F3D7-CCDC-ED77-D77F-87409BC72C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</p:spPr>
            <p:txBody>
              <a:bodyPr/>
              <a:lstStyle/>
              <a:p>
                <a:r>
                  <a:rPr lang="en-US" dirty="0"/>
                  <a:t>O </a:t>
                </a:r>
                <a:r>
                  <a:rPr lang="en-US" dirty="0" err="1"/>
                  <a:t>fluxo</a:t>
                </a:r>
                <a:r>
                  <a:rPr lang="en-US" dirty="0"/>
                  <a:t> principal do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𝐶</m:t>
                        </m:r>
                      </m:e>
                      <m:sub>
                        <m:r>
                          <a:rPr lang="ar-AE" i="1"/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é </a:t>
                </a:r>
                <a:r>
                  <a:rPr lang="en-US" dirty="0" err="1"/>
                  <a:t>quase</a:t>
                </a:r>
                <a:r>
                  <a:rPr lang="en-US" dirty="0"/>
                  <a:t> linear: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𝑓</m:t>
                        </m:r>
                      </m:e>
                      <m:sub>
                        <m:r>
                          <a:rPr lang="ar-AE" i="1"/>
                          <m:t>𝑡</m:t>
                        </m:r>
                      </m:sub>
                    </m:sSub>
                    <m:r>
                      <a:rPr lang="ar-AE"/>
                      <m:t>≈</m:t>
                    </m:r>
                    <m:r>
                      <a:rPr lang="ar-AE"/>
                      <m:t>1</m:t>
                    </m:r>
                  </m:oMath>
                </a14:m>
                <a:r>
                  <a:rPr lang="ar-AE" dirty="0"/>
                  <a:t>→</a:t>
                </a:r>
                <a:r>
                  <a:rPr lang="en-US" dirty="0"/>
                  <a:t> derivada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ar-AE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</a:t>
                </a:r>
                <a:r>
                  <a:rPr lang="en-US" dirty="0" err="1"/>
                  <a:t>passa</a:t>
                </a:r>
                <a:r>
                  <a:rPr lang="en-US" dirty="0"/>
                  <a:t> </a:t>
                </a:r>
                <a:r>
                  <a:rPr lang="en-US" dirty="0" err="1"/>
                  <a:t>praticamente</a:t>
                </a:r>
                <a:r>
                  <a:rPr lang="en-US" dirty="0"/>
                  <a:t> </a:t>
                </a:r>
                <a:r>
                  <a:rPr lang="en-US" dirty="0" err="1"/>
                  <a:t>intacto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sofre</a:t>
                </a:r>
                <a:r>
                  <a:rPr lang="en-US" dirty="0"/>
                  <a:t> </a:t>
                </a:r>
                <a:r>
                  <a:rPr lang="en-US" dirty="0" err="1"/>
                  <a:t>compressão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tanh </a:t>
                </a:r>
                <a:r>
                  <a:rPr lang="en-US" dirty="0" err="1"/>
                  <a:t>repetidamente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  <a:p>
                <a:r>
                  <a:rPr lang="pt-BR" dirty="0"/>
                  <a:t>Isso evita que o gradiente encolha exponencialmente.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D3F3D7-CCDC-ED77-D77F-87409BC72C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47907" y="1825625"/>
                <a:ext cx="6344094" cy="5032376"/>
              </a:xfrm>
              <a:blipFill>
                <a:blip r:embed="rId2"/>
                <a:stretch>
                  <a:fillRect l="-17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2FECBA0-FCA2-A501-744F-61B37A57DF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84362"/>
            <a:ext cx="4028664" cy="24879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63DC76-F4C8-45C7-97A4-162F23998D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7" y="4522576"/>
            <a:ext cx="4028665" cy="2185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864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LSTM funcionam como redes residuais. </a:t>
            </a:r>
          </a:p>
          <a:p>
            <a:r>
              <a:rPr lang="pt-BR" sz="4400" b="1" dirty="0">
                <a:solidFill>
                  <a:srgbClr val="FF0000"/>
                </a:solidFill>
              </a:rPr>
              <a:t>Mitigam o desaparecimento do gradiente pelo caminho de cima da célula.</a:t>
            </a:r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952C40A-6BC1-7D50-9FEA-BBFC70E1732F}"/>
                  </a:ext>
                </a:extLst>
              </p:cNvPr>
              <p:cNvSpPr txBox="1"/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952C40A-6BC1-7D50-9FEA-BBFC70E17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537" y="3038594"/>
                <a:ext cx="61722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AB75B05B-FED6-3FCA-7286-4D24883789A2}"/>
              </a:ext>
            </a:extLst>
          </p:cNvPr>
          <p:cNvGrpSpPr/>
          <p:nvPr/>
        </p:nvGrpSpPr>
        <p:grpSpPr>
          <a:xfrm>
            <a:off x="7045381" y="2909386"/>
            <a:ext cx="4498919" cy="2479740"/>
            <a:chOff x="7045381" y="2909386"/>
            <a:chExt cx="4498919" cy="2479740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6761" r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0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15642" cy="3158904"/>
            <a:chOff x="3387954" y="1841814"/>
            <a:chExt cx="5115642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61151" y="4036770"/>
              <a:ext cx="2645271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8973</TotalTime>
  <Words>3194</Words>
  <Application>Microsoft Office PowerPoint</Application>
  <PresentationFormat>Widescreen</PresentationFormat>
  <Paragraphs>573</Paragraphs>
  <Slides>59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6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PowerPoint Presentation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PowerPoint Presentation</vt:lpstr>
      <vt:lpstr>Desaparecimento do gradiente</vt:lpstr>
      <vt:lpstr>Desaparecimento do gradiente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1817</cp:revision>
  <dcterms:created xsi:type="dcterms:W3CDTF">2020-01-20T13:50:05Z</dcterms:created>
  <dcterms:modified xsi:type="dcterms:W3CDTF">2026-03-26T20:58:06Z</dcterms:modified>
</cp:coreProperties>
</file>